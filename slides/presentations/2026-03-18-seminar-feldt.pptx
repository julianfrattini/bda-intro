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7"/>
  </p:notesMasterIdLst>
  <p:sldIdLst>
    <p:sldId id="256" r:id="rId2"/>
    <p:sldId id="399" r:id="rId3"/>
    <p:sldId id="390" r:id="rId4"/>
    <p:sldId id="400" r:id="rId5"/>
    <p:sldId id="392" r:id="rId6"/>
    <p:sldId id="394" r:id="rId7"/>
    <p:sldId id="402" r:id="rId8"/>
    <p:sldId id="401" r:id="rId9"/>
    <p:sldId id="397" r:id="rId10"/>
    <p:sldId id="398" r:id="rId11"/>
    <p:sldId id="404" r:id="rId12"/>
    <p:sldId id="395" r:id="rId13"/>
    <p:sldId id="403" r:id="rId14"/>
    <p:sldId id="396" r:id="rId15"/>
    <p:sldId id="406" r:id="rId16"/>
    <p:sldId id="407" r:id="rId17"/>
    <p:sldId id="408" r:id="rId18"/>
    <p:sldId id="405" r:id="rId19"/>
    <p:sldId id="388" r:id="rId20"/>
    <p:sldId id="389" r:id="rId21"/>
    <p:sldId id="380" r:id="rId22"/>
    <p:sldId id="381" r:id="rId23"/>
    <p:sldId id="382" r:id="rId24"/>
    <p:sldId id="266" r:id="rId25"/>
    <p:sldId id="391" r:id="rId26"/>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255457F-90EF-48D8-96C2-92DE83C2B6F3}">
          <p14:sldIdLst>
            <p14:sldId id="256"/>
          </p14:sldIdLst>
        </p14:section>
        <p14:section name="Theory" id="{1638C303-2B63-4121-BDDF-92BE23D0194A}">
          <p14:sldIdLst>
            <p14:sldId id="399"/>
            <p14:sldId id="390"/>
            <p14:sldId id="400"/>
            <p14:sldId id="392"/>
            <p14:sldId id="394"/>
            <p14:sldId id="402"/>
            <p14:sldId id="401"/>
            <p14:sldId id="397"/>
            <p14:sldId id="398"/>
            <p14:sldId id="404"/>
            <p14:sldId id="395"/>
            <p14:sldId id="403"/>
            <p14:sldId id="396"/>
            <p14:sldId id="406"/>
            <p14:sldId id="407"/>
            <p14:sldId id="408"/>
          </p14:sldIdLst>
        </p14:section>
        <p14:section name="Exercise" id="{AC601FE8-67E4-4472-87C7-A6D830B95A2C}">
          <p14:sldIdLst>
            <p14:sldId id="405"/>
            <p14:sldId id="388"/>
            <p14:sldId id="389"/>
            <p14:sldId id="380"/>
            <p14:sldId id="381"/>
            <p14:sldId id="382"/>
          </p14:sldIdLst>
        </p14:section>
        <p14:section name="Outro" id="{6AC6889E-70FF-47BB-8020-162760CB0D65}">
          <p14:sldIdLst>
            <p14:sldId id="266"/>
            <p14:sldId id="3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0180A"/>
    <a:srgbClr val="006D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33" autoAdjust="0"/>
    <p:restoredTop sz="87437" autoAdjust="0"/>
  </p:normalViewPr>
  <p:slideViewPr>
    <p:cSldViewPr snapToGrid="0">
      <p:cViewPr varScale="1">
        <p:scale>
          <a:sx n="72" d="100"/>
          <a:sy n="72" d="100"/>
        </p:scale>
        <p:origin x="1099"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028809-A3C0-435B-AC12-B9138744A337}" type="datetimeFigureOut">
              <a:rPr lang="en-SE" smtClean="0"/>
              <a:t>2026-06-17</a:t>
            </a:fld>
            <a:endParaRPr lang="en-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EE9047-6757-432F-B3C4-B9B79F30218C}" type="slidenum">
              <a:rPr lang="en-SE" smtClean="0"/>
              <a:t>‹#›</a:t>
            </a:fld>
            <a:endParaRPr lang="en-SE"/>
          </a:p>
        </p:txBody>
      </p:sp>
    </p:spTree>
    <p:extLst>
      <p:ext uri="{BB962C8B-B14F-4D97-AF65-F5344CB8AC3E}">
        <p14:creationId xmlns:p14="http://schemas.microsoft.com/office/powerpoint/2010/main" val="3165615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FBEE9047-6757-432F-B3C4-B9B79F30218C}" type="slidenum">
              <a:rPr lang="en-SE" smtClean="0"/>
              <a:t>1</a:t>
            </a:fld>
            <a:endParaRPr lang="en-SE"/>
          </a:p>
        </p:txBody>
      </p:sp>
    </p:spTree>
    <p:extLst>
      <p:ext uri="{BB962C8B-B14F-4D97-AF65-F5344CB8AC3E}">
        <p14:creationId xmlns:p14="http://schemas.microsoft.com/office/powerpoint/2010/main" val="3089780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You sometimes need “domain knowledge” to complete a DAG</a:t>
            </a:r>
          </a:p>
        </p:txBody>
      </p:sp>
      <p:sp>
        <p:nvSpPr>
          <p:cNvPr id="4" name="Slide Number Placeholder 3"/>
          <p:cNvSpPr>
            <a:spLocks noGrp="1"/>
          </p:cNvSpPr>
          <p:nvPr>
            <p:ph type="sldNum" sz="quarter" idx="5"/>
          </p:nvPr>
        </p:nvSpPr>
        <p:spPr/>
        <p:txBody>
          <a:bodyPr/>
          <a:lstStyle/>
          <a:p>
            <a:fld id="{ACC9BBD8-1C1E-4CFA-8C12-0AE7F3A91C3D}" type="slidenum">
              <a:rPr lang="en-US" smtClean="0"/>
              <a:t>23</a:t>
            </a:fld>
            <a:endParaRPr lang="en-US"/>
          </a:p>
        </p:txBody>
      </p:sp>
    </p:spTree>
    <p:extLst>
      <p:ext uri="{BB962C8B-B14F-4D97-AF65-F5344CB8AC3E}">
        <p14:creationId xmlns:p14="http://schemas.microsoft.com/office/powerpoint/2010/main" val="20007043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7ECFB-CC92-FB7D-062B-5F840C7CDEF9}"/>
              </a:ext>
            </a:extLst>
          </p:cNvPr>
          <p:cNvSpPr>
            <a:spLocks noGrp="1"/>
          </p:cNvSpPr>
          <p:nvPr>
            <p:ph type="ctrTitle"/>
          </p:nvPr>
        </p:nvSpPr>
        <p:spPr>
          <a:xfrm>
            <a:off x="1524000" y="1600199"/>
            <a:ext cx="9144000" cy="1909763"/>
          </a:xfrm>
        </p:spPr>
        <p:txBody>
          <a:bodyPr anchor="b"/>
          <a:lstStyle>
            <a:lvl1pPr algn="ctr">
              <a:defRPr sz="6000"/>
            </a:lvl1pPr>
          </a:lstStyle>
          <a:p>
            <a:r>
              <a:rPr lang="en-US"/>
              <a:t>Click to edit Master title style</a:t>
            </a:r>
            <a:endParaRPr lang="en-SE"/>
          </a:p>
        </p:txBody>
      </p:sp>
      <p:sp>
        <p:nvSpPr>
          <p:cNvPr id="3" name="Subtitle 2">
            <a:extLst>
              <a:ext uri="{FF2B5EF4-FFF2-40B4-BE49-F238E27FC236}">
                <a16:creationId xmlns:a16="http://schemas.microsoft.com/office/drawing/2014/main" id="{D17DB82B-6165-1C54-C51D-F5D58F23CB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E"/>
          </a:p>
        </p:txBody>
      </p:sp>
      <p:sp>
        <p:nvSpPr>
          <p:cNvPr id="4" name="Date Placeholder 3">
            <a:extLst>
              <a:ext uri="{FF2B5EF4-FFF2-40B4-BE49-F238E27FC236}">
                <a16:creationId xmlns:a16="http://schemas.microsoft.com/office/drawing/2014/main" id="{B37955BD-5E43-FC47-D766-386274FE3FE6}"/>
              </a:ext>
            </a:extLst>
          </p:cNvPr>
          <p:cNvSpPr>
            <a:spLocks noGrp="1"/>
          </p:cNvSpPr>
          <p:nvPr>
            <p:ph type="dt" sz="half" idx="10"/>
          </p:nvPr>
        </p:nvSpPr>
        <p:spPr/>
        <p:txBody>
          <a:bodyPr/>
          <a:lstStyle/>
          <a:p>
            <a:fld id="{37DCE796-1B8A-41D3-B18D-B249256E7F45}" type="datetime1">
              <a:rPr lang="de-DE" smtClean="0"/>
              <a:t>17.06.2026</a:t>
            </a:fld>
            <a:endParaRPr lang="en-SE"/>
          </a:p>
        </p:txBody>
      </p:sp>
      <p:sp>
        <p:nvSpPr>
          <p:cNvPr id="5" name="Footer Placeholder 4">
            <a:extLst>
              <a:ext uri="{FF2B5EF4-FFF2-40B4-BE49-F238E27FC236}">
                <a16:creationId xmlns:a16="http://schemas.microsoft.com/office/drawing/2014/main" id="{DAC345E8-8305-94BE-CD1F-E34E302160C0}"/>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159FBD3E-ECCB-B12E-8504-AE90BAE0F46A}"/>
              </a:ext>
            </a:extLst>
          </p:cNvPr>
          <p:cNvSpPr>
            <a:spLocks noGrp="1"/>
          </p:cNvSpPr>
          <p:nvPr>
            <p:ph type="sldNum" sz="quarter" idx="12"/>
          </p:nvPr>
        </p:nvSpPr>
        <p:spPr/>
        <p:txBody>
          <a:bodyPr/>
          <a:lstStyle/>
          <a:p>
            <a:fld id="{271ECC92-9CDE-4EB3-B1C5-F46B9E1FA3C1}" type="slidenum">
              <a:rPr lang="en-SE" smtClean="0"/>
              <a:t>‹#›</a:t>
            </a:fld>
            <a:endParaRPr lang="en-SE"/>
          </a:p>
        </p:txBody>
      </p:sp>
      <p:pic>
        <p:nvPicPr>
          <p:cNvPr id="8" name="Picture 7" descr="A black background with a black square&#10;&#10;AI-generated content may be incorrect.">
            <a:extLst>
              <a:ext uri="{FF2B5EF4-FFF2-40B4-BE49-F238E27FC236}">
                <a16:creationId xmlns:a16="http://schemas.microsoft.com/office/drawing/2014/main" id="{6FAC15DB-F6D1-F33F-FE40-C327DCFFA1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53143" y="388368"/>
            <a:ext cx="9485714" cy="1193651"/>
          </a:xfrm>
          <a:prstGeom prst="rect">
            <a:avLst/>
          </a:prstGeom>
        </p:spPr>
      </p:pic>
    </p:spTree>
    <p:extLst>
      <p:ext uri="{BB962C8B-B14F-4D97-AF65-F5344CB8AC3E}">
        <p14:creationId xmlns:p14="http://schemas.microsoft.com/office/powerpoint/2010/main" val="24102444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F46C5-11CD-4C87-4B7F-F0A008414468}"/>
              </a:ext>
            </a:extLst>
          </p:cNvPr>
          <p:cNvSpPr>
            <a:spLocks noGrp="1"/>
          </p:cNvSpPr>
          <p:nvPr>
            <p:ph type="title"/>
          </p:nvPr>
        </p:nvSpPr>
        <p:spPr>
          <a:xfrm>
            <a:off x="838198" y="365125"/>
            <a:ext cx="9380975" cy="1325563"/>
          </a:xfrm>
        </p:spPr>
        <p:txBody>
          <a:bodyPr/>
          <a:lstStyle/>
          <a:p>
            <a:r>
              <a:rPr lang="en-US"/>
              <a:t>Click to edit Master title style</a:t>
            </a:r>
            <a:endParaRPr lang="en-SE"/>
          </a:p>
        </p:txBody>
      </p:sp>
      <p:sp>
        <p:nvSpPr>
          <p:cNvPr id="3" name="Content Placeholder 2">
            <a:extLst>
              <a:ext uri="{FF2B5EF4-FFF2-40B4-BE49-F238E27FC236}">
                <a16:creationId xmlns:a16="http://schemas.microsoft.com/office/drawing/2014/main" id="{72567B5C-1FB8-DA82-8443-4DACD45F0C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96DB50CE-E3D9-6C15-6C1B-8A30001A38E3}"/>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Footer Placeholder 4">
            <a:extLst>
              <a:ext uri="{FF2B5EF4-FFF2-40B4-BE49-F238E27FC236}">
                <a16:creationId xmlns:a16="http://schemas.microsoft.com/office/drawing/2014/main" id="{82E106B3-8DD0-55B3-08A0-DD0591C9848C}"/>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49C494B0-86B7-2B02-AF74-37DFCA78F384}"/>
              </a:ext>
            </a:extLst>
          </p:cNvPr>
          <p:cNvSpPr>
            <a:spLocks noGrp="1"/>
          </p:cNvSpPr>
          <p:nvPr>
            <p:ph type="sldNum" sz="quarter" idx="12"/>
          </p:nvPr>
        </p:nvSpPr>
        <p:spPr/>
        <p:txBody>
          <a:bodyPr/>
          <a:lstStyle/>
          <a:p>
            <a:fld id="{271ECC92-9CDE-4EB3-B1C5-F46B9E1FA3C1}" type="slidenum">
              <a:rPr lang="en-SE" smtClean="0"/>
              <a:t>‹#›</a:t>
            </a:fld>
            <a:endParaRPr lang="en-SE"/>
          </a:p>
        </p:txBody>
      </p:sp>
      <p:pic>
        <p:nvPicPr>
          <p:cNvPr id="8" name="Picture 7" descr="A black background with a black square&#10;&#10;AI-generated content may be incorrect.">
            <a:extLst>
              <a:ext uri="{FF2B5EF4-FFF2-40B4-BE49-F238E27FC236}">
                <a16:creationId xmlns:a16="http://schemas.microsoft.com/office/drawing/2014/main" id="{219E70D1-BC5E-0623-4514-854441A4D3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50110" y="365125"/>
            <a:ext cx="1003690" cy="1325563"/>
          </a:xfrm>
          <a:prstGeom prst="rect">
            <a:avLst/>
          </a:prstGeom>
        </p:spPr>
      </p:pic>
    </p:spTree>
    <p:extLst>
      <p:ext uri="{BB962C8B-B14F-4D97-AF65-F5344CB8AC3E}">
        <p14:creationId xmlns:p14="http://schemas.microsoft.com/office/powerpoint/2010/main" val="28118717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A3C64-99A3-C45B-FC04-CD6D7DF0E0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E"/>
          </a:p>
        </p:txBody>
      </p:sp>
      <p:sp>
        <p:nvSpPr>
          <p:cNvPr id="3" name="Text Placeholder 2">
            <a:extLst>
              <a:ext uri="{FF2B5EF4-FFF2-40B4-BE49-F238E27FC236}">
                <a16:creationId xmlns:a16="http://schemas.microsoft.com/office/drawing/2014/main" id="{183CEB3B-F9F7-57EA-A865-FA89E9BE90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1EA0C2-17AA-E8FA-AF35-325A5B6C18D4}"/>
              </a:ext>
            </a:extLst>
          </p:cNvPr>
          <p:cNvSpPr>
            <a:spLocks noGrp="1"/>
          </p:cNvSpPr>
          <p:nvPr>
            <p:ph type="dt" sz="half" idx="10"/>
          </p:nvPr>
        </p:nvSpPr>
        <p:spPr/>
        <p:txBody>
          <a:bodyPr/>
          <a:lstStyle/>
          <a:p>
            <a:fld id="{5BC0AF29-9533-4D4E-A309-A5791971D2E2}" type="datetime1">
              <a:rPr lang="de-DE" smtClean="0"/>
              <a:t>17.06.2026</a:t>
            </a:fld>
            <a:endParaRPr lang="en-SE"/>
          </a:p>
        </p:txBody>
      </p:sp>
      <p:sp>
        <p:nvSpPr>
          <p:cNvPr id="5" name="Footer Placeholder 4">
            <a:extLst>
              <a:ext uri="{FF2B5EF4-FFF2-40B4-BE49-F238E27FC236}">
                <a16:creationId xmlns:a16="http://schemas.microsoft.com/office/drawing/2014/main" id="{EDC95503-4D40-A4E1-4A17-B8F476149189}"/>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CF6C0937-6335-D00A-B738-E03007DFA8B8}"/>
              </a:ext>
            </a:extLst>
          </p:cNvPr>
          <p:cNvSpPr>
            <a:spLocks noGrp="1"/>
          </p:cNvSpPr>
          <p:nvPr>
            <p:ph type="sldNum" sz="quarter" idx="12"/>
          </p:nvPr>
        </p:nvSpPr>
        <p:spPr/>
        <p:txBody>
          <a:bodyPr/>
          <a:lstStyle/>
          <a:p>
            <a:fld id="{271ECC92-9CDE-4EB3-B1C5-F46B9E1FA3C1}" type="slidenum">
              <a:rPr lang="en-SE" smtClean="0"/>
              <a:t>‹#›</a:t>
            </a:fld>
            <a:endParaRPr lang="en-SE"/>
          </a:p>
        </p:txBody>
      </p:sp>
      <p:pic>
        <p:nvPicPr>
          <p:cNvPr id="7" name="Picture 6" descr="A black background with a black square&#10;&#10;AI-generated content may be incorrect.">
            <a:extLst>
              <a:ext uri="{FF2B5EF4-FFF2-40B4-BE49-F238E27FC236}">
                <a16:creationId xmlns:a16="http://schemas.microsoft.com/office/drawing/2014/main" id="{8E93BCFD-7846-D276-1F73-CBB0C60EEDF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16063" y="267789"/>
            <a:ext cx="4947173" cy="622536"/>
          </a:xfrm>
          <a:prstGeom prst="rect">
            <a:avLst/>
          </a:prstGeom>
        </p:spPr>
      </p:pic>
    </p:spTree>
    <p:extLst>
      <p:ext uri="{BB962C8B-B14F-4D97-AF65-F5344CB8AC3E}">
        <p14:creationId xmlns:p14="http://schemas.microsoft.com/office/powerpoint/2010/main" val="15516764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B84F10-67C5-38A9-9573-9D83950EE145}"/>
              </a:ext>
            </a:extLst>
          </p:cNvPr>
          <p:cNvSpPr>
            <a:spLocks noGrp="1"/>
          </p:cNvSpPr>
          <p:nvPr>
            <p:ph type="title"/>
          </p:nvPr>
        </p:nvSpPr>
        <p:spPr>
          <a:xfrm>
            <a:off x="838199" y="365125"/>
            <a:ext cx="10515600" cy="1325563"/>
          </a:xfrm>
          <a:prstGeom prst="rect">
            <a:avLst/>
          </a:prstGeom>
        </p:spPr>
        <p:txBody>
          <a:bodyPr vert="horz" lIns="91440" tIns="45720" rIns="91440" bIns="45720" rtlCol="0" anchor="ctr">
            <a:normAutofit/>
          </a:bodyPr>
          <a:lstStyle/>
          <a:p>
            <a:r>
              <a:rPr lang="en-US"/>
              <a:t>Click to edit Master title style</a:t>
            </a:r>
            <a:endParaRPr lang="en-SE"/>
          </a:p>
        </p:txBody>
      </p:sp>
      <p:sp>
        <p:nvSpPr>
          <p:cNvPr id="3" name="Text Placeholder 2">
            <a:extLst>
              <a:ext uri="{FF2B5EF4-FFF2-40B4-BE49-F238E27FC236}">
                <a16:creationId xmlns:a16="http://schemas.microsoft.com/office/drawing/2014/main" id="{F94813B2-F0B2-78B0-2431-5AE1C5DC3D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6BCA28DA-366D-4CD9-E1EB-113EAA959D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E67268F-5191-4EDD-9773-1EAA25AC2D33}" type="datetime1">
              <a:rPr lang="de-DE" smtClean="0"/>
              <a:t>17.06.2026</a:t>
            </a:fld>
            <a:endParaRPr lang="en-SE"/>
          </a:p>
        </p:txBody>
      </p:sp>
      <p:sp>
        <p:nvSpPr>
          <p:cNvPr id="5" name="Footer Placeholder 4">
            <a:extLst>
              <a:ext uri="{FF2B5EF4-FFF2-40B4-BE49-F238E27FC236}">
                <a16:creationId xmlns:a16="http://schemas.microsoft.com/office/drawing/2014/main" id="{9F6E68D1-9044-00B4-ABE4-8F49530ABD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E"/>
          </a:p>
        </p:txBody>
      </p:sp>
      <p:sp>
        <p:nvSpPr>
          <p:cNvPr id="6" name="Slide Number Placeholder 5">
            <a:extLst>
              <a:ext uri="{FF2B5EF4-FFF2-40B4-BE49-F238E27FC236}">
                <a16:creationId xmlns:a16="http://schemas.microsoft.com/office/drawing/2014/main" id="{0F136186-4B45-9116-C243-AC06504DFF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1ECC92-9CDE-4EB3-B1C5-F46B9E1FA3C1}" type="slidenum">
              <a:rPr lang="en-SE" smtClean="0"/>
              <a:t>‹#›</a:t>
            </a:fld>
            <a:endParaRPr lang="en-SE"/>
          </a:p>
        </p:txBody>
      </p:sp>
    </p:spTree>
    <p:extLst>
      <p:ext uri="{BB962C8B-B14F-4D97-AF65-F5344CB8AC3E}">
        <p14:creationId xmlns:p14="http://schemas.microsoft.com/office/powerpoint/2010/main" val="32711416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github.com/JulianFrattini/bda4sci" TargetMode="External"/><Relationship Id="rId3" Type="http://schemas.openxmlformats.org/officeDocument/2006/relationships/hyperlink" Target="https://choosealicense.com/licenses/apache-2.0/" TargetMode="External"/><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jpg"/><Relationship Id="rId5" Type="http://schemas.openxmlformats.org/officeDocument/2006/relationships/hyperlink" Target="https://julianfrattini.github.io/" TargetMode="External"/><Relationship Id="rId4" Type="http://schemas.openxmlformats.org/officeDocument/2006/relationships/hyperlink" Target="https://creativecommons.org/licenses/by-nc-sa/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image" Target="../media/image7.png"/><Relationship Id="rId16"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hyperlink" Target="https://github.com/JulianFrattini/bda4sci"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E8D0B-776C-E8F7-4D2E-37BA60724F3A}"/>
              </a:ext>
            </a:extLst>
          </p:cNvPr>
          <p:cNvSpPr>
            <a:spLocks noGrp="1"/>
          </p:cNvSpPr>
          <p:nvPr>
            <p:ph type="ctrTitle"/>
          </p:nvPr>
        </p:nvSpPr>
        <p:spPr/>
        <p:txBody>
          <a:bodyPr/>
          <a:lstStyle/>
          <a:p>
            <a:r>
              <a:rPr lang="en-SE" noProof="0" dirty="0"/>
              <a:t>Structural Causal Models</a:t>
            </a:r>
            <a:endParaRPr lang="en-US" noProof="0" dirty="0"/>
          </a:p>
        </p:txBody>
      </p:sp>
      <p:sp>
        <p:nvSpPr>
          <p:cNvPr id="3" name="Subtitle 2">
            <a:extLst>
              <a:ext uri="{FF2B5EF4-FFF2-40B4-BE49-F238E27FC236}">
                <a16:creationId xmlns:a16="http://schemas.microsoft.com/office/drawing/2014/main" id="{DAECA751-926C-8553-9E48-80B7DF1A9306}"/>
              </a:ext>
            </a:extLst>
          </p:cNvPr>
          <p:cNvSpPr>
            <a:spLocks noGrp="1"/>
          </p:cNvSpPr>
          <p:nvPr>
            <p:ph type="subTitle" idx="1"/>
          </p:nvPr>
        </p:nvSpPr>
        <p:spPr/>
        <p:txBody>
          <a:bodyPr/>
          <a:lstStyle/>
          <a:p>
            <a:r>
              <a:rPr lang="en-US" dirty="0"/>
              <a:t>A</a:t>
            </a:r>
            <a:r>
              <a:rPr lang="en-SE" dirty="0"/>
              <a:t> Shared Language for Scientific Inquiry</a:t>
            </a:r>
            <a:endParaRPr lang="en-US" noProof="0" dirty="0"/>
          </a:p>
        </p:txBody>
      </p:sp>
      <p:sp>
        <p:nvSpPr>
          <p:cNvPr id="4" name="TextBox 3">
            <a:extLst>
              <a:ext uri="{FF2B5EF4-FFF2-40B4-BE49-F238E27FC236}">
                <a16:creationId xmlns:a16="http://schemas.microsoft.com/office/drawing/2014/main" id="{AD75591A-FA02-7123-DF74-EDB9D33C0122}"/>
              </a:ext>
            </a:extLst>
          </p:cNvPr>
          <p:cNvSpPr txBox="1"/>
          <p:nvPr/>
        </p:nvSpPr>
        <p:spPr>
          <a:xfrm>
            <a:off x="6795534" y="5859885"/>
            <a:ext cx="4705904" cy="738664"/>
          </a:xfrm>
          <a:prstGeom prst="rect">
            <a:avLst/>
          </a:prstGeom>
          <a:noFill/>
        </p:spPr>
        <p:txBody>
          <a:bodyPr wrap="none" rtlCol="0">
            <a:spAutoFit/>
          </a:bodyPr>
          <a:lstStyle/>
          <a:p>
            <a:pPr algn="r"/>
            <a:r>
              <a:rPr lang="en-US" sz="1400" noProof="0" dirty="0"/>
              <a:t>Copyright © 202</a:t>
            </a:r>
            <a:r>
              <a:rPr lang="en-SE" sz="1400" noProof="0" dirty="0"/>
              <a:t>6</a:t>
            </a:r>
            <a:r>
              <a:rPr lang="en-US" sz="1400" noProof="0" dirty="0"/>
              <a:t> Julian Frattini. </a:t>
            </a:r>
          </a:p>
          <a:p>
            <a:pPr algn="r"/>
            <a:r>
              <a:rPr lang="en-US" sz="1400" dirty="0"/>
              <a:t>The source code is licensed under the </a:t>
            </a:r>
            <a:r>
              <a:rPr lang="en-SE" sz="1400" dirty="0">
                <a:hlinkClick r:id="rId3"/>
              </a:rPr>
              <a:t>Apache License 2.0</a:t>
            </a:r>
            <a:r>
              <a:rPr lang="en-US" sz="1400" dirty="0"/>
              <a:t>.</a:t>
            </a:r>
          </a:p>
          <a:p>
            <a:pPr algn="r"/>
            <a:r>
              <a:rPr lang="en-US" sz="1400" dirty="0"/>
              <a:t>This presentation is licensed under</a:t>
            </a:r>
            <a:r>
              <a:rPr lang="en-SE" sz="1400" dirty="0"/>
              <a:t> </a:t>
            </a:r>
            <a:r>
              <a:rPr lang="de-DE" sz="1400" dirty="0">
                <a:hlinkClick r:id="rId4"/>
              </a:rPr>
              <a:t>CC BY-NC-SA 4.0</a:t>
            </a:r>
            <a:r>
              <a:rPr lang="en-SE" sz="1400"/>
              <a:t>.</a:t>
            </a:r>
            <a:endParaRPr lang="en-US" sz="1400" dirty="0"/>
          </a:p>
        </p:txBody>
      </p:sp>
      <p:sp>
        <p:nvSpPr>
          <p:cNvPr id="11" name="TextBox 10">
            <a:extLst>
              <a:ext uri="{FF2B5EF4-FFF2-40B4-BE49-F238E27FC236}">
                <a16:creationId xmlns:a16="http://schemas.microsoft.com/office/drawing/2014/main" id="{6B4FEC08-B055-2789-C209-ABB868E097B3}"/>
              </a:ext>
            </a:extLst>
          </p:cNvPr>
          <p:cNvSpPr txBox="1"/>
          <p:nvPr/>
        </p:nvSpPr>
        <p:spPr>
          <a:xfrm>
            <a:off x="1866348" y="5398220"/>
            <a:ext cx="4488986" cy="923330"/>
          </a:xfrm>
          <a:prstGeom prst="rect">
            <a:avLst/>
          </a:prstGeom>
          <a:noFill/>
        </p:spPr>
        <p:txBody>
          <a:bodyPr wrap="none" rtlCol="0">
            <a:spAutoFit/>
          </a:bodyPr>
          <a:lstStyle/>
          <a:p>
            <a:r>
              <a:rPr lang="en-US" noProof="0" dirty="0"/>
              <a:t>Julian </a:t>
            </a:r>
            <a:r>
              <a:rPr lang="en-US" b="1" noProof="0" dirty="0"/>
              <a:t>Frattini</a:t>
            </a:r>
            <a:r>
              <a:rPr lang="en-US" noProof="0" dirty="0"/>
              <a:t>, Ph.D.</a:t>
            </a:r>
          </a:p>
          <a:p>
            <a:r>
              <a:rPr lang="en-US" noProof="0" dirty="0">
                <a:solidFill>
                  <a:schemeClr val="tx1">
                    <a:lumMod val="50000"/>
                    <a:lumOff val="50000"/>
                  </a:schemeClr>
                </a:solidFill>
              </a:rPr>
              <a:t>Chalmers University of Technology, Sweden</a:t>
            </a:r>
          </a:p>
          <a:p>
            <a:r>
              <a:rPr lang="en-US" noProof="0" dirty="0">
                <a:hlinkClick r:id="rId5"/>
              </a:rPr>
              <a:t>https://julianfrattini.github.io/</a:t>
            </a:r>
            <a:r>
              <a:rPr lang="en-US" noProof="0" dirty="0"/>
              <a:t> </a:t>
            </a:r>
          </a:p>
        </p:txBody>
      </p:sp>
      <p:sp>
        <p:nvSpPr>
          <p:cNvPr id="12" name="Oval 11">
            <a:extLst>
              <a:ext uri="{FF2B5EF4-FFF2-40B4-BE49-F238E27FC236}">
                <a16:creationId xmlns:a16="http://schemas.microsoft.com/office/drawing/2014/main" id="{492E9483-BEDA-C731-B7BE-ABF0A5518387}"/>
              </a:ext>
            </a:extLst>
          </p:cNvPr>
          <p:cNvSpPr/>
          <p:nvPr/>
        </p:nvSpPr>
        <p:spPr>
          <a:xfrm>
            <a:off x="715676" y="5303105"/>
            <a:ext cx="1080000" cy="1080000"/>
          </a:xfrm>
          <a:prstGeom prst="ellipse">
            <a:avLst/>
          </a:prstGeom>
          <a:blipFill dpi="0" rotWithShape="1">
            <a:blip r:embed="rId6">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5" name="Group 4">
            <a:extLst>
              <a:ext uri="{FF2B5EF4-FFF2-40B4-BE49-F238E27FC236}">
                <a16:creationId xmlns:a16="http://schemas.microsoft.com/office/drawing/2014/main" id="{579BBCC2-696B-4EE1-4FE4-2E4411C0F251}"/>
              </a:ext>
            </a:extLst>
          </p:cNvPr>
          <p:cNvGrpSpPr/>
          <p:nvPr/>
        </p:nvGrpSpPr>
        <p:grpSpPr>
          <a:xfrm>
            <a:off x="7967672" y="5336710"/>
            <a:ext cx="3533766" cy="444265"/>
            <a:chOff x="7967672" y="5336710"/>
            <a:chExt cx="3533766" cy="444265"/>
          </a:xfrm>
        </p:grpSpPr>
        <p:grpSp>
          <p:nvGrpSpPr>
            <p:cNvPr id="6" name="Group 5">
              <a:extLst>
                <a:ext uri="{FF2B5EF4-FFF2-40B4-BE49-F238E27FC236}">
                  <a16:creationId xmlns:a16="http://schemas.microsoft.com/office/drawing/2014/main" id="{ACCE08EC-E9A8-C79D-4C75-8B6A9708A3FB}"/>
                </a:ext>
              </a:extLst>
            </p:cNvPr>
            <p:cNvGrpSpPr/>
            <p:nvPr/>
          </p:nvGrpSpPr>
          <p:grpSpPr>
            <a:xfrm>
              <a:off x="7967672" y="5370114"/>
              <a:ext cx="3508652" cy="369332"/>
              <a:chOff x="7896235" y="5406529"/>
              <a:chExt cx="3508652" cy="369332"/>
            </a:xfrm>
          </p:grpSpPr>
          <p:pic>
            <p:nvPicPr>
              <p:cNvPr id="8" name="Picture 7" descr="A black background with a black square&#10;&#10;Description automatically generated with medium confidence">
                <a:extLst>
                  <a:ext uri="{FF2B5EF4-FFF2-40B4-BE49-F238E27FC236}">
                    <a16:creationId xmlns:a16="http://schemas.microsoft.com/office/drawing/2014/main" id="{865BDC89-0957-2AB2-5308-DA5566DFCF2B}"/>
                  </a:ext>
                </a:extLst>
              </p:cNvPr>
              <p:cNvPicPr>
                <a:picLocks noChangeAspect="1"/>
              </p:cNvPicPr>
              <p:nvPr/>
            </p:nvPicPr>
            <p:blipFill>
              <a:blip r:embed="rId7"/>
              <a:stretch>
                <a:fillRect/>
              </a:stretch>
            </p:blipFill>
            <p:spPr>
              <a:xfrm>
                <a:off x="7896235" y="5422888"/>
                <a:ext cx="344101" cy="344101"/>
              </a:xfrm>
              <a:prstGeom prst="rect">
                <a:avLst/>
              </a:prstGeom>
            </p:spPr>
          </p:pic>
          <p:sp>
            <p:nvSpPr>
              <p:cNvPr id="9" name="TextBox 8">
                <a:extLst>
                  <a:ext uri="{FF2B5EF4-FFF2-40B4-BE49-F238E27FC236}">
                    <a16:creationId xmlns:a16="http://schemas.microsoft.com/office/drawing/2014/main" id="{045BE95E-49F9-842E-7B93-BDF91E09C7D3}"/>
                  </a:ext>
                </a:extLst>
              </p:cNvPr>
              <p:cNvSpPr txBox="1"/>
              <p:nvPr/>
            </p:nvSpPr>
            <p:spPr>
              <a:xfrm>
                <a:off x="8240336" y="5406529"/>
                <a:ext cx="2356992" cy="369332"/>
              </a:xfrm>
              <a:prstGeom prst="rect">
                <a:avLst/>
              </a:prstGeom>
              <a:noFill/>
            </p:spPr>
            <p:txBody>
              <a:bodyPr wrap="none" rtlCol="0">
                <a:spAutoFit/>
              </a:bodyPr>
              <a:lstStyle/>
              <a:p>
                <a:r>
                  <a:rPr lang="en-US" noProof="0" dirty="0" err="1"/>
                  <a:t>JulianFrattini</a:t>
                </a:r>
                <a:r>
                  <a:rPr lang="en-US" noProof="0" dirty="0"/>
                  <a:t>/</a:t>
                </a:r>
                <a:r>
                  <a:rPr lang="en-US" b="1" noProof="0" dirty="0"/>
                  <a:t>bda4sci</a:t>
                </a:r>
              </a:p>
            </p:txBody>
          </p:sp>
          <p:sp>
            <p:nvSpPr>
              <p:cNvPr id="10" name="Rectangle: Rounded Corners 9">
                <a:extLst>
                  <a:ext uri="{FF2B5EF4-FFF2-40B4-BE49-F238E27FC236}">
                    <a16:creationId xmlns:a16="http://schemas.microsoft.com/office/drawing/2014/main" id="{1E137170-F20B-D8DB-3856-32092459914B}"/>
                  </a:ext>
                </a:extLst>
              </p:cNvPr>
              <p:cNvSpPr/>
              <p:nvPr/>
            </p:nvSpPr>
            <p:spPr>
              <a:xfrm>
                <a:off x="10668000" y="5456392"/>
                <a:ext cx="736887" cy="279245"/>
              </a:xfrm>
              <a:prstGeom prst="roundRect">
                <a:avLst>
                  <a:gd name="adj" fmla="val 50000"/>
                </a:avLst>
              </a:prstGeom>
              <a:no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lumMod val="65000"/>
                        <a:lumOff val="35000"/>
                      </a:schemeClr>
                    </a:solidFill>
                  </a:rPr>
                  <a:t>Public</a:t>
                </a:r>
              </a:p>
            </p:txBody>
          </p:sp>
        </p:grpSp>
        <p:sp>
          <p:nvSpPr>
            <p:cNvPr id="7" name="Rectangle 6">
              <a:hlinkClick r:id="rId8"/>
              <a:extLst>
                <a:ext uri="{FF2B5EF4-FFF2-40B4-BE49-F238E27FC236}">
                  <a16:creationId xmlns:a16="http://schemas.microsoft.com/office/drawing/2014/main" id="{1523D628-A64F-768E-A385-ECA75D071607}"/>
                </a:ext>
              </a:extLst>
            </p:cNvPr>
            <p:cNvSpPr/>
            <p:nvPr/>
          </p:nvSpPr>
          <p:spPr>
            <a:xfrm>
              <a:off x="7967672" y="5336710"/>
              <a:ext cx="3533766" cy="4442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19421989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728DC6-6A8B-6679-470D-8EE922D9F461}"/>
              </a:ext>
            </a:extLst>
          </p:cNvPr>
          <p:cNvSpPr>
            <a:spLocks noGrp="1"/>
          </p:cNvSpPr>
          <p:nvPr>
            <p:ph type="title"/>
          </p:nvPr>
        </p:nvSpPr>
        <p:spPr/>
        <p:txBody>
          <a:bodyPr/>
          <a:lstStyle/>
          <a:p>
            <a:r>
              <a:rPr lang="en-SE" dirty="0"/>
              <a:t>Directed Acyclic Graphs</a:t>
            </a:r>
          </a:p>
        </p:txBody>
      </p:sp>
      <p:sp>
        <p:nvSpPr>
          <p:cNvPr id="7" name="Text Placeholder 6">
            <a:extLst>
              <a:ext uri="{FF2B5EF4-FFF2-40B4-BE49-F238E27FC236}">
                <a16:creationId xmlns:a16="http://schemas.microsoft.com/office/drawing/2014/main" id="{BADB7B05-1A56-1184-094D-6EFCCBEA782D}"/>
              </a:ext>
            </a:extLst>
          </p:cNvPr>
          <p:cNvSpPr>
            <a:spLocks noGrp="1"/>
          </p:cNvSpPr>
          <p:nvPr>
            <p:ph type="body" idx="1"/>
          </p:nvPr>
        </p:nvSpPr>
        <p:spPr/>
        <p:txBody>
          <a:bodyPr/>
          <a:lstStyle/>
          <a:p>
            <a:r>
              <a:rPr lang="en-SE" dirty="0"/>
              <a:t>A Syntax to Formalize Causal Assumptions</a:t>
            </a:r>
          </a:p>
        </p:txBody>
      </p:sp>
      <p:sp>
        <p:nvSpPr>
          <p:cNvPr id="4" name="Date Placeholder 3">
            <a:extLst>
              <a:ext uri="{FF2B5EF4-FFF2-40B4-BE49-F238E27FC236}">
                <a16:creationId xmlns:a16="http://schemas.microsoft.com/office/drawing/2014/main" id="{584E4B51-3457-50C8-968E-F6B913FF41A2}"/>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Slide Number Placeholder 4">
            <a:extLst>
              <a:ext uri="{FF2B5EF4-FFF2-40B4-BE49-F238E27FC236}">
                <a16:creationId xmlns:a16="http://schemas.microsoft.com/office/drawing/2014/main" id="{B5DED573-87FD-5188-1E76-94590C78013B}"/>
              </a:ext>
            </a:extLst>
          </p:cNvPr>
          <p:cNvSpPr>
            <a:spLocks noGrp="1"/>
          </p:cNvSpPr>
          <p:nvPr>
            <p:ph type="sldNum" sz="quarter" idx="12"/>
          </p:nvPr>
        </p:nvSpPr>
        <p:spPr/>
        <p:txBody>
          <a:bodyPr/>
          <a:lstStyle/>
          <a:p>
            <a:fld id="{271ECC92-9CDE-4EB3-B1C5-F46B9E1FA3C1}" type="slidenum">
              <a:rPr lang="en-SE" smtClean="0"/>
              <a:t>2</a:t>
            </a:fld>
            <a:endParaRPr lang="en-SE"/>
          </a:p>
        </p:txBody>
      </p:sp>
    </p:spTree>
    <p:extLst>
      <p:ext uri="{BB962C8B-B14F-4D97-AF65-F5344CB8AC3E}">
        <p14:creationId xmlns:p14="http://schemas.microsoft.com/office/powerpoint/2010/main" val="27352223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E5DF5-1C47-AB9C-67AB-BA5DD6472943}"/>
              </a:ext>
            </a:extLst>
          </p:cNvPr>
          <p:cNvSpPr>
            <a:spLocks noGrp="1"/>
          </p:cNvSpPr>
          <p:nvPr>
            <p:ph type="title"/>
          </p:nvPr>
        </p:nvSpPr>
        <p:spPr/>
        <p:txBody>
          <a:bodyPr/>
          <a:lstStyle/>
          <a:p>
            <a:r>
              <a:rPr lang="en-SE" dirty="0"/>
              <a:t>Causal Modelling</a:t>
            </a:r>
          </a:p>
        </p:txBody>
      </p:sp>
      <p:sp>
        <p:nvSpPr>
          <p:cNvPr id="3" name="Content Placeholder 2">
            <a:extLst>
              <a:ext uri="{FF2B5EF4-FFF2-40B4-BE49-F238E27FC236}">
                <a16:creationId xmlns:a16="http://schemas.microsoft.com/office/drawing/2014/main" id="{0C1D0932-E5B2-570A-801C-FB679D242281}"/>
              </a:ext>
            </a:extLst>
          </p:cNvPr>
          <p:cNvSpPr>
            <a:spLocks noGrp="1"/>
          </p:cNvSpPr>
          <p:nvPr>
            <p:ph idx="1"/>
          </p:nvPr>
        </p:nvSpPr>
        <p:spPr/>
        <p:txBody>
          <a:bodyPr/>
          <a:lstStyle/>
          <a:p>
            <a:pPr marL="0" indent="0">
              <a:buNone/>
            </a:pPr>
            <a:r>
              <a:rPr lang="en-SE" dirty="0"/>
              <a:t>A</a:t>
            </a:r>
            <a:r>
              <a:rPr lang="en-US" dirty="0"/>
              <a:t> </a:t>
            </a:r>
            <a:r>
              <a:rPr lang="en-SE" dirty="0"/>
              <a:t>(structural) </a:t>
            </a:r>
            <a:r>
              <a:rPr lang="en-US" dirty="0"/>
              <a:t>causal model is a </a:t>
            </a:r>
            <a:r>
              <a:rPr lang="en-US" b="1" dirty="0"/>
              <a:t>conceptual model </a:t>
            </a:r>
            <a:r>
              <a:rPr lang="en-US" dirty="0"/>
              <a:t>that </a:t>
            </a:r>
            <a:r>
              <a:rPr lang="en-US" i="1" dirty="0"/>
              <a:t>represents the causal mechanisms of a system</a:t>
            </a:r>
            <a:r>
              <a:rPr lang="en-SE" dirty="0"/>
              <a:t> [1]. They serve two main purposes [2]:</a:t>
            </a:r>
          </a:p>
          <a:p>
            <a:pPr marL="514350" indent="-514350">
              <a:buFont typeface="+mj-lt"/>
              <a:buAutoNum type="arabicPeriod"/>
            </a:pPr>
            <a:r>
              <a:rPr lang="en-SE" b="1" dirty="0"/>
              <a:t>Visualizing causal assumptions </a:t>
            </a:r>
            <a:r>
              <a:rPr lang="en-SE" dirty="0"/>
              <a:t>and determining testable implications.</a:t>
            </a:r>
          </a:p>
          <a:p>
            <a:pPr marL="514350" indent="-514350">
              <a:buFont typeface="+mj-lt"/>
              <a:buAutoNum type="arabicPeriod"/>
            </a:pPr>
            <a:r>
              <a:rPr lang="en-SE" b="1" dirty="0"/>
              <a:t>Proving the possibility</a:t>
            </a:r>
            <a:r>
              <a:rPr lang="en-SE" dirty="0"/>
              <a:t> of computing causal effects from observational data.</a:t>
            </a:r>
          </a:p>
          <a:p>
            <a:pPr marL="0" indent="0">
              <a:buNone/>
            </a:pPr>
            <a:endParaRPr lang="en-SE" dirty="0"/>
          </a:p>
        </p:txBody>
      </p:sp>
      <p:sp>
        <p:nvSpPr>
          <p:cNvPr id="4" name="Date Placeholder 3">
            <a:extLst>
              <a:ext uri="{FF2B5EF4-FFF2-40B4-BE49-F238E27FC236}">
                <a16:creationId xmlns:a16="http://schemas.microsoft.com/office/drawing/2014/main" id="{4E11409B-DF23-3041-2093-6EF72D65E2AC}"/>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Slide Number Placeholder 4">
            <a:extLst>
              <a:ext uri="{FF2B5EF4-FFF2-40B4-BE49-F238E27FC236}">
                <a16:creationId xmlns:a16="http://schemas.microsoft.com/office/drawing/2014/main" id="{E0F7FE09-3720-CE42-3654-137CE6024329}"/>
              </a:ext>
            </a:extLst>
          </p:cNvPr>
          <p:cNvSpPr>
            <a:spLocks noGrp="1"/>
          </p:cNvSpPr>
          <p:nvPr>
            <p:ph type="sldNum" sz="quarter" idx="12"/>
          </p:nvPr>
        </p:nvSpPr>
        <p:spPr/>
        <p:txBody>
          <a:bodyPr/>
          <a:lstStyle/>
          <a:p>
            <a:fld id="{271ECC92-9CDE-4EB3-B1C5-F46B9E1FA3C1}" type="slidenum">
              <a:rPr lang="en-SE" smtClean="0"/>
              <a:t>3</a:t>
            </a:fld>
            <a:endParaRPr lang="en-SE"/>
          </a:p>
        </p:txBody>
      </p:sp>
    </p:spTree>
    <p:extLst>
      <p:ext uri="{BB962C8B-B14F-4D97-AF65-F5344CB8AC3E}">
        <p14:creationId xmlns:p14="http://schemas.microsoft.com/office/powerpoint/2010/main" val="1611237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964DA-6318-2F75-058A-96F88B77D863}"/>
              </a:ext>
            </a:extLst>
          </p:cNvPr>
          <p:cNvSpPr>
            <a:spLocks noGrp="1"/>
          </p:cNvSpPr>
          <p:nvPr>
            <p:ph type="title"/>
          </p:nvPr>
        </p:nvSpPr>
        <p:spPr/>
        <p:txBody>
          <a:bodyPr/>
          <a:lstStyle/>
          <a:p>
            <a:r>
              <a:rPr lang="en-SE" dirty="0"/>
              <a:t>Structure of this Seminar</a:t>
            </a:r>
          </a:p>
        </p:txBody>
      </p:sp>
      <p:sp>
        <p:nvSpPr>
          <p:cNvPr id="3" name="Content Placeholder 2">
            <a:extLst>
              <a:ext uri="{FF2B5EF4-FFF2-40B4-BE49-F238E27FC236}">
                <a16:creationId xmlns:a16="http://schemas.microsoft.com/office/drawing/2014/main" id="{3B812EE6-55D5-532B-B79A-1B2F2D74AEDB}"/>
              </a:ext>
            </a:extLst>
          </p:cNvPr>
          <p:cNvSpPr>
            <a:spLocks noGrp="1"/>
          </p:cNvSpPr>
          <p:nvPr>
            <p:ph idx="1"/>
          </p:nvPr>
        </p:nvSpPr>
        <p:spPr>
          <a:xfrm>
            <a:off x="838200" y="1825625"/>
            <a:ext cx="10515600" cy="550022"/>
          </a:xfrm>
        </p:spPr>
        <p:txBody>
          <a:bodyPr/>
          <a:lstStyle/>
          <a:p>
            <a:pPr marL="0" indent="0">
              <a:buNone/>
            </a:pPr>
            <a:r>
              <a:rPr lang="en-SE" dirty="0"/>
              <a:t>Every lesson consists of its theory and one or more use cases.</a:t>
            </a:r>
          </a:p>
        </p:txBody>
      </p:sp>
      <p:sp>
        <p:nvSpPr>
          <p:cNvPr id="4" name="Date Placeholder 3">
            <a:extLst>
              <a:ext uri="{FF2B5EF4-FFF2-40B4-BE49-F238E27FC236}">
                <a16:creationId xmlns:a16="http://schemas.microsoft.com/office/drawing/2014/main" id="{51E8DE04-E79E-080F-E937-D7D334579554}"/>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Slide Number Placeholder 4">
            <a:extLst>
              <a:ext uri="{FF2B5EF4-FFF2-40B4-BE49-F238E27FC236}">
                <a16:creationId xmlns:a16="http://schemas.microsoft.com/office/drawing/2014/main" id="{A93B6D25-C11E-CCF1-6FC3-A9827618F8E8}"/>
              </a:ext>
            </a:extLst>
          </p:cNvPr>
          <p:cNvSpPr>
            <a:spLocks noGrp="1"/>
          </p:cNvSpPr>
          <p:nvPr>
            <p:ph type="sldNum" sz="quarter" idx="12"/>
          </p:nvPr>
        </p:nvSpPr>
        <p:spPr/>
        <p:txBody>
          <a:bodyPr/>
          <a:lstStyle/>
          <a:p>
            <a:fld id="{271ECC92-9CDE-4EB3-B1C5-F46B9E1FA3C1}" type="slidenum">
              <a:rPr lang="en-SE" smtClean="0"/>
              <a:t>4</a:t>
            </a:fld>
            <a:endParaRPr lang="en-SE"/>
          </a:p>
        </p:txBody>
      </p:sp>
      <p:grpSp>
        <p:nvGrpSpPr>
          <p:cNvPr id="8" name="Group 7">
            <a:extLst>
              <a:ext uri="{FF2B5EF4-FFF2-40B4-BE49-F238E27FC236}">
                <a16:creationId xmlns:a16="http://schemas.microsoft.com/office/drawing/2014/main" id="{557A5804-81AF-9DD3-FB1B-5CD9C677CBE7}"/>
              </a:ext>
            </a:extLst>
          </p:cNvPr>
          <p:cNvGrpSpPr/>
          <p:nvPr/>
        </p:nvGrpSpPr>
        <p:grpSpPr>
          <a:xfrm>
            <a:off x="3336814" y="3214455"/>
            <a:ext cx="4383741" cy="1267899"/>
            <a:chOff x="4007223" y="3124807"/>
            <a:chExt cx="4383741" cy="1797424"/>
          </a:xfrm>
        </p:grpSpPr>
        <p:sp>
          <p:nvSpPr>
            <p:cNvPr id="6" name="Arrow: Pentagon 5">
              <a:extLst>
                <a:ext uri="{FF2B5EF4-FFF2-40B4-BE49-F238E27FC236}">
                  <a16:creationId xmlns:a16="http://schemas.microsoft.com/office/drawing/2014/main" id="{37B0FD1D-BC4F-1784-9299-C5AA35CF9CD8}"/>
                </a:ext>
              </a:extLst>
            </p:cNvPr>
            <p:cNvSpPr/>
            <p:nvPr/>
          </p:nvSpPr>
          <p:spPr>
            <a:xfrm>
              <a:off x="4007223" y="3124807"/>
              <a:ext cx="2384612" cy="1797424"/>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dirty="0"/>
                <a:t>Theory</a:t>
              </a:r>
            </a:p>
          </p:txBody>
        </p:sp>
        <p:sp>
          <p:nvSpPr>
            <p:cNvPr id="7" name="Arrow: Chevron 6">
              <a:extLst>
                <a:ext uri="{FF2B5EF4-FFF2-40B4-BE49-F238E27FC236}">
                  <a16:creationId xmlns:a16="http://schemas.microsoft.com/office/drawing/2014/main" id="{A612D421-CB6A-403E-2FAF-CD322542F251}"/>
                </a:ext>
              </a:extLst>
            </p:cNvPr>
            <p:cNvSpPr/>
            <p:nvPr/>
          </p:nvSpPr>
          <p:spPr>
            <a:xfrm>
              <a:off x="5867400" y="3124807"/>
              <a:ext cx="2523564" cy="1797424"/>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dirty="0">
                  <a:solidFill>
                    <a:schemeClr val="tx1"/>
                  </a:solidFill>
                </a:rPr>
                <a:t>Use Case</a:t>
              </a:r>
            </a:p>
          </p:txBody>
        </p:sp>
      </p:grpSp>
    </p:spTree>
    <p:extLst>
      <p:ext uri="{BB962C8B-B14F-4D97-AF65-F5344CB8AC3E}">
        <p14:creationId xmlns:p14="http://schemas.microsoft.com/office/powerpoint/2010/main" val="33343690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B0B92-803A-8B09-F829-33CDB61E3572}"/>
              </a:ext>
            </a:extLst>
          </p:cNvPr>
          <p:cNvSpPr>
            <a:spLocks noGrp="1"/>
          </p:cNvSpPr>
          <p:nvPr>
            <p:ph type="title"/>
          </p:nvPr>
        </p:nvSpPr>
        <p:spPr/>
        <p:txBody>
          <a:bodyPr/>
          <a:lstStyle/>
          <a:p>
            <a:r>
              <a:rPr lang="en-SE" dirty="0"/>
              <a:t>Directed Acyclic Graphs</a:t>
            </a:r>
          </a:p>
        </p:txBody>
      </p:sp>
      <p:sp>
        <p:nvSpPr>
          <p:cNvPr id="6" name="Content Placeholder 5">
            <a:extLst>
              <a:ext uri="{FF2B5EF4-FFF2-40B4-BE49-F238E27FC236}">
                <a16:creationId xmlns:a16="http://schemas.microsoft.com/office/drawing/2014/main" id="{0E66D9AC-B6FB-0B9E-C15F-BADAAB3DDC12}"/>
              </a:ext>
            </a:extLst>
          </p:cNvPr>
          <p:cNvSpPr>
            <a:spLocks noGrp="1"/>
          </p:cNvSpPr>
          <p:nvPr>
            <p:ph idx="1"/>
          </p:nvPr>
        </p:nvSpPr>
        <p:spPr>
          <a:xfrm>
            <a:off x="838200" y="1825625"/>
            <a:ext cx="10515600" cy="786946"/>
          </a:xfrm>
        </p:spPr>
        <p:txBody>
          <a:bodyPr/>
          <a:lstStyle/>
          <a:p>
            <a:pPr marL="0" indent="0">
              <a:buNone/>
            </a:pPr>
            <a:r>
              <a:rPr lang="en-SE" dirty="0"/>
              <a:t>Causal models can be realized as directed, acyclic graphs (</a:t>
            </a:r>
            <a:r>
              <a:rPr lang="en-SE" dirty="0" err="1"/>
              <a:t>DAGs</a:t>
            </a:r>
            <a:r>
              <a:rPr lang="en-SE" dirty="0"/>
              <a:t>).</a:t>
            </a:r>
          </a:p>
        </p:txBody>
      </p:sp>
      <p:sp>
        <p:nvSpPr>
          <p:cNvPr id="4" name="Date Placeholder 3">
            <a:extLst>
              <a:ext uri="{FF2B5EF4-FFF2-40B4-BE49-F238E27FC236}">
                <a16:creationId xmlns:a16="http://schemas.microsoft.com/office/drawing/2014/main" id="{90A8502D-EBCD-96C1-E6AE-79F3D8929CCC}"/>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Slide Number Placeholder 4">
            <a:extLst>
              <a:ext uri="{FF2B5EF4-FFF2-40B4-BE49-F238E27FC236}">
                <a16:creationId xmlns:a16="http://schemas.microsoft.com/office/drawing/2014/main" id="{835A1315-2881-226F-F35C-C9C7C04AEB25}"/>
              </a:ext>
            </a:extLst>
          </p:cNvPr>
          <p:cNvSpPr>
            <a:spLocks noGrp="1"/>
          </p:cNvSpPr>
          <p:nvPr>
            <p:ph type="sldNum" sz="quarter" idx="12"/>
          </p:nvPr>
        </p:nvSpPr>
        <p:spPr/>
        <p:txBody>
          <a:bodyPr/>
          <a:lstStyle/>
          <a:p>
            <a:fld id="{271ECC92-9CDE-4EB3-B1C5-F46B9E1FA3C1}" type="slidenum">
              <a:rPr lang="en-SE" smtClean="0"/>
              <a:t>5</a:t>
            </a:fld>
            <a:endParaRPr lang="en-SE"/>
          </a:p>
        </p:txBody>
      </p:sp>
      <p:sp>
        <p:nvSpPr>
          <p:cNvPr id="8" name="Oval 7">
            <a:extLst>
              <a:ext uri="{FF2B5EF4-FFF2-40B4-BE49-F238E27FC236}">
                <a16:creationId xmlns:a16="http://schemas.microsoft.com/office/drawing/2014/main" id="{0A394FEB-D389-ED2B-560F-B2A1526DA755}"/>
              </a:ext>
            </a:extLst>
          </p:cNvPr>
          <p:cNvSpPr/>
          <p:nvPr/>
        </p:nvSpPr>
        <p:spPr>
          <a:xfrm>
            <a:off x="4425166" y="310259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9" name="Oval 8">
            <a:extLst>
              <a:ext uri="{FF2B5EF4-FFF2-40B4-BE49-F238E27FC236}">
                <a16:creationId xmlns:a16="http://schemas.microsoft.com/office/drawing/2014/main" id="{D2B96BE9-03FA-9841-F7FA-979F7C35976C}"/>
              </a:ext>
            </a:extLst>
          </p:cNvPr>
          <p:cNvSpPr/>
          <p:nvPr/>
        </p:nvSpPr>
        <p:spPr>
          <a:xfrm>
            <a:off x="6916546" y="310259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10" name="Straight Arrow Connector 9">
            <a:extLst>
              <a:ext uri="{FF2B5EF4-FFF2-40B4-BE49-F238E27FC236}">
                <a16:creationId xmlns:a16="http://schemas.microsoft.com/office/drawing/2014/main" id="{1C906011-3D06-E783-3823-86F7F37BC9ED}"/>
              </a:ext>
            </a:extLst>
          </p:cNvPr>
          <p:cNvCxnSpPr>
            <a:stCxn id="8" idx="6"/>
            <a:endCxn id="9" idx="2"/>
          </p:cNvCxnSpPr>
          <p:nvPr/>
        </p:nvCxnSpPr>
        <p:spPr>
          <a:xfrm>
            <a:off x="4785166" y="328259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21" name="Group 20">
            <a:extLst>
              <a:ext uri="{FF2B5EF4-FFF2-40B4-BE49-F238E27FC236}">
                <a16:creationId xmlns:a16="http://schemas.microsoft.com/office/drawing/2014/main" id="{99589101-93C4-A77A-EC84-996EF342BC87}"/>
              </a:ext>
            </a:extLst>
          </p:cNvPr>
          <p:cNvGrpSpPr/>
          <p:nvPr/>
        </p:nvGrpSpPr>
        <p:grpSpPr>
          <a:xfrm>
            <a:off x="1076545" y="4856774"/>
            <a:ext cx="1417151" cy="360000"/>
            <a:chOff x="1076545" y="4856774"/>
            <a:chExt cx="1417151" cy="360000"/>
          </a:xfrm>
        </p:grpSpPr>
        <p:sp>
          <p:nvSpPr>
            <p:cNvPr id="22" name="Oval 21">
              <a:extLst>
                <a:ext uri="{FF2B5EF4-FFF2-40B4-BE49-F238E27FC236}">
                  <a16:creationId xmlns:a16="http://schemas.microsoft.com/office/drawing/2014/main" id="{49464A4B-25CC-BE9E-2980-54A61952112E}"/>
                </a:ext>
              </a:extLst>
            </p:cNvPr>
            <p:cNvSpPr/>
            <p:nvPr/>
          </p:nvSpPr>
          <p:spPr>
            <a:xfrm>
              <a:off x="1076545" y="4856774"/>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TextBox 22">
              <a:extLst>
                <a:ext uri="{FF2B5EF4-FFF2-40B4-BE49-F238E27FC236}">
                  <a16:creationId xmlns:a16="http://schemas.microsoft.com/office/drawing/2014/main" id="{2A304390-CFC2-F70F-F2C8-009675821AFC}"/>
                </a:ext>
              </a:extLst>
            </p:cNvPr>
            <p:cNvSpPr txBox="1"/>
            <p:nvPr/>
          </p:nvSpPr>
          <p:spPr>
            <a:xfrm>
              <a:off x="1495794" y="4867742"/>
              <a:ext cx="997902" cy="338554"/>
            </a:xfrm>
            <a:prstGeom prst="rect">
              <a:avLst/>
            </a:prstGeom>
            <a:noFill/>
          </p:spPr>
          <p:txBody>
            <a:bodyPr wrap="none" rtlCol="0">
              <a:spAutoFit/>
            </a:bodyPr>
            <a:lstStyle/>
            <a:p>
              <a:r>
                <a:rPr lang="en-SE" sz="1600" noProof="0" dirty="0"/>
                <a:t>exposure</a:t>
              </a:r>
              <a:endParaRPr lang="en-US" sz="1600" noProof="0" dirty="0"/>
            </a:p>
          </p:txBody>
        </p:sp>
      </p:grpSp>
      <p:grpSp>
        <p:nvGrpSpPr>
          <p:cNvPr id="24" name="Group 23">
            <a:extLst>
              <a:ext uri="{FF2B5EF4-FFF2-40B4-BE49-F238E27FC236}">
                <a16:creationId xmlns:a16="http://schemas.microsoft.com/office/drawing/2014/main" id="{DEFFF5FA-13E3-DB63-C98B-D0D5A553AB92}"/>
              </a:ext>
            </a:extLst>
          </p:cNvPr>
          <p:cNvGrpSpPr/>
          <p:nvPr/>
        </p:nvGrpSpPr>
        <p:grpSpPr>
          <a:xfrm>
            <a:off x="1074854" y="5309376"/>
            <a:ext cx="1428215" cy="360000"/>
            <a:chOff x="1074854" y="5309376"/>
            <a:chExt cx="1428215" cy="360000"/>
          </a:xfrm>
        </p:grpSpPr>
        <p:sp>
          <p:nvSpPr>
            <p:cNvPr id="25" name="Oval 24">
              <a:extLst>
                <a:ext uri="{FF2B5EF4-FFF2-40B4-BE49-F238E27FC236}">
                  <a16:creationId xmlns:a16="http://schemas.microsoft.com/office/drawing/2014/main" id="{17C995C8-20A4-8371-2AA2-F4FED47222E9}"/>
                </a:ext>
              </a:extLst>
            </p:cNvPr>
            <p:cNvSpPr/>
            <p:nvPr/>
          </p:nvSpPr>
          <p:spPr>
            <a:xfrm>
              <a:off x="1074854" y="5309376"/>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TextBox 25">
              <a:extLst>
                <a:ext uri="{FF2B5EF4-FFF2-40B4-BE49-F238E27FC236}">
                  <a16:creationId xmlns:a16="http://schemas.microsoft.com/office/drawing/2014/main" id="{238249DC-65F3-BB27-68BE-60DB8AABB290}"/>
                </a:ext>
              </a:extLst>
            </p:cNvPr>
            <p:cNvSpPr txBox="1"/>
            <p:nvPr/>
          </p:nvSpPr>
          <p:spPr>
            <a:xfrm>
              <a:off x="1495677" y="5320099"/>
              <a:ext cx="1007392" cy="338554"/>
            </a:xfrm>
            <a:prstGeom prst="rect">
              <a:avLst/>
            </a:prstGeom>
            <a:noFill/>
          </p:spPr>
          <p:txBody>
            <a:bodyPr wrap="none" rtlCol="0">
              <a:spAutoFit/>
            </a:bodyPr>
            <a:lstStyle/>
            <a:p>
              <a:r>
                <a:rPr lang="en-SE" sz="1600" noProof="0" dirty="0"/>
                <a:t>response</a:t>
              </a:r>
              <a:endParaRPr lang="en-US" sz="1600" noProof="0" dirty="0"/>
            </a:p>
          </p:txBody>
        </p:sp>
      </p:grpSp>
      <p:grpSp>
        <p:nvGrpSpPr>
          <p:cNvPr id="27" name="Group 26">
            <a:extLst>
              <a:ext uri="{FF2B5EF4-FFF2-40B4-BE49-F238E27FC236}">
                <a16:creationId xmlns:a16="http://schemas.microsoft.com/office/drawing/2014/main" id="{E94A2CDF-64BD-5B91-430F-77FB4370700B}"/>
              </a:ext>
            </a:extLst>
          </p:cNvPr>
          <p:cNvGrpSpPr/>
          <p:nvPr/>
        </p:nvGrpSpPr>
        <p:grpSpPr>
          <a:xfrm>
            <a:off x="3396566" y="4757200"/>
            <a:ext cx="2457272" cy="584775"/>
            <a:chOff x="3396566" y="4757200"/>
            <a:chExt cx="2457272" cy="584775"/>
          </a:xfrm>
        </p:grpSpPr>
        <p:cxnSp>
          <p:nvCxnSpPr>
            <p:cNvPr id="28" name="Straight Arrow Connector 27">
              <a:extLst>
                <a:ext uri="{FF2B5EF4-FFF2-40B4-BE49-F238E27FC236}">
                  <a16:creationId xmlns:a16="http://schemas.microsoft.com/office/drawing/2014/main" id="{1211FD7A-69D5-1C39-C7D8-D29753F78653}"/>
                </a:ext>
              </a:extLst>
            </p:cNvPr>
            <p:cNvCxnSpPr>
              <a:cxnSpLocks/>
            </p:cNvCxnSpPr>
            <p:nvPr/>
          </p:nvCxnSpPr>
          <p:spPr>
            <a:xfrm>
              <a:off x="3396566" y="5052796"/>
              <a:ext cx="2772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9" name="TextBox 28">
              <a:extLst>
                <a:ext uri="{FF2B5EF4-FFF2-40B4-BE49-F238E27FC236}">
                  <a16:creationId xmlns:a16="http://schemas.microsoft.com/office/drawing/2014/main" id="{90BAF563-3A9A-EF8A-B5A1-7018E14DEB9D}"/>
                </a:ext>
              </a:extLst>
            </p:cNvPr>
            <p:cNvSpPr txBox="1"/>
            <p:nvPr/>
          </p:nvSpPr>
          <p:spPr>
            <a:xfrm>
              <a:off x="4093548" y="4757200"/>
              <a:ext cx="1760290" cy="584775"/>
            </a:xfrm>
            <a:prstGeom prst="rect">
              <a:avLst/>
            </a:prstGeom>
            <a:noFill/>
          </p:spPr>
          <p:txBody>
            <a:bodyPr wrap="none" rtlCol="0">
              <a:spAutoFit/>
            </a:bodyPr>
            <a:lstStyle/>
            <a:p>
              <a:r>
                <a:rPr lang="en-SE" sz="1600" noProof="0" dirty="0"/>
                <a:t>(assumed) causal</a:t>
              </a:r>
              <a:br>
                <a:rPr lang="en-SE" sz="1600" noProof="0" dirty="0"/>
              </a:br>
              <a:r>
                <a:rPr lang="en-SE" sz="1600" noProof="0" dirty="0"/>
                <a:t>relationship</a:t>
              </a:r>
              <a:endParaRPr lang="en-US" sz="1600" noProof="0" dirty="0"/>
            </a:p>
          </p:txBody>
        </p:sp>
      </p:grpSp>
      <p:grpSp>
        <p:nvGrpSpPr>
          <p:cNvPr id="36" name="Group 35">
            <a:extLst>
              <a:ext uri="{FF2B5EF4-FFF2-40B4-BE49-F238E27FC236}">
                <a16:creationId xmlns:a16="http://schemas.microsoft.com/office/drawing/2014/main" id="{D227ACC8-46F6-AAE9-68E6-EAD0BF355D90}"/>
              </a:ext>
            </a:extLst>
          </p:cNvPr>
          <p:cNvGrpSpPr/>
          <p:nvPr/>
        </p:nvGrpSpPr>
        <p:grpSpPr>
          <a:xfrm>
            <a:off x="3036566" y="5308246"/>
            <a:ext cx="2435291" cy="360000"/>
            <a:chOff x="3036566" y="4872796"/>
            <a:chExt cx="2435291" cy="360000"/>
          </a:xfrm>
        </p:grpSpPr>
        <p:sp>
          <p:nvSpPr>
            <p:cNvPr id="37" name="Oval 36">
              <a:extLst>
                <a:ext uri="{FF2B5EF4-FFF2-40B4-BE49-F238E27FC236}">
                  <a16:creationId xmlns:a16="http://schemas.microsoft.com/office/drawing/2014/main" id="{53883E95-0686-FBC2-C97A-21AEE4B96D78}"/>
                </a:ext>
              </a:extLst>
            </p:cNvPr>
            <p:cNvSpPr/>
            <p:nvPr/>
          </p:nvSpPr>
          <p:spPr>
            <a:xfrm>
              <a:off x="3036566" y="4872796"/>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8" name="Oval 37">
              <a:extLst>
                <a:ext uri="{FF2B5EF4-FFF2-40B4-BE49-F238E27FC236}">
                  <a16:creationId xmlns:a16="http://schemas.microsoft.com/office/drawing/2014/main" id="{B8727B5D-54A5-7AE7-DA53-FDB109ABC186}"/>
                </a:ext>
              </a:extLst>
            </p:cNvPr>
            <p:cNvSpPr/>
            <p:nvPr/>
          </p:nvSpPr>
          <p:spPr>
            <a:xfrm>
              <a:off x="3673766" y="4872796"/>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39" name="Straight Arrow Connector 38">
              <a:extLst>
                <a:ext uri="{FF2B5EF4-FFF2-40B4-BE49-F238E27FC236}">
                  <a16:creationId xmlns:a16="http://schemas.microsoft.com/office/drawing/2014/main" id="{7334930B-B9D9-7152-55D6-214A3C87C7DB}"/>
                </a:ext>
              </a:extLst>
            </p:cNvPr>
            <p:cNvCxnSpPr>
              <a:stCxn id="37" idx="6"/>
              <a:endCxn id="38" idx="2"/>
            </p:cNvCxnSpPr>
            <p:nvPr/>
          </p:nvCxnSpPr>
          <p:spPr>
            <a:xfrm>
              <a:off x="3396566" y="5052796"/>
              <a:ext cx="2772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0" name="TextBox 39">
              <a:extLst>
                <a:ext uri="{FF2B5EF4-FFF2-40B4-BE49-F238E27FC236}">
                  <a16:creationId xmlns:a16="http://schemas.microsoft.com/office/drawing/2014/main" id="{67C69D8A-F13E-6081-0C6D-EC464B67C7F3}"/>
                </a:ext>
              </a:extLst>
            </p:cNvPr>
            <p:cNvSpPr txBox="1"/>
            <p:nvPr/>
          </p:nvSpPr>
          <p:spPr>
            <a:xfrm>
              <a:off x="4099365" y="4877874"/>
              <a:ext cx="1372492" cy="338554"/>
            </a:xfrm>
            <a:prstGeom prst="rect">
              <a:avLst/>
            </a:prstGeom>
            <a:noFill/>
          </p:spPr>
          <p:txBody>
            <a:bodyPr wrap="none" rtlCol="0">
              <a:spAutoFit/>
            </a:bodyPr>
            <a:lstStyle/>
            <a:p>
              <a:r>
                <a:rPr lang="en-US" sz="1600" noProof="0" dirty="0"/>
                <a:t>phenomenon</a:t>
              </a:r>
            </a:p>
          </p:txBody>
        </p:sp>
      </p:grpSp>
      <p:grpSp>
        <p:nvGrpSpPr>
          <p:cNvPr id="50" name="Group 49">
            <a:extLst>
              <a:ext uri="{FF2B5EF4-FFF2-40B4-BE49-F238E27FC236}">
                <a16:creationId xmlns:a16="http://schemas.microsoft.com/office/drawing/2014/main" id="{00311B17-4492-AE7C-EF0B-995010D3820C}"/>
              </a:ext>
            </a:extLst>
          </p:cNvPr>
          <p:cNvGrpSpPr/>
          <p:nvPr/>
        </p:nvGrpSpPr>
        <p:grpSpPr>
          <a:xfrm>
            <a:off x="838198" y="365125"/>
            <a:ext cx="1983884" cy="245531"/>
            <a:chOff x="4114799" y="3759391"/>
            <a:chExt cx="1983884" cy="1229241"/>
          </a:xfrm>
        </p:grpSpPr>
        <p:sp>
          <p:nvSpPr>
            <p:cNvPr id="51" name="Arrow: Pentagon 50">
              <a:extLst>
                <a:ext uri="{FF2B5EF4-FFF2-40B4-BE49-F238E27FC236}">
                  <a16:creationId xmlns:a16="http://schemas.microsoft.com/office/drawing/2014/main" id="{D937EAE5-0B8E-5028-4FF5-55E5084D44BC}"/>
                </a:ext>
              </a:extLst>
            </p:cNvPr>
            <p:cNvSpPr/>
            <p:nvPr/>
          </p:nvSpPr>
          <p:spPr>
            <a:xfrm>
              <a:off x="4114799" y="3759391"/>
              <a:ext cx="794039" cy="1229241"/>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sz="1400" dirty="0"/>
                <a:t>Theory</a:t>
              </a:r>
            </a:p>
          </p:txBody>
        </p:sp>
        <p:sp>
          <p:nvSpPr>
            <p:cNvPr id="52" name="Arrow: Chevron 51">
              <a:extLst>
                <a:ext uri="{FF2B5EF4-FFF2-40B4-BE49-F238E27FC236}">
                  <a16:creationId xmlns:a16="http://schemas.microsoft.com/office/drawing/2014/main" id="{882CB19B-FC48-B258-5CF9-2A2612FAE6CE}"/>
                </a:ext>
              </a:extLst>
            </p:cNvPr>
            <p:cNvSpPr/>
            <p:nvPr/>
          </p:nvSpPr>
          <p:spPr>
            <a:xfrm>
              <a:off x="4843616" y="3759391"/>
              <a:ext cx="1255067" cy="1229241"/>
            </a:xfrm>
            <a:prstGeom prst="chevron">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sz="1400" dirty="0">
                  <a:solidFill>
                    <a:schemeClr val="bg1">
                      <a:lumMod val="75000"/>
                    </a:schemeClr>
                  </a:solidFill>
                </a:rPr>
                <a:t>Use Case</a:t>
              </a:r>
            </a:p>
          </p:txBody>
        </p:sp>
      </p:grpSp>
    </p:spTree>
    <p:extLst>
      <p:ext uri="{BB962C8B-B14F-4D97-AF65-F5344CB8AC3E}">
        <p14:creationId xmlns:p14="http://schemas.microsoft.com/office/powerpoint/2010/main" val="12612227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A5F62-34FF-DB0A-4AEF-D49C61799DCE}"/>
              </a:ext>
            </a:extLst>
          </p:cNvPr>
          <p:cNvSpPr>
            <a:spLocks noGrp="1"/>
          </p:cNvSpPr>
          <p:nvPr>
            <p:ph type="title"/>
          </p:nvPr>
        </p:nvSpPr>
        <p:spPr/>
        <p:txBody>
          <a:bodyPr/>
          <a:lstStyle/>
          <a:p>
            <a:r>
              <a:rPr lang="en-SE" dirty="0"/>
              <a:t>Formulating Casual Hypotheses</a:t>
            </a:r>
          </a:p>
        </p:txBody>
      </p:sp>
      <p:sp>
        <p:nvSpPr>
          <p:cNvPr id="3" name="Content Placeholder 2">
            <a:extLst>
              <a:ext uri="{FF2B5EF4-FFF2-40B4-BE49-F238E27FC236}">
                <a16:creationId xmlns:a16="http://schemas.microsoft.com/office/drawing/2014/main" id="{12DE2C76-CA4A-2A82-C7A6-96D7EB9023DF}"/>
              </a:ext>
            </a:extLst>
          </p:cNvPr>
          <p:cNvSpPr>
            <a:spLocks noGrp="1"/>
          </p:cNvSpPr>
          <p:nvPr>
            <p:ph idx="1"/>
          </p:nvPr>
        </p:nvSpPr>
        <p:spPr>
          <a:xfrm>
            <a:off x="838200" y="1825625"/>
            <a:ext cx="10515600" cy="1131331"/>
          </a:xfrm>
        </p:spPr>
        <p:txBody>
          <a:bodyPr/>
          <a:lstStyle/>
          <a:p>
            <a:pPr marL="0" indent="0">
              <a:buNone/>
            </a:pPr>
            <a:r>
              <a:rPr lang="de-DE" dirty="0"/>
              <a:t>D</a:t>
            </a:r>
            <a:r>
              <a:rPr lang="en-SE" dirty="0"/>
              <a:t>AGs can visualize a causal hypothesis graphically</a:t>
            </a:r>
          </a:p>
        </p:txBody>
      </p:sp>
      <p:sp>
        <p:nvSpPr>
          <p:cNvPr id="4" name="Date Placeholder 3">
            <a:extLst>
              <a:ext uri="{FF2B5EF4-FFF2-40B4-BE49-F238E27FC236}">
                <a16:creationId xmlns:a16="http://schemas.microsoft.com/office/drawing/2014/main" id="{5FC5B4BB-DB5C-9D7B-31B9-14C466FFFC14}"/>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Slide Number Placeholder 4">
            <a:extLst>
              <a:ext uri="{FF2B5EF4-FFF2-40B4-BE49-F238E27FC236}">
                <a16:creationId xmlns:a16="http://schemas.microsoft.com/office/drawing/2014/main" id="{DB81A663-E0DB-E5A9-901C-9C85B65D4EFD}"/>
              </a:ext>
            </a:extLst>
          </p:cNvPr>
          <p:cNvSpPr>
            <a:spLocks noGrp="1"/>
          </p:cNvSpPr>
          <p:nvPr>
            <p:ph type="sldNum" sz="quarter" idx="12"/>
          </p:nvPr>
        </p:nvSpPr>
        <p:spPr/>
        <p:txBody>
          <a:bodyPr/>
          <a:lstStyle/>
          <a:p>
            <a:fld id="{271ECC92-9CDE-4EB3-B1C5-F46B9E1FA3C1}" type="slidenum">
              <a:rPr lang="en-SE" smtClean="0"/>
              <a:t>6</a:t>
            </a:fld>
            <a:endParaRPr lang="en-SE"/>
          </a:p>
        </p:txBody>
      </p:sp>
      <p:grpSp>
        <p:nvGrpSpPr>
          <p:cNvPr id="20" name="Group 19">
            <a:extLst>
              <a:ext uri="{FF2B5EF4-FFF2-40B4-BE49-F238E27FC236}">
                <a16:creationId xmlns:a16="http://schemas.microsoft.com/office/drawing/2014/main" id="{4AD425C1-E3FC-F582-D298-6FB610428C61}"/>
              </a:ext>
            </a:extLst>
          </p:cNvPr>
          <p:cNvGrpSpPr/>
          <p:nvPr/>
        </p:nvGrpSpPr>
        <p:grpSpPr>
          <a:xfrm>
            <a:off x="838198" y="365125"/>
            <a:ext cx="1983884" cy="245531"/>
            <a:chOff x="4114799" y="3759391"/>
            <a:chExt cx="1983884" cy="1229241"/>
          </a:xfrm>
        </p:grpSpPr>
        <p:sp>
          <p:nvSpPr>
            <p:cNvPr id="21" name="Arrow: Pentagon 20">
              <a:extLst>
                <a:ext uri="{FF2B5EF4-FFF2-40B4-BE49-F238E27FC236}">
                  <a16:creationId xmlns:a16="http://schemas.microsoft.com/office/drawing/2014/main" id="{8FA5C9AB-65A4-D8D1-875E-D0EE4901610B}"/>
                </a:ext>
              </a:extLst>
            </p:cNvPr>
            <p:cNvSpPr/>
            <p:nvPr/>
          </p:nvSpPr>
          <p:spPr>
            <a:xfrm>
              <a:off x="4114799" y="3759391"/>
              <a:ext cx="794039" cy="1229241"/>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sz="1400" dirty="0"/>
                <a:t>Theory</a:t>
              </a:r>
            </a:p>
          </p:txBody>
        </p:sp>
        <p:sp>
          <p:nvSpPr>
            <p:cNvPr id="22" name="Arrow: Chevron 21">
              <a:extLst>
                <a:ext uri="{FF2B5EF4-FFF2-40B4-BE49-F238E27FC236}">
                  <a16:creationId xmlns:a16="http://schemas.microsoft.com/office/drawing/2014/main" id="{BA3AA58D-2763-8DCC-9289-626F3166CD3B}"/>
                </a:ext>
              </a:extLst>
            </p:cNvPr>
            <p:cNvSpPr/>
            <p:nvPr/>
          </p:nvSpPr>
          <p:spPr>
            <a:xfrm>
              <a:off x="4843616" y="3759391"/>
              <a:ext cx="1255067" cy="122924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sz="1400" dirty="0">
                  <a:solidFill>
                    <a:schemeClr val="tx1"/>
                  </a:solidFill>
                </a:rPr>
                <a:t>Use Case</a:t>
              </a:r>
            </a:p>
          </p:txBody>
        </p:sp>
      </p:grpSp>
      <p:grpSp>
        <p:nvGrpSpPr>
          <p:cNvPr id="23" name="Group 22">
            <a:extLst>
              <a:ext uri="{FF2B5EF4-FFF2-40B4-BE49-F238E27FC236}">
                <a16:creationId xmlns:a16="http://schemas.microsoft.com/office/drawing/2014/main" id="{22CB6EFC-D86E-0B04-C3A0-7023F75E1364}"/>
              </a:ext>
            </a:extLst>
          </p:cNvPr>
          <p:cNvGrpSpPr/>
          <p:nvPr/>
        </p:nvGrpSpPr>
        <p:grpSpPr>
          <a:xfrm>
            <a:off x="3182902" y="4888210"/>
            <a:ext cx="5826196" cy="403743"/>
            <a:chOff x="2946927" y="2810435"/>
            <a:chExt cx="5826196" cy="403743"/>
          </a:xfrm>
        </p:grpSpPr>
        <p:sp>
          <p:nvSpPr>
            <p:cNvPr id="24" name="Oval 23">
              <a:extLst>
                <a:ext uri="{FF2B5EF4-FFF2-40B4-BE49-F238E27FC236}">
                  <a16:creationId xmlns:a16="http://schemas.microsoft.com/office/drawing/2014/main" id="{6B85F829-4FED-CA4B-A087-4F6426751B1A}"/>
                </a:ext>
              </a:extLst>
            </p:cNvPr>
            <p:cNvSpPr/>
            <p:nvPr/>
          </p:nvSpPr>
          <p:spPr>
            <a:xfrm>
              <a:off x="4431353" y="284951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25" name="Oval 24">
              <a:extLst>
                <a:ext uri="{FF2B5EF4-FFF2-40B4-BE49-F238E27FC236}">
                  <a16:creationId xmlns:a16="http://schemas.microsoft.com/office/drawing/2014/main" id="{739C8EEC-8151-A979-A3CE-EA79C1A4496C}"/>
                </a:ext>
              </a:extLst>
            </p:cNvPr>
            <p:cNvSpPr/>
            <p:nvPr/>
          </p:nvSpPr>
          <p:spPr>
            <a:xfrm>
              <a:off x="6922733" y="284951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26" name="Straight Arrow Connector 25">
              <a:extLst>
                <a:ext uri="{FF2B5EF4-FFF2-40B4-BE49-F238E27FC236}">
                  <a16:creationId xmlns:a16="http://schemas.microsoft.com/office/drawing/2014/main" id="{EE8B4602-ED5A-C54B-42F6-DC09EB9F5F45}"/>
                </a:ext>
              </a:extLst>
            </p:cNvPr>
            <p:cNvCxnSpPr>
              <a:stCxn id="24" idx="6"/>
              <a:endCxn id="25" idx="2"/>
            </p:cNvCxnSpPr>
            <p:nvPr/>
          </p:nvCxnSpPr>
          <p:spPr>
            <a:xfrm>
              <a:off x="4791353" y="3029512"/>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7" name="TextBox 26">
              <a:extLst>
                <a:ext uri="{FF2B5EF4-FFF2-40B4-BE49-F238E27FC236}">
                  <a16:creationId xmlns:a16="http://schemas.microsoft.com/office/drawing/2014/main" id="{97820FA8-49D1-FDB8-13E1-1749C00D555E}"/>
                </a:ext>
              </a:extLst>
            </p:cNvPr>
            <p:cNvSpPr txBox="1"/>
            <p:nvPr/>
          </p:nvSpPr>
          <p:spPr>
            <a:xfrm>
              <a:off x="2946927" y="2810435"/>
              <a:ext cx="1443024" cy="369332"/>
            </a:xfrm>
            <a:prstGeom prst="rect">
              <a:avLst/>
            </a:prstGeom>
            <a:noFill/>
          </p:spPr>
          <p:txBody>
            <a:bodyPr wrap="none" rtlCol="0">
              <a:spAutoFit/>
            </a:bodyPr>
            <a:lstStyle/>
            <a:p>
              <a:r>
                <a:rPr lang="de-DE" noProof="0" dirty="0">
                  <a:solidFill>
                    <a:srgbClr val="D0180A"/>
                  </a:solidFill>
                </a:rPr>
                <a:t>u</a:t>
              </a:r>
              <a:r>
                <a:rPr lang="en-SE" noProof="0" dirty="0">
                  <a:solidFill>
                    <a:srgbClr val="D0180A"/>
                  </a:solidFill>
                </a:rPr>
                <a:t>se of GenAI</a:t>
              </a:r>
              <a:endParaRPr lang="en-US" noProof="0" dirty="0">
                <a:solidFill>
                  <a:srgbClr val="D0180A"/>
                </a:solidFill>
              </a:endParaRPr>
            </a:p>
          </p:txBody>
        </p:sp>
        <p:sp>
          <p:nvSpPr>
            <p:cNvPr id="28" name="TextBox 27">
              <a:extLst>
                <a:ext uri="{FF2B5EF4-FFF2-40B4-BE49-F238E27FC236}">
                  <a16:creationId xmlns:a16="http://schemas.microsoft.com/office/drawing/2014/main" id="{B3647905-DEF4-31EE-1C75-EE63E8577861}"/>
                </a:ext>
              </a:extLst>
            </p:cNvPr>
            <p:cNvSpPr txBox="1"/>
            <p:nvPr/>
          </p:nvSpPr>
          <p:spPr>
            <a:xfrm>
              <a:off x="7410186" y="2844846"/>
              <a:ext cx="1362937" cy="369332"/>
            </a:xfrm>
            <a:prstGeom prst="rect">
              <a:avLst/>
            </a:prstGeom>
            <a:noFill/>
          </p:spPr>
          <p:txBody>
            <a:bodyPr wrap="none" rtlCol="0">
              <a:spAutoFit/>
            </a:bodyPr>
            <a:lstStyle/>
            <a:p>
              <a:r>
                <a:rPr lang="en-SE" noProof="0" dirty="0">
                  <a:solidFill>
                    <a:srgbClr val="006D70"/>
                  </a:solidFill>
                </a:rPr>
                <a:t>productivity</a:t>
              </a:r>
              <a:endParaRPr lang="en-US" noProof="0" dirty="0">
                <a:solidFill>
                  <a:srgbClr val="006D70"/>
                </a:solidFill>
              </a:endParaRPr>
            </a:p>
          </p:txBody>
        </p:sp>
      </p:grpSp>
      <p:grpSp>
        <p:nvGrpSpPr>
          <p:cNvPr id="32" name="Group 31">
            <a:extLst>
              <a:ext uri="{FF2B5EF4-FFF2-40B4-BE49-F238E27FC236}">
                <a16:creationId xmlns:a16="http://schemas.microsoft.com/office/drawing/2014/main" id="{D42B7D3F-8A77-7C39-30FE-F42BA66DA828}"/>
              </a:ext>
            </a:extLst>
          </p:cNvPr>
          <p:cNvGrpSpPr/>
          <p:nvPr/>
        </p:nvGrpSpPr>
        <p:grpSpPr>
          <a:xfrm>
            <a:off x="3053445" y="3141364"/>
            <a:ext cx="6079146" cy="914400"/>
            <a:chOff x="1567015" y="3101788"/>
            <a:chExt cx="6079146" cy="914400"/>
          </a:xfrm>
        </p:grpSpPr>
        <p:sp>
          <p:nvSpPr>
            <p:cNvPr id="29" name="Rectangle: Rounded Corners 28">
              <a:extLst>
                <a:ext uri="{FF2B5EF4-FFF2-40B4-BE49-F238E27FC236}">
                  <a16:creationId xmlns:a16="http://schemas.microsoft.com/office/drawing/2014/main" id="{EA2E74E6-52A2-1EA3-E6C4-8A9DFD16ADFE}"/>
                </a:ext>
              </a:extLst>
            </p:cNvPr>
            <p:cNvSpPr/>
            <p:nvPr/>
          </p:nvSpPr>
          <p:spPr>
            <a:xfrm>
              <a:off x="1567015" y="3101788"/>
              <a:ext cx="6079146" cy="914400"/>
            </a:xfrm>
            <a:prstGeom prst="roundRect">
              <a:avLst/>
            </a:prstGeom>
            <a:solidFill>
              <a:schemeClr val="bg1">
                <a:lumMod val="85000"/>
              </a:schemeClr>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92000" rtlCol="0" anchor="ctr"/>
            <a:lstStyle/>
            <a:p>
              <a:r>
                <a:rPr lang="en-SE" dirty="0">
                  <a:solidFill>
                    <a:schemeClr val="tx1"/>
                  </a:solidFill>
                </a:rPr>
                <a:t>RQ: Does the use of generative AI (GenAI) have an effect on the productivity of developers?</a:t>
              </a:r>
            </a:p>
          </p:txBody>
        </p:sp>
        <p:pic>
          <p:nvPicPr>
            <p:cNvPr id="31" name="Graphic 30" descr="Open quotation mark with solid fill">
              <a:extLst>
                <a:ext uri="{FF2B5EF4-FFF2-40B4-BE49-F238E27FC236}">
                  <a16:creationId xmlns:a16="http://schemas.microsoft.com/office/drawing/2014/main" id="{0961F92E-DE03-10D2-D024-BAE858D2183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a:off x="1632237" y="3162988"/>
              <a:ext cx="792000" cy="792000"/>
            </a:xfrm>
            <a:prstGeom prst="rect">
              <a:avLst/>
            </a:prstGeom>
          </p:spPr>
        </p:pic>
      </p:grpSp>
      <p:grpSp>
        <p:nvGrpSpPr>
          <p:cNvPr id="33" name="Group 32">
            <a:extLst>
              <a:ext uri="{FF2B5EF4-FFF2-40B4-BE49-F238E27FC236}">
                <a16:creationId xmlns:a16="http://schemas.microsoft.com/office/drawing/2014/main" id="{0A2E0380-9DDA-08E2-6408-20B82B4F925B}"/>
              </a:ext>
            </a:extLst>
          </p:cNvPr>
          <p:cNvGrpSpPr/>
          <p:nvPr/>
        </p:nvGrpSpPr>
        <p:grpSpPr>
          <a:xfrm>
            <a:off x="3053445" y="3141364"/>
            <a:ext cx="6079146" cy="914400"/>
            <a:chOff x="1567015" y="3101788"/>
            <a:chExt cx="6079146" cy="914400"/>
          </a:xfrm>
        </p:grpSpPr>
        <p:sp>
          <p:nvSpPr>
            <p:cNvPr id="34" name="Rectangle: Rounded Corners 33">
              <a:extLst>
                <a:ext uri="{FF2B5EF4-FFF2-40B4-BE49-F238E27FC236}">
                  <a16:creationId xmlns:a16="http://schemas.microsoft.com/office/drawing/2014/main" id="{06B2B5A1-3406-6D4A-E5FE-D120FC631565}"/>
                </a:ext>
              </a:extLst>
            </p:cNvPr>
            <p:cNvSpPr/>
            <p:nvPr/>
          </p:nvSpPr>
          <p:spPr>
            <a:xfrm>
              <a:off x="1567015" y="3101788"/>
              <a:ext cx="6079146" cy="914400"/>
            </a:xfrm>
            <a:prstGeom prst="roundRect">
              <a:avLst/>
            </a:prstGeom>
            <a:solidFill>
              <a:schemeClr val="bg1">
                <a:lumMod val="85000"/>
              </a:schemeClr>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92000" rtlCol="0" anchor="ctr"/>
            <a:lstStyle/>
            <a:p>
              <a:r>
                <a:rPr lang="en-SE" dirty="0">
                  <a:solidFill>
                    <a:schemeClr val="tx1"/>
                  </a:solidFill>
                </a:rPr>
                <a:t>RQ: Does the use of </a:t>
              </a:r>
              <a:r>
                <a:rPr lang="en-SE" b="1" dirty="0">
                  <a:solidFill>
                    <a:srgbClr val="D0180A"/>
                  </a:solidFill>
                </a:rPr>
                <a:t>generative AI (GenAI) </a:t>
              </a:r>
              <a:r>
                <a:rPr lang="en-SE" dirty="0">
                  <a:solidFill>
                    <a:schemeClr val="tx1"/>
                  </a:solidFill>
                </a:rPr>
                <a:t>have </a:t>
              </a:r>
              <a:r>
                <a:rPr lang="en-SE" b="1" dirty="0">
                  <a:solidFill>
                    <a:schemeClr val="tx1"/>
                  </a:solidFill>
                </a:rPr>
                <a:t>an effect</a:t>
              </a:r>
              <a:r>
                <a:rPr lang="en-SE" dirty="0">
                  <a:solidFill>
                    <a:schemeClr val="tx1"/>
                  </a:solidFill>
                </a:rPr>
                <a:t> on the </a:t>
              </a:r>
              <a:r>
                <a:rPr lang="en-SE" b="1" dirty="0">
                  <a:solidFill>
                    <a:srgbClr val="006D70"/>
                  </a:solidFill>
                </a:rPr>
                <a:t>productivity</a:t>
              </a:r>
              <a:r>
                <a:rPr lang="en-SE" dirty="0">
                  <a:solidFill>
                    <a:schemeClr val="tx1"/>
                  </a:solidFill>
                </a:rPr>
                <a:t> of developers?</a:t>
              </a:r>
            </a:p>
          </p:txBody>
        </p:sp>
        <p:pic>
          <p:nvPicPr>
            <p:cNvPr id="35" name="Graphic 34" descr="Open quotation mark with solid fill">
              <a:extLst>
                <a:ext uri="{FF2B5EF4-FFF2-40B4-BE49-F238E27FC236}">
                  <a16:creationId xmlns:a16="http://schemas.microsoft.com/office/drawing/2014/main" id="{1F33165E-89DF-832C-3851-9CD33485734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a:off x="1632237" y="3162988"/>
              <a:ext cx="792000" cy="792000"/>
            </a:xfrm>
            <a:prstGeom prst="rect">
              <a:avLst/>
            </a:prstGeom>
          </p:spPr>
        </p:pic>
      </p:grpSp>
    </p:spTree>
    <p:extLst>
      <p:ext uri="{BB962C8B-B14F-4D97-AF65-F5344CB8AC3E}">
        <p14:creationId xmlns:p14="http://schemas.microsoft.com/office/powerpoint/2010/main" val="20394517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9F299-A841-B36B-CDEF-5DF869A339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A9BC08-2A05-00F5-A666-EF025075E290}"/>
              </a:ext>
            </a:extLst>
          </p:cNvPr>
          <p:cNvSpPr>
            <a:spLocks noGrp="1"/>
          </p:cNvSpPr>
          <p:nvPr>
            <p:ph type="title"/>
          </p:nvPr>
        </p:nvSpPr>
        <p:spPr/>
        <p:txBody>
          <a:bodyPr/>
          <a:lstStyle/>
          <a:p>
            <a:r>
              <a:rPr lang="en-SE" dirty="0"/>
              <a:t>Directed Acyclic Graphs</a:t>
            </a:r>
          </a:p>
        </p:txBody>
      </p:sp>
      <p:sp>
        <p:nvSpPr>
          <p:cNvPr id="6" name="Content Placeholder 5">
            <a:extLst>
              <a:ext uri="{FF2B5EF4-FFF2-40B4-BE49-F238E27FC236}">
                <a16:creationId xmlns:a16="http://schemas.microsoft.com/office/drawing/2014/main" id="{43BD1138-667E-87BC-65E3-58518322B4F3}"/>
              </a:ext>
            </a:extLst>
          </p:cNvPr>
          <p:cNvSpPr>
            <a:spLocks noGrp="1"/>
          </p:cNvSpPr>
          <p:nvPr>
            <p:ph idx="1"/>
          </p:nvPr>
        </p:nvSpPr>
        <p:spPr>
          <a:xfrm>
            <a:off x="838200" y="1825625"/>
            <a:ext cx="10515600" cy="786946"/>
          </a:xfrm>
        </p:spPr>
        <p:txBody>
          <a:bodyPr/>
          <a:lstStyle/>
          <a:p>
            <a:pPr marL="0" indent="0">
              <a:buNone/>
            </a:pPr>
            <a:r>
              <a:rPr lang="en-SE" dirty="0"/>
              <a:t>Causal models can be realized as directed, acyclic graphs (</a:t>
            </a:r>
            <a:r>
              <a:rPr lang="en-SE" dirty="0" err="1"/>
              <a:t>DAGs</a:t>
            </a:r>
            <a:r>
              <a:rPr lang="en-SE" dirty="0"/>
              <a:t>).</a:t>
            </a:r>
          </a:p>
        </p:txBody>
      </p:sp>
      <p:sp>
        <p:nvSpPr>
          <p:cNvPr id="4" name="Date Placeholder 3">
            <a:extLst>
              <a:ext uri="{FF2B5EF4-FFF2-40B4-BE49-F238E27FC236}">
                <a16:creationId xmlns:a16="http://schemas.microsoft.com/office/drawing/2014/main" id="{564312FB-FF4D-F5EA-C59D-37391B73FBE5}"/>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Slide Number Placeholder 4">
            <a:extLst>
              <a:ext uri="{FF2B5EF4-FFF2-40B4-BE49-F238E27FC236}">
                <a16:creationId xmlns:a16="http://schemas.microsoft.com/office/drawing/2014/main" id="{3AB877DB-5ADE-EB81-0102-BB2FD39A5E21}"/>
              </a:ext>
            </a:extLst>
          </p:cNvPr>
          <p:cNvSpPr>
            <a:spLocks noGrp="1"/>
          </p:cNvSpPr>
          <p:nvPr>
            <p:ph type="sldNum" sz="quarter" idx="12"/>
          </p:nvPr>
        </p:nvSpPr>
        <p:spPr/>
        <p:txBody>
          <a:bodyPr/>
          <a:lstStyle/>
          <a:p>
            <a:fld id="{271ECC92-9CDE-4EB3-B1C5-F46B9E1FA3C1}" type="slidenum">
              <a:rPr lang="en-SE" smtClean="0"/>
              <a:t>7</a:t>
            </a:fld>
            <a:endParaRPr lang="en-SE"/>
          </a:p>
        </p:txBody>
      </p:sp>
      <p:grpSp>
        <p:nvGrpSpPr>
          <p:cNvPr id="21" name="Group 20">
            <a:extLst>
              <a:ext uri="{FF2B5EF4-FFF2-40B4-BE49-F238E27FC236}">
                <a16:creationId xmlns:a16="http://schemas.microsoft.com/office/drawing/2014/main" id="{48D38C02-FD75-C433-0CF7-186D7FDA5848}"/>
              </a:ext>
            </a:extLst>
          </p:cNvPr>
          <p:cNvGrpSpPr/>
          <p:nvPr/>
        </p:nvGrpSpPr>
        <p:grpSpPr>
          <a:xfrm>
            <a:off x="1076545" y="4856774"/>
            <a:ext cx="1417151" cy="360000"/>
            <a:chOff x="1076545" y="4856774"/>
            <a:chExt cx="1417151" cy="360000"/>
          </a:xfrm>
        </p:grpSpPr>
        <p:sp>
          <p:nvSpPr>
            <p:cNvPr id="22" name="Oval 21">
              <a:extLst>
                <a:ext uri="{FF2B5EF4-FFF2-40B4-BE49-F238E27FC236}">
                  <a16:creationId xmlns:a16="http://schemas.microsoft.com/office/drawing/2014/main" id="{08F7639A-C371-1EA2-75FE-3CD5A67B49ED}"/>
                </a:ext>
              </a:extLst>
            </p:cNvPr>
            <p:cNvSpPr/>
            <p:nvPr/>
          </p:nvSpPr>
          <p:spPr>
            <a:xfrm>
              <a:off x="1076545" y="4856774"/>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TextBox 22">
              <a:extLst>
                <a:ext uri="{FF2B5EF4-FFF2-40B4-BE49-F238E27FC236}">
                  <a16:creationId xmlns:a16="http://schemas.microsoft.com/office/drawing/2014/main" id="{FDD3D4CB-125F-494B-0D11-30E44958AE60}"/>
                </a:ext>
              </a:extLst>
            </p:cNvPr>
            <p:cNvSpPr txBox="1"/>
            <p:nvPr/>
          </p:nvSpPr>
          <p:spPr>
            <a:xfrm>
              <a:off x="1495794" y="4867742"/>
              <a:ext cx="997902" cy="338554"/>
            </a:xfrm>
            <a:prstGeom prst="rect">
              <a:avLst/>
            </a:prstGeom>
            <a:noFill/>
          </p:spPr>
          <p:txBody>
            <a:bodyPr wrap="none" rtlCol="0">
              <a:spAutoFit/>
            </a:bodyPr>
            <a:lstStyle/>
            <a:p>
              <a:r>
                <a:rPr lang="en-SE" sz="1600" noProof="0" dirty="0"/>
                <a:t>exposure</a:t>
              </a:r>
              <a:endParaRPr lang="en-US" sz="1600" noProof="0" dirty="0"/>
            </a:p>
          </p:txBody>
        </p:sp>
      </p:grpSp>
      <p:grpSp>
        <p:nvGrpSpPr>
          <p:cNvPr id="24" name="Group 23">
            <a:extLst>
              <a:ext uri="{FF2B5EF4-FFF2-40B4-BE49-F238E27FC236}">
                <a16:creationId xmlns:a16="http://schemas.microsoft.com/office/drawing/2014/main" id="{40BBFB0C-2F34-23DD-0E37-F5AB2430F8AE}"/>
              </a:ext>
            </a:extLst>
          </p:cNvPr>
          <p:cNvGrpSpPr/>
          <p:nvPr/>
        </p:nvGrpSpPr>
        <p:grpSpPr>
          <a:xfrm>
            <a:off x="1074854" y="5309376"/>
            <a:ext cx="1428215" cy="360000"/>
            <a:chOff x="1074854" y="5309376"/>
            <a:chExt cx="1428215" cy="360000"/>
          </a:xfrm>
        </p:grpSpPr>
        <p:sp>
          <p:nvSpPr>
            <p:cNvPr id="25" name="Oval 24">
              <a:extLst>
                <a:ext uri="{FF2B5EF4-FFF2-40B4-BE49-F238E27FC236}">
                  <a16:creationId xmlns:a16="http://schemas.microsoft.com/office/drawing/2014/main" id="{7DEAE94F-81BE-A702-F8CF-7CC2A9402017}"/>
                </a:ext>
              </a:extLst>
            </p:cNvPr>
            <p:cNvSpPr/>
            <p:nvPr/>
          </p:nvSpPr>
          <p:spPr>
            <a:xfrm>
              <a:off x="1074854" y="5309376"/>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TextBox 25">
              <a:extLst>
                <a:ext uri="{FF2B5EF4-FFF2-40B4-BE49-F238E27FC236}">
                  <a16:creationId xmlns:a16="http://schemas.microsoft.com/office/drawing/2014/main" id="{45DA2004-D7B8-71FB-A507-AD11CCB9B5B1}"/>
                </a:ext>
              </a:extLst>
            </p:cNvPr>
            <p:cNvSpPr txBox="1"/>
            <p:nvPr/>
          </p:nvSpPr>
          <p:spPr>
            <a:xfrm>
              <a:off x="1495677" y="5320099"/>
              <a:ext cx="1007392" cy="338554"/>
            </a:xfrm>
            <a:prstGeom prst="rect">
              <a:avLst/>
            </a:prstGeom>
            <a:noFill/>
          </p:spPr>
          <p:txBody>
            <a:bodyPr wrap="none" rtlCol="0">
              <a:spAutoFit/>
            </a:bodyPr>
            <a:lstStyle/>
            <a:p>
              <a:r>
                <a:rPr lang="en-SE" sz="1600" noProof="0" dirty="0"/>
                <a:t>response</a:t>
              </a:r>
              <a:endParaRPr lang="en-US" sz="1600" noProof="0" dirty="0"/>
            </a:p>
          </p:txBody>
        </p:sp>
      </p:grpSp>
      <p:grpSp>
        <p:nvGrpSpPr>
          <p:cNvPr id="27" name="Group 26">
            <a:extLst>
              <a:ext uri="{FF2B5EF4-FFF2-40B4-BE49-F238E27FC236}">
                <a16:creationId xmlns:a16="http://schemas.microsoft.com/office/drawing/2014/main" id="{3D844AC6-CD7B-271E-0DE2-2A8FED467B14}"/>
              </a:ext>
            </a:extLst>
          </p:cNvPr>
          <p:cNvGrpSpPr/>
          <p:nvPr/>
        </p:nvGrpSpPr>
        <p:grpSpPr>
          <a:xfrm>
            <a:off x="3396566" y="4757200"/>
            <a:ext cx="2457272" cy="584775"/>
            <a:chOff x="3396566" y="4757200"/>
            <a:chExt cx="2457272" cy="584775"/>
          </a:xfrm>
        </p:grpSpPr>
        <p:cxnSp>
          <p:nvCxnSpPr>
            <p:cNvPr id="28" name="Straight Arrow Connector 27">
              <a:extLst>
                <a:ext uri="{FF2B5EF4-FFF2-40B4-BE49-F238E27FC236}">
                  <a16:creationId xmlns:a16="http://schemas.microsoft.com/office/drawing/2014/main" id="{687E2EED-AF7E-420D-1A18-9D6226E9525E}"/>
                </a:ext>
              </a:extLst>
            </p:cNvPr>
            <p:cNvCxnSpPr>
              <a:cxnSpLocks/>
            </p:cNvCxnSpPr>
            <p:nvPr/>
          </p:nvCxnSpPr>
          <p:spPr>
            <a:xfrm>
              <a:off x="3396566" y="5052796"/>
              <a:ext cx="2772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9" name="TextBox 28">
              <a:extLst>
                <a:ext uri="{FF2B5EF4-FFF2-40B4-BE49-F238E27FC236}">
                  <a16:creationId xmlns:a16="http://schemas.microsoft.com/office/drawing/2014/main" id="{217BF94E-8492-A458-7029-6E3B1E2932AF}"/>
                </a:ext>
              </a:extLst>
            </p:cNvPr>
            <p:cNvSpPr txBox="1"/>
            <p:nvPr/>
          </p:nvSpPr>
          <p:spPr>
            <a:xfrm>
              <a:off x="4093548" y="4757200"/>
              <a:ext cx="1760290" cy="584775"/>
            </a:xfrm>
            <a:prstGeom prst="rect">
              <a:avLst/>
            </a:prstGeom>
            <a:noFill/>
          </p:spPr>
          <p:txBody>
            <a:bodyPr wrap="none" rtlCol="0">
              <a:spAutoFit/>
            </a:bodyPr>
            <a:lstStyle/>
            <a:p>
              <a:r>
                <a:rPr lang="en-SE" sz="1600" noProof="0" dirty="0"/>
                <a:t>(assumed) causal</a:t>
              </a:r>
              <a:br>
                <a:rPr lang="en-SE" sz="1600" noProof="0" dirty="0"/>
              </a:br>
              <a:r>
                <a:rPr lang="en-SE" sz="1600" noProof="0" dirty="0"/>
                <a:t>relationship</a:t>
              </a:r>
              <a:endParaRPr lang="en-US" sz="1600" noProof="0" dirty="0"/>
            </a:p>
          </p:txBody>
        </p:sp>
      </p:grpSp>
      <p:grpSp>
        <p:nvGrpSpPr>
          <p:cNvPr id="30" name="Group 29">
            <a:extLst>
              <a:ext uri="{FF2B5EF4-FFF2-40B4-BE49-F238E27FC236}">
                <a16:creationId xmlns:a16="http://schemas.microsoft.com/office/drawing/2014/main" id="{3C1192E4-A250-C4AE-8A66-542EF83E226F}"/>
              </a:ext>
            </a:extLst>
          </p:cNvPr>
          <p:cNvGrpSpPr/>
          <p:nvPr/>
        </p:nvGrpSpPr>
        <p:grpSpPr>
          <a:xfrm>
            <a:off x="1074854" y="5761978"/>
            <a:ext cx="1747227" cy="360000"/>
            <a:chOff x="1074854" y="5761978"/>
            <a:chExt cx="1747227" cy="360000"/>
          </a:xfrm>
        </p:grpSpPr>
        <p:sp>
          <p:nvSpPr>
            <p:cNvPr id="31" name="Oval 30">
              <a:extLst>
                <a:ext uri="{FF2B5EF4-FFF2-40B4-BE49-F238E27FC236}">
                  <a16:creationId xmlns:a16="http://schemas.microsoft.com/office/drawing/2014/main" id="{BADFFFE8-5E04-FD35-63E6-3C259395634A}"/>
                </a:ext>
              </a:extLst>
            </p:cNvPr>
            <p:cNvSpPr/>
            <p:nvPr/>
          </p:nvSpPr>
          <p:spPr>
            <a:xfrm>
              <a:off x="1074854" y="5761978"/>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2" name="TextBox 31">
              <a:extLst>
                <a:ext uri="{FF2B5EF4-FFF2-40B4-BE49-F238E27FC236}">
                  <a16:creationId xmlns:a16="http://schemas.microsoft.com/office/drawing/2014/main" id="{DC5F4FE3-99DE-AC12-C53E-DC0F2925FC34}"/>
                </a:ext>
              </a:extLst>
            </p:cNvPr>
            <p:cNvSpPr txBox="1"/>
            <p:nvPr/>
          </p:nvSpPr>
          <p:spPr>
            <a:xfrm>
              <a:off x="1497306" y="5772700"/>
              <a:ext cx="1324775" cy="338554"/>
            </a:xfrm>
            <a:prstGeom prst="rect">
              <a:avLst/>
            </a:prstGeom>
            <a:noFill/>
          </p:spPr>
          <p:txBody>
            <a:bodyPr wrap="square" rtlCol="0" anchor="ctr">
              <a:spAutoFit/>
            </a:bodyPr>
            <a:lstStyle/>
            <a:p>
              <a:r>
                <a:rPr lang="en-SE" sz="1600" noProof="0" dirty="0"/>
                <a:t>other </a:t>
              </a:r>
              <a:r>
                <a:rPr lang="en-SE" sz="1600" dirty="0"/>
                <a:t>factors</a:t>
              </a:r>
              <a:endParaRPr lang="en-US" sz="1600" noProof="0" dirty="0"/>
            </a:p>
          </p:txBody>
        </p:sp>
      </p:grpSp>
      <p:grpSp>
        <p:nvGrpSpPr>
          <p:cNvPr id="36" name="Group 35">
            <a:extLst>
              <a:ext uri="{FF2B5EF4-FFF2-40B4-BE49-F238E27FC236}">
                <a16:creationId xmlns:a16="http://schemas.microsoft.com/office/drawing/2014/main" id="{BB4DA7F2-F780-AA4F-5881-FEA6778D5CA6}"/>
              </a:ext>
            </a:extLst>
          </p:cNvPr>
          <p:cNvGrpSpPr/>
          <p:nvPr/>
        </p:nvGrpSpPr>
        <p:grpSpPr>
          <a:xfrm>
            <a:off x="3036566" y="5308246"/>
            <a:ext cx="2435291" cy="360000"/>
            <a:chOff x="3036566" y="4872796"/>
            <a:chExt cx="2435291" cy="360000"/>
          </a:xfrm>
        </p:grpSpPr>
        <p:sp>
          <p:nvSpPr>
            <p:cNvPr id="37" name="Oval 36">
              <a:extLst>
                <a:ext uri="{FF2B5EF4-FFF2-40B4-BE49-F238E27FC236}">
                  <a16:creationId xmlns:a16="http://schemas.microsoft.com/office/drawing/2014/main" id="{9FA27C5D-1F26-5E6C-1D71-7260614E83F3}"/>
                </a:ext>
              </a:extLst>
            </p:cNvPr>
            <p:cNvSpPr/>
            <p:nvPr/>
          </p:nvSpPr>
          <p:spPr>
            <a:xfrm>
              <a:off x="3036566" y="4872796"/>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8" name="Oval 37">
              <a:extLst>
                <a:ext uri="{FF2B5EF4-FFF2-40B4-BE49-F238E27FC236}">
                  <a16:creationId xmlns:a16="http://schemas.microsoft.com/office/drawing/2014/main" id="{C65FED3D-39CF-C153-E360-0600A13A7313}"/>
                </a:ext>
              </a:extLst>
            </p:cNvPr>
            <p:cNvSpPr/>
            <p:nvPr/>
          </p:nvSpPr>
          <p:spPr>
            <a:xfrm>
              <a:off x="3673766" y="4872796"/>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39" name="Straight Arrow Connector 38">
              <a:extLst>
                <a:ext uri="{FF2B5EF4-FFF2-40B4-BE49-F238E27FC236}">
                  <a16:creationId xmlns:a16="http://schemas.microsoft.com/office/drawing/2014/main" id="{6011411D-2642-0BF9-EABE-DC5C21633FF8}"/>
                </a:ext>
              </a:extLst>
            </p:cNvPr>
            <p:cNvCxnSpPr>
              <a:stCxn id="37" idx="6"/>
              <a:endCxn id="38" idx="2"/>
            </p:cNvCxnSpPr>
            <p:nvPr/>
          </p:nvCxnSpPr>
          <p:spPr>
            <a:xfrm>
              <a:off x="3396566" y="5052796"/>
              <a:ext cx="2772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0" name="TextBox 39">
              <a:extLst>
                <a:ext uri="{FF2B5EF4-FFF2-40B4-BE49-F238E27FC236}">
                  <a16:creationId xmlns:a16="http://schemas.microsoft.com/office/drawing/2014/main" id="{2232087E-6FE9-F6ED-3490-8B117A04C70D}"/>
                </a:ext>
              </a:extLst>
            </p:cNvPr>
            <p:cNvSpPr txBox="1"/>
            <p:nvPr/>
          </p:nvSpPr>
          <p:spPr>
            <a:xfrm>
              <a:off x="4099365" y="4877874"/>
              <a:ext cx="1372492" cy="338554"/>
            </a:xfrm>
            <a:prstGeom prst="rect">
              <a:avLst/>
            </a:prstGeom>
            <a:noFill/>
          </p:spPr>
          <p:txBody>
            <a:bodyPr wrap="none" rtlCol="0">
              <a:spAutoFit/>
            </a:bodyPr>
            <a:lstStyle/>
            <a:p>
              <a:r>
                <a:rPr lang="en-US" sz="1600" noProof="0" dirty="0"/>
                <a:t>phenomenon</a:t>
              </a:r>
            </a:p>
          </p:txBody>
        </p:sp>
      </p:grpSp>
      <p:sp>
        <p:nvSpPr>
          <p:cNvPr id="8" name="Oval 7">
            <a:extLst>
              <a:ext uri="{FF2B5EF4-FFF2-40B4-BE49-F238E27FC236}">
                <a16:creationId xmlns:a16="http://schemas.microsoft.com/office/drawing/2014/main" id="{4CF00E53-A432-946D-3DA3-32848CF5E725}"/>
              </a:ext>
            </a:extLst>
          </p:cNvPr>
          <p:cNvSpPr/>
          <p:nvPr/>
        </p:nvSpPr>
        <p:spPr>
          <a:xfrm>
            <a:off x="4431353"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9" name="Oval 8">
            <a:extLst>
              <a:ext uri="{FF2B5EF4-FFF2-40B4-BE49-F238E27FC236}">
                <a16:creationId xmlns:a16="http://schemas.microsoft.com/office/drawing/2014/main" id="{0DF55B29-7D9C-9F72-3356-41561E6AC372}"/>
              </a:ext>
            </a:extLst>
          </p:cNvPr>
          <p:cNvSpPr/>
          <p:nvPr/>
        </p:nvSpPr>
        <p:spPr>
          <a:xfrm>
            <a:off x="6922733"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10" name="Straight Arrow Connector 9">
            <a:extLst>
              <a:ext uri="{FF2B5EF4-FFF2-40B4-BE49-F238E27FC236}">
                <a16:creationId xmlns:a16="http://schemas.microsoft.com/office/drawing/2014/main" id="{0D1D6D37-70BA-6184-E076-C02271CC0E3E}"/>
              </a:ext>
            </a:extLst>
          </p:cNvPr>
          <p:cNvCxnSpPr>
            <a:stCxn id="8" idx="6"/>
            <a:endCxn id="9" idx="2"/>
          </p:cNvCxnSpPr>
          <p:nvPr/>
        </p:nvCxnSpPr>
        <p:spPr>
          <a:xfrm>
            <a:off x="4791353" y="349567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Oval 12">
            <a:extLst>
              <a:ext uri="{FF2B5EF4-FFF2-40B4-BE49-F238E27FC236}">
                <a16:creationId xmlns:a16="http://schemas.microsoft.com/office/drawing/2014/main" id="{DAB319A1-6288-E728-1555-6D5393411362}"/>
              </a:ext>
            </a:extLst>
          </p:cNvPr>
          <p:cNvSpPr/>
          <p:nvPr/>
        </p:nvSpPr>
        <p:spPr>
          <a:xfrm>
            <a:off x="4431353" y="4091330"/>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sp>
        <p:nvSpPr>
          <p:cNvPr id="14" name="Oval 13">
            <a:extLst>
              <a:ext uri="{FF2B5EF4-FFF2-40B4-BE49-F238E27FC236}">
                <a16:creationId xmlns:a16="http://schemas.microsoft.com/office/drawing/2014/main" id="{4B4F4371-6000-E968-DAC8-3698B79DD51D}"/>
              </a:ext>
            </a:extLst>
          </p:cNvPr>
          <p:cNvSpPr/>
          <p:nvPr/>
        </p:nvSpPr>
        <p:spPr>
          <a:xfrm>
            <a:off x="5676494" y="4091330"/>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a</a:t>
            </a:r>
            <a:endParaRPr lang="en-US" noProof="0" dirty="0">
              <a:solidFill>
                <a:schemeClr val="tx1">
                  <a:lumMod val="50000"/>
                  <a:lumOff val="50000"/>
                </a:schemeClr>
              </a:solidFill>
            </a:endParaRPr>
          </a:p>
        </p:txBody>
      </p:sp>
      <p:cxnSp>
        <p:nvCxnSpPr>
          <p:cNvPr id="17" name="Straight Arrow Connector 16">
            <a:extLst>
              <a:ext uri="{FF2B5EF4-FFF2-40B4-BE49-F238E27FC236}">
                <a16:creationId xmlns:a16="http://schemas.microsoft.com/office/drawing/2014/main" id="{CD9C9F7E-E717-78F3-A8FE-A522C4AD08AA}"/>
              </a:ext>
            </a:extLst>
          </p:cNvPr>
          <p:cNvCxnSpPr>
            <a:cxnSpLocks/>
            <a:stCxn id="14" idx="7"/>
            <a:endCxn id="9" idx="3"/>
          </p:cNvCxnSpPr>
          <p:nvPr/>
        </p:nvCxnSpPr>
        <p:spPr>
          <a:xfrm flipV="1">
            <a:off x="5983773" y="3622956"/>
            <a:ext cx="991681"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77CE8957-0514-3C5A-0BFB-F87C05CFEA45}"/>
              </a:ext>
            </a:extLst>
          </p:cNvPr>
          <p:cNvCxnSpPr>
            <a:cxnSpLocks/>
            <a:stCxn id="14" idx="2"/>
            <a:endCxn id="13" idx="6"/>
          </p:cNvCxnSpPr>
          <p:nvPr/>
        </p:nvCxnSpPr>
        <p:spPr>
          <a:xfrm flipH="1">
            <a:off x="4791353" y="4271330"/>
            <a:ext cx="88514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B1F876BC-D713-9C15-95AF-30AF7B642A74}"/>
              </a:ext>
            </a:extLst>
          </p:cNvPr>
          <p:cNvCxnSpPr>
            <a:cxnSpLocks/>
            <a:stCxn id="13" idx="0"/>
            <a:endCxn id="8" idx="4"/>
          </p:cNvCxnSpPr>
          <p:nvPr/>
        </p:nvCxnSpPr>
        <p:spPr>
          <a:xfrm flipV="1">
            <a:off x="4611353" y="3675677"/>
            <a:ext cx="0" cy="41565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C2238440-C645-9F91-68A6-D90A920FF1B0}"/>
              </a:ext>
            </a:extLst>
          </p:cNvPr>
          <p:cNvCxnSpPr>
            <a:cxnSpLocks/>
            <a:stCxn id="14" idx="1"/>
            <a:endCxn id="8" idx="5"/>
          </p:cNvCxnSpPr>
          <p:nvPr/>
        </p:nvCxnSpPr>
        <p:spPr>
          <a:xfrm flipH="1" flipV="1">
            <a:off x="4738632" y="3622956"/>
            <a:ext cx="990583"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 name="Oval 2">
            <a:extLst>
              <a:ext uri="{FF2B5EF4-FFF2-40B4-BE49-F238E27FC236}">
                <a16:creationId xmlns:a16="http://schemas.microsoft.com/office/drawing/2014/main" id="{DCD00AC2-B321-D988-F768-0B52805FC3E7}"/>
              </a:ext>
            </a:extLst>
          </p:cNvPr>
          <p:cNvSpPr/>
          <p:nvPr/>
        </p:nvSpPr>
        <p:spPr>
          <a:xfrm>
            <a:off x="5676668" y="2526255"/>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b</a:t>
            </a:r>
            <a:endParaRPr lang="en-US" noProof="0" dirty="0">
              <a:solidFill>
                <a:schemeClr val="tx1">
                  <a:lumMod val="50000"/>
                  <a:lumOff val="50000"/>
                </a:schemeClr>
              </a:solidFill>
            </a:endParaRPr>
          </a:p>
        </p:txBody>
      </p:sp>
      <p:cxnSp>
        <p:nvCxnSpPr>
          <p:cNvPr id="42" name="Straight Arrow Connector 41">
            <a:extLst>
              <a:ext uri="{FF2B5EF4-FFF2-40B4-BE49-F238E27FC236}">
                <a16:creationId xmlns:a16="http://schemas.microsoft.com/office/drawing/2014/main" id="{D6964AE6-6556-5673-CAA6-11D0120152F7}"/>
              </a:ext>
            </a:extLst>
          </p:cNvPr>
          <p:cNvCxnSpPr>
            <a:cxnSpLocks/>
            <a:stCxn id="8" idx="7"/>
            <a:endCxn id="3" idx="3"/>
          </p:cNvCxnSpPr>
          <p:nvPr/>
        </p:nvCxnSpPr>
        <p:spPr>
          <a:xfrm flipV="1">
            <a:off x="4738632" y="2833534"/>
            <a:ext cx="99075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5" name="Straight Arrow Connector 44">
            <a:extLst>
              <a:ext uri="{FF2B5EF4-FFF2-40B4-BE49-F238E27FC236}">
                <a16:creationId xmlns:a16="http://schemas.microsoft.com/office/drawing/2014/main" id="{D3D5C898-30F5-6B0C-E482-E08EA6A4C3EF}"/>
              </a:ext>
            </a:extLst>
          </p:cNvPr>
          <p:cNvCxnSpPr>
            <a:cxnSpLocks/>
            <a:stCxn id="3" idx="5"/>
            <a:endCxn id="9" idx="1"/>
          </p:cNvCxnSpPr>
          <p:nvPr/>
        </p:nvCxnSpPr>
        <p:spPr>
          <a:xfrm>
            <a:off x="5983947" y="2833534"/>
            <a:ext cx="99150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58" name="Group 57">
            <a:extLst>
              <a:ext uri="{FF2B5EF4-FFF2-40B4-BE49-F238E27FC236}">
                <a16:creationId xmlns:a16="http://schemas.microsoft.com/office/drawing/2014/main" id="{A580C9D2-F358-F590-5599-D7C3FBDAC99A}"/>
              </a:ext>
            </a:extLst>
          </p:cNvPr>
          <p:cNvGrpSpPr/>
          <p:nvPr/>
        </p:nvGrpSpPr>
        <p:grpSpPr>
          <a:xfrm>
            <a:off x="838198" y="365125"/>
            <a:ext cx="1983884" cy="245531"/>
            <a:chOff x="4114799" y="3759391"/>
            <a:chExt cx="1983884" cy="1229241"/>
          </a:xfrm>
        </p:grpSpPr>
        <p:sp>
          <p:nvSpPr>
            <p:cNvPr id="59" name="Arrow: Pentagon 58">
              <a:extLst>
                <a:ext uri="{FF2B5EF4-FFF2-40B4-BE49-F238E27FC236}">
                  <a16:creationId xmlns:a16="http://schemas.microsoft.com/office/drawing/2014/main" id="{0E23A8FA-9C6D-5E50-035F-A16DB041F8E1}"/>
                </a:ext>
              </a:extLst>
            </p:cNvPr>
            <p:cNvSpPr/>
            <p:nvPr/>
          </p:nvSpPr>
          <p:spPr>
            <a:xfrm>
              <a:off x="4114799" y="3759391"/>
              <a:ext cx="794039" cy="1229241"/>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sz="1400" dirty="0"/>
                <a:t>Theory</a:t>
              </a:r>
            </a:p>
          </p:txBody>
        </p:sp>
        <p:sp>
          <p:nvSpPr>
            <p:cNvPr id="60" name="Arrow: Chevron 59">
              <a:extLst>
                <a:ext uri="{FF2B5EF4-FFF2-40B4-BE49-F238E27FC236}">
                  <a16:creationId xmlns:a16="http://schemas.microsoft.com/office/drawing/2014/main" id="{3A966726-82DE-E722-BD43-42B7FD210415}"/>
                </a:ext>
              </a:extLst>
            </p:cNvPr>
            <p:cNvSpPr/>
            <p:nvPr/>
          </p:nvSpPr>
          <p:spPr>
            <a:xfrm>
              <a:off x="4843616" y="3759391"/>
              <a:ext cx="1255067" cy="1229241"/>
            </a:xfrm>
            <a:prstGeom prst="chevron">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sz="1400" dirty="0">
                  <a:solidFill>
                    <a:schemeClr val="bg1">
                      <a:lumMod val="75000"/>
                    </a:schemeClr>
                  </a:solidFill>
                </a:rPr>
                <a:t>Use Case</a:t>
              </a:r>
            </a:p>
          </p:txBody>
        </p:sp>
      </p:grpSp>
    </p:spTree>
    <p:extLst>
      <p:ext uri="{BB962C8B-B14F-4D97-AF65-F5344CB8AC3E}">
        <p14:creationId xmlns:p14="http://schemas.microsoft.com/office/powerpoint/2010/main" val="114996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8FC17-5953-A530-508B-72120FD65D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DF5DFC-BD12-0A4E-94EA-9FFE12DC8958}"/>
              </a:ext>
            </a:extLst>
          </p:cNvPr>
          <p:cNvSpPr>
            <a:spLocks noGrp="1"/>
          </p:cNvSpPr>
          <p:nvPr>
            <p:ph type="title"/>
          </p:nvPr>
        </p:nvSpPr>
        <p:spPr/>
        <p:txBody>
          <a:bodyPr/>
          <a:lstStyle/>
          <a:p>
            <a:r>
              <a:rPr lang="en-SE" dirty="0"/>
              <a:t>Formulating Complex Hypotheses</a:t>
            </a:r>
          </a:p>
        </p:txBody>
      </p:sp>
      <p:sp>
        <p:nvSpPr>
          <p:cNvPr id="3" name="Content Placeholder 2">
            <a:extLst>
              <a:ext uri="{FF2B5EF4-FFF2-40B4-BE49-F238E27FC236}">
                <a16:creationId xmlns:a16="http://schemas.microsoft.com/office/drawing/2014/main" id="{5D646748-2840-B4C1-9A7B-38BB2D77BC5B}"/>
              </a:ext>
            </a:extLst>
          </p:cNvPr>
          <p:cNvSpPr>
            <a:spLocks noGrp="1"/>
          </p:cNvSpPr>
          <p:nvPr>
            <p:ph idx="1"/>
          </p:nvPr>
        </p:nvSpPr>
        <p:spPr>
          <a:xfrm>
            <a:off x="838200" y="1825625"/>
            <a:ext cx="10515600" cy="1131331"/>
          </a:xfrm>
        </p:spPr>
        <p:txBody>
          <a:bodyPr/>
          <a:lstStyle/>
          <a:p>
            <a:pPr marL="0" indent="0">
              <a:buNone/>
            </a:pPr>
            <a:r>
              <a:rPr lang="de-DE" dirty="0"/>
              <a:t>DAGs </a:t>
            </a:r>
            <a:r>
              <a:rPr lang="de-DE" dirty="0" err="1"/>
              <a:t>conve</a:t>
            </a:r>
            <a:r>
              <a:rPr lang="en-SE" dirty="0"/>
              <a:t>y complex relationships between multiple variables in a simple and straightforward manner.</a:t>
            </a:r>
          </a:p>
        </p:txBody>
      </p:sp>
      <p:sp>
        <p:nvSpPr>
          <p:cNvPr id="4" name="Date Placeholder 3">
            <a:extLst>
              <a:ext uri="{FF2B5EF4-FFF2-40B4-BE49-F238E27FC236}">
                <a16:creationId xmlns:a16="http://schemas.microsoft.com/office/drawing/2014/main" id="{02CDAA94-286D-4DA0-F72C-905063F3866F}"/>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Slide Number Placeholder 4">
            <a:extLst>
              <a:ext uri="{FF2B5EF4-FFF2-40B4-BE49-F238E27FC236}">
                <a16:creationId xmlns:a16="http://schemas.microsoft.com/office/drawing/2014/main" id="{560683ED-40BB-FEF6-759E-028F50DB49D1}"/>
              </a:ext>
            </a:extLst>
          </p:cNvPr>
          <p:cNvSpPr>
            <a:spLocks noGrp="1"/>
          </p:cNvSpPr>
          <p:nvPr>
            <p:ph type="sldNum" sz="quarter" idx="12"/>
          </p:nvPr>
        </p:nvSpPr>
        <p:spPr/>
        <p:txBody>
          <a:bodyPr/>
          <a:lstStyle/>
          <a:p>
            <a:fld id="{271ECC92-9CDE-4EB3-B1C5-F46B9E1FA3C1}" type="slidenum">
              <a:rPr lang="en-SE" smtClean="0"/>
              <a:t>8</a:t>
            </a:fld>
            <a:endParaRPr lang="en-SE"/>
          </a:p>
        </p:txBody>
      </p:sp>
      <p:grpSp>
        <p:nvGrpSpPr>
          <p:cNvPr id="23" name="Group 22">
            <a:extLst>
              <a:ext uri="{FF2B5EF4-FFF2-40B4-BE49-F238E27FC236}">
                <a16:creationId xmlns:a16="http://schemas.microsoft.com/office/drawing/2014/main" id="{3BDCC5BE-F4EF-DEFB-BF4C-F0B1D3552523}"/>
              </a:ext>
            </a:extLst>
          </p:cNvPr>
          <p:cNvGrpSpPr/>
          <p:nvPr/>
        </p:nvGrpSpPr>
        <p:grpSpPr>
          <a:xfrm>
            <a:off x="5664329" y="3429000"/>
            <a:ext cx="5689471" cy="2063574"/>
            <a:chOff x="2956199" y="2526255"/>
            <a:chExt cx="5689471" cy="2063574"/>
          </a:xfrm>
        </p:grpSpPr>
        <p:sp>
          <p:nvSpPr>
            <p:cNvPr id="24" name="Oval 23">
              <a:extLst>
                <a:ext uri="{FF2B5EF4-FFF2-40B4-BE49-F238E27FC236}">
                  <a16:creationId xmlns:a16="http://schemas.microsoft.com/office/drawing/2014/main" id="{A3A0E450-B578-26CE-D2DC-52ABBFC04D68}"/>
                </a:ext>
              </a:extLst>
            </p:cNvPr>
            <p:cNvSpPr/>
            <p:nvPr/>
          </p:nvSpPr>
          <p:spPr>
            <a:xfrm>
              <a:off x="4431353"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25" name="Oval 24">
              <a:extLst>
                <a:ext uri="{FF2B5EF4-FFF2-40B4-BE49-F238E27FC236}">
                  <a16:creationId xmlns:a16="http://schemas.microsoft.com/office/drawing/2014/main" id="{F491C467-06F7-99CD-4639-0C67F926DF0E}"/>
                </a:ext>
              </a:extLst>
            </p:cNvPr>
            <p:cNvSpPr/>
            <p:nvPr/>
          </p:nvSpPr>
          <p:spPr>
            <a:xfrm>
              <a:off x="6922733"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26" name="Straight Arrow Connector 25">
              <a:extLst>
                <a:ext uri="{FF2B5EF4-FFF2-40B4-BE49-F238E27FC236}">
                  <a16:creationId xmlns:a16="http://schemas.microsoft.com/office/drawing/2014/main" id="{E235A644-988E-A83C-B01A-F9DC5E17F9EA}"/>
                </a:ext>
              </a:extLst>
            </p:cNvPr>
            <p:cNvCxnSpPr>
              <a:stCxn id="24" idx="6"/>
              <a:endCxn id="25" idx="2"/>
            </p:cNvCxnSpPr>
            <p:nvPr/>
          </p:nvCxnSpPr>
          <p:spPr>
            <a:xfrm>
              <a:off x="4791353" y="349567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7" name="TextBox 26">
              <a:extLst>
                <a:ext uri="{FF2B5EF4-FFF2-40B4-BE49-F238E27FC236}">
                  <a16:creationId xmlns:a16="http://schemas.microsoft.com/office/drawing/2014/main" id="{33F76664-2852-4DC0-6524-A82C952F2B53}"/>
                </a:ext>
              </a:extLst>
            </p:cNvPr>
            <p:cNvSpPr txBox="1"/>
            <p:nvPr/>
          </p:nvSpPr>
          <p:spPr>
            <a:xfrm>
              <a:off x="3431946" y="3172511"/>
              <a:ext cx="990758" cy="646331"/>
            </a:xfrm>
            <a:prstGeom prst="rect">
              <a:avLst/>
            </a:prstGeom>
            <a:noFill/>
          </p:spPr>
          <p:txBody>
            <a:bodyPr wrap="square" rtlCol="0">
              <a:spAutoFit/>
            </a:bodyPr>
            <a:lstStyle/>
            <a:p>
              <a:pPr algn="r"/>
              <a:r>
                <a:rPr lang="de-DE" noProof="0" dirty="0">
                  <a:solidFill>
                    <a:srgbClr val="D0180A"/>
                  </a:solidFill>
                </a:rPr>
                <a:t>u</a:t>
              </a:r>
              <a:r>
                <a:rPr lang="en-SE" noProof="0" dirty="0">
                  <a:solidFill>
                    <a:srgbClr val="D0180A"/>
                  </a:solidFill>
                </a:rPr>
                <a:t>se of GenAI</a:t>
              </a:r>
              <a:endParaRPr lang="en-US" noProof="0" dirty="0">
                <a:solidFill>
                  <a:srgbClr val="D0180A"/>
                </a:solidFill>
              </a:endParaRPr>
            </a:p>
          </p:txBody>
        </p:sp>
        <p:sp>
          <p:nvSpPr>
            <p:cNvPr id="28" name="TextBox 27">
              <a:extLst>
                <a:ext uri="{FF2B5EF4-FFF2-40B4-BE49-F238E27FC236}">
                  <a16:creationId xmlns:a16="http://schemas.microsoft.com/office/drawing/2014/main" id="{533A90C0-45FB-897C-4FEF-65430AFD678A}"/>
                </a:ext>
              </a:extLst>
            </p:cNvPr>
            <p:cNvSpPr txBox="1"/>
            <p:nvPr/>
          </p:nvSpPr>
          <p:spPr>
            <a:xfrm>
              <a:off x="7282733" y="3288250"/>
              <a:ext cx="1362937" cy="369332"/>
            </a:xfrm>
            <a:prstGeom prst="rect">
              <a:avLst/>
            </a:prstGeom>
            <a:noFill/>
          </p:spPr>
          <p:txBody>
            <a:bodyPr wrap="none" rtlCol="0">
              <a:spAutoFit/>
            </a:bodyPr>
            <a:lstStyle/>
            <a:p>
              <a:r>
                <a:rPr lang="en-SE" noProof="0" dirty="0">
                  <a:solidFill>
                    <a:srgbClr val="006D70"/>
                  </a:solidFill>
                </a:rPr>
                <a:t>productivity</a:t>
              </a:r>
              <a:endParaRPr lang="en-US" noProof="0" dirty="0">
                <a:solidFill>
                  <a:srgbClr val="006D70"/>
                </a:solidFill>
              </a:endParaRPr>
            </a:p>
          </p:txBody>
        </p:sp>
        <p:sp>
          <p:nvSpPr>
            <p:cNvPr id="29" name="Oval 28">
              <a:extLst>
                <a:ext uri="{FF2B5EF4-FFF2-40B4-BE49-F238E27FC236}">
                  <a16:creationId xmlns:a16="http://schemas.microsoft.com/office/drawing/2014/main" id="{600709D8-2791-B881-901B-656808E708F7}"/>
                </a:ext>
              </a:extLst>
            </p:cNvPr>
            <p:cNvSpPr/>
            <p:nvPr/>
          </p:nvSpPr>
          <p:spPr>
            <a:xfrm>
              <a:off x="4431353" y="4091330"/>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sp>
          <p:nvSpPr>
            <p:cNvPr id="30" name="Oval 29">
              <a:extLst>
                <a:ext uri="{FF2B5EF4-FFF2-40B4-BE49-F238E27FC236}">
                  <a16:creationId xmlns:a16="http://schemas.microsoft.com/office/drawing/2014/main" id="{2692359C-975A-72A8-D9CE-F1F833D113ED}"/>
                </a:ext>
              </a:extLst>
            </p:cNvPr>
            <p:cNvSpPr/>
            <p:nvPr/>
          </p:nvSpPr>
          <p:spPr>
            <a:xfrm>
              <a:off x="5676494" y="4091330"/>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a</a:t>
              </a:r>
              <a:endParaRPr lang="en-US" noProof="0" dirty="0">
                <a:solidFill>
                  <a:schemeClr val="tx1">
                    <a:lumMod val="50000"/>
                    <a:lumOff val="50000"/>
                  </a:schemeClr>
                </a:solidFill>
              </a:endParaRPr>
            </a:p>
          </p:txBody>
        </p:sp>
        <p:sp>
          <p:nvSpPr>
            <p:cNvPr id="31" name="TextBox 30">
              <a:extLst>
                <a:ext uri="{FF2B5EF4-FFF2-40B4-BE49-F238E27FC236}">
                  <a16:creationId xmlns:a16="http://schemas.microsoft.com/office/drawing/2014/main" id="{B9749CA1-D715-1B3A-0CC2-CF26FB943101}"/>
                </a:ext>
              </a:extLst>
            </p:cNvPr>
            <p:cNvSpPr txBox="1"/>
            <p:nvPr/>
          </p:nvSpPr>
          <p:spPr>
            <a:xfrm>
              <a:off x="6036494" y="4081998"/>
              <a:ext cx="1246239" cy="369332"/>
            </a:xfrm>
            <a:prstGeom prst="rect">
              <a:avLst/>
            </a:prstGeom>
            <a:noFill/>
          </p:spPr>
          <p:txBody>
            <a:bodyPr wrap="none" rtlCol="0">
              <a:spAutoFit/>
            </a:bodyPr>
            <a:lstStyle/>
            <a:p>
              <a:r>
                <a:rPr lang="en-US" noProof="0" dirty="0">
                  <a:solidFill>
                    <a:schemeClr val="tx1">
                      <a:lumMod val="65000"/>
                      <a:lumOff val="35000"/>
                    </a:schemeClr>
                  </a:solidFill>
                </a:rPr>
                <a:t>motivation</a:t>
              </a:r>
            </a:p>
          </p:txBody>
        </p:sp>
        <p:sp>
          <p:nvSpPr>
            <p:cNvPr id="32" name="TextBox 31">
              <a:extLst>
                <a:ext uri="{FF2B5EF4-FFF2-40B4-BE49-F238E27FC236}">
                  <a16:creationId xmlns:a16="http://schemas.microsoft.com/office/drawing/2014/main" id="{07AE2EC4-D505-3824-9A9E-BB29B8F60E5D}"/>
                </a:ext>
              </a:extLst>
            </p:cNvPr>
            <p:cNvSpPr txBox="1"/>
            <p:nvPr/>
          </p:nvSpPr>
          <p:spPr>
            <a:xfrm>
              <a:off x="2956199" y="3943498"/>
              <a:ext cx="1432387" cy="646331"/>
            </a:xfrm>
            <a:prstGeom prst="rect">
              <a:avLst/>
            </a:prstGeom>
            <a:noFill/>
          </p:spPr>
          <p:txBody>
            <a:bodyPr wrap="square" rtlCol="0">
              <a:spAutoFit/>
            </a:bodyPr>
            <a:lstStyle/>
            <a:p>
              <a:pPr algn="r"/>
              <a:r>
                <a:rPr lang="en-SE" noProof="0" dirty="0">
                  <a:solidFill>
                    <a:schemeClr val="tx1">
                      <a:lumMod val="65000"/>
                      <a:lumOff val="35000"/>
                    </a:schemeClr>
                  </a:solidFill>
                </a:rPr>
                <a:t>GenAI experience</a:t>
              </a:r>
              <a:endParaRPr lang="en-US" noProof="0" dirty="0">
                <a:solidFill>
                  <a:schemeClr val="tx1">
                    <a:lumMod val="65000"/>
                    <a:lumOff val="35000"/>
                  </a:schemeClr>
                </a:solidFill>
              </a:endParaRPr>
            </a:p>
          </p:txBody>
        </p:sp>
        <p:cxnSp>
          <p:nvCxnSpPr>
            <p:cNvPr id="33" name="Straight Arrow Connector 32">
              <a:extLst>
                <a:ext uri="{FF2B5EF4-FFF2-40B4-BE49-F238E27FC236}">
                  <a16:creationId xmlns:a16="http://schemas.microsoft.com/office/drawing/2014/main" id="{8092828F-17D7-AFA0-9F34-A61FF0310C96}"/>
                </a:ext>
              </a:extLst>
            </p:cNvPr>
            <p:cNvCxnSpPr>
              <a:cxnSpLocks/>
              <a:stCxn id="30" idx="7"/>
              <a:endCxn id="25" idx="3"/>
            </p:cNvCxnSpPr>
            <p:nvPr/>
          </p:nvCxnSpPr>
          <p:spPr>
            <a:xfrm flipV="1">
              <a:off x="5983773" y="3622956"/>
              <a:ext cx="991681"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63FAF116-73DE-750C-9981-C7DD678B6E17}"/>
                </a:ext>
              </a:extLst>
            </p:cNvPr>
            <p:cNvCxnSpPr>
              <a:cxnSpLocks/>
              <a:stCxn id="30" idx="2"/>
              <a:endCxn id="29" idx="6"/>
            </p:cNvCxnSpPr>
            <p:nvPr/>
          </p:nvCxnSpPr>
          <p:spPr>
            <a:xfrm flipH="1">
              <a:off x="4791353" y="4271330"/>
              <a:ext cx="88514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4AC08B45-19F7-1EF9-4CC6-51F116C2DF3B}"/>
                </a:ext>
              </a:extLst>
            </p:cNvPr>
            <p:cNvCxnSpPr>
              <a:cxnSpLocks/>
              <a:stCxn id="29" idx="0"/>
              <a:endCxn id="24" idx="4"/>
            </p:cNvCxnSpPr>
            <p:nvPr/>
          </p:nvCxnSpPr>
          <p:spPr>
            <a:xfrm flipV="1">
              <a:off x="4611353" y="3675677"/>
              <a:ext cx="0" cy="41565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39627AC6-B217-46E5-3E18-E6AA4DDDA406}"/>
                </a:ext>
              </a:extLst>
            </p:cNvPr>
            <p:cNvCxnSpPr>
              <a:cxnSpLocks/>
              <a:stCxn id="30" idx="1"/>
              <a:endCxn id="24" idx="5"/>
            </p:cNvCxnSpPr>
            <p:nvPr/>
          </p:nvCxnSpPr>
          <p:spPr>
            <a:xfrm flipH="1" flipV="1">
              <a:off x="4738632" y="3622956"/>
              <a:ext cx="990583"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7" name="Oval 36">
              <a:extLst>
                <a:ext uri="{FF2B5EF4-FFF2-40B4-BE49-F238E27FC236}">
                  <a16:creationId xmlns:a16="http://schemas.microsoft.com/office/drawing/2014/main" id="{AB876565-5ECA-3053-3D0B-71BBBB4A43AE}"/>
                </a:ext>
              </a:extLst>
            </p:cNvPr>
            <p:cNvSpPr/>
            <p:nvPr/>
          </p:nvSpPr>
          <p:spPr>
            <a:xfrm>
              <a:off x="5676668" y="2526255"/>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b</a:t>
              </a:r>
              <a:endParaRPr lang="en-US" noProof="0" dirty="0">
                <a:solidFill>
                  <a:schemeClr val="tx1">
                    <a:lumMod val="50000"/>
                    <a:lumOff val="50000"/>
                  </a:schemeClr>
                </a:solidFill>
              </a:endParaRPr>
            </a:p>
          </p:txBody>
        </p:sp>
        <p:sp>
          <p:nvSpPr>
            <p:cNvPr id="38" name="TextBox 37">
              <a:extLst>
                <a:ext uri="{FF2B5EF4-FFF2-40B4-BE49-F238E27FC236}">
                  <a16:creationId xmlns:a16="http://schemas.microsoft.com/office/drawing/2014/main" id="{9592B58F-8842-5CD7-8A06-D5C3DAB1A758}"/>
                </a:ext>
              </a:extLst>
            </p:cNvPr>
            <p:cNvSpPr txBox="1"/>
            <p:nvPr/>
          </p:nvSpPr>
          <p:spPr>
            <a:xfrm>
              <a:off x="6069563" y="2527492"/>
              <a:ext cx="2318392" cy="369332"/>
            </a:xfrm>
            <a:prstGeom prst="rect">
              <a:avLst/>
            </a:prstGeom>
            <a:noFill/>
          </p:spPr>
          <p:txBody>
            <a:bodyPr wrap="none" rtlCol="0">
              <a:spAutoFit/>
            </a:bodyPr>
            <a:lstStyle/>
            <a:p>
              <a:r>
                <a:rPr lang="en-SE" noProof="0" dirty="0">
                  <a:solidFill>
                    <a:schemeClr val="tx1">
                      <a:lumMod val="65000"/>
                      <a:lumOff val="35000"/>
                    </a:schemeClr>
                  </a:solidFill>
                </a:rPr>
                <a:t>IDE’s user experience</a:t>
              </a:r>
              <a:endParaRPr lang="en-US" noProof="0" dirty="0">
                <a:solidFill>
                  <a:schemeClr val="tx1">
                    <a:lumMod val="65000"/>
                    <a:lumOff val="35000"/>
                  </a:schemeClr>
                </a:solidFill>
              </a:endParaRPr>
            </a:p>
          </p:txBody>
        </p:sp>
        <p:cxnSp>
          <p:nvCxnSpPr>
            <p:cNvPr id="39" name="Straight Arrow Connector 38">
              <a:extLst>
                <a:ext uri="{FF2B5EF4-FFF2-40B4-BE49-F238E27FC236}">
                  <a16:creationId xmlns:a16="http://schemas.microsoft.com/office/drawing/2014/main" id="{C6D7AF6C-94C6-9C3E-AADB-B5BCACE330A3}"/>
                </a:ext>
              </a:extLst>
            </p:cNvPr>
            <p:cNvCxnSpPr>
              <a:cxnSpLocks/>
              <a:stCxn id="24" idx="7"/>
              <a:endCxn id="37" idx="3"/>
            </p:cNvCxnSpPr>
            <p:nvPr/>
          </p:nvCxnSpPr>
          <p:spPr>
            <a:xfrm flipV="1">
              <a:off x="4738632" y="2833534"/>
              <a:ext cx="99075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BE26EE70-D5BB-9EB8-ED65-21C4299ECBB2}"/>
                </a:ext>
              </a:extLst>
            </p:cNvPr>
            <p:cNvCxnSpPr>
              <a:cxnSpLocks/>
              <a:stCxn id="37" idx="5"/>
              <a:endCxn id="25" idx="1"/>
            </p:cNvCxnSpPr>
            <p:nvPr/>
          </p:nvCxnSpPr>
          <p:spPr>
            <a:xfrm>
              <a:off x="5983947" y="2833534"/>
              <a:ext cx="99150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41" name="Group 40">
            <a:extLst>
              <a:ext uri="{FF2B5EF4-FFF2-40B4-BE49-F238E27FC236}">
                <a16:creationId xmlns:a16="http://schemas.microsoft.com/office/drawing/2014/main" id="{F92CF65B-54C0-8583-B368-D800CA9E5B79}"/>
              </a:ext>
            </a:extLst>
          </p:cNvPr>
          <p:cNvGrpSpPr/>
          <p:nvPr/>
        </p:nvGrpSpPr>
        <p:grpSpPr>
          <a:xfrm>
            <a:off x="838198" y="3331799"/>
            <a:ext cx="4938348" cy="2450435"/>
            <a:chOff x="1567015" y="3101787"/>
            <a:chExt cx="4938348" cy="2450435"/>
          </a:xfrm>
        </p:grpSpPr>
        <p:sp>
          <p:nvSpPr>
            <p:cNvPr id="42" name="Rectangle: Rounded Corners 41">
              <a:extLst>
                <a:ext uri="{FF2B5EF4-FFF2-40B4-BE49-F238E27FC236}">
                  <a16:creationId xmlns:a16="http://schemas.microsoft.com/office/drawing/2014/main" id="{7C69890E-260B-A7AF-F0A4-CC9ACBD6EBEE}"/>
                </a:ext>
              </a:extLst>
            </p:cNvPr>
            <p:cNvSpPr/>
            <p:nvPr/>
          </p:nvSpPr>
          <p:spPr>
            <a:xfrm>
              <a:off x="1567015" y="3101787"/>
              <a:ext cx="4938348" cy="2450435"/>
            </a:xfrm>
            <a:prstGeom prst="roundRect">
              <a:avLst/>
            </a:prstGeom>
            <a:solidFill>
              <a:schemeClr val="bg1">
                <a:lumMod val="85000"/>
              </a:schemeClr>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92000" rtlCol="0" anchor="ctr"/>
            <a:lstStyle/>
            <a:p>
              <a:r>
                <a:rPr lang="en-SE" dirty="0">
                  <a:solidFill>
                    <a:schemeClr val="tx1"/>
                  </a:solidFill>
                </a:rPr>
                <a:t>RQ: Does the use of </a:t>
              </a:r>
              <a:r>
                <a:rPr lang="en-SE" b="1" dirty="0">
                  <a:solidFill>
                    <a:srgbClr val="D0180A"/>
                  </a:solidFill>
                </a:rPr>
                <a:t>generative AI (GenAI) </a:t>
              </a:r>
              <a:r>
                <a:rPr lang="en-SE" dirty="0">
                  <a:solidFill>
                    <a:schemeClr val="tx1"/>
                  </a:solidFill>
                </a:rPr>
                <a:t>have </a:t>
              </a:r>
              <a:r>
                <a:rPr lang="en-SE" b="1" dirty="0">
                  <a:solidFill>
                    <a:schemeClr val="tx1"/>
                  </a:solidFill>
                </a:rPr>
                <a:t>an effect</a:t>
              </a:r>
              <a:r>
                <a:rPr lang="en-SE" dirty="0">
                  <a:solidFill>
                    <a:schemeClr val="tx1"/>
                  </a:solidFill>
                </a:rPr>
                <a:t> on the </a:t>
              </a:r>
              <a:r>
                <a:rPr lang="en-SE" b="1" dirty="0">
                  <a:solidFill>
                    <a:srgbClr val="006D70"/>
                  </a:solidFill>
                </a:rPr>
                <a:t>productivity</a:t>
              </a:r>
              <a:r>
                <a:rPr lang="en-SE" dirty="0">
                  <a:solidFill>
                    <a:schemeClr val="tx1"/>
                  </a:solidFill>
                </a:rPr>
                <a:t> of developers, assuming that </a:t>
              </a:r>
              <a:r>
                <a:rPr lang="en-SE" b="1" dirty="0">
                  <a:solidFill>
                    <a:schemeClr val="tx1">
                      <a:lumMod val="65000"/>
                      <a:lumOff val="35000"/>
                    </a:schemeClr>
                  </a:solidFill>
                </a:rPr>
                <a:t>motivation</a:t>
              </a:r>
              <a:r>
                <a:rPr lang="en-SE" dirty="0">
                  <a:solidFill>
                    <a:schemeClr val="tx1"/>
                  </a:solidFill>
                </a:rPr>
                <a:t> affects both usage (moderated by </a:t>
              </a:r>
              <a:r>
                <a:rPr lang="en-SE" b="1" dirty="0">
                  <a:solidFill>
                    <a:schemeClr val="tx1">
                      <a:lumMod val="65000"/>
                      <a:lumOff val="35000"/>
                    </a:schemeClr>
                  </a:solidFill>
                </a:rPr>
                <a:t>GenAI experience</a:t>
              </a:r>
              <a:r>
                <a:rPr lang="en-SE" dirty="0">
                  <a:solidFill>
                    <a:schemeClr val="tx1"/>
                  </a:solidFill>
                </a:rPr>
                <a:t>) and productivity, and accounting for an indirect effect of the </a:t>
              </a:r>
              <a:r>
                <a:rPr lang="en-SE" b="1" dirty="0">
                  <a:solidFill>
                    <a:schemeClr val="tx1">
                      <a:lumMod val="65000"/>
                      <a:lumOff val="35000"/>
                    </a:schemeClr>
                  </a:solidFill>
                </a:rPr>
                <a:t>IDE’s user experience</a:t>
              </a:r>
              <a:r>
                <a:rPr lang="en-SE" dirty="0">
                  <a:solidFill>
                    <a:schemeClr val="tx1"/>
                  </a:solidFill>
                </a:rPr>
                <a:t>?</a:t>
              </a:r>
            </a:p>
          </p:txBody>
        </p:sp>
        <p:pic>
          <p:nvPicPr>
            <p:cNvPr id="43" name="Graphic 42" descr="Open quotation mark with solid fill">
              <a:extLst>
                <a:ext uri="{FF2B5EF4-FFF2-40B4-BE49-F238E27FC236}">
                  <a16:creationId xmlns:a16="http://schemas.microsoft.com/office/drawing/2014/main" id="{B806FEE1-36E6-429C-A190-1A8A14D8712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a:off x="1632237" y="3162988"/>
              <a:ext cx="792000" cy="792000"/>
            </a:xfrm>
            <a:prstGeom prst="rect">
              <a:avLst/>
            </a:prstGeom>
          </p:spPr>
        </p:pic>
      </p:grpSp>
      <p:grpSp>
        <p:nvGrpSpPr>
          <p:cNvPr id="44" name="Group 43">
            <a:extLst>
              <a:ext uri="{FF2B5EF4-FFF2-40B4-BE49-F238E27FC236}">
                <a16:creationId xmlns:a16="http://schemas.microsoft.com/office/drawing/2014/main" id="{C3441193-2689-D161-37AF-A2BC2465AE12}"/>
              </a:ext>
            </a:extLst>
          </p:cNvPr>
          <p:cNvGrpSpPr/>
          <p:nvPr/>
        </p:nvGrpSpPr>
        <p:grpSpPr>
          <a:xfrm>
            <a:off x="838198" y="365125"/>
            <a:ext cx="1983884" cy="245531"/>
            <a:chOff x="4114799" y="3759391"/>
            <a:chExt cx="1983884" cy="1229241"/>
          </a:xfrm>
        </p:grpSpPr>
        <p:sp>
          <p:nvSpPr>
            <p:cNvPr id="45" name="Arrow: Pentagon 44">
              <a:extLst>
                <a:ext uri="{FF2B5EF4-FFF2-40B4-BE49-F238E27FC236}">
                  <a16:creationId xmlns:a16="http://schemas.microsoft.com/office/drawing/2014/main" id="{B8637E44-80C6-7124-0168-9E3839F8F273}"/>
                </a:ext>
              </a:extLst>
            </p:cNvPr>
            <p:cNvSpPr/>
            <p:nvPr/>
          </p:nvSpPr>
          <p:spPr>
            <a:xfrm>
              <a:off x="4114799" y="3759391"/>
              <a:ext cx="794039" cy="1229241"/>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sz="1400" dirty="0"/>
                <a:t>Theory</a:t>
              </a:r>
            </a:p>
          </p:txBody>
        </p:sp>
        <p:sp>
          <p:nvSpPr>
            <p:cNvPr id="46" name="Arrow: Chevron 45">
              <a:extLst>
                <a:ext uri="{FF2B5EF4-FFF2-40B4-BE49-F238E27FC236}">
                  <a16:creationId xmlns:a16="http://schemas.microsoft.com/office/drawing/2014/main" id="{5E9C37B7-70CF-75AD-A2B9-6B20ED0EAE84}"/>
                </a:ext>
              </a:extLst>
            </p:cNvPr>
            <p:cNvSpPr/>
            <p:nvPr/>
          </p:nvSpPr>
          <p:spPr>
            <a:xfrm>
              <a:off x="4843616" y="3759391"/>
              <a:ext cx="1255067" cy="122924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sz="1400" dirty="0">
                  <a:solidFill>
                    <a:schemeClr val="tx1"/>
                  </a:solidFill>
                </a:rPr>
                <a:t>Use Case</a:t>
              </a:r>
            </a:p>
          </p:txBody>
        </p:sp>
      </p:grpSp>
    </p:spTree>
    <p:extLst>
      <p:ext uri="{BB962C8B-B14F-4D97-AF65-F5344CB8AC3E}">
        <p14:creationId xmlns:p14="http://schemas.microsoft.com/office/powerpoint/2010/main" val="34484982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7733-E5B3-AE52-54B0-3CE10065AF54}"/>
              </a:ext>
            </a:extLst>
          </p:cNvPr>
          <p:cNvSpPr>
            <a:spLocks noGrp="1"/>
          </p:cNvSpPr>
          <p:nvPr>
            <p:ph type="title"/>
          </p:nvPr>
        </p:nvSpPr>
        <p:spPr/>
        <p:txBody>
          <a:bodyPr/>
          <a:lstStyle/>
          <a:p>
            <a:r>
              <a:rPr lang="en-SE" dirty="0"/>
              <a:t>Disputing Causal Hypotheses</a:t>
            </a:r>
          </a:p>
        </p:txBody>
      </p:sp>
      <p:sp>
        <p:nvSpPr>
          <p:cNvPr id="3" name="Content Placeholder 2">
            <a:extLst>
              <a:ext uri="{FF2B5EF4-FFF2-40B4-BE49-F238E27FC236}">
                <a16:creationId xmlns:a16="http://schemas.microsoft.com/office/drawing/2014/main" id="{AD2B01AA-FEF8-D413-B14C-DC266C406243}"/>
              </a:ext>
            </a:extLst>
          </p:cNvPr>
          <p:cNvSpPr>
            <a:spLocks noGrp="1"/>
          </p:cNvSpPr>
          <p:nvPr>
            <p:ph idx="1"/>
          </p:nvPr>
        </p:nvSpPr>
        <p:spPr>
          <a:xfrm>
            <a:off x="838200" y="1825625"/>
            <a:ext cx="10515600" cy="965076"/>
          </a:xfrm>
        </p:spPr>
        <p:txBody>
          <a:bodyPr/>
          <a:lstStyle/>
          <a:p>
            <a:pPr marL="0" indent="0">
              <a:buNone/>
            </a:pPr>
            <a:r>
              <a:rPr lang="en-SE" dirty="0"/>
              <a:t>The explicit formulation of causal hypotheses in </a:t>
            </a:r>
            <a:r>
              <a:rPr lang="en-SE" dirty="0" err="1"/>
              <a:t>DAGs</a:t>
            </a:r>
            <a:r>
              <a:rPr lang="en-SE" dirty="0"/>
              <a:t> makes it easy to compare and contrast assumptions.</a:t>
            </a:r>
          </a:p>
        </p:txBody>
      </p:sp>
      <p:sp>
        <p:nvSpPr>
          <p:cNvPr id="4" name="Date Placeholder 3">
            <a:extLst>
              <a:ext uri="{FF2B5EF4-FFF2-40B4-BE49-F238E27FC236}">
                <a16:creationId xmlns:a16="http://schemas.microsoft.com/office/drawing/2014/main" id="{5829A44F-90A8-2AA5-DA01-1E93D5860FCB}"/>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Slide Number Placeholder 4">
            <a:extLst>
              <a:ext uri="{FF2B5EF4-FFF2-40B4-BE49-F238E27FC236}">
                <a16:creationId xmlns:a16="http://schemas.microsoft.com/office/drawing/2014/main" id="{DF87BAD0-EEEF-6808-11BD-EB18E962CC45}"/>
              </a:ext>
            </a:extLst>
          </p:cNvPr>
          <p:cNvSpPr>
            <a:spLocks noGrp="1"/>
          </p:cNvSpPr>
          <p:nvPr>
            <p:ph type="sldNum" sz="quarter" idx="12"/>
          </p:nvPr>
        </p:nvSpPr>
        <p:spPr/>
        <p:txBody>
          <a:bodyPr/>
          <a:lstStyle/>
          <a:p>
            <a:fld id="{271ECC92-9CDE-4EB3-B1C5-F46B9E1FA3C1}" type="slidenum">
              <a:rPr lang="en-SE" smtClean="0"/>
              <a:t>9</a:t>
            </a:fld>
            <a:endParaRPr lang="en-SE"/>
          </a:p>
        </p:txBody>
      </p:sp>
      <p:sp>
        <p:nvSpPr>
          <p:cNvPr id="6" name="Content Placeholder 2">
            <a:extLst>
              <a:ext uri="{FF2B5EF4-FFF2-40B4-BE49-F238E27FC236}">
                <a16:creationId xmlns:a16="http://schemas.microsoft.com/office/drawing/2014/main" id="{85A4AAEE-AEF6-3167-326B-D6B75F3FAEDC}"/>
              </a:ext>
            </a:extLst>
          </p:cNvPr>
          <p:cNvSpPr txBox="1">
            <a:spLocks/>
          </p:cNvSpPr>
          <p:nvPr/>
        </p:nvSpPr>
        <p:spPr>
          <a:xfrm>
            <a:off x="838198" y="5391274"/>
            <a:ext cx="10515600" cy="9650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SE" dirty="0"/>
              <a:t>These comparisons can inform the design of an empirical study to verify, which of the two hypotheses reflects reality better.</a:t>
            </a:r>
          </a:p>
        </p:txBody>
      </p:sp>
      <p:grpSp>
        <p:nvGrpSpPr>
          <p:cNvPr id="10" name="Group 9">
            <a:extLst>
              <a:ext uri="{FF2B5EF4-FFF2-40B4-BE49-F238E27FC236}">
                <a16:creationId xmlns:a16="http://schemas.microsoft.com/office/drawing/2014/main" id="{50DDA19B-136A-EF69-F6A2-175393F4FB43}"/>
              </a:ext>
            </a:extLst>
          </p:cNvPr>
          <p:cNvGrpSpPr/>
          <p:nvPr/>
        </p:nvGrpSpPr>
        <p:grpSpPr>
          <a:xfrm>
            <a:off x="838198" y="2871763"/>
            <a:ext cx="4886351" cy="2332928"/>
            <a:chOff x="2956199" y="2256901"/>
            <a:chExt cx="4886351" cy="2332928"/>
          </a:xfrm>
        </p:grpSpPr>
        <p:sp>
          <p:nvSpPr>
            <p:cNvPr id="11" name="Oval 10">
              <a:extLst>
                <a:ext uri="{FF2B5EF4-FFF2-40B4-BE49-F238E27FC236}">
                  <a16:creationId xmlns:a16="http://schemas.microsoft.com/office/drawing/2014/main" id="{C9DBDFBE-FEAB-0F65-ADD2-E30699AA20A8}"/>
                </a:ext>
              </a:extLst>
            </p:cNvPr>
            <p:cNvSpPr/>
            <p:nvPr/>
          </p:nvSpPr>
          <p:spPr>
            <a:xfrm>
              <a:off x="4431353"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12" name="Oval 11">
              <a:extLst>
                <a:ext uri="{FF2B5EF4-FFF2-40B4-BE49-F238E27FC236}">
                  <a16:creationId xmlns:a16="http://schemas.microsoft.com/office/drawing/2014/main" id="{1D71CC2D-C5D7-0D51-9836-F8920A86E389}"/>
                </a:ext>
              </a:extLst>
            </p:cNvPr>
            <p:cNvSpPr/>
            <p:nvPr/>
          </p:nvSpPr>
          <p:spPr>
            <a:xfrm>
              <a:off x="6922733"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13" name="Straight Arrow Connector 12">
              <a:extLst>
                <a:ext uri="{FF2B5EF4-FFF2-40B4-BE49-F238E27FC236}">
                  <a16:creationId xmlns:a16="http://schemas.microsoft.com/office/drawing/2014/main" id="{CC167F5C-E4FB-19DA-214A-54EBEF120D54}"/>
                </a:ext>
              </a:extLst>
            </p:cNvPr>
            <p:cNvCxnSpPr>
              <a:stCxn id="11" idx="6"/>
              <a:endCxn id="12" idx="2"/>
            </p:cNvCxnSpPr>
            <p:nvPr/>
          </p:nvCxnSpPr>
          <p:spPr>
            <a:xfrm>
              <a:off x="4791353" y="349567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BFCD3FF5-ABCD-ED44-3858-C313F1715CEE}"/>
                </a:ext>
              </a:extLst>
            </p:cNvPr>
            <p:cNvSpPr txBox="1"/>
            <p:nvPr/>
          </p:nvSpPr>
          <p:spPr>
            <a:xfrm>
              <a:off x="3431946" y="3172511"/>
              <a:ext cx="990758" cy="646331"/>
            </a:xfrm>
            <a:prstGeom prst="rect">
              <a:avLst/>
            </a:prstGeom>
            <a:noFill/>
          </p:spPr>
          <p:txBody>
            <a:bodyPr wrap="square" rtlCol="0">
              <a:spAutoFit/>
            </a:bodyPr>
            <a:lstStyle/>
            <a:p>
              <a:pPr algn="r"/>
              <a:r>
                <a:rPr lang="de-DE" noProof="0" dirty="0">
                  <a:solidFill>
                    <a:srgbClr val="D0180A"/>
                  </a:solidFill>
                </a:rPr>
                <a:t>u</a:t>
              </a:r>
              <a:r>
                <a:rPr lang="en-SE" noProof="0" dirty="0">
                  <a:solidFill>
                    <a:srgbClr val="D0180A"/>
                  </a:solidFill>
                </a:rPr>
                <a:t>se of GenAI</a:t>
              </a:r>
              <a:endParaRPr lang="en-US" noProof="0" dirty="0">
                <a:solidFill>
                  <a:srgbClr val="D0180A"/>
                </a:solidFill>
              </a:endParaRPr>
            </a:p>
          </p:txBody>
        </p:sp>
        <p:sp>
          <p:nvSpPr>
            <p:cNvPr id="15" name="TextBox 14">
              <a:extLst>
                <a:ext uri="{FF2B5EF4-FFF2-40B4-BE49-F238E27FC236}">
                  <a16:creationId xmlns:a16="http://schemas.microsoft.com/office/drawing/2014/main" id="{CEBA4781-4599-70ED-3475-54D246F53942}"/>
                </a:ext>
              </a:extLst>
            </p:cNvPr>
            <p:cNvSpPr txBox="1"/>
            <p:nvPr/>
          </p:nvSpPr>
          <p:spPr>
            <a:xfrm>
              <a:off x="6479613" y="3735103"/>
              <a:ext cx="1362937" cy="369332"/>
            </a:xfrm>
            <a:prstGeom prst="rect">
              <a:avLst/>
            </a:prstGeom>
            <a:noFill/>
          </p:spPr>
          <p:txBody>
            <a:bodyPr wrap="none" rtlCol="0">
              <a:spAutoFit/>
            </a:bodyPr>
            <a:lstStyle/>
            <a:p>
              <a:r>
                <a:rPr lang="en-SE" noProof="0" dirty="0">
                  <a:solidFill>
                    <a:srgbClr val="006D70"/>
                  </a:solidFill>
                </a:rPr>
                <a:t>productivity</a:t>
              </a:r>
              <a:endParaRPr lang="en-US" noProof="0" dirty="0">
                <a:solidFill>
                  <a:srgbClr val="006D70"/>
                </a:solidFill>
              </a:endParaRPr>
            </a:p>
          </p:txBody>
        </p:sp>
        <p:sp>
          <p:nvSpPr>
            <p:cNvPr id="16" name="Oval 15">
              <a:extLst>
                <a:ext uri="{FF2B5EF4-FFF2-40B4-BE49-F238E27FC236}">
                  <a16:creationId xmlns:a16="http://schemas.microsoft.com/office/drawing/2014/main" id="{F00C4B34-46E0-491B-1FA9-5670DCD201CF}"/>
                </a:ext>
              </a:extLst>
            </p:cNvPr>
            <p:cNvSpPr/>
            <p:nvPr/>
          </p:nvSpPr>
          <p:spPr>
            <a:xfrm>
              <a:off x="4431353" y="4091330"/>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sp>
          <p:nvSpPr>
            <p:cNvPr id="17" name="Oval 16">
              <a:extLst>
                <a:ext uri="{FF2B5EF4-FFF2-40B4-BE49-F238E27FC236}">
                  <a16:creationId xmlns:a16="http://schemas.microsoft.com/office/drawing/2014/main" id="{6134C73C-6F13-0E67-E77B-F38B070183E0}"/>
                </a:ext>
              </a:extLst>
            </p:cNvPr>
            <p:cNvSpPr/>
            <p:nvPr/>
          </p:nvSpPr>
          <p:spPr>
            <a:xfrm>
              <a:off x="5676494" y="4091330"/>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a</a:t>
              </a:r>
              <a:endParaRPr lang="en-US" noProof="0" dirty="0">
                <a:solidFill>
                  <a:schemeClr val="tx1">
                    <a:lumMod val="50000"/>
                    <a:lumOff val="50000"/>
                  </a:schemeClr>
                </a:solidFill>
              </a:endParaRPr>
            </a:p>
          </p:txBody>
        </p:sp>
        <p:sp>
          <p:nvSpPr>
            <p:cNvPr id="18" name="TextBox 17">
              <a:extLst>
                <a:ext uri="{FF2B5EF4-FFF2-40B4-BE49-F238E27FC236}">
                  <a16:creationId xmlns:a16="http://schemas.microsoft.com/office/drawing/2014/main" id="{74D69B51-202C-10B5-3860-05A9E659FB7E}"/>
                </a:ext>
              </a:extLst>
            </p:cNvPr>
            <p:cNvSpPr txBox="1"/>
            <p:nvPr/>
          </p:nvSpPr>
          <p:spPr>
            <a:xfrm>
              <a:off x="6036494" y="4081998"/>
              <a:ext cx="1246239" cy="369332"/>
            </a:xfrm>
            <a:prstGeom prst="rect">
              <a:avLst/>
            </a:prstGeom>
            <a:noFill/>
          </p:spPr>
          <p:txBody>
            <a:bodyPr wrap="none" rtlCol="0">
              <a:spAutoFit/>
            </a:bodyPr>
            <a:lstStyle/>
            <a:p>
              <a:r>
                <a:rPr lang="en-US" noProof="0" dirty="0">
                  <a:solidFill>
                    <a:schemeClr val="tx1">
                      <a:lumMod val="65000"/>
                      <a:lumOff val="35000"/>
                    </a:schemeClr>
                  </a:solidFill>
                </a:rPr>
                <a:t>motivation</a:t>
              </a:r>
            </a:p>
          </p:txBody>
        </p:sp>
        <p:sp>
          <p:nvSpPr>
            <p:cNvPr id="19" name="TextBox 18">
              <a:extLst>
                <a:ext uri="{FF2B5EF4-FFF2-40B4-BE49-F238E27FC236}">
                  <a16:creationId xmlns:a16="http://schemas.microsoft.com/office/drawing/2014/main" id="{26929C57-3CD0-B281-9E87-32F8BD87A9E8}"/>
                </a:ext>
              </a:extLst>
            </p:cNvPr>
            <p:cNvSpPr txBox="1"/>
            <p:nvPr/>
          </p:nvSpPr>
          <p:spPr>
            <a:xfrm>
              <a:off x="2956199" y="3943498"/>
              <a:ext cx="1432387" cy="646331"/>
            </a:xfrm>
            <a:prstGeom prst="rect">
              <a:avLst/>
            </a:prstGeom>
            <a:noFill/>
          </p:spPr>
          <p:txBody>
            <a:bodyPr wrap="square" rtlCol="0">
              <a:spAutoFit/>
            </a:bodyPr>
            <a:lstStyle/>
            <a:p>
              <a:pPr algn="r"/>
              <a:r>
                <a:rPr lang="en-SE" noProof="0" dirty="0">
                  <a:solidFill>
                    <a:schemeClr val="tx1">
                      <a:lumMod val="65000"/>
                      <a:lumOff val="35000"/>
                    </a:schemeClr>
                  </a:solidFill>
                </a:rPr>
                <a:t>GenAI experience</a:t>
              </a:r>
              <a:endParaRPr lang="en-US" noProof="0" dirty="0">
                <a:solidFill>
                  <a:schemeClr val="tx1">
                    <a:lumMod val="65000"/>
                    <a:lumOff val="35000"/>
                  </a:schemeClr>
                </a:solidFill>
              </a:endParaRPr>
            </a:p>
          </p:txBody>
        </p:sp>
        <p:cxnSp>
          <p:nvCxnSpPr>
            <p:cNvPr id="20" name="Straight Arrow Connector 19">
              <a:extLst>
                <a:ext uri="{FF2B5EF4-FFF2-40B4-BE49-F238E27FC236}">
                  <a16:creationId xmlns:a16="http://schemas.microsoft.com/office/drawing/2014/main" id="{FF51A305-4AFD-C421-F455-5F47EE92CA82}"/>
                </a:ext>
              </a:extLst>
            </p:cNvPr>
            <p:cNvCxnSpPr>
              <a:cxnSpLocks/>
              <a:stCxn id="17" idx="7"/>
              <a:endCxn id="12" idx="3"/>
            </p:cNvCxnSpPr>
            <p:nvPr/>
          </p:nvCxnSpPr>
          <p:spPr>
            <a:xfrm flipV="1">
              <a:off x="5983773" y="3622956"/>
              <a:ext cx="991681"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371EE06D-61F8-CD8F-560D-7E7E4CE382DB}"/>
                </a:ext>
              </a:extLst>
            </p:cNvPr>
            <p:cNvCxnSpPr>
              <a:cxnSpLocks/>
              <a:stCxn id="17" idx="2"/>
              <a:endCxn id="16" idx="6"/>
            </p:cNvCxnSpPr>
            <p:nvPr/>
          </p:nvCxnSpPr>
          <p:spPr>
            <a:xfrm flipH="1">
              <a:off x="4791353" y="4271330"/>
              <a:ext cx="88514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9AA5F8D7-A774-CE50-7E31-48343648012D}"/>
                </a:ext>
              </a:extLst>
            </p:cNvPr>
            <p:cNvCxnSpPr>
              <a:cxnSpLocks/>
              <a:stCxn id="16" idx="0"/>
              <a:endCxn id="11" idx="4"/>
            </p:cNvCxnSpPr>
            <p:nvPr/>
          </p:nvCxnSpPr>
          <p:spPr>
            <a:xfrm flipV="1">
              <a:off x="4611353" y="3675677"/>
              <a:ext cx="0" cy="41565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E04C69C1-69C6-5AE3-3F93-92FDE2931477}"/>
                </a:ext>
              </a:extLst>
            </p:cNvPr>
            <p:cNvCxnSpPr>
              <a:cxnSpLocks/>
              <a:stCxn id="17" idx="1"/>
              <a:endCxn id="11" idx="5"/>
            </p:cNvCxnSpPr>
            <p:nvPr/>
          </p:nvCxnSpPr>
          <p:spPr>
            <a:xfrm flipH="1" flipV="1">
              <a:off x="4738632" y="3622956"/>
              <a:ext cx="990583"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4" name="Oval 23">
              <a:extLst>
                <a:ext uri="{FF2B5EF4-FFF2-40B4-BE49-F238E27FC236}">
                  <a16:creationId xmlns:a16="http://schemas.microsoft.com/office/drawing/2014/main" id="{C0DA1601-1788-26F1-CEC9-C3AA51200DA3}"/>
                </a:ext>
              </a:extLst>
            </p:cNvPr>
            <p:cNvSpPr/>
            <p:nvPr/>
          </p:nvSpPr>
          <p:spPr>
            <a:xfrm>
              <a:off x="5676668" y="2526255"/>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b</a:t>
              </a:r>
              <a:endParaRPr lang="en-US" noProof="0" dirty="0">
                <a:solidFill>
                  <a:schemeClr val="tx1">
                    <a:lumMod val="50000"/>
                    <a:lumOff val="50000"/>
                  </a:schemeClr>
                </a:solidFill>
              </a:endParaRPr>
            </a:p>
          </p:txBody>
        </p:sp>
        <p:sp>
          <p:nvSpPr>
            <p:cNvPr id="25" name="TextBox 24">
              <a:extLst>
                <a:ext uri="{FF2B5EF4-FFF2-40B4-BE49-F238E27FC236}">
                  <a16:creationId xmlns:a16="http://schemas.microsoft.com/office/drawing/2014/main" id="{58A3BCA9-9C24-5134-E61C-273D13DB9E81}"/>
                </a:ext>
              </a:extLst>
            </p:cNvPr>
            <p:cNvSpPr txBox="1"/>
            <p:nvPr/>
          </p:nvSpPr>
          <p:spPr>
            <a:xfrm>
              <a:off x="6045317" y="2256901"/>
              <a:ext cx="1534838" cy="646331"/>
            </a:xfrm>
            <a:prstGeom prst="rect">
              <a:avLst/>
            </a:prstGeom>
            <a:noFill/>
          </p:spPr>
          <p:txBody>
            <a:bodyPr wrap="square" rtlCol="0">
              <a:spAutoFit/>
            </a:bodyPr>
            <a:lstStyle/>
            <a:p>
              <a:r>
                <a:rPr lang="en-SE" noProof="0" dirty="0">
                  <a:solidFill>
                    <a:schemeClr val="tx1">
                      <a:lumMod val="65000"/>
                      <a:lumOff val="35000"/>
                    </a:schemeClr>
                  </a:solidFill>
                </a:rPr>
                <a:t>IDE’s user experience</a:t>
              </a:r>
              <a:endParaRPr lang="en-US" noProof="0" dirty="0">
                <a:solidFill>
                  <a:schemeClr val="tx1">
                    <a:lumMod val="65000"/>
                    <a:lumOff val="35000"/>
                  </a:schemeClr>
                </a:solidFill>
              </a:endParaRPr>
            </a:p>
          </p:txBody>
        </p:sp>
        <p:cxnSp>
          <p:nvCxnSpPr>
            <p:cNvPr id="26" name="Straight Arrow Connector 25">
              <a:extLst>
                <a:ext uri="{FF2B5EF4-FFF2-40B4-BE49-F238E27FC236}">
                  <a16:creationId xmlns:a16="http://schemas.microsoft.com/office/drawing/2014/main" id="{2238F90C-301C-AD9A-57A6-7754ABDFC172}"/>
                </a:ext>
              </a:extLst>
            </p:cNvPr>
            <p:cNvCxnSpPr>
              <a:cxnSpLocks/>
              <a:stCxn id="11" idx="7"/>
              <a:endCxn id="24" idx="3"/>
            </p:cNvCxnSpPr>
            <p:nvPr/>
          </p:nvCxnSpPr>
          <p:spPr>
            <a:xfrm flipV="1">
              <a:off x="4738632" y="2833534"/>
              <a:ext cx="99075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6E9E0EF2-FD5E-B075-CABB-9DFB7C9995B8}"/>
                </a:ext>
              </a:extLst>
            </p:cNvPr>
            <p:cNvCxnSpPr>
              <a:cxnSpLocks/>
              <a:stCxn id="24" idx="5"/>
              <a:endCxn id="12" idx="1"/>
            </p:cNvCxnSpPr>
            <p:nvPr/>
          </p:nvCxnSpPr>
          <p:spPr>
            <a:xfrm>
              <a:off x="5983947" y="2833534"/>
              <a:ext cx="99150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28" name="Group 27">
            <a:extLst>
              <a:ext uri="{FF2B5EF4-FFF2-40B4-BE49-F238E27FC236}">
                <a16:creationId xmlns:a16="http://schemas.microsoft.com/office/drawing/2014/main" id="{373A28EB-17EB-E6A3-14EF-15AAB9C708C1}"/>
              </a:ext>
            </a:extLst>
          </p:cNvPr>
          <p:cNvGrpSpPr/>
          <p:nvPr/>
        </p:nvGrpSpPr>
        <p:grpSpPr>
          <a:xfrm>
            <a:off x="6167424" y="2871763"/>
            <a:ext cx="4886351" cy="2332928"/>
            <a:chOff x="2956199" y="2256901"/>
            <a:chExt cx="4886351" cy="2332928"/>
          </a:xfrm>
        </p:grpSpPr>
        <p:sp>
          <p:nvSpPr>
            <p:cNvPr id="29" name="Oval 28">
              <a:extLst>
                <a:ext uri="{FF2B5EF4-FFF2-40B4-BE49-F238E27FC236}">
                  <a16:creationId xmlns:a16="http://schemas.microsoft.com/office/drawing/2014/main" id="{91CFB405-7A47-CAB4-8B35-0FAB59F42772}"/>
                </a:ext>
              </a:extLst>
            </p:cNvPr>
            <p:cNvSpPr/>
            <p:nvPr/>
          </p:nvSpPr>
          <p:spPr>
            <a:xfrm>
              <a:off x="4431353"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30" name="Oval 29">
              <a:extLst>
                <a:ext uri="{FF2B5EF4-FFF2-40B4-BE49-F238E27FC236}">
                  <a16:creationId xmlns:a16="http://schemas.microsoft.com/office/drawing/2014/main" id="{FED4CC25-6CB8-B1E8-3815-C92DFB20B4ED}"/>
                </a:ext>
              </a:extLst>
            </p:cNvPr>
            <p:cNvSpPr/>
            <p:nvPr/>
          </p:nvSpPr>
          <p:spPr>
            <a:xfrm>
              <a:off x="6922733"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31" name="Straight Arrow Connector 30">
              <a:extLst>
                <a:ext uri="{FF2B5EF4-FFF2-40B4-BE49-F238E27FC236}">
                  <a16:creationId xmlns:a16="http://schemas.microsoft.com/office/drawing/2014/main" id="{62B5CA7B-ABC3-5C43-25F6-265A46F19E34}"/>
                </a:ext>
              </a:extLst>
            </p:cNvPr>
            <p:cNvCxnSpPr>
              <a:stCxn id="29" idx="6"/>
              <a:endCxn id="30" idx="2"/>
            </p:cNvCxnSpPr>
            <p:nvPr/>
          </p:nvCxnSpPr>
          <p:spPr>
            <a:xfrm>
              <a:off x="4791353" y="349567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2" name="TextBox 31">
              <a:extLst>
                <a:ext uri="{FF2B5EF4-FFF2-40B4-BE49-F238E27FC236}">
                  <a16:creationId xmlns:a16="http://schemas.microsoft.com/office/drawing/2014/main" id="{1A0CC55C-CE42-9B48-873E-2A2D519A9477}"/>
                </a:ext>
              </a:extLst>
            </p:cNvPr>
            <p:cNvSpPr txBox="1"/>
            <p:nvPr/>
          </p:nvSpPr>
          <p:spPr>
            <a:xfrm>
              <a:off x="3431946" y="3172511"/>
              <a:ext cx="990758" cy="646331"/>
            </a:xfrm>
            <a:prstGeom prst="rect">
              <a:avLst/>
            </a:prstGeom>
            <a:noFill/>
          </p:spPr>
          <p:txBody>
            <a:bodyPr wrap="square" rtlCol="0">
              <a:spAutoFit/>
            </a:bodyPr>
            <a:lstStyle/>
            <a:p>
              <a:pPr algn="r"/>
              <a:r>
                <a:rPr lang="de-DE" noProof="0" dirty="0">
                  <a:solidFill>
                    <a:srgbClr val="D0180A"/>
                  </a:solidFill>
                </a:rPr>
                <a:t>u</a:t>
              </a:r>
              <a:r>
                <a:rPr lang="en-SE" noProof="0" dirty="0">
                  <a:solidFill>
                    <a:srgbClr val="D0180A"/>
                  </a:solidFill>
                </a:rPr>
                <a:t>se of GenAI</a:t>
              </a:r>
              <a:endParaRPr lang="en-US" noProof="0" dirty="0">
                <a:solidFill>
                  <a:srgbClr val="D0180A"/>
                </a:solidFill>
              </a:endParaRPr>
            </a:p>
          </p:txBody>
        </p:sp>
        <p:sp>
          <p:nvSpPr>
            <p:cNvPr id="33" name="TextBox 32">
              <a:extLst>
                <a:ext uri="{FF2B5EF4-FFF2-40B4-BE49-F238E27FC236}">
                  <a16:creationId xmlns:a16="http://schemas.microsoft.com/office/drawing/2014/main" id="{49419F99-D0DD-9F43-AF58-ABD913E63D0F}"/>
                </a:ext>
              </a:extLst>
            </p:cNvPr>
            <p:cNvSpPr txBox="1"/>
            <p:nvPr/>
          </p:nvSpPr>
          <p:spPr>
            <a:xfrm>
              <a:off x="6479613" y="3735103"/>
              <a:ext cx="1362937" cy="369332"/>
            </a:xfrm>
            <a:prstGeom prst="rect">
              <a:avLst/>
            </a:prstGeom>
            <a:noFill/>
          </p:spPr>
          <p:txBody>
            <a:bodyPr wrap="none" rtlCol="0">
              <a:spAutoFit/>
            </a:bodyPr>
            <a:lstStyle/>
            <a:p>
              <a:r>
                <a:rPr lang="en-SE" noProof="0" dirty="0">
                  <a:solidFill>
                    <a:srgbClr val="006D70"/>
                  </a:solidFill>
                </a:rPr>
                <a:t>productivity</a:t>
              </a:r>
              <a:endParaRPr lang="en-US" noProof="0" dirty="0">
                <a:solidFill>
                  <a:srgbClr val="006D70"/>
                </a:solidFill>
              </a:endParaRPr>
            </a:p>
          </p:txBody>
        </p:sp>
        <p:sp>
          <p:nvSpPr>
            <p:cNvPr id="34" name="Oval 33">
              <a:extLst>
                <a:ext uri="{FF2B5EF4-FFF2-40B4-BE49-F238E27FC236}">
                  <a16:creationId xmlns:a16="http://schemas.microsoft.com/office/drawing/2014/main" id="{D8F7DD19-30C0-8579-ACD4-79FFAD959C40}"/>
                </a:ext>
              </a:extLst>
            </p:cNvPr>
            <p:cNvSpPr/>
            <p:nvPr/>
          </p:nvSpPr>
          <p:spPr>
            <a:xfrm>
              <a:off x="4431353" y="4091330"/>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sp>
          <p:nvSpPr>
            <p:cNvPr id="35" name="Oval 34">
              <a:extLst>
                <a:ext uri="{FF2B5EF4-FFF2-40B4-BE49-F238E27FC236}">
                  <a16:creationId xmlns:a16="http://schemas.microsoft.com/office/drawing/2014/main" id="{B1B3270F-8FA7-9BB5-6BC6-79D009F20848}"/>
                </a:ext>
              </a:extLst>
            </p:cNvPr>
            <p:cNvSpPr/>
            <p:nvPr/>
          </p:nvSpPr>
          <p:spPr>
            <a:xfrm>
              <a:off x="5676494" y="4091330"/>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a</a:t>
              </a:r>
              <a:endParaRPr lang="en-US" noProof="0" dirty="0">
                <a:solidFill>
                  <a:schemeClr val="tx1">
                    <a:lumMod val="50000"/>
                    <a:lumOff val="50000"/>
                  </a:schemeClr>
                </a:solidFill>
              </a:endParaRPr>
            </a:p>
          </p:txBody>
        </p:sp>
        <p:sp>
          <p:nvSpPr>
            <p:cNvPr id="36" name="TextBox 35">
              <a:extLst>
                <a:ext uri="{FF2B5EF4-FFF2-40B4-BE49-F238E27FC236}">
                  <a16:creationId xmlns:a16="http://schemas.microsoft.com/office/drawing/2014/main" id="{0D78C1C6-E2B9-8F90-2A09-681E18837EE0}"/>
                </a:ext>
              </a:extLst>
            </p:cNvPr>
            <p:cNvSpPr txBox="1"/>
            <p:nvPr/>
          </p:nvSpPr>
          <p:spPr>
            <a:xfrm>
              <a:off x="6036494" y="4081998"/>
              <a:ext cx="1246239" cy="369332"/>
            </a:xfrm>
            <a:prstGeom prst="rect">
              <a:avLst/>
            </a:prstGeom>
            <a:noFill/>
          </p:spPr>
          <p:txBody>
            <a:bodyPr wrap="none" rtlCol="0">
              <a:spAutoFit/>
            </a:bodyPr>
            <a:lstStyle/>
            <a:p>
              <a:r>
                <a:rPr lang="en-US" noProof="0" dirty="0">
                  <a:solidFill>
                    <a:schemeClr val="tx1">
                      <a:lumMod val="65000"/>
                      <a:lumOff val="35000"/>
                    </a:schemeClr>
                  </a:solidFill>
                </a:rPr>
                <a:t>motivation</a:t>
              </a:r>
            </a:p>
          </p:txBody>
        </p:sp>
        <p:sp>
          <p:nvSpPr>
            <p:cNvPr id="37" name="TextBox 36">
              <a:extLst>
                <a:ext uri="{FF2B5EF4-FFF2-40B4-BE49-F238E27FC236}">
                  <a16:creationId xmlns:a16="http://schemas.microsoft.com/office/drawing/2014/main" id="{2193AF6F-9177-37FF-503A-4C853674AA98}"/>
                </a:ext>
              </a:extLst>
            </p:cNvPr>
            <p:cNvSpPr txBox="1"/>
            <p:nvPr/>
          </p:nvSpPr>
          <p:spPr>
            <a:xfrm>
              <a:off x="2956199" y="3943498"/>
              <a:ext cx="1432387" cy="646331"/>
            </a:xfrm>
            <a:prstGeom prst="rect">
              <a:avLst/>
            </a:prstGeom>
            <a:noFill/>
          </p:spPr>
          <p:txBody>
            <a:bodyPr wrap="square" rtlCol="0">
              <a:spAutoFit/>
            </a:bodyPr>
            <a:lstStyle/>
            <a:p>
              <a:pPr algn="r"/>
              <a:r>
                <a:rPr lang="en-SE" noProof="0" dirty="0">
                  <a:solidFill>
                    <a:schemeClr val="tx1">
                      <a:lumMod val="65000"/>
                      <a:lumOff val="35000"/>
                    </a:schemeClr>
                  </a:solidFill>
                </a:rPr>
                <a:t>GenAI experience</a:t>
              </a:r>
              <a:endParaRPr lang="en-US" noProof="0" dirty="0">
                <a:solidFill>
                  <a:schemeClr val="tx1">
                    <a:lumMod val="65000"/>
                    <a:lumOff val="35000"/>
                  </a:schemeClr>
                </a:solidFill>
              </a:endParaRPr>
            </a:p>
          </p:txBody>
        </p:sp>
        <p:cxnSp>
          <p:nvCxnSpPr>
            <p:cNvPr id="38" name="Straight Arrow Connector 37">
              <a:extLst>
                <a:ext uri="{FF2B5EF4-FFF2-40B4-BE49-F238E27FC236}">
                  <a16:creationId xmlns:a16="http://schemas.microsoft.com/office/drawing/2014/main" id="{EE70F82B-86A1-8FB7-15CF-FF5E7448F022}"/>
                </a:ext>
              </a:extLst>
            </p:cNvPr>
            <p:cNvCxnSpPr>
              <a:cxnSpLocks/>
              <a:stCxn id="35" idx="7"/>
              <a:endCxn id="30" idx="3"/>
            </p:cNvCxnSpPr>
            <p:nvPr/>
          </p:nvCxnSpPr>
          <p:spPr>
            <a:xfrm flipV="1">
              <a:off x="5983773" y="3622956"/>
              <a:ext cx="991681"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403A05A3-2276-7336-86FC-9530C1F85258}"/>
                </a:ext>
              </a:extLst>
            </p:cNvPr>
            <p:cNvCxnSpPr>
              <a:cxnSpLocks/>
              <a:stCxn id="34" idx="0"/>
              <a:endCxn id="29" idx="4"/>
            </p:cNvCxnSpPr>
            <p:nvPr/>
          </p:nvCxnSpPr>
          <p:spPr>
            <a:xfrm flipV="1">
              <a:off x="4611353" y="3675677"/>
              <a:ext cx="0" cy="41565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1" name="Straight Arrow Connector 40">
              <a:extLst>
                <a:ext uri="{FF2B5EF4-FFF2-40B4-BE49-F238E27FC236}">
                  <a16:creationId xmlns:a16="http://schemas.microsoft.com/office/drawing/2014/main" id="{C2A3E938-5C1D-9705-C815-B1FE4B6C6B24}"/>
                </a:ext>
              </a:extLst>
            </p:cNvPr>
            <p:cNvCxnSpPr>
              <a:cxnSpLocks/>
              <a:stCxn id="35" idx="1"/>
              <a:endCxn id="29" idx="5"/>
            </p:cNvCxnSpPr>
            <p:nvPr/>
          </p:nvCxnSpPr>
          <p:spPr>
            <a:xfrm flipH="1" flipV="1">
              <a:off x="4738632" y="3622956"/>
              <a:ext cx="990583"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2" name="Oval 41">
              <a:extLst>
                <a:ext uri="{FF2B5EF4-FFF2-40B4-BE49-F238E27FC236}">
                  <a16:creationId xmlns:a16="http://schemas.microsoft.com/office/drawing/2014/main" id="{2C27EAFB-66C8-CA2C-95C5-8F880ECC7206}"/>
                </a:ext>
              </a:extLst>
            </p:cNvPr>
            <p:cNvSpPr/>
            <p:nvPr/>
          </p:nvSpPr>
          <p:spPr>
            <a:xfrm>
              <a:off x="5676668" y="2526255"/>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b</a:t>
              </a:r>
              <a:endParaRPr lang="en-US" noProof="0" dirty="0">
                <a:solidFill>
                  <a:schemeClr val="tx1">
                    <a:lumMod val="50000"/>
                    <a:lumOff val="50000"/>
                  </a:schemeClr>
                </a:solidFill>
              </a:endParaRPr>
            </a:p>
          </p:txBody>
        </p:sp>
        <p:sp>
          <p:nvSpPr>
            <p:cNvPr id="43" name="TextBox 42">
              <a:extLst>
                <a:ext uri="{FF2B5EF4-FFF2-40B4-BE49-F238E27FC236}">
                  <a16:creationId xmlns:a16="http://schemas.microsoft.com/office/drawing/2014/main" id="{01BD7C23-1DBF-7508-7747-8CADEB84C2EF}"/>
                </a:ext>
              </a:extLst>
            </p:cNvPr>
            <p:cNvSpPr txBox="1"/>
            <p:nvPr/>
          </p:nvSpPr>
          <p:spPr>
            <a:xfrm>
              <a:off x="6045317" y="2256901"/>
              <a:ext cx="1534838" cy="646331"/>
            </a:xfrm>
            <a:prstGeom prst="rect">
              <a:avLst/>
            </a:prstGeom>
            <a:noFill/>
          </p:spPr>
          <p:txBody>
            <a:bodyPr wrap="square" rtlCol="0">
              <a:spAutoFit/>
            </a:bodyPr>
            <a:lstStyle/>
            <a:p>
              <a:r>
                <a:rPr lang="en-SE" noProof="0" dirty="0">
                  <a:solidFill>
                    <a:schemeClr val="tx1">
                      <a:lumMod val="65000"/>
                      <a:lumOff val="35000"/>
                    </a:schemeClr>
                  </a:solidFill>
                </a:rPr>
                <a:t>IDE’s user experience</a:t>
              </a:r>
              <a:endParaRPr lang="en-US" noProof="0" dirty="0">
                <a:solidFill>
                  <a:schemeClr val="tx1">
                    <a:lumMod val="65000"/>
                    <a:lumOff val="35000"/>
                  </a:schemeClr>
                </a:solidFill>
              </a:endParaRPr>
            </a:p>
          </p:txBody>
        </p:sp>
        <p:cxnSp>
          <p:nvCxnSpPr>
            <p:cNvPr id="44" name="Straight Arrow Connector 43">
              <a:extLst>
                <a:ext uri="{FF2B5EF4-FFF2-40B4-BE49-F238E27FC236}">
                  <a16:creationId xmlns:a16="http://schemas.microsoft.com/office/drawing/2014/main" id="{B6889E6F-82F3-F9E1-A5BC-4E1F5B43AC97}"/>
                </a:ext>
              </a:extLst>
            </p:cNvPr>
            <p:cNvCxnSpPr>
              <a:cxnSpLocks/>
              <a:stCxn id="29" idx="7"/>
              <a:endCxn id="42" idx="3"/>
            </p:cNvCxnSpPr>
            <p:nvPr/>
          </p:nvCxnSpPr>
          <p:spPr>
            <a:xfrm flipV="1">
              <a:off x="4738632" y="2833534"/>
              <a:ext cx="99075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5" name="Straight Arrow Connector 44">
              <a:extLst>
                <a:ext uri="{FF2B5EF4-FFF2-40B4-BE49-F238E27FC236}">
                  <a16:creationId xmlns:a16="http://schemas.microsoft.com/office/drawing/2014/main" id="{773DBA13-20A1-533A-A9B2-CAF6A6956A2F}"/>
                </a:ext>
              </a:extLst>
            </p:cNvPr>
            <p:cNvCxnSpPr>
              <a:cxnSpLocks/>
              <a:stCxn id="42" idx="5"/>
              <a:endCxn id="30" idx="1"/>
            </p:cNvCxnSpPr>
            <p:nvPr/>
          </p:nvCxnSpPr>
          <p:spPr>
            <a:xfrm>
              <a:off x="5983947" y="2833534"/>
              <a:ext cx="99150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cxnSp>
        <p:nvCxnSpPr>
          <p:cNvPr id="46" name="Straight Arrow Connector 45">
            <a:extLst>
              <a:ext uri="{FF2B5EF4-FFF2-40B4-BE49-F238E27FC236}">
                <a16:creationId xmlns:a16="http://schemas.microsoft.com/office/drawing/2014/main" id="{68564829-4B13-7F97-18B0-DC0964DF6B1F}"/>
              </a:ext>
            </a:extLst>
          </p:cNvPr>
          <p:cNvCxnSpPr>
            <a:cxnSpLocks/>
            <a:stCxn id="34" idx="7"/>
            <a:endCxn id="42" idx="4"/>
          </p:cNvCxnSpPr>
          <p:nvPr/>
        </p:nvCxnSpPr>
        <p:spPr>
          <a:xfrm flipV="1">
            <a:off x="7949857" y="3501117"/>
            <a:ext cx="1118036" cy="125779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49" name="Group 48">
            <a:extLst>
              <a:ext uri="{FF2B5EF4-FFF2-40B4-BE49-F238E27FC236}">
                <a16:creationId xmlns:a16="http://schemas.microsoft.com/office/drawing/2014/main" id="{988E578A-DA37-DC09-0CC8-E3AB6DAF349E}"/>
              </a:ext>
            </a:extLst>
          </p:cNvPr>
          <p:cNvGrpSpPr/>
          <p:nvPr/>
        </p:nvGrpSpPr>
        <p:grpSpPr>
          <a:xfrm>
            <a:off x="838198" y="365125"/>
            <a:ext cx="1983884" cy="245531"/>
            <a:chOff x="4114799" y="3759391"/>
            <a:chExt cx="1983884" cy="1229241"/>
          </a:xfrm>
        </p:grpSpPr>
        <p:sp>
          <p:nvSpPr>
            <p:cNvPr id="50" name="Arrow: Pentagon 49">
              <a:extLst>
                <a:ext uri="{FF2B5EF4-FFF2-40B4-BE49-F238E27FC236}">
                  <a16:creationId xmlns:a16="http://schemas.microsoft.com/office/drawing/2014/main" id="{134FB1C4-10F3-ADA4-750E-877C04F2AD7F}"/>
                </a:ext>
              </a:extLst>
            </p:cNvPr>
            <p:cNvSpPr/>
            <p:nvPr/>
          </p:nvSpPr>
          <p:spPr>
            <a:xfrm>
              <a:off x="4114799" y="3759391"/>
              <a:ext cx="794039" cy="1229241"/>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sz="1400" dirty="0"/>
                <a:t>Theory</a:t>
              </a:r>
            </a:p>
          </p:txBody>
        </p:sp>
        <p:sp>
          <p:nvSpPr>
            <p:cNvPr id="51" name="Arrow: Chevron 50">
              <a:extLst>
                <a:ext uri="{FF2B5EF4-FFF2-40B4-BE49-F238E27FC236}">
                  <a16:creationId xmlns:a16="http://schemas.microsoft.com/office/drawing/2014/main" id="{B3AED47E-3894-DFB1-E192-E440B0B41AB9}"/>
                </a:ext>
              </a:extLst>
            </p:cNvPr>
            <p:cNvSpPr/>
            <p:nvPr/>
          </p:nvSpPr>
          <p:spPr>
            <a:xfrm>
              <a:off x="4843616" y="3759391"/>
              <a:ext cx="1255067" cy="122924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sz="1400" dirty="0">
                  <a:solidFill>
                    <a:schemeClr val="tx1"/>
                  </a:solidFill>
                </a:rPr>
                <a:t>Use Case</a:t>
              </a:r>
            </a:p>
          </p:txBody>
        </p:sp>
      </p:grpSp>
    </p:spTree>
    <p:extLst>
      <p:ext uri="{BB962C8B-B14F-4D97-AF65-F5344CB8AC3E}">
        <p14:creationId xmlns:p14="http://schemas.microsoft.com/office/powerpoint/2010/main" val="29568351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7537E-3427-F016-515E-3D080F8E4DBF}"/>
              </a:ext>
            </a:extLst>
          </p:cNvPr>
          <p:cNvSpPr>
            <a:spLocks noGrp="1"/>
          </p:cNvSpPr>
          <p:nvPr>
            <p:ph type="title"/>
          </p:nvPr>
        </p:nvSpPr>
        <p:spPr/>
        <p:txBody>
          <a:bodyPr/>
          <a:lstStyle/>
          <a:p>
            <a:r>
              <a:rPr lang="en-SE" dirty="0"/>
              <a:t>Distinguishing Study Types</a:t>
            </a:r>
          </a:p>
        </p:txBody>
      </p:sp>
      <p:sp>
        <p:nvSpPr>
          <p:cNvPr id="3" name="Content Placeholder 2">
            <a:extLst>
              <a:ext uri="{FF2B5EF4-FFF2-40B4-BE49-F238E27FC236}">
                <a16:creationId xmlns:a16="http://schemas.microsoft.com/office/drawing/2014/main" id="{9E123E70-591B-5553-AD9B-A412E5DC84FD}"/>
              </a:ext>
            </a:extLst>
          </p:cNvPr>
          <p:cNvSpPr>
            <a:spLocks noGrp="1"/>
          </p:cNvSpPr>
          <p:nvPr>
            <p:ph idx="1"/>
          </p:nvPr>
        </p:nvSpPr>
        <p:spPr>
          <a:xfrm>
            <a:off x="838200" y="1825625"/>
            <a:ext cx="10515600" cy="1428214"/>
          </a:xfrm>
        </p:spPr>
        <p:txBody>
          <a:bodyPr/>
          <a:lstStyle/>
          <a:p>
            <a:pPr marL="0" indent="0">
              <a:buNone/>
            </a:pPr>
            <a:r>
              <a:rPr lang="en-SE" dirty="0"/>
              <a:t>The causal DAG also reveals controlled vs. observational studies: a controlled study is indicated by a DAG where no variable affects the exposure.</a:t>
            </a:r>
          </a:p>
        </p:txBody>
      </p:sp>
      <p:sp>
        <p:nvSpPr>
          <p:cNvPr id="4" name="Date Placeholder 3">
            <a:extLst>
              <a:ext uri="{FF2B5EF4-FFF2-40B4-BE49-F238E27FC236}">
                <a16:creationId xmlns:a16="http://schemas.microsoft.com/office/drawing/2014/main" id="{717049A2-B81E-6848-EA0D-69D5BD1C9D2E}"/>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Slide Number Placeholder 4">
            <a:extLst>
              <a:ext uri="{FF2B5EF4-FFF2-40B4-BE49-F238E27FC236}">
                <a16:creationId xmlns:a16="http://schemas.microsoft.com/office/drawing/2014/main" id="{D607CD19-9C3E-5446-EF02-9FB0DDF46D80}"/>
              </a:ext>
            </a:extLst>
          </p:cNvPr>
          <p:cNvSpPr>
            <a:spLocks noGrp="1"/>
          </p:cNvSpPr>
          <p:nvPr>
            <p:ph type="sldNum" sz="quarter" idx="12"/>
          </p:nvPr>
        </p:nvSpPr>
        <p:spPr/>
        <p:txBody>
          <a:bodyPr/>
          <a:lstStyle/>
          <a:p>
            <a:fld id="{271ECC92-9CDE-4EB3-B1C5-F46B9E1FA3C1}" type="slidenum">
              <a:rPr lang="en-SE" smtClean="0"/>
              <a:t>10</a:t>
            </a:fld>
            <a:endParaRPr lang="en-SE"/>
          </a:p>
        </p:txBody>
      </p:sp>
      <p:grpSp>
        <p:nvGrpSpPr>
          <p:cNvPr id="6" name="Group 5">
            <a:extLst>
              <a:ext uri="{FF2B5EF4-FFF2-40B4-BE49-F238E27FC236}">
                <a16:creationId xmlns:a16="http://schemas.microsoft.com/office/drawing/2014/main" id="{ACF4C04A-F14B-AEE2-E7A1-09D4763D6B2D}"/>
              </a:ext>
            </a:extLst>
          </p:cNvPr>
          <p:cNvGrpSpPr/>
          <p:nvPr/>
        </p:nvGrpSpPr>
        <p:grpSpPr>
          <a:xfrm>
            <a:off x="838198" y="3388776"/>
            <a:ext cx="4886351" cy="2332928"/>
            <a:chOff x="2956199" y="2256901"/>
            <a:chExt cx="4886351" cy="2332928"/>
          </a:xfrm>
        </p:grpSpPr>
        <p:sp>
          <p:nvSpPr>
            <p:cNvPr id="7" name="Oval 6">
              <a:extLst>
                <a:ext uri="{FF2B5EF4-FFF2-40B4-BE49-F238E27FC236}">
                  <a16:creationId xmlns:a16="http://schemas.microsoft.com/office/drawing/2014/main" id="{51483689-0BDD-E344-DB34-CDC2A01C2061}"/>
                </a:ext>
              </a:extLst>
            </p:cNvPr>
            <p:cNvSpPr/>
            <p:nvPr/>
          </p:nvSpPr>
          <p:spPr>
            <a:xfrm>
              <a:off x="4431353"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8" name="Oval 7">
              <a:extLst>
                <a:ext uri="{FF2B5EF4-FFF2-40B4-BE49-F238E27FC236}">
                  <a16:creationId xmlns:a16="http://schemas.microsoft.com/office/drawing/2014/main" id="{ECD7F279-BA36-5684-B017-16364DAADDB6}"/>
                </a:ext>
              </a:extLst>
            </p:cNvPr>
            <p:cNvSpPr/>
            <p:nvPr/>
          </p:nvSpPr>
          <p:spPr>
            <a:xfrm>
              <a:off x="6922733"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9" name="Straight Arrow Connector 8">
              <a:extLst>
                <a:ext uri="{FF2B5EF4-FFF2-40B4-BE49-F238E27FC236}">
                  <a16:creationId xmlns:a16="http://schemas.microsoft.com/office/drawing/2014/main" id="{099C7368-81B3-1B41-0A56-8A7E3A377836}"/>
                </a:ext>
              </a:extLst>
            </p:cNvPr>
            <p:cNvCxnSpPr>
              <a:stCxn id="7" idx="6"/>
              <a:endCxn id="8" idx="2"/>
            </p:cNvCxnSpPr>
            <p:nvPr/>
          </p:nvCxnSpPr>
          <p:spPr>
            <a:xfrm>
              <a:off x="4791353" y="349567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ED4F86C6-8BD2-9B58-7AC2-38C2E7F3D463}"/>
                </a:ext>
              </a:extLst>
            </p:cNvPr>
            <p:cNvSpPr txBox="1"/>
            <p:nvPr/>
          </p:nvSpPr>
          <p:spPr>
            <a:xfrm>
              <a:off x="3431946" y="3172511"/>
              <a:ext cx="990758" cy="646331"/>
            </a:xfrm>
            <a:prstGeom prst="rect">
              <a:avLst/>
            </a:prstGeom>
            <a:noFill/>
          </p:spPr>
          <p:txBody>
            <a:bodyPr wrap="square" rtlCol="0">
              <a:spAutoFit/>
            </a:bodyPr>
            <a:lstStyle/>
            <a:p>
              <a:pPr algn="r"/>
              <a:r>
                <a:rPr lang="de-DE" noProof="0" dirty="0">
                  <a:solidFill>
                    <a:srgbClr val="D0180A"/>
                  </a:solidFill>
                </a:rPr>
                <a:t>u</a:t>
              </a:r>
              <a:r>
                <a:rPr lang="en-SE" noProof="0" dirty="0">
                  <a:solidFill>
                    <a:srgbClr val="D0180A"/>
                  </a:solidFill>
                </a:rPr>
                <a:t>se of GenAI</a:t>
              </a:r>
              <a:endParaRPr lang="en-US" noProof="0" dirty="0">
                <a:solidFill>
                  <a:srgbClr val="D0180A"/>
                </a:solidFill>
              </a:endParaRPr>
            </a:p>
          </p:txBody>
        </p:sp>
        <p:sp>
          <p:nvSpPr>
            <p:cNvPr id="11" name="TextBox 10">
              <a:extLst>
                <a:ext uri="{FF2B5EF4-FFF2-40B4-BE49-F238E27FC236}">
                  <a16:creationId xmlns:a16="http://schemas.microsoft.com/office/drawing/2014/main" id="{D041CBCA-6C1A-427A-DAAB-93E0AF3E95C8}"/>
                </a:ext>
              </a:extLst>
            </p:cNvPr>
            <p:cNvSpPr txBox="1"/>
            <p:nvPr/>
          </p:nvSpPr>
          <p:spPr>
            <a:xfrm>
              <a:off x="6479613" y="3735103"/>
              <a:ext cx="1362937" cy="369332"/>
            </a:xfrm>
            <a:prstGeom prst="rect">
              <a:avLst/>
            </a:prstGeom>
            <a:noFill/>
          </p:spPr>
          <p:txBody>
            <a:bodyPr wrap="none" rtlCol="0">
              <a:spAutoFit/>
            </a:bodyPr>
            <a:lstStyle/>
            <a:p>
              <a:r>
                <a:rPr lang="en-SE" noProof="0" dirty="0">
                  <a:solidFill>
                    <a:srgbClr val="006D70"/>
                  </a:solidFill>
                </a:rPr>
                <a:t>productivity</a:t>
              </a:r>
              <a:endParaRPr lang="en-US" noProof="0" dirty="0">
                <a:solidFill>
                  <a:srgbClr val="006D70"/>
                </a:solidFill>
              </a:endParaRPr>
            </a:p>
          </p:txBody>
        </p:sp>
        <p:sp>
          <p:nvSpPr>
            <p:cNvPr id="12" name="Oval 11">
              <a:extLst>
                <a:ext uri="{FF2B5EF4-FFF2-40B4-BE49-F238E27FC236}">
                  <a16:creationId xmlns:a16="http://schemas.microsoft.com/office/drawing/2014/main" id="{4464040D-2623-69D4-0AD4-70AE3FC18284}"/>
                </a:ext>
              </a:extLst>
            </p:cNvPr>
            <p:cNvSpPr/>
            <p:nvPr/>
          </p:nvSpPr>
          <p:spPr>
            <a:xfrm>
              <a:off x="4431353" y="4091330"/>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sp>
          <p:nvSpPr>
            <p:cNvPr id="13" name="Oval 12">
              <a:extLst>
                <a:ext uri="{FF2B5EF4-FFF2-40B4-BE49-F238E27FC236}">
                  <a16:creationId xmlns:a16="http://schemas.microsoft.com/office/drawing/2014/main" id="{C00F527C-ED49-FD7B-799E-48DB77636204}"/>
                </a:ext>
              </a:extLst>
            </p:cNvPr>
            <p:cNvSpPr/>
            <p:nvPr/>
          </p:nvSpPr>
          <p:spPr>
            <a:xfrm>
              <a:off x="5676494" y="4091330"/>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a</a:t>
              </a:r>
              <a:endParaRPr lang="en-US" noProof="0" dirty="0">
                <a:solidFill>
                  <a:schemeClr val="tx1">
                    <a:lumMod val="50000"/>
                    <a:lumOff val="50000"/>
                  </a:schemeClr>
                </a:solidFill>
              </a:endParaRPr>
            </a:p>
          </p:txBody>
        </p:sp>
        <p:sp>
          <p:nvSpPr>
            <p:cNvPr id="14" name="TextBox 13">
              <a:extLst>
                <a:ext uri="{FF2B5EF4-FFF2-40B4-BE49-F238E27FC236}">
                  <a16:creationId xmlns:a16="http://schemas.microsoft.com/office/drawing/2014/main" id="{360633A6-5831-AF57-08BC-55EE1204E33F}"/>
                </a:ext>
              </a:extLst>
            </p:cNvPr>
            <p:cNvSpPr txBox="1"/>
            <p:nvPr/>
          </p:nvSpPr>
          <p:spPr>
            <a:xfrm>
              <a:off x="6036494" y="4081998"/>
              <a:ext cx="1246239" cy="369332"/>
            </a:xfrm>
            <a:prstGeom prst="rect">
              <a:avLst/>
            </a:prstGeom>
            <a:noFill/>
          </p:spPr>
          <p:txBody>
            <a:bodyPr wrap="none" rtlCol="0">
              <a:spAutoFit/>
            </a:bodyPr>
            <a:lstStyle/>
            <a:p>
              <a:r>
                <a:rPr lang="en-US" noProof="0" dirty="0">
                  <a:solidFill>
                    <a:schemeClr val="tx1">
                      <a:lumMod val="65000"/>
                      <a:lumOff val="35000"/>
                    </a:schemeClr>
                  </a:solidFill>
                </a:rPr>
                <a:t>motivation</a:t>
              </a:r>
            </a:p>
          </p:txBody>
        </p:sp>
        <p:sp>
          <p:nvSpPr>
            <p:cNvPr id="15" name="TextBox 14">
              <a:extLst>
                <a:ext uri="{FF2B5EF4-FFF2-40B4-BE49-F238E27FC236}">
                  <a16:creationId xmlns:a16="http://schemas.microsoft.com/office/drawing/2014/main" id="{66AD94B4-C051-099F-5E30-7988765BD9E1}"/>
                </a:ext>
              </a:extLst>
            </p:cNvPr>
            <p:cNvSpPr txBox="1"/>
            <p:nvPr/>
          </p:nvSpPr>
          <p:spPr>
            <a:xfrm>
              <a:off x="2956199" y="3943498"/>
              <a:ext cx="1432387" cy="646331"/>
            </a:xfrm>
            <a:prstGeom prst="rect">
              <a:avLst/>
            </a:prstGeom>
            <a:noFill/>
          </p:spPr>
          <p:txBody>
            <a:bodyPr wrap="square" rtlCol="0">
              <a:spAutoFit/>
            </a:bodyPr>
            <a:lstStyle/>
            <a:p>
              <a:pPr algn="r"/>
              <a:r>
                <a:rPr lang="en-SE" noProof="0" dirty="0">
                  <a:solidFill>
                    <a:schemeClr val="tx1">
                      <a:lumMod val="65000"/>
                      <a:lumOff val="35000"/>
                    </a:schemeClr>
                  </a:solidFill>
                </a:rPr>
                <a:t>GenAI experience</a:t>
              </a:r>
              <a:endParaRPr lang="en-US" noProof="0" dirty="0">
                <a:solidFill>
                  <a:schemeClr val="tx1">
                    <a:lumMod val="65000"/>
                    <a:lumOff val="35000"/>
                  </a:schemeClr>
                </a:solidFill>
              </a:endParaRPr>
            </a:p>
          </p:txBody>
        </p:sp>
        <p:cxnSp>
          <p:nvCxnSpPr>
            <p:cNvPr id="16" name="Straight Arrow Connector 15">
              <a:extLst>
                <a:ext uri="{FF2B5EF4-FFF2-40B4-BE49-F238E27FC236}">
                  <a16:creationId xmlns:a16="http://schemas.microsoft.com/office/drawing/2014/main" id="{B33A48F5-EF43-4DDB-4710-E95ECF6B88AB}"/>
                </a:ext>
              </a:extLst>
            </p:cNvPr>
            <p:cNvCxnSpPr>
              <a:cxnSpLocks/>
              <a:stCxn id="13" idx="7"/>
              <a:endCxn id="8" idx="3"/>
            </p:cNvCxnSpPr>
            <p:nvPr/>
          </p:nvCxnSpPr>
          <p:spPr>
            <a:xfrm flipV="1">
              <a:off x="5983773" y="3622956"/>
              <a:ext cx="991681"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2D0DC7DF-AF5B-F9A2-78AC-54FDB501E6A7}"/>
                </a:ext>
              </a:extLst>
            </p:cNvPr>
            <p:cNvCxnSpPr>
              <a:cxnSpLocks/>
              <a:stCxn id="13" idx="2"/>
              <a:endCxn id="12" idx="6"/>
            </p:cNvCxnSpPr>
            <p:nvPr/>
          </p:nvCxnSpPr>
          <p:spPr>
            <a:xfrm flipH="1">
              <a:off x="4791353" y="4271330"/>
              <a:ext cx="88514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56AA6BE2-3F3B-4B61-2429-604D29336792}"/>
                </a:ext>
              </a:extLst>
            </p:cNvPr>
            <p:cNvCxnSpPr>
              <a:cxnSpLocks/>
              <a:stCxn id="12" idx="0"/>
              <a:endCxn id="7" idx="4"/>
            </p:cNvCxnSpPr>
            <p:nvPr/>
          </p:nvCxnSpPr>
          <p:spPr>
            <a:xfrm flipV="1">
              <a:off x="4611353" y="3675677"/>
              <a:ext cx="0" cy="41565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8D848CA0-C724-D98F-5216-373095A61E5F}"/>
                </a:ext>
              </a:extLst>
            </p:cNvPr>
            <p:cNvCxnSpPr>
              <a:cxnSpLocks/>
              <a:stCxn id="13" idx="1"/>
              <a:endCxn id="7" idx="5"/>
            </p:cNvCxnSpPr>
            <p:nvPr/>
          </p:nvCxnSpPr>
          <p:spPr>
            <a:xfrm flipH="1" flipV="1">
              <a:off x="4738632" y="3622956"/>
              <a:ext cx="990583"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0" name="Oval 19">
              <a:extLst>
                <a:ext uri="{FF2B5EF4-FFF2-40B4-BE49-F238E27FC236}">
                  <a16:creationId xmlns:a16="http://schemas.microsoft.com/office/drawing/2014/main" id="{FB2222C6-A834-E80F-0DF5-C6A1B7B89948}"/>
                </a:ext>
              </a:extLst>
            </p:cNvPr>
            <p:cNvSpPr/>
            <p:nvPr/>
          </p:nvSpPr>
          <p:spPr>
            <a:xfrm>
              <a:off x="5676668" y="2526255"/>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b</a:t>
              </a:r>
              <a:endParaRPr lang="en-US" noProof="0" dirty="0">
                <a:solidFill>
                  <a:schemeClr val="tx1">
                    <a:lumMod val="50000"/>
                    <a:lumOff val="50000"/>
                  </a:schemeClr>
                </a:solidFill>
              </a:endParaRPr>
            </a:p>
          </p:txBody>
        </p:sp>
        <p:sp>
          <p:nvSpPr>
            <p:cNvPr id="21" name="TextBox 20">
              <a:extLst>
                <a:ext uri="{FF2B5EF4-FFF2-40B4-BE49-F238E27FC236}">
                  <a16:creationId xmlns:a16="http://schemas.microsoft.com/office/drawing/2014/main" id="{6B9867DE-4557-0A8D-3651-E95B0FA9FE04}"/>
                </a:ext>
              </a:extLst>
            </p:cNvPr>
            <p:cNvSpPr txBox="1"/>
            <p:nvPr/>
          </p:nvSpPr>
          <p:spPr>
            <a:xfrm>
              <a:off x="6045317" y="2256901"/>
              <a:ext cx="1534838" cy="646331"/>
            </a:xfrm>
            <a:prstGeom prst="rect">
              <a:avLst/>
            </a:prstGeom>
            <a:noFill/>
          </p:spPr>
          <p:txBody>
            <a:bodyPr wrap="square" rtlCol="0">
              <a:spAutoFit/>
            </a:bodyPr>
            <a:lstStyle/>
            <a:p>
              <a:r>
                <a:rPr lang="en-SE" noProof="0" dirty="0">
                  <a:solidFill>
                    <a:schemeClr val="tx1">
                      <a:lumMod val="65000"/>
                      <a:lumOff val="35000"/>
                    </a:schemeClr>
                  </a:solidFill>
                </a:rPr>
                <a:t>IDE’s user experience</a:t>
              </a:r>
              <a:endParaRPr lang="en-US" noProof="0" dirty="0">
                <a:solidFill>
                  <a:schemeClr val="tx1">
                    <a:lumMod val="65000"/>
                    <a:lumOff val="35000"/>
                  </a:schemeClr>
                </a:solidFill>
              </a:endParaRPr>
            </a:p>
          </p:txBody>
        </p:sp>
        <p:cxnSp>
          <p:nvCxnSpPr>
            <p:cNvPr id="22" name="Straight Arrow Connector 21">
              <a:extLst>
                <a:ext uri="{FF2B5EF4-FFF2-40B4-BE49-F238E27FC236}">
                  <a16:creationId xmlns:a16="http://schemas.microsoft.com/office/drawing/2014/main" id="{BAA977B7-AD67-218B-C976-35B5D7ABB2A2}"/>
                </a:ext>
              </a:extLst>
            </p:cNvPr>
            <p:cNvCxnSpPr>
              <a:cxnSpLocks/>
              <a:stCxn id="7" idx="7"/>
              <a:endCxn id="20" idx="3"/>
            </p:cNvCxnSpPr>
            <p:nvPr/>
          </p:nvCxnSpPr>
          <p:spPr>
            <a:xfrm flipV="1">
              <a:off x="4738632" y="2833534"/>
              <a:ext cx="99075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793DC74B-E94A-D1D9-9C51-61A812413565}"/>
                </a:ext>
              </a:extLst>
            </p:cNvPr>
            <p:cNvCxnSpPr>
              <a:cxnSpLocks/>
              <a:stCxn id="20" idx="5"/>
              <a:endCxn id="8" idx="1"/>
            </p:cNvCxnSpPr>
            <p:nvPr/>
          </p:nvCxnSpPr>
          <p:spPr>
            <a:xfrm>
              <a:off x="5983947" y="2833534"/>
              <a:ext cx="99150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24" name="Group 23">
            <a:extLst>
              <a:ext uri="{FF2B5EF4-FFF2-40B4-BE49-F238E27FC236}">
                <a16:creationId xmlns:a16="http://schemas.microsoft.com/office/drawing/2014/main" id="{16CAA08E-B0DB-242A-5267-96DE4158F592}"/>
              </a:ext>
            </a:extLst>
          </p:cNvPr>
          <p:cNvGrpSpPr/>
          <p:nvPr/>
        </p:nvGrpSpPr>
        <p:grpSpPr>
          <a:xfrm>
            <a:off x="5991704" y="3333809"/>
            <a:ext cx="4886351" cy="2332928"/>
            <a:chOff x="2956199" y="2256901"/>
            <a:chExt cx="4886351" cy="2332928"/>
          </a:xfrm>
        </p:grpSpPr>
        <p:sp>
          <p:nvSpPr>
            <p:cNvPr id="25" name="Oval 24">
              <a:extLst>
                <a:ext uri="{FF2B5EF4-FFF2-40B4-BE49-F238E27FC236}">
                  <a16:creationId xmlns:a16="http://schemas.microsoft.com/office/drawing/2014/main" id="{111F2682-230C-819B-D15D-88285F4C46A8}"/>
                </a:ext>
              </a:extLst>
            </p:cNvPr>
            <p:cNvSpPr/>
            <p:nvPr/>
          </p:nvSpPr>
          <p:spPr>
            <a:xfrm>
              <a:off x="4431353"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26" name="Oval 25">
              <a:extLst>
                <a:ext uri="{FF2B5EF4-FFF2-40B4-BE49-F238E27FC236}">
                  <a16:creationId xmlns:a16="http://schemas.microsoft.com/office/drawing/2014/main" id="{5230E7AB-3CBD-54CC-4262-23ACEB691A81}"/>
                </a:ext>
              </a:extLst>
            </p:cNvPr>
            <p:cNvSpPr/>
            <p:nvPr/>
          </p:nvSpPr>
          <p:spPr>
            <a:xfrm>
              <a:off x="6922733"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27" name="Straight Arrow Connector 26">
              <a:extLst>
                <a:ext uri="{FF2B5EF4-FFF2-40B4-BE49-F238E27FC236}">
                  <a16:creationId xmlns:a16="http://schemas.microsoft.com/office/drawing/2014/main" id="{A7AA5C89-CC06-6E9E-8AE3-4F6ED331090E}"/>
                </a:ext>
              </a:extLst>
            </p:cNvPr>
            <p:cNvCxnSpPr>
              <a:stCxn id="25" idx="6"/>
              <a:endCxn id="26" idx="2"/>
            </p:cNvCxnSpPr>
            <p:nvPr/>
          </p:nvCxnSpPr>
          <p:spPr>
            <a:xfrm>
              <a:off x="4791353" y="349567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8" name="TextBox 27">
              <a:extLst>
                <a:ext uri="{FF2B5EF4-FFF2-40B4-BE49-F238E27FC236}">
                  <a16:creationId xmlns:a16="http://schemas.microsoft.com/office/drawing/2014/main" id="{1431242D-76A9-BC4B-F6EC-D0A49068FE75}"/>
                </a:ext>
              </a:extLst>
            </p:cNvPr>
            <p:cNvSpPr txBox="1"/>
            <p:nvPr/>
          </p:nvSpPr>
          <p:spPr>
            <a:xfrm>
              <a:off x="3431946" y="3172511"/>
              <a:ext cx="990758" cy="646331"/>
            </a:xfrm>
            <a:prstGeom prst="rect">
              <a:avLst/>
            </a:prstGeom>
            <a:noFill/>
          </p:spPr>
          <p:txBody>
            <a:bodyPr wrap="square" rtlCol="0">
              <a:spAutoFit/>
            </a:bodyPr>
            <a:lstStyle/>
            <a:p>
              <a:pPr algn="r"/>
              <a:r>
                <a:rPr lang="de-DE" noProof="0" dirty="0">
                  <a:solidFill>
                    <a:srgbClr val="D0180A"/>
                  </a:solidFill>
                </a:rPr>
                <a:t>u</a:t>
              </a:r>
              <a:r>
                <a:rPr lang="en-SE" noProof="0" dirty="0">
                  <a:solidFill>
                    <a:srgbClr val="D0180A"/>
                  </a:solidFill>
                </a:rPr>
                <a:t>se of GenAI</a:t>
              </a:r>
              <a:endParaRPr lang="en-US" noProof="0" dirty="0">
                <a:solidFill>
                  <a:srgbClr val="D0180A"/>
                </a:solidFill>
              </a:endParaRPr>
            </a:p>
          </p:txBody>
        </p:sp>
        <p:sp>
          <p:nvSpPr>
            <p:cNvPr id="29" name="TextBox 28">
              <a:extLst>
                <a:ext uri="{FF2B5EF4-FFF2-40B4-BE49-F238E27FC236}">
                  <a16:creationId xmlns:a16="http://schemas.microsoft.com/office/drawing/2014/main" id="{111CBDFB-2BBA-3645-F76E-BE9941E89F99}"/>
                </a:ext>
              </a:extLst>
            </p:cNvPr>
            <p:cNvSpPr txBox="1"/>
            <p:nvPr/>
          </p:nvSpPr>
          <p:spPr>
            <a:xfrm>
              <a:off x="6479613" y="3735103"/>
              <a:ext cx="1362937" cy="369332"/>
            </a:xfrm>
            <a:prstGeom prst="rect">
              <a:avLst/>
            </a:prstGeom>
            <a:noFill/>
          </p:spPr>
          <p:txBody>
            <a:bodyPr wrap="none" rtlCol="0">
              <a:spAutoFit/>
            </a:bodyPr>
            <a:lstStyle/>
            <a:p>
              <a:r>
                <a:rPr lang="en-SE" noProof="0" dirty="0">
                  <a:solidFill>
                    <a:srgbClr val="006D70"/>
                  </a:solidFill>
                </a:rPr>
                <a:t>productivity</a:t>
              </a:r>
              <a:endParaRPr lang="en-US" noProof="0" dirty="0">
                <a:solidFill>
                  <a:srgbClr val="006D70"/>
                </a:solidFill>
              </a:endParaRPr>
            </a:p>
          </p:txBody>
        </p:sp>
        <p:sp>
          <p:nvSpPr>
            <p:cNvPr id="30" name="Oval 29">
              <a:extLst>
                <a:ext uri="{FF2B5EF4-FFF2-40B4-BE49-F238E27FC236}">
                  <a16:creationId xmlns:a16="http://schemas.microsoft.com/office/drawing/2014/main" id="{C733D609-1D33-7A7C-94D9-E2C3D32F0C4D}"/>
                </a:ext>
              </a:extLst>
            </p:cNvPr>
            <p:cNvSpPr/>
            <p:nvPr/>
          </p:nvSpPr>
          <p:spPr>
            <a:xfrm>
              <a:off x="4431353" y="4091330"/>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sp>
          <p:nvSpPr>
            <p:cNvPr id="31" name="Oval 30">
              <a:extLst>
                <a:ext uri="{FF2B5EF4-FFF2-40B4-BE49-F238E27FC236}">
                  <a16:creationId xmlns:a16="http://schemas.microsoft.com/office/drawing/2014/main" id="{71853537-7B68-BBC9-536B-42C0A33EC3E9}"/>
                </a:ext>
              </a:extLst>
            </p:cNvPr>
            <p:cNvSpPr/>
            <p:nvPr/>
          </p:nvSpPr>
          <p:spPr>
            <a:xfrm>
              <a:off x="5676494" y="4091330"/>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a</a:t>
              </a:r>
              <a:endParaRPr lang="en-US" noProof="0" dirty="0">
                <a:solidFill>
                  <a:schemeClr val="tx1">
                    <a:lumMod val="50000"/>
                    <a:lumOff val="50000"/>
                  </a:schemeClr>
                </a:solidFill>
              </a:endParaRPr>
            </a:p>
          </p:txBody>
        </p:sp>
        <p:sp>
          <p:nvSpPr>
            <p:cNvPr id="32" name="TextBox 31">
              <a:extLst>
                <a:ext uri="{FF2B5EF4-FFF2-40B4-BE49-F238E27FC236}">
                  <a16:creationId xmlns:a16="http://schemas.microsoft.com/office/drawing/2014/main" id="{887BD452-F7E9-5A04-AF17-C50DDC292336}"/>
                </a:ext>
              </a:extLst>
            </p:cNvPr>
            <p:cNvSpPr txBox="1"/>
            <p:nvPr/>
          </p:nvSpPr>
          <p:spPr>
            <a:xfrm>
              <a:off x="6036494" y="4081998"/>
              <a:ext cx="1246239" cy="369332"/>
            </a:xfrm>
            <a:prstGeom prst="rect">
              <a:avLst/>
            </a:prstGeom>
            <a:noFill/>
          </p:spPr>
          <p:txBody>
            <a:bodyPr wrap="none" rtlCol="0">
              <a:spAutoFit/>
            </a:bodyPr>
            <a:lstStyle/>
            <a:p>
              <a:r>
                <a:rPr lang="en-US" noProof="0" dirty="0">
                  <a:solidFill>
                    <a:schemeClr val="tx1">
                      <a:lumMod val="65000"/>
                      <a:lumOff val="35000"/>
                    </a:schemeClr>
                  </a:solidFill>
                </a:rPr>
                <a:t>motivation</a:t>
              </a:r>
            </a:p>
          </p:txBody>
        </p:sp>
        <p:sp>
          <p:nvSpPr>
            <p:cNvPr id="33" name="TextBox 32">
              <a:extLst>
                <a:ext uri="{FF2B5EF4-FFF2-40B4-BE49-F238E27FC236}">
                  <a16:creationId xmlns:a16="http://schemas.microsoft.com/office/drawing/2014/main" id="{88271AFB-B9AF-61BB-6803-A86D528C4A4C}"/>
                </a:ext>
              </a:extLst>
            </p:cNvPr>
            <p:cNvSpPr txBox="1"/>
            <p:nvPr/>
          </p:nvSpPr>
          <p:spPr>
            <a:xfrm>
              <a:off x="2956199" y="3943498"/>
              <a:ext cx="1432387" cy="646331"/>
            </a:xfrm>
            <a:prstGeom prst="rect">
              <a:avLst/>
            </a:prstGeom>
            <a:noFill/>
          </p:spPr>
          <p:txBody>
            <a:bodyPr wrap="square" rtlCol="0">
              <a:spAutoFit/>
            </a:bodyPr>
            <a:lstStyle/>
            <a:p>
              <a:pPr algn="r"/>
              <a:r>
                <a:rPr lang="en-SE" noProof="0" dirty="0">
                  <a:solidFill>
                    <a:schemeClr val="tx1">
                      <a:lumMod val="65000"/>
                      <a:lumOff val="35000"/>
                    </a:schemeClr>
                  </a:solidFill>
                </a:rPr>
                <a:t>GenAI experience</a:t>
              </a:r>
              <a:endParaRPr lang="en-US" noProof="0" dirty="0">
                <a:solidFill>
                  <a:schemeClr val="tx1">
                    <a:lumMod val="65000"/>
                    <a:lumOff val="35000"/>
                  </a:schemeClr>
                </a:solidFill>
              </a:endParaRPr>
            </a:p>
          </p:txBody>
        </p:sp>
        <p:cxnSp>
          <p:nvCxnSpPr>
            <p:cNvPr id="34" name="Straight Arrow Connector 33">
              <a:extLst>
                <a:ext uri="{FF2B5EF4-FFF2-40B4-BE49-F238E27FC236}">
                  <a16:creationId xmlns:a16="http://schemas.microsoft.com/office/drawing/2014/main" id="{5A9266D6-C2A7-69EE-067F-46FFD795643D}"/>
                </a:ext>
              </a:extLst>
            </p:cNvPr>
            <p:cNvCxnSpPr>
              <a:cxnSpLocks/>
              <a:stCxn id="31" idx="7"/>
              <a:endCxn id="26" idx="3"/>
            </p:cNvCxnSpPr>
            <p:nvPr/>
          </p:nvCxnSpPr>
          <p:spPr>
            <a:xfrm flipV="1">
              <a:off x="5983773" y="3622956"/>
              <a:ext cx="991681"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BCF37FD2-3EE9-DC3A-134A-8757FAAC3650}"/>
                </a:ext>
              </a:extLst>
            </p:cNvPr>
            <p:cNvCxnSpPr>
              <a:cxnSpLocks/>
              <a:stCxn id="31" idx="2"/>
              <a:endCxn id="30" idx="6"/>
            </p:cNvCxnSpPr>
            <p:nvPr/>
          </p:nvCxnSpPr>
          <p:spPr>
            <a:xfrm flipH="1">
              <a:off x="4791353" y="4271330"/>
              <a:ext cx="88514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8" name="Oval 37">
              <a:extLst>
                <a:ext uri="{FF2B5EF4-FFF2-40B4-BE49-F238E27FC236}">
                  <a16:creationId xmlns:a16="http://schemas.microsoft.com/office/drawing/2014/main" id="{5ABC499C-0DD7-8472-418D-6F33F753C21C}"/>
                </a:ext>
              </a:extLst>
            </p:cNvPr>
            <p:cNvSpPr/>
            <p:nvPr/>
          </p:nvSpPr>
          <p:spPr>
            <a:xfrm>
              <a:off x="5676668" y="2526255"/>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b</a:t>
              </a:r>
              <a:endParaRPr lang="en-US" noProof="0" dirty="0">
                <a:solidFill>
                  <a:schemeClr val="tx1">
                    <a:lumMod val="50000"/>
                    <a:lumOff val="50000"/>
                  </a:schemeClr>
                </a:solidFill>
              </a:endParaRPr>
            </a:p>
          </p:txBody>
        </p:sp>
        <p:sp>
          <p:nvSpPr>
            <p:cNvPr id="39" name="TextBox 38">
              <a:extLst>
                <a:ext uri="{FF2B5EF4-FFF2-40B4-BE49-F238E27FC236}">
                  <a16:creationId xmlns:a16="http://schemas.microsoft.com/office/drawing/2014/main" id="{526DF075-D5E3-EA44-6AC4-ED6D0B21E677}"/>
                </a:ext>
              </a:extLst>
            </p:cNvPr>
            <p:cNvSpPr txBox="1"/>
            <p:nvPr/>
          </p:nvSpPr>
          <p:spPr>
            <a:xfrm>
              <a:off x="6045317" y="2256901"/>
              <a:ext cx="1534838" cy="646331"/>
            </a:xfrm>
            <a:prstGeom prst="rect">
              <a:avLst/>
            </a:prstGeom>
            <a:noFill/>
          </p:spPr>
          <p:txBody>
            <a:bodyPr wrap="square" rtlCol="0">
              <a:spAutoFit/>
            </a:bodyPr>
            <a:lstStyle/>
            <a:p>
              <a:r>
                <a:rPr lang="en-SE" noProof="0" dirty="0">
                  <a:solidFill>
                    <a:schemeClr val="tx1">
                      <a:lumMod val="65000"/>
                      <a:lumOff val="35000"/>
                    </a:schemeClr>
                  </a:solidFill>
                </a:rPr>
                <a:t>IDE’s user experience</a:t>
              </a:r>
              <a:endParaRPr lang="en-US" noProof="0" dirty="0">
                <a:solidFill>
                  <a:schemeClr val="tx1">
                    <a:lumMod val="65000"/>
                    <a:lumOff val="35000"/>
                  </a:schemeClr>
                </a:solidFill>
              </a:endParaRPr>
            </a:p>
          </p:txBody>
        </p:sp>
        <p:cxnSp>
          <p:nvCxnSpPr>
            <p:cNvPr id="40" name="Straight Arrow Connector 39">
              <a:extLst>
                <a:ext uri="{FF2B5EF4-FFF2-40B4-BE49-F238E27FC236}">
                  <a16:creationId xmlns:a16="http://schemas.microsoft.com/office/drawing/2014/main" id="{F62BAA2A-58F3-B836-6EA9-30F530E48E6E}"/>
                </a:ext>
              </a:extLst>
            </p:cNvPr>
            <p:cNvCxnSpPr>
              <a:cxnSpLocks/>
              <a:stCxn id="25" idx="7"/>
              <a:endCxn id="38" idx="3"/>
            </p:cNvCxnSpPr>
            <p:nvPr/>
          </p:nvCxnSpPr>
          <p:spPr>
            <a:xfrm flipV="1">
              <a:off x="4738632" y="2833534"/>
              <a:ext cx="99075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1" name="Straight Arrow Connector 40">
              <a:extLst>
                <a:ext uri="{FF2B5EF4-FFF2-40B4-BE49-F238E27FC236}">
                  <a16:creationId xmlns:a16="http://schemas.microsoft.com/office/drawing/2014/main" id="{8B244E67-E9F6-8923-0B0B-95EEBF4085A2}"/>
                </a:ext>
              </a:extLst>
            </p:cNvPr>
            <p:cNvCxnSpPr>
              <a:cxnSpLocks/>
              <a:stCxn id="38" idx="5"/>
              <a:endCxn id="26" idx="1"/>
            </p:cNvCxnSpPr>
            <p:nvPr/>
          </p:nvCxnSpPr>
          <p:spPr>
            <a:xfrm>
              <a:off x="5983947" y="2833534"/>
              <a:ext cx="99150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42" name="TextBox 41">
            <a:extLst>
              <a:ext uri="{FF2B5EF4-FFF2-40B4-BE49-F238E27FC236}">
                <a16:creationId xmlns:a16="http://schemas.microsoft.com/office/drawing/2014/main" id="{B11224D3-0998-88C5-D1ED-17ADE1C1E6C2}"/>
              </a:ext>
            </a:extLst>
          </p:cNvPr>
          <p:cNvSpPr txBox="1"/>
          <p:nvPr/>
        </p:nvSpPr>
        <p:spPr>
          <a:xfrm>
            <a:off x="2590999" y="3019444"/>
            <a:ext cx="2294987" cy="369332"/>
          </a:xfrm>
          <a:prstGeom prst="rect">
            <a:avLst/>
          </a:prstGeom>
          <a:noFill/>
        </p:spPr>
        <p:txBody>
          <a:bodyPr wrap="none" rtlCol="0">
            <a:spAutoFit/>
          </a:bodyPr>
          <a:lstStyle/>
          <a:p>
            <a:r>
              <a:rPr lang="de-DE" b="1" dirty="0"/>
              <a:t>O</a:t>
            </a:r>
            <a:r>
              <a:rPr lang="en-SE" b="1" dirty="0" err="1"/>
              <a:t>bservational</a:t>
            </a:r>
            <a:r>
              <a:rPr lang="en-SE" b="1" dirty="0"/>
              <a:t> study</a:t>
            </a:r>
          </a:p>
        </p:txBody>
      </p:sp>
      <p:sp>
        <p:nvSpPr>
          <p:cNvPr id="43" name="TextBox 42">
            <a:extLst>
              <a:ext uri="{FF2B5EF4-FFF2-40B4-BE49-F238E27FC236}">
                <a16:creationId xmlns:a16="http://schemas.microsoft.com/office/drawing/2014/main" id="{A0DE906C-ED71-D486-2687-7E5F6A229AAF}"/>
              </a:ext>
            </a:extLst>
          </p:cNvPr>
          <p:cNvSpPr txBox="1"/>
          <p:nvPr/>
        </p:nvSpPr>
        <p:spPr>
          <a:xfrm>
            <a:off x="7609917" y="3019444"/>
            <a:ext cx="2564163" cy="369332"/>
          </a:xfrm>
          <a:prstGeom prst="rect">
            <a:avLst/>
          </a:prstGeom>
          <a:noFill/>
        </p:spPr>
        <p:txBody>
          <a:bodyPr wrap="none" rtlCol="0">
            <a:spAutoFit/>
          </a:bodyPr>
          <a:lstStyle/>
          <a:p>
            <a:pPr algn="ctr"/>
            <a:r>
              <a:rPr lang="de-DE" b="1" dirty="0"/>
              <a:t>C</a:t>
            </a:r>
            <a:r>
              <a:rPr lang="en-SE" b="1" dirty="0" err="1"/>
              <a:t>ontrolled</a:t>
            </a:r>
            <a:r>
              <a:rPr lang="en-SE" b="1" dirty="0"/>
              <a:t> Experiment</a:t>
            </a:r>
          </a:p>
        </p:txBody>
      </p:sp>
      <p:grpSp>
        <p:nvGrpSpPr>
          <p:cNvPr id="47" name="Group 46">
            <a:extLst>
              <a:ext uri="{FF2B5EF4-FFF2-40B4-BE49-F238E27FC236}">
                <a16:creationId xmlns:a16="http://schemas.microsoft.com/office/drawing/2014/main" id="{0FA2A5CF-C6BC-171B-315F-020C45B13CB2}"/>
              </a:ext>
            </a:extLst>
          </p:cNvPr>
          <p:cNvGrpSpPr/>
          <p:nvPr/>
        </p:nvGrpSpPr>
        <p:grpSpPr>
          <a:xfrm>
            <a:off x="838198" y="365125"/>
            <a:ext cx="1983884" cy="245531"/>
            <a:chOff x="4114799" y="3759391"/>
            <a:chExt cx="1983884" cy="1229241"/>
          </a:xfrm>
        </p:grpSpPr>
        <p:sp>
          <p:nvSpPr>
            <p:cNvPr id="48" name="Arrow: Pentagon 47">
              <a:extLst>
                <a:ext uri="{FF2B5EF4-FFF2-40B4-BE49-F238E27FC236}">
                  <a16:creationId xmlns:a16="http://schemas.microsoft.com/office/drawing/2014/main" id="{E2560821-4B7C-F71C-895D-B871C584B444}"/>
                </a:ext>
              </a:extLst>
            </p:cNvPr>
            <p:cNvSpPr/>
            <p:nvPr/>
          </p:nvSpPr>
          <p:spPr>
            <a:xfrm>
              <a:off x="4114799" y="3759391"/>
              <a:ext cx="794039" cy="1229241"/>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sz="1400" dirty="0"/>
                <a:t>Theory</a:t>
              </a:r>
            </a:p>
          </p:txBody>
        </p:sp>
        <p:sp>
          <p:nvSpPr>
            <p:cNvPr id="49" name="Arrow: Chevron 48">
              <a:extLst>
                <a:ext uri="{FF2B5EF4-FFF2-40B4-BE49-F238E27FC236}">
                  <a16:creationId xmlns:a16="http://schemas.microsoft.com/office/drawing/2014/main" id="{D5DD8EFB-63D0-EF62-85B1-C205A0C00604}"/>
                </a:ext>
              </a:extLst>
            </p:cNvPr>
            <p:cNvSpPr/>
            <p:nvPr/>
          </p:nvSpPr>
          <p:spPr>
            <a:xfrm>
              <a:off x="4843616" y="3759391"/>
              <a:ext cx="1255067" cy="122924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sz="1400" dirty="0">
                  <a:solidFill>
                    <a:schemeClr val="tx1"/>
                  </a:solidFill>
                </a:rPr>
                <a:t>Use Case</a:t>
              </a:r>
            </a:p>
          </p:txBody>
        </p:sp>
      </p:grpSp>
    </p:spTree>
    <p:extLst>
      <p:ext uri="{BB962C8B-B14F-4D97-AF65-F5344CB8AC3E}">
        <p14:creationId xmlns:p14="http://schemas.microsoft.com/office/powerpoint/2010/main" val="6589365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96F52-B378-1394-5CAB-792564C1E93F}"/>
              </a:ext>
            </a:extLst>
          </p:cNvPr>
          <p:cNvSpPr>
            <a:spLocks noGrp="1"/>
          </p:cNvSpPr>
          <p:nvPr>
            <p:ph type="title"/>
          </p:nvPr>
        </p:nvSpPr>
        <p:spPr/>
        <p:txBody>
          <a:bodyPr/>
          <a:lstStyle/>
          <a:p>
            <a:r>
              <a:rPr lang="en-SE" dirty="0"/>
              <a:t>Types of Relationships</a:t>
            </a:r>
          </a:p>
        </p:txBody>
      </p:sp>
      <p:sp>
        <p:nvSpPr>
          <p:cNvPr id="3" name="Content Placeholder 2">
            <a:extLst>
              <a:ext uri="{FF2B5EF4-FFF2-40B4-BE49-F238E27FC236}">
                <a16:creationId xmlns:a16="http://schemas.microsoft.com/office/drawing/2014/main" id="{9444D3C4-2741-FAEA-7AC2-3C255861C53C}"/>
              </a:ext>
            </a:extLst>
          </p:cNvPr>
          <p:cNvSpPr>
            <a:spLocks noGrp="1"/>
          </p:cNvSpPr>
          <p:nvPr>
            <p:ph idx="1"/>
          </p:nvPr>
        </p:nvSpPr>
        <p:spPr>
          <a:xfrm>
            <a:off x="838200" y="1825625"/>
            <a:ext cx="10515600" cy="926540"/>
          </a:xfrm>
        </p:spPr>
        <p:txBody>
          <a:bodyPr/>
          <a:lstStyle/>
          <a:p>
            <a:pPr marL="0" indent="0">
              <a:buNone/>
            </a:pPr>
            <a:r>
              <a:rPr lang="en-SE" dirty="0"/>
              <a:t>When a DAG involves more than two variables, certain relationships can emerge:</a:t>
            </a:r>
          </a:p>
        </p:txBody>
      </p:sp>
      <p:sp>
        <p:nvSpPr>
          <p:cNvPr id="4" name="Date Placeholder 3">
            <a:extLst>
              <a:ext uri="{FF2B5EF4-FFF2-40B4-BE49-F238E27FC236}">
                <a16:creationId xmlns:a16="http://schemas.microsoft.com/office/drawing/2014/main" id="{57EBF0FE-A4B0-1AF0-48D3-7CA22C01A9B9}"/>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Slide Number Placeholder 4">
            <a:extLst>
              <a:ext uri="{FF2B5EF4-FFF2-40B4-BE49-F238E27FC236}">
                <a16:creationId xmlns:a16="http://schemas.microsoft.com/office/drawing/2014/main" id="{2D1E3C6D-89D8-1203-A128-1FE70A05F231}"/>
              </a:ext>
            </a:extLst>
          </p:cNvPr>
          <p:cNvSpPr>
            <a:spLocks noGrp="1"/>
          </p:cNvSpPr>
          <p:nvPr>
            <p:ph type="sldNum" sz="quarter" idx="12"/>
          </p:nvPr>
        </p:nvSpPr>
        <p:spPr/>
        <p:txBody>
          <a:bodyPr/>
          <a:lstStyle/>
          <a:p>
            <a:fld id="{271ECC92-9CDE-4EB3-B1C5-F46B9E1FA3C1}" type="slidenum">
              <a:rPr lang="en-SE" smtClean="0"/>
              <a:t>11</a:t>
            </a:fld>
            <a:endParaRPr lang="en-SE"/>
          </a:p>
        </p:txBody>
      </p:sp>
      <p:grpSp>
        <p:nvGrpSpPr>
          <p:cNvPr id="36" name="Group 35">
            <a:extLst>
              <a:ext uri="{FF2B5EF4-FFF2-40B4-BE49-F238E27FC236}">
                <a16:creationId xmlns:a16="http://schemas.microsoft.com/office/drawing/2014/main" id="{16BE65C5-BAB6-92A6-D29A-1C9FA4338307}"/>
              </a:ext>
            </a:extLst>
          </p:cNvPr>
          <p:cNvGrpSpPr/>
          <p:nvPr/>
        </p:nvGrpSpPr>
        <p:grpSpPr>
          <a:xfrm>
            <a:off x="1674676" y="2966913"/>
            <a:ext cx="2355863" cy="3200607"/>
            <a:chOff x="1175334" y="2966913"/>
            <a:chExt cx="2355863" cy="3200607"/>
          </a:xfrm>
        </p:grpSpPr>
        <p:grpSp>
          <p:nvGrpSpPr>
            <p:cNvPr id="9" name="Group 8">
              <a:extLst>
                <a:ext uri="{FF2B5EF4-FFF2-40B4-BE49-F238E27FC236}">
                  <a16:creationId xmlns:a16="http://schemas.microsoft.com/office/drawing/2014/main" id="{3BCB4412-F48D-00A8-A0C7-59534AFB78D0}"/>
                </a:ext>
              </a:extLst>
            </p:cNvPr>
            <p:cNvGrpSpPr/>
            <p:nvPr/>
          </p:nvGrpSpPr>
          <p:grpSpPr>
            <a:xfrm>
              <a:off x="1314591" y="3515395"/>
              <a:ext cx="2077351" cy="1016248"/>
              <a:chOff x="4775076" y="3315677"/>
              <a:chExt cx="2077351" cy="1016248"/>
            </a:xfrm>
          </p:grpSpPr>
          <p:sp>
            <p:nvSpPr>
              <p:cNvPr id="10" name="Oval 9">
                <a:extLst>
                  <a:ext uri="{FF2B5EF4-FFF2-40B4-BE49-F238E27FC236}">
                    <a16:creationId xmlns:a16="http://schemas.microsoft.com/office/drawing/2014/main" id="{B64FE94F-D12B-3D41-A5A9-2AE1EAC921A0}"/>
                  </a:ext>
                </a:extLst>
              </p:cNvPr>
              <p:cNvSpPr/>
              <p:nvPr/>
            </p:nvSpPr>
            <p:spPr>
              <a:xfrm>
                <a:off x="4775076"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11" name="Oval 10">
                <a:extLst>
                  <a:ext uri="{FF2B5EF4-FFF2-40B4-BE49-F238E27FC236}">
                    <a16:creationId xmlns:a16="http://schemas.microsoft.com/office/drawing/2014/main" id="{E50FC6EA-A2BB-D597-2D1D-C817A2F6EC48}"/>
                  </a:ext>
                </a:extLst>
              </p:cNvPr>
              <p:cNvSpPr/>
              <p:nvPr/>
            </p:nvSpPr>
            <p:spPr>
              <a:xfrm>
                <a:off x="6492427"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12" name="Straight Arrow Connector 11">
                <a:extLst>
                  <a:ext uri="{FF2B5EF4-FFF2-40B4-BE49-F238E27FC236}">
                    <a16:creationId xmlns:a16="http://schemas.microsoft.com/office/drawing/2014/main" id="{5AF66876-61A9-EF38-13C7-9F6E259F8501}"/>
                  </a:ext>
                </a:extLst>
              </p:cNvPr>
              <p:cNvCxnSpPr>
                <a:stCxn id="10" idx="6"/>
                <a:endCxn id="11" idx="2"/>
              </p:cNvCxnSpPr>
              <p:nvPr/>
            </p:nvCxnSpPr>
            <p:spPr>
              <a:xfrm>
                <a:off x="5135076" y="3495677"/>
                <a:ext cx="135735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4" name="Oval 13">
                <a:extLst>
                  <a:ext uri="{FF2B5EF4-FFF2-40B4-BE49-F238E27FC236}">
                    <a16:creationId xmlns:a16="http://schemas.microsoft.com/office/drawing/2014/main" id="{13DBE66E-892C-928A-80DB-68A14BA5F677}"/>
                  </a:ext>
                </a:extLst>
              </p:cNvPr>
              <p:cNvSpPr/>
              <p:nvPr/>
            </p:nvSpPr>
            <p:spPr>
              <a:xfrm>
                <a:off x="5635330" y="3971925"/>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cxnSp>
            <p:nvCxnSpPr>
              <p:cNvPr id="15" name="Straight Arrow Connector 14">
                <a:extLst>
                  <a:ext uri="{FF2B5EF4-FFF2-40B4-BE49-F238E27FC236}">
                    <a16:creationId xmlns:a16="http://schemas.microsoft.com/office/drawing/2014/main" id="{4EB37684-3A8B-D4D2-9F41-8E055274705E}"/>
                  </a:ext>
                </a:extLst>
              </p:cNvPr>
              <p:cNvCxnSpPr>
                <a:cxnSpLocks/>
                <a:stCxn id="14" idx="7"/>
                <a:endCxn id="11" idx="3"/>
              </p:cNvCxnSpPr>
              <p:nvPr/>
            </p:nvCxnSpPr>
            <p:spPr>
              <a:xfrm flipV="1">
                <a:off x="5942609" y="3622956"/>
                <a:ext cx="602539" cy="4016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FF9DA5B0-7B87-2907-4947-B79ADEF4BB0F}"/>
                  </a:ext>
                </a:extLst>
              </p:cNvPr>
              <p:cNvCxnSpPr>
                <a:cxnSpLocks/>
                <a:stCxn id="10" idx="5"/>
                <a:endCxn id="14" idx="1"/>
              </p:cNvCxnSpPr>
              <p:nvPr/>
            </p:nvCxnSpPr>
            <p:spPr>
              <a:xfrm>
                <a:off x="5082355" y="3622956"/>
                <a:ext cx="605696" cy="4016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34" name="TextBox 33">
              <a:extLst>
                <a:ext uri="{FF2B5EF4-FFF2-40B4-BE49-F238E27FC236}">
                  <a16:creationId xmlns:a16="http://schemas.microsoft.com/office/drawing/2014/main" id="{E9535487-4FB1-CDDA-6ABC-6CC5F0BA6AE4}"/>
                </a:ext>
              </a:extLst>
            </p:cNvPr>
            <p:cNvSpPr txBox="1"/>
            <p:nvPr/>
          </p:nvSpPr>
          <p:spPr>
            <a:xfrm>
              <a:off x="1676638" y="2966913"/>
              <a:ext cx="1353256" cy="400110"/>
            </a:xfrm>
            <a:prstGeom prst="rect">
              <a:avLst/>
            </a:prstGeom>
            <a:noFill/>
          </p:spPr>
          <p:txBody>
            <a:bodyPr wrap="none" rtlCol="0">
              <a:spAutoFit/>
            </a:bodyPr>
            <a:lstStyle/>
            <a:p>
              <a:pPr algn="ctr"/>
              <a:r>
                <a:rPr lang="en-SE" sz="2000" b="1" dirty="0"/>
                <a:t>Mediation</a:t>
              </a:r>
            </a:p>
          </p:txBody>
        </p:sp>
        <p:sp>
          <p:nvSpPr>
            <p:cNvPr id="35" name="TextBox 34">
              <a:extLst>
                <a:ext uri="{FF2B5EF4-FFF2-40B4-BE49-F238E27FC236}">
                  <a16:creationId xmlns:a16="http://schemas.microsoft.com/office/drawing/2014/main" id="{E06E7A17-D001-828D-7C8F-16B83D95C42A}"/>
                </a:ext>
              </a:extLst>
            </p:cNvPr>
            <p:cNvSpPr txBox="1"/>
            <p:nvPr/>
          </p:nvSpPr>
          <p:spPr>
            <a:xfrm>
              <a:off x="1175334" y="4690192"/>
              <a:ext cx="2355863" cy="1477328"/>
            </a:xfrm>
            <a:prstGeom prst="rect">
              <a:avLst/>
            </a:prstGeom>
            <a:noFill/>
          </p:spPr>
          <p:txBody>
            <a:bodyPr wrap="square" rtlCol="0">
              <a:spAutoFit/>
            </a:bodyPr>
            <a:lstStyle/>
            <a:p>
              <a:pPr algn="ctr"/>
              <a:r>
                <a:rPr lang="en-SE" dirty="0">
                  <a:solidFill>
                    <a:schemeClr val="tx1">
                      <a:lumMod val="65000"/>
                      <a:lumOff val="35000"/>
                    </a:schemeClr>
                  </a:solidFill>
                </a:rPr>
                <a:t>z</a:t>
              </a:r>
              <a:r>
                <a:rPr lang="en-SE" dirty="0"/>
                <a:t> </a:t>
              </a:r>
              <a:r>
                <a:rPr lang="en-SE" i="1" dirty="0"/>
                <a:t>mediates</a:t>
              </a:r>
              <a:r>
                <a:rPr lang="en-SE" dirty="0"/>
                <a:t> the effect of </a:t>
              </a:r>
              <a:r>
                <a:rPr lang="en-SE" dirty="0">
                  <a:solidFill>
                    <a:srgbClr val="C00000"/>
                  </a:solidFill>
                </a:rPr>
                <a:t>x</a:t>
              </a:r>
              <a:r>
                <a:rPr lang="en-SE" dirty="0"/>
                <a:t> on </a:t>
              </a:r>
              <a:r>
                <a:rPr lang="en-SE" dirty="0">
                  <a:solidFill>
                    <a:srgbClr val="006D70"/>
                  </a:solidFill>
                </a:rPr>
                <a:t>y</a:t>
              </a:r>
              <a:r>
                <a:rPr lang="en-SE" dirty="0"/>
                <a:t>. There is a direct (</a:t>
              </a:r>
              <a:r>
                <a:rPr lang="en-SE" dirty="0">
                  <a:solidFill>
                    <a:srgbClr val="C00000"/>
                  </a:solidFill>
                </a:rPr>
                <a:t>x </a:t>
              </a:r>
              <a:r>
                <a:rPr lang="en-SE" dirty="0"/>
                <a:t>→ </a:t>
              </a:r>
              <a:r>
                <a:rPr lang="en-SE" dirty="0">
                  <a:solidFill>
                    <a:srgbClr val="006D70"/>
                  </a:solidFill>
                </a:rPr>
                <a:t>y</a:t>
              </a:r>
              <a:r>
                <a:rPr lang="en-SE" dirty="0"/>
                <a:t>) and an indirect (</a:t>
              </a:r>
              <a:r>
                <a:rPr lang="en-SE" dirty="0">
                  <a:solidFill>
                    <a:srgbClr val="C00000"/>
                  </a:solidFill>
                </a:rPr>
                <a:t>x</a:t>
              </a:r>
              <a:r>
                <a:rPr lang="en-SE" dirty="0"/>
                <a:t> → </a:t>
              </a:r>
              <a:r>
                <a:rPr lang="en-SE" dirty="0">
                  <a:solidFill>
                    <a:schemeClr val="tx1">
                      <a:lumMod val="65000"/>
                      <a:lumOff val="35000"/>
                    </a:schemeClr>
                  </a:solidFill>
                </a:rPr>
                <a:t>z </a:t>
              </a:r>
              <a:r>
                <a:rPr lang="en-SE" dirty="0"/>
                <a:t>→ </a:t>
              </a:r>
              <a:r>
                <a:rPr lang="en-SE" dirty="0">
                  <a:solidFill>
                    <a:srgbClr val="006D70"/>
                  </a:solidFill>
                </a:rPr>
                <a:t>y</a:t>
              </a:r>
              <a:r>
                <a:rPr lang="en-SE" dirty="0"/>
                <a:t>) effect.</a:t>
              </a:r>
            </a:p>
          </p:txBody>
        </p:sp>
      </p:grpSp>
      <p:grpSp>
        <p:nvGrpSpPr>
          <p:cNvPr id="37" name="Group 36">
            <a:extLst>
              <a:ext uri="{FF2B5EF4-FFF2-40B4-BE49-F238E27FC236}">
                <a16:creationId xmlns:a16="http://schemas.microsoft.com/office/drawing/2014/main" id="{844D5AB8-2BB2-5D67-6DB2-EC76A993FE61}"/>
              </a:ext>
            </a:extLst>
          </p:cNvPr>
          <p:cNvGrpSpPr/>
          <p:nvPr/>
        </p:nvGrpSpPr>
        <p:grpSpPr>
          <a:xfrm>
            <a:off x="4866058" y="2966913"/>
            <a:ext cx="2459884" cy="3200607"/>
            <a:chOff x="1123324" y="2966913"/>
            <a:chExt cx="2459884" cy="3200607"/>
          </a:xfrm>
        </p:grpSpPr>
        <p:grpSp>
          <p:nvGrpSpPr>
            <p:cNvPr id="38" name="Group 37">
              <a:extLst>
                <a:ext uri="{FF2B5EF4-FFF2-40B4-BE49-F238E27FC236}">
                  <a16:creationId xmlns:a16="http://schemas.microsoft.com/office/drawing/2014/main" id="{BFB8F76A-4B9D-FEE4-7B1C-9575C5DF20F0}"/>
                </a:ext>
              </a:extLst>
            </p:cNvPr>
            <p:cNvGrpSpPr/>
            <p:nvPr/>
          </p:nvGrpSpPr>
          <p:grpSpPr>
            <a:xfrm>
              <a:off x="1314591" y="3515395"/>
              <a:ext cx="2077351" cy="1016248"/>
              <a:chOff x="4775076" y="3315677"/>
              <a:chExt cx="2077351" cy="1016248"/>
            </a:xfrm>
          </p:grpSpPr>
          <p:sp>
            <p:nvSpPr>
              <p:cNvPr id="41" name="Oval 40">
                <a:extLst>
                  <a:ext uri="{FF2B5EF4-FFF2-40B4-BE49-F238E27FC236}">
                    <a16:creationId xmlns:a16="http://schemas.microsoft.com/office/drawing/2014/main" id="{B74E8736-CD39-C3E3-4242-29306156D275}"/>
                  </a:ext>
                </a:extLst>
              </p:cNvPr>
              <p:cNvSpPr/>
              <p:nvPr/>
            </p:nvSpPr>
            <p:spPr>
              <a:xfrm>
                <a:off x="4775076"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42" name="Oval 41">
                <a:extLst>
                  <a:ext uri="{FF2B5EF4-FFF2-40B4-BE49-F238E27FC236}">
                    <a16:creationId xmlns:a16="http://schemas.microsoft.com/office/drawing/2014/main" id="{6B982906-28A7-FF79-1DB4-639FC008B516}"/>
                  </a:ext>
                </a:extLst>
              </p:cNvPr>
              <p:cNvSpPr/>
              <p:nvPr/>
            </p:nvSpPr>
            <p:spPr>
              <a:xfrm>
                <a:off x="6492427"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43" name="Straight Arrow Connector 42">
                <a:extLst>
                  <a:ext uri="{FF2B5EF4-FFF2-40B4-BE49-F238E27FC236}">
                    <a16:creationId xmlns:a16="http://schemas.microsoft.com/office/drawing/2014/main" id="{4F6EC02E-FFF8-14E1-B180-E6081CD30813}"/>
                  </a:ext>
                </a:extLst>
              </p:cNvPr>
              <p:cNvCxnSpPr>
                <a:stCxn id="41" idx="6"/>
                <a:endCxn id="42" idx="2"/>
              </p:cNvCxnSpPr>
              <p:nvPr/>
            </p:nvCxnSpPr>
            <p:spPr>
              <a:xfrm>
                <a:off x="5135076" y="3495677"/>
                <a:ext cx="135735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4" name="Oval 43">
                <a:extLst>
                  <a:ext uri="{FF2B5EF4-FFF2-40B4-BE49-F238E27FC236}">
                    <a16:creationId xmlns:a16="http://schemas.microsoft.com/office/drawing/2014/main" id="{27B5AA7B-8097-7DAB-BFA3-1D8F00D3DC0E}"/>
                  </a:ext>
                </a:extLst>
              </p:cNvPr>
              <p:cNvSpPr/>
              <p:nvPr/>
            </p:nvSpPr>
            <p:spPr>
              <a:xfrm>
                <a:off x="5635330" y="3971925"/>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cxnSp>
            <p:nvCxnSpPr>
              <p:cNvPr id="45" name="Straight Arrow Connector 44">
                <a:extLst>
                  <a:ext uri="{FF2B5EF4-FFF2-40B4-BE49-F238E27FC236}">
                    <a16:creationId xmlns:a16="http://schemas.microsoft.com/office/drawing/2014/main" id="{4B0DEBE4-0716-6FB7-F534-E47FFBEE6E91}"/>
                  </a:ext>
                </a:extLst>
              </p:cNvPr>
              <p:cNvCxnSpPr>
                <a:cxnSpLocks/>
                <a:stCxn id="44" idx="7"/>
                <a:endCxn id="42" idx="3"/>
              </p:cNvCxnSpPr>
              <p:nvPr/>
            </p:nvCxnSpPr>
            <p:spPr>
              <a:xfrm flipV="1">
                <a:off x="5942609" y="3622956"/>
                <a:ext cx="602539" cy="4016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6" name="Straight Arrow Connector 45">
                <a:extLst>
                  <a:ext uri="{FF2B5EF4-FFF2-40B4-BE49-F238E27FC236}">
                    <a16:creationId xmlns:a16="http://schemas.microsoft.com/office/drawing/2014/main" id="{D5EE27B8-36F6-9833-A4E6-F74CE35EC9BD}"/>
                  </a:ext>
                </a:extLst>
              </p:cNvPr>
              <p:cNvCxnSpPr>
                <a:cxnSpLocks/>
                <a:stCxn id="44" idx="1"/>
                <a:endCxn id="41" idx="5"/>
              </p:cNvCxnSpPr>
              <p:nvPr/>
            </p:nvCxnSpPr>
            <p:spPr>
              <a:xfrm flipH="1" flipV="1">
                <a:off x="5082355" y="3622956"/>
                <a:ext cx="605696" cy="4016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39" name="TextBox 38">
              <a:extLst>
                <a:ext uri="{FF2B5EF4-FFF2-40B4-BE49-F238E27FC236}">
                  <a16:creationId xmlns:a16="http://schemas.microsoft.com/office/drawing/2014/main" id="{F111C5C2-58CA-627E-8D83-C27BC9CD2A8E}"/>
                </a:ext>
              </a:extLst>
            </p:cNvPr>
            <p:cNvSpPr txBox="1"/>
            <p:nvPr/>
          </p:nvSpPr>
          <p:spPr>
            <a:xfrm>
              <a:off x="1506914" y="2966913"/>
              <a:ext cx="1692707" cy="400110"/>
            </a:xfrm>
            <a:prstGeom prst="rect">
              <a:avLst/>
            </a:prstGeom>
            <a:noFill/>
          </p:spPr>
          <p:txBody>
            <a:bodyPr wrap="none" rtlCol="0">
              <a:spAutoFit/>
            </a:bodyPr>
            <a:lstStyle/>
            <a:p>
              <a:pPr algn="ctr"/>
              <a:r>
                <a:rPr lang="en-SE" sz="2000" b="1" dirty="0"/>
                <a:t>Confounding</a:t>
              </a:r>
            </a:p>
          </p:txBody>
        </p:sp>
        <p:sp>
          <p:nvSpPr>
            <p:cNvPr id="40" name="TextBox 39">
              <a:extLst>
                <a:ext uri="{FF2B5EF4-FFF2-40B4-BE49-F238E27FC236}">
                  <a16:creationId xmlns:a16="http://schemas.microsoft.com/office/drawing/2014/main" id="{0FBD48B2-4A24-2255-0DCE-2414C1F7899E}"/>
                </a:ext>
              </a:extLst>
            </p:cNvPr>
            <p:cNvSpPr txBox="1"/>
            <p:nvPr/>
          </p:nvSpPr>
          <p:spPr>
            <a:xfrm>
              <a:off x="1123324" y="4690192"/>
              <a:ext cx="2459884" cy="1477328"/>
            </a:xfrm>
            <a:prstGeom prst="rect">
              <a:avLst/>
            </a:prstGeom>
            <a:noFill/>
          </p:spPr>
          <p:txBody>
            <a:bodyPr wrap="square" rtlCol="0">
              <a:spAutoFit/>
            </a:bodyPr>
            <a:lstStyle/>
            <a:p>
              <a:pPr algn="ctr"/>
              <a:r>
                <a:rPr lang="en-SE" dirty="0">
                  <a:solidFill>
                    <a:schemeClr val="tx1">
                      <a:lumMod val="65000"/>
                      <a:lumOff val="35000"/>
                    </a:schemeClr>
                  </a:solidFill>
                </a:rPr>
                <a:t>z</a:t>
              </a:r>
              <a:r>
                <a:rPr lang="en-SE" dirty="0"/>
                <a:t> </a:t>
              </a:r>
              <a:r>
                <a:rPr lang="en-SE" i="1" dirty="0"/>
                <a:t>confounds</a:t>
              </a:r>
              <a:r>
                <a:rPr lang="en-SE" dirty="0"/>
                <a:t> the effect of </a:t>
              </a:r>
              <a:r>
                <a:rPr lang="en-SE" dirty="0">
                  <a:solidFill>
                    <a:srgbClr val="C00000"/>
                  </a:solidFill>
                </a:rPr>
                <a:t>x</a:t>
              </a:r>
              <a:r>
                <a:rPr lang="en-SE" dirty="0"/>
                <a:t> on </a:t>
              </a:r>
              <a:r>
                <a:rPr lang="en-SE" dirty="0">
                  <a:solidFill>
                    <a:srgbClr val="006D70"/>
                  </a:solidFill>
                </a:rPr>
                <a:t>y</a:t>
              </a:r>
              <a:r>
                <a:rPr lang="en-SE" dirty="0"/>
                <a:t>. An observed effect (</a:t>
              </a:r>
              <a:r>
                <a:rPr lang="en-SE" dirty="0">
                  <a:solidFill>
                    <a:srgbClr val="C00000"/>
                  </a:solidFill>
                </a:rPr>
                <a:t>x </a:t>
              </a:r>
              <a:r>
                <a:rPr lang="en-SE" dirty="0"/>
                <a:t>→ </a:t>
              </a:r>
              <a:r>
                <a:rPr lang="en-SE" dirty="0">
                  <a:solidFill>
                    <a:srgbClr val="006D70"/>
                  </a:solidFill>
                </a:rPr>
                <a:t>y</a:t>
              </a:r>
              <a:r>
                <a:rPr lang="en-SE" dirty="0"/>
                <a:t>) might be caused by the confounder (</a:t>
              </a:r>
              <a:r>
                <a:rPr lang="en-SE" dirty="0">
                  <a:solidFill>
                    <a:srgbClr val="C00000"/>
                  </a:solidFill>
                </a:rPr>
                <a:t>x</a:t>
              </a:r>
              <a:r>
                <a:rPr lang="en-SE" dirty="0"/>
                <a:t> ← </a:t>
              </a:r>
              <a:r>
                <a:rPr lang="en-SE" dirty="0">
                  <a:solidFill>
                    <a:schemeClr val="tx1">
                      <a:lumMod val="65000"/>
                      <a:lumOff val="35000"/>
                    </a:schemeClr>
                  </a:solidFill>
                </a:rPr>
                <a:t>z </a:t>
              </a:r>
              <a:r>
                <a:rPr lang="en-SE" dirty="0"/>
                <a:t>→ </a:t>
              </a:r>
              <a:r>
                <a:rPr lang="en-SE" dirty="0">
                  <a:solidFill>
                    <a:srgbClr val="006D70"/>
                  </a:solidFill>
                </a:rPr>
                <a:t>y</a:t>
              </a:r>
              <a:r>
                <a:rPr lang="en-SE" dirty="0"/>
                <a:t>).</a:t>
              </a:r>
            </a:p>
          </p:txBody>
        </p:sp>
      </p:grpSp>
      <p:grpSp>
        <p:nvGrpSpPr>
          <p:cNvPr id="47" name="Group 46">
            <a:extLst>
              <a:ext uri="{FF2B5EF4-FFF2-40B4-BE49-F238E27FC236}">
                <a16:creationId xmlns:a16="http://schemas.microsoft.com/office/drawing/2014/main" id="{E65D4C89-2750-57D8-CBD3-134305571D5F}"/>
              </a:ext>
            </a:extLst>
          </p:cNvPr>
          <p:cNvGrpSpPr/>
          <p:nvPr/>
        </p:nvGrpSpPr>
        <p:grpSpPr>
          <a:xfrm>
            <a:off x="8155918" y="2966913"/>
            <a:ext cx="2355863" cy="2369610"/>
            <a:chOff x="1175334" y="2966913"/>
            <a:chExt cx="2355863" cy="2369610"/>
          </a:xfrm>
        </p:grpSpPr>
        <p:grpSp>
          <p:nvGrpSpPr>
            <p:cNvPr id="48" name="Group 47">
              <a:extLst>
                <a:ext uri="{FF2B5EF4-FFF2-40B4-BE49-F238E27FC236}">
                  <a16:creationId xmlns:a16="http://schemas.microsoft.com/office/drawing/2014/main" id="{890779AF-1A92-4D2F-A8B9-67EC487FBEF6}"/>
                </a:ext>
              </a:extLst>
            </p:cNvPr>
            <p:cNvGrpSpPr/>
            <p:nvPr/>
          </p:nvGrpSpPr>
          <p:grpSpPr>
            <a:xfrm>
              <a:off x="1314591" y="3515395"/>
              <a:ext cx="2077351" cy="1016248"/>
              <a:chOff x="4775076" y="3315677"/>
              <a:chExt cx="2077351" cy="1016248"/>
            </a:xfrm>
          </p:grpSpPr>
          <p:sp>
            <p:nvSpPr>
              <p:cNvPr id="51" name="Oval 50">
                <a:extLst>
                  <a:ext uri="{FF2B5EF4-FFF2-40B4-BE49-F238E27FC236}">
                    <a16:creationId xmlns:a16="http://schemas.microsoft.com/office/drawing/2014/main" id="{35484460-98A6-7F8C-A44F-CD5DD63B412B}"/>
                  </a:ext>
                </a:extLst>
              </p:cNvPr>
              <p:cNvSpPr/>
              <p:nvPr/>
            </p:nvSpPr>
            <p:spPr>
              <a:xfrm>
                <a:off x="4775076"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52" name="Oval 51">
                <a:extLst>
                  <a:ext uri="{FF2B5EF4-FFF2-40B4-BE49-F238E27FC236}">
                    <a16:creationId xmlns:a16="http://schemas.microsoft.com/office/drawing/2014/main" id="{712C398B-52E5-8629-0A85-874620CD5E8B}"/>
                  </a:ext>
                </a:extLst>
              </p:cNvPr>
              <p:cNvSpPr/>
              <p:nvPr/>
            </p:nvSpPr>
            <p:spPr>
              <a:xfrm>
                <a:off x="6492427"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53" name="Straight Arrow Connector 52">
                <a:extLst>
                  <a:ext uri="{FF2B5EF4-FFF2-40B4-BE49-F238E27FC236}">
                    <a16:creationId xmlns:a16="http://schemas.microsoft.com/office/drawing/2014/main" id="{7B8C3F01-14B3-C750-BCA7-532B5AFABAFC}"/>
                  </a:ext>
                </a:extLst>
              </p:cNvPr>
              <p:cNvCxnSpPr>
                <a:stCxn id="51" idx="6"/>
                <a:endCxn id="52" idx="2"/>
              </p:cNvCxnSpPr>
              <p:nvPr/>
            </p:nvCxnSpPr>
            <p:spPr>
              <a:xfrm>
                <a:off x="5135076" y="3495677"/>
                <a:ext cx="135735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4" name="Oval 53">
                <a:extLst>
                  <a:ext uri="{FF2B5EF4-FFF2-40B4-BE49-F238E27FC236}">
                    <a16:creationId xmlns:a16="http://schemas.microsoft.com/office/drawing/2014/main" id="{1D995665-E695-013D-3D0B-10CBE52B85D8}"/>
                  </a:ext>
                </a:extLst>
              </p:cNvPr>
              <p:cNvSpPr/>
              <p:nvPr/>
            </p:nvSpPr>
            <p:spPr>
              <a:xfrm>
                <a:off x="5635330" y="3971925"/>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cxnSp>
            <p:nvCxnSpPr>
              <p:cNvPr id="55" name="Straight Arrow Connector 54">
                <a:extLst>
                  <a:ext uri="{FF2B5EF4-FFF2-40B4-BE49-F238E27FC236}">
                    <a16:creationId xmlns:a16="http://schemas.microsoft.com/office/drawing/2014/main" id="{ED76C213-3713-35BC-23F8-884CEF53F69F}"/>
                  </a:ext>
                </a:extLst>
              </p:cNvPr>
              <p:cNvCxnSpPr>
                <a:cxnSpLocks/>
                <a:stCxn id="52" idx="3"/>
                <a:endCxn id="54" idx="7"/>
              </p:cNvCxnSpPr>
              <p:nvPr/>
            </p:nvCxnSpPr>
            <p:spPr>
              <a:xfrm flipH="1">
                <a:off x="5942609" y="3622956"/>
                <a:ext cx="602539" cy="4016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6" name="Straight Arrow Connector 55">
                <a:extLst>
                  <a:ext uri="{FF2B5EF4-FFF2-40B4-BE49-F238E27FC236}">
                    <a16:creationId xmlns:a16="http://schemas.microsoft.com/office/drawing/2014/main" id="{6C44C426-CE66-006B-4E9D-FB00406FE97E}"/>
                  </a:ext>
                </a:extLst>
              </p:cNvPr>
              <p:cNvCxnSpPr>
                <a:cxnSpLocks/>
                <a:stCxn id="51" idx="5"/>
                <a:endCxn id="54" idx="1"/>
              </p:cNvCxnSpPr>
              <p:nvPr/>
            </p:nvCxnSpPr>
            <p:spPr>
              <a:xfrm>
                <a:off x="5082355" y="3622956"/>
                <a:ext cx="605696" cy="4016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49" name="TextBox 48">
              <a:extLst>
                <a:ext uri="{FF2B5EF4-FFF2-40B4-BE49-F238E27FC236}">
                  <a16:creationId xmlns:a16="http://schemas.microsoft.com/office/drawing/2014/main" id="{CA1718B7-8EA7-F584-D8E0-7855E8F66DF6}"/>
                </a:ext>
              </a:extLst>
            </p:cNvPr>
            <p:cNvSpPr txBox="1"/>
            <p:nvPr/>
          </p:nvSpPr>
          <p:spPr>
            <a:xfrm>
              <a:off x="1792858" y="2966913"/>
              <a:ext cx="1120820" cy="400110"/>
            </a:xfrm>
            <a:prstGeom prst="rect">
              <a:avLst/>
            </a:prstGeom>
            <a:noFill/>
          </p:spPr>
          <p:txBody>
            <a:bodyPr wrap="none" rtlCol="0">
              <a:spAutoFit/>
            </a:bodyPr>
            <a:lstStyle/>
            <a:p>
              <a:pPr algn="ctr"/>
              <a:r>
                <a:rPr lang="en-SE" sz="2000" b="1" dirty="0"/>
                <a:t>Collider</a:t>
              </a:r>
            </a:p>
          </p:txBody>
        </p:sp>
        <p:sp>
          <p:nvSpPr>
            <p:cNvPr id="50" name="TextBox 49">
              <a:extLst>
                <a:ext uri="{FF2B5EF4-FFF2-40B4-BE49-F238E27FC236}">
                  <a16:creationId xmlns:a16="http://schemas.microsoft.com/office/drawing/2014/main" id="{69EC47AD-6D30-489F-524F-F93019DE8649}"/>
                </a:ext>
              </a:extLst>
            </p:cNvPr>
            <p:cNvSpPr txBox="1"/>
            <p:nvPr/>
          </p:nvSpPr>
          <p:spPr>
            <a:xfrm>
              <a:off x="1175334" y="4690192"/>
              <a:ext cx="2355863" cy="646331"/>
            </a:xfrm>
            <a:prstGeom prst="rect">
              <a:avLst/>
            </a:prstGeom>
            <a:noFill/>
          </p:spPr>
          <p:txBody>
            <a:bodyPr wrap="square" rtlCol="0">
              <a:spAutoFit/>
            </a:bodyPr>
            <a:lstStyle/>
            <a:p>
              <a:pPr algn="ctr"/>
              <a:r>
                <a:rPr lang="en-SE" dirty="0">
                  <a:solidFill>
                    <a:schemeClr val="tx1">
                      <a:lumMod val="65000"/>
                      <a:lumOff val="35000"/>
                    </a:schemeClr>
                  </a:solidFill>
                </a:rPr>
                <a:t>z</a:t>
              </a:r>
              <a:r>
                <a:rPr lang="en-SE" dirty="0"/>
                <a:t> is a common effect of </a:t>
              </a:r>
              <a:r>
                <a:rPr lang="en-SE" dirty="0">
                  <a:solidFill>
                    <a:srgbClr val="C00000"/>
                  </a:solidFill>
                </a:rPr>
                <a:t>x </a:t>
              </a:r>
              <a:r>
                <a:rPr lang="en-SE" dirty="0"/>
                <a:t>and </a:t>
              </a:r>
              <a:r>
                <a:rPr lang="en-SE" dirty="0">
                  <a:solidFill>
                    <a:srgbClr val="006D70"/>
                  </a:solidFill>
                </a:rPr>
                <a:t>y</a:t>
              </a:r>
              <a:r>
                <a:rPr lang="en-SE" dirty="0"/>
                <a:t>.</a:t>
              </a:r>
            </a:p>
          </p:txBody>
        </p:sp>
      </p:grpSp>
      <p:grpSp>
        <p:nvGrpSpPr>
          <p:cNvPr id="63" name="Group 62">
            <a:extLst>
              <a:ext uri="{FF2B5EF4-FFF2-40B4-BE49-F238E27FC236}">
                <a16:creationId xmlns:a16="http://schemas.microsoft.com/office/drawing/2014/main" id="{38131B82-70EB-5685-030A-597F582B9AB4}"/>
              </a:ext>
            </a:extLst>
          </p:cNvPr>
          <p:cNvGrpSpPr/>
          <p:nvPr/>
        </p:nvGrpSpPr>
        <p:grpSpPr>
          <a:xfrm>
            <a:off x="838198" y="365125"/>
            <a:ext cx="1983884" cy="245531"/>
            <a:chOff x="4114799" y="3759391"/>
            <a:chExt cx="1983884" cy="1229241"/>
          </a:xfrm>
        </p:grpSpPr>
        <p:sp>
          <p:nvSpPr>
            <p:cNvPr id="64" name="Arrow: Pentagon 63">
              <a:extLst>
                <a:ext uri="{FF2B5EF4-FFF2-40B4-BE49-F238E27FC236}">
                  <a16:creationId xmlns:a16="http://schemas.microsoft.com/office/drawing/2014/main" id="{27BFBA47-C23E-989C-7BD3-995CF5BE76C0}"/>
                </a:ext>
              </a:extLst>
            </p:cNvPr>
            <p:cNvSpPr/>
            <p:nvPr/>
          </p:nvSpPr>
          <p:spPr>
            <a:xfrm>
              <a:off x="4114799" y="3759391"/>
              <a:ext cx="794039" cy="1229241"/>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sz="1400" dirty="0"/>
                <a:t>Theory</a:t>
              </a:r>
            </a:p>
          </p:txBody>
        </p:sp>
        <p:sp>
          <p:nvSpPr>
            <p:cNvPr id="65" name="Arrow: Chevron 64">
              <a:extLst>
                <a:ext uri="{FF2B5EF4-FFF2-40B4-BE49-F238E27FC236}">
                  <a16:creationId xmlns:a16="http://schemas.microsoft.com/office/drawing/2014/main" id="{50B20765-F225-874D-857C-2C31FA797ECE}"/>
                </a:ext>
              </a:extLst>
            </p:cNvPr>
            <p:cNvSpPr/>
            <p:nvPr/>
          </p:nvSpPr>
          <p:spPr>
            <a:xfrm>
              <a:off x="4843616" y="3759391"/>
              <a:ext cx="1255067" cy="1229241"/>
            </a:xfrm>
            <a:prstGeom prst="chevron">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sz="1400" dirty="0">
                  <a:solidFill>
                    <a:schemeClr val="bg1">
                      <a:lumMod val="75000"/>
                    </a:schemeClr>
                  </a:solidFill>
                </a:rPr>
                <a:t>Use Case</a:t>
              </a:r>
            </a:p>
          </p:txBody>
        </p:sp>
      </p:grpSp>
    </p:spTree>
    <p:extLst>
      <p:ext uri="{BB962C8B-B14F-4D97-AF65-F5344CB8AC3E}">
        <p14:creationId xmlns:p14="http://schemas.microsoft.com/office/powerpoint/2010/main" val="6119948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FC76B-E085-1C3A-8041-B0012C645E57}"/>
              </a:ext>
            </a:extLst>
          </p:cNvPr>
          <p:cNvSpPr>
            <a:spLocks noGrp="1"/>
          </p:cNvSpPr>
          <p:nvPr>
            <p:ph type="title"/>
          </p:nvPr>
        </p:nvSpPr>
        <p:spPr/>
        <p:txBody>
          <a:bodyPr/>
          <a:lstStyle/>
          <a:p>
            <a:r>
              <a:rPr lang="en-SE" dirty="0"/>
              <a:t>Dealing with Variables</a:t>
            </a:r>
          </a:p>
        </p:txBody>
      </p:sp>
      <p:sp>
        <p:nvSpPr>
          <p:cNvPr id="3" name="Content Placeholder 2">
            <a:extLst>
              <a:ext uri="{FF2B5EF4-FFF2-40B4-BE49-F238E27FC236}">
                <a16:creationId xmlns:a16="http://schemas.microsoft.com/office/drawing/2014/main" id="{227C54F7-A656-1DB1-99B0-91845F9B3135}"/>
              </a:ext>
            </a:extLst>
          </p:cNvPr>
          <p:cNvSpPr>
            <a:spLocks noGrp="1"/>
          </p:cNvSpPr>
          <p:nvPr>
            <p:ph idx="1"/>
          </p:nvPr>
        </p:nvSpPr>
        <p:spPr>
          <a:xfrm>
            <a:off x="838200" y="1825625"/>
            <a:ext cx="10515600" cy="953434"/>
          </a:xfrm>
        </p:spPr>
        <p:txBody>
          <a:bodyPr/>
          <a:lstStyle/>
          <a:p>
            <a:pPr marL="0" indent="0">
              <a:buNone/>
            </a:pPr>
            <a:r>
              <a:rPr lang="en-SE" dirty="0"/>
              <a:t>Based on the type of relationship between variables, these additional factors need to be treated differently.</a:t>
            </a:r>
          </a:p>
        </p:txBody>
      </p:sp>
      <p:sp>
        <p:nvSpPr>
          <p:cNvPr id="4" name="Date Placeholder 3">
            <a:extLst>
              <a:ext uri="{FF2B5EF4-FFF2-40B4-BE49-F238E27FC236}">
                <a16:creationId xmlns:a16="http://schemas.microsoft.com/office/drawing/2014/main" id="{C7198028-883D-ADD7-8952-1B9D14F05262}"/>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Slide Number Placeholder 4">
            <a:extLst>
              <a:ext uri="{FF2B5EF4-FFF2-40B4-BE49-F238E27FC236}">
                <a16:creationId xmlns:a16="http://schemas.microsoft.com/office/drawing/2014/main" id="{9E84A1A5-003C-5FE8-9EE0-EF263B6A409F}"/>
              </a:ext>
            </a:extLst>
          </p:cNvPr>
          <p:cNvSpPr>
            <a:spLocks noGrp="1"/>
          </p:cNvSpPr>
          <p:nvPr>
            <p:ph type="sldNum" sz="quarter" idx="12"/>
          </p:nvPr>
        </p:nvSpPr>
        <p:spPr/>
        <p:txBody>
          <a:bodyPr/>
          <a:lstStyle/>
          <a:p>
            <a:fld id="{271ECC92-9CDE-4EB3-B1C5-F46B9E1FA3C1}" type="slidenum">
              <a:rPr lang="en-SE" smtClean="0"/>
              <a:t>12</a:t>
            </a:fld>
            <a:endParaRPr lang="en-SE"/>
          </a:p>
        </p:txBody>
      </p:sp>
      <p:sp>
        <p:nvSpPr>
          <p:cNvPr id="9" name="Content Placeholder 2">
            <a:extLst>
              <a:ext uri="{FF2B5EF4-FFF2-40B4-BE49-F238E27FC236}">
                <a16:creationId xmlns:a16="http://schemas.microsoft.com/office/drawing/2014/main" id="{01EFB82E-744D-4531-9E4F-627A578DB3E7}"/>
              </a:ext>
            </a:extLst>
          </p:cNvPr>
          <p:cNvSpPr txBox="1">
            <a:spLocks/>
          </p:cNvSpPr>
          <p:nvPr/>
        </p:nvSpPr>
        <p:spPr>
          <a:xfrm>
            <a:off x="838198" y="5450699"/>
            <a:ext cx="10515600" cy="9534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SE" dirty="0"/>
              <a:t>Control can either be by design (fixing variables) or by analysis (stratifying the data).</a:t>
            </a:r>
          </a:p>
        </p:txBody>
      </p:sp>
      <p:grpSp>
        <p:nvGrpSpPr>
          <p:cNvPr id="10" name="Group 9">
            <a:extLst>
              <a:ext uri="{FF2B5EF4-FFF2-40B4-BE49-F238E27FC236}">
                <a16:creationId xmlns:a16="http://schemas.microsoft.com/office/drawing/2014/main" id="{8430AF2D-EB76-E3A8-06EE-6F5FA47DDDE1}"/>
              </a:ext>
            </a:extLst>
          </p:cNvPr>
          <p:cNvGrpSpPr/>
          <p:nvPr/>
        </p:nvGrpSpPr>
        <p:grpSpPr>
          <a:xfrm>
            <a:off x="1226150" y="2779059"/>
            <a:ext cx="3191864" cy="2605247"/>
            <a:chOff x="727287" y="2966913"/>
            <a:chExt cx="3191864" cy="2605247"/>
          </a:xfrm>
        </p:grpSpPr>
        <p:grpSp>
          <p:nvGrpSpPr>
            <p:cNvPr id="11" name="Group 10">
              <a:extLst>
                <a:ext uri="{FF2B5EF4-FFF2-40B4-BE49-F238E27FC236}">
                  <a16:creationId xmlns:a16="http://schemas.microsoft.com/office/drawing/2014/main" id="{4C7AE6D3-33B2-AE1A-44F6-B9301657C7DD}"/>
                </a:ext>
              </a:extLst>
            </p:cNvPr>
            <p:cNvGrpSpPr/>
            <p:nvPr/>
          </p:nvGrpSpPr>
          <p:grpSpPr>
            <a:xfrm>
              <a:off x="1314591" y="3515395"/>
              <a:ext cx="2077351" cy="1016248"/>
              <a:chOff x="4775076" y="3315677"/>
              <a:chExt cx="2077351" cy="1016248"/>
            </a:xfrm>
          </p:grpSpPr>
          <p:sp>
            <p:nvSpPr>
              <p:cNvPr id="14" name="Oval 13">
                <a:extLst>
                  <a:ext uri="{FF2B5EF4-FFF2-40B4-BE49-F238E27FC236}">
                    <a16:creationId xmlns:a16="http://schemas.microsoft.com/office/drawing/2014/main" id="{8E6C76E5-000D-FDA1-09D9-3792E017A399}"/>
                  </a:ext>
                </a:extLst>
              </p:cNvPr>
              <p:cNvSpPr/>
              <p:nvPr/>
            </p:nvSpPr>
            <p:spPr>
              <a:xfrm>
                <a:off x="4775076"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15" name="Oval 14">
                <a:extLst>
                  <a:ext uri="{FF2B5EF4-FFF2-40B4-BE49-F238E27FC236}">
                    <a16:creationId xmlns:a16="http://schemas.microsoft.com/office/drawing/2014/main" id="{6D8C0D06-0598-3099-CE1B-249F98FA14D8}"/>
                  </a:ext>
                </a:extLst>
              </p:cNvPr>
              <p:cNvSpPr/>
              <p:nvPr/>
            </p:nvSpPr>
            <p:spPr>
              <a:xfrm>
                <a:off x="6492427"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16" name="Straight Arrow Connector 15">
                <a:extLst>
                  <a:ext uri="{FF2B5EF4-FFF2-40B4-BE49-F238E27FC236}">
                    <a16:creationId xmlns:a16="http://schemas.microsoft.com/office/drawing/2014/main" id="{BA733C45-3433-5A6D-743A-8047B9D1DBAC}"/>
                  </a:ext>
                </a:extLst>
              </p:cNvPr>
              <p:cNvCxnSpPr>
                <a:stCxn id="14" idx="6"/>
                <a:endCxn id="15" idx="2"/>
              </p:cNvCxnSpPr>
              <p:nvPr/>
            </p:nvCxnSpPr>
            <p:spPr>
              <a:xfrm>
                <a:off x="5135076" y="3495677"/>
                <a:ext cx="135735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7" name="Oval 16">
                <a:extLst>
                  <a:ext uri="{FF2B5EF4-FFF2-40B4-BE49-F238E27FC236}">
                    <a16:creationId xmlns:a16="http://schemas.microsoft.com/office/drawing/2014/main" id="{B014FCB4-5D50-ADD8-8DCF-618AB5E1008E}"/>
                  </a:ext>
                </a:extLst>
              </p:cNvPr>
              <p:cNvSpPr/>
              <p:nvPr/>
            </p:nvSpPr>
            <p:spPr>
              <a:xfrm>
                <a:off x="5635330" y="3971925"/>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cxnSp>
            <p:nvCxnSpPr>
              <p:cNvPr id="18" name="Straight Arrow Connector 17">
                <a:extLst>
                  <a:ext uri="{FF2B5EF4-FFF2-40B4-BE49-F238E27FC236}">
                    <a16:creationId xmlns:a16="http://schemas.microsoft.com/office/drawing/2014/main" id="{3290AE9B-D695-8E1F-C445-E55F1526D458}"/>
                  </a:ext>
                </a:extLst>
              </p:cNvPr>
              <p:cNvCxnSpPr>
                <a:cxnSpLocks/>
                <a:stCxn id="17" idx="7"/>
                <a:endCxn id="15" idx="3"/>
              </p:cNvCxnSpPr>
              <p:nvPr/>
            </p:nvCxnSpPr>
            <p:spPr>
              <a:xfrm flipV="1">
                <a:off x="5942609" y="3622956"/>
                <a:ext cx="602539" cy="4016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7F93EBE0-E14D-CED6-DB1E-BC27F7DC9C86}"/>
                  </a:ext>
                </a:extLst>
              </p:cNvPr>
              <p:cNvCxnSpPr>
                <a:cxnSpLocks/>
                <a:stCxn id="14" idx="5"/>
                <a:endCxn id="17" idx="1"/>
              </p:cNvCxnSpPr>
              <p:nvPr/>
            </p:nvCxnSpPr>
            <p:spPr>
              <a:xfrm>
                <a:off x="5082355" y="3622956"/>
                <a:ext cx="605696" cy="4016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12" name="TextBox 11">
              <a:extLst>
                <a:ext uri="{FF2B5EF4-FFF2-40B4-BE49-F238E27FC236}">
                  <a16:creationId xmlns:a16="http://schemas.microsoft.com/office/drawing/2014/main" id="{318AA6C7-A27A-ECB2-8DFB-EDE0A6268DA1}"/>
                </a:ext>
              </a:extLst>
            </p:cNvPr>
            <p:cNvSpPr txBox="1"/>
            <p:nvPr/>
          </p:nvSpPr>
          <p:spPr>
            <a:xfrm>
              <a:off x="1676638" y="2966913"/>
              <a:ext cx="1353256" cy="400110"/>
            </a:xfrm>
            <a:prstGeom prst="rect">
              <a:avLst/>
            </a:prstGeom>
            <a:noFill/>
          </p:spPr>
          <p:txBody>
            <a:bodyPr wrap="none" rtlCol="0">
              <a:spAutoFit/>
            </a:bodyPr>
            <a:lstStyle/>
            <a:p>
              <a:pPr algn="ctr"/>
              <a:r>
                <a:rPr lang="en-SE" sz="2000" b="1" dirty="0"/>
                <a:t>Mediation</a:t>
              </a:r>
            </a:p>
          </p:txBody>
        </p:sp>
        <p:sp>
          <p:nvSpPr>
            <p:cNvPr id="13" name="TextBox 12">
              <a:extLst>
                <a:ext uri="{FF2B5EF4-FFF2-40B4-BE49-F238E27FC236}">
                  <a16:creationId xmlns:a16="http://schemas.microsoft.com/office/drawing/2014/main" id="{C4D23881-5978-044D-3344-833DA955F9EC}"/>
                </a:ext>
              </a:extLst>
            </p:cNvPr>
            <p:cNvSpPr txBox="1"/>
            <p:nvPr/>
          </p:nvSpPr>
          <p:spPr>
            <a:xfrm>
              <a:off x="727287" y="4648830"/>
              <a:ext cx="3191864" cy="923330"/>
            </a:xfrm>
            <a:prstGeom prst="rect">
              <a:avLst/>
            </a:prstGeom>
            <a:noFill/>
          </p:spPr>
          <p:txBody>
            <a:bodyPr wrap="square" rtlCol="0">
              <a:spAutoFit/>
            </a:bodyPr>
            <a:lstStyle/>
            <a:p>
              <a:pPr algn="ctr"/>
              <a:r>
                <a:rPr lang="en-SE" dirty="0"/>
                <a:t>You </a:t>
              </a:r>
              <a:r>
                <a:rPr lang="en-SE" b="1" dirty="0">
                  <a:solidFill>
                    <a:srgbClr val="FFC000"/>
                  </a:solidFill>
                </a:rPr>
                <a:t>can</a:t>
              </a:r>
              <a:r>
                <a:rPr lang="en-SE" dirty="0"/>
                <a:t> control z if you want to distinguish the direct from the indirect effect</a:t>
              </a:r>
            </a:p>
          </p:txBody>
        </p:sp>
      </p:grpSp>
      <p:grpSp>
        <p:nvGrpSpPr>
          <p:cNvPr id="20" name="Group 19">
            <a:extLst>
              <a:ext uri="{FF2B5EF4-FFF2-40B4-BE49-F238E27FC236}">
                <a16:creationId xmlns:a16="http://schemas.microsoft.com/office/drawing/2014/main" id="{2713E191-9224-2D99-BC7E-F31C4AA42A46}"/>
              </a:ext>
            </a:extLst>
          </p:cNvPr>
          <p:cNvGrpSpPr/>
          <p:nvPr/>
        </p:nvGrpSpPr>
        <p:grpSpPr>
          <a:xfrm>
            <a:off x="4866056" y="2779059"/>
            <a:ext cx="2459884" cy="2369610"/>
            <a:chOff x="1123324" y="2966913"/>
            <a:chExt cx="2459884" cy="2369610"/>
          </a:xfrm>
        </p:grpSpPr>
        <p:grpSp>
          <p:nvGrpSpPr>
            <p:cNvPr id="21" name="Group 20">
              <a:extLst>
                <a:ext uri="{FF2B5EF4-FFF2-40B4-BE49-F238E27FC236}">
                  <a16:creationId xmlns:a16="http://schemas.microsoft.com/office/drawing/2014/main" id="{7E24E2FF-B93E-4CED-B543-165E49927080}"/>
                </a:ext>
              </a:extLst>
            </p:cNvPr>
            <p:cNvGrpSpPr/>
            <p:nvPr/>
          </p:nvGrpSpPr>
          <p:grpSpPr>
            <a:xfrm>
              <a:off x="1314591" y="3515395"/>
              <a:ext cx="2077351" cy="1016248"/>
              <a:chOff x="4775076" y="3315677"/>
              <a:chExt cx="2077351" cy="1016248"/>
            </a:xfrm>
          </p:grpSpPr>
          <p:sp>
            <p:nvSpPr>
              <p:cNvPr id="24" name="Oval 23">
                <a:extLst>
                  <a:ext uri="{FF2B5EF4-FFF2-40B4-BE49-F238E27FC236}">
                    <a16:creationId xmlns:a16="http://schemas.microsoft.com/office/drawing/2014/main" id="{33ED6B84-F60B-86CA-BEEC-5662DD0FC4C7}"/>
                  </a:ext>
                </a:extLst>
              </p:cNvPr>
              <p:cNvSpPr/>
              <p:nvPr/>
            </p:nvSpPr>
            <p:spPr>
              <a:xfrm>
                <a:off x="4775076"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25" name="Oval 24">
                <a:extLst>
                  <a:ext uri="{FF2B5EF4-FFF2-40B4-BE49-F238E27FC236}">
                    <a16:creationId xmlns:a16="http://schemas.microsoft.com/office/drawing/2014/main" id="{E4BF4B26-3E6F-C100-ADCC-5BB209053AA7}"/>
                  </a:ext>
                </a:extLst>
              </p:cNvPr>
              <p:cNvSpPr/>
              <p:nvPr/>
            </p:nvSpPr>
            <p:spPr>
              <a:xfrm>
                <a:off x="6492427"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26" name="Straight Arrow Connector 25">
                <a:extLst>
                  <a:ext uri="{FF2B5EF4-FFF2-40B4-BE49-F238E27FC236}">
                    <a16:creationId xmlns:a16="http://schemas.microsoft.com/office/drawing/2014/main" id="{84EAB315-C8A2-7646-4ADE-416C0BAEAE6B}"/>
                  </a:ext>
                </a:extLst>
              </p:cNvPr>
              <p:cNvCxnSpPr>
                <a:stCxn id="24" idx="6"/>
                <a:endCxn id="25" idx="2"/>
              </p:cNvCxnSpPr>
              <p:nvPr/>
            </p:nvCxnSpPr>
            <p:spPr>
              <a:xfrm>
                <a:off x="5135076" y="3495677"/>
                <a:ext cx="135735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7" name="Oval 26">
                <a:extLst>
                  <a:ext uri="{FF2B5EF4-FFF2-40B4-BE49-F238E27FC236}">
                    <a16:creationId xmlns:a16="http://schemas.microsoft.com/office/drawing/2014/main" id="{EA12F74D-68A2-138B-5599-D5E9400A0333}"/>
                  </a:ext>
                </a:extLst>
              </p:cNvPr>
              <p:cNvSpPr/>
              <p:nvPr/>
            </p:nvSpPr>
            <p:spPr>
              <a:xfrm>
                <a:off x="5635330" y="3971925"/>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cxnSp>
            <p:nvCxnSpPr>
              <p:cNvPr id="28" name="Straight Arrow Connector 27">
                <a:extLst>
                  <a:ext uri="{FF2B5EF4-FFF2-40B4-BE49-F238E27FC236}">
                    <a16:creationId xmlns:a16="http://schemas.microsoft.com/office/drawing/2014/main" id="{CF4C2293-C912-5509-A387-3E73D2377E06}"/>
                  </a:ext>
                </a:extLst>
              </p:cNvPr>
              <p:cNvCxnSpPr>
                <a:cxnSpLocks/>
                <a:stCxn id="27" idx="7"/>
                <a:endCxn id="25" idx="3"/>
              </p:cNvCxnSpPr>
              <p:nvPr/>
            </p:nvCxnSpPr>
            <p:spPr>
              <a:xfrm flipV="1">
                <a:off x="5942609" y="3622956"/>
                <a:ext cx="602539" cy="4016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3D58E405-B9D2-E41B-F4AE-A713A386F1D4}"/>
                  </a:ext>
                </a:extLst>
              </p:cNvPr>
              <p:cNvCxnSpPr>
                <a:cxnSpLocks/>
                <a:stCxn id="27" idx="1"/>
                <a:endCxn id="24" idx="5"/>
              </p:cNvCxnSpPr>
              <p:nvPr/>
            </p:nvCxnSpPr>
            <p:spPr>
              <a:xfrm flipH="1" flipV="1">
                <a:off x="5082355" y="3622956"/>
                <a:ext cx="605696" cy="4016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22" name="TextBox 21">
              <a:extLst>
                <a:ext uri="{FF2B5EF4-FFF2-40B4-BE49-F238E27FC236}">
                  <a16:creationId xmlns:a16="http://schemas.microsoft.com/office/drawing/2014/main" id="{D617B311-8122-A509-A786-BCE36D7B3EE0}"/>
                </a:ext>
              </a:extLst>
            </p:cNvPr>
            <p:cNvSpPr txBox="1"/>
            <p:nvPr/>
          </p:nvSpPr>
          <p:spPr>
            <a:xfrm>
              <a:off x="1506914" y="2966913"/>
              <a:ext cx="1692707" cy="400110"/>
            </a:xfrm>
            <a:prstGeom prst="rect">
              <a:avLst/>
            </a:prstGeom>
            <a:noFill/>
          </p:spPr>
          <p:txBody>
            <a:bodyPr wrap="none" rtlCol="0">
              <a:spAutoFit/>
            </a:bodyPr>
            <a:lstStyle/>
            <a:p>
              <a:pPr algn="ctr"/>
              <a:r>
                <a:rPr lang="en-SE" sz="2000" b="1" dirty="0"/>
                <a:t>Confounding</a:t>
              </a:r>
            </a:p>
          </p:txBody>
        </p:sp>
        <p:sp>
          <p:nvSpPr>
            <p:cNvPr id="23" name="TextBox 22">
              <a:extLst>
                <a:ext uri="{FF2B5EF4-FFF2-40B4-BE49-F238E27FC236}">
                  <a16:creationId xmlns:a16="http://schemas.microsoft.com/office/drawing/2014/main" id="{583C5DCB-C678-0056-7F68-7AA3312BAC46}"/>
                </a:ext>
              </a:extLst>
            </p:cNvPr>
            <p:cNvSpPr txBox="1"/>
            <p:nvPr/>
          </p:nvSpPr>
          <p:spPr>
            <a:xfrm>
              <a:off x="1123324" y="4690192"/>
              <a:ext cx="2459884" cy="646331"/>
            </a:xfrm>
            <a:prstGeom prst="rect">
              <a:avLst/>
            </a:prstGeom>
            <a:noFill/>
          </p:spPr>
          <p:txBody>
            <a:bodyPr wrap="square" rtlCol="0">
              <a:spAutoFit/>
            </a:bodyPr>
            <a:lstStyle/>
            <a:p>
              <a:pPr algn="ctr"/>
              <a:r>
                <a:rPr lang="en-SE" dirty="0"/>
                <a:t>You </a:t>
              </a:r>
              <a:r>
                <a:rPr lang="en-SE" b="1" dirty="0">
                  <a:solidFill>
                    <a:srgbClr val="C00000"/>
                  </a:solidFill>
                </a:rPr>
                <a:t>must</a:t>
              </a:r>
              <a:r>
                <a:rPr lang="en-SE" dirty="0"/>
                <a:t> control z to avoid confounding</a:t>
              </a:r>
            </a:p>
          </p:txBody>
        </p:sp>
      </p:grpSp>
      <p:grpSp>
        <p:nvGrpSpPr>
          <p:cNvPr id="30" name="Group 29">
            <a:extLst>
              <a:ext uri="{FF2B5EF4-FFF2-40B4-BE49-F238E27FC236}">
                <a16:creationId xmlns:a16="http://schemas.microsoft.com/office/drawing/2014/main" id="{2CFE650C-E3AE-5423-5269-F6F50FF02B83}"/>
              </a:ext>
            </a:extLst>
          </p:cNvPr>
          <p:cNvGrpSpPr/>
          <p:nvPr/>
        </p:nvGrpSpPr>
        <p:grpSpPr>
          <a:xfrm>
            <a:off x="8078306" y="2779059"/>
            <a:ext cx="2459884" cy="2364142"/>
            <a:chOff x="1123324" y="2966913"/>
            <a:chExt cx="2459884" cy="2364142"/>
          </a:xfrm>
        </p:grpSpPr>
        <p:grpSp>
          <p:nvGrpSpPr>
            <p:cNvPr id="31" name="Group 30">
              <a:extLst>
                <a:ext uri="{FF2B5EF4-FFF2-40B4-BE49-F238E27FC236}">
                  <a16:creationId xmlns:a16="http://schemas.microsoft.com/office/drawing/2014/main" id="{D32DA2B9-14EF-DA79-C376-CC40422ED0C0}"/>
                </a:ext>
              </a:extLst>
            </p:cNvPr>
            <p:cNvGrpSpPr/>
            <p:nvPr/>
          </p:nvGrpSpPr>
          <p:grpSpPr>
            <a:xfrm>
              <a:off x="1314591" y="3515395"/>
              <a:ext cx="2077351" cy="1016248"/>
              <a:chOff x="4775076" y="3315677"/>
              <a:chExt cx="2077351" cy="1016248"/>
            </a:xfrm>
          </p:grpSpPr>
          <p:sp>
            <p:nvSpPr>
              <p:cNvPr id="34" name="Oval 33">
                <a:extLst>
                  <a:ext uri="{FF2B5EF4-FFF2-40B4-BE49-F238E27FC236}">
                    <a16:creationId xmlns:a16="http://schemas.microsoft.com/office/drawing/2014/main" id="{AD11D4DD-4AB4-E1CF-65E2-C87C0CA2556B}"/>
                  </a:ext>
                </a:extLst>
              </p:cNvPr>
              <p:cNvSpPr/>
              <p:nvPr/>
            </p:nvSpPr>
            <p:spPr>
              <a:xfrm>
                <a:off x="4775076"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35" name="Oval 34">
                <a:extLst>
                  <a:ext uri="{FF2B5EF4-FFF2-40B4-BE49-F238E27FC236}">
                    <a16:creationId xmlns:a16="http://schemas.microsoft.com/office/drawing/2014/main" id="{919DE96A-60A6-67E4-A54B-11204719B3B9}"/>
                  </a:ext>
                </a:extLst>
              </p:cNvPr>
              <p:cNvSpPr/>
              <p:nvPr/>
            </p:nvSpPr>
            <p:spPr>
              <a:xfrm>
                <a:off x="6492427"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36" name="Straight Arrow Connector 35">
                <a:extLst>
                  <a:ext uri="{FF2B5EF4-FFF2-40B4-BE49-F238E27FC236}">
                    <a16:creationId xmlns:a16="http://schemas.microsoft.com/office/drawing/2014/main" id="{060EB5E0-E113-9DF2-E468-AD966C9D1E67}"/>
                  </a:ext>
                </a:extLst>
              </p:cNvPr>
              <p:cNvCxnSpPr>
                <a:stCxn id="34" idx="6"/>
                <a:endCxn id="35" idx="2"/>
              </p:cNvCxnSpPr>
              <p:nvPr/>
            </p:nvCxnSpPr>
            <p:spPr>
              <a:xfrm>
                <a:off x="5135076" y="3495677"/>
                <a:ext cx="135735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7" name="Oval 36">
                <a:extLst>
                  <a:ext uri="{FF2B5EF4-FFF2-40B4-BE49-F238E27FC236}">
                    <a16:creationId xmlns:a16="http://schemas.microsoft.com/office/drawing/2014/main" id="{DF9A06EA-AE79-F441-70E9-D2BBAFF6563E}"/>
                  </a:ext>
                </a:extLst>
              </p:cNvPr>
              <p:cNvSpPr/>
              <p:nvPr/>
            </p:nvSpPr>
            <p:spPr>
              <a:xfrm>
                <a:off x="5635330" y="3971925"/>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cxnSp>
            <p:nvCxnSpPr>
              <p:cNvPr id="38" name="Straight Arrow Connector 37">
                <a:extLst>
                  <a:ext uri="{FF2B5EF4-FFF2-40B4-BE49-F238E27FC236}">
                    <a16:creationId xmlns:a16="http://schemas.microsoft.com/office/drawing/2014/main" id="{29FAD130-575C-9EA8-F949-4315D877F440}"/>
                  </a:ext>
                </a:extLst>
              </p:cNvPr>
              <p:cNvCxnSpPr>
                <a:cxnSpLocks/>
                <a:stCxn id="35" idx="3"/>
                <a:endCxn id="37" idx="7"/>
              </p:cNvCxnSpPr>
              <p:nvPr/>
            </p:nvCxnSpPr>
            <p:spPr>
              <a:xfrm flipH="1">
                <a:off x="5942609" y="3622956"/>
                <a:ext cx="602539" cy="4016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9" name="Straight Arrow Connector 38">
                <a:extLst>
                  <a:ext uri="{FF2B5EF4-FFF2-40B4-BE49-F238E27FC236}">
                    <a16:creationId xmlns:a16="http://schemas.microsoft.com/office/drawing/2014/main" id="{C78A5542-4D32-18EC-BC81-372006177D5F}"/>
                  </a:ext>
                </a:extLst>
              </p:cNvPr>
              <p:cNvCxnSpPr>
                <a:cxnSpLocks/>
                <a:stCxn id="34" idx="5"/>
                <a:endCxn id="37" idx="1"/>
              </p:cNvCxnSpPr>
              <p:nvPr/>
            </p:nvCxnSpPr>
            <p:spPr>
              <a:xfrm>
                <a:off x="5082355" y="3622956"/>
                <a:ext cx="605696" cy="4016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32" name="TextBox 31">
              <a:extLst>
                <a:ext uri="{FF2B5EF4-FFF2-40B4-BE49-F238E27FC236}">
                  <a16:creationId xmlns:a16="http://schemas.microsoft.com/office/drawing/2014/main" id="{C620ECC8-F003-68E2-CF40-7AD97E74ED38}"/>
                </a:ext>
              </a:extLst>
            </p:cNvPr>
            <p:cNvSpPr txBox="1"/>
            <p:nvPr/>
          </p:nvSpPr>
          <p:spPr>
            <a:xfrm>
              <a:off x="1792858" y="2966913"/>
              <a:ext cx="1120820" cy="400110"/>
            </a:xfrm>
            <a:prstGeom prst="rect">
              <a:avLst/>
            </a:prstGeom>
            <a:noFill/>
          </p:spPr>
          <p:txBody>
            <a:bodyPr wrap="none" rtlCol="0">
              <a:spAutoFit/>
            </a:bodyPr>
            <a:lstStyle/>
            <a:p>
              <a:pPr algn="ctr"/>
              <a:r>
                <a:rPr lang="en-SE" sz="2000" b="1" dirty="0"/>
                <a:t>Collider</a:t>
              </a:r>
            </a:p>
          </p:txBody>
        </p:sp>
        <p:sp>
          <p:nvSpPr>
            <p:cNvPr id="33" name="TextBox 32">
              <a:extLst>
                <a:ext uri="{FF2B5EF4-FFF2-40B4-BE49-F238E27FC236}">
                  <a16:creationId xmlns:a16="http://schemas.microsoft.com/office/drawing/2014/main" id="{56C103A4-FB2F-A14A-870A-7FA3DCF18DA8}"/>
                </a:ext>
              </a:extLst>
            </p:cNvPr>
            <p:cNvSpPr txBox="1"/>
            <p:nvPr/>
          </p:nvSpPr>
          <p:spPr>
            <a:xfrm>
              <a:off x="1123324" y="4684724"/>
              <a:ext cx="2459884" cy="646331"/>
            </a:xfrm>
            <a:prstGeom prst="rect">
              <a:avLst/>
            </a:prstGeom>
            <a:noFill/>
          </p:spPr>
          <p:txBody>
            <a:bodyPr wrap="square" rtlCol="0">
              <a:spAutoFit/>
            </a:bodyPr>
            <a:lstStyle/>
            <a:p>
              <a:pPr algn="ctr"/>
              <a:r>
                <a:rPr lang="en-SE" dirty="0"/>
                <a:t>You </a:t>
              </a:r>
              <a:r>
                <a:rPr lang="en-SE" b="1" dirty="0">
                  <a:solidFill>
                    <a:srgbClr val="92D050"/>
                  </a:solidFill>
                </a:rPr>
                <a:t>must not </a:t>
              </a:r>
              <a:r>
                <a:rPr lang="en-SE" dirty="0"/>
                <a:t>control z to avoid confounding</a:t>
              </a:r>
            </a:p>
          </p:txBody>
        </p:sp>
      </p:grpSp>
      <p:grpSp>
        <p:nvGrpSpPr>
          <p:cNvPr id="40" name="Group 39">
            <a:extLst>
              <a:ext uri="{FF2B5EF4-FFF2-40B4-BE49-F238E27FC236}">
                <a16:creationId xmlns:a16="http://schemas.microsoft.com/office/drawing/2014/main" id="{3520F82F-B69D-DA62-8421-7B15C04A4339}"/>
              </a:ext>
            </a:extLst>
          </p:cNvPr>
          <p:cNvGrpSpPr/>
          <p:nvPr/>
        </p:nvGrpSpPr>
        <p:grpSpPr>
          <a:xfrm>
            <a:off x="838198" y="365125"/>
            <a:ext cx="1983884" cy="245531"/>
            <a:chOff x="4114799" y="3759391"/>
            <a:chExt cx="1983884" cy="1229241"/>
          </a:xfrm>
        </p:grpSpPr>
        <p:sp>
          <p:nvSpPr>
            <p:cNvPr id="41" name="Arrow: Pentagon 40">
              <a:extLst>
                <a:ext uri="{FF2B5EF4-FFF2-40B4-BE49-F238E27FC236}">
                  <a16:creationId xmlns:a16="http://schemas.microsoft.com/office/drawing/2014/main" id="{D42EEA87-1A21-A673-AB5B-DCBCD4F5D1EC}"/>
                </a:ext>
              </a:extLst>
            </p:cNvPr>
            <p:cNvSpPr/>
            <p:nvPr/>
          </p:nvSpPr>
          <p:spPr>
            <a:xfrm>
              <a:off x="4114799" y="3759391"/>
              <a:ext cx="794039" cy="1229241"/>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sz="1400" dirty="0"/>
                <a:t>Theory</a:t>
              </a:r>
            </a:p>
          </p:txBody>
        </p:sp>
        <p:sp>
          <p:nvSpPr>
            <p:cNvPr id="42" name="Arrow: Chevron 41">
              <a:extLst>
                <a:ext uri="{FF2B5EF4-FFF2-40B4-BE49-F238E27FC236}">
                  <a16:creationId xmlns:a16="http://schemas.microsoft.com/office/drawing/2014/main" id="{315C45EC-0311-83F9-D2FF-3EE7AB52C76A}"/>
                </a:ext>
              </a:extLst>
            </p:cNvPr>
            <p:cNvSpPr/>
            <p:nvPr/>
          </p:nvSpPr>
          <p:spPr>
            <a:xfrm>
              <a:off x="4843616" y="3759391"/>
              <a:ext cx="1255067" cy="122924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sz="1400" dirty="0">
                  <a:solidFill>
                    <a:schemeClr val="tx1"/>
                  </a:solidFill>
                </a:rPr>
                <a:t>Use Case</a:t>
              </a:r>
            </a:p>
          </p:txBody>
        </p:sp>
      </p:grpSp>
    </p:spTree>
    <p:extLst>
      <p:ext uri="{BB962C8B-B14F-4D97-AF65-F5344CB8AC3E}">
        <p14:creationId xmlns:p14="http://schemas.microsoft.com/office/powerpoint/2010/main" val="19388129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7B305-8F2B-6BDC-C329-04F8B29D7D6F}"/>
              </a:ext>
            </a:extLst>
          </p:cNvPr>
          <p:cNvSpPr>
            <a:spLocks noGrp="1"/>
          </p:cNvSpPr>
          <p:nvPr>
            <p:ph type="title"/>
          </p:nvPr>
        </p:nvSpPr>
        <p:spPr/>
        <p:txBody>
          <a:bodyPr/>
          <a:lstStyle/>
          <a:p>
            <a:r>
              <a:rPr lang="en-SE" dirty="0"/>
              <a:t>Encoding Observability</a:t>
            </a:r>
          </a:p>
        </p:txBody>
      </p:sp>
      <p:sp>
        <p:nvSpPr>
          <p:cNvPr id="3" name="Content Placeholder 2">
            <a:extLst>
              <a:ext uri="{FF2B5EF4-FFF2-40B4-BE49-F238E27FC236}">
                <a16:creationId xmlns:a16="http://schemas.microsoft.com/office/drawing/2014/main" id="{FC0EFE05-CB51-289C-00DD-64CC828A1E25}"/>
              </a:ext>
            </a:extLst>
          </p:cNvPr>
          <p:cNvSpPr>
            <a:spLocks noGrp="1"/>
          </p:cNvSpPr>
          <p:nvPr>
            <p:ph idx="1"/>
          </p:nvPr>
        </p:nvSpPr>
        <p:spPr>
          <a:xfrm>
            <a:off x="838200" y="1825625"/>
            <a:ext cx="10515600" cy="845857"/>
          </a:xfrm>
        </p:spPr>
        <p:txBody>
          <a:bodyPr/>
          <a:lstStyle/>
          <a:p>
            <a:pPr marL="0" indent="0">
              <a:buNone/>
            </a:pPr>
            <a:r>
              <a:rPr lang="en-SE" dirty="0"/>
              <a:t>Nodes in </a:t>
            </a:r>
            <a:r>
              <a:rPr lang="en-SE" dirty="0" err="1"/>
              <a:t>DAGs</a:t>
            </a:r>
            <a:r>
              <a:rPr lang="en-SE" dirty="0"/>
              <a:t> can indicate whether a variable is observable or not.</a:t>
            </a:r>
          </a:p>
        </p:txBody>
      </p:sp>
      <p:sp>
        <p:nvSpPr>
          <p:cNvPr id="4" name="Date Placeholder 3">
            <a:extLst>
              <a:ext uri="{FF2B5EF4-FFF2-40B4-BE49-F238E27FC236}">
                <a16:creationId xmlns:a16="http://schemas.microsoft.com/office/drawing/2014/main" id="{F59717FF-AD17-8353-6403-14914920DD9A}"/>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Slide Number Placeholder 4">
            <a:extLst>
              <a:ext uri="{FF2B5EF4-FFF2-40B4-BE49-F238E27FC236}">
                <a16:creationId xmlns:a16="http://schemas.microsoft.com/office/drawing/2014/main" id="{E571E8FB-0E6B-7F4B-41A0-490A8570CF4F}"/>
              </a:ext>
            </a:extLst>
          </p:cNvPr>
          <p:cNvSpPr>
            <a:spLocks noGrp="1"/>
          </p:cNvSpPr>
          <p:nvPr>
            <p:ph type="sldNum" sz="quarter" idx="12"/>
          </p:nvPr>
        </p:nvSpPr>
        <p:spPr/>
        <p:txBody>
          <a:bodyPr/>
          <a:lstStyle/>
          <a:p>
            <a:fld id="{271ECC92-9CDE-4EB3-B1C5-F46B9E1FA3C1}" type="slidenum">
              <a:rPr lang="en-SE" smtClean="0"/>
              <a:t>13</a:t>
            </a:fld>
            <a:endParaRPr lang="en-SE"/>
          </a:p>
        </p:txBody>
      </p:sp>
      <p:grpSp>
        <p:nvGrpSpPr>
          <p:cNvPr id="6" name="Group 5">
            <a:extLst>
              <a:ext uri="{FF2B5EF4-FFF2-40B4-BE49-F238E27FC236}">
                <a16:creationId xmlns:a16="http://schemas.microsoft.com/office/drawing/2014/main" id="{58C923B3-928D-573D-E1A3-D1CE04C12ED9}"/>
              </a:ext>
            </a:extLst>
          </p:cNvPr>
          <p:cNvGrpSpPr/>
          <p:nvPr/>
        </p:nvGrpSpPr>
        <p:grpSpPr>
          <a:xfrm>
            <a:off x="1076545" y="4856774"/>
            <a:ext cx="1417151" cy="360000"/>
            <a:chOff x="1076545" y="4856774"/>
            <a:chExt cx="1417151" cy="360000"/>
          </a:xfrm>
        </p:grpSpPr>
        <p:sp>
          <p:nvSpPr>
            <p:cNvPr id="7" name="Oval 6">
              <a:extLst>
                <a:ext uri="{FF2B5EF4-FFF2-40B4-BE49-F238E27FC236}">
                  <a16:creationId xmlns:a16="http://schemas.microsoft.com/office/drawing/2014/main" id="{1A06C76A-8083-8316-8D6D-B386366606BE}"/>
                </a:ext>
              </a:extLst>
            </p:cNvPr>
            <p:cNvSpPr/>
            <p:nvPr/>
          </p:nvSpPr>
          <p:spPr>
            <a:xfrm>
              <a:off x="1076545" y="4856774"/>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TextBox 7">
              <a:extLst>
                <a:ext uri="{FF2B5EF4-FFF2-40B4-BE49-F238E27FC236}">
                  <a16:creationId xmlns:a16="http://schemas.microsoft.com/office/drawing/2014/main" id="{4418E188-054E-0E00-764E-BB46C0DA3001}"/>
                </a:ext>
              </a:extLst>
            </p:cNvPr>
            <p:cNvSpPr txBox="1"/>
            <p:nvPr/>
          </p:nvSpPr>
          <p:spPr>
            <a:xfrm>
              <a:off x="1495794" y="4867742"/>
              <a:ext cx="997902" cy="338554"/>
            </a:xfrm>
            <a:prstGeom prst="rect">
              <a:avLst/>
            </a:prstGeom>
            <a:noFill/>
          </p:spPr>
          <p:txBody>
            <a:bodyPr wrap="none" rtlCol="0">
              <a:spAutoFit/>
            </a:bodyPr>
            <a:lstStyle/>
            <a:p>
              <a:r>
                <a:rPr lang="en-SE" sz="1600" noProof="0" dirty="0"/>
                <a:t>exposure</a:t>
              </a:r>
              <a:endParaRPr lang="en-US" sz="1600" noProof="0" dirty="0"/>
            </a:p>
          </p:txBody>
        </p:sp>
      </p:grpSp>
      <p:grpSp>
        <p:nvGrpSpPr>
          <p:cNvPr id="9" name="Group 8">
            <a:extLst>
              <a:ext uri="{FF2B5EF4-FFF2-40B4-BE49-F238E27FC236}">
                <a16:creationId xmlns:a16="http://schemas.microsoft.com/office/drawing/2014/main" id="{81130509-1A79-B05A-747F-2AFEE1F87B44}"/>
              </a:ext>
            </a:extLst>
          </p:cNvPr>
          <p:cNvGrpSpPr/>
          <p:nvPr/>
        </p:nvGrpSpPr>
        <p:grpSpPr>
          <a:xfrm>
            <a:off x="1074854" y="5309376"/>
            <a:ext cx="1428215" cy="360000"/>
            <a:chOff x="1074854" y="5309376"/>
            <a:chExt cx="1428215" cy="360000"/>
          </a:xfrm>
        </p:grpSpPr>
        <p:sp>
          <p:nvSpPr>
            <p:cNvPr id="10" name="Oval 9">
              <a:extLst>
                <a:ext uri="{FF2B5EF4-FFF2-40B4-BE49-F238E27FC236}">
                  <a16:creationId xmlns:a16="http://schemas.microsoft.com/office/drawing/2014/main" id="{2874E6AE-9808-B733-DDBD-555EEABEA89F}"/>
                </a:ext>
              </a:extLst>
            </p:cNvPr>
            <p:cNvSpPr/>
            <p:nvPr/>
          </p:nvSpPr>
          <p:spPr>
            <a:xfrm>
              <a:off x="1074854" y="5309376"/>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56330A05-7D0B-AAA0-50C9-BFB88C0C52E1}"/>
                </a:ext>
              </a:extLst>
            </p:cNvPr>
            <p:cNvSpPr txBox="1"/>
            <p:nvPr/>
          </p:nvSpPr>
          <p:spPr>
            <a:xfrm>
              <a:off x="1495677" y="5320099"/>
              <a:ext cx="1007392" cy="338554"/>
            </a:xfrm>
            <a:prstGeom prst="rect">
              <a:avLst/>
            </a:prstGeom>
            <a:noFill/>
          </p:spPr>
          <p:txBody>
            <a:bodyPr wrap="none" rtlCol="0">
              <a:spAutoFit/>
            </a:bodyPr>
            <a:lstStyle/>
            <a:p>
              <a:r>
                <a:rPr lang="en-SE" sz="1600" noProof="0" dirty="0"/>
                <a:t>response</a:t>
              </a:r>
              <a:endParaRPr lang="en-US" sz="1600" noProof="0" dirty="0"/>
            </a:p>
          </p:txBody>
        </p:sp>
      </p:grpSp>
      <p:grpSp>
        <p:nvGrpSpPr>
          <p:cNvPr id="12" name="Group 11">
            <a:extLst>
              <a:ext uri="{FF2B5EF4-FFF2-40B4-BE49-F238E27FC236}">
                <a16:creationId xmlns:a16="http://schemas.microsoft.com/office/drawing/2014/main" id="{33CE28CE-0DA1-D3CB-837D-F59E5FF260EC}"/>
              </a:ext>
            </a:extLst>
          </p:cNvPr>
          <p:cNvGrpSpPr/>
          <p:nvPr/>
        </p:nvGrpSpPr>
        <p:grpSpPr>
          <a:xfrm>
            <a:off x="3396566" y="4757200"/>
            <a:ext cx="2457272" cy="584775"/>
            <a:chOff x="3396566" y="4757200"/>
            <a:chExt cx="2457272" cy="584775"/>
          </a:xfrm>
        </p:grpSpPr>
        <p:cxnSp>
          <p:nvCxnSpPr>
            <p:cNvPr id="13" name="Straight Arrow Connector 12">
              <a:extLst>
                <a:ext uri="{FF2B5EF4-FFF2-40B4-BE49-F238E27FC236}">
                  <a16:creationId xmlns:a16="http://schemas.microsoft.com/office/drawing/2014/main" id="{16444157-8459-0275-F8A4-736ABCB8CEA6}"/>
                </a:ext>
              </a:extLst>
            </p:cNvPr>
            <p:cNvCxnSpPr>
              <a:cxnSpLocks/>
            </p:cNvCxnSpPr>
            <p:nvPr/>
          </p:nvCxnSpPr>
          <p:spPr>
            <a:xfrm>
              <a:off x="3396566" y="5052796"/>
              <a:ext cx="2772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3387E2B8-F348-4C07-7E2B-A3657E898956}"/>
                </a:ext>
              </a:extLst>
            </p:cNvPr>
            <p:cNvSpPr txBox="1"/>
            <p:nvPr/>
          </p:nvSpPr>
          <p:spPr>
            <a:xfrm>
              <a:off x="4093548" y="4757200"/>
              <a:ext cx="1760290" cy="584775"/>
            </a:xfrm>
            <a:prstGeom prst="rect">
              <a:avLst/>
            </a:prstGeom>
            <a:noFill/>
          </p:spPr>
          <p:txBody>
            <a:bodyPr wrap="none" rtlCol="0">
              <a:spAutoFit/>
            </a:bodyPr>
            <a:lstStyle/>
            <a:p>
              <a:r>
                <a:rPr lang="en-SE" sz="1600" noProof="0" dirty="0"/>
                <a:t>(assumed) causal</a:t>
              </a:r>
              <a:br>
                <a:rPr lang="en-SE" sz="1600" noProof="0" dirty="0"/>
              </a:br>
              <a:r>
                <a:rPr lang="en-SE" sz="1600" noProof="0" dirty="0"/>
                <a:t>relationship</a:t>
              </a:r>
              <a:endParaRPr lang="en-US" sz="1600" noProof="0" dirty="0"/>
            </a:p>
          </p:txBody>
        </p:sp>
      </p:grpSp>
      <p:grpSp>
        <p:nvGrpSpPr>
          <p:cNvPr id="15" name="Group 14">
            <a:extLst>
              <a:ext uri="{FF2B5EF4-FFF2-40B4-BE49-F238E27FC236}">
                <a16:creationId xmlns:a16="http://schemas.microsoft.com/office/drawing/2014/main" id="{65199DC7-FD94-F205-9FF6-0D5B01222E90}"/>
              </a:ext>
            </a:extLst>
          </p:cNvPr>
          <p:cNvGrpSpPr/>
          <p:nvPr/>
        </p:nvGrpSpPr>
        <p:grpSpPr>
          <a:xfrm>
            <a:off x="1074854" y="5649590"/>
            <a:ext cx="2062133" cy="584775"/>
            <a:chOff x="1074854" y="5649590"/>
            <a:chExt cx="2062133" cy="584775"/>
          </a:xfrm>
        </p:grpSpPr>
        <p:sp>
          <p:nvSpPr>
            <p:cNvPr id="16" name="Oval 15">
              <a:extLst>
                <a:ext uri="{FF2B5EF4-FFF2-40B4-BE49-F238E27FC236}">
                  <a16:creationId xmlns:a16="http://schemas.microsoft.com/office/drawing/2014/main" id="{7EC1861F-E53A-482C-0772-AFCF1D176B6B}"/>
                </a:ext>
              </a:extLst>
            </p:cNvPr>
            <p:cNvSpPr/>
            <p:nvPr/>
          </p:nvSpPr>
          <p:spPr>
            <a:xfrm>
              <a:off x="1074854" y="5761978"/>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TextBox 16">
              <a:extLst>
                <a:ext uri="{FF2B5EF4-FFF2-40B4-BE49-F238E27FC236}">
                  <a16:creationId xmlns:a16="http://schemas.microsoft.com/office/drawing/2014/main" id="{170DC472-0E8B-D59A-E941-E6AFB86A28AA}"/>
                </a:ext>
              </a:extLst>
            </p:cNvPr>
            <p:cNvSpPr txBox="1"/>
            <p:nvPr/>
          </p:nvSpPr>
          <p:spPr>
            <a:xfrm>
              <a:off x="1497307" y="5649590"/>
              <a:ext cx="1639680" cy="584775"/>
            </a:xfrm>
            <a:prstGeom prst="rect">
              <a:avLst/>
            </a:prstGeom>
            <a:noFill/>
          </p:spPr>
          <p:txBody>
            <a:bodyPr wrap="none" rtlCol="0">
              <a:spAutoFit/>
            </a:bodyPr>
            <a:lstStyle/>
            <a:p>
              <a:r>
                <a:rPr lang="en-SE" sz="1600" noProof="0" dirty="0"/>
                <a:t>other (observed)</a:t>
              </a:r>
            </a:p>
            <a:p>
              <a:r>
                <a:rPr lang="en-SE" sz="1600" dirty="0"/>
                <a:t>factors</a:t>
              </a:r>
              <a:endParaRPr lang="en-US" sz="1600" noProof="0" dirty="0"/>
            </a:p>
          </p:txBody>
        </p:sp>
      </p:grpSp>
      <p:grpSp>
        <p:nvGrpSpPr>
          <p:cNvPr id="18" name="Group 17">
            <a:extLst>
              <a:ext uri="{FF2B5EF4-FFF2-40B4-BE49-F238E27FC236}">
                <a16:creationId xmlns:a16="http://schemas.microsoft.com/office/drawing/2014/main" id="{D719ED18-6D24-960E-77A7-6A846E568AFD}"/>
              </a:ext>
            </a:extLst>
          </p:cNvPr>
          <p:cNvGrpSpPr/>
          <p:nvPr/>
        </p:nvGrpSpPr>
        <p:grpSpPr>
          <a:xfrm>
            <a:off x="3036566" y="5308246"/>
            <a:ext cx="2435291" cy="360000"/>
            <a:chOff x="3036566" y="4872796"/>
            <a:chExt cx="2435291" cy="360000"/>
          </a:xfrm>
        </p:grpSpPr>
        <p:sp>
          <p:nvSpPr>
            <p:cNvPr id="19" name="Oval 18">
              <a:extLst>
                <a:ext uri="{FF2B5EF4-FFF2-40B4-BE49-F238E27FC236}">
                  <a16:creationId xmlns:a16="http://schemas.microsoft.com/office/drawing/2014/main" id="{30F03F84-99F3-A1C4-73DE-EE660B61D4F8}"/>
                </a:ext>
              </a:extLst>
            </p:cNvPr>
            <p:cNvSpPr/>
            <p:nvPr/>
          </p:nvSpPr>
          <p:spPr>
            <a:xfrm>
              <a:off x="3036566" y="4872796"/>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Oval 19">
              <a:extLst>
                <a:ext uri="{FF2B5EF4-FFF2-40B4-BE49-F238E27FC236}">
                  <a16:creationId xmlns:a16="http://schemas.microsoft.com/office/drawing/2014/main" id="{F53FCDCF-338E-F7B2-E307-6B45C66518BD}"/>
                </a:ext>
              </a:extLst>
            </p:cNvPr>
            <p:cNvSpPr/>
            <p:nvPr/>
          </p:nvSpPr>
          <p:spPr>
            <a:xfrm>
              <a:off x="3673766" y="4872796"/>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1" name="Straight Arrow Connector 20">
              <a:extLst>
                <a:ext uri="{FF2B5EF4-FFF2-40B4-BE49-F238E27FC236}">
                  <a16:creationId xmlns:a16="http://schemas.microsoft.com/office/drawing/2014/main" id="{144D7436-CE3F-5EFB-98E4-75F971886384}"/>
                </a:ext>
              </a:extLst>
            </p:cNvPr>
            <p:cNvCxnSpPr>
              <a:stCxn id="19" idx="6"/>
              <a:endCxn id="20" idx="2"/>
            </p:cNvCxnSpPr>
            <p:nvPr/>
          </p:nvCxnSpPr>
          <p:spPr>
            <a:xfrm>
              <a:off x="3396566" y="5052796"/>
              <a:ext cx="2772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4FECA6FA-BA5C-A13F-B247-ECFE1F83659B}"/>
                </a:ext>
              </a:extLst>
            </p:cNvPr>
            <p:cNvSpPr txBox="1"/>
            <p:nvPr/>
          </p:nvSpPr>
          <p:spPr>
            <a:xfrm>
              <a:off x="4099365" y="4877874"/>
              <a:ext cx="1372492" cy="338554"/>
            </a:xfrm>
            <a:prstGeom prst="rect">
              <a:avLst/>
            </a:prstGeom>
            <a:noFill/>
          </p:spPr>
          <p:txBody>
            <a:bodyPr wrap="none" rtlCol="0">
              <a:spAutoFit/>
            </a:bodyPr>
            <a:lstStyle/>
            <a:p>
              <a:r>
                <a:rPr lang="en-US" sz="1600" noProof="0" dirty="0"/>
                <a:t>phenomenon</a:t>
              </a:r>
            </a:p>
          </p:txBody>
        </p:sp>
      </p:grpSp>
      <p:sp>
        <p:nvSpPr>
          <p:cNvPr id="24" name="Oval 23">
            <a:extLst>
              <a:ext uri="{FF2B5EF4-FFF2-40B4-BE49-F238E27FC236}">
                <a16:creationId xmlns:a16="http://schemas.microsoft.com/office/drawing/2014/main" id="{6F468A3B-D219-9143-D985-8C03D45F435D}"/>
              </a:ext>
            </a:extLst>
          </p:cNvPr>
          <p:cNvSpPr/>
          <p:nvPr/>
        </p:nvSpPr>
        <p:spPr>
          <a:xfrm>
            <a:off x="4431353"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25" name="Oval 24">
            <a:extLst>
              <a:ext uri="{FF2B5EF4-FFF2-40B4-BE49-F238E27FC236}">
                <a16:creationId xmlns:a16="http://schemas.microsoft.com/office/drawing/2014/main" id="{06FD96EE-1DD6-842D-6DC8-FAB3C04787BA}"/>
              </a:ext>
            </a:extLst>
          </p:cNvPr>
          <p:cNvSpPr/>
          <p:nvPr/>
        </p:nvSpPr>
        <p:spPr>
          <a:xfrm>
            <a:off x="6922733"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26" name="Straight Arrow Connector 25">
            <a:extLst>
              <a:ext uri="{FF2B5EF4-FFF2-40B4-BE49-F238E27FC236}">
                <a16:creationId xmlns:a16="http://schemas.microsoft.com/office/drawing/2014/main" id="{B748BB6F-19D8-0857-F271-9B0637E99E12}"/>
              </a:ext>
            </a:extLst>
          </p:cNvPr>
          <p:cNvCxnSpPr>
            <a:stCxn id="24" idx="6"/>
            <a:endCxn id="25" idx="2"/>
          </p:cNvCxnSpPr>
          <p:nvPr/>
        </p:nvCxnSpPr>
        <p:spPr>
          <a:xfrm>
            <a:off x="4791353" y="349567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8" name="Oval 27">
            <a:extLst>
              <a:ext uri="{FF2B5EF4-FFF2-40B4-BE49-F238E27FC236}">
                <a16:creationId xmlns:a16="http://schemas.microsoft.com/office/drawing/2014/main" id="{F249D55E-732A-AE44-5E03-227FF659FE6C}"/>
              </a:ext>
            </a:extLst>
          </p:cNvPr>
          <p:cNvSpPr/>
          <p:nvPr/>
        </p:nvSpPr>
        <p:spPr>
          <a:xfrm>
            <a:off x="5676494" y="4091330"/>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a</a:t>
            </a:r>
            <a:endParaRPr lang="en-US" noProof="0" dirty="0">
              <a:solidFill>
                <a:schemeClr val="tx1">
                  <a:lumMod val="50000"/>
                  <a:lumOff val="50000"/>
                </a:schemeClr>
              </a:solidFill>
            </a:endParaRPr>
          </a:p>
        </p:txBody>
      </p:sp>
      <p:cxnSp>
        <p:nvCxnSpPr>
          <p:cNvPr id="29" name="Straight Arrow Connector 28">
            <a:extLst>
              <a:ext uri="{FF2B5EF4-FFF2-40B4-BE49-F238E27FC236}">
                <a16:creationId xmlns:a16="http://schemas.microsoft.com/office/drawing/2014/main" id="{822BE3E7-ED1D-1F61-7720-7B34DC3070E5}"/>
              </a:ext>
            </a:extLst>
          </p:cNvPr>
          <p:cNvCxnSpPr>
            <a:cxnSpLocks/>
            <a:stCxn id="28" idx="7"/>
            <a:endCxn id="25" idx="3"/>
          </p:cNvCxnSpPr>
          <p:nvPr/>
        </p:nvCxnSpPr>
        <p:spPr>
          <a:xfrm flipV="1">
            <a:off x="5983773" y="3622956"/>
            <a:ext cx="991681"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Straight Arrow Connector 31">
            <a:extLst>
              <a:ext uri="{FF2B5EF4-FFF2-40B4-BE49-F238E27FC236}">
                <a16:creationId xmlns:a16="http://schemas.microsoft.com/office/drawing/2014/main" id="{9E4A6843-D605-715C-8738-4FE496D9FE7A}"/>
              </a:ext>
            </a:extLst>
          </p:cNvPr>
          <p:cNvCxnSpPr>
            <a:cxnSpLocks/>
            <a:stCxn id="28" idx="1"/>
            <a:endCxn id="24" idx="5"/>
          </p:cNvCxnSpPr>
          <p:nvPr/>
        </p:nvCxnSpPr>
        <p:spPr>
          <a:xfrm flipH="1" flipV="1">
            <a:off x="4738632" y="3622956"/>
            <a:ext cx="990583"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3" name="Oval 32">
            <a:extLst>
              <a:ext uri="{FF2B5EF4-FFF2-40B4-BE49-F238E27FC236}">
                <a16:creationId xmlns:a16="http://schemas.microsoft.com/office/drawing/2014/main" id="{BA8C7871-4656-6380-06F2-A7C11392730F}"/>
              </a:ext>
            </a:extLst>
          </p:cNvPr>
          <p:cNvSpPr/>
          <p:nvPr/>
        </p:nvSpPr>
        <p:spPr>
          <a:xfrm>
            <a:off x="5676668" y="2526255"/>
            <a:ext cx="360000" cy="360000"/>
          </a:xfrm>
          <a:prstGeom prst="ellipse">
            <a:avLst/>
          </a:prstGeom>
          <a:solidFill>
            <a:schemeClr val="bg1">
              <a:lumMod val="75000"/>
            </a:schemeClr>
          </a:solid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b</a:t>
            </a:r>
            <a:endParaRPr lang="en-US" noProof="0" dirty="0">
              <a:solidFill>
                <a:schemeClr val="tx1">
                  <a:lumMod val="50000"/>
                  <a:lumOff val="50000"/>
                </a:schemeClr>
              </a:solidFill>
            </a:endParaRPr>
          </a:p>
        </p:txBody>
      </p:sp>
      <p:cxnSp>
        <p:nvCxnSpPr>
          <p:cNvPr id="34" name="Straight Arrow Connector 33">
            <a:extLst>
              <a:ext uri="{FF2B5EF4-FFF2-40B4-BE49-F238E27FC236}">
                <a16:creationId xmlns:a16="http://schemas.microsoft.com/office/drawing/2014/main" id="{D0F9CB1F-6F30-1CDD-A57D-A5615BF6811C}"/>
              </a:ext>
            </a:extLst>
          </p:cNvPr>
          <p:cNvCxnSpPr>
            <a:cxnSpLocks/>
            <a:stCxn id="24" idx="7"/>
            <a:endCxn id="33" idx="3"/>
          </p:cNvCxnSpPr>
          <p:nvPr/>
        </p:nvCxnSpPr>
        <p:spPr>
          <a:xfrm flipV="1">
            <a:off x="4738632" y="2833534"/>
            <a:ext cx="99075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7CD0DC8E-16BE-3E13-34F2-27A358A7695C}"/>
              </a:ext>
            </a:extLst>
          </p:cNvPr>
          <p:cNvCxnSpPr>
            <a:cxnSpLocks/>
            <a:stCxn id="33" idx="5"/>
            <a:endCxn id="25" idx="1"/>
          </p:cNvCxnSpPr>
          <p:nvPr/>
        </p:nvCxnSpPr>
        <p:spPr>
          <a:xfrm>
            <a:off x="5983947" y="2833534"/>
            <a:ext cx="99150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36" name="Group 35">
            <a:extLst>
              <a:ext uri="{FF2B5EF4-FFF2-40B4-BE49-F238E27FC236}">
                <a16:creationId xmlns:a16="http://schemas.microsoft.com/office/drawing/2014/main" id="{D7A1A7F1-084B-11C4-AE22-E5B728085FD6}"/>
              </a:ext>
            </a:extLst>
          </p:cNvPr>
          <p:cNvGrpSpPr/>
          <p:nvPr/>
        </p:nvGrpSpPr>
        <p:grpSpPr>
          <a:xfrm>
            <a:off x="3667082" y="5649589"/>
            <a:ext cx="2062133" cy="584775"/>
            <a:chOff x="1074854" y="5649590"/>
            <a:chExt cx="2062133" cy="584775"/>
          </a:xfrm>
        </p:grpSpPr>
        <p:sp>
          <p:nvSpPr>
            <p:cNvPr id="37" name="Oval 36">
              <a:extLst>
                <a:ext uri="{FF2B5EF4-FFF2-40B4-BE49-F238E27FC236}">
                  <a16:creationId xmlns:a16="http://schemas.microsoft.com/office/drawing/2014/main" id="{22C7D780-5ADC-6996-5C54-06A6E07ED633}"/>
                </a:ext>
              </a:extLst>
            </p:cNvPr>
            <p:cNvSpPr/>
            <p:nvPr/>
          </p:nvSpPr>
          <p:spPr>
            <a:xfrm>
              <a:off x="1074854" y="5761978"/>
              <a:ext cx="360000" cy="360000"/>
            </a:xfrm>
            <a:prstGeom prst="ellipse">
              <a:avLst/>
            </a:prstGeom>
            <a:solidFill>
              <a:schemeClr val="bg1">
                <a:lumMod val="75000"/>
              </a:schemeClr>
            </a:solid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8" name="TextBox 37">
              <a:extLst>
                <a:ext uri="{FF2B5EF4-FFF2-40B4-BE49-F238E27FC236}">
                  <a16:creationId xmlns:a16="http://schemas.microsoft.com/office/drawing/2014/main" id="{AF84F55A-FD2C-E50A-3F68-73FAE6BE8BEC}"/>
                </a:ext>
              </a:extLst>
            </p:cNvPr>
            <p:cNvSpPr txBox="1"/>
            <p:nvPr/>
          </p:nvSpPr>
          <p:spPr>
            <a:xfrm>
              <a:off x="1497307" y="5649590"/>
              <a:ext cx="1639680" cy="584775"/>
            </a:xfrm>
            <a:prstGeom prst="rect">
              <a:avLst/>
            </a:prstGeom>
            <a:noFill/>
          </p:spPr>
          <p:txBody>
            <a:bodyPr wrap="none" rtlCol="0">
              <a:spAutoFit/>
            </a:bodyPr>
            <a:lstStyle/>
            <a:p>
              <a:r>
                <a:rPr lang="en-SE" sz="1600" noProof="0" dirty="0"/>
                <a:t>other (observed)</a:t>
              </a:r>
            </a:p>
            <a:p>
              <a:r>
                <a:rPr lang="en-SE" sz="1600" dirty="0"/>
                <a:t>factors</a:t>
              </a:r>
              <a:endParaRPr lang="en-US" sz="1600" noProof="0" dirty="0"/>
            </a:p>
          </p:txBody>
        </p:sp>
      </p:grpSp>
      <p:grpSp>
        <p:nvGrpSpPr>
          <p:cNvPr id="42" name="Group 41">
            <a:extLst>
              <a:ext uri="{FF2B5EF4-FFF2-40B4-BE49-F238E27FC236}">
                <a16:creationId xmlns:a16="http://schemas.microsoft.com/office/drawing/2014/main" id="{CA8858C3-704A-AC4A-40B3-776688D410B4}"/>
              </a:ext>
            </a:extLst>
          </p:cNvPr>
          <p:cNvGrpSpPr/>
          <p:nvPr/>
        </p:nvGrpSpPr>
        <p:grpSpPr>
          <a:xfrm>
            <a:off x="838198" y="365125"/>
            <a:ext cx="1983884" cy="245531"/>
            <a:chOff x="4114799" y="3759391"/>
            <a:chExt cx="1983884" cy="1229241"/>
          </a:xfrm>
        </p:grpSpPr>
        <p:sp>
          <p:nvSpPr>
            <p:cNvPr id="43" name="Arrow: Pentagon 42">
              <a:extLst>
                <a:ext uri="{FF2B5EF4-FFF2-40B4-BE49-F238E27FC236}">
                  <a16:creationId xmlns:a16="http://schemas.microsoft.com/office/drawing/2014/main" id="{BFCDC564-AAA1-5F80-88AC-F09117B772AE}"/>
                </a:ext>
              </a:extLst>
            </p:cNvPr>
            <p:cNvSpPr/>
            <p:nvPr/>
          </p:nvSpPr>
          <p:spPr>
            <a:xfrm>
              <a:off x="4114799" y="3759391"/>
              <a:ext cx="794039" cy="1229241"/>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sz="1400" dirty="0"/>
                <a:t>Theory</a:t>
              </a:r>
            </a:p>
          </p:txBody>
        </p:sp>
        <p:sp>
          <p:nvSpPr>
            <p:cNvPr id="44" name="Arrow: Chevron 43">
              <a:extLst>
                <a:ext uri="{FF2B5EF4-FFF2-40B4-BE49-F238E27FC236}">
                  <a16:creationId xmlns:a16="http://schemas.microsoft.com/office/drawing/2014/main" id="{1BA3DABA-485F-9F0C-A5DA-FF8CFAFCD284}"/>
                </a:ext>
              </a:extLst>
            </p:cNvPr>
            <p:cNvSpPr/>
            <p:nvPr/>
          </p:nvSpPr>
          <p:spPr>
            <a:xfrm>
              <a:off x="4843616" y="3759391"/>
              <a:ext cx="1255067" cy="1229241"/>
            </a:xfrm>
            <a:prstGeom prst="chevron">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sz="1400" dirty="0">
                  <a:solidFill>
                    <a:schemeClr val="bg1">
                      <a:lumMod val="75000"/>
                    </a:schemeClr>
                  </a:solidFill>
                </a:rPr>
                <a:t>Use Case</a:t>
              </a:r>
            </a:p>
          </p:txBody>
        </p:sp>
      </p:grpSp>
    </p:spTree>
    <p:extLst>
      <p:ext uri="{BB962C8B-B14F-4D97-AF65-F5344CB8AC3E}">
        <p14:creationId xmlns:p14="http://schemas.microsoft.com/office/powerpoint/2010/main" val="8296141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FF6ED-54C9-D02C-AE17-CF2285CBFEA8}"/>
              </a:ext>
            </a:extLst>
          </p:cNvPr>
          <p:cNvSpPr>
            <a:spLocks noGrp="1"/>
          </p:cNvSpPr>
          <p:nvPr>
            <p:ph type="title"/>
          </p:nvPr>
        </p:nvSpPr>
        <p:spPr/>
        <p:txBody>
          <a:bodyPr/>
          <a:lstStyle/>
          <a:p>
            <a:r>
              <a:rPr lang="en-SE" dirty="0"/>
              <a:t>Determining Study-ability</a:t>
            </a:r>
          </a:p>
        </p:txBody>
      </p:sp>
      <p:sp>
        <p:nvSpPr>
          <p:cNvPr id="3" name="Content Placeholder 2">
            <a:extLst>
              <a:ext uri="{FF2B5EF4-FFF2-40B4-BE49-F238E27FC236}">
                <a16:creationId xmlns:a16="http://schemas.microsoft.com/office/drawing/2014/main" id="{0ADB3DAC-3DC6-CAFC-0AEB-E44344952F63}"/>
              </a:ext>
            </a:extLst>
          </p:cNvPr>
          <p:cNvSpPr>
            <a:spLocks noGrp="1"/>
          </p:cNvSpPr>
          <p:nvPr>
            <p:ph idx="1"/>
          </p:nvPr>
        </p:nvSpPr>
        <p:spPr>
          <a:xfrm>
            <a:off x="838200" y="1825625"/>
            <a:ext cx="10515600" cy="1197859"/>
          </a:xfrm>
        </p:spPr>
        <p:txBody>
          <a:bodyPr/>
          <a:lstStyle/>
          <a:p>
            <a:pPr marL="0" indent="0">
              <a:buNone/>
            </a:pPr>
            <a:r>
              <a:rPr lang="en-SE" dirty="0"/>
              <a:t>Causal </a:t>
            </a:r>
            <a:r>
              <a:rPr lang="en-SE" dirty="0" err="1"/>
              <a:t>DAGs</a:t>
            </a:r>
            <a:r>
              <a:rPr lang="en-SE" dirty="0"/>
              <a:t> allow deciding whether it is even possible to determine the (unbiased) causal effect of a phenomenon.</a:t>
            </a:r>
          </a:p>
        </p:txBody>
      </p:sp>
      <p:sp>
        <p:nvSpPr>
          <p:cNvPr id="4" name="Date Placeholder 3">
            <a:extLst>
              <a:ext uri="{FF2B5EF4-FFF2-40B4-BE49-F238E27FC236}">
                <a16:creationId xmlns:a16="http://schemas.microsoft.com/office/drawing/2014/main" id="{DA228502-A329-4C8D-48E2-A7D5C116C81D}"/>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Slide Number Placeholder 4">
            <a:extLst>
              <a:ext uri="{FF2B5EF4-FFF2-40B4-BE49-F238E27FC236}">
                <a16:creationId xmlns:a16="http://schemas.microsoft.com/office/drawing/2014/main" id="{960EE4DC-BE2C-AF46-B73D-9FCCE1FB4CDF}"/>
              </a:ext>
            </a:extLst>
          </p:cNvPr>
          <p:cNvSpPr>
            <a:spLocks noGrp="1"/>
          </p:cNvSpPr>
          <p:nvPr>
            <p:ph type="sldNum" sz="quarter" idx="12"/>
          </p:nvPr>
        </p:nvSpPr>
        <p:spPr/>
        <p:txBody>
          <a:bodyPr/>
          <a:lstStyle/>
          <a:p>
            <a:fld id="{271ECC92-9CDE-4EB3-B1C5-F46B9E1FA3C1}" type="slidenum">
              <a:rPr lang="en-SE" smtClean="0"/>
              <a:t>14</a:t>
            </a:fld>
            <a:endParaRPr lang="en-SE"/>
          </a:p>
        </p:txBody>
      </p:sp>
      <p:grpSp>
        <p:nvGrpSpPr>
          <p:cNvPr id="6" name="Group 5">
            <a:extLst>
              <a:ext uri="{FF2B5EF4-FFF2-40B4-BE49-F238E27FC236}">
                <a16:creationId xmlns:a16="http://schemas.microsoft.com/office/drawing/2014/main" id="{573E6DB4-1600-8443-065E-A2CB2B7E0A64}"/>
              </a:ext>
            </a:extLst>
          </p:cNvPr>
          <p:cNvGrpSpPr/>
          <p:nvPr/>
        </p:nvGrpSpPr>
        <p:grpSpPr>
          <a:xfrm>
            <a:off x="2675523" y="3302525"/>
            <a:ext cx="5688395" cy="1146564"/>
            <a:chOff x="2915038" y="3295434"/>
            <a:chExt cx="5688395" cy="1146564"/>
          </a:xfrm>
        </p:grpSpPr>
        <p:sp>
          <p:nvSpPr>
            <p:cNvPr id="7" name="Oval 6">
              <a:extLst>
                <a:ext uri="{FF2B5EF4-FFF2-40B4-BE49-F238E27FC236}">
                  <a16:creationId xmlns:a16="http://schemas.microsoft.com/office/drawing/2014/main" id="{8A637AFE-7E48-37AB-D6A5-5DA08955FB42}"/>
                </a:ext>
              </a:extLst>
            </p:cNvPr>
            <p:cNvSpPr/>
            <p:nvPr/>
          </p:nvSpPr>
          <p:spPr>
            <a:xfrm>
              <a:off x="4431353"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8" name="Oval 7">
              <a:extLst>
                <a:ext uri="{FF2B5EF4-FFF2-40B4-BE49-F238E27FC236}">
                  <a16:creationId xmlns:a16="http://schemas.microsoft.com/office/drawing/2014/main" id="{36EB22D7-F182-2BE2-29B8-168817DDE40F}"/>
                </a:ext>
              </a:extLst>
            </p:cNvPr>
            <p:cNvSpPr/>
            <p:nvPr/>
          </p:nvSpPr>
          <p:spPr>
            <a:xfrm>
              <a:off x="6922733"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9" name="Straight Arrow Connector 8">
              <a:extLst>
                <a:ext uri="{FF2B5EF4-FFF2-40B4-BE49-F238E27FC236}">
                  <a16:creationId xmlns:a16="http://schemas.microsoft.com/office/drawing/2014/main" id="{6B0ADC5E-DCF0-28E2-F98D-3946AAD48299}"/>
                </a:ext>
              </a:extLst>
            </p:cNvPr>
            <p:cNvCxnSpPr>
              <a:stCxn id="7" idx="6"/>
              <a:endCxn id="8" idx="2"/>
            </p:cNvCxnSpPr>
            <p:nvPr/>
          </p:nvCxnSpPr>
          <p:spPr>
            <a:xfrm>
              <a:off x="4791353" y="349567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34946A3C-3C60-D021-0BD0-8D782C09AC57}"/>
                </a:ext>
              </a:extLst>
            </p:cNvPr>
            <p:cNvSpPr txBox="1"/>
            <p:nvPr/>
          </p:nvSpPr>
          <p:spPr>
            <a:xfrm>
              <a:off x="2915038" y="3306345"/>
              <a:ext cx="1515809" cy="369332"/>
            </a:xfrm>
            <a:prstGeom prst="rect">
              <a:avLst/>
            </a:prstGeom>
            <a:noFill/>
          </p:spPr>
          <p:txBody>
            <a:bodyPr wrap="square" rtlCol="0" anchor="ctr">
              <a:spAutoFit/>
            </a:bodyPr>
            <a:lstStyle/>
            <a:p>
              <a:pPr algn="r"/>
              <a:r>
                <a:rPr lang="de-DE" noProof="0" dirty="0">
                  <a:solidFill>
                    <a:srgbClr val="D0180A"/>
                  </a:solidFill>
                </a:rPr>
                <a:t>u</a:t>
              </a:r>
              <a:r>
                <a:rPr lang="en-SE" noProof="0" dirty="0">
                  <a:solidFill>
                    <a:srgbClr val="D0180A"/>
                  </a:solidFill>
                </a:rPr>
                <a:t>se of GenAI</a:t>
              </a:r>
              <a:endParaRPr lang="en-US" noProof="0" dirty="0">
                <a:solidFill>
                  <a:srgbClr val="D0180A"/>
                </a:solidFill>
              </a:endParaRPr>
            </a:p>
          </p:txBody>
        </p:sp>
        <p:sp>
          <p:nvSpPr>
            <p:cNvPr id="11" name="TextBox 10">
              <a:extLst>
                <a:ext uri="{FF2B5EF4-FFF2-40B4-BE49-F238E27FC236}">
                  <a16:creationId xmlns:a16="http://schemas.microsoft.com/office/drawing/2014/main" id="{04DEBF64-3E63-AA0E-7CDF-0853CDF918DD}"/>
                </a:ext>
              </a:extLst>
            </p:cNvPr>
            <p:cNvSpPr txBox="1"/>
            <p:nvPr/>
          </p:nvSpPr>
          <p:spPr>
            <a:xfrm>
              <a:off x="7240496" y="3295434"/>
              <a:ext cx="1362937" cy="369332"/>
            </a:xfrm>
            <a:prstGeom prst="rect">
              <a:avLst/>
            </a:prstGeom>
            <a:noFill/>
          </p:spPr>
          <p:txBody>
            <a:bodyPr wrap="none" rtlCol="0">
              <a:spAutoFit/>
            </a:bodyPr>
            <a:lstStyle/>
            <a:p>
              <a:r>
                <a:rPr lang="en-SE" noProof="0" dirty="0">
                  <a:solidFill>
                    <a:srgbClr val="006D70"/>
                  </a:solidFill>
                </a:rPr>
                <a:t>productivity</a:t>
              </a:r>
              <a:endParaRPr lang="en-US" noProof="0" dirty="0">
                <a:solidFill>
                  <a:srgbClr val="006D70"/>
                </a:solidFill>
              </a:endParaRPr>
            </a:p>
          </p:txBody>
        </p:sp>
        <p:sp>
          <p:nvSpPr>
            <p:cNvPr id="13" name="Oval 12">
              <a:extLst>
                <a:ext uri="{FF2B5EF4-FFF2-40B4-BE49-F238E27FC236}">
                  <a16:creationId xmlns:a16="http://schemas.microsoft.com/office/drawing/2014/main" id="{4D464466-4632-4DD9-1C36-41AC9609D355}"/>
                </a:ext>
              </a:extLst>
            </p:cNvPr>
            <p:cNvSpPr/>
            <p:nvPr/>
          </p:nvSpPr>
          <p:spPr>
            <a:xfrm>
              <a:off x="5616222" y="4081998"/>
              <a:ext cx="360000" cy="360000"/>
            </a:xfrm>
            <a:prstGeom prst="ellipse">
              <a:avLst/>
            </a:prstGeom>
            <a:solidFill>
              <a:schemeClr val="bg1">
                <a:lumMod val="75000"/>
              </a:schemeClr>
            </a:solid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a</a:t>
              </a:r>
              <a:endParaRPr lang="en-US" noProof="0" dirty="0">
                <a:solidFill>
                  <a:schemeClr val="tx1">
                    <a:lumMod val="50000"/>
                    <a:lumOff val="50000"/>
                  </a:schemeClr>
                </a:solidFill>
              </a:endParaRPr>
            </a:p>
          </p:txBody>
        </p:sp>
        <p:sp>
          <p:nvSpPr>
            <p:cNvPr id="14" name="TextBox 13">
              <a:extLst>
                <a:ext uri="{FF2B5EF4-FFF2-40B4-BE49-F238E27FC236}">
                  <a16:creationId xmlns:a16="http://schemas.microsoft.com/office/drawing/2014/main" id="{3EACFF64-0D84-2392-990A-FAC02FD8D31D}"/>
                </a:ext>
              </a:extLst>
            </p:cNvPr>
            <p:cNvSpPr txBox="1"/>
            <p:nvPr/>
          </p:nvSpPr>
          <p:spPr>
            <a:xfrm>
              <a:off x="5967363" y="4072666"/>
              <a:ext cx="1246239" cy="369332"/>
            </a:xfrm>
            <a:prstGeom prst="rect">
              <a:avLst/>
            </a:prstGeom>
            <a:noFill/>
          </p:spPr>
          <p:txBody>
            <a:bodyPr wrap="none" rtlCol="0">
              <a:spAutoFit/>
            </a:bodyPr>
            <a:lstStyle/>
            <a:p>
              <a:r>
                <a:rPr lang="en-US" noProof="0" dirty="0">
                  <a:solidFill>
                    <a:schemeClr val="tx1">
                      <a:lumMod val="65000"/>
                      <a:lumOff val="35000"/>
                    </a:schemeClr>
                  </a:solidFill>
                </a:rPr>
                <a:t>motivation</a:t>
              </a:r>
            </a:p>
          </p:txBody>
        </p:sp>
        <p:cxnSp>
          <p:nvCxnSpPr>
            <p:cNvPr id="16" name="Straight Arrow Connector 15">
              <a:extLst>
                <a:ext uri="{FF2B5EF4-FFF2-40B4-BE49-F238E27FC236}">
                  <a16:creationId xmlns:a16="http://schemas.microsoft.com/office/drawing/2014/main" id="{AB8C72F4-2393-C075-B9EA-A93C1ED79981}"/>
                </a:ext>
              </a:extLst>
            </p:cNvPr>
            <p:cNvCxnSpPr>
              <a:cxnSpLocks/>
              <a:stCxn id="13" idx="7"/>
              <a:endCxn id="8" idx="3"/>
            </p:cNvCxnSpPr>
            <p:nvPr/>
          </p:nvCxnSpPr>
          <p:spPr>
            <a:xfrm flipV="1">
              <a:off x="5923501" y="3622956"/>
              <a:ext cx="1051953" cy="5117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0A15E184-ADF6-78F6-2F61-2FBBB9E2BB74}"/>
                </a:ext>
              </a:extLst>
            </p:cNvPr>
            <p:cNvCxnSpPr>
              <a:cxnSpLocks/>
              <a:stCxn id="13" idx="1"/>
              <a:endCxn id="7" idx="5"/>
            </p:cNvCxnSpPr>
            <p:nvPr/>
          </p:nvCxnSpPr>
          <p:spPr>
            <a:xfrm flipH="1" flipV="1">
              <a:off x="4738632" y="3622956"/>
              <a:ext cx="930311" cy="5117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27" name="Content Placeholder 2">
            <a:extLst>
              <a:ext uri="{FF2B5EF4-FFF2-40B4-BE49-F238E27FC236}">
                <a16:creationId xmlns:a16="http://schemas.microsoft.com/office/drawing/2014/main" id="{6E6271EC-AEE7-D6E4-63AF-5110EC2E349D}"/>
              </a:ext>
            </a:extLst>
          </p:cNvPr>
          <p:cNvSpPr txBox="1">
            <a:spLocks/>
          </p:cNvSpPr>
          <p:nvPr/>
        </p:nvSpPr>
        <p:spPr>
          <a:xfrm>
            <a:off x="838200" y="4968959"/>
            <a:ext cx="10515600" cy="13873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SE" dirty="0"/>
              <a:t>If a phenomenon has an unobserved confounder, then the causal effect of the exposure on the outcome cannot be estimated from observational data.</a:t>
            </a:r>
          </a:p>
        </p:txBody>
      </p:sp>
      <p:grpSp>
        <p:nvGrpSpPr>
          <p:cNvPr id="31" name="Group 30">
            <a:extLst>
              <a:ext uri="{FF2B5EF4-FFF2-40B4-BE49-F238E27FC236}">
                <a16:creationId xmlns:a16="http://schemas.microsoft.com/office/drawing/2014/main" id="{452D9ACB-5913-29F1-A473-78E174332ADB}"/>
              </a:ext>
            </a:extLst>
          </p:cNvPr>
          <p:cNvGrpSpPr/>
          <p:nvPr/>
        </p:nvGrpSpPr>
        <p:grpSpPr>
          <a:xfrm>
            <a:off x="838198" y="365125"/>
            <a:ext cx="1983884" cy="245531"/>
            <a:chOff x="4114799" y="3759391"/>
            <a:chExt cx="1983884" cy="1229241"/>
          </a:xfrm>
        </p:grpSpPr>
        <p:sp>
          <p:nvSpPr>
            <p:cNvPr id="32" name="Arrow: Pentagon 31">
              <a:extLst>
                <a:ext uri="{FF2B5EF4-FFF2-40B4-BE49-F238E27FC236}">
                  <a16:creationId xmlns:a16="http://schemas.microsoft.com/office/drawing/2014/main" id="{2084C7E3-C920-55D5-C5FE-C10E139E6760}"/>
                </a:ext>
              </a:extLst>
            </p:cNvPr>
            <p:cNvSpPr/>
            <p:nvPr/>
          </p:nvSpPr>
          <p:spPr>
            <a:xfrm>
              <a:off x="4114799" y="3759391"/>
              <a:ext cx="794039" cy="1229241"/>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sz="1400" dirty="0"/>
                <a:t>Theory</a:t>
              </a:r>
            </a:p>
          </p:txBody>
        </p:sp>
        <p:sp>
          <p:nvSpPr>
            <p:cNvPr id="33" name="Arrow: Chevron 32">
              <a:extLst>
                <a:ext uri="{FF2B5EF4-FFF2-40B4-BE49-F238E27FC236}">
                  <a16:creationId xmlns:a16="http://schemas.microsoft.com/office/drawing/2014/main" id="{ABA4F49D-EA20-3D63-6A50-037142A5F981}"/>
                </a:ext>
              </a:extLst>
            </p:cNvPr>
            <p:cNvSpPr/>
            <p:nvPr/>
          </p:nvSpPr>
          <p:spPr>
            <a:xfrm>
              <a:off x="4843616" y="3759391"/>
              <a:ext cx="1255067" cy="122924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sz="1400" dirty="0">
                  <a:solidFill>
                    <a:schemeClr val="tx1"/>
                  </a:solidFill>
                </a:rPr>
                <a:t>Use Case</a:t>
              </a:r>
            </a:p>
          </p:txBody>
        </p:sp>
      </p:grpSp>
    </p:spTree>
    <p:extLst>
      <p:ext uri="{BB962C8B-B14F-4D97-AF65-F5344CB8AC3E}">
        <p14:creationId xmlns:p14="http://schemas.microsoft.com/office/powerpoint/2010/main" val="28872212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202E1-F45A-3338-8D3B-1B9CAEAF270C}"/>
              </a:ext>
            </a:extLst>
          </p:cNvPr>
          <p:cNvSpPr>
            <a:spLocks noGrp="1"/>
          </p:cNvSpPr>
          <p:nvPr>
            <p:ph type="title"/>
          </p:nvPr>
        </p:nvSpPr>
        <p:spPr/>
        <p:txBody>
          <a:bodyPr/>
          <a:lstStyle/>
          <a:p>
            <a:r>
              <a:rPr lang="en-SE" dirty="0"/>
              <a:t>Visualizing Moderation</a:t>
            </a:r>
          </a:p>
        </p:txBody>
      </p:sp>
      <p:sp>
        <p:nvSpPr>
          <p:cNvPr id="3" name="Content Placeholder 2">
            <a:extLst>
              <a:ext uri="{FF2B5EF4-FFF2-40B4-BE49-F238E27FC236}">
                <a16:creationId xmlns:a16="http://schemas.microsoft.com/office/drawing/2014/main" id="{C02159E7-7E1F-8187-76B6-5304365D31F9}"/>
              </a:ext>
            </a:extLst>
          </p:cNvPr>
          <p:cNvSpPr>
            <a:spLocks noGrp="1"/>
          </p:cNvSpPr>
          <p:nvPr>
            <p:ph idx="1"/>
          </p:nvPr>
        </p:nvSpPr>
        <p:spPr>
          <a:xfrm>
            <a:off x="838200" y="1825625"/>
            <a:ext cx="10515600" cy="1078940"/>
          </a:xfrm>
        </p:spPr>
        <p:txBody>
          <a:bodyPr/>
          <a:lstStyle/>
          <a:p>
            <a:pPr marL="0" indent="0">
              <a:buNone/>
            </a:pPr>
            <a:r>
              <a:rPr lang="en-SE" dirty="0"/>
              <a:t>Factors can not only affect other factors, but also other relationships in a process called moderation.</a:t>
            </a:r>
          </a:p>
        </p:txBody>
      </p:sp>
      <p:sp>
        <p:nvSpPr>
          <p:cNvPr id="4" name="Date Placeholder 3">
            <a:extLst>
              <a:ext uri="{FF2B5EF4-FFF2-40B4-BE49-F238E27FC236}">
                <a16:creationId xmlns:a16="http://schemas.microsoft.com/office/drawing/2014/main" id="{72947B3C-CE70-AD3E-ED85-7A987D533488}"/>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Slide Number Placeholder 4">
            <a:extLst>
              <a:ext uri="{FF2B5EF4-FFF2-40B4-BE49-F238E27FC236}">
                <a16:creationId xmlns:a16="http://schemas.microsoft.com/office/drawing/2014/main" id="{CBF38104-5A34-8621-CA65-691493CD9C33}"/>
              </a:ext>
            </a:extLst>
          </p:cNvPr>
          <p:cNvSpPr>
            <a:spLocks noGrp="1"/>
          </p:cNvSpPr>
          <p:nvPr>
            <p:ph type="sldNum" sz="quarter" idx="12"/>
          </p:nvPr>
        </p:nvSpPr>
        <p:spPr/>
        <p:txBody>
          <a:bodyPr/>
          <a:lstStyle/>
          <a:p>
            <a:fld id="{271ECC92-9CDE-4EB3-B1C5-F46B9E1FA3C1}" type="slidenum">
              <a:rPr lang="en-SE" smtClean="0"/>
              <a:t>15</a:t>
            </a:fld>
            <a:endParaRPr lang="en-SE"/>
          </a:p>
        </p:txBody>
      </p:sp>
      <p:sp>
        <p:nvSpPr>
          <p:cNvPr id="7" name="Oval 6">
            <a:extLst>
              <a:ext uri="{FF2B5EF4-FFF2-40B4-BE49-F238E27FC236}">
                <a16:creationId xmlns:a16="http://schemas.microsoft.com/office/drawing/2014/main" id="{7CFAD965-308A-0AB6-0940-278132ACCE0B}"/>
              </a:ext>
            </a:extLst>
          </p:cNvPr>
          <p:cNvSpPr/>
          <p:nvPr/>
        </p:nvSpPr>
        <p:spPr>
          <a:xfrm>
            <a:off x="4191838" y="3322768"/>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8" name="Oval 7">
            <a:extLst>
              <a:ext uri="{FF2B5EF4-FFF2-40B4-BE49-F238E27FC236}">
                <a16:creationId xmlns:a16="http://schemas.microsoft.com/office/drawing/2014/main" id="{9D67468D-3751-DCC8-E956-DFEC4DA451DA}"/>
              </a:ext>
            </a:extLst>
          </p:cNvPr>
          <p:cNvSpPr/>
          <p:nvPr/>
        </p:nvSpPr>
        <p:spPr>
          <a:xfrm>
            <a:off x="6683218" y="3322768"/>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9" name="Straight Arrow Connector 8">
            <a:extLst>
              <a:ext uri="{FF2B5EF4-FFF2-40B4-BE49-F238E27FC236}">
                <a16:creationId xmlns:a16="http://schemas.microsoft.com/office/drawing/2014/main" id="{4F630BD4-B1A4-B17F-1932-B81813943531}"/>
              </a:ext>
            </a:extLst>
          </p:cNvPr>
          <p:cNvCxnSpPr>
            <a:stCxn id="7" idx="6"/>
            <a:endCxn id="8" idx="2"/>
          </p:cNvCxnSpPr>
          <p:nvPr/>
        </p:nvCxnSpPr>
        <p:spPr>
          <a:xfrm>
            <a:off x="4551838" y="3502768"/>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69B4818B-BF89-1724-BA1B-B6FAF9560D9E}"/>
              </a:ext>
            </a:extLst>
          </p:cNvPr>
          <p:cNvSpPr txBox="1"/>
          <p:nvPr/>
        </p:nvSpPr>
        <p:spPr>
          <a:xfrm>
            <a:off x="2675523" y="3313436"/>
            <a:ext cx="1515809" cy="369332"/>
          </a:xfrm>
          <a:prstGeom prst="rect">
            <a:avLst/>
          </a:prstGeom>
          <a:noFill/>
        </p:spPr>
        <p:txBody>
          <a:bodyPr wrap="square" rtlCol="0" anchor="ctr">
            <a:spAutoFit/>
          </a:bodyPr>
          <a:lstStyle/>
          <a:p>
            <a:pPr algn="r"/>
            <a:r>
              <a:rPr lang="de-DE" noProof="0" dirty="0">
                <a:solidFill>
                  <a:srgbClr val="D0180A"/>
                </a:solidFill>
              </a:rPr>
              <a:t>u</a:t>
            </a:r>
            <a:r>
              <a:rPr lang="en-SE" noProof="0" dirty="0">
                <a:solidFill>
                  <a:srgbClr val="D0180A"/>
                </a:solidFill>
              </a:rPr>
              <a:t>se of GenAI</a:t>
            </a:r>
            <a:endParaRPr lang="en-US" noProof="0" dirty="0">
              <a:solidFill>
                <a:srgbClr val="D0180A"/>
              </a:solidFill>
            </a:endParaRPr>
          </a:p>
        </p:txBody>
      </p:sp>
      <p:sp>
        <p:nvSpPr>
          <p:cNvPr id="11" name="TextBox 10">
            <a:extLst>
              <a:ext uri="{FF2B5EF4-FFF2-40B4-BE49-F238E27FC236}">
                <a16:creationId xmlns:a16="http://schemas.microsoft.com/office/drawing/2014/main" id="{CB994EAA-61B3-2950-6E0D-82317647E54B}"/>
              </a:ext>
            </a:extLst>
          </p:cNvPr>
          <p:cNvSpPr txBox="1"/>
          <p:nvPr/>
        </p:nvSpPr>
        <p:spPr>
          <a:xfrm>
            <a:off x="7000981" y="3302525"/>
            <a:ext cx="1362937" cy="369332"/>
          </a:xfrm>
          <a:prstGeom prst="rect">
            <a:avLst/>
          </a:prstGeom>
          <a:noFill/>
        </p:spPr>
        <p:txBody>
          <a:bodyPr wrap="none" rtlCol="0">
            <a:spAutoFit/>
          </a:bodyPr>
          <a:lstStyle/>
          <a:p>
            <a:r>
              <a:rPr lang="en-SE" noProof="0" dirty="0">
                <a:solidFill>
                  <a:srgbClr val="006D70"/>
                </a:solidFill>
              </a:rPr>
              <a:t>productivity</a:t>
            </a:r>
            <a:endParaRPr lang="en-US" noProof="0" dirty="0">
              <a:solidFill>
                <a:srgbClr val="006D70"/>
              </a:solidFill>
            </a:endParaRPr>
          </a:p>
        </p:txBody>
      </p:sp>
      <p:sp>
        <p:nvSpPr>
          <p:cNvPr id="12" name="Oval 11">
            <a:extLst>
              <a:ext uri="{FF2B5EF4-FFF2-40B4-BE49-F238E27FC236}">
                <a16:creationId xmlns:a16="http://schemas.microsoft.com/office/drawing/2014/main" id="{8002BF3F-7FD6-C458-24C5-22BF82CED507}"/>
              </a:ext>
            </a:extLst>
          </p:cNvPr>
          <p:cNvSpPr/>
          <p:nvPr/>
        </p:nvSpPr>
        <p:spPr>
          <a:xfrm>
            <a:off x="5376707" y="4089089"/>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a</a:t>
            </a:r>
            <a:endParaRPr lang="en-US" noProof="0" dirty="0">
              <a:solidFill>
                <a:schemeClr val="tx1">
                  <a:lumMod val="50000"/>
                  <a:lumOff val="50000"/>
                </a:schemeClr>
              </a:solidFill>
            </a:endParaRPr>
          </a:p>
        </p:txBody>
      </p:sp>
      <p:sp>
        <p:nvSpPr>
          <p:cNvPr id="13" name="TextBox 12">
            <a:extLst>
              <a:ext uri="{FF2B5EF4-FFF2-40B4-BE49-F238E27FC236}">
                <a16:creationId xmlns:a16="http://schemas.microsoft.com/office/drawing/2014/main" id="{E749BA1F-1402-EDB0-3A04-6501D9A3AE92}"/>
              </a:ext>
            </a:extLst>
          </p:cNvPr>
          <p:cNvSpPr txBox="1"/>
          <p:nvPr/>
        </p:nvSpPr>
        <p:spPr>
          <a:xfrm>
            <a:off x="5727848" y="4079757"/>
            <a:ext cx="1280863" cy="369332"/>
          </a:xfrm>
          <a:prstGeom prst="rect">
            <a:avLst/>
          </a:prstGeom>
          <a:noFill/>
        </p:spPr>
        <p:txBody>
          <a:bodyPr wrap="none" rtlCol="0">
            <a:spAutoFit/>
          </a:bodyPr>
          <a:lstStyle/>
          <a:p>
            <a:r>
              <a:rPr lang="en-SE" noProof="0" dirty="0">
                <a:solidFill>
                  <a:schemeClr val="tx1">
                    <a:lumMod val="65000"/>
                    <a:lumOff val="35000"/>
                  </a:schemeClr>
                </a:solidFill>
              </a:rPr>
              <a:t>experience</a:t>
            </a:r>
            <a:endParaRPr lang="en-US" noProof="0" dirty="0">
              <a:solidFill>
                <a:schemeClr val="tx1">
                  <a:lumMod val="65000"/>
                  <a:lumOff val="35000"/>
                </a:schemeClr>
              </a:solidFill>
            </a:endParaRPr>
          </a:p>
        </p:txBody>
      </p:sp>
      <p:cxnSp>
        <p:nvCxnSpPr>
          <p:cNvPr id="14" name="Straight Arrow Connector 13">
            <a:extLst>
              <a:ext uri="{FF2B5EF4-FFF2-40B4-BE49-F238E27FC236}">
                <a16:creationId xmlns:a16="http://schemas.microsoft.com/office/drawing/2014/main" id="{E1D0E132-15C6-2CB4-15DE-1236AA44DE34}"/>
              </a:ext>
            </a:extLst>
          </p:cNvPr>
          <p:cNvCxnSpPr>
            <a:cxnSpLocks/>
            <a:stCxn id="12" idx="7"/>
            <a:endCxn id="8" idx="3"/>
          </p:cNvCxnSpPr>
          <p:nvPr/>
        </p:nvCxnSpPr>
        <p:spPr>
          <a:xfrm flipV="1">
            <a:off x="5683986" y="3630047"/>
            <a:ext cx="1051953" cy="5117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CB2771A6-0FDD-D9A1-E04C-4CF385EBF170}"/>
              </a:ext>
            </a:extLst>
          </p:cNvPr>
          <p:cNvCxnSpPr>
            <a:cxnSpLocks/>
            <a:stCxn id="12" idx="0"/>
          </p:cNvCxnSpPr>
          <p:nvPr/>
        </p:nvCxnSpPr>
        <p:spPr>
          <a:xfrm flipV="1">
            <a:off x="5556707" y="3502768"/>
            <a:ext cx="0" cy="58632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21" name="Group 20">
            <a:extLst>
              <a:ext uri="{FF2B5EF4-FFF2-40B4-BE49-F238E27FC236}">
                <a16:creationId xmlns:a16="http://schemas.microsoft.com/office/drawing/2014/main" id="{A74DB258-1542-81D8-B8BA-70BDCFFF1200}"/>
              </a:ext>
            </a:extLst>
          </p:cNvPr>
          <p:cNvGrpSpPr/>
          <p:nvPr/>
        </p:nvGrpSpPr>
        <p:grpSpPr>
          <a:xfrm>
            <a:off x="838198" y="365125"/>
            <a:ext cx="1983884" cy="245531"/>
            <a:chOff x="4114799" y="3759391"/>
            <a:chExt cx="1983884" cy="1229241"/>
          </a:xfrm>
        </p:grpSpPr>
        <p:sp>
          <p:nvSpPr>
            <p:cNvPr id="22" name="Arrow: Pentagon 21">
              <a:extLst>
                <a:ext uri="{FF2B5EF4-FFF2-40B4-BE49-F238E27FC236}">
                  <a16:creationId xmlns:a16="http://schemas.microsoft.com/office/drawing/2014/main" id="{9097E93E-845A-B7A2-A13C-0C6B0DF645E7}"/>
                </a:ext>
              </a:extLst>
            </p:cNvPr>
            <p:cNvSpPr/>
            <p:nvPr/>
          </p:nvSpPr>
          <p:spPr>
            <a:xfrm>
              <a:off x="4114799" y="3759391"/>
              <a:ext cx="794039" cy="1229241"/>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sz="1400" dirty="0"/>
                <a:t>Theory</a:t>
              </a:r>
            </a:p>
          </p:txBody>
        </p:sp>
        <p:sp>
          <p:nvSpPr>
            <p:cNvPr id="23" name="Arrow: Chevron 22">
              <a:extLst>
                <a:ext uri="{FF2B5EF4-FFF2-40B4-BE49-F238E27FC236}">
                  <a16:creationId xmlns:a16="http://schemas.microsoft.com/office/drawing/2014/main" id="{B49FC200-4081-1CA7-F0DE-55093F9E16CD}"/>
                </a:ext>
              </a:extLst>
            </p:cNvPr>
            <p:cNvSpPr/>
            <p:nvPr/>
          </p:nvSpPr>
          <p:spPr>
            <a:xfrm>
              <a:off x="4843616" y="3759391"/>
              <a:ext cx="1255067" cy="1229241"/>
            </a:xfrm>
            <a:prstGeom prst="chevron">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sz="1400" dirty="0">
                  <a:solidFill>
                    <a:schemeClr val="bg1">
                      <a:lumMod val="75000"/>
                    </a:schemeClr>
                  </a:solidFill>
                </a:rPr>
                <a:t>Use Case</a:t>
              </a:r>
            </a:p>
          </p:txBody>
        </p:sp>
      </p:grpSp>
      <p:sp>
        <p:nvSpPr>
          <p:cNvPr id="24" name="Content Placeholder 2">
            <a:extLst>
              <a:ext uri="{FF2B5EF4-FFF2-40B4-BE49-F238E27FC236}">
                <a16:creationId xmlns:a16="http://schemas.microsoft.com/office/drawing/2014/main" id="{6669B191-882C-7D89-A901-9548494856EA}"/>
              </a:ext>
            </a:extLst>
          </p:cNvPr>
          <p:cNvSpPr txBox="1">
            <a:spLocks/>
          </p:cNvSpPr>
          <p:nvPr/>
        </p:nvSpPr>
        <p:spPr>
          <a:xfrm>
            <a:off x="838198" y="5266499"/>
            <a:ext cx="10515600" cy="10789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SE" dirty="0"/>
              <a:t>A moderator changes the effect that one variable has on another.</a:t>
            </a:r>
          </a:p>
        </p:txBody>
      </p:sp>
    </p:spTree>
    <p:extLst>
      <p:ext uri="{BB962C8B-B14F-4D97-AF65-F5344CB8AC3E}">
        <p14:creationId xmlns:p14="http://schemas.microsoft.com/office/powerpoint/2010/main" val="23137630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2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20DAF-5E72-EDBB-BC3E-BECE1DE91A51}"/>
              </a:ext>
            </a:extLst>
          </p:cNvPr>
          <p:cNvSpPr>
            <a:spLocks noGrp="1"/>
          </p:cNvSpPr>
          <p:nvPr>
            <p:ph type="title"/>
          </p:nvPr>
        </p:nvSpPr>
        <p:spPr/>
        <p:txBody>
          <a:bodyPr/>
          <a:lstStyle/>
          <a:p>
            <a:r>
              <a:rPr lang="en-SE" dirty="0"/>
              <a:t>Determining Moderation</a:t>
            </a:r>
          </a:p>
        </p:txBody>
      </p:sp>
      <p:sp>
        <p:nvSpPr>
          <p:cNvPr id="3" name="Content Placeholder 2">
            <a:extLst>
              <a:ext uri="{FF2B5EF4-FFF2-40B4-BE49-F238E27FC236}">
                <a16:creationId xmlns:a16="http://schemas.microsoft.com/office/drawing/2014/main" id="{C3D55DBE-9AE5-09F2-AE92-CEF20D4F02B2}"/>
              </a:ext>
            </a:extLst>
          </p:cNvPr>
          <p:cNvSpPr>
            <a:spLocks noGrp="1"/>
          </p:cNvSpPr>
          <p:nvPr>
            <p:ph idx="1"/>
          </p:nvPr>
        </p:nvSpPr>
        <p:spPr>
          <a:xfrm>
            <a:off x="838200" y="1825625"/>
            <a:ext cx="10515600" cy="801034"/>
          </a:xfrm>
        </p:spPr>
        <p:txBody>
          <a:bodyPr/>
          <a:lstStyle/>
          <a:p>
            <a:pPr marL="0" indent="0">
              <a:buNone/>
            </a:pPr>
            <a:r>
              <a:rPr lang="en-SE" dirty="0"/>
              <a:t>The existence of a moderator evokes a distinct effect pattern.</a:t>
            </a:r>
          </a:p>
        </p:txBody>
      </p:sp>
      <p:sp>
        <p:nvSpPr>
          <p:cNvPr id="4" name="Date Placeholder 3">
            <a:extLst>
              <a:ext uri="{FF2B5EF4-FFF2-40B4-BE49-F238E27FC236}">
                <a16:creationId xmlns:a16="http://schemas.microsoft.com/office/drawing/2014/main" id="{92349020-D570-280D-1BAC-76588B3E5B37}"/>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Slide Number Placeholder 4">
            <a:extLst>
              <a:ext uri="{FF2B5EF4-FFF2-40B4-BE49-F238E27FC236}">
                <a16:creationId xmlns:a16="http://schemas.microsoft.com/office/drawing/2014/main" id="{4523DC79-057E-4D72-43D2-6F5315B2191C}"/>
              </a:ext>
            </a:extLst>
          </p:cNvPr>
          <p:cNvSpPr>
            <a:spLocks noGrp="1"/>
          </p:cNvSpPr>
          <p:nvPr>
            <p:ph type="sldNum" sz="quarter" idx="12"/>
          </p:nvPr>
        </p:nvSpPr>
        <p:spPr/>
        <p:txBody>
          <a:bodyPr/>
          <a:lstStyle/>
          <a:p>
            <a:fld id="{271ECC92-9CDE-4EB3-B1C5-F46B9E1FA3C1}" type="slidenum">
              <a:rPr lang="en-SE" smtClean="0"/>
              <a:t>16</a:t>
            </a:fld>
            <a:endParaRPr lang="en-SE"/>
          </a:p>
        </p:txBody>
      </p:sp>
      <p:grpSp>
        <p:nvGrpSpPr>
          <p:cNvPr id="9" name="Group 8">
            <a:extLst>
              <a:ext uri="{FF2B5EF4-FFF2-40B4-BE49-F238E27FC236}">
                <a16:creationId xmlns:a16="http://schemas.microsoft.com/office/drawing/2014/main" id="{AD117927-50DD-4E06-7836-D89CEC07A388}"/>
              </a:ext>
            </a:extLst>
          </p:cNvPr>
          <p:cNvGrpSpPr/>
          <p:nvPr/>
        </p:nvGrpSpPr>
        <p:grpSpPr>
          <a:xfrm>
            <a:off x="838198" y="365125"/>
            <a:ext cx="1983884" cy="245531"/>
            <a:chOff x="4114799" y="3759391"/>
            <a:chExt cx="1983884" cy="1229241"/>
          </a:xfrm>
        </p:grpSpPr>
        <p:sp>
          <p:nvSpPr>
            <p:cNvPr id="10" name="Arrow: Pentagon 9">
              <a:extLst>
                <a:ext uri="{FF2B5EF4-FFF2-40B4-BE49-F238E27FC236}">
                  <a16:creationId xmlns:a16="http://schemas.microsoft.com/office/drawing/2014/main" id="{D2E73671-C23A-1652-2F16-D3E2037B56A7}"/>
                </a:ext>
              </a:extLst>
            </p:cNvPr>
            <p:cNvSpPr/>
            <p:nvPr/>
          </p:nvSpPr>
          <p:spPr>
            <a:xfrm>
              <a:off x="4114799" y="3759391"/>
              <a:ext cx="794039" cy="1229241"/>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sz="1400" dirty="0"/>
                <a:t>Theory</a:t>
              </a:r>
            </a:p>
          </p:txBody>
        </p:sp>
        <p:sp>
          <p:nvSpPr>
            <p:cNvPr id="11" name="Arrow: Chevron 10">
              <a:extLst>
                <a:ext uri="{FF2B5EF4-FFF2-40B4-BE49-F238E27FC236}">
                  <a16:creationId xmlns:a16="http://schemas.microsoft.com/office/drawing/2014/main" id="{C58369D4-8BDB-402A-69C4-5BADA3040B7E}"/>
                </a:ext>
              </a:extLst>
            </p:cNvPr>
            <p:cNvSpPr/>
            <p:nvPr/>
          </p:nvSpPr>
          <p:spPr>
            <a:xfrm>
              <a:off x="4843616" y="3759391"/>
              <a:ext cx="1255067" cy="122924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sz="1400" dirty="0">
                  <a:solidFill>
                    <a:schemeClr val="tx1"/>
                  </a:solidFill>
                </a:rPr>
                <a:t>Use Case</a:t>
              </a:r>
            </a:p>
          </p:txBody>
        </p:sp>
      </p:grpSp>
      <p:grpSp>
        <p:nvGrpSpPr>
          <p:cNvPr id="89" name="Group 88">
            <a:extLst>
              <a:ext uri="{FF2B5EF4-FFF2-40B4-BE49-F238E27FC236}">
                <a16:creationId xmlns:a16="http://schemas.microsoft.com/office/drawing/2014/main" id="{C3F9A4C8-1063-F8B2-B0F7-1D7DE81F80C6}"/>
              </a:ext>
            </a:extLst>
          </p:cNvPr>
          <p:cNvGrpSpPr/>
          <p:nvPr/>
        </p:nvGrpSpPr>
        <p:grpSpPr>
          <a:xfrm>
            <a:off x="1167619" y="3213421"/>
            <a:ext cx="1547041" cy="1074447"/>
            <a:chOff x="1829785" y="2801594"/>
            <a:chExt cx="1547041" cy="1074447"/>
          </a:xfrm>
        </p:grpSpPr>
        <p:sp>
          <p:nvSpPr>
            <p:cNvPr id="13" name="Oval 12">
              <a:extLst>
                <a:ext uri="{FF2B5EF4-FFF2-40B4-BE49-F238E27FC236}">
                  <a16:creationId xmlns:a16="http://schemas.microsoft.com/office/drawing/2014/main" id="{2526D6DF-8897-358B-0E12-9E11A8BE0094}"/>
                </a:ext>
              </a:extLst>
            </p:cNvPr>
            <p:cNvSpPr/>
            <p:nvPr/>
          </p:nvSpPr>
          <p:spPr>
            <a:xfrm>
              <a:off x="1829785" y="296223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14" name="Oval 13">
              <a:extLst>
                <a:ext uri="{FF2B5EF4-FFF2-40B4-BE49-F238E27FC236}">
                  <a16:creationId xmlns:a16="http://schemas.microsoft.com/office/drawing/2014/main" id="{2FA4D6E9-CABF-7DDF-09F2-237C21096155}"/>
                </a:ext>
              </a:extLst>
            </p:cNvPr>
            <p:cNvSpPr/>
            <p:nvPr/>
          </p:nvSpPr>
          <p:spPr>
            <a:xfrm>
              <a:off x="3016826" y="296223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15" name="Straight Arrow Connector 14">
              <a:extLst>
                <a:ext uri="{FF2B5EF4-FFF2-40B4-BE49-F238E27FC236}">
                  <a16:creationId xmlns:a16="http://schemas.microsoft.com/office/drawing/2014/main" id="{7EC4245F-3940-2959-D561-55DDA4335892}"/>
                </a:ext>
              </a:extLst>
            </p:cNvPr>
            <p:cNvCxnSpPr>
              <a:stCxn id="13" idx="6"/>
              <a:endCxn id="14" idx="2"/>
            </p:cNvCxnSpPr>
            <p:nvPr/>
          </p:nvCxnSpPr>
          <p:spPr>
            <a:xfrm>
              <a:off x="2189785" y="3142232"/>
              <a:ext cx="82704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7919D0B5-08BE-7575-6CD6-6A0CBAE3B283}"/>
                </a:ext>
              </a:extLst>
            </p:cNvPr>
            <p:cNvSpPr/>
            <p:nvPr/>
          </p:nvSpPr>
          <p:spPr>
            <a:xfrm>
              <a:off x="2413260" y="3516041"/>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a</a:t>
              </a:r>
              <a:endParaRPr lang="en-US" noProof="0" dirty="0">
                <a:solidFill>
                  <a:schemeClr val="tx1">
                    <a:lumMod val="50000"/>
                    <a:lumOff val="50000"/>
                  </a:schemeClr>
                </a:solidFill>
              </a:endParaRPr>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619A6BE8-2A72-2BCB-5672-DBF5D98C47B3}"/>
                    </a:ext>
                  </a:extLst>
                </p:cNvPr>
                <p:cNvSpPr txBox="1"/>
                <p:nvPr/>
              </p:nvSpPr>
              <p:spPr>
                <a:xfrm>
                  <a:off x="2450914" y="2801594"/>
                  <a:ext cx="28469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b="0" i="1" smtClean="0">
                                <a:solidFill>
                                  <a:srgbClr val="C00000"/>
                                </a:solidFill>
                                <a:latin typeface="Cambria Math" panose="02040503050406030204" pitchFamily="18" charset="0"/>
                              </a:rPr>
                            </m:ctrlPr>
                          </m:sSubPr>
                          <m:e>
                            <m:r>
                              <a:rPr lang="en-SE" b="0" i="1" smtClean="0">
                                <a:solidFill>
                                  <a:srgbClr val="C00000"/>
                                </a:solidFill>
                                <a:latin typeface="Cambria Math" panose="02040503050406030204" pitchFamily="18" charset="0"/>
                              </a:rPr>
                              <m:t>𝛽</m:t>
                            </m:r>
                          </m:e>
                          <m:sub>
                            <m:r>
                              <a:rPr lang="en-SE" b="0" i="1" smtClean="0">
                                <a:solidFill>
                                  <a:srgbClr val="C00000"/>
                                </a:solidFill>
                                <a:latin typeface="Cambria Math" panose="02040503050406030204" pitchFamily="18" charset="0"/>
                              </a:rPr>
                              <m:t>𝑥</m:t>
                            </m:r>
                          </m:sub>
                        </m:sSub>
                      </m:oMath>
                    </m:oMathPara>
                  </a14:m>
                  <a:endParaRPr lang="en-SE" dirty="0"/>
                </a:p>
              </p:txBody>
            </p:sp>
          </mc:Choice>
          <mc:Fallback xmlns="">
            <p:sp>
              <p:nvSpPr>
                <p:cNvPr id="71" name="TextBox 70">
                  <a:extLst>
                    <a:ext uri="{FF2B5EF4-FFF2-40B4-BE49-F238E27FC236}">
                      <a16:creationId xmlns:a16="http://schemas.microsoft.com/office/drawing/2014/main" id="{619A6BE8-2A72-2BCB-5672-DBF5D98C47B3}"/>
                    </a:ext>
                  </a:extLst>
                </p:cNvPr>
                <p:cNvSpPr txBox="1">
                  <a:spLocks noRot="1" noChangeAspect="1" noMove="1" noResize="1" noEditPoints="1" noAdjustHandles="1" noChangeArrowheads="1" noChangeShapeType="1" noTextEdit="1"/>
                </p:cNvSpPr>
                <p:nvPr/>
              </p:nvSpPr>
              <p:spPr>
                <a:xfrm>
                  <a:off x="2450914" y="2801594"/>
                  <a:ext cx="284693" cy="276999"/>
                </a:xfrm>
                <a:prstGeom prst="rect">
                  <a:avLst/>
                </a:prstGeom>
                <a:blipFill>
                  <a:blip r:embed="rId2"/>
                  <a:stretch>
                    <a:fillRect l="-29787" t="-2222" r="-2128" b="-35556"/>
                  </a:stretch>
                </a:blipFill>
              </p:spPr>
              <p:txBody>
                <a:bodyPr/>
                <a:lstStyle/>
                <a:p>
                  <a:r>
                    <a:rPr lang="en-SE">
                      <a:noFill/>
                    </a:rPr>
                    <a:t> </a:t>
                  </a:r>
                </a:p>
              </p:txBody>
            </p:sp>
          </mc:Fallback>
        </mc:AlternateContent>
      </p:grpSp>
      <p:grpSp>
        <p:nvGrpSpPr>
          <p:cNvPr id="92" name="Group 91">
            <a:extLst>
              <a:ext uri="{FF2B5EF4-FFF2-40B4-BE49-F238E27FC236}">
                <a16:creationId xmlns:a16="http://schemas.microsoft.com/office/drawing/2014/main" id="{F932D58B-E1EC-2C16-ABB9-881828FCB4A4}"/>
              </a:ext>
            </a:extLst>
          </p:cNvPr>
          <p:cNvGrpSpPr/>
          <p:nvPr/>
        </p:nvGrpSpPr>
        <p:grpSpPr>
          <a:xfrm>
            <a:off x="3929509" y="3213421"/>
            <a:ext cx="1547041" cy="1074447"/>
            <a:chOff x="1829785" y="2801594"/>
            <a:chExt cx="1547041" cy="1074447"/>
          </a:xfrm>
        </p:grpSpPr>
        <p:sp>
          <p:nvSpPr>
            <p:cNvPr id="100" name="Oval 99">
              <a:extLst>
                <a:ext uri="{FF2B5EF4-FFF2-40B4-BE49-F238E27FC236}">
                  <a16:creationId xmlns:a16="http://schemas.microsoft.com/office/drawing/2014/main" id="{64CFCF6D-1868-0FD9-3DEE-F334C848ECC0}"/>
                </a:ext>
              </a:extLst>
            </p:cNvPr>
            <p:cNvSpPr/>
            <p:nvPr/>
          </p:nvSpPr>
          <p:spPr>
            <a:xfrm>
              <a:off x="1829785" y="296223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101" name="Oval 100">
              <a:extLst>
                <a:ext uri="{FF2B5EF4-FFF2-40B4-BE49-F238E27FC236}">
                  <a16:creationId xmlns:a16="http://schemas.microsoft.com/office/drawing/2014/main" id="{72101797-6FEE-E354-181E-B341A2B2FD80}"/>
                </a:ext>
              </a:extLst>
            </p:cNvPr>
            <p:cNvSpPr/>
            <p:nvPr/>
          </p:nvSpPr>
          <p:spPr>
            <a:xfrm>
              <a:off x="3016826" y="296223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102" name="Straight Arrow Connector 101">
              <a:extLst>
                <a:ext uri="{FF2B5EF4-FFF2-40B4-BE49-F238E27FC236}">
                  <a16:creationId xmlns:a16="http://schemas.microsoft.com/office/drawing/2014/main" id="{A93306A8-F300-B518-1D88-3B02632939D5}"/>
                </a:ext>
              </a:extLst>
            </p:cNvPr>
            <p:cNvCxnSpPr>
              <a:stCxn id="100" idx="6"/>
              <a:endCxn id="101" idx="2"/>
            </p:cNvCxnSpPr>
            <p:nvPr/>
          </p:nvCxnSpPr>
          <p:spPr>
            <a:xfrm>
              <a:off x="2189785" y="3142232"/>
              <a:ext cx="82704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3" name="Oval 102">
              <a:extLst>
                <a:ext uri="{FF2B5EF4-FFF2-40B4-BE49-F238E27FC236}">
                  <a16:creationId xmlns:a16="http://schemas.microsoft.com/office/drawing/2014/main" id="{67D42D92-33D4-C7E4-7D4C-69D5ABC004C1}"/>
                </a:ext>
              </a:extLst>
            </p:cNvPr>
            <p:cNvSpPr/>
            <p:nvPr/>
          </p:nvSpPr>
          <p:spPr>
            <a:xfrm>
              <a:off x="2413260" y="3516041"/>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a</a:t>
              </a:r>
              <a:endParaRPr lang="en-US" noProof="0" dirty="0">
                <a:solidFill>
                  <a:schemeClr val="tx1">
                    <a:lumMod val="50000"/>
                    <a:lumOff val="50000"/>
                  </a:schemeClr>
                </a:solidFill>
              </a:endParaRPr>
            </a:p>
          </p:txBody>
        </p:sp>
        <p:cxnSp>
          <p:nvCxnSpPr>
            <p:cNvPr id="104" name="Straight Arrow Connector 103">
              <a:extLst>
                <a:ext uri="{FF2B5EF4-FFF2-40B4-BE49-F238E27FC236}">
                  <a16:creationId xmlns:a16="http://schemas.microsoft.com/office/drawing/2014/main" id="{7E3B9810-9E86-040B-4B9D-5DDD9A942656}"/>
                </a:ext>
              </a:extLst>
            </p:cNvPr>
            <p:cNvCxnSpPr>
              <a:cxnSpLocks/>
              <a:stCxn id="103" idx="7"/>
              <a:endCxn id="101" idx="3"/>
            </p:cNvCxnSpPr>
            <p:nvPr/>
          </p:nvCxnSpPr>
          <p:spPr>
            <a:xfrm flipV="1">
              <a:off x="2720539" y="3269511"/>
              <a:ext cx="349008" cy="29925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2F281DDA-E611-37C6-551A-C5D7F42C8996}"/>
                    </a:ext>
                  </a:extLst>
                </p:cNvPr>
                <p:cNvSpPr txBox="1"/>
                <p:nvPr/>
              </p:nvSpPr>
              <p:spPr>
                <a:xfrm>
                  <a:off x="2450914" y="2801594"/>
                  <a:ext cx="28469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b="0" i="1" smtClean="0">
                                <a:solidFill>
                                  <a:srgbClr val="C00000"/>
                                </a:solidFill>
                                <a:latin typeface="Cambria Math" panose="02040503050406030204" pitchFamily="18" charset="0"/>
                              </a:rPr>
                            </m:ctrlPr>
                          </m:sSubPr>
                          <m:e>
                            <m:r>
                              <a:rPr lang="en-SE" b="0" i="1" smtClean="0">
                                <a:solidFill>
                                  <a:srgbClr val="C00000"/>
                                </a:solidFill>
                                <a:latin typeface="Cambria Math" panose="02040503050406030204" pitchFamily="18" charset="0"/>
                              </a:rPr>
                              <m:t>𝛽</m:t>
                            </m:r>
                          </m:e>
                          <m:sub>
                            <m:r>
                              <a:rPr lang="en-SE" b="0" i="1" smtClean="0">
                                <a:solidFill>
                                  <a:srgbClr val="C00000"/>
                                </a:solidFill>
                                <a:latin typeface="Cambria Math" panose="02040503050406030204" pitchFamily="18" charset="0"/>
                              </a:rPr>
                              <m:t>𝑥</m:t>
                            </m:r>
                          </m:sub>
                        </m:sSub>
                      </m:oMath>
                    </m:oMathPara>
                  </a14:m>
                  <a:endParaRPr lang="en-SE" dirty="0"/>
                </a:p>
              </p:txBody>
            </p:sp>
          </mc:Choice>
          <mc:Fallback xmlns="">
            <p:sp>
              <p:nvSpPr>
                <p:cNvPr id="106" name="TextBox 105">
                  <a:extLst>
                    <a:ext uri="{FF2B5EF4-FFF2-40B4-BE49-F238E27FC236}">
                      <a16:creationId xmlns:a16="http://schemas.microsoft.com/office/drawing/2014/main" id="{2F281DDA-E611-37C6-551A-C5D7F42C8996}"/>
                    </a:ext>
                  </a:extLst>
                </p:cNvPr>
                <p:cNvSpPr txBox="1">
                  <a:spLocks noRot="1" noChangeAspect="1" noMove="1" noResize="1" noEditPoints="1" noAdjustHandles="1" noChangeArrowheads="1" noChangeShapeType="1" noTextEdit="1"/>
                </p:cNvSpPr>
                <p:nvPr/>
              </p:nvSpPr>
              <p:spPr>
                <a:xfrm>
                  <a:off x="2450914" y="2801594"/>
                  <a:ext cx="284693" cy="276999"/>
                </a:xfrm>
                <a:prstGeom prst="rect">
                  <a:avLst/>
                </a:prstGeom>
                <a:blipFill>
                  <a:blip r:embed="rId3"/>
                  <a:stretch>
                    <a:fillRect l="-29787" t="-2222" r="-2128" b="-3555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47D753E1-75FA-F686-076D-32D06C405BD4}"/>
                    </a:ext>
                  </a:extLst>
                </p:cNvPr>
                <p:cNvSpPr txBox="1"/>
                <p:nvPr/>
              </p:nvSpPr>
              <p:spPr>
                <a:xfrm>
                  <a:off x="2924186" y="3449510"/>
                  <a:ext cx="29072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b="0" i="1" smtClean="0">
                                <a:solidFill>
                                  <a:schemeClr val="bg1">
                                    <a:lumMod val="50000"/>
                                  </a:schemeClr>
                                </a:solidFill>
                                <a:latin typeface="Cambria Math" panose="02040503050406030204" pitchFamily="18" charset="0"/>
                              </a:rPr>
                            </m:ctrlPr>
                          </m:sSubPr>
                          <m:e>
                            <m:r>
                              <a:rPr lang="en-SE" b="0" i="1" smtClean="0">
                                <a:solidFill>
                                  <a:schemeClr val="bg1">
                                    <a:lumMod val="50000"/>
                                  </a:schemeClr>
                                </a:solidFill>
                                <a:latin typeface="Cambria Math" panose="02040503050406030204" pitchFamily="18" charset="0"/>
                              </a:rPr>
                              <m:t>𝛽</m:t>
                            </m:r>
                          </m:e>
                          <m:sub>
                            <m:r>
                              <a:rPr lang="en-SE" b="0" i="1" smtClean="0">
                                <a:solidFill>
                                  <a:schemeClr val="bg1">
                                    <a:lumMod val="50000"/>
                                  </a:schemeClr>
                                </a:solidFill>
                                <a:latin typeface="Cambria Math" panose="02040503050406030204" pitchFamily="18" charset="0"/>
                              </a:rPr>
                              <m:t>𝑎</m:t>
                            </m:r>
                          </m:sub>
                        </m:sSub>
                      </m:oMath>
                    </m:oMathPara>
                  </a14:m>
                  <a:endParaRPr lang="en-SE" dirty="0">
                    <a:solidFill>
                      <a:schemeClr val="bg1">
                        <a:lumMod val="50000"/>
                      </a:schemeClr>
                    </a:solidFill>
                  </a:endParaRPr>
                </a:p>
              </p:txBody>
            </p:sp>
          </mc:Choice>
          <mc:Fallback xmlns="">
            <p:sp>
              <p:nvSpPr>
                <p:cNvPr id="107" name="TextBox 106">
                  <a:extLst>
                    <a:ext uri="{FF2B5EF4-FFF2-40B4-BE49-F238E27FC236}">
                      <a16:creationId xmlns:a16="http://schemas.microsoft.com/office/drawing/2014/main" id="{47D753E1-75FA-F686-076D-32D06C405BD4}"/>
                    </a:ext>
                  </a:extLst>
                </p:cNvPr>
                <p:cNvSpPr txBox="1">
                  <a:spLocks noRot="1" noChangeAspect="1" noMove="1" noResize="1" noEditPoints="1" noAdjustHandles="1" noChangeArrowheads="1" noChangeShapeType="1" noTextEdit="1"/>
                </p:cNvSpPr>
                <p:nvPr/>
              </p:nvSpPr>
              <p:spPr>
                <a:xfrm>
                  <a:off x="2924186" y="3449510"/>
                  <a:ext cx="290721" cy="276999"/>
                </a:xfrm>
                <a:prstGeom prst="rect">
                  <a:avLst/>
                </a:prstGeom>
                <a:blipFill>
                  <a:blip r:embed="rId4"/>
                  <a:stretch>
                    <a:fillRect l="-29167" t="-2174" r="-2083" b="-32609"/>
                  </a:stretch>
                </a:blipFill>
              </p:spPr>
              <p:txBody>
                <a:bodyPr/>
                <a:lstStyle/>
                <a:p>
                  <a:r>
                    <a:rPr lang="en-SE">
                      <a:noFill/>
                    </a:rPr>
                    <a:t> </a:t>
                  </a:r>
                </a:p>
              </p:txBody>
            </p:sp>
          </mc:Fallback>
        </mc:AlternateContent>
      </p:grpSp>
      <p:grpSp>
        <p:nvGrpSpPr>
          <p:cNvPr id="110" name="Group 109">
            <a:extLst>
              <a:ext uri="{FF2B5EF4-FFF2-40B4-BE49-F238E27FC236}">
                <a16:creationId xmlns:a16="http://schemas.microsoft.com/office/drawing/2014/main" id="{8C508F59-D369-9AA4-77ED-25AC232C4647}"/>
              </a:ext>
            </a:extLst>
          </p:cNvPr>
          <p:cNvGrpSpPr/>
          <p:nvPr/>
        </p:nvGrpSpPr>
        <p:grpSpPr>
          <a:xfrm>
            <a:off x="6691399" y="3213421"/>
            <a:ext cx="1547041" cy="1074447"/>
            <a:chOff x="1829785" y="2801594"/>
            <a:chExt cx="1547041" cy="1074447"/>
          </a:xfrm>
        </p:grpSpPr>
        <p:sp>
          <p:nvSpPr>
            <p:cNvPr id="118" name="Oval 117">
              <a:extLst>
                <a:ext uri="{FF2B5EF4-FFF2-40B4-BE49-F238E27FC236}">
                  <a16:creationId xmlns:a16="http://schemas.microsoft.com/office/drawing/2014/main" id="{852047AA-3519-C899-FAA2-3819C5E7D3AB}"/>
                </a:ext>
              </a:extLst>
            </p:cNvPr>
            <p:cNvSpPr/>
            <p:nvPr/>
          </p:nvSpPr>
          <p:spPr>
            <a:xfrm>
              <a:off x="1829785" y="296223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119" name="Oval 118">
              <a:extLst>
                <a:ext uri="{FF2B5EF4-FFF2-40B4-BE49-F238E27FC236}">
                  <a16:creationId xmlns:a16="http://schemas.microsoft.com/office/drawing/2014/main" id="{2792E6BE-4DD0-B003-3A90-EBCA70C445AB}"/>
                </a:ext>
              </a:extLst>
            </p:cNvPr>
            <p:cNvSpPr/>
            <p:nvPr/>
          </p:nvSpPr>
          <p:spPr>
            <a:xfrm>
              <a:off x="3016826" y="296223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120" name="Straight Arrow Connector 119">
              <a:extLst>
                <a:ext uri="{FF2B5EF4-FFF2-40B4-BE49-F238E27FC236}">
                  <a16:creationId xmlns:a16="http://schemas.microsoft.com/office/drawing/2014/main" id="{CEE1EB45-BD52-5F94-C5C1-6F0D3690AA49}"/>
                </a:ext>
              </a:extLst>
            </p:cNvPr>
            <p:cNvCxnSpPr>
              <a:stCxn id="118" idx="6"/>
              <a:endCxn id="119" idx="2"/>
            </p:cNvCxnSpPr>
            <p:nvPr/>
          </p:nvCxnSpPr>
          <p:spPr>
            <a:xfrm>
              <a:off x="2189785" y="3142232"/>
              <a:ext cx="82704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1" name="Oval 120">
              <a:extLst>
                <a:ext uri="{FF2B5EF4-FFF2-40B4-BE49-F238E27FC236}">
                  <a16:creationId xmlns:a16="http://schemas.microsoft.com/office/drawing/2014/main" id="{20BF16CF-9C04-0B07-9359-31AE29EDC2E4}"/>
                </a:ext>
              </a:extLst>
            </p:cNvPr>
            <p:cNvSpPr/>
            <p:nvPr/>
          </p:nvSpPr>
          <p:spPr>
            <a:xfrm>
              <a:off x="2413260" y="3516041"/>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a</a:t>
              </a:r>
              <a:endParaRPr lang="en-US" noProof="0" dirty="0">
                <a:solidFill>
                  <a:schemeClr val="tx1">
                    <a:lumMod val="50000"/>
                    <a:lumOff val="50000"/>
                  </a:schemeClr>
                </a:solidFill>
              </a:endParaRPr>
            </a:p>
          </p:txBody>
        </p:sp>
        <p:cxnSp>
          <p:nvCxnSpPr>
            <p:cNvPr id="123" name="Straight Arrow Connector 122">
              <a:extLst>
                <a:ext uri="{FF2B5EF4-FFF2-40B4-BE49-F238E27FC236}">
                  <a16:creationId xmlns:a16="http://schemas.microsoft.com/office/drawing/2014/main" id="{A88082CE-247A-6730-217F-6C4D2F7D03C9}"/>
                </a:ext>
              </a:extLst>
            </p:cNvPr>
            <p:cNvCxnSpPr>
              <a:cxnSpLocks/>
              <a:stCxn id="121" idx="0"/>
            </p:cNvCxnSpPr>
            <p:nvPr/>
          </p:nvCxnSpPr>
          <p:spPr>
            <a:xfrm flipV="1">
              <a:off x="2593260" y="3142232"/>
              <a:ext cx="0" cy="3738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6540CE31-659C-5904-76E5-B6547597BF6F}"/>
                    </a:ext>
                  </a:extLst>
                </p:cNvPr>
                <p:cNvSpPr txBox="1"/>
                <p:nvPr/>
              </p:nvSpPr>
              <p:spPr>
                <a:xfrm>
                  <a:off x="2450914" y="2801594"/>
                  <a:ext cx="28469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b="0" i="1" smtClean="0">
                                <a:solidFill>
                                  <a:srgbClr val="C00000"/>
                                </a:solidFill>
                                <a:latin typeface="Cambria Math" panose="02040503050406030204" pitchFamily="18" charset="0"/>
                              </a:rPr>
                            </m:ctrlPr>
                          </m:sSubPr>
                          <m:e>
                            <m:r>
                              <a:rPr lang="en-SE" b="0" i="1" smtClean="0">
                                <a:solidFill>
                                  <a:srgbClr val="C00000"/>
                                </a:solidFill>
                                <a:latin typeface="Cambria Math" panose="02040503050406030204" pitchFamily="18" charset="0"/>
                              </a:rPr>
                              <m:t>𝛽</m:t>
                            </m:r>
                          </m:e>
                          <m:sub>
                            <m:r>
                              <a:rPr lang="en-SE" b="0" i="1" smtClean="0">
                                <a:solidFill>
                                  <a:srgbClr val="C00000"/>
                                </a:solidFill>
                                <a:latin typeface="Cambria Math" panose="02040503050406030204" pitchFamily="18" charset="0"/>
                              </a:rPr>
                              <m:t>𝑥</m:t>
                            </m:r>
                          </m:sub>
                        </m:sSub>
                      </m:oMath>
                    </m:oMathPara>
                  </a14:m>
                  <a:endParaRPr lang="en-SE" dirty="0"/>
                </a:p>
              </p:txBody>
            </p:sp>
          </mc:Choice>
          <mc:Fallback xmlns="">
            <p:sp>
              <p:nvSpPr>
                <p:cNvPr id="124" name="TextBox 123">
                  <a:extLst>
                    <a:ext uri="{FF2B5EF4-FFF2-40B4-BE49-F238E27FC236}">
                      <a16:creationId xmlns:a16="http://schemas.microsoft.com/office/drawing/2014/main" id="{6540CE31-659C-5904-76E5-B6547597BF6F}"/>
                    </a:ext>
                  </a:extLst>
                </p:cNvPr>
                <p:cNvSpPr txBox="1">
                  <a:spLocks noRot="1" noChangeAspect="1" noMove="1" noResize="1" noEditPoints="1" noAdjustHandles="1" noChangeArrowheads="1" noChangeShapeType="1" noTextEdit="1"/>
                </p:cNvSpPr>
                <p:nvPr/>
              </p:nvSpPr>
              <p:spPr>
                <a:xfrm>
                  <a:off x="2450914" y="2801594"/>
                  <a:ext cx="284693" cy="276999"/>
                </a:xfrm>
                <a:prstGeom prst="rect">
                  <a:avLst/>
                </a:prstGeom>
                <a:blipFill>
                  <a:blip r:embed="rId5"/>
                  <a:stretch>
                    <a:fillRect l="-30435" t="-2222" r="-4348" b="-3555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73014C33-2AA6-1EF6-6B1F-885924D9A860}"/>
                    </a:ext>
                  </a:extLst>
                </p:cNvPr>
                <p:cNvSpPr txBox="1"/>
                <p:nvPr/>
              </p:nvSpPr>
              <p:spPr>
                <a:xfrm>
                  <a:off x="2260349" y="3205872"/>
                  <a:ext cx="26565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b="0" i="1" smtClean="0">
                                <a:solidFill>
                                  <a:srgbClr val="FFC000"/>
                                </a:solidFill>
                                <a:latin typeface="Cambria Math" panose="02040503050406030204" pitchFamily="18" charset="0"/>
                              </a:rPr>
                            </m:ctrlPr>
                          </m:sSubPr>
                          <m:e>
                            <m:r>
                              <a:rPr lang="en-SE" b="0" i="1" smtClean="0">
                                <a:solidFill>
                                  <a:srgbClr val="FFC000"/>
                                </a:solidFill>
                                <a:latin typeface="Cambria Math" panose="02040503050406030204" pitchFamily="18" charset="0"/>
                              </a:rPr>
                              <m:t>𝛾</m:t>
                            </m:r>
                          </m:e>
                          <m:sub>
                            <m:r>
                              <a:rPr lang="en-SE" b="0" i="1" smtClean="0">
                                <a:solidFill>
                                  <a:srgbClr val="FFC000"/>
                                </a:solidFill>
                                <a:latin typeface="Cambria Math" panose="02040503050406030204" pitchFamily="18" charset="0"/>
                              </a:rPr>
                              <m:t>𝑎</m:t>
                            </m:r>
                          </m:sub>
                        </m:sSub>
                      </m:oMath>
                    </m:oMathPara>
                  </a14:m>
                  <a:endParaRPr lang="en-SE" dirty="0"/>
                </a:p>
              </p:txBody>
            </p:sp>
          </mc:Choice>
          <mc:Fallback xmlns="">
            <p:sp>
              <p:nvSpPr>
                <p:cNvPr id="126" name="TextBox 125">
                  <a:extLst>
                    <a:ext uri="{FF2B5EF4-FFF2-40B4-BE49-F238E27FC236}">
                      <a16:creationId xmlns:a16="http://schemas.microsoft.com/office/drawing/2014/main" id="{73014C33-2AA6-1EF6-6B1F-885924D9A860}"/>
                    </a:ext>
                  </a:extLst>
                </p:cNvPr>
                <p:cNvSpPr txBox="1">
                  <a:spLocks noRot="1" noChangeAspect="1" noMove="1" noResize="1" noEditPoints="1" noAdjustHandles="1" noChangeArrowheads="1" noChangeShapeType="1" noTextEdit="1"/>
                </p:cNvSpPr>
                <p:nvPr/>
              </p:nvSpPr>
              <p:spPr>
                <a:xfrm>
                  <a:off x="2260349" y="3205872"/>
                  <a:ext cx="265650" cy="276999"/>
                </a:xfrm>
                <a:prstGeom prst="rect">
                  <a:avLst/>
                </a:prstGeom>
                <a:blipFill>
                  <a:blip r:embed="rId6"/>
                  <a:stretch>
                    <a:fillRect l="-20455" b="-21739"/>
                  </a:stretch>
                </a:blipFill>
              </p:spPr>
              <p:txBody>
                <a:bodyPr/>
                <a:lstStyle/>
                <a:p>
                  <a:r>
                    <a:rPr lang="en-SE">
                      <a:noFill/>
                    </a:rPr>
                    <a:t> </a:t>
                  </a:r>
                </a:p>
              </p:txBody>
            </p:sp>
          </mc:Fallback>
        </mc:AlternateContent>
      </p:grpSp>
      <p:grpSp>
        <p:nvGrpSpPr>
          <p:cNvPr id="128" name="Group 127">
            <a:extLst>
              <a:ext uri="{FF2B5EF4-FFF2-40B4-BE49-F238E27FC236}">
                <a16:creationId xmlns:a16="http://schemas.microsoft.com/office/drawing/2014/main" id="{D2E66ED3-EFCC-F600-C0E6-2E5F8B2ED017}"/>
              </a:ext>
            </a:extLst>
          </p:cNvPr>
          <p:cNvGrpSpPr/>
          <p:nvPr/>
        </p:nvGrpSpPr>
        <p:grpSpPr>
          <a:xfrm>
            <a:off x="9453289" y="3213421"/>
            <a:ext cx="1547041" cy="1074447"/>
            <a:chOff x="1829785" y="2801594"/>
            <a:chExt cx="1547041" cy="1074447"/>
          </a:xfrm>
        </p:grpSpPr>
        <p:sp>
          <p:nvSpPr>
            <p:cNvPr id="136" name="Oval 135">
              <a:extLst>
                <a:ext uri="{FF2B5EF4-FFF2-40B4-BE49-F238E27FC236}">
                  <a16:creationId xmlns:a16="http://schemas.microsoft.com/office/drawing/2014/main" id="{3A7E56E1-11CE-7769-5F70-96FBD0604CEC}"/>
                </a:ext>
              </a:extLst>
            </p:cNvPr>
            <p:cNvSpPr/>
            <p:nvPr/>
          </p:nvSpPr>
          <p:spPr>
            <a:xfrm>
              <a:off x="1829785" y="296223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137" name="Oval 136">
              <a:extLst>
                <a:ext uri="{FF2B5EF4-FFF2-40B4-BE49-F238E27FC236}">
                  <a16:creationId xmlns:a16="http://schemas.microsoft.com/office/drawing/2014/main" id="{83DAC9E4-8B9F-1FE2-88D8-D6EECF2C4A14}"/>
                </a:ext>
              </a:extLst>
            </p:cNvPr>
            <p:cNvSpPr/>
            <p:nvPr/>
          </p:nvSpPr>
          <p:spPr>
            <a:xfrm>
              <a:off x="3016826" y="296223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138" name="Straight Arrow Connector 137">
              <a:extLst>
                <a:ext uri="{FF2B5EF4-FFF2-40B4-BE49-F238E27FC236}">
                  <a16:creationId xmlns:a16="http://schemas.microsoft.com/office/drawing/2014/main" id="{552897FA-8983-6F14-39EE-5A00110E43E9}"/>
                </a:ext>
              </a:extLst>
            </p:cNvPr>
            <p:cNvCxnSpPr>
              <a:stCxn id="136" idx="6"/>
              <a:endCxn id="137" idx="2"/>
            </p:cNvCxnSpPr>
            <p:nvPr/>
          </p:nvCxnSpPr>
          <p:spPr>
            <a:xfrm>
              <a:off x="2189785" y="3142232"/>
              <a:ext cx="82704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9" name="Oval 138">
              <a:extLst>
                <a:ext uri="{FF2B5EF4-FFF2-40B4-BE49-F238E27FC236}">
                  <a16:creationId xmlns:a16="http://schemas.microsoft.com/office/drawing/2014/main" id="{3AEF5059-DA99-893E-CD0E-CFB40FCF94D4}"/>
                </a:ext>
              </a:extLst>
            </p:cNvPr>
            <p:cNvSpPr/>
            <p:nvPr/>
          </p:nvSpPr>
          <p:spPr>
            <a:xfrm>
              <a:off x="2413260" y="3516041"/>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a</a:t>
              </a:r>
              <a:endParaRPr lang="en-US" noProof="0" dirty="0">
                <a:solidFill>
                  <a:schemeClr val="tx1">
                    <a:lumMod val="50000"/>
                    <a:lumOff val="50000"/>
                  </a:schemeClr>
                </a:solidFill>
              </a:endParaRPr>
            </a:p>
          </p:txBody>
        </p:sp>
        <p:cxnSp>
          <p:nvCxnSpPr>
            <p:cNvPr id="140" name="Straight Arrow Connector 139">
              <a:extLst>
                <a:ext uri="{FF2B5EF4-FFF2-40B4-BE49-F238E27FC236}">
                  <a16:creationId xmlns:a16="http://schemas.microsoft.com/office/drawing/2014/main" id="{6C0FCDA8-6A9E-D432-C83F-8AACC4A28C86}"/>
                </a:ext>
              </a:extLst>
            </p:cNvPr>
            <p:cNvCxnSpPr>
              <a:cxnSpLocks/>
              <a:stCxn id="139" idx="7"/>
              <a:endCxn id="137" idx="3"/>
            </p:cNvCxnSpPr>
            <p:nvPr/>
          </p:nvCxnSpPr>
          <p:spPr>
            <a:xfrm flipV="1">
              <a:off x="2720539" y="3269511"/>
              <a:ext cx="349008" cy="29925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1" name="Straight Arrow Connector 140">
              <a:extLst>
                <a:ext uri="{FF2B5EF4-FFF2-40B4-BE49-F238E27FC236}">
                  <a16:creationId xmlns:a16="http://schemas.microsoft.com/office/drawing/2014/main" id="{D8CA478B-6084-88C0-6CA9-860DFBA6FB2D}"/>
                </a:ext>
              </a:extLst>
            </p:cNvPr>
            <p:cNvCxnSpPr>
              <a:cxnSpLocks/>
              <a:stCxn id="139" idx="0"/>
            </p:cNvCxnSpPr>
            <p:nvPr/>
          </p:nvCxnSpPr>
          <p:spPr>
            <a:xfrm flipV="1">
              <a:off x="2593260" y="3142232"/>
              <a:ext cx="0" cy="3738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42" name="TextBox 141">
                  <a:extLst>
                    <a:ext uri="{FF2B5EF4-FFF2-40B4-BE49-F238E27FC236}">
                      <a16:creationId xmlns:a16="http://schemas.microsoft.com/office/drawing/2014/main" id="{4E338BF5-D5A3-172E-877A-272CF0BB8A1A}"/>
                    </a:ext>
                  </a:extLst>
                </p:cNvPr>
                <p:cNvSpPr txBox="1"/>
                <p:nvPr/>
              </p:nvSpPr>
              <p:spPr>
                <a:xfrm>
                  <a:off x="2450914" y="2801594"/>
                  <a:ext cx="28469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b="0" i="1" smtClean="0">
                                <a:solidFill>
                                  <a:srgbClr val="C00000"/>
                                </a:solidFill>
                                <a:latin typeface="Cambria Math" panose="02040503050406030204" pitchFamily="18" charset="0"/>
                              </a:rPr>
                            </m:ctrlPr>
                          </m:sSubPr>
                          <m:e>
                            <m:r>
                              <a:rPr lang="en-SE" b="0" i="1" smtClean="0">
                                <a:solidFill>
                                  <a:srgbClr val="C00000"/>
                                </a:solidFill>
                                <a:latin typeface="Cambria Math" panose="02040503050406030204" pitchFamily="18" charset="0"/>
                              </a:rPr>
                              <m:t>𝛽</m:t>
                            </m:r>
                          </m:e>
                          <m:sub>
                            <m:r>
                              <a:rPr lang="en-SE" b="0" i="1" smtClean="0">
                                <a:solidFill>
                                  <a:srgbClr val="C00000"/>
                                </a:solidFill>
                                <a:latin typeface="Cambria Math" panose="02040503050406030204" pitchFamily="18" charset="0"/>
                              </a:rPr>
                              <m:t>𝑥</m:t>
                            </m:r>
                          </m:sub>
                        </m:sSub>
                      </m:oMath>
                    </m:oMathPara>
                  </a14:m>
                  <a:endParaRPr lang="en-SE" dirty="0"/>
                </a:p>
              </p:txBody>
            </p:sp>
          </mc:Choice>
          <mc:Fallback xmlns="">
            <p:sp>
              <p:nvSpPr>
                <p:cNvPr id="142" name="TextBox 141">
                  <a:extLst>
                    <a:ext uri="{FF2B5EF4-FFF2-40B4-BE49-F238E27FC236}">
                      <a16:creationId xmlns:a16="http://schemas.microsoft.com/office/drawing/2014/main" id="{4E338BF5-D5A3-172E-877A-272CF0BB8A1A}"/>
                    </a:ext>
                  </a:extLst>
                </p:cNvPr>
                <p:cNvSpPr txBox="1">
                  <a:spLocks noRot="1" noChangeAspect="1" noMove="1" noResize="1" noEditPoints="1" noAdjustHandles="1" noChangeArrowheads="1" noChangeShapeType="1" noTextEdit="1"/>
                </p:cNvSpPr>
                <p:nvPr/>
              </p:nvSpPr>
              <p:spPr>
                <a:xfrm>
                  <a:off x="2450914" y="2801594"/>
                  <a:ext cx="284693" cy="276999"/>
                </a:xfrm>
                <a:prstGeom prst="rect">
                  <a:avLst/>
                </a:prstGeom>
                <a:blipFill>
                  <a:blip r:embed="rId7"/>
                  <a:stretch>
                    <a:fillRect l="-30435" t="-2222" r="-4348" b="-3555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43" name="TextBox 142">
                  <a:extLst>
                    <a:ext uri="{FF2B5EF4-FFF2-40B4-BE49-F238E27FC236}">
                      <a16:creationId xmlns:a16="http://schemas.microsoft.com/office/drawing/2014/main" id="{EF391927-C120-F9EE-1808-987685ECD5E1}"/>
                    </a:ext>
                  </a:extLst>
                </p:cNvPr>
                <p:cNvSpPr txBox="1"/>
                <p:nvPr/>
              </p:nvSpPr>
              <p:spPr>
                <a:xfrm>
                  <a:off x="2924186" y="3449510"/>
                  <a:ext cx="29072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b="0" i="1" smtClean="0">
                                <a:solidFill>
                                  <a:schemeClr val="bg1">
                                    <a:lumMod val="50000"/>
                                  </a:schemeClr>
                                </a:solidFill>
                                <a:latin typeface="Cambria Math" panose="02040503050406030204" pitchFamily="18" charset="0"/>
                              </a:rPr>
                            </m:ctrlPr>
                          </m:sSubPr>
                          <m:e>
                            <m:r>
                              <a:rPr lang="en-SE" b="0" i="1" smtClean="0">
                                <a:solidFill>
                                  <a:schemeClr val="bg1">
                                    <a:lumMod val="50000"/>
                                  </a:schemeClr>
                                </a:solidFill>
                                <a:latin typeface="Cambria Math" panose="02040503050406030204" pitchFamily="18" charset="0"/>
                              </a:rPr>
                              <m:t>𝛽</m:t>
                            </m:r>
                          </m:e>
                          <m:sub>
                            <m:r>
                              <a:rPr lang="en-SE" b="0" i="1" smtClean="0">
                                <a:solidFill>
                                  <a:schemeClr val="bg1">
                                    <a:lumMod val="50000"/>
                                  </a:schemeClr>
                                </a:solidFill>
                                <a:latin typeface="Cambria Math" panose="02040503050406030204" pitchFamily="18" charset="0"/>
                              </a:rPr>
                              <m:t>𝑎</m:t>
                            </m:r>
                          </m:sub>
                        </m:sSub>
                      </m:oMath>
                    </m:oMathPara>
                  </a14:m>
                  <a:endParaRPr lang="en-SE" dirty="0">
                    <a:solidFill>
                      <a:schemeClr val="bg1">
                        <a:lumMod val="50000"/>
                      </a:schemeClr>
                    </a:solidFill>
                  </a:endParaRPr>
                </a:p>
              </p:txBody>
            </p:sp>
          </mc:Choice>
          <mc:Fallback xmlns="">
            <p:sp>
              <p:nvSpPr>
                <p:cNvPr id="143" name="TextBox 142">
                  <a:extLst>
                    <a:ext uri="{FF2B5EF4-FFF2-40B4-BE49-F238E27FC236}">
                      <a16:creationId xmlns:a16="http://schemas.microsoft.com/office/drawing/2014/main" id="{EF391927-C120-F9EE-1808-987685ECD5E1}"/>
                    </a:ext>
                  </a:extLst>
                </p:cNvPr>
                <p:cNvSpPr txBox="1">
                  <a:spLocks noRot="1" noChangeAspect="1" noMove="1" noResize="1" noEditPoints="1" noAdjustHandles="1" noChangeArrowheads="1" noChangeShapeType="1" noTextEdit="1"/>
                </p:cNvSpPr>
                <p:nvPr/>
              </p:nvSpPr>
              <p:spPr>
                <a:xfrm>
                  <a:off x="2924186" y="3449510"/>
                  <a:ext cx="290721" cy="276999"/>
                </a:xfrm>
                <a:prstGeom prst="rect">
                  <a:avLst/>
                </a:prstGeom>
                <a:blipFill>
                  <a:blip r:embed="rId8"/>
                  <a:stretch>
                    <a:fillRect l="-29167" t="-2174" r="-2083" b="-3260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C4BED58C-1B13-E684-7F5A-CF8200A4A5DC}"/>
                    </a:ext>
                  </a:extLst>
                </p:cNvPr>
                <p:cNvSpPr txBox="1"/>
                <p:nvPr/>
              </p:nvSpPr>
              <p:spPr>
                <a:xfrm>
                  <a:off x="2260349" y="3205872"/>
                  <a:ext cx="26565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b="0" i="1" smtClean="0">
                                <a:solidFill>
                                  <a:srgbClr val="FFC000"/>
                                </a:solidFill>
                                <a:latin typeface="Cambria Math" panose="02040503050406030204" pitchFamily="18" charset="0"/>
                              </a:rPr>
                            </m:ctrlPr>
                          </m:sSubPr>
                          <m:e>
                            <m:r>
                              <a:rPr lang="en-SE" b="0" i="1" smtClean="0">
                                <a:solidFill>
                                  <a:srgbClr val="FFC000"/>
                                </a:solidFill>
                                <a:latin typeface="Cambria Math" panose="02040503050406030204" pitchFamily="18" charset="0"/>
                              </a:rPr>
                              <m:t>𝛾</m:t>
                            </m:r>
                          </m:e>
                          <m:sub>
                            <m:r>
                              <a:rPr lang="en-SE" b="0" i="1" smtClean="0">
                                <a:solidFill>
                                  <a:srgbClr val="FFC000"/>
                                </a:solidFill>
                                <a:latin typeface="Cambria Math" panose="02040503050406030204" pitchFamily="18" charset="0"/>
                              </a:rPr>
                              <m:t>𝑎</m:t>
                            </m:r>
                          </m:sub>
                        </m:sSub>
                      </m:oMath>
                    </m:oMathPara>
                  </a14:m>
                  <a:endParaRPr lang="en-SE" dirty="0"/>
                </a:p>
              </p:txBody>
            </p:sp>
          </mc:Choice>
          <mc:Fallback xmlns="">
            <p:sp>
              <p:nvSpPr>
                <p:cNvPr id="144" name="TextBox 143">
                  <a:extLst>
                    <a:ext uri="{FF2B5EF4-FFF2-40B4-BE49-F238E27FC236}">
                      <a16:creationId xmlns:a16="http://schemas.microsoft.com/office/drawing/2014/main" id="{C4BED58C-1B13-E684-7F5A-CF8200A4A5DC}"/>
                    </a:ext>
                  </a:extLst>
                </p:cNvPr>
                <p:cNvSpPr txBox="1">
                  <a:spLocks noRot="1" noChangeAspect="1" noMove="1" noResize="1" noEditPoints="1" noAdjustHandles="1" noChangeArrowheads="1" noChangeShapeType="1" noTextEdit="1"/>
                </p:cNvSpPr>
                <p:nvPr/>
              </p:nvSpPr>
              <p:spPr>
                <a:xfrm>
                  <a:off x="2260349" y="3205872"/>
                  <a:ext cx="265650" cy="276999"/>
                </a:xfrm>
                <a:prstGeom prst="rect">
                  <a:avLst/>
                </a:prstGeom>
                <a:blipFill>
                  <a:blip r:embed="rId9"/>
                  <a:stretch>
                    <a:fillRect l="-20455" b="-21739"/>
                  </a:stretch>
                </a:blipFill>
              </p:spPr>
              <p:txBody>
                <a:bodyPr/>
                <a:lstStyle/>
                <a:p>
                  <a:r>
                    <a:rPr lang="en-SE">
                      <a:noFill/>
                    </a:rPr>
                    <a:t> </a:t>
                  </a:r>
                </a:p>
              </p:txBody>
            </p:sp>
          </mc:Fallback>
        </mc:AlternateContent>
      </p:grpSp>
      <p:grpSp>
        <p:nvGrpSpPr>
          <p:cNvPr id="6" name="Group 5">
            <a:extLst>
              <a:ext uri="{FF2B5EF4-FFF2-40B4-BE49-F238E27FC236}">
                <a16:creationId xmlns:a16="http://schemas.microsoft.com/office/drawing/2014/main" id="{ED2ECED6-70D0-E68C-C94A-7E2479B7E032}"/>
              </a:ext>
            </a:extLst>
          </p:cNvPr>
          <p:cNvGrpSpPr/>
          <p:nvPr/>
        </p:nvGrpSpPr>
        <p:grpSpPr>
          <a:xfrm>
            <a:off x="838198" y="4375579"/>
            <a:ext cx="2078246" cy="1872140"/>
            <a:chOff x="838198" y="3923754"/>
            <a:chExt cx="2078246" cy="1872140"/>
          </a:xfrm>
        </p:grpSpPr>
        <p:grpSp>
          <p:nvGrpSpPr>
            <p:cNvPr id="83" name="Group 82">
              <a:extLst>
                <a:ext uri="{FF2B5EF4-FFF2-40B4-BE49-F238E27FC236}">
                  <a16:creationId xmlns:a16="http://schemas.microsoft.com/office/drawing/2014/main" id="{C63A1D3F-A3B5-6DAD-4B0D-553051DE024D}"/>
                </a:ext>
              </a:extLst>
            </p:cNvPr>
            <p:cNvGrpSpPr/>
            <p:nvPr/>
          </p:nvGrpSpPr>
          <p:grpSpPr>
            <a:xfrm>
              <a:off x="838198" y="3923754"/>
              <a:ext cx="2078246" cy="1872140"/>
              <a:chOff x="1008094" y="3821667"/>
              <a:chExt cx="2078246" cy="1872140"/>
            </a:xfrm>
          </p:grpSpPr>
          <p:cxnSp>
            <p:nvCxnSpPr>
              <p:cNvPr id="77" name="Straight Arrow Connector 76">
                <a:extLst>
                  <a:ext uri="{FF2B5EF4-FFF2-40B4-BE49-F238E27FC236}">
                    <a16:creationId xmlns:a16="http://schemas.microsoft.com/office/drawing/2014/main" id="{1472BDCA-6872-C7C0-5DC3-F794D9A35AEB}"/>
                  </a:ext>
                </a:extLst>
              </p:cNvPr>
              <p:cNvCxnSpPr/>
              <p:nvPr/>
            </p:nvCxnSpPr>
            <p:spPr>
              <a:xfrm>
                <a:off x="1152525" y="5324475"/>
                <a:ext cx="1917022" cy="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78" name="Straight Arrow Connector 77">
                <a:extLst>
                  <a:ext uri="{FF2B5EF4-FFF2-40B4-BE49-F238E27FC236}">
                    <a16:creationId xmlns:a16="http://schemas.microsoft.com/office/drawing/2014/main" id="{80352C6B-0557-FEA9-BAF0-56C54E81C191}"/>
                  </a:ext>
                </a:extLst>
              </p:cNvPr>
              <p:cNvCxnSpPr>
                <a:cxnSpLocks/>
              </p:cNvCxnSpPr>
              <p:nvPr/>
            </p:nvCxnSpPr>
            <p:spPr>
              <a:xfrm flipV="1">
                <a:off x="1152525" y="4191000"/>
                <a:ext cx="0" cy="1133475"/>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81" name="TextBox 80">
                <a:extLst>
                  <a:ext uri="{FF2B5EF4-FFF2-40B4-BE49-F238E27FC236}">
                    <a16:creationId xmlns:a16="http://schemas.microsoft.com/office/drawing/2014/main" id="{B5B2036B-3925-647A-A2C1-073706B8694A}"/>
                  </a:ext>
                </a:extLst>
              </p:cNvPr>
              <p:cNvSpPr txBox="1"/>
              <p:nvPr/>
            </p:nvSpPr>
            <p:spPr>
              <a:xfrm>
                <a:off x="2778242" y="5324475"/>
                <a:ext cx="308098" cy="369332"/>
              </a:xfrm>
              <a:prstGeom prst="rect">
                <a:avLst/>
              </a:prstGeom>
              <a:noFill/>
            </p:spPr>
            <p:txBody>
              <a:bodyPr wrap="none" rtlCol="0">
                <a:spAutoFit/>
              </a:bodyPr>
              <a:lstStyle/>
              <a:p>
                <a:r>
                  <a:rPr lang="en-SE" dirty="0">
                    <a:solidFill>
                      <a:schemeClr val="tx1">
                        <a:lumMod val="50000"/>
                        <a:lumOff val="50000"/>
                      </a:schemeClr>
                    </a:solidFill>
                  </a:rPr>
                  <a:t>a</a:t>
                </a:r>
              </a:p>
            </p:txBody>
          </p:sp>
          <p:sp>
            <p:nvSpPr>
              <p:cNvPr id="82" name="TextBox 81">
                <a:extLst>
                  <a:ext uri="{FF2B5EF4-FFF2-40B4-BE49-F238E27FC236}">
                    <a16:creationId xmlns:a16="http://schemas.microsoft.com/office/drawing/2014/main" id="{0A776A93-0951-E675-82AE-485B4BDEFF50}"/>
                  </a:ext>
                </a:extLst>
              </p:cNvPr>
              <p:cNvSpPr txBox="1"/>
              <p:nvPr/>
            </p:nvSpPr>
            <p:spPr>
              <a:xfrm>
                <a:off x="1008094" y="3821667"/>
                <a:ext cx="288862" cy="369332"/>
              </a:xfrm>
              <a:prstGeom prst="rect">
                <a:avLst/>
              </a:prstGeom>
              <a:noFill/>
            </p:spPr>
            <p:txBody>
              <a:bodyPr wrap="none" rtlCol="0">
                <a:spAutoFit/>
              </a:bodyPr>
              <a:lstStyle/>
              <a:p>
                <a:r>
                  <a:rPr lang="en-SE" dirty="0">
                    <a:solidFill>
                      <a:srgbClr val="006D70"/>
                    </a:solidFill>
                  </a:rPr>
                  <a:t>y</a:t>
                </a:r>
              </a:p>
            </p:txBody>
          </p:sp>
        </p:grpSp>
        <p:cxnSp>
          <p:nvCxnSpPr>
            <p:cNvPr id="85" name="Straight Connector 84">
              <a:extLst>
                <a:ext uri="{FF2B5EF4-FFF2-40B4-BE49-F238E27FC236}">
                  <a16:creationId xmlns:a16="http://schemas.microsoft.com/office/drawing/2014/main" id="{35C1CF14-4278-7B65-A43D-B0D626AD66A7}"/>
                </a:ext>
              </a:extLst>
            </p:cNvPr>
            <p:cNvCxnSpPr>
              <a:cxnSpLocks/>
            </p:cNvCxnSpPr>
            <p:nvPr/>
          </p:nvCxnSpPr>
          <p:spPr>
            <a:xfrm>
              <a:off x="982629" y="5032078"/>
              <a:ext cx="1841175" cy="0"/>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cxnSp>
          <p:nvCxnSpPr>
            <p:cNvPr id="87" name="Straight Connector 86">
              <a:extLst>
                <a:ext uri="{FF2B5EF4-FFF2-40B4-BE49-F238E27FC236}">
                  <a16:creationId xmlns:a16="http://schemas.microsoft.com/office/drawing/2014/main" id="{C8E64C31-44B6-7C18-8836-741C188CCCD0}"/>
                </a:ext>
              </a:extLst>
            </p:cNvPr>
            <p:cNvCxnSpPr>
              <a:cxnSpLocks/>
            </p:cNvCxnSpPr>
            <p:nvPr/>
          </p:nvCxnSpPr>
          <p:spPr>
            <a:xfrm>
              <a:off x="982629" y="4670128"/>
              <a:ext cx="1841175" cy="0"/>
            </a:xfrm>
            <a:prstGeom prst="line">
              <a:avLst/>
            </a:prstGeom>
            <a:ln>
              <a:solidFill>
                <a:srgbClr val="C00000"/>
              </a:solidFill>
            </a:ln>
          </p:spPr>
          <p:style>
            <a:lnRef idx="2">
              <a:schemeClr val="dk1"/>
            </a:lnRef>
            <a:fillRef idx="0">
              <a:schemeClr val="dk1"/>
            </a:fillRef>
            <a:effectRef idx="1">
              <a:schemeClr val="dk1"/>
            </a:effectRef>
            <a:fontRef idx="minor">
              <a:schemeClr val="tx1"/>
            </a:fontRef>
          </p:style>
        </p:cxnSp>
        <p:sp>
          <p:nvSpPr>
            <p:cNvPr id="145" name="Right Brace 144">
              <a:extLst>
                <a:ext uri="{FF2B5EF4-FFF2-40B4-BE49-F238E27FC236}">
                  <a16:creationId xmlns:a16="http://schemas.microsoft.com/office/drawing/2014/main" id="{45BEB69C-DAB4-6916-6D89-59BF53580A19}"/>
                </a:ext>
              </a:extLst>
            </p:cNvPr>
            <p:cNvSpPr/>
            <p:nvPr/>
          </p:nvSpPr>
          <p:spPr>
            <a:xfrm>
              <a:off x="1019175" y="4670128"/>
              <a:ext cx="148440" cy="361947"/>
            </a:xfrm>
            <a:prstGeom prst="rightBrace">
              <a:avLst/>
            </a:prstGeom>
            <a:ln>
              <a:solidFill>
                <a:srgbClr val="D0180A"/>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SE"/>
            </a:p>
          </p:txBody>
        </p:sp>
        <mc:AlternateContent xmlns:mc="http://schemas.openxmlformats.org/markup-compatibility/2006" xmlns:a14="http://schemas.microsoft.com/office/drawing/2010/main">
          <mc:Choice Requires="a14">
            <p:sp>
              <p:nvSpPr>
                <p:cNvPr id="146" name="TextBox 145">
                  <a:extLst>
                    <a:ext uri="{FF2B5EF4-FFF2-40B4-BE49-F238E27FC236}">
                      <a16:creationId xmlns:a16="http://schemas.microsoft.com/office/drawing/2014/main" id="{BD59E05A-B10E-9C8B-1431-952C31E94234}"/>
                    </a:ext>
                  </a:extLst>
                </p:cNvPr>
                <p:cNvSpPr txBox="1"/>
                <p:nvPr/>
              </p:nvSpPr>
              <p:spPr>
                <a:xfrm>
                  <a:off x="1169699" y="4711627"/>
                  <a:ext cx="28469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b="0" i="1" smtClean="0">
                                <a:solidFill>
                                  <a:srgbClr val="C00000"/>
                                </a:solidFill>
                                <a:latin typeface="Cambria Math" panose="02040503050406030204" pitchFamily="18" charset="0"/>
                              </a:rPr>
                            </m:ctrlPr>
                          </m:sSubPr>
                          <m:e>
                            <m:r>
                              <a:rPr lang="en-SE" b="0" i="1" smtClean="0">
                                <a:solidFill>
                                  <a:srgbClr val="C00000"/>
                                </a:solidFill>
                                <a:latin typeface="Cambria Math" panose="02040503050406030204" pitchFamily="18" charset="0"/>
                              </a:rPr>
                              <m:t>𝛽</m:t>
                            </m:r>
                          </m:e>
                          <m:sub>
                            <m:r>
                              <a:rPr lang="en-SE" b="0" i="1" smtClean="0">
                                <a:solidFill>
                                  <a:srgbClr val="C00000"/>
                                </a:solidFill>
                                <a:latin typeface="Cambria Math" panose="02040503050406030204" pitchFamily="18" charset="0"/>
                              </a:rPr>
                              <m:t>𝑥</m:t>
                            </m:r>
                          </m:sub>
                        </m:sSub>
                      </m:oMath>
                    </m:oMathPara>
                  </a14:m>
                  <a:endParaRPr lang="en-SE" dirty="0"/>
                </a:p>
              </p:txBody>
            </p:sp>
          </mc:Choice>
          <mc:Fallback xmlns="">
            <p:sp>
              <p:nvSpPr>
                <p:cNvPr id="146" name="TextBox 145">
                  <a:extLst>
                    <a:ext uri="{FF2B5EF4-FFF2-40B4-BE49-F238E27FC236}">
                      <a16:creationId xmlns:a16="http://schemas.microsoft.com/office/drawing/2014/main" id="{BD59E05A-B10E-9C8B-1431-952C31E94234}"/>
                    </a:ext>
                  </a:extLst>
                </p:cNvPr>
                <p:cNvSpPr txBox="1">
                  <a:spLocks noRot="1" noChangeAspect="1" noMove="1" noResize="1" noEditPoints="1" noAdjustHandles="1" noChangeArrowheads="1" noChangeShapeType="1" noTextEdit="1"/>
                </p:cNvSpPr>
                <p:nvPr/>
              </p:nvSpPr>
              <p:spPr>
                <a:xfrm>
                  <a:off x="1169699" y="4711627"/>
                  <a:ext cx="284693" cy="276999"/>
                </a:xfrm>
                <a:prstGeom prst="rect">
                  <a:avLst/>
                </a:prstGeom>
                <a:blipFill>
                  <a:blip r:embed="rId10"/>
                  <a:stretch>
                    <a:fillRect l="-29787" t="-2222" r="-2128" b="-35556"/>
                  </a:stretch>
                </a:blipFill>
              </p:spPr>
              <p:txBody>
                <a:bodyPr/>
                <a:lstStyle/>
                <a:p>
                  <a:r>
                    <a:rPr lang="en-SE">
                      <a:noFill/>
                    </a:rPr>
                    <a:t> </a:t>
                  </a:r>
                </a:p>
              </p:txBody>
            </p:sp>
          </mc:Fallback>
        </mc:AlternateContent>
      </p:grpSp>
      <p:grpSp>
        <p:nvGrpSpPr>
          <p:cNvPr id="8" name="Group 7">
            <a:extLst>
              <a:ext uri="{FF2B5EF4-FFF2-40B4-BE49-F238E27FC236}">
                <a16:creationId xmlns:a16="http://schemas.microsoft.com/office/drawing/2014/main" id="{88DD8E56-7BEC-C883-D5C6-952BE02A3D87}"/>
              </a:ext>
            </a:extLst>
          </p:cNvPr>
          <p:cNvGrpSpPr/>
          <p:nvPr/>
        </p:nvGrpSpPr>
        <p:grpSpPr>
          <a:xfrm>
            <a:off x="3600088" y="4375579"/>
            <a:ext cx="2434559" cy="1872140"/>
            <a:chOff x="3600088" y="3923754"/>
            <a:chExt cx="2434559" cy="1872140"/>
          </a:xfrm>
        </p:grpSpPr>
        <p:grpSp>
          <p:nvGrpSpPr>
            <p:cNvPr id="93" name="Group 92">
              <a:extLst>
                <a:ext uri="{FF2B5EF4-FFF2-40B4-BE49-F238E27FC236}">
                  <a16:creationId xmlns:a16="http://schemas.microsoft.com/office/drawing/2014/main" id="{B382D480-9E6C-A060-1914-4CF676C5359B}"/>
                </a:ext>
              </a:extLst>
            </p:cNvPr>
            <p:cNvGrpSpPr/>
            <p:nvPr/>
          </p:nvGrpSpPr>
          <p:grpSpPr>
            <a:xfrm>
              <a:off x="3600088" y="3923754"/>
              <a:ext cx="2078246" cy="1872140"/>
              <a:chOff x="1008094" y="3821667"/>
              <a:chExt cx="2078246" cy="1872140"/>
            </a:xfrm>
          </p:grpSpPr>
          <p:cxnSp>
            <p:nvCxnSpPr>
              <p:cNvPr id="96" name="Straight Arrow Connector 95">
                <a:extLst>
                  <a:ext uri="{FF2B5EF4-FFF2-40B4-BE49-F238E27FC236}">
                    <a16:creationId xmlns:a16="http://schemas.microsoft.com/office/drawing/2014/main" id="{E322592B-E452-6AAA-71D5-932009B0A76F}"/>
                  </a:ext>
                </a:extLst>
              </p:cNvPr>
              <p:cNvCxnSpPr/>
              <p:nvPr/>
            </p:nvCxnSpPr>
            <p:spPr>
              <a:xfrm>
                <a:off x="1152525" y="5324475"/>
                <a:ext cx="1917022" cy="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97" name="Straight Arrow Connector 96">
                <a:extLst>
                  <a:ext uri="{FF2B5EF4-FFF2-40B4-BE49-F238E27FC236}">
                    <a16:creationId xmlns:a16="http://schemas.microsoft.com/office/drawing/2014/main" id="{8D352D1A-5D5F-A4C5-0935-AAFEB244B603}"/>
                  </a:ext>
                </a:extLst>
              </p:cNvPr>
              <p:cNvCxnSpPr>
                <a:cxnSpLocks/>
              </p:cNvCxnSpPr>
              <p:nvPr/>
            </p:nvCxnSpPr>
            <p:spPr>
              <a:xfrm flipV="1">
                <a:off x="1152525" y="4191000"/>
                <a:ext cx="0" cy="1133475"/>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98" name="TextBox 97">
                <a:extLst>
                  <a:ext uri="{FF2B5EF4-FFF2-40B4-BE49-F238E27FC236}">
                    <a16:creationId xmlns:a16="http://schemas.microsoft.com/office/drawing/2014/main" id="{693FE6E1-2E5A-EC1F-0E68-DDA53C042338}"/>
                  </a:ext>
                </a:extLst>
              </p:cNvPr>
              <p:cNvSpPr txBox="1"/>
              <p:nvPr/>
            </p:nvSpPr>
            <p:spPr>
              <a:xfrm>
                <a:off x="2778242" y="5324475"/>
                <a:ext cx="308098" cy="369332"/>
              </a:xfrm>
              <a:prstGeom prst="rect">
                <a:avLst/>
              </a:prstGeom>
              <a:noFill/>
            </p:spPr>
            <p:txBody>
              <a:bodyPr wrap="none" rtlCol="0">
                <a:spAutoFit/>
              </a:bodyPr>
              <a:lstStyle/>
              <a:p>
                <a:r>
                  <a:rPr lang="en-SE" dirty="0">
                    <a:solidFill>
                      <a:schemeClr val="tx1">
                        <a:lumMod val="50000"/>
                        <a:lumOff val="50000"/>
                      </a:schemeClr>
                    </a:solidFill>
                  </a:rPr>
                  <a:t>a</a:t>
                </a:r>
              </a:p>
            </p:txBody>
          </p:sp>
          <p:sp>
            <p:nvSpPr>
              <p:cNvPr id="99" name="TextBox 98">
                <a:extLst>
                  <a:ext uri="{FF2B5EF4-FFF2-40B4-BE49-F238E27FC236}">
                    <a16:creationId xmlns:a16="http://schemas.microsoft.com/office/drawing/2014/main" id="{22C192E1-4B6B-3790-B220-C1A0E2DD3172}"/>
                  </a:ext>
                </a:extLst>
              </p:cNvPr>
              <p:cNvSpPr txBox="1"/>
              <p:nvPr/>
            </p:nvSpPr>
            <p:spPr>
              <a:xfrm>
                <a:off x="1008094" y="3821667"/>
                <a:ext cx="288862" cy="369332"/>
              </a:xfrm>
              <a:prstGeom prst="rect">
                <a:avLst/>
              </a:prstGeom>
              <a:noFill/>
            </p:spPr>
            <p:txBody>
              <a:bodyPr wrap="none" rtlCol="0">
                <a:spAutoFit/>
              </a:bodyPr>
              <a:lstStyle/>
              <a:p>
                <a:r>
                  <a:rPr lang="en-SE" dirty="0">
                    <a:solidFill>
                      <a:srgbClr val="006D70"/>
                    </a:solidFill>
                  </a:rPr>
                  <a:t>y</a:t>
                </a:r>
              </a:p>
            </p:txBody>
          </p:sp>
        </p:grpSp>
        <p:cxnSp>
          <p:nvCxnSpPr>
            <p:cNvPr id="94" name="Straight Connector 93">
              <a:extLst>
                <a:ext uri="{FF2B5EF4-FFF2-40B4-BE49-F238E27FC236}">
                  <a16:creationId xmlns:a16="http://schemas.microsoft.com/office/drawing/2014/main" id="{0B062682-3FE2-5C2F-56C9-E048F2F3C4B1}"/>
                </a:ext>
              </a:extLst>
            </p:cNvPr>
            <p:cNvCxnSpPr>
              <a:cxnSpLocks/>
            </p:cNvCxnSpPr>
            <p:nvPr/>
          </p:nvCxnSpPr>
          <p:spPr>
            <a:xfrm flipV="1">
              <a:off x="3744519" y="4818568"/>
              <a:ext cx="1841175" cy="213510"/>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cxnSp>
          <p:nvCxnSpPr>
            <p:cNvPr id="95" name="Straight Connector 94">
              <a:extLst>
                <a:ext uri="{FF2B5EF4-FFF2-40B4-BE49-F238E27FC236}">
                  <a16:creationId xmlns:a16="http://schemas.microsoft.com/office/drawing/2014/main" id="{D9780E64-7B92-0C87-1848-82CD0AEAAC31}"/>
                </a:ext>
              </a:extLst>
            </p:cNvPr>
            <p:cNvCxnSpPr>
              <a:cxnSpLocks/>
            </p:cNvCxnSpPr>
            <p:nvPr/>
          </p:nvCxnSpPr>
          <p:spPr>
            <a:xfrm flipV="1">
              <a:off x="3744519" y="4456621"/>
              <a:ext cx="1841175" cy="213507"/>
            </a:xfrm>
            <a:prstGeom prst="line">
              <a:avLst/>
            </a:prstGeom>
            <a:ln>
              <a:solidFill>
                <a:srgbClr val="C00000"/>
              </a:solidFill>
            </a:ln>
          </p:spPr>
          <p:style>
            <a:lnRef idx="2">
              <a:schemeClr val="dk1"/>
            </a:lnRef>
            <a:fillRef idx="0">
              <a:schemeClr val="dk1"/>
            </a:fillRef>
            <a:effectRef idx="1">
              <a:schemeClr val="dk1"/>
            </a:effectRef>
            <a:fontRef idx="minor">
              <a:schemeClr val="tx1"/>
            </a:fontRef>
          </p:style>
        </p:cxnSp>
        <p:sp>
          <p:nvSpPr>
            <p:cNvPr id="147" name="Right Brace 146">
              <a:extLst>
                <a:ext uri="{FF2B5EF4-FFF2-40B4-BE49-F238E27FC236}">
                  <a16:creationId xmlns:a16="http://schemas.microsoft.com/office/drawing/2014/main" id="{090AE9B5-06C2-2C58-489F-9DBB8FF0115C}"/>
                </a:ext>
              </a:extLst>
            </p:cNvPr>
            <p:cNvSpPr/>
            <p:nvPr/>
          </p:nvSpPr>
          <p:spPr>
            <a:xfrm>
              <a:off x="3801393" y="4670128"/>
              <a:ext cx="148440" cy="361947"/>
            </a:xfrm>
            <a:prstGeom prst="rightBrace">
              <a:avLst/>
            </a:prstGeom>
            <a:ln>
              <a:solidFill>
                <a:srgbClr val="D0180A"/>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SE"/>
            </a:p>
          </p:txBody>
        </p:sp>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6CC6A92D-9BD1-E6A2-AA1F-2CF31B6F2731}"/>
                    </a:ext>
                  </a:extLst>
                </p:cNvPr>
                <p:cNvSpPr txBox="1"/>
                <p:nvPr/>
              </p:nvSpPr>
              <p:spPr>
                <a:xfrm>
                  <a:off x="3951917" y="4711627"/>
                  <a:ext cx="28469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b="0" i="1" smtClean="0">
                                <a:solidFill>
                                  <a:srgbClr val="C00000"/>
                                </a:solidFill>
                                <a:latin typeface="Cambria Math" panose="02040503050406030204" pitchFamily="18" charset="0"/>
                              </a:rPr>
                            </m:ctrlPr>
                          </m:sSubPr>
                          <m:e>
                            <m:r>
                              <a:rPr lang="en-SE" b="0" i="1" smtClean="0">
                                <a:solidFill>
                                  <a:srgbClr val="C00000"/>
                                </a:solidFill>
                                <a:latin typeface="Cambria Math" panose="02040503050406030204" pitchFamily="18" charset="0"/>
                              </a:rPr>
                              <m:t>𝛽</m:t>
                            </m:r>
                          </m:e>
                          <m:sub>
                            <m:r>
                              <a:rPr lang="en-SE" b="0" i="1" smtClean="0">
                                <a:solidFill>
                                  <a:srgbClr val="C00000"/>
                                </a:solidFill>
                                <a:latin typeface="Cambria Math" panose="02040503050406030204" pitchFamily="18" charset="0"/>
                              </a:rPr>
                              <m:t>𝑥</m:t>
                            </m:r>
                          </m:sub>
                        </m:sSub>
                      </m:oMath>
                    </m:oMathPara>
                  </a14:m>
                  <a:endParaRPr lang="en-SE" dirty="0"/>
                </a:p>
              </p:txBody>
            </p:sp>
          </mc:Choice>
          <mc:Fallback xmlns="">
            <p:sp>
              <p:nvSpPr>
                <p:cNvPr id="148" name="TextBox 147">
                  <a:extLst>
                    <a:ext uri="{FF2B5EF4-FFF2-40B4-BE49-F238E27FC236}">
                      <a16:creationId xmlns:a16="http://schemas.microsoft.com/office/drawing/2014/main" id="{6CC6A92D-9BD1-E6A2-AA1F-2CF31B6F2731}"/>
                    </a:ext>
                  </a:extLst>
                </p:cNvPr>
                <p:cNvSpPr txBox="1">
                  <a:spLocks noRot="1" noChangeAspect="1" noMove="1" noResize="1" noEditPoints="1" noAdjustHandles="1" noChangeArrowheads="1" noChangeShapeType="1" noTextEdit="1"/>
                </p:cNvSpPr>
                <p:nvPr/>
              </p:nvSpPr>
              <p:spPr>
                <a:xfrm>
                  <a:off x="3951917" y="4711627"/>
                  <a:ext cx="284693" cy="276999"/>
                </a:xfrm>
                <a:prstGeom prst="rect">
                  <a:avLst/>
                </a:prstGeom>
                <a:blipFill>
                  <a:blip r:embed="rId11"/>
                  <a:stretch>
                    <a:fillRect l="-29787" t="-2222" r="-2128" b="-35556"/>
                  </a:stretch>
                </a:blipFill>
              </p:spPr>
              <p:txBody>
                <a:bodyPr/>
                <a:lstStyle/>
                <a:p>
                  <a:r>
                    <a:rPr lang="en-SE">
                      <a:noFill/>
                    </a:rPr>
                    <a:t> </a:t>
                  </a:r>
                </a:p>
              </p:txBody>
            </p:sp>
          </mc:Fallback>
        </mc:AlternateContent>
        <p:sp>
          <p:nvSpPr>
            <p:cNvPr id="150" name="Right Brace 149">
              <a:extLst>
                <a:ext uri="{FF2B5EF4-FFF2-40B4-BE49-F238E27FC236}">
                  <a16:creationId xmlns:a16="http://schemas.microsoft.com/office/drawing/2014/main" id="{08A95D20-C549-3149-CC87-D5E2C2EEF198}"/>
                </a:ext>
              </a:extLst>
            </p:cNvPr>
            <p:cNvSpPr/>
            <p:nvPr/>
          </p:nvSpPr>
          <p:spPr>
            <a:xfrm>
              <a:off x="5581685" y="4818686"/>
              <a:ext cx="148440" cy="213389"/>
            </a:xfrm>
            <a:prstGeom prst="rightBrac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SE"/>
            </a:p>
          </p:txBody>
        </p:sp>
        <mc:AlternateContent xmlns:mc="http://schemas.openxmlformats.org/markup-compatibility/2006" xmlns:a14="http://schemas.microsoft.com/office/drawing/2010/main">
          <mc:Choice Requires="a14">
            <p:sp>
              <p:nvSpPr>
                <p:cNvPr id="153" name="TextBox 152">
                  <a:extLst>
                    <a:ext uri="{FF2B5EF4-FFF2-40B4-BE49-F238E27FC236}">
                      <a16:creationId xmlns:a16="http://schemas.microsoft.com/office/drawing/2014/main" id="{115B1D19-3053-6515-4FFE-F81202FF8D45}"/>
                    </a:ext>
                  </a:extLst>
                </p:cNvPr>
                <p:cNvSpPr txBox="1"/>
                <p:nvPr/>
              </p:nvSpPr>
              <p:spPr>
                <a:xfrm>
                  <a:off x="5743926" y="4786823"/>
                  <a:ext cx="29072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b="0" i="1" smtClean="0">
                                <a:solidFill>
                                  <a:schemeClr val="bg1">
                                    <a:lumMod val="50000"/>
                                  </a:schemeClr>
                                </a:solidFill>
                                <a:latin typeface="Cambria Math" panose="02040503050406030204" pitchFamily="18" charset="0"/>
                              </a:rPr>
                            </m:ctrlPr>
                          </m:sSubPr>
                          <m:e>
                            <m:r>
                              <a:rPr lang="en-SE" b="0" i="1" smtClean="0">
                                <a:solidFill>
                                  <a:schemeClr val="bg1">
                                    <a:lumMod val="50000"/>
                                  </a:schemeClr>
                                </a:solidFill>
                                <a:latin typeface="Cambria Math" panose="02040503050406030204" pitchFamily="18" charset="0"/>
                              </a:rPr>
                              <m:t>𝛽</m:t>
                            </m:r>
                          </m:e>
                          <m:sub>
                            <m:r>
                              <a:rPr lang="en-SE" b="0" i="1" smtClean="0">
                                <a:solidFill>
                                  <a:schemeClr val="bg1">
                                    <a:lumMod val="50000"/>
                                  </a:schemeClr>
                                </a:solidFill>
                                <a:latin typeface="Cambria Math" panose="02040503050406030204" pitchFamily="18" charset="0"/>
                              </a:rPr>
                              <m:t>𝑎</m:t>
                            </m:r>
                          </m:sub>
                        </m:sSub>
                      </m:oMath>
                    </m:oMathPara>
                  </a14:m>
                  <a:endParaRPr lang="en-SE" dirty="0">
                    <a:solidFill>
                      <a:schemeClr val="bg1">
                        <a:lumMod val="50000"/>
                      </a:schemeClr>
                    </a:solidFill>
                  </a:endParaRPr>
                </a:p>
              </p:txBody>
            </p:sp>
          </mc:Choice>
          <mc:Fallback xmlns="">
            <p:sp>
              <p:nvSpPr>
                <p:cNvPr id="153" name="TextBox 152">
                  <a:extLst>
                    <a:ext uri="{FF2B5EF4-FFF2-40B4-BE49-F238E27FC236}">
                      <a16:creationId xmlns:a16="http://schemas.microsoft.com/office/drawing/2014/main" id="{115B1D19-3053-6515-4FFE-F81202FF8D45}"/>
                    </a:ext>
                  </a:extLst>
                </p:cNvPr>
                <p:cNvSpPr txBox="1">
                  <a:spLocks noRot="1" noChangeAspect="1" noMove="1" noResize="1" noEditPoints="1" noAdjustHandles="1" noChangeArrowheads="1" noChangeShapeType="1" noTextEdit="1"/>
                </p:cNvSpPr>
                <p:nvPr/>
              </p:nvSpPr>
              <p:spPr>
                <a:xfrm>
                  <a:off x="5743926" y="4786823"/>
                  <a:ext cx="290721" cy="276999"/>
                </a:xfrm>
                <a:prstGeom prst="rect">
                  <a:avLst/>
                </a:prstGeom>
                <a:blipFill>
                  <a:blip r:embed="rId12"/>
                  <a:stretch>
                    <a:fillRect l="-29167" t="-2174" r="-2083" b="-32609"/>
                  </a:stretch>
                </a:blipFill>
              </p:spPr>
              <p:txBody>
                <a:bodyPr/>
                <a:lstStyle/>
                <a:p>
                  <a:r>
                    <a:rPr lang="en-SE">
                      <a:noFill/>
                    </a:rPr>
                    <a:t> </a:t>
                  </a:r>
                </a:p>
              </p:txBody>
            </p:sp>
          </mc:Fallback>
        </mc:AlternateContent>
      </p:grpSp>
      <p:grpSp>
        <p:nvGrpSpPr>
          <p:cNvPr id="16" name="Group 15">
            <a:extLst>
              <a:ext uri="{FF2B5EF4-FFF2-40B4-BE49-F238E27FC236}">
                <a16:creationId xmlns:a16="http://schemas.microsoft.com/office/drawing/2014/main" id="{4050B994-AC10-1D01-3F3C-A50C42D7870D}"/>
              </a:ext>
            </a:extLst>
          </p:cNvPr>
          <p:cNvGrpSpPr/>
          <p:nvPr/>
        </p:nvGrpSpPr>
        <p:grpSpPr>
          <a:xfrm>
            <a:off x="9123868" y="4375579"/>
            <a:ext cx="2351152" cy="1872140"/>
            <a:chOff x="9123868" y="3923754"/>
            <a:chExt cx="2351152" cy="1872140"/>
          </a:xfrm>
        </p:grpSpPr>
        <p:grpSp>
          <p:nvGrpSpPr>
            <p:cNvPr id="129" name="Group 128">
              <a:extLst>
                <a:ext uri="{FF2B5EF4-FFF2-40B4-BE49-F238E27FC236}">
                  <a16:creationId xmlns:a16="http://schemas.microsoft.com/office/drawing/2014/main" id="{5F615352-EDB2-3862-0D49-3C7112F092C3}"/>
                </a:ext>
              </a:extLst>
            </p:cNvPr>
            <p:cNvGrpSpPr/>
            <p:nvPr/>
          </p:nvGrpSpPr>
          <p:grpSpPr>
            <a:xfrm>
              <a:off x="9123868" y="3923754"/>
              <a:ext cx="2078246" cy="1872140"/>
              <a:chOff x="1008094" y="3821667"/>
              <a:chExt cx="2078246" cy="1872140"/>
            </a:xfrm>
          </p:grpSpPr>
          <p:cxnSp>
            <p:nvCxnSpPr>
              <p:cNvPr id="132" name="Straight Arrow Connector 131">
                <a:extLst>
                  <a:ext uri="{FF2B5EF4-FFF2-40B4-BE49-F238E27FC236}">
                    <a16:creationId xmlns:a16="http://schemas.microsoft.com/office/drawing/2014/main" id="{493BBC1D-5C31-719F-0520-FCCE51406FF4}"/>
                  </a:ext>
                </a:extLst>
              </p:cNvPr>
              <p:cNvCxnSpPr/>
              <p:nvPr/>
            </p:nvCxnSpPr>
            <p:spPr>
              <a:xfrm>
                <a:off x="1152525" y="5324475"/>
                <a:ext cx="1917022" cy="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133" name="Straight Arrow Connector 132">
                <a:extLst>
                  <a:ext uri="{FF2B5EF4-FFF2-40B4-BE49-F238E27FC236}">
                    <a16:creationId xmlns:a16="http://schemas.microsoft.com/office/drawing/2014/main" id="{6960C8EC-C60D-EB8A-0298-C5479BF1EDD5}"/>
                  </a:ext>
                </a:extLst>
              </p:cNvPr>
              <p:cNvCxnSpPr>
                <a:cxnSpLocks/>
              </p:cNvCxnSpPr>
              <p:nvPr/>
            </p:nvCxnSpPr>
            <p:spPr>
              <a:xfrm flipV="1">
                <a:off x="1152525" y="4191000"/>
                <a:ext cx="0" cy="1133475"/>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134" name="TextBox 133">
                <a:extLst>
                  <a:ext uri="{FF2B5EF4-FFF2-40B4-BE49-F238E27FC236}">
                    <a16:creationId xmlns:a16="http://schemas.microsoft.com/office/drawing/2014/main" id="{F550D13C-4D27-45A2-868B-C64617977558}"/>
                  </a:ext>
                </a:extLst>
              </p:cNvPr>
              <p:cNvSpPr txBox="1"/>
              <p:nvPr/>
            </p:nvSpPr>
            <p:spPr>
              <a:xfrm>
                <a:off x="2778242" y="5324475"/>
                <a:ext cx="308098" cy="369332"/>
              </a:xfrm>
              <a:prstGeom prst="rect">
                <a:avLst/>
              </a:prstGeom>
              <a:noFill/>
            </p:spPr>
            <p:txBody>
              <a:bodyPr wrap="none" rtlCol="0">
                <a:spAutoFit/>
              </a:bodyPr>
              <a:lstStyle/>
              <a:p>
                <a:r>
                  <a:rPr lang="en-SE" dirty="0">
                    <a:solidFill>
                      <a:schemeClr val="tx1">
                        <a:lumMod val="50000"/>
                        <a:lumOff val="50000"/>
                      </a:schemeClr>
                    </a:solidFill>
                  </a:rPr>
                  <a:t>a</a:t>
                </a:r>
              </a:p>
            </p:txBody>
          </p:sp>
          <p:sp>
            <p:nvSpPr>
              <p:cNvPr id="135" name="TextBox 134">
                <a:extLst>
                  <a:ext uri="{FF2B5EF4-FFF2-40B4-BE49-F238E27FC236}">
                    <a16:creationId xmlns:a16="http://schemas.microsoft.com/office/drawing/2014/main" id="{9396E138-9D34-1B5C-7779-0D9FB23683BC}"/>
                  </a:ext>
                </a:extLst>
              </p:cNvPr>
              <p:cNvSpPr txBox="1"/>
              <p:nvPr/>
            </p:nvSpPr>
            <p:spPr>
              <a:xfrm>
                <a:off x="1008094" y="3821667"/>
                <a:ext cx="288862" cy="369332"/>
              </a:xfrm>
              <a:prstGeom prst="rect">
                <a:avLst/>
              </a:prstGeom>
              <a:noFill/>
            </p:spPr>
            <p:txBody>
              <a:bodyPr wrap="none" rtlCol="0">
                <a:spAutoFit/>
              </a:bodyPr>
              <a:lstStyle/>
              <a:p>
                <a:r>
                  <a:rPr lang="en-SE" dirty="0">
                    <a:solidFill>
                      <a:srgbClr val="006D70"/>
                    </a:solidFill>
                  </a:rPr>
                  <a:t>y</a:t>
                </a:r>
              </a:p>
            </p:txBody>
          </p:sp>
        </p:grpSp>
        <p:cxnSp>
          <p:nvCxnSpPr>
            <p:cNvPr id="130" name="Straight Connector 129">
              <a:extLst>
                <a:ext uri="{FF2B5EF4-FFF2-40B4-BE49-F238E27FC236}">
                  <a16:creationId xmlns:a16="http://schemas.microsoft.com/office/drawing/2014/main" id="{AECA7ACF-2BB0-83F5-9FFD-CAD5AD3810C2}"/>
                </a:ext>
              </a:extLst>
            </p:cNvPr>
            <p:cNvCxnSpPr>
              <a:cxnSpLocks/>
              <a:endCxn id="161" idx="0"/>
            </p:cNvCxnSpPr>
            <p:nvPr/>
          </p:nvCxnSpPr>
          <p:spPr>
            <a:xfrm flipV="1">
              <a:off x="9268299" y="4818686"/>
              <a:ext cx="1830306" cy="213392"/>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cxnSp>
          <p:nvCxnSpPr>
            <p:cNvPr id="131" name="Straight Connector 130">
              <a:extLst>
                <a:ext uri="{FF2B5EF4-FFF2-40B4-BE49-F238E27FC236}">
                  <a16:creationId xmlns:a16="http://schemas.microsoft.com/office/drawing/2014/main" id="{3667FD72-9F83-1384-C9C3-CE7079C4AB90}"/>
                </a:ext>
              </a:extLst>
            </p:cNvPr>
            <p:cNvCxnSpPr>
              <a:cxnSpLocks/>
            </p:cNvCxnSpPr>
            <p:nvPr/>
          </p:nvCxnSpPr>
          <p:spPr>
            <a:xfrm>
              <a:off x="9268299" y="4670128"/>
              <a:ext cx="1830306" cy="524172"/>
            </a:xfrm>
            <a:prstGeom prst="line">
              <a:avLst/>
            </a:prstGeom>
            <a:ln>
              <a:solidFill>
                <a:srgbClr val="C00000"/>
              </a:solidFill>
            </a:ln>
          </p:spPr>
          <p:style>
            <a:lnRef idx="2">
              <a:schemeClr val="dk1"/>
            </a:lnRef>
            <a:fillRef idx="0">
              <a:schemeClr val="dk1"/>
            </a:fillRef>
            <a:effectRef idx="1">
              <a:schemeClr val="dk1"/>
            </a:effectRef>
            <a:fontRef idx="minor">
              <a:schemeClr val="tx1"/>
            </a:fontRef>
          </p:style>
        </p:cxnSp>
        <p:sp>
          <p:nvSpPr>
            <p:cNvPr id="156" name="Right Brace 155">
              <a:extLst>
                <a:ext uri="{FF2B5EF4-FFF2-40B4-BE49-F238E27FC236}">
                  <a16:creationId xmlns:a16="http://schemas.microsoft.com/office/drawing/2014/main" id="{C31B79DC-60F9-483D-001B-48F30C83FC91}"/>
                </a:ext>
              </a:extLst>
            </p:cNvPr>
            <p:cNvSpPr/>
            <p:nvPr/>
          </p:nvSpPr>
          <p:spPr>
            <a:xfrm>
              <a:off x="9321091" y="4670128"/>
              <a:ext cx="148440" cy="361947"/>
            </a:xfrm>
            <a:prstGeom prst="rightBrace">
              <a:avLst/>
            </a:prstGeom>
            <a:ln>
              <a:solidFill>
                <a:srgbClr val="D0180A"/>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SE"/>
            </a:p>
          </p:txBody>
        </p:sp>
        <mc:AlternateContent xmlns:mc="http://schemas.openxmlformats.org/markup-compatibility/2006" xmlns:a14="http://schemas.microsoft.com/office/drawing/2010/main">
          <mc:Choice Requires="a14">
            <p:sp>
              <p:nvSpPr>
                <p:cNvPr id="157" name="TextBox 156">
                  <a:extLst>
                    <a:ext uri="{FF2B5EF4-FFF2-40B4-BE49-F238E27FC236}">
                      <a16:creationId xmlns:a16="http://schemas.microsoft.com/office/drawing/2014/main" id="{5A361CD7-32A9-11F2-60E5-B2D5071B53E7}"/>
                    </a:ext>
                  </a:extLst>
                </p:cNvPr>
                <p:cNvSpPr txBox="1"/>
                <p:nvPr/>
              </p:nvSpPr>
              <p:spPr>
                <a:xfrm>
                  <a:off x="9471615" y="4711627"/>
                  <a:ext cx="28469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b="0" i="1" smtClean="0">
                                <a:solidFill>
                                  <a:srgbClr val="C00000"/>
                                </a:solidFill>
                                <a:latin typeface="Cambria Math" panose="02040503050406030204" pitchFamily="18" charset="0"/>
                              </a:rPr>
                            </m:ctrlPr>
                          </m:sSubPr>
                          <m:e>
                            <m:r>
                              <a:rPr lang="en-SE" b="0" i="1" smtClean="0">
                                <a:solidFill>
                                  <a:srgbClr val="C00000"/>
                                </a:solidFill>
                                <a:latin typeface="Cambria Math" panose="02040503050406030204" pitchFamily="18" charset="0"/>
                              </a:rPr>
                              <m:t>𝛽</m:t>
                            </m:r>
                          </m:e>
                          <m:sub>
                            <m:r>
                              <a:rPr lang="en-SE" b="0" i="1" smtClean="0">
                                <a:solidFill>
                                  <a:srgbClr val="C00000"/>
                                </a:solidFill>
                                <a:latin typeface="Cambria Math" panose="02040503050406030204" pitchFamily="18" charset="0"/>
                              </a:rPr>
                              <m:t>𝑥</m:t>
                            </m:r>
                          </m:sub>
                        </m:sSub>
                      </m:oMath>
                    </m:oMathPara>
                  </a14:m>
                  <a:endParaRPr lang="en-SE" dirty="0"/>
                </a:p>
              </p:txBody>
            </p:sp>
          </mc:Choice>
          <mc:Fallback xmlns="">
            <p:sp>
              <p:nvSpPr>
                <p:cNvPr id="157" name="TextBox 156">
                  <a:extLst>
                    <a:ext uri="{FF2B5EF4-FFF2-40B4-BE49-F238E27FC236}">
                      <a16:creationId xmlns:a16="http://schemas.microsoft.com/office/drawing/2014/main" id="{5A361CD7-32A9-11F2-60E5-B2D5071B53E7}"/>
                    </a:ext>
                  </a:extLst>
                </p:cNvPr>
                <p:cNvSpPr txBox="1">
                  <a:spLocks noRot="1" noChangeAspect="1" noMove="1" noResize="1" noEditPoints="1" noAdjustHandles="1" noChangeArrowheads="1" noChangeShapeType="1" noTextEdit="1"/>
                </p:cNvSpPr>
                <p:nvPr/>
              </p:nvSpPr>
              <p:spPr>
                <a:xfrm>
                  <a:off x="9471615" y="4711627"/>
                  <a:ext cx="284693" cy="276999"/>
                </a:xfrm>
                <a:prstGeom prst="rect">
                  <a:avLst/>
                </a:prstGeom>
                <a:blipFill>
                  <a:blip r:embed="rId13"/>
                  <a:stretch>
                    <a:fillRect l="-30435" t="-2222" r="-4348" b="-35556"/>
                  </a:stretch>
                </a:blipFill>
              </p:spPr>
              <p:txBody>
                <a:bodyPr/>
                <a:lstStyle/>
                <a:p>
                  <a:r>
                    <a:rPr lang="en-SE">
                      <a:noFill/>
                    </a:rPr>
                    <a:t> </a:t>
                  </a:r>
                </a:p>
              </p:txBody>
            </p:sp>
          </mc:Fallback>
        </mc:AlternateContent>
        <p:sp>
          <p:nvSpPr>
            <p:cNvPr id="161" name="Right Brace 160">
              <a:extLst>
                <a:ext uri="{FF2B5EF4-FFF2-40B4-BE49-F238E27FC236}">
                  <a16:creationId xmlns:a16="http://schemas.microsoft.com/office/drawing/2014/main" id="{4BD4C581-9692-BB41-054B-6BF4D72C8CE9}"/>
                </a:ext>
              </a:extLst>
            </p:cNvPr>
            <p:cNvSpPr/>
            <p:nvPr/>
          </p:nvSpPr>
          <p:spPr>
            <a:xfrm flipH="1">
              <a:off x="10965043" y="4818686"/>
              <a:ext cx="133562" cy="213389"/>
            </a:xfrm>
            <a:prstGeom prst="rightBrac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SE"/>
            </a:p>
          </p:txBody>
        </p:sp>
        <mc:AlternateContent xmlns:mc="http://schemas.openxmlformats.org/markup-compatibility/2006" xmlns:a14="http://schemas.microsoft.com/office/drawing/2010/main">
          <mc:Choice Requires="a14">
            <p:sp>
              <p:nvSpPr>
                <p:cNvPr id="162" name="TextBox 161">
                  <a:extLst>
                    <a:ext uri="{FF2B5EF4-FFF2-40B4-BE49-F238E27FC236}">
                      <a16:creationId xmlns:a16="http://schemas.microsoft.com/office/drawing/2014/main" id="{D3A56F84-3EFC-BF09-5DAE-9FE6DCE7E753}"/>
                    </a:ext>
                  </a:extLst>
                </p:cNvPr>
                <p:cNvSpPr txBox="1"/>
                <p:nvPr/>
              </p:nvSpPr>
              <p:spPr>
                <a:xfrm>
                  <a:off x="10728659" y="4858747"/>
                  <a:ext cx="29072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b="0" i="1" smtClean="0">
                                <a:solidFill>
                                  <a:schemeClr val="bg1">
                                    <a:lumMod val="50000"/>
                                  </a:schemeClr>
                                </a:solidFill>
                                <a:latin typeface="Cambria Math" panose="02040503050406030204" pitchFamily="18" charset="0"/>
                              </a:rPr>
                            </m:ctrlPr>
                          </m:sSubPr>
                          <m:e>
                            <m:r>
                              <a:rPr lang="en-SE" b="0" i="1" smtClean="0">
                                <a:solidFill>
                                  <a:schemeClr val="bg1">
                                    <a:lumMod val="50000"/>
                                  </a:schemeClr>
                                </a:solidFill>
                                <a:latin typeface="Cambria Math" panose="02040503050406030204" pitchFamily="18" charset="0"/>
                              </a:rPr>
                              <m:t>𝛽</m:t>
                            </m:r>
                          </m:e>
                          <m:sub>
                            <m:r>
                              <a:rPr lang="en-SE" b="0" i="1" smtClean="0">
                                <a:solidFill>
                                  <a:schemeClr val="bg1">
                                    <a:lumMod val="50000"/>
                                  </a:schemeClr>
                                </a:solidFill>
                                <a:latin typeface="Cambria Math" panose="02040503050406030204" pitchFamily="18" charset="0"/>
                              </a:rPr>
                              <m:t>𝑎</m:t>
                            </m:r>
                          </m:sub>
                        </m:sSub>
                      </m:oMath>
                    </m:oMathPara>
                  </a14:m>
                  <a:endParaRPr lang="en-SE" dirty="0">
                    <a:solidFill>
                      <a:schemeClr val="bg1">
                        <a:lumMod val="50000"/>
                      </a:schemeClr>
                    </a:solidFill>
                  </a:endParaRPr>
                </a:p>
              </p:txBody>
            </p:sp>
          </mc:Choice>
          <mc:Fallback xmlns="">
            <p:sp>
              <p:nvSpPr>
                <p:cNvPr id="162" name="TextBox 161">
                  <a:extLst>
                    <a:ext uri="{FF2B5EF4-FFF2-40B4-BE49-F238E27FC236}">
                      <a16:creationId xmlns:a16="http://schemas.microsoft.com/office/drawing/2014/main" id="{D3A56F84-3EFC-BF09-5DAE-9FE6DCE7E753}"/>
                    </a:ext>
                  </a:extLst>
                </p:cNvPr>
                <p:cNvSpPr txBox="1">
                  <a:spLocks noRot="1" noChangeAspect="1" noMove="1" noResize="1" noEditPoints="1" noAdjustHandles="1" noChangeArrowheads="1" noChangeShapeType="1" noTextEdit="1"/>
                </p:cNvSpPr>
                <p:nvPr/>
              </p:nvSpPr>
              <p:spPr>
                <a:xfrm>
                  <a:off x="10728659" y="4858747"/>
                  <a:ext cx="290721" cy="276999"/>
                </a:xfrm>
                <a:prstGeom prst="rect">
                  <a:avLst/>
                </a:prstGeom>
                <a:blipFill>
                  <a:blip r:embed="rId14"/>
                  <a:stretch>
                    <a:fillRect l="-29167" t="-2174" r="-2083" b="-32609"/>
                  </a:stretch>
                </a:blipFill>
              </p:spPr>
              <p:txBody>
                <a:bodyPr/>
                <a:lstStyle/>
                <a:p>
                  <a:r>
                    <a:rPr lang="en-SE">
                      <a:noFill/>
                    </a:rPr>
                    <a:t> </a:t>
                  </a:r>
                </a:p>
              </p:txBody>
            </p:sp>
          </mc:Fallback>
        </mc:AlternateContent>
        <p:sp>
          <p:nvSpPr>
            <p:cNvPr id="166" name="Right Brace 165">
              <a:extLst>
                <a:ext uri="{FF2B5EF4-FFF2-40B4-BE49-F238E27FC236}">
                  <a16:creationId xmlns:a16="http://schemas.microsoft.com/office/drawing/2014/main" id="{DB70B39D-F6DB-A05E-AC3D-2B4EFA30EC9E}"/>
                </a:ext>
              </a:extLst>
            </p:cNvPr>
            <p:cNvSpPr/>
            <p:nvPr/>
          </p:nvSpPr>
          <p:spPr>
            <a:xfrm>
              <a:off x="11098605" y="4456621"/>
              <a:ext cx="110766" cy="737679"/>
            </a:xfrm>
            <a:prstGeom prst="rightBrace">
              <a:avLst/>
            </a:prstGeom>
            <a:ln>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SE"/>
            </a:p>
          </p:txBody>
        </p:sp>
        <mc:AlternateContent xmlns:mc="http://schemas.openxmlformats.org/markup-compatibility/2006" xmlns:a14="http://schemas.microsoft.com/office/drawing/2010/main">
          <mc:Choice Requires="a14">
            <p:sp>
              <p:nvSpPr>
                <p:cNvPr id="167" name="TextBox 166">
                  <a:extLst>
                    <a:ext uri="{FF2B5EF4-FFF2-40B4-BE49-F238E27FC236}">
                      <a16:creationId xmlns:a16="http://schemas.microsoft.com/office/drawing/2014/main" id="{5EA3D497-54B7-3891-79D1-1CDDDDFFD017}"/>
                    </a:ext>
                  </a:extLst>
                </p:cNvPr>
                <p:cNvSpPr txBox="1"/>
                <p:nvPr/>
              </p:nvSpPr>
              <p:spPr>
                <a:xfrm>
                  <a:off x="11209370" y="4718763"/>
                  <a:ext cx="26565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b="0" i="1" smtClean="0">
                                <a:solidFill>
                                  <a:srgbClr val="FFC000"/>
                                </a:solidFill>
                                <a:latin typeface="Cambria Math" panose="02040503050406030204" pitchFamily="18" charset="0"/>
                              </a:rPr>
                            </m:ctrlPr>
                          </m:sSubPr>
                          <m:e>
                            <m:r>
                              <a:rPr lang="en-SE" b="0" i="1" smtClean="0">
                                <a:solidFill>
                                  <a:srgbClr val="FFC000"/>
                                </a:solidFill>
                                <a:latin typeface="Cambria Math" panose="02040503050406030204" pitchFamily="18" charset="0"/>
                              </a:rPr>
                              <m:t>𝛾</m:t>
                            </m:r>
                          </m:e>
                          <m:sub>
                            <m:r>
                              <a:rPr lang="en-SE" b="0" i="1" smtClean="0">
                                <a:solidFill>
                                  <a:srgbClr val="FFC000"/>
                                </a:solidFill>
                                <a:latin typeface="Cambria Math" panose="02040503050406030204" pitchFamily="18" charset="0"/>
                              </a:rPr>
                              <m:t>𝑎</m:t>
                            </m:r>
                          </m:sub>
                        </m:sSub>
                      </m:oMath>
                    </m:oMathPara>
                  </a14:m>
                  <a:endParaRPr lang="en-SE" dirty="0"/>
                </a:p>
              </p:txBody>
            </p:sp>
          </mc:Choice>
          <mc:Fallback xmlns="">
            <p:sp>
              <p:nvSpPr>
                <p:cNvPr id="167" name="TextBox 166">
                  <a:extLst>
                    <a:ext uri="{FF2B5EF4-FFF2-40B4-BE49-F238E27FC236}">
                      <a16:creationId xmlns:a16="http://schemas.microsoft.com/office/drawing/2014/main" id="{5EA3D497-54B7-3891-79D1-1CDDDDFFD017}"/>
                    </a:ext>
                  </a:extLst>
                </p:cNvPr>
                <p:cNvSpPr txBox="1">
                  <a:spLocks noRot="1" noChangeAspect="1" noMove="1" noResize="1" noEditPoints="1" noAdjustHandles="1" noChangeArrowheads="1" noChangeShapeType="1" noTextEdit="1"/>
                </p:cNvSpPr>
                <p:nvPr/>
              </p:nvSpPr>
              <p:spPr>
                <a:xfrm>
                  <a:off x="11209370" y="4718763"/>
                  <a:ext cx="265650" cy="276999"/>
                </a:xfrm>
                <a:prstGeom prst="rect">
                  <a:avLst/>
                </a:prstGeom>
                <a:blipFill>
                  <a:blip r:embed="rId15"/>
                  <a:stretch>
                    <a:fillRect l="-23256" r="-2326" b="-21739"/>
                  </a:stretch>
                </a:blipFill>
              </p:spPr>
              <p:txBody>
                <a:bodyPr/>
                <a:lstStyle/>
                <a:p>
                  <a:r>
                    <a:rPr lang="en-SE">
                      <a:noFill/>
                    </a:rPr>
                    <a:t> </a:t>
                  </a:r>
                </a:p>
              </p:txBody>
            </p:sp>
          </mc:Fallback>
        </mc:AlternateContent>
        <p:sp>
          <p:nvSpPr>
            <p:cNvPr id="169" name="Right Brace 168">
              <a:extLst>
                <a:ext uri="{FF2B5EF4-FFF2-40B4-BE49-F238E27FC236}">
                  <a16:creationId xmlns:a16="http://schemas.microsoft.com/office/drawing/2014/main" id="{90237242-64A5-1A43-AAF7-005498315523}"/>
                </a:ext>
              </a:extLst>
            </p:cNvPr>
            <p:cNvSpPr/>
            <p:nvPr/>
          </p:nvSpPr>
          <p:spPr>
            <a:xfrm flipH="1">
              <a:off x="10955769" y="4459493"/>
              <a:ext cx="133562" cy="361947"/>
            </a:xfrm>
            <a:prstGeom prst="rightBrace">
              <a:avLst/>
            </a:prstGeom>
            <a:ln>
              <a:solidFill>
                <a:srgbClr val="D0180A"/>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SE"/>
            </a:p>
          </p:txBody>
        </p:sp>
        <mc:AlternateContent xmlns:mc="http://schemas.openxmlformats.org/markup-compatibility/2006" xmlns:a14="http://schemas.microsoft.com/office/drawing/2010/main">
          <mc:Choice Requires="a14">
            <p:sp>
              <p:nvSpPr>
                <p:cNvPr id="170" name="TextBox 169">
                  <a:extLst>
                    <a:ext uri="{FF2B5EF4-FFF2-40B4-BE49-F238E27FC236}">
                      <a16:creationId xmlns:a16="http://schemas.microsoft.com/office/drawing/2014/main" id="{9DC7883D-3861-BF2F-91A2-5222CE5DCB4F}"/>
                    </a:ext>
                  </a:extLst>
                </p:cNvPr>
                <p:cNvSpPr txBox="1"/>
                <p:nvPr/>
              </p:nvSpPr>
              <p:spPr>
                <a:xfrm>
                  <a:off x="10667973" y="4444284"/>
                  <a:ext cx="28469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b="0" i="1" smtClean="0">
                                <a:solidFill>
                                  <a:srgbClr val="C00000"/>
                                </a:solidFill>
                                <a:latin typeface="Cambria Math" panose="02040503050406030204" pitchFamily="18" charset="0"/>
                              </a:rPr>
                            </m:ctrlPr>
                          </m:sSubPr>
                          <m:e>
                            <m:r>
                              <a:rPr lang="en-SE" b="0" i="1" smtClean="0">
                                <a:solidFill>
                                  <a:srgbClr val="C00000"/>
                                </a:solidFill>
                                <a:latin typeface="Cambria Math" panose="02040503050406030204" pitchFamily="18" charset="0"/>
                              </a:rPr>
                              <m:t>𝛽</m:t>
                            </m:r>
                          </m:e>
                          <m:sub>
                            <m:r>
                              <a:rPr lang="en-SE" b="0" i="1" smtClean="0">
                                <a:solidFill>
                                  <a:srgbClr val="C00000"/>
                                </a:solidFill>
                                <a:latin typeface="Cambria Math" panose="02040503050406030204" pitchFamily="18" charset="0"/>
                              </a:rPr>
                              <m:t>𝑥</m:t>
                            </m:r>
                          </m:sub>
                        </m:sSub>
                      </m:oMath>
                    </m:oMathPara>
                  </a14:m>
                  <a:endParaRPr lang="en-SE" dirty="0"/>
                </a:p>
              </p:txBody>
            </p:sp>
          </mc:Choice>
          <mc:Fallback xmlns="">
            <p:sp>
              <p:nvSpPr>
                <p:cNvPr id="170" name="TextBox 169">
                  <a:extLst>
                    <a:ext uri="{FF2B5EF4-FFF2-40B4-BE49-F238E27FC236}">
                      <a16:creationId xmlns:a16="http://schemas.microsoft.com/office/drawing/2014/main" id="{9DC7883D-3861-BF2F-91A2-5222CE5DCB4F}"/>
                    </a:ext>
                  </a:extLst>
                </p:cNvPr>
                <p:cNvSpPr txBox="1">
                  <a:spLocks noRot="1" noChangeAspect="1" noMove="1" noResize="1" noEditPoints="1" noAdjustHandles="1" noChangeArrowheads="1" noChangeShapeType="1" noTextEdit="1"/>
                </p:cNvSpPr>
                <p:nvPr/>
              </p:nvSpPr>
              <p:spPr>
                <a:xfrm>
                  <a:off x="10667973" y="4444284"/>
                  <a:ext cx="284693" cy="276999"/>
                </a:xfrm>
                <a:prstGeom prst="rect">
                  <a:avLst/>
                </a:prstGeom>
                <a:blipFill>
                  <a:blip r:embed="rId16"/>
                  <a:stretch>
                    <a:fillRect l="-29787" t="-2174" r="-2128" b="-32609"/>
                  </a:stretch>
                </a:blipFill>
              </p:spPr>
              <p:txBody>
                <a:bodyPr/>
                <a:lstStyle/>
                <a:p>
                  <a:r>
                    <a:rPr lang="en-SE">
                      <a:noFill/>
                    </a:rPr>
                    <a:t> </a:t>
                  </a:r>
                </a:p>
              </p:txBody>
            </p:sp>
          </mc:Fallback>
        </mc:AlternateContent>
      </p:grpSp>
      <p:grpSp>
        <p:nvGrpSpPr>
          <p:cNvPr id="12" name="Group 11">
            <a:extLst>
              <a:ext uri="{FF2B5EF4-FFF2-40B4-BE49-F238E27FC236}">
                <a16:creationId xmlns:a16="http://schemas.microsoft.com/office/drawing/2014/main" id="{EA443C7A-E4A1-C98B-F8C6-B9DA089FC653}"/>
              </a:ext>
            </a:extLst>
          </p:cNvPr>
          <p:cNvGrpSpPr/>
          <p:nvPr/>
        </p:nvGrpSpPr>
        <p:grpSpPr>
          <a:xfrm>
            <a:off x="6361978" y="4375579"/>
            <a:ext cx="2384818" cy="1872140"/>
            <a:chOff x="6361978" y="3923754"/>
            <a:chExt cx="2384818" cy="1872140"/>
          </a:xfrm>
        </p:grpSpPr>
        <p:grpSp>
          <p:nvGrpSpPr>
            <p:cNvPr id="111" name="Group 110">
              <a:extLst>
                <a:ext uri="{FF2B5EF4-FFF2-40B4-BE49-F238E27FC236}">
                  <a16:creationId xmlns:a16="http://schemas.microsoft.com/office/drawing/2014/main" id="{2CC73435-58AB-D9FD-033C-44AB3837EBD9}"/>
                </a:ext>
              </a:extLst>
            </p:cNvPr>
            <p:cNvGrpSpPr/>
            <p:nvPr/>
          </p:nvGrpSpPr>
          <p:grpSpPr>
            <a:xfrm>
              <a:off x="6361978" y="3923754"/>
              <a:ext cx="2078246" cy="1872140"/>
              <a:chOff x="1008094" y="3821667"/>
              <a:chExt cx="2078246" cy="1872140"/>
            </a:xfrm>
          </p:grpSpPr>
          <p:cxnSp>
            <p:nvCxnSpPr>
              <p:cNvPr id="114" name="Straight Arrow Connector 113">
                <a:extLst>
                  <a:ext uri="{FF2B5EF4-FFF2-40B4-BE49-F238E27FC236}">
                    <a16:creationId xmlns:a16="http://schemas.microsoft.com/office/drawing/2014/main" id="{F7206CEC-B3A1-0471-5921-64773698A046}"/>
                  </a:ext>
                </a:extLst>
              </p:cNvPr>
              <p:cNvCxnSpPr/>
              <p:nvPr/>
            </p:nvCxnSpPr>
            <p:spPr>
              <a:xfrm>
                <a:off x="1152525" y="5324475"/>
                <a:ext cx="1917022" cy="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115" name="Straight Arrow Connector 114">
                <a:extLst>
                  <a:ext uri="{FF2B5EF4-FFF2-40B4-BE49-F238E27FC236}">
                    <a16:creationId xmlns:a16="http://schemas.microsoft.com/office/drawing/2014/main" id="{151E84EB-7C4E-3000-37C3-6098B00F2B70}"/>
                  </a:ext>
                </a:extLst>
              </p:cNvPr>
              <p:cNvCxnSpPr>
                <a:cxnSpLocks/>
              </p:cNvCxnSpPr>
              <p:nvPr/>
            </p:nvCxnSpPr>
            <p:spPr>
              <a:xfrm flipV="1">
                <a:off x="1152525" y="4191000"/>
                <a:ext cx="0" cy="1133475"/>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116" name="TextBox 115">
                <a:extLst>
                  <a:ext uri="{FF2B5EF4-FFF2-40B4-BE49-F238E27FC236}">
                    <a16:creationId xmlns:a16="http://schemas.microsoft.com/office/drawing/2014/main" id="{A6A6F3F2-4A22-7D09-564E-05B58DC09575}"/>
                  </a:ext>
                </a:extLst>
              </p:cNvPr>
              <p:cNvSpPr txBox="1"/>
              <p:nvPr/>
            </p:nvSpPr>
            <p:spPr>
              <a:xfrm>
                <a:off x="2778242" y="5324475"/>
                <a:ext cx="308098" cy="369332"/>
              </a:xfrm>
              <a:prstGeom prst="rect">
                <a:avLst/>
              </a:prstGeom>
              <a:noFill/>
            </p:spPr>
            <p:txBody>
              <a:bodyPr wrap="none" rtlCol="0">
                <a:spAutoFit/>
              </a:bodyPr>
              <a:lstStyle/>
              <a:p>
                <a:r>
                  <a:rPr lang="en-SE" dirty="0">
                    <a:solidFill>
                      <a:schemeClr val="tx1">
                        <a:lumMod val="50000"/>
                        <a:lumOff val="50000"/>
                      </a:schemeClr>
                    </a:solidFill>
                  </a:rPr>
                  <a:t>a</a:t>
                </a:r>
              </a:p>
            </p:txBody>
          </p:sp>
          <p:sp>
            <p:nvSpPr>
              <p:cNvPr id="117" name="TextBox 116">
                <a:extLst>
                  <a:ext uri="{FF2B5EF4-FFF2-40B4-BE49-F238E27FC236}">
                    <a16:creationId xmlns:a16="http://schemas.microsoft.com/office/drawing/2014/main" id="{6B67AB1C-53D0-858D-1D5D-4981D9AE46E4}"/>
                  </a:ext>
                </a:extLst>
              </p:cNvPr>
              <p:cNvSpPr txBox="1"/>
              <p:nvPr/>
            </p:nvSpPr>
            <p:spPr>
              <a:xfrm>
                <a:off x="1008094" y="3821667"/>
                <a:ext cx="288862" cy="369332"/>
              </a:xfrm>
              <a:prstGeom prst="rect">
                <a:avLst/>
              </a:prstGeom>
              <a:noFill/>
            </p:spPr>
            <p:txBody>
              <a:bodyPr wrap="none" rtlCol="0">
                <a:spAutoFit/>
              </a:bodyPr>
              <a:lstStyle/>
              <a:p>
                <a:r>
                  <a:rPr lang="en-SE" dirty="0">
                    <a:solidFill>
                      <a:srgbClr val="006D70"/>
                    </a:solidFill>
                  </a:rPr>
                  <a:t>y</a:t>
                </a:r>
              </a:p>
            </p:txBody>
          </p:sp>
        </p:grpSp>
        <p:cxnSp>
          <p:nvCxnSpPr>
            <p:cNvPr id="112" name="Straight Connector 111">
              <a:extLst>
                <a:ext uri="{FF2B5EF4-FFF2-40B4-BE49-F238E27FC236}">
                  <a16:creationId xmlns:a16="http://schemas.microsoft.com/office/drawing/2014/main" id="{B961CFD2-B265-B2FA-8451-73AF22CF5965}"/>
                </a:ext>
              </a:extLst>
            </p:cNvPr>
            <p:cNvCxnSpPr>
              <a:cxnSpLocks/>
            </p:cNvCxnSpPr>
            <p:nvPr/>
          </p:nvCxnSpPr>
          <p:spPr>
            <a:xfrm>
              <a:off x="6506409" y="5032078"/>
              <a:ext cx="1841175" cy="0"/>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cxnSp>
          <p:nvCxnSpPr>
            <p:cNvPr id="113" name="Straight Connector 112">
              <a:extLst>
                <a:ext uri="{FF2B5EF4-FFF2-40B4-BE49-F238E27FC236}">
                  <a16:creationId xmlns:a16="http://schemas.microsoft.com/office/drawing/2014/main" id="{FC254BBC-2AEF-20DB-AB2C-34D50B2E6081}"/>
                </a:ext>
              </a:extLst>
            </p:cNvPr>
            <p:cNvCxnSpPr>
              <a:cxnSpLocks/>
            </p:cNvCxnSpPr>
            <p:nvPr/>
          </p:nvCxnSpPr>
          <p:spPr>
            <a:xfrm>
              <a:off x="6506409" y="4670128"/>
              <a:ext cx="1845941" cy="734975"/>
            </a:xfrm>
            <a:prstGeom prst="line">
              <a:avLst/>
            </a:prstGeom>
            <a:ln>
              <a:solidFill>
                <a:srgbClr val="C00000"/>
              </a:solidFill>
            </a:ln>
          </p:spPr>
          <p:style>
            <a:lnRef idx="2">
              <a:schemeClr val="dk1"/>
            </a:lnRef>
            <a:fillRef idx="0">
              <a:schemeClr val="dk1"/>
            </a:fillRef>
            <a:effectRef idx="1">
              <a:schemeClr val="dk1"/>
            </a:effectRef>
            <a:fontRef idx="minor">
              <a:schemeClr val="tx1"/>
            </a:fontRef>
          </p:style>
        </p:cxnSp>
        <p:sp>
          <p:nvSpPr>
            <p:cNvPr id="154" name="Right Brace 153">
              <a:extLst>
                <a:ext uri="{FF2B5EF4-FFF2-40B4-BE49-F238E27FC236}">
                  <a16:creationId xmlns:a16="http://schemas.microsoft.com/office/drawing/2014/main" id="{991C08EB-2B87-35B1-2ACC-A881BCCAC6B6}"/>
                </a:ext>
              </a:extLst>
            </p:cNvPr>
            <p:cNvSpPr/>
            <p:nvPr/>
          </p:nvSpPr>
          <p:spPr>
            <a:xfrm>
              <a:off x="6559202" y="4672202"/>
              <a:ext cx="148440" cy="361947"/>
            </a:xfrm>
            <a:prstGeom prst="rightBrace">
              <a:avLst/>
            </a:prstGeom>
            <a:ln>
              <a:solidFill>
                <a:srgbClr val="D0180A"/>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SE"/>
            </a:p>
          </p:txBody>
        </p:sp>
        <mc:AlternateContent xmlns:mc="http://schemas.openxmlformats.org/markup-compatibility/2006" xmlns:a14="http://schemas.microsoft.com/office/drawing/2010/main">
          <mc:Choice Requires="a14">
            <p:sp>
              <p:nvSpPr>
                <p:cNvPr id="155" name="TextBox 154">
                  <a:extLst>
                    <a:ext uri="{FF2B5EF4-FFF2-40B4-BE49-F238E27FC236}">
                      <a16:creationId xmlns:a16="http://schemas.microsoft.com/office/drawing/2014/main" id="{5571E6BA-C849-0A85-92E1-6D277CF33FF4}"/>
                    </a:ext>
                  </a:extLst>
                </p:cNvPr>
                <p:cNvSpPr txBox="1"/>
                <p:nvPr/>
              </p:nvSpPr>
              <p:spPr>
                <a:xfrm>
                  <a:off x="6709726" y="4713701"/>
                  <a:ext cx="28469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b="0" i="1" smtClean="0">
                                <a:solidFill>
                                  <a:srgbClr val="C00000"/>
                                </a:solidFill>
                                <a:latin typeface="Cambria Math" panose="02040503050406030204" pitchFamily="18" charset="0"/>
                              </a:rPr>
                            </m:ctrlPr>
                          </m:sSubPr>
                          <m:e>
                            <m:r>
                              <a:rPr lang="en-SE" b="0" i="1" smtClean="0">
                                <a:solidFill>
                                  <a:srgbClr val="C00000"/>
                                </a:solidFill>
                                <a:latin typeface="Cambria Math" panose="02040503050406030204" pitchFamily="18" charset="0"/>
                              </a:rPr>
                              <m:t>𝛽</m:t>
                            </m:r>
                          </m:e>
                          <m:sub>
                            <m:r>
                              <a:rPr lang="en-SE" b="0" i="1" smtClean="0">
                                <a:solidFill>
                                  <a:srgbClr val="C00000"/>
                                </a:solidFill>
                                <a:latin typeface="Cambria Math" panose="02040503050406030204" pitchFamily="18" charset="0"/>
                              </a:rPr>
                              <m:t>𝑥</m:t>
                            </m:r>
                          </m:sub>
                        </m:sSub>
                      </m:oMath>
                    </m:oMathPara>
                  </a14:m>
                  <a:endParaRPr lang="en-SE" dirty="0"/>
                </a:p>
              </p:txBody>
            </p:sp>
          </mc:Choice>
          <mc:Fallback xmlns="">
            <p:sp>
              <p:nvSpPr>
                <p:cNvPr id="155" name="TextBox 154">
                  <a:extLst>
                    <a:ext uri="{FF2B5EF4-FFF2-40B4-BE49-F238E27FC236}">
                      <a16:creationId xmlns:a16="http://schemas.microsoft.com/office/drawing/2014/main" id="{5571E6BA-C849-0A85-92E1-6D277CF33FF4}"/>
                    </a:ext>
                  </a:extLst>
                </p:cNvPr>
                <p:cNvSpPr txBox="1">
                  <a:spLocks noRot="1" noChangeAspect="1" noMove="1" noResize="1" noEditPoints="1" noAdjustHandles="1" noChangeArrowheads="1" noChangeShapeType="1" noTextEdit="1"/>
                </p:cNvSpPr>
                <p:nvPr/>
              </p:nvSpPr>
              <p:spPr>
                <a:xfrm>
                  <a:off x="6709726" y="4713701"/>
                  <a:ext cx="284693" cy="276999"/>
                </a:xfrm>
                <a:prstGeom prst="rect">
                  <a:avLst/>
                </a:prstGeom>
                <a:blipFill>
                  <a:blip r:embed="rId17"/>
                  <a:stretch>
                    <a:fillRect l="-30435" t="-2174" r="-4348" b="-3260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60" name="TextBox 159">
                  <a:extLst>
                    <a:ext uri="{FF2B5EF4-FFF2-40B4-BE49-F238E27FC236}">
                      <a16:creationId xmlns:a16="http://schemas.microsoft.com/office/drawing/2014/main" id="{65B7F7EA-9F22-6401-4903-7999BEA689A6}"/>
                    </a:ext>
                  </a:extLst>
                </p:cNvPr>
                <p:cNvSpPr txBox="1"/>
                <p:nvPr/>
              </p:nvSpPr>
              <p:spPr>
                <a:xfrm>
                  <a:off x="8481146" y="4858747"/>
                  <a:ext cx="26565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E" b="0" i="1" smtClean="0">
                                <a:solidFill>
                                  <a:srgbClr val="FFC000"/>
                                </a:solidFill>
                                <a:latin typeface="Cambria Math" panose="02040503050406030204" pitchFamily="18" charset="0"/>
                              </a:rPr>
                            </m:ctrlPr>
                          </m:sSubPr>
                          <m:e>
                            <m:r>
                              <a:rPr lang="en-SE" b="0" i="1" smtClean="0">
                                <a:solidFill>
                                  <a:srgbClr val="FFC000"/>
                                </a:solidFill>
                                <a:latin typeface="Cambria Math" panose="02040503050406030204" pitchFamily="18" charset="0"/>
                              </a:rPr>
                              <m:t>𝛾</m:t>
                            </m:r>
                          </m:e>
                          <m:sub>
                            <m:r>
                              <a:rPr lang="en-SE" b="0" i="1" smtClean="0">
                                <a:solidFill>
                                  <a:srgbClr val="FFC000"/>
                                </a:solidFill>
                                <a:latin typeface="Cambria Math" panose="02040503050406030204" pitchFamily="18" charset="0"/>
                              </a:rPr>
                              <m:t>𝑎</m:t>
                            </m:r>
                          </m:sub>
                        </m:sSub>
                      </m:oMath>
                    </m:oMathPara>
                  </a14:m>
                  <a:endParaRPr lang="en-SE" dirty="0"/>
                </a:p>
              </p:txBody>
            </p:sp>
          </mc:Choice>
          <mc:Fallback xmlns="">
            <p:sp>
              <p:nvSpPr>
                <p:cNvPr id="160" name="TextBox 159">
                  <a:extLst>
                    <a:ext uri="{FF2B5EF4-FFF2-40B4-BE49-F238E27FC236}">
                      <a16:creationId xmlns:a16="http://schemas.microsoft.com/office/drawing/2014/main" id="{65B7F7EA-9F22-6401-4903-7999BEA689A6}"/>
                    </a:ext>
                  </a:extLst>
                </p:cNvPr>
                <p:cNvSpPr txBox="1">
                  <a:spLocks noRot="1" noChangeAspect="1" noMove="1" noResize="1" noEditPoints="1" noAdjustHandles="1" noChangeArrowheads="1" noChangeShapeType="1" noTextEdit="1"/>
                </p:cNvSpPr>
                <p:nvPr/>
              </p:nvSpPr>
              <p:spPr>
                <a:xfrm>
                  <a:off x="8481146" y="4858747"/>
                  <a:ext cx="265650" cy="276999"/>
                </a:xfrm>
                <a:prstGeom prst="rect">
                  <a:avLst/>
                </a:prstGeom>
                <a:blipFill>
                  <a:blip r:embed="rId18"/>
                  <a:stretch>
                    <a:fillRect l="-20455" b="-21739"/>
                  </a:stretch>
                </a:blipFill>
              </p:spPr>
              <p:txBody>
                <a:bodyPr/>
                <a:lstStyle/>
                <a:p>
                  <a:r>
                    <a:rPr lang="en-SE">
                      <a:noFill/>
                    </a:rPr>
                    <a:t> </a:t>
                  </a:r>
                </a:p>
              </p:txBody>
            </p:sp>
          </mc:Fallback>
        </mc:AlternateContent>
        <p:sp>
          <p:nvSpPr>
            <p:cNvPr id="171" name="Right Brace 170">
              <a:extLst>
                <a:ext uri="{FF2B5EF4-FFF2-40B4-BE49-F238E27FC236}">
                  <a16:creationId xmlns:a16="http://schemas.microsoft.com/office/drawing/2014/main" id="{6024923D-39FA-CEED-1D0A-682FAB858164}"/>
                </a:ext>
              </a:extLst>
            </p:cNvPr>
            <p:cNvSpPr/>
            <p:nvPr/>
          </p:nvSpPr>
          <p:spPr>
            <a:xfrm>
              <a:off x="8348657" y="4667424"/>
              <a:ext cx="110766" cy="737679"/>
            </a:xfrm>
            <a:prstGeom prst="rightBrace">
              <a:avLst/>
            </a:prstGeom>
            <a:ln>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SE"/>
            </a:p>
          </p:txBody>
        </p:sp>
      </p:grpSp>
      <p:sp>
        <p:nvSpPr>
          <p:cNvPr id="17" name="TextBox 16">
            <a:extLst>
              <a:ext uri="{FF2B5EF4-FFF2-40B4-BE49-F238E27FC236}">
                <a16:creationId xmlns:a16="http://schemas.microsoft.com/office/drawing/2014/main" id="{353866CA-9E36-AC24-E63A-7D7790525809}"/>
              </a:ext>
            </a:extLst>
          </p:cNvPr>
          <p:cNvSpPr txBox="1"/>
          <p:nvPr/>
        </p:nvSpPr>
        <p:spPr>
          <a:xfrm>
            <a:off x="900367" y="2441109"/>
            <a:ext cx="2061453" cy="646331"/>
          </a:xfrm>
          <a:prstGeom prst="rect">
            <a:avLst/>
          </a:prstGeom>
          <a:noFill/>
        </p:spPr>
        <p:txBody>
          <a:bodyPr wrap="square" rtlCol="0">
            <a:spAutoFit/>
          </a:bodyPr>
          <a:lstStyle/>
          <a:p>
            <a:pPr algn="ctr"/>
            <a:r>
              <a:rPr lang="en-SE" b="1" dirty="0"/>
              <a:t>no covariation,</a:t>
            </a:r>
          </a:p>
          <a:p>
            <a:pPr algn="ctr"/>
            <a:r>
              <a:rPr lang="en-SE" b="1" dirty="0"/>
              <a:t>no moderation</a:t>
            </a:r>
          </a:p>
        </p:txBody>
      </p:sp>
      <p:sp>
        <p:nvSpPr>
          <p:cNvPr id="19" name="TextBox 18">
            <a:extLst>
              <a:ext uri="{FF2B5EF4-FFF2-40B4-BE49-F238E27FC236}">
                <a16:creationId xmlns:a16="http://schemas.microsoft.com/office/drawing/2014/main" id="{6E3C0049-DA00-A2B6-0BFC-E9CC1CECF1D1}"/>
              </a:ext>
            </a:extLst>
          </p:cNvPr>
          <p:cNvSpPr txBox="1"/>
          <p:nvPr/>
        </p:nvSpPr>
        <p:spPr>
          <a:xfrm>
            <a:off x="3693920" y="2439812"/>
            <a:ext cx="2061453" cy="646331"/>
          </a:xfrm>
          <a:prstGeom prst="rect">
            <a:avLst/>
          </a:prstGeom>
          <a:noFill/>
        </p:spPr>
        <p:txBody>
          <a:bodyPr wrap="square" rtlCol="0">
            <a:spAutoFit/>
          </a:bodyPr>
          <a:lstStyle/>
          <a:p>
            <a:pPr algn="ctr"/>
            <a:r>
              <a:rPr lang="en-SE" b="1" dirty="0"/>
              <a:t>covariation, but</a:t>
            </a:r>
          </a:p>
          <a:p>
            <a:pPr algn="ctr"/>
            <a:r>
              <a:rPr lang="en-SE" b="1" dirty="0"/>
              <a:t>no moderation</a:t>
            </a:r>
          </a:p>
        </p:txBody>
      </p:sp>
      <p:sp>
        <p:nvSpPr>
          <p:cNvPr id="20" name="TextBox 19">
            <a:extLst>
              <a:ext uri="{FF2B5EF4-FFF2-40B4-BE49-F238E27FC236}">
                <a16:creationId xmlns:a16="http://schemas.microsoft.com/office/drawing/2014/main" id="{075E3819-8973-DB4A-BA0F-351A41293317}"/>
              </a:ext>
            </a:extLst>
          </p:cNvPr>
          <p:cNvSpPr txBox="1"/>
          <p:nvPr/>
        </p:nvSpPr>
        <p:spPr>
          <a:xfrm>
            <a:off x="6437537" y="2439812"/>
            <a:ext cx="2061453" cy="646331"/>
          </a:xfrm>
          <a:prstGeom prst="rect">
            <a:avLst/>
          </a:prstGeom>
          <a:noFill/>
        </p:spPr>
        <p:txBody>
          <a:bodyPr wrap="square" rtlCol="0">
            <a:spAutoFit/>
          </a:bodyPr>
          <a:lstStyle/>
          <a:p>
            <a:pPr algn="ctr"/>
            <a:r>
              <a:rPr lang="en-SE" b="1" dirty="0"/>
              <a:t>no covariation, but moderation</a:t>
            </a:r>
          </a:p>
        </p:txBody>
      </p:sp>
      <p:sp>
        <p:nvSpPr>
          <p:cNvPr id="21" name="TextBox 20">
            <a:extLst>
              <a:ext uri="{FF2B5EF4-FFF2-40B4-BE49-F238E27FC236}">
                <a16:creationId xmlns:a16="http://schemas.microsoft.com/office/drawing/2014/main" id="{8287837E-2181-3A6A-FB51-E2136C3F3AF2}"/>
              </a:ext>
            </a:extLst>
          </p:cNvPr>
          <p:cNvSpPr txBox="1"/>
          <p:nvPr/>
        </p:nvSpPr>
        <p:spPr>
          <a:xfrm>
            <a:off x="9181154" y="2441782"/>
            <a:ext cx="2061453" cy="646331"/>
          </a:xfrm>
          <a:prstGeom prst="rect">
            <a:avLst/>
          </a:prstGeom>
          <a:noFill/>
        </p:spPr>
        <p:txBody>
          <a:bodyPr wrap="square" rtlCol="0">
            <a:spAutoFit/>
          </a:bodyPr>
          <a:lstStyle/>
          <a:p>
            <a:pPr algn="ctr"/>
            <a:r>
              <a:rPr lang="en-SE" b="1" dirty="0"/>
              <a:t>covariation and moderation</a:t>
            </a:r>
          </a:p>
        </p:txBody>
      </p:sp>
    </p:spTree>
    <p:extLst>
      <p:ext uri="{BB962C8B-B14F-4D97-AF65-F5344CB8AC3E}">
        <p14:creationId xmlns:p14="http://schemas.microsoft.com/office/powerpoint/2010/main" val="10772888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0" grpId="0"/>
      <p:bldP spid="21" grpId="0"/>
    </p:bld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D821E-2C3E-A13D-936A-5860148C0E1B}"/>
              </a:ext>
            </a:extLst>
          </p:cNvPr>
          <p:cNvSpPr>
            <a:spLocks noGrp="1"/>
          </p:cNvSpPr>
          <p:nvPr>
            <p:ph type="title"/>
          </p:nvPr>
        </p:nvSpPr>
        <p:spPr/>
        <p:txBody>
          <a:bodyPr/>
          <a:lstStyle/>
          <a:p>
            <a:r>
              <a:rPr lang="en-SE" dirty="0"/>
              <a:t>Probabilistic vs. Deterministic Relationships</a:t>
            </a:r>
          </a:p>
        </p:txBody>
      </p:sp>
      <p:sp>
        <p:nvSpPr>
          <p:cNvPr id="3" name="Content Placeholder 2">
            <a:extLst>
              <a:ext uri="{FF2B5EF4-FFF2-40B4-BE49-F238E27FC236}">
                <a16:creationId xmlns:a16="http://schemas.microsoft.com/office/drawing/2014/main" id="{D64CFEE5-6A1A-B47E-0C1E-D12FBD33EB0F}"/>
              </a:ext>
            </a:extLst>
          </p:cNvPr>
          <p:cNvSpPr>
            <a:spLocks noGrp="1"/>
          </p:cNvSpPr>
          <p:nvPr>
            <p:ph idx="1"/>
          </p:nvPr>
        </p:nvSpPr>
        <p:spPr/>
        <p:txBody>
          <a:bodyPr/>
          <a:lstStyle/>
          <a:p>
            <a:endParaRPr lang="en-SE"/>
          </a:p>
        </p:txBody>
      </p:sp>
      <p:sp>
        <p:nvSpPr>
          <p:cNvPr id="4" name="Date Placeholder 3">
            <a:extLst>
              <a:ext uri="{FF2B5EF4-FFF2-40B4-BE49-F238E27FC236}">
                <a16:creationId xmlns:a16="http://schemas.microsoft.com/office/drawing/2014/main" id="{8F537F0D-D10B-066A-D358-987B5E1F967E}"/>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Slide Number Placeholder 4">
            <a:extLst>
              <a:ext uri="{FF2B5EF4-FFF2-40B4-BE49-F238E27FC236}">
                <a16:creationId xmlns:a16="http://schemas.microsoft.com/office/drawing/2014/main" id="{B224B256-581B-E101-7F5A-F537CDFEB3C7}"/>
              </a:ext>
            </a:extLst>
          </p:cNvPr>
          <p:cNvSpPr>
            <a:spLocks noGrp="1"/>
          </p:cNvSpPr>
          <p:nvPr>
            <p:ph type="sldNum" sz="quarter" idx="12"/>
          </p:nvPr>
        </p:nvSpPr>
        <p:spPr/>
        <p:txBody>
          <a:bodyPr/>
          <a:lstStyle/>
          <a:p>
            <a:fld id="{271ECC92-9CDE-4EB3-B1C5-F46B9E1FA3C1}" type="slidenum">
              <a:rPr lang="en-SE" smtClean="0"/>
              <a:t>17</a:t>
            </a:fld>
            <a:endParaRPr lang="en-SE"/>
          </a:p>
        </p:txBody>
      </p:sp>
      <p:grpSp>
        <p:nvGrpSpPr>
          <p:cNvPr id="6" name="Group 5">
            <a:extLst>
              <a:ext uri="{FF2B5EF4-FFF2-40B4-BE49-F238E27FC236}">
                <a16:creationId xmlns:a16="http://schemas.microsoft.com/office/drawing/2014/main" id="{CD010C7A-86B5-550A-2C2D-068938D6C751}"/>
              </a:ext>
            </a:extLst>
          </p:cNvPr>
          <p:cNvGrpSpPr/>
          <p:nvPr/>
        </p:nvGrpSpPr>
        <p:grpSpPr>
          <a:xfrm>
            <a:off x="838198" y="365125"/>
            <a:ext cx="1983884" cy="245531"/>
            <a:chOff x="4114799" y="3759391"/>
            <a:chExt cx="1983884" cy="1229241"/>
          </a:xfrm>
        </p:grpSpPr>
        <p:sp>
          <p:nvSpPr>
            <p:cNvPr id="7" name="Arrow: Pentagon 6">
              <a:extLst>
                <a:ext uri="{FF2B5EF4-FFF2-40B4-BE49-F238E27FC236}">
                  <a16:creationId xmlns:a16="http://schemas.microsoft.com/office/drawing/2014/main" id="{501DDA79-2414-9A3A-0D81-F55BDFF2C7A3}"/>
                </a:ext>
              </a:extLst>
            </p:cNvPr>
            <p:cNvSpPr/>
            <p:nvPr/>
          </p:nvSpPr>
          <p:spPr>
            <a:xfrm>
              <a:off x="4114799" y="3759391"/>
              <a:ext cx="794039" cy="1229241"/>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sz="1400" dirty="0"/>
                <a:t>Theory</a:t>
              </a:r>
            </a:p>
          </p:txBody>
        </p:sp>
        <p:sp>
          <p:nvSpPr>
            <p:cNvPr id="8" name="Arrow: Chevron 7">
              <a:extLst>
                <a:ext uri="{FF2B5EF4-FFF2-40B4-BE49-F238E27FC236}">
                  <a16:creationId xmlns:a16="http://schemas.microsoft.com/office/drawing/2014/main" id="{3D9032DC-929B-4348-B9FB-EF75B2C8CBA1}"/>
                </a:ext>
              </a:extLst>
            </p:cNvPr>
            <p:cNvSpPr/>
            <p:nvPr/>
          </p:nvSpPr>
          <p:spPr>
            <a:xfrm>
              <a:off x="4843616" y="3759391"/>
              <a:ext cx="1255067" cy="1229241"/>
            </a:xfrm>
            <a:prstGeom prst="chevron">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sz="1400" dirty="0">
                  <a:solidFill>
                    <a:schemeClr val="bg1">
                      <a:lumMod val="75000"/>
                    </a:schemeClr>
                  </a:solidFill>
                </a:rPr>
                <a:t>Use Case</a:t>
              </a:r>
            </a:p>
          </p:txBody>
        </p:sp>
      </p:grpSp>
    </p:spTree>
    <p:extLst>
      <p:ext uri="{BB962C8B-B14F-4D97-AF65-F5344CB8AC3E}">
        <p14:creationId xmlns:p14="http://schemas.microsoft.com/office/powerpoint/2010/main" val="35852098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FFA4818-262D-6932-B75A-9BDEF72E4C59}"/>
              </a:ext>
            </a:extLst>
          </p:cNvPr>
          <p:cNvSpPr>
            <a:spLocks noGrp="1"/>
          </p:cNvSpPr>
          <p:nvPr>
            <p:ph type="title"/>
          </p:nvPr>
        </p:nvSpPr>
        <p:spPr/>
        <p:txBody>
          <a:bodyPr/>
          <a:lstStyle/>
          <a:p>
            <a:r>
              <a:rPr lang="en-SE" dirty="0"/>
              <a:t>Exercises</a:t>
            </a:r>
          </a:p>
        </p:txBody>
      </p:sp>
      <p:sp>
        <p:nvSpPr>
          <p:cNvPr id="11" name="Text Placeholder 10">
            <a:extLst>
              <a:ext uri="{FF2B5EF4-FFF2-40B4-BE49-F238E27FC236}">
                <a16:creationId xmlns:a16="http://schemas.microsoft.com/office/drawing/2014/main" id="{523125DB-3A48-E008-D899-4661594270C5}"/>
              </a:ext>
            </a:extLst>
          </p:cNvPr>
          <p:cNvSpPr>
            <a:spLocks noGrp="1"/>
          </p:cNvSpPr>
          <p:nvPr>
            <p:ph type="body" idx="1"/>
          </p:nvPr>
        </p:nvSpPr>
        <p:spPr/>
        <p:txBody>
          <a:bodyPr/>
          <a:lstStyle/>
          <a:p>
            <a:r>
              <a:rPr lang="en-SE" dirty="0"/>
              <a:t>Applying Causal Modelling</a:t>
            </a:r>
          </a:p>
        </p:txBody>
      </p:sp>
      <p:sp>
        <p:nvSpPr>
          <p:cNvPr id="4" name="Date Placeholder 3">
            <a:extLst>
              <a:ext uri="{FF2B5EF4-FFF2-40B4-BE49-F238E27FC236}">
                <a16:creationId xmlns:a16="http://schemas.microsoft.com/office/drawing/2014/main" id="{7EA8CF23-3595-EE99-8981-C0395FF9F982}"/>
              </a:ext>
            </a:extLst>
          </p:cNvPr>
          <p:cNvSpPr>
            <a:spLocks noGrp="1"/>
          </p:cNvSpPr>
          <p:nvPr>
            <p:ph type="dt" sz="half" idx="10"/>
          </p:nvPr>
        </p:nvSpPr>
        <p:spPr/>
        <p:txBody>
          <a:bodyPr/>
          <a:lstStyle/>
          <a:p>
            <a:fld id="{A1C06950-82F8-45F4-A28D-9FBF8CAE29F7}" type="datetime1">
              <a:rPr lang="de-DE" smtClean="0"/>
              <a:pPr/>
              <a:t>17.06.2026</a:t>
            </a:fld>
            <a:endParaRPr lang="en-SE"/>
          </a:p>
        </p:txBody>
      </p:sp>
      <p:sp>
        <p:nvSpPr>
          <p:cNvPr id="5" name="Slide Number Placeholder 4">
            <a:extLst>
              <a:ext uri="{FF2B5EF4-FFF2-40B4-BE49-F238E27FC236}">
                <a16:creationId xmlns:a16="http://schemas.microsoft.com/office/drawing/2014/main" id="{EA9F62DA-4306-06D4-FA37-5A4455B591DD}"/>
              </a:ext>
            </a:extLst>
          </p:cNvPr>
          <p:cNvSpPr>
            <a:spLocks noGrp="1"/>
          </p:cNvSpPr>
          <p:nvPr>
            <p:ph type="sldNum" sz="quarter" idx="12"/>
          </p:nvPr>
        </p:nvSpPr>
        <p:spPr/>
        <p:txBody>
          <a:bodyPr/>
          <a:lstStyle/>
          <a:p>
            <a:fld id="{271ECC92-9CDE-4EB3-B1C5-F46B9E1FA3C1}" type="slidenum">
              <a:rPr lang="en-SE" smtClean="0"/>
              <a:pPr/>
              <a:t>18</a:t>
            </a:fld>
            <a:endParaRPr lang="en-SE"/>
          </a:p>
        </p:txBody>
      </p:sp>
    </p:spTree>
    <p:extLst>
      <p:ext uri="{BB962C8B-B14F-4D97-AF65-F5344CB8AC3E}">
        <p14:creationId xmlns:p14="http://schemas.microsoft.com/office/powerpoint/2010/main" val="4149818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03FBD-3F15-097F-0A5A-4356A50C9436}"/>
              </a:ext>
            </a:extLst>
          </p:cNvPr>
          <p:cNvSpPr>
            <a:spLocks noGrp="1"/>
          </p:cNvSpPr>
          <p:nvPr>
            <p:ph type="title"/>
          </p:nvPr>
        </p:nvSpPr>
        <p:spPr/>
        <p:txBody>
          <a:bodyPr/>
          <a:lstStyle/>
          <a:p>
            <a:r>
              <a:rPr lang="en-SE" dirty="0"/>
              <a:t>Exercise: Formulating a DAG</a:t>
            </a:r>
          </a:p>
        </p:txBody>
      </p:sp>
      <p:sp>
        <p:nvSpPr>
          <p:cNvPr id="3" name="Content Placeholder 2">
            <a:extLst>
              <a:ext uri="{FF2B5EF4-FFF2-40B4-BE49-F238E27FC236}">
                <a16:creationId xmlns:a16="http://schemas.microsoft.com/office/drawing/2014/main" id="{8520E043-937F-A4D7-A99D-101016C7F97D}"/>
              </a:ext>
            </a:extLst>
          </p:cNvPr>
          <p:cNvSpPr>
            <a:spLocks noGrp="1"/>
          </p:cNvSpPr>
          <p:nvPr>
            <p:ph idx="1"/>
          </p:nvPr>
        </p:nvSpPr>
        <p:spPr/>
        <p:txBody>
          <a:bodyPr/>
          <a:lstStyle/>
          <a:p>
            <a:pPr marL="0" indent="0">
              <a:buNone/>
            </a:pPr>
            <a:r>
              <a:rPr lang="en-SE" dirty="0"/>
              <a:t>Derive a causal DAG from the following description:</a:t>
            </a:r>
          </a:p>
          <a:p>
            <a:pPr marL="0" indent="0">
              <a:buNone/>
            </a:pPr>
            <a:r>
              <a:rPr lang="en-SE" dirty="0"/>
              <a:t>“Researchers are interested in knowing if using ChatGPT affects the quality and length of code reviews at a company. Since they cannot interrupt the regular workflow, they cannot force anyone to use or not use ChatGPT. They do know, however, that younger developers use ChatGPT more often. On the other hand, they know that more skilled developers generally produce more concise (i.e., shorter) and better code reviews.”</a:t>
            </a:r>
          </a:p>
        </p:txBody>
      </p:sp>
      <p:sp>
        <p:nvSpPr>
          <p:cNvPr id="4" name="Date Placeholder 3">
            <a:extLst>
              <a:ext uri="{FF2B5EF4-FFF2-40B4-BE49-F238E27FC236}">
                <a16:creationId xmlns:a16="http://schemas.microsoft.com/office/drawing/2014/main" id="{FE30DA3F-B36B-C446-2568-6FB2E8D7CD11}"/>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38C1258D-69CE-0243-5B7F-09B485770739}"/>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FD2CEE6E-05D8-428C-90C9-B674D6C83BC3}"/>
              </a:ext>
            </a:extLst>
          </p:cNvPr>
          <p:cNvSpPr>
            <a:spLocks noGrp="1"/>
          </p:cNvSpPr>
          <p:nvPr>
            <p:ph type="sldNum" sz="quarter" idx="12"/>
          </p:nvPr>
        </p:nvSpPr>
        <p:spPr/>
        <p:txBody>
          <a:bodyPr/>
          <a:lstStyle/>
          <a:p>
            <a:fld id="{0FA2D919-C0DE-4971-A2E9-D4AC0031921B}" type="slidenum">
              <a:rPr lang="en-US" smtClean="0"/>
              <a:t>19</a:t>
            </a:fld>
            <a:endParaRPr lang="en-US"/>
          </a:p>
        </p:txBody>
      </p:sp>
    </p:spTree>
    <p:extLst>
      <p:ext uri="{BB962C8B-B14F-4D97-AF65-F5344CB8AC3E}">
        <p14:creationId xmlns:p14="http://schemas.microsoft.com/office/powerpoint/2010/main" val="36398915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6BC84-5614-7D01-2D78-2D3ABA246A68}"/>
              </a:ext>
            </a:extLst>
          </p:cNvPr>
          <p:cNvSpPr>
            <a:spLocks noGrp="1"/>
          </p:cNvSpPr>
          <p:nvPr>
            <p:ph type="title"/>
          </p:nvPr>
        </p:nvSpPr>
        <p:spPr/>
        <p:txBody>
          <a:bodyPr/>
          <a:lstStyle/>
          <a:p>
            <a:r>
              <a:rPr lang="en-SE" dirty="0"/>
              <a:t>Solution: Formulating a DAG</a:t>
            </a:r>
          </a:p>
        </p:txBody>
      </p:sp>
      <p:sp>
        <p:nvSpPr>
          <p:cNvPr id="3" name="Content Placeholder 2">
            <a:extLst>
              <a:ext uri="{FF2B5EF4-FFF2-40B4-BE49-F238E27FC236}">
                <a16:creationId xmlns:a16="http://schemas.microsoft.com/office/drawing/2014/main" id="{532C4A99-4A50-C416-A31F-28FD0E0B24AC}"/>
              </a:ext>
            </a:extLst>
          </p:cNvPr>
          <p:cNvSpPr>
            <a:spLocks noGrp="1"/>
          </p:cNvSpPr>
          <p:nvPr>
            <p:ph idx="1"/>
          </p:nvPr>
        </p:nvSpPr>
        <p:spPr>
          <a:xfrm>
            <a:off x="838200" y="1825625"/>
            <a:ext cx="10515600" cy="2106295"/>
          </a:xfrm>
        </p:spPr>
        <p:txBody>
          <a:bodyPr>
            <a:normAutofit fontScale="92500" lnSpcReduction="20000"/>
          </a:bodyPr>
          <a:lstStyle/>
          <a:p>
            <a:pPr marL="0" indent="0">
              <a:buNone/>
            </a:pPr>
            <a:r>
              <a:rPr lang="en-SE" dirty="0"/>
              <a:t>“Researchers are interested in knowing if </a:t>
            </a:r>
            <a:r>
              <a:rPr lang="en-SE" b="1" dirty="0">
                <a:solidFill>
                  <a:srgbClr val="D0180A"/>
                </a:solidFill>
              </a:rPr>
              <a:t>using ChatGPT </a:t>
            </a:r>
            <a:r>
              <a:rPr lang="en-SE" dirty="0"/>
              <a:t>affects the </a:t>
            </a:r>
            <a:r>
              <a:rPr lang="en-SE" b="1" dirty="0">
                <a:solidFill>
                  <a:srgbClr val="006D70"/>
                </a:solidFill>
              </a:rPr>
              <a:t>quality</a:t>
            </a:r>
            <a:r>
              <a:rPr lang="en-SE" dirty="0"/>
              <a:t> and </a:t>
            </a:r>
            <a:r>
              <a:rPr lang="en-SE" b="1" dirty="0">
                <a:solidFill>
                  <a:srgbClr val="006D70"/>
                </a:solidFill>
              </a:rPr>
              <a:t>length of code reviews </a:t>
            </a:r>
            <a:r>
              <a:rPr lang="en-SE" dirty="0"/>
              <a:t>at a company. Since they cannot interrupt the regular workflow, they cannot force anyone to use or not use ChatGPT. They do know, however, that younger developers use ChatGPT more often. On the other hand, they know that more skilled developers generally produce more concise (i.e., shorter) and better code reviews.”</a:t>
            </a:r>
          </a:p>
        </p:txBody>
      </p:sp>
      <p:sp>
        <p:nvSpPr>
          <p:cNvPr id="4" name="Date Placeholder 3">
            <a:extLst>
              <a:ext uri="{FF2B5EF4-FFF2-40B4-BE49-F238E27FC236}">
                <a16:creationId xmlns:a16="http://schemas.microsoft.com/office/drawing/2014/main" id="{95E1153F-693D-D8AE-050C-27F8E6809906}"/>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52B03A78-3F16-F624-7D27-419C8623AE34}"/>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8054C5B4-8E28-1D83-AA8A-C6FD58D80896}"/>
              </a:ext>
            </a:extLst>
          </p:cNvPr>
          <p:cNvSpPr>
            <a:spLocks noGrp="1"/>
          </p:cNvSpPr>
          <p:nvPr>
            <p:ph type="sldNum" sz="quarter" idx="12"/>
          </p:nvPr>
        </p:nvSpPr>
        <p:spPr/>
        <p:txBody>
          <a:bodyPr/>
          <a:lstStyle/>
          <a:p>
            <a:fld id="{0FA2D919-C0DE-4971-A2E9-D4AC0031921B}" type="slidenum">
              <a:rPr lang="en-US" smtClean="0"/>
              <a:t>20</a:t>
            </a:fld>
            <a:endParaRPr lang="en-US"/>
          </a:p>
        </p:txBody>
      </p:sp>
      <p:sp>
        <p:nvSpPr>
          <p:cNvPr id="8" name="Oval 7">
            <a:extLst>
              <a:ext uri="{FF2B5EF4-FFF2-40B4-BE49-F238E27FC236}">
                <a16:creationId xmlns:a16="http://schemas.microsoft.com/office/drawing/2014/main" id="{18175F8B-187A-30E0-30C2-F02D74199FCA}"/>
              </a:ext>
            </a:extLst>
          </p:cNvPr>
          <p:cNvSpPr/>
          <p:nvPr/>
        </p:nvSpPr>
        <p:spPr>
          <a:xfrm>
            <a:off x="4607392" y="4467770"/>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75714894-43F6-757E-1CB0-106EDA63EE87}"/>
              </a:ext>
            </a:extLst>
          </p:cNvPr>
          <p:cNvSpPr/>
          <p:nvPr/>
        </p:nvSpPr>
        <p:spPr>
          <a:xfrm>
            <a:off x="6953083" y="408678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C3E838D0-C15A-76A0-AF04-F5770A4C116F}"/>
              </a:ext>
            </a:extLst>
          </p:cNvPr>
          <p:cNvSpPr txBox="1"/>
          <p:nvPr/>
        </p:nvSpPr>
        <p:spPr>
          <a:xfrm>
            <a:off x="3405801" y="4456119"/>
            <a:ext cx="1071640" cy="369332"/>
          </a:xfrm>
          <a:prstGeom prst="rect">
            <a:avLst/>
          </a:prstGeom>
          <a:noFill/>
        </p:spPr>
        <p:txBody>
          <a:bodyPr wrap="none" rtlCol="0">
            <a:spAutoFit/>
          </a:bodyPr>
          <a:lstStyle/>
          <a:p>
            <a:pPr algn="r"/>
            <a:r>
              <a:rPr lang="en-SE" noProof="0" dirty="0">
                <a:solidFill>
                  <a:srgbClr val="D0180A"/>
                </a:solidFill>
              </a:rPr>
              <a:t>ChatGPT</a:t>
            </a:r>
            <a:endParaRPr lang="en-US" noProof="0" dirty="0">
              <a:solidFill>
                <a:srgbClr val="D0180A"/>
              </a:solidFill>
            </a:endParaRPr>
          </a:p>
        </p:txBody>
      </p:sp>
      <p:sp>
        <p:nvSpPr>
          <p:cNvPr id="12" name="TextBox 11">
            <a:extLst>
              <a:ext uri="{FF2B5EF4-FFF2-40B4-BE49-F238E27FC236}">
                <a16:creationId xmlns:a16="http://schemas.microsoft.com/office/drawing/2014/main" id="{133C62B1-3A48-4ECA-316A-EE2AD7FA5063}"/>
              </a:ext>
            </a:extLst>
          </p:cNvPr>
          <p:cNvSpPr txBox="1"/>
          <p:nvPr/>
        </p:nvSpPr>
        <p:spPr>
          <a:xfrm>
            <a:off x="7404821" y="4086787"/>
            <a:ext cx="1205779" cy="369332"/>
          </a:xfrm>
          <a:prstGeom prst="rect">
            <a:avLst/>
          </a:prstGeom>
          <a:noFill/>
        </p:spPr>
        <p:txBody>
          <a:bodyPr wrap="none" rtlCol="0">
            <a:spAutoFit/>
          </a:bodyPr>
          <a:lstStyle/>
          <a:p>
            <a:r>
              <a:rPr lang="en-SE" noProof="0" dirty="0">
                <a:solidFill>
                  <a:srgbClr val="006D70"/>
                </a:solidFill>
              </a:rPr>
              <a:t>CR quality</a:t>
            </a:r>
            <a:endParaRPr lang="en-US" noProof="0" dirty="0">
              <a:solidFill>
                <a:srgbClr val="006D70"/>
              </a:solidFill>
            </a:endParaRPr>
          </a:p>
        </p:txBody>
      </p:sp>
      <p:sp>
        <p:nvSpPr>
          <p:cNvPr id="13" name="Oval 12">
            <a:extLst>
              <a:ext uri="{FF2B5EF4-FFF2-40B4-BE49-F238E27FC236}">
                <a16:creationId xmlns:a16="http://schemas.microsoft.com/office/drawing/2014/main" id="{2BF66CED-272B-EA6A-5C41-BEB0955019CD}"/>
              </a:ext>
            </a:extLst>
          </p:cNvPr>
          <p:cNvSpPr/>
          <p:nvPr/>
        </p:nvSpPr>
        <p:spPr>
          <a:xfrm>
            <a:off x="6953083" y="4827770"/>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TextBox 13">
            <a:extLst>
              <a:ext uri="{FF2B5EF4-FFF2-40B4-BE49-F238E27FC236}">
                <a16:creationId xmlns:a16="http://schemas.microsoft.com/office/drawing/2014/main" id="{813E89A1-C46F-C36C-BDD3-88AA1C5DC749}"/>
              </a:ext>
            </a:extLst>
          </p:cNvPr>
          <p:cNvSpPr txBox="1"/>
          <p:nvPr/>
        </p:nvSpPr>
        <p:spPr>
          <a:xfrm>
            <a:off x="7404821" y="4827770"/>
            <a:ext cx="1152880" cy="369332"/>
          </a:xfrm>
          <a:prstGeom prst="rect">
            <a:avLst/>
          </a:prstGeom>
          <a:noFill/>
        </p:spPr>
        <p:txBody>
          <a:bodyPr wrap="none" rtlCol="0">
            <a:spAutoFit/>
          </a:bodyPr>
          <a:lstStyle/>
          <a:p>
            <a:r>
              <a:rPr lang="en-SE" noProof="0" dirty="0">
                <a:solidFill>
                  <a:srgbClr val="006D70"/>
                </a:solidFill>
              </a:rPr>
              <a:t>CR length</a:t>
            </a:r>
            <a:endParaRPr lang="en-US" noProof="0" dirty="0">
              <a:solidFill>
                <a:srgbClr val="006D70"/>
              </a:solidFill>
            </a:endParaRPr>
          </a:p>
        </p:txBody>
      </p:sp>
      <p:cxnSp>
        <p:nvCxnSpPr>
          <p:cNvPr id="16" name="Straight Arrow Connector 15">
            <a:extLst>
              <a:ext uri="{FF2B5EF4-FFF2-40B4-BE49-F238E27FC236}">
                <a16:creationId xmlns:a16="http://schemas.microsoft.com/office/drawing/2014/main" id="{2EEA25BF-6D9F-44D0-6B1A-2E21982658EB}"/>
              </a:ext>
            </a:extLst>
          </p:cNvPr>
          <p:cNvCxnSpPr>
            <a:stCxn id="8" idx="6"/>
            <a:endCxn id="9" idx="2"/>
          </p:cNvCxnSpPr>
          <p:nvPr/>
        </p:nvCxnSpPr>
        <p:spPr>
          <a:xfrm flipV="1">
            <a:off x="4967392" y="4266787"/>
            <a:ext cx="1985691" cy="3809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08E56E22-C969-C2CE-75E5-5FA5F5B3A0FF}"/>
              </a:ext>
            </a:extLst>
          </p:cNvPr>
          <p:cNvCxnSpPr>
            <a:cxnSpLocks/>
            <a:stCxn id="8" idx="6"/>
            <a:endCxn id="13" idx="2"/>
          </p:cNvCxnSpPr>
          <p:nvPr/>
        </p:nvCxnSpPr>
        <p:spPr>
          <a:xfrm>
            <a:off x="4967392" y="4647770"/>
            <a:ext cx="1985691" cy="36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6227284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CA498-8414-567E-6E35-B446EF79CE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A404F4-9740-2A34-C7C3-080DA6AA4F2A}"/>
              </a:ext>
            </a:extLst>
          </p:cNvPr>
          <p:cNvSpPr>
            <a:spLocks noGrp="1"/>
          </p:cNvSpPr>
          <p:nvPr>
            <p:ph type="title"/>
          </p:nvPr>
        </p:nvSpPr>
        <p:spPr/>
        <p:txBody>
          <a:bodyPr/>
          <a:lstStyle/>
          <a:p>
            <a:r>
              <a:rPr lang="en-SE" dirty="0"/>
              <a:t>Solution: Formulating a DAG</a:t>
            </a:r>
          </a:p>
        </p:txBody>
      </p:sp>
      <p:sp>
        <p:nvSpPr>
          <p:cNvPr id="3" name="Content Placeholder 2">
            <a:extLst>
              <a:ext uri="{FF2B5EF4-FFF2-40B4-BE49-F238E27FC236}">
                <a16:creationId xmlns:a16="http://schemas.microsoft.com/office/drawing/2014/main" id="{ADD477A6-9DC8-1C3B-1A18-6DBF23DBC90E}"/>
              </a:ext>
            </a:extLst>
          </p:cNvPr>
          <p:cNvSpPr>
            <a:spLocks noGrp="1"/>
          </p:cNvSpPr>
          <p:nvPr>
            <p:ph idx="1"/>
          </p:nvPr>
        </p:nvSpPr>
        <p:spPr>
          <a:xfrm>
            <a:off x="838200" y="1825625"/>
            <a:ext cx="10515600" cy="2106295"/>
          </a:xfrm>
        </p:spPr>
        <p:txBody>
          <a:bodyPr>
            <a:normAutofit fontScale="92500" lnSpcReduction="20000"/>
          </a:bodyPr>
          <a:lstStyle/>
          <a:p>
            <a:pPr marL="0" indent="0">
              <a:buNone/>
            </a:pPr>
            <a:r>
              <a:rPr lang="en-SE" dirty="0"/>
              <a:t>“Researchers are interested in knowing if </a:t>
            </a:r>
            <a:r>
              <a:rPr lang="en-SE" b="1" dirty="0">
                <a:solidFill>
                  <a:srgbClr val="D0180A"/>
                </a:solidFill>
              </a:rPr>
              <a:t>using ChatGPT </a:t>
            </a:r>
            <a:r>
              <a:rPr lang="en-SE" dirty="0"/>
              <a:t>affects the </a:t>
            </a:r>
            <a:r>
              <a:rPr lang="en-SE" b="1" dirty="0">
                <a:solidFill>
                  <a:srgbClr val="006D70"/>
                </a:solidFill>
              </a:rPr>
              <a:t>quality</a:t>
            </a:r>
            <a:r>
              <a:rPr lang="en-SE" dirty="0"/>
              <a:t> and </a:t>
            </a:r>
            <a:r>
              <a:rPr lang="en-SE" b="1" dirty="0">
                <a:solidFill>
                  <a:srgbClr val="006D70"/>
                </a:solidFill>
              </a:rPr>
              <a:t>length of code reviews </a:t>
            </a:r>
            <a:r>
              <a:rPr lang="en-SE" dirty="0"/>
              <a:t>at a company. Since they cannot interrupt the regular workflow, they cannot force anyone to use or not use ChatGPT. They do know, however, that </a:t>
            </a:r>
            <a:r>
              <a:rPr lang="en-SE" b="1" dirty="0"/>
              <a:t>younger developers </a:t>
            </a:r>
            <a:r>
              <a:rPr lang="en-SE" dirty="0"/>
              <a:t>use ChatGPT more often. On the other hand, they know that more skilled developers generally produce more concise (i.e., shorter) and better code reviews.”</a:t>
            </a:r>
          </a:p>
        </p:txBody>
      </p:sp>
      <p:sp>
        <p:nvSpPr>
          <p:cNvPr id="4" name="Date Placeholder 3">
            <a:extLst>
              <a:ext uri="{FF2B5EF4-FFF2-40B4-BE49-F238E27FC236}">
                <a16:creationId xmlns:a16="http://schemas.microsoft.com/office/drawing/2014/main" id="{5EBADD74-03AF-4D12-367D-88626577A8CA}"/>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FC96F183-7284-41A5-0BA9-27A7B2DA5DB7}"/>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8B4B37FA-5D19-CB1A-B279-878BC1388FFB}"/>
              </a:ext>
            </a:extLst>
          </p:cNvPr>
          <p:cNvSpPr>
            <a:spLocks noGrp="1"/>
          </p:cNvSpPr>
          <p:nvPr>
            <p:ph type="sldNum" sz="quarter" idx="12"/>
          </p:nvPr>
        </p:nvSpPr>
        <p:spPr/>
        <p:txBody>
          <a:bodyPr/>
          <a:lstStyle/>
          <a:p>
            <a:fld id="{0FA2D919-C0DE-4971-A2E9-D4AC0031921B}" type="slidenum">
              <a:rPr lang="en-US" smtClean="0"/>
              <a:t>21</a:t>
            </a:fld>
            <a:endParaRPr lang="en-US"/>
          </a:p>
        </p:txBody>
      </p:sp>
      <p:sp>
        <p:nvSpPr>
          <p:cNvPr id="8" name="Oval 7">
            <a:extLst>
              <a:ext uri="{FF2B5EF4-FFF2-40B4-BE49-F238E27FC236}">
                <a16:creationId xmlns:a16="http://schemas.microsoft.com/office/drawing/2014/main" id="{26B8DEA0-EA65-E16C-D2A5-F14FF21CE063}"/>
              </a:ext>
            </a:extLst>
          </p:cNvPr>
          <p:cNvSpPr/>
          <p:nvPr/>
        </p:nvSpPr>
        <p:spPr>
          <a:xfrm>
            <a:off x="4607392" y="4467770"/>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DDE8D316-788C-3E14-61DA-0FC24B66F004}"/>
              </a:ext>
            </a:extLst>
          </p:cNvPr>
          <p:cNvSpPr/>
          <p:nvPr/>
        </p:nvSpPr>
        <p:spPr>
          <a:xfrm>
            <a:off x="6953083" y="408678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D3DF0A8B-2C28-6584-5B28-FC8CB687475C}"/>
              </a:ext>
            </a:extLst>
          </p:cNvPr>
          <p:cNvSpPr txBox="1"/>
          <p:nvPr/>
        </p:nvSpPr>
        <p:spPr>
          <a:xfrm>
            <a:off x="3405801" y="4456119"/>
            <a:ext cx="1071640" cy="369332"/>
          </a:xfrm>
          <a:prstGeom prst="rect">
            <a:avLst/>
          </a:prstGeom>
          <a:noFill/>
        </p:spPr>
        <p:txBody>
          <a:bodyPr wrap="none" rtlCol="0">
            <a:spAutoFit/>
          </a:bodyPr>
          <a:lstStyle/>
          <a:p>
            <a:pPr algn="r"/>
            <a:r>
              <a:rPr lang="en-SE" noProof="0" dirty="0">
                <a:solidFill>
                  <a:srgbClr val="D0180A"/>
                </a:solidFill>
              </a:rPr>
              <a:t>ChatGPT</a:t>
            </a:r>
            <a:endParaRPr lang="en-US" noProof="0" dirty="0">
              <a:solidFill>
                <a:srgbClr val="D0180A"/>
              </a:solidFill>
            </a:endParaRPr>
          </a:p>
        </p:txBody>
      </p:sp>
      <p:sp>
        <p:nvSpPr>
          <p:cNvPr id="12" name="TextBox 11">
            <a:extLst>
              <a:ext uri="{FF2B5EF4-FFF2-40B4-BE49-F238E27FC236}">
                <a16:creationId xmlns:a16="http://schemas.microsoft.com/office/drawing/2014/main" id="{D7AF8B61-FFB9-B6E9-4F0C-5E3DA5D5C390}"/>
              </a:ext>
            </a:extLst>
          </p:cNvPr>
          <p:cNvSpPr txBox="1"/>
          <p:nvPr/>
        </p:nvSpPr>
        <p:spPr>
          <a:xfrm>
            <a:off x="7404821" y="4086787"/>
            <a:ext cx="1205779" cy="369332"/>
          </a:xfrm>
          <a:prstGeom prst="rect">
            <a:avLst/>
          </a:prstGeom>
          <a:noFill/>
        </p:spPr>
        <p:txBody>
          <a:bodyPr wrap="none" rtlCol="0">
            <a:spAutoFit/>
          </a:bodyPr>
          <a:lstStyle/>
          <a:p>
            <a:r>
              <a:rPr lang="en-SE" noProof="0" dirty="0">
                <a:solidFill>
                  <a:srgbClr val="006D70"/>
                </a:solidFill>
              </a:rPr>
              <a:t>CR quality</a:t>
            </a:r>
            <a:endParaRPr lang="en-US" noProof="0" dirty="0">
              <a:solidFill>
                <a:srgbClr val="006D70"/>
              </a:solidFill>
            </a:endParaRPr>
          </a:p>
        </p:txBody>
      </p:sp>
      <p:sp>
        <p:nvSpPr>
          <p:cNvPr id="13" name="Oval 12">
            <a:extLst>
              <a:ext uri="{FF2B5EF4-FFF2-40B4-BE49-F238E27FC236}">
                <a16:creationId xmlns:a16="http://schemas.microsoft.com/office/drawing/2014/main" id="{A369C4C4-FB1F-A6C0-4FB1-E50083325A69}"/>
              </a:ext>
            </a:extLst>
          </p:cNvPr>
          <p:cNvSpPr/>
          <p:nvPr/>
        </p:nvSpPr>
        <p:spPr>
          <a:xfrm>
            <a:off x="6953083" y="4827770"/>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TextBox 13">
            <a:extLst>
              <a:ext uri="{FF2B5EF4-FFF2-40B4-BE49-F238E27FC236}">
                <a16:creationId xmlns:a16="http://schemas.microsoft.com/office/drawing/2014/main" id="{E6267037-8EE4-F739-A21B-C220C2C7FC52}"/>
              </a:ext>
            </a:extLst>
          </p:cNvPr>
          <p:cNvSpPr txBox="1"/>
          <p:nvPr/>
        </p:nvSpPr>
        <p:spPr>
          <a:xfrm>
            <a:off x="7404821" y="4827770"/>
            <a:ext cx="1152880" cy="369332"/>
          </a:xfrm>
          <a:prstGeom prst="rect">
            <a:avLst/>
          </a:prstGeom>
          <a:noFill/>
        </p:spPr>
        <p:txBody>
          <a:bodyPr wrap="none" rtlCol="0">
            <a:spAutoFit/>
          </a:bodyPr>
          <a:lstStyle/>
          <a:p>
            <a:r>
              <a:rPr lang="en-SE" noProof="0" dirty="0">
                <a:solidFill>
                  <a:srgbClr val="006D70"/>
                </a:solidFill>
              </a:rPr>
              <a:t>CR length</a:t>
            </a:r>
            <a:endParaRPr lang="en-US" noProof="0" dirty="0">
              <a:solidFill>
                <a:srgbClr val="006D70"/>
              </a:solidFill>
            </a:endParaRPr>
          </a:p>
        </p:txBody>
      </p:sp>
      <p:cxnSp>
        <p:nvCxnSpPr>
          <p:cNvPr id="16" name="Straight Arrow Connector 15">
            <a:extLst>
              <a:ext uri="{FF2B5EF4-FFF2-40B4-BE49-F238E27FC236}">
                <a16:creationId xmlns:a16="http://schemas.microsoft.com/office/drawing/2014/main" id="{73B44695-22F1-F969-BE45-88177636E988}"/>
              </a:ext>
            </a:extLst>
          </p:cNvPr>
          <p:cNvCxnSpPr>
            <a:stCxn id="8" idx="6"/>
            <a:endCxn id="9" idx="2"/>
          </p:cNvCxnSpPr>
          <p:nvPr/>
        </p:nvCxnSpPr>
        <p:spPr>
          <a:xfrm flipV="1">
            <a:off x="4967392" y="4266787"/>
            <a:ext cx="1985691" cy="3809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37FE34C5-0657-2C78-59B9-AEB3FDBFC7FA}"/>
              </a:ext>
            </a:extLst>
          </p:cNvPr>
          <p:cNvCxnSpPr>
            <a:cxnSpLocks/>
            <a:stCxn id="8" idx="6"/>
            <a:endCxn id="13" idx="2"/>
          </p:cNvCxnSpPr>
          <p:nvPr/>
        </p:nvCxnSpPr>
        <p:spPr>
          <a:xfrm>
            <a:off x="4967392" y="4647770"/>
            <a:ext cx="1985691" cy="36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E828F2C6-0075-EC0D-5325-F3605D071CFB}"/>
              </a:ext>
            </a:extLst>
          </p:cNvPr>
          <p:cNvSpPr/>
          <p:nvPr/>
        </p:nvSpPr>
        <p:spPr>
          <a:xfrm>
            <a:off x="4607392" y="5652151"/>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TextBox 9">
            <a:extLst>
              <a:ext uri="{FF2B5EF4-FFF2-40B4-BE49-F238E27FC236}">
                <a16:creationId xmlns:a16="http://schemas.microsoft.com/office/drawing/2014/main" id="{A4F4793F-E500-530B-A97B-EC5B5EA272FB}"/>
              </a:ext>
            </a:extLst>
          </p:cNvPr>
          <p:cNvSpPr txBox="1"/>
          <p:nvPr/>
        </p:nvSpPr>
        <p:spPr>
          <a:xfrm>
            <a:off x="3936972" y="5656817"/>
            <a:ext cx="540469" cy="369332"/>
          </a:xfrm>
          <a:prstGeom prst="rect">
            <a:avLst/>
          </a:prstGeom>
          <a:noFill/>
        </p:spPr>
        <p:txBody>
          <a:bodyPr wrap="none" rtlCol="0">
            <a:spAutoFit/>
          </a:bodyPr>
          <a:lstStyle/>
          <a:p>
            <a:pPr algn="r"/>
            <a:r>
              <a:rPr lang="de-DE" noProof="0" dirty="0">
                <a:solidFill>
                  <a:schemeClr val="tx1">
                    <a:lumMod val="65000"/>
                    <a:lumOff val="35000"/>
                  </a:schemeClr>
                </a:solidFill>
              </a:rPr>
              <a:t>a</a:t>
            </a:r>
            <a:r>
              <a:rPr lang="en-SE" noProof="0" dirty="0" err="1">
                <a:solidFill>
                  <a:schemeClr val="tx1">
                    <a:lumMod val="65000"/>
                    <a:lumOff val="35000"/>
                  </a:schemeClr>
                </a:solidFill>
              </a:rPr>
              <a:t>ge</a:t>
            </a:r>
            <a:endParaRPr lang="en-US" noProof="0" dirty="0">
              <a:solidFill>
                <a:schemeClr val="tx1">
                  <a:lumMod val="65000"/>
                  <a:lumOff val="35000"/>
                </a:schemeClr>
              </a:solidFill>
            </a:endParaRPr>
          </a:p>
        </p:txBody>
      </p:sp>
      <p:cxnSp>
        <p:nvCxnSpPr>
          <p:cNvPr id="15" name="Straight Arrow Connector 14">
            <a:extLst>
              <a:ext uri="{FF2B5EF4-FFF2-40B4-BE49-F238E27FC236}">
                <a16:creationId xmlns:a16="http://schemas.microsoft.com/office/drawing/2014/main" id="{A99FDF26-7044-4DD5-2CB1-5C8E6A46DC50}"/>
              </a:ext>
            </a:extLst>
          </p:cNvPr>
          <p:cNvCxnSpPr>
            <a:cxnSpLocks/>
            <a:stCxn id="7" idx="0"/>
            <a:endCxn id="8" idx="4"/>
          </p:cNvCxnSpPr>
          <p:nvPr/>
        </p:nvCxnSpPr>
        <p:spPr>
          <a:xfrm flipV="1">
            <a:off x="4787392" y="4827770"/>
            <a:ext cx="0" cy="82438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774314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DBB2C-A452-E7D9-9B3C-51178077EA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D2F985-06B4-4887-FAB3-1358F3E2FD30}"/>
              </a:ext>
            </a:extLst>
          </p:cNvPr>
          <p:cNvSpPr>
            <a:spLocks noGrp="1"/>
          </p:cNvSpPr>
          <p:nvPr>
            <p:ph type="title"/>
          </p:nvPr>
        </p:nvSpPr>
        <p:spPr/>
        <p:txBody>
          <a:bodyPr/>
          <a:lstStyle/>
          <a:p>
            <a:r>
              <a:rPr lang="en-SE" dirty="0"/>
              <a:t>Solution: Formulating a DAG</a:t>
            </a:r>
          </a:p>
        </p:txBody>
      </p:sp>
      <p:sp>
        <p:nvSpPr>
          <p:cNvPr id="3" name="Content Placeholder 2">
            <a:extLst>
              <a:ext uri="{FF2B5EF4-FFF2-40B4-BE49-F238E27FC236}">
                <a16:creationId xmlns:a16="http://schemas.microsoft.com/office/drawing/2014/main" id="{F65F50E0-0D03-13BC-5343-A95615B0F5B7}"/>
              </a:ext>
            </a:extLst>
          </p:cNvPr>
          <p:cNvSpPr>
            <a:spLocks noGrp="1"/>
          </p:cNvSpPr>
          <p:nvPr>
            <p:ph idx="1"/>
          </p:nvPr>
        </p:nvSpPr>
        <p:spPr>
          <a:xfrm>
            <a:off x="838200" y="1825625"/>
            <a:ext cx="10515600" cy="2106295"/>
          </a:xfrm>
        </p:spPr>
        <p:txBody>
          <a:bodyPr>
            <a:normAutofit fontScale="92500" lnSpcReduction="20000"/>
          </a:bodyPr>
          <a:lstStyle/>
          <a:p>
            <a:pPr marL="0" indent="0">
              <a:buNone/>
            </a:pPr>
            <a:r>
              <a:rPr lang="en-SE" dirty="0"/>
              <a:t>“Researchers are interested in knowing if </a:t>
            </a:r>
            <a:r>
              <a:rPr lang="en-SE" b="1" dirty="0">
                <a:solidFill>
                  <a:srgbClr val="D0180A"/>
                </a:solidFill>
              </a:rPr>
              <a:t>using ChatGPT </a:t>
            </a:r>
            <a:r>
              <a:rPr lang="en-SE" dirty="0"/>
              <a:t>affects the </a:t>
            </a:r>
            <a:r>
              <a:rPr lang="en-SE" b="1" dirty="0">
                <a:solidFill>
                  <a:srgbClr val="006D70"/>
                </a:solidFill>
              </a:rPr>
              <a:t>quality</a:t>
            </a:r>
            <a:r>
              <a:rPr lang="en-SE" dirty="0"/>
              <a:t> and </a:t>
            </a:r>
            <a:r>
              <a:rPr lang="en-SE" b="1" dirty="0">
                <a:solidFill>
                  <a:srgbClr val="006D70"/>
                </a:solidFill>
              </a:rPr>
              <a:t>length of code reviews </a:t>
            </a:r>
            <a:r>
              <a:rPr lang="en-SE" dirty="0"/>
              <a:t>at a company. Since they cannot interrupt the regular workflow, they cannot force anyone to use or not use ChatGPT. They do know, however, that </a:t>
            </a:r>
            <a:r>
              <a:rPr lang="en-SE" b="1" dirty="0"/>
              <a:t>younger developers </a:t>
            </a:r>
            <a:r>
              <a:rPr lang="en-SE" dirty="0"/>
              <a:t>use ChatGPT more often. On the other hand, they know that </a:t>
            </a:r>
            <a:r>
              <a:rPr lang="en-SE" b="1" dirty="0"/>
              <a:t>more skilled developers </a:t>
            </a:r>
            <a:r>
              <a:rPr lang="en-SE" dirty="0"/>
              <a:t>generally produce more concise (i.e., shorter) and better code reviews.”</a:t>
            </a:r>
          </a:p>
        </p:txBody>
      </p:sp>
      <p:sp>
        <p:nvSpPr>
          <p:cNvPr id="4" name="Date Placeholder 3">
            <a:extLst>
              <a:ext uri="{FF2B5EF4-FFF2-40B4-BE49-F238E27FC236}">
                <a16:creationId xmlns:a16="http://schemas.microsoft.com/office/drawing/2014/main" id="{F41EDFA7-76B0-4778-3326-0AAE183370C0}"/>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E6983AFC-8BBB-0561-FF03-1850B25D5B8C}"/>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AE9A8FC9-725A-279C-DA2D-88F2A2A563EF}"/>
              </a:ext>
            </a:extLst>
          </p:cNvPr>
          <p:cNvSpPr>
            <a:spLocks noGrp="1"/>
          </p:cNvSpPr>
          <p:nvPr>
            <p:ph type="sldNum" sz="quarter" idx="12"/>
          </p:nvPr>
        </p:nvSpPr>
        <p:spPr/>
        <p:txBody>
          <a:bodyPr/>
          <a:lstStyle/>
          <a:p>
            <a:fld id="{0FA2D919-C0DE-4971-A2E9-D4AC0031921B}" type="slidenum">
              <a:rPr lang="en-US" smtClean="0"/>
              <a:t>22</a:t>
            </a:fld>
            <a:endParaRPr lang="en-US"/>
          </a:p>
        </p:txBody>
      </p:sp>
      <p:sp>
        <p:nvSpPr>
          <p:cNvPr id="8" name="Oval 7">
            <a:extLst>
              <a:ext uri="{FF2B5EF4-FFF2-40B4-BE49-F238E27FC236}">
                <a16:creationId xmlns:a16="http://schemas.microsoft.com/office/drawing/2014/main" id="{24F1A287-AFB1-42FC-BC5D-55AED8845BEF}"/>
              </a:ext>
            </a:extLst>
          </p:cNvPr>
          <p:cNvSpPr/>
          <p:nvPr/>
        </p:nvSpPr>
        <p:spPr>
          <a:xfrm>
            <a:off x="4607392" y="4467770"/>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367D5160-CB7A-E0B1-DCBA-85D6881C12FD}"/>
              </a:ext>
            </a:extLst>
          </p:cNvPr>
          <p:cNvSpPr/>
          <p:nvPr/>
        </p:nvSpPr>
        <p:spPr>
          <a:xfrm>
            <a:off x="6953083" y="408678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3EDAF45D-CA56-CB00-C4C4-90773BC55468}"/>
              </a:ext>
            </a:extLst>
          </p:cNvPr>
          <p:cNvSpPr txBox="1"/>
          <p:nvPr/>
        </p:nvSpPr>
        <p:spPr>
          <a:xfrm>
            <a:off x="3405801" y="4456119"/>
            <a:ext cx="1071640" cy="369332"/>
          </a:xfrm>
          <a:prstGeom prst="rect">
            <a:avLst/>
          </a:prstGeom>
          <a:noFill/>
        </p:spPr>
        <p:txBody>
          <a:bodyPr wrap="none" rtlCol="0">
            <a:spAutoFit/>
          </a:bodyPr>
          <a:lstStyle/>
          <a:p>
            <a:pPr algn="r"/>
            <a:r>
              <a:rPr lang="en-SE" noProof="0" dirty="0">
                <a:solidFill>
                  <a:srgbClr val="D0180A"/>
                </a:solidFill>
              </a:rPr>
              <a:t>ChatGPT</a:t>
            </a:r>
            <a:endParaRPr lang="en-US" noProof="0" dirty="0">
              <a:solidFill>
                <a:srgbClr val="D0180A"/>
              </a:solidFill>
            </a:endParaRPr>
          </a:p>
        </p:txBody>
      </p:sp>
      <p:sp>
        <p:nvSpPr>
          <p:cNvPr id="12" name="TextBox 11">
            <a:extLst>
              <a:ext uri="{FF2B5EF4-FFF2-40B4-BE49-F238E27FC236}">
                <a16:creationId xmlns:a16="http://schemas.microsoft.com/office/drawing/2014/main" id="{C3BB0BDD-87D9-181F-1145-F08805504A9B}"/>
              </a:ext>
            </a:extLst>
          </p:cNvPr>
          <p:cNvSpPr txBox="1"/>
          <p:nvPr/>
        </p:nvSpPr>
        <p:spPr>
          <a:xfrm>
            <a:off x="7404821" y="4086787"/>
            <a:ext cx="1205779" cy="369332"/>
          </a:xfrm>
          <a:prstGeom prst="rect">
            <a:avLst/>
          </a:prstGeom>
          <a:noFill/>
        </p:spPr>
        <p:txBody>
          <a:bodyPr wrap="none" rtlCol="0">
            <a:spAutoFit/>
          </a:bodyPr>
          <a:lstStyle/>
          <a:p>
            <a:r>
              <a:rPr lang="en-SE" noProof="0" dirty="0">
                <a:solidFill>
                  <a:srgbClr val="006D70"/>
                </a:solidFill>
              </a:rPr>
              <a:t>CR quality</a:t>
            </a:r>
            <a:endParaRPr lang="en-US" noProof="0" dirty="0">
              <a:solidFill>
                <a:srgbClr val="006D70"/>
              </a:solidFill>
            </a:endParaRPr>
          </a:p>
        </p:txBody>
      </p:sp>
      <p:sp>
        <p:nvSpPr>
          <p:cNvPr id="13" name="Oval 12">
            <a:extLst>
              <a:ext uri="{FF2B5EF4-FFF2-40B4-BE49-F238E27FC236}">
                <a16:creationId xmlns:a16="http://schemas.microsoft.com/office/drawing/2014/main" id="{13E50191-DE93-64CF-1A7D-742F5A9B8545}"/>
              </a:ext>
            </a:extLst>
          </p:cNvPr>
          <p:cNvSpPr/>
          <p:nvPr/>
        </p:nvSpPr>
        <p:spPr>
          <a:xfrm>
            <a:off x="6953083" y="4827770"/>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TextBox 13">
            <a:extLst>
              <a:ext uri="{FF2B5EF4-FFF2-40B4-BE49-F238E27FC236}">
                <a16:creationId xmlns:a16="http://schemas.microsoft.com/office/drawing/2014/main" id="{D6F6E08F-EFF2-D971-9D29-272B409C6929}"/>
              </a:ext>
            </a:extLst>
          </p:cNvPr>
          <p:cNvSpPr txBox="1"/>
          <p:nvPr/>
        </p:nvSpPr>
        <p:spPr>
          <a:xfrm>
            <a:off x="7404821" y="4827770"/>
            <a:ext cx="1152880" cy="369332"/>
          </a:xfrm>
          <a:prstGeom prst="rect">
            <a:avLst/>
          </a:prstGeom>
          <a:noFill/>
        </p:spPr>
        <p:txBody>
          <a:bodyPr wrap="none" rtlCol="0">
            <a:spAutoFit/>
          </a:bodyPr>
          <a:lstStyle/>
          <a:p>
            <a:r>
              <a:rPr lang="en-SE" noProof="0" dirty="0">
                <a:solidFill>
                  <a:srgbClr val="006D70"/>
                </a:solidFill>
              </a:rPr>
              <a:t>CR length</a:t>
            </a:r>
            <a:endParaRPr lang="en-US" noProof="0" dirty="0">
              <a:solidFill>
                <a:srgbClr val="006D70"/>
              </a:solidFill>
            </a:endParaRPr>
          </a:p>
        </p:txBody>
      </p:sp>
      <p:cxnSp>
        <p:nvCxnSpPr>
          <p:cNvPr id="16" name="Straight Arrow Connector 15">
            <a:extLst>
              <a:ext uri="{FF2B5EF4-FFF2-40B4-BE49-F238E27FC236}">
                <a16:creationId xmlns:a16="http://schemas.microsoft.com/office/drawing/2014/main" id="{920AE35A-901B-0EAC-339E-7F243FEDFA64}"/>
              </a:ext>
            </a:extLst>
          </p:cNvPr>
          <p:cNvCxnSpPr>
            <a:stCxn id="8" idx="6"/>
            <a:endCxn id="9" idx="2"/>
          </p:cNvCxnSpPr>
          <p:nvPr/>
        </p:nvCxnSpPr>
        <p:spPr>
          <a:xfrm flipV="1">
            <a:off x="4967392" y="4266787"/>
            <a:ext cx="1985691" cy="3809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5118A04E-65F7-E100-208F-D979D602A407}"/>
              </a:ext>
            </a:extLst>
          </p:cNvPr>
          <p:cNvCxnSpPr>
            <a:cxnSpLocks/>
            <a:stCxn id="8" idx="6"/>
            <a:endCxn id="13" idx="2"/>
          </p:cNvCxnSpPr>
          <p:nvPr/>
        </p:nvCxnSpPr>
        <p:spPr>
          <a:xfrm>
            <a:off x="4967392" y="4647770"/>
            <a:ext cx="1985691" cy="36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785A9354-B27F-A4A8-BD7E-F53AE2E7F922}"/>
              </a:ext>
            </a:extLst>
          </p:cNvPr>
          <p:cNvSpPr/>
          <p:nvPr/>
        </p:nvSpPr>
        <p:spPr>
          <a:xfrm>
            <a:off x="4607392" y="5652151"/>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TextBox 9">
            <a:extLst>
              <a:ext uri="{FF2B5EF4-FFF2-40B4-BE49-F238E27FC236}">
                <a16:creationId xmlns:a16="http://schemas.microsoft.com/office/drawing/2014/main" id="{FCF8B61F-22D9-A742-961D-7F52685F8CBA}"/>
              </a:ext>
            </a:extLst>
          </p:cNvPr>
          <p:cNvSpPr txBox="1"/>
          <p:nvPr/>
        </p:nvSpPr>
        <p:spPr>
          <a:xfrm>
            <a:off x="3936972" y="5656817"/>
            <a:ext cx="540469" cy="369332"/>
          </a:xfrm>
          <a:prstGeom prst="rect">
            <a:avLst/>
          </a:prstGeom>
          <a:noFill/>
        </p:spPr>
        <p:txBody>
          <a:bodyPr wrap="none" rtlCol="0">
            <a:spAutoFit/>
          </a:bodyPr>
          <a:lstStyle/>
          <a:p>
            <a:pPr algn="r"/>
            <a:r>
              <a:rPr lang="de-DE" noProof="0" dirty="0">
                <a:solidFill>
                  <a:schemeClr val="tx1">
                    <a:lumMod val="65000"/>
                    <a:lumOff val="35000"/>
                  </a:schemeClr>
                </a:solidFill>
              </a:rPr>
              <a:t>a</a:t>
            </a:r>
            <a:r>
              <a:rPr lang="en-SE" noProof="0" dirty="0" err="1">
                <a:solidFill>
                  <a:schemeClr val="tx1">
                    <a:lumMod val="65000"/>
                    <a:lumOff val="35000"/>
                  </a:schemeClr>
                </a:solidFill>
              </a:rPr>
              <a:t>ge</a:t>
            </a:r>
            <a:endParaRPr lang="en-US" noProof="0" dirty="0">
              <a:solidFill>
                <a:schemeClr val="tx1">
                  <a:lumMod val="65000"/>
                  <a:lumOff val="35000"/>
                </a:schemeClr>
              </a:solidFill>
            </a:endParaRPr>
          </a:p>
        </p:txBody>
      </p:sp>
      <p:cxnSp>
        <p:nvCxnSpPr>
          <p:cNvPr id="15" name="Straight Arrow Connector 14">
            <a:extLst>
              <a:ext uri="{FF2B5EF4-FFF2-40B4-BE49-F238E27FC236}">
                <a16:creationId xmlns:a16="http://schemas.microsoft.com/office/drawing/2014/main" id="{E03F05D1-FA23-5888-D34F-3F0045232519}"/>
              </a:ext>
            </a:extLst>
          </p:cNvPr>
          <p:cNvCxnSpPr>
            <a:cxnSpLocks/>
            <a:stCxn id="7" idx="0"/>
            <a:endCxn id="8" idx="4"/>
          </p:cNvCxnSpPr>
          <p:nvPr/>
        </p:nvCxnSpPr>
        <p:spPr>
          <a:xfrm flipV="1">
            <a:off x="4787392" y="4827770"/>
            <a:ext cx="0" cy="82438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A3C08348-25F4-0E35-3207-525EDA0AA0BC}"/>
              </a:ext>
            </a:extLst>
          </p:cNvPr>
          <p:cNvSpPr/>
          <p:nvPr/>
        </p:nvSpPr>
        <p:spPr>
          <a:xfrm>
            <a:off x="5910037" y="5652151"/>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TextBox 18">
            <a:extLst>
              <a:ext uri="{FF2B5EF4-FFF2-40B4-BE49-F238E27FC236}">
                <a16:creationId xmlns:a16="http://schemas.microsoft.com/office/drawing/2014/main" id="{0B3D504A-1D64-B936-D21C-591AC4A50C36}"/>
              </a:ext>
            </a:extLst>
          </p:cNvPr>
          <p:cNvSpPr txBox="1"/>
          <p:nvPr/>
        </p:nvSpPr>
        <p:spPr>
          <a:xfrm>
            <a:off x="6270037" y="5642893"/>
            <a:ext cx="582211" cy="369332"/>
          </a:xfrm>
          <a:prstGeom prst="rect">
            <a:avLst/>
          </a:prstGeom>
          <a:noFill/>
        </p:spPr>
        <p:txBody>
          <a:bodyPr wrap="none" rtlCol="0">
            <a:spAutoFit/>
          </a:bodyPr>
          <a:lstStyle/>
          <a:p>
            <a:r>
              <a:rPr lang="de-DE" noProof="0" dirty="0">
                <a:solidFill>
                  <a:schemeClr val="tx1">
                    <a:lumMod val="65000"/>
                    <a:lumOff val="35000"/>
                  </a:schemeClr>
                </a:solidFill>
              </a:rPr>
              <a:t>s</a:t>
            </a:r>
            <a:r>
              <a:rPr lang="en-SE" noProof="0" dirty="0">
                <a:solidFill>
                  <a:schemeClr val="tx1">
                    <a:lumMod val="65000"/>
                    <a:lumOff val="35000"/>
                  </a:schemeClr>
                </a:solidFill>
              </a:rPr>
              <a:t>kill</a:t>
            </a:r>
            <a:endParaRPr lang="en-US" noProof="0" dirty="0">
              <a:solidFill>
                <a:schemeClr val="tx1">
                  <a:lumMod val="65000"/>
                  <a:lumOff val="35000"/>
                </a:schemeClr>
              </a:solidFill>
            </a:endParaRPr>
          </a:p>
        </p:txBody>
      </p:sp>
      <p:cxnSp>
        <p:nvCxnSpPr>
          <p:cNvPr id="20" name="Straight Arrow Connector 19">
            <a:extLst>
              <a:ext uri="{FF2B5EF4-FFF2-40B4-BE49-F238E27FC236}">
                <a16:creationId xmlns:a16="http://schemas.microsoft.com/office/drawing/2014/main" id="{993D8069-2E80-92BF-2643-F85B784EF0A1}"/>
              </a:ext>
            </a:extLst>
          </p:cNvPr>
          <p:cNvCxnSpPr>
            <a:cxnSpLocks/>
            <a:stCxn id="18" idx="0"/>
            <a:endCxn id="9" idx="3"/>
          </p:cNvCxnSpPr>
          <p:nvPr/>
        </p:nvCxnSpPr>
        <p:spPr>
          <a:xfrm flipV="1">
            <a:off x="6090037" y="4394066"/>
            <a:ext cx="915767" cy="125808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F5AD61E4-47BE-B97B-EBE7-966FBE9DA0E9}"/>
              </a:ext>
            </a:extLst>
          </p:cNvPr>
          <p:cNvCxnSpPr>
            <a:cxnSpLocks/>
            <a:stCxn id="18" idx="7"/>
            <a:endCxn id="13" idx="3"/>
          </p:cNvCxnSpPr>
          <p:nvPr/>
        </p:nvCxnSpPr>
        <p:spPr>
          <a:xfrm flipV="1">
            <a:off x="6217316" y="5135049"/>
            <a:ext cx="788488" cy="5698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883896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DC2E5-6942-8D1F-89FB-3602D8967C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91076-CF1D-A1AC-8C10-7341EA0685DF}"/>
              </a:ext>
            </a:extLst>
          </p:cNvPr>
          <p:cNvSpPr>
            <a:spLocks noGrp="1"/>
          </p:cNvSpPr>
          <p:nvPr>
            <p:ph type="title"/>
          </p:nvPr>
        </p:nvSpPr>
        <p:spPr/>
        <p:txBody>
          <a:bodyPr/>
          <a:lstStyle/>
          <a:p>
            <a:r>
              <a:rPr lang="en-SE" dirty="0"/>
              <a:t>Solution: Formulating a DAG</a:t>
            </a:r>
          </a:p>
        </p:txBody>
      </p:sp>
      <p:sp>
        <p:nvSpPr>
          <p:cNvPr id="3" name="Content Placeholder 2">
            <a:extLst>
              <a:ext uri="{FF2B5EF4-FFF2-40B4-BE49-F238E27FC236}">
                <a16:creationId xmlns:a16="http://schemas.microsoft.com/office/drawing/2014/main" id="{9A5F1933-5CF0-2341-7C01-2A87FA99EDCA}"/>
              </a:ext>
            </a:extLst>
          </p:cNvPr>
          <p:cNvSpPr>
            <a:spLocks noGrp="1"/>
          </p:cNvSpPr>
          <p:nvPr>
            <p:ph idx="1"/>
          </p:nvPr>
        </p:nvSpPr>
        <p:spPr>
          <a:xfrm>
            <a:off x="838200" y="1825625"/>
            <a:ext cx="10515600" cy="2106295"/>
          </a:xfrm>
        </p:spPr>
        <p:txBody>
          <a:bodyPr>
            <a:normAutofit fontScale="92500" lnSpcReduction="20000"/>
          </a:bodyPr>
          <a:lstStyle/>
          <a:p>
            <a:pPr marL="0" indent="0">
              <a:buNone/>
            </a:pPr>
            <a:r>
              <a:rPr lang="en-SE" dirty="0"/>
              <a:t>“Researchers are interested in knowing if </a:t>
            </a:r>
            <a:r>
              <a:rPr lang="en-SE" b="1" dirty="0">
                <a:solidFill>
                  <a:srgbClr val="D0180A"/>
                </a:solidFill>
              </a:rPr>
              <a:t>using ChatGPT </a:t>
            </a:r>
            <a:r>
              <a:rPr lang="en-SE" dirty="0"/>
              <a:t>affects the </a:t>
            </a:r>
            <a:r>
              <a:rPr lang="en-SE" b="1" dirty="0">
                <a:solidFill>
                  <a:srgbClr val="006D70"/>
                </a:solidFill>
              </a:rPr>
              <a:t>quality</a:t>
            </a:r>
            <a:r>
              <a:rPr lang="en-SE" dirty="0"/>
              <a:t> and </a:t>
            </a:r>
            <a:r>
              <a:rPr lang="en-SE" b="1" dirty="0">
                <a:solidFill>
                  <a:srgbClr val="006D70"/>
                </a:solidFill>
              </a:rPr>
              <a:t>length of code reviews </a:t>
            </a:r>
            <a:r>
              <a:rPr lang="en-SE" dirty="0"/>
              <a:t>at a company. Since they cannot interrupt the regular workflow, they cannot force anyone to use or not use ChatGPT. They do know, however, that </a:t>
            </a:r>
            <a:r>
              <a:rPr lang="en-SE" b="1" dirty="0"/>
              <a:t>younger developers </a:t>
            </a:r>
            <a:r>
              <a:rPr lang="en-SE" dirty="0"/>
              <a:t>use ChatGPT more often. On the other hand, they know that </a:t>
            </a:r>
            <a:r>
              <a:rPr lang="en-SE" b="1" dirty="0"/>
              <a:t>more skilled developers</a:t>
            </a:r>
            <a:r>
              <a:rPr lang="en-SE" dirty="0"/>
              <a:t> generally produce more concise (i.e., shorter) and better code reviews.”</a:t>
            </a:r>
          </a:p>
        </p:txBody>
      </p:sp>
      <p:sp>
        <p:nvSpPr>
          <p:cNvPr id="4" name="Date Placeholder 3">
            <a:extLst>
              <a:ext uri="{FF2B5EF4-FFF2-40B4-BE49-F238E27FC236}">
                <a16:creationId xmlns:a16="http://schemas.microsoft.com/office/drawing/2014/main" id="{838EC19A-9E5A-EC9F-8FA7-5D91A9B16C22}"/>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9791BBEB-F103-42E3-D274-FC18677A6E12}"/>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12DB5A95-7FA0-1830-0BCE-2DC4B7E1243A}"/>
              </a:ext>
            </a:extLst>
          </p:cNvPr>
          <p:cNvSpPr>
            <a:spLocks noGrp="1"/>
          </p:cNvSpPr>
          <p:nvPr>
            <p:ph type="sldNum" sz="quarter" idx="12"/>
          </p:nvPr>
        </p:nvSpPr>
        <p:spPr/>
        <p:txBody>
          <a:bodyPr/>
          <a:lstStyle/>
          <a:p>
            <a:fld id="{0FA2D919-C0DE-4971-A2E9-D4AC0031921B}" type="slidenum">
              <a:rPr lang="en-US" smtClean="0"/>
              <a:t>23</a:t>
            </a:fld>
            <a:endParaRPr lang="en-US"/>
          </a:p>
        </p:txBody>
      </p:sp>
      <p:sp>
        <p:nvSpPr>
          <p:cNvPr id="8" name="Oval 7">
            <a:extLst>
              <a:ext uri="{FF2B5EF4-FFF2-40B4-BE49-F238E27FC236}">
                <a16:creationId xmlns:a16="http://schemas.microsoft.com/office/drawing/2014/main" id="{72F6360D-FA50-E8B0-BE18-A46397906A5B}"/>
              </a:ext>
            </a:extLst>
          </p:cNvPr>
          <p:cNvSpPr/>
          <p:nvPr/>
        </p:nvSpPr>
        <p:spPr>
          <a:xfrm>
            <a:off x="4607392" y="4467770"/>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A10B4A13-99F2-0B83-FCE8-34D2EF3E8FE5}"/>
              </a:ext>
            </a:extLst>
          </p:cNvPr>
          <p:cNvSpPr/>
          <p:nvPr/>
        </p:nvSpPr>
        <p:spPr>
          <a:xfrm>
            <a:off x="6953083" y="408678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45C8134B-E38D-204B-C04B-F774397EE8D5}"/>
              </a:ext>
            </a:extLst>
          </p:cNvPr>
          <p:cNvSpPr txBox="1"/>
          <p:nvPr/>
        </p:nvSpPr>
        <p:spPr>
          <a:xfrm>
            <a:off x="3405801" y="4456119"/>
            <a:ext cx="1071640" cy="369332"/>
          </a:xfrm>
          <a:prstGeom prst="rect">
            <a:avLst/>
          </a:prstGeom>
          <a:noFill/>
        </p:spPr>
        <p:txBody>
          <a:bodyPr wrap="none" rtlCol="0">
            <a:spAutoFit/>
          </a:bodyPr>
          <a:lstStyle/>
          <a:p>
            <a:pPr algn="r"/>
            <a:r>
              <a:rPr lang="en-SE" noProof="0" dirty="0">
                <a:solidFill>
                  <a:srgbClr val="D0180A"/>
                </a:solidFill>
              </a:rPr>
              <a:t>ChatGPT</a:t>
            </a:r>
            <a:endParaRPr lang="en-US" noProof="0" dirty="0">
              <a:solidFill>
                <a:srgbClr val="D0180A"/>
              </a:solidFill>
            </a:endParaRPr>
          </a:p>
        </p:txBody>
      </p:sp>
      <p:sp>
        <p:nvSpPr>
          <p:cNvPr id="12" name="TextBox 11">
            <a:extLst>
              <a:ext uri="{FF2B5EF4-FFF2-40B4-BE49-F238E27FC236}">
                <a16:creationId xmlns:a16="http://schemas.microsoft.com/office/drawing/2014/main" id="{759AB872-C278-AE65-D480-32D6EABE214C}"/>
              </a:ext>
            </a:extLst>
          </p:cNvPr>
          <p:cNvSpPr txBox="1"/>
          <p:nvPr/>
        </p:nvSpPr>
        <p:spPr>
          <a:xfrm>
            <a:off x="7404821" y="4086787"/>
            <a:ext cx="1205779" cy="369332"/>
          </a:xfrm>
          <a:prstGeom prst="rect">
            <a:avLst/>
          </a:prstGeom>
          <a:noFill/>
        </p:spPr>
        <p:txBody>
          <a:bodyPr wrap="none" rtlCol="0">
            <a:spAutoFit/>
          </a:bodyPr>
          <a:lstStyle/>
          <a:p>
            <a:r>
              <a:rPr lang="en-SE" noProof="0" dirty="0">
                <a:solidFill>
                  <a:srgbClr val="006D70"/>
                </a:solidFill>
              </a:rPr>
              <a:t>CR quality</a:t>
            </a:r>
            <a:endParaRPr lang="en-US" noProof="0" dirty="0">
              <a:solidFill>
                <a:srgbClr val="006D70"/>
              </a:solidFill>
            </a:endParaRPr>
          </a:p>
        </p:txBody>
      </p:sp>
      <p:sp>
        <p:nvSpPr>
          <p:cNvPr id="13" name="Oval 12">
            <a:extLst>
              <a:ext uri="{FF2B5EF4-FFF2-40B4-BE49-F238E27FC236}">
                <a16:creationId xmlns:a16="http://schemas.microsoft.com/office/drawing/2014/main" id="{56C444D9-4617-6916-3D59-FF5F27C3FBFE}"/>
              </a:ext>
            </a:extLst>
          </p:cNvPr>
          <p:cNvSpPr/>
          <p:nvPr/>
        </p:nvSpPr>
        <p:spPr>
          <a:xfrm>
            <a:off x="6953083" y="4827770"/>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TextBox 13">
            <a:extLst>
              <a:ext uri="{FF2B5EF4-FFF2-40B4-BE49-F238E27FC236}">
                <a16:creationId xmlns:a16="http://schemas.microsoft.com/office/drawing/2014/main" id="{68D8EC2F-500C-26E6-D22E-CFC01625009A}"/>
              </a:ext>
            </a:extLst>
          </p:cNvPr>
          <p:cNvSpPr txBox="1"/>
          <p:nvPr/>
        </p:nvSpPr>
        <p:spPr>
          <a:xfrm>
            <a:off x="7404821" y="4827770"/>
            <a:ext cx="1152880" cy="369332"/>
          </a:xfrm>
          <a:prstGeom prst="rect">
            <a:avLst/>
          </a:prstGeom>
          <a:noFill/>
        </p:spPr>
        <p:txBody>
          <a:bodyPr wrap="none" rtlCol="0">
            <a:spAutoFit/>
          </a:bodyPr>
          <a:lstStyle/>
          <a:p>
            <a:r>
              <a:rPr lang="en-SE" noProof="0" dirty="0">
                <a:solidFill>
                  <a:srgbClr val="006D70"/>
                </a:solidFill>
              </a:rPr>
              <a:t>CR length</a:t>
            </a:r>
            <a:endParaRPr lang="en-US" noProof="0" dirty="0">
              <a:solidFill>
                <a:srgbClr val="006D70"/>
              </a:solidFill>
            </a:endParaRPr>
          </a:p>
        </p:txBody>
      </p:sp>
      <p:cxnSp>
        <p:nvCxnSpPr>
          <p:cNvPr id="16" name="Straight Arrow Connector 15">
            <a:extLst>
              <a:ext uri="{FF2B5EF4-FFF2-40B4-BE49-F238E27FC236}">
                <a16:creationId xmlns:a16="http://schemas.microsoft.com/office/drawing/2014/main" id="{5993D038-AAC2-B447-9C48-0C6141A1F268}"/>
              </a:ext>
            </a:extLst>
          </p:cNvPr>
          <p:cNvCxnSpPr>
            <a:stCxn id="8" idx="6"/>
            <a:endCxn id="9" idx="2"/>
          </p:cNvCxnSpPr>
          <p:nvPr/>
        </p:nvCxnSpPr>
        <p:spPr>
          <a:xfrm flipV="1">
            <a:off x="4967392" y="4266787"/>
            <a:ext cx="1985691" cy="3809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64E4B5F8-E0AC-A7CD-DE18-48AA73D01B10}"/>
              </a:ext>
            </a:extLst>
          </p:cNvPr>
          <p:cNvCxnSpPr>
            <a:cxnSpLocks/>
            <a:stCxn id="8" idx="6"/>
            <a:endCxn id="13" idx="2"/>
          </p:cNvCxnSpPr>
          <p:nvPr/>
        </p:nvCxnSpPr>
        <p:spPr>
          <a:xfrm>
            <a:off x="4967392" y="4647770"/>
            <a:ext cx="1985691" cy="36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ED90D075-7E54-F2BA-2183-C14592F2AA21}"/>
              </a:ext>
            </a:extLst>
          </p:cNvPr>
          <p:cNvSpPr/>
          <p:nvPr/>
        </p:nvSpPr>
        <p:spPr>
          <a:xfrm>
            <a:off x="4607392" y="5652151"/>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TextBox 9">
            <a:extLst>
              <a:ext uri="{FF2B5EF4-FFF2-40B4-BE49-F238E27FC236}">
                <a16:creationId xmlns:a16="http://schemas.microsoft.com/office/drawing/2014/main" id="{CA431B0F-2F5C-6B89-CD12-4009D47FC00F}"/>
              </a:ext>
            </a:extLst>
          </p:cNvPr>
          <p:cNvSpPr txBox="1"/>
          <p:nvPr/>
        </p:nvSpPr>
        <p:spPr>
          <a:xfrm>
            <a:off x="3936972" y="5656817"/>
            <a:ext cx="540469" cy="369332"/>
          </a:xfrm>
          <a:prstGeom prst="rect">
            <a:avLst/>
          </a:prstGeom>
          <a:noFill/>
        </p:spPr>
        <p:txBody>
          <a:bodyPr wrap="none" rtlCol="0">
            <a:spAutoFit/>
          </a:bodyPr>
          <a:lstStyle/>
          <a:p>
            <a:pPr algn="r"/>
            <a:r>
              <a:rPr lang="de-DE" noProof="0" dirty="0">
                <a:solidFill>
                  <a:schemeClr val="tx1">
                    <a:lumMod val="65000"/>
                    <a:lumOff val="35000"/>
                  </a:schemeClr>
                </a:solidFill>
              </a:rPr>
              <a:t>a</a:t>
            </a:r>
            <a:r>
              <a:rPr lang="en-SE" noProof="0" dirty="0" err="1">
                <a:solidFill>
                  <a:schemeClr val="tx1">
                    <a:lumMod val="65000"/>
                    <a:lumOff val="35000"/>
                  </a:schemeClr>
                </a:solidFill>
              </a:rPr>
              <a:t>ge</a:t>
            </a:r>
            <a:endParaRPr lang="en-US" noProof="0" dirty="0">
              <a:solidFill>
                <a:schemeClr val="tx1">
                  <a:lumMod val="65000"/>
                  <a:lumOff val="35000"/>
                </a:schemeClr>
              </a:solidFill>
            </a:endParaRPr>
          </a:p>
        </p:txBody>
      </p:sp>
      <p:cxnSp>
        <p:nvCxnSpPr>
          <p:cNvPr id="15" name="Straight Arrow Connector 14">
            <a:extLst>
              <a:ext uri="{FF2B5EF4-FFF2-40B4-BE49-F238E27FC236}">
                <a16:creationId xmlns:a16="http://schemas.microsoft.com/office/drawing/2014/main" id="{41F0B2BF-9AB2-DCC3-1131-B2684166752F}"/>
              </a:ext>
            </a:extLst>
          </p:cNvPr>
          <p:cNvCxnSpPr>
            <a:cxnSpLocks/>
            <a:stCxn id="7" idx="0"/>
            <a:endCxn id="8" idx="4"/>
          </p:cNvCxnSpPr>
          <p:nvPr/>
        </p:nvCxnSpPr>
        <p:spPr>
          <a:xfrm flipV="1">
            <a:off x="4787392" y="4827770"/>
            <a:ext cx="0" cy="82438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56D6D81C-7FD1-B735-9245-D7D9E64010D1}"/>
              </a:ext>
            </a:extLst>
          </p:cNvPr>
          <p:cNvSpPr/>
          <p:nvPr/>
        </p:nvSpPr>
        <p:spPr>
          <a:xfrm>
            <a:off x="5910037" y="5652151"/>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TextBox 18">
            <a:extLst>
              <a:ext uri="{FF2B5EF4-FFF2-40B4-BE49-F238E27FC236}">
                <a16:creationId xmlns:a16="http://schemas.microsoft.com/office/drawing/2014/main" id="{83F0CAC2-64C3-8F1C-5686-A45B8AE76E4C}"/>
              </a:ext>
            </a:extLst>
          </p:cNvPr>
          <p:cNvSpPr txBox="1"/>
          <p:nvPr/>
        </p:nvSpPr>
        <p:spPr>
          <a:xfrm>
            <a:off x="6270037" y="5642893"/>
            <a:ext cx="582211" cy="369332"/>
          </a:xfrm>
          <a:prstGeom prst="rect">
            <a:avLst/>
          </a:prstGeom>
          <a:noFill/>
        </p:spPr>
        <p:txBody>
          <a:bodyPr wrap="none" rtlCol="0">
            <a:spAutoFit/>
          </a:bodyPr>
          <a:lstStyle/>
          <a:p>
            <a:r>
              <a:rPr lang="de-DE" noProof="0" dirty="0">
                <a:solidFill>
                  <a:schemeClr val="tx1">
                    <a:lumMod val="65000"/>
                    <a:lumOff val="35000"/>
                  </a:schemeClr>
                </a:solidFill>
              </a:rPr>
              <a:t>s</a:t>
            </a:r>
            <a:r>
              <a:rPr lang="en-SE" noProof="0" dirty="0">
                <a:solidFill>
                  <a:schemeClr val="tx1">
                    <a:lumMod val="65000"/>
                    <a:lumOff val="35000"/>
                  </a:schemeClr>
                </a:solidFill>
              </a:rPr>
              <a:t>kill</a:t>
            </a:r>
            <a:endParaRPr lang="en-US" noProof="0" dirty="0">
              <a:solidFill>
                <a:schemeClr val="tx1">
                  <a:lumMod val="65000"/>
                  <a:lumOff val="35000"/>
                </a:schemeClr>
              </a:solidFill>
            </a:endParaRPr>
          </a:p>
        </p:txBody>
      </p:sp>
      <p:cxnSp>
        <p:nvCxnSpPr>
          <p:cNvPr id="20" name="Straight Arrow Connector 19">
            <a:extLst>
              <a:ext uri="{FF2B5EF4-FFF2-40B4-BE49-F238E27FC236}">
                <a16:creationId xmlns:a16="http://schemas.microsoft.com/office/drawing/2014/main" id="{0E330AF0-0776-6BAF-41E5-60F86176E0C1}"/>
              </a:ext>
            </a:extLst>
          </p:cNvPr>
          <p:cNvCxnSpPr>
            <a:cxnSpLocks/>
            <a:stCxn id="18" idx="0"/>
            <a:endCxn id="9" idx="3"/>
          </p:cNvCxnSpPr>
          <p:nvPr/>
        </p:nvCxnSpPr>
        <p:spPr>
          <a:xfrm flipV="1">
            <a:off x="6090037" y="4394066"/>
            <a:ext cx="915767" cy="125808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5806F6E5-EFA9-F7CB-72D0-EAC4F365473D}"/>
              </a:ext>
            </a:extLst>
          </p:cNvPr>
          <p:cNvCxnSpPr>
            <a:cxnSpLocks/>
            <a:stCxn id="18" idx="7"/>
            <a:endCxn id="13" idx="3"/>
          </p:cNvCxnSpPr>
          <p:nvPr/>
        </p:nvCxnSpPr>
        <p:spPr>
          <a:xfrm flipV="1">
            <a:off x="6217316" y="5135049"/>
            <a:ext cx="788488" cy="5698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98F964D5-95C4-966A-B124-1D9BDCCAE559}"/>
              </a:ext>
            </a:extLst>
          </p:cNvPr>
          <p:cNvCxnSpPr>
            <a:cxnSpLocks/>
            <a:stCxn id="7" idx="6"/>
            <a:endCxn id="18" idx="2"/>
          </p:cNvCxnSpPr>
          <p:nvPr/>
        </p:nvCxnSpPr>
        <p:spPr>
          <a:xfrm>
            <a:off x="4967392" y="5832151"/>
            <a:ext cx="94264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305588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2577528-D62A-74DF-7D57-3726B1BBE424}"/>
              </a:ext>
            </a:extLst>
          </p:cNvPr>
          <p:cNvSpPr>
            <a:spLocks noGrp="1"/>
          </p:cNvSpPr>
          <p:nvPr>
            <p:ph type="title"/>
          </p:nvPr>
        </p:nvSpPr>
        <p:spPr/>
        <p:txBody>
          <a:bodyPr/>
          <a:lstStyle/>
          <a:p>
            <a:r>
              <a:rPr lang="en-US" noProof="0" dirty="0"/>
              <a:t>Material</a:t>
            </a:r>
          </a:p>
        </p:txBody>
      </p:sp>
      <p:sp>
        <p:nvSpPr>
          <p:cNvPr id="15" name="Content Placeholder 14">
            <a:extLst>
              <a:ext uri="{FF2B5EF4-FFF2-40B4-BE49-F238E27FC236}">
                <a16:creationId xmlns:a16="http://schemas.microsoft.com/office/drawing/2014/main" id="{4522CE99-32AE-5F3B-70EF-2392B11C254F}"/>
              </a:ext>
            </a:extLst>
          </p:cNvPr>
          <p:cNvSpPr>
            <a:spLocks noGrp="1"/>
          </p:cNvSpPr>
          <p:nvPr>
            <p:ph idx="1"/>
          </p:nvPr>
        </p:nvSpPr>
        <p:spPr>
          <a:xfrm>
            <a:off x="838200" y="1690688"/>
            <a:ext cx="3200400" cy="4486275"/>
          </a:xfrm>
        </p:spPr>
        <p:txBody>
          <a:bodyPr>
            <a:normAutofit/>
          </a:bodyPr>
          <a:lstStyle/>
          <a:p>
            <a:pPr marL="0" indent="0">
              <a:buNone/>
            </a:pPr>
            <a:r>
              <a:rPr lang="en-US" sz="2000" noProof="0" dirty="0"/>
              <a:t>All material is public and open-source on GitHub. Feel free to clone, fork, and share the study material.</a:t>
            </a:r>
          </a:p>
          <a:p>
            <a:pPr marL="0" indent="0">
              <a:buNone/>
            </a:pPr>
            <a:r>
              <a:rPr lang="en-US" sz="2000" noProof="0" dirty="0"/>
              <a:t>Comments, requests, and additions are welcome.</a:t>
            </a:r>
          </a:p>
        </p:txBody>
      </p:sp>
      <p:sp>
        <p:nvSpPr>
          <p:cNvPr id="4" name="Date Placeholder 3">
            <a:extLst>
              <a:ext uri="{FF2B5EF4-FFF2-40B4-BE49-F238E27FC236}">
                <a16:creationId xmlns:a16="http://schemas.microsoft.com/office/drawing/2014/main" id="{FD694583-67E3-567A-CE99-BF15A055B5B1}"/>
              </a:ext>
            </a:extLst>
          </p:cNvPr>
          <p:cNvSpPr>
            <a:spLocks noGrp="1"/>
          </p:cNvSpPr>
          <p:nvPr>
            <p:ph type="dt" sz="half" idx="10"/>
          </p:nvPr>
        </p:nvSpPr>
        <p:spPr/>
        <p:txBody>
          <a:bodyPr/>
          <a:lstStyle/>
          <a:p>
            <a:fld id="{B1F82A23-AB26-4EA9-9EE4-DB6F9A4796C6}" type="datetime1">
              <a:rPr lang="en-US" noProof="0" smtClean="0"/>
              <a:t>6/17/2026</a:t>
            </a:fld>
            <a:endParaRPr lang="en-US" noProof="0" dirty="0"/>
          </a:p>
        </p:txBody>
      </p:sp>
      <p:sp>
        <p:nvSpPr>
          <p:cNvPr id="5" name="Footer Placeholder 4">
            <a:extLst>
              <a:ext uri="{FF2B5EF4-FFF2-40B4-BE49-F238E27FC236}">
                <a16:creationId xmlns:a16="http://schemas.microsoft.com/office/drawing/2014/main" id="{4B16ED83-2453-0BBC-0605-02E22ADEB2DA}"/>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B60453BF-A770-D155-739E-B37782C6D32E}"/>
              </a:ext>
            </a:extLst>
          </p:cNvPr>
          <p:cNvSpPr>
            <a:spLocks noGrp="1"/>
          </p:cNvSpPr>
          <p:nvPr>
            <p:ph type="sldNum" sz="quarter" idx="12"/>
          </p:nvPr>
        </p:nvSpPr>
        <p:spPr/>
        <p:txBody>
          <a:bodyPr/>
          <a:lstStyle/>
          <a:p>
            <a:fld id="{0FA2D919-C0DE-4971-A2E9-D4AC0031921B}" type="slidenum">
              <a:rPr lang="en-US" noProof="0" smtClean="0"/>
              <a:t>24</a:t>
            </a:fld>
            <a:endParaRPr lang="en-US" noProof="0" dirty="0"/>
          </a:p>
        </p:txBody>
      </p:sp>
      <p:pic>
        <p:nvPicPr>
          <p:cNvPr id="3" name="Picture 2">
            <a:extLst>
              <a:ext uri="{FF2B5EF4-FFF2-40B4-BE49-F238E27FC236}">
                <a16:creationId xmlns:a16="http://schemas.microsoft.com/office/drawing/2014/main" id="{7451425A-B0C9-56D1-7977-43B281D7878B}"/>
              </a:ext>
            </a:extLst>
          </p:cNvPr>
          <p:cNvPicPr>
            <a:picLocks noChangeAspect="1"/>
          </p:cNvPicPr>
          <p:nvPr/>
        </p:nvPicPr>
        <p:blipFill>
          <a:blip r:embed="rId2"/>
          <a:stretch>
            <a:fillRect/>
          </a:stretch>
        </p:blipFill>
        <p:spPr>
          <a:xfrm>
            <a:off x="4109272" y="1449386"/>
            <a:ext cx="7589979" cy="5512786"/>
          </a:xfrm>
          <a:prstGeom prst="rect">
            <a:avLst/>
          </a:prstGeom>
        </p:spPr>
      </p:pic>
      <p:grpSp>
        <p:nvGrpSpPr>
          <p:cNvPr id="9" name="Group 8">
            <a:extLst>
              <a:ext uri="{FF2B5EF4-FFF2-40B4-BE49-F238E27FC236}">
                <a16:creationId xmlns:a16="http://schemas.microsoft.com/office/drawing/2014/main" id="{84672EC6-4633-C444-1A14-50638EB6FE96}"/>
              </a:ext>
            </a:extLst>
          </p:cNvPr>
          <p:cNvGrpSpPr/>
          <p:nvPr/>
        </p:nvGrpSpPr>
        <p:grpSpPr>
          <a:xfrm>
            <a:off x="4109272" y="805773"/>
            <a:ext cx="3533766" cy="444265"/>
            <a:chOff x="7967672" y="5336710"/>
            <a:chExt cx="3533766" cy="444265"/>
          </a:xfrm>
        </p:grpSpPr>
        <p:grpSp>
          <p:nvGrpSpPr>
            <p:cNvPr id="10" name="Group 9">
              <a:extLst>
                <a:ext uri="{FF2B5EF4-FFF2-40B4-BE49-F238E27FC236}">
                  <a16:creationId xmlns:a16="http://schemas.microsoft.com/office/drawing/2014/main" id="{B4AF4A47-136E-BDD9-71CB-159BFC621559}"/>
                </a:ext>
              </a:extLst>
            </p:cNvPr>
            <p:cNvGrpSpPr/>
            <p:nvPr/>
          </p:nvGrpSpPr>
          <p:grpSpPr>
            <a:xfrm>
              <a:off x="7967672" y="5370114"/>
              <a:ext cx="3508652" cy="369332"/>
              <a:chOff x="7896235" y="5406529"/>
              <a:chExt cx="3508652" cy="369332"/>
            </a:xfrm>
          </p:grpSpPr>
          <p:pic>
            <p:nvPicPr>
              <p:cNvPr id="12" name="Picture 11" descr="A black background with a black square&#10;&#10;Description automatically generated with medium confidence">
                <a:extLst>
                  <a:ext uri="{FF2B5EF4-FFF2-40B4-BE49-F238E27FC236}">
                    <a16:creationId xmlns:a16="http://schemas.microsoft.com/office/drawing/2014/main" id="{2C95E0FF-5A30-C392-C8C8-B358288E1D40}"/>
                  </a:ext>
                </a:extLst>
              </p:cNvPr>
              <p:cNvPicPr>
                <a:picLocks noChangeAspect="1"/>
              </p:cNvPicPr>
              <p:nvPr/>
            </p:nvPicPr>
            <p:blipFill>
              <a:blip r:embed="rId3"/>
              <a:stretch>
                <a:fillRect/>
              </a:stretch>
            </p:blipFill>
            <p:spPr>
              <a:xfrm>
                <a:off x="7896235" y="5422888"/>
                <a:ext cx="344101" cy="344101"/>
              </a:xfrm>
              <a:prstGeom prst="rect">
                <a:avLst/>
              </a:prstGeom>
            </p:spPr>
          </p:pic>
          <p:sp>
            <p:nvSpPr>
              <p:cNvPr id="13" name="TextBox 12">
                <a:extLst>
                  <a:ext uri="{FF2B5EF4-FFF2-40B4-BE49-F238E27FC236}">
                    <a16:creationId xmlns:a16="http://schemas.microsoft.com/office/drawing/2014/main" id="{BAFDA95D-BE2D-670E-8C1C-CF6478220BBE}"/>
                  </a:ext>
                </a:extLst>
              </p:cNvPr>
              <p:cNvSpPr txBox="1"/>
              <p:nvPr/>
            </p:nvSpPr>
            <p:spPr>
              <a:xfrm>
                <a:off x="8240336" y="5406529"/>
                <a:ext cx="2356992" cy="369332"/>
              </a:xfrm>
              <a:prstGeom prst="rect">
                <a:avLst/>
              </a:prstGeom>
              <a:noFill/>
            </p:spPr>
            <p:txBody>
              <a:bodyPr wrap="none" rtlCol="0">
                <a:spAutoFit/>
              </a:bodyPr>
              <a:lstStyle/>
              <a:p>
                <a:r>
                  <a:rPr lang="en-US" noProof="0" dirty="0" err="1"/>
                  <a:t>JulianFrattini</a:t>
                </a:r>
                <a:r>
                  <a:rPr lang="en-US" noProof="0" dirty="0"/>
                  <a:t>/</a:t>
                </a:r>
                <a:r>
                  <a:rPr lang="en-US" b="1" noProof="0" dirty="0"/>
                  <a:t>bda4sci</a:t>
                </a:r>
              </a:p>
            </p:txBody>
          </p:sp>
          <p:sp>
            <p:nvSpPr>
              <p:cNvPr id="14" name="Rectangle: Rounded Corners 13">
                <a:extLst>
                  <a:ext uri="{FF2B5EF4-FFF2-40B4-BE49-F238E27FC236}">
                    <a16:creationId xmlns:a16="http://schemas.microsoft.com/office/drawing/2014/main" id="{60084D76-615F-26F4-6432-95BC0FFC9596}"/>
                  </a:ext>
                </a:extLst>
              </p:cNvPr>
              <p:cNvSpPr/>
              <p:nvPr/>
            </p:nvSpPr>
            <p:spPr>
              <a:xfrm>
                <a:off x="10668000" y="5456392"/>
                <a:ext cx="736887" cy="279245"/>
              </a:xfrm>
              <a:prstGeom prst="roundRect">
                <a:avLst>
                  <a:gd name="adj" fmla="val 50000"/>
                </a:avLst>
              </a:prstGeom>
              <a:no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lumMod val="65000"/>
                        <a:lumOff val="35000"/>
                      </a:schemeClr>
                    </a:solidFill>
                  </a:rPr>
                  <a:t>Public</a:t>
                </a:r>
              </a:p>
            </p:txBody>
          </p:sp>
        </p:grpSp>
        <p:sp>
          <p:nvSpPr>
            <p:cNvPr id="11" name="Rectangle 10">
              <a:hlinkClick r:id="rId4"/>
              <a:extLst>
                <a:ext uri="{FF2B5EF4-FFF2-40B4-BE49-F238E27FC236}">
                  <a16:creationId xmlns:a16="http://schemas.microsoft.com/office/drawing/2014/main" id="{D9DFC362-D44D-E0E5-9415-DDE38D90B68B}"/>
                </a:ext>
              </a:extLst>
            </p:cNvPr>
            <p:cNvSpPr/>
            <p:nvPr/>
          </p:nvSpPr>
          <p:spPr>
            <a:xfrm>
              <a:off x="7967672" y="5336710"/>
              <a:ext cx="3533766" cy="4442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15403101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D588B-2148-4246-BCAC-61BD81033C0C}"/>
              </a:ext>
            </a:extLst>
          </p:cNvPr>
          <p:cNvSpPr>
            <a:spLocks noGrp="1"/>
          </p:cNvSpPr>
          <p:nvPr>
            <p:ph type="title"/>
          </p:nvPr>
        </p:nvSpPr>
        <p:spPr/>
        <p:txBody>
          <a:bodyPr/>
          <a:lstStyle/>
          <a:p>
            <a:r>
              <a:rPr lang="en-SE" dirty="0"/>
              <a:t>References</a:t>
            </a:r>
          </a:p>
        </p:txBody>
      </p:sp>
      <p:sp>
        <p:nvSpPr>
          <p:cNvPr id="3" name="Content Placeholder 2">
            <a:extLst>
              <a:ext uri="{FF2B5EF4-FFF2-40B4-BE49-F238E27FC236}">
                <a16:creationId xmlns:a16="http://schemas.microsoft.com/office/drawing/2014/main" id="{00CC16AC-80CC-4CB4-E750-B5F8AAC894AE}"/>
              </a:ext>
            </a:extLst>
          </p:cNvPr>
          <p:cNvSpPr>
            <a:spLocks noGrp="1"/>
          </p:cNvSpPr>
          <p:nvPr>
            <p:ph idx="1"/>
          </p:nvPr>
        </p:nvSpPr>
        <p:spPr/>
        <p:txBody>
          <a:bodyPr/>
          <a:lstStyle/>
          <a:p>
            <a:pPr marL="0" indent="0">
              <a:buNone/>
            </a:pPr>
            <a:r>
              <a:rPr lang="en-SE" dirty="0"/>
              <a:t>[1] </a:t>
            </a:r>
            <a:r>
              <a:rPr lang="en-US" dirty="0"/>
              <a:t>Pearl, J. (2009). </a:t>
            </a:r>
            <a:r>
              <a:rPr lang="en-US" i="1" dirty="0"/>
              <a:t>Causality</a:t>
            </a:r>
            <a:r>
              <a:rPr lang="en-US" dirty="0"/>
              <a:t>. Cambridge university press.</a:t>
            </a:r>
            <a:endParaRPr lang="en-SE" dirty="0"/>
          </a:p>
          <a:p>
            <a:pPr marL="0" indent="0">
              <a:buNone/>
            </a:pPr>
            <a:r>
              <a:rPr lang="en-SE" dirty="0"/>
              <a:t>[2] </a:t>
            </a:r>
            <a:r>
              <a:rPr lang="en-US" dirty="0"/>
              <a:t>Cinelli, C., Forney, A., &amp; Pearl, J. (2024). A crash course in good and bad controls. </a:t>
            </a:r>
            <a:r>
              <a:rPr lang="en-US" i="1" dirty="0"/>
              <a:t>Sociological Methods &amp; Research</a:t>
            </a:r>
            <a:r>
              <a:rPr lang="en-US" dirty="0"/>
              <a:t>, </a:t>
            </a:r>
            <a:r>
              <a:rPr lang="en-US" i="1" dirty="0"/>
              <a:t>53</a:t>
            </a:r>
            <a:r>
              <a:rPr lang="en-US" dirty="0"/>
              <a:t>(3), 1071-1104.</a:t>
            </a:r>
            <a:endParaRPr lang="en-SE" dirty="0"/>
          </a:p>
        </p:txBody>
      </p:sp>
      <p:sp>
        <p:nvSpPr>
          <p:cNvPr id="4" name="Date Placeholder 3">
            <a:extLst>
              <a:ext uri="{FF2B5EF4-FFF2-40B4-BE49-F238E27FC236}">
                <a16:creationId xmlns:a16="http://schemas.microsoft.com/office/drawing/2014/main" id="{089B80E9-B14B-90B3-84DB-66E4FE863390}"/>
              </a:ext>
            </a:extLst>
          </p:cNvPr>
          <p:cNvSpPr>
            <a:spLocks noGrp="1"/>
          </p:cNvSpPr>
          <p:nvPr>
            <p:ph type="dt" sz="half" idx="10"/>
          </p:nvPr>
        </p:nvSpPr>
        <p:spPr/>
        <p:txBody>
          <a:bodyPr/>
          <a:lstStyle/>
          <a:p>
            <a:fld id="{A1C06950-82F8-45F4-A28D-9FBF8CAE29F7}" type="datetime1">
              <a:rPr lang="de-DE" smtClean="0"/>
              <a:t>17.06.2026</a:t>
            </a:fld>
            <a:endParaRPr lang="en-SE"/>
          </a:p>
        </p:txBody>
      </p:sp>
      <p:sp>
        <p:nvSpPr>
          <p:cNvPr id="5" name="Slide Number Placeholder 4">
            <a:extLst>
              <a:ext uri="{FF2B5EF4-FFF2-40B4-BE49-F238E27FC236}">
                <a16:creationId xmlns:a16="http://schemas.microsoft.com/office/drawing/2014/main" id="{C52A79C5-7721-C427-D146-9573C43578BC}"/>
              </a:ext>
            </a:extLst>
          </p:cNvPr>
          <p:cNvSpPr>
            <a:spLocks noGrp="1"/>
          </p:cNvSpPr>
          <p:nvPr>
            <p:ph type="sldNum" sz="quarter" idx="12"/>
          </p:nvPr>
        </p:nvSpPr>
        <p:spPr/>
        <p:txBody>
          <a:bodyPr/>
          <a:lstStyle/>
          <a:p>
            <a:fld id="{271ECC92-9CDE-4EB3-B1C5-F46B9E1FA3C1}" type="slidenum">
              <a:rPr lang="en-SE" smtClean="0"/>
              <a:t>25</a:t>
            </a:fld>
            <a:endParaRPr lang="en-SE"/>
          </a:p>
        </p:txBody>
      </p:sp>
    </p:spTree>
    <p:extLst>
      <p:ext uri="{BB962C8B-B14F-4D97-AF65-F5344CB8AC3E}">
        <p14:creationId xmlns:p14="http://schemas.microsoft.com/office/powerpoint/2010/main" val="6394315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theme/theme1.xml><?xml version="1.0" encoding="utf-8"?>
<a:theme xmlns:a="http://schemas.openxmlformats.org/drawingml/2006/main" name="Office Theme">
  <a:themeElements>
    <a:clrScheme name="Chalmers">
      <a:dk1>
        <a:sysClr val="windowText" lastClr="000000"/>
      </a:dk1>
      <a:lt1>
        <a:srgbClr val="FFFFFF"/>
      </a:lt1>
      <a:dk2>
        <a:srgbClr val="003050"/>
      </a:dk2>
      <a:lt2>
        <a:srgbClr val="FFCB05"/>
      </a:lt2>
      <a:accent1>
        <a:srgbClr val="F15A22"/>
      </a:accent1>
      <a:accent2>
        <a:srgbClr val="7FB539"/>
      </a:accent2>
      <a:accent3>
        <a:srgbClr val="006C5C"/>
      </a:accent3>
      <a:accent4>
        <a:srgbClr val="5D6F7A"/>
      </a:accent4>
      <a:accent5>
        <a:srgbClr val="58B0E3"/>
      </a:accent5>
      <a:accent6>
        <a:srgbClr val="270089"/>
      </a:accent6>
      <a:hlink>
        <a:srgbClr val="00A99D"/>
      </a:hlink>
      <a:folHlink>
        <a:srgbClr val="483729"/>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346</TotalTime>
  <Words>1561</Words>
  <Application>Microsoft Office PowerPoint</Application>
  <PresentationFormat>Widescreen</PresentationFormat>
  <Paragraphs>342</Paragraphs>
  <Slides>25</Slides>
  <Notes>2</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Aptos Display</vt:lpstr>
      <vt:lpstr>Arial</vt:lpstr>
      <vt:lpstr>Cambria Math</vt:lpstr>
      <vt:lpstr>Office Theme</vt:lpstr>
      <vt:lpstr>Structural Causal Models</vt:lpstr>
      <vt:lpstr>Directed Acyclic Graphs</vt:lpstr>
      <vt:lpstr>Causal Modelling</vt:lpstr>
      <vt:lpstr>Structure of this Seminar</vt:lpstr>
      <vt:lpstr>Directed Acyclic Graphs</vt:lpstr>
      <vt:lpstr>Formulating Casual Hypotheses</vt:lpstr>
      <vt:lpstr>Directed Acyclic Graphs</vt:lpstr>
      <vt:lpstr>Formulating Complex Hypotheses</vt:lpstr>
      <vt:lpstr>Disputing Causal Hypotheses</vt:lpstr>
      <vt:lpstr>Distinguishing Study Types</vt:lpstr>
      <vt:lpstr>Types of Relationships</vt:lpstr>
      <vt:lpstr>Dealing with Variables</vt:lpstr>
      <vt:lpstr>Encoding Observability</vt:lpstr>
      <vt:lpstr>Determining Study-ability</vt:lpstr>
      <vt:lpstr>Visualizing Moderation</vt:lpstr>
      <vt:lpstr>Determining Moderation</vt:lpstr>
      <vt:lpstr>Probabilistic vs. Deterministic Relationships</vt:lpstr>
      <vt:lpstr>Exercises</vt:lpstr>
      <vt:lpstr>Exercise: Formulating a DAG</vt:lpstr>
      <vt:lpstr>Solution: Formulating a DAG</vt:lpstr>
      <vt:lpstr>Solution: Formulating a DAG</vt:lpstr>
      <vt:lpstr>Solution: Formulating a DAG</vt:lpstr>
      <vt:lpstr>Solution: Formulating a DAG</vt:lpstr>
      <vt:lpstr>Material</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Julian Frattini</dc:creator>
  <cp:lastModifiedBy>Julian Frattini</cp:lastModifiedBy>
  <cp:revision>31</cp:revision>
  <dcterms:created xsi:type="dcterms:W3CDTF">2025-05-23T14:20:09Z</dcterms:created>
  <dcterms:modified xsi:type="dcterms:W3CDTF">2026-06-17T13:54:59Z</dcterms:modified>
</cp:coreProperties>
</file>