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3"/>
  </p:notesMasterIdLst>
  <p:sldIdLst>
    <p:sldId id="256" r:id="rId2"/>
    <p:sldId id="385" r:id="rId3"/>
    <p:sldId id="370" r:id="rId4"/>
    <p:sldId id="428" r:id="rId5"/>
    <p:sldId id="423" r:id="rId6"/>
    <p:sldId id="424" r:id="rId7"/>
    <p:sldId id="425" r:id="rId8"/>
    <p:sldId id="427" r:id="rId9"/>
    <p:sldId id="416" r:id="rId10"/>
    <p:sldId id="375" r:id="rId11"/>
    <p:sldId id="395" r:id="rId12"/>
    <p:sldId id="386" r:id="rId13"/>
    <p:sldId id="387" r:id="rId14"/>
    <p:sldId id="432" r:id="rId15"/>
    <p:sldId id="388" r:id="rId16"/>
    <p:sldId id="399" r:id="rId17"/>
    <p:sldId id="400" r:id="rId18"/>
    <p:sldId id="401" r:id="rId19"/>
    <p:sldId id="402" r:id="rId20"/>
    <p:sldId id="403" r:id="rId21"/>
    <p:sldId id="404" r:id="rId22"/>
    <p:sldId id="429" r:id="rId23"/>
    <p:sldId id="405" r:id="rId24"/>
    <p:sldId id="430" r:id="rId25"/>
    <p:sldId id="433" r:id="rId26"/>
    <p:sldId id="434" r:id="rId27"/>
    <p:sldId id="397" r:id="rId28"/>
    <p:sldId id="406" r:id="rId29"/>
    <p:sldId id="419" r:id="rId30"/>
    <p:sldId id="407" r:id="rId31"/>
    <p:sldId id="436" r:id="rId32"/>
    <p:sldId id="364" r:id="rId33"/>
    <p:sldId id="363" r:id="rId34"/>
    <p:sldId id="336" r:id="rId35"/>
    <p:sldId id="294" r:id="rId36"/>
    <p:sldId id="338" r:id="rId37"/>
    <p:sldId id="337" r:id="rId38"/>
    <p:sldId id="339" r:id="rId39"/>
    <p:sldId id="297" r:id="rId40"/>
    <p:sldId id="343" r:id="rId41"/>
    <p:sldId id="344" r:id="rId42"/>
    <p:sldId id="345" r:id="rId43"/>
    <p:sldId id="346" r:id="rId44"/>
    <p:sldId id="348" r:id="rId45"/>
    <p:sldId id="347" r:id="rId46"/>
    <p:sldId id="408" r:id="rId47"/>
    <p:sldId id="396" r:id="rId48"/>
    <p:sldId id="390" r:id="rId49"/>
    <p:sldId id="412" r:id="rId50"/>
    <p:sldId id="391" r:id="rId51"/>
    <p:sldId id="398" r:id="rId52"/>
    <p:sldId id="392" r:id="rId53"/>
    <p:sldId id="418" r:id="rId54"/>
    <p:sldId id="394" r:id="rId55"/>
    <p:sldId id="431" r:id="rId56"/>
    <p:sldId id="409" r:id="rId57"/>
    <p:sldId id="410" r:id="rId58"/>
    <p:sldId id="421" r:id="rId59"/>
    <p:sldId id="393" r:id="rId60"/>
    <p:sldId id="414" r:id="rId61"/>
    <p:sldId id="422" r:id="rId62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CC29449-0C4D-440C-A898-37D5FC755553}">
          <p14:sldIdLst>
            <p14:sldId id="256"/>
            <p14:sldId id="385"/>
            <p14:sldId id="370"/>
          </p14:sldIdLst>
        </p14:section>
        <p14:section name="Disclaimer" id="{24220229-5412-4F26-A2B9-18150B096A2B}">
          <p14:sldIdLst>
            <p14:sldId id="428"/>
            <p14:sldId id="423"/>
            <p14:sldId id="424"/>
            <p14:sldId id="425"/>
            <p14:sldId id="427"/>
          </p14:sldIdLst>
        </p14:section>
        <p14:section name="Motivation" id="{79AFD25C-6D5C-4F6A-AA5D-05919EA9DBA5}">
          <p14:sldIdLst>
            <p14:sldId id="416"/>
            <p14:sldId id="375"/>
            <p14:sldId id="395"/>
            <p14:sldId id="386"/>
            <p14:sldId id="387"/>
            <p14:sldId id="432"/>
            <p14:sldId id="388"/>
          </p14:sldIdLst>
        </p14:section>
        <p14:section name="Causal Modelling" id="{40E3D1D9-E1F5-45DD-8C85-D5D4EFF0FBD9}">
          <p14:sldIdLst>
            <p14:sldId id="399"/>
            <p14:sldId id="400"/>
            <p14:sldId id="401"/>
            <p14:sldId id="402"/>
            <p14:sldId id="403"/>
            <p14:sldId id="404"/>
            <p14:sldId id="429"/>
            <p14:sldId id="405"/>
            <p14:sldId id="430"/>
            <p14:sldId id="433"/>
            <p14:sldId id="434"/>
            <p14:sldId id="397"/>
            <p14:sldId id="406"/>
            <p14:sldId id="419"/>
            <p14:sldId id="407"/>
            <p14:sldId id="436"/>
            <p14:sldId id="364"/>
            <p14:sldId id="363"/>
            <p14:sldId id="336"/>
            <p14:sldId id="294"/>
            <p14:sldId id="338"/>
            <p14:sldId id="337"/>
            <p14:sldId id="339"/>
            <p14:sldId id="297"/>
            <p14:sldId id="343"/>
            <p14:sldId id="344"/>
            <p14:sldId id="345"/>
            <p14:sldId id="346"/>
            <p14:sldId id="348"/>
            <p14:sldId id="347"/>
            <p14:sldId id="408"/>
            <p14:sldId id="396"/>
            <p14:sldId id="390"/>
          </p14:sldIdLst>
        </p14:section>
        <p14:section name="Experimentation" id="{67DC3F0C-D4CA-4CDD-B139-1DD6E1BC5FE0}">
          <p14:sldIdLst>
            <p14:sldId id="412"/>
            <p14:sldId id="391"/>
            <p14:sldId id="398"/>
            <p14:sldId id="392"/>
            <p14:sldId id="418"/>
            <p14:sldId id="394"/>
            <p14:sldId id="431"/>
            <p14:sldId id="409"/>
            <p14:sldId id="410"/>
            <p14:sldId id="421"/>
            <p14:sldId id="393"/>
          </p14:sldIdLst>
        </p14:section>
        <p14:section name="Conclusion" id="{63A2E9BA-F78C-439B-BB95-C0BB5630B085}">
          <p14:sldIdLst>
            <p14:sldId id="414"/>
            <p14:sldId id="42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A7D"/>
    <a:srgbClr val="D018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3" autoAdjust="0"/>
    <p:restoredTop sz="77124" autoAdjust="0"/>
  </p:normalViewPr>
  <p:slideViewPr>
    <p:cSldViewPr snapToGrid="0">
      <p:cViewPr varScale="1">
        <p:scale>
          <a:sx n="87" d="100"/>
          <a:sy n="87" d="100"/>
        </p:scale>
        <p:origin x="96" y="8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028809-A3C0-435B-AC12-B9138744A337}" type="datetimeFigureOut">
              <a:rPr lang="en-SE" smtClean="0"/>
              <a:t>2026-05-12</a:t>
            </a:fld>
            <a:endParaRPr lang="en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E9047-6757-432F-B3C4-B9B79F30218C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165615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</a:t>
            </a:r>
            <a:r>
              <a:rPr lang="en-SE" dirty="0"/>
              <a:t>y claim for the future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6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781537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This lecture shall take away your anxiety about the future of software engineering: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SE" dirty="0"/>
              <a:t>you are exactly in the right place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SE" dirty="0"/>
              <a:t>just focus on the meta-skills rather than the (fragile) technical skills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8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565416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I hope everybody is on board with software engineering research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9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1790749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E" dirty="0"/>
              <a:t>Humans were always interested in answering difficult questions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E" dirty="0"/>
              <a:t>Babylonian diet experiment: 10-day trial of vegetarian vs meat &amp; wine diet, where plant-based diet had better health results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E" dirty="0"/>
              <a:t>Medical questions: Does smoking cause harm? What is the effect of introducing a substance to a human?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E" dirty="0"/>
              <a:t>SE questions: Should you use LLMs to automatically generate your software tests?</a:t>
            </a:r>
          </a:p>
          <a:p>
            <a:endParaRPr lang="en-S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E" dirty="0"/>
              <a:t>One point of science is: informing decision-making policies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4227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E" dirty="0"/>
              <a:t>What makes “good science”?</a:t>
            </a:r>
          </a:p>
          <a:p>
            <a:r>
              <a:rPr lang="en-SE" dirty="0"/>
              <a:t>Rigor and Relevance</a:t>
            </a:r>
          </a:p>
          <a:p>
            <a:r>
              <a:rPr lang="en-SE" dirty="0"/>
              <a:t>Rigor: four dimensions of validity</a:t>
            </a:r>
          </a:p>
          <a:p>
            <a:pPr marL="0" indent="0">
              <a:buNone/>
            </a:pPr>
            <a:r>
              <a:rPr lang="en-SE" dirty="0"/>
              <a:t>We focus on rigor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11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175693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E" dirty="0"/>
              <a:t>So how do we do science?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E" dirty="0"/>
              <a:t>Interested in a relationship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E</a:t>
            </a:r>
            <a:r>
              <a:rPr lang="en-SE" dirty="0" err="1"/>
              <a:t>xposure</a:t>
            </a:r>
            <a:r>
              <a:rPr lang="en-SE" dirty="0"/>
              <a:t> -&gt; outcome</a:t>
            </a:r>
          </a:p>
          <a:p>
            <a:pPr marL="0" indent="0">
              <a:buNone/>
            </a:pPr>
            <a:r>
              <a:rPr lang="en-SE" dirty="0"/>
              <a:t>Example: Does the use of AI increase the productivity of </a:t>
            </a:r>
            <a:r>
              <a:rPr lang="en-SE" dirty="0" err="1"/>
              <a:t>SEers</a:t>
            </a:r>
            <a:r>
              <a:rPr lang="en-SE" dirty="0"/>
              <a:t>?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12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535246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Is the effect </a:t>
            </a:r>
            <a:r>
              <a:rPr lang="en-SE" i="1" dirty="0"/>
              <a:t>because</a:t>
            </a:r>
            <a:r>
              <a:rPr lang="en-SE" dirty="0"/>
              <a:t> of the variable of interest?</a:t>
            </a:r>
          </a:p>
          <a:p>
            <a:r>
              <a:rPr lang="en-SE" dirty="0"/>
              <a:t>Confounding</a:t>
            </a:r>
          </a:p>
          <a:p>
            <a:r>
              <a:rPr lang="en-SE" dirty="0"/>
              <a:t>Example: both the use of AI and productivity might be affected by motivation</a:t>
            </a:r>
          </a:p>
          <a:p>
            <a:r>
              <a:rPr lang="en-SE" dirty="0"/>
              <a:t>-&gt; This is why rigor is important!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13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238334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E" dirty="0"/>
              <a:t>Visualizing the effect of a third variable in a graph</a:t>
            </a:r>
          </a:p>
          <a:p>
            <a:pPr marL="0" indent="0">
              <a:buNone/>
            </a:pPr>
            <a:r>
              <a:rPr lang="en-SE" dirty="0"/>
              <a:t>Compressing the third dimension (confounder) results in a misinterpretation of the data</a:t>
            </a:r>
          </a:p>
          <a:p>
            <a:pPr marL="0" indent="0">
              <a:buNone/>
            </a:pPr>
            <a:r>
              <a:rPr lang="en-SE" dirty="0"/>
              <a:t>We need to do something about this third variable: we either need to fix it or measure it (= controlling it)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29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6319861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A7715-A954-32B2-D319-F556BD146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462AB6-06FE-8720-4996-8A3C3AC9F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2C9E6-9483-DC6A-4CE0-A2D5E16F86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F4CE0-CA10-BD27-3ECC-172B97A51A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1100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25C5F-5F4A-B846-5518-88DB39A2D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88941E-7DE4-5055-2C21-6853BA46C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CB2DEA-1BD4-0EAA-78F6-10A8F75BB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40F39-C2DA-6123-719E-9E0E951C8F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3146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C9BBD8-1C1E-4CFA-8C12-0AE7F3A91C3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128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E" dirty="0"/>
              <a:t>Definition: random treatment assignment strategy</a:t>
            </a:r>
          </a:p>
          <a:p>
            <a:pPr marL="0" indent="0">
              <a:buNone/>
            </a:pPr>
            <a:r>
              <a:rPr lang="en-SE" dirty="0"/>
              <a:t>(treatment = exposure)</a:t>
            </a:r>
          </a:p>
          <a:p>
            <a:r>
              <a:rPr lang="en-SE" dirty="0"/>
              <a:t>Remove all backdoor paths</a:t>
            </a:r>
          </a:p>
          <a:p>
            <a:r>
              <a:rPr lang="en-SE" dirty="0"/>
              <a:t>Control: you (the experimenter) controls/assigns the treatment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50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6348861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How does this look in particular for controlled experiments?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54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8159076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Controlled experiments have particularly small samples because they are so expensive.</a:t>
            </a:r>
          </a:p>
          <a:p>
            <a:endParaRPr lang="en-SE" dirty="0"/>
          </a:p>
          <a:p>
            <a:r>
              <a:rPr lang="en-SE" dirty="0"/>
              <a:t>But what does “representative” mean, and how does it affect external validity?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55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1646172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To understand the effect of external validity, we first need to understand the effect of “Moderation”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56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8190694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Research methods are tools you should master in your toolbox</a:t>
            </a:r>
          </a:p>
          <a:p>
            <a:r>
              <a:rPr lang="en-SE" dirty="0"/>
              <a:t>Different research methods optimize different aspects of validity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60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786703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Internal validity: Visualize and communicate your causal assumptions, close back-door paths via control</a:t>
            </a:r>
          </a:p>
          <a:p>
            <a:r>
              <a:rPr lang="en-SE" dirty="0"/>
              <a:t>External validity: Be aware of moderators that might also affect trial eligibility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E9047-6757-432F-B3C4-B9B79F30218C}" type="slidenum">
              <a:rPr lang="en-SE" smtClean="0"/>
              <a:t>61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738903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7ECFB-CC92-FB7D-062B-5F840C7CD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199"/>
            <a:ext cx="9144000" cy="1909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7DB82B-6165-1C54-C51D-F5D58F23CB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955BD-5E43-FC47-D766-386274FE3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345E8-8305-94BE-CD1F-E34E30216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FBD3E-ECCB-B12E-8504-AE90BAE0F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‹#›</a:t>
            </a:fld>
            <a:endParaRPr lang="en-SE"/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FAC15DB-F6D1-F33F-FE40-C327DCFFA1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3143" y="388368"/>
            <a:ext cx="9485714" cy="1193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244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F46C5-11CD-4C87-4B7F-F0A008414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365125"/>
            <a:ext cx="938097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67B5C-1FB8-DA82-8443-4DACD45F0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B50CE-E3D9-6C15-6C1B-8A30001A3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106B3-8DD0-55B3-08A0-DD0591C98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494B0-86B7-2B02-AF74-37DFCA78F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‹#›</a:t>
            </a:fld>
            <a:endParaRPr lang="en-SE"/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19E70D1-BC5E-0623-4514-854441A4D3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0110" y="365125"/>
            <a:ext cx="1003690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871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A3C64-99A3-C45B-FC04-CD6D7DF0E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CEB3B-F9F7-57EA-A865-FA89E9BE9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1EA0C2-17AA-E8FA-AF35-325A5B6C1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95503-4D40-A4E1-4A17-B8F476149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C0937-6335-D00A-B738-E03007DFA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‹#›</a:t>
            </a:fld>
            <a:endParaRPr lang="en-SE"/>
          </a:p>
        </p:txBody>
      </p:sp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E93BCFD-7846-D276-1F73-CBB0C60EED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6063" y="267789"/>
            <a:ext cx="4947173" cy="62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676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B84F10-67C5-38A9-9573-9D83950EE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813B2-F0B2-78B0-2431-5AE1C5DC3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A28DA-366D-4CD9-E1EB-113EAA959D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E68D1-9044-00B4-ABE4-8F49530ABD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36186-4B45-9116-C243-AC06504DF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1ECC92-9CDE-4EB3-B1C5-F46B9E1FA3C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271141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julianfrattini.github.io/" TargetMode="External"/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JulianFrattini/bda4sci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File:Emojione_1F1F8-1F1EA.svg" TargetMode="External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File:Flag_of_Germany.svg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bayes.cs.ucla.edu/BOOK-2K/d-sep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bayes.cs.ucla.edu/BOOK-2K/d-sep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bayes.cs.ucla.edu/BOOK-2K/d-sep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hyperlink" Target="https://bayes.cs.ucla.edu/BOOK-2K/d-sep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hyperlink" Target="https://bayes.cs.ucla.edu/BOOK-2K/d-sep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hyperlink" Target="https://bayes.cs.ucla.edu/BOOK-2K/d-sep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hyperlink" Target="https://bayes.cs.ucla.edu/BOOK-2K/d-sep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1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17" Type="http://schemas.openxmlformats.org/officeDocument/2006/relationships/image" Target="NULL"/><Relationship Id="rId2" Type="http://schemas.openxmlformats.org/officeDocument/2006/relationships/image" Target="NUL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svg"/><Relationship Id="rId4" Type="http://schemas.openxmlformats.org/officeDocument/2006/relationships/image" Target="../media/image38.sv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E8D0B-776C-E8F7-4D2E-37BA60724F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SE" sz="4800" dirty="0"/>
              <a:t>Good </a:t>
            </a:r>
            <a:r>
              <a:rPr lang="de-DE" sz="4800" dirty="0"/>
              <a:t>Science</a:t>
            </a: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ECA751-926C-8553-9E48-80B7DF1A93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err="1"/>
              <a:t>Producing</a:t>
            </a:r>
            <a:r>
              <a:rPr lang="de-DE" dirty="0"/>
              <a:t> </a:t>
            </a:r>
            <a:r>
              <a:rPr lang="en-SE" dirty="0"/>
              <a:t>Reliable </a:t>
            </a:r>
            <a:r>
              <a:rPr lang="de-DE" dirty="0" err="1"/>
              <a:t>Insights</a:t>
            </a:r>
            <a:r>
              <a:rPr lang="de-DE" dirty="0"/>
              <a:t> t</a:t>
            </a:r>
            <a:r>
              <a:rPr lang="en-SE" dirty="0"/>
              <a:t>hat Matter </a:t>
            </a:r>
            <a:r>
              <a:rPr lang="de-DE" dirty="0"/>
              <a:t>i</a:t>
            </a:r>
            <a:r>
              <a:rPr lang="en-SE" dirty="0"/>
              <a:t>n Practice</a:t>
            </a:r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75591A-FA02-7123-DF74-EDB9D33C0122}"/>
              </a:ext>
            </a:extLst>
          </p:cNvPr>
          <p:cNvSpPr txBox="1"/>
          <p:nvPr/>
        </p:nvSpPr>
        <p:spPr>
          <a:xfrm>
            <a:off x="7198850" y="5859885"/>
            <a:ext cx="43025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noProof="0" dirty="0"/>
              <a:t>Copyright © 202</a:t>
            </a:r>
            <a:r>
              <a:rPr lang="en-SE" sz="1400" noProof="0"/>
              <a:t>6</a:t>
            </a:r>
            <a:r>
              <a:rPr lang="en-US" sz="1400" noProof="0"/>
              <a:t> </a:t>
            </a:r>
            <a:r>
              <a:rPr lang="en-US" sz="1400" noProof="0" dirty="0"/>
              <a:t>Julian Frattini. </a:t>
            </a:r>
          </a:p>
          <a:p>
            <a:pPr algn="r"/>
            <a:r>
              <a:rPr lang="en-US" sz="1400" noProof="0" dirty="0"/>
              <a:t>This presentation is licensed under</a:t>
            </a:r>
            <a:r>
              <a:rPr lang="en-US" sz="1400" dirty="0"/>
              <a:t> </a:t>
            </a:r>
            <a:r>
              <a:rPr lang="en-US" sz="1400" dirty="0">
                <a:hlinkClick r:id="rId2"/>
              </a:rPr>
              <a:t>CC BY</a:t>
            </a:r>
            <a:r>
              <a:rPr lang="en-SE" sz="1400" dirty="0">
                <a:hlinkClick r:id="rId2"/>
              </a:rPr>
              <a:t>-NC-SA 4.0</a:t>
            </a:r>
            <a:r>
              <a:rPr lang="en-US" sz="1400" noProof="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4FEC08-B055-2789-C209-ABB868E097B3}"/>
              </a:ext>
            </a:extLst>
          </p:cNvPr>
          <p:cNvSpPr txBox="1"/>
          <p:nvPr/>
        </p:nvSpPr>
        <p:spPr>
          <a:xfrm>
            <a:off x="1866348" y="5273718"/>
            <a:ext cx="4019114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Julian </a:t>
            </a:r>
            <a:r>
              <a:rPr lang="en-US" b="1" noProof="0" dirty="0"/>
              <a:t>Frattini</a:t>
            </a:r>
            <a:r>
              <a:rPr lang="en-US" noProof="0" dirty="0"/>
              <a:t>, Ph.D.</a:t>
            </a:r>
          </a:p>
          <a:p>
            <a:r>
              <a:rPr lang="en-SE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Postdoctoral Researcher</a:t>
            </a:r>
            <a:endParaRPr lang="en-SE" sz="1600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16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Chalmers University of Technology, Sweden</a:t>
            </a:r>
          </a:p>
          <a:p>
            <a:r>
              <a:rPr lang="en-US" sz="1600" noProof="0" dirty="0">
                <a:hlinkClick r:id="rId3"/>
              </a:rPr>
              <a:t>https://julianfrattini.github.io/</a:t>
            </a:r>
            <a:r>
              <a:rPr lang="en-US" sz="1600" noProof="0" dirty="0"/>
              <a:t> 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92E9483-BEDA-C731-B7BE-ABF0A5518387}"/>
              </a:ext>
            </a:extLst>
          </p:cNvPr>
          <p:cNvSpPr/>
          <p:nvPr/>
        </p:nvSpPr>
        <p:spPr>
          <a:xfrm>
            <a:off x="715676" y="5303105"/>
            <a:ext cx="1080000" cy="108000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79BBCC2-696B-4EE1-4FE4-2E4411C0F251}"/>
              </a:ext>
            </a:extLst>
          </p:cNvPr>
          <p:cNvGrpSpPr/>
          <p:nvPr/>
        </p:nvGrpSpPr>
        <p:grpSpPr>
          <a:xfrm>
            <a:off x="7967672" y="5336710"/>
            <a:ext cx="3533766" cy="444265"/>
            <a:chOff x="7967672" y="5336710"/>
            <a:chExt cx="3533766" cy="44426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CCE08EC-E9A8-C79D-4C75-8B6A9708A3FB}"/>
                </a:ext>
              </a:extLst>
            </p:cNvPr>
            <p:cNvGrpSpPr/>
            <p:nvPr/>
          </p:nvGrpSpPr>
          <p:grpSpPr>
            <a:xfrm>
              <a:off x="7967672" y="5370114"/>
              <a:ext cx="3508652" cy="369332"/>
              <a:chOff x="7896235" y="5406529"/>
              <a:chExt cx="3508652" cy="369332"/>
            </a:xfrm>
          </p:grpSpPr>
          <p:pic>
            <p:nvPicPr>
              <p:cNvPr id="8" name="Picture 7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865BDC89-0957-2AB2-5308-DA5566DFCF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96235" y="5422888"/>
                <a:ext cx="344101" cy="344101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45BE95E-49F9-842E-7B93-BDF91E09C7D3}"/>
                  </a:ext>
                </a:extLst>
              </p:cNvPr>
              <p:cNvSpPr txBox="1"/>
              <p:nvPr/>
            </p:nvSpPr>
            <p:spPr>
              <a:xfrm>
                <a:off x="8240336" y="5406529"/>
                <a:ext cx="23569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noProof="0" dirty="0" err="1"/>
                  <a:t>JulianFrattini</a:t>
                </a:r>
                <a:r>
                  <a:rPr lang="en-US" noProof="0" dirty="0"/>
                  <a:t>/</a:t>
                </a:r>
                <a:r>
                  <a:rPr lang="en-US" b="1" noProof="0" dirty="0"/>
                  <a:t>bda4sci</a:t>
                </a: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1E137170-F20B-D8DB-3856-32092459914B}"/>
                  </a:ext>
                </a:extLst>
              </p:cNvPr>
              <p:cNvSpPr/>
              <p:nvPr/>
            </p:nvSpPr>
            <p:spPr>
              <a:xfrm>
                <a:off x="10668000" y="5456392"/>
                <a:ext cx="736887" cy="279245"/>
              </a:xfrm>
              <a:prstGeom prst="roundRect">
                <a:avLst>
                  <a:gd name="adj" fmla="val 50000"/>
                </a:avLst>
              </a:prstGeom>
              <a:noFill/>
              <a:ln w="190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noProof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Public</a:t>
                </a:r>
              </a:p>
            </p:txBody>
          </p:sp>
        </p:grpSp>
        <p:sp>
          <p:nvSpPr>
            <p:cNvPr id="7" name="Rectangle 6">
              <a:hlinkClick r:id="rId6"/>
              <a:extLst>
                <a:ext uri="{FF2B5EF4-FFF2-40B4-BE49-F238E27FC236}">
                  <a16:creationId xmlns:a16="http://schemas.microsoft.com/office/drawing/2014/main" id="{1523D628-A64F-768E-A385-ECA75D071607}"/>
                </a:ext>
              </a:extLst>
            </p:cNvPr>
            <p:cNvSpPr/>
            <p:nvPr/>
          </p:nvSpPr>
          <p:spPr>
            <a:xfrm>
              <a:off x="7967672" y="5336710"/>
              <a:ext cx="3533766" cy="4442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942198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4580F-ED55-3FF2-B66E-877B0F102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887FF04-F839-4D8E-FD3B-3D1EAE1D8E8F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4688540"/>
          <a:ext cx="5879408" cy="1010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434286969"/>
                    </a:ext>
                  </a:extLst>
                </a:gridCol>
                <a:gridCol w="4233488">
                  <a:extLst>
                    <a:ext uri="{9D8B030D-6E8A-4147-A177-3AD203B41FA5}">
                      <a16:colId xmlns:a16="http://schemas.microsoft.com/office/drawing/2014/main" val="23452293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2025 - 2029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b="1" dirty="0"/>
                        <a:t>Postdoctoral Researcher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834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dirty="0"/>
                        <a:t>       Chalmers University of Technology, Gothenburg, Sweden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063440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6366708-4D77-633E-1F07-8D1E2E36FCC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677620"/>
          <a:ext cx="5879408" cy="1010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1134552804"/>
                    </a:ext>
                  </a:extLst>
                </a:gridCol>
                <a:gridCol w="4233488">
                  <a:extLst>
                    <a:ext uri="{9D8B030D-6E8A-4147-A177-3AD203B41FA5}">
                      <a16:colId xmlns:a16="http://schemas.microsoft.com/office/drawing/2014/main" val="35049935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2020 – 2025</a:t>
                      </a:r>
                      <a:endParaRPr lang="en-S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 err="1"/>
                        <a:t>Ph.D</a:t>
                      </a:r>
                      <a:r>
                        <a:rPr lang="de-DE" b="1" dirty="0"/>
                        <a:t>. </a:t>
                      </a:r>
                      <a:r>
                        <a:rPr lang="en-SE" b="1" dirty="0"/>
                        <a:t>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3555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dirty="0"/>
                        <a:t>       </a:t>
                      </a:r>
                      <a:r>
                        <a:rPr lang="de-DE" dirty="0"/>
                        <a:t>Blekinge Institute of Technolog</a:t>
                      </a:r>
                      <a:r>
                        <a:rPr lang="en-SE" dirty="0"/>
                        <a:t>y, Karlskrona, Sweden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508422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AC37F8E-97C2-0940-AAFB-2EC2FDFC9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b="1" dirty="0"/>
              <a:t>Julian Frattini </a:t>
            </a:r>
            <a:r>
              <a:rPr lang="en-S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// about 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965F7-F09D-38ED-BE61-1CFF0E432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A5E70-06AE-AC6E-11C3-23CA2B179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Good Science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2DD34-7021-927C-56E5-3B5BF0582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smtClean="0"/>
              <a:t>2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8E563E7-04C6-C304-B5CD-EE0EB468D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690688"/>
            <a:ext cx="5943600" cy="454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73F3E252-0C3D-965D-5D69-EABFC1CE6924}"/>
              </a:ext>
            </a:extLst>
          </p:cNvPr>
          <p:cNvGrpSpPr/>
          <p:nvPr/>
        </p:nvGrpSpPr>
        <p:grpSpPr>
          <a:xfrm>
            <a:off x="7997469" y="4290009"/>
            <a:ext cx="432000" cy="540000"/>
            <a:chOff x="7861738" y="4290009"/>
            <a:chExt cx="432000" cy="540000"/>
          </a:xfrm>
        </p:grpSpPr>
        <p:sp>
          <p:nvSpPr>
            <p:cNvPr id="11" name="Flowchart: Off-page Connector 10">
              <a:extLst>
                <a:ext uri="{FF2B5EF4-FFF2-40B4-BE49-F238E27FC236}">
                  <a16:creationId xmlns:a16="http://schemas.microsoft.com/office/drawing/2014/main" id="{3616D55A-30B0-6C25-1CF7-B5251E619118}"/>
                </a:ext>
              </a:extLst>
            </p:cNvPr>
            <p:cNvSpPr/>
            <p:nvPr/>
          </p:nvSpPr>
          <p:spPr>
            <a:xfrm>
              <a:off x="7861738" y="4290009"/>
              <a:ext cx="432000" cy="540000"/>
            </a:xfrm>
            <a:prstGeom prst="flowChartOffpageConnector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pic>
          <p:nvPicPr>
            <p:cNvPr id="1032" name="Picture 8" descr="Technical University of Munich (TUM) · GitHub">
              <a:extLst>
                <a:ext uri="{FF2B5EF4-FFF2-40B4-BE49-F238E27FC236}">
                  <a16:creationId xmlns:a16="http://schemas.microsoft.com/office/drawing/2014/main" id="{77A0EC93-D59A-9CC7-246A-352C8D138E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7738" y="4330490"/>
              <a:ext cx="360000" cy="36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EC1183-2048-1D7C-2FBF-C2DAC1DEA60E}"/>
              </a:ext>
            </a:extLst>
          </p:cNvPr>
          <p:cNvGrpSpPr/>
          <p:nvPr/>
        </p:nvGrpSpPr>
        <p:grpSpPr>
          <a:xfrm>
            <a:off x="8240357" y="3420226"/>
            <a:ext cx="432000" cy="540000"/>
            <a:chOff x="7861738" y="4290009"/>
            <a:chExt cx="432000" cy="540000"/>
          </a:xfrm>
        </p:grpSpPr>
        <p:sp>
          <p:nvSpPr>
            <p:cNvPr id="14" name="Flowchart: Off-page Connector 13">
              <a:extLst>
                <a:ext uri="{FF2B5EF4-FFF2-40B4-BE49-F238E27FC236}">
                  <a16:creationId xmlns:a16="http://schemas.microsoft.com/office/drawing/2014/main" id="{16691E3F-7E77-891E-6AB9-E67592F63DFE}"/>
                </a:ext>
              </a:extLst>
            </p:cNvPr>
            <p:cNvSpPr/>
            <p:nvPr/>
          </p:nvSpPr>
          <p:spPr>
            <a:xfrm>
              <a:off x="7861738" y="4290009"/>
              <a:ext cx="432000" cy="540000"/>
            </a:xfrm>
            <a:prstGeom prst="flowChartOffpageConnector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pic>
          <p:nvPicPr>
            <p:cNvPr id="15" name="Picture 8">
              <a:extLst>
                <a:ext uri="{FF2B5EF4-FFF2-40B4-BE49-F238E27FC236}">
                  <a16:creationId xmlns:a16="http://schemas.microsoft.com/office/drawing/2014/main" id="{53B07F32-5A28-86CB-2D82-0FB3379411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7897738" y="4331990"/>
              <a:ext cx="360000" cy="357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BFBC387-11D8-5C1A-76F0-20215A6AE410}"/>
              </a:ext>
            </a:extLst>
          </p:cNvPr>
          <p:cNvGrpSpPr/>
          <p:nvPr/>
        </p:nvGrpSpPr>
        <p:grpSpPr>
          <a:xfrm>
            <a:off x="8006557" y="3297320"/>
            <a:ext cx="432000" cy="540000"/>
            <a:chOff x="7861738" y="4290009"/>
            <a:chExt cx="432000" cy="540000"/>
          </a:xfrm>
        </p:grpSpPr>
        <p:sp>
          <p:nvSpPr>
            <p:cNvPr id="17" name="Flowchart: Off-page Connector 16">
              <a:extLst>
                <a:ext uri="{FF2B5EF4-FFF2-40B4-BE49-F238E27FC236}">
                  <a16:creationId xmlns:a16="http://schemas.microsoft.com/office/drawing/2014/main" id="{81545D64-F598-C2E1-481A-1B0538C08545}"/>
                </a:ext>
              </a:extLst>
            </p:cNvPr>
            <p:cNvSpPr/>
            <p:nvPr/>
          </p:nvSpPr>
          <p:spPr>
            <a:xfrm>
              <a:off x="7861738" y="4290009"/>
              <a:ext cx="432000" cy="540000"/>
            </a:xfrm>
            <a:prstGeom prst="flowChartOffpageConnector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pic>
          <p:nvPicPr>
            <p:cNvPr id="18" name="Picture 8">
              <a:extLst>
                <a:ext uri="{FF2B5EF4-FFF2-40B4-BE49-F238E27FC236}">
                  <a16:creationId xmlns:a16="http://schemas.microsoft.com/office/drawing/2014/main" id="{01C1D325-D280-4EB8-F0DB-0857E84553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7897738" y="4340465"/>
              <a:ext cx="360000" cy="340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8D7D87C-7A74-8471-AF45-41E6B530CD24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676825"/>
          <a:ext cx="5879408" cy="1010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739994605"/>
                    </a:ext>
                  </a:extLst>
                </a:gridCol>
                <a:gridCol w="4233488">
                  <a:extLst>
                    <a:ext uri="{9D8B030D-6E8A-4147-A177-3AD203B41FA5}">
                      <a16:colId xmlns:a16="http://schemas.microsoft.com/office/drawing/2014/main" val="15923778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2013 - 2019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b="1" dirty="0"/>
                        <a:t>Bachelor &amp; Master of Science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0308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S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dirty="0"/>
                        <a:t>       Technical University of Munich, </a:t>
                      </a:r>
                    </a:p>
                    <a:p>
                      <a:r>
                        <a:rPr lang="en-SE" dirty="0"/>
                        <a:t>Munich, Germany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492810"/>
                  </a:ext>
                </a:extLst>
              </a:tr>
            </a:tbl>
          </a:graphicData>
        </a:graphic>
      </p:graphicFrame>
      <p:pic>
        <p:nvPicPr>
          <p:cNvPr id="7" name="Picture 2">
            <a:hlinkClick r:id="rId6"/>
            <a:extLst>
              <a:ext uri="{FF2B5EF4-FFF2-40B4-BE49-F238E27FC236}">
                <a16:creationId xmlns:a16="http://schemas.microsoft.com/office/drawing/2014/main" id="{DB2B0C08-2A84-11A3-6A4C-3C0A0A910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4957" y="3154680"/>
            <a:ext cx="304800" cy="18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hlinkClick r:id="rId8"/>
            <a:extLst>
              <a:ext uri="{FF2B5EF4-FFF2-40B4-BE49-F238E27FC236}">
                <a16:creationId xmlns:a16="http://schemas.microsoft.com/office/drawing/2014/main" id="{0B92AB39-7C43-0596-FD59-99A1D2371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4957" y="408377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hlinkClick r:id="rId8"/>
            <a:extLst>
              <a:ext uri="{FF2B5EF4-FFF2-40B4-BE49-F238E27FC236}">
                <a16:creationId xmlns:a16="http://schemas.microsoft.com/office/drawing/2014/main" id="{A1691886-7E95-45FD-7D98-C69CF0B2F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6650" y="508961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6539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85037-967D-2E5C-D288-71C4BF1EA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b="1" dirty="0"/>
              <a:t>Julian Frattini </a:t>
            </a:r>
            <a:r>
              <a:rPr lang="en-SE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// about my research</a:t>
            </a:r>
            <a:endParaRPr lang="en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3E6FF-11D6-0515-FB73-130181AF9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46E2E-0842-EB26-9D7D-CAA8067EB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Good Science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6595F-D83A-CFEA-CFC4-052D2057A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smtClean="0"/>
              <a:t>3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B1C7CDA-093D-E147-88FD-69F6F3C5BCCA}"/>
              </a:ext>
            </a:extLst>
          </p:cNvPr>
          <p:cNvGrpSpPr/>
          <p:nvPr/>
        </p:nvGrpSpPr>
        <p:grpSpPr>
          <a:xfrm>
            <a:off x="1276577" y="1986844"/>
            <a:ext cx="9638845" cy="1260000"/>
            <a:chOff x="408267" y="1986844"/>
            <a:chExt cx="9638845" cy="126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7818B4D-625B-89FD-E9AB-64A277DFE531}"/>
                </a:ext>
              </a:extLst>
            </p:cNvPr>
            <p:cNvSpPr/>
            <p:nvPr/>
          </p:nvSpPr>
          <p:spPr>
            <a:xfrm>
              <a:off x="948268" y="1986844"/>
              <a:ext cx="9098844" cy="1260000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12000" rtlCol="0" anchor="ctr"/>
            <a:lstStyle/>
            <a:p>
              <a:r>
                <a:rPr lang="en-SE" sz="2400" b="1" dirty="0"/>
                <a:t>Good-enough Requirements Engineering</a:t>
              </a:r>
            </a:p>
            <a:p>
              <a:r>
                <a:rPr lang="en-SE" dirty="0"/>
                <a:t>Quantifying the effect of quality factors of requirements artifacts on downstream software development activities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5190160C-E7B1-DDE8-DA9F-ADBFEB30256B}"/>
                </a:ext>
              </a:extLst>
            </p:cNvPr>
            <p:cNvGrpSpPr/>
            <p:nvPr/>
          </p:nvGrpSpPr>
          <p:grpSpPr>
            <a:xfrm>
              <a:off x="408267" y="2076844"/>
              <a:ext cx="1080000" cy="1080000"/>
              <a:chOff x="408267" y="2076844"/>
              <a:chExt cx="1080000" cy="1080000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4A6AC9B-8FCD-E23C-EBFE-A5E24AB1E61B}"/>
                  </a:ext>
                </a:extLst>
              </p:cNvPr>
              <p:cNvSpPr/>
              <p:nvPr/>
            </p:nvSpPr>
            <p:spPr>
              <a:xfrm>
                <a:off x="408267" y="2076844"/>
                <a:ext cx="1080000" cy="1080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E"/>
              </a:p>
            </p:txBody>
          </p:sp>
          <p:pic>
            <p:nvPicPr>
              <p:cNvPr id="12" name="Graphic 11" descr="Document with solid fill">
                <a:extLst>
                  <a:ext uri="{FF2B5EF4-FFF2-40B4-BE49-F238E27FC236}">
                    <a16:creationId xmlns:a16="http://schemas.microsoft.com/office/drawing/2014/main" id="{0904D603-1F42-91FB-75D8-B2158A29FD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91067" y="2159644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88F82A9-163D-D4B3-1EF5-C59B5CEBC245}"/>
              </a:ext>
            </a:extLst>
          </p:cNvPr>
          <p:cNvGrpSpPr/>
          <p:nvPr/>
        </p:nvGrpSpPr>
        <p:grpSpPr>
          <a:xfrm>
            <a:off x="1276577" y="3419563"/>
            <a:ext cx="9638845" cy="1260000"/>
            <a:chOff x="408267" y="1986844"/>
            <a:chExt cx="9638845" cy="126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F6F454A6-8162-5633-812E-A06ABE7510E6}"/>
                </a:ext>
              </a:extLst>
            </p:cNvPr>
            <p:cNvSpPr/>
            <p:nvPr/>
          </p:nvSpPr>
          <p:spPr>
            <a:xfrm>
              <a:off x="948268" y="1986844"/>
              <a:ext cx="9098844" cy="126000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12000" rtlCol="0" anchor="ctr"/>
            <a:lstStyle/>
            <a:p>
              <a:r>
                <a:rPr lang="en-SE" sz="2400" b="1" dirty="0"/>
                <a:t>Future of Software Engineering</a:t>
              </a:r>
            </a:p>
            <a:p>
              <a:r>
                <a:rPr lang="en-SE" dirty="0"/>
                <a:t>Paving the way for a future of software engineering driven by language-based AI agents.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DC7CC7A-4CBC-5FF8-E382-B410D1257C11}"/>
                </a:ext>
              </a:extLst>
            </p:cNvPr>
            <p:cNvGrpSpPr/>
            <p:nvPr/>
          </p:nvGrpSpPr>
          <p:grpSpPr>
            <a:xfrm>
              <a:off x="408267" y="2076844"/>
              <a:ext cx="1080000" cy="1080000"/>
              <a:chOff x="408267" y="2076844"/>
              <a:chExt cx="1080000" cy="10800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CADBDAE-E0C8-01E9-C511-FC7F903182ED}"/>
                  </a:ext>
                </a:extLst>
              </p:cNvPr>
              <p:cNvSpPr/>
              <p:nvPr/>
            </p:nvSpPr>
            <p:spPr>
              <a:xfrm>
                <a:off x="408267" y="2076844"/>
                <a:ext cx="1080000" cy="1080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E"/>
              </a:p>
            </p:txBody>
          </p:sp>
          <p:pic>
            <p:nvPicPr>
              <p:cNvPr id="20" name="Graphic 19" descr="Processor with solid fill">
                <a:extLst>
                  <a:ext uri="{FF2B5EF4-FFF2-40B4-BE49-F238E27FC236}">
                    <a16:creationId xmlns:a16="http://schemas.microsoft.com/office/drawing/2014/main" id="{8FD70865-05D0-AA12-7CAE-762EE8F8B5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491067" y="2159644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CFE6CF8-D622-C925-2C40-1EBD1F2D0B5A}"/>
              </a:ext>
            </a:extLst>
          </p:cNvPr>
          <p:cNvGrpSpPr/>
          <p:nvPr/>
        </p:nvGrpSpPr>
        <p:grpSpPr>
          <a:xfrm>
            <a:off x="1276577" y="4852282"/>
            <a:ext cx="9638845" cy="1260000"/>
            <a:chOff x="408267" y="1986844"/>
            <a:chExt cx="9638845" cy="1260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0ED6F147-67CC-2A01-D039-3B34AFFF58B3}"/>
                </a:ext>
              </a:extLst>
            </p:cNvPr>
            <p:cNvSpPr/>
            <p:nvPr/>
          </p:nvSpPr>
          <p:spPr>
            <a:xfrm>
              <a:off x="948268" y="1986844"/>
              <a:ext cx="9098844" cy="126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12000" rtlCol="0" anchor="ctr"/>
            <a:lstStyle/>
            <a:p>
              <a:r>
                <a:rPr lang="en-SE" sz="2400" b="1" dirty="0">
                  <a:solidFill>
                    <a:schemeClr val="tx1"/>
                  </a:solidFill>
                </a:rPr>
                <a:t>Software Engineering Research Methodology</a:t>
              </a:r>
            </a:p>
            <a:p>
              <a:r>
                <a:rPr lang="en-SE" dirty="0">
                  <a:solidFill>
                    <a:schemeClr val="tx1"/>
                  </a:solidFill>
                </a:rPr>
                <a:t>Improving the methods used in research to produce more rigorous and valid conclusions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B8453AF-CBAE-29C5-C288-CF92FD2B470C}"/>
                </a:ext>
              </a:extLst>
            </p:cNvPr>
            <p:cNvGrpSpPr/>
            <p:nvPr/>
          </p:nvGrpSpPr>
          <p:grpSpPr>
            <a:xfrm>
              <a:off x="408267" y="2076844"/>
              <a:ext cx="1080000" cy="1080000"/>
              <a:chOff x="408267" y="2076844"/>
              <a:chExt cx="1080000" cy="1080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578FB96-B30D-D783-B246-5A27B977AEF3}"/>
                  </a:ext>
                </a:extLst>
              </p:cNvPr>
              <p:cNvSpPr/>
              <p:nvPr/>
            </p:nvSpPr>
            <p:spPr>
              <a:xfrm>
                <a:off x="408267" y="2076844"/>
                <a:ext cx="1080000" cy="108000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E"/>
              </a:p>
            </p:txBody>
          </p:sp>
          <p:pic>
            <p:nvPicPr>
              <p:cNvPr id="25" name="Graphic 24" descr="Flask with solid fill">
                <a:extLst>
                  <a:ext uri="{FF2B5EF4-FFF2-40B4-BE49-F238E27FC236}">
                    <a16:creationId xmlns:a16="http://schemas.microsoft.com/office/drawing/2014/main" id="{619F5E63-99E6-C6A1-0B57-02684E17FC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491067" y="2159644"/>
                <a:ext cx="914400" cy="91440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30002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77F4D37-A97E-FBCD-BC20-7FC73DAE9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Disclaimer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22AC89-3C38-5880-4F34-D39A4D8B9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Setting Your Expectations Right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707D7-A345-3AD0-B61C-AB840A12C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7F797-C969-EDF1-C79B-C4F66B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071CE-E63C-468E-7181-CBE12606F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4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745360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66D08-ECF5-87DA-5B8F-EC4E23EA0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9715D-E33D-85FB-5A7C-D5CA539A5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8A82F-A4CA-7657-8F60-C8FA98FEA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5</a:t>
            </a:fld>
            <a:endParaRPr lang="en-S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054375-0CC6-E90B-D9B6-A9909F4C423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5CD301-4C4A-86B3-BDD8-2AA936CEA950}"/>
              </a:ext>
            </a:extLst>
          </p:cNvPr>
          <p:cNvSpPr txBox="1"/>
          <p:nvPr/>
        </p:nvSpPr>
        <p:spPr>
          <a:xfrm>
            <a:off x="838199" y="1149141"/>
            <a:ext cx="50613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noProof="0" dirty="0">
                <a:solidFill>
                  <a:schemeClr val="bg1">
                    <a:lumMod val="85000"/>
                  </a:schemeClr>
                </a:solidFill>
              </a:rPr>
              <a:t>But I am here to learn about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B07408-AC58-D7A5-91CD-37D6E7763F46}"/>
              </a:ext>
            </a:extLst>
          </p:cNvPr>
          <p:cNvSpPr txBox="1"/>
          <p:nvPr/>
        </p:nvSpPr>
        <p:spPr>
          <a:xfrm>
            <a:off x="838199" y="1870441"/>
            <a:ext cx="85820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noProof="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Software Engineering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0B6758-6A6D-ACBE-ACBF-F08CAC618CC6}"/>
              </a:ext>
            </a:extLst>
          </p:cNvPr>
          <p:cNvSpPr txBox="1"/>
          <p:nvPr/>
        </p:nvSpPr>
        <p:spPr>
          <a:xfrm>
            <a:off x="838199" y="4053814"/>
            <a:ext cx="104824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noProof="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Software Engineering Research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516E4C-61CC-9634-82FD-CD53B6FF2A7D}"/>
              </a:ext>
            </a:extLst>
          </p:cNvPr>
          <p:cNvSpPr txBox="1"/>
          <p:nvPr/>
        </p:nvSpPr>
        <p:spPr>
          <a:xfrm>
            <a:off x="838199" y="3269904"/>
            <a:ext cx="15279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sz="3200" noProof="0" dirty="0">
                <a:solidFill>
                  <a:schemeClr val="bg1">
                    <a:lumMod val="85000"/>
                  </a:schemeClr>
                </a:solidFill>
              </a:rPr>
              <a:t>and not</a:t>
            </a:r>
            <a:endParaRPr lang="en-US" sz="3200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402FB7-B2F9-8074-C2C3-70ABB10AAEB3}"/>
              </a:ext>
            </a:extLst>
          </p:cNvPr>
          <p:cNvSpPr txBox="1"/>
          <p:nvPr/>
        </p:nvSpPr>
        <p:spPr>
          <a:xfrm>
            <a:off x="-2750187" y="3269904"/>
            <a:ext cx="23310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sz="3200" noProof="0" dirty="0">
                <a:solidFill>
                  <a:schemeClr val="bg1">
                    <a:lumMod val="85000"/>
                  </a:schemeClr>
                </a:solidFill>
              </a:rPr>
              <a:t>will become</a:t>
            </a:r>
            <a:endParaRPr lang="en-US" sz="3200" noProof="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4489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13BA1-A088-4CAB-0301-566301B7B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B2095-CA51-BAFD-2F26-71AF91198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43B82-EB47-983E-2972-06BCADFD7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B42D6-48FD-16BB-8348-807900805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6</a:t>
            </a:fld>
            <a:endParaRPr lang="en-S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BAD422-B508-FC59-53A3-DE9A7BDB0E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6EC668-CC5C-852E-38E6-C026B67BB409}"/>
              </a:ext>
            </a:extLst>
          </p:cNvPr>
          <p:cNvSpPr txBox="1"/>
          <p:nvPr/>
        </p:nvSpPr>
        <p:spPr>
          <a:xfrm>
            <a:off x="12266208" y="1285666"/>
            <a:ext cx="50613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noProof="0" dirty="0">
                <a:solidFill>
                  <a:schemeClr val="bg1">
                    <a:lumMod val="85000"/>
                  </a:schemeClr>
                </a:solidFill>
              </a:rPr>
              <a:t>But I am here to learn about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F0356A-E01E-0598-5D6F-11437CE5C52A}"/>
              </a:ext>
            </a:extLst>
          </p:cNvPr>
          <p:cNvSpPr txBox="1"/>
          <p:nvPr/>
        </p:nvSpPr>
        <p:spPr>
          <a:xfrm>
            <a:off x="838199" y="1870441"/>
            <a:ext cx="85820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noProof="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Software Engineering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FF3AEA-5FA3-D3A8-CD8E-70FFB205C184}"/>
              </a:ext>
            </a:extLst>
          </p:cNvPr>
          <p:cNvSpPr txBox="1"/>
          <p:nvPr/>
        </p:nvSpPr>
        <p:spPr>
          <a:xfrm>
            <a:off x="838199" y="4053814"/>
            <a:ext cx="104824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noProof="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Software Engineering Research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7C2056-C993-34A2-F1D8-76EBADD58E16}"/>
              </a:ext>
            </a:extLst>
          </p:cNvPr>
          <p:cNvSpPr txBox="1"/>
          <p:nvPr/>
        </p:nvSpPr>
        <p:spPr>
          <a:xfrm>
            <a:off x="12266208" y="3469039"/>
            <a:ext cx="15279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sz="3200" noProof="0" dirty="0">
                <a:solidFill>
                  <a:schemeClr val="bg1">
                    <a:lumMod val="85000"/>
                  </a:schemeClr>
                </a:solidFill>
              </a:rPr>
              <a:t>and not</a:t>
            </a:r>
            <a:endParaRPr lang="en-US" sz="3200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4FF239-C2BE-EA5E-B06B-1E89FC8D7A3A}"/>
              </a:ext>
            </a:extLst>
          </p:cNvPr>
          <p:cNvSpPr txBox="1"/>
          <p:nvPr/>
        </p:nvSpPr>
        <p:spPr>
          <a:xfrm>
            <a:off x="838199" y="3269904"/>
            <a:ext cx="23310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sz="3200" noProof="0" dirty="0">
                <a:solidFill>
                  <a:schemeClr val="bg1">
                    <a:lumMod val="85000"/>
                  </a:schemeClr>
                </a:solidFill>
              </a:rPr>
              <a:t>will become</a:t>
            </a:r>
            <a:endParaRPr lang="en-US" sz="3200" noProof="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106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4D804-2A5C-B0E0-3C74-A6A2EB3C6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Software Engineering will become Software Engineering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94478-C121-44F0-F2E6-73AC1667C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E" dirty="0"/>
              <a:t>With the support of generative AI, traditional skills of software engineering (writing source and test code, designing an architecture, etc.) need to be complemented with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C3F93-CDD3-E7E0-B396-0625CDB92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E9F849-68AD-3E0E-9C56-4FCB6765A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5C959-0C11-A8F5-BE09-8108B256F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7</a:t>
            </a:fld>
            <a:endParaRPr lang="en-S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96BFCE-DF9D-B1AA-5125-9FDA0005BAB7}"/>
              </a:ext>
            </a:extLst>
          </p:cNvPr>
          <p:cNvGrpSpPr/>
          <p:nvPr/>
        </p:nvGrpSpPr>
        <p:grpSpPr>
          <a:xfrm>
            <a:off x="4894174" y="3429000"/>
            <a:ext cx="2403652" cy="2348074"/>
            <a:chOff x="4894174" y="3429000"/>
            <a:chExt cx="2403652" cy="234807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8728320-6B07-E889-7231-9F3E27ABF8D9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C06DA03C-3F75-F858-BC0E-619D12164D86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1" name="Graphic 10" descr="Signpost with solid fill">
                <a:extLst>
                  <a:ext uri="{FF2B5EF4-FFF2-40B4-BE49-F238E27FC236}">
                    <a16:creationId xmlns:a16="http://schemas.microsoft.com/office/drawing/2014/main" id="{FB0D195A-5069-8382-C64E-077B637DB3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E62E6F6-1EB1-0896-11E8-A0A24C2D7C46}"/>
                </a:ext>
              </a:extLst>
            </p:cNvPr>
            <p:cNvSpPr txBox="1"/>
            <p:nvPr/>
          </p:nvSpPr>
          <p:spPr>
            <a:xfrm>
              <a:off x="4894174" y="4669078"/>
              <a:ext cx="240365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 noProof="0" dirty="0"/>
                <a:t>Making Decisions</a:t>
              </a:r>
              <a:endParaRPr lang="en-US" b="1" noProof="0" dirty="0"/>
            </a:p>
            <a:p>
              <a:pPr algn="ctr"/>
              <a:r>
                <a:rPr lang="en-SE" sz="1600" noProof="0" dirty="0"/>
                <a:t>about options that (much faster) LLMs present to you</a:t>
              </a:r>
              <a:endParaRPr lang="en-US" sz="1600" noProof="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73EC741-DAC4-9A64-595F-5F92E851F542}"/>
              </a:ext>
            </a:extLst>
          </p:cNvPr>
          <p:cNvGrpSpPr/>
          <p:nvPr/>
        </p:nvGrpSpPr>
        <p:grpSpPr>
          <a:xfrm>
            <a:off x="1664361" y="3429000"/>
            <a:ext cx="2403652" cy="2348074"/>
            <a:chOff x="4894174" y="3429000"/>
            <a:chExt cx="2403652" cy="234807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3C5B447-4428-2A2C-1E23-56C58E3F5FDF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9FD1A880-E269-F701-2766-76E249F5CD7B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6" name="Graphic 15" descr="Chat with solid fill">
                <a:extLst>
                  <a:ext uri="{FF2B5EF4-FFF2-40B4-BE49-F238E27FC236}">
                    <a16:creationId xmlns:a16="http://schemas.microsoft.com/office/drawing/2014/main" id="{91E74451-8DAA-C637-A240-99122F16E3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B7D348E-2782-3CF9-84D9-CB542A3EA490}"/>
                </a:ext>
              </a:extLst>
            </p:cNvPr>
            <p:cNvSpPr txBox="1"/>
            <p:nvPr/>
          </p:nvSpPr>
          <p:spPr>
            <a:xfrm>
              <a:off x="4894174" y="4669078"/>
              <a:ext cx="240365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 noProof="0" dirty="0"/>
                <a:t>Communicating</a:t>
              </a:r>
              <a:endParaRPr lang="en-US" b="1" noProof="0" dirty="0"/>
            </a:p>
            <a:p>
              <a:pPr algn="ctr"/>
              <a:r>
                <a:rPr lang="en-SE" sz="1600" dirty="0"/>
                <a:t>with humans and LLMs about expectations and requirements </a:t>
              </a:r>
              <a:endParaRPr lang="en-US" sz="1600" noProof="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BD0721E-3C8E-32E3-7454-97B0542B0E93}"/>
              </a:ext>
            </a:extLst>
          </p:cNvPr>
          <p:cNvGrpSpPr/>
          <p:nvPr/>
        </p:nvGrpSpPr>
        <p:grpSpPr>
          <a:xfrm>
            <a:off x="8123987" y="3429000"/>
            <a:ext cx="2403652" cy="2348074"/>
            <a:chOff x="4894174" y="3429000"/>
            <a:chExt cx="2403652" cy="234807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0074C60-6744-4088-0591-CAF141BF177B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74615439-7B79-50D7-8269-0A8A60DB1755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21" name="Graphic 20" descr="Left Brain with solid fill">
                <a:extLst>
                  <a:ext uri="{FF2B5EF4-FFF2-40B4-BE49-F238E27FC236}">
                    <a16:creationId xmlns:a16="http://schemas.microsoft.com/office/drawing/2014/main" id="{ACDC07D6-AAC3-2E60-DB32-722B3B2182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490CA24-A1BB-657E-D557-12B7D3260DE6}"/>
                </a:ext>
              </a:extLst>
            </p:cNvPr>
            <p:cNvSpPr txBox="1"/>
            <p:nvPr/>
          </p:nvSpPr>
          <p:spPr>
            <a:xfrm>
              <a:off x="4894174" y="4669078"/>
              <a:ext cx="240365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 noProof="0" dirty="0"/>
                <a:t>Creating Knowledge</a:t>
              </a:r>
              <a:endParaRPr lang="en-US" b="1" noProof="0" dirty="0"/>
            </a:p>
            <a:p>
              <a:pPr algn="ctr"/>
              <a:r>
                <a:rPr lang="en-SE" sz="1600" noProof="0" dirty="0"/>
                <a:t>about the world and how our software interacts with it</a:t>
              </a:r>
              <a:endParaRPr lang="en-US" sz="1600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555554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695C6-3D9D-4B4B-13F0-ED353D8A0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3BFFE-C57D-E8DC-CC4E-E4DAA7ED2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0616F-D656-14D2-25C5-5D32253BC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E22A4-9BF0-BE12-7326-65495E01A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8</a:t>
            </a:fld>
            <a:endParaRPr lang="en-S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F07DDB-6FF5-58F9-C6CD-3F0F1D7891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E8CA87-D0E6-DF42-FE50-5A5F43F9D6E9}"/>
              </a:ext>
            </a:extLst>
          </p:cNvPr>
          <p:cNvSpPr txBox="1"/>
          <p:nvPr/>
        </p:nvSpPr>
        <p:spPr>
          <a:xfrm>
            <a:off x="12266208" y="1285666"/>
            <a:ext cx="50613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noProof="0" dirty="0">
                <a:solidFill>
                  <a:schemeClr val="bg1">
                    <a:lumMod val="85000"/>
                  </a:schemeClr>
                </a:solidFill>
              </a:rPr>
              <a:t>But I am here to learn about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F1EE72-034D-D01F-4FF1-D0884535E546}"/>
              </a:ext>
            </a:extLst>
          </p:cNvPr>
          <p:cNvSpPr txBox="1"/>
          <p:nvPr/>
        </p:nvSpPr>
        <p:spPr>
          <a:xfrm>
            <a:off x="838199" y="1870441"/>
            <a:ext cx="85820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noProof="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Software Engineering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957FE4-C92A-C3DF-C247-C22BB4554A71}"/>
              </a:ext>
            </a:extLst>
          </p:cNvPr>
          <p:cNvSpPr txBox="1"/>
          <p:nvPr/>
        </p:nvSpPr>
        <p:spPr>
          <a:xfrm>
            <a:off x="838199" y="4053814"/>
            <a:ext cx="1048242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noProof="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Software Engineering Research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F36E7E-A1D8-768D-1D8E-D57126CFB414}"/>
              </a:ext>
            </a:extLst>
          </p:cNvPr>
          <p:cNvSpPr txBox="1"/>
          <p:nvPr/>
        </p:nvSpPr>
        <p:spPr>
          <a:xfrm>
            <a:off x="12266208" y="3469039"/>
            <a:ext cx="15279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sz="3200" noProof="0" dirty="0">
                <a:solidFill>
                  <a:schemeClr val="bg1">
                    <a:lumMod val="85000"/>
                  </a:schemeClr>
                </a:solidFill>
              </a:rPr>
              <a:t>and not</a:t>
            </a:r>
            <a:endParaRPr lang="en-US" sz="3200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B65863-C036-F41A-D9EF-27CF94A52DAD}"/>
              </a:ext>
            </a:extLst>
          </p:cNvPr>
          <p:cNvSpPr txBox="1"/>
          <p:nvPr/>
        </p:nvSpPr>
        <p:spPr>
          <a:xfrm>
            <a:off x="838199" y="3269904"/>
            <a:ext cx="25984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sz="3200" noProof="0" dirty="0">
                <a:solidFill>
                  <a:schemeClr val="bg1">
                    <a:lumMod val="85000"/>
                  </a:schemeClr>
                </a:solidFill>
              </a:rPr>
              <a:t>in the form of</a:t>
            </a:r>
            <a:endParaRPr lang="en-US" sz="3200" noProof="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42CA74-716B-D2B8-E533-68585CED3247}"/>
              </a:ext>
            </a:extLst>
          </p:cNvPr>
          <p:cNvSpPr txBox="1"/>
          <p:nvPr/>
        </p:nvSpPr>
        <p:spPr>
          <a:xfrm>
            <a:off x="838199" y="1149141"/>
            <a:ext cx="84012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sz="3200" noProof="0" dirty="0">
                <a:solidFill>
                  <a:schemeClr val="bg1">
                    <a:lumMod val="85000"/>
                  </a:schemeClr>
                </a:solidFill>
              </a:rPr>
              <a:t>You are exactly at the right place to learn about</a:t>
            </a:r>
            <a:endParaRPr lang="en-US" sz="3200" noProof="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2782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FE588B-391A-0B89-9061-0FC79FC81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Motivation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93AA196-4F0E-BD34-74D8-EE1200846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Why Good Research is Worth the Effort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BA351-E38E-96DA-E37C-DC656E95E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F7656-D34A-859F-B6D5-91DA5B278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79BF9-FE0A-9872-E697-ED20172A7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9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066851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5957C06-52AA-BA28-9212-C7740C723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The Purpose of Science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85756-C963-D273-4C30-0827F1159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9F2DE-22E6-87A7-9F78-7CC2EC7F3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Good Science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BA9718-C308-0D07-2196-FB27661D1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smtClean="0"/>
              <a:t>10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F4ECCE3-BDFB-57CC-98EF-FE40AEB6FC81}"/>
              </a:ext>
            </a:extLst>
          </p:cNvPr>
          <p:cNvGrpSpPr/>
          <p:nvPr/>
        </p:nvGrpSpPr>
        <p:grpSpPr>
          <a:xfrm>
            <a:off x="516421" y="1875337"/>
            <a:ext cx="3647303" cy="3133986"/>
            <a:chOff x="516421" y="1873443"/>
            <a:chExt cx="3647303" cy="4300151"/>
          </a:xfrm>
        </p:grpSpPr>
        <p:sp>
          <p:nvSpPr>
            <p:cNvPr id="2" name="Rectangle: Rounded Corners 1" descr="Piles of various wholegrain foods">
              <a:extLst>
                <a:ext uri="{FF2B5EF4-FFF2-40B4-BE49-F238E27FC236}">
                  <a16:creationId xmlns:a16="http://schemas.microsoft.com/office/drawing/2014/main" id="{CF969981-D2F5-E483-CECE-C52320B9CC6F}"/>
                </a:ext>
              </a:extLst>
            </p:cNvPr>
            <p:cNvSpPr/>
            <p:nvPr/>
          </p:nvSpPr>
          <p:spPr>
            <a:xfrm>
              <a:off x="516672" y="1873443"/>
              <a:ext cx="3646800" cy="4300151"/>
            </a:xfrm>
            <a:prstGeom prst="roundRect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tile tx="0" ty="0" sx="30000" sy="30000" flip="none" algn="ctr"/>
            </a:blip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85AFD86-AFA8-AE95-A337-724F84209B53}"/>
                </a:ext>
              </a:extLst>
            </p:cNvPr>
            <p:cNvSpPr/>
            <p:nvPr/>
          </p:nvSpPr>
          <p:spPr>
            <a:xfrm>
              <a:off x="516421" y="2325201"/>
              <a:ext cx="3647303" cy="3848392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58000">
                  <a:schemeClr val="tx1">
                    <a:alpha val="60000"/>
                  </a:schemeClr>
                </a:gs>
                <a:gs pos="82000">
                  <a:schemeClr val="tx1">
                    <a:alpha val="8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SE" sz="2400" b="1" dirty="0"/>
                <a:t>Nutrition Research</a:t>
              </a:r>
            </a:p>
            <a:p>
              <a:pPr algn="ctr"/>
              <a:r>
                <a:rPr lang="en-SE" dirty="0"/>
                <a:t>What food should we eat to live a long and healthy live?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50B5B4-DC1B-4AD0-20AD-ECAD5BCF0582}"/>
              </a:ext>
            </a:extLst>
          </p:cNvPr>
          <p:cNvGrpSpPr/>
          <p:nvPr/>
        </p:nvGrpSpPr>
        <p:grpSpPr>
          <a:xfrm>
            <a:off x="4337484" y="1875337"/>
            <a:ext cx="3647303" cy="3133986"/>
            <a:chOff x="4506097" y="1877229"/>
            <a:chExt cx="3647303" cy="4300151"/>
          </a:xfrm>
        </p:grpSpPr>
        <p:sp>
          <p:nvSpPr>
            <p:cNvPr id="7" name="Rectangle: Rounded Corners 6" descr="Medicine bottles on shelf">
              <a:extLst>
                <a:ext uri="{FF2B5EF4-FFF2-40B4-BE49-F238E27FC236}">
                  <a16:creationId xmlns:a16="http://schemas.microsoft.com/office/drawing/2014/main" id="{E1B3A030-0A56-6999-0140-7F3A83EC6AAB}"/>
                </a:ext>
              </a:extLst>
            </p:cNvPr>
            <p:cNvSpPr/>
            <p:nvPr/>
          </p:nvSpPr>
          <p:spPr>
            <a:xfrm>
              <a:off x="4506097" y="1877229"/>
              <a:ext cx="3647303" cy="4300151"/>
            </a:xfrm>
            <a:prstGeom prst="roundRect">
              <a:avLst/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tile tx="0" ty="0" sx="10000" sy="10000" flip="none" algn="ctr"/>
            </a:blip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8FD280F5-64FC-634D-ECC4-58741EA06649}"/>
                </a:ext>
              </a:extLst>
            </p:cNvPr>
            <p:cNvSpPr/>
            <p:nvPr/>
          </p:nvSpPr>
          <p:spPr>
            <a:xfrm>
              <a:off x="4506097" y="2732566"/>
              <a:ext cx="3647303" cy="3444814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63000">
                  <a:schemeClr val="tx1">
                    <a:alpha val="60000"/>
                  </a:schemeClr>
                </a:gs>
                <a:gs pos="82000">
                  <a:schemeClr val="tx1">
                    <a:alpha val="8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SE" sz="2400" b="1" dirty="0"/>
                <a:t>Medical Research</a:t>
              </a:r>
            </a:p>
            <a:p>
              <a:pPr algn="ctr"/>
              <a:r>
                <a:rPr lang="en-SE" dirty="0"/>
                <a:t>What compounds help dealing with medical conditions?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02C814B-193F-6BA5-64AC-6D1613DFD549}"/>
              </a:ext>
            </a:extLst>
          </p:cNvPr>
          <p:cNvGrpSpPr/>
          <p:nvPr/>
        </p:nvGrpSpPr>
        <p:grpSpPr>
          <a:xfrm>
            <a:off x="8158548" y="1875337"/>
            <a:ext cx="3647303" cy="3133986"/>
            <a:chOff x="8495771" y="1873444"/>
            <a:chExt cx="3647303" cy="4300151"/>
          </a:xfrm>
        </p:grpSpPr>
        <p:sp>
          <p:nvSpPr>
            <p:cNvPr id="3" name="Rectangle: Rounded Corners 2" descr="People working on a computer">
              <a:extLst>
                <a:ext uri="{FF2B5EF4-FFF2-40B4-BE49-F238E27FC236}">
                  <a16:creationId xmlns:a16="http://schemas.microsoft.com/office/drawing/2014/main" id="{23A32666-FA88-2C3D-AA8D-5DCDDFEC4BAD}"/>
                </a:ext>
              </a:extLst>
            </p:cNvPr>
            <p:cNvSpPr/>
            <p:nvPr/>
          </p:nvSpPr>
          <p:spPr>
            <a:xfrm>
              <a:off x="8495771" y="1873444"/>
              <a:ext cx="3647303" cy="4300151"/>
            </a:xfrm>
            <a:prstGeom prst="roundRect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tile tx="0" ty="0" sx="13000" sy="13000" flip="none" algn="ctr"/>
            </a:blip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5B4089C-CAC9-65A5-42D1-3F73FA898151}"/>
                </a:ext>
              </a:extLst>
            </p:cNvPr>
            <p:cNvSpPr/>
            <p:nvPr/>
          </p:nvSpPr>
          <p:spPr>
            <a:xfrm>
              <a:off x="8495771" y="2728780"/>
              <a:ext cx="3647303" cy="3444815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63000">
                  <a:schemeClr val="tx1">
                    <a:alpha val="60000"/>
                  </a:schemeClr>
                </a:gs>
                <a:gs pos="82000">
                  <a:schemeClr val="tx1">
                    <a:alpha val="8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SE" sz="2400" b="1" dirty="0"/>
                <a:t>Engineering Research</a:t>
              </a:r>
            </a:p>
            <a:p>
              <a:pPr algn="ctr"/>
              <a:r>
                <a:rPr lang="en-SE" dirty="0"/>
                <a:t>How do we effectively build useful software solutions?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09575B8-EACB-95F5-28C2-31D531CCF10F}"/>
              </a:ext>
            </a:extLst>
          </p:cNvPr>
          <p:cNvGrpSpPr/>
          <p:nvPr/>
        </p:nvGrpSpPr>
        <p:grpSpPr>
          <a:xfrm>
            <a:off x="3204682" y="5338567"/>
            <a:ext cx="5782636" cy="720001"/>
            <a:chOff x="775412" y="5343664"/>
            <a:chExt cx="5782636" cy="720001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2565F329-A369-3CA5-FA28-C908CF109B6D}"/>
                </a:ext>
              </a:extLst>
            </p:cNvPr>
            <p:cNvSpPr/>
            <p:nvPr/>
          </p:nvSpPr>
          <p:spPr>
            <a:xfrm>
              <a:off x="775412" y="5343664"/>
              <a:ext cx="5782636" cy="720001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12000" rtlCol="0" anchor="ctr"/>
            <a:lstStyle/>
            <a:p>
              <a:r>
                <a:rPr lang="en-SE" dirty="0"/>
                <a:t>Good s</a:t>
              </a:r>
              <a:r>
                <a:rPr lang="en-SE" noProof="0" dirty="0" err="1"/>
                <a:t>cience</a:t>
              </a:r>
              <a:r>
                <a:rPr lang="en-SE" noProof="0" dirty="0"/>
                <a:t> informs decision-making policies.</a:t>
              </a:r>
              <a:endParaRPr lang="en-US" baseline="30000" noProof="0" dirty="0"/>
            </a:p>
          </p:txBody>
        </p:sp>
        <p:pic>
          <p:nvPicPr>
            <p:cNvPr id="18" name="Graphic 17" descr="Open quotation mark with solid fill">
              <a:extLst>
                <a:ext uri="{FF2B5EF4-FFF2-40B4-BE49-F238E27FC236}">
                  <a16:creationId xmlns:a16="http://schemas.microsoft.com/office/drawing/2014/main" id="{28C97A0D-8036-E375-5277-0F63934D72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775412" y="5343665"/>
              <a:ext cx="720000" cy="7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4520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DEFF3-D806-E65D-DAAD-9D91ECD61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Properties of 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0A208-4FAD-7184-54FA-9207E3079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64007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What exactly constitutes “good science”?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E7011-BC61-A57C-16CE-18CDB32DF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F3835-63CA-8393-ECE2-6AA908B50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50FD6-7063-B265-E3A2-6BADCBB5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11</a:t>
            </a:fld>
            <a:endParaRPr lang="en-S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DF91D5-F647-C372-7CE1-646F2B033209}"/>
              </a:ext>
            </a:extLst>
          </p:cNvPr>
          <p:cNvSpPr/>
          <p:nvPr/>
        </p:nvSpPr>
        <p:spPr>
          <a:xfrm>
            <a:off x="3252216" y="2948814"/>
            <a:ext cx="2743200" cy="131673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b="1" dirty="0">
                <a:solidFill>
                  <a:sysClr val="windowText" lastClr="000000"/>
                </a:solidFill>
              </a:rPr>
              <a:t>high rigor, low relevance</a:t>
            </a:r>
          </a:p>
          <a:p>
            <a:pPr algn="ctr"/>
            <a:r>
              <a:rPr lang="en-SE" dirty="0">
                <a:solidFill>
                  <a:sysClr val="windowText" lastClr="000000"/>
                </a:solidFill>
              </a:rPr>
              <a:t>Research appealing for the sake of 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F98EE7-6928-637A-FF03-1325E37DD725}"/>
              </a:ext>
            </a:extLst>
          </p:cNvPr>
          <p:cNvSpPr/>
          <p:nvPr/>
        </p:nvSpPr>
        <p:spPr>
          <a:xfrm>
            <a:off x="6196584" y="2948814"/>
            <a:ext cx="2743200" cy="131673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b="1" dirty="0">
                <a:solidFill>
                  <a:sysClr val="windowText" lastClr="000000"/>
                </a:solidFill>
              </a:rPr>
              <a:t>high rigor, high relevance</a:t>
            </a:r>
          </a:p>
          <a:p>
            <a:pPr algn="ctr"/>
            <a:r>
              <a:rPr lang="en-SE" dirty="0">
                <a:solidFill>
                  <a:sysClr val="windowText" lastClr="000000"/>
                </a:solidFill>
              </a:rPr>
              <a:t>The important and useful research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271247-6DD0-17F5-4574-6A2D80C198A2}"/>
              </a:ext>
            </a:extLst>
          </p:cNvPr>
          <p:cNvSpPr/>
          <p:nvPr/>
        </p:nvSpPr>
        <p:spPr>
          <a:xfrm>
            <a:off x="3252216" y="4454590"/>
            <a:ext cx="2743200" cy="131673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b="1" dirty="0">
                <a:solidFill>
                  <a:sysClr val="windowText" lastClr="000000"/>
                </a:solidFill>
              </a:rPr>
              <a:t>low rigor, low relevance</a:t>
            </a:r>
          </a:p>
          <a:p>
            <a:pPr algn="ctr"/>
            <a:r>
              <a:rPr lang="en-SE" dirty="0">
                <a:solidFill>
                  <a:sysClr val="windowText" lastClr="000000"/>
                </a:solidFill>
              </a:rPr>
              <a:t>Research t</a:t>
            </a:r>
            <a:r>
              <a:rPr lang="de-DE" dirty="0">
                <a:solidFill>
                  <a:sysClr val="windowText" lastClr="000000"/>
                </a:solidFill>
              </a:rPr>
              <a:t>ha</a:t>
            </a:r>
            <a:r>
              <a:rPr lang="en-SE" dirty="0">
                <a:solidFill>
                  <a:sysClr val="windowText" lastClr="000000"/>
                </a:solidFill>
              </a:rPr>
              <a:t>t nobody should do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F2822F-7489-FB85-4DDA-C08E9D00057E}"/>
              </a:ext>
            </a:extLst>
          </p:cNvPr>
          <p:cNvSpPr/>
          <p:nvPr/>
        </p:nvSpPr>
        <p:spPr>
          <a:xfrm>
            <a:off x="6196584" y="4454590"/>
            <a:ext cx="2743200" cy="131673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b="1" dirty="0">
                <a:solidFill>
                  <a:sysClr val="windowText" lastClr="000000"/>
                </a:solidFill>
              </a:rPr>
              <a:t>low rigor, high relevance</a:t>
            </a:r>
          </a:p>
          <a:p>
            <a:pPr algn="ctr"/>
            <a:r>
              <a:rPr lang="de-DE" dirty="0">
                <a:solidFill>
                  <a:sysClr val="windowText" lastClr="000000"/>
                </a:solidFill>
              </a:rPr>
              <a:t>S</a:t>
            </a:r>
            <a:r>
              <a:rPr lang="en-SE" dirty="0" err="1">
                <a:solidFill>
                  <a:sysClr val="windowText" lastClr="000000"/>
                </a:solidFill>
              </a:rPr>
              <a:t>ensationalist</a:t>
            </a:r>
            <a:r>
              <a:rPr lang="en-SE" dirty="0">
                <a:solidFill>
                  <a:sysClr val="windowText" lastClr="000000"/>
                </a:solidFill>
              </a:rPr>
              <a:t> but unreliable research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D47AA8D-64E0-D799-1772-BD14A25BCC56}"/>
              </a:ext>
            </a:extLst>
          </p:cNvPr>
          <p:cNvCxnSpPr/>
          <p:nvPr/>
        </p:nvCxnSpPr>
        <p:spPr>
          <a:xfrm>
            <a:off x="3084576" y="5961635"/>
            <a:ext cx="60228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3621EE1-9164-9AEF-C5CB-E3E04997454B}"/>
              </a:ext>
            </a:extLst>
          </p:cNvPr>
          <p:cNvCxnSpPr>
            <a:cxnSpLocks/>
          </p:cNvCxnSpPr>
          <p:nvPr/>
        </p:nvCxnSpPr>
        <p:spPr>
          <a:xfrm flipV="1">
            <a:off x="3084576" y="2768156"/>
            <a:ext cx="0" cy="31934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0675313-F642-5FE8-C175-0873647C99CF}"/>
              </a:ext>
            </a:extLst>
          </p:cNvPr>
          <p:cNvSpPr txBox="1"/>
          <p:nvPr/>
        </p:nvSpPr>
        <p:spPr>
          <a:xfrm rot="16200000">
            <a:off x="2469452" y="4180229"/>
            <a:ext cx="692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E" dirty="0"/>
              <a:t>Rigor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9E3C15-7969-9852-E200-9B8E2521B152}"/>
              </a:ext>
            </a:extLst>
          </p:cNvPr>
          <p:cNvSpPr txBox="1"/>
          <p:nvPr/>
        </p:nvSpPr>
        <p:spPr>
          <a:xfrm>
            <a:off x="5484005" y="6047915"/>
            <a:ext cx="1223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E" dirty="0"/>
              <a:t>Relevance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A9920E-A2B8-3F27-A1F6-804E051D0557}"/>
              </a:ext>
            </a:extLst>
          </p:cNvPr>
          <p:cNvSpPr/>
          <p:nvPr/>
        </p:nvSpPr>
        <p:spPr>
          <a:xfrm>
            <a:off x="3164208" y="4336499"/>
            <a:ext cx="5863582" cy="147950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B36FF8-29BC-287A-BF2C-51543A2048AF}"/>
              </a:ext>
            </a:extLst>
          </p:cNvPr>
          <p:cNvSpPr txBox="1"/>
          <p:nvPr/>
        </p:nvSpPr>
        <p:spPr>
          <a:xfrm>
            <a:off x="9140952" y="4891587"/>
            <a:ext cx="1761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dirty="0">
                <a:solidFill>
                  <a:srgbClr val="C00000"/>
                </a:solidFill>
              </a:rPr>
              <a:t>Invalid research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8DE801-AE31-CFA0-CE7D-126716AD7CCF}"/>
              </a:ext>
            </a:extLst>
          </p:cNvPr>
          <p:cNvSpPr/>
          <p:nvPr/>
        </p:nvSpPr>
        <p:spPr>
          <a:xfrm>
            <a:off x="3197740" y="2877867"/>
            <a:ext cx="2906388" cy="2938141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14F2AC-96E4-06E2-0B7A-24B2EA65B769}"/>
              </a:ext>
            </a:extLst>
          </p:cNvPr>
          <p:cNvSpPr txBox="1"/>
          <p:nvPr/>
        </p:nvSpPr>
        <p:spPr>
          <a:xfrm>
            <a:off x="3581400" y="2402323"/>
            <a:ext cx="2219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dirty="0">
                <a:solidFill>
                  <a:schemeClr val="accent1">
                    <a:lumMod val="50000"/>
                  </a:schemeClr>
                </a:solidFill>
              </a:rPr>
              <a:t>Ivory-tower research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0BEB9DF-6D19-8E52-01DB-17728D443B89}"/>
              </a:ext>
            </a:extLst>
          </p:cNvPr>
          <p:cNvSpPr/>
          <p:nvPr/>
        </p:nvSpPr>
        <p:spPr>
          <a:xfrm>
            <a:off x="3168658" y="2864867"/>
            <a:ext cx="5863582" cy="1479509"/>
          </a:xfrm>
          <a:prstGeom prst="rect">
            <a:avLst/>
          </a:prstGeom>
          <a:noFill/>
          <a:ln w="5715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885762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26" grpId="0"/>
      <p:bldP spid="27" grpId="0"/>
      <p:bldP spid="8" grpId="0" animBg="1"/>
      <p:bldP spid="9" grpId="0"/>
      <p:bldP spid="10" grpId="0" animBg="1"/>
      <p:bldP spid="13" grpId="0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61B11-C068-E914-F56D-9F455BC64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</a:t>
            </a:r>
            <a:r>
              <a:rPr lang="en-SE" noProof="0" dirty="0" err="1"/>
              <a:t>Scientifi</a:t>
            </a:r>
            <a:r>
              <a:rPr lang="en-SE" dirty="0"/>
              <a:t>c Process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6EF1F-27B1-EFD0-89A5-BCE17B04B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73735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One common type of the scientific process follows these steps: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432FE-1982-ACB9-DA5F-EFB934BED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B5D13-519D-A2F7-7F15-D554AD653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93F6C-8C81-FB62-6591-BFE89795E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12</a:t>
            </a:fld>
            <a:endParaRPr lang="en-SE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D37F627-2114-08DD-A69B-EFCDFA6B6AC0}"/>
              </a:ext>
            </a:extLst>
          </p:cNvPr>
          <p:cNvGrpSpPr/>
          <p:nvPr/>
        </p:nvGrpSpPr>
        <p:grpSpPr>
          <a:xfrm>
            <a:off x="975360" y="2814320"/>
            <a:ext cx="3545840" cy="1188720"/>
            <a:chOff x="975360" y="2814320"/>
            <a:chExt cx="3545840" cy="1188720"/>
          </a:xfrm>
        </p:grpSpPr>
        <p:sp>
          <p:nvSpPr>
            <p:cNvPr id="7" name="Arrow: Pentagon 6">
              <a:extLst>
                <a:ext uri="{FF2B5EF4-FFF2-40B4-BE49-F238E27FC236}">
                  <a16:creationId xmlns:a16="http://schemas.microsoft.com/office/drawing/2014/main" id="{0484FF5B-533D-896A-8072-204F46A99A94}"/>
                </a:ext>
              </a:extLst>
            </p:cNvPr>
            <p:cNvSpPr/>
            <p:nvPr/>
          </p:nvSpPr>
          <p:spPr>
            <a:xfrm>
              <a:off x="975360" y="2814320"/>
              <a:ext cx="3545840" cy="1188720"/>
            </a:xfrm>
            <a:prstGeom prst="homePlat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48000" rtlCol="0" anchor="ctr"/>
            <a:lstStyle/>
            <a:p>
              <a:pPr algn="ctr"/>
              <a:r>
                <a:rPr lang="en-SE" dirty="0"/>
                <a:t>Formulate a (relevant) research question</a:t>
              </a:r>
            </a:p>
          </p:txBody>
        </p:sp>
        <p:pic>
          <p:nvPicPr>
            <p:cNvPr id="11" name="Graphic 10" descr="Help with solid fill">
              <a:extLst>
                <a:ext uri="{FF2B5EF4-FFF2-40B4-BE49-F238E27FC236}">
                  <a16:creationId xmlns:a16="http://schemas.microsoft.com/office/drawing/2014/main" id="{031B4EDC-9A17-072E-1400-95413380B1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91440" y="3136015"/>
              <a:ext cx="540000" cy="540000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C15E514-2382-26BA-6E17-079CF828160E}"/>
              </a:ext>
            </a:extLst>
          </p:cNvPr>
          <p:cNvGrpSpPr/>
          <p:nvPr/>
        </p:nvGrpSpPr>
        <p:grpSpPr>
          <a:xfrm>
            <a:off x="4135120" y="2814320"/>
            <a:ext cx="3545840" cy="1188720"/>
            <a:chOff x="4135120" y="2814320"/>
            <a:chExt cx="3545840" cy="1188720"/>
          </a:xfrm>
        </p:grpSpPr>
        <p:sp>
          <p:nvSpPr>
            <p:cNvPr id="8" name="Arrow: Chevron 7">
              <a:extLst>
                <a:ext uri="{FF2B5EF4-FFF2-40B4-BE49-F238E27FC236}">
                  <a16:creationId xmlns:a16="http://schemas.microsoft.com/office/drawing/2014/main" id="{D29ED796-6384-30B0-5BF4-80E1796018CA}"/>
                </a:ext>
              </a:extLst>
            </p:cNvPr>
            <p:cNvSpPr/>
            <p:nvPr/>
          </p:nvSpPr>
          <p:spPr>
            <a:xfrm>
              <a:off x="4135120" y="2814320"/>
              <a:ext cx="3545840" cy="1188720"/>
            </a:xfrm>
            <a:prstGeom prst="chevron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12000" rtlCol="0" anchor="ctr"/>
            <a:lstStyle/>
            <a:p>
              <a:pPr algn="ctr"/>
              <a:r>
                <a:rPr lang="en-SE" dirty="0">
                  <a:solidFill>
                    <a:schemeClr val="tx1"/>
                  </a:solidFill>
                </a:rPr>
                <a:t>Collect data about the research question</a:t>
              </a:r>
            </a:p>
          </p:txBody>
        </p:sp>
        <p:pic>
          <p:nvPicPr>
            <p:cNvPr id="12" name="Graphic 11" descr="Database with solid fill">
              <a:extLst>
                <a:ext uri="{FF2B5EF4-FFF2-40B4-BE49-F238E27FC236}">
                  <a16:creationId xmlns:a16="http://schemas.microsoft.com/office/drawing/2014/main" id="{B3338610-ADB3-DDB0-8A0A-1039380CE2A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4791200" y="3136015"/>
              <a:ext cx="540000" cy="54000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02D403B-305E-3617-32B4-772DD751283B}"/>
              </a:ext>
            </a:extLst>
          </p:cNvPr>
          <p:cNvGrpSpPr/>
          <p:nvPr/>
        </p:nvGrpSpPr>
        <p:grpSpPr>
          <a:xfrm>
            <a:off x="7294880" y="2814320"/>
            <a:ext cx="3921760" cy="1188720"/>
            <a:chOff x="7294880" y="2814320"/>
            <a:chExt cx="3921760" cy="1188720"/>
          </a:xfrm>
        </p:grpSpPr>
        <p:sp>
          <p:nvSpPr>
            <p:cNvPr id="9" name="Arrow: Chevron 8">
              <a:extLst>
                <a:ext uri="{FF2B5EF4-FFF2-40B4-BE49-F238E27FC236}">
                  <a16:creationId xmlns:a16="http://schemas.microsoft.com/office/drawing/2014/main" id="{8EDB9C7F-AEF7-28C6-DCD6-553298A1FD14}"/>
                </a:ext>
              </a:extLst>
            </p:cNvPr>
            <p:cNvSpPr/>
            <p:nvPr/>
          </p:nvSpPr>
          <p:spPr>
            <a:xfrm>
              <a:off x="7294880" y="2814320"/>
              <a:ext cx="3921760" cy="1188720"/>
            </a:xfrm>
            <a:prstGeom prst="chevron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12000" rtlCol="0" anchor="ctr"/>
            <a:lstStyle/>
            <a:p>
              <a:pPr algn="ctr"/>
              <a:r>
                <a:rPr lang="en-SE" dirty="0">
                  <a:solidFill>
                    <a:schemeClr val="tx1"/>
                  </a:solidFill>
                </a:rPr>
                <a:t>Answer the research question with the data</a:t>
              </a:r>
            </a:p>
          </p:txBody>
        </p:sp>
        <p:pic>
          <p:nvPicPr>
            <p:cNvPr id="13" name="Graphic 12" descr="Statistics with solid fill">
              <a:extLst>
                <a:ext uri="{FF2B5EF4-FFF2-40B4-BE49-F238E27FC236}">
                  <a16:creationId xmlns:a16="http://schemas.microsoft.com/office/drawing/2014/main" id="{5E255B67-63A5-BCC1-B279-D41791A911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7948160" y="3136015"/>
              <a:ext cx="540000" cy="540000"/>
            </a:xfrm>
            <a:prstGeom prst="rect">
              <a:avLst/>
            </a:prstGeom>
          </p:spPr>
        </p:pic>
      </p:grp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2F2CFE5-D2E4-A239-986A-3192AE3B9332}"/>
              </a:ext>
            </a:extLst>
          </p:cNvPr>
          <p:cNvSpPr txBox="1">
            <a:spLocks/>
          </p:cNvSpPr>
          <p:nvPr/>
        </p:nvSpPr>
        <p:spPr>
          <a:xfrm>
            <a:off x="838200" y="4358641"/>
            <a:ext cx="10515600" cy="1368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E" dirty="0"/>
              <a:t>For example: Does the use of artificial intelligence increase the productivity of software engineers?</a:t>
            </a:r>
          </a:p>
        </p:txBody>
      </p:sp>
    </p:spTree>
    <p:extLst>
      <p:ext uri="{BB962C8B-B14F-4D97-AF65-F5344CB8AC3E}">
        <p14:creationId xmlns:p14="http://schemas.microsoft.com/office/powerpoint/2010/main" val="3564025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5CE77-3A76-A561-1395-7C2596B5F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SE" dirty="0"/>
              <a:t>Scientific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5AC4F-DBF6-FAC5-3D3B-1A4275C46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11524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When collecting data from a real scenario, we call this an </a:t>
            </a:r>
            <a:r>
              <a:rPr lang="en-SE" b="1" dirty="0"/>
              <a:t>observational study</a:t>
            </a:r>
            <a:r>
              <a:rPr lang="en-SE" dirty="0"/>
              <a:t> since we “observe” the reality. This type of study is very powerful, but underlies one critical challenge: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E0E8F-BDB8-C69F-D1D0-F5EBA6FB7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268D0-BDE4-2241-FC33-370AAEBCA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276FD-240D-F319-9AE0-4C13A78FC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13</a:t>
            </a:fld>
            <a:endParaRPr lang="en-S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D47A347-2418-8D73-031D-54D9593883E1}"/>
              </a:ext>
            </a:extLst>
          </p:cNvPr>
          <p:cNvGrpSpPr/>
          <p:nvPr/>
        </p:nvGrpSpPr>
        <p:grpSpPr>
          <a:xfrm>
            <a:off x="2056537" y="3246120"/>
            <a:ext cx="8078921" cy="903701"/>
            <a:chOff x="3108960" y="4454434"/>
            <a:chExt cx="8078921" cy="903701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6FA8882-5DC2-A5E5-4BD1-249FE513F91D}"/>
                </a:ext>
              </a:extLst>
            </p:cNvPr>
            <p:cNvSpPr/>
            <p:nvPr/>
          </p:nvSpPr>
          <p:spPr>
            <a:xfrm>
              <a:off x="3108960" y="4454434"/>
              <a:ext cx="8078921" cy="903701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0" rtlCol="0" anchor="ctr"/>
            <a:lstStyle/>
            <a:p>
              <a:r>
                <a:rPr lang="en-SE" dirty="0">
                  <a:solidFill>
                    <a:schemeClr val="bg1"/>
                  </a:solidFill>
                </a:rPr>
                <a:t>Is the observed effect</a:t>
              </a:r>
              <a:r>
                <a:rPr lang="en-SE" i="1" dirty="0">
                  <a:solidFill>
                    <a:schemeClr val="bg1"/>
                  </a:solidFill>
                </a:rPr>
                <a:t> caused </a:t>
              </a:r>
              <a:r>
                <a:rPr lang="en-SE" dirty="0">
                  <a:solidFill>
                    <a:schemeClr val="bg1"/>
                  </a:solidFill>
                </a:rPr>
                <a:t>by the variables of interest, or does it just </a:t>
              </a:r>
              <a:r>
                <a:rPr lang="en-SE" i="1" dirty="0">
                  <a:solidFill>
                    <a:schemeClr val="bg1"/>
                  </a:solidFill>
                </a:rPr>
                <a:t>coincide </a:t>
              </a:r>
              <a:r>
                <a:rPr lang="en-SE" dirty="0">
                  <a:solidFill>
                    <a:schemeClr val="bg1"/>
                  </a:solidFill>
                </a:rPr>
                <a:t>with other variables?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pic>
          <p:nvPicPr>
            <p:cNvPr id="9" name="Graphic 8" descr="Open quotation mark with solid fill">
              <a:extLst>
                <a:ext uri="{FF2B5EF4-FFF2-40B4-BE49-F238E27FC236}">
                  <a16:creationId xmlns:a16="http://schemas.microsoft.com/office/drawing/2014/main" id="{DAF18C85-836E-5547-A571-3237F7ABE6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3109536" y="4546284"/>
              <a:ext cx="720000" cy="720000"/>
            </a:xfrm>
            <a:prstGeom prst="rect">
              <a:avLst/>
            </a:prstGeom>
          </p:spPr>
        </p:pic>
      </p:grp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8094715-E59A-8F04-DA90-4D1448F2D18C}"/>
              </a:ext>
            </a:extLst>
          </p:cNvPr>
          <p:cNvSpPr txBox="1">
            <a:spLocks/>
          </p:cNvSpPr>
          <p:nvPr/>
        </p:nvSpPr>
        <p:spPr>
          <a:xfrm>
            <a:off x="838198" y="4424551"/>
            <a:ext cx="10515600" cy="17838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E" dirty="0"/>
              <a:t>In our example, we might see that software engineers using AI are more productive. But is it </a:t>
            </a:r>
            <a:r>
              <a:rPr lang="en-SE" i="1" dirty="0"/>
              <a:t>because</a:t>
            </a:r>
            <a:r>
              <a:rPr lang="en-SE" dirty="0"/>
              <a:t> they use AI? Or is it because </a:t>
            </a:r>
            <a:r>
              <a:rPr lang="en-SE" i="1" dirty="0"/>
              <a:t>motivated </a:t>
            </a:r>
            <a:r>
              <a:rPr lang="en-SE" dirty="0"/>
              <a:t>engineers tend to use AI while simultaneously being more productive by default?</a:t>
            </a:r>
          </a:p>
        </p:txBody>
      </p:sp>
    </p:spTree>
    <p:extLst>
      <p:ext uri="{BB962C8B-B14F-4D97-AF65-F5344CB8AC3E}">
        <p14:creationId xmlns:p14="http://schemas.microsoft.com/office/powerpoint/2010/main" val="1158162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08CF7-5914-346D-4E48-29706BB35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Validity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6AFB2-BF54-C4DA-6164-23EC563E1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28590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This particular dimension of rigor can be framed as </a:t>
            </a:r>
            <a:r>
              <a:rPr lang="en-SE" b="1" dirty="0"/>
              <a:t>internal validity.</a:t>
            </a:r>
            <a:endParaRPr lang="en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6592D-231C-3B6E-5EEA-26BA72EA9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51CC7-CFD6-6C10-6988-9D107AFE5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E214A-327D-8A0F-8D3C-59E64072E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14</a:t>
            </a:fld>
            <a:endParaRPr lang="en-S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837595D-1455-8CE6-DF8D-6693E93BFA30}"/>
              </a:ext>
            </a:extLst>
          </p:cNvPr>
          <p:cNvGrpSpPr/>
          <p:nvPr/>
        </p:nvGrpSpPr>
        <p:grpSpPr>
          <a:xfrm>
            <a:off x="2056539" y="3010718"/>
            <a:ext cx="8078921" cy="1447261"/>
            <a:chOff x="3108960" y="4454433"/>
            <a:chExt cx="8078921" cy="1447261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6B654E07-E72A-E263-F224-8C4BC26875AF}"/>
                </a:ext>
              </a:extLst>
            </p:cNvPr>
            <p:cNvSpPr/>
            <p:nvPr/>
          </p:nvSpPr>
          <p:spPr>
            <a:xfrm>
              <a:off x="3108960" y="4454433"/>
              <a:ext cx="8078921" cy="1447261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SE" sz="2400" dirty="0">
                  <a:solidFill>
                    <a:schemeClr val="bg1"/>
                  </a:solidFill>
                </a:rPr>
                <a:t>Internal validity is the degree to which an observed effect can be attributed to the independent variable of interest.</a:t>
              </a:r>
              <a:endParaRPr lang="en-SE" sz="2400" dirty="0"/>
            </a:p>
          </p:txBody>
        </p:sp>
        <p:pic>
          <p:nvPicPr>
            <p:cNvPr id="9" name="Graphic 8" descr="Open quotation mark with solid fill">
              <a:extLst>
                <a:ext uri="{FF2B5EF4-FFF2-40B4-BE49-F238E27FC236}">
                  <a16:creationId xmlns:a16="http://schemas.microsoft.com/office/drawing/2014/main" id="{21E153FD-A9ED-9560-09A4-758D78538B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3124200" y="4454434"/>
              <a:ext cx="720000" cy="7200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06B2D87-EA80-9F3A-9C67-A534C7A4F3B3}"/>
                </a:ext>
              </a:extLst>
            </p:cNvPr>
            <p:cNvSpPr txBox="1"/>
            <p:nvPr/>
          </p:nvSpPr>
          <p:spPr>
            <a:xfrm>
              <a:off x="3859440" y="4598333"/>
              <a:ext cx="707004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200" dirty="0" err="1">
                  <a:solidFill>
                    <a:schemeClr val="bg1"/>
                  </a:solidFill>
                </a:rPr>
                <a:t>Wohlin</a:t>
              </a:r>
              <a:r>
                <a:rPr lang="de-DE" sz="1200" dirty="0">
                  <a:solidFill>
                    <a:schemeClr val="bg1"/>
                  </a:solidFill>
                </a:rPr>
                <a:t>, C., </a:t>
              </a:r>
              <a:r>
                <a:rPr lang="de-DE" sz="1200" dirty="0" err="1">
                  <a:solidFill>
                    <a:schemeClr val="bg1"/>
                  </a:solidFill>
                </a:rPr>
                <a:t>Runeson</a:t>
              </a:r>
              <a:r>
                <a:rPr lang="de-DE" sz="1200" dirty="0">
                  <a:solidFill>
                    <a:schemeClr val="bg1"/>
                  </a:solidFill>
                </a:rPr>
                <a:t>, P., </a:t>
              </a:r>
              <a:r>
                <a:rPr lang="de-DE" sz="1200" dirty="0" err="1">
                  <a:solidFill>
                    <a:schemeClr val="bg1"/>
                  </a:solidFill>
                </a:rPr>
                <a:t>Höst</a:t>
              </a:r>
              <a:r>
                <a:rPr lang="de-DE" sz="1200" dirty="0">
                  <a:solidFill>
                    <a:schemeClr val="bg1"/>
                  </a:solidFill>
                </a:rPr>
                <a:t>, M., </a:t>
              </a:r>
              <a:r>
                <a:rPr lang="de-DE" sz="1200" dirty="0" err="1">
                  <a:solidFill>
                    <a:schemeClr val="bg1"/>
                  </a:solidFill>
                </a:rPr>
                <a:t>Ohlsson</a:t>
              </a:r>
              <a:r>
                <a:rPr lang="de-DE" sz="1200" dirty="0">
                  <a:solidFill>
                    <a:schemeClr val="bg1"/>
                  </a:solidFill>
                </a:rPr>
                <a:t>, M. C., Regnell, B., &amp; </a:t>
              </a:r>
              <a:r>
                <a:rPr lang="de-DE" sz="1200" dirty="0" err="1">
                  <a:solidFill>
                    <a:schemeClr val="bg1"/>
                  </a:solidFill>
                </a:rPr>
                <a:t>Wesslén</a:t>
              </a:r>
              <a:r>
                <a:rPr lang="de-DE" sz="1200" dirty="0">
                  <a:solidFill>
                    <a:schemeClr val="bg1"/>
                  </a:solidFill>
                </a:rPr>
                <a:t>, A. (2012). </a:t>
              </a:r>
              <a:r>
                <a:rPr lang="de-DE" sz="1200" dirty="0" err="1">
                  <a:solidFill>
                    <a:schemeClr val="bg1"/>
                  </a:solidFill>
                </a:rPr>
                <a:t>Experimentation</a:t>
              </a:r>
              <a:r>
                <a:rPr lang="de-DE" sz="1200" dirty="0">
                  <a:solidFill>
                    <a:schemeClr val="bg1"/>
                  </a:solidFill>
                </a:rPr>
                <a:t> in </a:t>
              </a:r>
              <a:r>
                <a:rPr lang="de-DE" sz="1200" dirty="0" err="1">
                  <a:solidFill>
                    <a:schemeClr val="bg1"/>
                  </a:solidFill>
                </a:rPr>
                <a:t>software</a:t>
              </a:r>
              <a:r>
                <a:rPr lang="de-DE" sz="1200" dirty="0">
                  <a:solidFill>
                    <a:schemeClr val="bg1"/>
                  </a:solidFill>
                </a:rPr>
                <a:t> </a:t>
              </a:r>
              <a:r>
                <a:rPr lang="de-DE" sz="1200" dirty="0" err="1">
                  <a:solidFill>
                    <a:schemeClr val="bg1"/>
                  </a:solidFill>
                </a:rPr>
                <a:t>engineering</a:t>
              </a:r>
              <a:r>
                <a:rPr lang="de-DE" sz="1200" dirty="0">
                  <a:solidFill>
                    <a:schemeClr val="bg1"/>
                  </a:solidFill>
                </a:rPr>
                <a:t> (Vol. 236, p. P3). Berlin: Springer.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0047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29EFE-A8A6-7614-7EF8-EED06EFCE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The Scientific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4C6A9-5123-A8F4-FE80-21CA2C1FE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Distinguishing </a:t>
            </a:r>
            <a:r>
              <a:rPr lang="en-SE" b="1" dirty="0"/>
              <a:t>causal relationships </a:t>
            </a:r>
            <a:r>
              <a:rPr lang="en-SE" dirty="0"/>
              <a:t>from </a:t>
            </a:r>
            <a:r>
              <a:rPr lang="en-SE" b="1" dirty="0"/>
              <a:t>spurious relationships </a:t>
            </a:r>
            <a:r>
              <a:rPr lang="en-SE" dirty="0"/>
              <a:t>is why our research needs to be </a:t>
            </a:r>
            <a:r>
              <a:rPr lang="en-SE" i="1" dirty="0"/>
              <a:t>rigorous</a:t>
            </a:r>
            <a:r>
              <a:rPr lang="en-SE" dirty="0"/>
              <a:t>. Otherwise, our results are not reliable and do not serve decision-making policies.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8E625-777C-F71D-5374-A07FFE2A0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FDB13-5122-634F-7FAB-28314C382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D6804-8B36-87EE-052A-BF56726B8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15</a:t>
            </a:fld>
            <a:endParaRPr lang="en-S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6733FB3-464D-540C-3E28-31AF7EAABDF4}"/>
              </a:ext>
            </a:extLst>
          </p:cNvPr>
          <p:cNvGrpSpPr/>
          <p:nvPr/>
        </p:nvGrpSpPr>
        <p:grpSpPr>
          <a:xfrm>
            <a:off x="4894174" y="3429000"/>
            <a:ext cx="2403652" cy="1609410"/>
            <a:chOff x="4894174" y="3429000"/>
            <a:chExt cx="2403652" cy="160941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F23C668-C97A-5F27-1DF4-C121102B45F7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54F45FF2-7EB7-9C85-4000-3D7C3BDBF348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1" name="Graphic 10" descr="Presentation with pie chart with solid fill">
                <a:extLst>
                  <a:ext uri="{FF2B5EF4-FFF2-40B4-BE49-F238E27FC236}">
                    <a16:creationId xmlns:a16="http://schemas.microsoft.com/office/drawing/2014/main" id="{816582BB-61BE-DB66-294B-3AB6CF6AF6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8ABF445-8F11-F4FD-6CC7-8D429AA9BEA5}"/>
                </a:ext>
              </a:extLst>
            </p:cNvPr>
            <p:cNvSpPr txBox="1"/>
            <p:nvPr/>
          </p:nvSpPr>
          <p:spPr>
            <a:xfrm>
              <a:off x="4894174" y="4669078"/>
              <a:ext cx="24036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 noProof="0" dirty="0"/>
                <a:t>Reliable Results</a:t>
              </a:r>
              <a:endParaRPr lang="en-US" sz="1600" noProof="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28D849-F531-2BFF-FE83-97A371CE4E84}"/>
              </a:ext>
            </a:extLst>
          </p:cNvPr>
          <p:cNvGrpSpPr/>
          <p:nvPr/>
        </p:nvGrpSpPr>
        <p:grpSpPr>
          <a:xfrm>
            <a:off x="1664361" y="3429000"/>
            <a:ext cx="2403652" cy="1609410"/>
            <a:chOff x="4894174" y="3429000"/>
            <a:chExt cx="2403652" cy="1609410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513F1F2-FF4D-637D-C5A3-858B4685843A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76965BE-F1C7-7918-FFB3-F5B4FED2451E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6" name="Graphic 15" descr="Badge New with solid fill">
                <a:extLst>
                  <a:ext uri="{FF2B5EF4-FFF2-40B4-BE49-F238E27FC236}">
                    <a16:creationId xmlns:a16="http://schemas.microsoft.com/office/drawing/2014/main" id="{47BCB3D6-902A-28C5-8F9A-BC2C70CA0D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44DFB8E-CC08-F3AA-2379-412B4BF302B9}"/>
                </a:ext>
              </a:extLst>
            </p:cNvPr>
            <p:cNvSpPr txBox="1"/>
            <p:nvPr/>
          </p:nvSpPr>
          <p:spPr>
            <a:xfrm>
              <a:off x="4894174" y="4669078"/>
              <a:ext cx="24036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 noProof="0" dirty="0"/>
                <a:t>Rigorous Science</a:t>
              </a:r>
              <a:endParaRPr lang="en-US" sz="1600" noProof="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845C4E1-1F6E-BDC7-2A16-4ECE10F54B7A}"/>
              </a:ext>
            </a:extLst>
          </p:cNvPr>
          <p:cNvGrpSpPr/>
          <p:nvPr/>
        </p:nvGrpSpPr>
        <p:grpSpPr>
          <a:xfrm>
            <a:off x="8123987" y="3429000"/>
            <a:ext cx="2403652" cy="1886409"/>
            <a:chOff x="4894174" y="3429000"/>
            <a:chExt cx="2403652" cy="1886409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1E1FDCF-6A57-7D8A-B71A-42051B144C69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EC50ED4D-3A8F-A804-C13F-D4F62F6D6F82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21" name="Graphic 20" descr="Scales of justice with solid fill">
                <a:extLst>
                  <a:ext uri="{FF2B5EF4-FFF2-40B4-BE49-F238E27FC236}">
                    <a16:creationId xmlns:a16="http://schemas.microsoft.com/office/drawing/2014/main" id="{B6D56997-40BF-BE31-973A-8D79658B6F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367D4F5-7B26-FF2C-C57E-0E6876BDFAB0}"/>
                </a:ext>
              </a:extLst>
            </p:cNvPr>
            <p:cNvSpPr txBox="1"/>
            <p:nvPr/>
          </p:nvSpPr>
          <p:spPr>
            <a:xfrm>
              <a:off x="4894174" y="4669078"/>
              <a:ext cx="24036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b="1" noProof="0" dirty="0"/>
                <a:t>Decision-making Policies</a:t>
              </a:r>
              <a:endParaRPr lang="en-US" sz="1600" noProof="0" dirty="0"/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3FFC3D6-2113-5E32-72A3-451AD3D20A9C}"/>
              </a:ext>
            </a:extLst>
          </p:cNvPr>
          <p:cNvCxnSpPr>
            <a:stCxn id="15" idx="6"/>
            <a:endCxn id="10" idx="2"/>
          </p:cNvCxnSpPr>
          <p:nvPr/>
        </p:nvCxnSpPr>
        <p:spPr>
          <a:xfrm>
            <a:off x="3406187" y="3969000"/>
            <a:ext cx="21498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9E73954-2D24-CFD6-B5A2-11CD8A3DE410}"/>
              </a:ext>
            </a:extLst>
          </p:cNvPr>
          <p:cNvCxnSpPr>
            <a:cxnSpLocks/>
            <a:stCxn id="10" idx="6"/>
            <a:endCxn id="20" idx="2"/>
          </p:cNvCxnSpPr>
          <p:nvPr/>
        </p:nvCxnSpPr>
        <p:spPr>
          <a:xfrm>
            <a:off x="6636000" y="3969000"/>
            <a:ext cx="21498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19D2553F-B7C1-CC80-0A54-48DC285B4AC0}"/>
              </a:ext>
            </a:extLst>
          </p:cNvPr>
          <p:cNvSpPr txBox="1">
            <a:spLocks/>
          </p:cNvSpPr>
          <p:nvPr/>
        </p:nvSpPr>
        <p:spPr>
          <a:xfrm>
            <a:off x="838198" y="5476801"/>
            <a:ext cx="10515600" cy="801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E" dirty="0"/>
              <a:t>We need tools to frame and identify this distinction.</a:t>
            </a:r>
          </a:p>
        </p:txBody>
      </p:sp>
    </p:spTree>
    <p:extLst>
      <p:ext uri="{BB962C8B-B14F-4D97-AF65-F5344CB8AC3E}">
        <p14:creationId xmlns:p14="http://schemas.microsoft.com/office/powerpoint/2010/main" val="1742928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A728DC6-6A8B-6679-470D-8EE922D9F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Causal Modelling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ADB7B05-1A56-1184-094D-6EFCCBEA7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A Syntax to Formalize Causal Assumptions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E4B51-3457-50C8-968E-F6B913FF4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DED573-87FD-5188-1E76-94590C780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16</a:t>
            </a:fld>
            <a:endParaRPr lang="en-SE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A2E445D-9CBB-BF1C-BA94-36F692FCF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735222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E5DF5-1C47-AB9C-67AB-BA5DD6472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Causal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D0932-E5B2-570A-801C-FB679D242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E" dirty="0"/>
              <a:t>A</a:t>
            </a:r>
            <a:r>
              <a:rPr lang="en-US" dirty="0"/>
              <a:t> </a:t>
            </a:r>
            <a:r>
              <a:rPr lang="en-SE" dirty="0"/>
              <a:t>(structural) </a:t>
            </a:r>
            <a:r>
              <a:rPr lang="en-US" dirty="0"/>
              <a:t>causal model is a </a:t>
            </a:r>
            <a:r>
              <a:rPr lang="en-US" b="1" dirty="0"/>
              <a:t>conceptual model </a:t>
            </a:r>
            <a:r>
              <a:rPr lang="en-US" dirty="0"/>
              <a:t>that </a:t>
            </a:r>
            <a:r>
              <a:rPr lang="en-US" i="1" dirty="0"/>
              <a:t>represents the causal mechanisms of a system</a:t>
            </a:r>
            <a:r>
              <a:rPr lang="en-SE" dirty="0"/>
              <a:t> [1]. They serve two main purposes [2]:</a:t>
            </a:r>
          </a:p>
          <a:p>
            <a:pPr marL="514350" indent="-514350">
              <a:buFont typeface="+mj-lt"/>
              <a:buAutoNum type="arabicPeriod"/>
            </a:pPr>
            <a:r>
              <a:rPr lang="en-SE" b="1" dirty="0"/>
              <a:t>Visualizing causal assumptions </a:t>
            </a:r>
            <a:r>
              <a:rPr lang="en-SE" dirty="0"/>
              <a:t>and determining testable implications.</a:t>
            </a:r>
          </a:p>
          <a:p>
            <a:pPr marL="514350" indent="-514350">
              <a:buFont typeface="+mj-lt"/>
              <a:buAutoNum type="arabicPeriod"/>
            </a:pPr>
            <a:r>
              <a:rPr lang="en-SE" b="1" dirty="0"/>
              <a:t>Proving the possibility</a:t>
            </a:r>
            <a:r>
              <a:rPr lang="en-SE" dirty="0"/>
              <a:t> of computing causal effects from observational data.</a:t>
            </a:r>
          </a:p>
          <a:p>
            <a:pPr marL="0" indent="0">
              <a:buNone/>
            </a:pPr>
            <a:endParaRPr lang="en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1409B-DF23-3041-2093-6EF72D65E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F7FE09-3720-CE42-3654-137CE602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17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B78FC7-81EA-4AB1-6061-D924AAB5F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61123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964DA-6318-2F75-058A-96F88B77D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Structure of the Slides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12EE6-55D5-532B-B79A-1B2F2D74A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50022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Every lesson consists of its theory and one or more use cases.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8DE04-E79E-080F-E937-D7D334579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3B6D25-C11E-CCF1-6FC3-A9827618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18</a:t>
            </a:fld>
            <a:endParaRPr lang="en-SE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57A5804-81AF-9DD3-FB1B-5CD9C677CBE7}"/>
              </a:ext>
            </a:extLst>
          </p:cNvPr>
          <p:cNvGrpSpPr/>
          <p:nvPr/>
        </p:nvGrpSpPr>
        <p:grpSpPr>
          <a:xfrm>
            <a:off x="3336814" y="3214455"/>
            <a:ext cx="4383741" cy="1267899"/>
            <a:chOff x="4007223" y="3124807"/>
            <a:chExt cx="4383741" cy="1797424"/>
          </a:xfrm>
        </p:grpSpPr>
        <p:sp>
          <p:nvSpPr>
            <p:cNvPr id="6" name="Arrow: Pentagon 5">
              <a:extLst>
                <a:ext uri="{FF2B5EF4-FFF2-40B4-BE49-F238E27FC236}">
                  <a16:creationId xmlns:a16="http://schemas.microsoft.com/office/drawing/2014/main" id="{37B0FD1D-BC4F-1784-9299-C5AA35CF9CD8}"/>
                </a:ext>
              </a:extLst>
            </p:cNvPr>
            <p:cNvSpPr/>
            <p:nvPr/>
          </p:nvSpPr>
          <p:spPr>
            <a:xfrm>
              <a:off x="4007223" y="3124807"/>
              <a:ext cx="2384612" cy="1797424"/>
            </a:xfrm>
            <a:prstGeom prst="homePlat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dirty="0"/>
                <a:t>Theory</a:t>
              </a:r>
            </a:p>
          </p:txBody>
        </p:sp>
        <p:sp>
          <p:nvSpPr>
            <p:cNvPr id="7" name="Arrow: Chevron 6">
              <a:extLst>
                <a:ext uri="{FF2B5EF4-FFF2-40B4-BE49-F238E27FC236}">
                  <a16:creationId xmlns:a16="http://schemas.microsoft.com/office/drawing/2014/main" id="{A612D421-CB6A-403E-2FAF-CD322542F251}"/>
                </a:ext>
              </a:extLst>
            </p:cNvPr>
            <p:cNvSpPr/>
            <p:nvPr/>
          </p:nvSpPr>
          <p:spPr>
            <a:xfrm>
              <a:off x="5867400" y="3124807"/>
              <a:ext cx="2523564" cy="1797424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dirty="0">
                  <a:solidFill>
                    <a:schemeClr val="tx1"/>
                  </a:solidFill>
                </a:rPr>
                <a:t>Use Case</a:t>
              </a:r>
            </a:p>
          </p:txBody>
        </p:sp>
      </p:grp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DEC9D5D-178A-D48F-1CFE-73DEA939D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334369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B0B92-803A-8B09-F829-33CDB61E3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Directed Acyclic Graphs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66D9AC-B6FB-0B9E-C15F-BADAAB3DD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86946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Causal models can be realized as directed, acyclic graphs (</a:t>
            </a:r>
            <a:r>
              <a:rPr lang="en-SE" dirty="0" err="1"/>
              <a:t>DAGs</a:t>
            </a:r>
            <a:r>
              <a:rPr lang="en-SE" dirty="0"/>
              <a:t>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8502D-EBCD-96C1-E6AE-79F3D8929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5A1315-2881-226F-F35C-C9C7C04AE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19</a:t>
            </a:fld>
            <a:endParaRPr lang="en-S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A394FEB-D389-ED2B-560F-B2A1526DA755}"/>
              </a:ext>
            </a:extLst>
          </p:cNvPr>
          <p:cNvSpPr/>
          <p:nvPr/>
        </p:nvSpPr>
        <p:spPr>
          <a:xfrm>
            <a:off x="4425166" y="3102597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noProof="0" dirty="0">
                <a:solidFill>
                  <a:srgbClr val="D0180A"/>
                </a:solidFill>
              </a:rPr>
              <a:t>x</a:t>
            </a:r>
            <a:endParaRPr lang="en-US" noProof="0" dirty="0">
              <a:solidFill>
                <a:srgbClr val="D0180A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2B96BE9-03FA-9841-F7FA-979F7C35976C}"/>
              </a:ext>
            </a:extLst>
          </p:cNvPr>
          <p:cNvSpPr/>
          <p:nvPr/>
        </p:nvSpPr>
        <p:spPr>
          <a:xfrm>
            <a:off x="6916546" y="3102597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noProof="0" dirty="0">
                <a:solidFill>
                  <a:srgbClr val="006D70"/>
                </a:solidFill>
              </a:rPr>
              <a:t>y</a:t>
            </a:r>
            <a:endParaRPr lang="en-US" noProof="0" dirty="0">
              <a:solidFill>
                <a:srgbClr val="006D7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C906011-3D06-E783-3823-86F7F37BC9ED}"/>
              </a:ext>
            </a:extLst>
          </p:cNvPr>
          <p:cNvCxnSpPr>
            <a:stCxn id="8" idx="6"/>
            <a:endCxn id="9" idx="2"/>
          </p:cNvCxnSpPr>
          <p:nvPr/>
        </p:nvCxnSpPr>
        <p:spPr>
          <a:xfrm>
            <a:off x="4785166" y="3282597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9589101-93C4-A77A-EC84-996EF342BC87}"/>
              </a:ext>
            </a:extLst>
          </p:cNvPr>
          <p:cNvGrpSpPr/>
          <p:nvPr/>
        </p:nvGrpSpPr>
        <p:grpSpPr>
          <a:xfrm>
            <a:off x="1076545" y="4856774"/>
            <a:ext cx="1417151" cy="360000"/>
            <a:chOff x="1076545" y="4856774"/>
            <a:chExt cx="1417151" cy="36000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49464A4B-25CC-BE9E-2980-54A61952112E}"/>
                </a:ext>
              </a:extLst>
            </p:cNvPr>
            <p:cNvSpPr/>
            <p:nvPr/>
          </p:nvSpPr>
          <p:spPr>
            <a:xfrm>
              <a:off x="1076545" y="4856774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A304390-CFC2-F70F-F2C8-009675821AFC}"/>
                </a:ext>
              </a:extLst>
            </p:cNvPr>
            <p:cNvSpPr txBox="1"/>
            <p:nvPr/>
          </p:nvSpPr>
          <p:spPr>
            <a:xfrm>
              <a:off x="1495794" y="4867742"/>
              <a:ext cx="99790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sz="1600" noProof="0" dirty="0"/>
                <a:t>exposure</a:t>
              </a:r>
              <a:endParaRPr lang="en-US" sz="1600" noProof="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EFFF5FA-13E3-DB63-C98B-D0D5A553AB92}"/>
              </a:ext>
            </a:extLst>
          </p:cNvPr>
          <p:cNvGrpSpPr/>
          <p:nvPr/>
        </p:nvGrpSpPr>
        <p:grpSpPr>
          <a:xfrm>
            <a:off x="1074854" y="5309376"/>
            <a:ext cx="1428215" cy="360000"/>
            <a:chOff x="1074854" y="5309376"/>
            <a:chExt cx="1428215" cy="360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7C995C8-20A4-8371-2AA2-F4FED47222E9}"/>
                </a:ext>
              </a:extLst>
            </p:cNvPr>
            <p:cNvSpPr/>
            <p:nvPr/>
          </p:nvSpPr>
          <p:spPr>
            <a:xfrm>
              <a:off x="1074854" y="5309376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38249DC-65F3-BB27-68BE-60DB8AABB290}"/>
                </a:ext>
              </a:extLst>
            </p:cNvPr>
            <p:cNvSpPr txBox="1"/>
            <p:nvPr/>
          </p:nvSpPr>
          <p:spPr>
            <a:xfrm>
              <a:off x="1495677" y="5320099"/>
              <a:ext cx="10073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sz="1600" noProof="0" dirty="0"/>
                <a:t>response</a:t>
              </a:r>
              <a:endParaRPr lang="en-US" sz="1600" noProof="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94A2CDF-64BD-5B91-430F-77FB4370700B}"/>
              </a:ext>
            </a:extLst>
          </p:cNvPr>
          <p:cNvGrpSpPr/>
          <p:nvPr/>
        </p:nvGrpSpPr>
        <p:grpSpPr>
          <a:xfrm>
            <a:off x="3396566" y="4757200"/>
            <a:ext cx="2457272" cy="584775"/>
            <a:chOff x="3396566" y="4757200"/>
            <a:chExt cx="2457272" cy="584775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211FD7A-69D5-1C39-C7D8-D29753F78653}"/>
                </a:ext>
              </a:extLst>
            </p:cNvPr>
            <p:cNvCxnSpPr>
              <a:cxnSpLocks/>
            </p:cNvCxnSpPr>
            <p:nvPr/>
          </p:nvCxnSpPr>
          <p:spPr>
            <a:xfrm>
              <a:off x="3396566" y="5052796"/>
              <a:ext cx="2772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0BAF563-3A9A-EF8A-B5A1-7018E14DEB9D}"/>
                </a:ext>
              </a:extLst>
            </p:cNvPr>
            <p:cNvSpPr txBox="1"/>
            <p:nvPr/>
          </p:nvSpPr>
          <p:spPr>
            <a:xfrm>
              <a:off x="4093548" y="4757200"/>
              <a:ext cx="176029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sz="1600" noProof="0" dirty="0"/>
                <a:t>(assumed) causal</a:t>
              </a:r>
              <a:br>
                <a:rPr lang="en-SE" sz="1600" noProof="0" dirty="0"/>
              </a:br>
              <a:r>
                <a:rPr lang="en-SE" sz="1600" noProof="0" dirty="0"/>
                <a:t>relationship</a:t>
              </a:r>
              <a:endParaRPr lang="en-US" sz="1600" noProof="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227ACC8-46F6-AAE9-68E6-EAD0BF355D90}"/>
              </a:ext>
            </a:extLst>
          </p:cNvPr>
          <p:cNvGrpSpPr/>
          <p:nvPr/>
        </p:nvGrpSpPr>
        <p:grpSpPr>
          <a:xfrm>
            <a:off x="3036566" y="5308246"/>
            <a:ext cx="2435291" cy="360000"/>
            <a:chOff x="3036566" y="4872796"/>
            <a:chExt cx="2435291" cy="36000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3883E95-0686-FBC2-C97A-21AEE4B96D78}"/>
                </a:ext>
              </a:extLst>
            </p:cNvPr>
            <p:cNvSpPr/>
            <p:nvPr/>
          </p:nvSpPr>
          <p:spPr>
            <a:xfrm>
              <a:off x="3036566" y="4872796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8727B5D-54A5-7AE7-DA53-FDB109ABC186}"/>
                </a:ext>
              </a:extLst>
            </p:cNvPr>
            <p:cNvSpPr/>
            <p:nvPr/>
          </p:nvSpPr>
          <p:spPr>
            <a:xfrm>
              <a:off x="3673766" y="4872796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334930B-B9D9-7152-55D6-214A3C87C7DB}"/>
                </a:ext>
              </a:extLst>
            </p:cNvPr>
            <p:cNvCxnSpPr>
              <a:stCxn id="37" idx="6"/>
              <a:endCxn id="38" idx="2"/>
            </p:cNvCxnSpPr>
            <p:nvPr/>
          </p:nvCxnSpPr>
          <p:spPr>
            <a:xfrm>
              <a:off x="3396566" y="5052796"/>
              <a:ext cx="2772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7C69D8A-F13E-6081-0C6D-EC464B67C7F3}"/>
                </a:ext>
              </a:extLst>
            </p:cNvPr>
            <p:cNvSpPr txBox="1"/>
            <p:nvPr/>
          </p:nvSpPr>
          <p:spPr>
            <a:xfrm>
              <a:off x="4099365" y="4877874"/>
              <a:ext cx="13724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noProof="0" dirty="0"/>
                <a:t>phenomenon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0311B17-4492-AE7C-EF0B-995010D3820C}"/>
              </a:ext>
            </a:extLst>
          </p:cNvPr>
          <p:cNvGrpSpPr/>
          <p:nvPr/>
        </p:nvGrpSpPr>
        <p:grpSpPr>
          <a:xfrm>
            <a:off x="838198" y="365125"/>
            <a:ext cx="1983884" cy="245531"/>
            <a:chOff x="4114799" y="3759391"/>
            <a:chExt cx="1983884" cy="1229241"/>
          </a:xfrm>
        </p:grpSpPr>
        <p:sp>
          <p:nvSpPr>
            <p:cNvPr id="51" name="Arrow: Pentagon 50">
              <a:extLst>
                <a:ext uri="{FF2B5EF4-FFF2-40B4-BE49-F238E27FC236}">
                  <a16:creationId xmlns:a16="http://schemas.microsoft.com/office/drawing/2014/main" id="{D937EAE5-0B8E-5028-4FF5-55E5084D44BC}"/>
                </a:ext>
              </a:extLst>
            </p:cNvPr>
            <p:cNvSpPr/>
            <p:nvPr/>
          </p:nvSpPr>
          <p:spPr>
            <a:xfrm>
              <a:off x="4114799" y="3759391"/>
              <a:ext cx="794039" cy="1229241"/>
            </a:xfrm>
            <a:prstGeom prst="homePlat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/>
                <a:t>Theory</a:t>
              </a:r>
            </a:p>
          </p:txBody>
        </p:sp>
        <p:sp>
          <p:nvSpPr>
            <p:cNvPr id="52" name="Arrow: Chevron 51">
              <a:extLst>
                <a:ext uri="{FF2B5EF4-FFF2-40B4-BE49-F238E27FC236}">
                  <a16:creationId xmlns:a16="http://schemas.microsoft.com/office/drawing/2014/main" id="{882CB19B-FC48-B258-5CF9-2A2612FAE6CE}"/>
                </a:ext>
              </a:extLst>
            </p:cNvPr>
            <p:cNvSpPr/>
            <p:nvPr/>
          </p:nvSpPr>
          <p:spPr>
            <a:xfrm>
              <a:off x="4843616" y="3759391"/>
              <a:ext cx="1255067" cy="1229241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>
                  <a:solidFill>
                    <a:schemeClr val="bg1">
                      <a:lumMod val="75000"/>
                    </a:schemeClr>
                  </a:solidFill>
                </a:rPr>
                <a:t>Use Case</a:t>
              </a:r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931EBE-42A9-BAE2-2609-77F476282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2612227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A5F62-34FF-DB0A-4AEF-D49C61799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Formulating Casual 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DE2C76-CA4A-2A82-C7A6-96D7EB902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1331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D</a:t>
            </a:r>
            <a:r>
              <a:rPr lang="en-SE" dirty="0"/>
              <a:t>AGs can visualize a causal hypothesis graphically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5B4BB-DB5C-9D7B-31B9-14C466FFF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1A663-E0DB-E5A9-901C-9C85B65D4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20</a:t>
            </a:fld>
            <a:endParaRPr lang="en-SE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AD425C1-E3FC-F582-D298-6FB610428C61}"/>
              </a:ext>
            </a:extLst>
          </p:cNvPr>
          <p:cNvGrpSpPr/>
          <p:nvPr/>
        </p:nvGrpSpPr>
        <p:grpSpPr>
          <a:xfrm>
            <a:off x="838198" y="365125"/>
            <a:ext cx="1983884" cy="245531"/>
            <a:chOff x="4114799" y="3759391"/>
            <a:chExt cx="1983884" cy="1229241"/>
          </a:xfrm>
        </p:grpSpPr>
        <p:sp>
          <p:nvSpPr>
            <p:cNvPr id="21" name="Arrow: Pentagon 20">
              <a:extLst>
                <a:ext uri="{FF2B5EF4-FFF2-40B4-BE49-F238E27FC236}">
                  <a16:creationId xmlns:a16="http://schemas.microsoft.com/office/drawing/2014/main" id="{8FA5C9AB-65A4-D8D1-875E-D0EE4901610B}"/>
                </a:ext>
              </a:extLst>
            </p:cNvPr>
            <p:cNvSpPr/>
            <p:nvPr/>
          </p:nvSpPr>
          <p:spPr>
            <a:xfrm>
              <a:off x="4114799" y="3759391"/>
              <a:ext cx="794039" cy="1229241"/>
            </a:xfrm>
            <a:prstGeom prst="homePlat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/>
                <a:t>Theory</a:t>
              </a:r>
            </a:p>
          </p:txBody>
        </p:sp>
        <p:sp>
          <p:nvSpPr>
            <p:cNvPr id="22" name="Arrow: Chevron 21">
              <a:extLst>
                <a:ext uri="{FF2B5EF4-FFF2-40B4-BE49-F238E27FC236}">
                  <a16:creationId xmlns:a16="http://schemas.microsoft.com/office/drawing/2014/main" id="{BA3AA58D-2763-8DCC-9289-626F3166CD3B}"/>
                </a:ext>
              </a:extLst>
            </p:cNvPr>
            <p:cNvSpPr/>
            <p:nvPr/>
          </p:nvSpPr>
          <p:spPr>
            <a:xfrm>
              <a:off x="4843616" y="3759391"/>
              <a:ext cx="1255067" cy="1229241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>
                  <a:solidFill>
                    <a:schemeClr val="tx1"/>
                  </a:solidFill>
                </a:rPr>
                <a:t>Use Case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2CB6EFC-D86E-0B04-C3A0-7023F75E1364}"/>
              </a:ext>
            </a:extLst>
          </p:cNvPr>
          <p:cNvGrpSpPr/>
          <p:nvPr/>
        </p:nvGrpSpPr>
        <p:grpSpPr>
          <a:xfrm>
            <a:off x="3182902" y="4888210"/>
            <a:ext cx="5826196" cy="403743"/>
            <a:chOff x="2946927" y="2810435"/>
            <a:chExt cx="5826196" cy="403743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B85F829-4FED-CA4B-A087-4F6426751B1A}"/>
                </a:ext>
              </a:extLst>
            </p:cNvPr>
            <p:cNvSpPr/>
            <p:nvPr/>
          </p:nvSpPr>
          <p:spPr>
            <a:xfrm>
              <a:off x="4431353" y="2849512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D0180A"/>
                  </a:solidFill>
                </a:rPr>
                <a:t>x</a:t>
              </a:r>
              <a:endParaRPr lang="en-US" noProof="0" dirty="0">
                <a:solidFill>
                  <a:srgbClr val="D0180A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39C8EEC-8151-A979-A3CE-EA79C1A4496C}"/>
                </a:ext>
              </a:extLst>
            </p:cNvPr>
            <p:cNvSpPr/>
            <p:nvPr/>
          </p:nvSpPr>
          <p:spPr>
            <a:xfrm>
              <a:off x="6922733" y="2849512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006D70"/>
                  </a:solidFill>
                </a:rPr>
                <a:t>y</a:t>
              </a:r>
              <a:endParaRPr lang="en-US" noProof="0" dirty="0">
                <a:solidFill>
                  <a:srgbClr val="006D70"/>
                </a:solidFill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EE8B4602-ED5A-C54B-42F6-DC09EB9F5F45}"/>
                </a:ext>
              </a:extLst>
            </p:cNvPr>
            <p:cNvCxnSpPr>
              <a:stCxn id="24" idx="6"/>
              <a:endCxn id="25" idx="2"/>
            </p:cNvCxnSpPr>
            <p:nvPr/>
          </p:nvCxnSpPr>
          <p:spPr>
            <a:xfrm>
              <a:off x="4791353" y="3029512"/>
              <a:ext cx="21313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7820FA8-49D1-FDB8-13E1-1749C00D555E}"/>
                </a:ext>
              </a:extLst>
            </p:cNvPr>
            <p:cNvSpPr txBox="1"/>
            <p:nvPr/>
          </p:nvSpPr>
          <p:spPr>
            <a:xfrm>
              <a:off x="2946927" y="2810435"/>
              <a:ext cx="1443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noProof="0" dirty="0">
                  <a:solidFill>
                    <a:srgbClr val="D0180A"/>
                  </a:solidFill>
                </a:rPr>
                <a:t>u</a:t>
              </a:r>
              <a:r>
                <a:rPr lang="en-SE" noProof="0" dirty="0">
                  <a:solidFill>
                    <a:srgbClr val="D0180A"/>
                  </a:solidFill>
                </a:rPr>
                <a:t>se of GenAI</a:t>
              </a:r>
              <a:endParaRPr lang="en-US" noProof="0" dirty="0">
                <a:solidFill>
                  <a:srgbClr val="D0180A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3647905-DEF4-31EE-1C75-EE63E8577861}"/>
                </a:ext>
              </a:extLst>
            </p:cNvPr>
            <p:cNvSpPr txBox="1"/>
            <p:nvPr/>
          </p:nvSpPr>
          <p:spPr>
            <a:xfrm>
              <a:off x="7410186" y="2844846"/>
              <a:ext cx="13629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noProof="0" dirty="0">
                  <a:solidFill>
                    <a:srgbClr val="006D70"/>
                  </a:solidFill>
                </a:rPr>
                <a:t>productivity</a:t>
              </a:r>
              <a:endParaRPr lang="en-US" noProof="0" dirty="0">
                <a:solidFill>
                  <a:srgbClr val="006D70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42B7D3F-8A77-7C39-30FE-F42BA66DA828}"/>
              </a:ext>
            </a:extLst>
          </p:cNvPr>
          <p:cNvGrpSpPr/>
          <p:nvPr/>
        </p:nvGrpSpPr>
        <p:grpSpPr>
          <a:xfrm>
            <a:off x="3053445" y="3141364"/>
            <a:ext cx="6079146" cy="914400"/>
            <a:chOff x="1567015" y="3101788"/>
            <a:chExt cx="6079146" cy="914400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EA2E74E6-52A2-1EA3-E6C4-8A9DFD16ADFE}"/>
                </a:ext>
              </a:extLst>
            </p:cNvPr>
            <p:cNvSpPr/>
            <p:nvPr/>
          </p:nvSpPr>
          <p:spPr>
            <a:xfrm>
              <a:off x="1567015" y="3101788"/>
              <a:ext cx="6079146" cy="9144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r>
                <a:rPr lang="en-SE" dirty="0">
                  <a:solidFill>
                    <a:schemeClr val="tx1"/>
                  </a:solidFill>
                </a:rPr>
                <a:t>RQ: Does the use of generative AI (GenAI) have an effect on the productivity of developers?</a:t>
              </a:r>
            </a:p>
          </p:txBody>
        </p:sp>
        <p:pic>
          <p:nvPicPr>
            <p:cNvPr id="31" name="Graphic 30" descr="Open quotation mark with solid fill">
              <a:extLst>
                <a:ext uri="{FF2B5EF4-FFF2-40B4-BE49-F238E27FC236}">
                  <a16:creationId xmlns:a16="http://schemas.microsoft.com/office/drawing/2014/main" id="{0961F92E-DE03-10D2-D024-BAE858D218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1632237" y="3162988"/>
              <a:ext cx="792000" cy="792000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A2E0380-9DDA-08E2-6408-20B82B4F925B}"/>
              </a:ext>
            </a:extLst>
          </p:cNvPr>
          <p:cNvGrpSpPr/>
          <p:nvPr/>
        </p:nvGrpSpPr>
        <p:grpSpPr>
          <a:xfrm>
            <a:off x="3053445" y="3141364"/>
            <a:ext cx="6079146" cy="914400"/>
            <a:chOff x="1567015" y="3101788"/>
            <a:chExt cx="6079146" cy="914400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06B2B5A1-3406-6D4A-E5FE-D120FC631565}"/>
                </a:ext>
              </a:extLst>
            </p:cNvPr>
            <p:cNvSpPr/>
            <p:nvPr/>
          </p:nvSpPr>
          <p:spPr>
            <a:xfrm>
              <a:off x="1567015" y="3101788"/>
              <a:ext cx="6079146" cy="9144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r>
                <a:rPr lang="en-SE" dirty="0">
                  <a:solidFill>
                    <a:schemeClr val="tx1"/>
                  </a:solidFill>
                </a:rPr>
                <a:t>RQ: Does the use of </a:t>
              </a:r>
              <a:r>
                <a:rPr lang="en-SE" b="1" dirty="0">
                  <a:solidFill>
                    <a:srgbClr val="D0180A"/>
                  </a:solidFill>
                </a:rPr>
                <a:t>generative AI (GenAI) </a:t>
              </a:r>
              <a:r>
                <a:rPr lang="en-SE" dirty="0">
                  <a:solidFill>
                    <a:schemeClr val="tx1"/>
                  </a:solidFill>
                </a:rPr>
                <a:t>have </a:t>
              </a:r>
              <a:r>
                <a:rPr lang="en-SE" b="1" dirty="0">
                  <a:solidFill>
                    <a:schemeClr val="tx1"/>
                  </a:solidFill>
                </a:rPr>
                <a:t>an effect</a:t>
              </a:r>
              <a:r>
                <a:rPr lang="en-SE" dirty="0">
                  <a:solidFill>
                    <a:schemeClr val="tx1"/>
                  </a:solidFill>
                </a:rPr>
                <a:t> on the </a:t>
              </a:r>
              <a:r>
                <a:rPr lang="en-SE" b="1" dirty="0">
                  <a:solidFill>
                    <a:srgbClr val="006D70"/>
                  </a:solidFill>
                </a:rPr>
                <a:t>productivity</a:t>
              </a:r>
              <a:r>
                <a:rPr lang="en-SE" dirty="0">
                  <a:solidFill>
                    <a:schemeClr val="tx1"/>
                  </a:solidFill>
                </a:rPr>
                <a:t> of developers?</a:t>
              </a:r>
            </a:p>
          </p:txBody>
        </p:sp>
        <p:pic>
          <p:nvPicPr>
            <p:cNvPr id="35" name="Graphic 34" descr="Open quotation mark with solid fill">
              <a:extLst>
                <a:ext uri="{FF2B5EF4-FFF2-40B4-BE49-F238E27FC236}">
                  <a16:creationId xmlns:a16="http://schemas.microsoft.com/office/drawing/2014/main" id="{1F33165E-89DF-832C-3851-9CD33485734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1632237" y="3162988"/>
              <a:ext cx="792000" cy="792000"/>
            </a:xfrm>
            <a:prstGeom prst="rect">
              <a:avLst/>
            </a:prstGeom>
          </p:spPr>
        </p:pic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DB7E5D-292D-46FC-CA7A-ABA84BBA3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039451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9F299-A841-B36B-CDEF-5DF869A33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9BC08-2A05-00F5-A666-EF025075E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Directed Acyclic Graphs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BD1138-667E-87BC-65E3-58518322B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86946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Causal models can be realized as directed, acyclic graphs (</a:t>
            </a:r>
            <a:r>
              <a:rPr lang="en-SE" dirty="0" err="1"/>
              <a:t>DAGs</a:t>
            </a:r>
            <a:r>
              <a:rPr lang="en-SE" dirty="0"/>
              <a:t>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312FB-FF4D-F5EA-C59D-37391B73F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B877DB-5ADE-EB81-0102-BB2FD39A5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21</a:t>
            </a:fld>
            <a:endParaRPr lang="en-SE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8D38C02-FD75-C433-0CF7-186D7FDA5848}"/>
              </a:ext>
            </a:extLst>
          </p:cNvPr>
          <p:cNvGrpSpPr/>
          <p:nvPr/>
        </p:nvGrpSpPr>
        <p:grpSpPr>
          <a:xfrm>
            <a:off x="1076545" y="4856774"/>
            <a:ext cx="1417151" cy="360000"/>
            <a:chOff x="1076545" y="4856774"/>
            <a:chExt cx="1417151" cy="36000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8F7639A-C371-1EA2-75FE-3CD5A67B49ED}"/>
                </a:ext>
              </a:extLst>
            </p:cNvPr>
            <p:cNvSpPr/>
            <p:nvPr/>
          </p:nvSpPr>
          <p:spPr>
            <a:xfrm>
              <a:off x="1076545" y="4856774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DD3D4CB-125F-494B-0D11-30E44958AE60}"/>
                </a:ext>
              </a:extLst>
            </p:cNvPr>
            <p:cNvSpPr txBox="1"/>
            <p:nvPr/>
          </p:nvSpPr>
          <p:spPr>
            <a:xfrm>
              <a:off x="1495794" y="4867742"/>
              <a:ext cx="99790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sz="1600" noProof="0" dirty="0"/>
                <a:t>exposure</a:t>
              </a:r>
              <a:endParaRPr lang="en-US" sz="1600" noProof="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0BBFB0C-2F34-23DD-0E37-F5AB2430F8AE}"/>
              </a:ext>
            </a:extLst>
          </p:cNvPr>
          <p:cNvGrpSpPr/>
          <p:nvPr/>
        </p:nvGrpSpPr>
        <p:grpSpPr>
          <a:xfrm>
            <a:off x="1074854" y="5309376"/>
            <a:ext cx="1428215" cy="360000"/>
            <a:chOff x="1074854" y="5309376"/>
            <a:chExt cx="1428215" cy="360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DEAE94F-81BE-A702-F8CF-7CC2A9402017}"/>
                </a:ext>
              </a:extLst>
            </p:cNvPr>
            <p:cNvSpPr/>
            <p:nvPr/>
          </p:nvSpPr>
          <p:spPr>
            <a:xfrm>
              <a:off x="1074854" y="5309376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5DA2004-D7B8-71FB-A507-AD11CCB9B5B1}"/>
                </a:ext>
              </a:extLst>
            </p:cNvPr>
            <p:cNvSpPr txBox="1"/>
            <p:nvPr/>
          </p:nvSpPr>
          <p:spPr>
            <a:xfrm>
              <a:off x="1495677" y="5320099"/>
              <a:ext cx="10073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sz="1600" noProof="0" dirty="0"/>
                <a:t>response</a:t>
              </a:r>
              <a:endParaRPr lang="en-US" sz="1600" noProof="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D844AC6-CD7B-271E-0DE2-2A8FED467B14}"/>
              </a:ext>
            </a:extLst>
          </p:cNvPr>
          <p:cNvGrpSpPr/>
          <p:nvPr/>
        </p:nvGrpSpPr>
        <p:grpSpPr>
          <a:xfrm>
            <a:off x="3396566" y="4757200"/>
            <a:ext cx="2457272" cy="584775"/>
            <a:chOff x="3396566" y="4757200"/>
            <a:chExt cx="2457272" cy="584775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687E2EED-AF7E-420D-1A18-9D6226E9525E}"/>
                </a:ext>
              </a:extLst>
            </p:cNvPr>
            <p:cNvCxnSpPr>
              <a:cxnSpLocks/>
            </p:cNvCxnSpPr>
            <p:nvPr/>
          </p:nvCxnSpPr>
          <p:spPr>
            <a:xfrm>
              <a:off x="3396566" y="5052796"/>
              <a:ext cx="2772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17BF94E-8492-A458-7029-6E3B1E2932AF}"/>
                </a:ext>
              </a:extLst>
            </p:cNvPr>
            <p:cNvSpPr txBox="1"/>
            <p:nvPr/>
          </p:nvSpPr>
          <p:spPr>
            <a:xfrm>
              <a:off x="4093548" y="4757200"/>
              <a:ext cx="176029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sz="1600" noProof="0" dirty="0"/>
                <a:t>(assumed) causal</a:t>
              </a:r>
              <a:br>
                <a:rPr lang="en-SE" sz="1600" noProof="0" dirty="0"/>
              </a:br>
              <a:r>
                <a:rPr lang="en-SE" sz="1600" noProof="0" dirty="0"/>
                <a:t>relationship</a:t>
              </a:r>
              <a:endParaRPr lang="en-US" sz="1600" noProof="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C1192E4-A250-C4AE-8A66-542EF83E226F}"/>
              </a:ext>
            </a:extLst>
          </p:cNvPr>
          <p:cNvGrpSpPr/>
          <p:nvPr/>
        </p:nvGrpSpPr>
        <p:grpSpPr>
          <a:xfrm>
            <a:off x="1074854" y="5761978"/>
            <a:ext cx="1747227" cy="360000"/>
            <a:chOff x="1074854" y="5761978"/>
            <a:chExt cx="1747227" cy="3600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ADFFFE8-5E04-FD35-63E6-3C259395634A}"/>
                </a:ext>
              </a:extLst>
            </p:cNvPr>
            <p:cNvSpPr/>
            <p:nvPr/>
          </p:nvSpPr>
          <p:spPr>
            <a:xfrm>
              <a:off x="1074854" y="5761978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C5F4FE3-99DE-AC12-C53E-DC0F2925FC34}"/>
                </a:ext>
              </a:extLst>
            </p:cNvPr>
            <p:cNvSpPr txBox="1"/>
            <p:nvPr/>
          </p:nvSpPr>
          <p:spPr>
            <a:xfrm>
              <a:off x="1497306" y="5772700"/>
              <a:ext cx="1324775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SE" sz="1600" noProof="0" dirty="0"/>
                <a:t>other </a:t>
              </a:r>
              <a:r>
                <a:rPr lang="en-SE" sz="1600" dirty="0"/>
                <a:t>factors</a:t>
              </a:r>
              <a:endParaRPr lang="en-US" sz="1600" noProof="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B4DA7F2-F780-AA4F-5881-FEA6778D5CA6}"/>
              </a:ext>
            </a:extLst>
          </p:cNvPr>
          <p:cNvGrpSpPr/>
          <p:nvPr/>
        </p:nvGrpSpPr>
        <p:grpSpPr>
          <a:xfrm>
            <a:off x="3036566" y="5308246"/>
            <a:ext cx="2435291" cy="360000"/>
            <a:chOff x="3036566" y="4872796"/>
            <a:chExt cx="2435291" cy="36000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FA27C5D-1F26-5E6C-1D71-7260614E83F3}"/>
                </a:ext>
              </a:extLst>
            </p:cNvPr>
            <p:cNvSpPr/>
            <p:nvPr/>
          </p:nvSpPr>
          <p:spPr>
            <a:xfrm>
              <a:off x="3036566" y="4872796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65FED3D-39CF-C153-E360-0600A13A7313}"/>
                </a:ext>
              </a:extLst>
            </p:cNvPr>
            <p:cNvSpPr/>
            <p:nvPr/>
          </p:nvSpPr>
          <p:spPr>
            <a:xfrm>
              <a:off x="3673766" y="4872796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6011411D-2642-0BF9-EABE-DC5C21633FF8}"/>
                </a:ext>
              </a:extLst>
            </p:cNvPr>
            <p:cNvCxnSpPr>
              <a:stCxn id="37" idx="6"/>
              <a:endCxn id="38" idx="2"/>
            </p:cNvCxnSpPr>
            <p:nvPr/>
          </p:nvCxnSpPr>
          <p:spPr>
            <a:xfrm>
              <a:off x="3396566" y="5052796"/>
              <a:ext cx="2772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232087E-6FE9-F6ED-3490-8B117A04C70D}"/>
                </a:ext>
              </a:extLst>
            </p:cNvPr>
            <p:cNvSpPr txBox="1"/>
            <p:nvPr/>
          </p:nvSpPr>
          <p:spPr>
            <a:xfrm>
              <a:off x="4099365" y="4877874"/>
              <a:ext cx="13724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noProof="0" dirty="0"/>
                <a:t>phenomenon</a:t>
              </a: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4CF00E53-A432-946D-3DA3-32848CF5E725}"/>
              </a:ext>
            </a:extLst>
          </p:cNvPr>
          <p:cNvSpPr/>
          <p:nvPr/>
        </p:nvSpPr>
        <p:spPr>
          <a:xfrm>
            <a:off x="4431353" y="3315677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noProof="0" dirty="0">
                <a:solidFill>
                  <a:srgbClr val="D0180A"/>
                </a:solidFill>
              </a:rPr>
              <a:t>x</a:t>
            </a:r>
            <a:endParaRPr lang="en-US" noProof="0" dirty="0">
              <a:solidFill>
                <a:srgbClr val="D0180A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DF55B29-7D9C-9F72-3356-41561E6AC372}"/>
              </a:ext>
            </a:extLst>
          </p:cNvPr>
          <p:cNvSpPr/>
          <p:nvPr/>
        </p:nvSpPr>
        <p:spPr>
          <a:xfrm>
            <a:off x="6922733" y="3315677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noProof="0" dirty="0">
                <a:solidFill>
                  <a:srgbClr val="006D70"/>
                </a:solidFill>
              </a:rPr>
              <a:t>y</a:t>
            </a:r>
            <a:endParaRPr lang="en-US" noProof="0" dirty="0">
              <a:solidFill>
                <a:srgbClr val="006D7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D1D6D37-70BA-6184-E076-C02271CC0E3E}"/>
              </a:ext>
            </a:extLst>
          </p:cNvPr>
          <p:cNvCxnSpPr>
            <a:stCxn id="8" idx="6"/>
            <a:endCxn id="9" idx="2"/>
          </p:cNvCxnSpPr>
          <p:nvPr/>
        </p:nvCxnSpPr>
        <p:spPr>
          <a:xfrm>
            <a:off x="4791353" y="3495677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DAB319A1-6288-E728-1555-6D5393411362}"/>
              </a:ext>
            </a:extLst>
          </p:cNvPr>
          <p:cNvSpPr/>
          <p:nvPr/>
        </p:nvSpPr>
        <p:spPr>
          <a:xfrm>
            <a:off x="4431353" y="4091330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z</a:t>
            </a:r>
            <a:endParaRPr lang="en-US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B4F4371-6000-E968-DAC8-3698B79DD51D}"/>
              </a:ext>
            </a:extLst>
          </p:cNvPr>
          <p:cNvSpPr/>
          <p:nvPr/>
        </p:nvSpPr>
        <p:spPr>
          <a:xfrm>
            <a:off x="5676494" y="4091330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</a:t>
            </a:r>
            <a:endParaRPr lang="en-US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D9C9F7E-E717-78F3-A8FE-A522C4AD08AA}"/>
              </a:ext>
            </a:extLst>
          </p:cNvPr>
          <p:cNvCxnSpPr>
            <a:cxnSpLocks/>
            <a:stCxn id="14" idx="7"/>
            <a:endCxn id="9" idx="3"/>
          </p:cNvCxnSpPr>
          <p:nvPr/>
        </p:nvCxnSpPr>
        <p:spPr>
          <a:xfrm flipV="1">
            <a:off x="5983773" y="3622956"/>
            <a:ext cx="991681" cy="5210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7CE8957-0514-3C5A-0BFB-F87C05CFEA45}"/>
              </a:ext>
            </a:extLst>
          </p:cNvPr>
          <p:cNvCxnSpPr>
            <a:cxnSpLocks/>
            <a:stCxn id="14" idx="2"/>
            <a:endCxn id="13" idx="6"/>
          </p:cNvCxnSpPr>
          <p:nvPr/>
        </p:nvCxnSpPr>
        <p:spPr>
          <a:xfrm flipH="1">
            <a:off x="4791353" y="4271330"/>
            <a:ext cx="8851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1F876BC-D713-9C15-95AF-30AF7B642A74}"/>
              </a:ext>
            </a:extLst>
          </p:cNvPr>
          <p:cNvCxnSpPr>
            <a:cxnSpLocks/>
            <a:stCxn id="13" idx="0"/>
            <a:endCxn id="8" idx="4"/>
          </p:cNvCxnSpPr>
          <p:nvPr/>
        </p:nvCxnSpPr>
        <p:spPr>
          <a:xfrm flipV="1">
            <a:off x="4611353" y="3675677"/>
            <a:ext cx="0" cy="4156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2238440-C645-9F91-68A6-D90A920FF1B0}"/>
              </a:ext>
            </a:extLst>
          </p:cNvPr>
          <p:cNvCxnSpPr>
            <a:cxnSpLocks/>
            <a:stCxn id="14" idx="1"/>
            <a:endCxn id="8" idx="5"/>
          </p:cNvCxnSpPr>
          <p:nvPr/>
        </p:nvCxnSpPr>
        <p:spPr>
          <a:xfrm flipH="1" flipV="1">
            <a:off x="4738632" y="3622956"/>
            <a:ext cx="990583" cy="5210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DCD00AC2-B321-D988-F768-0B52805FC3E7}"/>
              </a:ext>
            </a:extLst>
          </p:cNvPr>
          <p:cNvSpPr/>
          <p:nvPr/>
        </p:nvSpPr>
        <p:spPr>
          <a:xfrm>
            <a:off x="5676668" y="2526255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</a:t>
            </a:r>
            <a:endParaRPr lang="en-US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6964AE6-6556-5673-CAA6-11D0120152F7}"/>
              </a:ext>
            </a:extLst>
          </p:cNvPr>
          <p:cNvCxnSpPr>
            <a:cxnSpLocks/>
            <a:stCxn id="8" idx="7"/>
            <a:endCxn id="3" idx="3"/>
          </p:cNvCxnSpPr>
          <p:nvPr/>
        </p:nvCxnSpPr>
        <p:spPr>
          <a:xfrm flipV="1">
            <a:off x="4738632" y="2833534"/>
            <a:ext cx="990757" cy="534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D5C898-30F5-6B0C-E482-E08EA6A4C3EF}"/>
              </a:ext>
            </a:extLst>
          </p:cNvPr>
          <p:cNvCxnSpPr>
            <a:cxnSpLocks/>
            <a:stCxn id="3" idx="5"/>
            <a:endCxn id="9" idx="1"/>
          </p:cNvCxnSpPr>
          <p:nvPr/>
        </p:nvCxnSpPr>
        <p:spPr>
          <a:xfrm>
            <a:off x="5983947" y="2833534"/>
            <a:ext cx="991507" cy="534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580C9D2-F358-F590-5599-D7C3FBDAC99A}"/>
              </a:ext>
            </a:extLst>
          </p:cNvPr>
          <p:cNvGrpSpPr/>
          <p:nvPr/>
        </p:nvGrpSpPr>
        <p:grpSpPr>
          <a:xfrm>
            <a:off x="838198" y="365125"/>
            <a:ext cx="1983884" cy="245531"/>
            <a:chOff x="4114799" y="3759391"/>
            <a:chExt cx="1983884" cy="1229241"/>
          </a:xfrm>
        </p:grpSpPr>
        <p:sp>
          <p:nvSpPr>
            <p:cNvPr id="59" name="Arrow: Pentagon 58">
              <a:extLst>
                <a:ext uri="{FF2B5EF4-FFF2-40B4-BE49-F238E27FC236}">
                  <a16:creationId xmlns:a16="http://schemas.microsoft.com/office/drawing/2014/main" id="{0E23A8FA-9C6D-5E50-035F-A16DB041F8E1}"/>
                </a:ext>
              </a:extLst>
            </p:cNvPr>
            <p:cNvSpPr/>
            <p:nvPr/>
          </p:nvSpPr>
          <p:spPr>
            <a:xfrm>
              <a:off x="4114799" y="3759391"/>
              <a:ext cx="794039" cy="1229241"/>
            </a:xfrm>
            <a:prstGeom prst="homePlat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/>
                <a:t>Theory</a:t>
              </a:r>
            </a:p>
          </p:txBody>
        </p:sp>
        <p:sp>
          <p:nvSpPr>
            <p:cNvPr id="60" name="Arrow: Chevron 59">
              <a:extLst>
                <a:ext uri="{FF2B5EF4-FFF2-40B4-BE49-F238E27FC236}">
                  <a16:creationId xmlns:a16="http://schemas.microsoft.com/office/drawing/2014/main" id="{3A966726-82DE-E722-BD43-42B7FD210415}"/>
                </a:ext>
              </a:extLst>
            </p:cNvPr>
            <p:cNvSpPr/>
            <p:nvPr/>
          </p:nvSpPr>
          <p:spPr>
            <a:xfrm>
              <a:off x="4843616" y="3759391"/>
              <a:ext cx="1255067" cy="1229241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>
                  <a:solidFill>
                    <a:schemeClr val="bg1">
                      <a:lumMod val="75000"/>
                    </a:schemeClr>
                  </a:solidFill>
                </a:rPr>
                <a:t>Use Case</a:t>
              </a:r>
            </a:p>
          </p:txBody>
        </p:sp>
      </p:grp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4E8D540-5F61-88CD-D172-379F36ED2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14996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54D6D-2E73-1A00-C876-5E43DC693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A8096-F215-937E-69BC-F785C709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Formulating Complex 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C071C-0B84-2B3E-0073-2E69DBE66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1331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DAGs </a:t>
            </a:r>
            <a:r>
              <a:rPr lang="de-DE" dirty="0" err="1"/>
              <a:t>conve</a:t>
            </a:r>
            <a:r>
              <a:rPr lang="en-SE" dirty="0"/>
              <a:t>y complex relationships between multiple variables in a simple and straightforward manner.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474B7-C8C1-4536-9BA2-22C4940CA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4F815-2552-FF54-13B9-1629626B9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22</a:t>
            </a:fld>
            <a:endParaRPr lang="en-SE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DC11518-F143-577A-0844-7B78C95E369A}"/>
              </a:ext>
            </a:extLst>
          </p:cNvPr>
          <p:cNvGrpSpPr/>
          <p:nvPr/>
        </p:nvGrpSpPr>
        <p:grpSpPr>
          <a:xfrm>
            <a:off x="6140076" y="3545590"/>
            <a:ext cx="5213724" cy="1278819"/>
            <a:chOff x="3431946" y="3172511"/>
            <a:chExt cx="5213724" cy="1278819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5F54ABB-39B6-1BE3-127B-B9620D37B27C}"/>
                </a:ext>
              </a:extLst>
            </p:cNvPr>
            <p:cNvSpPr/>
            <p:nvPr/>
          </p:nvSpPr>
          <p:spPr>
            <a:xfrm>
              <a:off x="4431353" y="3315677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D0180A"/>
                  </a:solidFill>
                </a:rPr>
                <a:t>x</a:t>
              </a:r>
              <a:endParaRPr lang="en-US" noProof="0" dirty="0">
                <a:solidFill>
                  <a:srgbClr val="D0180A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2FDB04E-8157-339B-8728-B1CDA768B228}"/>
                </a:ext>
              </a:extLst>
            </p:cNvPr>
            <p:cNvSpPr/>
            <p:nvPr/>
          </p:nvSpPr>
          <p:spPr>
            <a:xfrm>
              <a:off x="6922733" y="3315677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006D70"/>
                  </a:solidFill>
                </a:rPr>
                <a:t>y</a:t>
              </a:r>
              <a:endParaRPr lang="en-US" noProof="0" dirty="0">
                <a:solidFill>
                  <a:srgbClr val="006D70"/>
                </a:solidFill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22D0661-2000-B919-6F7F-3F24B9C07F84}"/>
                </a:ext>
              </a:extLst>
            </p:cNvPr>
            <p:cNvCxnSpPr>
              <a:stCxn id="24" idx="6"/>
              <a:endCxn id="25" idx="2"/>
            </p:cNvCxnSpPr>
            <p:nvPr/>
          </p:nvCxnSpPr>
          <p:spPr>
            <a:xfrm>
              <a:off x="4791353" y="3495677"/>
              <a:ext cx="21313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CC1DEE1-0F9D-6A53-8FD8-33E1B7C12CED}"/>
                </a:ext>
              </a:extLst>
            </p:cNvPr>
            <p:cNvSpPr txBox="1"/>
            <p:nvPr/>
          </p:nvSpPr>
          <p:spPr>
            <a:xfrm>
              <a:off x="3431946" y="3172511"/>
              <a:ext cx="9907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de-DE" noProof="0" dirty="0">
                  <a:solidFill>
                    <a:srgbClr val="D0180A"/>
                  </a:solidFill>
                </a:rPr>
                <a:t>u</a:t>
              </a:r>
              <a:r>
                <a:rPr lang="en-SE" noProof="0" dirty="0">
                  <a:solidFill>
                    <a:srgbClr val="D0180A"/>
                  </a:solidFill>
                </a:rPr>
                <a:t>se of GenAI</a:t>
              </a:r>
              <a:endParaRPr lang="en-US" noProof="0" dirty="0">
                <a:solidFill>
                  <a:srgbClr val="D0180A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BA5DA68-32C9-0D4B-5097-D95C5623401E}"/>
                </a:ext>
              </a:extLst>
            </p:cNvPr>
            <p:cNvSpPr txBox="1"/>
            <p:nvPr/>
          </p:nvSpPr>
          <p:spPr>
            <a:xfrm>
              <a:off x="7282733" y="3288250"/>
              <a:ext cx="13629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noProof="0" dirty="0">
                  <a:solidFill>
                    <a:srgbClr val="006D70"/>
                  </a:solidFill>
                </a:rPr>
                <a:t>productivity</a:t>
              </a:r>
              <a:endParaRPr lang="en-US" noProof="0" dirty="0">
                <a:solidFill>
                  <a:srgbClr val="006D70"/>
                </a:solidFill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F43C791C-99D0-5325-14CE-A9CC88D01005}"/>
                </a:ext>
              </a:extLst>
            </p:cNvPr>
            <p:cNvSpPr/>
            <p:nvPr/>
          </p:nvSpPr>
          <p:spPr>
            <a:xfrm>
              <a:off x="5676494" y="4091330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</a:t>
              </a:r>
              <a:endParaRPr lang="en-US" noProof="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AD75886-FA30-4A88-9EA8-668DE28B5814}"/>
                </a:ext>
              </a:extLst>
            </p:cNvPr>
            <p:cNvSpPr txBox="1"/>
            <p:nvPr/>
          </p:nvSpPr>
          <p:spPr>
            <a:xfrm>
              <a:off x="6036494" y="4081998"/>
              <a:ext cx="12462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motivation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522AE63-1952-50B6-5B55-24FE8835F9C7}"/>
                </a:ext>
              </a:extLst>
            </p:cNvPr>
            <p:cNvCxnSpPr>
              <a:cxnSpLocks/>
              <a:stCxn id="30" idx="7"/>
              <a:endCxn id="25" idx="3"/>
            </p:cNvCxnSpPr>
            <p:nvPr/>
          </p:nvCxnSpPr>
          <p:spPr>
            <a:xfrm flipV="1">
              <a:off x="5983773" y="3622956"/>
              <a:ext cx="991681" cy="5210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3001F5CB-D545-C6DE-BB65-0069ED13829E}"/>
                </a:ext>
              </a:extLst>
            </p:cNvPr>
            <p:cNvCxnSpPr>
              <a:cxnSpLocks/>
              <a:stCxn id="30" idx="1"/>
              <a:endCxn id="24" idx="5"/>
            </p:cNvCxnSpPr>
            <p:nvPr/>
          </p:nvCxnSpPr>
          <p:spPr>
            <a:xfrm flipH="1" flipV="1">
              <a:off x="4738632" y="3622956"/>
              <a:ext cx="990583" cy="5210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822F1F4-9D76-E570-7ACD-BB038F1263CE}"/>
              </a:ext>
            </a:extLst>
          </p:cNvPr>
          <p:cNvGrpSpPr/>
          <p:nvPr/>
        </p:nvGrpSpPr>
        <p:grpSpPr>
          <a:xfrm>
            <a:off x="838198" y="3331799"/>
            <a:ext cx="4938348" cy="1714997"/>
            <a:chOff x="1567015" y="3101787"/>
            <a:chExt cx="4938348" cy="1714997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8FA587C0-F2C4-32F2-8608-28DBF3D550E9}"/>
                </a:ext>
              </a:extLst>
            </p:cNvPr>
            <p:cNvSpPr/>
            <p:nvPr/>
          </p:nvSpPr>
          <p:spPr>
            <a:xfrm>
              <a:off x="1567015" y="3101787"/>
              <a:ext cx="4938348" cy="1714997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r>
                <a:rPr lang="en-SE" dirty="0">
                  <a:solidFill>
                    <a:schemeClr val="tx1"/>
                  </a:solidFill>
                </a:rPr>
                <a:t>RQ: Does the use of </a:t>
              </a:r>
              <a:r>
                <a:rPr lang="en-SE" b="1" dirty="0">
                  <a:solidFill>
                    <a:srgbClr val="D0180A"/>
                  </a:solidFill>
                </a:rPr>
                <a:t>generative AI (GenAI) </a:t>
              </a:r>
              <a:r>
                <a:rPr lang="en-SE" dirty="0">
                  <a:solidFill>
                    <a:schemeClr val="tx1"/>
                  </a:solidFill>
                </a:rPr>
                <a:t>have </a:t>
              </a:r>
              <a:r>
                <a:rPr lang="en-SE" b="1" dirty="0">
                  <a:solidFill>
                    <a:schemeClr val="tx1"/>
                  </a:solidFill>
                </a:rPr>
                <a:t>an effect</a:t>
              </a:r>
              <a:r>
                <a:rPr lang="en-SE" dirty="0">
                  <a:solidFill>
                    <a:schemeClr val="tx1"/>
                  </a:solidFill>
                </a:rPr>
                <a:t> on the </a:t>
              </a:r>
              <a:r>
                <a:rPr lang="en-SE" b="1" dirty="0">
                  <a:solidFill>
                    <a:srgbClr val="006D70"/>
                  </a:solidFill>
                </a:rPr>
                <a:t>productivity</a:t>
              </a:r>
              <a:r>
                <a:rPr lang="en-SE" dirty="0">
                  <a:solidFill>
                    <a:schemeClr val="tx1"/>
                  </a:solidFill>
                </a:rPr>
                <a:t> of developers, assuming that </a:t>
              </a:r>
              <a:r>
                <a:rPr lang="en-SE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motivation</a:t>
              </a:r>
              <a:r>
                <a:rPr lang="en-SE" dirty="0">
                  <a:solidFill>
                    <a:schemeClr val="tx1"/>
                  </a:solidFill>
                </a:rPr>
                <a:t> affects both usage and productivity.</a:t>
              </a:r>
            </a:p>
          </p:txBody>
        </p:sp>
        <p:pic>
          <p:nvPicPr>
            <p:cNvPr id="43" name="Graphic 42" descr="Open quotation mark with solid fill">
              <a:extLst>
                <a:ext uri="{FF2B5EF4-FFF2-40B4-BE49-F238E27FC236}">
                  <a16:creationId xmlns:a16="http://schemas.microsoft.com/office/drawing/2014/main" id="{542D7A71-7119-AC76-B96E-BBBD509469D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1632237" y="3162988"/>
              <a:ext cx="792000" cy="792000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A54E977-3DF6-F882-A2C2-F818255A38AC}"/>
              </a:ext>
            </a:extLst>
          </p:cNvPr>
          <p:cNvGrpSpPr/>
          <p:nvPr/>
        </p:nvGrpSpPr>
        <p:grpSpPr>
          <a:xfrm>
            <a:off x="838198" y="365125"/>
            <a:ext cx="1983884" cy="245531"/>
            <a:chOff x="4114799" y="3759391"/>
            <a:chExt cx="1983884" cy="1229241"/>
          </a:xfrm>
        </p:grpSpPr>
        <p:sp>
          <p:nvSpPr>
            <p:cNvPr id="45" name="Arrow: Pentagon 44">
              <a:extLst>
                <a:ext uri="{FF2B5EF4-FFF2-40B4-BE49-F238E27FC236}">
                  <a16:creationId xmlns:a16="http://schemas.microsoft.com/office/drawing/2014/main" id="{DCB85417-2D35-19B4-CBD1-2627BB33ED7D}"/>
                </a:ext>
              </a:extLst>
            </p:cNvPr>
            <p:cNvSpPr/>
            <p:nvPr/>
          </p:nvSpPr>
          <p:spPr>
            <a:xfrm>
              <a:off x="4114799" y="3759391"/>
              <a:ext cx="794039" cy="1229241"/>
            </a:xfrm>
            <a:prstGeom prst="homePlat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/>
                <a:t>Theory</a:t>
              </a:r>
            </a:p>
          </p:txBody>
        </p:sp>
        <p:sp>
          <p:nvSpPr>
            <p:cNvPr id="46" name="Arrow: Chevron 45">
              <a:extLst>
                <a:ext uri="{FF2B5EF4-FFF2-40B4-BE49-F238E27FC236}">
                  <a16:creationId xmlns:a16="http://schemas.microsoft.com/office/drawing/2014/main" id="{A557C880-81C7-3935-BB63-100DEFCEA54E}"/>
                </a:ext>
              </a:extLst>
            </p:cNvPr>
            <p:cNvSpPr/>
            <p:nvPr/>
          </p:nvSpPr>
          <p:spPr>
            <a:xfrm>
              <a:off x="4843616" y="3759391"/>
              <a:ext cx="1255067" cy="1229241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>
                  <a:solidFill>
                    <a:schemeClr val="tx1"/>
                  </a:solidFill>
                </a:rPr>
                <a:t>Use Case</a:t>
              </a:r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8FB95-B71C-58B3-E2AB-45998DCD2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68032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8FC17-5953-A530-508B-72120FD65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F5DFC-BD12-0A4E-94EA-9FFE12DC8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Formulating Complex 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46748-2840-B4C1-9A7B-38BB2D77B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1331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DAGs </a:t>
            </a:r>
            <a:r>
              <a:rPr lang="de-DE" dirty="0" err="1"/>
              <a:t>conve</a:t>
            </a:r>
            <a:r>
              <a:rPr lang="en-SE" dirty="0"/>
              <a:t>y complex relationships between multiple variables in a simple and straightforward manner.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DAA94-286D-4DA0-F72C-905063F38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0683ED-40BB-FEF6-759E-028F50DB4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23</a:t>
            </a:fld>
            <a:endParaRPr lang="en-SE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92CF65B-54C0-8583-B368-D800CA9E5B79}"/>
              </a:ext>
            </a:extLst>
          </p:cNvPr>
          <p:cNvGrpSpPr/>
          <p:nvPr/>
        </p:nvGrpSpPr>
        <p:grpSpPr>
          <a:xfrm>
            <a:off x="838198" y="3331799"/>
            <a:ext cx="4938348" cy="2450435"/>
            <a:chOff x="1567015" y="3101787"/>
            <a:chExt cx="4938348" cy="2450435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7C69890E-260B-A7AF-F0A4-CC9ACBD6EBEE}"/>
                </a:ext>
              </a:extLst>
            </p:cNvPr>
            <p:cNvSpPr/>
            <p:nvPr/>
          </p:nvSpPr>
          <p:spPr>
            <a:xfrm>
              <a:off x="1567015" y="3101787"/>
              <a:ext cx="4938348" cy="245043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r>
                <a:rPr lang="en-SE" dirty="0">
                  <a:solidFill>
                    <a:schemeClr val="tx1"/>
                  </a:solidFill>
                </a:rPr>
                <a:t>RQ: Does the use of </a:t>
              </a:r>
              <a:r>
                <a:rPr lang="en-SE" b="1" dirty="0">
                  <a:solidFill>
                    <a:srgbClr val="D0180A"/>
                  </a:solidFill>
                </a:rPr>
                <a:t>generative AI (GenAI) </a:t>
              </a:r>
              <a:r>
                <a:rPr lang="en-SE" dirty="0">
                  <a:solidFill>
                    <a:schemeClr val="tx1"/>
                  </a:solidFill>
                </a:rPr>
                <a:t>have </a:t>
              </a:r>
              <a:r>
                <a:rPr lang="en-SE" b="1" dirty="0">
                  <a:solidFill>
                    <a:schemeClr val="tx1"/>
                  </a:solidFill>
                </a:rPr>
                <a:t>an effect</a:t>
              </a:r>
              <a:r>
                <a:rPr lang="en-SE" dirty="0">
                  <a:solidFill>
                    <a:schemeClr val="tx1"/>
                  </a:solidFill>
                </a:rPr>
                <a:t> on the </a:t>
              </a:r>
              <a:r>
                <a:rPr lang="en-SE" b="1" dirty="0">
                  <a:solidFill>
                    <a:srgbClr val="006D70"/>
                  </a:solidFill>
                </a:rPr>
                <a:t>productivity</a:t>
              </a:r>
              <a:r>
                <a:rPr lang="en-SE" dirty="0">
                  <a:solidFill>
                    <a:schemeClr val="tx1"/>
                  </a:solidFill>
                </a:rPr>
                <a:t> of developers, assuming that motivation affects both usage (mediated by GenAI experience) and productivity, and accounting for an indirect effect of the IDE’s user experience?</a:t>
              </a:r>
            </a:p>
          </p:txBody>
        </p:sp>
        <p:pic>
          <p:nvPicPr>
            <p:cNvPr id="43" name="Graphic 42" descr="Open quotation mark with solid fill">
              <a:extLst>
                <a:ext uri="{FF2B5EF4-FFF2-40B4-BE49-F238E27FC236}">
                  <a16:creationId xmlns:a16="http://schemas.microsoft.com/office/drawing/2014/main" id="{B806FEE1-36E6-429C-A190-1A8A14D8712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1632237" y="3162988"/>
              <a:ext cx="792000" cy="792000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3441193-2689-D161-37AF-A2BC2465AE12}"/>
              </a:ext>
            </a:extLst>
          </p:cNvPr>
          <p:cNvGrpSpPr/>
          <p:nvPr/>
        </p:nvGrpSpPr>
        <p:grpSpPr>
          <a:xfrm>
            <a:off x="838198" y="365125"/>
            <a:ext cx="1983884" cy="245531"/>
            <a:chOff x="4114799" y="3759391"/>
            <a:chExt cx="1983884" cy="1229241"/>
          </a:xfrm>
        </p:grpSpPr>
        <p:sp>
          <p:nvSpPr>
            <p:cNvPr id="45" name="Arrow: Pentagon 44">
              <a:extLst>
                <a:ext uri="{FF2B5EF4-FFF2-40B4-BE49-F238E27FC236}">
                  <a16:creationId xmlns:a16="http://schemas.microsoft.com/office/drawing/2014/main" id="{B8637E44-80C6-7124-0168-9E3839F8F273}"/>
                </a:ext>
              </a:extLst>
            </p:cNvPr>
            <p:cNvSpPr/>
            <p:nvPr/>
          </p:nvSpPr>
          <p:spPr>
            <a:xfrm>
              <a:off x="4114799" y="3759391"/>
              <a:ext cx="794039" cy="1229241"/>
            </a:xfrm>
            <a:prstGeom prst="homePlat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/>
                <a:t>Theory</a:t>
              </a:r>
            </a:p>
          </p:txBody>
        </p:sp>
        <p:sp>
          <p:nvSpPr>
            <p:cNvPr id="46" name="Arrow: Chevron 45">
              <a:extLst>
                <a:ext uri="{FF2B5EF4-FFF2-40B4-BE49-F238E27FC236}">
                  <a16:creationId xmlns:a16="http://schemas.microsoft.com/office/drawing/2014/main" id="{5E9C37B7-70CF-75AD-A2B9-6B20ED0EAE84}"/>
                </a:ext>
              </a:extLst>
            </p:cNvPr>
            <p:cNvSpPr/>
            <p:nvPr/>
          </p:nvSpPr>
          <p:spPr>
            <a:xfrm>
              <a:off x="4843616" y="3759391"/>
              <a:ext cx="1255067" cy="1229241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>
                  <a:solidFill>
                    <a:schemeClr val="tx1"/>
                  </a:solidFill>
                </a:rPr>
                <a:t>Use Case</a:t>
              </a:r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03692F-D26F-94AC-EC6E-DAC2E7EF3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448498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7DBF9-8F59-5740-04E6-201C5AD4D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36357-7517-FF8A-DE92-2BC65F0B8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Formulating Complex 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883E4-3F14-6C99-76EA-21A41EF74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1331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DAGs </a:t>
            </a:r>
            <a:r>
              <a:rPr lang="de-DE" dirty="0" err="1"/>
              <a:t>conve</a:t>
            </a:r>
            <a:r>
              <a:rPr lang="en-SE" dirty="0"/>
              <a:t>y complex relationships between multiple variables in a simple and straightforward manner.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BCFCF-5E45-46AC-6252-C5338714B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2FECA5-AE59-7F8A-16F3-0BDFF54F4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24</a:t>
            </a:fld>
            <a:endParaRPr lang="en-SE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54202F9-D96E-FA75-BA2D-D4F1E7E614D4}"/>
              </a:ext>
            </a:extLst>
          </p:cNvPr>
          <p:cNvSpPr/>
          <p:nvPr/>
        </p:nvSpPr>
        <p:spPr>
          <a:xfrm>
            <a:off x="7139483" y="4218422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noProof="0" dirty="0">
                <a:solidFill>
                  <a:srgbClr val="D0180A"/>
                </a:solidFill>
              </a:rPr>
              <a:t>x</a:t>
            </a:r>
            <a:endParaRPr lang="en-US" noProof="0" dirty="0">
              <a:solidFill>
                <a:srgbClr val="D0180A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ECBC523-761B-CB14-30EE-CDD8ABD99EE0}"/>
              </a:ext>
            </a:extLst>
          </p:cNvPr>
          <p:cNvSpPr/>
          <p:nvPr/>
        </p:nvSpPr>
        <p:spPr>
          <a:xfrm>
            <a:off x="9630863" y="4218422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noProof="0" dirty="0">
                <a:solidFill>
                  <a:srgbClr val="006D70"/>
                </a:solidFill>
              </a:rPr>
              <a:t>y</a:t>
            </a:r>
            <a:endParaRPr lang="en-US" noProof="0" dirty="0">
              <a:solidFill>
                <a:srgbClr val="006D70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88FC9CB-2F8D-20CD-BFBB-E82BEAC3EBA2}"/>
              </a:ext>
            </a:extLst>
          </p:cNvPr>
          <p:cNvCxnSpPr>
            <a:cxnSpLocks/>
            <a:stCxn id="24" idx="6"/>
            <a:endCxn id="25" idx="2"/>
          </p:cNvCxnSpPr>
          <p:nvPr/>
        </p:nvCxnSpPr>
        <p:spPr>
          <a:xfrm>
            <a:off x="7499483" y="4398422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4BEDAFA-1F9F-76C8-EFF2-B098AF791AFC}"/>
              </a:ext>
            </a:extLst>
          </p:cNvPr>
          <p:cNvSpPr txBox="1"/>
          <p:nvPr/>
        </p:nvSpPr>
        <p:spPr>
          <a:xfrm>
            <a:off x="6140076" y="4075256"/>
            <a:ext cx="990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noProof="0" dirty="0">
                <a:solidFill>
                  <a:srgbClr val="D0180A"/>
                </a:solidFill>
              </a:rPr>
              <a:t>u</a:t>
            </a:r>
            <a:r>
              <a:rPr lang="en-SE" noProof="0" dirty="0">
                <a:solidFill>
                  <a:srgbClr val="D0180A"/>
                </a:solidFill>
              </a:rPr>
              <a:t>se of GenAI</a:t>
            </a:r>
            <a:endParaRPr lang="en-US" noProof="0" dirty="0">
              <a:solidFill>
                <a:srgbClr val="D0180A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A550CE-9109-90C1-FB4D-E0C33A53FEA9}"/>
              </a:ext>
            </a:extLst>
          </p:cNvPr>
          <p:cNvSpPr txBox="1"/>
          <p:nvPr/>
        </p:nvSpPr>
        <p:spPr>
          <a:xfrm>
            <a:off x="9990863" y="4190995"/>
            <a:ext cx="1362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noProof="0" dirty="0">
                <a:solidFill>
                  <a:srgbClr val="006D70"/>
                </a:solidFill>
              </a:rPr>
              <a:t>productivity</a:t>
            </a:r>
            <a:endParaRPr lang="en-US" noProof="0" dirty="0">
              <a:solidFill>
                <a:srgbClr val="006D70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8DA45B3-C8B4-7490-9D43-4A479F8608EF}"/>
              </a:ext>
            </a:extLst>
          </p:cNvPr>
          <p:cNvSpPr/>
          <p:nvPr/>
        </p:nvSpPr>
        <p:spPr>
          <a:xfrm>
            <a:off x="8384624" y="4994075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</a:t>
            </a:r>
            <a:endParaRPr lang="en-US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18F844-AAA5-F6A7-6172-5B869C32CEE7}"/>
              </a:ext>
            </a:extLst>
          </p:cNvPr>
          <p:cNvSpPr txBox="1"/>
          <p:nvPr/>
        </p:nvSpPr>
        <p:spPr>
          <a:xfrm>
            <a:off x="8744624" y="4984743"/>
            <a:ext cx="1246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motivation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19D4D73-D288-254E-20CD-4BFA312CA568}"/>
              </a:ext>
            </a:extLst>
          </p:cNvPr>
          <p:cNvCxnSpPr>
            <a:cxnSpLocks/>
            <a:stCxn id="30" idx="7"/>
            <a:endCxn id="25" idx="3"/>
          </p:cNvCxnSpPr>
          <p:nvPr/>
        </p:nvCxnSpPr>
        <p:spPr>
          <a:xfrm flipV="1">
            <a:off x="8691903" y="4525701"/>
            <a:ext cx="991681" cy="5210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2F778CB-0078-E417-FA95-EAA5A4337C28}"/>
              </a:ext>
            </a:extLst>
          </p:cNvPr>
          <p:cNvCxnSpPr>
            <a:cxnSpLocks/>
            <a:stCxn id="30" idx="1"/>
            <a:endCxn id="24" idx="5"/>
          </p:cNvCxnSpPr>
          <p:nvPr/>
        </p:nvCxnSpPr>
        <p:spPr>
          <a:xfrm flipH="1" flipV="1">
            <a:off x="7446762" y="4525701"/>
            <a:ext cx="990583" cy="5210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92B5F43-D083-C2C8-B64D-AAD32A0F8B02}"/>
              </a:ext>
            </a:extLst>
          </p:cNvPr>
          <p:cNvGrpSpPr/>
          <p:nvPr/>
        </p:nvGrpSpPr>
        <p:grpSpPr>
          <a:xfrm>
            <a:off x="838198" y="3331799"/>
            <a:ext cx="4938348" cy="2450435"/>
            <a:chOff x="1567015" y="3101787"/>
            <a:chExt cx="4938348" cy="2450435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9426FD27-4087-5629-CCBA-D1F880007AAC}"/>
                </a:ext>
              </a:extLst>
            </p:cNvPr>
            <p:cNvSpPr/>
            <p:nvPr/>
          </p:nvSpPr>
          <p:spPr>
            <a:xfrm>
              <a:off x="1567015" y="3101787"/>
              <a:ext cx="4938348" cy="245043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r>
                <a:rPr lang="en-SE" dirty="0">
                  <a:solidFill>
                    <a:schemeClr val="tx1"/>
                  </a:solidFill>
                </a:rPr>
                <a:t>RQ: Does the use of </a:t>
              </a:r>
              <a:r>
                <a:rPr lang="en-SE" b="1" dirty="0">
                  <a:solidFill>
                    <a:srgbClr val="D0180A"/>
                  </a:solidFill>
                </a:rPr>
                <a:t>generative AI (GenAI) </a:t>
              </a:r>
              <a:r>
                <a:rPr lang="en-SE" dirty="0">
                  <a:solidFill>
                    <a:schemeClr val="tx1"/>
                  </a:solidFill>
                </a:rPr>
                <a:t>have </a:t>
              </a:r>
              <a:r>
                <a:rPr lang="en-SE" b="1" dirty="0">
                  <a:solidFill>
                    <a:schemeClr val="tx1"/>
                  </a:solidFill>
                </a:rPr>
                <a:t>an effect</a:t>
              </a:r>
              <a:r>
                <a:rPr lang="en-SE" dirty="0">
                  <a:solidFill>
                    <a:schemeClr val="tx1"/>
                  </a:solidFill>
                </a:rPr>
                <a:t> on the </a:t>
              </a:r>
              <a:r>
                <a:rPr lang="en-SE" b="1" dirty="0">
                  <a:solidFill>
                    <a:srgbClr val="006D70"/>
                  </a:solidFill>
                </a:rPr>
                <a:t>productivity</a:t>
              </a:r>
              <a:r>
                <a:rPr lang="en-SE" dirty="0">
                  <a:solidFill>
                    <a:schemeClr val="tx1"/>
                  </a:solidFill>
                </a:rPr>
                <a:t> of developers, assuming that </a:t>
              </a:r>
              <a:r>
                <a:rPr lang="en-SE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motivation</a:t>
              </a:r>
              <a:r>
                <a:rPr lang="en-SE" dirty="0">
                  <a:solidFill>
                    <a:schemeClr val="tx1"/>
                  </a:solidFill>
                </a:rPr>
                <a:t> affects both usage (mediated by GenAI experience) and productivity, and accounting for an indirect effect of the IDE’s user experience?</a:t>
              </a:r>
            </a:p>
          </p:txBody>
        </p:sp>
        <p:pic>
          <p:nvPicPr>
            <p:cNvPr id="43" name="Graphic 42" descr="Open quotation mark with solid fill">
              <a:extLst>
                <a:ext uri="{FF2B5EF4-FFF2-40B4-BE49-F238E27FC236}">
                  <a16:creationId xmlns:a16="http://schemas.microsoft.com/office/drawing/2014/main" id="{2272E909-97F8-6851-6EF9-BA177AA6C20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1632237" y="3162988"/>
              <a:ext cx="792000" cy="792000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329D8CC-F4EE-A8C6-F232-470FF1FA88EE}"/>
              </a:ext>
            </a:extLst>
          </p:cNvPr>
          <p:cNvGrpSpPr/>
          <p:nvPr/>
        </p:nvGrpSpPr>
        <p:grpSpPr>
          <a:xfrm>
            <a:off x="838198" y="365125"/>
            <a:ext cx="1983884" cy="245531"/>
            <a:chOff x="4114799" y="3759391"/>
            <a:chExt cx="1983884" cy="1229241"/>
          </a:xfrm>
        </p:grpSpPr>
        <p:sp>
          <p:nvSpPr>
            <p:cNvPr id="45" name="Arrow: Pentagon 44">
              <a:extLst>
                <a:ext uri="{FF2B5EF4-FFF2-40B4-BE49-F238E27FC236}">
                  <a16:creationId xmlns:a16="http://schemas.microsoft.com/office/drawing/2014/main" id="{75A18F0E-807B-A5DA-9BD0-35F75F620CC3}"/>
                </a:ext>
              </a:extLst>
            </p:cNvPr>
            <p:cNvSpPr/>
            <p:nvPr/>
          </p:nvSpPr>
          <p:spPr>
            <a:xfrm>
              <a:off x="4114799" y="3759391"/>
              <a:ext cx="794039" cy="1229241"/>
            </a:xfrm>
            <a:prstGeom prst="homePlat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/>
                <a:t>Theory</a:t>
              </a:r>
            </a:p>
          </p:txBody>
        </p:sp>
        <p:sp>
          <p:nvSpPr>
            <p:cNvPr id="46" name="Arrow: Chevron 45">
              <a:extLst>
                <a:ext uri="{FF2B5EF4-FFF2-40B4-BE49-F238E27FC236}">
                  <a16:creationId xmlns:a16="http://schemas.microsoft.com/office/drawing/2014/main" id="{BD1FBC6E-1710-C44A-5130-D479553CA413}"/>
                </a:ext>
              </a:extLst>
            </p:cNvPr>
            <p:cNvSpPr/>
            <p:nvPr/>
          </p:nvSpPr>
          <p:spPr>
            <a:xfrm>
              <a:off x="4843616" y="3759391"/>
              <a:ext cx="1255067" cy="1229241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>
                  <a:solidFill>
                    <a:schemeClr val="tx1"/>
                  </a:solidFill>
                </a:rPr>
                <a:t>Use Case</a:t>
              </a:r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9593C7-CE4F-98DE-EF59-D80F6ED44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033680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C09C4-F67E-B42F-2915-B7720599B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1C293-1BB6-8B8D-E051-3B9EB11F5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Formulating Complex 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B7999-FE9B-4CAC-08A6-F45B2248F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1331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DAGs </a:t>
            </a:r>
            <a:r>
              <a:rPr lang="de-DE" dirty="0" err="1"/>
              <a:t>conve</a:t>
            </a:r>
            <a:r>
              <a:rPr lang="en-SE" dirty="0"/>
              <a:t>y complex relationships between multiple variables in a simple and straightforward manner.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69B42-1DFD-4B8F-D07C-6ADE7350A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72DA01-32FD-92E5-8682-95A8458AC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25</a:t>
            </a:fld>
            <a:endParaRPr lang="en-SE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E4F051A-2B57-605A-6126-F7618028A19A}"/>
              </a:ext>
            </a:extLst>
          </p:cNvPr>
          <p:cNvSpPr/>
          <p:nvPr/>
        </p:nvSpPr>
        <p:spPr>
          <a:xfrm>
            <a:off x="7139483" y="4218422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noProof="0" dirty="0">
                <a:solidFill>
                  <a:srgbClr val="D0180A"/>
                </a:solidFill>
              </a:rPr>
              <a:t>x</a:t>
            </a:r>
            <a:endParaRPr lang="en-US" noProof="0" dirty="0">
              <a:solidFill>
                <a:srgbClr val="D0180A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D9E4828-99B8-B6F4-42A6-7A5300743774}"/>
              </a:ext>
            </a:extLst>
          </p:cNvPr>
          <p:cNvSpPr/>
          <p:nvPr/>
        </p:nvSpPr>
        <p:spPr>
          <a:xfrm>
            <a:off x="9630863" y="4218422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noProof="0" dirty="0">
                <a:solidFill>
                  <a:srgbClr val="006D70"/>
                </a:solidFill>
              </a:rPr>
              <a:t>y</a:t>
            </a:r>
            <a:endParaRPr lang="en-US" noProof="0" dirty="0">
              <a:solidFill>
                <a:srgbClr val="006D70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07DE6C9-642D-DD9C-A1AA-5E22566E04CB}"/>
              </a:ext>
            </a:extLst>
          </p:cNvPr>
          <p:cNvCxnSpPr>
            <a:stCxn id="24" idx="6"/>
            <a:endCxn id="25" idx="2"/>
          </p:cNvCxnSpPr>
          <p:nvPr/>
        </p:nvCxnSpPr>
        <p:spPr>
          <a:xfrm>
            <a:off x="7499483" y="4398422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7C8ED48-A0C1-CD61-FFB7-A5E9F07686E8}"/>
              </a:ext>
            </a:extLst>
          </p:cNvPr>
          <p:cNvSpPr txBox="1"/>
          <p:nvPr/>
        </p:nvSpPr>
        <p:spPr>
          <a:xfrm>
            <a:off x="6140076" y="4075256"/>
            <a:ext cx="990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noProof="0" dirty="0">
                <a:solidFill>
                  <a:srgbClr val="D0180A"/>
                </a:solidFill>
              </a:rPr>
              <a:t>u</a:t>
            </a:r>
            <a:r>
              <a:rPr lang="en-SE" noProof="0" dirty="0">
                <a:solidFill>
                  <a:srgbClr val="D0180A"/>
                </a:solidFill>
              </a:rPr>
              <a:t>se of GenAI</a:t>
            </a:r>
            <a:endParaRPr lang="en-US" noProof="0" dirty="0">
              <a:solidFill>
                <a:srgbClr val="D0180A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293FF4-F854-EA88-98CE-D4042C2E51B1}"/>
              </a:ext>
            </a:extLst>
          </p:cNvPr>
          <p:cNvSpPr txBox="1"/>
          <p:nvPr/>
        </p:nvSpPr>
        <p:spPr>
          <a:xfrm>
            <a:off x="9990863" y="4190995"/>
            <a:ext cx="1362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noProof="0" dirty="0">
                <a:solidFill>
                  <a:srgbClr val="006D70"/>
                </a:solidFill>
              </a:rPr>
              <a:t>productivity</a:t>
            </a:r>
            <a:endParaRPr lang="en-US" noProof="0" dirty="0">
              <a:solidFill>
                <a:srgbClr val="006D70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E8589F7-6B5F-CE50-ABB2-92411931652A}"/>
              </a:ext>
            </a:extLst>
          </p:cNvPr>
          <p:cNvSpPr/>
          <p:nvPr/>
        </p:nvSpPr>
        <p:spPr>
          <a:xfrm>
            <a:off x="7139483" y="4994075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z</a:t>
            </a:r>
            <a:endParaRPr lang="en-US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80F775B-813E-E428-A967-E680DFB67FB4}"/>
              </a:ext>
            </a:extLst>
          </p:cNvPr>
          <p:cNvSpPr/>
          <p:nvPr/>
        </p:nvSpPr>
        <p:spPr>
          <a:xfrm>
            <a:off x="8384624" y="4994075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</a:t>
            </a:r>
            <a:endParaRPr lang="en-US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373ACF-A4B9-F1D0-3C7C-B2F0966202AB}"/>
              </a:ext>
            </a:extLst>
          </p:cNvPr>
          <p:cNvSpPr txBox="1"/>
          <p:nvPr/>
        </p:nvSpPr>
        <p:spPr>
          <a:xfrm>
            <a:off x="8744624" y="4984743"/>
            <a:ext cx="1246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motivation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EDDCFF-CCF8-5FDC-0355-1470DC0EFA73}"/>
              </a:ext>
            </a:extLst>
          </p:cNvPr>
          <p:cNvSpPr txBox="1"/>
          <p:nvPr/>
        </p:nvSpPr>
        <p:spPr>
          <a:xfrm>
            <a:off x="5664329" y="4846243"/>
            <a:ext cx="1432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SE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GenAI experience</a:t>
            </a:r>
            <a:endParaRPr lang="en-US" noProof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D9A2B14-33DF-DC4A-DA5F-3C69DDDEB48A}"/>
              </a:ext>
            </a:extLst>
          </p:cNvPr>
          <p:cNvCxnSpPr>
            <a:cxnSpLocks/>
            <a:stCxn id="30" idx="7"/>
            <a:endCxn id="25" idx="3"/>
          </p:cNvCxnSpPr>
          <p:nvPr/>
        </p:nvCxnSpPr>
        <p:spPr>
          <a:xfrm flipV="1">
            <a:off x="8691903" y="4525701"/>
            <a:ext cx="991681" cy="5210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3515A2D-60D5-8C42-A1F7-CE9189B27D83}"/>
              </a:ext>
            </a:extLst>
          </p:cNvPr>
          <p:cNvCxnSpPr>
            <a:cxnSpLocks/>
            <a:stCxn id="30" idx="2"/>
            <a:endCxn id="29" idx="6"/>
          </p:cNvCxnSpPr>
          <p:nvPr/>
        </p:nvCxnSpPr>
        <p:spPr>
          <a:xfrm flipH="1">
            <a:off x="7499483" y="5174075"/>
            <a:ext cx="8851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9FFBA46-4FCC-8614-EE39-AAB16466BE6D}"/>
              </a:ext>
            </a:extLst>
          </p:cNvPr>
          <p:cNvCxnSpPr>
            <a:cxnSpLocks/>
            <a:stCxn id="29" idx="0"/>
            <a:endCxn id="24" idx="4"/>
          </p:cNvCxnSpPr>
          <p:nvPr/>
        </p:nvCxnSpPr>
        <p:spPr>
          <a:xfrm flipV="1">
            <a:off x="7319483" y="4578422"/>
            <a:ext cx="0" cy="4156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E61F12A-078A-5F47-6A3D-621124288EEF}"/>
              </a:ext>
            </a:extLst>
          </p:cNvPr>
          <p:cNvCxnSpPr>
            <a:cxnSpLocks/>
            <a:stCxn id="30" idx="1"/>
            <a:endCxn id="24" idx="5"/>
          </p:cNvCxnSpPr>
          <p:nvPr/>
        </p:nvCxnSpPr>
        <p:spPr>
          <a:xfrm flipH="1" flipV="1">
            <a:off x="7446762" y="4525701"/>
            <a:ext cx="990583" cy="5210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0C62F0E-CEFF-EBD2-ED76-CDF036A990AD}"/>
              </a:ext>
            </a:extLst>
          </p:cNvPr>
          <p:cNvGrpSpPr/>
          <p:nvPr/>
        </p:nvGrpSpPr>
        <p:grpSpPr>
          <a:xfrm>
            <a:off x="838198" y="3331799"/>
            <a:ext cx="4938348" cy="2450435"/>
            <a:chOff x="1567015" y="3101787"/>
            <a:chExt cx="4938348" cy="2450435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D8C6135A-9221-43C2-7CFA-52E719FCD6BC}"/>
                </a:ext>
              </a:extLst>
            </p:cNvPr>
            <p:cNvSpPr/>
            <p:nvPr/>
          </p:nvSpPr>
          <p:spPr>
            <a:xfrm>
              <a:off x="1567015" y="3101787"/>
              <a:ext cx="4938348" cy="245043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r>
                <a:rPr lang="en-SE" dirty="0">
                  <a:solidFill>
                    <a:schemeClr val="tx1"/>
                  </a:solidFill>
                </a:rPr>
                <a:t>RQ: Does the use of </a:t>
              </a:r>
              <a:r>
                <a:rPr lang="en-SE" b="1" dirty="0">
                  <a:solidFill>
                    <a:srgbClr val="D0180A"/>
                  </a:solidFill>
                </a:rPr>
                <a:t>generative AI (GenAI) </a:t>
              </a:r>
              <a:r>
                <a:rPr lang="en-SE" dirty="0">
                  <a:solidFill>
                    <a:schemeClr val="tx1"/>
                  </a:solidFill>
                </a:rPr>
                <a:t>have </a:t>
              </a:r>
              <a:r>
                <a:rPr lang="en-SE" b="1" dirty="0">
                  <a:solidFill>
                    <a:schemeClr val="tx1"/>
                  </a:solidFill>
                </a:rPr>
                <a:t>an effect</a:t>
              </a:r>
              <a:r>
                <a:rPr lang="en-SE" dirty="0">
                  <a:solidFill>
                    <a:schemeClr val="tx1"/>
                  </a:solidFill>
                </a:rPr>
                <a:t> on the </a:t>
              </a:r>
              <a:r>
                <a:rPr lang="en-SE" b="1" dirty="0">
                  <a:solidFill>
                    <a:srgbClr val="006D70"/>
                  </a:solidFill>
                </a:rPr>
                <a:t>productivity</a:t>
              </a:r>
              <a:r>
                <a:rPr lang="en-SE" dirty="0">
                  <a:solidFill>
                    <a:schemeClr val="tx1"/>
                  </a:solidFill>
                </a:rPr>
                <a:t> of developers, assuming that </a:t>
              </a:r>
              <a:r>
                <a:rPr lang="en-SE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motivation</a:t>
              </a:r>
              <a:r>
                <a:rPr lang="en-SE" dirty="0">
                  <a:solidFill>
                    <a:schemeClr val="tx1"/>
                  </a:solidFill>
                </a:rPr>
                <a:t> affects both usage (mediated by </a:t>
              </a:r>
              <a:r>
                <a:rPr lang="en-SE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GenAI experience</a:t>
              </a:r>
              <a:r>
                <a:rPr lang="en-SE" dirty="0">
                  <a:solidFill>
                    <a:schemeClr val="tx1"/>
                  </a:solidFill>
                </a:rPr>
                <a:t>) and productivity, and accounting for an indirect effect of the IDE’s user experience?</a:t>
              </a:r>
            </a:p>
          </p:txBody>
        </p:sp>
        <p:pic>
          <p:nvPicPr>
            <p:cNvPr id="43" name="Graphic 42" descr="Open quotation mark with solid fill">
              <a:extLst>
                <a:ext uri="{FF2B5EF4-FFF2-40B4-BE49-F238E27FC236}">
                  <a16:creationId xmlns:a16="http://schemas.microsoft.com/office/drawing/2014/main" id="{ADCEFC97-4FD8-6185-B73D-07BEEFE7545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1632237" y="3162988"/>
              <a:ext cx="792000" cy="792000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F14A546-AF33-07BE-CB4C-5D2F24A27AF8}"/>
              </a:ext>
            </a:extLst>
          </p:cNvPr>
          <p:cNvGrpSpPr/>
          <p:nvPr/>
        </p:nvGrpSpPr>
        <p:grpSpPr>
          <a:xfrm>
            <a:off x="838198" y="365125"/>
            <a:ext cx="1983884" cy="245531"/>
            <a:chOff x="4114799" y="3759391"/>
            <a:chExt cx="1983884" cy="1229241"/>
          </a:xfrm>
        </p:grpSpPr>
        <p:sp>
          <p:nvSpPr>
            <p:cNvPr id="45" name="Arrow: Pentagon 44">
              <a:extLst>
                <a:ext uri="{FF2B5EF4-FFF2-40B4-BE49-F238E27FC236}">
                  <a16:creationId xmlns:a16="http://schemas.microsoft.com/office/drawing/2014/main" id="{76A7181C-5D51-4761-F2FA-32C6E5627BDE}"/>
                </a:ext>
              </a:extLst>
            </p:cNvPr>
            <p:cNvSpPr/>
            <p:nvPr/>
          </p:nvSpPr>
          <p:spPr>
            <a:xfrm>
              <a:off x="4114799" y="3759391"/>
              <a:ext cx="794039" cy="1229241"/>
            </a:xfrm>
            <a:prstGeom prst="homePlat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/>
                <a:t>Theory</a:t>
              </a:r>
            </a:p>
          </p:txBody>
        </p:sp>
        <p:sp>
          <p:nvSpPr>
            <p:cNvPr id="46" name="Arrow: Chevron 45">
              <a:extLst>
                <a:ext uri="{FF2B5EF4-FFF2-40B4-BE49-F238E27FC236}">
                  <a16:creationId xmlns:a16="http://schemas.microsoft.com/office/drawing/2014/main" id="{9B313603-E29D-4E41-D2F1-437B3F2D41D3}"/>
                </a:ext>
              </a:extLst>
            </p:cNvPr>
            <p:cNvSpPr/>
            <p:nvPr/>
          </p:nvSpPr>
          <p:spPr>
            <a:xfrm>
              <a:off x="4843616" y="3759391"/>
              <a:ext cx="1255067" cy="1229241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>
                  <a:solidFill>
                    <a:schemeClr val="tx1"/>
                  </a:solidFill>
                </a:rPr>
                <a:t>Use Case</a:t>
              </a:r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3BE1DF-EE4B-08BC-58B4-5245CB0B3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820394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2E893-919A-0841-9C21-B46C84E79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5DDBC-6A61-9CFD-D529-C2D1318DD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Formulating Complex 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1DC2-129D-94A8-D971-E15750CD5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1331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DAGs </a:t>
            </a:r>
            <a:r>
              <a:rPr lang="de-DE" dirty="0" err="1"/>
              <a:t>conve</a:t>
            </a:r>
            <a:r>
              <a:rPr lang="en-SE" dirty="0"/>
              <a:t>y complex relationships between multiple variables in a simple and straightforward manner.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F309E-802B-0971-CCE6-E1A4BEEFF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DECBE5-BCCC-C9BA-097B-901849C9D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26</a:t>
            </a:fld>
            <a:endParaRPr lang="en-SE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29B1D22-F4D5-BBF5-CBF2-4EF36C055F37}"/>
              </a:ext>
            </a:extLst>
          </p:cNvPr>
          <p:cNvSpPr/>
          <p:nvPr/>
        </p:nvSpPr>
        <p:spPr>
          <a:xfrm>
            <a:off x="7139483" y="4218422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noProof="0" dirty="0">
                <a:solidFill>
                  <a:srgbClr val="D0180A"/>
                </a:solidFill>
              </a:rPr>
              <a:t>x</a:t>
            </a:r>
            <a:endParaRPr lang="en-US" noProof="0" dirty="0">
              <a:solidFill>
                <a:srgbClr val="D0180A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EABF638-9D2D-CD8F-6B75-2AD3BC262E94}"/>
              </a:ext>
            </a:extLst>
          </p:cNvPr>
          <p:cNvSpPr/>
          <p:nvPr/>
        </p:nvSpPr>
        <p:spPr>
          <a:xfrm>
            <a:off x="9630863" y="4218422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noProof="0" dirty="0">
                <a:solidFill>
                  <a:srgbClr val="006D70"/>
                </a:solidFill>
              </a:rPr>
              <a:t>y</a:t>
            </a:r>
            <a:endParaRPr lang="en-US" noProof="0" dirty="0">
              <a:solidFill>
                <a:srgbClr val="006D70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3FABFD5-16D8-7681-D9E6-4172573E9792}"/>
              </a:ext>
            </a:extLst>
          </p:cNvPr>
          <p:cNvCxnSpPr>
            <a:stCxn id="24" idx="6"/>
            <a:endCxn id="25" idx="2"/>
          </p:cNvCxnSpPr>
          <p:nvPr/>
        </p:nvCxnSpPr>
        <p:spPr>
          <a:xfrm>
            <a:off x="7499483" y="4398422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3469277-CC9D-9B02-7338-C8827C2F0113}"/>
              </a:ext>
            </a:extLst>
          </p:cNvPr>
          <p:cNvSpPr txBox="1"/>
          <p:nvPr/>
        </p:nvSpPr>
        <p:spPr>
          <a:xfrm>
            <a:off x="6140076" y="4075256"/>
            <a:ext cx="990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noProof="0" dirty="0">
                <a:solidFill>
                  <a:srgbClr val="D0180A"/>
                </a:solidFill>
              </a:rPr>
              <a:t>u</a:t>
            </a:r>
            <a:r>
              <a:rPr lang="en-SE" noProof="0" dirty="0">
                <a:solidFill>
                  <a:srgbClr val="D0180A"/>
                </a:solidFill>
              </a:rPr>
              <a:t>se of GenAI</a:t>
            </a:r>
            <a:endParaRPr lang="en-US" noProof="0" dirty="0">
              <a:solidFill>
                <a:srgbClr val="D0180A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369E3D7-11D5-BE31-3D1B-5D0F27C12F75}"/>
              </a:ext>
            </a:extLst>
          </p:cNvPr>
          <p:cNvSpPr txBox="1"/>
          <p:nvPr/>
        </p:nvSpPr>
        <p:spPr>
          <a:xfrm>
            <a:off x="9990863" y="4190995"/>
            <a:ext cx="1362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noProof="0" dirty="0">
                <a:solidFill>
                  <a:srgbClr val="006D70"/>
                </a:solidFill>
              </a:rPr>
              <a:t>productivity</a:t>
            </a:r>
            <a:endParaRPr lang="en-US" noProof="0" dirty="0">
              <a:solidFill>
                <a:srgbClr val="006D70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8CA312B-D38D-2AA1-9A3E-F1D3706E1C74}"/>
              </a:ext>
            </a:extLst>
          </p:cNvPr>
          <p:cNvSpPr/>
          <p:nvPr/>
        </p:nvSpPr>
        <p:spPr>
          <a:xfrm>
            <a:off x="7139483" y="4994075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z</a:t>
            </a:r>
            <a:endParaRPr lang="en-US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B95E9A3-BC70-FF39-5837-41D464CF53CE}"/>
              </a:ext>
            </a:extLst>
          </p:cNvPr>
          <p:cNvSpPr/>
          <p:nvPr/>
        </p:nvSpPr>
        <p:spPr>
          <a:xfrm>
            <a:off x="8384624" y="4994075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</a:t>
            </a:r>
            <a:endParaRPr lang="en-US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88506EC-6861-5E88-D8CF-C263B4C449D9}"/>
              </a:ext>
            </a:extLst>
          </p:cNvPr>
          <p:cNvSpPr txBox="1"/>
          <p:nvPr/>
        </p:nvSpPr>
        <p:spPr>
          <a:xfrm>
            <a:off x="8744624" y="4984743"/>
            <a:ext cx="1246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motivation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9473D0-BE82-BBB5-A4D2-51C3AD337C1C}"/>
              </a:ext>
            </a:extLst>
          </p:cNvPr>
          <p:cNvSpPr txBox="1"/>
          <p:nvPr/>
        </p:nvSpPr>
        <p:spPr>
          <a:xfrm>
            <a:off x="5664329" y="4846243"/>
            <a:ext cx="1432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SE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GenAI experience</a:t>
            </a:r>
            <a:endParaRPr lang="en-US" noProof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E5CD2F0-69BF-F0A1-C2BF-D23B7515F543}"/>
              </a:ext>
            </a:extLst>
          </p:cNvPr>
          <p:cNvCxnSpPr>
            <a:cxnSpLocks/>
            <a:stCxn id="30" idx="7"/>
            <a:endCxn id="25" idx="3"/>
          </p:cNvCxnSpPr>
          <p:nvPr/>
        </p:nvCxnSpPr>
        <p:spPr>
          <a:xfrm flipV="1">
            <a:off x="8691903" y="4525701"/>
            <a:ext cx="991681" cy="5210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4537579-5C8B-7A61-CD9A-015357C0F4FC}"/>
              </a:ext>
            </a:extLst>
          </p:cNvPr>
          <p:cNvCxnSpPr>
            <a:cxnSpLocks/>
            <a:stCxn id="30" idx="2"/>
            <a:endCxn id="29" idx="6"/>
          </p:cNvCxnSpPr>
          <p:nvPr/>
        </p:nvCxnSpPr>
        <p:spPr>
          <a:xfrm flipH="1">
            <a:off x="7499483" y="5174075"/>
            <a:ext cx="8851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6774839-C2EC-1916-133B-9D3E24D52CF2}"/>
              </a:ext>
            </a:extLst>
          </p:cNvPr>
          <p:cNvCxnSpPr>
            <a:cxnSpLocks/>
            <a:stCxn id="29" idx="0"/>
            <a:endCxn id="24" idx="4"/>
          </p:cNvCxnSpPr>
          <p:nvPr/>
        </p:nvCxnSpPr>
        <p:spPr>
          <a:xfrm flipV="1">
            <a:off x="7319483" y="4578422"/>
            <a:ext cx="0" cy="4156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BA49B22-243F-DAEE-29BB-08A08DE064CA}"/>
              </a:ext>
            </a:extLst>
          </p:cNvPr>
          <p:cNvCxnSpPr>
            <a:cxnSpLocks/>
            <a:stCxn id="30" idx="1"/>
            <a:endCxn id="24" idx="5"/>
          </p:cNvCxnSpPr>
          <p:nvPr/>
        </p:nvCxnSpPr>
        <p:spPr>
          <a:xfrm flipH="1" flipV="1">
            <a:off x="7446762" y="4525701"/>
            <a:ext cx="990583" cy="5210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B31F99E7-FD87-EDCA-C978-A1BFF32C6513}"/>
              </a:ext>
            </a:extLst>
          </p:cNvPr>
          <p:cNvSpPr/>
          <p:nvPr/>
        </p:nvSpPr>
        <p:spPr>
          <a:xfrm>
            <a:off x="8384798" y="3429000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</a:t>
            </a:r>
            <a:endParaRPr lang="en-US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D18E390-3D9B-15A8-6ADE-1C8AA740967E}"/>
              </a:ext>
            </a:extLst>
          </p:cNvPr>
          <p:cNvSpPr txBox="1"/>
          <p:nvPr/>
        </p:nvSpPr>
        <p:spPr>
          <a:xfrm>
            <a:off x="8777693" y="3430237"/>
            <a:ext cx="2318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IDE’s user experience</a:t>
            </a:r>
            <a:endParaRPr lang="en-US" noProof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913BBA1-3687-B8BD-8A81-E30B1EE98CDC}"/>
              </a:ext>
            </a:extLst>
          </p:cNvPr>
          <p:cNvCxnSpPr>
            <a:cxnSpLocks/>
            <a:stCxn id="24" idx="7"/>
            <a:endCxn id="37" idx="3"/>
          </p:cNvCxnSpPr>
          <p:nvPr/>
        </p:nvCxnSpPr>
        <p:spPr>
          <a:xfrm flipV="1">
            <a:off x="7446762" y="3736279"/>
            <a:ext cx="990757" cy="534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905525C-B7C1-C185-226A-5CEA6E6EFA45}"/>
              </a:ext>
            </a:extLst>
          </p:cNvPr>
          <p:cNvCxnSpPr>
            <a:cxnSpLocks/>
            <a:stCxn id="37" idx="5"/>
            <a:endCxn id="25" idx="1"/>
          </p:cNvCxnSpPr>
          <p:nvPr/>
        </p:nvCxnSpPr>
        <p:spPr>
          <a:xfrm>
            <a:off x="8692077" y="3736279"/>
            <a:ext cx="991507" cy="534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8018C2F-41DD-8F15-DA68-98CAC29B6ACF}"/>
              </a:ext>
            </a:extLst>
          </p:cNvPr>
          <p:cNvGrpSpPr/>
          <p:nvPr/>
        </p:nvGrpSpPr>
        <p:grpSpPr>
          <a:xfrm>
            <a:off x="838198" y="3331799"/>
            <a:ext cx="4938348" cy="2450435"/>
            <a:chOff x="1567015" y="3101787"/>
            <a:chExt cx="4938348" cy="2450435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596D06A9-C166-FEF7-FC9D-75E87491C877}"/>
                </a:ext>
              </a:extLst>
            </p:cNvPr>
            <p:cNvSpPr/>
            <p:nvPr/>
          </p:nvSpPr>
          <p:spPr>
            <a:xfrm>
              <a:off x="1567015" y="3101787"/>
              <a:ext cx="4938348" cy="245043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92000" rtlCol="0" anchor="ctr"/>
            <a:lstStyle/>
            <a:p>
              <a:r>
                <a:rPr lang="en-SE" dirty="0">
                  <a:solidFill>
                    <a:schemeClr val="tx1"/>
                  </a:solidFill>
                </a:rPr>
                <a:t>RQ: Does the use of </a:t>
              </a:r>
              <a:r>
                <a:rPr lang="en-SE" b="1" dirty="0">
                  <a:solidFill>
                    <a:srgbClr val="D0180A"/>
                  </a:solidFill>
                </a:rPr>
                <a:t>generative AI (GenAI) </a:t>
              </a:r>
              <a:r>
                <a:rPr lang="en-SE" dirty="0">
                  <a:solidFill>
                    <a:schemeClr val="tx1"/>
                  </a:solidFill>
                </a:rPr>
                <a:t>have </a:t>
              </a:r>
              <a:r>
                <a:rPr lang="en-SE" b="1" dirty="0">
                  <a:solidFill>
                    <a:schemeClr val="tx1"/>
                  </a:solidFill>
                </a:rPr>
                <a:t>an effect</a:t>
              </a:r>
              <a:r>
                <a:rPr lang="en-SE" dirty="0">
                  <a:solidFill>
                    <a:schemeClr val="tx1"/>
                  </a:solidFill>
                </a:rPr>
                <a:t> on the </a:t>
              </a:r>
              <a:r>
                <a:rPr lang="en-SE" b="1" dirty="0">
                  <a:solidFill>
                    <a:srgbClr val="006D70"/>
                  </a:solidFill>
                </a:rPr>
                <a:t>productivity</a:t>
              </a:r>
              <a:r>
                <a:rPr lang="en-SE" dirty="0">
                  <a:solidFill>
                    <a:schemeClr val="tx1"/>
                  </a:solidFill>
                </a:rPr>
                <a:t> of developers, assuming that </a:t>
              </a:r>
              <a:r>
                <a:rPr lang="en-SE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motivation</a:t>
              </a:r>
              <a:r>
                <a:rPr lang="en-SE" dirty="0">
                  <a:solidFill>
                    <a:schemeClr val="tx1"/>
                  </a:solidFill>
                </a:rPr>
                <a:t> affects both usage (mediated by </a:t>
              </a:r>
              <a:r>
                <a:rPr lang="en-SE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GenAI experience</a:t>
              </a:r>
              <a:r>
                <a:rPr lang="en-SE" dirty="0">
                  <a:solidFill>
                    <a:schemeClr val="tx1"/>
                  </a:solidFill>
                </a:rPr>
                <a:t>) and productivity, and accounting for an indirect effect of the </a:t>
              </a:r>
              <a:r>
                <a:rPr lang="en-SE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IDE’s user experience</a:t>
              </a:r>
              <a:r>
                <a:rPr lang="en-SE" dirty="0">
                  <a:solidFill>
                    <a:schemeClr val="tx1"/>
                  </a:solidFill>
                </a:rPr>
                <a:t>?</a:t>
              </a:r>
            </a:p>
          </p:txBody>
        </p:sp>
        <p:pic>
          <p:nvPicPr>
            <p:cNvPr id="43" name="Graphic 42" descr="Open quotation mark with solid fill">
              <a:extLst>
                <a:ext uri="{FF2B5EF4-FFF2-40B4-BE49-F238E27FC236}">
                  <a16:creationId xmlns:a16="http://schemas.microsoft.com/office/drawing/2014/main" id="{8E7E0DB7-3DE9-79D8-4D75-6E8CB8CA34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1632237" y="3162988"/>
              <a:ext cx="792000" cy="792000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6197C00-B7FD-5869-3FE7-3B66098328E4}"/>
              </a:ext>
            </a:extLst>
          </p:cNvPr>
          <p:cNvGrpSpPr/>
          <p:nvPr/>
        </p:nvGrpSpPr>
        <p:grpSpPr>
          <a:xfrm>
            <a:off x="838198" y="365125"/>
            <a:ext cx="1983884" cy="245531"/>
            <a:chOff x="4114799" y="3759391"/>
            <a:chExt cx="1983884" cy="1229241"/>
          </a:xfrm>
        </p:grpSpPr>
        <p:sp>
          <p:nvSpPr>
            <p:cNvPr id="45" name="Arrow: Pentagon 44">
              <a:extLst>
                <a:ext uri="{FF2B5EF4-FFF2-40B4-BE49-F238E27FC236}">
                  <a16:creationId xmlns:a16="http://schemas.microsoft.com/office/drawing/2014/main" id="{E3D62468-B828-685B-98CA-FC5CE571B6AA}"/>
                </a:ext>
              </a:extLst>
            </p:cNvPr>
            <p:cNvSpPr/>
            <p:nvPr/>
          </p:nvSpPr>
          <p:spPr>
            <a:xfrm>
              <a:off x="4114799" y="3759391"/>
              <a:ext cx="794039" cy="1229241"/>
            </a:xfrm>
            <a:prstGeom prst="homePlat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/>
                <a:t>Theory</a:t>
              </a:r>
            </a:p>
          </p:txBody>
        </p:sp>
        <p:sp>
          <p:nvSpPr>
            <p:cNvPr id="46" name="Arrow: Chevron 45">
              <a:extLst>
                <a:ext uri="{FF2B5EF4-FFF2-40B4-BE49-F238E27FC236}">
                  <a16:creationId xmlns:a16="http://schemas.microsoft.com/office/drawing/2014/main" id="{4018F6A1-EAE6-8D78-3BE1-6C3BD8C54D99}"/>
                </a:ext>
              </a:extLst>
            </p:cNvPr>
            <p:cNvSpPr/>
            <p:nvPr/>
          </p:nvSpPr>
          <p:spPr>
            <a:xfrm>
              <a:off x="4843616" y="3759391"/>
              <a:ext cx="1255067" cy="1229241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>
                  <a:solidFill>
                    <a:schemeClr val="tx1"/>
                  </a:solidFill>
                </a:rPr>
                <a:t>Use Case</a:t>
              </a:r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0583E-9A95-F8AD-2880-EBFA9415E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350843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87733-E5B3-AE52-54B0-3CE10065A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Disputing Causal 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B01AA-FEF8-D413-B14C-DC266C406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65076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The explicit formulation of causal hypotheses in </a:t>
            </a:r>
            <a:r>
              <a:rPr lang="en-SE" dirty="0" err="1"/>
              <a:t>DAGs</a:t>
            </a:r>
            <a:r>
              <a:rPr lang="en-SE" dirty="0"/>
              <a:t> makes it easy to compare and contrast assumptions.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9A44F-90A8-2AA5-DA01-1E93D5860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87BAD0-EEEF-6808-11BD-EB18E962C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27</a:t>
            </a:fld>
            <a:endParaRPr lang="en-SE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5A4AAEE-AEF6-3167-326B-D6B75F3FAEDC}"/>
              </a:ext>
            </a:extLst>
          </p:cNvPr>
          <p:cNvSpPr txBox="1">
            <a:spLocks/>
          </p:cNvSpPr>
          <p:nvPr/>
        </p:nvSpPr>
        <p:spPr>
          <a:xfrm>
            <a:off x="838198" y="5391274"/>
            <a:ext cx="10515600" cy="9650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E" dirty="0"/>
              <a:t>These comparisons can inform the design of an empirical study to verify, which of the two hypotheses reflects reality better.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9DBDFBE-FEAB-0F65-ADD2-E30699AA20A8}"/>
              </a:ext>
            </a:extLst>
          </p:cNvPr>
          <p:cNvSpPr/>
          <p:nvPr/>
        </p:nvSpPr>
        <p:spPr>
          <a:xfrm>
            <a:off x="2313352" y="3930539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noProof="0" dirty="0">
                <a:solidFill>
                  <a:srgbClr val="D0180A"/>
                </a:solidFill>
              </a:rPr>
              <a:t>x</a:t>
            </a:r>
            <a:endParaRPr lang="en-US" noProof="0" dirty="0">
              <a:solidFill>
                <a:srgbClr val="D0180A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D71CC2D-C5D7-0D51-9836-F8920A86E389}"/>
              </a:ext>
            </a:extLst>
          </p:cNvPr>
          <p:cNvSpPr/>
          <p:nvPr/>
        </p:nvSpPr>
        <p:spPr>
          <a:xfrm>
            <a:off x="4804732" y="3930539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noProof="0" dirty="0">
                <a:solidFill>
                  <a:srgbClr val="006D70"/>
                </a:solidFill>
              </a:rPr>
              <a:t>y</a:t>
            </a:r>
            <a:endParaRPr lang="en-US" noProof="0" dirty="0">
              <a:solidFill>
                <a:srgbClr val="006D7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C167F5C-E4FB-19DA-214A-54EBEF120D54}"/>
              </a:ext>
            </a:extLst>
          </p:cNvPr>
          <p:cNvCxnSpPr>
            <a:stCxn id="11" idx="6"/>
            <a:endCxn id="12" idx="2"/>
          </p:cNvCxnSpPr>
          <p:nvPr/>
        </p:nvCxnSpPr>
        <p:spPr>
          <a:xfrm>
            <a:off x="2673352" y="4110539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FCD3FF5-ABCD-ED44-3858-C313F1715CEE}"/>
              </a:ext>
            </a:extLst>
          </p:cNvPr>
          <p:cNvSpPr txBox="1"/>
          <p:nvPr/>
        </p:nvSpPr>
        <p:spPr>
          <a:xfrm>
            <a:off x="1313945" y="3787373"/>
            <a:ext cx="990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noProof="0" dirty="0">
                <a:solidFill>
                  <a:srgbClr val="D0180A"/>
                </a:solidFill>
              </a:rPr>
              <a:t>u</a:t>
            </a:r>
            <a:r>
              <a:rPr lang="en-SE" noProof="0" dirty="0">
                <a:solidFill>
                  <a:srgbClr val="D0180A"/>
                </a:solidFill>
              </a:rPr>
              <a:t>se of GenAI</a:t>
            </a:r>
            <a:endParaRPr lang="en-US" noProof="0" dirty="0">
              <a:solidFill>
                <a:srgbClr val="D0180A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BA4781-4599-70ED-3475-54D246F53942}"/>
              </a:ext>
            </a:extLst>
          </p:cNvPr>
          <p:cNvSpPr txBox="1"/>
          <p:nvPr/>
        </p:nvSpPr>
        <p:spPr>
          <a:xfrm>
            <a:off x="4361612" y="4349965"/>
            <a:ext cx="1362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noProof="0" dirty="0">
                <a:solidFill>
                  <a:srgbClr val="006D70"/>
                </a:solidFill>
              </a:rPr>
              <a:t>productivity</a:t>
            </a:r>
            <a:endParaRPr lang="en-US" noProof="0" dirty="0">
              <a:solidFill>
                <a:srgbClr val="006D70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00C4B34-46E0-491B-1FA9-5670DCD201CF}"/>
              </a:ext>
            </a:extLst>
          </p:cNvPr>
          <p:cNvSpPr/>
          <p:nvPr/>
        </p:nvSpPr>
        <p:spPr>
          <a:xfrm>
            <a:off x="2313352" y="4706192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z</a:t>
            </a:r>
            <a:endParaRPr lang="en-US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134C73C-6F13-0E67-E77B-F38B070183E0}"/>
              </a:ext>
            </a:extLst>
          </p:cNvPr>
          <p:cNvSpPr/>
          <p:nvPr/>
        </p:nvSpPr>
        <p:spPr>
          <a:xfrm>
            <a:off x="3558493" y="4706192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</a:t>
            </a:r>
            <a:endParaRPr lang="en-US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D69B51-202C-10B5-3860-05A9E659FB7E}"/>
              </a:ext>
            </a:extLst>
          </p:cNvPr>
          <p:cNvSpPr txBox="1"/>
          <p:nvPr/>
        </p:nvSpPr>
        <p:spPr>
          <a:xfrm>
            <a:off x="3918493" y="4696860"/>
            <a:ext cx="1246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motivation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929C57-3CD0-B281-9E87-32F8BD87A9E8}"/>
              </a:ext>
            </a:extLst>
          </p:cNvPr>
          <p:cNvSpPr txBox="1"/>
          <p:nvPr/>
        </p:nvSpPr>
        <p:spPr>
          <a:xfrm>
            <a:off x="838198" y="4558360"/>
            <a:ext cx="1432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SE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GenAI experience</a:t>
            </a:r>
            <a:endParaRPr lang="en-US" noProof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F51A305-4AFD-C421-F455-5F47EE92CA82}"/>
              </a:ext>
            </a:extLst>
          </p:cNvPr>
          <p:cNvCxnSpPr>
            <a:cxnSpLocks/>
            <a:stCxn id="17" idx="7"/>
            <a:endCxn id="12" idx="3"/>
          </p:cNvCxnSpPr>
          <p:nvPr/>
        </p:nvCxnSpPr>
        <p:spPr>
          <a:xfrm flipV="1">
            <a:off x="3865772" y="4237818"/>
            <a:ext cx="991681" cy="5210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71EE06D-61F8-CD8F-560D-7E7E4CE382DB}"/>
              </a:ext>
            </a:extLst>
          </p:cNvPr>
          <p:cNvCxnSpPr>
            <a:cxnSpLocks/>
            <a:stCxn id="17" idx="2"/>
            <a:endCxn id="16" idx="6"/>
          </p:cNvCxnSpPr>
          <p:nvPr/>
        </p:nvCxnSpPr>
        <p:spPr>
          <a:xfrm flipH="1">
            <a:off x="2673352" y="4886192"/>
            <a:ext cx="8851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AA5F8D7-A774-CE50-7E31-48343648012D}"/>
              </a:ext>
            </a:extLst>
          </p:cNvPr>
          <p:cNvCxnSpPr>
            <a:cxnSpLocks/>
            <a:stCxn id="16" idx="0"/>
            <a:endCxn id="11" idx="4"/>
          </p:cNvCxnSpPr>
          <p:nvPr/>
        </p:nvCxnSpPr>
        <p:spPr>
          <a:xfrm flipV="1">
            <a:off x="2493352" y="4290539"/>
            <a:ext cx="0" cy="4156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04C69C1-69C6-5AE3-3F93-92FDE2931477}"/>
              </a:ext>
            </a:extLst>
          </p:cNvPr>
          <p:cNvCxnSpPr>
            <a:cxnSpLocks/>
            <a:stCxn id="17" idx="1"/>
            <a:endCxn id="11" idx="5"/>
          </p:cNvCxnSpPr>
          <p:nvPr/>
        </p:nvCxnSpPr>
        <p:spPr>
          <a:xfrm flipH="1" flipV="1">
            <a:off x="2620631" y="4237818"/>
            <a:ext cx="990583" cy="5210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C0DA1601-1788-26F1-CEC9-C3AA51200DA3}"/>
              </a:ext>
            </a:extLst>
          </p:cNvPr>
          <p:cNvSpPr/>
          <p:nvPr/>
        </p:nvSpPr>
        <p:spPr>
          <a:xfrm>
            <a:off x="3558667" y="3141117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</a:t>
            </a:r>
            <a:endParaRPr lang="en-US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A3BCA9-9C24-5134-E61C-273D13DB9E81}"/>
              </a:ext>
            </a:extLst>
          </p:cNvPr>
          <p:cNvSpPr txBox="1"/>
          <p:nvPr/>
        </p:nvSpPr>
        <p:spPr>
          <a:xfrm>
            <a:off x="3927316" y="2871763"/>
            <a:ext cx="1534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IDE’s user experience</a:t>
            </a:r>
            <a:endParaRPr lang="en-US" noProof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238F90C-301C-AD9A-57A6-7754ABDFC172}"/>
              </a:ext>
            </a:extLst>
          </p:cNvPr>
          <p:cNvCxnSpPr>
            <a:cxnSpLocks/>
            <a:stCxn id="11" idx="7"/>
            <a:endCxn id="24" idx="3"/>
          </p:cNvCxnSpPr>
          <p:nvPr/>
        </p:nvCxnSpPr>
        <p:spPr>
          <a:xfrm flipV="1">
            <a:off x="2620631" y="3448396"/>
            <a:ext cx="990757" cy="534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E9E0EF2-FD5E-B075-CABB-9DFB7C9995B8}"/>
              </a:ext>
            </a:extLst>
          </p:cNvPr>
          <p:cNvCxnSpPr>
            <a:cxnSpLocks/>
            <a:stCxn id="24" idx="5"/>
            <a:endCxn id="12" idx="1"/>
          </p:cNvCxnSpPr>
          <p:nvPr/>
        </p:nvCxnSpPr>
        <p:spPr>
          <a:xfrm>
            <a:off x="3865946" y="3448396"/>
            <a:ext cx="991507" cy="534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73A28EB-17EB-E6A3-14EF-15AAB9C708C1}"/>
              </a:ext>
            </a:extLst>
          </p:cNvPr>
          <p:cNvGrpSpPr/>
          <p:nvPr/>
        </p:nvGrpSpPr>
        <p:grpSpPr>
          <a:xfrm>
            <a:off x="6167424" y="2871763"/>
            <a:ext cx="4886351" cy="2332928"/>
            <a:chOff x="2956199" y="2256901"/>
            <a:chExt cx="4886351" cy="2332928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1CFB405-7A47-CAB4-8B35-0FAB59F42772}"/>
                </a:ext>
              </a:extLst>
            </p:cNvPr>
            <p:cNvSpPr/>
            <p:nvPr/>
          </p:nvSpPr>
          <p:spPr>
            <a:xfrm>
              <a:off x="4431353" y="3315677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D0180A"/>
                  </a:solidFill>
                </a:rPr>
                <a:t>x</a:t>
              </a:r>
              <a:endParaRPr lang="en-US" noProof="0" dirty="0">
                <a:solidFill>
                  <a:srgbClr val="D0180A"/>
                </a:solidFill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FED4CC25-6CB8-B1E8-3815-C92DFB20B4ED}"/>
                </a:ext>
              </a:extLst>
            </p:cNvPr>
            <p:cNvSpPr/>
            <p:nvPr/>
          </p:nvSpPr>
          <p:spPr>
            <a:xfrm>
              <a:off x="6922733" y="3315677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006D70"/>
                  </a:solidFill>
                </a:rPr>
                <a:t>y</a:t>
              </a:r>
              <a:endParaRPr lang="en-US" noProof="0" dirty="0">
                <a:solidFill>
                  <a:srgbClr val="006D70"/>
                </a:solidFill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62B5CA7B-ABC3-5C43-25F6-265A46F19E34}"/>
                </a:ext>
              </a:extLst>
            </p:cNvPr>
            <p:cNvCxnSpPr>
              <a:stCxn id="29" idx="6"/>
              <a:endCxn id="30" idx="2"/>
            </p:cNvCxnSpPr>
            <p:nvPr/>
          </p:nvCxnSpPr>
          <p:spPr>
            <a:xfrm>
              <a:off x="4791353" y="3495677"/>
              <a:ext cx="21313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A0CC55C-CE42-9B48-873E-2A2D519A9477}"/>
                </a:ext>
              </a:extLst>
            </p:cNvPr>
            <p:cNvSpPr txBox="1"/>
            <p:nvPr/>
          </p:nvSpPr>
          <p:spPr>
            <a:xfrm>
              <a:off x="3431946" y="3172511"/>
              <a:ext cx="9907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de-DE" noProof="0" dirty="0">
                  <a:solidFill>
                    <a:srgbClr val="D0180A"/>
                  </a:solidFill>
                </a:rPr>
                <a:t>u</a:t>
              </a:r>
              <a:r>
                <a:rPr lang="en-SE" noProof="0" dirty="0">
                  <a:solidFill>
                    <a:srgbClr val="D0180A"/>
                  </a:solidFill>
                </a:rPr>
                <a:t>se of GenAI</a:t>
              </a:r>
              <a:endParaRPr lang="en-US" noProof="0" dirty="0">
                <a:solidFill>
                  <a:srgbClr val="D0180A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9419F99-D0DD-9F43-AF58-ABD913E63D0F}"/>
                </a:ext>
              </a:extLst>
            </p:cNvPr>
            <p:cNvSpPr txBox="1"/>
            <p:nvPr/>
          </p:nvSpPr>
          <p:spPr>
            <a:xfrm>
              <a:off x="6479613" y="3735103"/>
              <a:ext cx="13629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noProof="0" dirty="0">
                  <a:solidFill>
                    <a:srgbClr val="006D70"/>
                  </a:solidFill>
                </a:rPr>
                <a:t>productivity</a:t>
              </a:r>
              <a:endParaRPr lang="en-US" noProof="0" dirty="0">
                <a:solidFill>
                  <a:srgbClr val="006D70"/>
                </a:solidFill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8F7DD19-30C0-8579-ACD4-79FFAD959C40}"/>
                </a:ext>
              </a:extLst>
            </p:cNvPr>
            <p:cNvSpPr/>
            <p:nvPr/>
          </p:nvSpPr>
          <p:spPr>
            <a:xfrm>
              <a:off x="4431353" y="4091330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z</a:t>
              </a:r>
              <a:endParaRPr lang="en-US" noProof="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1B3270F-8FA7-9BB5-6BC6-79D009F20848}"/>
                </a:ext>
              </a:extLst>
            </p:cNvPr>
            <p:cNvSpPr/>
            <p:nvPr/>
          </p:nvSpPr>
          <p:spPr>
            <a:xfrm>
              <a:off x="5676494" y="4091330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</a:t>
              </a:r>
              <a:endParaRPr lang="en-US" noProof="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D78C1C6-E2B9-8F90-2A09-681E18837EE0}"/>
                </a:ext>
              </a:extLst>
            </p:cNvPr>
            <p:cNvSpPr txBox="1"/>
            <p:nvPr/>
          </p:nvSpPr>
          <p:spPr>
            <a:xfrm>
              <a:off x="6036494" y="4081998"/>
              <a:ext cx="12462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motivation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193AF6F-9177-37FF-503A-4C853674AA98}"/>
                </a:ext>
              </a:extLst>
            </p:cNvPr>
            <p:cNvSpPr txBox="1"/>
            <p:nvPr/>
          </p:nvSpPr>
          <p:spPr>
            <a:xfrm>
              <a:off x="2956199" y="3943498"/>
              <a:ext cx="143238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SE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GenAI experience</a:t>
              </a:r>
              <a:endParaRPr lang="en-US" noProof="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EE70F82B-86A1-8FB7-15CF-FF5E7448F022}"/>
                </a:ext>
              </a:extLst>
            </p:cNvPr>
            <p:cNvCxnSpPr>
              <a:cxnSpLocks/>
              <a:stCxn id="35" idx="7"/>
              <a:endCxn id="30" idx="3"/>
            </p:cNvCxnSpPr>
            <p:nvPr/>
          </p:nvCxnSpPr>
          <p:spPr>
            <a:xfrm flipV="1">
              <a:off x="5983773" y="3622956"/>
              <a:ext cx="991681" cy="5210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03A05A3-2276-7336-86FC-9530C1F85258}"/>
                </a:ext>
              </a:extLst>
            </p:cNvPr>
            <p:cNvCxnSpPr>
              <a:cxnSpLocks/>
              <a:stCxn id="34" idx="0"/>
              <a:endCxn id="29" idx="4"/>
            </p:cNvCxnSpPr>
            <p:nvPr/>
          </p:nvCxnSpPr>
          <p:spPr>
            <a:xfrm flipV="1">
              <a:off x="4611353" y="3675677"/>
              <a:ext cx="0" cy="41565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C2A3E938-5C1D-9705-C815-B1FE4B6C6B24}"/>
                </a:ext>
              </a:extLst>
            </p:cNvPr>
            <p:cNvCxnSpPr>
              <a:cxnSpLocks/>
              <a:stCxn id="35" idx="1"/>
              <a:endCxn id="29" idx="5"/>
            </p:cNvCxnSpPr>
            <p:nvPr/>
          </p:nvCxnSpPr>
          <p:spPr>
            <a:xfrm flipH="1" flipV="1">
              <a:off x="4738632" y="3622956"/>
              <a:ext cx="990583" cy="5210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2C27EAFB-66C8-CA2C-95C5-8F880ECC7206}"/>
                </a:ext>
              </a:extLst>
            </p:cNvPr>
            <p:cNvSpPr/>
            <p:nvPr/>
          </p:nvSpPr>
          <p:spPr>
            <a:xfrm>
              <a:off x="5676668" y="2526255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b</a:t>
              </a:r>
              <a:endParaRPr lang="en-US" noProof="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1BD7C23-1DBF-7508-7747-8CADEB84C2EF}"/>
                </a:ext>
              </a:extLst>
            </p:cNvPr>
            <p:cNvSpPr txBox="1"/>
            <p:nvPr/>
          </p:nvSpPr>
          <p:spPr>
            <a:xfrm>
              <a:off x="6045317" y="2256901"/>
              <a:ext cx="15348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E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IDE’s user experience</a:t>
              </a:r>
              <a:endParaRPr lang="en-US" noProof="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B6889E6F-82F3-F9E1-A5BC-4E1F5B43AC97}"/>
                </a:ext>
              </a:extLst>
            </p:cNvPr>
            <p:cNvCxnSpPr>
              <a:cxnSpLocks/>
              <a:stCxn id="29" idx="7"/>
              <a:endCxn id="42" idx="3"/>
            </p:cNvCxnSpPr>
            <p:nvPr/>
          </p:nvCxnSpPr>
          <p:spPr>
            <a:xfrm flipV="1">
              <a:off x="4738632" y="2833534"/>
              <a:ext cx="990757" cy="53486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773DBA13-20A1-533A-A9B2-CAF6A6956A2F}"/>
                </a:ext>
              </a:extLst>
            </p:cNvPr>
            <p:cNvCxnSpPr>
              <a:cxnSpLocks/>
              <a:stCxn id="42" idx="5"/>
              <a:endCxn id="30" idx="1"/>
            </p:cNvCxnSpPr>
            <p:nvPr/>
          </p:nvCxnSpPr>
          <p:spPr>
            <a:xfrm>
              <a:off x="5983947" y="2833534"/>
              <a:ext cx="991507" cy="53486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8564829-4B13-7F97-18B0-DC0964DF6B1F}"/>
              </a:ext>
            </a:extLst>
          </p:cNvPr>
          <p:cNvCxnSpPr>
            <a:cxnSpLocks/>
            <a:stCxn id="34" idx="7"/>
            <a:endCxn id="42" idx="4"/>
          </p:cNvCxnSpPr>
          <p:nvPr/>
        </p:nvCxnSpPr>
        <p:spPr>
          <a:xfrm flipV="1">
            <a:off x="7949857" y="3501117"/>
            <a:ext cx="1118036" cy="12577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8E578A-DA37-DC09-0CC8-E3AB6DAF349E}"/>
              </a:ext>
            </a:extLst>
          </p:cNvPr>
          <p:cNvGrpSpPr/>
          <p:nvPr/>
        </p:nvGrpSpPr>
        <p:grpSpPr>
          <a:xfrm>
            <a:off x="838198" y="365125"/>
            <a:ext cx="1983884" cy="245531"/>
            <a:chOff x="4114799" y="3759391"/>
            <a:chExt cx="1983884" cy="1229241"/>
          </a:xfrm>
        </p:grpSpPr>
        <p:sp>
          <p:nvSpPr>
            <p:cNvPr id="50" name="Arrow: Pentagon 49">
              <a:extLst>
                <a:ext uri="{FF2B5EF4-FFF2-40B4-BE49-F238E27FC236}">
                  <a16:creationId xmlns:a16="http://schemas.microsoft.com/office/drawing/2014/main" id="{134FB1C4-10F3-ADA4-750E-877C04F2AD7F}"/>
                </a:ext>
              </a:extLst>
            </p:cNvPr>
            <p:cNvSpPr/>
            <p:nvPr/>
          </p:nvSpPr>
          <p:spPr>
            <a:xfrm>
              <a:off x="4114799" y="3759391"/>
              <a:ext cx="794039" cy="1229241"/>
            </a:xfrm>
            <a:prstGeom prst="homePlat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/>
                <a:t>Theory</a:t>
              </a:r>
            </a:p>
          </p:txBody>
        </p:sp>
        <p:sp>
          <p:nvSpPr>
            <p:cNvPr id="51" name="Arrow: Chevron 50">
              <a:extLst>
                <a:ext uri="{FF2B5EF4-FFF2-40B4-BE49-F238E27FC236}">
                  <a16:creationId xmlns:a16="http://schemas.microsoft.com/office/drawing/2014/main" id="{B3AED47E-3894-DFB1-E192-E440B0B41AB9}"/>
                </a:ext>
              </a:extLst>
            </p:cNvPr>
            <p:cNvSpPr/>
            <p:nvPr/>
          </p:nvSpPr>
          <p:spPr>
            <a:xfrm>
              <a:off x="4843616" y="3759391"/>
              <a:ext cx="1255067" cy="1229241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>
                  <a:solidFill>
                    <a:schemeClr val="tx1"/>
                  </a:solidFill>
                </a:rPr>
                <a:t>Use Case</a:t>
              </a:r>
            </a:p>
          </p:txBody>
        </p:sp>
      </p:grp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F25972-D671-C833-743E-9C72D5BFC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956835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96F52-B378-1394-5CAB-792564C1E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Types of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4D3C4-2741-FAEA-7AC2-3C255861C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26540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When a DAG involves more than two variables, certain relationships can emerge: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BF0FE-A4B0-1AF0-48D3-7CA22C01A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1E3C6D-89D8-1203-A128-1FE70A05F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28</a:t>
            </a:fld>
            <a:endParaRPr lang="en-SE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6BE65C5-BAB6-92A6-D29A-1C9FA4338307}"/>
              </a:ext>
            </a:extLst>
          </p:cNvPr>
          <p:cNvGrpSpPr/>
          <p:nvPr/>
        </p:nvGrpSpPr>
        <p:grpSpPr>
          <a:xfrm>
            <a:off x="1674676" y="2966913"/>
            <a:ext cx="2355863" cy="3200607"/>
            <a:chOff x="1175334" y="2966913"/>
            <a:chExt cx="2355863" cy="320060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BCB4412-F48D-00A8-A0C7-59534AFB78D0}"/>
                </a:ext>
              </a:extLst>
            </p:cNvPr>
            <p:cNvGrpSpPr/>
            <p:nvPr/>
          </p:nvGrpSpPr>
          <p:grpSpPr>
            <a:xfrm>
              <a:off x="1314591" y="3515395"/>
              <a:ext cx="2077351" cy="1016248"/>
              <a:chOff x="4775076" y="3315677"/>
              <a:chExt cx="2077351" cy="1016248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64FE94F-D12B-3D41-A5A9-2AE1EAC921A0}"/>
                  </a:ext>
                </a:extLst>
              </p:cNvPr>
              <p:cNvSpPr/>
              <p:nvPr/>
            </p:nvSpPr>
            <p:spPr>
              <a:xfrm>
                <a:off x="4775076" y="3315677"/>
                <a:ext cx="360000" cy="360000"/>
              </a:xfrm>
              <a:prstGeom prst="ellipse">
                <a:avLst/>
              </a:prstGeom>
              <a:solidFill>
                <a:srgbClr val="F8766D"/>
              </a:solidFill>
              <a:ln>
                <a:solidFill>
                  <a:srgbClr val="D0180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E" noProof="0" dirty="0">
                    <a:solidFill>
                      <a:srgbClr val="D0180A"/>
                    </a:solidFill>
                  </a:rPr>
                  <a:t>x</a:t>
                </a:r>
                <a:endParaRPr lang="en-US" noProof="0" dirty="0">
                  <a:solidFill>
                    <a:srgbClr val="D0180A"/>
                  </a:solidFill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50FC6EA-A2BB-D597-2D1D-C817A2F6EC48}"/>
                  </a:ext>
                </a:extLst>
              </p:cNvPr>
              <p:cNvSpPr/>
              <p:nvPr/>
            </p:nvSpPr>
            <p:spPr>
              <a:xfrm>
                <a:off x="6492427" y="3315677"/>
                <a:ext cx="360000" cy="360000"/>
              </a:xfrm>
              <a:prstGeom prst="ellipse">
                <a:avLst/>
              </a:prstGeom>
              <a:solidFill>
                <a:srgbClr val="00BFC4"/>
              </a:solidFill>
              <a:ln>
                <a:solidFill>
                  <a:srgbClr val="006D7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E" noProof="0" dirty="0">
                    <a:solidFill>
                      <a:srgbClr val="006D70"/>
                    </a:solidFill>
                  </a:rPr>
                  <a:t>y</a:t>
                </a:r>
                <a:endParaRPr lang="en-US" noProof="0" dirty="0">
                  <a:solidFill>
                    <a:srgbClr val="006D70"/>
                  </a:solidFill>
                </a:endParaRP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5AF66876-61A9-EF38-13C7-9F6E259F8501}"/>
                  </a:ext>
                </a:extLst>
              </p:cNvPr>
              <p:cNvCxnSpPr>
                <a:stCxn id="10" idx="6"/>
                <a:endCxn id="11" idx="2"/>
              </p:cNvCxnSpPr>
              <p:nvPr/>
            </p:nvCxnSpPr>
            <p:spPr>
              <a:xfrm>
                <a:off x="5135076" y="3495677"/>
                <a:ext cx="135735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3DBE66E-892C-928A-80DB-68A14BA5F677}"/>
                  </a:ext>
                </a:extLst>
              </p:cNvPr>
              <p:cNvSpPr/>
              <p:nvPr/>
            </p:nvSpPr>
            <p:spPr>
              <a:xfrm>
                <a:off x="5635330" y="3971925"/>
                <a:ext cx="360000" cy="360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E" noProof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z</a:t>
                </a:r>
                <a:endParaRPr lang="en-US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4EB37684-3A8B-D4D2-9F41-8E055274705E}"/>
                  </a:ext>
                </a:extLst>
              </p:cNvPr>
              <p:cNvCxnSpPr>
                <a:cxnSpLocks/>
                <a:stCxn id="14" idx="7"/>
                <a:endCxn id="11" idx="3"/>
              </p:cNvCxnSpPr>
              <p:nvPr/>
            </p:nvCxnSpPr>
            <p:spPr>
              <a:xfrm flipV="1">
                <a:off x="5942609" y="3622956"/>
                <a:ext cx="602539" cy="40169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FF9DA5B0-7B87-2907-4947-B79ADEF4BB0F}"/>
                  </a:ext>
                </a:extLst>
              </p:cNvPr>
              <p:cNvCxnSpPr>
                <a:cxnSpLocks/>
                <a:stCxn id="10" idx="5"/>
                <a:endCxn id="14" idx="1"/>
              </p:cNvCxnSpPr>
              <p:nvPr/>
            </p:nvCxnSpPr>
            <p:spPr>
              <a:xfrm>
                <a:off x="5082355" y="3622956"/>
                <a:ext cx="605696" cy="40169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9535487-4FB1-CDDA-6ABC-6CC5F0BA6AE4}"/>
                </a:ext>
              </a:extLst>
            </p:cNvPr>
            <p:cNvSpPr txBox="1"/>
            <p:nvPr/>
          </p:nvSpPr>
          <p:spPr>
            <a:xfrm>
              <a:off x="1676638" y="2966913"/>
              <a:ext cx="13532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SE" sz="2000" b="1" dirty="0"/>
                <a:t>Mediation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06E7A17-D001-828D-7C8F-16B83D95C42A}"/>
                </a:ext>
              </a:extLst>
            </p:cNvPr>
            <p:cNvSpPr txBox="1"/>
            <p:nvPr/>
          </p:nvSpPr>
          <p:spPr>
            <a:xfrm>
              <a:off x="1175334" y="4690192"/>
              <a:ext cx="2355863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z</a:t>
              </a:r>
              <a:r>
                <a:rPr lang="en-SE" dirty="0"/>
                <a:t> </a:t>
              </a:r>
              <a:r>
                <a:rPr lang="en-SE" i="1" dirty="0"/>
                <a:t>mediates</a:t>
              </a:r>
              <a:r>
                <a:rPr lang="en-SE" dirty="0"/>
                <a:t> the effect of </a:t>
              </a:r>
              <a:r>
                <a:rPr lang="en-SE" dirty="0">
                  <a:solidFill>
                    <a:srgbClr val="C00000"/>
                  </a:solidFill>
                </a:rPr>
                <a:t>x</a:t>
              </a:r>
              <a:r>
                <a:rPr lang="en-SE" dirty="0"/>
                <a:t> on </a:t>
              </a:r>
              <a:r>
                <a:rPr lang="en-SE" dirty="0">
                  <a:solidFill>
                    <a:srgbClr val="006D70"/>
                  </a:solidFill>
                </a:rPr>
                <a:t>y</a:t>
              </a:r>
              <a:r>
                <a:rPr lang="en-SE" dirty="0"/>
                <a:t>. There is a direct (</a:t>
              </a:r>
              <a:r>
                <a:rPr lang="en-SE" dirty="0">
                  <a:solidFill>
                    <a:srgbClr val="C00000"/>
                  </a:solidFill>
                </a:rPr>
                <a:t>x </a:t>
              </a:r>
              <a:r>
                <a:rPr lang="en-SE" dirty="0"/>
                <a:t>→ </a:t>
              </a:r>
              <a:r>
                <a:rPr lang="en-SE" dirty="0">
                  <a:solidFill>
                    <a:srgbClr val="006D70"/>
                  </a:solidFill>
                </a:rPr>
                <a:t>y</a:t>
              </a:r>
              <a:r>
                <a:rPr lang="en-SE" dirty="0"/>
                <a:t>) and an indirect (</a:t>
              </a:r>
              <a:r>
                <a:rPr lang="en-SE" dirty="0">
                  <a:solidFill>
                    <a:srgbClr val="C00000"/>
                  </a:solidFill>
                </a:rPr>
                <a:t>x</a:t>
              </a:r>
              <a:r>
                <a:rPr lang="en-SE" dirty="0"/>
                <a:t> → </a:t>
              </a:r>
              <a:r>
                <a:rPr lang="en-SE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z </a:t>
              </a:r>
              <a:r>
                <a:rPr lang="en-SE" dirty="0"/>
                <a:t>→ </a:t>
              </a:r>
              <a:r>
                <a:rPr lang="en-SE" dirty="0">
                  <a:solidFill>
                    <a:srgbClr val="006D70"/>
                  </a:solidFill>
                </a:rPr>
                <a:t>y</a:t>
              </a:r>
              <a:r>
                <a:rPr lang="en-SE" dirty="0"/>
                <a:t>) effect.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44D5AB8-2BB2-5D67-6DB2-EC76A993FE61}"/>
              </a:ext>
            </a:extLst>
          </p:cNvPr>
          <p:cNvGrpSpPr/>
          <p:nvPr/>
        </p:nvGrpSpPr>
        <p:grpSpPr>
          <a:xfrm>
            <a:off x="4866058" y="2966913"/>
            <a:ext cx="2459884" cy="3200607"/>
            <a:chOff x="1123324" y="2966913"/>
            <a:chExt cx="2459884" cy="3200607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BFB8F76A-4B9D-FEE4-7B1C-9575C5DF20F0}"/>
                </a:ext>
              </a:extLst>
            </p:cNvPr>
            <p:cNvGrpSpPr/>
            <p:nvPr/>
          </p:nvGrpSpPr>
          <p:grpSpPr>
            <a:xfrm>
              <a:off x="1314591" y="3515395"/>
              <a:ext cx="2077351" cy="1016248"/>
              <a:chOff x="4775076" y="3315677"/>
              <a:chExt cx="2077351" cy="1016248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B74E8736-CD39-C3E3-4242-29306156D275}"/>
                  </a:ext>
                </a:extLst>
              </p:cNvPr>
              <p:cNvSpPr/>
              <p:nvPr/>
            </p:nvSpPr>
            <p:spPr>
              <a:xfrm>
                <a:off x="4775076" y="3315677"/>
                <a:ext cx="360000" cy="360000"/>
              </a:xfrm>
              <a:prstGeom prst="ellipse">
                <a:avLst/>
              </a:prstGeom>
              <a:solidFill>
                <a:srgbClr val="F8766D"/>
              </a:solidFill>
              <a:ln>
                <a:solidFill>
                  <a:srgbClr val="D0180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E" noProof="0" dirty="0">
                    <a:solidFill>
                      <a:srgbClr val="D0180A"/>
                    </a:solidFill>
                  </a:rPr>
                  <a:t>x</a:t>
                </a:r>
                <a:endParaRPr lang="en-US" noProof="0" dirty="0">
                  <a:solidFill>
                    <a:srgbClr val="D0180A"/>
                  </a:solidFill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6B982906-28A7-FF79-1DB4-639FC008B516}"/>
                  </a:ext>
                </a:extLst>
              </p:cNvPr>
              <p:cNvSpPr/>
              <p:nvPr/>
            </p:nvSpPr>
            <p:spPr>
              <a:xfrm>
                <a:off x="6492427" y="3315677"/>
                <a:ext cx="360000" cy="360000"/>
              </a:xfrm>
              <a:prstGeom prst="ellipse">
                <a:avLst/>
              </a:prstGeom>
              <a:solidFill>
                <a:srgbClr val="00BFC4"/>
              </a:solidFill>
              <a:ln>
                <a:solidFill>
                  <a:srgbClr val="006D7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E" noProof="0" dirty="0">
                    <a:solidFill>
                      <a:srgbClr val="006D70"/>
                    </a:solidFill>
                  </a:rPr>
                  <a:t>y</a:t>
                </a:r>
                <a:endParaRPr lang="en-US" noProof="0" dirty="0">
                  <a:solidFill>
                    <a:srgbClr val="006D70"/>
                  </a:solidFill>
                </a:endParaRPr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4F6EC02E-FFF8-14E1-B180-E6081CD30813}"/>
                  </a:ext>
                </a:extLst>
              </p:cNvPr>
              <p:cNvCxnSpPr>
                <a:stCxn id="41" idx="6"/>
                <a:endCxn id="42" idx="2"/>
              </p:cNvCxnSpPr>
              <p:nvPr/>
            </p:nvCxnSpPr>
            <p:spPr>
              <a:xfrm>
                <a:off x="5135076" y="3495677"/>
                <a:ext cx="135735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27B5AA7B-8097-7DAB-BFA3-1D8F00D3DC0E}"/>
                  </a:ext>
                </a:extLst>
              </p:cNvPr>
              <p:cNvSpPr/>
              <p:nvPr/>
            </p:nvSpPr>
            <p:spPr>
              <a:xfrm>
                <a:off x="5635330" y="3971925"/>
                <a:ext cx="360000" cy="360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E" noProof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z</a:t>
                </a:r>
                <a:endParaRPr lang="en-US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4B0DEBE4-0716-6FB7-F534-E47FFBEE6E91}"/>
                  </a:ext>
                </a:extLst>
              </p:cNvPr>
              <p:cNvCxnSpPr>
                <a:cxnSpLocks/>
                <a:stCxn id="44" idx="7"/>
                <a:endCxn id="42" idx="3"/>
              </p:cNvCxnSpPr>
              <p:nvPr/>
            </p:nvCxnSpPr>
            <p:spPr>
              <a:xfrm flipV="1">
                <a:off x="5942609" y="3622956"/>
                <a:ext cx="602539" cy="40169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D5EE27B8-36F6-9833-A4E6-F74CE35EC9BD}"/>
                  </a:ext>
                </a:extLst>
              </p:cNvPr>
              <p:cNvCxnSpPr>
                <a:cxnSpLocks/>
                <a:stCxn id="44" idx="1"/>
                <a:endCxn id="41" idx="5"/>
              </p:cNvCxnSpPr>
              <p:nvPr/>
            </p:nvCxnSpPr>
            <p:spPr>
              <a:xfrm flipH="1" flipV="1">
                <a:off x="5082355" y="3622956"/>
                <a:ext cx="605696" cy="40169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111C5C2-58CA-627E-8D83-C27BC9CD2A8E}"/>
                </a:ext>
              </a:extLst>
            </p:cNvPr>
            <p:cNvSpPr txBox="1"/>
            <p:nvPr/>
          </p:nvSpPr>
          <p:spPr>
            <a:xfrm>
              <a:off x="1506914" y="2966913"/>
              <a:ext cx="16927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SE" sz="2000" b="1" dirty="0"/>
                <a:t>Confounding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FBD48B2-4A24-2255-0DCE-2414C1F7899E}"/>
                </a:ext>
              </a:extLst>
            </p:cNvPr>
            <p:cNvSpPr txBox="1"/>
            <p:nvPr/>
          </p:nvSpPr>
          <p:spPr>
            <a:xfrm>
              <a:off x="1123324" y="4690192"/>
              <a:ext cx="2459884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z</a:t>
              </a:r>
              <a:r>
                <a:rPr lang="en-SE" dirty="0"/>
                <a:t> </a:t>
              </a:r>
              <a:r>
                <a:rPr lang="en-SE" i="1" dirty="0"/>
                <a:t>confounds</a:t>
              </a:r>
              <a:r>
                <a:rPr lang="en-SE" dirty="0"/>
                <a:t> the effect of </a:t>
              </a:r>
              <a:r>
                <a:rPr lang="en-SE" dirty="0">
                  <a:solidFill>
                    <a:srgbClr val="C00000"/>
                  </a:solidFill>
                </a:rPr>
                <a:t>x</a:t>
              </a:r>
              <a:r>
                <a:rPr lang="en-SE" dirty="0"/>
                <a:t> on </a:t>
              </a:r>
              <a:r>
                <a:rPr lang="en-SE" dirty="0">
                  <a:solidFill>
                    <a:srgbClr val="006D70"/>
                  </a:solidFill>
                </a:rPr>
                <a:t>y</a:t>
              </a:r>
              <a:r>
                <a:rPr lang="en-SE" dirty="0"/>
                <a:t>. An observed effect (</a:t>
              </a:r>
              <a:r>
                <a:rPr lang="en-SE" dirty="0">
                  <a:solidFill>
                    <a:srgbClr val="C00000"/>
                  </a:solidFill>
                </a:rPr>
                <a:t>x </a:t>
              </a:r>
              <a:r>
                <a:rPr lang="en-SE" dirty="0"/>
                <a:t>→ </a:t>
              </a:r>
              <a:r>
                <a:rPr lang="en-SE" dirty="0">
                  <a:solidFill>
                    <a:srgbClr val="006D70"/>
                  </a:solidFill>
                </a:rPr>
                <a:t>y</a:t>
              </a:r>
              <a:r>
                <a:rPr lang="en-SE" dirty="0"/>
                <a:t>) might be caused by the confounder (</a:t>
              </a:r>
              <a:r>
                <a:rPr lang="en-SE" dirty="0">
                  <a:solidFill>
                    <a:srgbClr val="C00000"/>
                  </a:solidFill>
                </a:rPr>
                <a:t>x</a:t>
              </a:r>
              <a:r>
                <a:rPr lang="en-SE" dirty="0"/>
                <a:t> ← </a:t>
              </a:r>
              <a:r>
                <a:rPr lang="en-SE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z </a:t>
              </a:r>
              <a:r>
                <a:rPr lang="en-SE" dirty="0"/>
                <a:t>→ </a:t>
              </a:r>
              <a:r>
                <a:rPr lang="en-SE" dirty="0">
                  <a:solidFill>
                    <a:srgbClr val="006D70"/>
                  </a:solidFill>
                </a:rPr>
                <a:t>y</a:t>
              </a:r>
              <a:r>
                <a:rPr lang="en-SE" dirty="0"/>
                <a:t>).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65D4C89-2750-57D8-CBD3-134305571D5F}"/>
              </a:ext>
            </a:extLst>
          </p:cNvPr>
          <p:cNvGrpSpPr/>
          <p:nvPr/>
        </p:nvGrpSpPr>
        <p:grpSpPr>
          <a:xfrm>
            <a:off x="8155918" y="2966913"/>
            <a:ext cx="2355863" cy="2369610"/>
            <a:chOff x="1175334" y="2966913"/>
            <a:chExt cx="2355863" cy="236961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890779AF-1A92-4D2F-A8B9-67EC487FBEF6}"/>
                </a:ext>
              </a:extLst>
            </p:cNvPr>
            <p:cNvGrpSpPr/>
            <p:nvPr/>
          </p:nvGrpSpPr>
          <p:grpSpPr>
            <a:xfrm>
              <a:off x="1314591" y="3515395"/>
              <a:ext cx="2077351" cy="1016248"/>
              <a:chOff x="4775076" y="3315677"/>
              <a:chExt cx="2077351" cy="1016248"/>
            </a:xfrm>
          </p:grpSpPr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35484460-98A6-7F8C-A44F-CD5DD63B412B}"/>
                  </a:ext>
                </a:extLst>
              </p:cNvPr>
              <p:cNvSpPr/>
              <p:nvPr/>
            </p:nvSpPr>
            <p:spPr>
              <a:xfrm>
                <a:off x="4775076" y="3315677"/>
                <a:ext cx="360000" cy="360000"/>
              </a:xfrm>
              <a:prstGeom prst="ellipse">
                <a:avLst/>
              </a:prstGeom>
              <a:solidFill>
                <a:srgbClr val="F8766D"/>
              </a:solidFill>
              <a:ln>
                <a:solidFill>
                  <a:srgbClr val="D0180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E" noProof="0" dirty="0">
                    <a:solidFill>
                      <a:srgbClr val="D0180A"/>
                    </a:solidFill>
                  </a:rPr>
                  <a:t>x</a:t>
                </a:r>
                <a:endParaRPr lang="en-US" noProof="0" dirty="0">
                  <a:solidFill>
                    <a:srgbClr val="D0180A"/>
                  </a:solidFill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712C398B-52E5-8629-0A85-874620CD5E8B}"/>
                  </a:ext>
                </a:extLst>
              </p:cNvPr>
              <p:cNvSpPr/>
              <p:nvPr/>
            </p:nvSpPr>
            <p:spPr>
              <a:xfrm>
                <a:off x="6492427" y="3315677"/>
                <a:ext cx="360000" cy="360000"/>
              </a:xfrm>
              <a:prstGeom prst="ellipse">
                <a:avLst/>
              </a:prstGeom>
              <a:solidFill>
                <a:srgbClr val="00BFC4"/>
              </a:solidFill>
              <a:ln>
                <a:solidFill>
                  <a:srgbClr val="006D7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E" noProof="0" dirty="0">
                    <a:solidFill>
                      <a:srgbClr val="006D70"/>
                    </a:solidFill>
                  </a:rPr>
                  <a:t>y</a:t>
                </a:r>
                <a:endParaRPr lang="en-US" noProof="0" dirty="0">
                  <a:solidFill>
                    <a:srgbClr val="006D70"/>
                  </a:solidFill>
                </a:endParaRPr>
              </a:p>
            </p:txBody>
          </p: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7B8C3F01-14B3-C750-BCA7-532B5AFABAFC}"/>
                  </a:ext>
                </a:extLst>
              </p:cNvPr>
              <p:cNvCxnSpPr>
                <a:stCxn id="51" idx="6"/>
                <a:endCxn id="52" idx="2"/>
              </p:cNvCxnSpPr>
              <p:nvPr/>
            </p:nvCxnSpPr>
            <p:spPr>
              <a:xfrm>
                <a:off x="5135076" y="3495677"/>
                <a:ext cx="135735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1D995665-E695-013D-3D0B-10CBE52B85D8}"/>
                  </a:ext>
                </a:extLst>
              </p:cNvPr>
              <p:cNvSpPr/>
              <p:nvPr/>
            </p:nvSpPr>
            <p:spPr>
              <a:xfrm>
                <a:off x="5635330" y="3971925"/>
                <a:ext cx="360000" cy="360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E" noProof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z</a:t>
                </a:r>
                <a:endParaRPr lang="en-US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ED76C213-3713-35BC-23F8-884CEF53F69F}"/>
                  </a:ext>
                </a:extLst>
              </p:cNvPr>
              <p:cNvCxnSpPr>
                <a:cxnSpLocks/>
                <a:stCxn id="52" idx="3"/>
                <a:endCxn id="54" idx="7"/>
              </p:cNvCxnSpPr>
              <p:nvPr/>
            </p:nvCxnSpPr>
            <p:spPr>
              <a:xfrm flipH="1">
                <a:off x="5942609" y="3622956"/>
                <a:ext cx="602539" cy="40169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6C44C426-CE66-006B-4E9D-FB00406FE97E}"/>
                  </a:ext>
                </a:extLst>
              </p:cNvPr>
              <p:cNvCxnSpPr>
                <a:cxnSpLocks/>
                <a:stCxn id="51" idx="5"/>
                <a:endCxn id="54" idx="1"/>
              </p:cNvCxnSpPr>
              <p:nvPr/>
            </p:nvCxnSpPr>
            <p:spPr>
              <a:xfrm>
                <a:off x="5082355" y="3622956"/>
                <a:ext cx="605696" cy="40169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A1718B7-8EA7-F584-D8E0-7855E8F66DF6}"/>
                </a:ext>
              </a:extLst>
            </p:cNvPr>
            <p:cNvSpPr txBox="1"/>
            <p:nvPr/>
          </p:nvSpPr>
          <p:spPr>
            <a:xfrm>
              <a:off x="1792858" y="2966913"/>
              <a:ext cx="11208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SE" sz="2000" b="1" dirty="0"/>
                <a:t>Collider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9EC47AD-6D30-489F-524F-F93019DE8649}"/>
                </a:ext>
              </a:extLst>
            </p:cNvPr>
            <p:cNvSpPr txBox="1"/>
            <p:nvPr/>
          </p:nvSpPr>
          <p:spPr>
            <a:xfrm>
              <a:off x="1175334" y="4690192"/>
              <a:ext cx="235586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z</a:t>
              </a:r>
              <a:r>
                <a:rPr lang="en-SE" dirty="0"/>
                <a:t> is a common effect of </a:t>
              </a:r>
              <a:r>
                <a:rPr lang="en-SE" dirty="0">
                  <a:solidFill>
                    <a:srgbClr val="C00000"/>
                  </a:solidFill>
                </a:rPr>
                <a:t>x </a:t>
              </a:r>
              <a:r>
                <a:rPr lang="en-SE" dirty="0"/>
                <a:t>and </a:t>
              </a:r>
              <a:r>
                <a:rPr lang="en-SE" dirty="0">
                  <a:solidFill>
                    <a:srgbClr val="006D70"/>
                  </a:solidFill>
                </a:rPr>
                <a:t>y</a:t>
              </a:r>
              <a:r>
                <a:rPr lang="en-SE" dirty="0"/>
                <a:t>.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8131B82-70EB-5685-030A-597F582B9AB4}"/>
              </a:ext>
            </a:extLst>
          </p:cNvPr>
          <p:cNvGrpSpPr/>
          <p:nvPr/>
        </p:nvGrpSpPr>
        <p:grpSpPr>
          <a:xfrm>
            <a:off x="838198" y="365125"/>
            <a:ext cx="1983884" cy="245531"/>
            <a:chOff x="4114799" y="3759391"/>
            <a:chExt cx="1983884" cy="1229241"/>
          </a:xfrm>
        </p:grpSpPr>
        <p:sp>
          <p:nvSpPr>
            <p:cNvPr id="64" name="Arrow: Pentagon 63">
              <a:extLst>
                <a:ext uri="{FF2B5EF4-FFF2-40B4-BE49-F238E27FC236}">
                  <a16:creationId xmlns:a16="http://schemas.microsoft.com/office/drawing/2014/main" id="{27BFBA47-C23E-989C-7BD3-995CF5BE76C0}"/>
                </a:ext>
              </a:extLst>
            </p:cNvPr>
            <p:cNvSpPr/>
            <p:nvPr/>
          </p:nvSpPr>
          <p:spPr>
            <a:xfrm>
              <a:off x="4114799" y="3759391"/>
              <a:ext cx="794039" cy="1229241"/>
            </a:xfrm>
            <a:prstGeom prst="homePlat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/>
                <a:t>Theory</a:t>
              </a:r>
            </a:p>
          </p:txBody>
        </p:sp>
        <p:sp>
          <p:nvSpPr>
            <p:cNvPr id="65" name="Arrow: Chevron 64">
              <a:extLst>
                <a:ext uri="{FF2B5EF4-FFF2-40B4-BE49-F238E27FC236}">
                  <a16:creationId xmlns:a16="http://schemas.microsoft.com/office/drawing/2014/main" id="{50B20765-F225-874D-857C-2C31FA797ECE}"/>
                </a:ext>
              </a:extLst>
            </p:cNvPr>
            <p:cNvSpPr/>
            <p:nvPr/>
          </p:nvSpPr>
          <p:spPr>
            <a:xfrm>
              <a:off x="4843616" y="3759391"/>
              <a:ext cx="1255067" cy="1229241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>
                  <a:solidFill>
                    <a:schemeClr val="bg1">
                      <a:lumMod val="75000"/>
                    </a:schemeClr>
                  </a:solidFill>
                </a:rPr>
                <a:t>Use Case</a:t>
              </a:r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3BBC8-687A-571F-234A-8F231C383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611994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C1B2E-D74E-1A49-69A1-0465FAAE5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The Effect of The Third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7C7AC-0081-21C5-D57F-45DC819D4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71276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How does a third variable affect the relationship of interest?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72029-FE59-7DAF-425F-622ACCA95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18B61-F1D8-F428-7DDC-06459B23B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B1F14-13A0-3E75-8950-A4D61D16D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29</a:t>
            </a:fld>
            <a:endParaRPr lang="en-S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3440B56-7DAB-23BC-EA96-FC2A0567D19B}"/>
              </a:ext>
            </a:extLst>
          </p:cNvPr>
          <p:cNvGrpSpPr/>
          <p:nvPr/>
        </p:nvGrpSpPr>
        <p:grpSpPr>
          <a:xfrm>
            <a:off x="838198" y="365125"/>
            <a:ext cx="1983884" cy="245531"/>
            <a:chOff x="4114799" y="3759391"/>
            <a:chExt cx="1983884" cy="1229241"/>
          </a:xfrm>
        </p:grpSpPr>
        <p:sp>
          <p:nvSpPr>
            <p:cNvPr id="8" name="Arrow: Pentagon 7">
              <a:extLst>
                <a:ext uri="{FF2B5EF4-FFF2-40B4-BE49-F238E27FC236}">
                  <a16:creationId xmlns:a16="http://schemas.microsoft.com/office/drawing/2014/main" id="{0C6E5C91-127F-7A20-B606-C960368AA8AB}"/>
                </a:ext>
              </a:extLst>
            </p:cNvPr>
            <p:cNvSpPr/>
            <p:nvPr/>
          </p:nvSpPr>
          <p:spPr>
            <a:xfrm>
              <a:off x="4114799" y="3759391"/>
              <a:ext cx="794039" cy="1229241"/>
            </a:xfrm>
            <a:prstGeom prst="homePlat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/>
                <a:t>Theory</a:t>
              </a:r>
            </a:p>
          </p:txBody>
        </p:sp>
        <p:sp>
          <p:nvSpPr>
            <p:cNvPr id="9" name="Arrow: Chevron 8">
              <a:extLst>
                <a:ext uri="{FF2B5EF4-FFF2-40B4-BE49-F238E27FC236}">
                  <a16:creationId xmlns:a16="http://schemas.microsoft.com/office/drawing/2014/main" id="{2D756B7A-9D04-C71F-528F-8EEBF18C2D4B}"/>
                </a:ext>
              </a:extLst>
            </p:cNvPr>
            <p:cNvSpPr/>
            <p:nvPr/>
          </p:nvSpPr>
          <p:spPr>
            <a:xfrm>
              <a:off x="4843616" y="3759391"/>
              <a:ext cx="1255067" cy="1229241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>
                  <a:solidFill>
                    <a:schemeClr val="bg1">
                      <a:lumMod val="75000"/>
                    </a:schemeClr>
                  </a:solidFill>
                </a:rPr>
                <a:t>Use Case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66D0965-EE52-4D09-BB94-4F8912FFAB5D}"/>
              </a:ext>
            </a:extLst>
          </p:cNvPr>
          <p:cNvGrpSpPr/>
          <p:nvPr/>
        </p:nvGrpSpPr>
        <p:grpSpPr>
          <a:xfrm>
            <a:off x="838198" y="2669801"/>
            <a:ext cx="2459884" cy="3200607"/>
            <a:chOff x="1123324" y="2966913"/>
            <a:chExt cx="2459884" cy="3200607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85CCF35-DC22-E5C2-D5DE-50A9117DB95F}"/>
                </a:ext>
              </a:extLst>
            </p:cNvPr>
            <p:cNvGrpSpPr/>
            <p:nvPr/>
          </p:nvGrpSpPr>
          <p:grpSpPr>
            <a:xfrm>
              <a:off x="1314591" y="3515395"/>
              <a:ext cx="2077351" cy="1016248"/>
              <a:chOff x="4775076" y="3315677"/>
              <a:chExt cx="2077351" cy="1016248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BDBBD32F-FFC2-02E7-E13B-5103D592FECD}"/>
                  </a:ext>
                </a:extLst>
              </p:cNvPr>
              <p:cNvSpPr/>
              <p:nvPr/>
            </p:nvSpPr>
            <p:spPr>
              <a:xfrm>
                <a:off x="4775076" y="3315677"/>
                <a:ext cx="360000" cy="360000"/>
              </a:xfrm>
              <a:prstGeom prst="ellipse">
                <a:avLst/>
              </a:prstGeom>
              <a:solidFill>
                <a:srgbClr val="F8766D"/>
              </a:solidFill>
              <a:ln>
                <a:solidFill>
                  <a:srgbClr val="D0180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E" noProof="0" dirty="0">
                    <a:solidFill>
                      <a:srgbClr val="D0180A"/>
                    </a:solidFill>
                  </a:rPr>
                  <a:t>x</a:t>
                </a:r>
                <a:endParaRPr lang="en-US" noProof="0" dirty="0">
                  <a:solidFill>
                    <a:srgbClr val="D0180A"/>
                  </a:solidFill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6FEDC16-C409-D8AF-2FFB-7613EFED7520}"/>
                  </a:ext>
                </a:extLst>
              </p:cNvPr>
              <p:cNvSpPr/>
              <p:nvPr/>
            </p:nvSpPr>
            <p:spPr>
              <a:xfrm>
                <a:off x="6492427" y="3315677"/>
                <a:ext cx="360000" cy="360000"/>
              </a:xfrm>
              <a:prstGeom prst="ellipse">
                <a:avLst/>
              </a:prstGeom>
              <a:solidFill>
                <a:srgbClr val="00BFC4"/>
              </a:solidFill>
              <a:ln>
                <a:solidFill>
                  <a:srgbClr val="006D7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E" noProof="0" dirty="0">
                    <a:solidFill>
                      <a:srgbClr val="006D70"/>
                    </a:solidFill>
                  </a:rPr>
                  <a:t>y</a:t>
                </a:r>
                <a:endParaRPr lang="en-US" noProof="0" dirty="0">
                  <a:solidFill>
                    <a:srgbClr val="006D70"/>
                  </a:solidFill>
                </a:endParaRP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D3E7EAB-418D-102A-34EA-7F1A08870114}"/>
                  </a:ext>
                </a:extLst>
              </p:cNvPr>
              <p:cNvCxnSpPr>
                <a:stCxn id="14" idx="6"/>
                <a:endCxn id="15" idx="2"/>
              </p:cNvCxnSpPr>
              <p:nvPr/>
            </p:nvCxnSpPr>
            <p:spPr>
              <a:xfrm>
                <a:off x="5135076" y="3495677"/>
                <a:ext cx="135735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FEB55AC4-7C2A-BB3C-3060-E31840181585}"/>
                  </a:ext>
                </a:extLst>
              </p:cNvPr>
              <p:cNvSpPr/>
              <p:nvPr/>
            </p:nvSpPr>
            <p:spPr>
              <a:xfrm>
                <a:off x="5635330" y="3971925"/>
                <a:ext cx="360000" cy="360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E" noProof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z</a:t>
                </a:r>
                <a:endParaRPr lang="en-US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957D4F6B-53E8-30A0-94BE-DA0EF327D04E}"/>
                  </a:ext>
                </a:extLst>
              </p:cNvPr>
              <p:cNvCxnSpPr>
                <a:cxnSpLocks/>
                <a:stCxn id="17" idx="7"/>
                <a:endCxn id="15" idx="3"/>
              </p:cNvCxnSpPr>
              <p:nvPr/>
            </p:nvCxnSpPr>
            <p:spPr>
              <a:xfrm flipV="1">
                <a:off x="5942609" y="3622956"/>
                <a:ext cx="602539" cy="40169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ACD44F6C-73EA-1398-46CC-DF48E1B1EA69}"/>
                  </a:ext>
                </a:extLst>
              </p:cNvPr>
              <p:cNvCxnSpPr>
                <a:cxnSpLocks/>
                <a:stCxn id="17" idx="1"/>
                <a:endCxn id="14" idx="5"/>
              </p:cNvCxnSpPr>
              <p:nvPr/>
            </p:nvCxnSpPr>
            <p:spPr>
              <a:xfrm flipH="1" flipV="1">
                <a:off x="5082355" y="3622956"/>
                <a:ext cx="605696" cy="40169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0291E65-1EF4-869D-8C69-1C7D26F7BD1B}"/>
                </a:ext>
              </a:extLst>
            </p:cNvPr>
            <p:cNvSpPr txBox="1"/>
            <p:nvPr/>
          </p:nvSpPr>
          <p:spPr>
            <a:xfrm>
              <a:off x="1506914" y="2966913"/>
              <a:ext cx="16927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SE" sz="2000" b="1" dirty="0"/>
                <a:t>Confounding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E811088-3261-F7A0-5C29-57EA9BAD62A1}"/>
                </a:ext>
              </a:extLst>
            </p:cNvPr>
            <p:cNvSpPr txBox="1"/>
            <p:nvPr/>
          </p:nvSpPr>
          <p:spPr>
            <a:xfrm>
              <a:off x="1123324" y="4690192"/>
              <a:ext cx="2459884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z</a:t>
              </a:r>
              <a:r>
                <a:rPr lang="en-SE" dirty="0"/>
                <a:t> </a:t>
              </a:r>
              <a:r>
                <a:rPr lang="en-SE" i="1" dirty="0"/>
                <a:t>confounds</a:t>
              </a:r>
              <a:r>
                <a:rPr lang="en-SE" dirty="0"/>
                <a:t> the effect of </a:t>
              </a:r>
              <a:r>
                <a:rPr lang="en-SE" dirty="0">
                  <a:solidFill>
                    <a:srgbClr val="C00000"/>
                  </a:solidFill>
                </a:rPr>
                <a:t>x</a:t>
              </a:r>
              <a:r>
                <a:rPr lang="en-SE" dirty="0"/>
                <a:t> on </a:t>
              </a:r>
              <a:r>
                <a:rPr lang="en-SE" dirty="0">
                  <a:solidFill>
                    <a:srgbClr val="006D70"/>
                  </a:solidFill>
                </a:rPr>
                <a:t>y</a:t>
              </a:r>
              <a:r>
                <a:rPr lang="en-SE" dirty="0"/>
                <a:t>. An observed effect (</a:t>
              </a:r>
              <a:r>
                <a:rPr lang="en-SE" dirty="0">
                  <a:solidFill>
                    <a:srgbClr val="C00000"/>
                  </a:solidFill>
                </a:rPr>
                <a:t>x </a:t>
              </a:r>
              <a:r>
                <a:rPr lang="en-SE" dirty="0"/>
                <a:t>→ </a:t>
              </a:r>
              <a:r>
                <a:rPr lang="en-SE" dirty="0">
                  <a:solidFill>
                    <a:srgbClr val="006D70"/>
                  </a:solidFill>
                </a:rPr>
                <a:t>y</a:t>
              </a:r>
              <a:r>
                <a:rPr lang="en-SE" dirty="0"/>
                <a:t>) might be caused by the confounder (</a:t>
              </a:r>
              <a:r>
                <a:rPr lang="en-SE" dirty="0">
                  <a:solidFill>
                    <a:srgbClr val="C00000"/>
                  </a:solidFill>
                </a:rPr>
                <a:t>x</a:t>
              </a:r>
              <a:r>
                <a:rPr lang="en-SE" dirty="0"/>
                <a:t> ← </a:t>
              </a:r>
              <a:r>
                <a:rPr lang="en-SE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z </a:t>
              </a:r>
              <a:r>
                <a:rPr lang="en-SE" dirty="0"/>
                <a:t>→ </a:t>
              </a:r>
              <a:r>
                <a:rPr lang="en-SE" dirty="0">
                  <a:solidFill>
                    <a:srgbClr val="006D70"/>
                  </a:solidFill>
                </a:rPr>
                <a:t>y</a:t>
              </a:r>
              <a:r>
                <a:rPr lang="en-SE" dirty="0"/>
                <a:t>).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9CF8037-BC8D-F721-1D19-7C85401EA06E}"/>
              </a:ext>
            </a:extLst>
          </p:cNvPr>
          <p:cNvGrpSpPr/>
          <p:nvPr/>
        </p:nvGrpSpPr>
        <p:grpSpPr>
          <a:xfrm>
            <a:off x="8715880" y="4658695"/>
            <a:ext cx="2000435" cy="1966888"/>
            <a:chOff x="6777805" y="3218283"/>
            <a:chExt cx="2000435" cy="1966888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E3D2BB6A-200A-A61A-79AD-4180EE7056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4375" y="3218283"/>
              <a:ext cx="0" cy="1481039"/>
            </a:xfrm>
            <a:prstGeom prst="straightConnector1">
              <a:avLst/>
            </a:prstGeom>
            <a:ln>
              <a:solidFill>
                <a:srgbClr val="007A7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EF46BF4-6598-7997-0C43-AE591E62F12D}"/>
                </a:ext>
              </a:extLst>
            </p:cNvPr>
            <p:cNvSpPr txBox="1"/>
            <p:nvPr/>
          </p:nvSpPr>
          <p:spPr>
            <a:xfrm rot="16200000">
              <a:off x="6325694" y="3896349"/>
              <a:ext cx="1273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dirty="0">
                  <a:solidFill>
                    <a:srgbClr val="007A7D"/>
                  </a:solidFill>
                </a:rPr>
                <a:t>Outcome y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F1AF2AB-B541-24D6-ADAB-5E62AFD03763}"/>
                </a:ext>
              </a:extLst>
            </p:cNvPr>
            <p:cNvCxnSpPr>
              <a:cxnSpLocks/>
            </p:cNvCxnSpPr>
            <p:nvPr/>
          </p:nvCxnSpPr>
          <p:spPr>
            <a:xfrm>
              <a:off x="7174375" y="4699322"/>
              <a:ext cx="1603865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AD3D1CE-8E5A-8E93-3356-C42624578FA2}"/>
                </a:ext>
              </a:extLst>
            </p:cNvPr>
            <p:cNvSpPr txBox="1"/>
            <p:nvPr/>
          </p:nvSpPr>
          <p:spPr>
            <a:xfrm>
              <a:off x="7147137" y="4815839"/>
              <a:ext cx="15218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dirty="0">
                  <a:solidFill>
                    <a:schemeClr val="bg1">
                      <a:lumMod val="50000"/>
                    </a:schemeClr>
                  </a:solidFill>
                </a:rPr>
                <a:t>Confounder z</a:t>
              </a:r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C496A0E-FE24-08A6-862D-E82F6F9DB7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4375" y="3726407"/>
              <a:ext cx="1508476" cy="59440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039489E-F642-FD8B-1007-D9B2E29BC77A}"/>
              </a:ext>
            </a:extLst>
          </p:cNvPr>
          <p:cNvGrpSpPr/>
          <p:nvPr/>
        </p:nvGrpSpPr>
        <p:grpSpPr>
          <a:xfrm>
            <a:off x="8715885" y="2655483"/>
            <a:ext cx="2000430" cy="1966888"/>
            <a:chOff x="6777810" y="3218283"/>
            <a:chExt cx="2000430" cy="1966888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05927F8D-3800-93F8-F7FC-756A060535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4375" y="3218283"/>
              <a:ext cx="0" cy="1481039"/>
            </a:xfrm>
            <a:prstGeom prst="straightConnector1">
              <a:avLst/>
            </a:prstGeom>
            <a:ln>
              <a:solidFill>
                <a:srgbClr val="D0180A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3BB98F0-1389-6843-E6E4-820D8D137018}"/>
                </a:ext>
              </a:extLst>
            </p:cNvPr>
            <p:cNvSpPr txBox="1"/>
            <p:nvPr/>
          </p:nvSpPr>
          <p:spPr>
            <a:xfrm rot="16200000">
              <a:off x="6333906" y="3896349"/>
              <a:ext cx="12571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dirty="0">
                  <a:solidFill>
                    <a:srgbClr val="D0180A"/>
                  </a:solidFill>
                </a:rPr>
                <a:t>Exposure x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E67D6373-931B-4274-2753-DB3DB8A76941}"/>
                </a:ext>
              </a:extLst>
            </p:cNvPr>
            <p:cNvCxnSpPr>
              <a:cxnSpLocks/>
            </p:cNvCxnSpPr>
            <p:nvPr/>
          </p:nvCxnSpPr>
          <p:spPr>
            <a:xfrm>
              <a:off x="7174375" y="4699322"/>
              <a:ext cx="1603865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61F1363-F448-383A-8C43-83930548B1D3}"/>
                </a:ext>
              </a:extLst>
            </p:cNvPr>
            <p:cNvSpPr txBox="1"/>
            <p:nvPr/>
          </p:nvSpPr>
          <p:spPr>
            <a:xfrm>
              <a:off x="7147137" y="4815839"/>
              <a:ext cx="15218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dirty="0">
                  <a:solidFill>
                    <a:schemeClr val="bg1">
                      <a:lumMod val="50000"/>
                    </a:schemeClr>
                  </a:solidFill>
                </a:rPr>
                <a:t>Confounder z</a:t>
              </a: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7F690829-A543-CD10-D4C0-64C2CDBD90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4375" y="3726407"/>
              <a:ext cx="1508476" cy="59440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2" name="Left Brace 71">
            <a:extLst>
              <a:ext uri="{FF2B5EF4-FFF2-40B4-BE49-F238E27FC236}">
                <a16:creationId xmlns:a16="http://schemas.microsoft.com/office/drawing/2014/main" id="{1BF883A8-95E0-B85D-690D-0D82D0E49D28}"/>
              </a:ext>
            </a:extLst>
          </p:cNvPr>
          <p:cNvSpPr/>
          <p:nvPr/>
        </p:nvSpPr>
        <p:spPr>
          <a:xfrm>
            <a:off x="6229342" y="2696901"/>
            <a:ext cx="560765" cy="3442828"/>
          </a:xfrm>
          <a:prstGeom prst="leftBrace">
            <a:avLst>
              <a:gd name="adj1" fmla="val 38771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9FC48F8-4F74-E1B3-FEF7-2ADAF885C2CD}"/>
              </a:ext>
            </a:extLst>
          </p:cNvPr>
          <p:cNvGrpSpPr/>
          <p:nvPr/>
        </p:nvGrpSpPr>
        <p:grpSpPr>
          <a:xfrm>
            <a:off x="3932405" y="3205907"/>
            <a:ext cx="1897221" cy="1861229"/>
            <a:chOff x="3932405" y="3205907"/>
            <a:chExt cx="1897221" cy="1861229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C414133-EC40-9B48-870C-580330A97B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7201" y="3205907"/>
              <a:ext cx="0" cy="1481039"/>
            </a:xfrm>
            <a:prstGeom prst="straightConnector1">
              <a:avLst/>
            </a:prstGeom>
            <a:ln>
              <a:solidFill>
                <a:srgbClr val="007A7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C0125C4-6647-25B8-DEB5-76E06523DB15}"/>
                </a:ext>
              </a:extLst>
            </p:cNvPr>
            <p:cNvSpPr txBox="1"/>
            <p:nvPr/>
          </p:nvSpPr>
          <p:spPr>
            <a:xfrm rot="16200000">
              <a:off x="3480294" y="3868735"/>
              <a:ext cx="1273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dirty="0">
                  <a:solidFill>
                    <a:srgbClr val="007A7D"/>
                  </a:solidFill>
                </a:rPr>
                <a:t>Outcome y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0BDB26B-DE51-BFFD-7497-8C1502F6968E}"/>
                </a:ext>
              </a:extLst>
            </p:cNvPr>
            <p:cNvCxnSpPr>
              <a:cxnSpLocks/>
            </p:cNvCxnSpPr>
            <p:nvPr/>
          </p:nvCxnSpPr>
          <p:spPr>
            <a:xfrm>
              <a:off x="4317201" y="4686946"/>
              <a:ext cx="1512425" cy="0"/>
            </a:xfrm>
            <a:prstGeom prst="straightConnector1">
              <a:avLst/>
            </a:prstGeom>
            <a:ln>
              <a:solidFill>
                <a:srgbClr val="D0180A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D994391-7FC5-D805-54A6-B18FA0A1D69A}"/>
                </a:ext>
              </a:extLst>
            </p:cNvPr>
            <p:cNvSpPr txBox="1"/>
            <p:nvPr/>
          </p:nvSpPr>
          <p:spPr>
            <a:xfrm>
              <a:off x="4369400" y="4697804"/>
              <a:ext cx="12472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SE" dirty="0">
                  <a:solidFill>
                    <a:srgbClr val="D0180A"/>
                  </a:solidFill>
                </a:rPr>
                <a:t>exposure x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7F2D382-C4B6-03A9-3B39-FDB93B72D2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0592" y="3726407"/>
              <a:ext cx="1508476" cy="59440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9874252-5F12-4B4B-02DB-F1A5A09AEBD4}"/>
              </a:ext>
            </a:extLst>
          </p:cNvPr>
          <p:cNvGrpSpPr/>
          <p:nvPr/>
        </p:nvGrpSpPr>
        <p:grpSpPr>
          <a:xfrm>
            <a:off x="6550453" y="3218283"/>
            <a:ext cx="1897221" cy="1861229"/>
            <a:chOff x="3932405" y="3205907"/>
            <a:chExt cx="1897221" cy="1861229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3395644-B984-9BB0-46D1-B784D56B88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7201" y="3205907"/>
              <a:ext cx="0" cy="1481039"/>
            </a:xfrm>
            <a:prstGeom prst="straightConnector1">
              <a:avLst/>
            </a:prstGeom>
            <a:ln>
              <a:solidFill>
                <a:srgbClr val="007A7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2C8522F-2012-07BF-9B5B-0EC8BDFD9FB7}"/>
                </a:ext>
              </a:extLst>
            </p:cNvPr>
            <p:cNvSpPr txBox="1"/>
            <p:nvPr/>
          </p:nvSpPr>
          <p:spPr>
            <a:xfrm rot="16200000">
              <a:off x="3480294" y="3868735"/>
              <a:ext cx="1273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dirty="0">
                  <a:solidFill>
                    <a:srgbClr val="007A7D"/>
                  </a:solidFill>
                </a:rPr>
                <a:t>Outcome y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29839C37-F407-0F4A-0543-9717EB71C19E}"/>
                </a:ext>
              </a:extLst>
            </p:cNvPr>
            <p:cNvCxnSpPr>
              <a:cxnSpLocks/>
            </p:cNvCxnSpPr>
            <p:nvPr/>
          </p:nvCxnSpPr>
          <p:spPr>
            <a:xfrm>
              <a:off x="4317201" y="4686946"/>
              <a:ext cx="1512425" cy="0"/>
            </a:xfrm>
            <a:prstGeom prst="straightConnector1">
              <a:avLst/>
            </a:prstGeom>
            <a:ln>
              <a:solidFill>
                <a:srgbClr val="D0180A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AEA4326-3B1A-86AA-B61C-469435542CAC}"/>
                </a:ext>
              </a:extLst>
            </p:cNvPr>
            <p:cNvSpPr txBox="1"/>
            <p:nvPr/>
          </p:nvSpPr>
          <p:spPr>
            <a:xfrm>
              <a:off x="4369400" y="4697804"/>
              <a:ext cx="12472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SE" dirty="0">
                  <a:solidFill>
                    <a:srgbClr val="D0180A"/>
                  </a:solidFill>
                </a:rPr>
                <a:t>exposure x</a:t>
              </a:r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5D771AE-1463-336C-90CB-8FAE369ED5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2346" y="4053400"/>
              <a:ext cx="1402556" cy="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12218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FC76B-E085-1C3A-8041-B0012C645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Dealing with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C54F7-A656-1DB1-99B0-91845F9B3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53434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Based on the type of relationship between variables, these additional factors need to be treated differently.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98028-883D-ADD7-8952-1B9D14F05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84A1A5-003C-5FE8-9EE0-EF263B6A4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30</a:t>
            </a:fld>
            <a:endParaRPr lang="en-SE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1EFB82E-744D-4531-9E4F-627A578DB3E7}"/>
              </a:ext>
            </a:extLst>
          </p:cNvPr>
          <p:cNvSpPr txBox="1">
            <a:spLocks/>
          </p:cNvSpPr>
          <p:nvPr/>
        </p:nvSpPr>
        <p:spPr>
          <a:xfrm>
            <a:off x="838198" y="5450699"/>
            <a:ext cx="10515600" cy="9534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E" dirty="0"/>
              <a:t>Control can either be by design (fixing variables) or by analysis (stratifying the data).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430AF2D-EB76-E3A8-06EE-6F5FA47DDDE1}"/>
              </a:ext>
            </a:extLst>
          </p:cNvPr>
          <p:cNvGrpSpPr/>
          <p:nvPr/>
        </p:nvGrpSpPr>
        <p:grpSpPr>
          <a:xfrm>
            <a:off x="1226150" y="2779059"/>
            <a:ext cx="3191864" cy="2605247"/>
            <a:chOff x="727287" y="2966913"/>
            <a:chExt cx="3191864" cy="2605247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C7AE6D3-33B2-AE1A-44F6-B9301657C7DD}"/>
                </a:ext>
              </a:extLst>
            </p:cNvPr>
            <p:cNvGrpSpPr/>
            <p:nvPr/>
          </p:nvGrpSpPr>
          <p:grpSpPr>
            <a:xfrm>
              <a:off x="1314591" y="3515395"/>
              <a:ext cx="2077351" cy="1016248"/>
              <a:chOff x="4775076" y="3315677"/>
              <a:chExt cx="2077351" cy="1016248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8E6C76E5-000D-FDA1-09D9-3792E017A399}"/>
                  </a:ext>
                </a:extLst>
              </p:cNvPr>
              <p:cNvSpPr/>
              <p:nvPr/>
            </p:nvSpPr>
            <p:spPr>
              <a:xfrm>
                <a:off x="4775076" y="3315677"/>
                <a:ext cx="360000" cy="360000"/>
              </a:xfrm>
              <a:prstGeom prst="ellipse">
                <a:avLst/>
              </a:prstGeom>
              <a:solidFill>
                <a:srgbClr val="F8766D"/>
              </a:solidFill>
              <a:ln>
                <a:solidFill>
                  <a:srgbClr val="D0180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E" noProof="0" dirty="0">
                    <a:solidFill>
                      <a:srgbClr val="D0180A"/>
                    </a:solidFill>
                  </a:rPr>
                  <a:t>x</a:t>
                </a:r>
                <a:endParaRPr lang="en-US" noProof="0" dirty="0">
                  <a:solidFill>
                    <a:srgbClr val="D0180A"/>
                  </a:solidFill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6D8C0D06-0598-3099-CE1B-249F98FA14D8}"/>
                  </a:ext>
                </a:extLst>
              </p:cNvPr>
              <p:cNvSpPr/>
              <p:nvPr/>
            </p:nvSpPr>
            <p:spPr>
              <a:xfrm>
                <a:off x="6492427" y="3315677"/>
                <a:ext cx="360000" cy="360000"/>
              </a:xfrm>
              <a:prstGeom prst="ellipse">
                <a:avLst/>
              </a:prstGeom>
              <a:solidFill>
                <a:srgbClr val="00BFC4"/>
              </a:solidFill>
              <a:ln>
                <a:solidFill>
                  <a:srgbClr val="006D7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E" noProof="0" dirty="0">
                    <a:solidFill>
                      <a:srgbClr val="006D70"/>
                    </a:solidFill>
                  </a:rPr>
                  <a:t>y</a:t>
                </a:r>
                <a:endParaRPr lang="en-US" noProof="0" dirty="0">
                  <a:solidFill>
                    <a:srgbClr val="006D70"/>
                  </a:solidFill>
                </a:endParaRP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BA733C45-3433-5A6D-743A-8047B9D1DBAC}"/>
                  </a:ext>
                </a:extLst>
              </p:cNvPr>
              <p:cNvCxnSpPr>
                <a:stCxn id="14" idx="6"/>
                <a:endCxn id="15" idx="2"/>
              </p:cNvCxnSpPr>
              <p:nvPr/>
            </p:nvCxnSpPr>
            <p:spPr>
              <a:xfrm>
                <a:off x="5135076" y="3495677"/>
                <a:ext cx="135735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B014FCB4-5D50-ADD8-8DCF-618AB5E1008E}"/>
                  </a:ext>
                </a:extLst>
              </p:cNvPr>
              <p:cNvSpPr/>
              <p:nvPr/>
            </p:nvSpPr>
            <p:spPr>
              <a:xfrm>
                <a:off x="5635330" y="3971925"/>
                <a:ext cx="360000" cy="360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E" noProof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z</a:t>
                </a:r>
                <a:endParaRPr lang="en-US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3290AE9B-D695-8E1F-C445-E55F1526D458}"/>
                  </a:ext>
                </a:extLst>
              </p:cNvPr>
              <p:cNvCxnSpPr>
                <a:cxnSpLocks/>
                <a:stCxn id="17" idx="7"/>
                <a:endCxn id="15" idx="3"/>
              </p:cNvCxnSpPr>
              <p:nvPr/>
            </p:nvCxnSpPr>
            <p:spPr>
              <a:xfrm flipV="1">
                <a:off x="5942609" y="3622956"/>
                <a:ext cx="602539" cy="40169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7F93EBE0-E14D-CED6-DB1E-BC27F7DC9C86}"/>
                  </a:ext>
                </a:extLst>
              </p:cNvPr>
              <p:cNvCxnSpPr>
                <a:cxnSpLocks/>
                <a:stCxn id="14" idx="5"/>
                <a:endCxn id="17" idx="1"/>
              </p:cNvCxnSpPr>
              <p:nvPr/>
            </p:nvCxnSpPr>
            <p:spPr>
              <a:xfrm>
                <a:off x="5082355" y="3622956"/>
                <a:ext cx="605696" cy="40169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18AA6C7-A27A-ECB2-8DFB-EDE0A6268DA1}"/>
                </a:ext>
              </a:extLst>
            </p:cNvPr>
            <p:cNvSpPr txBox="1"/>
            <p:nvPr/>
          </p:nvSpPr>
          <p:spPr>
            <a:xfrm>
              <a:off x="1676638" y="2966913"/>
              <a:ext cx="13532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SE" sz="2000" b="1" dirty="0"/>
                <a:t>Mediation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4D23881-5978-044D-3344-833DA955F9EC}"/>
                </a:ext>
              </a:extLst>
            </p:cNvPr>
            <p:cNvSpPr txBox="1"/>
            <p:nvPr/>
          </p:nvSpPr>
          <p:spPr>
            <a:xfrm>
              <a:off x="727287" y="4648830"/>
              <a:ext cx="319186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dirty="0"/>
                <a:t>You </a:t>
              </a:r>
              <a:r>
                <a:rPr lang="en-SE" b="1" dirty="0">
                  <a:solidFill>
                    <a:srgbClr val="FFC000"/>
                  </a:solidFill>
                </a:rPr>
                <a:t>can</a:t>
              </a:r>
              <a:r>
                <a:rPr lang="en-SE" dirty="0"/>
                <a:t> control z if you want to distinguish the direct from the indirect effect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713E191-9224-2D99-BC7E-F31C4AA42A46}"/>
              </a:ext>
            </a:extLst>
          </p:cNvPr>
          <p:cNvGrpSpPr/>
          <p:nvPr/>
        </p:nvGrpSpPr>
        <p:grpSpPr>
          <a:xfrm>
            <a:off x="4866056" y="2779059"/>
            <a:ext cx="2459884" cy="2369610"/>
            <a:chOff x="1123324" y="2966913"/>
            <a:chExt cx="2459884" cy="236961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E24E2FF-B93E-4CED-B543-165E49927080}"/>
                </a:ext>
              </a:extLst>
            </p:cNvPr>
            <p:cNvGrpSpPr/>
            <p:nvPr/>
          </p:nvGrpSpPr>
          <p:grpSpPr>
            <a:xfrm>
              <a:off x="1314591" y="3515395"/>
              <a:ext cx="2077351" cy="1016248"/>
              <a:chOff x="4775076" y="3315677"/>
              <a:chExt cx="2077351" cy="1016248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33ED6B84-F60B-86CA-BEEC-5662DD0FC4C7}"/>
                  </a:ext>
                </a:extLst>
              </p:cNvPr>
              <p:cNvSpPr/>
              <p:nvPr/>
            </p:nvSpPr>
            <p:spPr>
              <a:xfrm>
                <a:off x="4775076" y="3315677"/>
                <a:ext cx="360000" cy="360000"/>
              </a:xfrm>
              <a:prstGeom prst="ellipse">
                <a:avLst/>
              </a:prstGeom>
              <a:solidFill>
                <a:srgbClr val="F8766D"/>
              </a:solidFill>
              <a:ln>
                <a:solidFill>
                  <a:srgbClr val="D0180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E" noProof="0" dirty="0">
                    <a:solidFill>
                      <a:srgbClr val="D0180A"/>
                    </a:solidFill>
                  </a:rPr>
                  <a:t>x</a:t>
                </a:r>
                <a:endParaRPr lang="en-US" noProof="0" dirty="0">
                  <a:solidFill>
                    <a:srgbClr val="D0180A"/>
                  </a:solidFill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E4BF4B26-3E6F-C100-ADCC-5BB209053AA7}"/>
                  </a:ext>
                </a:extLst>
              </p:cNvPr>
              <p:cNvSpPr/>
              <p:nvPr/>
            </p:nvSpPr>
            <p:spPr>
              <a:xfrm>
                <a:off x="6492427" y="3315677"/>
                <a:ext cx="360000" cy="360000"/>
              </a:xfrm>
              <a:prstGeom prst="ellipse">
                <a:avLst/>
              </a:prstGeom>
              <a:solidFill>
                <a:srgbClr val="00BFC4"/>
              </a:solidFill>
              <a:ln>
                <a:solidFill>
                  <a:srgbClr val="006D7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E" noProof="0" dirty="0">
                    <a:solidFill>
                      <a:srgbClr val="006D70"/>
                    </a:solidFill>
                  </a:rPr>
                  <a:t>y</a:t>
                </a:r>
                <a:endParaRPr lang="en-US" noProof="0" dirty="0">
                  <a:solidFill>
                    <a:srgbClr val="006D70"/>
                  </a:solidFill>
                </a:endParaRPr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84EAB315-C8A2-7646-4ADE-416C0BAEAE6B}"/>
                  </a:ext>
                </a:extLst>
              </p:cNvPr>
              <p:cNvCxnSpPr>
                <a:stCxn id="24" idx="6"/>
                <a:endCxn id="25" idx="2"/>
              </p:cNvCxnSpPr>
              <p:nvPr/>
            </p:nvCxnSpPr>
            <p:spPr>
              <a:xfrm>
                <a:off x="5135076" y="3495677"/>
                <a:ext cx="135735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EA12F74D-68A2-138B-5599-D5E9400A0333}"/>
                  </a:ext>
                </a:extLst>
              </p:cNvPr>
              <p:cNvSpPr/>
              <p:nvPr/>
            </p:nvSpPr>
            <p:spPr>
              <a:xfrm>
                <a:off x="5635330" y="3971925"/>
                <a:ext cx="360000" cy="360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E" noProof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z</a:t>
                </a:r>
                <a:endParaRPr lang="en-US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CF4C2293-C912-5509-A387-3E73D2377E06}"/>
                  </a:ext>
                </a:extLst>
              </p:cNvPr>
              <p:cNvCxnSpPr>
                <a:cxnSpLocks/>
                <a:stCxn id="27" idx="7"/>
                <a:endCxn id="25" idx="3"/>
              </p:cNvCxnSpPr>
              <p:nvPr/>
            </p:nvCxnSpPr>
            <p:spPr>
              <a:xfrm flipV="1">
                <a:off x="5942609" y="3622956"/>
                <a:ext cx="602539" cy="40169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3D58E405-B9D2-E41B-F4AE-A713A386F1D4}"/>
                  </a:ext>
                </a:extLst>
              </p:cNvPr>
              <p:cNvCxnSpPr>
                <a:cxnSpLocks/>
                <a:stCxn id="27" idx="1"/>
                <a:endCxn id="24" idx="5"/>
              </p:cNvCxnSpPr>
              <p:nvPr/>
            </p:nvCxnSpPr>
            <p:spPr>
              <a:xfrm flipH="1" flipV="1">
                <a:off x="5082355" y="3622956"/>
                <a:ext cx="605696" cy="40169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617B311-8122-A509-A786-BCE36D7B3EE0}"/>
                </a:ext>
              </a:extLst>
            </p:cNvPr>
            <p:cNvSpPr txBox="1"/>
            <p:nvPr/>
          </p:nvSpPr>
          <p:spPr>
            <a:xfrm>
              <a:off x="1506914" y="2966913"/>
              <a:ext cx="16927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SE" sz="2000" b="1" dirty="0"/>
                <a:t>Confounding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83C5DCB-C678-0056-7F68-7AA3312BAC46}"/>
                </a:ext>
              </a:extLst>
            </p:cNvPr>
            <p:cNvSpPr txBox="1"/>
            <p:nvPr/>
          </p:nvSpPr>
          <p:spPr>
            <a:xfrm>
              <a:off x="1123324" y="4690192"/>
              <a:ext cx="24598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dirty="0"/>
                <a:t>You </a:t>
              </a:r>
              <a:r>
                <a:rPr lang="en-SE" b="1" dirty="0">
                  <a:solidFill>
                    <a:srgbClr val="C00000"/>
                  </a:solidFill>
                </a:rPr>
                <a:t>must</a:t>
              </a:r>
              <a:r>
                <a:rPr lang="en-SE" dirty="0"/>
                <a:t> control z to avoid confounding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CFE650C-E3AE-5423-5269-F6F50FF02B83}"/>
              </a:ext>
            </a:extLst>
          </p:cNvPr>
          <p:cNvGrpSpPr/>
          <p:nvPr/>
        </p:nvGrpSpPr>
        <p:grpSpPr>
          <a:xfrm>
            <a:off x="8078306" y="2779059"/>
            <a:ext cx="2459884" cy="2364142"/>
            <a:chOff x="1123324" y="2966913"/>
            <a:chExt cx="2459884" cy="236414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32DA2B9-14EF-DA79-C376-CC40422ED0C0}"/>
                </a:ext>
              </a:extLst>
            </p:cNvPr>
            <p:cNvGrpSpPr/>
            <p:nvPr/>
          </p:nvGrpSpPr>
          <p:grpSpPr>
            <a:xfrm>
              <a:off x="1314591" y="3515395"/>
              <a:ext cx="2077351" cy="1016248"/>
              <a:chOff x="4775076" y="3315677"/>
              <a:chExt cx="2077351" cy="1016248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AD11D4DD-4AB4-E1CF-65E2-C87C0CA2556B}"/>
                  </a:ext>
                </a:extLst>
              </p:cNvPr>
              <p:cNvSpPr/>
              <p:nvPr/>
            </p:nvSpPr>
            <p:spPr>
              <a:xfrm>
                <a:off x="4775076" y="3315677"/>
                <a:ext cx="360000" cy="360000"/>
              </a:xfrm>
              <a:prstGeom prst="ellipse">
                <a:avLst/>
              </a:prstGeom>
              <a:solidFill>
                <a:srgbClr val="F8766D"/>
              </a:solidFill>
              <a:ln>
                <a:solidFill>
                  <a:srgbClr val="D0180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E" noProof="0" dirty="0">
                    <a:solidFill>
                      <a:srgbClr val="D0180A"/>
                    </a:solidFill>
                  </a:rPr>
                  <a:t>x</a:t>
                </a:r>
                <a:endParaRPr lang="en-US" noProof="0" dirty="0">
                  <a:solidFill>
                    <a:srgbClr val="D0180A"/>
                  </a:solidFill>
                </a:endParaRP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919DE96A-60A6-67E4-A54B-11204719B3B9}"/>
                  </a:ext>
                </a:extLst>
              </p:cNvPr>
              <p:cNvSpPr/>
              <p:nvPr/>
            </p:nvSpPr>
            <p:spPr>
              <a:xfrm>
                <a:off x="6492427" y="3315677"/>
                <a:ext cx="360000" cy="360000"/>
              </a:xfrm>
              <a:prstGeom prst="ellipse">
                <a:avLst/>
              </a:prstGeom>
              <a:solidFill>
                <a:srgbClr val="00BFC4"/>
              </a:solidFill>
              <a:ln>
                <a:solidFill>
                  <a:srgbClr val="006D7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E" noProof="0" dirty="0">
                    <a:solidFill>
                      <a:srgbClr val="006D70"/>
                    </a:solidFill>
                  </a:rPr>
                  <a:t>y</a:t>
                </a:r>
                <a:endParaRPr lang="en-US" noProof="0" dirty="0">
                  <a:solidFill>
                    <a:srgbClr val="006D70"/>
                  </a:solidFill>
                </a:endParaRP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060EB5E0-E113-9DF2-E468-AD966C9D1E67}"/>
                  </a:ext>
                </a:extLst>
              </p:cNvPr>
              <p:cNvCxnSpPr>
                <a:stCxn id="34" idx="6"/>
                <a:endCxn id="35" idx="2"/>
              </p:cNvCxnSpPr>
              <p:nvPr/>
            </p:nvCxnSpPr>
            <p:spPr>
              <a:xfrm>
                <a:off x="5135076" y="3495677"/>
                <a:ext cx="135735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DF9A06EA-AE79-F441-70E9-D2BBAFF6563E}"/>
                  </a:ext>
                </a:extLst>
              </p:cNvPr>
              <p:cNvSpPr/>
              <p:nvPr/>
            </p:nvSpPr>
            <p:spPr>
              <a:xfrm>
                <a:off x="5635330" y="3971925"/>
                <a:ext cx="360000" cy="360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SE" noProof="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z</a:t>
                </a:r>
                <a:endParaRPr lang="en-US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29FAD130-575C-9EA8-F949-4315D877F440}"/>
                  </a:ext>
                </a:extLst>
              </p:cNvPr>
              <p:cNvCxnSpPr>
                <a:cxnSpLocks/>
                <a:stCxn id="35" idx="3"/>
                <a:endCxn id="37" idx="7"/>
              </p:cNvCxnSpPr>
              <p:nvPr/>
            </p:nvCxnSpPr>
            <p:spPr>
              <a:xfrm flipH="1">
                <a:off x="5942609" y="3622956"/>
                <a:ext cx="602539" cy="40169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C78A5542-4D32-18EC-BC81-372006177D5F}"/>
                  </a:ext>
                </a:extLst>
              </p:cNvPr>
              <p:cNvCxnSpPr>
                <a:cxnSpLocks/>
                <a:stCxn id="34" idx="5"/>
                <a:endCxn id="37" idx="1"/>
              </p:cNvCxnSpPr>
              <p:nvPr/>
            </p:nvCxnSpPr>
            <p:spPr>
              <a:xfrm>
                <a:off x="5082355" y="3622956"/>
                <a:ext cx="605696" cy="40169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620ECC8-F003-68E2-CF40-7AD97E74ED38}"/>
                </a:ext>
              </a:extLst>
            </p:cNvPr>
            <p:cNvSpPr txBox="1"/>
            <p:nvPr/>
          </p:nvSpPr>
          <p:spPr>
            <a:xfrm>
              <a:off x="1792858" y="2966913"/>
              <a:ext cx="11208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SE" sz="2000" b="1" dirty="0"/>
                <a:t>Collider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6C103A4-FB2F-A14A-870A-7FA3DCF18DA8}"/>
                </a:ext>
              </a:extLst>
            </p:cNvPr>
            <p:cNvSpPr txBox="1"/>
            <p:nvPr/>
          </p:nvSpPr>
          <p:spPr>
            <a:xfrm>
              <a:off x="1123324" y="4684724"/>
              <a:ext cx="245988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SE" dirty="0"/>
                <a:t>You </a:t>
              </a:r>
              <a:r>
                <a:rPr lang="en-SE" b="1" dirty="0">
                  <a:solidFill>
                    <a:srgbClr val="92D050"/>
                  </a:solidFill>
                </a:rPr>
                <a:t>must not </a:t>
              </a:r>
              <a:r>
                <a:rPr lang="en-SE" dirty="0"/>
                <a:t>control z to avoid confounding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520F82F-B69D-DA62-8421-7B15C04A4339}"/>
              </a:ext>
            </a:extLst>
          </p:cNvPr>
          <p:cNvGrpSpPr/>
          <p:nvPr/>
        </p:nvGrpSpPr>
        <p:grpSpPr>
          <a:xfrm>
            <a:off x="838198" y="365125"/>
            <a:ext cx="1983884" cy="245531"/>
            <a:chOff x="4114799" y="3759391"/>
            <a:chExt cx="1983884" cy="1229241"/>
          </a:xfrm>
        </p:grpSpPr>
        <p:sp>
          <p:nvSpPr>
            <p:cNvPr id="41" name="Arrow: Pentagon 40">
              <a:extLst>
                <a:ext uri="{FF2B5EF4-FFF2-40B4-BE49-F238E27FC236}">
                  <a16:creationId xmlns:a16="http://schemas.microsoft.com/office/drawing/2014/main" id="{D42EEA87-1A21-A673-AB5B-DCBCD4F5D1EC}"/>
                </a:ext>
              </a:extLst>
            </p:cNvPr>
            <p:cNvSpPr/>
            <p:nvPr/>
          </p:nvSpPr>
          <p:spPr>
            <a:xfrm>
              <a:off x="4114799" y="3759391"/>
              <a:ext cx="794039" cy="1229241"/>
            </a:xfrm>
            <a:prstGeom prst="homePlat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/>
                <a:t>Theory</a:t>
              </a:r>
            </a:p>
          </p:txBody>
        </p:sp>
        <p:sp>
          <p:nvSpPr>
            <p:cNvPr id="42" name="Arrow: Chevron 41">
              <a:extLst>
                <a:ext uri="{FF2B5EF4-FFF2-40B4-BE49-F238E27FC236}">
                  <a16:creationId xmlns:a16="http://schemas.microsoft.com/office/drawing/2014/main" id="{315C45EC-0311-83F9-D2FF-3EE7AB52C76A}"/>
                </a:ext>
              </a:extLst>
            </p:cNvPr>
            <p:cNvSpPr/>
            <p:nvPr/>
          </p:nvSpPr>
          <p:spPr>
            <a:xfrm>
              <a:off x="4843616" y="3759391"/>
              <a:ext cx="1255067" cy="1229241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>
                  <a:solidFill>
                    <a:schemeClr val="tx1"/>
                  </a:solidFill>
                </a:rPr>
                <a:t>Use Case</a:t>
              </a:r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B06D0-FAD1-3235-912F-11214C1D8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938812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7B31D-E9A6-F619-A45A-273B92E0D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DD5DE-5135-60C8-F7B7-2850F396F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Identifying Paths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9CBA8-9FCC-1057-008C-EFC14BA83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E" dirty="0"/>
              <a:t>Understanding the influence of additional variables on a relationship of interest (</a:t>
            </a:r>
            <a:r>
              <a:rPr lang="en-SE" dirty="0">
                <a:solidFill>
                  <a:srgbClr val="D0180A"/>
                </a:solidFill>
              </a:rPr>
              <a:t>exposure</a:t>
            </a:r>
            <a:r>
              <a:rPr lang="en-SE" dirty="0"/>
              <a:t> → </a:t>
            </a:r>
            <a:r>
              <a:rPr lang="en-SE" dirty="0">
                <a:solidFill>
                  <a:srgbClr val="007A7D"/>
                </a:solidFill>
              </a:rPr>
              <a:t>outcome</a:t>
            </a:r>
            <a:r>
              <a:rPr lang="en-SE" dirty="0"/>
              <a:t>) allows us to </a:t>
            </a:r>
            <a:r>
              <a:rPr lang="en-SE" b="1" dirty="0"/>
              <a:t>de-confound this relationship </a:t>
            </a:r>
            <a:r>
              <a:rPr lang="en-SE" dirty="0"/>
              <a:t>and</a:t>
            </a:r>
            <a:r>
              <a:rPr lang="en-SE" i="1" dirty="0"/>
              <a:t> draw causal conclusions</a:t>
            </a:r>
            <a:r>
              <a:rPr lang="en-SE" dirty="0"/>
              <a:t>.</a:t>
            </a:r>
          </a:p>
          <a:p>
            <a:pPr marL="0" indent="0">
              <a:buNone/>
            </a:pPr>
            <a:r>
              <a:rPr lang="en-SE" dirty="0"/>
              <a:t>For this, we need to understand </a:t>
            </a:r>
            <a:r>
              <a:rPr lang="en-SE" b="1" dirty="0"/>
              <a:t>paths</a:t>
            </a:r>
            <a:r>
              <a:rPr lang="en-SE" dirty="0"/>
              <a:t>. A path is any non-cyclic, consecutive sequence of relationships in a DAG.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E5E06-DA4B-ADE6-DFB4-E52FD5F0C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A6123-DF03-A069-10B9-792555B74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F1386-2204-B2E3-6040-2630B1008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31</a:t>
            </a:fld>
            <a:endParaRPr lang="en-S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3C82E74-6173-0F15-AA98-551988E1B7B2}"/>
              </a:ext>
            </a:extLst>
          </p:cNvPr>
          <p:cNvGrpSpPr/>
          <p:nvPr/>
        </p:nvGrpSpPr>
        <p:grpSpPr>
          <a:xfrm>
            <a:off x="838198" y="365125"/>
            <a:ext cx="1983884" cy="245531"/>
            <a:chOff x="4114799" y="3759391"/>
            <a:chExt cx="1983884" cy="1229241"/>
          </a:xfrm>
        </p:grpSpPr>
        <p:sp>
          <p:nvSpPr>
            <p:cNvPr id="8" name="Arrow: Pentagon 7">
              <a:extLst>
                <a:ext uri="{FF2B5EF4-FFF2-40B4-BE49-F238E27FC236}">
                  <a16:creationId xmlns:a16="http://schemas.microsoft.com/office/drawing/2014/main" id="{833F07B6-756B-AB44-4CBA-28C0856C8876}"/>
                </a:ext>
              </a:extLst>
            </p:cNvPr>
            <p:cNvSpPr/>
            <p:nvPr/>
          </p:nvSpPr>
          <p:spPr>
            <a:xfrm>
              <a:off x="4114799" y="3759391"/>
              <a:ext cx="794039" cy="1229241"/>
            </a:xfrm>
            <a:prstGeom prst="homePlat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/>
                <a:t>Theory</a:t>
              </a:r>
            </a:p>
          </p:txBody>
        </p:sp>
        <p:sp>
          <p:nvSpPr>
            <p:cNvPr id="9" name="Arrow: Chevron 8">
              <a:extLst>
                <a:ext uri="{FF2B5EF4-FFF2-40B4-BE49-F238E27FC236}">
                  <a16:creationId xmlns:a16="http://schemas.microsoft.com/office/drawing/2014/main" id="{A2F9BD90-CE3C-2914-E3F6-F3700BC1A67F}"/>
                </a:ext>
              </a:extLst>
            </p:cNvPr>
            <p:cNvSpPr/>
            <p:nvPr/>
          </p:nvSpPr>
          <p:spPr>
            <a:xfrm>
              <a:off x="4843616" y="3759391"/>
              <a:ext cx="1255067" cy="1229241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>
                  <a:solidFill>
                    <a:schemeClr val="bg1">
                      <a:lumMod val="75000"/>
                    </a:schemeClr>
                  </a:solidFill>
                </a:rPr>
                <a:t>Use Case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4543263-1D74-C88D-97E9-1F3C22CB1B57}"/>
              </a:ext>
            </a:extLst>
          </p:cNvPr>
          <p:cNvGrpSpPr/>
          <p:nvPr/>
        </p:nvGrpSpPr>
        <p:grpSpPr>
          <a:xfrm>
            <a:off x="2155710" y="4001294"/>
            <a:ext cx="2851380" cy="2400863"/>
            <a:chOff x="1328964" y="3551713"/>
            <a:chExt cx="2851380" cy="2400863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DC53AB4-98F7-700C-851D-13534A2299CF}"/>
                </a:ext>
              </a:extLst>
            </p:cNvPr>
            <p:cNvSpPr/>
            <p:nvPr/>
          </p:nvSpPr>
          <p:spPr>
            <a:xfrm>
              <a:off x="1328964" y="4394427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B5F6CBA-45B8-1B54-1C13-12363F7D8D9B}"/>
                </a:ext>
              </a:extLst>
            </p:cNvPr>
            <p:cNvSpPr/>
            <p:nvPr/>
          </p:nvSpPr>
          <p:spPr>
            <a:xfrm>
              <a:off x="3820344" y="4394427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chemeClr val="tx1"/>
                  </a:solidFill>
                </a:rPr>
                <a:t>b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7991FE9-45FF-D0F2-583C-DFA1BB8243CD}"/>
                </a:ext>
              </a:extLst>
            </p:cNvPr>
            <p:cNvCxnSpPr>
              <a:stCxn id="10" idx="6"/>
              <a:endCxn id="11" idx="2"/>
            </p:cNvCxnSpPr>
            <p:nvPr/>
          </p:nvCxnSpPr>
          <p:spPr>
            <a:xfrm>
              <a:off x="1688964" y="4574427"/>
              <a:ext cx="21313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E258AC4-5047-D280-360C-A617D5396AD7}"/>
                </a:ext>
              </a:extLst>
            </p:cNvPr>
            <p:cNvSpPr/>
            <p:nvPr/>
          </p:nvSpPr>
          <p:spPr>
            <a:xfrm>
              <a:off x="2574654" y="5052577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chemeClr val="tx1"/>
                  </a:solidFill>
                </a:rPr>
                <a:t>e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3315C4E-043F-4299-7D77-F78D206B547A}"/>
                </a:ext>
              </a:extLst>
            </p:cNvPr>
            <p:cNvCxnSpPr>
              <a:cxnSpLocks/>
              <a:stCxn id="13" idx="6"/>
              <a:endCxn id="11" idx="3"/>
            </p:cNvCxnSpPr>
            <p:nvPr/>
          </p:nvCxnSpPr>
          <p:spPr>
            <a:xfrm flipV="1">
              <a:off x="2934654" y="4701706"/>
              <a:ext cx="938411" cy="5308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060F15A-6074-81BA-60D4-42F63FF997F6}"/>
                </a:ext>
              </a:extLst>
            </p:cNvPr>
            <p:cNvCxnSpPr>
              <a:cxnSpLocks/>
              <a:stCxn id="10" idx="5"/>
              <a:endCxn id="13" idx="2"/>
            </p:cNvCxnSpPr>
            <p:nvPr/>
          </p:nvCxnSpPr>
          <p:spPr>
            <a:xfrm>
              <a:off x="1636243" y="4701706"/>
              <a:ext cx="938411" cy="5308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510333E-284B-4AD4-C6BF-5E0C264FC7D7}"/>
                </a:ext>
              </a:extLst>
            </p:cNvPr>
            <p:cNvSpPr/>
            <p:nvPr/>
          </p:nvSpPr>
          <p:spPr>
            <a:xfrm>
              <a:off x="1330258" y="3556278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3FF819F-83B5-FD6F-F20D-EA573A07E2E1}"/>
                </a:ext>
              </a:extLst>
            </p:cNvPr>
            <p:cNvSpPr/>
            <p:nvPr/>
          </p:nvSpPr>
          <p:spPr>
            <a:xfrm>
              <a:off x="2574654" y="3551713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chemeClr val="tx1"/>
                  </a:solidFill>
                </a:rPr>
                <a:t>d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9275CEA-9062-23ED-5BF8-8FF3C76FE0CA}"/>
                </a:ext>
              </a:extLst>
            </p:cNvPr>
            <p:cNvCxnSpPr>
              <a:cxnSpLocks/>
              <a:stCxn id="16" idx="4"/>
              <a:endCxn id="10" idx="0"/>
            </p:cNvCxnSpPr>
            <p:nvPr/>
          </p:nvCxnSpPr>
          <p:spPr>
            <a:xfrm flipH="1">
              <a:off x="1508964" y="3916278"/>
              <a:ext cx="1294" cy="47814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5054FFFD-A346-3F4D-8F29-FD14C45BD875}"/>
                </a:ext>
              </a:extLst>
            </p:cNvPr>
            <p:cNvCxnSpPr>
              <a:cxnSpLocks/>
              <a:stCxn id="16" idx="6"/>
              <a:endCxn id="17" idx="2"/>
            </p:cNvCxnSpPr>
            <p:nvPr/>
          </p:nvCxnSpPr>
          <p:spPr>
            <a:xfrm flipV="1">
              <a:off x="1690258" y="3731713"/>
              <a:ext cx="884396" cy="456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F8EA730-01F7-B01F-50F7-EF8CAE45F3D9}"/>
                </a:ext>
              </a:extLst>
            </p:cNvPr>
            <p:cNvCxnSpPr>
              <a:cxnSpLocks/>
              <a:stCxn id="11" idx="1"/>
              <a:endCxn id="17" idx="5"/>
            </p:cNvCxnSpPr>
            <p:nvPr/>
          </p:nvCxnSpPr>
          <p:spPr>
            <a:xfrm flipH="1" flipV="1">
              <a:off x="2881933" y="3858992"/>
              <a:ext cx="991132" cy="58815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D420EF2-7107-5EFA-AE01-0B1B40640B24}"/>
                </a:ext>
              </a:extLst>
            </p:cNvPr>
            <p:cNvSpPr/>
            <p:nvPr/>
          </p:nvSpPr>
          <p:spPr>
            <a:xfrm>
              <a:off x="1328964" y="5592576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C1F1C49-461C-61C7-74E5-7EA64543DA48}"/>
                </a:ext>
              </a:extLst>
            </p:cNvPr>
            <p:cNvSpPr/>
            <p:nvPr/>
          </p:nvSpPr>
          <p:spPr>
            <a:xfrm>
              <a:off x="3820344" y="5592576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noProof="0" dirty="0">
                  <a:solidFill>
                    <a:schemeClr val="tx1"/>
                  </a:solidFill>
                </a:rPr>
                <a:t>g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7226BFD-25DD-BD25-31B0-02B88C636BAB}"/>
                </a:ext>
              </a:extLst>
            </p:cNvPr>
            <p:cNvCxnSpPr>
              <a:cxnSpLocks/>
              <a:stCxn id="21" idx="0"/>
              <a:endCxn id="10" idx="4"/>
            </p:cNvCxnSpPr>
            <p:nvPr/>
          </p:nvCxnSpPr>
          <p:spPr>
            <a:xfrm flipV="1">
              <a:off x="1508964" y="4754427"/>
              <a:ext cx="0" cy="83814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FBDC1535-2DD0-AA4C-FEAD-F0835C0CA629}"/>
                </a:ext>
              </a:extLst>
            </p:cNvPr>
            <p:cNvCxnSpPr>
              <a:cxnSpLocks/>
              <a:stCxn id="21" idx="6"/>
              <a:endCxn id="22" idx="2"/>
            </p:cNvCxnSpPr>
            <p:nvPr/>
          </p:nvCxnSpPr>
          <p:spPr>
            <a:xfrm>
              <a:off x="1688964" y="5772576"/>
              <a:ext cx="213138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9823EC6-1607-8BF0-612F-54E94867090A}"/>
                </a:ext>
              </a:extLst>
            </p:cNvPr>
            <p:cNvCxnSpPr>
              <a:cxnSpLocks/>
              <a:stCxn id="22" idx="0"/>
              <a:endCxn id="11" idx="4"/>
            </p:cNvCxnSpPr>
            <p:nvPr/>
          </p:nvCxnSpPr>
          <p:spPr>
            <a:xfrm flipV="1">
              <a:off x="4000344" y="4754427"/>
              <a:ext cx="0" cy="83814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F7941236-DE14-0DD7-C0EC-415D0BE22341}"/>
              </a:ext>
            </a:extLst>
          </p:cNvPr>
          <p:cNvSpPr txBox="1"/>
          <p:nvPr/>
        </p:nvSpPr>
        <p:spPr>
          <a:xfrm>
            <a:off x="5236309" y="5564554"/>
            <a:ext cx="426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b="1" dirty="0"/>
              <a:t>(open) backdoor path</a:t>
            </a:r>
            <a:r>
              <a:rPr lang="en-SE" dirty="0"/>
              <a:t>: path that starts with an arrow </a:t>
            </a:r>
            <a:r>
              <a:rPr lang="en-SE" i="1" dirty="0"/>
              <a:t>entering the </a:t>
            </a:r>
            <a:r>
              <a:rPr lang="en-SE" i="1" dirty="0">
                <a:solidFill>
                  <a:srgbClr val="C00000"/>
                </a:solidFill>
              </a:rPr>
              <a:t>exposure</a:t>
            </a:r>
            <a:endParaRPr lang="en-SE" dirty="0">
              <a:solidFill>
                <a:srgbClr val="C0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2C2AF4-10A9-B1F5-0F35-F34C40DBE434}"/>
              </a:ext>
            </a:extLst>
          </p:cNvPr>
          <p:cNvSpPr txBox="1"/>
          <p:nvPr/>
        </p:nvSpPr>
        <p:spPr>
          <a:xfrm>
            <a:off x="5236308" y="4038128"/>
            <a:ext cx="4619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b="1" dirty="0"/>
              <a:t>closed path</a:t>
            </a:r>
            <a:r>
              <a:rPr lang="en-SE" dirty="0"/>
              <a:t>: path that contains a collider (d)</a:t>
            </a:r>
            <a:endParaRPr lang="en-SE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9668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DCDE7-1223-9778-1325-9BD7ECAA9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AE039-0BAF-21F4-43C6-11E7267ED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d-Separation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677A1-CAF1-C80D-A9C8-5DEB632CF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/>
              <a:t>A general framework to derive statistical models from causal models uses </a:t>
            </a:r>
            <a:r>
              <a:rPr lang="en-US" sz="2400" b="1" noProof="0" dirty="0"/>
              <a:t>d-separation</a:t>
            </a:r>
            <a:r>
              <a:rPr lang="en-US" sz="2400" noProof="0" dirty="0"/>
              <a:t>. It produces an </a:t>
            </a:r>
            <a:r>
              <a:rPr lang="en-US" sz="2400" b="1" noProof="0" dirty="0"/>
              <a:t>adjustment set</a:t>
            </a:r>
            <a:r>
              <a:rPr lang="en-US" sz="2400" noProof="0" dirty="0"/>
              <a:t>, i.e., the set of variables to control statistically in order to de-confound the causal effect between the exposure and the outcome.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4F1FC-8DF7-9A95-7AF1-A702A4468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2026-05-12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EDA96-D8DE-F120-25A8-D7DF9F7DA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Good Science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91CF4-3AFF-E562-FDA5-EE850B868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32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DFD197-A361-BDA0-0AE1-EBB49FA91E6F}"/>
              </a:ext>
            </a:extLst>
          </p:cNvPr>
          <p:cNvSpPr txBox="1"/>
          <p:nvPr/>
        </p:nvSpPr>
        <p:spPr>
          <a:xfrm>
            <a:off x="838200" y="59870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noProof="0" dirty="0">
                <a:hlinkClick r:id="rId3"/>
              </a:rPr>
              <a:t>https://bayes.cs.ucla.edu/BOOK-2K/d-sep.html</a:t>
            </a:r>
            <a:r>
              <a:rPr lang="en-US" noProof="0" dirty="0"/>
              <a:t>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80A3830-6B4B-805A-0233-291D5E2B5724}"/>
              </a:ext>
            </a:extLst>
          </p:cNvPr>
          <p:cNvGrpSpPr/>
          <p:nvPr/>
        </p:nvGrpSpPr>
        <p:grpSpPr>
          <a:xfrm>
            <a:off x="838198" y="365125"/>
            <a:ext cx="1983884" cy="245531"/>
            <a:chOff x="4114799" y="3759391"/>
            <a:chExt cx="1983884" cy="1229241"/>
          </a:xfrm>
        </p:grpSpPr>
        <p:sp>
          <p:nvSpPr>
            <p:cNvPr id="9" name="Arrow: Pentagon 8">
              <a:extLst>
                <a:ext uri="{FF2B5EF4-FFF2-40B4-BE49-F238E27FC236}">
                  <a16:creationId xmlns:a16="http://schemas.microsoft.com/office/drawing/2014/main" id="{5EE58288-6077-45A1-0782-3223A2A27D25}"/>
                </a:ext>
              </a:extLst>
            </p:cNvPr>
            <p:cNvSpPr/>
            <p:nvPr/>
          </p:nvSpPr>
          <p:spPr>
            <a:xfrm>
              <a:off x="4114799" y="3759391"/>
              <a:ext cx="794039" cy="1229241"/>
            </a:xfrm>
            <a:prstGeom prst="homePlat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/>
                <a:t>Theory</a:t>
              </a:r>
            </a:p>
          </p:txBody>
        </p:sp>
        <p:sp>
          <p:nvSpPr>
            <p:cNvPr id="10" name="Arrow: Chevron 9">
              <a:extLst>
                <a:ext uri="{FF2B5EF4-FFF2-40B4-BE49-F238E27FC236}">
                  <a16:creationId xmlns:a16="http://schemas.microsoft.com/office/drawing/2014/main" id="{9B297FF7-867F-B343-3AD7-3AA6A305132A}"/>
                </a:ext>
              </a:extLst>
            </p:cNvPr>
            <p:cNvSpPr/>
            <p:nvPr/>
          </p:nvSpPr>
          <p:spPr>
            <a:xfrm>
              <a:off x="4843616" y="3759391"/>
              <a:ext cx="1255067" cy="1229241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>
                  <a:solidFill>
                    <a:schemeClr val="tx1"/>
                  </a:solidFill>
                </a:rPr>
                <a:t>Use Case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5070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DA66E-ACFF-1268-CDA5-18AC5C848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56EFA-FB6F-EA4D-7A66-1AAE04EC7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d-Separation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10461-5544-791C-36EA-5F7830BB5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/>
              <a:t>A general framework to derive statistical models from causal models uses </a:t>
            </a:r>
            <a:r>
              <a:rPr lang="en-US" sz="2400" b="1" noProof="0" dirty="0"/>
              <a:t>d-separation</a:t>
            </a:r>
            <a:r>
              <a:rPr lang="en-US" sz="2400" noProof="0" dirty="0"/>
              <a:t>. It produces an </a:t>
            </a:r>
            <a:r>
              <a:rPr lang="en-US" sz="2400" b="1" noProof="0" dirty="0"/>
              <a:t>adjustment set</a:t>
            </a:r>
            <a:r>
              <a:rPr lang="en-US" sz="2400" noProof="0" dirty="0"/>
              <a:t>, i.e., the set of variables to control statistically in order to de-confound the causal effect between the exposure and the outcome.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DF340-E5BB-4C8A-26F3-A75AA7492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2026-05-12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754B9-6194-75F6-FD55-44F99A285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Good Science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287CD-A3D9-D6F2-2DAD-937B67C91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33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E5C05E-890A-85C3-746A-68D3691EFC1C}"/>
              </a:ext>
            </a:extLst>
          </p:cNvPr>
          <p:cNvSpPr txBox="1"/>
          <p:nvPr/>
        </p:nvSpPr>
        <p:spPr>
          <a:xfrm>
            <a:off x="838200" y="59870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noProof="0" dirty="0">
                <a:hlinkClick r:id="rId3"/>
              </a:rPr>
              <a:t>https://bayes.cs.ucla.edu/BOOK-2K/d-sep.html</a:t>
            </a:r>
            <a:r>
              <a:rPr lang="en-US" noProof="0" dirty="0"/>
              <a:t> 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AEE7681-F563-0162-5D6E-13B8797B989B}"/>
              </a:ext>
            </a:extLst>
          </p:cNvPr>
          <p:cNvSpPr/>
          <p:nvPr/>
        </p:nvSpPr>
        <p:spPr>
          <a:xfrm>
            <a:off x="1328964" y="4394427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D9BB880-B857-43FD-5C44-050598F8ECD2}"/>
              </a:ext>
            </a:extLst>
          </p:cNvPr>
          <p:cNvSpPr/>
          <p:nvPr/>
        </p:nvSpPr>
        <p:spPr>
          <a:xfrm>
            <a:off x="3820344" y="4394427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1628A8E-B656-3DBE-64A7-287580785766}"/>
              </a:ext>
            </a:extLst>
          </p:cNvPr>
          <p:cNvCxnSpPr>
            <a:stCxn id="11" idx="6"/>
            <a:endCxn id="12" idx="2"/>
          </p:cNvCxnSpPr>
          <p:nvPr/>
        </p:nvCxnSpPr>
        <p:spPr>
          <a:xfrm>
            <a:off x="1688964" y="4574427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635496F8-682B-93C7-04C7-FE12C0D55C7C}"/>
              </a:ext>
            </a:extLst>
          </p:cNvPr>
          <p:cNvSpPr/>
          <p:nvPr/>
        </p:nvSpPr>
        <p:spPr>
          <a:xfrm>
            <a:off x="2574654" y="5052577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2C317EE-C832-0C92-F95E-28C6AEDAD01A}"/>
              </a:ext>
            </a:extLst>
          </p:cNvPr>
          <p:cNvCxnSpPr>
            <a:cxnSpLocks/>
            <a:stCxn id="16" idx="6"/>
            <a:endCxn id="12" idx="3"/>
          </p:cNvCxnSpPr>
          <p:nvPr/>
        </p:nvCxnSpPr>
        <p:spPr>
          <a:xfrm flipV="1">
            <a:off x="2934654" y="4701706"/>
            <a:ext cx="938411" cy="530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C7EB212-8EA8-1217-9094-BE082E0788FB}"/>
              </a:ext>
            </a:extLst>
          </p:cNvPr>
          <p:cNvCxnSpPr>
            <a:cxnSpLocks/>
            <a:stCxn id="11" idx="5"/>
            <a:endCxn id="16" idx="2"/>
          </p:cNvCxnSpPr>
          <p:nvPr/>
        </p:nvCxnSpPr>
        <p:spPr>
          <a:xfrm>
            <a:off x="1636243" y="4701706"/>
            <a:ext cx="938411" cy="530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C5BD7D2C-3CFF-CEB3-2074-3DD65931219E}"/>
              </a:ext>
            </a:extLst>
          </p:cNvPr>
          <p:cNvSpPr/>
          <p:nvPr/>
        </p:nvSpPr>
        <p:spPr>
          <a:xfrm>
            <a:off x="1330258" y="3556278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9839CD6-8FB8-88C1-12A4-FD4B8E7691A4}"/>
              </a:ext>
            </a:extLst>
          </p:cNvPr>
          <p:cNvSpPr/>
          <p:nvPr/>
        </p:nvSpPr>
        <p:spPr>
          <a:xfrm>
            <a:off x="2574654" y="3551713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FC0513E-92A3-E8C3-7CDE-670E13813BE4}"/>
              </a:ext>
            </a:extLst>
          </p:cNvPr>
          <p:cNvCxnSpPr>
            <a:cxnSpLocks/>
            <a:stCxn id="23" idx="4"/>
            <a:endCxn id="11" idx="0"/>
          </p:cNvCxnSpPr>
          <p:nvPr/>
        </p:nvCxnSpPr>
        <p:spPr>
          <a:xfrm flipH="1">
            <a:off x="1508964" y="3916278"/>
            <a:ext cx="1294" cy="478149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6C3CF87-8090-3130-EC04-45E9A05B29CA}"/>
              </a:ext>
            </a:extLst>
          </p:cNvPr>
          <p:cNvCxnSpPr>
            <a:cxnSpLocks/>
            <a:stCxn id="23" idx="6"/>
            <a:endCxn id="24" idx="2"/>
          </p:cNvCxnSpPr>
          <p:nvPr/>
        </p:nvCxnSpPr>
        <p:spPr>
          <a:xfrm flipV="1">
            <a:off x="1690258" y="3731713"/>
            <a:ext cx="884396" cy="4565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1D4BF4C-56D2-FFE6-53ED-F00543734C3D}"/>
              </a:ext>
            </a:extLst>
          </p:cNvPr>
          <p:cNvCxnSpPr>
            <a:cxnSpLocks/>
            <a:stCxn id="12" idx="1"/>
            <a:endCxn id="24" idx="5"/>
          </p:cNvCxnSpPr>
          <p:nvPr/>
        </p:nvCxnSpPr>
        <p:spPr>
          <a:xfrm flipH="1" flipV="1">
            <a:off x="2881933" y="3858992"/>
            <a:ext cx="991132" cy="588156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6F2EB214-29DF-7F9B-D114-9A7C523FB416}"/>
              </a:ext>
            </a:extLst>
          </p:cNvPr>
          <p:cNvSpPr/>
          <p:nvPr/>
        </p:nvSpPr>
        <p:spPr>
          <a:xfrm>
            <a:off x="1328964" y="5592576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071C02B5-4BAE-B196-4A9B-66025C81659C}"/>
              </a:ext>
            </a:extLst>
          </p:cNvPr>
          <p:cNvSpPr/>
          <p:nvPr/>
        </p:nvSpPr>
        <p:spPr>
          <a:xfrm>
            <a:off x="3820344" y="5592576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90230D3-BCCE-D220-18FC-AD8204217065}"/>
              </a:ext>
            </a:extLst>
          </p:cNvPr>
          <p:cNvCxnSpPr>
            <a:cxnSpLocks/>
            <a:stCxn id="54" idx="0"/>
            <a:endCxn id="11" idx="4"/>
          </p:cNvCxnSpPr>
          <p:nvPr/>
        </p:nvCxnSpPr>
        <p:spPr>
          <a:xfrm flipV="1">
            <a:off x="1508964" y="4754427"/>
            <a:ext cx="0" cy="838149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724D3C6-1542-35A3-4F4E-57DA07CF6998}"/>
              </a:ext>
            </a:extLst>
          </p:cNvPr>
          <p:cNvCxnSpPr>
            <a:cxnSpLocks/>
            <a:stCxn id="54" idx="6"/>
            <a:endCxn id="55" idx="2"/>
          </p:cNvCxnSpPr>
          <p:nvPr/>
        </p:nvCxnSpPr>
        <p:spPr>
          <a:xfrm>
            <a:off x="1688964" y="5772576"/>
            <a:ext cx="2131380" cy="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207E108-9D92-DBC9-C7BD-85801EE87899}"/>
              </a:ext>
            </a:extLst>
          </p:cNvPr>
          <p:cNvCxnSpPr>
            <a:cxnSpLocks/>
            <a:stCxn id="55" idx="0"/>
            <a:endCxn id="12" idx="4"/>
          </p:cNvCxnSpPr>
          <p:nvPr/>
        </p:nvCxnSpPr>
        <p:spPr>
          <a:xfrm flipV="1">
            <a:off x="4000344" y="4754427"/>
            <a:ext cx="0" cy="838149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60D6E7E-47A1-684A-1423-8DBB4A488B04}"/>
              </a:ext>
            </a:extLst>
          </p:cNvPr>
          <p:cNvGrpSpPr/>
          <p:nvPr/>
        </p:nvGrpSpPr>
        <p:grpSpPr>
          <a:xfrm>
            <a:off x="4564594" y="3582332"/>
            <a:ext cx="2563289" cy="432000"/>
            <a:chOff x="4604412" y="1893985"/>
            <a:chExt cx="2563289" cy="432000"/>
          </a:xfrm>
        </p:grpSpPr>
        <p:sp>
          <p:nvSpPr>
            <p:cNvPr id="70" name="Arrow: Pentagon 69">
              <a:extLst>
                <a:ext uri="{FF2B5EF4-FFF2-40B4-BE49-F238E27FC236}">
                  <a16:creationId xmlns:a16="http://schemas.microsoft.com/office/drawing/2014/main" id="{84C6A342-7F7C-4480-2DAB-71497AEC56DE}"/>
                </a:ext>
              </a:extLst>
            </p:cNvPr>
            <p:cNvSpPr/>
            <p:nvPr/>
          </p:nvSpPr>
          <p:spPr>
            <a:xfrm>
              <a:off x="4604412" y="1893985"/>
              <a:ext cx="2563289" cy="432000"/>
            </a:xfrm>
            <a:prstGeom prst="homePlat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rtlCol="0" anchor="ctr"/>
            <a:lstStyle/>
            <a:p>
              <a:r>
                <a:rPr lang="en-US" noProof="0" dirty="0"/>
                <a:t>Model Derivation</a:t>
              </a:r>
            </a:p>
          </p:txBody>
        </p:sp>
        <p:pic>
          <p:nvPicPr>
            <p:cNvPr id="71" name="Graphic 70" descr="Connections with solid fill">
              <a:extLst>
                <a:ext uri="{FF2B5EF4-FFF2-40B4-BE49-F238E27FC236}">
                  <a16:creationId xmlns:a16="http://schemas.microsoft.com/office/drawing/2014/main" id="{555999C7-8281-83DB-E452-6172B3AAE89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64301" y="1929985"/>
              <a:ext cx="360000" cy="3600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5F26C48-155A-FE75-0B25-B4866D71255B}"/>
                  </a:ext>
                </a:extLst>
              </p:cNvPr>
              <p:cNvSpPr txBox="1"/>
              <p:nvPr/>
            </p:nvSpPr>
            <p:spPr>
              <a:xfrm>
                <a:off x="7320769" y="3601512"/>
                <a:ext cx="20310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/>
                        <m:t>Adjustment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set</m:t>
                      </m:r>
                      <m:r>
                        <m:rPr>
                          <m:nor/>
                        </m:rPr>
                        <a:rPr lang="en-US" dirty="0"/>
                        <m:t> = {</m:t>
                      </m:r>
                      <m:r>
                        <m:rPr>
                          <m:nor/>
                        </m:rPr>
                        <a:rPr lang="en-SE" b="0" i="0" dirty="0" smtClean="0">
                          <a:solidFill>
                            <a:srgbClr val="C00000"/>
                          </a:solidFill>
                        </a:rPr>
                        <m:t>a</m:t>
                      </m:r>
                      <m:r>
                        <m:rPr>
                          <m:nor/>
                        </m:rPr>
                        <a:rPr lang="en-US" dirty="0"/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5F26C48-155A-FE75-0B25-B4866D712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769" y="3601512"/>
                <a:ext cx="2031005" cy="276999"/>
              </a:xfrm>
              <a:prstGeom prst="rect">
                <a:avLst/>
              </a:prstGeom>
              <a:blipFill>
                <a:blip r:embed="rId5"/>
                <a:stretch>
                  <a:fillRect l="-3604" r="-3604" b="-3111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9DE1E4F1-B26A-506D-3261-24183020450A}"/>
              </a:ext>
            </a:extLst>
          </p:cNvPr>
          <p:cNvGrpSpPr/>
          <p:nvPr/>
        </p:nvGrpSpPr>
        <p:grpSpPr>
          <a:xfrm>
            <a:off x="838198" y="365125"/>
            <a:ext cx="1983884" cy="245531"/>
            <a:chOff x="4114799" y="3759391"/>
            <a:chExt cx="1983884" cy="1229241"/>
          </a:xfrm>
        </p:grpSpPr>
        <p:sp>
          <p:nvSpPr>
            <p:cNvPr id="9" name="Arrow: Pentagon 8">
              <a:extLst>
                <a:ext uri="{FF2B5EF4-FFF2-40B4-BE49-F238E27FC236}">
                  <a16:creationId xmlns:a16="http://schemas.microsoft.com/office/drawing/2014/main" id="{802A80F1-3420-2028-6362-8485F026938B}"/>
                </a:ext>
              </a:extLst>
            </p:cNvPr>
            <p:cNvSpPr/>
            <p:nvPr/>
          </p:nvSpPr>
          <p:spPr>
            <a:xfrm>
              <a:off x="4114799" y="3759391"/>
              <a:ext cx="794039" cy="1229241"/>
            </a:xfrm>
            <a:prstGeom prst="homePlat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/>
                <a:t>Theory</a:t>
              </a:r>
            </a:p>
          </p:txBody>
        </p:sp>
        <p:sp>
          <p:nvSpPr>
            <p:cNvPr id="10" name="Arrow: Chevron 9">
              <a:extLst>
                <a:ext uri="{FF2B5EF4-FFF2-40B4-BE49-F238E27FC236}">
                  <a16:creationId xmlns:a16="http://schemas.microsoft.com/office/drawing/2014/main" id="{4F00CF64-3F35-A111-ABB4-50C544131510}"/>
                </a:ext>
              </a:extLst>
            </p:cNvPr>
            <p:cNvSpPr/>
            <p:nvPr/>
          </p:nvSpPr>
          <p:spPr>
            <a:xfrm>
              <a:off x="4843616" y="3759391"/>
              <a:ext cx="1255067" cy="1229241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>
                  <a:solidFill>
                    <a:schemeClr val="tx1"/>
                  </a:solidFill>
                </a:rPr>
                <a:t>Use Case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13245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1E925-04CC-8A66-E145-BCE170F41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F556D-FD7E-CA3B-8A8F-4886E9F1B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d-Separation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E0AE1-3DEF-DAAD-55EE-685F8AE89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/>
              <a:t>A general framework to derive statistical models from causal models uses </a:t>
            </a:r>
            <a:r>
              <a:rPr lang="en-US" sz="2400" b="1" noProof="0" dirty="0"/>
              <a:t>d-separation</a:t>
            </a:r>
            <a:r>
              <a:rPr lang="en-US" sz="2400" noProof="0" dirty="0"/>
              <a:t>. It produces an </a:t>
            </a:r>
            <a:r>
              <a:rPr lang="en-US" sz="2400" b="1" noProof="0" dirty="0"/>
              <a:t>adjustment set</a:t>
            </a:r>
            <a:r>
              <a:rPr lang="en-US" sz="2400" noProof="0" dirty="0"/>
              <a:t>, i.e., the set of variables to control statistically in order to de-confound the causal effect between the exposure and the outcome.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6881D-9E55-10D7-AD5A-63988AEFE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2026-05-12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D6CB-4F6B-EEAE-F2FC-C009C03BD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Good Science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FA418-7807-4889-72A9-2309957B3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34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C66470-CB10-B468-9560-0A79A5D104DB}"/>
              </a:ext>
            </a:extLst>
          </p:cNvPr>
          <p:cNvSpPr txBox="1"/>
          <p:nvPr/>
        </p:nvSpPr>
        <p:spPr>
          <a:xfrm>
            <a:off x="838200" y="59870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noProof="0" dirty="0">
                <a:hlinkClick r:id="rId3"/>
              </a:rPr>
              <a:t>https://bayes.cs.ucla.edu/BOOK-2K/d-sep.html</a:t>
            </a:r>
            <a:r>
              <a:rPr lang="en-US" noProof="0" dirty="0"/>
              <a:t> 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816B623-6EAB-F025-6800-4CA4730FD53A}"/>
              </a:ext>
            </a:extLst>
          </p:cNvPr>
          <p:cNvSpPr/>
          <p:nvPr/>
        </p:nvSpPr>
        <p:spPr>
          <a:xfrm>
            <a:off x="1328964" y="4394427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7B1B23C-97B8-5894-1AA3-84BD08F73004}"/>
              </a:ext>
            </a:extLst>
          </p:cNvPr>
          <p:cNvSpPr/>
          <p:nvPr/>
        </p:nvSpPr>
        <p:spPr>
          <a:xfrm>
            <a:off x="3820344" y="4394427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AC58CF2-D667-4A36-8656-B274A06E73AA}"/>
              </a:ext>
            </a:extLst>
          </p:cNvPr>
          <p:cNvCxnSpPr>
            <a:stCxn id="11" idx="6"/>
            <a:endCxn id="12" idx="2"/>
          </p:cNvCxnSpPr>
          <p:nvPr/>
        </p:nvCxnSpPr>
        <p:spPr>
          <a:xfrm>
            <a:off x="1688964" y="4574427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C62E228D-6D24-3DE0-E119-986B7ECFA131}"/>
              </a:ext>
            </a:extLst>
          </p:cNvPr>
          <p:cNvSpPr/>
          <p:nvPr/>
        </p:nvSpPr>
        <p:spPr>
          <a:xfrm>
            <a:off x="2574654" y="5052577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C6988E-7659-A50D-24E1-891879658818}"/>
              </a:ext>
            </a:extLst>
          </p:cNvPr>
          <p:cNvCxnSpPr>
            <a:cxnSpLocks/>
            <a:stCxn id="16" idx="6"/>
            <a:endCxn id="12" idx="3"/>
          </p:cNvCxnSpPr>
          <p:nvPr/>
        </p:nvCxnSpPr>
        <p:spPr>
          <a:xfrm flipV="1">
            <a:off x="2934654" y="4701706"/>
            <a:ext cx="938411" cy="530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9C88A5D-8B24-C6BB-C12E-C99D6330AC98}"/>
              </a:ext>
            </a:extLst>
          </p:cNvPr>
          <p:cNvCxnSpPr>
            <a:cxnSpLocks/>
            <a:stCxn id="11" idx="5"/>
            <a:endCxn id="16" idx="2"/>
          </p:cNvCxnSpPr>
          <p:nvPr/>
        </p:nvCxnSpPr>
        <p:spPr>
          <a:xfrm>
            <a:off x="1636243" y="4701706"/>
            <a:ext cx="938411" cy="530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14002446-6E48-6C52-6760-514530EEC84A}"/>
              </a:ext>
            </a:extLst>
          </p:cNvPr>
          <p:cNvSpPr/>
          <p:nvPr/>
        </p:nvSpPr>
        <p:spPr>
          <a:xfrm>
            <a:off x="1330258" y="3556278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D2626C0-C962-33DB-4992-6B21C56E084F}"/>
              </a:ext>
            </a:extLst>
          </p:cNvPr>
          <p:cNvSpPr/>
          <p:nvPr/>
        </p:nvSpPr>
        <p:spPr>
          <a:xfrm>
            <a:off x="2574654" y="3551713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3A462E5-6973-C535-4007-0E46636A42A4}"/>
              </a:ext>
            </a:extLst>
          </p:cNvPr>
          <p:cNvCxnSpPr>
            <a:cxnSpLocks/>
            <a:stCxn id="23" idx="4"/>
            <a:endCxn id="11" idx="0"/>
          </p:cNvCxnSpPr>
          <p:nvPr/>
        </p:nvCxnSpPr>
        <p:spPr>
          <a:xfrm flipH="1">
            <a:off x="1508964" y="3916278"/>
            <a:ext cx="1294" cy="47814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59CAD51-13D5-C7DD-0426-D634DD83342A}"/>
              </a:ext>
            </a:extLst>
          </p:cNvPr>
          <p:cNvCxnSpPr>
            <a:cxnSpLocks/>
            <a:stCxn id="23" idx="6"/>
            <a:endCxn id="24" idx="2"/>
          </p:cNvCxnSpPr>
          <p:nvPr/>
        </p:nvCxnSpPr>
        <p:spPr>
          <a:xfrm flipV="1">
            <a:off x="1690258" y="3731713"/>
            <a:ext cx="884396" cy="456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CD89038-C556-5F4B-53A9-4E34BDBFE607}"/>
              </a:ext>
            </a:extLst>
          </p:cNvPr>
          <p:cNvCxnSpPr>
            <a:cxnSpLocks/>
            <a:stCxn id="12" idx="1"/>
            <a:endCxn id="24" idx="5"/>
          </p:cNvCxnSpPr>
          <p:nvPr/>
        </p:nvCxnSpPr>
        <p:spPr>
          <a:xfrm flipH="1" flipV="1">
            <a:off x="2881933" y="3858992"/>
            <a:ext cx="991132" cy="58815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FC9D6E6E-1E4B-4419-ADAB-B8CBC675EAA5}"/>
              </a:ext>
            </a:extLst>
          </p:cNvPr>
          <p:cNvSpPr/>
          <p:nvPr/>
        </p:nvSpPr>
        <p:spPr>
          <a:xfrm>
            <a:off x="1328964" y="5592576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09B928AC-111F-9EB0-FCE9-A082C5A0FD39}"/>
              </a:ext>
            </a:extLst>
          </p:cNvPr>
          <p:cNvSpPr/>
          <p:nvPr/>
        </p:nvSpPr>
        <p:spPr>
          <a:xfrm>
            <a:off x="3820344" y="5592576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13B3E57-C7C4-207D-6985-340CA69A2978}"/>
              </a:ext>
            </a:extLst>
          </p:cNvPr>
          <p:cNvCxnSpPr>
            <a:cxnSpLocks/>
            <a:stCxn id="54" idx="0"/>
            <a:endCxn id="11" idx="4"/>
          </p:cNvCxnSpPr>
          <p:nvPr/>
        </p:nvCxnSpPr>
        <p:spPr>
          <a:xfrm flipV="1">
            <a:off x="1508964" y="4754427"/>
            <a:ext cx="0" cy="83814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D2DA356-22E1-0574-024E-DA05B5406EC0}"/>
              </a:ext>
            </a:extLst>
          </p:cNvPr>
          <p:cNvCxnSpPr>
            <a:cxnSpLocks/>
            <a:stCxn id="54" idx="6"/>
            <a:endCxn id="55" idx="2"/>
          </p:cNvCxnSpPr>
          <p:nvPr/>
        </p:nvCxnSpPr>
        <p:spPr>
          <a:xfrm>
            <a:off x="1688964" y="5772576"/>
            <a:ext cx="213138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8D59CFE-4887-8CB6-B0A0-D097D882BEF2}"/>
              </a:ext>
            </a:extLst>
          </p:cNvPr>
          <p:cNvCxnSpPr>
            <a:cxnSpLocks/>
            <a:stCxn id="55" idx="0"/>
            <a:endCxn id="12" idx="4"/>
          </p:cNvCxnSpPr>
          <p:nvPr/>
        </p:nvCxnSpPr>
        <p:spPr>
          <a:xfrm flipV="1">
            <a:off x="4000344" y="4754427"/>
            <a:ext cx="0" cy="83814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F2B9F061-BFA7-E6CE-2949-D99D496428C8}"/>
              </a:ext>
            </a:extLst>
          </p:cNvPr>
          <p:cNvSpPr txBox="1"/>
          <p:nvPr/>
        </p:nvSpPr>
        <p:spPr>
          <a:xfrm>
            <a:off x="4564594" y="4232692"/>
            <a:ext cx="7254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noProof="0" dirty="0"/>
              <a:t>Identify every </a:t>
            </a:r>
            <a:r>
              <a:rPr lang="en-US" b="1" noProof="0" dirty="0"/>
              <a:t>backdoor path</a:t>
            </a:r>
            <a:r>
              <a:rPr lang="en-US" i="1" noProof="0" dirty="0"/>
              <a:t>.</a:t>
            </a:r>
            <a:endParaRPr lang="en-US" noProof="0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8E8643C-3A89-2DE5-1B8E-ABFB0C4F9E7F}"/>
              </a:ext>
            </a:extLst>
          </p:cNvPr>
          <p:cNvGrpSpPr/>
          <p:nvPr/>
        </p:nvGrpSpPr>
        <p:grpSpPr>
          <a:xfrm>
            <a:off x="4564594" y="3582332"/>
            <a:ext cx="2563289" cy="432000"/>
            <a:chOff x="4604412" y="1893985"/>
            <a:chExt cx="2563289" cy="432000"/>
          </a:xfrm>
        </p:grpSpPr>
        <p:sp>
          <p:nvSpPr>
            <p:cNvPr id="70" name="Arrow: Pentagon 69">
              <a:extLst>
                <a:ext uri="{FF2B5EF4-FFF2-40B4-BE49-F238E27FC236}">
                  <a16:creationId xmlns:a16="http://schemas.microsoft.com/office/drawing/2014/main" id="{42252693-6B02-15AB-8A4A-E2580DF2C570}"/>
                </a:ext>
              </a:extLst>
            </p:cNvPr>
            <p:cNvSpPr/>
            <p:nvPr/>
          </p:nvSpPr>
          <p:spPr>
            <a:xfrm>
              <a:off x="4604412" y="1893985"/>
              <a:ext cx="2563289" cy="432000"/>
            </a:xfrm>
            <a:prstGeom prst="homePlat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rtlCol="0" anchor="ctr"/>
            <a:lstStyle/>
            <a:p>
              <a:r>
                <a:rPr lang="en-US" noProof="0" dirty="0"/>
                <a:t>Model Derivation</a:t>
              </a:r>
            </a:p>
          </p:txBody>
        </p:sp>
        <p:pic>
          <p:nvPicPr>
            <p:cNvPr id="71" name="Graphic 70" descr="Connections with solid fill">
              <a:extLst>
                <a:ext uri="{FF2B5EF4-FFF2-40B4-BE49-F238E27FC236}">
                  <a16:creationId xmlns:a16="http://schemas.microsoft.com/office/drawing/2014/main" id="{49271CE2-A685-A000-EB07-13F5C029A1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64301" y="1929985"/>
              <a:ext cx="360000" cy="3600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8930368-5507-D9A8-D65F-C0CC098D4B82}"/>
                  </a:ext>
                </a:extLst>
              </p:cNvPr>
              <p:cNvSpPr txBox="1"/>
              <p:nvPr/>
            </p:nvSpPr>
            <p:spPr>
              <a:xfrm>
                <a:off x="7320769" y="3601512"/>
                <a:ext cx="20310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/>
                        <m:t>Adjustment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set</m:t>
                      </m:r>
                      <m:r>
                        <m:rPr>
                          <m:nor/>
                        </m:rPr>
                        <a:rPr lang="en-US" dirty="0"/>
                        <m:t> = {</m:t>
                      </m:r>
                      <m:r>
                        <m:rPr>
                          <m:nor/>
                        </m:rPr>
                        <a:rPr lang="en-SE" dirty="0">
                          <a:solidFill>
                            <a:srgbClr val="C00000"/>
                          </a:solidFill>
                        </a:rPr>
                        <m:t>a</m:t>
                      </m:r>
                      <m:r>
                        <m:rPr>
                          <m:nor/>
                        </m:rPr>
                        <a:rPr lang="en-US" dirty="0"/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8930368-5507-D9A8-D65F-C0CC098D4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769" y="3601512"/>
                <a:ext cx="2031005" cy="276999"/>
              </a:xfrm>
              <a:prstGeom prst="rect">
                <a:avLst/>
              </a:prstGeom>
              <a:blipFill>
                <a:blip r:embed="rId5"/>
                <a:stretch>
                  <a:fillRect l="-3604" r="-3604" b="-3111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8BD3C0C9-39E9-8317-5370-AF6853069317}"/>
              </a:ext>
            </a:extLst>
          </p:cNvPr>
          <p:cNvGrpSpPr/>
          <p:nvPr/>
        </p:nvGrpSpPr>
        <p:grpSpPr>
          <a:xfrm>
            <a:off x="838198" y="365125"/>
            <a:ext cx="1983884" cy="245531"/>
            <a:chOff x="4114799" y="3759391"/>
            <a:chExt cx="1983884" cy="1229241"/>
          </a:xfrm>
        </p:grpSpPr>
        <p:sp>
          <p:nvSpPr>
            <p:cNvPr id="9" name="Arrow: Pentagon 8">
              <a:extLst>
                <a:ext uri="{FF2B5EF4-FFF2-40B4-BE49-F238E27FC236}">
                  <a16:creationId xmlns:a16="http://schemas.microsoft.com/office/drawing/2014/main" id="{D74FA825-8051-0317-7A2B-5F4E3BF8E05B}"/>
                </a:ext>
              </a:extLst>
            </p:cNvPr>
            <p:cNvSpPr/>
            <p:nvPr/>
          </p:nvSpPr>
          <p:spPr>
            <a:xfrm>
              <a:off x="4114799" y="3759391"/>
              <a:ext cx="794039" cy="1229241"/>
            </a:xfrm>
            <a:prstGeom prst="homePlat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/>
                <a:t>Theory</a:t>
              </a:r>
            </a:p>
          </p:txBody>
        </p:sp>
        <p:sp>
          <p:nvSpPr>
            <p:cNvPr id="10" name="Arrow: Chevron 9">
              <a:extLst>
                <a:ext uri="{FF2B5EF4-FFF2-40B4-BE49-F238E27FC236}">
                  <a16:creationId xmlns:a16="http://schemas.microsoft.com/office/drawing/2014/main" id="{B06C73F4-89E0-A5AA-E9ED-B9EC7DA20F68}"/>
                </a:ext>
              </a:extLst>
            </p:cNvPr>
            <p:cNvSpPr/>
            <p:nvPr/>
          </p:nvSpPr>
          <p:spPr>
            <a:xfrm>
              <a:off x="4843616" y="3759391"/>
              <a:ext cx="1255067" cy="1229241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>
                  <a:solidFill>
                    <a:schemeClr val="tx1"/>
                  </a:solidFill>
                </a:rPr>
                <a:t>Use Case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3146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CB685-E138-A5B6-F802-EFAA34361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d-Separation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16A0E-D5B6-B943-CA50-9C3C086B7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/>
              <a:t>A general framework to derive statistical models from causal models uses </a:t>
            </a:r>
            <a:r>
              <a:rPr lang="en-US" sz="2400" b="1" noProof="0" dirty="0"/>
              <a:t>d-separation</a:t>
            </a:r>
            <a:r>
              <a:rPr lang="en-US" sz="2400" noProof="0" dirty="0"/>
              <a:t>. It produces an </a:t>
            </a:r>
            <a:r>
              <a:rPr lang="en-US" sz="2400" b="1" noProof="0" dirty="0"/>
              <a:t>adjustment set</a:t>
            </a:r>
            <a:r>
              <a:rPr lang="en-US" sz="2400" noProof="0" dirty="0"/>
              <a:t>, i.e., the set of variables to control statistically in order to de-confound the causal effect between the exposure and the outcome.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4DF0C-883F-EF08-C47B-748D4F152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2026-05-12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587E4-C813-16A5-A723-B84D42C31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Good Science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C69C6-658E-795A-B968-D882D3E14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35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F53804-34C1-6FF8-E0DC-73F846EF02F4}"/>
              </a:ext>
            </a:extLst>
          </p:cNvPr>
          <p:cNvSpPr txBox="1"/>
          <p:nvPr/>
        </p:nvSpPr>
        <p:spPr>
          <a:xfrm>
            <a:off x="838200" y="59870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noProof="0" dirty="0">
                <a:hlinkClick r:id="rId2"/>
              </a:rPr>
              <a:t>https://bayes.cs.ucla.edu/BOOK-2K/d-sep.html</a:t>
            </a:r>
            <a:r>
              <a:rPr lang="en-US" noProof="0" dirty="0"/>
              <a:t>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D5868F1-5011-6AA7-6FA7-3C2640A364B4}"/>
              </a:ext>
            </a:extLst>
          </p:cNvPr>
          <p:cNvSpPr txBox="1"/>
          <p:nvPr/>
        </p:nvSpPr>
        <p:spPr>
          <a:xfrm>
            <a:off x="4564594" y="4232692"/>
            <a:ext cx="72541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noProof="0" dirty="0"/>
              <a:t>Identify every backdoor path</a:t>
            </a:r>
            <a:r>
              <a:rPr lang="en-US" i="1" noProof="0" dirty="0"/>
              <a:t>.</a:t>
            </a:r>
            <a:endParaRPr lang="en-US" noProof="0" dirty="0"/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Check if there is a </a:t>
            </a:r>
            <a:r>
              <a:rPr lang="en-US" b="1" noProof="0" dirty="0">
                <a:solidFill>
                  <a:schemeClr val="bg2">
                    <a:lumMod val="75000"/>
                  </a:schemeClr>
                </a:solidFill>
              </a:rPr>
              <a:t>collider</a:t>
            </a:r>
            <a:r>
              <a:rPr lang="en-US" noProof="0" dirty="0"/>
              <a:t> between the cause and effect of interest.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noProof="0" dirty="0"/>
              <a:t>If yes, do not condition on any of the variables on this path.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92F82F6-5C06-7A19-A9AA-4081360BC9FB}"/>
              </a:ext>
            </a:extLst>
          </p:cNvPr>
          <p:cNvGrpSpPr/>
          <p:nvPr/>
        </p:nvGrpSpPr>
        <p:grpSpPr>
          <a:xfrm>
            <a:off x="4564594" y="3582332"/>
            <a:ext cx="2563289" cy="432000"/>
            <a:chOff x="4604412" y="1893985"/>
            <a:chExt cx="2563289" cy="432000"/>
          </a:xfrm>
        </p:grpSpPr>
        <p:sp>
          <p:nvSpPr>
            <p:cNvPr id="70" name="Arrow: Pentagon 69">
              <a:extLst>
                <a:ext uri="{FF2B5EF4-FFF2-40B4-BE49-F238E27FC236}">
                  <a16:creationId xmlns:a16="http://schemas.microsoft.com/office/drawing/2014/main" id="{706CAA29-7C42-41AF-8F7E-81D25A568C4A}"/>
                </a:ext>
              </a:extLst>
            </p:cNvPr>
            <p:cNvSpPr/>
            <p:nvPr/>
          </p:nvSpPr>
          <p:spPr>
            <a:xfrm>
              <a:off x="4604412" y="1893985"/>
              <a:ext cx="2563289" cy="432000"/>
            </a:xfrm>
            <a:prstGeom prst="homePlat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rtlCol="0" anchor="ctr"/>
            <a:lstStyle/>
            <a:p>
              <a:r>
                <a:rPr lang="en-US" noProof="0" dirty="0"/>
                <a:t>Model Derivation</a:t>
              </a:r>
            </a:p>
          </p:txBody>
        </p:sp>
        <p:pic>
          <p:nvPicPr>
            <p:cNvPr id="71" name="Graphic 70" descr="Connections with solid fill">
              <a:extLst>
                <a:ext uri="{FF2B5EF4-FFF2-40B4-BE49-F238E27FC236}">
                  <a16:creationId xmlns:a16="http://schemas.microsoft.com/office/drawing/2014/main" id="{766D0D84-C177-6635-D9B1-3CF076BD9D4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4301" y="1929985"/>
              <a:ext cx="360000" cy="3600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EAD5DDA-B7CF-C07B-F9C9-62056900083E}"/>
                  </a:ext>
                </a:extLst>
              </p:cNvPr>
              <p:cNvSpPr txBox="1"/>
              <p:nvPr/>
            </p:nvSpPr>
            <p:spPr>
              <a:xfrm>
                <a:off x="7320769" y="3601512"/>
                <a:ext cx="20310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/>
                        <m:t>Adjustment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set</m:t>
                      </m:r>
                      <m:r>
                        <m:rPr>
                          <m:nor/>
                        </m:rPr>
                        <a:rPr lang="en-US" dirty="0"/>
                        <m:t> = {</m:t>
                      </m:r>
                      <m:r>
                        <m:rPr>
                          <m:nor/>
                        </m:rPr>
                        <a:rPr lang="en-SE" dirty="0">
                          <a:solidFill>
                            <a:srgbClr val="C00000"/>
                          </a:solidFill>
                        </a:rPr>
                        <m:t>a</m:t>
                      </m:r>
                      <m:r>
                        <m:rPr>
                          <m:nor/>
                        </m:rPr>
                        <a:rPr lang="en-US" dirty="0"/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EAD5DDA-B7CF-C07B-F9C9-620569000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769" y="3601512"/>
                <a:ext cx="2031005" cy="276999"/>
              </a:xfrm>
              <a:prstGeom prst="rect">
                <a:avLst/>
              </a:prstGeom>
              <a:blipFill>
                <a:blip r:embed="rId4"/>
                <a:stretch>
                  <a:fillRect l="-3604" r="-3604" b="-3111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Oval 72">
            <a:extLst>
              <a:ext uri="{FF2B5EF4-FFF2-40B4-BE49-F238E27FC236}">
                <a16:creationId xmlns:a16="http://schemas.microsoft.com/office/drawing/2014/main" id="{07B4066A-549A-1302-27A5-39E495A03B3B}"/>
              </a:ext>
            </a:extLst>
          </p:cNvPr>
          <p:cNvSpPr/>
          <p:nvPr/>
        </p:nvSpPr>
        <p:spPr>
          <a:xfrm>
            <a:off x="1328964" y="4394427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1C879866-19E7-8E5E-7D9D-FBB628FBE65D}"/>
              </a:ext>
            </a:extLst>
          </p:cNvPr>
          <p:cNvSpPr/>
          <p:nvPr/>
        </p:nvSpPr>
        <p:spPr>
          <a:xfrm>
            <a:off x="3820344" y="4394427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172E67BB-96B3-95D8-857A-366C72D5E6BF}"/>
              </a:ext>
            </a:extLst>
          </p:cNvPr>
          <p:cNvCxnSpPr>
            <a:stCxn id="73" idx="6"/>
            <a:endCxn id="74" idx="2"/>
          </p:cNvCxnSpPr>
          <p:nvPr/>
        </p:nvCxnSpPr>
        <p:spPr>
          <a:xfrm>
            <a:off x="1688964" y="4574427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Oval 75">
            <a:extLst>
              <a:ext uri="{FF2B5EF4-FFF2-40B4-BE49-F238E27FC236}">
                <a16:creationId xmlns:a16="http://schemas.microsoft.com/office/drawing/2014/main" id="{A590A7B2-66C6-2BBD-4049-C9DB161BDAD6}"/>
              </a:ext>
            </a:extLst>
          </p:cNvPr>
          <p:cNvSpPr/>
          <p:nvPr/>
        </p:nvSpPr>
        <p:spPr>
          <a:xfrm>
            <a:off x="2574654" y="5052577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ABBB32A-30A7-CAFE-DB19-B2D844659865}"/>
              </a:ext>
            </a:extLst>
          </p:cNvPr>
          <p:cNvCxnSpPr>
            <a:cxnSpLocks/>
            <a:stCxn id="76" idx="6"/>
            <a:endCxn id="74" idx="3"/>
          </p:cNvCxnSpPr>
          <p:nvPr/>
        </p:nvCxnSpPr>
        <p:spPr>
          <a:xfrm flipV="1">
            <a:off x="2934654" y="4701706"/>
            <a:ext cx="938411" cy="530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783E7FF-2DAA-775B-B2C4-5C7F301DD2C7}"/>
              </a:ext>
            </a:extLst>
          </p:cNvPr>
          <p:cNvCxnSpPr>
            <a:cxnSpLocks/>
            <a:stCxn id="73" idx="5"/>
            <a:endCxn id="76" idx="2"/>
          </p:cNvCxnSpPr>
          <p:nvPr/>
        </p:nvCxnSpPr>
        <p:spPr>
          <a:xfrm>
            <a:off x="1636243" y="4701706"/>
            <a:ext cx="938411" cy="530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D7B07AFD-5AB2-1201-994F-73A92E4295AA}"/>
              </a:ext>
            </a:extLst>
          </p:cNvPr>
          <p:cNvSpPr/>
          <p:nvPr/>
        </p:nvSpPr>
        <p:spPr>
          <a:xfrm>
            <a:off x="1330258" y="3556278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C24C6894-E548-EAA4-CB55-E250321FD45E}"/>
              </a:ext>
            </a:extLst>
          </p:cNvPr>
          <p:cNvSpPr/>
          <p:nvPr/>
        </p:nvSpPr>
        <p:spPr>
          <a:xfrm>
            <a:off x="2574654" y="3551713"/>
            <a:ext cx="360000" cy="360000"/>
          </a:xfrm>
          <a:prstGeom prst="ellipse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A535583-DF23-435B-8BF2-38456ADC5A92}"/>
              </a:ext>
            </a:extLst>
          </p:cNvPr>
          <p:cNvCxnSpPr>
            <a:cxnSpLocks/>
            <a:stCxn id="79" idx="4"/>
            <a:endCxn id="73" idx="0"/>
          </p:cNvCxnSpPr>
          <p:nvPr/>
        </p:nvCxnSpPr>
        <p:spPr>
          <a:xfrm flipH="1">
            <a:off x="1508964" y="3916278"/>
            <a:ext cx="1294" cy="47814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E8417A89-8C5D-51EE-8211-5502543D9FF2}"/>
              </a:ext>
            </a:extLst>
          </p:cNvPr>
          <p:cNvCxnSpPr>
            <a:cxnSpLocks/>
            <a:stCxn id="79" idx="6"/>
            <a:endCxn id="80" idx="2"/>
          </p:cNvCxnSpPr>
          <p:nvPr/>
        </p:nvCxnSpPr>
        <p:spPr>
          <a:xfrm flipV="1">
            <a:off x="1690258" y="3731713"/>
            <a:ext cx="884396" cy="456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B350669-1929-669D-9CAC-5DF0C233CF42}"/>
              </a:ext>
            </a:extLst>
          </p:cNvPr>
          <p:cNvCxnSpPr>
            <a:cxnSpLocks/>
            <a:stCxn id="74" idx="1"/>
            <a:endCxn id="80" idx="5"/>
          </p:cNvCxnSpPr>
          <p:nvPr/>
        </p:nvCxnSpPr>
        <p:spPr>
          <a:xfrm flipH="1" flipV="1">
            <a:off x="2881933" y="3858992"/>
            <a:ext cx="991132" cy="58815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8DC4373E-0BA6-1F4E-E746-A6F049D39974}"/>
              </a:ext>
            </a:extLst>
          </p:cNvPr>
          <p:cNvSpPr/>
          <p:nvPr/>
        </p:nvSpPr>
        <p:spPr>
          <a:xfrm>
            <a:off x="1328964" y="5592576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321D2E0F-C80E-E756-D12B-2F1AE15EA0EE}"/>
              </a:ext>
            </a:extLst>
          </p:cNvPr>
          <p:cNvSpPr/>
          <p:nvPr/>
        </p:nvSpPr>
        <p:spPr>
          <a:xfrm>
            <a:off x="3820344" y="5592576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A11F05EC-A40D-4B42-A6E8-0D245E999CEC}"/>
              </a:ext>
            </a:extLst>
          </p:cNvPr>
          <p:cNvCxnSpPr>
            <a:cxnSpLocks/>
            <a:stCxn id="84" idx="0"/>
            <a:endCxn id="73" idx="4"/>
          </p:cNvCxnSpPr>
          <p:nvPr/>
        </p:nvCxnSpPr>
        <p:spPr>
          <a:xfrm flipV="1">
            <a:off x="1508964" y="4754427"/>
            <a:ext cx="0" cy="83814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D9774B0-22B5-25EE-7651-E21CC584505D}"/>
              </a:ext>
            </a:extLst>
          </p:cNvPr>
          <p:cNvCxnSpPr>
            <a:cxnSpLocks/>
            <a:stCxn id="84" idx="6"/>
            <a:endCxn id="85" idx="2"/>
          </p:cNvCxnSpPr>
          <p:nvPr/>
        </p:nvCxnSpPr>
        <p:spPr>
          <a:xfrm>
            <a:off x="1688964" y="5772576"/>
            <a:ext cx="213138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84C19F3C-D130-F153-CF01-EF46CF4FF1C0}"/>
              </a:ext>
            </a:extLst>
          </p:cNvPr>
          <p:cNvCxnSpPr>
            <a:cxnSpLocks/>
            <a:stCxn id="85" idx="0"/>
            <a:endCxn id="74" idx="4"/>
          </p:cNvCxnSpPr>
          <p:nvPr/>
        </p:nvCxnSpPr>
        <p:spPr>
          <a:xfrm flipV="1">
            <a:off x="4000344" y="4754427"/>
            <a:ext cx="0" cy="83814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CFFBD74-69CD-D5DC-5DED-B9BAF5A6938C}"/>
              </a:ext>
            </a:extLst>
          </p:cNvPr>
          <p:cNvGrpSpPr/>
          <p:nvPr/>
        </p:nvGrpSpPr>
        <p:grpSpPr>
          <a:xfrm>
            <a:off x="838198" y="365125"/>
            <a:ext cx="1983884" cy="245531"/>
            <a:chOff x="4114799" y="3759391"/>
            <a:chExt cx="1983884" cy="1229241"/>
          </a:xfrm>
        </p:grpSpPr>
        <p:sp>
          <p:nvSpPr>
            <p:cNvPr id="12" name="Arrow: Pentagon 11">
              <a:extLst>
                <a:ext uri="{FF2B5EF4-FFF2-40B4-BE49-F238E27FC236}">
                  <a16:creationId xmlns:a16="http://schemas.microsoft.com/office/drawing/2014/main" id="{01DF5B94-184E-678A-7F78-FC1446FA9091}"/>
                </a:ext>
              </a:extLst>
            </p:cNvPr>
            <p:cNvSpPr/>
            <p:nvPr/>
          </p:nvSpPr>
          <p:spPr>
            <a:xfrm>
              <a:off x="4114799" y="3759391"/>
              <a:ext cx="794039" cy="1229241"/>
            </a:xfrm>
            <a:prstGeom prst="homePlat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/>
                <a:t>Theory</a:t>
              </a:r>
            </a:p>
          </p:txBody>
        </p:sp>
        <p:sp>
          <p:nvSpPr>
            <p:cNvPr id="13" name="Arrow: Chevron 12">
              <a:extLst>
                <a:ext uri="{FF2B5EF4-FFF2-40B4-BE49-F238E27FC236}">
                  <a16:creationId xmlns:a16="http://schemas.microsoft.com/office/drawing/2014/main" id="{71CA3E53-019B-6C29-3A92-2FF7A624776D}"/>
                </a:ext>
              </a:extLst>
            </p:cNvPr>
            <p:cNvSpPr/>
            <p:nvPr/>
          </p:nvSpPr>
          <p:spPr>
            <a:xfrm>
              <a:off x="4843616" y="3759391"/>
              <a:ext cx="1255067" cy="1229241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>
                  <a:solidFill>
                    <a:schemeClr val="tx1"/>
                  </a:solidFill>
                </a:rPr>
                <a:t>Use Case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6481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BDD02-9E2D-3246-79E8-D4DA8BA0E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05777-79EE-E32E-C089-B9DAA594F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d-Separation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903D0-C641-4B89-868E-DB782D3E0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/>
              <a:t>A general framework to derive statistical models from causal models uses </a:t>
            </a:r>
            <a:r>
              <a:rPr lang="en-US" sz="2400" b="1" noProof="0" dirty="0"/>
              <a:t>d-separation</a:t>
            </a:r>
            <a:r>
              <a:rPr lang="en-US" sz="2400" noProof="0" dirty="0"/>
              <a:t>. It produces an </a:t>
            </a:r>
            <a:r>
              <a:rPr lang="en-US" sz="2400" b="1" noProof="0" dirty="0"/>
              <a:t>adjustment set</a:t>
            </a:r>
            <a:r>
              <a:rPr lang="en-US" sz="2400" noProof="0" dirty="0"/>
              <a:t>, i.e., the set of variables to control statistically in order to de-confound the causal effect between the exposure and the outcome.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669A3-E574-F8F7-32DD-184599C6F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2026-05-12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546B6-5DA8-3F64-FDC1-52B4B2652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Good Science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92D98-8172-2817-EA16-8C4449378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36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7BA49A-EDF0-9034-DFE7-3034AE3A355B}"/>
              </a:ext>
            </a:extLst>
          </p:cNvPr>
          <p:cNvSpPr txBox="1"/>
          <p:nvPr/>
        </p:nvSpPr>
        <p:spPr>
          <a:xfrm>
            <a:off x="838200" y="59870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noProof="0" dirty="0">
                <a:hlinkClick r:id="rId2"/>
              </a:rPr>
              <a:t>https://bayes.cs.ucla.edu/BOOK-2K/d-sep.html</a:t>
            </a:r>
            <a:r>
              <a:rPr lang="en-US" noProof="0" dirty="0"/>
              <a:t>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A551C66-4DFD-EBD0-CF84-0493AD21CBCD}"/>
              </a:ext>
            </a:extLst>
          </p:cNvPr>
          <p:cNvSpPr txBox="1"/>
          <p:nvPr/>
        </p:nvSpPr>
        <p:spPr>
          <a:xfrm>
            <a:off x="4564594" y="4232692"/>
            <a:ext cx="72541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noProof="0" dirty="0"/>
              <a:t>Identify every backdoor</a:t>
            </a:r>
            <a:r>
              <a:rPr lang="en-US" i="1" noProof="0" dirty="0"/>
              <a:t> </a:t>
            </a:r>
            <a:r>
              <a:rPr lang="en-US" noProof="0" dirty="0"/>
              <a:t>path</a:t>
            </a:r>
            <a:r>
              <a:rPr lang="en-US" i="1" noProof="0" dirty="0"/>
              <a:t>.</a:t>
            </a:r>
            <a:endParaRPr lang="en-US" noProof="0" dirty="0"/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Check if there is a collider between the cause and effect of interest.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noProof="0" dirty="0"/>
              <a:t>If yes, do not condition on any of the variables on this path.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noProof="0" dirty="0"/>
              <a:t>If not, condition on </a:t>
            </a:r>
            <a:r>
              <a:rPr lang="en-US" b="1" noProof="0" dirty="0">
                <a:solidFill>
                  <a:schemeClr val="accent1">
                    <a:lumMod val="75000"/>
                  </a:schemeClr>
                </a:solidFill>
              </a:rPr>
              <a:t>any of the variables </a:t>
            </a:r>
            <a:r>
              <a:rPr lang="en-US" noProof="0" dirty="0"/>
              <a:t>on this path to “close” the backdoor path.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5238822-1B79-5A25-AAF9-693D26075F99}"/>
              </a:ext>
            </a:extLst>
          </p:cNvPr>
          <p:cNvGrpSpPr/>
          <p:nvPr/>
        </p:nvGrpSpPr>
        <p:grpSpPr>
          <a:xfrm>
            <a:off x="4564594" y="3582332"/>
            <a:ext cx="2563289" cy="432000"/>
            <a:chOff x="4604412" y="1893985"/>
            <a:chExt cx="2563289" cy="432000"/>
          </a:xfrm>
        </p:grpSpPr>
        <p:sp>
          <p:nvSpPr>
            <p:cNvPr id="70" name="Arrow: Pentagon 69">
              <a:extLst>
                <a:ext uri="{FF2B5EF4-FFF2-40B4-BE49-F238E27FC236}">
                  <a16:creationId xmlns:a16="http://schemas.microsoft.com/office/drawing/2014/main" id="{9B506046-EB78-768D-DADF-8E435D33909C}"/>
                </a:ext>
              </a:extLst>
            </p:cNvPr>
            <p:cNvSpPr/>
            <p:nvPr/>
          </p:nvSpPr>
          <p:spPr>
            <a:xfrm>
              <a:off x="4604412" y="1893985"/>
              <a:ext cx="2563289" cy="432000"/>
            </a:xfrm>
            <a:prstGeom prst="homePlat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rtlCol="0" anchor="ctr"/>
            <a:lstStyle/>
            <a:p>
              <a:r>
                <a:rPr lang="en-US" noProof="0" dirty="0"/>
                <a:t>Model Derivation</a:t>
              </a:r>
            </a:p>
          </p:txBody>
        </p:sp>
        <p:pic>
          <p:nvPicPr>
            <p:cNvPr id="71" name="Graphic 70" descr="Connections with solid fill">
              <a:extLst>
                <a:ext uri="{FF2B5EF4-FFF2-40B4-BE49-F238E27FC236}">
                  <a16:creationId xmlns:a16="http://schemas.microsoft.com/office/drawing/2014/main" id="{7155CCD0-EA21-30DF-C7E5-9165F25929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4301" y="1929985"/>
              <a:ext cx="360000" cy="3600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E29F024D-78E5-275B-C59D-6C649B07EE31}"/>
                  </a:ext>
                </a:extLst>
              </p:cNvPr>
              <p:cNvSpPr txBox="1"/>
              <p:nvPr/>
            </p:nvSpPr>
            <p:spPr>
              <a:xfrm>
                <a:off x="7343347" y="3413213"/>
                <a:ext cx="22121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/>
                        <m:t>Adjustment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set</m:t>
                      </m:r>
                      <m:r>
                        <m:rPr>
                          <m:nor/>
                        </m:rPr>
                        <a:rPr lang="en-US" dirty="0"/>
                        <m:t> = {</m:t>
                      </m:r>
                      <m:r>
                        <m:rPr>
                          <m:nor/>
                        </m:rPr>
                        <a:rPr lang="en-SE" dirty="0">
                          <a:solidFill>
                            <a:srgbClr val="C00000"/>
                          </a:solidFill>
                        </a:rPr>
                        <m:t>a</m:t>
                      </m:r>
                      <m:r>
                        <m:rPr>
                          <m:nor/>
                        </m:rPr>
                        <a:rPr lang="en-SE" b="0" i="0" dirty="0" smtClean="0">
                          <a:solidFill>
                            <a:schemeClr val="tx1"/>
                          </a:solidFill>
                        </a:rPr>
                        <m:t>,</m:t>
                      </m:r>
                      <m:r>
                        <m:rPr>
                          <m:nor/>
                        </m:rPr>
                        <a:rPr lang="en-SE" b="0" i="0" dirty="0" smtClean="0">
                          <a:solidFill>
                            <a:srgbClr val="C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SE" b="0" i="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m:t>f</m:t>
                      </m:r>
                      <m:r>
                        <m:rPr>
                          <m:nor/>
                        </m:rPr>
                        <a:rPr lang="en-US" dirty="0"/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E29F024D-78E5-275B-C59D-6C649B07E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3347" y="3413213"/>
                <a:ext cx="2212144" cy="276999"/>
              </a:xfrm>
              <a:prstGeom prst="rect">
                <a:avLst/>
              </a:prstGeom>
              <a:blipFill>
                <a:blip r:embed="rId4"/>
                <a:stretch>
                  <a:fillRect l="-3306" r="-3030" b="-3111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Oval 72">
            <a:extLst>
              <a:ext uri="{FF2B5EF4-FFF2-40B4-BE49-F238E27FC236}">
                <a16:creationId xmlns:a16="http://schemas.microsoft.com/office/drawing/2014/main" id="{D153B058-98B5-D8B7-7612-3D4FE437ADA0}"/>
              </a:ext>
            </a:extLst>
          </p:cNvPr>
          <p:cNvSpPr/>
          <p:nvPr/>
        </p:nvSpPr>
        <p:spPr>
          <a:xfrm>
            <a:off x="1328964" y="4394427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296D6679-FEC9-A27A-A200-A1024155CC7C}"/>
              </a:ext>
            </a:extLst>
          </p:cNvPr>
          <p:cNvSpPr/>
          <p:nvPr/>
        </p:nvSpPr>
        <p:spPr>
          <a:xfrm>
            <a:off x="3820344" y="4394427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CE91BB8-8229-DD96-D5EE-64C468F0A8FC}"/>
              </a:ext>
            </a:extLst>
          </p:cNvPr>
          <p:cNvCxnSpPr>
            <a:stCxn id="73" idx="6"/>
            <a:endCxn id="74" idx="2"/>
          </p:cNvCxnSpPr>
          <p:nvPr/>
        </p:nvCxnSpPr>
        <p:spPr>
          <a:xfrm>
            <a:off x="1688964" y="4574427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Oval 75">
            <a:extLst>
              <a:ext uri="{FF2B5EF4-FFF2-40B4-BE49-F238E27FC236}">
                <a16:creationId xmlns:a16="http://schemas.microsoft.com/office/drawing/2014/main" id="{20B8A9CE-C67B-967E-020C-C2C667DC64EB}"/>
              </a:ext>
            </a:extLst>
          </p:cNvPr>
          <p:cNvSpPr/>
          <p:nvPr/>
        </p:nvSpPr>
        <p:spPr>
          <a:xfrm>
            <a:off x="2574654" y="5052577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61010B2-B72C-EE5D-B9AE-962163B986AA}"/>
              </a:ext>
            </a:extLst>
          </p:cNvPr>
          <p:cNvCxnSpPr>
            <a:cxnSpLocks/>
            <a:stCxn id="76" idx="6"/>
            <a:endCxn id="74" idx="3"/>
          </p:cNvCxnSpPr>
          <p:nvPr/>
        </p:nvCxnSpPr>
        <p:spPr>
          <a:xfrm flipV="1">
            <a:off x="2934654" y="4701706"/>
            <a:ext cx="938411" cy="530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4CBF350-C383-B199-3080-9A556D7CF853}"/>
              </a:ext>
            </a:extLst>
          </p:cNvPr>
          <p:cNvCxnSpPr>
            <a:cxnSpLocks/>
            <a:stCxn id="73" idx="5"/>
            <a:endCxn id="76" idx="2"/>
          </p:cNvCxnSpPr>
          <p:nvPr/>
        </p:nvCxnSpPr>
        <p:spPr>
          <a:xfrm>
            <a:off x="1636243" y="4701706"/>
            <a:ext cx="938411" cy="530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D7F555ED-40DE-ABC8-8CF6-606BEB3A2A98}"/>
              </a:ext>
            </a:extLst>
          </p:cNvPr>
          <p:cNvSpPr/>
          <p:nvPr/>
        </p:nvSpPr>
        <p:spPr>
          <a:xfrm>
            <a:off x="1330258" y="3556278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447BB812-015A-9441-8984-A04235DB6508}"/>
              </a:ext>
            </a:extLst>
          </p:cNvPr>
          <p:cNvSpPr/>
          <p:nvPr/>
        </p:nvSpPr>
        <p:spPr>
          <a:xfrm>
            <a:off x="2574654" y="3551713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3BE1D9E-C963-7AE7-C604-F5A7173DD911}"/>
              </a:ext>
            </a:extLst>
          </p:cNvPr>
          <p:cNvCxnSpPr>
            <a:cxnSpLocks/>
            <a:stCxn id="79" idx="4"/>
            <a:endCxn id="73" idx="0"/>
          </p:cNvCxnSpPr>
          <p:nvPr/>
        </p:nvCxnSpPr>
        <p:spPr>
          <a:xfrm flipH="1">
            <a:off x="1508964" y="3916278"/>
            <a:ext cx="1294" cy="47814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94A1A0E-7A6E-20E9-7416-1C8E2DF53CF3}"/>
              </a:ext>
            </a:extLst>
          </p:cNvPr>
          <p:cNvCxnSpPr>
            <a:cxnSpLocks/>
            <a:stCxn id="79" idx="6"/>
            <a:endCxn id="80" idx="2"/>
          </p:cNvCxnSpPr>
          <p:nvPr/>
        </p:nvCxnSpPr>
        <p:spPr>
          <a:xfrm flipV="1">
            <a:off x="1690258" y="3731713"/>
            <a:ext cx="884396" cy="456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E1F8288-59A4-7B48-52CC-A29AAC01A815}"/>
              </a:ext>
            </a:extLst>
          </p:cNvPr>
          <p:cNvCxnSpPr>
            <a:cxnSpLocks/>
            <a:stCxn id="74" idx="1"/>
            <a:endCxn id="80" idx="5"/>
          </p:cNvCxnSpPr>
          <p:nvPr/>
        </p:nvCxnSpPr>
        <p:spPr>
          <a:xfrm flipH="1" flipV="1">
            <a:off x="2881933" y="3858992"/>
            <a:ext cx="991132" cy="58815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8DD842D9-A7CB-F96B-CD41-3557FE36FE49}"/>
              </a:ext>
            </a:extLst>
          </p:cNvPr>
          <p:cNvSpPr/>
          <p:nvPr/>
        </p:nvSpPr>
        <p:spPr>
          <a:xfrm>
            <a:off x="1328964" y="5592576"/>
            <a:ext cx="360000" cy="36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1EF99C20-288F-08B1-FFCA-F41C7D6C2C1D}"/>
              </a:ext>
            </a:extLst>
          </p:cNvPr>
          <p:cNvSpPr/>
          <p:nvPr/>
        </p:nvSpPr>
        <p:spPr>
          <a:xfrm>
            <a:off x="3820344" y="5592576"/>
            <a:ext cx="360000" cy="36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FE061B77-0A79-288A-169A-8602367E0EF9}"/>
              </a:ext>
            </a:extLst>
          </p:cNvPr>
          <p:cNvCxnSpPr>
            <a:cxnSpLocks/>
            <a:stCxn id="84" idx="0"/>
            <a:endCxn id="73" idx="4"/>
          </p:cNvCxnSpPr>
          <p:nvPr/>
        </p:nvCxnSpPr>
        <p:spPr>
          <a:xfrm flipV="1">
            <a:off x="1508964" y="4754427"/>
            <a:ext cx="0" cy="83814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7984948F-1F6E-68DA-DB9C-85674604CE7F}"/>
              </a:ext>
            </a:extLst>
          </p:cNvPr>
          <p:cNvCxnSpPr>
            <a:cxnSpLocks/>
            <a:stCxn id="84" idx="6"/>
            <a:endCxn id="85" idx="2"/>
          </p:cNvCxnSpPr>
          <p:nvPr/>
        </p:nvCxnSpPr>
        <p:spPr>
          <a:xfrm>
            <a:off x="1688964" y="5772576"/>
            <a:ext cx="213138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BA1F7EC4-72AF-7ED9-4B02-8889BF83E9AF}"/>
              </a:ext>
            </a:extLst>
          </p:cNvPr>
          <p:cNvCxnSpPr>
            <a:cxnSpLocks/>
            <a:stCxn id="85" idx="0"/>
            <a:endCxn id="74" idx="4"/>
          </p:cNvCxnSpPr>
          <p:nvPr/>
        </p:nvCxnSpPr>
        <p:spPr>
          <a:xfrm flipV="1">
            <a:off x="4000344" y="4754427"/>
            <a:ext cx="0" cy="83814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D8E65E-4D31-EFA4-D4CC-0CB0D9599883}"/>
                  </a:ext>
                </a:extLst>
              </p:cNvPr>
              <p:cNvSpPr txBox="1"/>
              <p:nvPr/>
            </p:nvSpPr>
            <p:spPr>
              <a:xfrm>
                <a:off x="7343347" y="3798331"/>
                <a:ext cx="22554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/>
                        <m:t>Adjustment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set</m:t>
                      </m:r>
                      <m:r>
                        <m:rPr>
                          <m:nor/>
                        </m:rPr>
                        <a:rPr lang="en-US" dirty="0"/>
                        <m:t> = {</m:t>
                      </m:r>
                      <m:r>
                        <m:rPr>
                          <m:nor/>
                        </m:rPr>
                        <a:rPr lang="en-SE" dirty="0">
                          <a:solidFill>
                            <a:srgbClr val="C00000"/>
                          </a:solidFill>
                        </a:rPr>
                        <m:t>a</m:t>
                      </m:r>
                      <m:r>
                        <m:rPr>
                          <m:nor/>
                        </m:rPr>
                        <a:rPr lang="en-SE" dirty="0"/>
                        <m:t>,</m:t>
                      </m:r>
                      <m:r>
                        <m:rPr>
                          <m:nor/>
                        </m:rPr>
                        <a:rPr lang="en-SE" dirty="0">
                          <a:solidFill>
                            <a:srgbClr val="C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SE" b="0" i="0" dirty="0" smtClean="0">
                          <a:solidFill>
                            <a:srgbClr val="C00000"/>
                          </a:solidFill>
                        </a:rPr>
                        <m:t>g</m:t>
                      </m:r>
                      <m:r>
                        <m:rPr>
                          <m:nor/>
                        </m:rPr>
                        <a:rPr lang="en-US" dirty="0"/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D8E65E-4D31-EFA4-D4CC-0CB0D9599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3347" y="3798331"/>
                <a:ext cx="2255425" cy="276999"/>
              </a:xfrm>
              <a:prstGeom prst="rect">
                <a:avLst/>
              </a:prstGeom>
              <a:blipFill>
                <a:blip r:embed="rId5"/>
                <a:stretch>
                  <a:fillRect l="-3243" r="-2973" b="-2826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EB0F9F4C-D02C-7881-8F91-9B924EBD969B}"/>
              </a:ext>
            </a:extLst>
          </p:cNvPr>
          <p:cNvGrpSpPr/>
          <p:nvPr/>
        </p:nvGrpSpPr>
        <p:grpSpPr>
          <a:xfrm>
            <a:off x="838198" y="365125"/>
            <a:ext cx="1983884" cy="245531"/>
            <a:chOff x="4114799" y="3759391"/>
            <a:chExt cx="1983884" cy="1229241"/>
          </a:xfrm>
        </p:grpSpPr>
        <p:sp>
          <p:nvSpPr>
            <p:cNvPr id="10" name="Arrow: Pentagon 9">
              <a:extLst>
                <a:ext uri="{FF2B5EF4-FFF2-40B4-BE49-F238E27FC236}">
                  <a16:creationId xmlns:a16="http://schemas.microsoft.com/office/drawing/2014/main" id="{FB1E6DD3-6EB4-A78A-1CEF-000004E077A4}"/>
                </a:ext>
              </a:extLst>
            </p:cNvPr>
            <p:cNvSpPr/>
            <p:nvPr/>
          </p:nvSpPr>
          <p:spPr>
            <a:xfrm>
              <a:off x="4114799" y="3759391"/>
              <a:ext cx="794039" cy="1229241"/>
            </a:xfrm>
            <a:prstGeom prst="homePlat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/>
                <a:t>Theory</a:t>
              </a:r>
            </a:p>
          </p:txBody>
        </p:sp>
        <p:sp>
          <p:nvSpPr>
            <p:cNvPr id="11" name="Arrow: Chevron 10">
              <a:extLst>
                <a:ext uri="{FF2B5EF4-FFF2-40B4-BE49-F238E27FC236}">
                  <a16:creationId xmlns:a16="http://schemas.microsoft.com/office/drawing/2014/main" id="{60AD5EC5-1B0E-BD86-ADE1-C3796DF3FFCA}"/>
                </a:ext>
              </a:extLst>
            </p:cNvPr>
            <p:cNvSpPr/>
            <p:nvPr/>
          </p:nvSpPr>
          <p:spPr>
            <a:xfrm>
              <a:off x="4843616" y="3759391"/>
              <a:ext cx="1255067" cy="1229241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>
                  <a:solidFill>
                    <a:schemeClr val="tx1"/>
                  </a:solidFill>
                </a:rPr>
                <a:t>Use Case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89570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202F2-F79B-D05C-21ED-3D7568CA7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6046C-17A3-C09A-DAD2-CC44EAF25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d-Separation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FAA80-628C-C223-5468-C86EABCF6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/>
              <a:t>A general framework to derive statistical models from causal models uses </a:t>
            </a:r>
            <a:r>
              <a:rPr lang="en-US" sz="2400" b="1" noProof="0" dirty="0"/>
              <a:t>d-separation</a:t>
            </a:r>
            <a:r>
              <a:rPr lang="en-US" sz="2400" noProof="0" dirty="0"/>
              <a:t>. It produces an </a:t>
            </a:r>
            <a:r>
              <a:rPr lang="en-US" sz="2400" b="1" noProof="0" dirty="0"/>
              <a:t>adjustment set</a:t>
            </a:r>
            <a:r>
              <a:rPr lang="en-US" sz="2400" noProof="0" dirty="0"/>
              <a:t>, i.e., the set of variables to control statistically in order to de-confound the causal effect between the exposure and the outcome.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8A1D1-EC29-96A0-B3FD-CF7826235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2026-05-12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2BBAD-0A64-1030-1ABD-14006A7CA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Good Science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03046-05B0-1820-1E85-95E4F3DD9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37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D374A2-A4B5-A689-3334-2F4BB14EC52D}"/>
              </a:ext>
            </a:extLst>
          </p:cNvPr>
          <p:cNvSpPr txBox="1"/>
          <p:nvPr/>
        </p:nvSpPr>
        <p:spPr>
          <a:xfrm>
            <a:off x="838200" y="59870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noProof="0" dirty="0">
                <a:hlinkClick r:id="rId2"/>
              </a:rPr>
              <a:t>https://bayes.cs.ucla.edu/BOOK-2K/d-sep.html</a:t>
            </a:r>
            <a:r>
              <a:rPr lang="en-US" noProof="0" dirty="0"/>
              <a:t> 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731331E-6910-B223-2594-9DF25C4A3471}"/>
              </a:ext>
            </a:extLst>
          </p:cNvPr>
          <p:cNvSpPr/>
          <p:nvPr/>
        </p:nvSpPr>
        <p:spPr>
          <a:xfrm>
            <a:off x="1328964" y="4394427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601A7D7-58A6-301A-488D-E3F11069C124}"/>
              </a:ext>
            </a:extLst>
          </p:cNvPr>
          <p:cNvSpPr/>
          <p:nvPr/>
        </p:nvSpPr>
        <p:spPr>
          <a:xfrm>
            <a:off x="3820344" y="4394427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EB309B2-EDF8-15DB-6FC3-C9989C5849E1}"/>
              </a:ext>
            </a:extLst>
          </p:cNvPr>
          <p:cNvCxnSpPr>
            <a:stCxn id="11" idx="6"/>
            <a:endCxn id="12" idx="2"/>
          </p:cNvCxnSpPr>
          <p:nvPr/>
        </p:nvCxnSpPr>
        <p:spPr>
          <a:xfrm>
            <a:off x="1688964" y="4574427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1D58E774-65F4-2B64-F8EB-F40DC9FF0730}"/>
              </a:ext>
            </a:extLst>
          </p:cNvPr>
          <p:cNvSpPr/>
          <p:nvPr/>
        </p:nvSpPr>
        <p:spPr>
          <a:xfrm>
            <a:off x="2574654" y="5052577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9DE0A00-8737-6D41-24DE-F2BC9A713E31}"/>
              </a:ext>
            </a:extLst>
          </p:cNvPr>
          <p:cNvCxnSpPr>
            <a:cxnSpLocks/>
            <a:stCxn id="16" idx="6"/>
            <a:endCxn id="12" idx="3"/>
          </p:cNvCxnSpPr>
          <p:nvPr/>
        </p:nvCxnSpPr>
        <p:spPr>
          <a:xfrm flipV="1">
            <a:off x="2934654" y="4701706"/>
            <a:ext cx="938411" cy="530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14A2C3E-7D09-B2B3-0FDD-B33649F3E055}"/>
              </a:ext>
            </a:extLst>
          </p:cNvPr>
          <p:cNvCxnSpPr>
            <a:cxnSpLocks/>
            <a:stCxn id="11" idx="5"/>
            <a:endCxn id="16" idx="2"/>
          </p:cNvCxnSpPr>
          <p:nvPr/>
        </p:nvCxnSpPr>
        <p:spPr>
          <a:xfrm>
            <a:off x="1636243" y="4701706"/>
            <a:ext cx="938411" cy="530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FCD33DFC-09A5-9519-669E-986739A7096D}"/>
              </a:ext>
            </a:extLst>
          </p:cNvPr>
          <p:cNvSpPr/>
          <p:nvPr/>
        </p:nvSpPr>
        <p:spPr>
          <a:xfrm>
            <a:off x="1330258" y="3556278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7FB51FE-94BE-37C1-115B-B8412A97641F}"/>
              </a:ext>
            </a:extLst>
          </p:cNvPr>
          <p:cNvSpPr/>
          <p:nvPr/>
        </p:nvSpPr>
        <p:spPr>
          <a:xfrm>
            <a:off x="2574654" y="3551713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3CB89C6-003B-5BE8-205F-07BCC5A89D61}"/>
              </a:ext>
            </a:extLst>
          </p:cNvPr>
          <p:cNvCxnSpPr>
            <a:cxnSpLocks/>
            <a:stCxn id="23" idx="4"/>
            <a:endCxn id="11" idx="0"/>
          </p:cNvCxnSpPr>
          <p:nvPr/>
        </p:nvCxnSpPr>
        <p:spPr>
          <a:xfrm flipH="1">
            <a:off x="1508964" y="3916278"/>
            <a:ext cx="1294" cy="478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53E3A3B-F93C-4667-E0A7-C792F580D779}"/>
              </a:ext>
            </a:extLst>
          </p:cNvPr>
          <p:cNvCxnSpPr>
            <a:cxnSpLocks/>
            <a:stCxn id="23" idx="6"/>
            <a:endCxn id="24" idx="2"/>
          </p:cNvCxnSpPr>
          <p:nvPr/>
        </p:nvCxnSpPr>
        <p:spPr>
          <a:xfrm flipV="1">
            <a:off x="1690258" y="3731713"/>
            <a:ext cx="884396" cy="45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6CB4104-082E-D629-5D93-C0B8D501CC2D}"/>
              </a:ext>
            </a:extLst>
          </p:cNvPr>
          <p:cNvCxnSpPr>
            <a:cxnSpLocks/>
            <a:stCxn id="12" idx="1"/>
            <a:endCxn id="24" idx="5"/>
          </p:cNvCxnSpPr>
          <p:nvPr/>
        </p:nvCxnSpPr>
        <p:spPr>
          <a:xfrm flipH="1" flipV="1">
            <a:off x="2881933" y="3858992"/>
            <a:ext cx="991132" cy="5881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1C3D8ECF-BB55-3E41-2DB3-6E640C17BB55}"/>
              </a:ext>
            </a:extLst>
          </p:cNvPr>
          <p:cNvSpPr/>
          <p:nvPr/>
        </p:nvSpPr>
        <p:spPr>
          <a:xfrm>
            <a:off x="1328964" y="5592576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C1F852A-B19E-C838-BF80-54803AE24BC4}"/>
              </a:ext>
            </a:extLst>
          </p:cNvPr>
          <p:cNvSpPr/>
          <p:nvPr/>
        </p:nvSpPr>
        <p:spPr>
          <a:xfrm>
            <a:off x="3820344" y="5592576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D3B0D4F-B8A8-78D2-D309-A727425CCABF}"/>
              </a:ext>
            </a:extLst>
          </p:cNvPr>
          <p:cNvCxnSpPr>
            <a:cxnSpLocks/>
            <a:stCxn id="54" idx="0"/>
            <a:endCxn id="11" idx="4"/>
          </p:cNvCxnSpPr>
          <p:nvPr/>
        </p:nvCxnSpPr>
        <p:spPr>
          <a:xfrm flipV="1">
            <a:off x="1508964" y="4754427"/>
            <a:ext cx="0" cy="838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40C9C76-F3B5-5313-E0CE-011DB241FD9F}"/>
              </a:ext>
            </a:extLst>
          </p:cNvPr>
          <p:cNvCxnSpPr>
            <a:cxnSpLocks/>
            <a:stCxn id="54" idx="6"/>
            <a:endCxn id="55" idx="2"/>
          </p:cNvCxnSpPr>
          <p:nvPr/>
        </p:nvCxnSpPr>
        <p:spPr>
          <a:xfrm>
            <a:off x="1688964" y="5772576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6E2DC36-0140-3B07-FFFD-2B24DD93B22A}"/>
              </a:ext>
            </a:extLst>
          </p:cNvPr>
          <p:cNvCxnSpPr>
            <a:cxnSpLocks/>
            <a:stCxn id="55" idx="0"/>
            <a:endCxn id="12" idx="4"/>
          </p:cNvCxnSpPr>
          <p:nvPr/>
        </p:nvCxnSpPr>
        <p:spPr>
          <a:xfrm flipV="1">
            <a:off x="4000344" y="4754427"/>
            <a:ext cx="0" cy="838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1136C5DF-F561-18A9-3887-E00AD5E27C16}"/>
              </a:ext>
            </a:extLst>
          </p:cNvPr>
          <p:cNvSpPr txBox="1"/>
          <p:nvPr/>
        </p:nvSpPr>
        <p:spPr>
          <a:xfrm>
            <a:off x="4564594" y="4232692"/>
            <a:ext cx="72541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noProof="0" dirty="0"/>
              <a:t>Identify every backdoor path</a:t>
            </a:r>
            <a:r>
              <a:rPr lang="en-US" i="1" noProof="0" dirty="0"/>
              <a:t>.</a:t>
            </a:r>
            <a:endParaRPr lang="en-US" noProof="0" dirty="0"/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Check if there is a collider between the cause and effect of interest.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noProof="0" dirty="0"/>
              <a:t>If yes, do not condition on any of the variables on this path.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noProof="0" dirty="0"/>
              <a:t>If not, condition on any of the variables on this path to “close” the backdoor path.</a:t>
            </a:r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Optionally, condition on </a:t>
            </a:r>
            <a:r>
              <a:rPr lang="en-US" b="1" noProof="0" dirty="0">
                <a:solidFill>
                  <a:schemeClr val="accent2"/>
                </a:solidFill>
              </a:rPr>
              <a:t>mediators</a:t>
            </a:r>
            <a:r>
              <a:rPr lang="en-US" noProof="0" dirty="0"/>
              <a:t> to discern the direct effect.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DDFBBE8-FA1A-F588-524A-A1BF1B296339}"/>
              </a:ext>
            </a:extLst>
          </p:cNvPr>
          <p:cNvGrpSpPr/>
          <p:nvPr/>
        </p:nvGrpSpPr>
        <p:grpSpPr>
          <a:xfrm>
            <a:off x="4564594" y="3582332"/>
            <a:ext cx="2563289" cy="432000"/>
            <a:chOff x="4604412" y="1893985"/>
            <a:chExt cx="2563289" cy="432000"/>
          </a:xfrm>
        </p:grpSpPr>
        <p:sp>
          <p:nvSpPr>
            <p:cNvPr id="70" name="Arrow: Pentagon 69">
              <a:extLst>
                <a:ext uri="{FF2B5EF4-FFF2-40B4-BE49-F238E27FC236}">
                  <a16:creationId xmlns:a16="http://schemas.microsoft.com/office/drawing/2014/main" id="{6449C24C-C5CB-ECB3-FB01-883F15FAEE74}"/>
                </a:ext>
              </a:extLst>
            </p:cNvPr>
            <p:cNvSpPr/>
            <p:nvPr/>
          </p:nvSpPr>
          <p:spPr>
            <a:xfrm>
              <a:off x="4604412" y="1893985"/>
              <a:ext cx="2563289" cy="432000"/>
            </a:xfrm>
            <a:prstGeom prst="homePlat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rtlCol="0" anchor="ctr"/>
            <a:lstStyle/>
            <a:p>
              <a:r>
                <a:rPr lang="en-US" noProof="0" dirty="0"/>
                <a:t>Model Derivation</a:t>
              </a:r>
            </a:p>
          </p:txBody>
        </p:sp>
        <p:pic>
          <p:nvPicPr>
            <p:cNvPr id="71" name="Graphic 70" descr="Connections with solid fill">
              <a:extLst>
                <a:ext uri="{FF2B5EF4-FFF2-40B4-BE49-F238E27FC236}">
                  <a16:creationId xmlns:a16="http://schemas.microsoft.com/office/drawing/2014/main" id="{ABF714F2-A00F-1CD0-4A16-ED0D1B5952B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4301" y="1929985"/>
              <a:ext cx="360000" cy="36000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481A5DB-C159-DD21-6688-25DD68F25627}"/>
                  </a:ext>
                </a:extLst>
              </p:cNvPr>
              <p:cNvSpPr txBox="1"/>
              <p:nvPr/>
            </p:nvSpPr>
            <p:spPr>
              <a:xfrm>
                <a:off x="7343347" y="3413213"/>
                <a:ext cx="26273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/>
                        <m:t>Adjustment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set</m:t>
                      </m:r>
                      <m:r>
                        <m:rPr>
                          <m:nor/>
                        </m:rPr>
                        <a:rPr lang="en-US" dirty="0"/>
                        <m:t> = {</m:t>
                      </m:r>
                      <m:r>
                        <m:rPr>
                          <m:nor/>
                        </m:rPr>
                        <a:rPr lang="en-SE" dirty="0">
                          <a:solidFill>
                            <a:srgbClr val="C00000"/>
                          </a:solidFill>
                        </a:rPr>
                        <m:t>a</m:t>
                      </m:r>
                      <m:r>
                        <m:rPr>
                          <m:nor/>
                        </m:rPr>
                        <a:rPr lang="en-SE" dirty="0"/>
                        <m:t>,</m:t>
                      </m:r>
                      <m:r>
                        <m:rPr>
                          <m:nor/>
                        </m:rPr>
                        <a:rPr lang="en-SE" dirty="0">
                          <a:solidFill>
                            <a:srgbClr val="C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SE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m:t>f</m:t>
                      </m:r>
                      <m:r>
                        <m:rPr>
                          <m:nor/>
                        </m:rPr>
                        <a:rPr lang="en-SE" b="0" i="0" dirty="0" smtClean="0">
                          <a:solidFill>
                            <a:schemeClr val="tx1"/>
                          </a:solidFill>
                        </a:rPr>
                        <m:t>, [</m:t>
                      </m:r>
                      <m:r>
                        <m:rPr>
                          <m:nor/>
                        </m:rPr>
                        <a:rPr lang="en-SE" b="0" i="0" dirty="0" smtClean="0">
                          <a:solidFill>
                            <a:srgbClr val="92D050"/>
                          </a:solidFill>
                        </a:rPr>
                        <m:t>e</m:t>
                      </m:r>
                      <m:r>
                        <m:rPr>
                          <m:nor/>
                        </m:rPr>
                        <a:rPr lang="en-SE" b="0" i="0" dirty="0" smtClean="0">
                          <a:solidFill>
                            <a:schemeClr val="tx1"/>
                          </a:solidFill>
                        </a:rPr>
                        <m:t>]</m:t>
                      </m:r>
                      <m:r>
                        <m:rPr>
                          <m:nor/>
                        </m:rPr>
                        <a:rPr lang="en-US" dirty="0"/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481A5DB-C159-DD21-6688-25DD68F25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3347" y="3413213"/>
                <a:ext cx="2627321" cy="276999"/>
              </a:xfrm>
              <a:prstGeom prst="rect">
                <a:avLst/>
              </a:prstGeom>
              <a:blipFill>
                <a:blip r:embed="rId4"/>
                <a:stretch>
                  <a:fillRect l="-1624" r="-1624" b="-3111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5FD7F4A-CF27-4B23-3CE1-FA0270C38BC3}"/>
                  </a:ext>
                </a:extLst>
              </p:cNvPr>
              <p:cNvSpPr txBox="1"/>
              <p:nvPr/>
            </p:nvSpPr>
            <p:spPr>
              <a:xfrm>
                <a:off x="7343347" y="3798331"/>
                <a:ext cx="26241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/>
                        <m:t>Adjustment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set</m:t>
                      </m:r>
                      <m:r>
                        <m:rPr>
                          <m:nor/>
                        </m:rPr>
                        <a:rPr lang="en-US" dirty="0"/>
                        <m:t> = {</m:t>
                      </m:r>
                      <m:r>
                        <m:rPr>
                          <m:nor/>
                        </m:rPr>
                        <a:rPr lang="en-SE" dirty="0">
                          <a:solidFill>
                            <a:srgbClr val="C00000"/>
                          </a:solidFill>
                        </a:rPr>
                        <m:t>a</m:t>
                      </m:r>
                      <m:r>
                        <m:rPr>
                          <m:nor/>
                        </m:rPr>
                        <a:rPr lang="en-SE" dirty="0"/>
                        <m:t>,</m:t>
                      </m:r>
                      <m:r>
                        <m:rPr>
                          <m:nor/>
                        </m:rPr>
                        <a:rPr lang="en-SE" dirty="0">
                          <a:solidFill>
                            <a:srgbClr val="C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SE" b="0" i="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m:t>g</m:t>
                      </m:r>
                      <m:r>
                        <m:rPr>
                          <m:nor/>
                        </m:rPr>
                        <a:rPr lang="en-SE" dirty="0"/>
                        <m:t>, [</m:t>
                      </m:r>
                      <m:r>
                        <m:rPr>
                          <m:nor/>
                        </m:rPr>
                        <a:rPr lang="en-SE" dirty="0">
                          <a:solidFill>
                            <a:srgbClr val="92D050"/>
                          </a:solidFill>
                        </a:rPr>
                        <m:t>e</m:t>
                      </m:r>
                      <m:r>
                        <m:rPr>
                          <m:nor/>
                        </m:rPr>
                        <a:rPr lang="en-SE" dirty="0"/>
                        <m:t>]</m:t>
                      </m:r>
                      <m:r>
                        <m:rPr>
                          <m:nor/>
                        </m:rPr>
                        <a:rPr lang="en-US" dirty="0"/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5FD7F4A-CF27-4B23-3CE1-FA0270C38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3347" y="3798331"/>
                <a:ext cx="2624116" cy="276999"/>
              </a:xfrm>
              <a:prstGeom prst="rect">
                <a:avLst/>
              </a:prstGeom>
              <a:blipFill>
                <a:blip r:embed="rId5"/>
                <a:stretch>
                  <a:fillRect l="-2558" r="-2558" b="-2826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BEB21AA3-7B1C-1DD0-E5DC-3139BEC4ADAB}"/>
              </a:ext>
            </a:extLst>
          </p:cNvPr>
          <p:cNvGrpSpPr/>
          <p:nvPr/>
        </p:nvGrpSpPr>
        <p:grpSpPr>
          <a:xfrm>
            <a:off x="838198" y="365125"/>
            <a:ext cx="1983884" cy="245531"/>
            <a:chOff x="4114799" y="3759391"/>
            <a:chExt cx="1983884" cy="1229241"/>
          </a:xfrm>
        </p:grpSpPr>
        <p:sp>
          <p:nvSpPr>
            <p:cNvPr id="14" name="Arrow: Pentagon 13">
              <a:extLst>
                <a:ext uri="{FF2B5EF4-FFF2-40B4-BE49-F238E27FC236}">
                  <a16:creationId xmlns:a16="http://schemas.microsoft.com/office/drawing/2014/main" id="{8B8AAE73-F128-080E-F06D-859BE5D8AFF6}"/>
                </a:ext>
              </a:extLst>
            </p:cNvPr>
            <p:cNvSpPr/>
            <p:nvPr/>
          </p:nvSpPr>
          <p:spPr>
            <a:xfrm>
              <a:off x="4114799" y="3759391"/>
              <a:ext cx="794039" cy="1229241"/>
            </a:xfrm>
            <a:prstGeom prst="homePlat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/>
                <a:t>Theory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34EB5C14-98AD-B427-EEC5-430ECFBD2B0E}"/>
                </a:ext>
              </a:extLst>
            </p:cNvPr>
            <p:cNvSpPr/>
            <p:nvPr/>
          </p:nvSpPr>
          <p:spPr>
            <a:xfrm>
              <a:off x="4843616" y="3759391"/>
              <a:ext cx="1255067" cy="1229241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>
                  <a:solidFill>
                    <a:schemeClr val="tx1"/>
                  </a:solidFill>
                </a:rPr>
                <a:t>Use Case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78782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3B4EB-CD83-7F10-A23F-0B210B0F1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CB8C2-F5B4-3F87-CE12-8C64D293A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d-Separation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B5A46-BA94-D6A8-11A7-27AA1740F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noProof="0" dirty="0"/>
              <a:t>A general framework to derive statistical models from causal models uses </a:t>
            </a:r>
            <a:r>
              <a:rPr lang="en-US" sz="2400" b="1" noProof="0" dirty="0"/>
              <a:t>d-separation</a:t>
            </a:r>
            <a:r>
              <a:rPr lang="en-US" sz="2400" noProof="0" dirty="0"/>
              <a:t>. It produces an </a:t>
            </a:r>
            <a:r>
              <a:rPr lang="en-US" sz="2400" b="1" noProof="0" dirty="0"/>
              <a:t>adjustment set</a:t>
            </a:r>
            <a:r>
              <a:rPr lang="en-US" sz="2400" noProof="0" dirty="0"/>
              <a:t>, i.e., the set of variables to control statistically in order to de-confound the causal effect between the exposure and the outcome.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D9834-2F95-B93F-D9F5-5AB5BC2B4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2026-05-12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C682D-1E4F-4EBC-CE1D-9244BB078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Good Science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C1162-C451-0965-1469-5990C8C44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38</a:t>
            </a:fld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90E4ED-10C8-92E0-DDC4-4C6ADA754EA0}"/>
              </a:ext>
            </a:extLst>
          </p:cNvPr>
          <p:cNvSpPr txBox="1"/>
          <p:nvPr/>
        </p:nvSpPr>
        <p:spPr>
          <a:xfrm>
            <a:off x="838200" y="59870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noProof="0" dirty="0">
                <a:hlinkClick r:id="rId2"/>
              </a:rPr>
              <a:t>https://bayes.cs.ucla.edu/BOOK-2K/d-sep.html</a:t>
            </a:r>
            <a:r>
              <a:rPr lang="en-US" noProof="0" dirty="0"/>
              <a:t> 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FFF73C8-0B22-142B-0DF5-0D1364F33D80}"/>
              </a:ext>
            </a:extLst>
          </p:cNvPr>
          <p:cNvSpPr/>
          <p:nvPr/>
        </p:nvSpPr>
        <p:spPr>
          <a:xfrm>
            <a:off x="1328964" y="4394427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3F30886-0664-6CCE-3C9E-CDA150E7731E}"/>
              </a:ext>
            </a:extLst>
          </p:cNvPr>
          <p:cNvSpPr/>
          <p:nvPr/>
        </p:nvSpPr>
        <p:spPr>
          <a:xfrm>
            <a:off x="3820344" y="4394427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EFA903B-56D0-2B5F-BFA6-620190088DEB}"/>
              </a:ext>
            </a:extLst>
          </p:cNvPr>
          <p:cNvCxnSpPr>
            <a:stCxn id="11" idx="6"/>
            <a:endCxn id="12" idx="2"/>
          </p:cNvCxnSpPr>
          <p:nvPr/>
        </p:nvCxnSpPr>
        <p:spPr>
          <a:xfrm>
            <a:off x="1688964" y="4574427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B2A9811-A725-B996-58B4-CBED74D293AE}"/>
              </a:ext>
            </a:extLst>
          </p:cNvPr>
          <p:cNvSpPr/>
          <p:nvPr/>
        </p:nvSpPr>
        <p:spPr>
          <a:xfrm>
            <a:off x="2574654" y="5052577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D000759-2D0B-7F6C-4A0C-B96EF8FFB40F}"/>
              </a:ext>
            </a:extLst>
          </p:cNvPr>
          <p:cNvCxnSpPr>
            <a:cxnSpLocks/>
            <a:stCxn id="16" idx="6"/>
            <a:endCxn id="12" idx="3"/>
          </p:cNvCxnSpPr>
          <p:nvPr/>
        </p:nvCxnSpPr>
        <p:spPr>
          <a:xfrm flipV="1">
            <a:off x="2934654" y="4701706"/>
            <a:ext cx="938411" cy="530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982B517-5C5F-9975-EC69-2FA4AF5237F1}"/>
              </a:ext>
            </a:extLst>
          </p:cNvPr>
          <p:cNvCxnSpPr>
            <a:cxnSpLocks/>
            <a:stCxn id="11" idx="5"/>
            <a:endCxn id="16" idx="2"/>
          </p:cNvCxnSpPr>
          <p:nvPr/>
        </p:nvCxnSpPr>
        <p:spPr>
          <a:xfrm>
            <a:off x="1636243" y="4701706"/>
            <a:ext cx="938411" cy="530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1231C93E-2141-3AFB-AA7A-03DCDA93B680}"/>
              </a:ext>
            </a:extLst>
          </p:cNvPr>
          <p:cNvSpPr/>
          <p:nvPr/>
        </p:nvSpPr>
        <p:spPr>
          <a:xfrm>
            <a:off x="1330258" y="3556278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7EE3AA2-4E0C-66A5-16AD-9AB5C61FB5BD}"/>
              </a:ext>
            </a:extLst>
          </p:cNvPr>
          <p:cNvSpPr/>
          <p:nvPr/>
        </p:nvSpPr>
        <p:spPr>
          <a:xfrm>
            <a:off x="2574654" y="3551713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84D6396-A4E0-086B-4841-BD3EDE6BF8A7}"/>
              </a:ext>
            </a:extLst>
          </p:cNvPr>
          <p:cNvCxnSpPr>
            <a:cxnSpLocks/>
            <a:stCxn id="23" idx="4"/>
            <a:endCxn id="11" idx="0"/>
          </p:cNvCxnSpPr>
          <p:nvPr/>
        </p:nvCxnSpPr>
        <p:spPr>
          <a:xfrm flipH="1">
            <a:off x="1508964" y="3916278"/>
            <a:ext cx="1294" cy="478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61249AD-AD75-F6FF-FF9D-50A557BFDD36}"/>
              </a:ext>
            </a:extLst>
          </p:cNvPr>
          <p:cNvCxnSpPr>
            <a:cxnSpLocks/>
            <a:stCxn id="23" idx="6"/>
            <a:endCxn id="24" idx="2"/>
          </p:cNvCxnSpPr>
          <p:nvPr/>
        </p:nvCxnSpPr>
        <p:spPr>
          <a:xfrm flipV="1">
            <a:off x="1690258" y="3731713"/>
            <a:ext cx="884396" cy="45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8D793B5-D618-C576-11C9-585E4E0B7C37}"/>
              </a:ext>
            </a:extLst>
          </p:cNvPr>
          <p:cNvCxnSpPr>
            <a:cxnSpLocks/>
            <a:stCxn id="12" idx="1"/>
            <a:endCxn id="24" idx="5"/>
          </p:cNvCxnSpPr>
          <p:nvPr/>
        </p:nvCxnSpPr>
        <p:spPr>
          <a:xfrm flipH="1" flipV="1">
            <a:off x="2881933" y="3858992"/>
            <a:ext cx="991132" cy="5881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AD2B4D6B-552D-12F7-2529-D6105ABF0E45}"/>
              </a:ext>
            </a:extLst>
          </p:cNvPr>
          <p:cNvSpPr/>
          <p:nvPr/>
        </p:nvSpPr>
        <p:spPr>
          <a:xfrm>
            <a:off x="1328964" y="5592576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D58EE99-327E-5333-0C62-AD3CBB038A28}"/>
              </a:ext>
            </a:extLst>
          </p:cNvPr>
          <p:cNvSpPr/>
          <p:nvPr/>
        </p:nvSpPr>
        <p:spPr>
          <a:xfrm>
            <a:off x="3820344" y="5592576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DFC211B-D8DA-7EDD-AE65-37E7AAC20D56}"/>
              </a:ext>
            </a:extLst>
          </p:cNvPr>
          <p:cNvCxnSpPr>
            <a:cxnSpLocks/>
            <a:stCxn id="54" idx="0"/>
            <a:endCxn id="11" idx="4"/>
          </p:cNvCxnSpPr>
          <p:nvPr/>
        </p:nvCxnSpPr>
        <p:spPr>
          <a:xfrm flipV="1">
            <a:off x="1508964" y="4754427"/>
            <a:ext cx="0" cy="838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D5B6D3C-62F8-CC63-38EE-0423DA2914E8}"/>
              </a:ext>
            </a:extLst>
          </p:cNvPr>
          <p:cNvCxnSpPr>
            <a:cxnSpLocks/>
            <a:stCxn id="54" idx="6"/>
            <a:endCxn id="55" idx="2"/>
          </p:cNvCxnSpPr>
          <p:nvPr/>
        </p:nvCxnSpPr>
        <p:spPr>
          <a:xfrm>
            <a:off x="1688964" y="5772576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9901BB4-A080-D52D-F777-E453748F7044}"/>
              </a:ext>
            </a:extLst>
          </p:cNvPr>
          <p:cNvCxnSpPr>
            <a:cxnSpLocks/>
            <a:stCxn id="55" idx="0"/>
            <a:endCxn id="12" idx="4"/>
          </p:cNvCxnSpPr>
          <p:nvPr/>
        </p:nvCxnSpPr>
        <p:spPr>
          <a:xfrm flipV="1">
            <a:off x="4000344" y="4754427"/>
            <a:ext cx="0" cy="8381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F1122550-BD3F-92A9-F1AC-B9842CDC08E2}"/>
              </a:ext>
            </a:extLst>
          </p:cNvPr>
          <p:cNvSpPr txBox="1"/>
          <p:nvPr/>
        </p:nvSpPr>
        <p:spPr>
          <a:xfrm>
            <a:off x="4564594" y="4232692"/>
            <a:ext cx="72541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noProof="0" dirty="0"/>
              <a:t>Identify every backdoor path</a:t>
            </a:r>
            <a:r>
              <a:rPr lang="en-US" i="1" noProof="0" dirty="0"/>
              <a:t>.</a:t>
            </a:r>
            <a:endParaRPr lang="en-US" noProof="0" dirty="0"/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Check if there is a collider between the cause and effect of interest.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noProof="0" dirty="0"/>
              <a:t>If yes, do not condition on any of the variables on this path.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noProof="0" dirty="0"/>
              <a:t>If not, condition on any of the variables on this path to “close” the backdoor path.</a:t>
            </a:r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Optionally, condition on mediators to discern the direct effect.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FD97713-6117-501C-2C1D-CDB6B9517732}"/>
              </a:ext>
            </a:extLst>
          </p:cNvPr>
          <p:cNvGrpSpPr/>
          <p:nvPr/>
        </p:nvGrpSpPr>
        <p:grpSpPr>
          <a:xfrm>
            <a:off x="4564594" y="3582332"/>
            <a:ext cx="2563289" cy="432000"/>
            <a:chOff x="4604412" y="1893985"/>
            <a:chExt cx="2563289" cy="432000"/>
          </a:xfrm>
        </p:grpSpPr>
        <p:sp>
          <p:nvSpPr>
            <p:cNvPr id="70" name="Arrow: Pentagon 69">
              <a:extLst>
                <a:ext uri="{FF2B5EF4-FFF2-40B4-BE49-F238E27FC236}">
                  <a16:creationId xmlns:a16="http://schemas.microsoft.com/office/drawing/2014/main" id="{84B7D666-21D5-4E3C-41D4-7EFC19FB4500}"/>
                </a:ext>
              </a:extLst>
            </p:cNvPr>
            <p:cNvSpPr/>
            <p:nvPr/>
          </p:nvSpPr>
          <p:spPr>
            <a:xfrm>
              <a:off x="4604412" y="1893985"/>
              <a:ext cx="2563289" cy="432000"/>
            </a:xfrm>
            <a:prstGeom prst="homePlat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rtlCol="0" anchor="ctr"/>
            <a:lstStyle/>
            <a:p>
              <a:r>
                <a:rPr lang="en-US" noProof="0" dirty="0"/>
                <a:t>Model Derivation</a:t>
              </a:r>
            </a:p>
          </p:txBody>
        </p:sp>
        <p:pic>
          <p:nvPicPr>
            <p:cNvPr id="71" name="Graphic 70" descr="Connections with solid fill">
              <a:extLst>
                <a:ext uri="{FF2B5EF4-FFF2-40B4-BE49-F238E27FC236}">
                  <a16:creationId xmlns:a16="http://schemas.microsoft.com/office/drawing/2014/main" id="{CABB0A44-8A36-B53B-89D8-C1FE178D074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64301" y="1929985"/>
              <a:ext cx="360000" cy="360000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9CF312-BD42-52AF-9AEC-1081E30D3BAB}"/>
              </a:ext>
            </a:extLst>
          </p:cNvPr>
          <p:cNvGrpSpPr/>
          <p:nvPr/>
        </p:nvGrpSpPr>
        <p:grpSpPr>
          <a:xfrm>
            <a:off x="838198" y="365125"/>
            <a:ext cx="1983884" cy="245531"/>
            <a:chOff x="4114799" y="3759391"/>
            <a:chExt cx="1983884" cy="1229241"/>
          </a:xfrm>
        </p:grpSpPr>
        <p:sp>
          <p:nvSpPr>
            <p:cNvPr id="14" name="Arrow: Pentagon 13">
              <a:extLst>
                <a:ext uri="{FF2B5EF4-FFF2-40B4-BE49-F238E27FC236}">
                  <a16:creationId xmlns:a16="http://schemas.microsoft.com/office/drawing/2014/main" id="{A540FB1B-3B12-F3E6-215F-2EA777F2E823}"/>
                </a:ext>
              </a:extLst>
            </p:cNvPr>
            <p:cNvSpPr/>
            <p:nvPr/>
          </p:nvSpPr>
          <p:spPr>
            <a:xfrm>
              <a:off x="4114799" y="3759391"/>
              <a:ext cx="794039" cy="1229241"/>
            </a:xfrm>
            <a:prstGeom prst="homePlat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/>
                <a:t>Theory</a:t>
              </a:r>
            </a:p>
          </p:txBody>
        </p:sp>
        <p:sp>
          <p:nvSpPr>
            <p:cNvPr id="15" name="Arrow: Chevron 14">
              <a:extLst>
                <a:ext uri="{FF2B5EF4-FFF2-40B4-BE49-F238E27FC236}">
                  <a16:creationId xmlns:a16="http://schemas.microsoft.com/office/drawing/2014/main" id="{D567C3E7-E70E-D195-6236-B5DB8C08949B}"/>
                </a:ext>
              </a:extLst>
            </p:cNvPr>
            <p:cNvSpPr/>
            <p:nvPr/>
          </p:nvSpPr>
          <p:spPr>
            <a:xfrm>
              <a:off x="4843616" y="3759391"/>
              <a:ext cx="1255067" cy="1229241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>
                  <a:solidFill>
                    <a:schemeClr val="tx1"/>
                  </a:solidFill>
                </a:rPr>
                <a:t>Use Case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003E717-9D00-38D8-0286-E6BE3D8272A3}"/>
                  </a:ext>
                </a:extLst>
              </p:cNvPr>
              <p:cNvSpPr txBox="1"/>
              <p:nvPr/>
            </p:nvSpPr>
            <p:spPr>
              <a:xfrm>
                <a:off x="7343347" y="3413213"/>
                <a:ext cx="26273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/>
                        <m:t>Adjustment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set</m:t>
                      </m:r>
                      <m:r>
                        <m:rPr>
                          <m:nor/>
                        </m:rPr>
                        <a:rPr lang="en-US" dirty="0"/>
                        <m:t> = {</m:t>
                      </m:r>
                      <m:r>
                        <m:rPr>
                          <m:nor/>
                        </m:rPr>
                        <a:rPr lang="en-SE" dirty="0">
                          <a:solidFill>
                            <a:srgbClr val="C00000"/>
                          </a:solidFill>
                        </a:rPr>
                        <m:t>a</m:t>
                      </m:r>
                      <m:r>
                        <m:rPr>
                          <m:nor/>
                        </m:rPr>
                        <a:rPr lang="en-SE" dirty="0"/>
                        <m:t>,</m:t>
                      </m:r>
                      <m:r>
                        <m:rPr>
                          <m:nor/>
                        </m:rPr>
                        <a:rPr lang="en-SE" dirty="0">
                          <a:solidFill>
                            <a:srgbClr val="C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SE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m:t>f</m:t>
                      </m:r>
                      <m:r>
                        <m:rPr>
                          <m:nor/>
                        </m:rPr>
                        <a:rPr lang="en-SE" b="0" i="0" dirty="0" smtClean="0">
                          <a:solidFill>
                            <a:schemeClr val="tx1"/>
                          </a:solidFill>
                        </a:rPr>
                        <m:t>, [</m:t>
                      </m:r>
                      <m:r>
                        <m:rPr>
                          <m:nor/>
                        </m:rPr>
                        <a:rPr lang="en-SE" b="0" i="0" dirty="0" smtClean="0">
                          <a:solidFill>
                            <a:srgbClr val="92D050"/>
                          </a:solidFill>
                        </a:rPr>
                        <m:t>e</m:t>
                      </m:r>
                      <m:r>
                        <m:rPr>
                          <m:nor/>
                        </m:rPr>
                        <a:rPr lang="en-SE" b="0" i="0" dirty="0" smtClean="0">
                          <a:solidFill>
                            <a:schemeClr val="tx1"/>
                          </a:solidFill>
                        </a:rPr>
                        <m:t>]</m:t>
                      </m:r>
                      <m:r>
                        <m:rPr>
                          <m:nor/>
                        </m:rPr>
                        <a:rPr lang="en-US" dirty="0"/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003E717-9D00-38D8-0286-E6BE3D827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3347" y="3413213"/>
                <a:ext cx="2627321" cy="276999"/>
              </a:xfrm>
              <a:prstGeom prst="rect">
                <a:avLst/>
              </a:prstGeom>
              <a:blipFill>
                <a:blip r:embed="rId4"/>
                <a:stretch>
                  <a:fillRect l="-1624" r="-1624" b="-3111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51451B3-1818-1777-AF79-7F20548CD03A}"/>
                  </a:ext>
                </a:extLst>
              </p:cNvPr>
              <p:cNvSpPr txBox="1"/>
              <p:nvPr/>
            </p:nvSpPr>
            <p:spPr>
              <a:xfrm>
                <a:off x="7343347" y="3798331"/>
                <a:ext cx="26241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/>
                        <m:t>Adjustment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set</m:t>
                      </m:r>
                      <m:r>
                        <m:rPr>
                          <m:nor/>
                        </m:rPr>
                        <a:rPr lang="en-US" dirty="0"/>
                        <m:t> = {</m:t>
                      </m:r>
                      <m:r>
                        <m:rPr>
                          <m:nor/>
                        </m:rPr>
                        <a:rPr lang="en-SE" dirty="0">
                          <a:solidFill>
                            <a:srgbClr val="C00000"/>
                          </a:solidFill>
                        </a:rPr>
                        <m:t>a</m:t>
                      </m:r>
                      <m:r>
                        <m:rPr>
                          <m:nor/>
                        </m:rPr>
                        <a:rPr lang="en-SE" dirty="0"/>
                        <m:t>,</m:t>
                      </m:r>
                      <m:r>
                        <m:rPr>
                          <m:nor/>
                        </m:rPr>
                        <a:rPr lang="en-SE" dirty="0">
                          <a:solidFill>
                            <a:srgbClr val="C0000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SE" b="0" i="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m:t>g</m:t>
                      </m:r>
                      <m:r>
                        <m:rPr>
                          <m:nor/>
                        </m:rPr>
                        <a:rPr lang="en-SE" dirty="0"/>
                        <m:t>, [</m:t>
                      </m:r>
                      <m:r>
                        <m:rPr>
                          <m:nor/>
                        </m:rPr>
                        <a:rPr lang="en-SE" dirty="0">
                          <a:solidFill>
                            <a:srgbClr val="92D050"/>
                          </a:solidFill>
                        </a:rPr>
                        <m:t>e</m:t>
                      </m:r>
                      <m:r>
                        <m:rPr>
                          <m:nor/>
                        </m:rPr>
                        <a:rPr lang="en-SE" dirty="0"/>
                        <m:t>]</m:t>
                      </m:r>
                      <m:r>
                        <m:rPr>
                          <m:nor/>
                        </m:rPr>
                        <a:rPr lang="en-US" dirty="0"/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51451B3-1818-1777-AF79-7F20548CD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3347" y="3798331"/>
                <a:ext cx="2624116" cy="276999"/>
              </a:xfrm>
              <a:prstGeom prst="rect">
                <a:avLst/>
              </a:prstGeom>
              <a:blipFill>
                <a:blip r:embed="rId5"/>
                <a:stretch>
                  <a:fillRect l="-2558" r="-2558" b="-2826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20819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311B4-7994-C422-582A-A0C655791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F43D3-DE29-5FC3-0D6E-D876DED2A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2064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Determine the </a:t>
            </a:r>
            <a:r>
              <a:rPr lang="en-US" b="1" noProof="0" dirty="0"/>
              <a:t>adjustment set</a:t>
            </a:r>
            <a:r>
              <a:rPr lang="en-US" noProof="0" dirty="0"/>
              <a:t> of variables to de-confound the estimation of the effect of the phenomenon </a:t>
            </a:r>
            <a:r>
              <a:rPr lang="en-US" noProof="0" dirty="0">
                <a:solidFill>
                  <a:srgbClr val="C00000"/>
                </a:solidFill>
              </a:rPr>
              <a:t>a </a:t>
            </a:r>
            <a:r>
              <a:rPr lang="en-US" noProof="0" dirty="0"/>
              <a:t>→ </a:t>
            </a:r>
            <a:r>
              <a:rPr lang="en-US" noProof="0" dirty="0">
                <a:solidFill>
                  <a:srgbClr val="006D70"/>
                </a:solidFill>
              </a:rPr>
              <a:t>b</a:t>
            </a:r>
            <a:r>
              <a:rPr lang="en-US" noProof="0" dirty="0"/>
              <a:t> via d-separation.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B09EB-5EB2-C850-AD3B-0326572DA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2026-05-12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6949B-6B95-49E4-C467-E55A5BDE9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Good Science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8F953-2F86-BDE6-F755-6AA85D7C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39</a:t>
            </a:fld>
            <a:endParaRPr lang="en-US" noProof="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F149A54-8CB3-C5AC-1C51-A4E18019E2D1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5120310" y="4780370"/>
            <a:ext cx="195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6C594A1-6FE1-C539-1B8E-4C937CE7FCBB}"/>
              </a:ext>
            </a:extLst>
          </p:cNvPr>
          <p:cNvSpPr/>
          <p:nvPr/>
        </p:nvSpPr>
        <p:spPr>
          <a:xfrm>
            <a:off x="4580310" y="4510370"/>
            <a:ext cx="540000" cy="54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36F7CBB-1551-E58D-0665-50C4C46A3FB5}"/>
              </a:ext>
            </a:extLst>
          </p:cNvPr>
          <p:cNvSpPr/>
          <p:nvPr/>
        </p:nvSpPr>
        <p:spPr>
          <a:xfrm>
            <a:off x="7071690" y="4510370"/>
            <a:ext cx="540000" cy="54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15D402D-8EDE-B2A7-F9DE-17B7104FB077}"/>
              </a:ext>
            </a:extLst>
          </p:cNvPr>
          <p:cNvSpPr/>
          <p:nvPr/>
        </p:nvSpPr>
        <p:spPr>
          <a:xfrm>
            <a:off x="4581604" y="3213520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7132629-54BD-1BBD-9780-87787ACDCBBF}"/>
              </a:ext>
            </a:extLst>
          </p:cNvPr>
          <p:cNvSpPr/>
          <p:nvPr/>
        </p:nvSpPr>
        <p:spPr>
          <a:xfrm>
            <a:off x="5826000" y="3208955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961F598-07E0-B771-9F16-40BE31D805A9}"/>
              </a:ext>
            </a:extLst>
          </p:cNvPr>
          <p:cNvCxnSpPr>
            <a:cxnSpLocks/>
            <a:stCxn id="10" idx="6"/>
            <a:endCxn id="11" idx="2"/>
          </p:cNvCxnSpPr>
          <p:nvPr/>
        </p:nvCxnSpPr>
        <p:spPr>
          <a:xfrm flipV="1">
            <a:off x="5121604" y="3478955"/>
            <a:ext cx="704396" cy="4565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6648A4B-D269-C636-BA19-A8515B4C7AC6}"/>
              </a:ext>
            </a:extLst>
          </p:cNvPr>
          <p:cNvCxnSpPr>
            <a:cxnSpLocks/>
            <a:stCxn id="11" idx="5"/>
            <a:endCxn id="8" idx="1"/>
          </p:cNvCxnSpPr>
          <p:nvPr/>
        </p:nvCxnSpPr>
        <p:spPr>
          <a:xfrm>
            <a:off x="6286919" y="3669874"/>
            <a:ext cx="863852" cy="919577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104FD7F-20C1-2449-2BD4-6039195DAF4F}"/>
              </a:ext>
            </a:extLst>
          </p:cNvPr>
          <p:cNvCxnSpPr>
            <a:cxnSpLocks/>
            <a:stCxn id="10" idx="4"/>
            <a:endCxn id="7" idx="0"/>
          </p:cNvCxnSpPr>
          <p:nvPr/>
        </p:nvCxnSpPr>
        <p:spPr>
          <a:xfrm flipH="1">
            <a:off x="4850310" y="3753520"/>
            <a:ext cx="1294" cy="75685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1200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F3232-4782-4E6A-AAF4-8A08E8B75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040A6-D6BC-F293-4F2E-A9516D6FF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89463-30DE-E4C7-1F4D-196C88605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2064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Determine the </a:t>
            </a:r>
            <a:r>
              <a:rPr lang="en-US" b="1" noProof="0" dirty="0"/>
              <a:t>adjustment set</a:t>
            </a:r>
            <a:r>
              <a:rPr lang="en-US" noProof="0" dirty="0"/>
              <a:t> of variables to de-confound the estimation of the effect of the phenomenon </a:t>
            </a:r>
            <a:r>
              <a:rPr lang="en-US" noProof="0" dirty="0">
                <a:solidFill>
                  <a:srgbClr val="C00000"/>
                </a:solidFill>
              </a:rPr>
              <a:t>a </a:t>
            </a:r>
            <a:r>
              <a:rPr lang="en-US" noProof="0" dirty="0"/>
              <a:t>→ </a:t>
            </a:r>
            <a:r>
              <a:rPr lang="en-US" noProof="0" dirty="0">
                <a:solidFill>
                  <a:srgbClr val="006D70"/>
                </a:solidFill>
              </a:rPr>
              <a:t>b</a:t>
            </a:r>
            <a:r>
              <a:rPr lang="en-US" noProof="0" dirty="0"/>
              <a:t> via d-separation.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72C93-9A6E-2F8A-B870-551385062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2026-05-12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8A84F-A8FA-38CC-9957-868EFD7C3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Good Science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F1E63-298A-7C22-1556-374DA1E16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40</a:t>
            </a:fld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81B7DD4-6BD7-C251-84A6-B9A97D417EA0}"/>
              </a:ext>
            </a:extLst>
          </p:cNvPr>
          <p:cNvGrpSpPr/>
          <p:nvPr/>
        </p:nvGrpSpPr>
        <p:grpSpPr>
          <a:xfrm>
            <a:off x="1464577" y="3089804"/>
            <a:ext cx="3031380" cy="1841415"/>
            <a:chOff x="4580310" y="3208955"/>
            <a:chExt cx="3031380" cy="1841415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CC7A1DD2-BAE6-3884-B8A4-801E6E61CD5C}"/>
                </a:ext>
              </a:extLst>
            </p:cNvPr>
            <p:cNvCxnSpPr>
              <a:stCxn id="7" idx="6"/>
              <a:endCxn id="8" idx="2"/>
            </p:cNvCxnSpPr>
            <p:nvPr/>
          </p:nvCxnSpPr>
          <p:spPr>
            <a:xfrm>
              <a:off x="5120310" y="4780370"/>
              <a:ext cx="19513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114EEF6-9894-A8B2-3B64-C7B0DBCED83C}"/>
                </a:ext>
              </a:extLst>
            </p:cNvPr>
            <p:cNvSpPr/>
            <p:nvPr/>
          </p:nvSpPr>
          <p:spPr>
            <a:xfrm>
              <a:off x="4580310" y="4510370"/>
              <a:ext cx="540000" cy="54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3280ADB-707F-DA0A-D554-A0161C3B18AB}"/>
                </a:ext>
              </a:extLst>
            </p:cNvPr>
            <p:cNvSpPr/>
            <p:nvPr/>
          </p:nvSpPr>
          <p:spPr>
            <a:xfrm>
              <a:off x="7071690" y="4510370"/>
              <a:ext cx="540000" cy="54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6E7A474-BCA0-628A-475D-6C9DFB201FCC}"/>
                </a:ext>
              </a:extLst>
            </p:cNvPr>
            <p:cNvSpPr/>
            <p:nvPr/>
          </p:nvSpPr>
          <p:spPr>
            <a:xfrm>
              <a:off x="4581604" y="3213520"/>
              <a:ext cx="540000" cy="54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59E8A5-F09B-9F0F-70DE-EACF52891AC6}"/>
                </a:ext>
              </a:extLst>
            </p:cNvPr>
            <p:cNvSpPr/>
            <p:nvPr/>
          </p:nvSpPr>
          <p:spPr>
            <a:xfrm>
              <a:off x="5826000" y="3208955"/>
              <a:ext cx="540000" cy="540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d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3F884DD-5BC6-F197-CE57-FAA6E0CA0554}"/>
                </a:ext>
              </a:extLst>
            </p:cNvPr>
            <p:cNvCxnSpPr>
              <a:cxnSpLocks/>
              <a:stCxn id="10" idx="4"/>
              <a:endCxn id="7" idx="0"/>
            </p:cNvCxnSpPr>
            <p:nvPr/>
          </p:nvCxnSpPr>
          <p:spPr>
            <a:xfrm flipH="1">
              <a:off x="4850310" y="3753520"/>
              <a:ext cx="1294" cy="75685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DD9995D-8290-6827-9F0E-D90C8908946B}"/>
                </a:ext>
              </a:extLst>
            </p:cNvPr>
            <p:cNvCxnSpPr>
              <a:cxnSpLocks/>
              <a:stCxn id="10" idx="6"/>
              <a:endCxn id="11" idx="2"/>
            </p:cNvCxnSpPr>
            <p:nvPr/>
          </p:nvCxnSpPr>
          <p:spPr>
            <a:xfrm flipV="1">
              <a:off x="5121604" y="3478955"/>
              <a:ext cx="704396" cy="4565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7FD872C-1360-BAB3-A32E-6EB5D137C601}"/>
                </a:ext>
              </a:extLst>
            </p:cNvPr>
            <p:cNvCxnSpPr>
              <a:cxnSpLocks/>
              <a:stCxn id="11" idx="5"/>
              <a:endCxn id="8" idx="1"/>
            </p:cNvCxnSpPr>
            <p:nvPr/>
          </p:nvCxnSpPr>
          <p:spPr>
            <a:xfrm>
              <a:off x="6286919" y="3669874"/>
              <a:ext cx="863852" cy="91957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E3F88E9-BF0A-2FE6-E260-2ED5F6D6B89A}"/>
              </a:ext>
            </a:extLst>
          </p:cNvPr>
          <p:cNvSpPr txBox="1"/>
          <p:nvPr/>
        </p:nvSpPr>
        <p:spPr>
          <a:xfrm>
            <a:off x="838200" y="5560519"/>
            <a:ext cx="32859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/>
              <a:t>Adjustment set = {d}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FC0142D-EC76-FA7A-0D41-5C6A668A46EA}"/>
              </a:ext>
            </a:extLst>
          </p:cNvPr>
          <p:cNvGrpSpPr/>
          <p:nvPr/>
        </p:nvGrpSpPr>
        <p:grpSpPr>
          <a:xfrm>
            <a:off x="7426045" y="3089803"/>
            <a:ext cx="3031380" cy="1841415"/>
            <a:chOff x="4580310" y="3208955"/>
            <a:chExt cx="3031380" cy="1841415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5A092F3-703E-23FE-9DB2-6F23C527837C}"/>
                </a:ext>
              </a:extLst>
            </p:cNvPr>
            <p:cNvCxnSpPr>
              <a:stCxn id="19" idx="6"/>
              <a:endCxn id="21" idx="2"/>
            </p:cNvCxnSpPr>
            <p:nvPr/>
          </p:nvCxnSpPr>
          <p:spPr>
            <a:xfrm>
              <a:off x="5120310" y="4780370"/>
              <a:ext cx="19513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600C439-1B57-1C80-16E2-3C76339331B6}"/>
                </a:ext>
              </a:extLst>
            </p:cNvPr>
            <p:cNvSpPr/>
            <p:nvPr/>
          </p:nvSpPr>
          <p:spPr>
            <a:xfrm>
              <a:off x="4580310" y="4510370"/>
              <a:ext cx="540000" cy="54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D88D6FF-2402-7DF5-70D0-6E88C820B718}"/>
                </a:ext>
              </a:extLst>
            </p:cNvPr>
            <p:cNvSpPr/>
            <p:nvPr/>
          </p:nvSpPr>
          <p:spPr>
            <a:xfrm>
              <a:off x="7071690" y="4510370"/>
              <a:ext cx="540000" cy="54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3EDE4AF-B3C3-4950-2D9D-47333ACFA6CC}"/>
                </a:ext>
              </a:extLst>
            </p:cNvPr>
            <p:cNvSpPr/>
            <p:nvPr/>
          </p:nvSpPr>
          <p:spPr>
            <a:xfrm>
              <a:off x="4581604" y="3213520"/>
              <a:ext cx="540000" cy="540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48AA794-093D-7B35-4DFF-901618B959D4}"/>
                </a:ext>
              </a:extLst>
            </p:cNvPr>
            <p:cNvSpPr/>
            <p:nvPr/>
          </p:nvSpPr>
          <p:spPr>
            <a:xfrm>
              <a:off x="5826000" y="3208955"/>
              <a:ext cx="540000" cy="54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d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7041801-0823-5CA4-CC42-B50A8D124210}"/>
                </a:ext>
              </a:extLst>
            </p:cNvPr>
            <p:cNvCxnSpPr>
              <a:cxnSpLocks/>
              <a:stCxn id="22" idx="4"/>
              <a:endCxn id="19" idx="0"/>
            </p:cNvCxnSpPr>
            <p:nvPr/>
          </p:nvCxnSpPr>
          <p:spPr>
            <a:xfrm flipH="1">
              <a:off x="4850310" y="3753520"/>
              <a:ext cx="1294" cy="75685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86A5268-35E9-71AD-F05D-82DEEB2B4616}"/>
                </a:ext>
              </a:extLst>
            </p:cNvPr>
            <p:cNvCxnSpPr>
              <a:cxnSpLocks/>
              <a:stCxn id="22" idx="6"/>
              <a:endCxn id="24" idx="2"/>
            </p:cNvCxnSpPr>
            <p:nvPr/>
          </p:nvCxnSpPr>
          <p:spPr>
            <a:xfrm flipV="1">
              <a:off x="5121604" y="3478955"/>
              <a:ext cx="704396" cy="4565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8B34773C-CC77-D7A3-BC7E-92229B6D6549}"/>
                </a:ext>
              </a:extLst>
            </p:cNvPr>
            <p:cNvCxnSpPr>
              <a:cxnSpLocks/>
              <a:stCxn id="24" idx="5"/>
              <a:endCxn id="21" idx="1"/>
            </p:cNvCxnSpPr>
            <p:nvPr/>
          </p:nvCxnSpPr>
          <p:spPr>
            <a:xfrm>
              <a:off x="6286919" y="3669874"/>
              <a:ext cx="863852" cy="919577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4696D951-3D30-A57E-CA07-7D37247BE82E}"/>
              </a:ext>
            </a:extLst>
          </p:cNvPr>
          <p:cNvSpPr txBox="1"/>
          <p:nvPr/>
        </p:nvSpPr>
        <p:spPr>
          <a:xfrm>
            <a:off x="6872440" y="5563137"/>
            <a:ext cx="3273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/>
              <a:t>Adjustment set = {c}</a:t>
            </a:r>
          </a:p>
        </p:txBody>
      </p:sp>
    </p:spTree>
    <p:extLst>
      <p:ext uri="{BB962C8B-B14F-4D97-AF65-F5344CB8AC3E}">
        <p14:creationId xmlns:p14="http://schemas.microsoft.com/office/powerpoint/2010/main" val="475299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ED900-85B1-B8DC-89BA-8E62C6E84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97DB4-FE5B-F859-03A3-0056F3F4C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3EAD8-B743-88C5-75A7-68AB49C4B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2064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Determine the </a:t>
            </a:r>
            <a:r>
              <a:rPr lang="en-US" b="1" noProof="0" dirty="0"/>
              <a:t>adjustment set</a:t>
            </a:r>
            <a:r>
              <a:rPr lang="en-US" noProof="0" dirty="0"/>
              <a:t> of variables to de-confound the estimation of the effect of the phenomenon </a:t>
            </a:r>
            <a:r>
              <a:rPr lang="en-US" noProof="0" dirty="0">
                <a:solidFill>
                  <a:srgbClr val="C00000"/>
                </a:solidFill>
              </a:rPr>
              <a:t>a </a:t>
            </a:r>
            <a:r>
              <a:rPr lang="en-US" noProof="0" dirty="0"/>
              <a:t>→ </a:t>
            </a:r>
            <a:r>
              <a:rPr lang="en-US" noProof="0" dirty="0">
                <a:solidFill>
                  <a:srgbClr val="006D70"/>
                </a:solidFill>
              </a:rPr>
              <a:t>b</a:t>
            </a:r>
            <a:r>
              <a:rPr lang="en-US" noProof="0" dirty="0"/>
              <a:t> via d-separation.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7325E-CC0E-C1F8-562F-D0DB5EEA9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2026-05-12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8B4F4-1B4A-4862-8729-80D55F794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Good Science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F75DB-1ADF-8368-D6EE-B3FAC5DEC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41</a:t>
            </a:fld>
            <a:endParaRPr lang="en-US" noProof="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241440D-E3BD-02BF-1BED-F38461B4BB36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5120310" y="4780370"/>
            <a:ext cx="195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B52E9A57-0F1C-5DA2-062E-5861854DE0D6}"/>
              </a:ext>
            </a:extLst>
          </p:cNvPr>
          <p:cNvSpPr/>
          <p:nvPr/>
        </p:nvSpPr>
        <p:spPr>
          <a:xfrm>
            <a:off x="4580310" y="4510370"/>
            <a:ext cx="540000" cy="54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F52679C-A397-E428-6EF6-1B0D0E4A15A2}"/>
              </a:ext>
            </a:extLst>
          </p:cNvPr>
          <p:cNvSpPr/>
          <p:nvPr/>
        </p:nvSpPr>
        <p:spPr>
          <a:xfrm>
            <a:off x="7071690" y="4510370"/>
            <a:ext cx="540000" cy="54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93CF13F-B1C9-D60C-9C36-72AB77AE0246}"/>
              </a:ext>
            </a:extLst>
          </p:cNvPr>
          <p:cNvSpPr/>
          <p:nvPr/>
        </p:nvSpPr>
        <p:spPr>
          <a:xfrm>
            <a:off x="4581604" y="3213520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9C3CB1-903C-6B14-4AFF-2713713089BC}"/>
              </a:ext>
            </a:extLst>
          </p:cNvPr>
          <p:cNvSpPr/>
          <p:nvPr/>
        </p:nvSpPr>
        <p:spPr>
          <a:xfrm>
            <a:off x="5826000" y="363031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E73DB78-4B04-E385-4709-587A695F405D}"/>
              </a:ext>
            </a:extLst>
          </p:cNvPr>
          <p:cNvCxnSpPr>
            <a:cxnSpLocks/>
            <a:stCxn id="10" idx="6"/>
            <a:endCxn id="11" idx="2"/>
          </p:cNvCxnSpPr>
          <p:nvPr/>
        </p:nvCxnSpPr>
        <p:spPr>
          <a:xfrm>
            <a:off x="5121604" y="3483520"/>
            <a:ext cx="704396" cy="41679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D5D9EFC-AA07-B201-6FA6-1C1E31DA6895}"/>
              </a:ext>
            </a:extLst>
          </p:cNvPr>
          <p:cNvCxnSpPr>
            <a:cxnSpLocks/>
            <a:stCxn id="10" idx="4"/>
            <a:endCxn id="7" idx="0"/>
          </p:cNvCxnSpPr>
          <p:nvPr/>
        </p:nvCxnSpPr>
        <p:spPr>
          <a:xfrm flipH="1">
            <a:off x="4850310" y="3753520"/>
            <a:ext cx="1294" cy="75685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52250740-41F1-CA88-3564-DF388E11822E}"/>
              </a:ext>
            </a:extLst>
          </p:cNvPr>
          <p:cNvSpPr/>
          <p:nvPr/>
        </p:nvSpPr>
        <p:spPr>
          <a:xfrm>
            <a:off x="7071690" y="3213520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9142A50-F358-EDFD-3D3C-799FA59F5FE6}"/>
              </a:ext>
            </a:extLst>
          </p:cNvPr>
          <p:cNvCxnSpPr>
            <a:cxnSpLocks/>
            <a:stCxn id="18" idx="2"/>
            <a:endCxn id="11" idx="6"/>
          </p:cNvCxnSpPr>
          <p:nvPr/>
        </p:nvCxnSpPr>
        <p:spPr>
          <a:xfrm flipH="1">
            <a:off x="6366000" y="3483520"/>
            <a:ext cx="705690" cy="41679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BE6F43F-5C08-BF1B-7011-1347F9D2D509}"/>
              </a:ext>
            </a:extLst>
          </p:cNvPr>
          <p:cNvCxnSpPr>
            <a:cxnSpLocks/>
            <a:stCxn id="18" idx="4"/>
            <a:endCxn id="8" idx="0"/>
          </p:cNvCxnSpPr>
          <p:nvPr/>
        </p:nvCxnSpPr>
        <p:spPr>
          <a:xfrm>
            <a:off x="7341690" y="3753520"/>
            <a:ext cx="0" cy="75685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98304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369E4-1C4F-C5CB-B714-FAEFE962A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60DEF-44E3-013B-70D7-87AF14330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32429-55EF-E10E-75D8-DF3133D95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2064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Determine the </a:t>
            </a:r>
            <a:r>
              <a:rPr lang="en-US" b="1" noProof="0" dirty="0"/>
              <a:t>adjustment set</a:t>
            </a:r>
            <a:r>
              <a:rPr lang="en-US" noProof="0" dirty="0"/>
              <a:t> of variables to de-confound the estimation of the effect of the phenomenon </a:t>
            </a:r>
            <a:r>
              <a:rPr lang="en-US" noProof="0" dirty="0">
                <a:solidFill>
                  <a:srgbClr val="C00000"/>
                </a:solidFill>
              </a:rPr>
              <a:t>a </a:t>
            </a:r>
            <a:r>
              <a:rPr lang="en-US" noProof="0" dirty="0"/>
              <a:t>→ </a:t>
            </a:r>
            <a:r>
              <a:rPr lang="en-US" noProof="0" dirty="0">
                <a:solidFill>
                  <a:srgbClr val="006D70"/>
                </a:solidFill>
              </a:rPr>
              <a:t>b</a:t>
            </a:r>
            <a:r>
              <a:rPr lang="en-US" noProof="0" dirty="0"/>
              <a:t> via d-separation.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4B9EE-2E5D-527B-6249-329D08915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2026-05-12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C4841-90BD-5C51-239C-49FB1C14C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Good Science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44EC9-4CBD-6EF4-0884-6737E4B4D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42</a:t>
            </a:fld>
            <a:endParaRPr lang="en-US" noProof="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70723E8-2DBC-76FA-5869-F34A9EC955D5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5120310" y="4780370"/>
            <a:ext cx="195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4AF4F974-3ED0-0529-7FF5-79E25A6CB251}"/>
              </a:ext>
            </a:extLst>
          </p:cNvPr>
          <p:cNvSpPr/>
          <p:nvPr/>
        </p:nvSpPr>
        <p:spPr>
          <a:xfrm>
            <a:off x="4580310" y="4510370"/>
            <a:ext cx="540000" cy="54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6AB46CA-1340-9A5A-F488-AE83FE9A7A9B}"/>
              </a:ext>
            </a:extLst>
          </p:cNvPr>
          <p:cNvSpPr/>
          <p:nvPr/>
        </p:nvSpPr>
        <p:spPr>
          <a:xfrm>
            <a:off x="7071690" y="4510370"/>
            <a:ext cx="540000" cy="54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933F246-8C62-D4D8-3002-B9D25AB15349}"/>
              </a:ext>
            </a:extLst>
          </p:cNvPr>
          <p:cNvSpPr/>
          <p:nvPr/>
        </p:nvSpPr>
        <p:spPr>
          <a:xfrm>
            <a:off x="4581604" y="3213520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CA57904-5370-499A-E32C-AAE967884E90}"/>
              </a:ext>
            </a:extLst>
          </p:cNvPr>
          <p:cNvSpPr/>
          <p:nvPr/>
        </p:nvSpPr>
        <p:spPr>
          <a:xfrm>
            <a:off x="5826000" y="3630312"/>
            <a:ext cx="540000" cy="540000"/>
          </a:xfrm>
          <a:prstGeom prst="ellipse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7D71EA4-9CC2-C737-A1EA-2CAE1C476D0C}"/>
              </a:ext>
            </a:extLst>
          </p:cNvPr>
          <p:cNvCxnSpPr>
            <a:cxnSpLocks/>
            <a:stCxn id="10" idx="6"/>
            <a:endCxn id="11" idx="2"/>
          </p:cNvCxnSpPr>
          <p:nvPr/>
        </p:nvCxnSpPr>
        <p:spPr>
          <a:xfrm>
            <a:off x="5121604" y="3483520"/>
            <a:ext cx="704396" cy="41679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9780E22-B47A-F019-EDA3-414E026A8BDA}"/>
              </a:ext>
            </a:extLst>
          </p:cNvPr>
          <p:cNvCxnSpPr>
            <a:cxnSpLocks/>
            <a:stCxn id="10" idx="4"/>
            <a:endCxn id="7" idx="0"/>
          </p:cNvCxnSpPr>
          <p:nvPr/>
        </p:nvCxnSpPr>
        <p:spPr>
          <a:xfrm flipH="1">
            <a:off x="4850310" y="3753520"/>
            <a:ext cx="1294" cy="75685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CB082A6-E359-7946-2854-21BA49D2B5B6}"/>
              </a:ext>
            </a:extLst>
          </p:cNvPr>
          <p:cNvSpPr txBox="1"/>
          <p:nvPr/>
        </p:nvSpPr>
        <p:spPr>
          <a:xfrm>
            <a:off x="838200" y="5560519"/>
            <a:ext cx="30839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/>
              <a:t>Adjustment set = {}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3AA91B9-F463-4C21-13A0-C102C66BDDA8}"/>
              </a:ext>
            </a:extLst>
          </p:cNvPr>
          <p:cNvSpPr/>
          <p:nvPr/>
        </p:nvSpPr>
        <p:spPr>
          <a:xfrm>
            <a:off x="7071690" y="3213520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9C07A8B-41F3-4223-A55E-967391017509}"/>
              </a:ext>
            </a:extLst>
          </p:cNvPr>
          <p:cNvCxnSpPr>
            <a:cxnSpLocks/>
            <a:stCxn id="18" idx="2"/>
            <a:endCxn id="11" idx="6"/>
          </p:cNvCxnSpPr>
          <p:nvPr/>
        </p:nvCxnSpPr>
        <p:spPr>
          <a:xfrm flipH="1">
            <a:off x="6366000" y="3483520"/>
            <a:ext cx="705690" cy="41679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8AE4355-406D-817C-C5C3-65A0D5F0D94D}"/>
              </a:ext>
            </a:extLst>
          </p:cNvPr>
          <p:cNvCxnSpPr>
            <a:cxnSpLocks/>
            <a:stCxn id="18" idx="4"/>
            <a:endCxn id="8" idx="0"/>
          </p:cNvCxnSpPr>
          <p:nvPr/>
        </p:nvCxnSpPr>
        <p:spPr>
          <a:xfrm>
            <a:off x="7341690" y="3753520"/>
            <a:ext cx="0" cy="75685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82067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AA278-CFE6-FCDF-5F63-FB3C06CBB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D69A6-7BAB-7B76-AE53-290501E42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BF4AB-ADD5-20E5-AE3D-B38C6928D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2064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Determine the </a:t>
            </a:r>
            <a:r>
              <a:rPr lang="en-US" b="1" noProof="0" dirty="0"/>
              <a:t>adjustment set</a:t>
            </a:r>
            <a:r>
              <a:rPr lang="en-US" noProof="0" dirty="0"/>
              <a:t> of variables to de-confound the estimation of the effect of the phenomenon </a:t>
            </a:r>
            <a:r>
              <a:rPr lang="en-US" noProof="0" dirty="0">
                <a:solidFill>
                  <a:srgbClr val="C00000"/>
                </a:solidFill>
              </a:rPr>
              <a:t>a </a:t>
            </a:r>
            <a:r>
              <a:rPr lang="en-US" noProof="0" dirty="0"/>
              <a:t>→ </a:t>
            </a:r>
            <a:r>
              <a:rPr lang="en-US" noProof="0" dirty="0">
                <a:solidFill>
                  <a:srgbClr val="006D70"/>
                </a:solidFill>
              </a:rPr>
              <a:t>b</a:t>
            </a:r>
            <a:r>
              <a:rPr lang="en-US" noProof="0" dirty="0"/>
              <a:t> via d-separation.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DF799-E556-BDC2-A9D9-4C1EF2AB2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2026-05-12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D62BE-77AB-4F66-54FE-E8F5539B9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Good Science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29A2D-E10A-0CE3-CAA1-5DA6A81BD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43</a:t>
            </a:fld>
            <a:endParaRPr lang="en-US" noProof="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911EA5A-9CAB-DD8C-DCCF-5A255F1B7B61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5120310" y="4780370"/>
            <a:ext cx="195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EC6ADDC1-38D5-9CFF-2CBC-08DEE0912721}"/>
              </a:ext>
            </a:extLst>
          </p:cNvPr>
          <p:cNvSpPr/>
          <p:nvPr/>
        </p:nvSpPr>
        <p:spPr>
          <a:xfrm>
            <a:off x="4580310" y="4510370"/>
            <a:ext cx="540000" cy="54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B00622-91C8-1D09-A1E3-00313C0673D8}"/>
              </a:ext>
            </a:extLst>
          </p:cNvPr>
          <p:cNvSpPr/>
          <p:nvPr/>
        </p:nvSpPr>
        <p:spPr>
          <a:xfrm>
            <a:off x="7071690" y="4510370"/>
            <a:ext cx="540000" cy="54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570943-CB0A-5E74-33A8-6E3FB435B7FA}"/>
              </a:ext>
            </a:extLst>
          </p:cNvPr>
          <p:cNvSpPr/>
          <p:nvPr/>
        </p:nvSpPr>
        <p:spPr>
          <a:xfrm>
            <a:off x="4581604" y="3213520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EEBE441-1FE7-6AD2-DC65-05EEAE9202D1}"/>
              </a:ext>
            </a:extLst>
          </p:cNvPr>
          <p:cNvSpPr/>
          <p:nvPr/>
        </p:nvSpPr>
        <p:spPr>
          <a:xfrm>
            <a:off x="5826000" y="363031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A7094A1-117E-59E8-331C-7CBAB0AC91C1}"/>
              </a:ext>
            </a:extLst>
          </p:cNvPr>
          <p:cNvCxnSpPr>
            <a:cxnSpLocks/>
            <a:stCxn id="10" idx="6"/>
            <a:endCxn id="11" idx="2"/>
          </p:cNvCxnSpPr>
          <p:nvPr/>
        </p:nvCxnSpPr>
        <p:spPr>
          <a:xfrm>
            <a:off x="5121604" y="3483520"/>
            <a:ext cx="704396" cy="41679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F1F6AAB-FD5B-E658-76E9-BC780B6EA647}"/>
              </a:ext>
            </a:extLst>
          </p:cNvPr>
          <p:cNvCxnSpPr>
            <a:cxnSpLocks/>
            <a:stCxn id="10" idx="4"/>
            <a:endCxn id="7" idx="0"/>
          </p:cNvCxnSpPr>
          <p:nvPr/>
        </p:nvCxnSpPr>
        <p:spPr>
          <a:xfrm flipH="1">
            <a:off x="4850310" y="3753520"/>
            <a:ext cx="1294" cy="75685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0E23A043-B944-3073-012C-328EE872D5DB}"/>
              </a:ext>
            </a:extLst>
          </p:cNvPr>
          <p:cNvSpPr/>
          <p:nvPr/>
        </p:nvSpPr>
        <p:spPr>
          <a:xfrm>
            <a:off x="7071690" y="3213520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5B4B0D3-FD83-557C-4AA9-B7A23DC4DD02}"/>
              </a:ext>
            </a:extLst>
          </p:cNvPr>
          <p:cNvCxnSpPr>
            <a:cxnSpLocks/>
            <a:stCxn id="18" idx="2"/>
            <a:endCxn id="11" idx="6"/>
          </p:cNvCxnSpPr>
          <p:nvPr/>
        </p:nvCxnSpPr>
        <p:spPr>
          <a:xfrm flipH="1">
            <a:off x="6366000" y="3483520"/>
            <a:ext cx="705690" cy="41679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DB5F601-5A2C-834A-CDAF-877BB4F2C9E5}"/>
              </a:ext>
            </a:extLst>
          </p:cNvPr>
          <p:cNvCxnSpPr>
            <a:cxnSpLocks/>
            <a:stCxn id="18" idx="4"/>
            <a:endCxn id="8" idx="0"/>
          </p:cNvCxnSpPr>
          <p:nvPr/>
        </p:nvCxnSpPr>
        <p:spPr>
          <a:xfrm>
            <a:off x="7341690" y="3753520"/>
            <a:ext cx="0" cy="75685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87E3672-224A-FEE8-ED3D-6A6EF9125BE4}"/>
              </a:ext>
            </a:extLst>
          </p:cNvPr>
          <p:cNvCxnSpPr>
            <a:cxnSpLocks/>
            <a:stCxn id="11" idx="3"/>
            <a:endCxn id="7" idx="7"/>
          </p:cNvCxnSpPr>
          <p:nvPr/>
        </p:nvCxnSpPr>
        <p:spPr>
          <a:xfrm flipH="1">
            <a:off x="5041229" y="4091231"/>
            <a:ext cx="863852" cy="49822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0045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60E63-3BA5-BC71-B4C5-836FA119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BA513-B5B7-27CF-658B-E4B273A9F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44FBA-AFDE-BFA9-5BB3-DCA485F1E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2064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Determine the </a:t>
            </a:r>
            <a:r>
              <a:rPr lang="en-US" b="1" noProof="0" dirty="0"/>
              <a:t>adjustment set</a:t>
            </a:r>
            <a:r>
              <a:rPr lang="en-US" noProof="0" dirty="0"/>
              <a:t> of variables to de-confound the estimation of the effect of the phenomenon </a:t>
            </a:r>
            <a:r>
              <a:rPr lang="en-US" noProof="0" dirty="0">
                <a:solidFill>
                  <a:srgbClr val="C00000"/>
                </a:solidFill>
              </a:rPr>
              <a:t>a </a:t>
            </a:r>
            <a:r>
              <a:rPr lang="en-US" noProof="0" dirty="0"/>
              <a:t>→ </a:t>
            </a:r>
            <a:r>
              <a:rPr lang="en-US" noProof="0" dirty="0">
                <a:solidFill>
                  <a:srgbClr val="006D70"/>
                </a:solidFill>
              </a:rPr>
              <a:t>b</a:t>
            </a:r>
            <a:r>
              <a:rPr lang="en-US" noProof="0" dirty="0"/>
              <a:t> via d-separation.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CD522-94D0-8966-D0DC-1220FB6AC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2026-05-12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A0E48-04AE-3A72-94A2-65FFA5F7C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Good Science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42C8A-FD9B-953B-9208-2A5BF0035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44</a:t>
            </a:fld>
            <a:endParaRPr lang="en-US" noProof="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A20D218-6D45-FB1B-7C52-FB7B4251EC45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5120310" y="4780370"/>
            <a:ext cx="195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9581589-3FDE-BEFE-6DFE-EB7CD4051A8A}"/>
              </a:ext>
            </a:extLst>
          </p:cNvPr>
          <p:cNvSpPr/>
          <p:nvPr/>
        </p:nvSpPr>
        <p:spPr>
          <a:xfrm>
            <a:off x="4580310" y="4510370"/>
            <a:ext cx="540000" cy="54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20AE815-C136-7610-5A5B-24E24F204A86}"/>
              </a:ext>
            </a:extLst>
          </p:cNvPr>
          <p:cNvSpPr/>
          <p:nvPr/>
        </p:nvSpPr>
        <p:spPr>
          <a:xfrm>
            <a:off x="7071690" y="4510370"/>
            <a:ext cx="540000" cy="54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2465E7F-0A37-C79C-8056-415524EA46A6}"/>
              </a:ext>
            </a:extLst>
          </p:cNvPr>
          <p:cNvSpPr/>
          <p:nvPr/>
        </p:nvSpPr>
        <p:spPr>
          <a:xfrm>
            <a:off x="4581604" y="3213520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5B9F72B-CA49-FB06-3540-9E5AA5A9A848}"/>
              </a:ext>
            </a:extLst>
          </p:cNvPr>
          <p:cNvSpPr/>
          <p:nvPr/>
        </p:nvSpPr>
        <p:spPr>
          <a:xfrm>
            <a:off x="5826000" y="363031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AD1EE67-0624-7578-42D9-2EA0D443BE82}"/>
              </a:ext>
            </a:extLst>
          </p:cNvPr>
          <p:cNvCxnSpPr>
            <a:cxnSpLocks/>
            <a:stCxn id="10" idx="6"/>
            <a:endCxn id="11" idx="2"/>
          </p:cNvCxnSpPr>
          <p:nvPr/>
        </p:nvCxnSpPr>
        <p:spPr>
          <a:xfrm>
            <a:off x="5121604" y="3483520"/>
            <a:ext cx="704396" cy="41679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33DE82B-5543-B3C5-961D-E652D29AF249}"/>
              </a:ext>
            </a:extLst>
          </p:cNvPr>
          <p:cNvCxnSpPr>
            <a:cxnSpLocks/>
            <a:stCxn id="10" idx="4"/>
            <a:endCxn id="7" idx="0"/>
          </p:cNvCxnSpPr>
          <p:nvPr/>
        </p:nvCxnSpPr>
        <p:spPr>
          <a:xfrm flipH="1">
            <a:off x="4850310" y="3753520"/>
            <a:ext cx="1294" cy="75685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8CC58ABE-F07F-4E1D-382A-52CBAD3BCAFA}"/>
              </a:ext>
            </a:extLst>
          </p:cNvPr>
          <p:cNvSpPr/>
          <p:nvPr/>
        </p:nvSpPr>
        <p:spPr>
          <a:xfrm>
            <a:off x="7071690" y="3213520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D9A5DBB-9B04-A114-F717-B5BECB14E084}"/>
              </a:ext>
            </a:extLst>
          </p:cNvPr>
          <p:cNvCxnSpPr>
            <a:cxnSpLocks/>
            <a:stCxn id="18" idx="2"/>
            <a:endCxn id="11" idx="6"/>
          </p:cNvCxnSpPr>
          <p:nvPr/>
        </p:nvCxnSpPr>
        <p:spPr>
          <a:xfrm flipH="1">
            <a:off x="6366000" y="3483520"/>
            <a:ext cx="705690" cy="416792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DEE7863-2833-A36B-ABC3-1F572B8CC9A9}"/>
              </a:ext>
            </a:extLst>
          </p:cNvPr>
          <p:cNvCxnSpPr>
            <a:cxnSpLocks/>
            <a:stCxn id="18" idx="4"/>
            <a:endCxn id="8" idx="0"/>
          </p:cNvCxnSpPr>
          <p:nvPr/>
        </p:nvCxnSpPr>
        <p:spPr>
          <a:xfrm>
            <a:off x="7341690" y="3753520"/>
            <a:ext cx="0" cy="75685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B6FEE8A-D999-A647-B1A1-37BD82DAB51A}"/>
              </a:ext>
            </a:extLst>
          </p:cNvPr>
          <p:cNvCxnSpPr>
            <a:cxnSpLocks/>
            <a:stCxn id="11" idx="3"/>
            <a:endCxn id="7" idx="7"/>
          </p:cNvCxnSpPr>
          <p:nvPr/>
        </p:nvCxnSpPr>
        <p:spPr>
          <a:xfrm flipH="1">
            <a:off x="5041229" y="4091231"/>
            <a:ext cx="863852" cy="498220"/>
          </a:xfrm>
          <a:prstGeom prst="straightConnector1">
            <a:avLst/>
          </a:prstGeom>
          <a:ln w="190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AB4711B-50F8-7CE3-C12B-5BB32AFA9A3C}"/>
              </a:ext>
            </a:extLst>
          </p:cNvPr>
          <p:cNvSpPr txBox="1"/>
          <p:nvPr/>
        </p:nvSpPr>
        <p:spPr>
          <a:xfrm>
            <a:off x="838200" y="5245939"/>
            <a:ext cx="53149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noProof="0" dirty="0"/>
              <a:t>The DAG contains two backdoor paths: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noProof="0" dirty="0"/>
              <a:t> </a:t>
            </a:r>
            <a:r>
              <a:rPr lang="en-US" sz="2400" noProof="0" dirty="0">
                <a:solidFill>
                  <a:srgbClr val="D0180A"/>
                </a:solidFill>
              </a:rPr>
              <a:t>a</a:t>
            </a:r>
            <a:r>
              <a:rPr lang="en-US" sz="2400" noProof="0" dirty="0"/>
              <a:t> ← c → d ← e → </a:t>
            </a:r>
            <a:r>
              <a:rPr lang="en-US" sz="2400" noProof="0" dirty="0">
                <a:solidFill>
                  <a:srgbClr val="006D70"/>
                </a:solidFill>
              </a:rPr>
              <a:t>b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noProof="0" dirty="0"/>
              <a:t> </a:t>
            </a:r>
            <a:r>
              <a:rPr lang="en-US" sz="2400" noProof="0" dirty="0">
                <a:solidFill>
                  <a:srgbClr val="D0180A"/>
                </a:solidFill>
              </a:rPr>
              <a:t>a</a:t>
            </a:r>
            <a:r>
              <a:rPr lang="en-US" sz="2400" noProof="0" dirty="0"/>
              <a:t> ← d ← e → </a:t>
            </a:r>
            <a:r>
              <a:rPr lang="en-US" sz="2400" noProof="0" dirty="0">
                <a:solidFill>
                  <a:srgbClr val="006D70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793298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7A14E-2B4F-2F7D-4891-1C534F8E6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86E21-648E-5972-1B4B-88444130B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49AE9-D056-281E-1070-81A6AFC73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32064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Determine the </a:t>
            </a:r>
            <a:r>
              <a:rPr lang="en-US" b="1" noProof="0" dirty="0"/>
              <a:t>adjustment set</a:t>
            </a:r>
            <a:r>
              <a:rPr lang="en-US" noProof="0" dirty="0"/>
              <a:t> of variables to de-confound the estimation of the effect of the phenomenon </a:t>
            </a:r>
            <a:r>
              <a:rPr lang="en-US" noProof="0" dirty="0">
                <a:solidFill>
                  <a:srgbClr val="C00000"/>
                </a:solidFill>
              </a:rPr>
              <a:t>a </a:t>
            </a:r>
            <a:r>
              <a:rPr lang="en-US" noProof="0" dirty="0"/>
              <a:t>→ </a:t>
            </a:r>
            <a:r>
              <a:rPr lang="en-US" noProof="0" dirty="0">
                <a:solidFill>
                  <a:srgbClr val="006D70"/>
                </a:solidFill>
              </a:rPr>
              <a:t>b</a:t>
            </a:r>
            <a:r>
              <a:rPr lang="en-US" noProof="0" dirty="0"/>
              <a:t> via d-separation.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C55FB-2C1D-9094-8265-26C6D42C1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noProof="0"/>
              <a:t>2026-05-12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E3EAE-BFD3-C12C-8C03-0E08C047F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Good Science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E2A54-660C-D8D9-1731-188CB18AE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2D919-C0DE-4971-A2E9-D4AC0031921B}" type="slidenum">
              <a:rPr lang="en-US" noProof="0" smtClean="0"/>
              <a:t>45</a:t>
            </a:fld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079B753-6C6B-0A26-ED61-5E82D7D398D5}"/>
              </a:ext>
            </a:extLst>
          </p:cNvPr>
          <p:cNvGrpSpPr/>
          <p:nvPr/>
        </p:nvGrpSpPr>
        <p:grpSpPr>
          <a:xfrm>
            <a:off x="2065710" y="2895854"/>
            <a:ext cx="3031380" cy="1836850"/>
            <a:chOff x="4580310" y="3213520"/>
            <a:chExt cx="3031380" cy="1836850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A3473F2-FB37-9A13-0E37-DBB2ABA53D06}"/>
                </a:ext>
              </a:extLst>
            </p:cNvPr>
            <p:cNvCxnSpPr>
              <a:stCxn id="7" idx="6"/>
              <a:endCxn id="8" idx="2"/>
            </p:cNvCxnSpPr>
            <p:nvPr/>
          </p:nvCxnSpPr>
          <p:spPr>
            <a:xfrm>
              <a:off x="5120310" y="4780370"/>
              <a:ext cx="19513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1D7C59E-1088-D794-28EB-1B8DC12CCDC7}"/>
                </a:ext>
              </a:extLst>
            </p:cNvPr>
            <p:cNvSpPr/>
            <p:nvPr/>
          </p:nvSpPr>
          <p:spPr>
            <a:xfrm>
              <a:off x="4580310" y="4510370"/>
              <a:ext cx="540000" cy="54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88DB945-0988-90CA-3C6D-9A625B4C2521}"/>
                </a:ext>
              </a:extLst>
            </p:cNvPr>
            <p:cNvSpPr/>
            <p:nvPr/>
          </p:nvSpPr>
          <p:spPr>
            <a:xfrm>
              <a:off x="7071690" y="4510370"/>
              <a:ext cx="540000" cy="54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6AF79C9-2107-E098-D49F-EE6BA9E4C042}"/>
                </a:ext>
              </a:extLst>
            </p:cNvPr>
            <p:cNvSpPr/>
            <p:nvPr/>
          </p:nvSpPr>
          <p:spPr>
            <a:xfrm>
              <a:off x="4581604" y="3213520"/>
              <a:ext cx="540000" cy="54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0F63CA6-0897-3DBC-6516-D1026B2C8B31}"/>
                </a:ext>
              </a:extLst>
            </p:cNvPr>
            <p:cNvSpPr/>
            <p:nvPr/>
          </p:nvSpPr>
          <p:spPr>
            <a:xfrm>
              <a:off x="5826000" y="3630312"/>
              <a:ext cx="540000" cy="54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d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F03E491-A49B-5896-6051-927DA8DD766A}"/>
                </a:ext>
              </a:extLst>
            </p:cNvPr>
            <p:cNvCxnSpPr>
              <a:cxnSpLocks/>
              <a:stCxn id="10" idx="6"/>
              <a:endCxn id="11" idx="2"/>
            </p:cNvCxnSpPr>
            <p:nvPr/>
          </p:nvCxnSpPr>
          <p:spPr>
            <a:xfrm>
              <a:off x="5121604" y="3483520"/>
              <a:ext cx="704396" cy="41679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EB5224E-C686-DF5B-1458-BF6AD8D094E5}"/>
                </a:ext>
              </a:extLst>
            </p:cNvPr>
            <p:cNvCxnSpPr>
              <a:cxnSpLocks/>
              <a:stCxn id="10" idx="4"/>
              <a:endCxn id="7" idx="0"/>
            </p:cNvCxnSpPr>
            <p:nvPr/>
          </p:nvCxnSpPr>
          <p:spPr>
            <a:xfrm flipH="1">
              <a:off x="4850310" y="3753520"/>
              <a:ext cx="1294" cy="75685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5D5B228-3F04-8B18-E9BB-26A2F180D9D9}"/>
                </a:ext>
              </a:extLst>
            </p:cNvPr>
            <p:cNvSpPr/>
            <p:nvPr/>
          </p:nvSpPr>
          <p:spPr>
            <a:xfrm>
              <a:off x="7071690" y="3213520"/>
              <a:ext cx="540000" cy="540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e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DBD06CB-2F87-A1B2-547E-249E825B375B}"/>
                </a:ext>
              </a:extLst>
            </p:cNvPr>
            <p:cNvCxnSpPr>
              <a:cxnSpLocks/>
              <a:stCxn id="18" idx="2"/>
              <a:endCxn id="11" idx="6"/>
            </p:cNvCxnSpPr>
            <p:nvPr/>
          </p:nvCxnSpPr>
          <p:spPr>
            <a:xfrm flipH="1">
              <a:off x="6366000" y="3483520"/>
              <a:ext cx="705690" cy="41679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5551FB4E-B472-7A22-D3CA-B668F3D36B02}"/>
                </a:ext>
              </a:extLst>
            </p:cNvPr>
            <p:cNvCxnSpPr>
              <a:cxnSpLocks/>
              <a:stCxn id="18" idx="4"/>
              <a:endCxn id="8" idx="0"/>
            </p:cNvCxnSpPr>
            <p:nvPr/>
          </p:nvCxnSpPr>
          <p:spPr>
            <a:xfrm>
              <a:off x="7341690" y="3753520"/>
              <a:ext cx="0" cy="75685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A530650-2895-8137-562D-6A6EC9964618}"/>
                </a:ext>
              </a:extLst>
            </p:cNvPr>
            <p:cNvCxnSpPr>
              <a:cxnSpLocks/>
              <a:stCxn id="11" idx="3"/>
              <a:endCxn id="7" idx="7"/>
            </p:cNvCxnSpPr>
            <p:nvPr/>
          </p:nvCxnSpPr>
          <p:spPr>
            <a:xfrm flipH="1">
              <a:off x="5041229" y="4091231"/>
              <a:ext cx="863852" cy="49822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53325C8-65DD-23D0-6C72-4381EC715AA9}"/>
              </a:ext>
            </a:extLst>
          </p:cNvPr>
          <p:cNvGrpSpPr/>
          <p:nvPr/>
        </p:nvGrpSpPr>
        <p:grpSpPr>
          <a:xfrm>
            <a:off x="7364911" y="2895854"/>
            <a:ext cx="3031380" cy="1836850"/>
            <a:chOff x="4580310" y="3213520"/>
            <a:chExt cx="3031380" cy="1836850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7D45DF3-DA1A-9781-6EF4-56448AC7A73B}"/>
                </a:ext>
              </a:extLst>
            </p:cNvPr>
            <p:cNvCxnSpPr>
              <a:stCxn id="17" idx="6"/>
              <a:endCxn id="19" idx="2"/>
            </p:cNvCxnSpPr>
            <p:nvPr/>
          </p:nvCxnSpPr>
          <p:spPr>
            <a:xfrm>
              <a:off x="5120310" y="4780370"/>
              <a:ext cx="19513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4CA7CFF-54FF-D1F0-7145-E64F396D2127}"/>
                </a:ext>
              </a:extLst>
            </p:cNvPr>
            <p:cNvSpPr/>
            <p:nvPr/>
          </p:nvSpPr>
          <p:spPr>
            <a:xfrm>
              <a:off x="4580310" y="4510370"/>
              <a:ext cx="540000" cy="54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6065B33-B5E5-8437-4061-BFE22E2EE0B4}"/>
                </a:ext>
              </a:extLst>
            </p:cNvPr>
            <p:cNvSpPr/>
            <p:nvPr/>
          </p:nvSpPr>
          <p:spPr>
            <a:xfrm>
              <a:off x="7071690" y="4510370"/>
              <a:ext cx="540000" cy="54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B7427FA-1AD3-BD6A-FA9B-C7557B36C599}"/>
                </a:ext>
              </a:extLst>
            </p:cNvPr>
            <p:cNvSpPr/>
            <p:nvPr/>
          </p:nvSpPr>
          <p:spPr>
            <a:xfrm>
              <a:off x="4581604" y="3213520"/>
              <a:ext cx="540000" cy="54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6374387-9DEA-1CF9-8AC1-9FD816BBB8CF}"/>
                </a:ext>
              </a:extLst>
            </p:cNvPr>
            <p:cNvSpPr/>
            <p:nvPr/>
          </p:nvSpPr>
          <p:spPr>
            <a:xfrm>
              <a:off x="5826000" y="3630312"/>
              <a:ext cx="540000" cy="540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d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74F6C52-F9D0-917E-D54D-19D10F6B6B11}"/>
                </a:ext>
              </a:extLst>
            </p:cNvPr>
            <p:cNvCxnSpPr>
              <a:cxnSpLocks/>
              <a:stCxn id="20" idx="6"/>
              <a:endCxn id="22" idx="2"/>
            </p:cNvCxnSpPr>
            <p:nvPr/>
          </p:nvCxnSpPr>
          <p:spPr>
            <a:xfrm>
              <a:off x="5121604" y="3483520"/>
              <a:ext cx="704396" cy="41679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5E4A6AC-353F-2802-CF6A-4D5FFEB1628D}"/>
                </a:ext>
              </a:extLst>
            </p:cNvPr>
            <p:cNvCxnSpPr>
              <a:cxnSpLocks/>
              <a:stCxn id="20" idx="4"/>
              <a:endCxn id="17" idx="0"/>
            </p:cNvCxnSpPr>
            <p:nvPr/>
          </p:nvCxnSpPr>
          <p:spPr>
            <a:xfrm flipH="1">
              <a:off x="4850310" y="3753520"/>
              <a:ext cx="1294" cy="75685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134EF1B-B3EA-C956-DEF1-BD43E3C2EB38}"/>
                </a:ext>
              </a:extLst>
            </p:cNvPr>
            <p:cNvSpPr/>
            <p:nvPr/>
          </p:nvSpPr>
          <p:spPr>
            <a:xfrm>
              <a:off x="7071690" y="3213520"/>
              <a:ext cx="540000" cy="54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>
                  <a:solidFill>
                    <a:schemeClr val="tx1"/>
                  </a:solidFill>
                </a:rPr>
                <a:t>e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5EE0A84-0FF1-B3F7-0E07-063FFFD92CD8}"/>
                </a:ext>
              </a:extLst>
            </p:cNvPr>
            <p:cNvCxnSpPr>
              <a:cxnSpLocks/>
              <a:stCxn id="26" idx="2"/>
              <a:endCxn id="22" idx="6"/>
            </p:cNvCxnSpPr>
            <p:nvPr/>
          </p:nvCxnSpPr>
          <p:spPr>
            <a:xfrm flipH="1">
              <a:off x="6366000" y="3483520"/>
              <a:ext cx="705690" cy="41679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F8D9FFD-62F7-7717-ABC8-26014DB64FDD}"/>
                </a:ext>
              </a:extLst>
            </p:cNvPr>
            <p:cNvCxnSpPr>
              <a:cxnSpLocks/>
              <a:stCxn id="26" idx="4"/>
              <a:endCxn id="19" idx="0"/>
            </p:cNvCxnSpPr>
            <p:nvPr/>
          </p:nvCxnSpPr>
          <p:spPr>
            <a:xfrm>
              <a:off x="7341690" y="3753520"/>
              <a:ext cx="0" cy="75685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33F035C7-AE28-8AF5-4FCC-B293EF2662F4}"/>
                </a:ext>
              </a:extLst>
            </p:cNvPr>
            <p:cNvCxnSpPr>
              <a:cxnSpLocks/>
              <a:stCxn id="22" idx="3"/>
              <a:endCxn id="17" idx="7"/>
            </p:cNvCxnSpPr>
            <p:nvPr/>
          </p:nvCxnSpPr>
          <p:spPr>
            <a:xfrm flipH="1">
              <a:off x="5041229" y="4091231"/>
              <a:ext cx="863852" cy="49822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E335E23C-52D1-69C7-6928-5B3C4E2632D2}"/>
              </a:ext>
            </a:extLst>
          </p:cNvPr>
          <p:cNvSpPr txBox="1"/>
          <p:nvPr/>
        </p:nvSpPr>
        <p:spPr>
          <a:xfrm>
            <a:off x="838200" y="4935480"/>
            <a:ext cx="3273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/>
              <a:t>Adjustment set = {e}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279BC9C-B9C0-5FF3-ED0A-24C506F6F99E}"/>
              </a:ext>
            </a:extLst>
          </p:cNvPr>
          <p:cNvSpPr txBox="1"/>
          <p:nvPr/>
        </p:nvSpPr>
        <p:spPr>
          <a:xfrm>
            <a:off x="6116180" y="4914495"/>
            <a:ext cx="36405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/>
              <a:t>Adjustment set = {c, d}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E4AFBE7-67D7-BB84-3DC3-6854C317A8D0}"/>
              </a:ext>
            </a:extLst>
          </p:cNvPr>
          <p:cNvGrpSpPr/>
          <p:nvPr/>
        </p:nvGrpSpPr>
        <p:grpSpPr>
          <a:xfrm>
            <a:off x="6601049" y="5458700"/>
            <a:ext cx="4559103" cy="946595"/>
            <a:chOff x="775412" y="5230368"/>
            <a:chExt cx="4559103" cy="946595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9E67F73F-8800-25B8-B05D-375B21C190DE}"/>
                </a:ext>
              </a:extLst>
            </p:cNvPr>
            <p:cNvSpPr/>
            <p:nvPr/>
          </p:nvSpPr>
          <p:spPr>
            <a:xfrm>
              <a:off x="775412" y="5230368"/>
              <a:ext cx="4559103" cy="946595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12000" rtlCol="0" anchor="ctr"/>
            <a:lstStyle/>
            <a:p>
              <a:r>
                <a:rPr lang="en-US" sz="1400" noProof="0" dirty="0">
                  <a:solidFill>
                    <a:schemeClr val="bg1"/>
                  </a:solidFill>
                </a:rPr>
                <a:t>Conditioning on </a:t>
              </a:r>
              <a:r>
                <a:rPr lang="en-US" sz="1400" noProof="0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d</a:t>
              </a:r>
              <a:r>
                <a:rPr lang="en-US" sz="1400" noProof="0" dirty="0">
                  <a:solidFill>
                    <a:schemeClr val="bg1"/>
                  </a:solidFill>
                </a:rPr>
                <a:t> opens the backdoor-path </a:t>
              </a:r>
              <a:r>
                <a:rPr lang="en-US" sz="1400" noProof="0" dirty="0">
                  <a:solidFill>
                    <a:srgbClr val="D0180A"/>
                  </a:solidFill>
                </a:rPr>
                <a:t>a</a:t>
              </a:r>
              <a:r>
                <a:rPr lang="en-US" sz="1400" noProof="0" dirty="0"/>
                <a:t> ← c → d ← e → </a:t>
              </a:r>
              <a:r>
                <a:rPr lang="en-US" sz="1400" noProof="0" dirty="0">
                  <a:solidFill>
                    <a:srgbClr val="006D70"/>
                  </a:solidFill>
                </a:rPr>
                <a:t>b</a:t>
              </a:r>
              <a:r>
                <a:rPr lang="en-US" sz="1400" noProof="0" dirty="0">
                  <a:solidFill>
                    <a:schemeClr val="bg1"/>
                  </a:solidFill>
                </a:rPr>
                <a:t> which then has to be closed by additionally conditioning on </a:t>
              </a:r>
              <a:r>
                <a:rPr lang="en-US" sz="1400" noProof="0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c</a:t>
              </a:r>
              <a:r>
                <a:rPr lang="en-US" sz="1400" noProof="0" dirty="0">
                  <a:solidFill>
                    <a:schemeClr val="bg1"/>
                  </a:solidFill>
                </a:rPr>
                <a:t>.</a:t>
              </a:r>
              <a:endParaRPr lang="en-US" sz="1400" noProof="0" dirty="0">
                <a:solidFill>
                  <a:srgbClr val="006D70"/>
                </a:solidFill>
              </a:endParaRPr>
            </a:p>
          </p:txBody>
        </p:sp>
        <p:pic>
          <p:nvPicPr>
            <p:cNvPr id="47" name="Graphic 46" descr="Open quotation mark with solid fill">
              <a:extLst>
                <a:ext uri="{FF2B5EF4-FFF2-40B4-BE49-F238E27FC236}">
                  <a16:creationId xmlns:a16="http://schemas.microsoft.com/office/drawing/2014/main" id="{CACD80F4-1C6A-15CA-AB3D-6B67409F5F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 rot="10800000">
              <a:off x="775412" y="5343665"/>
              <a:ext cx="720000" cy="720000"/>
            </a:xfrm>
            <a:prstGeom prst="rect">
              <a:avLst/>
            </a:prstGeom>
          </p:spPr>
        </p:pic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C1630F94-6BD9-2D48-3A73-0270772BD318}"/>
              </a:ext>
            </a:extLst>
          </p:cNvPr>
          <p:cNvSpPr/>
          <p:nvPr/>
        </p:nvSpPr>
        <p:spPr>
          <a:xfrm>
            <a:off x="7364911" y="2894727"/>
            <a:ext cx="540000" cy="540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noProof="0" dirty="0">
                <a:solidFill>
                  <a:schemeClr val="tx1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267856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3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7B305-8F2B-6BDC-C329-04F8B29D7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Encoding Observability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EFE05-CB51-289C-00DD-64CC828A1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45857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Nodes in </a:t>
            </a:r>
            <a:r>
              <a:rPr lang="en-SE" dirty="0" err="1"/>
              <a:t>DAGs</a:t>
            </a:r>
            <a:r>
              <a:rPr lang="en-SE" dirty="0"/>
              <a:t> can indicate whether a variable is observable or not.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717FF-AD17-8353-6403-14914920D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71E8FB-0E6B-7F4B-41A0-490A8570C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46</a:t>
            </a:fld>
            <a:endParaRPr lang="en-SE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8C923B3-928D-573D-E1A3-D1CE04C12ED9}"/>
              </a:ext>
            </a:extLst>
          </p:cNvPr>
          <p:cNvGrpSpPr/>
          <p:nvPr/>
        </p:nvGrpSpPr>
        <p:grpSpPr>
          <a:xfrm>
            <a:off x="1076545" y="4856774"/>
            <a:ext cx="1417151" cy="360000"/>
            <a:chOff x="1076545" y="4856774"/>
            <a:chExt cx="1417151" cy="36000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A06C76A-8083-8316-8D6D-B386366606BE}"/>
                </a:ext>
              </a:extLst>
            </p:cNvPr>
            <p:cNvSpPr/>
            <p:nvPr/>
          </p:nvSpPr>
          <p:spPr>
            <a:xfrm>
              <a:off x="1076545" y="4856774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418E188-054E-0E00-764E-BB46C0DA3001}"/>
                </a:ext>
              </a:extLst>
            </p:cNvPr>
            <p:cNvSpPr txBox="1"/>
            <p:nvPr/>
          </p:nvSpPr>
          <p:spPr>
            <a:xfrm>
              <a:off x="1495794" y="4867742"/>
              <a:ext cx="99790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sz="1600" noProof="0" dirty="0"/>
                <a:t>exposure</a:t>
              </a:r>
              <a:endParaRPr lang="en-US" sz="1600" noProof="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1130509-1A79-B05A-747F-2AFEE1F87B44}"/>
              </a:ext>
            </a:extLst>
          </p:cNvPr>
          <p:cNvGrpSpPr/>
          <p:nvPr/>
        </p:nvGrpSpPr>
        <p:grpSpPr>
          <a:xfrm>
            <a:off x="1074854" y="5309376"/>
            <a:ext cx="1428215" cy="360000"/>
            <a:chOff x="1074854" y="5309376"/>
            <a:chExt cx="1428215" cy="3600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874E6AE-9808-B733-DDBD-555EEABEA89F}"/>
                </a:ext>
              </a:extLst>
            </p:cNvPr>
            <p:cNvSpPr/>
            <p:nvPr/>
          </p:nvSpPr>
          <p:spPr>
            <a:xfrm>
              <a:off x="1074854" y="5309376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6330A05-7D0B-AAA0-50C9-BFB88C0C52E1}"/>
                </a:ext>
              </a:extLst>
            </p:cNvPr>
            <p:cNvSpPr txBox="1"/>
            <p:nvPr/>
          </p:nvSpPr>
          <p:spPr>
            <a:xfrm>
              <a:off x="1495677" y="5320099"/>
              <a:ext cx="10073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sz="1600" noProof="0" dirty="0"/>
                <a:t>response</a:t>
              </a:r>
              <a:endParaRPr lang="en-US" sz="1600" noProof="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CE28CE-0DA1-D3CB-837D-F59E5FF260EC}"/>
              </a:ext>
            </a:extLst>
          </p:cNvPr>
          <p:cNvGrpSpPr/>
          <p:nvPr/>
        </p:nvGrpSpPr>
        <p:grpSpPr>
          <a:xfrm>
            <a:off x="3396566" y="4757200"/>
            <a:ext cx="2457272" cy="584775"/>
            <a:chOff x="3396566" y="4757200"/>
            <a:chExt cx="2457272" cy="584775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6444157-8459-0275-F8A4-736ABCB8CEA6}"/>
                </a:ext>
              </a:extLst>
            </p:cNvPr>
            <p:cNvCxnSpPr>
              <a:cxnSpLocks/>
            </p:cNvCxnSpPr>
            <p:nvPr/>
          </p:nvCxnSpPr>
          <p:spPr>
            <a:xfrm>
              <a:off x="3396566" y="5052796"/>
              <a:ext cx="2772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387E2B8-F348-4C07-7E2B-A3657E898956}"/>
                </a:ext>
              </a:extLst>
            </p:cNvPr>
            <p:cNvSpPr txBox="1"/>
            <p:nvPr/>
          </p:nvSpPr>
          <p:spPr>
            <a:xfrm>
              <a:off x="4093548" y="4757200"/>
              <a:ext cx="176029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sz="1600" noProof="0" dirty="0"/>
                <a:t>(assumed) causal</a:t>
              </a:r>
              <a:br>
                <a:rPr lang="en-SE" sz="1600" noProof="0" dirty="0"/>
              </a:br>
              <a:r>
                <a:rPr lang="en-SE" sz="1600" noProof="0" dirty="0"/>
                <a:t>relationship</a:t>
              </a:r>
              <a:endParaRPr lang="en-US" sz="1600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5199DC7-FD94-F205-9FF6-0D5B01222E90}"/>
              </a:ext>
            </a:extLst>
          </p:cNvPr>
          <p:cNvGrpSpPr/>
          <p:nvPr/>
        </p:nvGrpSpPr>
        <p:grpSpPr>
          <a:xfrm>
            <a:off x="1074854" y="5649590"/>
            <a:ext cx="2062133" cy="584775"/>
            <a:chOff x="1074854" y="5649590"/>
            <a:chExt cx="2062133" cy="584775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EC1861F-E53A-482C-0772-AFCF1D176B6B}"/>
                </a:ext>
              </a:extLst>
            </p:cNvPr>
            <p:cNvSpPr/>
            <p:nvPr/>
          </p:nvSpPr>
          <p:spPr>
            <a:xfrm>
              <a:off x="1074854" y="5761978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70DC472-0E8B-D59A-E941-E6AFB86A28AA}"/>
                </a:ext>
              </a:extLst>
            </p:cNvPr>
            <p:cNvSpPr txBox="1"/>
            <p:nvPr/>
          </p:nvSpPr>
          <p:spPr>
            <a:xfrm>
              <a:off x="1497307" y="5649590"/>
              <a:ext cx="163968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sz="1600" noProof="0" dirty="0"/>
                <a:t>other (observed)</a:t>
              </a:r>
            </a:p>
            <a:p>
              <a:r>
                <a:rPr lang="en-SE" sz="1600" dirty="0"/>
                <a:t>factors</a:t>
              </a:r>
              <a:endParaRPr lang="en-US" sz="1600" noProof="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719ED18-6D24-960E-77A7-6A846E568AFD}"/>
              </a:ext>
            </a:extLst>
          </p:cNvPr>
          <p:cNvGrpSpPr/>
          <p:nvPr/>
        </p:nvGrpSpPr>
        <p:grpSpPr>
          <a:xfrm>
            <a:off x="3036566" y="5308246"/>
            <a:ext cx="2435291" cy="360000"/>
            <a:chOff x="3036566" y="4872796"/>
            <a:chExt cx="2435291" cy="3600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0F03F84-99F3-A1C4-73DE-EE660B61D4F8}"/>
                </a:ext>
              </a:extLst>
            </p:cNvPr>
            <p:cNvSpPr/>
            <p:nvPr/>
          </p:nvSpPr>
          <p:spPr>
            <a:xfrm>
              <a:off x="3036566" y="4872796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53FCDCF-338E-F7B2-E307-6B45C66518BD}"/>
                </a:ext>
              </a:extLst>
            </p:cNvPr>
            <p:cNvSpPr/>
            <p:nvPr/>
          </p:nvSpPr>
          <p:spPr>
            <a:xfrm>
              <a:off x="3673766" y="4872796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44D7436-CE3F-5EFB-98E4-75F971886384}"/>
                </a:ext>
              </a:extLst>
            </p:cNvPr>
            <p:cNvCxnSpPr>
              <a:stCxn id="19" idx="6"/>
              <a:endCxn id="20" idx="2"/>
            </p:cNvCxnSpPr>
            <p:nvPr/>
          </p:nvCxnSpPr>
          <p:spPr>
            <a:xfrm>
              <a:off x="3396566" y="5052796"/>
              <a:ext cx="2772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FECA6FA-BA5C-A13F-B247-ECFE1F83659B}"/>
                </a:ext>
              </a:extLst>
            </p:cNvPr>
            <p:cNvSpPr txBox="1"/>
            <p:nvPr/>
          </p:nvSpPr>
          <p:spPr>
            <a:xfrm>
              <a:off x="4099365" y="4877874"/>
              <a:ext cx="137249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noProof="0" dirty="0"/>
                <a:t>phenomenon</a:t>
              </a:r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6F468A3B-D219-9143-D985-8C03D45F435D}"/>
              </a:ext>
            </a:extLst>
          </p:cNvPr>
          <p:cNvSpPr/>
          <p:nvPr/>
        </p:nvSpPr>
        <p:spPr>
          <a:xfrm>
            <a:off x="4431353" y="3315677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noProof="0" dirty="0">
                <a:solidFill>
                  <a:srgbClr val="D0180A"/>
                </a:solidFill>
              </a:rPr>
              <a:t>x</a:t>
            </a:r>
            <a:endParaRPr lang="en-US" noProof="0" dirty="0">
              <a:solidFill>
                <a:srgbClr val="D0180A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6FD96EE-1DD6-842D-6DC8-FAB3C04787BA}"/>
              </a:ext>
            </a:extLst>
          </p:cNvPr>
          <p:cNvSpPr/>
          <p:nvPr/>
        </p:nvSpPr>
        <p:spPr>
          <a:xfrm>
            <a:off x="6922733" y="3315677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noProof="0" dirty="0">
                <a:solidFill>
                  <a:srgbClr val="006D70"/>
                </a:solidFill>
              </a:rPr>
              <a:t>y</a:t>
            </a:r>
            <a:endParaRPr lang="en-US" noProof="0" dirty="0">
              <a:solidFill>
                <a:srgbClr val="006D70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748BB6F-19D8-0857-F271-9B0637E99E12}"/>
              </a:ext>
            </a:extLst>
          </p:cNvPr>
          <p:cNvCxnSpPr>
            <a:stCxn id="24" idx="6"/>
            <a:endCxn id="25" idx="2"/>
          </p:cNvCxnSpPr>
          <p:nvPr/>
        </p:nvCxnSpPr>
        <p:spPr>
          <a:xfrm>
            <a:off x="4791353" y="3495677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F249D55E-732A-AE44-5E03-227FF659FE6C}"/>
              </a:ext>
            </a:extLst>
          </p:cNvPr>
          <p:cNvSpPr/>
          <p:nvPr/>
        </p:nvSpPr>
        <p:spPr>
          <a:xfrm>
            <a:off x="5676494" y="4091330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</a:t>
            </a:r>
            <a:endParaRPr lang="en-US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22BE3E7-ED1D-1F61-7720-7B34DC3070E5}"/>
              </a:ext>
            </a:extLst>
          </p:cNvPr>
          <p:cNvCxnSpPr>
            <a:cxnSpLocks/>
            <a:stCxn id="28" idx="7"/>
            <a:endCxn id="25" idx="3"/>
          </p:cNvCxnSpPr>
          <p:nvPr/>
        </p:nvCxnSpPr>
        <p:spPr>
          <a:xfrm flipV="1">
            <a:off x="5983773" y="3622956"/>
            <a:ext cx="991681" cy="5210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E4A6843-D605-715C-8738-4FE496D9FE7A}"/>
              </a:ext>
            </a:extLst>
          </p:cNvPr>
          <p:cNvCxnSpPr>
            <a:cxnSpLocks/>
            <a:stCxn id="28" idx="1"/>
            <a:endCxn id="24" idx="5"/>
          </p:cNvCxnSpPr>
          <p:nvPr/>
        </p:nvCxnSpPr>
        <p:spPr>
          <a:xfrm flipH="1" flipV="1">
            <a:off x="4738632" y="3622956"/>
            <a:ext cx="990583" cy="5210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BA8C7871-4656-6380-06F2-A7C11392730F}"/>
              </a:ext>
            </a:extLst>
          </p:cNvPr>
          <p:cNvSpPr/>
          <p:nvPr/>
        </p:nvSpPr>
        <p:spPr>
          <a:xfrm>
            <a:off x="5676668" y="2526255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</a:t>
            </a:r>
            <a:endParaRPr lang="en-US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0F9CB1F-6F30-1CDD-A57D-A5615BF6811C}"/>
              </a:ext>
            </a:extLst>
          </p:cNvPr>
          <p:cNvCxnSpPr>
            <a:cxnSpLocks/>
            <a:stCxn id="24" idx="7"/>
            <a:endCxn id="33" idx="3"/>
          </p:cNvCxnSpPr>
          <p:nvPr/>
        </p:nvCxnSpPr>
        <p:spPr>
          <a:xfrm flipV="1">
            <a:off x="4738632" y="2833534"/>
            <a:ext cx="990757" cy="534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CD0DC8E-16BE-3E13-34F2-27A358A7695C}"/>
              </a:ext>
            </a:extLst>
          </p:cNvPr>
          <p:cNvCxnSpPr>
            <a:cxnSpLocks/>
            <a:stCxn id="33" idx="5"/>
            <a:endCxn id="25" idx="1"/>
          </p:cNvCxnSpPr>
          <p:nvPr/>
        </p:nvCxnSpPr>
        <p:spPr>
          <a:xfrm>
            <a:off x="5983947" y="2833534"/>
            <a:ext cx="991507" cy="534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7A1A7F1-084B-11C4-AE22-E5B728085FD6}"/>
              </a:ext>
            </a:extLst>
          </p:cNvPr>
          <p:cNvGrpSpPr/>
          <p:nvPr/>
        </p:nvGrpSpPr>
        <p:grpSpPr>
          <a:xfrm>
            <a:off x="3667082" y="5649589"/>
            <a:ext cx="2062133" cy="584775"/>
            <a:chOff x="1074854" y="5649590"/>
            <a:chExt cx="2062133" cy="584775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2C7D780-5ADC-6996-5C54-06A6E07ED633}"/>
                </a:ext>
              </a:extLst>
            </p:cNvPr>
            <p:cNvSpPr/>
            <p:nvPr/>
          </p:nvSpPr>
          <p:spPr>
            <a:xfrm>
              <a:off x="1074854" y="5761978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F84F55A-FD2C-E50A-3F68-73FAE6BE8BEC}"/>
                </a:ext>
              </a:extLst>
            </p:cNvPr>
            <p:cNvSpPr txBox="1"/>
            <p:nvPr/>
          </p:nvSpPr>
          <p:spPr>
            <a:xfrm>
              <a:off x="1497307" y="5649590"/>
              <a:ext cx="163968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sz="1600" noProof="0" dirty="0"/>
                <a:t>other (observed)</a:t>
              </a:r>
            </a:p>
            <a:p>
              <a:r>
                <a:rPr lang="en-SE" sz="1600" dirty="0"/>
                <a:t>factors</a:t>
              </a:r>
              <a:endParaRPr lang="en-US" sz="1600" noProof="0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A8858C3-704A-AC4A-40B3-776688D410B4}"/>
              </a:ext>
            </a:extLst>
          </p:cNvPr>
          <p:cNvGrpSpPr/>
          <p:nvPr/>
        </p:nvGrpSpPr>
        <p:grpSpPr>
          <a:xfrm>
            <a:off x="838198" y="365125"/>
            <a:ext cx="1983884" cy="245531"/>
            <a:chOff x="4114799" y="3759391"/>
            <a:chExt cx="1983884" cy="1229241"/>
          </a:xfrm>
        </p:grpSpPr>
        <p:sp>
          <p:nvSpPr>
            <p:cNvPr id="43" name="Arrow: Pentagon 42">
              <a:extLst>
                <a:ext uri="{FF2B5EF4-FFF2-40B4-BE49-F238E27FC236}">
                  <a16:creationId xmlns:a16="http://schemas.microsoft.com/office/drawing/2014/main" id="{BFCDC564-AAA1-5F80-88AC-F09117B772AE}"/>
                </a:ext>
              </a:extLst>
            </p:cNvPr>
            <p:cNvSpPr/>
            <p:nvPr/>
          </p:nvSpPr>
          <p:spPr>
            <a:xfrm>
              <a:off x="4114799" y="3759391"/>
              <a:ext cx="794039" cy="1229241"/>
            </a:xfrm>
            <a:prstGeom prst="homePlat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/>
                <a:t>Theory</a:t>
              </a:r>
            </a:p>
          </p:txBody>
        </p:sp>
        <p:sp>
          <p:nvSpPr>
            <p:cNvPr id="44" name="Arrow: Chevron 43">
              <a:extLst>
                <a:ext uri="{FF2B5EF4-FFF2-40B4-BE49-F238E27FC236}">
                  <a16:creationId xmlns:a16="http://schemas.microsoft.com/office/drawing/2014/main" id="{1BA3DABA-485F-9F0C-A5DA-FF8CFAFCD284}"/>
                </a:ext>
              </a:extLst>
            </p:cNvPr>
            <p:cNvSpPr/>
            <p:nvPr/>
          </p:nvSpPr>
          <p:spPr>
            <a:xfrm>
              <a:off x="4843616" y="3759391"/>
              <a:ext cx="1255067" cy="1229241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>
                  <a:solidFill>
                    <a:schemeClr val="bg1">
                      <a:lumMod val="75000"/>
                    </a:schemeClr>
                  </a:solidFill>
                </a:rPr>
                <a:t>Use Case</a:t>
              </a:r>
            </a:p>
          </p:txBody>
        </p:sp>
      </p:grp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6C8C6EE9-DCC4-1170-ED86-4A550F00C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829614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FF6ED-54C9-D02C-AE17-CF2285CBF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Determining Study-ability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B3DAC-3DC6-CAFC-0AEB-E44344952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97859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Causal </a:t>
            </a:r>
            <a:r>
              <a:rPr lang="en-SE" dirty="0" err="1"/>
              <a:t>DAGs</a:t>
            </a:r>
            <a:r>
              <a:rPr lang="en-SE" dirty="0"/>
              <a:t> allow deciding whether it is even possible to determine the (unbiased) causal effect of a phenomenon.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28502-A329-4C8D-48E2-A7D5C116C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0EE4DC-BE2C-AF46-B73D-9FCCE1FB4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47</a:t>
            </a:fld>
            <a:endParaRPr lang="en-SE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73E6DB4-1600-8443-065E-A2CB2B7E0A64}"/>
              </a:ext>
            </a:extLst>
          </p:cNvPr>
          <p:cNvGrpSpPr/>
          <p:nvPr/>
        </p:nvGrpSpPr>
        <p:grpSpPr>
          <a:xfrm>
            <a:off x="2675523" y="3302525"/>
            <a:ext cx="5688395" cy="1146564"/>
            <a:chOff x="2915038" y="3295434"/>
            <a:chExt cx="5688395" cy="1146564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A637AFE-7E48-37AB-D6A5-5DA08955FB42}"/>
                </a:ext>
              </a:extLst>
            </p:cNvPr>
            <p:cNvSpPr/>
            <p:nvPr/>
          </p:nvSpPr>
          <p:spPr>
            <a:xfrm>
              <a:off x="4431353" y="3315677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D0180A"/>
                  </a:solidFill>
                </a:rPr>
                <a:t>x</a:t>
              </a:r>
              <a:endParaRPr lang="en-US" noProof="0" dirty="0">
                <a:solidFill>
                  <a:srgbClr val="D0180A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6EB22D7-F182-2BE2-29B8-168817DDE40F}"/>
                </a:ext>
              </a:extLst>
            </p:cNvPr>
            <p:cNvSpPr/>
            <p:nvPr/>
          </p:nvSpPr>
          <p:spPr>
            <a:xfrm>
              <a:off x="6922733" y="3315677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006D70"/>
                  </a:solidFill>
                </a:rPr>
                <a:t>y</a:t>
              </a:r>
              <a:endParaRPr lang="en-US" noProof="0" dirty="0">
                <a:solidFill>
                  <a:srgbClr val="006D70"/>
                </a:solidFill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B0ADC5E-DCF0-28E2-F98D-3946AAD48299}"/>
                </a:ext>
              </a:extLst>
            </p:cNvPr>
            <p:cNvCxnSpPr>
              <a:stCxn id="7" idx="6"/>
              <a:endCxn id="8" idx="2"/>
            </p:cNvCxnSpPr>
            <p:nvPr/>
          </p:nvCxnSpPr>
          <p:spPr>
            <a:xfrm>
              <a:off x="4791353" y="3495677"/>
              <a:ext cx="21313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4946A3C-3C60-D021-0BD0-8D782C09AC57}"/>
                </a:ext>
              </a:extLst>
            </p:cNvPr>
            <p:cNvSpPr txBox="1"/>
            <p:nvPr/>
          </p:nvSpPr>
          <p:spPr>
            <a:xfrm>
              <a:off x="2915038" y="3306345"/>
              <a:ext cx="1515809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de-DE" noProof="0" dirty="0">
                  <a:solidFill>
                    <a:srgbClr val="D0180A"/>
                  </a:solidFill>
                </a:rPr>
                <a:t>u</a:t>
              </a:r>
              <a:r>
                <a:rPr lang="en-SE" noProof="0" dirty="0">
                  <a:solidFill>
                    <a:srgbClr val="D0180A"/>
                  </a:solidFill>
                </a:rPr>
                <a:t>se of GenAI</a:t>
              </a:r>
              <a:endParaRPr lang="en-US" noProof="0" dirty="0">
                <a:solidFill>
                  <a:srgbClr val="D0180A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4DEBF64-3E63-AA0E-7CDF-0853CDF918DD}"/>
                </a:ext>
              </a:extLst>
            </p:cNvPr>
            <p:cNvSpPr txBox="1"/>
            <p:nvPr/>
          </p:nvSpPr>
          <p:spPr>
            <a:xfrm>
              <a:off x="7240496" y="3295434"/>
              <a:ext cx="13629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noProof="0" dirty="0">
                  <a:solidFill>
                    <a:srgbClr val="006D70"/>
                  </a:solidFill>
                </a:rPr>
                <a:t>productivity</a:t>
              </a:r>
              <a:endParaRPr lang="en-US" noProof="0" dirty="0">
                <a:solidFill>
                  <a:srgbClr val="006D70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D464466-4632-4DD9-1C36-41AC9609D355}"/>
                </a:ext>
              </a:extLst>
            </p:cNvPr>
            <p:cNvSpPr/>
            <p:nvPr/>
          </p:nvSpPr>
          <p:spPr>
            <a:xfrm>
              <a:off x="5616222" y="4081998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</a:t>
              </a:r>
              <a:endParaRPr lang="en-US" noProof="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EACFF64-0D84-2392-990A-FAC02FD8D31D}"/>
                </a:ext>
              </a:extLst>
            </p:cNvPr>
            <p:cNvSpPr txBox="1"/>
            <p:nvPr/>
          </p:nvSpPr>
          <p:spPr>
            <a:xfrm>
              <a:off x="5967363" y="4072666"/>
              <a:ext cx="12462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motivation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B8C72F4-2393-C075-B9EA-A93C1ED79981}"/>
                </a:ext>
              </a:extLst>
            </p:cNvPr>
            <p:cNvCxnSpPr>
              <a:cxnSpLocks/>
              <a:stCxn id="13" idx="7"/>
              <a:endCxn id="8" idx="3"/>
            </p:cNvCxnSpPr>
            <p:nvPr/>
          </p:nvCxnSpPr>
          <p:spPr>
            <a:xfrm flipV="1">
              <a:off x="5923501" y="3622956"/>
              <a:ext cx="1051953" cy="5117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A15E184-ADF6-78F6-2F61-2FBBB9E2BB74}"/>
                </a:ext>
              </a:extLst>
            </p:cNvPr>
            <p:cNvCxnSpPr>
              <a:cxnSpLocks/>
              <a:stCxn id="13" idx="1"/>
              <a:endCxn id="7" idx="5"/>
            </p:cNvCxnSpPr>
            <p:nvPr/>
          </p:nvCxnSpPr>
          <p:spPr>
            <a:xfrm flipH="1" flipV="1">
              <a:off x="4738632" y="3622956"/>
              <a:ext cx="930311" cy="5117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6E6271EC-AEE7-D6E4-63AF-5110EC2E349D}"/>
              </a:ext>
            </a:extLst>
          </p:cNvPr>
          <p:cNvSpPr txBox="1">
            <a:spLocks/>
          </p:cNvSpPr>
          <p:nvPr/>
        </p:nvSpPr>
        <p:spPr>
          <a:xfrm>
            <a:off x="838200" y="4968959"/>
            <a:ext cx="10515600" cy="13873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E" dirty="0"/>
              <a:t>If a phenomenon has an unobserved confounder, then the causal effect of the exposure on the outcome cannot be estimated from observational data.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52D9ACB-5913-29F1-A473-78E174332ADB}"/>
              </a:ext>
            </a:extLst>
          </p:cNvPr>
          <p:cNvGrpSpPr/>
          <p:nvPr/>
        </p:nvGrpSpPr>
        <p:grpSpPr>
          <a:xfrm>
            <a:off x="838198" y="365125"/>
            <a:ext cx="1983884" cy="245531"/>
            <a:chOff x="4114799" y="3759391"/>
            <a:chExt cx="1983884" cy="1229241"/>
          </a:xfrm>
        </p:grpSpPr>
        <p:sp>
          <p:nvSpPr>
            <p:cNvPr id="32" name="Arrow: Pentagon 31">
              <a:extLst>
                <a:ext uri="{FF2B5EF4-FFF2-40B4-BE49-F238E27FC236}">
                  <a16:creationId xmlns:a16="http://schemas.microsoft.com/office/drawing/2014/main" id="{2084C7E3-C920-55D5-C5FE-C10E139E6760}"/>
                </a:ext>
              </a:extLst>
            </p:cNvPr>
            <p:cNvSpPr/>
            <p:nvPr/>
          </p:nvSpPr>
          <p:spPr>
            <a:xfrm>
              <a:off x="4114799" y="3759391"/>
              <a:ext cx="794039" cy="1229241"/>
            </a:xfrm>
            <a:prstGeom prst="homePlat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/>
                <a:t>Theory</a:t>
              </a:r>
            </a:p>
          </p:txBody>
        </p:sp>
        <p:sp>
          <p:nvSpPr>
            <p:cNvPr id="33" name="Arrow: Chevron 32">
              <a:extLst>
                <a:ext uri="{FF2B5EF4-FFF2-40B4-BE49-F238E27FC236}">
                  <a16:creationId xmlns:a16="http://schemas.microsoft.com/office/drawing/2014/main" id="{ABA4F49D-EA20-3D63-6A50-037142A5F981}"/>
                </a:ext>
              </a:extLst>
            </p:cNvPr>
            <p:cNvSpPr/>
            <p:nvPr/>
          </p:nvSpPr>
          <p:spPr>
            <a:xfrm>
              <a:off x="4843616" y="3759391"/>
              <a:ext cx="1255067" cy="1229241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>
                  <a:solidFill>
                    <a:schemeClr val="tx1"/>
                  </a:solidFill>
                </a:rPr>
                <a:t>Use Case</a:t>
              </a:r>
            </a:p>
          </p:txBody>
        </p:sp>
      </p:grp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704A992-B7F5-5E20-1DF6-A2EFEAAA5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887221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00E55-9DF5-CE5A-6922-CF97A564F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Limitations of Observational Studies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0A403-A380-EC99-5F0A-5EB22052C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69621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Unobservable/unmeasurable or even unknown confounders limit the potential of observational studies.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F74DD-B3FF-35FE-3279-E052FC69E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D1037-F7CE-2824-1AB9-8CE8E60D3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7D914-69D5-3F9E-FBA1-77ADDFA1C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48</a:t>
            </a:fld>
            <a:endParaRPr lang="en-S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32F66AE-245F-F7A6-75AD-7FAC241BD438}"/>
              </a:ext>
            </a:extLst>
          </p:cNvPr>
          <p:cNvGrpSpPr/>
          <p:nvPr/>
        </p:nvGrpSpPr>
        <p:grpSpPr>
          <a:xfrm>
            <a:off x="2675523" y="3302525"/>
            <a:ext cx="5688395" cy="1146564"/>
            <a:chOff x="2915038" y="3295434"/>
            <a:chExt cx="5688395" cy="1146564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F06F4E6-B6B7-6F0E-632E-DACB707FB365}"/>
                </a:ext>
              </a:extLst>
            </p:cNvPr>
            <p:cNvSpPr/>
            <p:nvPr/>
          </p:nvSpPr>
          <p:spPr>
            <a:xfrm>
              <a:off x="4431353" y="3315677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D0180A"/>
                  </a:solidFill>
                </a:rPr>
                <a:t>x</a:t>
              </a:r>
              <a:endParaRPr lang="en-US" noProof="0" dirty="0">
                <a:solidFill>
                  <a:srgbClr val="D0180A"/>
                </a:solidFill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90F2D2-4989-9915-AEE9-0BE6361552DE}"/>
                </a:ext>
              </a:extLst>
            </p:cNvPr>
            <p:cNvSpPr/>
            <p:nvPr/>
          </p:nvSpPr>
          <p:spPr>
            <a:xfrm>
              <a:off x="6922733" y="3315677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006D70"/>
                  </a:solidFill>
                </a:rPr>
                <a:t>y</a:t>
              </a:r>
              <a:endParaRPr lang="en-US" noProof="0" dirty="0">
                <a:solidFill>
                  <a:srgbClr val="006D70"/>
                </a:solidFill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1AD3404-5215-080D-0E2D-0FFFCD2E1050}"/>
                </a:ext>
              </a:extLst>
            </p:cNvPr>
            <p:cNvCxnSpPr>
              <a:stCxn id="8" idx="6"/>
              <a:endCxn id="9" idx="2"/>
            </p:cNvCxnSpPr>
            <p:nvPr/>
          </p:nvCxnSpPr>
          <p:spPr>
            <a:xfrm>
              <a:off x="4791353" y="3495677"/>
              <a:ext cx="21313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93C816C-89E3-9265-8D57-0FB762857883}"/>
                </a:ext>
              </a:extLst>
            </p:cNvPr>
            <p:cNvSpPr txBox="1"/>
            <p:nvPr/>
          </p:nvSpPr>
          <p:spPr>
            <a:xfrm>
              <a:off x="2915038" y="3306345"/>
              <a:ext cx="1515809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de-DE" noProof="0" dirty="0">
                  <a:solidFill>
                    <a:srgbClr val="D0180A"/>
                  </a:solidFill>
                </a:rPr>
                <a:t>u</a:t>
              </a:r>
              <a:r>
                <a:rPr lang="en-SE" noProof="0" dirty="0">
                  <a:solidFill>
                    <a:srgbClr val="D0180A"/>
                  </a:solidFill>
                </a:rPr>
                <a:t>se of GenAI</a:t>
              </a:r>
              <a:endParaRPr lang="en-US" noProof="0" dirty="0">
                <a:solidFill>
                  <a:srgbClr val="D0180A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BF15FD8-BE52-CDAC-782A-1B493D417D7B}"/>
                </a:ext>
              </a:extLst>
            </p:cNvPr>
            <p:cNvSpPr txBox="1"/>
            <p:nvPr/>
          </p:nvSpPr>
          <p:spPr>
            <a:xfrm>
              <a:off x="7240496" y="3295434"/>
              <a:ext cx="13629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noProof="0" dirty="0">
                  <a:solidFill>
                    <a:srgbClr val="006D70"/>
                  </a:solidFill>
                </a:rPr>
                <a:t>productivity</a:t>
              </a:r>
              <a:endParaRPr lang="en-US" noProof="0" dirty="0">
                <a:solidFill>
                  <a:srgbClr val="006D70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A49F981-F2B7-D988-1FD6-A2655988705C}"/>
                </a:ext>
              </a:extLst>
            </p:cNvPr>
            <p:cNvSpPr/>
            <p:nvPr/>
          </p:nvSpPr>
          <p:spPr>
            <a:xfrm>
              <a:off x="5616222" y="4081998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</a:t>
              </a:r>
              <a:endParaRPr lang="en-US" noProof="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51CE255-9C23-4686-3AFB-C5A0284AC58B}"/>
                </a:ext>
              </a:extLst>
            </p:cNvPr>
            <p:cNvSpPr txBox="1"/>
            <p:nvPr/>
          </p:nvSpPr>
          <p:spPr>
            <a:xfrm>
              <a:off x="5967363" y="4072666"/>
              <a:ext cx="12462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motivation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048A3ADA-AD0A-77FF-5C86-5928989DB94C}"/>
                </a:ext>
              </a:extLst>
            </p:cNvPr>
            <p:cNvCxnSpPr>
              <a:cxnSpLocks/>
              <a:stCxn id="13" idx="7"/>
              <a:endCxn id="9" idx="3"/>
            </p:cNvCxnSpPr>
            <p:nvPr/>
          </p:nvCxnSpPr>
          <p:spPr>
            <a:xfrm flipV="1">
              <a:off x="5923501" y="3622956"/>
              <a:ext cx="1051953" cy="5117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37823BC-C723-8B38-8244-B847C37496A8}"/>
                </a:ext>
              </a:extLst>
            </p:cNvPr>
            <p:cNvCxnSpPr>
              <a:cxnSpLocks/>
              <a:stCxn id="13" idx="1"/>
              <a:endCxn id="8" idx="5"/>
            </p:cNvCxnSpPr>
            <p:nvPr/>
          </p:nvCxnSpPr>
          <p:spPr>
            <a:xfrm flipH="1" flipV="1">
              <a:off x="4738632" y="3622956"/>
              <a:ext cx="930311" cy="5117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784EACF-8DBE-4514-4513-3C0393A1A102}"/>
              </a:ext>
            </a:extLst>
          </p:cNvPr>
          <p:cNvSpPr txBox="1">
            <a:spLocks/>
          </p:cNvSpPr>
          <p:nvPr/>
        </p:nvSpPr>
        <p:spPr>
          <a:xfrm>
            <a:off x="838198" y="4817909"/>
            <a:ext cx="10515600" cy="1358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E" dirty="0"/>
              <a:t>In such a case, we would only be able to detect a </a:t>
            </a:r>
            <a:r>
              <a:rPr lang="en-SE" b="1" dirty="0"/>
              <a:t>spurious association</a:t>
            </a:r>
            <a:r>
              <a:rPr lang="en-SE" dirty="0"/>
              <a:t> between the use of GenAI and productivity, but never the </a:t>
            </a:r>
            <a:r>
              <a:rPr lang="en-SE" b="1" dirty="0"/>
              <a:t>true causal </a:t>
            </a:r>
            <a:r>
              <a:rPr lang="en-SE" dirty="0"/>
              <a:t>effect.</a:t>
            </a:r>
          </a:p>
        </p:txBody>
      </p:sp>
    </p:spTree>
    <p:extLst>
      <p:ext uri="{BB962C8B-B14F-4D97-AF65-F5344CB8AC3E}">
        <p14:creationId xmlns:p14="http://schemas.microsoft.com/office/powerpoint/2010/main" val="3614315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54268F8-E644-5D0F-4EF7-394F9AA1C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Experimentation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E5CF0F5-FFC9-36C7-E948-AC00F3B4B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Controlling Away Confounding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A2AB1-D1F5-788A-3798-EF6A7B488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DC714-F58D-CB9D-C269-F2EAF27A3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F9C09-C817-6182-09AA-2A2CBDCEA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49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264707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39B11-9B07-0959-FF10-ACB9AFFB5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Controlled 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67D00-4F54-2A13-FFDE-A4DCE4757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51435"/>
            <a:ext cx="10515600" cy="1139514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You as the experimenter exert </a:t>
            </a:r>
            <a:r>
              <a:rPr lang="en-SE" b="1" dirty="0"/>
              <a:t>control </a:t>
            </a:r>
            <a:r>
              <a:rPr lang="en-SE" dirty="0"/>
              <a:t>by assigning the (levels of the) exposure to the subjects of the study yourself.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270CC-9592-3289-8D38-F054C344E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4EC74-2EFF-77DA-5EDE-9D3D5B394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A0A25-1184-6C02-CBD3-6A82D7AB7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50</a:t>
            </a:fld>
            <a:endParaRPr lang="en-SE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7C8B700-2774-2C3C-DDCD-50363679CFA7}"/>
              </a:ext>
            </a:extLst>
          </p:cNvPr>
          <p:cNvGrpSpPr/>
          <p:nvPr/>
        </p:nvGrpSpPr>
        <p:grpSpPr>
          <a:xfrm>
            <a:off x="1185218" y="1792664"/>
            <a:ext cx="9821563" cy="1139513"/>
            <a:chOff x="775411" y="5063248"/>
            <a:chExt cx="9821563" cy="1139513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CBF1532-1208-30B7-2AF6-65E75EB159A8}"/>
                </a:ext>
              </a:extLst>
            </p:cNvPr>
            <p:cNvSpPr/>
            <p:nvPr/>
          </p:nvSpPr>
          <p:spPr>
            <a:xfrm>
              <a:off x="775411" y="5063248"/>
              <a:ext cx="9821563" cy="1139513"/>
            </a:xfrm>
            <a:prstGeom prst="round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12000" rtlCol="0" anchor="ctr"/>
            <a:lstStyle/>
            <a:p>
              <a:r>
                <a:rPr lang="en-SE" sz="2800" dirty="0"/>
                <a:t>A controlled experiment is a research method defined by its </a:t>
              </a:r>
              <a:r>
                <a:rPr lang="en-SE" sz="2800" b="1" dirty="0"/>
                <a:t>random treatment </a:t>
              </a:r>
              <a:r>
                <a:rPr lang="en-SE" sz="2800" dirty="0"/>
                <a:t>(=exposure)</a:t>
              </a:r>
              <a:r>
                <a:rPr lang="en-SE" sz="2800" b="1" dirty="0"/>
                <a:t> assignment strategy</a:t>
              </a:r>
              <a:r>
                <a:rPr lang="en-SE" sz="2800" dirty="0"/>
                <a:t>.</a:t>
              </a:r>
              <a:endParaRPr lang="en-US" sz="2800" baseline="30000" noProof="0" dirty="0"/>
            </a:p>
          </p:txBody>
        </p:sp>
        <p:pic>
          <p:nvPicPr>
            <p:cNvPr id="12" name="Graphic 11" descr="Open quotation mark with solid fill">
              <a:extLst>
                <a:ext uri="{FF2B5EF4-FFF2-40B4-BE49-F238E27FC236}">
                  <a16:creationId xmlns:a16="http://schemas.microsoft.com/office/drawing/2014/main" id="{CC3E0D9F-C7D8-00CE-3FBE-2E5820CB7D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775411" y="5273004"/>
              <a:ext cx="720000" cy="720000"/>
            </a:xfrm>
            <a:prstGeom prst="rect">
              <a:avLst/>
            </a:prstGeom>
          </p:spPr>
        </p:pic>
      </p:grpSp>
      <p:pic>
        <p:nvPicPr>
          <p:cNvPr id="8" name="Graphic 7" descr="Users with solid fill">
            <a:extLst>
              <a:ext uri="{FF2B5EF4-FFF2-40B4-BE49-F238E27FC236}">
                <a16:creationId xmlns:a16="http://schemas.microsoft.com/office/drawing/2014/main" id="{78241C77-A09E-FE33-0383-7F2C98E85E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09800" y="4290949"/>
            <a:ext cx="914400" cy="914400"/>
          </a:xfrm>
          <a:prstGeom prst="rect">
            <a:avLst/>
          </a:prstGeom>
        </p:spPr>
      </p:pic>
      <p:pic>
        <p:nvPicPr>
          <p:cNvPr id="9" name="Graphic 8" descr="Users with solid fill">
            <a:extLst>
              <a:ext uri="{FF2B5EF4-FFF2-40B4-BE49-F238E27FC236}">
                <a16:creationId xmlns:a16="http://schemas.microsoft.com/office/drawing/2014/main" id="{9673D427-7EE2-3AF2-FBAB-2F080CEB92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09800" y="5205349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49CC216-8813-CDCD-F15F-91AFF56FD8DE}"/>
              </a:ext>
            </a:extLst>
          </p:cNvPr>
          <p:cNvSpPr txBox="1"/>
          <p:nvPr/>
        </p:nvSpPr>
        <p:spPr>
          <a:xfrm>
            <a:off x="3298092" y="4563483"/>
            <a:ext cx="1601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dirty="0"/>
              <a:t>Control Group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59CFBD-14BF-998C-B71B-057569C460D6}"/>
              </a:ext>
            </a:extLst>
          </p:cNvPr>
          <p:cNvSpPr txBox="1"/>
          <p:nvPr/>
        </p:nvSpPr>
        <p:spPr>
          <a:xfrm>
            <a:off x="3298092" y="5477883"/>
            <a:ext cx="1866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dirty="0"/>
              <a:t>Treatment Group</a:t>
            </a:r>
          </a:p>
        </p:txBody>
      </p:sp>
      <p:pic>
        <p:nvPicPr>
          <p:cNvPr id="16" name="Graphic 15" descr="Bar chart with solid fill">
            <a:extLst>
              <a:ext uri="{FF2B5EF4-FFF2-40B4-BE49-F238E27FC236}">
                <a16:creationId xmlns:a16="http://schemas.microsoft.com/office/drawing/2014/main" id="{6474600C-0736-0D6A-09B8-A5769A2165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65011" y="4748149"/>
            <a:ext cx="914400" cy="914400"/>
          </a:xfrm>
          <a:prstGeom prst="rect">
            <a:avLst/>
          </a:prstGeom>
        </p:spPr>
      </p:pic>
      <p:pic>
        <p:nvPicPr>
          <p:cNvPr id="18" name="Graphic 17" descr="Stopwatch with solid fill">
            <a:extLst>
              <a:ext uri="{FF2B5EF4-FFF2-40B4-BE49-F238E27FC236}">
                <a16:creationId xmlns:a16="http://schemas.microsoft.com/office/drawing/2014/main" id="{388E4B35-93A0-1DB4-856E-257E8EB257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3295" y="4748149"/>
            <a:ext cx="914400" cy="914400"/>
          </a:xfrm>
          <a:prstGeom prst="rect">
            <a:avLst/>
          </a:prstGeom>
        </p:spPr>
      </p:pic>
      <p:pic>
        <p:nvPicPr>
          <p:cNvPr id="20" name="Graphic 19" descr="Mining tools with solid fill">
            <a:extLst>
              <a:ext uri="{FF2B5EF4-FFF2-40B4-BE49-F238E27FC236}">
                <a16:creationId xmlns:a16="http://schemas.microsoft.com/office/drawing/2014/main" id="{BB4B27DD-3AA4-D786-93EC-5D7D47A80B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41579" y="4748149"/>
            <a:ext cx="914400" cy="9144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9F529CA-47EA-ED4F-96CE-B4EE7A63F1A6}"/>
              </a:ext>
            </a:extLst>
          </p:cNvPr>
          <p:cNvSpPr txBox="1"/>
          <p:nvPr/>
        </p:nvSpPr>
        <p:spPr>
          <a:xfrm>
            <a:off x="5783124" y="4350632"/>
            <a:ext cx="625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E" dirty="0"/>
              <a:t>Task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7070B9-5BF5-5CBA-EC79-C37800B27746}"/>
              </a:ext>
            </a:extLst>
          </p:cNvPr>
          <p:cNvSpPr txBox="1"/>
          <p:nvPr/>
        </p:nvSpPr>
        <p:spPr>
          <a:xfrm>
            <a:off x="7125633" y="4340608"/>
            <a:ext cx="1569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E" dirty="0"/>
              <a:t>Measurement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E3031D-18E6-F7B5-BD9A-5C00BF59F198}"/>
              </a:ext>
            </a:extLst>
          </p:cNvPr>
          <p:cNvSpPr txBox="1"/>
          <p:nvPr/>
        </p:nvSpPr>
        <p:spPr>
          <a:xfrm>
            <a:off x="9012723" y="4325541"/>
            <a:ext cx="1418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E" dirty="0"/>
              <a:t>Comparison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481F87F-0F97-3B56-1FCF-8852D75EAF7C}"/>
              </a:ext>
            </a:extLst>
          </p:cNvPr>
          <p:cNvCxnSpPr>
            <a:cxnSpLocks/>
            <a:stCxn id="20" idx="3"/>
            <a:endCxn id="18" idx="1"/>
          </p:cNvCxnSpPr>
          <p:nvPr/>
        </p:nvCxnSpPr>
        <p:spPr>
          <a:xfrm>
            <a:off x="6555979" y="5205349"/>
            <a:ext cx="897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13D7097-0B85-E8E8-72A0-2B4D346B4ACC}"/>
              </a:ext>
            </a:extLst>
          </p:cNvPr>
          <p:cNvCxnSpPr>
            <a:cxnSpLocks/>
            <a:stCxn id="18" idx="3"/>
            <a:endCxn id="16" idx="1"/>
          </p:cNvCxnSpPr>
          <p:nvPr/>
        </p:nvCxnSpPr>
        <p:spPr>
          <a:xfrm>
            <a:off x="8367695" y="5205349"/>
            <a:ext cx="8973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2CC480E-45E5-D49E-56B8-489067C53C64}"/>
              </a:ext>
            </a:extLst>
          </p:cNvPr>
          <p:cNvCxnSpPr>
            <a:cxnSpLocks/>
            <a:stCxn id="13" idx="3"/>
            <a:endCxn id="20" idx="1"/>
          </p:cNvCxnSpPr>
          <p:nvPr/>
        </p:nvCxnSpPr>
        <p:spPr>
          <a:xfrm>
            <a:off x="4899941" y="4748149"/>
            <a:ext cx="741638" cy="457200"/>
          </a:xfrm>
          <a:prstGeom prst="bentConnector3">
            <a:avLst>
              <a:gd name="adj1" fmla="val 6791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2BB9BFE-88D8-097A-0F24-42276F5233BD}"/>
              </a:ext>
            </a:extLst>
          </p:cNvPr>
          <p:cNvCxnSpPr>
            <a:cxnSpLocks/>
            <a:stCxn id="14" idx="3"/>
            <a:endCxn id="20" idx="1"/>
          </p:cNvCxnSpPr>
          <p:nvPr/>
        </p:nvCxnSpPr>
        <p:spPr>
          <a:xfrm flipV="1">
            <a:off x="5164821" y="5205349"/>
            <a:ext cx="476758" cy="4572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4856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3" grpId="0"/>
      <p:bldP spid="14" grpId="0"/>
      <p:bldP spid="21" grpId="0"/>
      <p:bldP spid="22" grpId="0"/>
      <p:bldP spid="2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7537E-3427-F016-515E-3D080F8E4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Distinguishing Study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23E70-591B-5553-AD9B-A412E5DC8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28214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The causal DAG also reveals controlled vs. observational studies: a controlled study is indicated by a DAG where no variable affects the exposure.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049A2-B81E-6848-EA0D-69D5BD1C9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07CD19-9C3E-5446-EF02-9FB0DDF46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51</a:t>
            </a:fld>
            <a:endParaRPr lang="en-SE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CF4C04A-F14B-AEE2-E7A1-09D4763D6B2D}"/>
              </a:ext>
            </a:extLst>
          </p:cNvPr>
          <p:cNvGrpSpPr/>
          <p:nvPr/>
        </p:nvGrpSpPr>
        <p:grpSpPr>
          <a:xfrm>
            <a:off x="838198" y="3388776"/>
            <a:ext cx="4886351" cy="2332928"/>
            <a:chOff x="2956199" y="2256901"/>
            <a:chExt cx="4886351" cy="2332928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1483689-0BDD-E344-DB34-CDC2A01C2061}"/>
                </a:ext>
              </a:extLst>
            </p:cNvPr>
            <p:cNvSpPr/>
            <p:nvPr/>
          </p:nvSpPr>
          <p:spPr>
            <a:xfrm>
              <a:off x="4431353" y="3315677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D0180A"/>
                  </a:solidFill>
                </a:rPr>
                <a:t>x</a:t>
              </a:r>
              <a:endParaRPr lang="en-US" noProof="0" dirty="0">
                <a:solidFill>
                  <a:srgbClr val="D0180A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CD7F279-BA36-5684-B017-16364DAADDB6}"/>
                </a:ext>
              </a:extLst>
            </p:cNvPr>
            <p:cNvSpPr/>
            <p:nvPr/>
          </p:nvSpPr>
          <p:spPr>
            <a:xfrm>
              <a:off x="6922733" y="3315677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006D70"/>
                  </a:solidFill>
                </a:rPr>
                <a:t>y</a:t>
              </a:r>
              <a:endParaRPr lang="en-US" noProof="0" dirty="0">
                <a:solidFill>
                  <a:srgbClr val="006D70"/>
                </a:solidFill>
              </a:endParaRP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99C7368-81B3-1B41-0A56-8A7E3A377836}"/>
                </a:ext>
              </a:extLst>
            </p:cNvPr>
            <p:cNvCxnSpPr>
              <a:stCxn id="7" idx="6"/>
              <a:endCxn id="8" idx="2"/>
            </p:cNvCxnSpPr>
            <p:nvPr/>
          </p:nvCxnSpPr>
          <p:spPr>
            <a:xfrm>
              <a:off x="4791353" y="3495677"/>
              <a:ext cx="21313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D4F86C6-8BD2-9B58-7AC2-38C2E7F3D463}"/>
                </a:ext>
              </a:extLst>
            </p:cNvPr>
            <p:cNvSpPr txBox="1"/>
            <p:nvPr/>
          </p:nvSpPr>
          <p:spPr>
            <a:xfrm>
              <a:off x="3431946" y="3172511"/>
              <a:ext cx="9907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de-DE" noProof="0" dirty="0">
                  <a:solidFill>
                    <a:srgbClr val="D0180A"/>
                  </a:solidFill>
                </a:rPr>
                <a:t>u</a:t>
              </a:r>
              <a:r>
                <a:rPr lang="en-SE" noProof="0" dirty="0">
                  <a:solidFill>
                    <a:srgbClr val="D0180A"/>
                  </a:solidFill>
                </a:rPr>
                <a:t>se of GenAI</a:t>
              </a:r>
              <a:endParaRPr lang="en-US" noProof="0" dirty="0">
                <a:solidFill>
                  <a:srgbClr val="D0180A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041CBCA-6C1A-427A-DAAB-93E0AF3E95C8}"/>
                </a:ext>
              </a:extLst>
            </p:cNvPr>
            <p:cNvSpPr txBox="1"/>
            <p:nvPr/>
          </p:nvSpPr>
          <p:spPr>
            <a:xfrm>
              <a:off x="6479613" y="3735103"/>
              <a:ext cx="13629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noProof="0" dirty="0">
                  <a:solidFill>
                    <a:srgbClr val="006D70"/>
                  </a:solidFill>
                </a:rPr>
                <a:t>productivity</a:t>
              </a:r>
              <a:endParaRPr lang="en-US" noProof="0" dirty="0">
                <a:solidFill>
                  <a:srgbClr val="006D70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464040D-2623-69D4-0AD4-70AE3FC18284}"/>
                </a:ext>
              </a:extLst>
            </p:cNvPr>
            <p:cNvSpPr/>
            <p:nvPr/>
          </p:nvSpPr>
          <p:spPr>
            <a:xfrm>
              <a:off x="4431353" y="4091330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z</a:t>
              </a:r>
              <a:endParaRPr lang="en-US" noProof="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00F527C-ED49-FD7B-799E-48DB77636204}"/>
                </a:ext>
              </a:extLst>
            </p:cNvPr>
            <p:cNvSpPr/>
            <p:nvPr/>
          </p:nvSpPr>
          <p:spPr>
            <a:xfrm>
              <a:off x="5676494" y="4091330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</a:t>
              </a:r>
              <a:endParaRPr lang="en-US" noProof="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60633A6-5831-AF57-08BC-55EE1204E33F}"/>
                </a:ext>
              </a:extLst>
            </p:cNvPr>
            <p:cNvSpPr txBox="1"/>
            <p:nvPr/>
          </p:nvSpPr>
          <p:spPr>
            <a:xfrm>
              <a:off x="6036494" y="4081998"/>
              <a:ext cx="12462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motivation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6AD94B4-C051-099F-5E30-7988765BD9E1}"/>
                </a:ext>
              </a:extLst>
            </p:cNvPr>
            <p:cNvSpPr txBox="1"/>
            <p:nvPr/>
          </p:nvSpPr>
          <p:spPr>
            <a:xfrm>
              <a:off x="2956199" y="3943498"/>
              <a:ext cx="143238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SE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GenAI experience</a:t>
              </a:r>
              <a:endParaRPr lang="en-US" noProof="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33A48F5-EF43-4DDB-4710-E95ECF6B88AB}"/>
                </a:ext>
              </a:extLst>
            </p:cNvPr>
            <p:cNvCxnSpPr>
              <a:cxnSpLocks/>
              <a:stCxn id="13" idx="7"/>
              <a:endCxn id="8" idx="3"/>
            </p:cNvCxnSpPr>
            <p:nvPr/>
          </p:nvCxnSpPr>
          <p:spPr>
            <a:xfrm flipV="1">
              <a:off x="5983773" y="3622956"/>
              <a:ext cx="991681" cy="5210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D0DC7DF-AF5B-F9A2-78AC-54FDB501E6A7}"/>
                </a:ext>
              </a:extLst>
            </p:cNvPr>
            <p:cNvCxnSpPr>
              <a:cxnSpLocks/>
              <a:stCxn id="13" idx="2"/>
              <a:endCxn id="12" idx="6"/>
            </p:cNvCxnSpPr>
            <p:nvPr/>
          </p:nvCxnSpPr>
          <p:spPr>
            <a:xfrm flipH="1">
              <a:off x="4791353" y="4271330"/>
              <a:ext cx="88514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6AA6BE2-3F3B-4B61-2429-604D29336792}"/>
                </a:ext>
              </a:extLst>
            </p:cNvPr>
            <p:cNvCxnSpPr>
              <a:cxnSpLocks/>
              <a:stCxn id="12" idx="0"/>
              <a:endCxn id="7" idx="4"/>
            </p:cNvCxnSpPr>
            <p:nvPr/>
          </p:nvCxnSpPr>
          <p:spPr>
            <a:xfrm flipV="1">
              <a:off x="4611353" y="3675677"/>
              <a:ext cx="0" cy="41565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D848CA0-C724-D98F-5216-373095A61E5F}"/>
                </a:ext>
              </a:extLst>
            </p:cNvPr>
            <p:cNvCxnSpPr>
              <a:cxnSpLocks/>
              <a:stCxn id="13" idx="1"/>
              <a:endCxn id="7" idx="5"/>
            </p:cNvCxnSpPr>
            <p:nvPr/>
          </p:nvCxnSpPr>
          <p:spPr>
            <a:xfrm flipH="1" flipV="1">
              <a:off x="4738632" y="3622956"/>
              <a:ext cx="990583" cy="5210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B2222C6-A834-E80F-0DF5-C6A1B7B89948}"/>
                </a:ext>
              </a:extLst>
            </p:cNvPr>
            <p:cNvSpPr/>
            <p:nvPr/>
          </p:nvSpPr>
          <p:spPr>
            <a:xfrm>
              <a:off x="5676668" y="2526255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b</a:t>
              </a:r>
              <a:endParaRPr lang="en-US" noProof="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B9867DE-4557-0A8D-3651-E95B0FA9FE04}"/>
                </a:ext>
              </a:extLst>
            </p:cNvPr>
            <p:cNvSpPr txBox="1"/>
            <p:nvPr/>
          </p:nvSpPr>
          <p:spPr>
            <a:xfrm>
              <a:off x="6045317" y="2256901"/>
              <a:ext cx="15348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E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IDE’s user experience</a:t>
              </a:r>
              <a:endParaRPr lang="en-US" noProof="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BAA977B7-AD67-218B-C976-35B5D7ABB2A2}"/>
                </a:ext>
              </a:extLst>
            </p:cNvPr>
            <p:cNvCxnSpPr>
              <a:cxnSpLocks/>
              <a:stCxn id="7" idx="7"/>
              <a:endCxn id="20" idx="3"/>
            </p:cNvCxnSpPr>
            <p:nvPr/>
          </p:nvCxnSpPr>
          <p:spPr>
            <a:xfrm flipV="1">
              <a:off x="4738632" y="2833534"/>
              <a:ext cx="990757" cy="53486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93DC74B-E94A-D1D9-9C51-61A812413565}"/>
                </a:ext>
              </a:extLst>
            </p:cNvPr>
            <p:cNvCxnSpPr>
              <a:cxnSpLocks/>
              <a:stCxn id="20" idx="5"/>
              <a:endCxn id="8" idx="1"/>
            </p:cNvCxnSpPr>
            <p:nvPr/>
          </p:nvCxnSpPr>
          <p:spPr>
            <a:xfrm>
              <a:off x="5983947" y="2833534"/>
              <a:ext cx="991507" cy="53486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6CAA08E-B0DB-242A-5267-96DE4158F592}"/>
              </a:ext>
            </a:extLst>
          </p:cNvPr>
          <p:cNvGrpSpPr/>
          <p:nvPr/>
        </p:nvGrpSpPr>
        <p:grpSpPr>
          <a:xfrm>
            <a:off x="5991704" y="3333809"/>
            <a:ext cx="4886351" cy="2332928"/>
            <a:chOff x="2956199" y="2256901"/>
            <a:chExt cx="4886351" cy="2332928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11F2682-230C-819B-D15D-88285F4C46A8}"/>
                </a:ext>
              </a:extLst>
            </p:cNvPr>
            <p:cNvSpPr/>
            <p:nvPr/>
          </p:nvSpPr>
          <p:spPr>
            <a:xfrm>
              <a:off x="4431353" y="3315677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D0180A"/>
                  </a:solidFill>
                </a:rPr>
                <a:t>x</a:t>
              </a:r>
              <a:endParaRPr lang="en-US" noProof="0" dirty="0">
                <a:solidFill>
                  <a:srgbClr val="D0180A"/>
                </a:solidFill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230E7AB-3CBD-54CC-4262-23ACEB691A81}"/>
                </a:ext>
              </a:extLst>
            </p:cNvPr>
            <p:cNvSpPr/>
            <p:nvPr/>
          </p:nvSpPr>
          <p:spPr>
            <a:xfrm>
              <a:off x="6922733" y="3315677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006D70"/>
                  </a:solidFill>
                </a:rPr>
                <a:t>y</a:t>
              </a:r>
              <a:endParaRPr lang="en-US" noProof="0" dirty="0">
                <a:solidFill>
                  <a:srgbClr val="006D70"/>
                </a:solidFill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7AA5C89-CC06-6E9E-8AE3-4F6ED331090E}"/>
                </a:ext>
              </a:extLst>
            </p:cNvPr>
            <p:cNvCxnSpPr>
              <a:stCxn id="25" idx="6"/>
              <a:endCxn id="26" idx="2"/>
            </p:cNvCxnSpPr>
            <p:nvPr/>
          </p:nvCxnSpPr>
          <p:spPr>
            <a:xfrm>
              <a:off x="4791353" y="3495677"/>
              <a:ext cx="21313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431242D-76A9-BC4B-F6EC-D0A49068FE75}"/>
                </a:ext>
              </a:extLst>
            </p:cNvPr>
            <p:cNvSpPr txBox="1"/>
            <p:nvPr/>
          </p:nvSpPr>
          <p:spPr>
            <a:xfrm>
              <a:off x="3431946" y="3172511"/>
              <a:ext cx="9907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de-DE" noProof="0" dirty="0">
                  <a:solidFill>
                    <a:srgbClr val="D0180A"/>
                  </a:solidFill>
                </a:rPr>
                <a:t>u</a:t>
              </a:r>
              <a:r>
                <a:rPr lang="en-SE" noProof="0" dirty="0">
                  <a:solidFill>
                    <a:srgbClr val="D0180A"/>
                  </a:solidFill>
                </a:rPr>
                <a:t>se of GenAI</a:t>
              </a:r>
              <a:endParaRPr lang="en-US" noProof="0" dirty="0">
                <a:solidFill>
                  <a:srgbClr val="D0180A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11CBDFB-2BBA-3645-F76E-BE9941E89F99}"/>
                </a:ext>
              </a:extLst>
            </p:cNvPr>
            <p:cNvSpPr txBox="1"/>
            <p:nvPr/>
          </p:nvSpPr>
          <p:spPr>
            <a:xfrm>
              <a:off x="6479613" y="3735103"/>
              <a:ext cx="13629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SE" noProof="0" dirty="0">
                  <a:solidFill>
                    <a:srgbClr val="006D70"/>
                  </a:solidFill>
                </a:rPr>
                <a:t>productivity</a:t>
              </a:r>
              <a:endParaRPr lang="en-US" noProof="0" dirty="0">
                <a:solidFill>
                  <a:srgbClr val="006D70"/>
                </a:solidFill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733D609-1D33-7A7C-94D9-E2C3D32F0C4D}"/>
                </a:ext>
              </a:extLst>
            </p:cNvPr>
            <p:cNvSpPr/>
            <p:nvPr/>
          </p:nvSpPr>
          <p:spPr>
            <a:xfrm>
              <a:off x="4431353" y="4091330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z</a:t>
              </a:r>
              <a:endParaRPr lang="en-US" noProof="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1853537-7B68-BBC9-536B-42C0A33EC3E9}"/>
                </a:ext>
              </a:extLst>
            </p:cNvPr>
            <p:cNvSpPr/>
            <p:nvPr/>
          </p:nvSpPr>
          <p:spPr>
            <a:xfrm>
              <a:off x="5676494" y="4091330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</a:t>
              </a:r>
              <a:endParaRPr lang="en-US" noProof="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87BD452-F7E9-5A04-AF17-C50DDC292336}"/>
                </a:ext>
              </a:extLst>
            </p:cNvPr>
            <p:cNvSpPr txBox="1"/>
            <p:nvPr/>
          </p:nvSpPr>
          <p:spPr>
            <a:xfrm>
              <a:off x="6036494" y="4081998"/>
              <a:ext cx="12462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motivation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8271AFB-B9AF-61BB-6803-A86D528C4A4C}"/>
                </a:ext>
              </a:extLst>
            </p:cNvPr>
            <p:cNvSpPr txBox="1"/>
            <p:nvPr/>
          </p:nvSpPr>
          <p:spPr>
            <a:xfrm>
              <a:off x="2956199" y="3943498"/>
              <a:ext cx="143238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SE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GenAI experience</a:t>
              </a:r>
              <a:endParaRPr lang="en-US" noProof="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5A9266D6-C2A7-69EE-067F-46FFD795643D}"/>
                </a:ext>
              </a:extLst>
            </p:cNvPr>
            <p:cNvCxnSpPr>
              <a:cxnSpLocks/>
              <a:stCxn id="31" idx="7"/>
              <a:endCxn id="26" idx="3"/>
            </p:cNvCxnSpPr>
            <p:nvPr/>
          </p:nvCxnSpPr>
          <p:spPr>
            <a:xfrm flipV="1">
              <a:off x="5983773" y="3622956"/>
              <a:ext cx="991681" cy="5210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CF37FD2-3EE9-DC3A-134A-8757FAAC3650}"/>
                </a:ext>
              </a:extLst>
            </p:cNvPr>
            <p:cNvCxnSpPr>
              <a:cxnSpLocks/>
              <a:stCxn id="31" idx="2"/>
              <a:endCxn id="30" idx="6"/>
            </p:cNvCxnSpPr>
            <p:nvPr/>
          </p:nvCxnSpPr>
          <p:spPr>
            <a:xfrm flipH="1">
              <a:off x="4791353" y="4271330"/>
              <a:ext cx="88514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ABC499C-0DD7-8472-418D-6F33F753C21C}"/>
                </a:ext>
              </a:extLst>
            </p:cNvPr>
            <p:cNvSpPr/>
            <p:nvPr/>
          </p:nvSpPr>
          <p:spPr>
            <a:xfrm>
              <a:off x="5676668" y="2526255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b</a:t>
              </a:r>
              <a:endParaRPr lang="en-US" noProof="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26DF075-D5E3-EA44-6AC4-ED6D0B21E677}"/>
                </a:ext>
              </a:extLst>
            </p:cNvPr>
            <p:cNvSpPr txBox="1"/>
            <p:nvPr/>
          </p:nvSpPr>
          <p:spPr>
            <a:xfrm>
              <a:off x="6045317" y="2256901"/>
              <a:ext cx="153483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SE" noProof="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IDE’s user experience</a:t>
              </a:r>
              <a:endParaRPr lang="en-US" noProof="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F62BAA2A-58F3-B836-6EA9-30F530E48E6E}"/>
                </a:ext>
              </a:extLst>
            </p:cNvPr>
            <p:cNvCxnSpPr>
              <a:cxnSpLocks/>
              <a:stCxn id="25" idx="7"/>
              <a:endCxn id="38" idx="3"/>
            </p:cNvCxnSpPr>
            <p:nvPr/>
          </p:nvCxnSpPr>
          <p:spPr>
            <a:xfrm flipV="1">
              <a:off x="4738632" y="2833534"/>
              <a:ext cx="990757" cy="53486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8B244E67-E9F6-8923-0B0B-95EEBF4085A2}"/>
                </a:ext>
              </a:extLst>
            </p:cNvPr>
            <p:cNvCxnSpPr>
              <a:cxnSpLocks/>
              <a:stCxn id="38" idx="5"/>
              <a:endCxn id="26" idx="1"/>
            </p:cNvCxnSpPr>
            <p:nvPr/>
          </p:nvCxnSpPr>
          <p:spPr>
            <a:xfrm>
              <a:off x="5983947" y="2833534"/>
              <a:ext cx="991507" cy="53486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B11224D3-0998-88C5-D1ED-17ADE1C1E6C2}"/>
              </a:ext>
            </a:extLst>
          </p:cNvPr>
          <p:cNvSpPr txBox="1"/>
          <p:nvPr/>
        </p:nvSpPr>
        <p:spPr>
          <a:xfrm>
            <a:off x="2590999" y="3019444"/>
            <a:ext cx="2294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O</a:t>
            </a:r>
            <a:r>
              <a:rPr lang="en-SE" b="1" dirty="0" err="1"/>
              <a:t>bservational</a:t>
            </a:r>
            <a:r>
              <a:rPr lang="en-SE" b="1" dirty="0"/>
              <a:t> study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0DE906C-ED71-D486-2687-7E5F6A229AAF}"/>
              </a:ext>
            </a:extLst>
          </p:cNvPr>
          <p:cNvSpPr txBox="1"/>
          <p:nvPr/>
        </p:nvSpPr>
        <p:spPr>
          <a:xfrm>
            <a:off x="7609917" y="3019444"/>
            <a:ext cx="2564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b="1" dirty="0"/>
              <a:t>C</a:t>
            </a:r>
            <a:r>
              <a:rPr lang="en-SE" b="1" dirty="0" err="1"/>
              <a:t>ontrolled</a:t>
            </a:r>
            <a:r>
              <a:rPr lang="en-SE" b="1" dirty="0"/>
              <a:t> Experiment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FA2A5CF-C6BC-171B-315F-020C45B13CB2}"/>
              </a:ext>
            </a:extLst>
          </p:cNvPr>
          <p:cNvGrpSpPr/>
          <p:nvPr/>
        </p:nvGrpSpPr>
        <p:grpSpPr>
          <a:xfrm>
            <a:off x="838198" y="365125"/>
            <a:ext cx="1983884" cy="245531"/>
            <a:chOff x="4114799" y="3759391"/>
            <a:chExt cx="1983884" cy="1229241"/>
          </a:xfrm>
        </p:grpSpPr>
        <p:sp>
          <p:nvSpPr>
            <p:cNvPr id="48" name="Arrow: Pentagon 47">
              <a:extLst>
                <a:ext uri="{FF2B5EF4-FFF2-40B4-BE49-F238E27FC236}">
                  <a16:creationId xmlns:a16="http://schemas.microsoft.com/office/drawing/2014/main" id="{E2560821-4B7C-F71C-895D-B871C584B444}"/>
                </a:ext>
              </a:extLst>
            </p:cNvPr>
            <p:cNvSpPr/>
            <p:nvPr/>
          </p:nvSpPr>
          <p:spPr>
            <a:xfrm>
              <a:off x="4114799" y="3759391"/>
              <a:ext cx="794039" cy="1229241"/>
            </a:xfrm>
            <a:prstGeom prst="homePlat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/>
                <a:t>Theory</a:t>
              </a:r>
            </a:p>
          </p:txBody>
        </p:sp>
        <p:sp>
          <p:nvSpPr>
            <p:cNvPr id="49" name="Arrow: Chevron 48">
              <a:extLst>
                <a:ext uri="{FF2B5EF4-FFF2-40B4-BE49-F238E27FC236}">
                  <a16:creationId xmlns:a16="http://schemas.microsoft.com/office/drawing/2014/main" id="{D5DD8EFB-63D0-EF62-85B1-C205A0C00604}"/>
                </a:ext>
              </a:extLst>
            </p:cNvPr>
            <p:cNvSpPr/>
            <p:nvPr/>
          </p:nvSpPr>
          <p:spPr>
            <a:xfrm>
              <a:off x="4843616" y="3759391"/>
              <a:ext cx="1255067" cy="1229241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>
                  <a:solidFill>
                    <a:schemeClr val="tx1"/>
                  </a:solidFill>
                </a:rPr>
                <a:t>Use Case</a:t>
              </a:r>
            </a:p>
          </p:txBody>
        </p:sp>
      </p:grpSp>
      <p:sp>
        <p:nvSpPr>
          <p:cNvPr id="36" name="Footer Placeholder 35">
            <a:extLst>
              <a:ext uri="{FF2B5EF4-FFF2-40B4-BE49-F238E27FC236}">
                <a16:creationId xmlns:a16="http://schemas.microsoft.com/office/drawing/2014/main" id="{301AC45A-71A4-854C-FB38-CB51F4C06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658936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7EFC8-0342-6EC7-7DC5-B0D65AEFF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Controlled Experiments in Software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A9821-51E2-4F01-01DD-39CE587AA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E" dirty="0"/>
              <a:t>Software engineers use controlled experiments at several occasions, for example:</a:t>
            </a:r>
          </a:p>
          <a:p>
            <a:r>
              <a:rPr lang="en-SE" dirty="0"/>
              <a:t>A/B testing versions of a user interface</a:t>
            </a:r>
          </a:p>
          <a:p>
            <a:r>
              <a:rPr lang="en-SE" dirty="0"/>
              <a:t>Comparing configurations of ML models</a:t>
            </a:r>
          </a:p>
          <a:p>
            <a:r>
              <a:rPr lang="en-SE" dirty="0"/>
              <a:t>...</a:t>
            </a:r>
          </a:p>
          <a:p>
            <a:pPr marL="0" indent="0">
              <a:buNone/>
            </a:pPr>
            <a:r>
              <a:rPr lang="en-SE" dirty="0"/>
              <a:t>The internal validity of controlled experiments makes them very </a:t>
            </a:r>
            <a:r>
              <a:rPr lang="en-SE" b="1" dirty="0"/>
              <a:t>reliable sources of causal insights.</a:t>
            </a:r>
            <a:r>
              <a:rPr lang="en-SE" dirty="0"/>
              <a:t> So why are we not using experiments all of the time?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80157-151A-CEE1-56EA-458193DED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5533A-17BB-B83C-0BC7-2FF24834A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1916D-F789-3576-DF99-4BE03EE71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52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6550071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10899-CA5E-97F7-0BF6-80C898FB5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B20C5-3BA5-EFBE-2968-6EEFD4C65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Limitations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28403-CB82-BE9C-2E8E-CB36EB3AA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766B8-89ED-5B08-DD86-483A7A291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32B94-99BD-C5C3-0E86-C7C20C0F8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53</a:t>
            </a:fld>
            <a:endParaRPr lang="en-S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E104526-10A7-6822-28A6-E4E304792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en-SE" noProof="0" dirty="0"/>
              <a:t>There are several reasons why we cannot investigate every phenomenon with a controlled experiment, as they are</a:t>
            </a:r>
            <a:endParaRPr lang="en-US" noProof="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BFF4721-95DC-8D69-860E-49B6A8FA759A}"/>
              </a:ext>
            </a:extLst>
          </p:cNvPr>
          <p:cNvGrpSpPr/>
          <p:nvPr/>
        </p:nvGrpSpPr>
        <p:grpSpPr>
          <a:xfrm>
            <a:off x="955244" y="2922370"/>
            <a:ext cx="2403652" cy="2132630"/>
            <a:chOff x="4894174" y="3429000"/>
            <a:chExt cx="2403652" cy="213263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4895041-9BE6-9D60-1BFB-5D74090204A0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F5AE8FB-787C-D58A-585E-28558B5FFB01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2" name="Graphic 11" descr="Flying Money with solid fill">
                <a:extLst>
                  <a:ext uri="{FF2B5EF4-FFF2-40B4-BE49-F238E27FC236}">
                    <a16:creationId xmlns:a16="http://schemas.microsoft.com/office/drawing/2014/main" id="{44B1973D-FA1A-348D-C123-A72EAA6EFB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AD9775C-7FB8-CF19-FC5F-7F68B907CF1B}"/>
                </a:ext>
              </a:extLst>
            </p:cNvPr>
            <p:cNvSpPr txBox="1"/>
            <p:nvPr/>
          </p:nvSpPr>
          <p:spPr>
            <a:xfrm>
              <a:off x="4894174" y="4669078"/>
              <a:ext cx="2403652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Expensive</a:t>
              </a:r>
            </a:p>
            <a:p>
              <a:pPr algn="ctr"/>
              <a:r>
                <a:rPr lang="en-US" sz="1600" noProof="0" dirty="0"/>
                <a:t>Recruiting eligible participants is difficult 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F913634-61F6-5ACC-F045-8FB933237809}"/>
              </a:ext>
            </a:extLst>
          </p:cNvPr>
          <p:cNvGrpSpPr/>
          <p:nvPr/>
        </p:nvGrpSpPr>
        <p:grpSpPr>
          <a:xfrm>
            <a:off x="3492902" y="2922370"/>
            <a:ext cx="2403652" cy="2101852"/>
            <a:chOff x="4894174" y="3429000"/>
            <a:chExt cx="2403652" cy="2101852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F445892-D229-95B7-F24A-0282589BCB31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C5AAB11-DB5A-6E92-D60B-D83596D69C42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7" name="Graphic 16" descr="Forest scene with solid fill">
                <a:extLst>
                  <a:ext uri="{FF2B5EF4-FFF2-40B4-BE49-F238E27FC236}">
                    <a16:creationId xmlns:a16="http://schemas.microsoft.com/office/drawing/2014/main" id="{A9492C77-3B5C-60AE-0D4B-A6A6947F8A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3786039-9EC7-5727-845F-F4DE4CAC37AE}"/>
                </a:ext>
              </a:extLst>
            </p:cNvPr>
            <p:cNvSpPr txBox="1"/>
            <p:nvPr/>
          </p:nvSpPr>
          <p:spPr>
            <a:xfrm>
              <a:off x="4894174" y="4669078"/>
              <a:ext cx="2403652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Unrealistic</a:t>
              </a:r>
            </a:p>
            <a:p>
              <a:pPr algn="ctr"/>
              <a:r>
                <a:rPr lang="en-US" sz="1600" noProof="0" dirty="0"/>
                <a:t>Experiments perturb the natural context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1507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CAC90-D18B-8638-28C4-E326BAE5E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Threats to External Validity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67C01-015A-6152-2285-5FEA29567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20049"/>
            <a:ext cx="10515600" cy="2456914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External validity determines how useful results from a study are outside of its scope.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0770F-C8B1-BB74-6DDC-398D41F62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6EE3B-6EF9-268F-1267-E7EE519C7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F6A1B-0EDD-C23F-57FE-0DA46C8A7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54</a:t>
            </a:fld>
            <a:endParaRPr lang="en-S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41C2F39-5BDF-A46D-E5C6-C1F0BDC49ACB}"/>
              </a:ext>
            </a:extLst>
          </p:cNvPr>
          <p:cNvGrpSpPr/>
          <p:nvPr/>
        </p:nvGrpSpPr>
        <p:grpSpPr>
          <a:xfrm>
            <a:off x="2056539" y="1981738"/>
            <a:ext cx="8078921" cy="1447261"/>
            <a:chOff x="3108960" y="4454433"/>
            <a:chExt cx="8078921" cy="1447261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7EEE81E5-90DC-D697-7199-2FDCE9E3D57D}"/>
                </a:ext>
              </a:extLst>
            </p:cNvPr>
            <p:cNvSpPr/>
            <p:nvPr/>
          </p:nvSpPr>
          <p:spPr>
            <a:xfrm>
              <a:off x="3108960" y="4454433"/>
              <a:ext cx="8078921" cy="1447261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r>
                <a:rPr lang="en-SE" sz="2400" dirty="0">
                  <a:solidFill>
                    <a:schemeClr val="bg1"/>
                  </a:solidFill>
                </a:rPr>
                <a:t>External validity is “</a:t>
              </a:r>
              <a:r>
                <a:rPr lang="en-US" sz="2400" dirty="0"/>
                <a:t>our ability to generalize the</a:t>
              </a:r>
              <a:r>
                <a:rPr lang="en-SE" sz="2400" dirty="0"/>
                <a:t> </a:t>
              </a:r>
              <a:r>
                <a:rPr lang="en-US" sz="2400" dirty="0"/>
                <a:t>results of our experiment to industrial practice</a:t>
              </a:r>
              <a:r>
                <a:rPr lang="en-SE" sz="2400" dirty="0"/>
                <a:t>”</a:t>
              </a:r>
            </a:p>
          </p:txBody>
        </p:sp>
        <p:pic>
          <p:nvPicPr>
            <p:cNvPr id="9" name="Graphic 8" descr="Open quotation mark with solid fill">
              <a:extLst>
                <a:ext uri="{FF2B5EF4-FFF2-40B4-BE49-F238E27FC236}">
                  <a16:creationId xmlns:a16="http://schemas.microsoft.com/office/drawing/2014/main" id="{CDFD60A6-ED7E-8A93-7CCA-0497ED68B90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3124200" y="4454434"/>
              <a:ext cx="720000" cy="7200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31D385B-A077-0D79-7825-5F5E33E9004F}"/>
                </a:ext>
              </a:extLst>
            </p:cNvPr>
            <p:cNvSpPr txBox="1"/>
            <p:nvPr/>
          </p:nvSpPr>
          <p:spPr>
            <a:xfrm>
              <a:off x="3859440" y="4598333"/>
              <a:ext cx="707004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de-DE" sz="1200" dirty="0" err="1">
                  <a:solidFill>
                    <a:schemeClr val="bg1"/>
                  </a:solidFill>
                </a:rPr>
                <a:t>Wohlin</a:t>
              </a:r>
              <a:r>
                <a:rPr lang="de-DE" sz="1200" dirty="0">
                  <a:solidFill>
                    <a:schemeClr val="bg1"/>
                  </a:solidFill>
                </a:rPr>
                <a:t>, C., </a:t>
              </a:r>
              <a:r>
                <a:rPr lang="de-DE" sz="1200" dirty="0" err="1">
                  <a:solidFill>
                    <a:schemeClr val="bg1"/>
                  </a:solidFill>
                </a:rPr>
                <a:t>Runeson</a:t>
              </a:r>
              <a:r>
                <a:rPr lang="de-DE" sz="1200" dirty="0">
                  <a:solidFill>
                    <a:schemeClr val="bg1"/>
                  </a:solidFill>
                </a:rPr>
                <a:t>, P., </a:t>
              </a:r>
              <a:r>
                <a:rPr lang="de-DE" sz="1200" dirty="0" err="1">
                  <a:solidFill>
                    <a:schemeClr val="bg1"/>
                  </a:solidFill>
                </a:rPr>
                <a:t>Höst</a:t>
              </a:r>
              <a:r>
                <a:rPr lang="de-DE" sz="1200" dirty="0">
                  <a:solidFill>
                    <a:schemeClr val="bg1"/>
                  </a:solidFill>
                </a:rPr>
                <a:t>, M., </a:t>
              </a:r>
              <a:r>
                <a:rPr lang="de-DE" sz="1200" dirty="0" err="1">
                  <a:solidFill>
                    <a:schemeClr val="bg1"/>
                  </a:solidFill>
                </a:rPr>
                <a:t>Ohlsson</a:t>
              </a:r>
              <a:r>
                <a:rPr lang="de-DE" sz="1200" dirty="0">
                  <a:solidFill>
                    <a:schemeClr val="bg1"/>
                  </a:solidFill>
                </a:rPr>
                <a:t>, M. C., Regnell, B., &amp; </a:t>
              </a:r>
              <a:r>
                <a:rPr lang="de-DE" sz="1200" dirty="0" err="1">
                  <a:solidFill>
                    <a:schemeClr val="bg1"/>
                  </a:solidFill>
                </a:rPr>
                <a:t>Wesslén</a:t>
              </a:r>
              <a:r>
                <a:rPr lang="de-DE" sz="1200" dirty="0">
                  <a:solidFill>
                    <a:schemeClr val="bg1"/>
                  </a:solidFill>
                </a:rPr>
                <a:t>, A. (2012). </a:t>
              </a:r>
              <a:r>
                <a:rPr lang="de-DE" sz="1200" dirty="0" err="1">
                  <a:solidFill>
                    <a:schemeClr val="bg1"/>
                  </a:solidFill>
                </a:rPr>
                <a:t>Experimentation</a:t>
              </a:r>
              <a:r>
                <a:rPr lang="de-DE" sz="1200" dirty="0">
                  <a:solidFill>
                    <a:schemeClr val="bg1"/>
                  </a:solidFill>
                </a:rPr>
                <a:t> in </a:t>
              </a:r>
              <a:r>
                <a:rPr lang="de-DE" sz="1200" dirty="0" err="1">
                  <a:solidFill>
                    <a:schemeClr val="bg1"/>
                  </a:solidFill>
                </a:rPr>
                <a:t>software</a:t>
              </a:r>
              <a:r>
                <a:rPr lang="de-DE" sz="1200" dirty="0">
                  <a:solidFill>
                    <a:schemeClr val="bg1"/>
                  </a:solidFill>
                </a:rPr>
                <a:t> </a:t>
              </a:r>
              <a:r>
                <a:rPr lang="de-DE" sz="1200" dirty="0" err="1">
                  <a:solidFill>
                    <a:schemeClr val="bg1"/>
                  </a:solidFill>
                </a:rPr>
                <a:t>engineering</a:t>
              </a:r>
              <a:r>
                <a:rPr lang="de-DE" sz="1200" dirty="0">
                  <a:solidFill>
                    <a:schemeClr val="bg1"/>
                  </a:solidFill>
                </a:rPr>
                <a:t> (Vol. 236, p. P3). Berlin: Springer.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6577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464BC-D00E-689F-CE50-72515A6A4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Target Population and Representative Samples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0112F-5D91-5F48-D28D-2D406765E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It is impossible to study </a:t>
            </a:r>
            <a:r>
              <a:rPr lang="en-SE" i="1" dirty="0"/>
              <a:t>all</a:t>
            </a:r>
            <a:r>
              <a:rPr lang="en-SE" dirty="0"/>
              <a:t> subjects and objects of interest (i.e., the target population), so we need to </a:t>
            </a:r>
            <a:r>
              <a:rPr lang="en-SE" b="1" dirty="0"/>
              <a:t>draw a (representative) sample</a:t>
            </a:r>
            <a:r>
              <a:rPr lang="en-SE" dirty="0"/>
              <a:t> from it.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A91E0-91D3-23D5-7313-635BBFA41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 dirty="0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5FD3D-C63E-7909-93E6-80C1A7D69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err="1"/>
              <a:t>Good</a:t>
            </a:r>
            <a:r>
              <a:rPr lang="de-DE" dirty="0"/>
              <a:t> Science</a:t>
            </a:r>
            <a:endParaRPr lang="en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84003-65F8-46A7-5699-1D260FAE4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55</a:t>
            </a:fld>
            <a:endParaRPr lang="en-S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C37DAE-2C11-ACE4-5CB0-60779E8246E5}"/>
              </a:ext>
            </a:extLst>
          </p:cNvPr>
          <p:cNvSpPr/>
          <p:nvPr/>
        </p:nvSpPr>
        <p:spPr>
          <a:xfrm>
            <a:off x="3448812" y="3429000"/>
            <a:ext cx="5294376" cy="169164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943FE5-0F20-6645-5030-21A1DB001A8A}"/>
              </a:ext>
            </a:extLst>
          </p:cNvPr>
          <p:cNvSpPr txBox="1"/>
          <p:nvPr/>
        </p:nvSpPr>
        <p:spPr>
          <a:xfrm>
            <a:off x="5145323" y="2966906"/>
            <a:ext cx="1901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E" dirty="0"/>
              <a:t>Target Population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088CE3-55BA-EFBE-F2AF-B90CF0C4E1A9}"/>
              </a:ext>
            </a:extLst>
          </p:cNvPr>
          <p:cNvSpPr/>
          <p:nvPr/>
        </p:nvSpPr>
        <p:spPr>
          <a:xfrm>
            <a:off x="3569156" y="3523894"/>
            <a:ext cx="1367028" cy="754058"/>
          </a:xfrm>
          <a:prstGeom prst="rect">
            <a:avLst/>
          </a:prstGeom>
          <a:solidFill>
            <a:srgbClr val="00B49A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dirty="0"/>
              <a:t>Sample</a:t>
            </a:r>
          </a:p>
        </p:txBody>
      </p:sp>
      <p:pic>
        <p:nvPicPr>
          <p:cNvPr id="24" name="Graphic 23" descr="Document with solid fill">
            <a:extLst>
              <a:ext uri="{FF2B5EF4-FFF2-40B4-BE49-F238E27FC236}">
                <a16:creationId xmlns:a16="http://schemas.microsoft.com/office/drawing/2014/main" id="{FB4D2CCD-BD48-508C-F572-C1F2710419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95906" y="3256625"/>
            <a:ext cx="914400" cy="91440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B095E67-1648-846E-E931-A0043C808D4A}"/>
              </a:ext>
            </a:extLst>
          </p:cNvPr>
          <p:cNvCxnSpPr>
            <a:cxnSpLocks/>
            <a:stCxn id="24" idx="3"/>
            <a:endCxn id="19" idx="1"/>
          </p:cNvCxnSpPr>
          <p:nvPr/>
        </p:nvCxnSpPr>
        <p:spPr>
          <a:xfrm>
            <a:off x="3210306" y="3713825"/>
            <a:ext cx="358850" cy="187098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F51BC656-CAC3-0001-12E6-EBF4EAC4C1F5}"/>
              </a:ext>
            </a:extLst>
          </p:cNvPr>
          <p:cNvSpPr txBox="1">
            <a:spLocks/>
          </p:cNvSpPr>
          <p:nvPr/>
        </p:nvSpPr>
        <p:spPr>
          <a:xfrm>
            <a:off x="838198" y="5405465"/>
            <a:ext cx="10515600" cy="9508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E" dirty="0"/>
              <a:t>If the sample is </a:t>
            </a:r>
            <a:r>
              <a:rPr lang="en-SE" i="1" dirty="0"/>
              <a:t>representative</a:t>
            </a:r>
            <a:r>
              <a:rPr lang="en-SE" dirty="0"/>
              <a:t>, we can still infer about the target population, which is our goal.</a:t>
            </a:r>
          </a:p>
        </p:txBody>
      </p:sp>
    </p:spTree>
    <p:extLst>
      <p:ext uri="{BB962C8B-B14F-4D97-AF65-F5344CB8AC3E}">
        <p14:creationId xmlns:p14="http://schemas.microsoft.com/office/powerpoint/2010/main" val="3478219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19" grpId="0" animBg="1"/>
      <p:bldP spid="2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202E1-F45A-3338-8D3B-1B9CAEAF2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Moderation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159E7-7E1F-8187-76B6-5304365D3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78940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Factors can not only affect other factors, but also other relationships in a process called moderation.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47B3C-CE70-AD3E-ED85-7A987D533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F38104-5A34-8621-CA65-691493CD9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56</a:t>
            </a:fld>
            <a:endParaRPr lang="en-SE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FAD965-308A-0AB6-0940-278132ACCE0B}"/>
              </a:ext>
            </a:extLst>
          </p:cNvPr>
          <p:cNvSpPr/>
          <p:nvPr/>
        </p:nvSpPr>
        <p:spPr>
          <a:xfrm>
            <a:off x="4191838" y="3322768"/>
            <a:ext cx="360000" cy="360000"/>
          </a:xfrm>
          <a:prstGeom prst="ellipse">
            <a:avLst/>
          </a:prstGeom>
          <a:solidFill>
            <a:srgbClr val="F8766D"/>
          </a:solidFill>
          <a:ln>
            <a:solidFill>
              <a:srgbClr val="D018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noProof="0" dirty="0">
                <a:solidFill>
                  <a:srgbClr val="D0180A"/>
                </a:solidFill>
              </a:rPr>
              <a:t>x</a:t>
            </a:r>
            <a:endParaRPr lang="en-US" noProof="0" dirty="0">
              <a:solidFill>
                <a:srgbClr val="D0180A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D67468D-3751-DCC8-E956-DFEC4DA451DA}"/>
              </a:ext>
            </a:extLst>
          </p:cNvPr>
          <p:cNvSpPr/>
          <p:nvPr/>
        </p:nvSpPr>
        <p:spPr>
          <a:xfrm>
            <a:off x="6683218" y="3322768"/>
            <a:ext cx="360000" cy="360000"/>
          </a:xfrm>
          <a:prstGeom prst="ellipse">
            <a:avLst/>
          </a:prstGeom>
          <a:solidFill>
            <a:srgbClr val="00BFC4"/>
          </a:solidFill>
          <a:ln>
            <a:solidFill>
              <a:srgbClr val="006D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noProof="0" dirty="0">
                <a:solidFill>
                  <a:srgbClr val="006D70"/>
                </a:solidFill>
              </a:rPr>
              <a:t>y</a:t>
            </a:r>
            <a:endParaRPr lang="en-US" noProof="0" dirty="0">
              <a:solidFill>
                <a:srgbClr val="006D7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F630BD4-B1A4-B17F-1932-B81813943531}"/>
              </a:ext>
            </a:extLst>
          </p:cNvPr>
          <p:cNvCxnSpPr>
            <a:stCxn id="7" idx="6"/>
            <a:endCxn id="8" idx="2"/>
          </p:cNvCxnSpPr>
          <p:nvPr/>
        </p:nvCxnSpPr>
        <p:spPr>
          <a:xfrm>
            <a:off x="4551838" y="3502768"/>
            <a:ext cx="213138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9B4818B-BF89-1724-BA1B-B6FAF9560D9E}"/>
              </a:ext>
            </a:extLst>
          </p:cNvPr>
          <p:cNvSpPr txBox="1"/>
          <p:nvPr/>
        </p:nvSpPr>
        <p:spPr>
          <a:xfrm>
            <a:off x="2675523" y="3313436"/>
            <a:ext cx="1515809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de-DE" noProof="0" dirty="0">
                <a:solidFill>
                  <a:srgbClr val="D0180A"/>
                </a:solidFill>
              </a:rPr>
              <a:t>u</a:t>
            </a:r>
            <a:r>
              <a:rPr lang="en-SE" noProof="0" dirty="0">
                <a:solidFill>
                  <a:srgbClr val="D0180A"/>
                </a:solidFill>
              </a:rPr>
              <a:t>se of GenAI</a:t>
            </a:r>
            <a:endParaRPr lang="en-US" noProof="0" dirty="0">
              <a:solidFill>
                <a:srgbClr val="D0180A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994EAA-61B3-2950-6E0D-82317647E54B}"/>
              </a:ext>
            </a:extLst>
          </p:cNvPr>
          <p:cNvSpPr txBox="1"/>
          <p:nvPr/>
        </p:nvSpPr>
        <p:spPr>
          <a:xfrm>
            <a:off x="7000981" y="3302525"/>
            <a:ext cx="1362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noProof="0" dirty="0">
                <a:solidFill>
                  <a:srgbClr val="006D70"/>
                </a:solidFill>
              </a:rPr>
              <a:t>productivity</a:t>
            </a:r>
            <a:endParaRPr lang="en-US" noProof="0" dirty="0">
              <a:solidFill>
                <a:srgbClr val="006D70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002BF3F-7FD6-C458-24C5-22BF82CED507}"/>
              </a:ext>
            </a:extLst>
          </p:cNvPr>
          <p:cNvSpPr/>
          <p:nvPr/>
        </p:nvSpPr>
        <p:spPr>
          <a:xfrm>
            <a:off x="5376707" y="4089089"/>
            <a:ext cx="360000" cy="36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E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</a:t>
            </a:r>
            <a:endParaRPr lang="en-US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49BA1F-1402-EDB0-3A04-6501D9A3AE92}"/>
              </a:ext>
            </a:extLst>
          </p:cNvPr>
          <p:cNvSpPr txBox="1"/>
          <p:nvPr/>
        </p:nvSpPr>
        <p:spPr>
          <a:xfrm>
            <a:off x="5727848" y="4079757"/>
            <a:ext cx="1280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E" noProof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experience</a:t>
            </a:r>
            <a:endParaRPr lang="en-US" noProof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1D0E132-15C6-2CB4-15DE-1236AA44DE34}"/>
              </a:ext>
            </a:extLst>
          </p:cNvPr>
          <p:cNvCxnSpPr>
            <a:cxnSpLocks/>
            <a:stCxn id="12" idx="7"/>
            <a:endCxn id="8" idx="3"/>
          </p:cNvCxnSpPr>
          <p:nvPr/>
        </p:nvCxnSpPr>
        <p:spPr>
          <a:xfrm flipV="1">
            <a:off x="5683986" y="3630047"/>
            <a:ext cx="1051953" cy="5117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B2771A6-0FDD-D9A1-E04C-4CF385EBF170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5556707" y="3502768"/>
            <a:ext cx="0" cy="5863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74DB258-1542-81D8-B8BA-70BDCFFF1200}"/>
              </a:ext>
            </a:extLst>
          </p:cNvPr>
          <p:cNvGrpSpPr/>
          <p:nvPr/>
        </p:nvGrpSpPr>
        <p:grpSpPr>
          <a:xfrm>
            <a:off x="838198" y="365125"/>
            <a:ext cx="1983884" cy="245531"/>
            <a:chOff x="4114799" y="3759391"/>
            <a:chExt cx="1983884" cy="1229241"/>
          </a:xfrm>
        </p:grpSpPr>
        <p:sp>
          <p:nvSpPr>
            <p:cNvPr id="22" name="Arrow: Pentagon 21">
              <a:extLst>
                <a:ext uri="{FF2B5EF4-FFF2-40B4-BE49-F238E27FC236}">
                  <a16:creationId xmlns:a16="http://schemas.microsoft.com/office/drawing/2014/main" id="{9097E93E-845A-B7A2-A13C-0C6B0DF645E7}"/>
                </a:ext>
              </a:extLst>
            </p:cNvPr>
            <p:cNvSpPr/>
            <p:nvPr/>
          </p:nvSpPr>
          <p:spPr>
            <a:xfrm>
              <a:off x="4114799" y="3759391"/>
              <a:ext cx="794039" cy="1229241"/>
            </a:xfrm>
            <a:prstGeom prst="homePlat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/>
                <a:t>Theory</a:t>
              </a:r>
            </a:p>
          </p:txBody>
        </p:sp>
        <p:sp>
          <p:nvSpPr>
            <p:cNvPr id="23" name="Arrow: Chevron 22">
              <a:extLst>
                <a:ext uri="{FF2B5EF4-FFF2-40B4-BE49-F238E27FC236}">
                  <a16:creationId xmlns:a16="http://schemas.microsoft.com/office/drawing/2014/main" id="{B49FC200-4081-1CA7-F0DE-55093F9E16CD}"/>
                </a:ext>
              </a:extLst>
            </p:cNvPr>
            <p:cNvSpPr/>
            <p:nvPr/>
          </p:nvSpPr>
          <p:spPr>
            <a:xfrm>
              <a:off x="4843616" y="3759391"/>
              <a:ext cx="1255067" cy="1229241"/>
            </a:xfrm>
            <a:prstGeom prst="chevron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>
                  <a:solidFill>
                    <a:schemeClr val="bg1">
                      <a:lumMod val="75000"/>
                    </a:schemeClr>
                  </a:solidFill>
                </a:rPr>
                <a:t>Use Case</a:t>
              </a:r>
            </a:p>
          </p:txBody>
        </p:sp>
      </p:grp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6669B191-882C-7D89-A901-9548494856EA}"/>
              </a:ext>
            </a:extLst>
          </p:cNvPr>
          <p:cNvSpPr txBox="1">
            <a:spLocks/>
          </p:cNvSpPr>
          <p:nvPr/>
        </p:nvSpPr>
        <p:spPr>
          <a:xfrm>
            <a:off x="838198" y="5266499"/>
            <a:ext cx="10515600" cy="107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E" dirty="0"/>
              <a:t>A moderator changes the effect that one variable has on another.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4D10EB-FEE2-570F-94F2-6CBDB12EE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313763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24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20DAF-5E72-EDBB-BC3E-BECE1DE91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Determining Moderation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55DBE-9AE5-09F2-AE92-CEF20D4F0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01034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The existence of a moderator evokes a distinct effect pattern.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49020-D570-280D-1BAC-76588B3E5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23DC79-057E-4D72-43D2-6F5315B21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57</a:t>
            </a:fld>
            <a:endParaRPr lang="en-S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D117927-50DD-4E06-7836-D89CEC07A388}"/>
              </a:ext>
            </a:extLst>
          </p:cNvPr>
          <p:cNvGrpSpPr/>
          <p:nvPr/>
        </p:nvGrpSpPr>
        <p:grpSpPr>
          <a:xfrm>
            <a:off x="838198" y="365125"/>
            <a:ext cx="1983884" cy="245531"/>
            <a:chOff x="4114799" y="3759391"/>
            <a:chExt cx="1983884" cy="1229241"/>
          </a:xfrm>
        </p:grpSpPr>
        <p:sp>
          <p:nvSpPr>
            <p:cNvPr id="10" name="Arrow: Pentagon 9">
              <a:extLst>
                <a:ext uri="{FF2B5EF4-FFF2-40B4-BE49-F238E27FC236}">
                  <a16:creationId xmlns:a16="http://schemas.microsoft.com/office/drawing/2014/main" id="{D2E73671-C23A-1652-2F16-D3E2037B56A7}"/>
                </a:ext>
              </a:extLst>
            </p:cNvPr>
            <p:cNvSpPr/>
            <p:nvPr/>
          </p:nvSpPr>
          <p:spPr>
            <a:xfrm>
              <a:off x="4114799" y="3759391"/>
              <a:ext cx="794039" cy="1229241"/>
            </a:xfrm>
            <a:prstGeom prst="homePlat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/>
                <a:t>Theory</a:t>
              </a:r>
            </a:p>
          </p:txBody>
        </p:sp>
        <p:sp>
          <p:nvSpPr>
            <p:cNvPr id="11" name="Arrow: Chevron 10">
              <a:extLst>
                <a:ext uri="{FF2B5EF4-FFF2-40B4-BE49-F238E27FC236}">
                  <a16:creationId xmlns:a16="http://schemas.microsoft.com/office/drawing/2014/main" id="{C58369D4-8BDB-402A-69C4-5BADA3040B7E}"/>
                </a:ext>
              </a:extLst>
            </p:cNvPr>
            <p:cNvSpPr/>
            <p:nvPr/>
          </p:nvSpPr>
          <p:spPr>
            <a:xfrm>
              <a:off x="4843616" y="3759391"/>
              <a:ext cx="1255067" cy="1229241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sz="1400" dirty="0">
                  <a:solidFill>
                    <a:schemeClr val="tx1"/>
                  </a:solidFill>
                </a:rPr>
                <a:t>Use Case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C3F9A4C8-1063-F8B2-B0F7-1D7DE81F80C6}"/>
              </a:ext>
            </a:extLst>
          </p:cNvPr>
          <p:cNvGrpSpPr/>
          <p:nvPr/>
        </p:nvGrpSpPr>
        <p:grpSpPr>
          <a:xfrm>
            <a:off x="1167619" y="3213421"/>
            <a:ext cx="1547041" cy="1074447"/>
            <a:chOff x="1829785" y="2801594"/>
            <a:chExt cx="1547041" cy="1074447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526D6DF-8897-358B-0E12-9E11A8BE0094}"/>
                </a:ext>
              </a:extLst>
            </p:cNvPr>
            <p:cNvSpPr/>
            <p:nvPr/>
          </p:nvSpPr>
          <p:spPr>
            <a:xfrm>
              <a:off x="1829785" y="2962232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D0180A"/>
                  </a:solidFill>
                </a:rPr>
                <a:t>x</a:t>
              </a:r>
              <a:endParaRPr lang="en-US" noProof="0" dirty="0">
                <a:solidFill>
                  <a:srgbClr val="D0180A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FA4D6E9-CABF-7DDF-09F2-237C21096155}"/>
                </a:ext>
              </a:extLst>
            </p:cNvPr>
            <p:cNvSpPr/>
            <p:nvPr/>
          </p:nvSpPr>
          <p:spPr>
            <a:xfrm>
              <a:off x="3016826" y="2962232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006D70"/>
                  </a:solidFill>
                </a:rPr>
                <a:t>y</a:t>
              </a:r>
              <a:endParaRPr lang="en-US" noProof="0" dirty="0">
                <a:solidFill>
                  <a:srgbClr val="006D70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7EC4245F-3940-2959-D561-55DDA4335892}"/>
                </a:ext>
              </a:extLst>
            </p:cNvPr>
            <p:cNvCxnSpPr>
              <a:stCxn id="13" idx="6"/>
              <a:endCxn id="14" idx="2"/>
            </p:cNvCxnSpPr>
            <p:nvPr/>
          </p:nvCxnSpPr>
          <p:spPr>
            <a:xfrm>
              <a:off x="2189785" y="3142232"/>
              <a:ext cx="82704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919D0B5-08BE-7575-6CD6-6A0CBAE3B283}"/>
                </a:ext>
              </a:extLst>
            </p:cNvPr>
            <p:cNvSpPr/>
            <p:nvPr/>
          </p:nvSpPr>
          <p:spPr>
            <a:xfrm>
              <a:off x="2413260" y="3516041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</a:t>
              </a:r>
              <a:endParaRPr lang="en-US" noProof="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619A6BE8-2A72-2BCB-5672-DBF5D98C47B3}"/>
                    </a:ext>
                  </a:extLst>
                </p:cNvPr>
                <p:cNvSpPr txBox="1"/>
                <p:nvPr/>
              </p:nvSpPr>
              <p:spPr>
                <a:xfrm>
                  <a:off x="2450914" y="2801594"/>
                  <a:ext cx="28469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E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E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SE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SE" dirty="0"/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619A6BE8-2A72-2BCB-5672-DBF5D98C47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0914" y="2801594"/>
                  <a:ext cx="284693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9787" t="-2222" r="-2128" b="-35556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F932D58B-E1EC-2C16-ABB9-881828FCB4A4}"/>
              </a:ext>
            </a:extLst>
          </p:cNvPr>
          <p:cNvGrpSpPr/>
          <p:nvPr/>
        </p:nvGrpSpPr>
        <p:grpSpPr>
          <a:xfrm>
            <a:off x="3929509" y="3213421"/>
            <a:ext cx="1547041" cy="1074447"/>
            <a:chOff x="1829785" y="2801594"/>
            <a:chExt cx="1547041" cy="1074447"/>
          </a:xfrm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64CFCF6D-1868-0FD9-3DEE-F334C848ECC0}"/>
                </a:ext>
              </a:extLst>
            </p:cNvPr>
            <p:cNvSpPr/>
            <p:nvPr/>
          </p:nvSpPr>
          <p:spPr>
            <a:xfrm>
              <a:off x="1829785" y="2962232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D0180A"/>
                  </a:solidFill>
                </a:rPr>
                <a:t>x</a:t>
              </a:r>
              <a:endParaRPr lang="en-US" noProof="0" dirty="0">
                <a:solidFill>
                  <a:srgbClr val="D0180A"/>
                </a:solidFill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72101797-6FEE-E354-181E-B341A2B2FD80}"/>
                </a:ext>
              </a:extLst>
            </p:cNvPr>
            <p:cNvSpPr/>
            <p:nvPr/>
          </p:nvSpPr>
          <p:spPr>
            <a:xfrm>
              <a:off x="3016826" y="2962232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006D70"/>
                  </a:solidFill>
                </a:rPr>
                <a:t>y</a:t>
              </a:r>
              <a:endParaRPr lang="en-US" noProof="0" dirty="0">
                <a:solidFill>
                  <a:srgbClr val="006D70"/>
                </a:solidFill>
              </a:endParaRPr>
            </a:p>
          </p:txBody>
        </p: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A93306A8-F300-B518-1D88-3B02632939D5}"/>
                </a:ext>
              </a:extLst>
            </p:cNvPr>
            <p:cNvCxnSpPr>
              <a:stCxn id="100" idx="6"/>
              <a:endCxn id="101" idx="2"/>
            </p:cNvCxnSpPr>
            <p:nvPr/>
          </p:nvCxnSpPr>
          <p:spPr>
            <a:xfrm>
              <a:off x="2189785" y="3142232"/>
              <a:ext cx="82704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67D42D92-33D4-C7E4-7D4C-69D5ABC004C1}"/>
                </a:ext>
              </a:extLst>
            </p:cNvPr>
            <p:cNvSpPr/>
            <p:nvPr/>
          </p:nvSpPr>
          <p:spPr>
            <a:xfrm>
              <a:off x="2413260" y="3516041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</a:t>
              </a:r>
              <a:endParaRPr lang="en-US" noProof="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7E3B9810-9E86-040B-4B9D-5DDD9A942656}"/>
                </a:ext>
              </a:extLst>
            </p:cNvPr>
            <p:cNvCxnSpPr>
              <a:cxnSpLocks/>
              <a:stCxn id="103" idx="7"/>
              <a:endCxn id="101" idx="3"/>
            </p:cNvCxnSpPr>
            <p:nvPr/>
          </p:nvCxnSpPr>
          <p:spPr>
            <a:xfrm flipV="1">
              <a:off x="2720539" y="3269511"/>
              <a:ext cx="349008" cy="29925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2F281DDA-E611-37C6-551A-C5D7F42C8996}"/>
                    </a:ext>
                  </a:extLst>
                </p:cNvPr>
                <p:cNvSpPr txBox="1"/>
                <p:nvPr/>
              </p:nvSpPr>
              <p:spPr>
                <a:xfrm>
                  <a:off x="2450914" y="2801594"/>
                  <a:ext cx="28469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E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E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SE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SE" dirty="0"/>
                </a:p>
              </p:txBody>
            </p:sp>
          </mc:Choice>
          <mc:Fallback xmlns="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2F281DDA-E611-37C6-551A-C5D7F42C89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0914" y="2801594"/>
                  <a:ext cx="284693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9787" t="-2222" r="-2128" b="-35556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47D753E1-75FA-F686-076D-32D06C405BD4}"/>
                    </a:ext>
                  </a:extLst>
                </p:cNvPr>
                <p:cNvSpPr txBox="1"/>
                <p:nvPr/>
              </p:nvSpPr>
              <p:spPr>
                <a:xfrm>
                  <a:off x="2924186" y="3449510"/>
                  <a:ext cx="29072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E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E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SE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en-SE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47D753E1-75FA-F686-076D-32D06C405B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4186" y="3449510"/>
                  <a:ext cx="290721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9167" t="-2174" r="-2083" b="-32609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8C508F59-D369-9AA4-77ED-25AC232C4647}"/>
              </a:ext>
            </a:extLst>
          </p:cNvPr>
          <p:cNvGrpSpPr/>
          <p:nvPr/>
        </p:nvGrpSpPr>
        <p:grpSpPr>
          <a:xfrm>
            <a:off x="6691399" y="3213421"/>
            <a:ext cx="1547041" cy="1074447"/>
            <a:chOff x="1829785" y="2801594"/>
            <a:chExt cx="1547041" cy="1074447"/>
          </a:xfrm>
        </p:grpSpPr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852047AA-3519-C899-FAA2-3819C5E7D3AB}"/>
                </a:ext>
              </a:extLst>
            </p:cNvPr>
            <p:cNvSpPr/>
            <p:nvPr/>
          </p:nvSpPr>
          <p:spPr>
            <a:xfrm>
              <a:off x="1829785" y="2962232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D0180A"/>
                  </a:solidFill>
                </a:rPr>
                <a:t>x</a:t>
              </a:r>
              <a:endParaRPr lang="en-US" noProof="0" dirty="0">
                <a:solidFill>
                  <a:srgbClr val="D0180A"/>
                </a:solidFill>
              </a:endParaRP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2792E6BE-4DD0-B003-3A90-EBCA70C445AB}"/>
                </a:ext>
              </a:extLst>
            </p:cNvPr>
            <p:cNvSpPr/>
            <p:nvPr/>
          </p:nvSpPr>
          <p:spPr>
            <a:xfrm>
              <a:off x="3016826" y="2962232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006D70"/>
                  </a:solidFill>
                </a:rPr>
                <a:t>y</a:t>
              </a:r>
              <a:endParaRPr lang="en-US" noProof="0" dirty="0">
                <a:solidFill>
                  <a:srgbClr val="006D70"/>
                </a:solidFill>
              </a:endParaRPr>
            </a:p>
          </p:txBody>
        </p: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CEE1EB45-BD52-5F94-C5C1-6F0D3690AA49}"/>
                </a:ext>
              </a:extLst>
            </p:cNvPr>
            <p:cNvCxnSpPr>
              <a:stCxn id="118" idx="6"/>
              <a:endCxn id="119" idx="2"/>
            </p:cNvCxnSpPr>
            <p:nvPr/>
          </p:nvCxnSpPr>
          <p:spPr>
            <a:xfrm>
              <a:off x="2189785" y="3142232"/>
              <a:ext cx="82704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20BF16CF-9C04-0B07-9359-31AE29EDC2E4}"/>
                </a:ext>
              </a:extLst>
            </p:cNvPr>
            <p:cNvSpPr/>
            <p:nvPr/>
          </p:nvSpPr>
          <p:spPr>
            <a:xfrm>
              <a:off x="2413260" y="3516041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</a:t>
              </a:r>
              <a:endParaRPr lang="en-US" noProof="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A88082CE-247A-6730-217F-6C4D2F7D03C9}"/>
                </a:ext>
              </a:extLst>
            </p:cNvPr>
            <p:cNvCxnSpPr>
              <a:cxnSpLocks/>
              <a:stCxn id="121" idx="0"/>
            </p:cNvCxnSpPr>
            <p:nvPr/>
          </p:nvCxnSpPr>
          <p:spPr>
            <a:xfrm flipV="1">
              <a:off x="2593260" y="3142232"/>
              <a:ext cx="0" cy="3738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6540CE31-659C-5904-76E5-B6547597BF6F}"/>
                    </a:ext>
                  </a:extLst>
                </p:cNvPr>
                <p:cNvSpPr txBox="1"/>
                <p:nvPr/>
              </p:nvSpPr>
              <p:spPr>
                <a:xfrm>
                  <a:off x="2450914" y="2801594"/>
                  <a:ext cx="28469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E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E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SE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SE" dirty="0"/>
                </a:p>
              </p:txBody>
            </p:sp>
          </mc:Choice>
          <mc:Fallback xmlns="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6540CE31-659C-5904-76E5-B6547597BF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0914" y="2801594"/>
                  <a:ext cx="284693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30435" t="-2222" r="-4348" b="-35556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73014C33-2AA6-1EF6-6B1F-885924D9A860}"/>
                    </a:ext>
                  </a:extLst>
                </p:cNvPr>
                <p:cNvSpPr txBox="1"/>
                <p:nvPr/>
              </p:nvSpPr>
              <p:spPr>
                <a:xfrm>
                  <a:off x="2260349" y="3205872"/>
                  <a:ext cx="2656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E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E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SE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en-SE" dirty="0"/>
                </a:p>
              </p:txBody>
            </p:sp>
          </mc:Choice>
          <mc:Fallback xmlns="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73014C33-2AA6-1EF6-6B1F-885924D9A8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0349" y="3205872"/>
                  <a:ext cx="265650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0455" b="-21739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D2E66ED3-EFCC-F600-C0E6-2E5F8B2ED017}"/>
              </a:ext>
            </a:extLst>
          </p:cNvPr>
          <p:cNvGrpSpPr/>
          <p:nvPr/>
        </p:nvGrpSpPr>
        <p:grpSpPr>
          <a:xfrm>
            <a:off x="9453289" y="3213421"/>
            <a:ext cx="1547041" cy="1074447"/>
            <a:chOff x="1829785" y="2801594"/>
            <a:chExt cx="1547041" cy="1074447"/>
          </a:xfrm>
        </p:grpSpPr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3A7E56E1-11CE-7769-5F70-96FBD0604CEC}"/>
                </a:ext>
              </a:extLst>
            </p:cNvPr>
            <p:cNvSpPr/>
            <p:nvPr/>
          </p:nvSpPr>
          <p:spPr>
            <a:xfrm>
              <a:off x="1829785" y="2962232"/>
              <a:ext cx="360000" cy="360000"/>
            </a:xfrm>
            <a:prstGeom prst="ellipse">
              <a:avLst/>
            </a:prstGeom>
            <a:solidFill>
              <a:srgbClr val="F8766D"/>
            </a:solidFill>
            <a:ln>
              <a:solidFill>
                <a:srgbClr val="D0180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D0180A"/>
                  </a:solidFill>
                </a:rPr>
                <a:t>x</a:t>
              </a:r>
              <a:endParaRPr lang="en-US" noProof="0" dirty="0">
                <a:solidFill>
                  <a:srgbClr val="D0180A"/>
                </a:solidFill>
              </a:endParaRPr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83DAC9E4-8B9F-1FE2-88D8-D6EECF2C4A14}"/>
                </a:ext>
              </a:extLst>
            </p:cNvPr>
            <p:cNvSpPr/>
            <p:nvPr/>
          </p:nvSpPr>
          <p:spPr>
            <a:xfrm>
              <a:off x="3016826" y="2962232"/>
              <a:ext cx="360000" cy="360000"/>
            </a:xfrm>
            <a:prstGeom prst="ellipse">
              <a:avLst/>
            </a:prstGeom>
            <a:solidFill>
              <a:srgbClr val="00BFC4"/>
            </a:solidFill>
            <a:ln>
              <a:solidFill>
                <a:srgbClr val="006D7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rgbClr val="006D70"/>
                  </a:solidFill>
                </a:rPr>
                <a:t>y</a:t>
              </a:r>
              <a:endParaRPr lang="en-US" noProof="0" dirty="0">
                <a:solidFill>
                  <a:srgbClr val="006D70"/>
                </a:solidFill>
              </a:endParaRPr>
            </a:p>
          </p:txBody>
        </p: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552897FA-8983-6F14-39EE-5A00110E43E9}"/>
                </a:ext>
              </a:extLst>
            </p:cNvPr>
            <p:cNvCxnSpPr>
              <a:stCxn id="136" idx="6"/>
              <a:endCxn id="137" idx="2"/>
            </p:cNvCxnSpPr>
            <p:nvPr/>
          </p:nvCxnSpPr>
          <p:spPr>
            <a:xfrm>
              <a:off x="2189785" y="3142232"/>
              <a:ext cx="82704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3AEF5059-DA99-893E-CD0E-CFB40FCF94D4}"/>
                </a:ext>
              </a:extLst>
            </p:cNvPr>
            <p:cNvSpPr/>
            <p:nvPr/>
          </p:nvSpPr>
          <p:spPr>
            <a:xfrm>
              <a:off x="2413260" y="3516041"/>
              <a:ext cx="360000" cy="360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E" noProof="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</a:t>
              </a:r>
              <a:endParaRPr lang="en-US" noProof="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6C0FCDA8-6A9E-D432-C83F-8AACC4A28C86}"/>
                </a:ext>
              </a:extLst>
            </p:cNvPr>
            <p:cNvCxnSpPr>
              <a:cxnSpLocks/>
              <a:stCxn id="139" idx="7"/>
              <a:endCxn id="137" idx="3"/>
            </p:cNvCxnSpPr>
            <p:nvPr/>
          </p:nvCxnSpPr>
          <p:spPr>
            <a:xfrm flipV="1">
              <a:off x="2720539" y="3269511"/>
              <a:ext cx="349008" cy="29925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D8CA478B-6084-88C0-6CA9-860DFBA6FB2D}"/>
                </a:ext>
              </a:extLst>
            </p:cNvPr>
            <p:cNvCxnSpPr>
              <a:cxnSpLocks/>
              <a:stCxn id="139" idx="0"/>
            </p:cNvCxnSpPr>
            <p:nvPr/>
          </p:nvCxnSpPr>
          <p:spPr>
            <a:xfrm flipV="1">
              <a:off x="2593260" y="3142232"/>
              <a:ext cx="0" cy="3738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4E338BF5-D5A3-172E-877A-272CF0BB8A1A}"/>
                    </a:ext>
                  </a:extLst>
                </p:cNvPr>
                <p:cNvSpPr txBox="1"/>
                <p:nvPr/>
              </p:nvSpPr>
              <p:spPr>
                <a:xfrm>
                  <a:off x="2450914" y="2801594"/>
                  <a:ext cx="28469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E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E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SE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SE" dirty="0"/>
                </a:p>
              </p:txBody>
            </p:sp>
          </mc:Choice>
          <mc:Fallback xmlns="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4E338BF5-D5A3-172E-877A-272CF0BB8A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0914" y="2801594"/>
                  <a:ext cx="284693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30435" t="-2222" r="-4348" b="-35556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EF391927-C120-F9EE-1808-987685ECD5E1}"/>
                    </a:ext>
                  </a:extLst>
                </p:cNvPr>
                <p:cNvSpPr txBox="1"/>
                <p:nvPr/>
              </p:nvSpPr>
              <p:spPr>
                <a:xfrm>
                  <a:off x="2924186" y="3449510"/>
                  <a:ext cx="29072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E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E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SE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en-SE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EF391927-C120-F9EE-1808-987685ECD5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4186" y="3449510"/>
                  <a:ext cx="290721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9167" t="-2174" r="-2083" b="-32609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C4BED58C-1B13-E684-7F5A-CF8200A4A5DC}"/>
                    </a:ext>
                  </a:extLst>
                </p:cNvPr>
                <p:cNvSpPr txBox="1"/>
                <p:nvPr/>
              </p:nvSpPr>
              <p:spPr>
                <a:xfrm>
                  <a:off x="2260349" y="3205872"/>
                  <a:ext cx="2656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E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E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SE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en-SE" dirty="0"/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C4BED58C-1B13-E684-7F5A-CF8200A4A5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0349" y="3205872"/>
                  <a:ext cx="265650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20455" b="-21739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D2ECED6-70D0-E68C-C94A-7E2479B7E032}"/>
              </a:ext>
            </a:extLst>
          </p:cNvPr>
          <p:cNvGrpSpPr/>
          <p:nvPr/>
        </p:nvGrpSpPr>
        <p:grpSpPr>
          <a:xfrm>
            <a:off x="838198" y="4375579"/>
            <a:ext cx="2078246" cy="1872140"/>
            <a:chOff x="838198" y="3923754"/>
            <a:chExt cx="2078246" cy="1872140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C63A1D3F-A3B5-6DAD-4B0D-553051DE024D}"/>
                </a:ext>
              </a:extLst>
            </p:cNvPr>
            <p:cNvGrpSpPr/>
            <p:nvPr/>
          </p:nvGrpSpPr>
          <p:grpSpPr>
            <a:xfrm>
              <a:off x="838198" y="3923754"/>
              <a:ext cx="2078246" cy="1872140"/>
              <a:chOff x="1008094" y="3821667"/>
              <a:chExt cx="2078246" cy="1872140"/>
            </a:xfrm>
          </p:grpSpPr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1472BDCA-6872-C7C0-5DC3-F794D9A35AEB}"/>
                  </a:ext>
                </a:extLst>
              </p:cNvPr>
              <p:cNvCxnSpPr/>
              <p:nvPr/>
            </p:nvCxnSpPr>
            <p:spPr>
              <a:xfrm>
                <a:off x="1152525" y="5324475"/>
                <a:ext cx="1917022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80352C6B-0557-FEA9-BAF0-56C54E81C19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52525" y="4191000"/>
                <a:ext cx="0" cy="1133475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B5B2036B-3925-647A-A2C1-073706B8694A}"/>
                  </a:ext>
                </a:extLst>
              </p:cNvPr>
              <p:cNvSpPr txBox="1"/>
              <p:nvPr/>
            </p:nvSpPr>
            <p:spPr>
              <a:xfrm>
                <a:off x="2778242" y="5324475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E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0A776A93-0951-E675-82AE-485B4BDEFF50}"/>
                  </a:ext>
                </a:extLst>
              </p:cNvPr>
              <p:cNvSpPr txBox="1"/>
              <p:nvPr/>
            </p:nvSpPr>
            <p:spPr>
              <a:xfrm>
                <a:off x="1008094" y="3821667"/>
                <a:ext cx="2888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E" dirty="0">
                    <a:solidFill>
                      <a:srgbClr val="006D70"/>
                    </a:solidFill>
                  </a:rPr>
                  <a:t>y</a:t>
                </a:r>
              </a:p>
            </p:txBody>
          </p:sp>
        </p:grp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35C1CF14-4278-7B65-A43D-B0D626AD66A7}"/>
                </a:ext>
              </a:extLst>
            </p:cNvPr>
            <p:cNvCxnSpPr>
              <a:cxnSpLocks/>
            </p:cNvCxnSpPr>
            <p:nvPr/>
          </p:nvCxnSpPr>
          <p:spPr>
            <a:xfrm>
              <a:off x="982629" y="5032078"/>
              <a:ext cx="184117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C8E64C31-44B6-7C18-8836-741C188CCCD0}"/>
                </a:ext>
              </a:extLst>
            </p:cNvPr>
            <p:cNvCxnSpPr>
              <a:cxnSpLocks/>
            </p:cNvCxnSpPr>
            <p:nvPr/>
          </p:nvCxnSpPr>
          <p:spPr>
            <a:xfrm>
              <a:off x="982629" y="4670128"/>
              <a:ext cx="1841175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5" name="Right Brace 144">
              <a:extLst>
                <a:ext uri="{FF2B5EF4-FFF2-40B4-BE49-F238E27FC236}">
                  <a16:creationId xmlns:a16="http://schemas.microsoft.com/office/drawing/2014/main" id="{45BEB69C-DAB4-6916-6D89-59BF53580A19}"/>
                </a:ext>
              </a:extLst>
            </p:cNvPr>
            <p:cNvSpPr/>
            <p:nvPr/>
          </p:nvSpPr>
          <p:spPr>
            <a:xfrm>
              <a:off x="1019175" y="4670128"/>
              <a:ext cx="148440" cy="361947"/>
            </a:xfrm>
            <a:prstGeom prst="rightBrace">
              <a:avLst/>
            </a:prstGeom>
            <a:ln>
              <a:solidFill>
                <a:srgbClr val="D018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BD59E05A-B10E-9C8B-1431-952C31E94234}"/>
                    </a:ext>
                  </a:extLst>
                </p:cNvPr>
                <p:cNvSpPr txBox="1"/>
                <p:nvPr/>
              </p:nvSpPr>
              <p:spPr>
                <a:xfrm>
                  <a:off x="1169699" y="4711627"/>
                  <a:ext cx="28469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E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E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SE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SE" dirty="0"/>
                </a:p>
              </p:txBody>
            </p:sp>
          </mc:Choice>
          <mc:Fallback xmlns="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BD59E05A-B10E-9C8B-1431-952C31E942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9699" y="4711627"/>
                  <a:ext cx="284693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29787" t="-2222" r="-2128" b="-35556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8DD8E56-7BEC-C883-D5C6-952BE02A3D87}"/>
              </a:ext>
            </a:extLst>
          </p:cNvPr>
          <p:cNvGrpSpPr/>
          <p:nvPr/>
        </p:nvGrpSpPr>
        <p:grpSpPr>
          <a:xfrm>
            <a:off x="3600088" y="4375579"/>
            <a:ext cx="2434559" cy="1872140"/>
            <a:chOff x="3600088" y="3923754"/>
            <a:chExt cx="2434559" cy="1872140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B382D480-9E6C-A060-1914-4CF676C5359B}"/>
                </a:ext>
              </a:extLst>
            </p:cNvPr>
            <p:cNvGrpSpPr/>
            <p:nvPr/>
          </p:nvGrpSpPr>
          <p:grpSpPr>
            <a:xfrm>
              <a:off x="3600088" y="3923754"/>
              <a:ext cx="2078246" cy="1872140"/>
              <a:chOff x="1008094" y="3821667"/>
              <a:chExt cx="2078246" cy="1872140"/>
            </a:xfrm>
          </p:grpSpPr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E322592B-E452-6AAA-71D5-932009B0A76F}"/>
                  </a:ext>
                </a:extLst>
              </p:cNvPr>
              <p:cNvCxnSpPr/>
              <p:nvPr/>
            </p:nvCxnSpPr>
            <p:spPr>
              <a:xfrm>
                <a:off x="1152525" y="5324475"/>
                <a:ext cx="1917022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8D352D1A-5D5F-A4C5-0935-AAFEB244B6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52525" y="4191000"/>
                <a:ext cx="0" cy="1133475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693FE6E1-2E5A-EC1F-0E68-DDA53C042338}"/>
                  </a:ext>
                </a:extLst>
              </p:cNvPr>
              <p:cNvSpPr txBox="1"/>
              <p:nvPr/>
            </p:nvSpPr>
            <p:spPr>
              <a:xfrm>
                <a:off x="2778242" y="5324475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E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</a:t>
                </a: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22C192E1-4B6B-3790-B220-C1A0E2DD3172}"/>
                  </a:ext>
                </a:extLst>
              </p:cNvPr>
              <p:cNvSpPr txBox="1"/>
              <p:nvPr/>
            </p:nvSpPr>
            <p:spPr>
              <a:xfrm>
                <a:off x="1008094" y="3821667"/>
                <a:ext cx="2888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E" dirty="0">
                    <a:solidFill>
                      <a:srgbClr val="006D70"/>
                    </a:solidFill>
                  </a:rPr>
                  <a:t>y</a:t>
                </a:r>
              </a:p>
            </p:txBody>
          </p:sp>
        </p:grp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B062682-3FE2-5C2F-56C9-E048F2F3C4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4519" y="4818568"/>
              <a:ext cx="1841175" cy="21351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D9780E64-7B92-0C87-1848-82CD0AEAAC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4519" y="4456621"/>
              <a:ext cx="1841175" cy="213507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7" name="Right Brace 146">
              <a:extLst>
                <a:ext uri="{FF2B5EF4-FFF2-40B4-BE49-F238E27FC236}">
                  <a16:creationId xmlns:a16="http://schemas.microsoft.com/office/drawing/2014/main" id="{090AE9B5-06C2-2C58-489F-9DBB8FF0115C}"/>
                </a:ext>
              </a:extLst>
            </p:cNvPr>
            <p:cNvSpPr/>
            <p:nvPr/>
          </p:nvSpPr>
          <p:spPr>
            <a:xfrm>
              <a:off x="3801393" y="4670128"/>
              <a:ext cx="148440" cy="361947"/>
            </a:xfrm>
            <a:prstGeom prst="rightBrace">
              <a:avLst/>
            </a:prstGeom>
            <a:ln>
              <a:solidFill>
                <a:srgbClr val="D018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6CC6A92D-9BD1-E6A2-AA1F-2CF31B6F2731}"/>
                    </a:ext>
                  </a:extLst>
                </p:cNvPr>
                <p:cNvSpPr txBox="1"/>
                <p:nvPr/>
              </p:nvSpPr>
              <p:spPr>
                <a:xfrm>
                  <a:off x="3951917" y="4711627"/>
                  <a:ext cx="28469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E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E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SE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SE" dirty="0"/>
                </a:p>
              </p:txBody>
            </p:sp>
          </mc:Choice>
          <mc:Fallback xmlns="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6CC6A92D-9BD1-E6A2-AA1F-2CF31B6F27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1917" y="4711627"/>
                  <a:ext cx="284693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29787" t="-2222" r="-2128" b="-35556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0" name="Right Brace 149">
              <a:extLst>
                <a:ext uri="{FF2B5EF4-FFF2-40B4-BE49-F238E27FC236}">
                  <a16:creationId xmlns:a16="http://schemas.microsoft.com/office/drawing/2014/main" id="{08A95D20-C549-3149-CC87-D5E2C2EEF198}"/>
                </a:ext>
              </a:extLst>
            </p:cNvPr>
            <p:cNvSpPr/>
            <p:nvPr/>
          </p:nvSpPr>
          <p:spPr>
            <a:xfrm>
              <a:off x="5581685" y="4818686"/>
              <a:ext cx="148440" cy="213389"/>
            </a:xfrm>
            <a:prstGeom prst="rightBrac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115B1D19-3053-6515-4FFE-F81202FF8D45}"/>
                    </a:ext>
                  </a:extLst>
                </p:cNvPr>
                <p:cNvSpPr txBox="1"/>
                <p:nvPr/>
              </p:nvSpPr>
              <p:spPr>
                <a:xfrm>
                  <a:off x="5743926" y="4786823"/>
                  <a:ext cx="29072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E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E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SE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en-SE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115B1D19-3053-6515-4FFE-F81202FF8D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3926" y="4786823"/>
                  <a:ext cx="290721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29167" t="-2174" r="-2083" b="-32609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050B994-AC10-1D01-3F3C-A50C42D7870D}"/>
              </a:ext>
            </a:extLst>
          </p:cNvPr>
          <p:cNvGrpSpPr/>
          <p:nvPr/>
        </p:nvGrpSpPr>
        <p:grpSpPr>
          <a:xfrm>
            <a:off x="9123868" y="4375579"/>
            <a:ext cx="2351152" cy="1872140"/>
            <a:chOff x="9123868" y="3923754"/>
            <a:chExt cx="2351152" cy="1872140"/>
          </a:xfrm>
        </p:grpSpPr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5F615352-EDB2-3862-0D49-3C7112F092C3}"/>
                </a:ext>
              </a:extLst>
            </p:cNvPr>
            <p:cNvGrpSpPr/>
            <p:nvPr/>
          </p:nvGrpSpPr>
          <p:grpSpPr>
            <a:xfrm>
              <a:off x="9123868" y="3923754"/>
              <a:ext cx="2078246" cy="1872140"/>
              <a:chOff x="1008094" y="3821667"/>
              <a:chExt cx="2078246" cy="1872140"/>
            </a:xfrm>
          </p:grpSpPr>
          <p:cxnSp>
            <p:nvCxnSpPr>
              <p:cNvPr id="132" name="Straight Arrow Connector 131">
                <a:extLst>
                  <a:ext uri="{FF2B5EF4-FFF2-40B4-BE49-F238E27FC236}">
                    <a16:creationId xmlns:a16="http://schemas.microsoft.com/office/drawing/2014/main" id="{493BBC1D-5C31-719F-0520-FCCE51406FF4}"/>
                  </a:ext>
                </a:extLst>
              </p:cNvPr>
              <p:cNvCxnSpPr/>
              <p:nvPr/>
            </p:nvCxnSpPr>
            <p:spPr>
              <a:xfrm>
                <a:off x="1152525" y="5324475"/>
                <a:ext cx="1917022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6960C8EC-C60D-EB8A-0298-C5479BF1EDD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52525" y="4191000"/>
                <a:ext cx="0" cy="1133475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F550D13C-4D27-45A2-868B-C64617977558}"/>
                  </a:ext>
                </a:extLst>
              </p:cNvPr>
              <p:cNvSpPr txBox="1"/>
              <p:nvPr/>
            </p:nvSpPr>
            <p:spPr>
              <a:xfrm>
                <a:off x="2778242" y="5324475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E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</a:t>
                </a: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9396E138-9D34-1B5C-7779-0D9FB23683BC}"/>
                  </a:ext>
                </a:extLst>
              </p:cNvPr>
              <p:cNvSpPr txBox="1"/>
              <p:nvPr/>
            </p:nvSpPr>
            <p:spPr>
              <a:xfrm>
                <a:off x="1008094" y="3821667"/>
                <a:ext cx="2888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E" dirty="0">
                    <a:solidFill>
                      <a:srgbClr val="006D70"/>
                    </a:solidFill>
                  </a:rPr>
                  <a:t>y</a:t>
                </a:r>
              </a:p>
            </p:txBody>
          </p:sp>
        </p:grp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AECA7ACF-2BB0-83F5-9FFD-CAD5AD3810C2}"/>
                </a:ext>
              </a:extLst>
            </p:cNvPr>
            <p:cNvCxnSpPr>
              <a:cxnSpLocks/>
              <a:endCxn id="161" idx="0"/>
            </p:cNvCxnSpPr>
            <p:nvPr/>
          </p:nvCxnSpPr>
          <p:spPr>
            <a:xfrm flipV="1">
              <a:off x="9268299" y="4818686"/>
              <a:ext cx="1830306" cy="21339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3667FD72-9F83-1384-C9C3-CE7079C4AB90}"/>
                </a:ext>
              </a:extLst>
            </p:cNvPr>
            <p:cNvCxnSpPr>
              <a:cxnSpLocks/>
            </p:cNvCxnSpPr>
            <p:nvPr/>
          </p:nvCxnSpPr>
          <p:spPr>
            <a:xfrm>
              <a:off x="9268299" y="4670128"/>
              <a:ext cx="1830306" cy="524172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6" name="Right Brace 155">
              <a:extLst>
                <a:ext uri="{FF2B5EF4-FFF2-40B4-BE49-F238E27FC236}">
                  <a16:creationId xmlns:a16="http://schemas.microsoft.com/office/drawing/2014/main" id="{C31B79DC-60F9-483D-001B-48F30C83FC91}"/>
                </a:ext>
              </a:extLst>
            </p:cNvPr>
            <p:cNvSpPr/>
            <p:nvPr/>
          </p:nvSpPr>
          <p:spPr>
            <a:xfrm>
              <a:off x="9321091" y="4670128"/>
              <a:ext cx="148440" cy="361947"/>
            </a:xfrm>
            <a:prstGeom prst="rightBrace">
              <a:avLst/>
            </a:prstGeom>
            <a:ln>
              <a:solidFill>
                <a:srgbClr val="D018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5A361CD7-32A9-11F2-60E5-B2D5071B53E7}"/>
                    </a:ext>
                  </a:extLst>
                </p:cNvPr>
                <p:cNvSpPr txBox="1"/>
                <p:nvPr/>
              </p:nvSpPr>
              <p:spPr>
                <a:xfrm>
                  <a:off x="9471615" y="4711627"/>
                  <a:ext cx="28469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E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E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SE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SE" dirty="0"/>
                </a:p>
              </p:txBody>
            </p:sp>
          </mc:Choice>
          <mc:Fallback xmlns=""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5A361CD7-32A9-11F2-60E5-B2D5071B53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71615" y="4711627"/>
                  <a:ext cx="284693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30435" t="-2222" r="-4348" b="-35556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1" name="Right Brace 160">
              <a:extLst>
                <a:ext uri="{FF2B5EF4-FFF2-40B4-BE49-F238E27FC236}">
                  <a16:creationId xmlns:a16="http://schemas.microsoft.com/office/drawing/2014/main" id="{4BD4C581-9692-BB41-054B-6BF4D72C8CE9}"/>
                </a:ext>
              </a:extLst>
            </p:cNvPr>
            <p:cNvSpPr/>
            <p:nvPr/>
          </p:nvSpPr>
          <p:spPr>
            <a:xfrm flipH="1">
              <a:off x="10965043" y="4818686"/>
              <a:ext cx="133562" cy="213389"/>
            </a:xfrm>
            <a:prstGeom prst="rightBrac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D3A56F84-3EFC-BF09-5DAE-9FE6DCE7E753}"/>
                    </a:ext>
                  </a:extLst>
                </p:cNvPr>
                <p:cNvSpPr txBox="1"/>
                <p:nvPr/>
              </p:nvSpPr>
              <p:spPr>
                <a:xfrm>
                  <a:off x="10728659" y="4858747"/>
                  <a:ext cx="29072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E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E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SE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en-SE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D3A56F84-3EFC-BF09-5DAE-9FE6DCE7E7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28659" y="4858747"/>
                  <a:ext cx="290721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29167" t="-2174" r="-2083" b="-32609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6" name="Right Brace 165">
              <a:extLst>
                <a:ext uri="{FF2B5EF4-FFF2-40B4-BE49-F238E27FC236}">
                  <a16:creationId xmlns:a16="http://schemas.microsoft.com/office/drawing/2014/main" id="{DB70B39D-F6DB-A05E-AC3D-2B4EFA30EC9E}"/>
                </a:ext>
              </a:extLst>
            </p:cNvPr>
            <p:cNvSpPr/>
            <p:nvPr/>
          </p:nvSpPr>
          <p:spPr>
            <a:xfrm>
              <a:off x="11098605" y="4456621"/>
              <a:ext cx="110766" cy="737679"/>
            </a:xfrm>
            <a:prstGeom prst="rightBrac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5EA3D497-54B7-3891-79D1-1CDDDDFFD017}"/>
                    </a:ext>
                  </a:extLst>
                </p:cNvPr>
                <p:cNvSpPr txBox="1"/>
                <p:nvPr/>
              </p:nvSpPr>
              <p:spPr>
                <a:xfrm>
                  <a:off x="11209370" y="4718763"/>
                  <a:ext cx="2656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E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E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SE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en-SE" dirty="0"/>
                </a:p>
              </p:txBody>
            </p:sp>
          </mc:Choice>
          <mc:Fallback xmlns="">
            <p:sp>
              <p:nvSpPr>
                <p:cNvPr id="167" name="TextBox 166">
                  <a:extLst>
                    <a:ext uri="{FF2B5EF4-FFF2-40B4-BE49-F238E27FC236}">
                      <a16:creationId xmlns:a16="http://schemas.microsoft.com/office/drawing/2014/main" id="{5EA3D497-54B7-3891-79D1-1CDDDDFFD0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09370" y="4718763"/>
                  <a:ext cx="265650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3256" r="-2326" b="-21739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9" name="Right Brace 168">
              <a:extLst>
                <a:ext uri="{FF2B5EF4-FFF2-40B4-BE49-F238E27FC236}">
                  <a16:creationId xmlns:a16="http://schemas.microsoft.com/office/drawing/2014/main" id="{90237242-64A5-1A43-AAF7-005498315523}"/>
                </a:ext>
              </a:extLst>
            </p:cNvPr>
            <p:cNvSpPr/>
            <p:nvPr/>
          </p:nvSpPr>
          <p:spPr>
            <a:xfrm flipH="1">
              <a:off x="10955769" y="4459493"/>
              <a:ext cx="133562" cy="361947"/>
            </a:xfrm>
            <a:prstGeom prst="rightBrace">
              <a:avLst/>
            </a:prstGeom>
            <a:ln>
              <a:solidFill>
                <a:srgbClr val="D018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9DC7883D-3861-BF2F-91A2-5222CE5DCB4F}"/>
                    </a:ext>
                  </a:extLst>
                </p:cNvPr>
                <p:cNvSpPr txBox="1"/>
                <p:nvPr/>
              </p:nvSpPr>
              <p:spPr>
                <a:xfrm>
                  <a:off x="10667973" y="4444284"/>
                  <a:ext cx="28469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E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E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SE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SE" dirty="0"/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9DC7883D-3861-BF2F-91A2-5222CE5DCB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67973" y="4444284"/>
                  <a:ext cx="284693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29787" t="-2174" r="-2128" b="-32609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A443C7A-E4A1-C98B-F8C6-B9DA089FC653}"/>
              </a:ext>
            </a:extLst>
          </p:cNvPr>
          <p:cNvGrpSpPr/>
          <p:nvPr/>
        </p:nvGrpSpPr>
        <p:grpSpPr>
          <a:xfrm>
            <a:off x="6361978" y="4375579"/>
            <a:ext cx="2384818" cy="1872140"/>
            <a:chOff x="6361978" y="3923754"/>
            <a:chExt cx="2384818" cy="1872140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2CC73435-58AB-D9FD-033C-44AB3837EBD9}"/>
                </a:ext>
              </a:extLst>
            </p:cNvPr>
            <p:cNvGrpSpPr/>
            <p:nvPr/>
          </p:nvGrpSpPr>
          <p:grpSpPr>
            <a:xfrm>
              <a:off x="6361978" y="3923754"/>
              <a:ext cx="2078246" cy="1872140"/>
              <a:chOff x="1008094" y="3821667"/>
              <a:chExt cx="2078246" cy="1872140"/>
            </a:xfrm>
          </p:grpSpPr>
          <p:cxnSp>
            <p:nvCxnSpPr>
              <p:cNvPr id="114" name="Straight Arrow Connector 113">
                <a:extLst>
                  <a:ext uri="{FF2B5EF4-FFF2-40B4-BE49-F238E27FC236}">
                    <a16:creationId xmlns:a16="http://schemas.microsoft.com/office/drawing/2014/main" id="{F7206CEC-B3A1-0471-5921-64773698A046}"/>
                  </a:ext>
                </a:extLst>
              </p:cNvPr>
              <p:cNvCxnSpPr/>
              <p:nvPr/>
            </p:nvCxnSpPr>
            <p:spPr>
              <a:xfrm>
                <a:off x="1152525" y="5324475"/>
                <a:ext cx="1917022" cy="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151E84EB-7C4E-3000-37C3-6098B00F2B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52525" y="4191000"/>
                <a:ext cx="0" cy="1133475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A6A6F3F2-4A22-7D09-564E-05B58DC09575}"/>
                  </a:ext>
                </a:extLst>
              </p:cNvPr>
              <p:cNvSpPr txBox="1"/>
              <p:nvPr/>
            </p:nvSpPr>
            <p:spPr>
              <a:xfrm>
                <a:off x="2778242" y="5324475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E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a</a:t>
                </a: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6B67AB1C-53D0-858D-1D5D-4981D9AE46E4}"/>
                  </a:ext>
                </a:extLst>
              </p:cNvPr>
              <p:cNvSpPr txBox="1"/>
              <p:nvPr/>
            </p:nvSpPr>
            <p:spPr>
              <a:xfrm>
                <a:off x="1008094" y="3821667"/>
                <a:ext cx="2888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E" dirty="0">
                    <a:solidFill>
                      <a:srgbClr val="006D70"/>
                    </a:solidFill>
                  </a:rPr>
                  <a:t>y</a:t>
                </a:r>
              </a:p>
            </p:txBody>
          </p:sp>
        </p:grp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B961CFD2-B265-B2FA-8451-73AF22CF5965}"/>
                </a:ext>
              </a:extLst>
            </p:cNvPr>
            <p:cNvCxnSpPr>
              <a:cxnSpLocks/>
            </p:cNvCxnSpPr>
            <p:nvPr/>
          </p:nvCxnSpPr>
          <p:spPr>
            <a:xfrm>
              <a:off x="6506409" y="5032078"/>
              <a:ext cx="184117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FC254BBC-2AEF-20DB-AB2C-34D50B2E6081}"/>
                </a:ext>
              </a:extLst>
            </p:cNvPr>
            <p:cNvCxnSpPr>
              <a:cxnSpLocks/>
            </p:cNvCxnSpPr>
            <p:nvPr/>
          </p:nvCxnSpPr>
          <p:spPr>
            <a:xfrm>
              <a:off x="6506409" y="4670128"/>
              <a:ext cx="1845941" cy="734975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4" name="Right Brace 153">
              <a:extLst>
                <a:ext uri="{FF2B5EF4-FFF2-40B4-BE49-F238E27FC236}">
                  <a16:creationId xmlns:a16="http://schemas.microsoft.com/office/drawing/2014/main" id="{991C08EB-2B87-35B1-2ACC-A881BCCAC6B6}"/>
                </a:ext>
              </a:extLst>
            </p:cNvPr>
            <p:cNvSpPr/>
            <p:nvPr/>
          </p:nvSpPr>
          <p:spPr>
            <a:xfrm>
              <a:off x="6559202" y="4672202"/>
              <a:ext cx="148440" cy="361947"/>
            </a:xfrm>
            <a:prstGeom prst="rightBrace">
              <a:avLst/>
            </a:prstGeom>
            <a:ln>
              <a:solidFill>
                <a:srgbClr val="D0180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5571E6BA-C849-0A85-92E1-6D277CF33FF4}"/>
                    </a:ext>
                  </a:extLst>
                </p:cNvPr>
                <p:cNvSpPr txBox="1"/>
                <p:nvPr/>
              </p:nvSpPr>
              <p:spPr>
                <a:xfrm>
                  <a:off x="6709726" y="4713701"/>
                  <a:ext cx="28469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E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E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SE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SE" dirty="0"/>
                </a:p>
              </p:txBody>
            </p:sp>
          </mc:Choice>
          <mc:Fallback xmlns=""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5571E6BA-C849-0A85-92E1-6D277CF33F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9726" y="4713701"/>
                  <a:ext cx="284693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30435" t="-2174" r="-4348" b="-32609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65B7F7EA-9F22-6401-4903-7999BEA689A6}"/>
                    </a:ext>
                  </a:extLst>
                </p:cNvPr>
                <p:cNvSpPr txBox="1"/>
                <p:nvPr/>
              </p:nvSpPr>
              <p:spPr>
                <a:xfrm>
                  <a:off x="8481146" y="4858747"/>
                  <a:ext cx="2656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SE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E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SE" b="0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m:oMathPara>
                  </a14:m>
                  <a:endParaRPr lang="en-SE" dirty="0"/>
                </a:p>
              </p:txBody>
            </p:sp>
          </mc:Choice>
          <mc:Fallback xmlns="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65B7F7EA-9F22-6401-4903-7999BEA689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81146" y="4858747"/>
                  <a:ext cx="265650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20455" b="-21739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1" name="Right Brace 170">
              <a:extLst>
                <a:ext uri="{FF2B5EF4-FFF2-40B4-BE49-F238E27FC236}">
                  <a16:creationId xmlns:a16="http://schemas.microsoft.com/office/drawing/2014/main" id="{6024923D-39FA-CEED-1D0A-682FAB858164}"/>
                </a:ext>
              </a:extLst>
            </p:cNvPr>
            <p:cNvSpPr/>
            <p:nvPr/>
          </p:nvSpPr>
          <p:spPr>
            <a:xfrm>
              <a:off x="8348657" y="4667424"/>
              <a:ext cx="110766" cy="737679"/>
            </a:xfrm>
            <a:prstGeom prst="rightBrac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SE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353866CA-9E36-AC24-E63A-7D7790525809}"/>
              </a:ext>
            </a:extLst>
          </p:cNvPr>
          <p:cNvSpPr txBox="1"/>
          <p:nvPr/>
        </p:nvSpPr>
        <p:spPr>
          <a:xfrm>
            <a:off x="900367" y="2441109"/>
            <a:ext cx="2061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b="1" dirty="0"/>
              <a:t>no covariation,</a:t>
            </a:r>
          </a:p>
          <a:p>
            <a:pPr algn="ctr"/>
            <a:r>
              <a:rPr lang="en-SE" b="1" dirty="0"/>
              <a:t>no moderation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3C0049-DA00-A2B6-0BFC-E9CC1CECF1D1}"/>
              </a:ext>
            </a:extLst>
          </p:cNvPr>
          <p:cNvSpPr txBox="1"/>
          <p:nvPr/>
        </p:nvSpPr>
        <p:spPr>
          <a:xfrm>
            <a:off x="3693920" y="2439812"/>
            <a:ext cx="2061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b="1" dirty="0"/>
              <a:t>covariation, but</a:t>
            </a:r>
          </a:p>
          <a:p>
            <a:pPr algn="ctr"/>
            <a:r>
              <a:rPr lang="en-SE" b="1" dirty="0"/>
              <a:t>no moderation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5E3819-8973-DB4A-BA0F-351A41293317}"/>
              </a:ext>
            </a:extLst>
          </p:cNvPr>
          <p:cNvSpPr txBox="1"/>
          <p:nvPr/>
        </p:nvSpPr>
        <p:spPr>
          <a:xfrm>
            <a:off x="6437537" y="2439812"/>
            <a:ext cx="2061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b="1" dirty="0"/>
              <a:t>no covariation, but moderation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87837E-2181-3A6A-FB51-E2136C3F3AF2}"/>
              </a:ext>
            </a:extLst>
          </p:cNvPr>
          <p:cNvSpPr txBox="1"/>
          <p:nvPr/>
        </p:nvSpPr>
        <p:spPr>
          <a:xfrm>
            <a:off x="9181154" y="2441782"/>
            <a:ext cx="2061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E" b="1" dirty="0"/>
              <a:t>covariation and moderation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89C9543-972E-83FC-121B-97FE8BED5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077288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0" grpId="0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49CD5-1189-7B97-53D7-745587A55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Threat to External Validity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688F2-009A-C1BF-73AD-263B07E2E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A72A7-4F8E-DBB8-4C56-3CDB301EC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81B44-9CC6-463A-F897-D392ADA33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58</a:t>
            </a:fld>
            <a:endParaRPr lang="en-SE"/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5A60BC42-21A1-ABA7-7D6D-63FF94A9D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25689"/>
          </a:xfrm>
        </p:spPr>
        <p:txBody>
          <a:bodyPr/>
          <a:lstStyle/>
          <a:p>
            <a:pPr marL="0" indent="0">
              <a:buNone/>
            </a:pPr>
            <a:r>
              <a:rPr lang="en-SE" dirty="0"/>
              <a:t>When studying a phenomenon via a controlled experiment and...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2AD834B8-490D-F8C0-71A0-F0E19A4ECD33}"/>
              </a:ext>
            </a:extLst>
          </p:cNvPr>
          <p:cNvSpPr txBox="1">
            <a:spLocks/>
          </p:cNvSpPr>
          <p:nvPr/>
        </p:nvSpPr>
        <p:spPr>
          <a:xfrm>
            <a:off x="838198" y="5695724"/>
            <a:ext cx="10515600" cy="525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SE" dirty="0"/>
              <a:t>... then the external validity of the result is threatened.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D95747-FCD7-D296-3BD5-BB26D63A7C79}"/>
              </a:ext>
            </a:extLst>
          </p:cNvPr>
          <p:cNvSpPr txBox="1"/>
          <p:nvPr/>
        </p:nvSpPr>
        <p:spPr>
          <a:xfrm>
            <a:off x="2362145" y="2585210"/>
            <a:ext cx="3318708" cy="64633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just"/>
            <a:r>
              <a:rPr lang="en-SE" dirty="0"/>
              <a:t>(1) the average treatment effect is </a:t>
            </a:r>
            <a:r>
              <a:rPr lang="en-SE" b="1" dirty="0"/>
              <a:t>moderated </a:t>
            </a:r>
            <a:r>
              <a:rPr lang="en-SE" dirty="0"/>
              <a:t>by a covariate,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13575D-0238-037C-5F9C-DF0AD948A4EB}"/>
              </a:ext>
            </a:extLst>
          </p:cNvPr>
          <p:cNvSpPr txBox="1"/>
          <p:nvPr/>
        </p:nvSpPr>
        <p:spPr>
          <a:xfrm>
            <a:off x="6340378" y="2316162"/>
            <a:ext cx="3626042" cy="92333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just"/>
            <a:r>
              <a:rPr lang="en-SE" dirty="0"/>
              <a:t>(2) </a:t>
            </a:r>
            <a:r>
              <a:rPr lang="de-DE" dirty="0"/>
              <a:t>T</a:t>
            </a:r>
            <a:r>
              <a:rPr lang="en-SE" dirty="0"/>
              <a:t>his covariate’s </a:t>
            </a:r>
            <a:r>
              <a:rPr lang="en-SE" b="1" dirty="0"/>
              <a:t>distribution differs</a:t>
            </a:r>
            <a:r>
              <a:rPr lang="en-SE" dirty="0"/>
              <a:t> in the experimental sample from the target population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2E9FC77-A124-9716-56E4-BC0ACFA14E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62145" y="3473101"/>
            <a:ext cx="3348056" cy="198901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AACAA65-B675-2DF9-9F1B-3E8012FA8F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76945" y="3473101"/>
            <a:ext cx="3352909" cy="1989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446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D9C49-2014-4629-3688-26EA40BE6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Limitations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D799A-7EE6-5EB0-F114-80FC44288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70CAC-E668-10AD-F20A-48038FD54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B3093-4CDD-4B77-1F63-AE33AD8EE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59</a:t>
            </a:fld>
            <a:endParaRPr lang="en-SE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B3A70C4-B1CB-E88D-3512-EA1720736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pPr marL="0" indent="0">
              <a:buNone/>
            </a:pPr>
            <a:r>
              <a:rPr lang="en-SE" noProof="0" dirty="0"/>
              <a:t>There are several </a:t>
            </a:r>
            <a:r>
              <a:rPr lang="en-SE" dirty="0"/>
              <a:t>(more) </a:t>
            </a:r>
            <a:r>
              <a:rPr lang="en-SE" noProof="0" dirty="0"/>
              <a:t>reasons why we cannot investigate every phenomenon with a controlled experiment, as they are</a:t>
            </a:r>
            <a:endParaRPr lang="en-US" noProof="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3F6276D-95DC-3022-6FD6-0C6CBA95499F}"/>
              </a:ext>
            </a:extLst>
          </p:cNvPr>
          <p:cNvGrpSpPr/>
          <p:nvPr/>
        </p:nvGrpSpPr>
        <p:grpSpPr>
          <a:xfrm>
            <a:off x="955244" y="2922370"/>
            <a:ext cx="2403652" cy="2132630"/>
            <a:chOff x="4894174" y="3429000"/>
            <a:chExt cx="2403652" cy="213263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256F16F-3070-3C22-583A-E072945C4CD0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C5DB6BE-6D63-0F48-C39A-2C04BD86465D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2" name="Graphic 11" descr="Flying Money with solid fill">
                <a:extLst>
                  <a:ext uri="{FF2B5EF4-FFF2-40B4-BE49-F238E27FC236}">
                    <a16:creationId xmlns:a16="http://schemas.microsoft.com/office/drawing/2014/main" id="{DF148DED-C3E2-CD47-C008-85D3DF9215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EED1651-F464-9692-9CCE-205CE8CFBD33}"/>
                </a:ext>
              </a:extLst>
            </p:cNvPr>
            <p:cNvSpPr txBox="1"/>
            <p:nvPr/>
          </p:nvSpPr>
          <p:spPr>
            <a:xfrm>
              <a:off x="4894174" y="4669078"/>
              <a:ext cx="2403652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Expensive</a:t>
              </a:r>
            </a:p>
            <a:p>
              <a:pPr algn="ctr"/>
              <a:r>
                <a:rPr lang="en-US" sz="1600" noProof="0" dirty="0"/>
                <a:t>Recruiting eligible participants is difficult 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BB4A6A7-45F4-A2D9-B787-461204A194B8}"/>
              </a:ext>
            </a:extLst>
          </p:cNvPr>
          <p:cNvGrpSpPr/>
          <p:nvPr/>
        </p:nvGrpSpPr>
        <p:grpSpPr>
          <a:xfrm>
            <a:off x="3492902" y="2922370"/>
            <a:ext cx="2403652" cy="2101852"/>
            <a:chOff x="4894174" y="3429000"/>
            <a:chExt cx="2403652" cy="2101852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2CC776F-BC34-53D6-160E-52895328749A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7F21D6C5-9B11-3CE5-953C-DD5882F9BEBD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7" name="Graphic 16" descr="Forest scene with solid fill">
                <a:extLst>
                  <a:ext uri="{FF2B5EF4-FFF2-40B4-BE49-F238E27FC236}">
                    <a16:creationId xmlns:a16="http://schemas.microsoft.com/office/drawing/2014/main" id="{46545ECE-ED1A-8C1C-04EA-1D0B1CB979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F8ED1C8-47F7-1877-3058-509DE960B302}"/>
                </a:ext>
              </a:extLst>
            </p:cNvPr>
            <p:cNvSpPr txBox="1"/>
            <p:nvPr/>
          </p:nvSpPr>
          <p:spPr>
            <a:xfrm>
              <a:off x="4894174" y="4669078"/>
              <a:ext cx="2403652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Unrealistic</a:t>
              </a:r>
            </a:p>
            <a:p>
              <a:pPr algn="ctr"/>
              <a:r>
                <a:rPr lang="en-US" sz="1600" noProof="0" dirty="0"/>
                <a:t>Experiments perturb the natural context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0B7F016-C771-2AD4-D30C-A12C95DE933E}"/>
              </a:ext>
            </a:extLst>
          </p:cNvPr>
          <p:cNvGrpSpPr/>
          <p:nvPr/>
        </p:nvGrpSpPr>
        <p:grpSpPr>
          <a:xfrm>
            <a:off x="6030560" y="2922370"/>
            <a:ext cx="2403652" cy="2101852"/>
            <a:chOff x="4894174" y="3429000"/>
            <a:chExt cx="2403652" cy="2101852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5C14E09-82AE-8586-8D0E-AEA9AE9D0039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13668132-8B10-3CD6-322B-3F6C7CC974AD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22" name="Graphic 21" descr="Right Brain with solid fill">
                <a:extLst>
                  <a:ext uri="{FF2B5EF4-FFF2-40B4-BE49-F238E27FC236}">
                    <a16:creationId xmlns:a16="http://schemas.microsoft.com/office/drawing/2014/main" id="{9FC48E7A-9A1D-4210-063E-DCFF92D0D0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F53455D-4C05-3747-327A-AA4476EE6ED4}"/>
                </a:ext>
              </a:extLst>
            </p:cNvPr>
            <p:cNvSpPr txBox="1"/>
            <p:nvPr/>
          </p:nvSpPr>
          <p:spPr>
            <a:xfrm>
              <a:off x="4894174" y="4669078"/>
              <a:ext cx="2403652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Impossible</a:t>
              </a:r>
            </a:p>
            <a:p>
              <a:pPr algn="ctr"/>
              <a:r>
                <a:rPr lang="en-US" sz="1600" noProof="0" dirty="0"/>
                <a:t>Some factors are impossible to control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CED6AB2-4D1F-236E-60F4-0860905E573D}"/>
              </a:ext>
            </a:extLst>
          </p:cNvPr>
          <p:cNvGrpSpPr/>
          <p:nvPr/>
        </p:nvGrpSpPr>
        <p:grpSpPr>
          <a:xfrm>
            <a:off x="8568218" y="2922370"/>
            <a:ext cx="2403652" cy="2594295"/>
            <a:chOff x="4894174" y="3429000"/>
            <a:chExt cx="2403652" cy="2594295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D1C9CC1-E193-BCBC-A1FB-38E0512130C0}"/>
                </a:ext>
              </a:extLst>
            </p:cNvPr>
            <p:cNvGrpSpPr/>
            <p:nvPr/>
          </p:nvGrpSpPr>
          <p:grpSpPr>
            <a:xfrm>
              <a:off x="5556000" y="3429000"/>
              <a:ext cx="1080000" cy="1080000"/>
              <a:chOff x="3313786" y="3686861"/>
              <a:chExt cx="1080000" cy="1080000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33CC9A7F-CA30-2A42-837D-10C65E345B19}"/>
                  </a:ext>
                </a:extLst>
              </p:cNvPr>
              <p:cNvSpPr/>
              <p:nvPr/>
            </p:nvSpPr>
            <p:spPr>
              <a:xfrm>
                <a:off x="3313786" y="3686861"/>
                <a:ext cx="1080000" cy="108000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27" name="Graphic 26" descr="Bar chart with solid fill">
                <a:extLst>
                  <a:ext uri="{FF2B5EF4-FFF2-40B4-BE49-F238E27FC236}">
                    <a16:creationId xmlns:a16="http://schemas.microsoft.com/office/drawing/2014/main" id="{8F18B56F-8DFE-D1FD-B5CF-2E418279DB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3396586" y="3769661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C246194-E1D8-D534-6A60-0000C7E02743}"/>
                </a:ext>
              </a:extLst>
            </p:cNvPr>
            <p:cNvSpPr txBox="1"/>
            <p:nvPr/>
          </p:nvSpPr>
          <p:spPr>
            <a:xfrm>
              <a:off x="4894174" y="4669078"/>
              <a:ext cx="2403652" cy="1354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Assumed</a:t>
              </a:r>
            </a:p>
            <a:p>
              <a:pPr algn="ctr"/>
              <a:r>
                <a:rPr lang="en-US" sz="1600" noProof="0" dirty="0"/>
                <a:t>The validity of experimental results depends on several conditions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26132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7F6025B-E479-95F1-E5D9-6522D2EAF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Conclusion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C5D6672-652A-818F-0B8E-16BA543383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E" dirty="0"/>
              <a:t>What Does This Mean for (Empirical) Software Engineering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AFCE7-5553-C697-CA4F-79F8E586D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FBC2C-E2BB-9D2E-1032-C64966211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F0027-AB69-97D3-7353-0E951D1F0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60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0378371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0562D-D718-D4A6-4787-5195249BF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/>
              <a:t>How to Good Science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E0CCA-DEC4-FFEE-90A9-F14C3EBBC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SE"/>
              <a:t>2026-05-12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68CE2-9857-FB18-8AED-EA72AC6E0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Good Science</a:t>
            </a:r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457E5-5EF3-A476-CBFC-9D6C7E54A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ECC92-9CDE-4EB3-B1C5-F46B9E1FA3C1}" type="slidenum">
              <a:rPr lang="en-SE" smtClean="0"/>
              <a:t>61</a:t>
            </a:fld>
            <a:endParaRPr lang="en-SE"/>
          </a:p>
        </p:txBody>
      </p:sp>
      <p:pic>
        <p:nvPicPr>
          <p:cNvPr id="8" name="Graphic 7" descr="Network with solid fill">
            <a:extLst>
              <a:ext uri="{FF2B5EF4-FFF2-40B4-BE49-F238E27FC236}">
                <a16:creationId xmlns:a16="http://schemas.microsoft.com/office/drawing/2014/main" id="{A4C3008D-C625-BFD8-C4B5-0077C423D5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198" y="1690688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603FF6-7DF0-8D12-A39F-F133CD7F2310}"/>
              </a:ext>
            </a:extLst>
          </p:cNvPr>
          <p:cNvSpPr txBox="1"/>
          <p:nvPr/>
        </p:nvSpPr>
        <p:spPr>
          <a:xfrm>
            <a:off x="1752598" y="1793945"/>
            <a:ext cx="8550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sz="2000" b="1" dirty="0"/>
              <a:t>Internal validity </a:t>
            </a:r>
            <a:r>
              <a:rPr lang="en-SE" sz="2000" dirty="0"/>
              <a:t>requires visualizing and communicating your causal assumptions, and closing any backdoor paths by controlling confounders</a:t>
            </a:r>
          </a:p>
        </p:txBody>
      </p:sp>
      <p:pic>
        <p:nvPicPr>
          <p:cNvPr id="10" name="Graphic 9" descr="Share with solid fill">
            <a:extLst>
              <a:ext uri="{FF2B5EF4-FFF2-40B4-BE49-F238E27FC236}">
                <a16:creationId xmlns:a16="http://schemas.microsoft.com/office/drawing/2014/main" id="{F0C21F6F-A29C-0335-C99D-1FB2A4D2F7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38198" y="2723008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801B745-E87D-F81B-8AA1-F655E48FF0BB}"/>
              </a:ext>
            </a:extLst>
          </p:cNvPr>
          <p:cNvSpPr txBox="1"/>
          <p:nvPr/>
        </p:nvSpPr>
        <p:spPr>
          <a:xfrm>
            <a:off x="1752598" y="2826265"/>
            <a:ext cx="85503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sz="2000" b="1" dirty="0"/>
              <a:t>External validity </a:t>
            </a:r>
            <a:r>
              <a:rPr lang="en-SE" sz="2000" dirty="0"/>
              <a:t>requires awareness of potential moderators that also affect trial eligibility</a:t>
            </a:r>
          </a:p>
        </p:txBody>
      </p:sp>
    </p:spTree>
    <p:extLst>
      <p:ext uri="{BB962C8B-B14F-4D97-AF65-F5344CB8AC3E}">
        <p14:creationId xmlns:p14="http://schemas.microsoft.com/office/powerpoint/2010/main" val="21598407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Chalmers">
      <a:dk1>
        <a:sysClr val="windowText" lastClr="000000"/>
      </a:dk1>
      <a:lt1>
        <a:srgbClr val="FFFFFF"/>
      </a:lt1>
      <a:dk2>
        <a:srgbClr val="003050"/>
      </a:dk2>
      <a:lt2>
        <a:srgbClr val="FFCB05"/>
      </a:lt2>
      <a:accent1>
        <a:srgbClr val="F15A22"/>
      </a:accent1>
      <a:accent2>
        <a:srgbClr val="7FB539"/>
      </a:accent2>
      <a:accent3>
        <a:srgbClr val="006C5C"/>
      </a:accent3>
      <a:accent4>
        <a:srgbClr val="5D6F7A"/>
      </a:accent4>
      <a:accent5>
        <a:srgbClr val="58B0E3"/>
      </a:accent5>
      <a:accent6>
        <a:srgbClr val="270089"/>
      </a:accent6>
      <a:hlink>
        <a:srgbClr val="00A99D"/>
      </a:hlink>
      <a:folHlink>
        <a:srgbClr val="48372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4192</Words>
  <Application>Microsoft Office PowerPoint</Application>
  <PresentationFormat>Widescreen</PresentationFormat>
  <Paragraphs>875</Paragraphs>
  <Slides>61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6" baseType="lpstr">
      <vt:lpstr>Aptos</vt:lpstr>
      <vt:lpstr>Aptos Display</vt:lpstr>
      <vt:lpstr>Arial</vt:lpstr>
      <vt:lpstr>Cambria Math</vt:lpstr>
      <vt:lpstr>Office Theme</vt:lpstr>
      <vt:lpstr>Good Science</vt:lpstr>
      <vt:lpstr>Julian Frattini // about me</vt:lpstr>
      <vt:lpstr>Julian Frattini // about my research</vt:lpstr>
      <vt:lpstr>Disclaimer</vt:lpstr>
      <vt:lpstr>PowerPoint Presentation</vt:lpstr>
      <vt:lpstr>PowerPoint Presentation</vt:lpstr>
      <vt:lpstr>Software Engineering will become Software Engineering Research</vt:lpstr>
      <vt:lpstr>PowerPoint Presentation</vt:lpstr>
      <vt:lpstr>Motivation</vt:lpstr>
      <vt:lpstr>The Purpose of Science</vt:lpstr>
      <vt:lpstr>Properties of Science</vt:lpstr>
      <vt:lpstr>The Scientific Process</vt:lpstr>
      <vt:lpstr>The Scientific Process</vt:lpstr>
      <vt:lpstr>Validity</vt:lpstr>
      <vt:lpstr>The Scientific Process</vt:lpstr>
      <vt:lpstr>Causal Modelling</vt:lpstr>
      <vt:lpstr>Causal Modelling</vt:lpstr>
      <vt:lpstr>Structure of the Slides</vt:lpstr>
      <vt:lpstr>Directed Acyclic Graphs</vt:lpstr>
      <vt:lpstr>Formulating Casual Hypotheses</vt:lpstr>
      <vt:lpstr>Directed Acyclic Graphs</vt:lpstr>
      <vt:lpstr>Formulating Complex Hypotheses</vt:lpstr>
      <vt:lpstr>Formulating Complex Hypotheses</vt:lpstr>
      <vt:lpstr>Formulating Complex Hypotheses</vt:lpstr>
      <vt:lpstr>Formulating Complex Hypotheses</vt:lpstr>
      <vt:lpstr>Formulating Complex Hypotheses</vt:lpstr>
      <vt:lpstr>Disputing Causal Hypotheses</vt:lpstr>
      <vt:lpstr>Types of Relationships</vt:lpstr>
      <vt:lpstr>The Effect of The Third Variable</vt:lpstr>
      <vt:lpstr>Dealing with Variables</vt:lpstr>
      <vt:lpstr>Identifying Paths</vt:lpstr>
      <vt:lpstr>d-Separation</vt:lpstr>
      <vt:lpstr>d-Separation</vt:lpstr>
      <vt:lpstr>d-Separation</vt:lpstr>
      <vt:lpstr>d-Separation</vt:lpstr>
      <vt:lpstr>d-Separation</vt:lpstr>
      <vt:lpstr>d-Separation</vt:lpstr>
      <vt:lpstr>d-Separation</vt:lpstr>
      <vt:lpstr>Exercises</vt:lpstr>
      <vt:lpstr>Exercises</vt:lpstr>
      <vt:lpstr>Exercises</vt:lpstr>
      <vt:lpstr>Exercises</vt:lpstr>
      <vt:lpstr>Exercises</vt:lpstr>
      <vt:lpstr>Exercises</vt:lpstr>
      <vt:lpstr>Exercises</vt:lpstr>
      <vt:lpstr>Encoding Observability</vt:lpstr>
      <vt:lpstr>Determining Study-ability</vt:lpstr>
      <vt:lpstr>Limitations of Observational Studies</vt:lpstr>
      <vt:lpstr>Experimentation</vt:lpstr>
      <vt:lpstr>Controlled Experiments</vt:lpstr>
      <vt:lpstr>Distinguishing Study Types</vt:lpstr>
      <vt:lpstr>Controlled Experiments in Software Engineering</vt:lpstr>
      <vt:lpstr>Limitations</vt:lpstr>
      <vt:lpstr>Threats to External Validity</vt:lpstr>
      <vt:lpstr>Target Population and Representative Samples</vt:lpstr>
      <vt:lpstr>Moderation</vt:lpstr>
      <vt:lpstr>Determining Moderation</vt:lpstr>
      <vt:lpstr>Threat to External Validity</vt:lpstr>
      <vt:lpstr>Limitations</vt:lpstr>
      <vt:lpstr>Conclusion</vt:lpstr>
      <vt:lpstr>How to Good Science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 Frattini</dc:creator>
  <cp:lastModifiedBy>Julian Frattini</cp:lastModifiedBy>
  <cp:revision>30</cp:revision>
  <dcterms:created xsi:type="dcterms:W3CDTF">2025-05-23T14:20:09Z</dcterms:created>
  <dcterms:modified xsi:type="dcterms:W3CDTF">2026-05-12T20:54:56Z</dcterms:modified>
</cp:coreProperties>
</file>