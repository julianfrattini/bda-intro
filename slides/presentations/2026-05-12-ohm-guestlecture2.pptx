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6" r:id="rId2"/>
    <p:sldId id="394" r:id="rId3"/>
    <p:sldId id="395" r:id="rId4"/>
    <p:sldId id="396" r:id="rId5"/>
    <p:sldId id="389" r:id="rId6"/>
    <p:sldId id="390" r:id="rId7"/>
    <p:sldId id="391" r:id="rId8"/>
    <p:sldId id="397" r:id="rId9"/>
    <p:sldId id="398" r:id="rId10"/>
    <p:sldId id="399" r:id="rId11"/>
    <p:sldId id="401" r:id="rId12"/>
    <p:sldId id="400" r:id="rId13"/>
    <p:sldId id="427" r:id="rId14"/>
    <p:sldId id="402" r:id="rId15"/>
    <p:sldId id="403" r:id="rId16"/>
    <p:sldId id="404" r:id="rId17"/>
    <p:sldId id="405" r:id="rId18"/>
    <p:sldId id="426" r:id="rId19"/>
    <p:sldId id="428" r:id="rId20"/>
    <p:sldId id="393" r:id="rId21"/>
    <p:sldId id="406" r:id="rId22"/>
    <p:sldId id="386" r:id="rId23"/>
    <p:sldId id="425" r:id="rId24"/>
    <p:sldId id="423" r:id="rId25"/>
    <p:sldId id="424" r:id="rId26"/>
    <p:sldId id="387" r:id="rId27"/>
    <p:sldId id="388" r:id="rId28"/>
    <p:sldId id="407" r:id="rId29"/>
    <p:sldId id="422" r:id="rId3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CC29449-0C4D-440C-A898-37D5FC755553}">
          <p14:sldIdLst>
            <p14:sldId id="256"/>
          </p14:sldIdLst>
        </p14:section>
        <p14:section name="Context &amp; Motivation" id="{06A526C7-D1CE-4EB1-8913-299C4DF1383D}">
          <p14:sldIdLst>
            <p14:sldId id="394"/>
            <p14:sldId id="395"/>
            <p14:sldId id="396"/>
            <p14:sldId id="389"/>
            <p14:sldId id="390"/>
            <p14:sldId id="391"/>
            <p14:sldId id="397"/>
            <p14:sldId id="398"/>
            <p14:sldId id="399"/>
            <p14:sldId id="401"/>
          </p14:sldIdLst>
        </p14:section>
        <p14:section name="Assessing Construct Validity" id="{7930D4C6-6BDB-4951-8007-90919B426791}">
          <p14:sldIdLst>
            <p14:sldId id="400"/>
            <p14:sldId id="427"/>
            <p14:sldId id="402"/>
            <p14:sldId id="403"/>
            <p14:sldId id="404"/>
            <p14:sldId id="405"/>
            <p14:sldId id="426"/>
            <p14:sldId id="428"/>
            <p14:sldId id="393"/>
          </p14:sldIdLst>
        </p14:section>
        <p14:section name="Research Synthesis" id="{6C093ACC-06DF-4ED4-9227-3A0AC23D7077}">
          <p14:sldIdLst>
            <p14:sldId id="406"/>
            <p14:sldId id="386"/>
            <p14:sldId id="425"/>
            <p14:sldId id="423"/>
            <p14:sldId id="424"/>
            <p14:sldId id="387"/>
            <p14:sldId id="388"/>
          </p14:sldIdLst>
        </p14:section>
        <p14:section name="Conclusion" id="{E666AB10-00C2-41DC-843E-B967CA5770ED}">
          <p14:sldIdLst>
            <p14:sldId id="407"/>
            <p14:sldId id="4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49A"/>
    <a:srgbClr val="00927D"/>
    <a:srgbClr val="007A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76078" autoAdjust="0"/>
  </p:normalViewPr>
  <p:slideViewPr>
    <p:cSldViewPr snapToGrid="0">
      <p:cViewPr varScale="1">
        <p:scale>
          <a:sx n="87" d="100"/>
          <a:sy n="87" d="100"/>
        </p:scale>
        <p:origin x="9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28809-A3C0-435B-AC12-B9138744A337}" type="datetimeFigureOut">
              <a:rPr lang="en-SE" smtClean="0"/>
              <a:t>2026-05-12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E9047-6757-432F-B3C4-B9B79F30218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56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However, this is an incomplete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964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Theory-level: what we </a:t>
            </a:r>
            <a:r>
              <a:rPr lang="en-SE" i="1" dirty="0"/>
              <a:t>want</a:t>
            </a:r>
            <a:r>
              <a:rPr lang="en-SE" i="0" dirty="0"/>
              <a:t> to reason about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i="0" dirty="0"/>
              <a:t>Observation-level: what we </a:t>
            </a:r>
            <a:r>
              <a:rPr lang="en-SE" b="0" i="1" dirty="0"/>
              <a:t>can </a:t>
            </a:r>
            <a:r>
              <a:rPr lang="en-SE" b="0" i="0" dirty="0"/>
              <a:t>reason about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22009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We already established that empirical SE research is hard</a:t>
            </a:r>
          </a:p>
          <a:p>
            <a:r>
              <a:rPr lang="en-US" noProof="0" dirty="0"/>
              <a:t>As a consequence, studies happen on a very constrained scope</a:t>
            </a:r>
          </a:p>
          <a:p>
            <a:r>
              <a:rPr lang="en-US" noProof="0" dirty="0"/>
              <a:t>An individual study needs to be replicated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75293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7492C-F5E0-79AD-198A-C5D583F18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0B969-C24E-1A54-C2B2-A6FAC3501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2C17-4EC7-23AC-89D6-469364C2D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We already established that empirical SE research is hard</a:t>
            </a:r>
          </a:p>
          <a:p>
            <a:r>
              <a:rPr lang="en-US" noProof="0" dirty="0"/>
              <a:t>As a consequence, studies happen on a very constrained scope</a:t>
            </a:r>
          </a:p>
          <a:p>
            <a:r>
              <a:rPr lang="en-US" noProof="0" dirty="0"/>
              <a:t>An individual study needs to be replicated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A734B-7A5A-ABEA-C1C8-D24856704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91563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B8E9-46AB-4F8F-6C3F-1E84C927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5D2A6-F517-84A3-A523-861CDE808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FD3BB-00BC-32EA-95A4-11BB79683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We already established that empirical SE research is hard</a:t>
            </a:r>
          </a:p>
          <a:p>
            <a:r>
              <a:rPr lang="en-US" noProof="0" dirty="0"/>
              <a:t>As a consequence, studies happen on a very constrained scope</a:t>
            </a:r>
          </a:p>
          <a:p>
            <a:r>
              <a:rPr lang="en-US" noProof="0" dirty="0"/>
              <a:t>An individual study needs to be replicated</a:t>
            </a:r>
          </a:p>
          <a:p>
            <a:r>
              <a:rPr lang="en-US" noProof="0" dirty="0"/>
              <a:t>Meta-analysis: Replications can be aggregated</a:t>
            </a:r>
          </a:p>
          <a:p>
            <a:r>
              <a:rPr lang="en-US" noProof="0" dirty="0"/>
              <a:t>But: meta-analysis only works for comparable operationalizations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559D2-7E0E-A419-0140-AA0A4F1FF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719399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Consistent operationalization is one step towards improving external validity via research synthesis</a:t>
            </a:r>
          </a:p>
          <a:p>
            <a:r>
              <a:rPr lang="en-US" noProof="0" dirty="0"/>
              <a:t>But another one is: somebody also needs to </a:t>
            </a:r>
            <a:r>
              <a:rPr lang="en-US" i="1" noProof="0" dirty="0"/>
              <a:t>do</a:t>
            </a:r>
            <a:r>
              <a:rPr lang="en-US" noProof="0" dirty="0"/>
              <a:t> those replications</a:t>
            </a:r>
          </a:p>
          <a:p>
            <a:r>
              <a:rPr lang="en-US" noProof="0" dirty="0"/>
              <a:t>Replicability lowers the barrier for this</a:t>
            </a:r>
          </a:p>
          <a:p>
            <a:r>
              <a:rPr lang="en-US" noProof="0" dirty="0"/>
              <a:t>But: replicability != replication</a:t>
            </a:r>
          </a:p>
          <a:p>
            <a:r>
              <a:rPr lang="en-US" noProof="0" dirty="0"/>
              <a:t>Replication are not sought after in SE because of our obsession with novelty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19089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3890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ECFB-CC92-FB7D-062B-5F840C7C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DB82B-6165-1C54-C51D-F5D58F23C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55BD-5E43-FC47-D766-386274FE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45E8-8305-94BE-CD1F-E34E3021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BD3E-ECCB-B12E-8504-AE90BAE0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FAC15DB-F6D1-F33F-FE40-C327DCFFA1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43" y="388368"/>
            <a:ext cx="9485714" cy="119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46C5-11CD-4C87-4B7F-F0A00841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93809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7B5C-1FB8-DA82-8443-4DACD45F0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B50CE-E3D9-6C15-6C1B-8A30001A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06B3-8DD0-55B3-08A0-DD0591C9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94B0-86B7-2B02-AF74-37DFCA7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9E70D1-BC5E-0623-4514-854441A4D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10" y="365125"/>
            <a:ext cx="100369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3C64-99A3-C45B-FC04-CD6D7DF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EB3B-F9F7-57EA-A865-FA89E9BE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A0C2-17AA-E8FA-AF35-325A5B6C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95503-4D40-A4E1-4A17-B8F47614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0937-6335-D00A-B738-E03007DF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93BCFD-7846-D276-1F73-CBB0C60EE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063" y="267789"/>
            <a:ext cx="4947173" cy="6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84F10-67C5-38A9-9573-9D83950E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13B2-F0B2-78B0-2431-5AE1C5DC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28DA-366D-4CD9-E1EB-113EAA959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68D1-9044-00B4-ABE4-8F49530A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6186-4B45-9116-C243-AC06504D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114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anfrattini.github.io/" TargetMode="External"/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anFrattini/bda4sci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8D0B-776C-E8F7-4D2E-37BA60724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noProof="0" dirty="0"/>
              <a:t>Good </a:t>
            </a:r>
            <a:r>
              <a:rPr lang="en-SE" sz="4800" noProof="0" dirty="0"/>
              <a:t>Science</a:t>
            </a:r>
            <a:endParaRPr lang="en-US" sz="48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A751-926C-8553-9E48-80B7DF1A9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Measuring What’s Right, Not What’s Easy To Measure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591A-FA02-7123-DF74-EDB9D33C0122}"/>
              </a:ext>
            </a:extLst>
          </p:cNvPr>
          <p:cNvSpPr txBox="1"/>
          <p:nvPr/>
        </p:nvSpPr>
        <p:spPr>
          <a:xfrm>
            <a:off x="7198850" y="5859885"/>
            <a:ext cx="4302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Copyright © 202</a:t>
            </a:r>
            <a:r>
              <a:rPr lang="en-SE" sz="1400" dirty="0"/>
              <a:t>6</a:t>
            </a:r>
            <a:r>
              <a:rPr lang="en-US" sz="1400" dirty="0"/>
              <a:t> Julian Frattini. </a:t>
            </a:r>
          </a:p>
          <a:p>
            <a:pPr algn="r"/>
            <a:r>
              <a:rPr lang="en-US" sz="1400" dirty="0"/>
              <a:t>This presentation is licensed under </a:t>
            </a:r>
            <a:r>
              <a:rPr lang="en-US" sz="1400" dirty="0">
                <a:hlinkClick r:id="rId2"/>
              </a:rPr>
              <a:t>CC BY</a:t>
            </a:r>
            <a:r>
              <a:rPr lang="en-SE" sz="1400" dirty="0">
                <a:hlinkClick r:id="rId2"/>
              </a:rPr>
              <a:t>-NC-SA 4.0</a:t>
            </a:r>
            <a:r>
              <a:rPr lang="en-US" sz="14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FEC08-B055-2789-C209-ABB868E097B3}"/>
              </a:ext>
            </a:extLst>
          </p:cNvPr>
          <p:cNvSpPr txBox="1"/>
          <p:nvPr/>
        </p:nvSpPr>
        <p:spPr>
          <a:xfrm>
            <a:off x="1866348" y="5273718"/>
            <a:ext cx="401911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Julian </a:t>
            </a:r>
            <a:r>
              <a:rPr lang="en-US" b="1" noProof="0" dirty="0"/>
              <a:t>Frattini</a:t>
            </a:r>
            <a:r>
              <a:rPr lang="en-US" noProof="0" dirty="0"/>
              <a:t>, Ph.D.</a:t>
            </a:r>
          </a:p>
          <a:p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Postdoctoral Researcher</a:t>
            </a:r>
          </a:p>
          <a:p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sz="1600" noProof="0" dirty="0">
                <a:hlinkClick r:id="rId3"/>
              </a:rPr>
              <a:t>https://julianfrattini.github.io/</a:t>
            </a:r>
            <a:r>
              <a:rPr lang="en-US" sz="1600" noProof="0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E9483-BEDA-C731-B7BE-ABF0A5518387}"/>
              </a:ext>
            </a:extLst>
          </p:cNvPr>
          <p:cNvSpPr/>
          <p:nvPr/>
        </p:nvSpPr>
        <p:spPr>
          <a:xfrm>
            <a:off x="715676" y="5303105"/>
            <a:ext cx="1080000" cy="1080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9BBCC2-696B-4EE1-4FE4-2E4411C0F251}"/>
              </a:ext>
            </a:extLst>
          </p:cNvPr>
          <p:cNvGrpSpPr/>
          <p:nvPr/>
        </p:nvGrpSpPr>
        <p:grpSpPr>
          <a:xfrm>
            <a:off x="7967672" y="5336710"/>
            <a:ext cx="3533766" cy="444265"/>
            <a:chOff x="7967672" y="5336710"/>
            <a:chExt cx="3533766" cy="4442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08EC-E9A8-C79D-4C75-8B6A9708A3FB}"/>
                </a:ext>
              </a:extLst>
            </p:cNvPr>
            <p:cNvGrpSpPr/>
            <p:nvPr/>
          </p:nvGrpSpPr>
          <p:grpSpPr>
            <a:xfrm>
              <a:off x="7967672" y="5370114"/>
              <a:ext cx="3508652" cy="369332"/>
              <a:chOff x="7896235" y="5406529"/>
              <a:chExt cx="3508652" cy="369332"/>
            </a:xfrm>
          </p:grpSpPr>
          <p:pic>
            <p:nvPicPr>
              <p:cNvPr id="8" name="Picture 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65BDC89-0957-2AB2-5308-DA5566DFC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6235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5BE95E-49F9-842E-7B93-BDF91E09C7D3}"/>
                  </a:ext>
                </a:extLst>
              </p:cNvPr>
              <p:cNvSpPr txBox="1"/>
              <p:nvPr/>
            </p:nvSpPr>
            <p:spPr>
              <a:xfrm>
                <a:off x="8240336" y="5406529"/>
                <a:ext cx="2356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bda4sci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E137170-F20B-D8DB-3856-32092459914B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7" name="Rectangle 6">
              <a:hlinkClick r:id="rId6"/>
              <a:extLst>
                <a:ext uri="{FF2B5EF4-FFF2-40B4-BE49-F238E27FC236}">
                  <a16:creationId xmlns:a16="http://schemas.microsoft.com/office/drawing/2014/main" id="{1523D628-A64F-768E-A385-ECA75D071607}"/>
                </a:ext>
              </a:extLst>
            </p:cNvPr>
            <p:cNvSpPr/>
            <p:nvPr/>
          </p:nvSpPr>
          <p:spPr>
            <a:xfrm>
              <a:off x="7967672" y="5336710"/>
              <a:ext cx="35337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219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FCA451-6D67-2143-B5C0-7D5172FC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Motivation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99AA46-30E3-F9D6-FD97-989E54F1C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The Status Quo and Why We Need to Go Beyond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7F005-6835-57E0-484F-F728F00E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17841-D8CA-DA48-F700-A85F9B15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7B4C2-786B-2F07-6318-9F66ABCFE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79604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FE5157E-E7E5-5F77-91A7-5EC31C2FB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Rigorous Research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E27A6A7-5501-55CB-0F88-2B0EC4402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So far, we have determined that good, </a:t>
            </a:r>
            <a:r>
              <a:rPr lang="en-US" i="1" noProof="0" dirty="0"/>
              <a:t>rigorous</a:t>
            </a:r>
            <a:r>
              <a:rPr lang="en-US" noProof="0" dirty="0"/>
              <a:t> research needs to take into account two dimensions of validity:</a:t>
            </a:r>
          </a:p>
          <a:p>
            <a:r>
              <a:rPr lang="en-US" b="1" noProof="0" dirty="0"/>
              <a:t>Internal validity</a:t>
            </a:r>
            <a:r>
              <a:rPr lang="en-US" noProof="0" dirty="0"/>
              <a:t>, i.e., distinguishing actual causal effects from spurious associations, and</a:t>
            </a:r>
          </a:p>
          <a:p>
            <a:r>
              <a:rPr lang="en-US" b="1" noProof="0" dirty="0"/>
              <a:t>External validity</a:t>
            </a:r>
            <a:r>
              <a:rPr lang="en-US" noProof="0" dirty="0"/>
              <a:t>, i.e., making sure that findings actually apply not only to the studied sample, but the target population of interest.</a:t>
            </a:r>
          </a:p>
          <a:p>
            <a:pPr marL="0" indent="0">
              <a:buNone/>
            </a:pPr>
            <a:endParaRPr lang="en-US" b="1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A2CC2-18EA-88E8-D2C5-843C959A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A7B7A-0DEA-BC83-0ADE-9A02E23C0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940FB-9B4D-030A-500A-8B1F326E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2205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B26C-8435-D372-3138-8990BA87F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Framing Causal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664C0-6ED9-4E8D-D8A9-3129C0659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9005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Via </a:t>
            </a:r>
            <a:r>
              <a:rPr lang="en-US" b="1" noProof="0" dirty="0"/>
              <a:t>causal modelling</a:t>
            </a:r>
            <a:r>
              <a:rPr lang="en-US" noProof="0" dirty="0"/>
              <a:t>, we make our causal assumptions explicit.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96DA2-424A-F784-69B8-CA807ACA1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AF834-3055-D482-711A-EE464289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DC9B4-BB67-1F5C-0209-E1CF8E66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4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6689B6-F028-6CA1-A561-A4C0964EFD9C}"/>
              </a:ext>
            </a:extLst>
          </p:cNvPr>
          <p:cNvGrpSpPr/>
          <p:nvPr/>
        </p:nvGrpSpPr>
        <p:grpSpPr>
          <a:xfrm>
            <a:off x="3396876" y="2977116"/>
            <a:ext cx="5213724" cy="1278819"/>
            <a:chOff x="3431946" y="3172511"/>
            <a:chExt cx="5213724" cy="1278819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AA8A53E-49BF-D08F-0F58-3328F730CE11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D75BFE-0AEF-DB7C-BF24-68C66C7A9885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1B902AD-02FE-2812-B359-1ABEA9B356B9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FEC1723-3E7A-3BF1-61B9-F7B36DDC875E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use of GenAI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43EFD10-8419-8B9B-D83A-1A4C919DB097}"/>
                </a:ext>
              </a:extLst>
            </p:cNvPr>
            <p:cNvSpPr txBox="1"/>
            <p:nvPr/>
          </p:nvSpPr>
          <p:spPr>
            <a:xfrm>
              <a:off x="7282733" y="3288250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32538D-F784-8189-1D80-2A9E84818BAD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8386D9-F417-6A3D-CB3E-621AEC84A59C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5602F39-ACAD-7F01-28C0-81BD5B022443}"/>
                </a:ext>
              </a:extLst>
            </p:cNvPr>
            <p:cNvCxnSpPr>
              <a:cxnSpLocks/>
              <a:stCxn id="13" idx="7"/>
              <a:endCxn id="9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07F6A35-FECA-95BB-D055-017AA18B67B7}"/>
                </a:ext>
              </a:extLst>
            </p:cNvPr>
            <p:cNvCxnSpPr>
              <a:cxnSpLocks/>
              <a:stCxn id="13" idx="1"/>
              <a:endCxn id="8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60065BA-5ACC-43D6-8A60-4D945933241E}"/>
              </a:ext>
            </a:extLst>
          </p:cNvPr>
          <p:cNvSpPr txBox="1">
            <a:spLocks/>
          </p:cNvSpPr>
          <p:nvPr/>
        </p:nvSpPr>
        <p:spPr>
          <a:xfrm>
            <a:off x="838200" y="4672618"/>
            <a:ext cx="10515600" cy="11455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noProof="0" dirty="0"/>
              <a:t>This helps communicate our causal assumptions, invites scrutiny, and helps iteratively improving them.</a:t>
            </a:r>
          </a:p>
        </p:txBody>
      </p:sp>
    </p:spTree>
    <p:extLst>
      <p:ext uri="{BB962C8B-B14F-4D97-AF65-F5344CB8AC3E}">
        <p14:creationId xmlns:p14="http://schemas.microsoft.com/office/powerpoint/2010/main" val="884470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377F-18B8-F7B2-4D95-DBBC3D79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Levels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A11E5-6BE1-DAD9-3BF7-9DFB665BB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We can distinguish two separate yet related levels: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1D79F-CB3C-17F9-F63A-94259ED9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5B08D-CFBD-F158-29F7-32BFAF75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A0A53-F107-0D08-73CD-3B6D9111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5</a:t>
            </a:fld>
            <a:endParaRPr lang="en-US" noProof="0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725AE6B-DAD2-1C12-6916-61B53927920F}"/>
              </a:ext>
            </a:extLst>
          </p:cNvPr>
          <p:cNvGrpSpPr/>
          <p:nvPr/>
        </p:nvGrpSpPr>
        <p:grpSpPr>
          <a:xfrm>
            <a:off x="3396876" y="2519486"/>
            <a:ext cx="5213724" cy="1469981"/>
            <a:chOff x="3431946" y="3172511"/>
            <a:chExt cx="5213724" cy="146998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7B3380F-AADC-67F8-28A4-8717489D229F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47FB98A-2D80-A551-CC34-C67A4A7CED76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9F87F1A-2EEE-295F-9656-67B156B18E65}"/>
                </a:ext>
              </a:extLst>
            </p:cNvPr>
            <p:cNvCxnSpPr>
              <a:stCxn id="51" idx="6"/>
              <a:endCxn id="52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BB779FA-2D7C-3268-09A4-DA5FC3BA9CC6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use of GenAI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BCCFE2B-79F4-E684-61CA-16397BFC476D}"/>
                </a:ext>
              </a:extLst>
            </p:cNvPr>
            <p:cNvSpPr txBox="1"/>
            <p:nvPr/>
          </p:nvSpPr>
          <p:spPr>
            <a:xfrm>
              <a:off x="7282733" y="3288250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F0C864A-3ACB-A940-FB0E-A41953DCB73F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F2683F5-77B5-57BC-D97C-8FE327C43C83}"/>
                </a:ext>
              </a:extLst>
            </p:cNvPr>
            <p:cNvSpPr txBox="1"/>
            <p:nvPr/>
          </p:nvSpPr>
          <p:spPr>
            <a:xfrm>
              <a:off x="5882855" y="4273160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9229754-52AA-F2E7-9664-137D599150D0}"/>
                </a:ext>
              </a:extLst>
            </p:cNvPr>
            <p:cNvCxnSpPr>
              <a:cxnSpLocks/>
              <a:stCxn id="56" idx="7"/>
              <a:endCxn id="52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B3D8B2E-15A0-EE79-AD6F-7AE31050C120}"/>
                </a:ext>
              </a:extLst>
            </p:cNvPr>
            <p:cNvCxnSpPr>
              <a:cxnSpLocks/>
              <a:stCxn id="56" idx="1"/>
              <a:endCxn id="51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1" name="Oval 60">
            <a:extLst>
              <a:ext uri="{FF2B5EF4-FFF2-40B4-BE49-F238E27FC236}">
                <a16:creationId xmlns:a16="http://schemas.microsoft.com/office/drawing/2014/main" id="{28E6ADED-C5B9-294D-1908-198AFFD25773}"/>
              </a:ext>
            </a:extLst>
          </p:cNvPr>
          <p:cNvSpPr/>
          <p:nvPr/>
        </p:nvSpPr>
        <p:spPr>
          <a:xfrm>
            <a:off x="4396283" y="4555540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D0180A"/>
                </a:solidFill>
              </a:rPr>
              <a:t>x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5A64709-E22D-E095-E679-B5096343A4C0}"/>
              </a:ext>
            </a:extLst>
          </p:cNvPr>
          <p:cNvSpPr/>
          <p:nvPr/>
        </p:nvSpPr>
        <p:spPr>
          <a:xfrm>
            <a:off x="6887663" y="4555540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006D70"/>
                </a:solidFill>
              </a:rPr>
              <a:t>y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84DF092-47E1-5873-F2A8-4B18FDDF3ECF}"/>
              </a:ext>
            </a:extLst>
          </p:cNvPr>
          <p:cNvCxnSpPr>
            <a:stCxn id="61" idx="6"/>
            <a:endCxn id="62" idx="2"/>
          </p:cNvCxnSpPr>
          <p:nvPr/>
        </p:nvCxnSpPr>
        <p:spPr>
          <a:xfrm>
            <a:off x="4756283" y="4735540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56E51DA-518E-07A5-6B50-CC8269A2A5F7}"/>
              </a:ext>
            </a:extLst>
          </p:cNvPr>
          <p:cNvSpPr txBox="1"/>
          <p:nvPr/>
        </p:nvSpPr>
        <p:spPr>
          <a:xfrm>
            <a:off x="2898224" y="4412374"/>
            <a:ext cx="148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D0180A"/>
                </a:solidFill>
              </a:rPr>
              <a:t>using Claude Code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E68B29-DEF4-FA63-C2D3-BFECABC871E1}"/>
              </a:ext>
            </a:extLst>
          </p:cNvPr>
          <p:cNvSpPr txBox="1"/>
          <p:nvPr/>
        </p:nvSpPr>
        <p:spPr>
          <a:xfrm>
            <a:off x="7247663" y="4412373"/>
            <a:ext cx="2131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number of commits per week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FE0D303-8037-3AFB-4D05-FF71DE45B06B}"/>
              </a:ext>
            </a:extLst>
          </p:cNvPr>
          <p:cNvCxnSpPr/>
          <p:nvPr/>
        </p:nvCxnSpPr>
        <p:spPr>
          <a:xfrm>
            <a:off x="1127051" y="4199860"/>
            <a:ext cx="988827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411689A-079F-0E24-7C58-BF7A0743237D}"/>
              </a:ext>
            </a:extLst>
          </p:cNvPr>
          <p:cNvSpPr txBox="1"/>
          <p:nvPr/>
        </p:nvSpPr>
        <p:spPr>
          <a:xfrm>
            <a:off x="1095153" y="3798305"/>
            <a:ext cx="85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Theory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0CA175-FB44-9FF6-1671-8B0F2E5ACE9C}"/>
              </a:ext>
            </a:extLst>
          </p:cNvPr>
          <p:cNvSpPr txBox="1"/>
          <p:nvPr/>
        </p:nvSpPr>
        <p:spPr>
          <a:xfrm>
            <a:off x="1095153" y="4259743"/>
            <a:ext cx="140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Observation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BBB782C-FF67-7FBA-7B84-8A94DD9FD9E9}"/>
              </a:ext>
            </a:extLst>
          </p:cNvPr>
          <p:cNvCxnSpPr>
            <a:stCxn id="51" idx="4"/>
            <a:endCxn id="61" idx="0"/>
          </p:cNvCxnSpPr>
          <p:nvPr/>
        </p:nvCxnSpPr>
        <p:spPr>
          <a:xfrm>
            <a:off x="4576283" y="3022652"/>
            <a:ext cx="0" cy="153288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0DEF8CC-0F75-DAC7-FDC2-9357EEC0394C}"/>
              </a:ext>
            </a:extLst>
          </p:cNvPr>
          <p:cNvCxnSpPr>
            <a:cxnSpLocks/>
            <a:stCxn id="52" idx="4"/>
            <a:endCxn id="62" idx="0"/>
          </p:cNvCxnSpPr>
          <p:nvPr/>
        </p:nvCxnSpPr>
        <p:spPr>
          <a:xfrm>
            <a:off x="7067663" y="3022652"/>
            <a:ext cx="0" cy="153288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703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4" grpId="0"/>
      <p:bldP spid="65" grpId="0"/>
      <p:bldP spid="67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1A48-52AF-1AB6-573B-6AA35B5E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Levels of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B8C22-BE58-8FE4-631F-262315CA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E3662-A34E-615F-BB19-8C47C188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EBD82-3688-78B1-C463-E6769C548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6</a:t>
            </a:fld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810E62-6950-D365-08E7-539A62193D5F}"/>
              </a:ext>
            </a:extLst>
          </p:cNvPr>
          <p:cNvGrpSpPr/>
          <p:nvPr/>
        </p:nvGrpSpPr>
        <p:grpSpPr>
          <a:xfrm>
            <a:off x="3396876" y="2519486"/>
            <a:ext cx="5213724" cy="1469981"/>
            <a:chOff x="3431946" y="3172511"/>
            <a:chExt cx="5213724" cy="146998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2C2E503-6F4D-C158-BAD4-01F7999D8A9C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BA44375-6D77-FAC1-ADD2-BC0FBB76F8E7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71302CD-229C-4503-B8F6-C233DBCC097D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A0F45B-3339-26F1-2BAE-0E92B1FBD947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use of GenAI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43CEC08-9615-4E9F-C785-8BD963A3CF74}"/>
                </a:ext>
              </a:extLst>
            </p:cNvPr>
            <p:cNvSpPr txBox="1"/>
            <p:nvPr/>
          </p:nvSpPr>
          <p:spPr>
            <a:xfrm>
              <a:off x="7282733" y="3288250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451159B-A913-75A4-0FDE-4EE5CA28951C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63253E-214A-FCF8-B7BA-9511C5519124}"/>
                </a:ext>
              </a:extLst>
            </p:cNvPr>
            <p:cNvSpPr txBox="1"/>
            <p:nvPr/>
          </p:nvSpPr>
          <p:spPr>
            <a:xfrm>
              <a:off x="5882855" y="4273160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3FBD9AC-9381-1AD3-49FF-75792B5AB109}"/>
                </a:ext>
              </a:extLst>
            </p:cNvPr>
            <p:cNvCxnSpPr>
              <a:cxnSpLocks/>
              <a:stCxn id="13" idx="7"/>
              <a:endCxn id="9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91A000D-963E-2021-D832-142FE6C1A40F}"/>
                </a:ext>
              </a:extLst>
            </p:cNvPr>
            <p:cNvCxnSpPr>
              <a:cxnSpLocks/>
              <a:stCxn id="13" idx="1"/>
              <a:endCxn id="8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6D567EBA-162C-CFEE-C379-0E352956F5F5}"/>
              </a:ext>
            </a:extLst>
          </p:cNvPr>
          <p:cNvSpPr/>
          <p:nvPr/>
        </p:nvSpPr>
        <p:spPr>
          <a:xfrm>
            <a:off x="4396283" y="4555540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D0180A"/>
                </a:solidFill>
              </a:rPr>
              <a:t>x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93640E-0624-591A-CA13-B3036E8CCC2D}"/>
              </a:ext>
            </a:extLst>
          </p:cNvPr>
          <p:cNvSpPr/>
          <p:nvPr/>
        </p:nvSpPr>
        <p:spPr>
          <a:xfrm>
            <a:off x="6887663" y="4555540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rgbClr val="006D70"/>
                </a:solidFill>
              </a:rPr>
              <a:t>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779B13-D045-CA7B-38F0-6CE9C20A1B29}"/>
              </a:ext>
            </a:extLst>
          </p:cNvPr>
          <p:cNvCxnSpPr>
            <a:stCxn id="18" idx="6"/>
            <a:endCxn id="19" idx="2"/>
          </p:cNvCxnSpPr>
          <p:nvPr/>
        </p:nvCxnSpPr>
        <p:spPr>
          <a:xfrm>
            <a:off x="4756283" y="4735540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928C322-20D4-E961-47AD-A3ECC6FC08BB}"/>
              </a:ext>
            </a:extLst>
          </p:cNvPr>
          <p:cNvSpPr txBox="1"/>
          <p:nvPr/>
        </p:nvSpPr>
        <p:spPr>
          <a:xfrm>
            <a:off x="2898224" y="4412374"/>
            <a:ext cx="148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noProof="0" dirty="0">
                <a:solidFill>
                  <a:srgbClr val="D0180A"/>
                </a:solidFill>
              </a:rPr>
              <a:t>using Claude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BFC1F2-9E84-C72B-FF6B-DBA0A62413B2}"/>
              </a:ext>
            </a:extLst>
          </p:cNvPr>
          <p:cNvSpPr txBox="1"/>
          <p:nvPr/>
        </p:nvSpPr>
        <p:spPr>
          <a:xfrm>
            <a:off x="7247663" y="4412373"/>
            <a:ext cx="2131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rgbClr val="006D70"/>
                </a:solidFill>
              </a:rPr>
              <a:t>number of commits per week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5468351-4C1B-EF39-3D74-1A033C320A69}"/>
              </a:ext>
            </a:extLst>
          </p:cNvPr>
          <p:cNvCxnSpPr/>
          <p:nvPr/>
        </p:nvCxnSpPr>
        <p:spPr>
          <a:xfrm>
            <a:off x="1127051" y="4199860"/>
            <a:ext cx="988827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5D5FB13-4ABE-6DA4-E45D-384347FF62DD}"/>
              </a:ext>
            </a:extLst>
          </p:cNvPr>
          <p:cNvSpPr txBox="1"/>
          <p:nvPr/>
        </p:nvSpPr>
        <p:spPr>
          <a:xfrm>
            <a:off x="1095153" y="3798305"/>
            <a:ext cx="85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Theory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4A4495-0EFC-E5BA-958D-0C14628C325B}"/>
              </a:ext>
            </a:extLst>
          </p:cNvPr>
          <p:cNvSpPr txBox="1"/>
          <p:nvPr/>
        </p:nvSpPr>
        <p:spPr>
          <a:xfrm>
            <a:off x="1095153" y="4259743"/>
            <a:ext cx="140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Observation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7CDED1-E43B-F9F9-A2BB-7B407FAA4626}"/>
              </a:ext>
            </a:extLst>
          </p:cNvPr>
          <p:cNvCxnSpPr>
            <a:stCxn id="8" idx="4"/>
            <a:endCxn id="18" idx="0"/>
          </p:cNvCxnSpPr>
          <p:nvPr/>
        </p:nvCxnSpPr>
        <p:spPr>
          <a:xfrm>
            <a:off x="4576283" y="3022652"/>
            <a:ext cx="0" cy="153288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9F9F99-422D-348D-4C41-72C65A3F5F3A}"/>
              </a:ext>
            </a:extLst>
          </p:cNvPr>
          <p:cNvCxnSpPr>
            <a:cxnSpLocks/>
            <a:stCxn id="9" idx="4"/>
            <a:endCxn id="19" idx="0"/>
          </p:cNvCxnSpPr>
          <p:nvPr/>
        </p:nvCxnSpPr>
        <p:spPr>
          <a:xfrm>
            <a:off x="7067663" y="3022652"/>
            <a:ext cx="0" cy="1532888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1E7709C-523F-DFB8-4C4F-778C00EED3E3}"/>
              </a:ext>
            </a:extLst>
          </p:cNvPr>
          <p:cNvSpPr txBox="1"/>
          <p:nvPr/>
        </p:nvSpPr>
        <p:spPr>
          <a:xfrm>
            <a:off x="1289102" y="1499562"/>
            <a:ext cx="27410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Construct</a:t>
            </a:r>
            <a:endParaRPr lang="en-SE" b="1" noProof="0" dirty="0"/>
          </a:p>
          <a:p>
            <a:r>
              <a:rPr lang="en-US" sz="1600" dirty="0"/>
              <a:t>Concept with an associated operationalization into indicators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8F062D-6B13-1EC8-72D8-998A90CCB00D}"/>
              </a:ext>
            </a:extLst>
          </p:cNvPr>
          <p:cNvSpPr txBox="1"/>
          <p:nvPr/>
        </p:nvSpPr>
        <p:spPr>
          <a:xfrm>
            <a:off x="7613753" y="3064307"/>
            <a:ext cx="36360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Concept</a:t>
            </a:r>
            <a:endParaRPr lang="en-SE" b="1" noProof="0" dirty="0"/>
          </a:p>
          <a:p>
            <a:r>
              <a:rPr lang="en-US" sz="1600" dirty="0"/>
              <a:t>Categorization of physical and abstract phenomena, specified with a name, intension, and extension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2A7D1A-36F3-ECFE-78A6-2AEC87850E4B}"/>
              </a:ext>
            </a:extLst>
          </p:cNvPr>
          <p:cNvSpPr txBox="1"/>
          <p:nvPr/>
        </p:nvSpPr>
        <p:spPr>
          <a:xfrm>
            <a:off x="4396283" y="5565463"/>
            <a:ext cx="29444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(reflective) indicator</a:t>
            </a:r>
            <a:endParaRPr lang="en-SE" b="1" noProof="0" dirty="0"/>
          </a:p>
          <a:p>
            <a:r>
              <a:rPr lang="en-US" sz="1600" dirty="0"/>
              <a:t>Measurement representing a concept at an operational level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71BB69-7B82-E6C8-35A3-68663DF18D7A}"/>
              </a:ext>
            </a:extLst>
          </p:cNvPr>
          <p:cNvSpPr txBox="1"/>
          <p:nvPr/>
        </p:nvSpPr>
        <p:spPr>
          <a:xfrm>
            <a:off x="916920" y="2830082"/>
            <a:ext cx="2490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0" dirty="0"/>
              <a:t>Operationalization</a:t>
            </a:r>
            <a:endParaRPr lang="en-SE" sz="1600" b="1" noProof="0" dirty="0"/>
          </a:p>
          <a:p>
            <a:r>
              <a:rPr lang="en-US" sz="1600" dirty="0"/>
              <a:t>Determining an indicator for a concept</a:t>
            </a:r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BC5D2772-9FCC-53D0-64D7-0A459B04138C}"/>
              </a:ext>
            </a:extLst>
          </p:cNvPr>
          <p:cNvCxnSpPr>
            <a:cxnSpLocks/>
            <a:stCxn id="33" idx="3"/>
            <a:endCxn id="8" idx="0"/>
          </p:cNvCxnSpPr>
          <p:nvPr/>
        </p:nvCxnSpPr>
        <p:spPr>
          <a:xfrm>
            <a:off x="4030193" y="2053560"/>
            <a:ext cx="546090" cy="609092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A67B1DE8-4E75-9232-4200-8A3A4AA7A93B}"/>
              </a:ext>
            </a:extLst>
          </p:cNvPr>
          <p:cNvCxnSpPr>
            <a:cxnSpLocks/>
            <a:stCxn id="33" idx="3"/>
            <a:endCxn id="9" idx="0"/>
          </p:cNvCxnSpPr>
          <p:nvPr/>
        </p:nvCxnSpPr>
        <p:spPr>
          <a:xfrm>
            <a:off x="4030193" y="2053560"/>
            <a:ext cx="3037470" cy="609092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59F8C428-3AFA-1BBF-3DA4-1F80B0440F64}"/>
              </a:ext>
            </a:extLst>
          </p:cNvPr>
          <p:cNvCxnSpPr>
            <a:cxnSpLocks/>
            <a:stCxn id="34" idx="1"/>
            <a:endCxn id="13" idx="6"/>
          </p:cNvCxnSpPr>
          <p:nvPr/>
        </p:nvCxnSpPr>
        <p:spPr>
          <a:xfrm flipH="1">
            <a:off x="6001424" y="3618305"/>
            <a:ext cx="1612329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98B245F1-5A96-E47B-C1B5-61FB15285532}"/>
              </a:ext>
            </a:extLst>
          </p:cNvPr>
          <p:cNvCxnSpPr>
            <a:cxnSpLocks/>
            <a:stCxn id="34" idx="1"/>
            <a:endCxn id="9" idx="4"/>
          </p:cNvCxnSpPr>
          <p:nvPr/>
        </p:nvCxnSpPr>
        <p:spPr>
          <a:xfrm rot="10800000">
            <a:off x="7067663" y="3022653"/>
            <a:ext cx="546090" cy="595653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8C41689F-FF04-D8DE-A94D-15A979C80BAD}"/>
              </a:ext>
            </a:extLst>
          </p:cNvPr>
          <p:cNvCxnSpPr>
            <a:cxnSpLocks/>
            <a:stCxn id="36" idx="2"/>
          </p:cNvCxnSpPr>
          <p:nvPr/>
        </p:nvCxnSpPr>
        <p:spPr>
          <a:xfrm rot="16200000" flipH="1">
            <a:off x="3292111" y="2531387"/>
            <a:ext cx="152459" cy="2411842"/>
          </a:xfrm>
          <a:prstGeom prst="curvedConnector2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5BE0D803-8B49-ED80-9ECF-0F28790531B4}"/>
              </a:ext>
            </a:extLst>
          </p:cNvPr>
          <p:cNvCxnSpPr>
            <a:cxnSpLocks/>
            <a:stCxn id="35" idx="0"/>
            <a:endCxn id="18" idx="4"/>
          </p:cNvCxnSpPr>
          <p:nvPr/>
        </p:nvCxnSpPr>
        <p:spPr>
          <a:xfrm rot="16200000" flipV="1">
            <a:off x="4897429" y="4594395"/>
            <a:ext cx="649923" cy="1292213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0BD8E0F3-CC08-18B3-6495-F51540EB421C}"/>
              </a:ext>
            </a:extLst>
          </p:cNvPr>
          <p:cNvCxnSpPr>
            <a:cxnSpLocks/>
            <a:stCxn id="35" idx="0"/>
            <a:endCxn id="19" idx="4"/>
          </p:cNvCxnSpPr>
          <p:nvPr/>
        </p:nvCxnSpPr>
        <p:spPr>
          <a:xfrm rot="5400000" flipH="1" flipV="1">
            <a:off x="6143118" y="4640919"/>
            <a:ext cx="649923" cy="1199167"/>
          </a:xfrm>
          <a:prstGeom prst="curvedConnector3">
            <a:avLst>
              <a:gd name="adj1" fmla="val 50000"/>
            </a:avLst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CE9AC32-80CC-5CE0-9D7A-ED9EF35192A4}"/>
              </a:ext>
            </a:extLst>
          </p:cNvPr>
          <p:cNvSpPr txBox="1"/>
          <p:nvPr/>
        </p:nvSpPr>
        <p:spPr>
          <a:xfrm>
            <a:off x="7384408" y="5719351"/>
            <a:ext cx="38653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800" dirty="0" err="1"/>
              <a:t>Sjøberg</a:t>
            </a:r>
            <a:r>
              <a:rPr lang="de-DE" sz="800" dirty="0"/>
              <a:t>, D. I., &amp; </a:t>
            </a:r>
            <a:r>
              <a:rPr lang="de-DE" sz="800" dirty="0" err="1"/>
              <a:t>Bergersen</a:t>
            </a:r>
            <a:r>
              <a:rPr lang="de-DE" sz="800" dirty="0"/>
              <a:t>, G. R. (2022). </a:t>
            </a:r>
            <a:r>
              <a:rPr lang="de-DE" sz="800" dirty="0" err="1"/>
              <a:t>Construct</a:t>
            </a:r>
            <a:r>
              <a:rPr lang="de-DE" sz="800" dirty="0"/>
              <a:t> </a:t>
            </a:r>
            <a:r>
              <a:rPr lang="de-DE" sz="800" dirty="0" err="1"/>
              <a:t>validity</a:t>
            </a:r>
            <a:r>
              <a:rPr lang="de-DE" sz="800" dirty="0"/>
              <a:t> in </a:t>
            </a:r>
            <a:r>
              <a:rPr lang="de-DE" sz="800" dirty="0" err="1"/>
              <a:t>software</a:t>
            </a:r>
            <a:r>
              <a:rPr lang="de-DE" sz="800" dirty="0"/>
              <a:t> </a:t>
            </a:r>
            <a:r>
              <a:rPr lang="de-DE" sz="800" dirty="0" err="1"/>
              <a:t>engineering</a:t>
            </a:r>
            <a:r>
              <a:rPr lang="de-DE" sz="800" dirty="0"/>
              <a:t>. IEEE Transactions on Software Engineering, 49(3), 1374-1396.</a:t>
            </a:r>
            <a:endParaRPr lang="en-SE" sz="800" dirty="0"/>
          </a:p>
          <a:p>
            <a:pPr>
              <a:buNone/>
            </a:pPr>
            <a:r>
              <a:rPr lang="en-US" sz="800" dirty="0"/>
              <a:t>Ralph, P., &amp; Tempero, E. (2018, June). Construct validity in software engineering research and software metrics. In </a:t>
            </a:r>
            <a:r>
              <a:rPr lang="en-US" sz="800" i="1" dirty="0"/>
              <a:t>Proceedings of the 22nd International Conference on Evaluation and Assessment in Software Engineering 2018</a:t>
            </a:r>
            <a:r>
              <a:rPr lang="en-US" sz="800" dirty="0"/>
              <a:t> (pp. 13-23).</a:t>
            </a:r>
            <a:endParaRPr lang="de-DE" sz="800" dirty="0"/>
          </a:p>
        </p:txBody>
      </p: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4706CBA9-2534-ED8A-EBBA-DFAA119F7A03}"/>
              </a:ext>
            </a:extLst>
          </p:cNvPr>
          <p:cNvCxnSpPr>
            <a:cxnSpLocks/>
            <a:stCxn id="34" idx="1"/>
            <a:endCxn id="8" idx="6"/>
          </p:cNvCxnSpPr>
          <p:nvPr/>
        </p:nvCxnSpPr>
        <p:spPr>
          <a:xfrm flipH="1" flipV="1">
            <a:off x="4756283" y="2842652"/>
            <a:ext cx="2857470" cy="77565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4305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7668-B0D2-CB79-4271-B24BE8B8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Operationalization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BF62F-197A-2BF4-4072-A0EC6B6AA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4022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The process of </a:t>
            </a:r>
            <a:r>
              <a:rPr lang="en-US" b="1" noProof="0" dirty="0"/>
              <a:t>operationalization </a:t>
            </a:r>
            <a:r>
              <a:rPr lang="en-US" noProof="0" dirty="0"/>
              <a:t>seems trivial, but what makes a </a:t>
            </a:r>
            <a:r>
              <a:rPr lang="en-US" i="1" noProof="0" dirty="0"/>
              <a:t>good </a:t>
            </a:r>
            <a:r>
              <a:rPr lang="en-US" noProof="0" dirty="0"/>
              <a:t>operationalization?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5167E-BDFB-72A4-E978-0FBDCFA0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0E91F-680E-9FDC-C387-9197CA59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03A65-73FB-AFE2-3CC1-E421C5F1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F6A9059-1F98-A465-911E-22BBC8CF701D}"/>
              </a:ext>
            </a:extLst>
          </p:cNvPr>
          <p:cNvSpPr txBox="1">
            <a:spLocks/>
          </p:cNvSpPr>
          <p:nvPr/>
        </p:nvSpPr>
        <p:spPr>
          <a:xfrm>
            <a:off x="838198" y="5027391"/>
            <a:ext cx="10515600" cy="951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noProof="0" dirty="0"/>
              <a:t>A common pitfall is </a:t>
            </a:r>
            <a:r>
              <a:rPr lang="en-US" i="1" noProof="0" dirty="0"/>
              <a:t>measuring what is easy to measure, not what is relevant to measure.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E791BC-EA2E-FDA8-66F7-D6D384BCE526}"/>
              </a:ext>
            </a:extLst>
          </p:cNvPr>
          <p:cNvGrpSpPr/>
          <p:nvPr/>
        </p:nvGrpSpPr>
        <p:grpSpPr>
          <a:xfrm>
            <a:off x="5321133" y="3235286"/>
            <a:ext cx="1722937" cy="387427"/>
            <a:chOff x="6922733" y="3288250"/>
            <a:chExt cx="1722937" cy="38742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EF03C66-1053-88EA-04E0-8661E0EF90AE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06E69D3-C90C-D62D-30DA-CC1212976625}"/>
                </a:ext>
              </a:extLst>
            </p:cNvPr>
            <p:cNvSpPr txBox="1"/>
            <p:nvPr/>
          </p:nvSpPr>
          <p:spPr>
            <a:xfrm>
              <a:off x="7282733" y="3288250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71EF81-B9A5-E24C-DB45-9B4A18F26123}"/>
              </a:ext>
            </a:extLst>
          </p:cNvPr>
          <p:cNvGrpSpPr/>
          <p:nvPr/>
        </p:nvGrpSpPr>
        <p:grpSpPr>
          <a:xfrm>
            <a:off x="5321133" y="4187909"/>
            <a:ext cx="2491380" cy="646331"/>
            <a:chOff x="6922733" y="3172510"/>
            <a:chExt cx="2491380" cy="64633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E7B5A95-28C5-F71D-4048-5E3F2DFD38BB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9B07FF-4133-7BEF-6510-4121D2515560}"/>
                </a:ext>
              </a:extLst>
            </p:cNvPr>
            <p:cNvSpPr txBox="1"/>
            <p:nvPr/>
          </p:nvSpPr>
          <p:spPr>
            <a:xfrm>
              <a:off x="7282733" y="3172510"/>
              <a:ext cx="2131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number of commits per week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30AB1AE-6851-F6B4-44CB-10C50EC99D40}"/>
              </a:ext>
            </a:extLst>
          </p:cNvPr>
          <p:cNvCxnSpPr>
            <a:cxnSpLocks/>
          </p:cNvCxnSpPr>
          <p:nvPr/>
        </p:nvCxnSpPr>
        <p:spPr>
          <a:xfrm>
            <a:off x="3558363" y="3943172"/>
            <a:ext cx="44656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B238113-7F4A-09DB-662A-1259B9AAB9DD}"/>
              </a:ext>
            </a:extLst>
          </p:cNvPr>
          <p:cNvSpPr txBox="1"/>
          <p:nvPr/>
        </p:nvSpPr>
        <p:spPr>
          <a:xfrm>
            <a:off x="3526465" y="3541617"/>
            <a:ext cx="85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Theory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F956C3-EEBC-26B4-874B-3F19D7759462}"/>
              </a:ext>
            </a:extLst>
          </p:cNvPr>
          <p:cNvSpPr txBox="1"/>
          <p:nvPr/>
        </p:nvSpPr>
        <p:spPr>
          <a:xfrm>
            <a:off x="3526465" y="4003055"/>
            <a:ext cx="140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Observation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22FE98-AF6C-D628-EB3B-70B3FD773D72}"/>
              </a:ext>
            </a:extLst>
          </p:cNvPr>
          <p:cNvCxnSpPr>
            <a:cxnSpLocks/>
            <a:stCxn id="14" idx="4"/>
            <a:endCxn id="24" idx="0"/>
          </p:cNvCxnSpPr>
          <p:nvPr/>
        </p:nvCxnSpPr>
        <p:spPr>
          <a:xfrm>
            <a:off x="5501133" y="3622713"/>
            <a:ext cx="0" cy="70836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179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EA96-4377-1D77-7627-1DE9D56CD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8ECE-C2AA-2E96-73D6-401BD011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13162-3EAB-22F6-DFC8-B032A46A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7C2CE-82A2-AFCE-877B-E905D143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A9D09-FFCB-BF3F-D92C-F295F66A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A06B09-66E3-0A69-3B07-865F899ED4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AD0EA-52B6-5C0D-7A96-32C21EB4C12B}"/>
              </a:ext>
            </a:extLst>
          </p:cNvPr>
          <p:cNvSpPr txBox="1"/>
          <p:nvPr/>
        </p:nvSpPr>
        <p:spPr>
          <a:xfrm>
            <a:off x="853810" y="2007974"/>
            <a:ext cx="389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>
                <a:solidFill>
                  <a:schemeClr val="bg1"/>
                </a:solidFill>
              </a:rPr>
              <a:t>How do you measure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3C58F-0D9D-DBD6-2533-CE82BA38365E}"/>
              </a:ext>
            </a:extLst>
          </p:cNvPr>
          <p:cNvSpPr txBox="1"/>
          <p:nvPr/>
        </p:nvSpPr>
        <p:spPr>
          <a:xfrm>
            <a:off x="853810" y="2592749"/>
            <a:ext cx="47979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Productivity?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22DF7-583B-726E-E9D7-2625FF100601}"/>
              </a:ext>
            </a:extLst>
          </p:cNvPr>
          <p:cNvSpPr txBox="1"/>
          <p:nvPr/>
        </p:nvSpPr>
        <p:spPr>
          <a:xfrm>
            <a:off x="-4498178" y="2592748"/>
            <a:ext cx="4279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Motivation?</a:t>
            </a:r>
          </a:p>
        </p:txBody>
      </p:sp>
    </p:spTree>
    <p:extLst>
      <p:ext uri="{BB962C8B-B14F-4D97-AF65-F5344CB8AC3E}">
        <p14:creationId xmlns:p14="http://schemas.microsoft.com/office/powerpoint/2010/main" val="610354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F0899-86B5-692F-B461-7900023D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9E49-A02D-EBA4-46C6-C74E1F15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1678E-7C09-75AB-31D0-3410610A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D61F5-9B60-7A2D-A94F-FB7B6173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0C5EA-C930-4BB7-8F2A-338FA8FE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BCD18-1A7F-535C-6822-C0FE958C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9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44994-5EF9-229D-5ECA-3DE90FE9E4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93BE1-1067-7991-BF2B-13F2FCEEA59C}"/>
              </a:ext>
            </a:extLst>
          </p:cNvPr>
          <p:cNvSpPr txBox="1"/>
          <p:nvPr/>
        </p:nvSpPr>
        <p:spPr>
          <a:xfrm>
            <a:off x="853810" y="2007974"/>
            <a:ext cx="389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>
                <a:solidFill>
                  <a:schemeClr val="bg1"/>
                </a:solidFill>
              </a:rPr>
              <a:t>How do you measure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A89C04-35CB-5E6E-868F-CE9871AFD12D}"/>
              </a:ext>
            </a:extLst>
          </p:cNvPr>
          <p:cNvSpPr txBox="1"/>
          <p:nvPr/>
        </p:nvSpPr>
        <p:spPr>
          <a:xfrm>
            <a:off x="12527650" y="2592749"/>
            <a:ext cx="47979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Productivity?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D7F3C-6F5C-C107-B669-25BC37E912E1}"/>
              </a:ext>
            </a:extLst>
          </p:cNvPr>
          <p:cNvSpPr txBox="1"/>
          <p:nvPr/>
        </p:nvSpPr>
        <p:spPr>
          <a:xfrm>
            <a:off x="853810" y="2592749"/>
            <a:ext cx="4279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Motivation?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EF6C6-6BB3-56A6-74F6-AA7C995B3FB5}"/>
              </a:ext>
            </a:extLst>
          </p:cNvPr>
          <p:cNvSpPr txBox="1"/>
          <p:nvPr/>
        </p:nvSpPr>
        <p:spPr>
          <a:xfrm>
            <a:off x="-2533781" y="2592748"/>
            <a:ext cx="21146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Skill?</a:t>
            </a:r>
          </a:p>
        </p:txBody>
      </p:sp>
    </p:spTree>
    <p:extLst>
      <p:ext uri="{BB962C8B-B14F-4D97-AF65-F5344CB8AC3E}">
        <p14:creationId xmlns:p14="http://schemas.microsoft.com/office/powerpoint/2010/main" val="638344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7EC3-121F-24A4-A76E-F45EE503C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E502-6F18-9A62-D5D8-88E403D3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11986-C1A3-B31A-37CC-581EF5EF4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C97ED-D6F2-CB9B-82BF-8376250E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760D3-796E-1807-DB6C-4609FE41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FD25C-474A-4F5A-F7C2-C713006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10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E6CD8B-4EFC-D7F4-D4A8-F3323F606E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E77B2-2D56-674C-EE78-9612230E5BB3}"/>
              </a:ext>
            </a:extLst>
          </p:cNvPr>
          <p:cNvSpPr txBox="1"/>
          <p:nvPr/>
        </p:nvSpPr>
        <p:spPr>
          <a:xfrm>
            <a:off x="853810" y="2007974"/>
            <a:ext cx="38979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>
                <a:solidFill>
                  <a:schemeClr val="bg1"/>
                </a:solidFill>
              </a:rPr>
              <a:t>How do you measure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875AB-A3C3-3152-A38D-91352120CDF0}"/>
              </a:ext>
            </a:extLst>
          </p:cNvPr>
          <p:cNvSpPr txBox="1"/>
          <p:nvPr/>
        </p:nvSpPr>
        <p:spPr>
          <a:xfrm>
            <a:off x="12375250" y="2592749"/>
            <a:ext cx="4279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Motivation?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0575B6-825F-F90C-CEC9-6A56BC669857}"/>
              </a:ext>
            </a:extLst>
          </p:cNvPr>
          <p:cNvSpPr txBox="1"/>
          <p:nvPr/>
        </p:nvSpPr>
        <p:spPr>
          <a:xfrm>
            <a:off x="853810" y="2592749"/>
            <a:ext cx="21146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noProof="0" dirty="0">
                <a:solidFill>
                  <a:schemeClr val="bg1"/>
                </a:solidFill>
              </a:rPr>
              <a:t>Skill?</a:t>
            </a:r>
          </a:p>
        </p:txBody>
      </p:sp>
    </p:spTree>
    <p:extLst>
      <p:ext uri="{BB962C8B-B14F-4D97-AF65-F5344CB8AC3E}">
        <p14:creationId xmlns:p14="http://schemas.microsoft.com/office/powerpoint/2010/main" val="95982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135E-0F3E-EB69-A2AD-33DE939C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Operationalization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9C448-AF27-F657-511E-74DAA1263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For every non-trivial construct, there are several options for operationalization, for example:</a:t>
            </a:r>
          </a:p>
          <a:p>
            <a:r>
              <a:rPr lang="en-US" b="1" noProof="0" dirty="0"/>
              <a:t>Productivity</a:t>
            </a:r>
            <a:r>
              <a:rPr lang="en-US" noProof="0" dirty="0"/>
              <a:t>: number of commits pushed, number of lines of code pushed,</a:t>
            </a:r>
            <a:r>
              <a:rPr lang="en-SE" noProof="0" dirty="0"/>
              <a:t> self-reported productivity,</a:t>
            </a:r>
            <a:r>
              <a:rPr lang="en-US" noProof="0" dirty="0"/>
              <a:t> ...</a:t>
            </a:r>
          </a:p>
          <a:p>
            <a:r>
              <a:rPr lang="en-US" b="1" noProof="0" dirty="0"/>
              <a:t>Motivation</a:t>
            </a:r>
            <a:r>
              <a:rPr lang="en-US" noProof="0" dirty="0"/>
              <a:t>: self-reported motivation, number of consecutive work hours,</a:t>
            </a:r>
            <a:r>
              <a:rPr lang="en-SE" noProof="0" dirty="0"/>
              <a:t> number of tasks addressed in a day,</a:t>
            </a:r>
            <a:r>
              <a:rPr lang="en-US" noProof="0" dirty="0"/>
              <a:t> ...</a:t>
            </a:r>
          </a:p>
          <a:p>
            <a:r>
              <a:rPr lang="en-US" b="1" noProof="0" dirty="0"/>
              <a:t>Skill</a:t>
            </a:r>
            <a:r>
              <a:rPr lang="en-US" noProof="0" dirty="0"/>
              <a:t>: self-reported skill, number of years of experience, highest academic degree, ...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51BB1-758F-A7B8-55F1-0A94C8BD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79AD0-8B7B-FE06-08C5-2D98E8F8A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95AA7-312F-3399-950B-035AE13E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335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123B745-A800-3B1B-4152-30C3CE3F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C</a:t>
            </a:r>
            <a:r>
              <a:rPr lang="en-US" noProof="0" dirty="0" err="1"/>
              <a:t>onstruct</a:t>
            </a:r>
            <a:r>
              <a:rPr lang="en-US" noProof="0" dirty="0"/>
              <a:t> Validity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470B3-9E32-6F27-32D6-3F9B1036B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noProof="0" dirty="0"/>
              <a:t>Definition and Assessment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56E81-874A-80E1-77DC-490E0302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B2B61-5E7D-263F-20C6-420059E7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22673-D136-B0D6-DC10-B490CE47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9278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187ACB-AEC0-5684-A7BA-C006341AC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Construct Validity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765B17-6295-9DA6-260B-C4D51DC6E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6761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Next to internal and external validity, construct validity is another dimension of validity that matters to the reliability of the results.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5DE7-A999-F9DC-8113-2FE199843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48D5-893C-DAC3-9355-19A50A61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83B-9FD9-00C3-0D77-3D311C5D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13</a:t>
            </a:fld>
            <a:endParaRPr lang="en-S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6A7882-9C2B-BE13-A12D-C9681B611161}"/>
              </a:ext>
            </a:extLst>
          </p:cNvPr>
          <p:cNvGrpSpPr/>
          <p:nvPr/>
        </p:nvGrpSpPr>
        <p:grpSpPr>
          <a:xfrm>
            <a:off x="1984711" y="3197106"/>
            <a:ext cx="8222578" cy="1447261"/>
            <a:chOff x="3108960" y="4454433"/>
            <a:chExt cx="8222578" cy="144726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99A2D93-6FC9-89EA-CE27-A9D55CDB59E0}"/>
                </a:ext>
              </a:extLst>
            </p:cNvPr>
            <p:cNvSpPr/>
            <p:nvPr/>
          </p:nvSpPr>
          <p:spPr>
            <a:xfrm>
              <a:off x="3108960" y="4454433"/>
              <a:ext cx="8222578" cy="144726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2400" dirty="0">
                  <a:solidFill>
                    <a:schemeClr val="bg1"/>
                  </a:solidFill>
                </a:rPr>
                <a:t>Construct validity concerns generalizing the result of the experiment to the concept</a:t>
              </a:r>
              <a:r>
                <a:rPr lang="en-SE" sz="2400" dirty="0">
                  <a:solidFill>
                    <a:schemeClr val="bg1"/>
                  </a:solidFill>
                </a:rPr>
                <a:t> </a:t>
              </a:r>
              <a:r>
                <a:rPr lang="en-US" sz="2400" dirty="0">
                  <a:solidFill>
                    <a:schemeClr val="bg1"/>
                  </a:solidFill>
                </a:rPr>
                <a:t>or theory behind the experiment.</a:t>
              </a:r>
              <a:endParaRPr lang="en-SE" sz="2400" dirty="0"/>
            </a:p>
          </p:txBody>
        </p:sp>
        <p:pic>
          <p:nvPicPr>
            <p:cNvPr id="11" name="Graphic 10" descr="Open quotation mark with solid fill">
              <a:extLst>
                <a:ext uri="{FF2B5EF4-FFF2-40B4-BE49-F238E27FC236}">
                  <a16:creationId xmlns:a16="http://schemas.microsoft.com/office/drawing/2014/main" id="{C23B1E09-47B6-FA49-022C-CE1CB78A1F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3124200" y="4454434"/>
              <a:ext cx="720000" cy="72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DDF863-0F1F-D9DA-BE26-0068EF6EFDA8}"/>
                </a:ext>
              </a:extLst>
            </p:cNvPr>
            <p:cNvSpPr txBox="1"/>
            <p:nvPr/>
          </p:nvSpPr>
          <p:spPr>
            <a:xfrm>
              <a:off x="3859440" y="4598333"/>
              <a:ext cx="70700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dirty="0" err="1">
                  <a:solidFill>
                    <a:schemeClr val="bg1"/>
                  </a:solidFill>
                </a:rPr>
                <a:t>Wohlin</a:t>
              </a:r>
              <a:r>
                <a:rPr lang="de-DE" sz="1200" dirty="0">
                  <a:solidFill>
                    <a:schemeClr val="bg1"/>
                  </a:solidFill>
                </a:rPr>
                <a:t>, C., </a:t>
              </a:r>
              <a:r>
                <a:rPr lang="de-DE" sz="1200" dirty="0" err="1">
                  <a:solidFill>
                    <a:schemeClr val="bg1"/>
                  </a:solidFill>
                </a:rPr>
                <a:t>Runeson</a:t>
              </a:r>
              <a:r>
                <a:rPr lang="de-DE" sz="1200" dirty="0">
                  <a:solidFill>
                    <a:schemeClr val="bg1"/>
                  </a:solidFill>
                </a:rPr>
                <a:t>, P., </a:t>
              </a:r>
              <a:r>
                <a:rPr lang="de-DE" sz="1200" dirty="0" err="1">
                  <a:solidFill>
                    <a:schemeClr val="bg1"/>
                  </a:solidFill>
                </a:rPr>
                <a:t>Höst</a:t>
              </a:r>
              <a:r>
                <a:rPr lang="de-DE" sz="1200" dirty="0">
                  <a:solidFill>
                    <a:schemeClr val="bg1"/>
                  </a:solidFill>
                </a:rPr>
                <a:t>, M., </a:t>
              </a:r>
              <a:r>
                <a:rPr lang="de-DE" sz="1200" dirty="0" err="1">
                  <a:solidFill>
                    <a:schemeClr val="bg1"/>
                  </a:solidFill>
                </a:rPr>
                <a:t>Ohlsson</a:t>
              </a:r>
              <a:r>
                <a:rPr lang="de-DE" sz="1200" dirty="0">
                  <a:solidFill>
                    <a:schemeClr val="bg1"/>
                  </a:solidFill>
                </a:rPr>
                <a:t>, M. C., Regnell, B., &amp; </a:t>
              </a:r>
              <a:r>
                <a:rPr lang="de-DE" sz="1200" dirty="0" err="1">
                  <a:solidFill>
                    <a:schemeClr val="bg1"/>
                  </a:solidFill>
                </a:rPr>
                <a:t>Wesslén</a:t>
              </a:r>
              <a:r>
                <a:rPr lang="de-DE" sz="1200" dirty="0">
                  <a:solidFill>
                    <a:schemeClr val="bg1"/>
                  </a:solidFill>
                </a:rPr>
                <a:t>, A. (2012). </a:t>
              </a:r>
              <a:r>
                <a:rPr lang="de-DE" sz="1200" dirty="0" err="1">
                  <a:solidFill>
                    <a:schemeClr val="bg1"/>
                  </a:solidFill>
                </a:rPr>
                <a:t>Experimentation</a:t>
              </a:r>
              <a:r>
                <a:rPr lang="de-DE" sz="1200" dirty="0">
                  <a:solidFill>
                    <a:schemeClr val="bg1"/>
                  </a:solidFill>
                </a:rPr>
                <a:t> in </a:t>
              </a:r>
              <a:r>
                <a:rPr lang="de-DE" sz="1200" dirty="0" err="1">
                  <a:solidFill>
                    <a:schemeClr val="bg1"/>
                  </a:solidFill>
                </a:rPr>
                <a:t>software</a:t>
              </a:r>
              <a:r>
                <a:rPr lang="de-DE" sz="1200" dirty="0">
                  <a:solidFill>
                    <a:schemeClr val="bg1"/>
                  </a:solidFill>
                </a:rPr>
                <a:t> </a:t>
              </a:r>
              <a:r>
                <a:rPr lang="de-DE" sz="1200" dirty="0" err="1">
                  <a:solidFill>
                    <a:schemeClr val="bg1"/>
                  </a:solidFill>
                </a:rPr>
                <a:t>engineering</a:t>
              </a:r>
              <a:r>
                <a:rPr lang="de-DE" sz="1200" dirty="0">
                  <a:solidFill>
                    <a:schemeClr val="bg1"/>
                  </a:solidFill>
                </a:rPr>
                <a:t> (Vol. 236, p. P3). Berlin: Springer.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7707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5747B65-3618-66B3-A503-B828F0B7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Threats to Construct Validity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B8BEA0-4357-8D6B-0FD9-88621CB14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To understand what makes a good operationalization, we can also look into what makes a </a:t>
            </a:r>
            <a:r>
              <a:rPr lang="en-US" i="1" noProof="0" dirty="0"/>
              <a:t>bad </a:t>
            </a:r>
            <a:r>
              <a:rPr lang="en-US" noProof="0" dirty="0"/>
              <a:t>operationalization via </a:t>
            </a:r>
            <a:r>
              <a:rPr lang="en-US" b="1" noProof="0" dirty="0"/>
              <a:t>threats to construct validity</a:t>
            </a:r>
            <a:r>
              <a:rPr lang="en-US" noProof="0" dirty="0"/>
              <a:t>, including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Inadequate Definition of Concept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Construct Underrepresentation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noProof="0" dirty="0"/>
              <a:t>Construct-Representation Bias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85C97-4FA7-CF16-FAE6-33C0D58D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9108F-E989-87BE-AB59-AB51446D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160BF-E578-800C-70CE-265D383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368010-0CA7-22CD-DF07-FBC66B400E3D}"/>
              </a:ext>
            </a:extLst>
          </p:cNvPr>
          <p:cNvSpPr txBox="1"/>
          <p:nvPr/>
        </p:nvSpPr>
        <p:spPr>
          <a:xfrm>
            <a:off x="838198" y="6097380"/>
            <a:ext cx="3510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 err="1"/>
              <a:t>Sjøberg</a:t>
            </a:r>
            <a:r>
              <a:rPr lang="de-DE" sz="800" dirty="0"/>
              <a:t>, D. I., &amp; </a:t>
            </a:r>
            <a:r>
              <a:rPr lang="de-DE" sz="800" dirty="0" err="1"/>
              <a:t>Bergersen</a:t>
            </a:r>
            <a:r>
              <a:rPr lang="de-DE" sz="800" dirty="0"/>
              <a:t>, G. R. (2022). </a:t>
            </a:r>
            <a:r>
              <a:rPr lang="de-DE" sz="800" dirty="0" err="1"/>
              <a:t>Construct</a:t>
            </a:r>
            <a:r>
              <a:rPr lang="de-DE" sz="800" dirty="0"/>
              <a:t> </a:t>
            </a:r>
            <a:r>
              <a:rPr lang="de-DE" sz="800" dirty="0" err="1"/>
              <a:t>validity</a:t>
            </a:r>
            <a:r>
              <a:rPr lang="de-DE" sz="800" dirty="0"/>
              <a:t> in </a:t>
            </a:r>
            <a:r>
              <a:rPr lang="de-DE" sz="800" dirty="0" err="1"/>
              <a:t>software</a:t>
            </a:r>
            <a:r>
              <a:rPr lang="de-DE" sz="800" dirty="0"/>
              <a:t> </a:t>
            </a:r>
            <a:r>
              <a:rPr lang="de-DE" sz="800" dirty="0" err="1"/>
              <a:t>engineering</a:t>
            </a:r>
            <a:r>
              <a:rPr lang="de-DE" sz="800" dirty="0"/>
              <a:t>. </a:t>
            </a:r>
            <a:r>
              <a:rPr lang="de-DE" sz="800" i="1" dirty="0"/>
              <a:t>IEEE Transactions on Software Engineering</a:t>
            </a:r>
            <a:r>
              <a:rPr lang="de-DE" sz="800" dirty="0"/>
              <a:t>, </a:t>
            </a:r>
            <a:r>
              <a:rPr lang="de-DE" sz="800" i="1" dirty="0"/>
              <a:t>49</a:t>
            </a:r>
            <a:r>
              <a:rPr lang="de-DE" sz="800" dirty="0"/>
              <a:t>(3), 1374-1396.</a:t>
            </a:r>
            <a:endParaRPr lang="en-SE" sz="800" dirty="0"/>
          </a:p>
        </p:txBody>
      </p:sp>
    </p:spTree>
    <p:extLst>
      <p:ext uri="{BB962C8B-B14F-4D97-AF65-F5344CB8AC3E}">
        <p14:creationId xmlns:p14="http://schemas.microsoft.com/office/powerpoint/2010/main" val="3920967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566E-E273-E18B-8D15-7735FA713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Inadequate Definition of Concept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ADE2-E1A4-7870-765E-590C6B528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E" noProof="0" dirty="0"/>
              <a:t>An operationalization may suffer from an </a:t>
            </a:r>
            <a:r>
              <a:rPr lang="en-SE" i="1" noProof="0" dirty="0"/>
              <a:t>inadequate definition of a concept</a:t>
            </a:r>
            <a:r>
              <a:rPr lang="en-SE" noProof="0" dirty="0"/>
              <a:t> if the concept is defined </a:t>
            </a:r>
            <a:r>
              <a:rPr lang="en-US" dirty="0"/>
              <a:t>at too </a:t>
            </a:r>
            <a:r>
              <a:rPr lang="en-US" b="1" dirty="0"/>
              <a:t>general</a:t>
            </a:r>
            <a:r>
              <a:rPr lang="en-US" dirty="0"/>
              <a:t> a level</a:t>
            </a:r>
            <a:r>
              <a:rPr lang="en-SE" dirty="0"/>
              <a:t>,  a</a:t>
            </a:r>
            <a:r>
              <a:rPr lang="en-US" dirty="0"/>
              <a:t>t too </a:t>
            </a:r>
            <a:r>
              <a:rPr lang="en-US" b="1" dirty="0"/>
              <a:t>specific</a:t>
            </a:r>
            <a:r>
              <a:rPr lang="en-US" dirty="0"/>
              <a:t> a level</a:t>
            </a:r>
            <a:r>
              <a:rPr lang="en-SE" dirty="0"/>
              <a:t>, or </a:t>
            </a:r>
            <a:r>
              <a:rPr lang="en-US" dirty="0"/>
              <a:t>the concept is </a:t>
            </a:r>
            <a:r>
              <a:rPr lang="en-US" b="1" dirty="0"/>
              <a:t>not the right one</a:t>
            </a:r>
            <a:r>
              <a:rPr lang="en-US" dirty="0"/>
              <a:t>, even though it is at</a:t>
            </a:r>
            <a:r>
              <a:rPr lang="en-SE" dirty="0"/>
              <a:t> </a:t>
            </a:r>
            <a:r>
              <a:rPr lang="en-US" dirty="0"/>
              <a:t>the appropriate level of abstraction.</a:t>
            </a:r>
            <a:endParaRPr lang="en-SE" dirty="0"/>
          </a:p>
          <a:p>
            <a:pPr marL="0" indent="0">
              <a:buNone/>
            </a:pPr>
            <a:r>
              <a:rPr lang="en-SE" dirty="0"/>
              <a:t>For example, is </a:t>
            </a:r>
            <a:r>
              <a:rPr lang="en-SE" i="1" dirty="0"/>
              <a:t>lead time </a:t>
            </a:r>
          </a:p>
          <a:p>
            <a:r>
              <a:rPr lang="en-SE" dirty="0"/>
              <a:t>t</a:t>
            </a:r>
            <a:r>
              <a:rPr lang="en-US" dirty="0"/>
              <a:t>he</a:t>
            </a:r>
            <a:r>
              <a:rPr lang="en-SE" dirty="0"/>
              <a:t> </a:t>
            </a:r>
            <a:r>
              <a:rPr lang="en-US" dirty="0"/>
              <a:t>amount of time between the proposal for a new feature or</a:t>
            </a:r>
            <a:r>
              <a:rPr lang="en-SE" dirty="0"/>
              <a:t> </a:t>
            </a:r>
            <a:r>
              <a:rPr lang="en-US" dirty="0"/>
              <a:t>another request and its deployment in the customer’s environment</a:t>
            </a:r>
            <a:r>
              <a:rPr lang="en-SE" dirty="0"/>
              <a:t>, or</a:t>
            </a:r>
            <a:endParaRPr lang="en-US" dirty="0"/>
          </a:p>
          <a:p>
            <a:r>
              <a:rPr lang="en-US" dirty="0"/>
              <a:t>the amount of time</a:t>
            </a:r>
            <a:r>
              <a:rPr lang="en-SE" dirty="0"/>
              <a:t> </a:t>
            </a:r>
            <a:r>
              <a:rPr lang="en-US" dirty="0"/>
              <a:t>that passes from the moment that the development team</a:t>
            </a:r>
            <a:r>
              <a:rPr lang="en-SE" dirty="0"/>
              <a:t> </a:t>
            </a:r>
            <a:r>
              <a:rPr lang="en-US" dirty="0"/>
              <a:t>receives a request to the moment that it completes the work</a:t>
            </a:r>
            <a:r>
              <a:rPr lang="en-SE" dirty="0"/>
              <a:t> </a:t>
            </a:r>
            <a:r>
              <a:rPr lang="de-DE" dirty="0"/>
              <a:t>item.</a:t>
            </a:r>
            <a:endParaRPr lang="en-SE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0B218-E280-6312-A861-CEBF657C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355DD-BCE9-5231-28B9-5BC48DF3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CE49-272E-D4EE-D83F-126CDAF7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15</a:t>
            </a:fld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F47F1-DF08-DD9C-AB0E-8723E74FB312}"/>
              </a:ext>
            </a:extLst>
          </p:cNvPr>
          <p:cNvSpPr txBox="1"/>
          <p:nvPr/>
        </p:nvSpPr>
        <p:spPr>
          <a:xfrm>
            <a:off x="838198" y="6097380"/>
            <a:ext cx="3510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 err="1"/>
              <a:t>Sjøberg</a:t>
            </a:r>
            <a:r>
              <a:rPr lang="de-DE" sz="800" dirty="0"/>
              <a:t>, D. I., &amp; </a:t>
            </a:r>
            <a:r>
              <a:rPr lang="de-DE" sz="800" dirty="0" err="1"/>
              <a:t>Bergersen</a:t>
            </a:r>
            <a:r>
              <a:rPr lang="de-DE" sz="800" dirty="0"/>
              <a:t>, G. R. (2022). </a:t>
            </a:r>
            <a:r>
              <a:rPr lang="de-DE" sz="800" dirty="0" err="1"/>
              <a:t>Construct</a:t>
            </a:r>
            <a:r>
              <a:rPr lang="de-DE" sz="800" dirty="0"/>
              <a:t> </a:t>
            </a:r>
            <a:r>
              <a:rPr lang="de-DE" sz="800" dirty="0" err="1"/>
              <a:t>validity</a:t>
            </a:r>
            <a:r>
              <a:rPr lang="de-DE" sz="800" dirty="0"/>
              <a:t> in </a:t>
            </a:r>
            <a:r>
              <a:rPr lang="de-DE" sz="800" dirty="0" err="1"/>
              <a:t>software</a:t>
            </a:r>
            <a:r>
              <a:rPr lang="de-DE" sz="800" dirty="0"/>
              <a:t> </a:t>
            </a:r>
            <a:r>
              <a:rPr lang="de-DE" sz="800" dirty="0" err="1"/>
              <a:t>engineering</a:t>
            </a:r>
            <a:r>
              <a:rPr lang="de-DE" sz="800" dirty="0"/>
              <a:t>. </a:t>
            </a:r>
            <a:r>
              <a:rPr lang="de-DE" sz="800" i="1" dirty="0"/>
              <a:t>IEEE Transactions on Software Engineering</a:t>
            </a:r>
            <a:r>
              <a:rPr lang="de-DE" sz="800" dirty="0"/>
              <a:t>, </a:t>
            </a:r>
            <a:r>
              <a:rPr lang="de-DE" sz="800" i="1" dirty="0"/>
              <a:t>49</a:t>
            </a:r>
            <a:r>
              <a:rPr lang="de-DE" sz="800" dirty="0"/>
              <a:t>(3), 1374-1396.</a:t>
            </a:r>
            <a:endParaRPr lang="en-SE" sz="800" dirty="0"/>
          </a:p>
        </p:txBody>
      </p:sp>
    </p:spTree>
    <p:extLst>
      <p:ext uri="{BB962C8B-B14F-4D97-AF65-F5344CB8AC3E}">
        <p14:creationId xmlns:p14="http://schemas.microsoft.com/office/powerpoint/2010/main" val="1473565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5D67-66CB-66A7-1858-30C61111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Construct Underrepresentation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AF12E-CA89-8FD5-82E9-A50C9D487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0839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Construct underrepresentation </a:t>
            </a:r>
            <a:r>
              <a:rPr lang="en-US" dirty="0"/>
              <a:t>occurs when the set of</a:t>
            </a:r>
            <a:r>
              <a:rPr lang="en-SE" dirty="0"/>
              <a:t> </a:t>
            </a:r>
            <a:r>
              <a:rPr lang="en-US" dirty="0"/>
              <a:t>indicators resulting from the operationalizations are </a:t>
            </a:r>
            <a:r>
              <a:rPr lang="en-US" b="1" dirty="0"/>
              <a:t>too</a:t>
            </a:r>
            <a:r>
              <a:rPr lang="en-SE" b="1" dirty="0"/>
              <a:t> </a:t>
            </a:r>
            <a:r>
              <a:rPr lang="en-US" b="1" dirty="0"/>
              <a:t>narrow </a:t>
            </a:r>
            <a:r>
              <a:rPr lang="en-US" dirty="0"/>
              <a:t>to include all important aspects or dimensions of</a:t>
            </a:r>
            <a:r>
              <a:rPr lang="en-SE" dirty="0"/>
              <a:t> </a:t>
            </a:r>
            <a:r>
              <a:rPr lang="en-US" dirty="0"/>
              <a:t>the concept that should be included.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C71A7-D448-0179-B195-2EFDF4C64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D75A4-26CA-7CBA-F465-FD6F9EEB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55C68-44CC-1BA2-BAD7-31146F47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16</a:t>
            </a:fld>
            <a:endParaRPr lang="en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2C0844-5F4A-3146-6E31-B0B08CFB5CA2}"/>
              </a:ext>
            </a:extLst>
          </p:cNvPr>
          <p:cNvSpPr txBox="1"/>
          <p:nvPr/>
        </p:nvSpPr>
        <p:spPr>
          <a:xfrm>
            <a:off x="838198" y="6097380"/>
            <a:ext cx="3510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 err="1"/>
              <a:t>Sjøberg</a:t>
            </a:r>
            <a:r>
              <a:rPr lang="de-DE" sz="800" dirty="0"/>
              <a:t>, D. I., &amp; </a:t>
            </a:r>
            <a:r>
              <a:rPr lang="de-DE" sz="800" dirty="0" err="1"/>
              <a:t>Bergersen</a:t>
            </a:r>
            <a:r>
              <a:rPr lang="de-DE" sz="800" dirty="0"/>
              <a:t>, G. R. (2022). </a:t>
            </a:r>
            <a:r>
              <a:rPr lang="de-DE" sz="800" dirty="0" err="1"/>
              <a:t>Construct</a:t>
            </a:r>
            <a:r>
              <a:rPr lang="de-DE" sz="800" dirty="0"/>
              <a:t> </a:t>
            </a:r>
            <a:r>
              <a:rPr lang="de-DE" sz="800" dirty="0" err="1"/>
              <a:t>validity</a:t>
            </a:r>
            <a:r>
              <a:rPr lang="de-DE" sz="800" dirty="0"/>
              <a:t> in </a:t>
            </a:r>
            <a:r>
              <a:rPr lang="de-DE" sz="800" dirty="0" err="1"/>
              <a:t>software</a:t>
            </a:r>
            <a:r>
              <a:rPr lang="de-DE" sz="800" dirty="0"/>
              <a:t> </a:t>
            </a:r>
            <a:r>
              <a:rPr lang="de-DE" sz="800" dirty="0" err="1"/>
              <a:t>engineering</a:t>
            </a:r>
            <a:r>
              <a:rPr lang="de-DE" sz="800" dirty="0"/>
              <a:t>. </a:t>
            </a:r>
            <a:r>
              <a:rPr lang="de-DE" sz="800" i="1" dirty="0"/>
              <a:t>IEEE Transactions on Software Engineering</a:t>
            </a:r>
            <a:r>
              <a:rPr lang="de-DE" sz="800" dirty="0"/>
              <a:t>, </a:t>
            </a:r>
            <a:r>
              <a:rPr lang="de-DE" sz="800" i="1" dirty="0"/>
              <a:t>49</a:t>
            </a:r>
            <a:r>
              <a:rPr lang="de-DE" sz="800" dirty="0"/>
              <a:t>(3), 1374-1396.</a:t>
            </a:r>
            <a:endParaRPr lang="en-SE" sz="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C5E2E20-360D-AE9E-7463-7634F74805DC}"/>
              </a:ext>
            </a:extLst>
          </p:cNvPr>
          <p:cNvSpPr/>
          <p:nvPr/>
        </p:nvSpPr>
        <p:spPr>
          <a:xfrm>
            <a:off x="1872867" y="4054209"/>
            <a:ext cx="3624550" cy="146524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AEDE8-2335-9C3B-562E-E818ACED91A0}"/>
              </a:ext>
            </a:extLst>
          </p:cNvPr>
          <p:cNvSpPr txBox="1"/>
          <p:nvPr/>
        </p:nvSpPr>
        <p:spPr>
          <a:xfrm>
            <a:off x="2762325" y="5532816"/>
            <a:ext cx="184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</a:t>
            </a:r>
            <a:r>
              <a:rPr lang="en-SE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onstruct</a:t>
            </a:r>
            <a:r>
              <a:rPr lang="en-S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scope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061093-D1BE-28B6-5004-B5F98B1C8597}"/>
              </a:ext>
            </a:extLst>
          </p:cNvPr>
          <p:cNvSpPr/>
          <p:nvPr/>
        </p:nvSpPr>
        <p:spPr>
          <a:xfrm>
            <a:off x="2145788" y="4545291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5E8DD-A22C-8DAB-4CC7-6FE4F8C12499}"/>
              </a:ext>
            </a:extLst>
          </p:cNvPr>
          <p:cNvSpPr txBox="1"/>
          <p:nvPr/>
        </p:nvSpPr>
        <p:spPr>
          <a:xfrm>
            <a:off x="2391010" y="3542107"/>
            <a:ext cx="2588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M</a:t>
            </a:r>
            <a:r>
              <a:rPr lang="en-SE" dirty="0"/>
              <a:t>ono operationalization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E6B78B-E721-4E81-B3E2-7627A36652E0}"/>
              </a:ext>
            </a:extLst>
          </p:cNvPr>
          <p:cNvSpPr/>
          <p:nvPr/>
        </p:nvSpPr>
        <p:spPr>
          <a:xfrm>
            <a:off x="6096000" y="4054209"/>
            <a:ext cx="3624550" cy="146524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C6CE12-5260-6E9D-DE17-148517F14842}"/>
              </a:ext>
            </a:extLst>
          </p:cNvPr>
          <p:cNvSpPr/>
          <p:nvPr/>
        </p:nvSpPr>
        <p:spPr>
          <a:xfrm>
            <a:off x="7614091" y="4260872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FC700E-543A-F318-E14D-94165687B4E0}"/>
              </a:ext>
            </a:extLst>
          </p:cNvPr>
          <p:cNvSpPr txBox="1"/>
          <p:nvPr/>
        </p:nvSpPr>
        <p:spPr>
          <a:xfrm>
            <a:off x="6285534" y="3542107"/>
            <a:ext cx="3245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U</a:t>
            </a:r>
            <a:r>
              <a:rPr lang="en-SE" dirty="0" err="1"/>
              <a:t>nbalanced</a:t>
            </a:r>
            <a:r>
              <a:rPr lang="en-SE" dirty="0"/>
              <a:t> operationalization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FA4877-3513-4BE3-DB62-09075EC7526D}"/>
              </a:ext>
            </a:extLst>
          </p:cNvPr>
          <p:cNvSpPr/>
          <p:nvPr/>
        </p:nvSpPr>
        <p:spPr>
          <a:xfrm>
            <a:off x="7944749" y="4565323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C32CCE-6747-C539-39BC-77F260E20DEC}"/>
              </a:ext>
            </a:extLst>
          </p:cNvPr>
          <p:cNvSpPr/>
          <p:nvPr/>
        </p:nvSpPr>
        <p:spPr>
          <a:xfrm>
            <a:off x="7661527" y="4941147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3</a:t>
            </a:r>
          </a:p>
        </p:txBody>
      </p:sp>
    </p:spTree>
    <p:extLst>
      <p:ext uri="{BB962C8B-B14F-4D97-AF65-F5344CB8AC3E}">
        <p14:creationId xmlns:p14="http://schemas.microsoft.com/office/powerpoint/2010/main" val="4213766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rrow: Left 21">
            <a:extLst>
              <a:ext uri="{FF2B5EF4-FFF2-40B4-BE49-F238E27FC236}">
                <a16:creationId xmlns:a16="http://schemas.microsoft.com/office/drawing/2014/main" id="{0C0FBF55-CC5E-3B45-2FFC-CF2AB366FEAA}"/>
              </a:ext>
            </a:extLst>
          </p:cNvPr>
          <p:cNvSpPr/>
          <p:nvPr/>
        </p:nvSpPr>
        <p:spPr>
          <a:xfrm rot="20642190">
            <a:off x="7460338" y="4670792"/>
            <a:ext cx="2323131" cy="437666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64599FBB-D242-F434-6C69-79B674026712}"/>
              </a:ext>
            </a:extLst>
          </p:cNvPr>
          <p:cNvSpPr/>
          <p:nvPr/>
        </p:nvSpPr>
        <p:spPr>
          <a:xfrm rot="20642190">
            <a:off x="6139816" y="4770766"/>
            <a:ext cx="2323131" cy="437666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5B40B2C4-7260-0A6D-DD80-8A2E655CB004}"/>
              </a:ext>
            </a:extLst>
          </p:cNvPr>
          <p:cNvSpPr/>
          <p:nvPr/>
        </p:nvSpPr>
        <p:spPr>
          <a:xfrm rot="20642190">
            <a:off x="5717198" y="4364776"/>
            <a:ext cx="2323131" cy="437666"/>
          </a:xfrm>
          <a:prstGeom prst="lef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15743-C12B-1C44-2F72-81F6DF00B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Construct-Representation Bias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0873E-F841-3657-53D1-A31D6BD51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90268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An operationalization may suffer from a </a:t>
            </a:r>
            <a:r>
              <a:rPr lang="en-SE" i="1" dirty="0"/>
              <a:t>construct-representation bias </a:t>
            </a:r>
            <a:r>
              <a:rPr lang="en-SE" dirty="0"/>
              <a:t>if the chosen indicators emphasize specific aspects of the construct while ignoring others.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4CCAE-8117-D040-EB11-266DE65D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93EAD-56F5-4B39-5AB8-AE701D84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4168F-764B-1792-B49C-EC6F614F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17</a:t>
            </a:fld>
            <a:endParaRPr lang="en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38B72-F64A-B223-72A4-497149CEFFCF}"/>
              </a:ext>
            </a:extLst>
          </p:cNvPr>
          <p:cNvSpPr txBox="1"/>
          <p:nvPr/>
        </p:nvSpPr>
        <p:spPr>
          <a:xfrm>
            <a:off x="838198" y="6097380"/>
            <a:ext cx="35105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 err="1"/>
              <a:t>Sjøberg</a:t>
            </a:r>
            <a:r>
              <a:rPr lang="de-DE" sz="800" dirty="0"/>
              <a:t>, D. I., &amp; </a:t>
            </a:r>
            <a:r>
              <a:rPr lang="de-DE" sz="800" dirty="0" err="1"/>
              <a:t>Bergersen</a:t>
            </a:r>
            <a:r>
              <a:rPr lang="de-DE" sz="800" dirty="0"/>
              <a:t>, G. R. (2022). </a:t>
            </a:r>
            <a:r>
              <a:rPr lang="de-DE" sz="800" dirty="0" err="1"/>
              <a:t>Construct</a:t>
            </a:r>
            <a:r>
              <a:rPr lang="de-DE" sz="800" dirty="0"/>
              <a:t> </a:t>
            </a:r>
            <a:r>
              <a:rPr lang="de-DE" sz="800" dirty="0" err="1"/>
              <a:t>validity</a:t>
            </a:r>
            <a:r>
              <a:rPr lang="de-DE" sz="800" dirty="0"/>
              <a:t> in </a:t>
            </a:r>
            <a:r>
              <a:rPr lang="de-DE" sz="800" dirty="0" err="1"/>
              <a:t>software</a:t>
            </a:r>
            <a:r>
              <a:rPr lang="de-DE" sz="800" dirty="0"/>
              <a:t> </a:t>
            </a:r>
            <a:r>
              <a:rPr lang="de-DE" sz="800" dirty="0" err="1"/>
              <a:t>engineering</a:t>
            </a:r>
            <a:r>
              <a:rPr lang="de-DE" sz="800" dirty="0"/>
              <a:t>. </a:t>
            </a:r>
            <a:r>
              <a:rPr lang="de-DE" sz="800" i="1" dirty="0"/>
              <a:t>IEEE Transactions on Software Engineering</a:t>
            </a:r>
            <a:r>
              <a:rPr lang="de-DE" sz="800" dirty="0"/>
              <a:t>, </a:t>
            </a:r>
            <a:r>
              <a:rPr lang="de-DE" sz="800" i="1" dirty="0"/>
              <a:t>49</a:t>
            </a:r>
            <a:r>
              <a:rPr lang="de-DE" sz="800" dirty="0"/>
              <a:t>(3), 1374-1396.</a:t>
            </a:r>
            <a:endParaRPr lang="en-SE" sz="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3E7526-BC12-9A00-FF6E-6613596380BA}"/>
              </a:ext>
            </a:extLst>
          </p:cNvPr>
          <p:cNvSpPr/>
          <p:nvPr/>
        </p:nvSpPr>
        <p:spPr>
          <a:xfrm>
            <a:off x="1872867" y="4054209"/>
            <a:ext cx="3624550" cy="146524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DF4281-0389-BAB2-202A-664F618FA466}"/>
              </a:ext>
            </a:extLst>
          </p:cNvPr>
          <p:cNvSpPr txBox="1"/>
          <p:nvPr/>
        </p:nvSpPr>
        <p:spPr>
          <a:xfrm>
            <a:off x="2868707" y="3542107"/>
            <a:ext cx="163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O</a:t>
            </a:r>
            <a:r>
              <a:rPr lang="en-SE" dirty="0" err="1"/>
              <a:t>utside</a:t>
            </a:r>
            <a:r>
              <a:rPr lang="en-SE" dirty="0"/>
              <a:t> scope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C57540-ED56-5E75-A436-838567E9DABD}"/>
              </a:ext>
            </a:extLst>
          </p:cNvPr>
          <p:cNvSpPr/>
          <p:nvPr/>
        </p:nvSpPr>
        <p:spPr>
          <a:xfrm>
            <a:off x="6096000" y="4054209"/>
            <a:ext cx="3624550" cy="146524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F3EABB-E56F-78E7-804E-E7A900A8B460}"/>
              </a:ext>
            </a:extLst>
          </p:cNvPr>
          <p:cNvSpPr/>
          <p:nvPr/>
        </p:nvSpPr>
        <p:spPr>
          <a:xfrm>
            <a:off x="6297803" y="4296409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F8F1C-A933-2361-2B47-86629D076225}"/>
              </a:ext>
            </a:extLst>
          </p:cNvPr>
          <p:cNvSpPr txBox="1"/>
          <p:nvPr/>
        </p:nvSpPr>
        <p:spPr>
          <a:xfrm>
            <a:off x="7027537" y="3542107"/>
            <a:ext cx="176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/>
              <a:t>S</a:t>
            </a:r>
            <a:r>
              <a:rPr lang="en-SE" dirty="0" err="1"/>
              <a:t>ystematic</a:t>
            </a:r>
            <a:r>
              <a:rPr lang="en-SE" dirty="0"/>
              <a:t> bias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DBA9AD-BEBE-E31B-20E5-588ED33BC088}"/>
              </a:ext>
            </a:extLst>
          </p:cNvPr>
          <p:cNvSpPr/>
          <p:nvPr/>
        </p:nvSpPr>
        <p:spPr>
          <a:xfrm>
            <a:off x="6578811" y="4786830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D6E5AB-B52F-EC67-471F-01C857CBCDAD}"/>
              </a:ext>
            </a:extLst>
          </p:cNvPr>
          <p:cNvSpPr/>
          <p:nvPr/>
        </p:nvSpPr>
        <p:spPr>
          <a:xfrm>
            <a:off x="8165564" y="4634057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8204B-CAC0-489A-099B-5CB3D5791989}"/>
              </a:ext>
            </a:extLst>
          </p:cNvPr>
          <p:cNvSpPr/>
          <p:nvPr/>
        </p:nvSpPr>
        <p:spPr>
          <a:xfrm>
            <a:off x="2459577" y="4229886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A49A96-7079-01ED-3BC6-CEE79AD88D98}"/>
              </a:ext>
            </a:extLst>
          </p:cNvPr>
          <p:cNvSpPr/>
          <p:nvPr/>
        </p:nvSpPr>
        <p:spPr>
          <a:xfrm>
            <a:off x="3903498" y="4578087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758CAA-88A5-227B-1236-09C48B797DDF}"/>
              </a:ext>
            </a:extLst>
          </p:cNvPr>
          <p:cNvSpPr/>
          <p:nvPr/>
        </p:nvSpPr>
        <p:spPr>
          <a:xfrm>
            <a:off x="3740178" y="5474980"/>
            <a:ext cx="1445143" cy="44301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E" dirty="0"/>
              <a:t>Indicator 3</a:t>
            </a:r>
          </a:p>
        </p:txBody>
      </p:sp>
    </p:spTree>
    <p:extLst>
      <p:ext uri="{BB962C8B-B14F-4D97-AF65-F5344CB8AC3E}">
        <p14:creationId xmlns:p14="http://schemas.microsoft.com/office/powerpoint/2010/main" val="498709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C0EE-4AF6-93CA-298E-A4A1D044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Construct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BA37-CB01-77A6-B518-660F05692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8292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Still, none of this answers the question:</a:t>
            </a:r>
            <a:r>
              <a:rPr lang="en-SE" i="1" dirty="0"/>
              <a:t> how do I reliably assess whether I am measuring the concept of interest right?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8CD33-313E-E80A-E6FA-B946994E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B1335-7CB6-0282-47E2-68CA7A71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A5DAC-53B9-1A59-36AB-61D356E9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18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316771-FB52-1311-092E-514B8A454D71}"/>
              </a:ext>
            </a:extLst>
          </p:cNvPr>
          <p:cNvGrpSpPr/>
          <p:nvPr/>
        </p:nvGrpSpPr>
        <p:grpSpPr>
          <a:xfrm>
            <a:off x="1185218" y="3078983"/>
            <a:ext cx="9821563" cy="1139513"/>
            <a:chOff x="775411" y="5063248"/>
            <a:chExt cx="9821563" cy="113951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C7970D2-2043-7DBD-085F-B77C868CC401}"/>
                </a:ext>
              </a:extLst>
            </p:cNvPr>
            <p:cNvSpPr/>
            <p:nvPr/>
          </p:nvSpPr>
          <p:spPr>
            <a:xfrm>
              <a:off x="775411" y="5063248"/>
              <a:ext cx="9821563" cy="1139513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SE" sz="2800" dirty="0"/>
                <a:t>There is no analytical way of ensuring construct validity.</a:t>
              </a:r>
              <a:endParaRPr lang="en-US" sz="2800" baseline="30000" noProof="0" dirty="0"/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F0267085-F573-9C96-9C69-A9571EB860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775411" y="5273004"/>
              <a:ext cx="720000" cy="720000"/>
            </a:xfrm>
            <a:prstGeom prst="rect">
              <a:avLst/>
            </a:prstGeom>
          </p:spPr>
        </p:pic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0FD26B-9F71-0C38-AF39-660112359E64}"/>
              </a:ext>
            </a:extLst>
          </p:cNvPr>
          <p:cNvSpPr txBox="1">
            <a:spLocks/>
          </p:cNvSpPr>
          <p:nvPr/>
        </p:nvSpPr>
        <p:spPr>
          <a:xfrm>
            <a:off x="838198" y="4613399"/>
            <a:ext cx="10515600" cy="1138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Follow best practices and be content with statements about the operational, not the theoretical level.</a:t>
            </a:r>
          </a:p>
        </p:txBody>
      </p:sp>
    </p:spTree>
    <p:extLst>
      <p:ext uri="{BB962C8B-B14F-4D97-AF65-F5344CB8AC3E}">
        <p14:creationId xmlns:p14="http://schemas.microsoft.com/office/powerpoint/2010/main" val="32655656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F878-B6C9-B811-394E-CC2B31596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Construct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F001-8E45-33CF-94BF-A0D183EA6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There is no </a:t>
            </a:r>
            <a:r>
              <a:rPr lang="en-SE" i="1" dirty="0"/>
              <a:t>absolute </a:t>
            </a:r>
            <a:r>
              <a:rPr lang="en-SE" dirty="0"/>
              <a:t>way of measuring construct validity, but at least there is a </a:t>
            </a:r>
            <a:r>
              <a:rPr lang="en-SE" i="1" dirty="0"/>
              <a:t>relative </a:t>
            </a:r>
            <a:r>
              <a:rPr lang="en-SE" dirty="0"/>
              <a:t>way:</a:t>
            </a:r>
          </a:p>
          <a:p>
            <a:r>
              <a:rPr lang="en-SE" b="1" dirty="0"/>
              <a:t>Convergent validity</a:t>
            </a:r>
            <a:r>
              <a:rPr lang="en-SE" dirty="0"/>
              <a:t>: a measure should correlate with other (established) measures of the same construct</a:t>
            </a:r>
          </a:p>
          <a:p>
            <a:r>
              <a:rPr lang="en-SE" b="1" dirty="0"/>
              <a:t>Discriminant validity</a:t>
            </a:r>
            <a:r>
              <a:rPr lang="en-SE" dirty="0"/>
              <a:t>: a measure should not correlated with highly distinct constructs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DA47F-F759-B54C-9A12-236DA9CF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99191-6F10-02D8-E2E8-72B24013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23969-97AE-DFB4-CE95-A6AE1086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12620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541C-6584-9C20-327B-0E58CC3B8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Positive Examples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2BD9-8C7B-0820-9859-9AFDDA2B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noProof="0" dirty="0"/>
              <a:t>One of the best-known and –elaborated examples in software engineering is the operationalization of </a:t>
            </a:r>
            <a:r>
              <a:rPr lang="en-SE" b="1" noProof="0" dirty="0"/>
              <a:t>technology acceptance</a:t>
            </a:r>
            <a:r>
              <a:rPr lang="en-SE" noProof="0" dirty="0"/>
              <a:t> (i.e., usability and ease-of-use).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76E82-CC24-9D93-0DE0-6B14805FB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0440B-A777-779A-5B50-AA236F4F0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DFC9F-ED11-437D-B70E-88C006CA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20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8C5C6-7905-8E90-DBB9-296D191BB908}"/>
              </a:ext>
            </a:extLst>
          </p:cNvPr>
          <p:cNvSpPr txBox="1"/>
          <p:nvPr/>
        </p:nvSpPr>
        <p:spPr>
          <a:xfrm>
            <a:off x="838198" y="6017796"/>
            <a:ext cx="36283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dirty="0"/>
              <a:t>Davis, F. D. (1989). Perceived usefulness, perceived ease of use, and user acceptance of information technology. MIS quarterly, 13(3), 319-340.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0C01CAF-3210-7343-FBA7-B3BC01A228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292662"/>
              </p:ext>
            </p:extLst>
          </p:nvPr>
        </p:nvGraphicFramePr>
        <p:xfrm>
          <a:off x="1910368" y="3242529"/>
          <a:ext cx="837126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1515">
                  <a:extLst>
                    <a:ext uri="{9D8B030D-6E8A-4147-A177-3AD203B41FA5}">
                      <a16:colId xmlns:a16="http://schemas.microsoft.com/office/drawing/2014/main" val="3473815402"/>
                    </a:ext>
                  </a:extLst>
                </a:gridCol>
                <a:gridCol w="7559749">
                  <a:extLst>
                    <a:ext uri="{9D8B030D-6E8A-4147-A177-3AD203B41FA5}">
                      <a16:colId xmlns:a16="http://schemas.microsoft.com/office/drawing/2014/main" val="3094413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59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PU1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Using </a:t>
                      </a:r>
                      <a:r>
                        <a:rPr lang="en-US" i="1" dirty="0"/>
                        <a:t>system</a:t>
                      </a:r>
                      <a:r>
                        <a:rPr lang="en-US" dirty="0"/>
                        <a:t> in my job would enable me to accomplish tasks more quickly</a:t>
                      </a:r>
                      <a:r>
                        <a:rPr lang="en-SE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101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PU2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Using </a:t>
                      </a:r>
                      <a:r>
                        <a:rPr lang="en-US" i="1" dirty="0"/>
                        <a:t>system</a:t>
                      </a:r>
                      <a:r>
                        <a:rPr lang="en-US" dirty="0"/>
                        <a:t> would improve my job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29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PU3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Using </a:t>
                      </a:r>
                      <a:r>
                        <a:rPr lang="en-US" i="1" dirty="0"/>
                        <a:t>system</a:t>
                      </a:r>
                      <a:r>
                        <a:rPr lang="en-US" dirty="0"/>
                        <a:t> in my job would increase my productivity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554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PU4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Using </a:t>
                      </a:r>
                      <a:r>
                        <a:rPr lang="en-US" i="1" dirty="0"/>
                        <a:t>system</a:t>
                      </a:r>
                      <a:r>
                        <a:rPr lang="en-US" dirty="0"/>
                        <a:t> would enhance my effectiveness on the job.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47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PU5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Using </a:t>
                      </a:r>
                      <a:r>
                        <a:rPr lang="en-US" i="1" dirty="0"/>
                        <a:t>system</a:t>
                      </a:r>
                      <a:r>
                        <a:rPr lang="en-US" dirty="0"/>
                        <a:t> would make it easier to do my job.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34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E" dirty="0"/>
                        <a:t>PU6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 would find </a:t>
                      </a:r>
                      <a:r>
                        <a:rPr lang="en-US" i="1" dirty="0"/>
                        <a:t>system</a:t>
                      </a:r>
                      <a:r>
                        <a:rPr lang="en-US" dirty="0"/>
                        <a:t> useful in my job.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114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891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63D198-6C28-E4EF-F63D-BAEC4E88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Effects of Construct Validity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AC69E3-98A0-556A-EF6B-B3C7DF268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83713-5F94-62AE-0443-73C81803C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88C1A-B1B8-75CD-F2E5-F6C0B11C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BE442-9204-4F5B-DB13-63D0079DC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29235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9BA8A-942C-EB77-07D1-72EBC52A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Aggregation of Studies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6AA6C-B53C-2E87-FE8D-ABA1F27C0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6559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We have previously established that conducting good, </a:t>
            </a:r>
            <a:r>
              <a:rPr lang="en-SE" i="1" noProof="0" dirty="0"/>
              <a:t>rigorous </a:t>
            </a:r>
            <a:r>
              <a:rPr lang="en-SE" noProof="0" dirty="0"/>
              <a:t>research is difficult. This results in a very constrained scope of individual studies.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783D7-AB20-67A8-441A-1A4DBE0B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33F9-AD81-DD7F-7BCC-45290C3E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8CC1E-EA51-B7A1-AB24-C36A3B198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22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A2ACB9-B0B6-B5A3-695A-CDBE32358D9E}"/>
              </a:ext>
            </a:extLst>
          </p:cNvPr>
          <p:cNvSpPr/>
          <p:nvPr/>
        </p:nvSpPr>
        <p:spPr>
          <a:xfrm>
            <a:off x="3448812" y="3891094"/>
            <a:ext cx="5294376" cy="225647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97391-8429-4433-5574-E7B168494364}"/>
              </a:ext>
            </a:extLst>
          </p:cNvPr>
          <p:cNvSpPr txBox="1"/>
          <p:nvPr/>
        </p:nvSpPr>
        <p:spPr>
          <a:xfrm>
            <a:off x="5145323" y="3429000"/>
            <a:ext cx="190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Target Population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015E3C-38EF-1F7B-D1CF-3093864F9DE4}"/>
              </a:ext>
            </a:extLst>
          </p:cNvPr>
          <p:cNvSpPr/>
          <p:nvPr/>
        </p:nvSpPr>
        <p:spPr>
          <a:xfrm>
            <a:off x="3569156" y="3985988"/>
            <a:ext cx="1367028" cy="754058"/>
          </a:xfrm>
          <a:prstGeom prst="rect">
            <a:avLst/>
          </a:prstGeom>
          <a:solidFill>
            <a:srgbClr val="00B49A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5" name="Graphic 14" descr="Document with solid fill">
            <a:extLst>
              <a:ext uri="{FF2B5EF4-FFF2-40B4-BE49-F238E27FC236}">
                <a16:creationId xmlns:a16="http://schemas.microsoft.com/office/drawing/2014/main" id="{B091EFBA-C802-6263-7BF7-8B852D09D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906" y="3718719"/>
            <a:ext cx="914400" cy="9144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339D44-4C46-A2F2-9D9E-5283E1023D54}"/>
              </a:ext>
            </a:extLst>
          </p:cNvPr>
          <p:cNvCxnSpPr>
            <a:cxnSpLocks/>
            <a:stCxn id="15" idx="3"/>
            <a:endCxn id="9" idx="1"/>
          </p:cNvCxnSpPr>
          <p:nvPr/>
        </p:nvCxnSpPr>
        <p:spPr>
          <a:xfrm>
            <a:off x="3210306" y="4175919"/>
            <a:ext cx="358850" cy="1870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20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7707-BC88-8D44-BB84-DA47602F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EA6E-AD80-8FC1-685C-9E4CA71D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Aggregation of Studies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48F7-B961-AE9E-A924-DCE42D0C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6559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However, through the process of </a:t>
            </a:r>
            <a:r>
              <a:rPr lang="en-SE" b="1" noProof="0" dirty="0"/>
              <a:t>replication</a:t>
            </a:r>
            <a:r>
              <a:rPr lang="en-SE" noProof="0" dirty="0"/>
              <a:t>, individual studies can incrementally cover the target population in a way that would be impossible for a single study.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1F724-FDA4-D519-7E50-5E6B6AFE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5B5AC-8175-76AF-BC1D-F3BA4F774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09B82-EC97-9320-3973-DDB7DF25D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23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9C448-EAE9-94AF-D52A-D65DD61B5816}"/>
              </a:ext>
            </a:extLst>
          </p:cNvPr>
          <p:cNvSpPr/>
          <p:nvPr/>
        </p:nvSpPr>
        <p:spPr>
          <a:xfrm>
            <a:off x="3448812" y="3891094"/>
            <a:ext cx="5294376" cy="225647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7BCE8E-E204-B5AC-5CE0-409255458FFD}"/>
              </a:ext>
            </a:extLst>
          </p:cNvPr>
          <p:cNvSpPr txBox="1"/>
          <p:nvPr/>
        </p:nvSpPr>
        <p:spPr>
          <a:xfrm>
            <a:off x="5145323" y="3429000"/>
            <a:ext cx="190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Target Population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6D8F1D-461B-741B-248A-2DB8C70D8DA1}"/>
              </a:ext>
            </a:extLst>
          </p:cNvPr>
          <p:cNvSpPr/>
          <p:nvPr/>
        </p:nvSpPr>
        <p:spPr>
          <a:xfrm>
            <a:off x="3569156" y="3985988"/>
            <a:ext cx="1367028" cy="754058"/>
          </a:xfrm>
          <a:prstGeom prst="rect">
            <a:avLst/>
          </a:prstGeom>
          <a:solidFill>
            <a:srgbClr val="00B49A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30779C-B912-9204-B1E9-2DD691A2F92F}"/>
              </a:ext>
            </a:extLst>
          </p:cNvPr>
          <p:cNvSpPr/>
          <p:nvPr/>
        </p:nvSpPr>
        <p:spPr>
          <a:xfrm>
            <a:off x="3581400" y="4784854"/>
            <a:ext cx="743465" cy="109696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73D9B5-AC75-D19B-9EC8-B182DEA14BEF}"/>
              </a:ext>
            </a:extLst>
          </p:cNvPr>
          <p:cNvSpPr/>
          <p:nvPr/>
        </p:nvSpPr>
        <p:spPr>
          <a:xfrm>
            <a:off x="5039405" y="3985191"/>
            <a:ext cx="465159" cy="754058"/>
          </a:xfrm>
          <a:prstGeom prst="rect">
            <a:avLst/>
          </a:prstGeom>
          <a:solidFill>
            <a:srgbClr val="007A69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4CD32D-DB19-AF19-D644-EED3A8FA2FAA}"/>
              </a:ext>
            </a:extLst>
          </p:cNvPr>
          <p:cNvSpPr/>
          <p:nvPr/>
        </p:nvSpPr>
        <p:spPr>
          <a:xfrm>
            <a:off x="4341709" y="4774989"/>
            <a:ext cx="1162855" cy="1096962"/>
          </a:xfrm>
          <a:prstGeom prst="rect">
            <a:avLst/>
          </a:prstGeom>
          <a:solidFill>
            <a:srgbClr val="00927D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14" name="Graphic 13" descr="Document with solid fill">
            <a:extLst>
              <a:ext uri="{FF2B5EF4-FFF2-40B4-BE49-F238E27FC236}">
                <a16:creationId xmlns:a16="http://schemas.microsoft.com/office/drawing/2014/main" id="{D5CCAB30-DE89-B4B7-26FE-22CE1DB1D5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6032" y="5089654"/>
            <a:ext cx="914400" cy="914400"/>
          </a:xfrm>
          <a:prstGeom prst="rect">
            <a:avLst/>
          </a:prstGeom>
        </p:spPr>
      </p:pic>
      <p:pic>
        <p:nvPicPr>
          <p:cNvPr id="15" name="Graphic 14" descr="Document with solid fill">
            <a:extLst>
              <a:ext uri="{FF2B5EF4-FFF2-40B4-BE49-F238E27FC236}">
                <a16:creationId xmlns:a16="http://schemas.microsoft.com/office/drawing/2014/main" id="{A53D8D4A-6D1D-0E36-EA37-D7C52FCBA8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906" y="3718719"/>
            <a:ext cx="914400" cy="914400"/>
          </a:xfrm>
          <a:prstGeom prst="rect">
            <a:avLst/>
          </a:prstGeom>
        </p:spPr>
      </p:pic>
      <p:pic>
        <p:nvPicPr>
          <p:cNvPr id="16" name="Graphic 15" descr="Document with solid fill">
            <a:extLst>
              <a:ext uri="{FF2B5EF4-FFF2-40B4-BE49-F238E27FC236}">
                <a16:creationId xmlns:a16="http://schemas.microsoft.com/office/drawing/2014/main" id="{20906D77-E97F-D79E-5090-9FD10B29BC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5776" y="3613666"/>
            <a:ext cx="914400" cy="914400"/>
          </a:xfrm>
          <a:prstGeom prst="rect">
            <a:avLst/>
          </a:prstGeom>
        </p:spPr>
      </p:pic>
      <p:pic>
        <p:nvPicPr>
          <p:cNvPr id="17" name="Graphic 16" descr="Document with solid fill">
            <a:extLst>
              <a:ext uri="{FF2B5EF4-FFF2-40B4-BE49-F238E27FC236}">
                <a16:creationId xmlns:a16="http://schemas.microsoft.com/office/drawing/2014/main" id="{1F7F2E69-CBF5-D647-067F-9811604606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1387" y="4985478"/>
            <a:ext cx="914400" cy="9144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99EFDA-ED99-E9CE-9561-9A82D97933C8}"/>
              </a:ext>
            </a:extLst>
          </p:cNvPr>
          <p:cNvCxnSpPr>
            <a:cxnSpLocks/>
            <a:stCxn id="15" idx="3"/>
            <a:endCxn id="9" idx="1"/>
          </p:cNvCxnSpPr>
          <p:nvPr/>
        </p:nvCxnSpPr>
        <p:spPr>
          <a:xfrm>
            <a:off x="3210306" y="4175919"/>
            <a:ext cx="358850" cy="1870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68F16F1-2C16-0634-825D-B351F6536A81}"/>
              </a:ext>
            </a:extLst>
          </p:cNvPr>
          <p:cNvCxnSpPr>
            <a:cxnSpLocks/>
            <a:stCxn id="14" idx="3"/>
            <a:endCxn id="10" idx="1"/>
          </p:cNvCxnSpPr>
          <p:nvPr/>
        </p:nvCxnSpPr>
        <p:spPr>
          <a:xfrm flipV="1">
            <a:off x="2880432" y="5333335"/>
            <a:ext cx="700968" cy="2135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C374CE6-C601-B50A-1DB3-5EEED9335182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flipH="1">
            <a:off x="5504564" y="4070866"/>
            <a:ext cx="3371212" cy="29135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CD7FD6-B2E5-6CCC-F86B-F1CE4959379D}"/>
              </a:ext>
            </a:extLst>
          </p:cNvPr>
          <p:cNvCxnSpPr>
            <a:cxnSpLocks/>
            <a:stCxn id="17" idx="1"/>
            <a:endCxn id="12" idx="3"/>
          </p:cNvCxnSpPr>
          <p:nvPr/>
        </p:nvCxnSpPr>
        <p:spPr>
          <a:xfrm flipH="1" flipV="1">
            <a:off x="5504564" y="5323470"/>
            <a:ext cx="3686823" cy="11920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11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9F730-41AF-AAF0-9661-552CCF0F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C0F8-D303-9A38-9C10-0FD29EC1F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Aggregation of Studies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A292-9E74-3F9D-F3A1-343E2931E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3655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Several individual studies with constrained scope can be aggregated via a </a:t>
            </a:r>
            <a:r>
              <a:rPr lang="en-SE" b="1" dirty="0"/>
              <a:t>meta-analysis</a:t>
            </a:r>
            <a:r>
              <a:rPr lang="en-SE" dirty="0"/>
              <a:t> to one result covering a larger part of the target population.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4FAF8-E961-DB48-52D4-7392B17D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46937-53BF-7FC3-8248-42A2E512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CAAE6-AFC3-332A-A269-64FE049A3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ACDE75-E5B2-B99E-C2BE-B0B6BB2ED38B}"/>
              </a:ext>
            </a:extLst>
          </p:cNvPr>
          <p:cNvSpPr/>
          <p:nvPr/>
        </p:nvSpPr>
        <p:spPr>
          <a:xfrm>
            <a:off x="3448812" y="3891094"/>
            <a:ext cx="5294376" cy="225647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8FCDA2-D7FA-C1CC-04F6-6B6BA76FF692}"/>
              </a:ext>
            </a:extLst>
          </p:cNvPr>
          <p:cNvSpPr txBox="1"/>
          <p:nvPr/>
        </p:nvSpPr>
        <p:spPr>
          <a:xfrm>
            <a:off x="5145323" y="3429000"/>
            <a:ext cx="190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Target Population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DB9C93-CE02-5896-D0C3-7A490C29C092}"/>
              </a:ext>
            </a:extLst>
          </p:cNvPr>
          <p:cNvSpPr/>
          <p:nvPr/>
        </p:nvSpPr>
        <p:spPr>
          <a:xfrm>
            <a:off x="3581400" y="4007114"/>
            <a:ext cx="1923164" cy="187470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26" name="Graphic 25" descr="Document with solid fill">
            <a:extLst>
              <a:ext uri="{FF2B5EF4-FFF2-40B4-BE49-F238E27FC236}">
                <a16:creationId xmlns:a16="http://schemas.microsoft.com/office/drawing/2014/main" id="{CF6FEE51-5079-79F2-CCDF-BFD6F8A44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6032" y="5089654"/>
            <a:ext cx="914400" cy="914400"/>
          </a:xfrm>
          <a:prstGeom prst="rect">
            <a:avLst/>
          </a:prstGeom>
        </p:spPr>
      </p:pic>
      <p:pic>
        <p:nvPicPr>
          <p:cNvPr id="28" name="Graphic 27" descr="Document with solid fill">
            <a:extLst>
              <a:ext uri="{FF2B5EF4-FFF2-40B4-BE49-F238E27FC236}">
                <a16:creationId xmlns:a16="http://schemas.microsoft.com/office/drawing/2014/main" id="{209E0751-6616-6940-F514-9696A0566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906" y="3718719"/>
            <a:ext cx="914400" cy="914400"/>
          </a:xfrm>
          <a:prstGeom prst="rect">
            <a:avLst/>
          </a:prstGeom>
        </p:spPr>
      </p:pic>
      <p:pic>
        <p:nvPicPr>
          <p:cNvPr id="29" name="Graphic 28" descr="Document with solid fill">
            <a:extLst>
              <a:ext uri="{FF2B5EF4-FFF2-40B4-BE49-F238E27FC236}">
                <a16:creationId xmlns:a16="http://schemas.microsoft.com/office/drawing/2014/main" id="{339D6416-483C-E99D-0795-E9FCAA861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5776" y="3613666"/>
            <a:ext cx="914400" cy="914400"/>
          </a:xfrm>
          <a:prstGeom prst="rect">
            <a:avLst/>
          </a:prstGeom>
        </p:spPr>
      </p:pic>
      <p:pic>
        <p:nvPicPr>
          <p:cNvPr id="30" name="Graphic 29" descr="Document with solid fill">
            <a:extLst>
              <a:ext uri="{FF2B5EF4-FFF2-40B4-BE49-F238E27FC236}">
                <a16:creationId xmlns:a16="http://schemas.microsoft.com/office/drawing/2014/main" id="{491CB950-35B9-D108-A972-B8135DB5C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91387" y="4985478"/>
            <a:ext cx="914400" cy="91440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05E8DE-5FF5-279E-F6A9-57973FF61D09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3210306" y="4175919"/>
            <a:ext cx="358850" cy="1870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C42D68F-1BF1-F957-6AA6-8237EAEE5456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2880432" y="5323470"/>
            <a:ext cx="688724" cy="22338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E9098C-8D33-5F1B-6E1E-004DAEBE8A34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5504564" y="4070866"/>
            <a:ext cx="3371212" cy="29135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76FEBB6-8DA3-F546-207A-C6AC1B3AE950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5504564" y="5323470"/>
            <a:ext cx="3686823" cy="11920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774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A7680-DFEF-7B59-5185-42F09AF5A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Aggregation of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ED301-E5DE-0784-1F27-BC291D86E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For meta-analysis to work, it is essential that all individual studies operationalize all concepts in the same way.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98E8-E649-8977-7EF1-57EF5AB1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5E64D-340D-FE60-06CB-650B394F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EABA1-0091-F84A-337A-AF916808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25</a:t>
            </a:fld>
            <a:endParaRPr lang="en-S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7AF13-DB98-37A1-F6A9-B1BEA01CE7CE}"/>
              </a:ext>
            </a:extLst>
          </p:cNvPr>
          <p:cNvGrpSpPr/>
          <p:nvPr/>
        </p:nvGrpSpPr>
        <p:grpSpPr>
          <a:xfrm>
            <a:off x="838198" y="4585365"/>
            <a:ext cx="4911508" cy="646332"/>
            <a:chOff x="2933294" y="3172510"/>
            <a:chExt cx="4911508" cy="6463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B37A0-6F0D-EBB7-480E-EE1137BE00C1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0222F10-B327-4463-17BE-983177D2DB4B}"/>
                </a:ext>
              </a:extLst>
            </p:cNvPr>
            <p:cNvSpPr/>
            <p:nvPr/>
          </p:nvSpPr>
          <p:spPr>
            <a:xfrm>
              <a:off x="5353422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493A817-7ABE-2646-A9DF-8D60B9C3AEBB}"/>
                </a:ext>
              </a:extLst>
            </p:cNvPr>
            <p:cNvCxnSpPr>
              <a:stCxn id="10" idx="6"/>
              <a:endCxn id="11" idx="2"/>
            </p:cNvCxnSpPr>
            <p:nvPr/>
          </p:nvCxnSpPr>
          <p:spPr>
            <a:xfrm>
              <a:off x="4791353" y="3495677"/>
              <a:ext cx="562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954BBA-AFC9-77FD-E469-B6AC780FB2D0}"/>
                </a:ext>
              </a:extLst>
            </p:cNvPr>
            <p:cNvSpPr txBox="1"/>
            <p:nvPr/>
          </p:nvSpPr>
          <p:spPr>
            <a:xfrm>
              <a:off x="2933294" y="3172511"/>
              <a:ext cx="14894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using Claude Code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C59B39-FB07-90CE-8715-262E68BDCBB3}"/>
                </a:ext>
              </a:extLst>
            </p:cNvPr>
            <p:cNvSpPr txBox="1"/>
            <p:nvPr/>
          </p:nvSpPr>
          <p:spPr>
            <a:xfrm>
              <a:off x="5713422" y="3172510"/>
              <a:ext cx="2131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number of commits per week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84720E-A84D-090C-CF8E-FC3003D9DF5C}"/>
              </a:ext>
            </a:extLst>
          </p:cNvPr>
          <p:cNvGrpSpPr/>
          <p:nvPr/>
        </p:nvGrpSpPr>
        <p:grpSpPr>
          <a:xfrm>
            <a:off x="6398452" y="4585364"/>
            <a:ext cx="4911508" cy="646332"/>
            <a:chOff x="2933294" y="3172510"/>
            <a:chExt cx="4911508" cy="6463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550CCCA-4E89-CD8C-18A2-22D82820B349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A888154-986B-2391-A760-790471C749F6}"/>
                </a:ext>
              </a:extLst>
            </p:cNvPr>
            <p:cNvSpPr/>
            <p:nvPr/>
          </p:nvSpPr>
          <p:spPr>
            <a:xfrm>
              <a:off x="5353422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15BA82B-91E1-C7E4-1777-F14B9E38A82D}"/>
                </a:ext>
              </a:extLst>
            </p:cNvPr>
            <p:cNvCxnSpPr>
              <a:stCxn id="16" idx="6"/>
              <a:endCxn id="17" idx="2"/>
            </p:cNvCxnSpPr>
            <p:nvPr/>
          </p:nvCxnSpPr>
          <p:spPr>
            <a:xfrm>
              <a:off x="4791353" y="3495677"/>
              <a:ext cx="5620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DC9591-D0A6-34A4-4758-430E9355417F}"/>
                </a:ext>
              </a:extLst>
            </p:cNvPr>
            <p:cNvSpPr txBox="1"/>
            <p:nvPr/>
          </p:nvSpPr>
          <p:spPr>
            <a:xfrm>
              <a:off x="2933294" y="3172511"/>
              <a:ext cx="14894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using</a:t>
              </a:r>
              <a:r>
                <a:rPr lang="en-SE" noProof="0" dirty="0">
                  <a:solidFill>
                    <a:srgbClr val="D0180A"/>
                  </a:solidFill>
                </a:rPr>
                <a:t> GitHub</a:t>
              </a:r>
              <a:br>
                <a:rPr lang="en-SE" noProof="0" dirty="0">
                  <a:solidFill>
                    <a:srgbClr val="D0180A"/>
                  </a:solidFill>
                </a:rPr>
              </a:br>
              <a:r>
                <a:rPr lang="en-SE" noProof="0" dirty="0">
                  <a:solidFill>
                    <a:srgbClr val="D0180A"/>
                  </a:solidFill>
                </a:rPr>
                <a:t>Copilot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3687CB-1921-B810-D9BC-DE92A4558438}"/>
                </a:ext>
              </a:extLst>
            </p:cNvPr>
            <p:cNvSpPr txBox="1"/>
            <p:nvPr/>
          </p:nvSpPr>
          <p:spPr>
            <a:xfrm>
              <a:off x="5713422" y="3172510"/>
              <a:ext cx="213138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s</a:t>
              </a:r>
              <a:r>
                <a:rPr lang="en-SE" noProof="0" dirty="0">
                  <a:solidFill>
                    <a:srgbClr val="006D70"/>
                  </a:solidFill>
                </a:rPr>
                <a:t>elf-reported 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50362E-473C-A480-C369-FBCA6D7E2B1F}"/>
              </a:ext>
            </a:extLst>
          </p:cNvPr>
          <p:cNvGrpSpPr/>
          <p:nvPr/>
        </p:nvGrpSpPr>
        <p:grpSpPr>
          <a:xfrm>
            <a:off x="3489138" y="2914737"/>
            <a:ext cx="5213724" cy="646331"/>
            <a:chOff x="3431946" y="3172511"/>
            <a:chExt cx="5213724" cy="64633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BF395AA-8D13-EFD9-FFDB-B3F159524628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D0180A"/>
                  </a:solidFill>
                </a:rPr>
                <a:t>x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493B2BD-A574-76F0-6D31-39A9EF6A59F6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rgbClr val="006D70"/>
                  </a:solidFill>
                </a:rPr>
                <a:t>y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82218D0-7B85-1196-D2E1-26E5F97B50AF}"/>
                </a:ext>
              </a:extLst>
            </p:cNvPr>
            <p:cNvCxnSpPr>
              <a:stCxn id="22" idx="6"/>
              <a:endCxn id="23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A28860-08E0-E124-F360-947B4DB05009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noProof="0" dirty="0">
                  <a:solidFill>
                    <a:srgbClr val="D0180A"/>
                  </a:solidFill>
                </a:rPr>
                <a:t>use of GenAI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3CD5BF-EA1F-D981-5E8A-53A3770CF378}"/>
                </a:ext>
              </a:extLst>
            </p:cNvPr>
            <p:cNvSpPr txBox="1"/>
            <p:nvPr/>
          </p:nvSpPr>
          <p:spPr>
            <a:xfrm>
              <a:off x="7282733" y="3288250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rgbClr val="006D70"/>
                  </a:solidFill>
                </a:rPr>
                <a:t>productivity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7906DF-6F3B-9CE0-658C-AF2865A9E315}"/>
              </a:ext>
            </a:extLst>
          </p:cNvPr>
          <p:cNvCxnSpPr/>
          <p:nvPr/>
        </p:nvCxnSpPr>
        <p:spPr>
          <a:xfrm>
            <a:off x="1127051" y="3989793"/>
            <a:ext cx="988827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9AB39A-3218-F13A-44E1-E7377E9F0311}"/>
              </a:ext>
            </a:extLst>
          </p:cNvPr>
          <p:cNvSpPr txBox="1"/>
          <p:nvPr/>
        </p:nvSpPr>
        <p:spPr>
          <a:xfrm>
            <a:off x="1095153" y="3588238"/>
            <a:ext cx="854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Theory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82380C-2828-4133-9219-1C29CB9E605B}"/>
              </a:ext>
            </a:extLst>
          </p:cNvPr>
          <p:cNvSpPr txBox="1"/>
          <p:nvPr/>
        </p:nvSpPr>
        <p:spPr>
          <a:xfrm>
            <a:off x="1095153" y="4049676"/>
            <a:ext cx="140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Observation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2C3CE3-91E0-909D-6548-EA8493C52CF6}"/>
              </a:ext>
            </a:extLst>
          </p:cNvPr>
          <p:cNvCxnSpPr>
            <a:stCxn id="22" idx="3"/>
            <a:endCxn id="10" idx="7"/>
          </p:cNvCxnSpPr>
          <p:nvPr/>
        </p:nvCxnSpPr>
        <p:spPr>
          <a:xfrm flipH="1">
            <a:off x="2643536" y="3365182"/>
            <a:ext cx="1897730" cy="14160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1967A84-81BA-7DD6-20CC-CD5D037F2FDC}"/>
              </a:ext>
            </a:extLst>
          </p:cNvPr>
          <p:cNvCxnSpPr>
            <a:cxnSpLocks/>
            <a:stCxn id="22" idx="5"/>
            <a:endCxn id="16" idx="1"/>
          </p:cNvCxnSpPr>
          <p:nvPr/>
        </p:nvCxnSpPr>
        <p:spPr>
          <a:xfrm>
            <a:off x="4795824" y="3365182"/>
            <a:ext cx="3153408" cy="14160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B380E06-17C0-BF91-93CE-ED7CE4B4421D}"/>
              </a:ext>
            </a:extLst>
          </p:cNvPr>
          <p:cNvCxnSpPr>
            <a:cxnSpLocks/>
            <a:stCxn id="23" idx="3"/>
            <a:endCxn id="11" idx="7"/>
          </p:cNvCxnSpPr>
          <p:nvPr/>
        </p:nvCxnSpPr>
        <p:spPr>
          <a:xfrm flipH="1">
            <a:off x="3565605" y="3365182"/>
            <a:ext cx="3467041" cy="1416071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1AE6B71-B13F-3740-B510-B08C498883BF}"/>
              </a:ext>
            </a:extLst>
          </p:cNvPr>
          <p:cNvCxnSpPr>
            <a:cxnSpLocks/>
            <a:stCxn id="23" idx="5"/>
            <a:endCxn id="17" idx="1"/>
          </p:cNvCxnSpPr>
          <p:nvPr/>
        </p:nvCxnSpPr>
        <p:spPr>
          <a:xfrm>
            <a:off x="7287204" y="3365182"/>
            <a:ext cx="1584097" cy="141607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Graphic 45" descr="Document with solid fill">
            <a:extLst>
              <a:ext uri="{FF2B5EF4-FFF2-40B4-BE49-F238E27FC236}">
                <a16:creationId xmlns:a16="http://schemas.microsoft.com/office/drawing/2014/main" id="{30CB146B-4065-0CA8-8C7F-DD76AE21B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7877" y="5209977"/>
            <a:ext cx="914400" cy="914400"/>
          </a:xfrm>
          <a:prstGeom prst="rect">
            <a:avLst/>
          </a:prstGeom>
        </p:spPr>
      </p:pic>
      <p:pic>
        <p:nvPicPr>
          <p:cNvPr id="47" name="Graphic 46" descr="Document with solid fill">
            <a:extLst>
              <a:ext uri="{FF2B5EF4-FFF2-40B4-BE49-F238E27FC236}">
                <a16:creationId xmlns:a16="http://schemas.microsoft.com/office/drawing/2014/main" id="{615B0C1E-8368-379B-6175-927C0428C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86407" y="52083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501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F16E-215A-A180-4817-95F30DEF2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noProof="0" dirty="0"/>
              <a:t>Achieving Aggregation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545FA-EED4-FBD3-A839-A66B08041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3499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Other disciplines (like medical science) heavily rely on the aggregation of individual pieces of evidence. They achieve this via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6A31-3D95-2170-F12F-83AD1C5D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32548-C08E-DE24-7AC3-815053B3D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BA220-894B-9E27-1726-6579F414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26</a:t>
            </a:fld>
            <a:endParaRPr lang="en-US" noProof="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C42141A-1BA2-66AD-7DF2-737E353F1FCE}"/>
              </a:ext>
            </a:extLst>
          </p:cNvPr>
          <p:cNvSpPr txBox="1">
            <a:spLocks/>
          </p:cNvSpPr>
          <p:nvPr/>
        </p:nvSpPr>
        <p:spPr>
          <a:xfrm>
            <a:off x="838200" y="4507742"/>
            <a:ext cx="10515600" cy="147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SE" dirty="0"/>
              <a:t>On the other hand</a:t>
            </a:r>
            <a:r>
              <a:rPr lang="en-US" dirty="0"/>
              <a:t>: stricter protocols limit creativity and exploration. </a:t>
            </a:r>
            <a:r>
              <a:rPr lang="en-SE" dirty="0"/>
              <a:t>Many phenomena in software engineering are not yet explored well enough to prescribe how to measure them.</a:t>
            </a:r>
            <a:endParaRPr lang="en-US" dirty="0"/>
          </a:p>
        </p:txBody>
      </p:sp>
      <p:pic>
        <p:nvPicPr>
          <p:cNvPr id="8" name="Graphic 7" descr="Clipboard Mixed with solid fill">
            <a:extLst>
              <a:ext uri="{FF2B5EF4-FFF2-40B4-BE49-F238E27FC236}">
                <a16:creationId xmlns:a16="http://schemas.microsoft.com/office/drawing/2014/main" id="{9DFBB9B5-06CB-C157-F23C-1E85475D1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38198" y="3075616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0C54BB-FCBE-BA71-FCA6-0E7ACD20EA25}"/>
              </a:ext>
            </a:extLst>
          </p:cNvPr>
          <p:cNvSpPr txBox="1"/>
          <p:nvPr/>
        </p:nvSpPr>
        <p:spPr>
          <a:xfrm>
            <a:off x="1752598" y="3117318"/>
            <a:ext cx="8550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400" b="1" dirty="0" err="1"/>
              <a:t>Procotols</a:t>
            </a:r>
            <a:r>
              <a:rPr lang="en-SE" sz="2400" dirty="0"/>
              <a:t>, i.e., strict guidelines on how to operationalize and measure certain variables of interest</a:t>
            </a:r>
          </a:p>
        </p:txBody>
      </p:sp>
    </p:spTree>
    <p:extLst>
      <p:ext uri="{BB962C8B-B14F-4D97-AF65-F5344CB8AC3E}">
        <p14:creationId xmlns:p14="http://schemas.microsoft.com/office/powerpoint/2010/main" val="4057753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5FC9-2AB2-214D-9338-A2DCEDC3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Side </a:t>
            </a:r>
            <a:r>
              <a:rPr lang="en-SE" noProof="0" dirty="0"/>
              <a:t>N</a:t>
            </a:r>
            <a:r>
              <a:rPr lang="en-US" noProof="0" dirty="0" err="1"/>
              <a:t>ote</a:t>
            </a:r>
            <a:r>
              <a:rPr lang="en-US" noProof="0" dirty="0"/>
              <a:t> on Replications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05173-B39A-520B-8969-00637C52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2247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Aggregation of evidence first requires the accumulation of evidence.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8CD57-3E13-7B57-BF53-49A837F32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E74F4-F2A0-04DF-379F-E34156F3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BBE45-2C96-82CA-0453-65461607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US" noProof="0" smtClean="0"/>
              <a:t>27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306C6D-4B75-2296-F8FD-01146D9EFCFB}"/>
              </a:ext>
            </a:extLst>
          </p:cNvPr>
          <p:cNvSpPr/>
          <p:nvPr/>
        </p:nvSpPr>
        <p:spPr>
          <a:xfrm>
            <a:off x="3316224" y="3002692"/>
            <a:ext cx="5294376" cy="225647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0688DB-09EE-12DC-604F-5E7C6ECE1FB1}"/>
              </a:ext>
            </a:extLst>
          </p:cNvPr>
          <p:cNvSpPr/>
          <p:nvPr/>
        </p:nvSpPr>
        <p:spPr>
          <a:xfrm>
            <a:off x="3448812" y="3118712"/>
            <a:ext cx="1923164" cy="187470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pic>
        <p:nvPicPr>
          <p:cNvPr id="9" name="Graphic 8" descr="Document with solid fill">
            <a:extLst>
              <a:ext uri="{FF2B5EF4-FFF2-40B4-BE49-F238E27FC236}">
                <a16:creationId xmlns:a16="http://schemas.microsoft.com/office/drawing/2014/main" id="{27C7F0AD-EC02-2CCE-697D-2D329B269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3444" y="4201252"/>
            <a:ext cx="914400" cy="914400"/>
          </a:xfrm>
          <a:prstGeom prst="rect">
            <a:avLst/>
          </a:prstGeom>
        </p:spPr>
      </p:pic>
      <p:pic>
        <p:nvPicPr>
          <p:cNvPr id="10" name="Graphic 9" descr="Document with solid fill">
            <a:extLst>
              <a:ext uri="{FF2B5EF4-FFF2-40B4-BE49-F238E27FC236}">
                <a16:creationId xmlns:a16="http://schemas.microsoft.com/office/drawing/2014/main" id="{EDEB4724-7350-6CF7-7939-A5396FF81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3318" y="2830317"/>
            <a:ext cx="914400" cy="914400"/>
          </a:xfrm>
          <a:prstGeom prst="rect">
            <a:avLst/>
          </a:prstGeom>
        </p:spPr>
      </p:pic>
      <p:pic>
        <p:nvPicPr>
          <p:cNvPr id="11" name="Graphic 10" descr="Document with solid fill">
            <a:extLst>
              <a:ext uri="{FF2B5EF4-FFF2-40B4-BE49-F238E27FC236}">
                <a16:creationId xmlns:a16="http://schemas.microsoft.com/office/drawing/2014/main" id="{10498745-6719-2E03-3CD6-89CB45605C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43188" y="2725264"/>
            <a:ext cx="914400" cy="914400"/>
          </a:xfrm>
          <a:prstGeom prst="rect">
            <a:avLst/>
          </a:prstGeom>
        </p:spPr>
      </p:pic>
      <p:pic>
        <p:nvPicPr>
          <p:cNvPr id="12" name="Graphic 11" descr="Document with solid fill">
            <a:extLst>
              <a:ext uri="{FF2B5EF4-FFF2-40B4-BE49-F238E27FC236}">
                <a16:creationId xmlns:a16="http://schemas.microsoft.com/office/drawing/2014/main" id="{A63A1A94-B294-795F-3CB0-C2E309935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8799" y="4097076"/>
            <a:ext cx="914400" cy="9144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603453-EB21-0D01-E79C-7F9CA6A6F75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077718" y="3287517"/>
            <a:ext cx="358850" cy="1870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DAA16C-BA2F-BD64-AE03-66CCF09D8E6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747844" y="4435068"/>
            <a:ext cx="688724" cy="22338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DA604C-A1E2-CC51-997E-40BC9B960BF2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371976" y="3182464"/>
            <a:ext cx="3371212" cy="29135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232C4D-63CB-84D9-A534-2D8BE455BE80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371976" y="4435068"/>
            <a:ext cx="3686823" cy="11920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2E4895E-BAA7-AC85-0D5C-901D7D3587B6}"/>
              </a:ext>
            </a:extLst>
          </p:cNvPr>
          <p:cNvSpPr txBox="1">
            <a:spLocks/>
          </p:cNvSpPr>
          <p:nvPr/>
        </p:nvSpPr>
        <p:spPr>
          <a:xfrm>
            <a:off x="705612" y="5361239"/>
            <a:ext cx="10515600" cy="9622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Before we can actually aggregate any evidence, </a:t>
            </a:r>
            <a:r>
              <a:rPr lang="en-SE" dirty="0" err="1"/>
              <a:t>somebod</a:t>
            </a:r>
            <a:r>
              <a:rPr lang="de-DE" dirty="0"/>
              <a:t>y</a:t>
            </a:r>
            <a:r>
              <a:rPr lang="en-SE" dirty="0"/>
              <a:t> needs to </a:t>
            </a:r>
            <a:r>
              <a:rPr lang="en-SE" i="1" dirty="0"/>
              <a:t>perform </a:t>
            </a:r>
            <a:r>
              <a:rPr lang="en-SE" dirty="0"/>
              <a:t>those replication of a first study.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83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F1FFD0-87D5-DBFB-3AAA-F277FD9A5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Conclusion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A89280-3474-D419-A47E-DCB34BF4A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42BF-8ED3-8433-3D98-C5DC5A89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FF13F-DD63-A384-2F43-9088144D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94C8-51FC-7910-4FD2-3DD1D46F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6278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562D-D718-D4A6-4787-5195249B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How to Good Science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E0CCA-DEC4-FFEE-90A9-F14C3EBB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8CE2-9857-FB18-8AED-EA72AC6E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457E5-5EF3-A476-CBFC-9D6C7E54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29</a:t>
            </a:fld>
            <a:endParaRPr lang="en-SE"/>
          </a:p>
        </p:txBody>
      </p:sp>
      <p:pic>
        <p:nvPicPr>
          <p:cNvPr id="8" name="Graphic 7" descr="Network with solid fill">
            <a:extLst>
              <a:ext uri="{FF2B5EF4-FFF2-40B4-BE49-F238E27FC236}">
                <a16:creationId xmlns:a16="http://schemas.microsoft.com/office/drawing/2014/main" id="{A4C3008D-C625-BFD8-C4B5-0077C423D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98" y="169068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603FF6-7DF0-8D12-A39F-F133CD7F2310}"/>
              </a:ext>
            </a:extLst>
          </p:cNvPr>
          <p:cNvSpPr txBox="1"/>
          <p:nvPr/>
        </p:nvSpPr>
        <p:spPr>
          <a:xfrm>
            <a:off x="1752598" y="179394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Internal validity </a:t>
            </a:r>
            <a:r>
              <a:rPr lang="en-SE" sz="2000" dirty="0"/>
              <a:t>requires visualizing and communicating your causal assumptions, and closing any backdoor paths by controlling confounders</a:t>
            </a:r>
          </a:p>
        </p:txBody>
      </p:sp>
      <p:pic>
        <p:nvPicPr>
          <p:cNvPr id="10" name="Graphic 9" descr="Share with solid fill">
            <a:extLst>
              <a:ext uri="{FF2B5EF4-FFF2-40B4-BE49-F238E27FC236}">
                <a16:creationId xmlns:a16="http://schemas.microsoft.com/office/drawing/2014/main" id="{F0C21F6F-A29C-0335-C99D-1FB2A4D2F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198" y="2723008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01B745-E87D-F81B-8AA1-F655E48FF0BB}"/>
              </a:ext>
            </a:extLst>
          </p:cNvPr>
          <p:cNvSpPr txBox="1"/>
          <p:nvPr/>
        </p:nvSpPr>
        <p:spPr>
          <a:xfrm>
            <a:off x="1752598" y="282626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External validity </a:t>
            </a:r>
            <a:r>
              <a:rPr lang="en-SE" sz="2000" dirty="0"/>
              <a:t>requires awareness of potential moderators that also affect trial eligibility</a:t>
            </a:r>
          </a:p>
        </p:txBody>
      </p:sp>
      <p:pic>
        <p:nvPicPr>
          <p:cNvPr id="3" name="Graphic 2" descr="Stopwatch with solid fill">
            <a:extLst>
              <a:ext uri="{FF2B5EF4-FFF2-40B4-BE49-F238E27FC236}">
                <a16:creationId xmlns:a16="http://schemas.microsoft.com/office/drawing/2014/main" id="{94D9FE7B-947F-9F73-A40D-07A8BD40E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38198" y="3755328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6C2AC5-7803-712A-4D07-AFCACB0F0863}"/>
              </a:ext>
            </a:extLst>
          </p:cNvPr>
          <p:cNvSpPr txBox="1"/>
          <p:nvPr/>
        </p:nvSpPr>
        <p:spPr>
          <a:xfrm>
            <a:off x="1752598" y="385858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Construct validity </a:t>
            </a:r>
            <a:r>
              <a:rPr lang="en-SE" sz="2000" dirty="0"/>
              <a:t>requires operationalizing constructs with an encompassing and representative set of indicators</a:t>
            </a:r>
          </a:p>
        </p:txBody>
      </p:sp>
    </p:spTree>
    <p:extLst>
      <p:ext uri="{BB962C8B-B14F-4D97-AF65-F5344CB8AC3E}">
        <p14:creationId xmlns:p14="http://schemas.microsoft.com/office/powerpoint/2010/main" val="215984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Chalmers">
      <a:dk1>
        <a:sysClr val="windowText" lastClr="000000"/>
      </a:dk1>
      <a:lt1>
        <a:srgbClr val="FFFFFF"/>
      </a:lt1>
      <a:dk2>
        <a:srgbClr val="003050"/>
      </a:dk2>
      <a:lt2>
        <a:srgbClr val="FFCB05"/>
      </a:lt2>
      <a:accent1>
        <a:srgbClr val="F15A22"/>
      </a:accent1>
      <a:accent2>
        <a:srgbClr val="7FB539"/>
      </a:accent2>
      <a:accent3>
        <a:srgbClr val="006C5C"/>
      </a:accent3>
      <a:accent4>
        <a:srgbClr val="5D6F7A"/>
      </a:accent4>
      <a:accent5>
        <a:srgbClr val="58B0E3"/>
      </a:accent5>
      <a:accent6>
        <a:srgbClr val="270089"/>
      </a:accent6>
      <a:hlink>
        <a:srgbClr val="00A99D"/>
      </a:hlink>
      <a:folHlink>
        <a:srgbClr val="48372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1760</Words>
  <Application>Microsoft Office PowerPoint</Application>
  <PresentationFormat>Widescreen</PresentationFormat>
  <Paragraphs>298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Good Science</vt:lpstr>
      <vt:lpstr>Motivation</vt:lpstr>
      <vt:lpstr>Rigorous Research</vt:lpstr>
      <vt:lpstr>Framing Causal Assumptions</vt:lpstr>
      <vt:lpstr>Levels of Research</vt:lpstr>
      <vt:lpstr>Levels of Research</vt:lpstr>
      <vt:lpstr>Operationalization</vt:lpstr>
      <vt:lpstr>PowerPoint Presentation</vt:lpstr>
      <vt:lpstr>PowerPoint Presentation</vt:lpstr>
      <vt:lpstr>PowerPoint Presentation</vt:lpstr>
      <vt:lpstr>Operationalization</vt:lpstr>
      <vt:lpstr>Construct Validity</vt:lpstr>
      <vt:lpstr>Construct Validity</vt:lpstr>
      <vt:lpstr>Threats to Construct Validity</vt:lpstr>
      <vt:lpstr>Inadequate Definition of Concept</vt:lpstr>
      <vt:lpstr>Construct Underrepresentation</vt:lpstr>
      <vt:lpstr>Construct-Representation Bias</vt:lpstr>
      <vt:lpstr>Construct Validity</vt:lpstr>
      <vt:lpstr>Construct Validity</vt:lpstr>
      <vt:lpstr>Positive Examples</vt:lpstr>
      <vt:lpstr>The Effects of Construct Validity</vt:lpstr>
      <vt:lpstr>Aggregation of Studies</vt:lpstr>
      <vt:lpstr>Aggregation of Studies</vt:lpstr>
      <vt:lpstr>Aggregation of Studies</vt:lpstr>
      <vt:lpstr>Aggregation of Studies</vt:lpstr>
      <vt:lpstr>Achieving Aggregation</vt:lpstr>
      <vt:lpstr>Side Note on Replications</vt:lpstr>
      <vt:lpstr>Conclusion</vt:lpstr>
      <vt:lpstr>How to Good Science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34</cp:revision>
  <dcterms:created xsi:type="dcterms:W3CDTF">2025-05-23T14:20:09Z</dcterms:created>
  <dcterms:modified xsi:type="dcterms:W3CDTF">2026-05-12T20:59:02Z</dcterms:modified>
</cp:coreProperties>
</file>