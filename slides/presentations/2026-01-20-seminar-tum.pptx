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58"/>
  </p:notesMasterIdLst>
  <p:sldIdLst>
    <p:sldId id="256" r:id="rId2"/>
    <p:sldId id="385" r:id="rId3"/>
    <p:sldId id="386" r:id="rId4"/>
    <p:sldId id="371" r:id="rId5"/>
    <p:sldId id="275" r:id="rId6"/>
    <p:sldId id="276" r:id="rId7"/>
    <p:sldId id="277" r:id="rId8"/>
    <p:sldId id="375" r:id="rId9"/>
    <p:sldId id="280" r:id="rId10"/>
    <p:sldId id="388" r:id="rId11"/>
    <p:sldId id="389" r:id="rId12"/>
    <p:sldId id="380" r:id="rId13"/>
    <p:sldId id="381" r:id="rId14"/>
    <p:sldId id="382" r:id="rId15"/>
    <p:sldId id="391" r:id="rId16"/>
    <p:sldId id="374" r:id="rId17"/>
    <p:sldId id="326" r:id="rId18"/>
    <p:sldId id="327" r:id="rId19"/>
    <p:sldId id="333" r:id="rId20"/>
    <p:sldId id="331" r:id="rId21"/>
    <p:sldId id="334" r:id="rId22"/>
    <p:sldId id="335" r:id="rId23"/>
    <p:sldId id="332" r:id="rId24"/>
    <p:sldId id="330" r:id="rId25"/>
    <p:sldId id="296" r:id="rId26"/>
    <p:sldId id="390" r:id="rId27"/>
    <p:sldId id="364" r:id="rId28"/>
    <p:sldId id="363" r:id="rId29"/>
    <p:sldId id="336" r:id="rId30"/>
    <p:sldId id="294" r:id="rId31"/>
    <p:sldId id="338" r:id="rId32"/>
    <p:sldId id="337" r:id="rId33"/>
    <p:sldId id="339" r:id="rId34"/>
    <p:sldId id="297" r:id="rId35"/>
    <p:sldId id="343" r:id="rId36"/>
    <p:sldId id="344" r:id="rId37"/>
    <p:sldId id="345" r:id="rId38"/>
    <p:sldId id="346" r:id="rId39"/>
    <p:sldId id="348" r:id="rId40"/>
    <p:sldId id="347" r:id="rId41"/>
    <p:sldId id="365" r:id="rId42"/>
    <p:sldId id="366" r:id="rId43"/>
    <p:sldId id="367" r:id="rId44"/>
    <p:sldId id="368" r:id="rId45"/>
    <p:sldId id="392" r:id="rId46"/>
    <p:sldId id="378" r:id="rId47"/>
    <p:sldId id="383" r:id="rId48"/>
    <p:sldId id="299" r:id="rId49"/>
    <p:sldId id="311" r:id="rId50"/>
    <p:sldId id="384" r:id="rId51"/>
    <p:sldId id="312" r:id="rId52"/>
    <p:sldId id="313" r:id="rId53"/>
    <p:sldId id="394" r:id="rId54"/>
    <p:sldId id="393" r:id="rId55"/>
    <p:sldId id="308" r:id="rId56"/>
    <p:sldId id="266" r:id="rId57"/>
  </p:sldIdLst>
  <p:sldSz cx="12192000" cy="6858000"/>
  <p:notesSz cx="6858000" cy="9144000"/>
  <p:defaultTextStyle>
    <a:defPPr>
      <a:defRPr lang="en-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ACC29449-0C4D-440C-A898-37D5FC755553}">
          <p14:sldIdLst>
            <p14:sldId id="256"/>
            <p14:sldId id="385"/>
            <p14:sldId id="386"/>
          </p14:sldIdLst>
        </p14:section>
        <p14:section name="Motivation" id="{FC462F5D-5EDD-4043-A441-7CC17BFF00DA}">
          <p14:sldIdLst>
            <p14:sldId id="371"/>
            <p14:sldId id="275"/>
            <p14:sldId id="276"/>
            <p14:sldId id="277"/>
          </p14:sldIdLst>
        </p14:section>
        <p14:section name="Causal Modelling" id="{684B92E7-640D-4E6E-9713-A4DF01AF1EA9}">
          <p14:sldIdLst>
            <p14:sldId id="375"/>
            <p14:sldId id="280"/>
            <p14:sldId id="388"/>
            <p14:sldId id="389"/>
            <p14:sldId id="380"/>
            <p14:sldId id="381"/>
            <p14:sldId id="382"/>
          </p14:sldIdLst>
        </p14:section>
        <p14:section name="Associations" id="{D9AF1732-E8D3-4D20-8C99-924C27B281BB}">
          <p14:sldIdLst>
            <p14:sldId id="391"/>
            <p14:sldId id="374"/>
            <p14:sldId id="326"/>
            <p14:sldId id="327"/>
            <p14:sldId id="333"/>
            <p14:sldId id="331"/>
            <p14:sldId id="334"/>
            <p14:sldId id="335"/>
            <p14:sldId id="332"/>
            <p14:sldId id="330"/>
            <p14:sldId id="296"/>
          </p14:sldIdLst>
        </p14:section>
        <p14:section name="Identification" id="{8A01EF15-8318-4B37-A8FC-1BAB7A622ADB}">
          <p14:sldIdLst>
            <p14:sldId id="390"/>
            <p14:sldId id="364"/>
            <p14:sldId id="363"/>
            <p14:sldId id="336"/>
            <p14:sldId id="294"/>
            <p14:sldId id="338"/>
            <p14:sldId id="337"/>
            <p14:sldId id="339"/>
            <p14:sldId id="297"/>
            <p14:sldId id="343"/>
            <p14:sldId id="344"/>
            <p14:sldId id="345"/>
            <p14:sldId id="346"/>
            <p14:sldId id="348"/>
            <p14:sldId id="347"/>
            <p14:sldId id="365"/>
            <p14:sldId id="366"/>
            <p14:sldId id="367"/>
            <p14:sldId id="368"/>
          </p14:sldIdLst>
        </p14:section>
        <p14:section name="Conclusion" id="{BDEE8FDA-B089-4E70-9FD7-368841FFDF1B}">
          <p14:sldIdLst>
            <p14:sldId id="392"/>
            <p14:sldId id="378"/>
            <p14:sldId id="383"/>
            <p14:sldId id="299"/>
            <p14:sldId id="311"/>
            <p14:sldId id="384"/>
            <p14:sldId id="312"/>
            <p14:sldId id="313"/>
            <p14:sldId id="394"/>
            <p14:sldId id="393"/>
            <p14:sldId id="308"/>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D70"/>
    <a:srgbClr val="D0180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33" autoAdjust="0"/>
    <p:restoredTop sz="87437" autoAdjust="0"/>
  </p:normalViewPr>
  <p:slideViewPr>
    <p:cSldViewPr snapToGrid="0">
      <p:cViewPr varScale="1">
        <p:scale>
          <a:sx n="72" d="100"/>
          <a:sy n="72" d="100"/>
        </p:scale>
        <p:origin x="1099"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7028809-A3C0-435B-AC12-B9138744A337}" type="datetimeFigureOut">
              <a:rPr lang="en-SE" smtClean="0"/>
              <a:t>2026-06-17</a:t>
            </a:fld>
            <a:endParaRPr lang="en-S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BEE9047-6757-432F-B3C4-B9B79F30218C}" type="slidenum">
              <a:rPr lang="en-SE" smtClean="0"/>
              <a:t>‹#›</a:t>
            </a:fld>
            <a:endParaRPr lang="en-SE"/>
          </a:p>
        </p:txBody>
      </p:sp>
    </p:spTree>
    <p:extLst>
      <p:ext uri="{BB962C8B-B14F-4D97-AF65-F5344CB8AC3E}">
        <p14:creationId xmlns:p14="http://schemas.microsoft.com/office/powerpoint/2010/main" val="31656150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E" dirty="0"/>
          </a:p>
        </p:txBody>
      </p:sp>
      <p:sp>
        <p:nvSpPr>
          <p:cNvPr id="4" name="Slide Number Placeholder 3"/>
          <p:cNvSpPr>
            <a:spLocks noGrp="1"/>
          </p:cNvSpPr>
          <p:nvPr>
            <p:ph type="sldNum" sz="quarter" idx="5"/>
          </p:nvPr>
        </p:nvSpPr>
        <p:spPr/>
        <p:txBody>
          <a:bodyPr/>
          <a:lstStyle/>
          <a:p>
            <a:fld id="{FBEE9047-6757-432F-B3C4-B9B79F30218C}" type="slidenum">
              <a:rPr lang="en-SE" smtClean="0"/>
              <a:t>1</a:t>
            </a:fld>
            <a:endParaRPr lang="en-SE"/>
          </a:p>
        </p:txBody>
      </p:sp>
    </p:spTree>
    <p:extLst>
      <p:ext uri="{BB962C8B-B14F-4D97-AF65-F5344CB8AC3E}">
        <p14:creationId xmlns:p14="http://schemas.microsoft.com/office/powerpoint/2010/main" val="3089780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E" dirty="0"/>
          </a:p>
        </p:txBody>
      </p:sp>
      <p:sp>
        <p:nvSpPr>
          <p:cNvPr id="4" name="Slide Number Placeholder 3"/>
          <p:cNvSpPr>
            <a:spLocks noGrp="1"/>
          </p:cNvSpPr>
          <p:nvPr>
            <p:ph type="sldNum" sz="quarter" idx="5"/>
          </p:nvPr>
        </p:nvSpPr>
        <p:spPr/>
        <p:txBody>
          <a:bodyPr/>
          <a:lstStyle/>
          <a:p>
            <a:fld id="{FBEE9047-6757-432F-B3C4-B9B79F30218C}" type="slidenum">
              <a:rPr lang="en-SE" smtClean="0"/>
              <a:t>4</a:t>
            </a:fld>
            <a:endParaRPr lang="en-SE"/>
          </a:p>
        </p:txBody>
      </p:sp>
    </p:spTree>
    <p:extLst>
      <p:ext uri="{BB962C8B-B14F-4D97-AF65-F5344CB8AC3E}">
        <p14:creationId xmlns:p14="http://schemas.microsoft.com/office/powerpoint/2010/main" val="10324081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There seems to be an implicit, collective agreement in our community that </a:t>
            </a:r>
          </a:p>
          <a:p>
            <a:pPr marL="228600" indent="-228600">
              <a:buFont typeface="+mj-lt"/>
              <a:buAutoNum type="arabicPeriod"/>
            </a:pPr>
            <a:r>
              <a:rPr lang="en-US" noProof="0" dirty="0"/>
              <a:t>Studying causal relationships is hard, and therefore</a:t>
            </a:r>
          </a:p>
          <a:p>
            <a:pPr marL="228600" indent="-228600">
              <a:buFont typeface="+mj-lt"/>
              <a:buAutoNum type="arabicPeriod"/>
            </a:pPr>
            <a:r>
              <a:rPr lang="en-US" noProof="0" dirty="0"/>
              <a:t>Detecting correlations is good-enough.</a:t>
            </a: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noProof="0" dirty="0"/>
              <a:t>So: Why care about causality?</a:t>
            </a:r>
          </a:p>
        </p:txBody>
      </p:sp>
      <p:sp>
        <p:nvSpPr>
          <p:cNvPr id="4" name="Slide Number Placeholder 3"/>
          <p:cNvSpPr>
            <a:spLocks noGrp="1"/>
          </p:cNvSpPr>
          <p:nvPr>
            <p:ph type="sldNum" sz="quarter" idx="5"/>
          </p:nvPr>
        </p:nvSpPr>
        <p:spPr/>
        <p:txBody>
          <a:bodyPr/>
          <a:lstStyle/>
          <a:p>
            <a:fld id="{ACC9BBD8-1C1E-4CFA-8C12-0AE7F3A91C3D}" type="slidenum">
              <a:rPr lang="en-US" smtClean="0"/>
              <a:t>5</a:t>
            </a:fld>
            <a:endParaRPr lang="en-US"/>
          </a:p>
        </p:txBody>
      </p:sp>
    </p:spTree>
    <p:extLst>
      <p:ext uri="{BB962C8B-B14F-4D97-AF65-F5344CB8AC3E}">
        <p14:creationId xmlns:p14="http://schemas.microsoft.com/office/powerpoint/2010/main" val="6826825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We all know “Correlation does not imply causality” – but what exactly differentiates the two concepts?</a:t>
            </a:r>
          </a:p>
          <a:p>
            <a:endParaRPr lang="en-US" noProof="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Only causal relationships give us reliable recommendation on how to act, and therefore, how to make a positive impact on the target audience of our research (i.e., RE/SE practitioners).</a:t>
            </a:r>
          </a:p>
          <a:p>
            <a:endParaRPr lang="en-US" noProof="0" dirty="0"/>
          </a:p>
          <a:p>
            <a:endParaRPr lang="en-US" noProof="0" dirty="0"/>
          </a:p>
          <a:p>
            <a:r>
              <a:rPr lang="en-US" noProof="0" dirty="0"/>
              <a:t>Disclaimer: </a:t>
            </a:r>
          </a:p>
          <a:p>
            <a:pPr marL="171450" indent="-171450">
              <a:buFont typeface="Arial" panose="020B0604020202020204" pitchFamily="34" charset="0"/>
              <a:buChar char="•"/>
            </a:pPr>
            <a:r>
              <a:rPr lang="en-US" i="0" noProof="0" dirty="0"/>
              <a:t>I do not want to discredit correlational studies.</a:t>
            </a:r>
          </a:p>
          <a:p>
            <a:pPr marL="171450" indent="-171450">
              <a:buFont typeface="Arial" panose="020B0604020202020204" pitchFamily="34" charset="0"/>
              <a:buChar char="•"/>
            </a:pPr>
            <a:r>
              <a:rPr lang="en-US" i="0" noProof="0" dirty="0"/>
              <a:t>They are valuables to detect patterns and trends.</a:t>
            </a:r>
          </a:p>
          <a:p>
            <a:pPr marL="171450" indent="-171450">
              <a:buFont typeface="Arial" panose="020B0604020202020204" pitchFamily="34" charset="0"/>
              <a:buChar char="•"/>
            </a:pPr>
            <a:r>
              <a:rPr lang="en-US" i="0" noProof="0" dirty="0"/>
              <a:t>However, they do not get us any further and are unfit to recommend changes in an organization.</a:t>
            </a:r>
          </a:p>
          <a:p>
            <a:pPr marL="0" indent="0">
              <a:buFont typeface="Arial" panose="020B0604020202020204" pitchFamily="34" charset="0"/>
              <a:buNone/>
            </a:pPr>
            <a:r>
              <a:rPr lang="en-US" i="0" noProof="0" dirty="0"/>
              <a:t>This is the fundamental difference between </a:t>
            </a:r>
            <a:r>
              <a:rPr lang="en-US" b="1" i="0" noProof="0" dirty="0"/>
              <a:t>observing </a:t>
            </a:r>
            <a:r>
              <a:rPr lang="en-US" b="0" i="0" noProof="0" dirty="0"/>
              <a:t>(correlations) and </a:t>
            </a:r>
            <a:r>
              <a:rPr lang="en-US" b="1" i="0" noProof="0" dirty="0"/>
              <a:t>doing </a:t>
            </a:r>
            <a:r>
              <a:rPr lang="en-US" b="0" i="0" noProof="0" dirty="0"/>
              <a:t>(interventions with causal effects).</a:t>
            </a:r>
            <a:endParaRPr lang="en-US" noProof="0" dirty="0"/>
          </a:p>
        </p:txBody>
      </p:sp>
      <p:sp>
        <p:nvSpPr>
          <p:cNvPr id="4" name="Slide Number Placeholder 3"/>
          <p:cNvSpPr>
            <a:spLocks noGrp="1"/>
          </p:cNvSpPr>
          <p:nvPr>
            <p:ph type="sldNum" sz="quarter" idx="5"/>
          </p:nvPr>
        </p:nvSpPr>
        <p:spPr/>
        <p:txBody>
          <a:bodyPr/>
          <a:lstStyle/>
          <a:p>
            <a:fld id="{ACC9BBD8-1C1E-4CFA-8C12-0AE7F3A91C3D}" type="slidenum">
              <a:rPr lang="en-US" smtClean="0"/>
              <a:t>6</a:t>
            </a:fld>
            <a:endParaRPr lang="en-US"/>
          </a:p>
        </p:txBody>
      </p:sp>
    </p:spTree>
    <p:extLst>
      <p:ext uri="{BB962C8B-B14F-4D97-AF65-F5344CB8AC3E}">
        <p14:creationId xmlns:p14="http://schemas.microsoft.com/office/powerpoint/2010/main" val="15204133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sv-SE" dirty="0" err="1"/>
              <a:t>But</a:t>
            </a:r>
            <a:r>
              <a:rPr lang="sv-SE" dirty="0"/>
              <a:t>: experiments </a:t>
            </a:r>
            <a:r>
              <a:rPr lang="sv-SE" dirty="0" err="1"/>
              <a:t>are</a:t>
            </a:r>
            <a:r>
              <a:rPr lang="sv-SE" dirty="0"/>
              <a:t> </a:t>
            </a:r>
            <a:r>
              <a:rPr lang="sv-SE" dirty="0" err="1"/>
              <a:t>expensive</a:t>
            </a:r>
            <a:r>
              <a:rPr lang="sv-SE" dirty="0"/>
              <a:t> and </a:t>
            </a:r>
            <a:r>
              <a:rPr lang="sv-SE" dirty="0" err="1"/>
              <a:t>perturb</a:t>
            </a:r>
            <a:r>
              <a:rPr lang="sv-SE" dirty="0"/>
              <a:t> the </a:t>
            </a:r>
            <a:r>
              <a:rPr lang="sv-SE" dirty="0" err="1"/>
              <a:t>natural</a:t>
            </a:r>
            <a:r>
              <a:rPr lang="sv-SE" dirty="0"/>
              <a:t> </a:t>
            </a:r>
            <a:r>
              <a:rPr lang="sv-SE" dirty="0" err="1"/>
              <a:t>context</a:t>
            </a:r>
            <a:r>
              <a:rPr lang="sv-SE" dirty="0"/>
              <a:t> </a:t>
            </a:r>
            <a:r>
              <a:rPr lang="sv-SE" dirty="0" err="1"/>
              <a:t>of</a:t>
            </a:r>
            <a:r>
              <a:rPr lang="sv-SE" dirty="0"/>
              <a:t> a </a:t>
            </a:r>
            <a:r>
              <a:rPr lang="sv-SE" dirty="0" err="1"/>
              <a:t>phenomenon</a:t>
            </a:r>
            <a:r>
              <a:rPr lang="sv-SE" dirty="0"/>
              <a:t>. </a:t>
            </a:r>
            <a:r>
              <a:rPr lang="sv-SE" dirty="0" err="1"/>
              <a:t>Some</a:t>
            </a:r>
            <a:r>
              <a:rPr lang="sv-SE" dirty="0"/>
              <a:t> </a:t>
            </a:r>
            <a:r>
              <a:rPr lang="sv-SE" dirty="0" err="1"/>
              <a:t>phenomena</a:t>
            </a:r>
            <a:r>
              <a:rPr lang="sv-SE" dirty="0"/>
              <a:t> </a:t>
            </a:r>
            <a:r>
              <a:rPr lang="sv-SE" dirty="0" err="1"/>
              <a:t>cannot</a:t>
            </a:r>
            <a:r>
              <a:rPr lang="sv-SE" dirty="0"/>
              <a:t> be </a:t>
            </a:r>
            <a:r>
              <a:rPr lang="sv-SE" dirty="0" err="1"/>
              <a:t>studied</a:t>
            </a:r>
            <a:r>
              <a:rPr lang="sv-SE" dirty="0"/>
              <a:t> in </a:t>
            </a:r>
            <a:r>
              <a:rPr lang="sv-SE" dirty="0" err="1"/>
              <a:t>controlled</a:t>
            </a:r>
            <a:r>
              <a:rPr lang="sv-SE" dirty="0"/>
              <a:t> experiments at all (</a:t>
            </a:r>
            <a:r>
              <a:rPr lang="sv-SE" dirty="0" err="1"/>
              <a:t>e.g</a:t>
            </a:r>
            <a:r>
              <a:rPr lang="sv-SE" dirty="0"/>
              <a:t>., </a:t>
            </a:r>
            <a:r>
              <a:rPr lang="sv-SE" dirty="0" err="1"/>
              <a:t>impact</a:t>
            </a:r>
            <a:r>
              <a:rPr lang="sv-SE" dirty="0"/>
              <a:t> </a:t>
            </a:r>
            <a:r>
              <a:rPr lang="sv-SE" dirty="0" err="1"/>
              <a:t>of</a:t>
            </a:r>
            <a:r>
              <a:rPr lang="sv-SE" dirty="0"/>
              <a:t> human </a:t>
            </a:r>
            <a:r>
              <a:rPr lang="sv-SE" dirty="0" err="1"/>
              <a:t>factors</a:t>
            </a:r>
            <a:r>
              <a:rPr lang="sv-SE" dirty="0"/>
              <a:t>) </a:t>
            </a:r>
            <a:r>
              <a:rPr lang="sv-SE" dirty="0" err="1"/>
              <a:t>since</a:t>
            </a:r>
            <a:r>
              <a:rPr lang="sv-SE" dirty="0"/>
              <a:t> the </a:t>
            </a:r>
            <a:r>
              <a:rPr lang="sv-SE" dirty="0" err="1"/>
              <a:t>values</a:t>
            </a:r>
            <a:r>
              <a:rPr lang="sv-SE" dirty="0"/>
              <a:t> </a:t>
            </a:r>
            <a:r>
              <a:rPr lang="sv-SE" dirty="0" err="1"/>
              <a:t>of</a:t>
            </a:r>
            <a:r>
              <a:rPr lang="sv-SE" dirty="0"/>
              <a:t> </a:t>
            </a:r>
            <a:r>
              <a:rPr lang="sv-SE" dirty="0" err="1"/>
              <a:t>that</a:t>
            </a:r>
            <a:r>
              <a:rPr lang="sv-SE" dirty="0"/>
              <a:t> </a:t>
            </a:r>
            <a:r>
              <a:rPr lang="sv-SE" dirty="0" err="1"/>
              <a:t>variable</a:t>
            </a:r>
            <a:r>
              <a:rPr lang="sv-SE" dirty="0"/>
              <a:t> </a:t>
            </a:r>
            <a:r>
              <a:rPr lang="sv-SE" dirty="0" err="1"/>
              <a:t>cannot</a:t>
            </a:r>
            <a:r>
              <a:rPr lang="sv-SE" dirty="0"/>
              <a:t> be </a:t>
            </a:r>
            <a:r>
              <a:rPr lang="sv-SE" dirty="0" err="1"/>
              <a:t>assigned</a:t>
            </a:r>
            <a:r>
              <a:rPr lang="sv-SE" dirty="0"/>
              <a:t> </a:t>
            </a:r>
            <a:r>
              <a:rPr lang="sv-SE" dirty="0" err="1"/>
              <a:t>randomly</a:t>
            </a:r>
            <a:r>
              <a:rPr lang="sv-SE" dirty="0"/>
              <a:t>.</a:t>
            </a:r>
          </a:p>
          <a:p>
            <a:endParaRPr lang="en-US" dirty="0"/>
          </a:p>
        </p:txBody>
      </p:sp>
      <p:sp>
        <p:nvSpPr>
          <p:cNvPr id="4" name="Slide Number Placeholder 3"/>
          <p:cNvSpPr>
            <a:spLocks noGrp="1"/>
          </p:cNvSpPr>
          <p:nvPr>
            <p:ph type="sldNum" sz="quarter" idx="5"/>
          </p:nvPr>
        </p:nvSpPr>
        <p:spPr/>
        <p:txBody>
          <a:bodyPr/>
          <a:lstStyle/>
          <a:p>
            <a:fld id="{ACC9BBD8-1C1E-4CFA-8C12-0AE7F3A91C3D}" type="slidenum">
              <a:rPr lang="en-US" smtClean="0"/>
              <a:t>7</a:t>
            </a:fld>
            <a:endParaRPr lang="en-US"/>
          </a:p>
        </p:txBody>
      </p:sp>
    </p:spTree>
    <p:extLst>
      <p:ext uri="{BB962C8B-B14F-4D97-AF65-F5344CB8AC3E}">
        <p14:creationId xmlns:p14="http://schemas.microsoft.com/office/powerpoint/2010/main" val="19518232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sv-SE" dirty="0" err="1"/>
              <a:t>More</a:t>
            </a:r>
            <a:r>
              <a:rPr lang="sv-SE" dirty="0"/>
              <a:t> </a:t>
            </a:r>
            <a:r>
              <a:rPr lang="sv-SE" dirty="0" err="1"/>
              <a:t>importantly</a:t>
            </a:r>
            <a:r>
              <a:rPr lang="sv-SE" dirty="0"/>
              <a:t>, the </a:t>
            </a:r>
            <a:r>
              <a:rPr lang="sv-SE" dirty="0" err="1"/>
              <a:t>absence</a:t>
            </a:r>
            <a:r>
              <a:rPr lang="sv-SE" dirty="0"/>
              <a:t> </a:t>
            </a:r>
            <a:r>
              <a:rPr lang="sv-SE" dirty="0" err="1"/>
              <a:t>of</a:t>
            </a:r>
            <a:r>
              <a:rPr lang="sv-SE" dirty="0"/>
              <a:t> an </a:t>
            </a:r>
            <a:r>
              <a:rPr lang="sv-SE" dirty="0" err="1"/>
              <a:t>edge</a:t>
            </a:r>
            <a:r>
              <a:rPr lang="sv-SE" dirty="0"/>
              <a:t> </a:t>
            </a:r>
            <a:r>
              <a:rPr lang="sv-SE" dirty="0" err="1"/>
              <a:t>encodes</a:t>
            </a:r>
            <a:r>
              <a:rPr lang="sv-SE" dirty="0"/>
              <a:t> the </a:t>
            </a:r>
            <a:r>
              <a:rPr lang="sv-SE" i="1" dirty="0" err="1"/>
              <a:t>certainty</a:t>
            </a:r>
            <a:r>
              <a:rPr lang="sv-SE" dirty="0"/>
              <a:t> </a:t>
            </a:r>
            <a:r>
              <a:rPr lang="sv-SE" dirty="0" err="1"/>
              <a:t>that</a:t>
            </a:r>
            <a:r>
              <a:rPr lang="sv-SE" dirty="0"/>
              <a:t> </a:t>
            </a:r>
            <a:r>
              <a:rPr lang="sv-SE" dirty="0" err="1"/>
              <a:t>two</a:t>
            </a:r>
            <a:r>
              <a:rPr lang="sv-SE" dirty="0"/>
              <a:t> </a:t>
            </a:r>
            <a:r>
              <a:rPr lang="sv-SE" dirty="0" err="1"/>
              <a:t>variables</a:t>
            </a:r>
            <a:r>
              <a:rPr lang="sv-SE" dirty="0"/>
              <a:t> </a:t>
            </a:r>
            <a:r>
              <a:rPr lang="sv-SE" dirty="0" err="1"/>
              <a:t>are</a:t>
            </a:r>
            <a:r>
              <a:rPr lang="sv-SE" dirty="0"/>
              <a:t> not </a:t>
            </a:r>
            <a:r>
              <a:rPr lang="sv-SE" dirty="0" err="1"/>
              <a:t>directly</a:t>
            </a:r>
            <a:r>
              <a:rPr lang="sv-SE" dirty="0"/>
              <a:t> </a:t>
            </a:r>
            <a:r>
              <a:rPr lang="sv-SE" dirty="0" err="1"/>
              <a:t>related</a:t>
            </a:r>
            <a:r>
              <a:rPr lang="sv-SE" dirty="0"/>
              <a:t>.</a:t>
            </a:r>
            <a:endParaRPr lang="en-US" dirty="0"/>
          </a:p>
        </p:txBody>
      </p:sp>
      <p:sp>
        <p:nvSpPr>
          <p:cNvPr id="4" name="Slide Number Placeholder 3"/>
          <p:cNvSpPr>
            <a:spLocks noGrp="1"/>
          </p:cNvSpPr>
          <p:nvPr>
            <p:ph type="sldNum" sz="quarter" idx="5"/>
          </p:nvPr>
        </p:nvSpPr>
        <p:spPr/>
        <p:txBody>
          <a:bodyPr/>
          <a:lstStyle/>
          <a:p>
            <a:fld id="{ACC9BBD8-1C1E-4CFA-8C12-0AE7F3A91C3D}" type="slidenum">
              <a:rPr lang="en-US" smtClean="0"/>
              <a:t>9</a:t>
            </a:fld>
            <a:endParaRPr lang="en-US"/>
          </a:p>
        </p:txBody>
      </p:sp>
    </p:spTree>
    <p:extLst>
      <p:ext uri="{BB962C8B-B14F-4D97-AF65-F5344CB8AC3E}">
        <p14:creationId xmlns:p14="http://schemas.microsoft.com/office/powerpoint/2010/main" val="42332076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E" dirty="0"/>
              <a:t>You sometimes need “domain knowledge” to complete a DAG</a:t>
            </a:r>
          </a:p>
        </p:txBody>
      </p:sp>
      <p:sp>
        <p:nvSpPr>
          <p:cNvPr id="4" name="Slide Number Placeholder 3"/>
          <p:cNvSpPr>
            <a:spLocks noGrp="1"/>
          </p:cNvSpPr>
          <p:nvPr>
            <p:ph type="sldNum" sz="quarter" idx="5"/>
          </p:nvPr>
        </p:nvSpPr>
        <p:spPr/>
        <p:txBody>
          <a:bodyPr/>
          <a:lstStyle/>
          <a:p>
            <a:fld id="{ACC9BBD8-1C1E-4CFA-8C12-0AE7F3A91C3D}" type="slidenum">
              <a:rPr lang="en-US" smtClean="0"/>
              <a:t>14</a:t>
            </a:fld>
            <a:endParaRPr lang="en-US"/>
          </a:p>
        </p:txBody>
      </p:sp>
    </p:spTree>
    <p:extLst>
      <p:ext uri="{BB962C8B-B14F-4D97-AF65-F5344CB8AC3E}">
        <p14:creationId xmlns:p14="http://schemas.microsoft.com/office/powerpoint/2010/main" val="20007043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E" dirty="0"/>
              <a:t>There are (main) three ways in which a third variable can interact with a phenomenon of interest</a:t>
            </a:r>
          </a:p>
        </p:txBody>
      </p:sp>
      <p:sp>
        <p:nvSpPr>
          <p:cNvPr id="4" name="Slide Number Placeholder 3"/>
          <p:cNvSpPr>
            <a:spLocks noGrp="1"/>
          </p:cNvSpPr>
          <p:nvPr>
            <p:ph type="sldNum" sz="quarter" idx="5"/>
          </p:nvPr>
        </p:nvSpPr>
        <p:spPr/>
        <p:txBody>
          <a:bodyPr/>
          <a:lstStyle/>
          <a:p>
            <a:fld id="{FBEE9047-6757-432F-B3C4-B9B79F30218C}" type="slidenum">
              <a:rPr lang="en-SE" smtClean="0"/>
              <a:t>16</a:t>
            </a:fld>
            <a:endParaRPr lang="en-SE"/>
          </a:p>
        </p:txBody>
      </p:sp>
    </p:spTree>
    <p:extLst>
      <p:ext uri="{BB962C8B-B14F-4D97-AF65-F5344CB8AC3E}">
        <p14:creationId xmlns:p14="http://schemas.microsoft.com/office/powerpoint/2010/main" val="15121141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E" dirty="0"/>
              <a:t>You can rightfully ask: why include “success” in the statistical model anyways?</a:t>
            </a:r>
          </a:p>
          <a:p>
            <a:pPr marL="171450" indent="-171450">
              <a:buFont typeface="Arial" panose="020B0604020202020204" pitchFamily="34" charset="0"/>
              <a:buChar char="•"/>
            </a:pPr>
            <a:r>
              <a:rPr lang="en-SE" dirty="0"/>
              <a:t>We do see that “feature success” contains information about “specification quality”</a:t>
            </a:r>
          </a:p>
          <a:p>
            <a:pPr marL="171450" indent="-171450">
              <a:buFont typeface="Arial" panose="020B0604020202020204" pitchFamily="34" charset="0"/>
              <a:buChar char="•"/>
            </a:pPr>
            <a:r>
              <a:rPr lang="en-SE" dirty="0"/>
              <a:t>Hence, it might be valuable for the estimation</a:t>
            </a:r>
          </a:p>
        </p:txBody>
      </p:sp>
      <p:sp>
        <p:nvSpPr>
          <p:cNvPr id="4" name="Slide Number Placeholder 3"/>
          <p:cNvSpPr>
            <a:spLocks noGrp="1"/>
          </p:cNvSpPr>
          <p:nvPr>
            <p:ph type="sldNum" sz="quarter" idx="5"/>
          </p:nvPr>
        </p:nvSpPr>
        <p:spPr/>
        <p:txBody>
          <a:bodyPr/>
          <a:lstStyle/>
          <a:p>
            <a:fld id="{ACC9BBD8-1C1E-4CFA-8C12-0AE7F3A91C3D}" type="slidenum">
              <a:rPr lang="en-US" smtClean="0"/>
              <a:t>18</a:t>
            </a:fld>
            <a:endParaRPr lang="en-US"/>
          </a:p>
        </p:txBody>
      </p:sp>
    </p:spTree>
    <p:extLst>
      <p:ext uri="{BB962C8B-B14F-4D97-AF65-F5344CB8AC3E}">
        <p14:creationId xmlns:p14="http://schemas.microsoft.com/office/powerpoint/2010/main" val="34910781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E" dirty="0"/>
              <a:t>The estimation suggests that specification size has an effect far beyond what we simulated</a:t>
            </a:r>
          </a:p>
          <a:p>
            <a:endParaRPr lang="en-SE" dirty="0"/>
          </a:p>
        </p:txBody>
      </p:sp>
      <p:sp>
        <p:nvSpPr>
          <p:cNvPr id="4" name="Slide Number Placeholder 3"/>
          <p:cNvSpPr>
            <a:spLocks noGrp="1"/>
          </p:cNvSpPr>
          <p:nvPr>
            <p:ph type="sldNum" sz="quarter" idx="5"/>
          </p:nvPr>
        </p:nvSpPr>
        <p:spPr/>
        <p:txBody>
          <a:bodyPr/>
          <a:lstStyle/>
          <a:p>
            <a:fld id="{ACC9BBD8-1C1E-4CFA-8C12-0AE7F3A91C3D}" type="slidenum">
              <a:rPr lang="en-US" smtClean="0"/>
              <a:t>19</a:t>
            </a:fld>
            <a:endParaRPr lang="en-US"/>
          </a:p>
        </p:txBody>
      </p:sp>
    </p:spTree>
    <p:extLst>
      <p:ext uri="{BB962C8B-B14F-4D97-AF65-F5344CB8AC3E}">
        <p14:creationId xmlns:p14="http://schemas.microsoft.com/office/powerpoint/2010/main" val="1005578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E" dirty="0"/>
              <a:t>The visualization of the raw data shows that there is indeed no effect</a:t>
            </a:r>
          </a:p>
          <a:p>
            <a:pPr marL="171450" indent="-171450">
              <a:buFont typeface="Arial" panose="020B0604020202020204" pitchFamily="34" charset="0"/>
              <a:buChar char="•"/>
            </a:pPr>
            <a:r>
              <a:rPr lang="en-SE" dirty="0"/>
              <a:t>The trendline is nearly horizontal</a:t>
            </a:r>
          </a:p>
          <a:p>
            <a:pPr marL="171450" indent="-171450">
              <a:buFont typeface="Arial" panose="020B0604020202020204" pitchFamily="34" charset="0"/>
              <a:buChar char="•"/>
            </a:pPr>
            <a:r>
              <a:rPr lang="en-SE" dirty="0"/>
              <a:t>That means: there is no effect of one variable on the other</a:t>
            </a:r>
          </a:p>
          <a:p>
            <a:pPr marL="171450" indent="-171450">
              <a:buFont typeface="Arial" panose="020B0604020202020204" pitchFamily="34" charset="0"/>
              <a:buChar char="•"/>
            </a:pPr>
            <a:endParaRPr lang="en-SE" dirty="0"/>
          </a:p>
          <a:p>
            <a:pPr marL="0" indent="0">
              <a:buFont typeface="Arial" panose="020B0604020202020204" pitchFamily="34" charset="0"/>
              <a:buNone/>
            </a:pPr>
            <a:r>
              <a:rPr lang="en-SE" dirty="0"/>
              <a:t>But stratifying by the third variable (feature success) paints a different picture:</a:t>
            </a:r>
          </a:p>
          <a:p>
            <a:pPr marL="171450" indent="-171450">
              <a:buFont typeface="Arial" panose="020B0604020202020204" pitchFamily="34" charset="0"/>
              <a:buChar char="•"/>
            </a:pPr>
            <a:r>
              <a:rPr lang="en-SE" dirty="0"/>
              <a:t>Stratification by </a:t>
            </a:r>
            <a:r>
              <a:rPr lang="en-SE" dirty="0" err="1"/>
              <a:t>color</a:t>
            </a:r>
            <a:r>
              <a:rPr lang="en-SE" dirty="0"/>
              <a:t> (and the grey cut-off line intersects the y-axis at exactly 0.7)</a:t>
            </a:r>
          </a:p>
          <a:p>
            <a:pPr marL="171450" indent="-171450">
              <a:buFont typeface="Arial" panose="020B0604020202020204" pitchFamily="34" charset="0"/>
              <a:buChar char="•"/>
            </a:pPr>
            <a:r>
              <a:rPr lang="en-SE" dirty="0"/>
              <a:t>Looking into each of the two strata individually, there is a negative association between the variables</a:t>
            </a:r>
          </a:p>
        </p:txBody>
      </p:sp>
      <p:sp>
        <p:nvSpPr>
          <p:cNvPr id="4" name="Slide Number Placeholder 3"/>
          <p:cNvSpPr>
            <a:spLocks noGrp="1"/>
          </p:cNvSpPr>
          <p:nvPr>
            <p:ph type="sldNum" sz="quarter" idx="5"/>
          </p:nvPr>
        </p:nvSpPr>
        <p:spPr/>
        <p:txBody>
          <a:bodyPr/>
          <a:lstStyle/>
          <a:p>
            <a:fld id="{ACC9BBD8-1C1E-4CFA-8C12-0AE7F3A91C3D}" type="slidenum">
              <a:rPr lang="en-US" smtClean="0"/>
              <a:t>20</a:t>
            </a:fld>
            <a:endParaRPr lang="en-US"/>
          </a:p>
        </p:txBody>
      </p:sp>
    </p:spTree>
    <p:extLst>
      <p:ext uri="{BB962C8B-B14F-4D97-AF65-F5344CB8AC3E}">
        <p14:creationId xmlns:p14="http://schemas.microsoft.com/office/powerpoint/2010/main" val="40959059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E" dirty="0"/>
              <a:t>Formalizing causal assumptions is already valuable, but causal </a:t>
            </a:r>
            <a:r>
              <a:rPr lang="en-SE" dirty="0" err="1"/>
              <a:t>DAGs</a:t>
            </a:r>
            <a:r>
              <a:rPr lang="en-SE" dirty="0"/>
              <a:t> can help even more</a:t>
            </a:r>
          </a:p>
        </p:txBody>
      </p:sp>
      <p:sp>
        <p:nvSpPr>
          <p:cNvPr id="4" name="Slide Number Placeholder 3"/>
          <p:cNvSpPr>
            <a:spLocks noGrp="1"/>
          </p:cNvSpPr>
          <p:nvPr>
            <p:ph type="sldNum" sz="quarter" idx="5"/>
          </p:nvPr>
        </p:nvSpPr>
        <p:spPr/>
        <p:txBody>
          <a:bodyPr/>
          <a:lstStyle/>
          <a:p>
            <a:fld id="{FBEE9047-6757-432F-B3C4-B9B79F30218C}" type="slidenum">
              <a:rPr lang="en-SE" smtClean="0"/>
              <a:t>26</a:t>
            </a:fld>
            <a:endParaRPr lang="en-SE"/>
          </a:p>
        </p:txBody>
      </p:sp>
    </p:spTree>
    <p:extLst>
      <p:ext uri="{BB962C8B-B14F-4D97-AF65-F5344CB8AC3E}">
        <p14:creationId xmlns:p14="http://schemas.microsoft.com/office/powerpoint/2010/main" val="25780417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7A7715-A954-32B2-D319-F556BD1463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462AB6-06FE-8720-4996-8A3C3AC9F0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F2C9E6-9483-DC6A-4CE0-A2D5E16F86A9}"/>
              </a:ext>
            </a:extLst>
          </p:cNvPr>
          <p:cNvSpPr>
            <a:spLocks noGrp="1"/>
          </p:cNvSpPr>
          <p:nvPr>
            <p:ph type="body" idx="1"/>
          </p:nvPr>
        </p:nvSpPr>
        <p:spPr/>
        <p:txBody>
          <a:bodyPr/>
          <a:lstStyle/>
          <a:p>
            <a:endParaRPr lang="en-SE" dirty="0"/>
          </a:p>
        </p:txBody>
      </p:sp>
      <p:sp>
        <p:nvSpPr>
          <p:cNvPr id="4" name="Slide Number Placeholder 3">
            <a:extLst>
              <a:ext uri="{FF2B5EF4-FFF2-40B4-BE49-F238E27FC236}">
                <a16:creationId xmlns:a16="http://schemas.microsoft.com/office/drawing/2014/main" id="{778F4CE0-CA10-BD27-3ECC-172B97A51AFD}"/>
              </a:ext>
            </a:extLst>
          </p:cNvPr>
          <p:cNvSpPr>
            <a:spLocks noGrp="1"/>
          </p:cNvSpPr>
          <p:nvPr>
            <p:ph type="sldNum" sz="quarter" idx="5"/>
          </p:nvPr>
        </p:nvSpPr>
        <p:spPr/>
        <p:txBody>
          <a:bodyPr/>
          <a:lstStyle/>
          <a:p>
            <a:fld id="{ACC9BBD8-1C1E-4CFA-8C12-0AE7F3A91C3D}" type="slidenum">
              <a:rPr lang="en-US" smtClean="0"/>
              <a:t>27</a:t>
            </a:fld>
            <a:endParaRPr lang="en-US"/>
          </a:p>
        </p:txBody>
      </p:sp>
    </p:spTree>
    <p:extLst>
      <p:ext uri="{BB962C8B-B14F-4D97-AF65-F5344CB8AC3E}">
        <p14:creationId xmlns:p14="http://schemas.microsoft.com/office/powerpoint/2010/main" val="39211100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E25C5F-5F4A-B846-5518-88DB39A2D4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88941E-7DE4-5055-2C21-6853BA46C0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CB2DEA-1BD4-0EAA-78F6-10A8F75BB9CB}"/>
              </a:ext>
            </a:extLst>
          </p:cNvPr>
          <p:cNvSpPr>
            <a:spLocks noGrp="1"/>
          </p:cNvSpPr>
          <p:nvPr>
            <p:ph type="body" idx="1"/>
          </p:nvPr>
        </p:nvSpPr>
        <p:spPr/>
        <p:txBody>
          <a:bodyPr/>
          <a:lstStyle/>
          <a:p>
            <a:endParaRPr lang="en-SE" dirty="0"/>
          </a:p>
        </p:txBody>
      </p:sp>
      <p:sp>
        <p:nvSpPr>
          <p:cNvPr id="4" name="Slide Number Placeholder 3">
            <a:extLst>
              <a:ext uri="{FF2B5EF4-FFF2-40B4-BE49-F238E27FC236}">
                <a16:creationId xmlns:a16="http://schemas.microsoft.com/office/drawing/2014/main" id="{AE540F39-C2DA-6123-719E-9E0E951C8F21}"/>
              </a:ext>
            </a:extLst>
          </p:cNvPr>
          <p:cNvSpPr>
            <a:spLocks noGrp="1"/>
          </p:cNvSpPr>
          <p:nvPr>
            <p:ph type="sldNum" sz="quarter" idx="5"/>
          </p:nvPr>
        </p:nvSpPr>
        <p:spPr/>
        <p:txBody>
          <a:bodyPr/>
          <a:lstStyle/>
          <a:p>
            <a:fld id="{ACC9BBD8-1C1E-4CFA-8C12-0AE7F3A91C3D}" type="slidenum">
              <a:rPr lang="en-US" smtClean="0"/>
              <a:t>28</a:t>
            </a:fld>
            <a:endParaRPr lang="en-US"/>
          </a:p>
        </p:txBody>
      </p:sp>
    </p:spTree>
    <p:extLst>
      <p:ext uri="{BB962C8B-B14F-4D97-AF65-F5344CB8AC3E}">
        <p14:creationId xmlns:p14="http://schemas.microsoft.com/office/powerpoint/2010/main" val="21043146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E" dirty="0"/>
          </a:p>
        </p:txBody>
      </p:sp>
      <p:sp>
        <p:nvSpPr>
          <p:cNvPr id="4" name="Slide Number Placeholder 3"/>
          <p:cNvSpPr>
            <a:spLocks noGrp="1"/>
          </p:cNvSpPr>
          <p:nvPr>
            <p:ph type="sldNum" sz="quarter" idx="5"/>
          </p:nvPr>
        </p:nvSpPr>
        <p:spPr/>
        <p:txBody>
          <a:bodyPr/>
          <a:lstStyle/>
          <a:p>
            <a:fld id="{ACC9BBD8-1C1E-4CFA-8C12-0AE7F3A91C3D}" type="slidenum">
              <a:rPr lang="en-US" smtClean="0"/>
              <a:t>29</a:t>
            </a:fld>
            <a:endParaRPr lang="en-US"/>
          </a:p>
        </p:txBody>
      </p:sp>
    </p:spTree>
    <p:extLst>
      <p:ext uri="{BB962C8B-B14F-4D97-AF65-F5344CB8AC3E}">
        <p14:creationId xmlns:p14="http://schemas.microsoft.com/office/powerpoint/2010/main" val="9039128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E" dirty="0"/>
              <a:t>Causal </a:t>
            </a:r>
            <a:r>
              <a:rPr lang="en-SE" dirty="0" err="1"/>
              <a:t>DAGs</a:t>
            </a:r>
            <a:r>
              <a:rPr lang="en-SE" dirty="0"/>
              <a:t> facilitate an easy discussion of internal vs. external threats to validity.</a:t>
            </a:r>
          </a:p>
          <a:p>
            <a:endParaRPr lang="en-SE" dirty="0"/>
          </a:p>
        </p:txBody>
      </p:sp>
      <p:sp>
        <p:nvSpPr>
          <p:cNvPr id="4" name="Slide Number Placeholder 3"/>
          <p:cNvSpPr>
            <a:spLocks noGrp="1"/>
          </p:cNvSpPr>
          <p:nvPr>
            <p:ph type="sldNum" sz="quarter" idx="5"/>
          </p:nvPr>
        </p:nvSpPr>
        <p:spPr/>
        <p:txBody>
          <a:bodyPr/>
          <a:lstStyle/>
          <a:p>
            <a:fld id="{FBEE9047-6757-432F-B3C4-B9B79F30218C}" type="slidenum">
              <a:rPr lang="en-SE" smtClean="0"/>
              <a:t>46</a:t>
            </a:fld>
            <a:endParaRPr lang="en-SE"/>
          </a:p>
        </p:txBody>
      </p:sp>
    </p:spTree>
    <p:extLst>
      <p:ext uri="{BB962C8B-B14F-4D97-AF65-F5344CB8AC3E}">
        <p14:creationId xmlns:p14="http://schemas.microsoft.com/office/powerpoint/2010/main" val="22722865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DA7842-4A48-C9D3-2CD9-EBB689104E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73F402-C43B-20FD-D3D4-D86B5011FC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B89CBF-1E47-AEB0-397C-CA194C896BB7}"/>
              </a:ext>
            </a:extLst>
          </p:cNvPr>
          <p:cNvSpPr>
            <a:spLocks noGrp="1"/>
          </p:cNvSpPr>
          <p:nvPr>
            <p:ph type="body" idx="1"/>
          </p:nvPr>
        </p:nvSpPr>
        <p:spPr/>
        <p:txBody>
          <a:bodyPr/>
          <a:lstStyle/>
          <a:p>
            <a:pPr marL="514350" indent="-514350">
              <a:buAutoNum type="arabicPeriod"/>
            </a:pPr>
            <a:endParaRPr lang="en-GB" dirty="0"/>
          </a:p>
          <a:p>
            <a:endParaRPr lang="en-SE" dirty="0"/>
          </a:p>
        </p:txBody>
      </p:sp>
      <p:sp>
        <p:nvSpPr>
          <p:cNvPr id="4" name="Slide Number Placeholder 3">
            <a:extLst>
              <a:ext uri="{FF2B5EF4-FFF2-40B4-BE49-F238E27FC236}">
                <a16:creationId xmlns:a16="http://schemas.microsoft.com/office/drawing/2014/main" id="{36FAEA5C-26D5-EEB4-143D-3607D9A629A6}"/>
              </a:ext>
            </a:extLst>
          </p:cNvPr>
          <p:cNvSpPr>
            <a:spLocks noGrp="1"/>
          </p:cNvSpPr>
          <p:nvPr>
            <p:ph type="sldNum" sz="quarter" idx="5"/>
          </p:nvPr>
        </p:nvSpPr>
        <p:spPr/>
        <p:txBody>
          <a:bodyPr/>
          <a:lstStyle/>
          <a:p>
            <a:fld id="{ACC9BBD8-1C1E-4CFA-8C12-0AE7F3A91C3D}" type="slidenum">
              <a:rPr lang="en-US" smtClean="0"/>
              <a:t>47</a:t>
            </a:fld>
            <a:endParaRPr lang="en-US"/>
          </a:p>
        </p:txBody>
      </p:sp>
    </p:spTree>
    <p:extLst>
      <p:ext uri="{BB962C8B-B14F-4D97-AF65-F5344CB8AC3E}">
        <p14:creationId xmlns:p14="http://schemas.microsoft.com/office/powerpoint/2010/main" val="398519002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514350" indent="-514350">
              <a:buAutoNum type="arabicPeriod"/>
            </a:pPr>
            <a:endParaRPr lang="en-GB" dirty="0"/>
          </a:p>
          <a:p>
            <a:endParaRPr lang="en-SE" dirty="0"/>
          </a:p>
        </p:txBody>
      </p:sp>
      <p:sp>
        <p:nvSpPr>
          <p:cNvPr id="4" name="Slide Number Placeholder 3"/>
          <p:cNvSpPr>
            <a:spLocks noGrp="1"/>
          </p:cNvSpPr>
          <p:nvPr>
            <p:ph type="sldNum" sz="quarter" idx="5"/>
          </p:nvPr>
        </p:nvSpPr>
        <p:spPr/>
        <p:txBody>
          <a:bodyPr/>
          <a:lstStyle/>
          <a:p>
            <a:fld id="{ACC9BBD8-1C1E-4CFA-8C12-0AE7F3A91C3D}" type="slidenum">
              <a:rPr lang="en-US" smtClean="0"/>
              <a:t>48</a:t>
            </a:fld>
            <a:endParaRPr lang="en-US"/>
          </a:p>
        </p:txBody>
      </p:sp>
    </p:spTree>
    <p:extLst>
      <p:ext uri="{BB962C8B-B14F-4D97-AF65-F5344CB8AC3E}">
        <p14:creationId xmlns:p14="http://schemas.microsoft.com/office/powerpoint/2010/main" val="362629853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746B70-8AF3-7178-F158-5D96079590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FE6E8B-ADBF-C150-EBD4-69866C2763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3D497B-84ED-6D95-7C98-5B97D3699722}"/>
              </a:ext>
            </a:extLst>
          </p:cNvPr>
          <p:cNvSpPr>
            <a:spLocks noGrp="1"/>
          </p:cNvSpPr>
          <p:nvPr>
            <p:ph type="body" idx="1"/>
          </p:nvPr>
        </p:nvSpPr>
        <p:spPr/>
        <p:txBody>
          <a:bodyPr/>
          <a:lstStyle/>
          <a:p>
            <a:r>
              <a:rPr lang="en-SE" dirty="0"/>
              <a:t>How do these conceptual steps intertwine with the operational steps necessary for quantitative studies?</a:t>
            </a:r>
          </a:p>
        </p:txBody>
      </p:sp>
      <p:sp>
        <p:nvSpPr>
          <p:cNvPr id="4" name="Slide Number Placeholder 3">
            <a:extLst>
              <a:ext uri="{FF2B5EF4-FFF2-40B4-BE49-F238E27FC236}">
                <a16:creationId xmlns:a16="http://schemas.microsoft.com/office/drawing/2014/main" id="{A464E05F-121F-DB64-95CC-DFCCF60B3CD1}"/>
              </a:ext>
            </a:extLst>
          </p:cNvPr>
          <p:cNvSpPr>
            <a:spLocks noGrp="1"/>
          </p:cNvSpPr>
          <p:nvPr>
            <p:ph type="sldNum" sz="quarter" idx="5"/>
          </p:nvPr>
        </p:nvSpPr>
        <p:spPr/>
        <p:txBody>
          <a:bodyPr/>
          <a:lstStyle/>
          <a:p>
            <a:fld id="{ACC9BBD8-1C1E-4CFA-8C12-0AE7F3A91C3D}" type="slidenum">
              <a:rPr lang="en-US" smtClean="0"/>
              <a:t>49</a:t>
            </a:fld>
            <a:endParaRPr lang="en-US"/>
          </a:p>
        </p:txBody>
      </p:sp>
    </p:spTree>
    <p:extLst>
      <p:ext uri="{BB962C8B-B14F-4D97-AF65-F5344CB8AC3E}">
        <p14:creationId xmlns:p14="http://schemas.microsoft.com/office/powerpoint/2010/main" val="427904306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93BCE3-E678-2DE8-5B99-6F6DC13065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5B6963-0CA6-3D71-8CF6-895586E242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8E1510-A6F3-7CE0-02C9-B45E1C162B71}"/>
              </a:ext>
            </a:extLst>
          </p:cNvPr>
          <p:cNvSpPr>
            <a:spLocks noGrp="1"/>
          </p:cNvSpPr>
          <p:nvPr>
            <p:ph type="body" idx="1"/>
          </p:nvPr>
        </p:nvSpPr>
        <p:spPr/>
        <p:txBody>
          <a:bodyPr/>
          <a:lstStyle/>
          <a:p>
            <a:r>
              <a:rPr lang="en-SE" dirty="0"/>
              <a:t>How do these conceptual steps intertwine with the operational steps necessary for quantitative studies?</a:t>
            </a:r>
          </a:p>
        </p:txBody>
      </p:sp>
      <p:sp>
        <p:nvSpPr>
          <p:cNvPr id="4" name="Slide Number Placeholder 3">
            <a:extLst>
              <a:ext uri="{FF2B5EF4-FFF2-40B4-BE49-F238E27FC236}">
                <a16:creationId xmlns:a16="http://schemas.microsoft.com/office/drawing/2014/main" id="{64816326-6038-94C4-F88E-E95F4B86D270}"/>
              </a:ext>
            </a:extLst>
          </p:cNvPr>
          <p:cNvSpPr>
            <a:spLocks noGrp="1"/>
          </p:cNvSpPr>
          <p:nvPr>
            <p:ph type="sldNum" sz="quarter" idx="5"/>
          </p:nvPr>
        </p:nvSpPr>
        <p:spPr/>
        <p:txBody>
          <a:bodyPr/>
          <a:lstStyle/>
          <a:p>
            <a:fld id="{ACC9BBD8-1C1E-4CFA-8C12-0AE7F3A91C3D}" type="slidenum">
              <a:rPr lang="en-US" smtClean="0"/>
              <a:t>50</a:t>
            </a:fld>
            <a:endParaRPr lang="en-US"/>
          </a:p>
        </p:txBody>
      </p:sp>
    </p:spTree>
    <p:extLst>
      <p:ext uri="{BB962C8B-B14F-4D97-AF65-F5344CB8AC3E}">
        <p14:creationId xmlns:p14="http://schemas.microsoft.com/office/powerpoint/2010/main" val="112497707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8AFA89-3191-ACED-63BC-50E31DEACF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D9CCB1-456C-67F6-37A4-FF394E225B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1A615A-4C78-51AD-9092-79812EE0F9E4}"/>
              </a:ext>
            </a:extLst>
          </p:cNvPr>
          <p:cNvSpPr>
            <a:spLocks noGrp="1"/>
          </p:cNvSpPr>
          <p:nvPr>
            <p:ph type="body" idx="1"/>
          </p:nvPr>
        </p:nvSpPr>
        <p:spPr/>
        <p:txBody>
          <a:bodyPr/>
          <a:lstStyle/>
          <a:p>
            <a:endParaRPr lang="en-SE" dirty="0"/>
          </a:p>
        </p:txBody>
      </p:sp>
      <p:sp>
        <p:nvSpPr>
          <p:cNvPr id="4" name="Slide Number Placeholder 3">
            <a:extLst>
              <a:ext uri="{FF2B5EF4-FFF2-40B4-BE49-F238E27FC236}">
                <a16:creationId xmlns:a16="http://schemas.microsoft.com/office/drawing/2014/main" id="{A8653F5F-52BF-8474-93D7-16640A1663A6}"/>
              </a:ext>
            </a:extLst>
          </p:cNvPr>
          <p:cNvSpPr>
            <a:spLocks noGrp="1"/>
          </p:cNvSpPr>
          <p:nvPr>
            <p:ph type="sldNum" sz="quarter" idx="5"/>
          </p:nvPr>
        </p:nvSpPr>
        <p:spPr/>
        <p:txBody>
          <a:bodyPr/>
          <a:lstStyle/>
          <a:p>
            <a:fld id="{ACC9BBD8-1C1E-4CFA-8C12-0AE7F3A91C3D}" type="slidenum">
              <a:rPr lang="en-US" smtClean="0"/>
              <a:t>51</a:t>
            </a:fld>
            <a:endParaRPr lang="en-US"/>
          </a:p>
        </p:txBody>
      </p:sp>
    </p:spTree>
    <p:extLst>
      <p:ext uri="{BB962C8B-B14F-4D97-AF65-F5344CB8AC3E}">
        <p14:creationId xmlns:p14="http://schemas.microsoft.com/office/powerpoint/2010/main" val="414345804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E4048E-F236-38B9-B35C-032617755F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BB34D9-C7E4-52DC-3732-052F817587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E92947-C79E-66DB-D827-9B5CF71ADDE7}"/>
              </a:ext>
            </a:extLst>
          </p:cNvPr>
          <p:cNvSpPr>
            <a:spLocks noGrp="1"/>
          </p:cNvSpPr>
          <p:nvPr>
            <p:ph type="body" idx="1"/>
          </p:nvPr>
        </p:nvSpPr>
        <p:spPr/>
        <p:txBody>
          <a:bodyPr/>
          <a:lstStyle/>
          <a:p>
            <a:endParaRPr lang="en-SE" dirty="0"/>
          </a:p>
        </p:txBody>
      </p:sp>
      <p:sp>
        <p:nvSpPr>
          <p:cNvPr id="4" name="Slide Number Placeholder 3">
            <a:extLst>
              <a:ext uri="{FF2B5EF4-FFF2-40B4-BE49-F238E27FC236}">
                <a16:creationId xmlns:a16="http://schemas.microsoft.com/office/drawing/2014/main" id="{FE075AF2-8544-EBCC-993D-B5E26369982E}"/>
              </a:ext>
            </a:extLst>
          </p:cNvPr>
          <p:cNvSpPr>
            <a:spLocks noGrp="1"/>
          </p:cNvSpPr>
          <p:nvPr>
            <p:ph type="sldNum" sz="quarter" idx="5"/>
          </p:nvPr>
        </p:nvSpPr>
        <p:spPr/>
        <p:txBody>
          <a:bodyPr/>
          <a:lstStyle/>
          <a:p>
            <a:fld id="{ACC9BBD8-1C1E-4CFA-8C12-0AE7F3A91C3D}" type="slidenum">
              <a:rPr lang="en-US" smtClean="0"/>
              <a:t>52</a:t>
            </a:fld>
            <a:endParaRPr lang="en-US"/>
          </a:p>
        </p:txBody>
      </p:sp>
    </p:spTree>
    <p:extLst>
      <p:ext uri="{BB962C8B-B14F-4D97-AF65-F5344CB8AC3E}">
        <p14:creationId xmlns:p14="http://schemas.microsoft.com/office/powerpoint/2010/main" val="313118998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SE" dirty="0"/>
              <a:t>In summary, when you aim to conduct a rigorous and relevant study, consider these three recommendations:</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SE" dirty="0"/>
          </a:p>
          <a:p>
            <a:pPr marL="514350" indent="-514350">
              <a:buFont typeface="+mj-lt"/>
              <a:buAutoNum type="arabicPeriod"/>
            </a:pPr>
            <a:r>
              <a:rPr lang="en-SE" dirty="0"/>
              <a:t>Consider data collection as a part of data analysis, not as two separate, subsequent steps</a:t>
            </a:r>
          </a:p>
          <a:p>
            <a:pPr marL="514350" indent="-514350">
              <a:buFont typeface="+mj-lt"/>
              <a:buAutoNum type="arabicPeriod"/>
            </a:pPr>
            <a:r>
              <a:rPr lang="en-SE" dirty="0"/>
              <a:t>Start your data analysis with a DAG </a:t>
            </a:r>
          </a:p>
          <a:p>
            <a:pPr marL="514350" indent="-514350">
              <a:buFont typeface="+mj-lt"/>
              <a:buAutoNum type="arabicPeriod"/>
            </a:pPr>
            <a:r>
              <a:rPr lang="en-SE" dirty="0"/>
              <a:t>Apply d-separation to figure out (1) if you can actually conduct your study and – if so – (2) what data you need to collect</a:t>
            </a:r>
          </a:p>
          <a:p>
            <a:endParaRPr lang="en-SE" dirty="0"/>
          </a:p>
        </p:txBody>
      </p:sp>
      <p:sp>
        <p:nvSpPr>
          <p:cNvPr id="4" name="Slide Number Placeholder 3"/>
          <p:cNvSpPr>
            <a:spLocks noGrp="1"/>
          </p:cNvSpPr>
          <p:nvPr>
            <p:ph type="sldNum" sz="quarter" idx="5"/>
          </p:nvPr>
        </p:nvSpPr>
        <p:spPr/>
        <p:txBody>
          <a:bodyPr/>
          <a:lstStyle/>
          <a:p>
            <a:fld id="{ACC9BBD8-1C1E-4CFA-8C12-0AE7F3A91C3D}" type="slidenum">
              <a:rPr lang="en-US" smtClean="0"/>
              <a:t>54</a:t>
            </a:fld>
            <a:endParaRPr lang="en-US"/>
          </a:p>
        </p:txBody>
      </p:sp>
    </p:spTree>
    <p:extLst>
      <p:ext uri="{BB962C8B-B14F-4D97-AF65-F5344CB8AC3E}">
        <p14:creationId xmlns:p14="http://schemas.microsoft.com/office/powerpoint/2010/main" val="100683219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7ECFB-CC92-FB7D-062B-5F840C7CDEF9}"/>
              </a:ext>
            </a:extLst>
          </p:cNvPr>
          <p:cNvSpPr>
            <a:spLocks noGrp="1"/>
          </p:cNvSpPr>
          <p:nvPr>
            <p:ph type="ctrTitle"/>
          </p:nvPr>
        </p:nvSpPr>
        <p:spPr>
          <a:xfrm>
            <a:off x="1524000" y="1600199"/>
            <a:ext cx="9144000" cy="1909763"/>
          </a:xfrm>
        </p:spPr>
        <p:txBody>
          <a:bodyPr anchor="b"/>
          <a:lstStyle>
            <a:lvl1pPr algn="ctr">
              <a:defRPr sz="6000"/>
            </a:lvl1pPr>
          </a:lstStyle>
          <a:p>
            <a:r>
              <a:rPr lang="en-US"/>
              <a:t>Click to edit Master title style</a:t>
            </a:r>
            <a:endParaRPr lang="en-SE"/>
          </a:p>
        </p:txBody>
      </p:sp>
      <p:sp>
        <p:nvSpPr>
          <p:cNvPr id="3" name="Subtitle 2">
            <a:extLst>
              <a:ext uri="{FF2B5EF4-FFF2-40B4-BE49-F238E27FC236}">
                <a16:creationId xmlns:a16="http://schemas.microsoft.com/office/drawing/2014/main" id="{D17DB82B-6165-1C54-C51D-F5D58F23CBF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E"/>
          </a:p>
        </p:txBody>
      </p:sp>
      <p:sp>
        <p:nvSpPr>
          <p:cNvPr id="4" name="Date Placeholder 3">
            <a:extLst>
              <a:ext uri="{FF2B5EF4-FFF2-40B4-BE49-F238E27FC236}">
                <a16:creationId xmlns:a16="http://schemas.microsoft.com/office/drawing/2014/main" id="{B37955BD-5E43-FC47-D766-386274FE3FE6}"/>
              </a:ext>
            </a:extLst>
          </p:cNvPr>
          <p:cNvSpPr>
            <a:spLocks noGrp="1"/>
          </p:cNvSpPr>
          <p:nvPr>
            <p:ph type="dt" sz="half" idx="10"/>
          </p:nvPr>
        </p:nvSpPr>
        <p:spPr/>
        <p:txBody>
          <a:bodyPr/>
          <a:lstStyle/>
          <a:p>
            <a:fld id="{37DCE796-1B8A-41D3-B18D-B249256E7F45}" type="datetime1">
              <a:rPr lang="de-DE" smtClean="0"/>
              <a:t>17.06.2026</a:t>
            </a:fld>
            <a:endParaRPr lang="en-SE"/>
          </a:p>
        </p:txBody>
      </p:sp>
      <p:sp>
        <p:nvSpPr>
          <p:cNvPr id="5" name="Footer Placeholder 4">
            <a:extLst>
              <a:ext uri="{FF2B5EF4-FFF2-40B4-BE49-F238E27FC236}">
                <a16:creationId xmlns:a16="http://schemas.microsoft.com/office/drawing/2014/main" id="{DAC345E8-8305-94BE-CD1F-E34E302160C0}"/>
              </a:ext>
            </a:extLst>
          </p:cNvPr>
          <p:cNvSpPr>
            <a:spLocks noGrp="1"/>
          </p:cNvSpPr>
          <p:nvPr>
            <p:ph type="ftr" sz="quarter" idx="11"/>
          </p:nvPr>
        </p:nvSpPr>
        <p:spPr/>
        <p:txBody>
          <a:bodyPr/>
          <a:lstStyle/>
          <a:p>
            <a:endParaRPr lang="en-SE"/>
          </a:p>
        </p:txBody>
      </p:sp>
      <p:sp>
        <p:nvSpPr>
          <p:cNvPr id="6" name="Slide Number Placeholder 5">
            <a:extLst>
              <a:ext uri="{FF2B5EF4-FFF2-40B4-BE49-F238E27FC236}">
                <a16:creationId xmlns:a16="http://schemas.microsoft.com/office/drawing/2014/main" id="{159FBD3E-ECCB-B12E-8504-AE90BAE0F46A}"/>
              </a:ext>
            </a:extLst>
          </p:cNvPr>
          <p:cNvSpPr>
            <a:spLocks noGrp="1"/>
          </p:cNvSpPr>
          <p:nvPr>
            <p:ph type="sldNum" sz="quarter" idx="12"/>
          </p:nvPr>
        </p:nvSpPr>
        <p:spPr/>
        <p:txBody>
          <a:bodyPr/>
          <a:lstStyle/>
          <a:p>
            <a:fld id="{271ECC92-9CDE-4EB3-B1C5-F46B9E1FA3C1}" type="slidenum">
              <a:rPr lang="en-SE" smtClean="0"/>
              <a:t>‹#›</a:t>
            </a:fld>
            <a:endParaRPr lang="en-SE"/>
          </a:p>
        </p:txBody>
      </p:sp>
      <p:pic>
        <p:nvPicPr>
          <p:cNvPr id="8" name="Picture 7" descr="A black background with a black square&#10;&#10;AI-generated content may be incorrect.">
            <a:extLst>
              <a:ext uri="{FF2B5EF4-FFF2-40B4-BE49-F238E27FC236}">
                <a16:creationId xmlns:a16="http://schemas.microsoft.com/office/drawing/2014/main" id="{6FAC15DB-F6D1-F33F-FE40-C327DCFFA16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353143" y="388368"/>
            <a:ext cx="9485714" cy="1193651"/>
          </a:xfrm>
          <a:prstGeom prst="rect">
            <a:avLst/>
          </a:prstGeom>
        </p:spPr>
      </p:pic>
    </p:spTree>
    <p:extLst>
      <p:ext uri="{BB962C8B-B14F-4D97-AF65-F5344CB8AC3E}">
        <p14:creationId xmlns:p14="http://schemas.microsoft.com/office/powerpoint/2010/main" val="24102444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5F46C5-11CD-4C87-4B7F-F0A008414468}"/>
              </a:ext>
            </a:extLst>
          </p:cNvPr>
          <p:cNvSpPr>
            <a:spLocks noGrp="1"/>
          </p:cNvSpPr>
          <p:nvPr>
            <p:ph type="title"/>
          </p:nvPr>
        </p:nvSpPr>
        <p:spPr>
          <a:xfrm>
            <a:off x="838198" y="365125"/>
            <a:ext cx="9380975" cy="1325563"/>
          </a:xfrm>
        </p:spPr>
        <p:txBody>
          <a:bodyPr/>
          <a:lstStyle/>
          <a:p>
            <a:r>
              <a:rPr lang="en-US"/>
              <a:t>Click to edit Master title style</a:t>
            </a:r>
            <a:endParaRPr lang="en-SE"/>
          </a:p>
        </p:txBody>
      </p:sp>
      <p:sp>
        <p:nvSpPr>
          <p:cNvPr id="3" name="Content Placeholder 2">
            <a:extLst>
              <a:ext uri="{FF2B5EF4-FFF2-40B4-BE49-F238E27FC236}">
                <a16:creationId xmlns:a16="http://schemas.microsoft.com/office/drawing/2014/main" id="{72567B5C-1FB8-DA82-8443-4DACD45F0C9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E"/>
          </a:p>
        </p:txBody>
      </p:sp>
      <p:sp>
        <p:nvSpPr>
          <p:cNvPr id="4" name="Date Placeholder 3">
            <a:extLst>
              <a:ext uri="{FF2B5EF4-FFF2-40B4-BE49-F238E27FC236}">
                <a16:creationId xmlns:a16="http://schemas.microsoft.com/office/drawing/2014/main" id="{96DB50CE-E3D9-6C15-6C1B-8A30001A38E3}"/>
              </a:ext>
            </a:extLst>
          </p:cNvPr>
          <p:cNvSpPr>
            <a:spLocks noGrp="1"/>
          </p:cNvSpPr>
          <p:nvPr>
            <p:ph type="dt" sz="half" idx="10"/>
          </p:nvPr>
        </p:nvSpPr>
        <p:spPr/>
        <p:txBody>
          <a:bodyPr/>
          <a:lstStyle/>
          <a:p>
            <a:fld id="{A1C06950-82F8-45F4-A28D-9FBF8CAE29F7}" type="datetime1">
              <a:rPr lang="de-DE" smtClean="0"/>
              <a:t>17.06.2026</a:t>
            </a:fld>
            <a:endParaRPr lang="en-SE"/>
          </a:p>
        </p:txBody>
      </p:sp>
      <p:sp>
        <p:nvSpPr>
          <p:cNvPr id="5" name="Footer Placeholder 4">
            <a:extLst>
              <a:ext uri="{FF2B5EF4-FFF2-40B4-BE49-F238E27FC236}">
                <a16:creationId xmlns:a16="http://schemas.microsoft.com/office/drawing/2014/main" id="{82E106B3-8DD0-55B3-08A0-DD0591C9848C}"/>
              </a:ext>
            </a:extLst>
          </p:cNvPr>
          <p:cNvSpPr>
            <a:spLocks noGrp="1"/>
          </p:cNvSpPr>
          <p:nvPr>
            <p:ph type="ftr" sz="quarter" idx="11"/>
          </p:nvPr>
        </p:nvSpPr>
        <p:spPr/>
        <p:txBody>
          <a:bodyPr/>
          <a:lstStyle/>
          <a:p>
            <a:endParaRPr lang="en-SE"/>
          </a:p>
        </p:txBody>
      </p:sp>
      <p:sp>
        <p:nvSpPr>
          <p:cNvPr id="6" name="Slide Number Placeholder 5">
            <a:extLst>
              <a:ext uri="{FF2B5EF4-FFF2-40B4-BE49-F238E27FC236}">
                <a16:creationId xmlns:a16="http://schemas.microsoft.com/office/drawing/2014/main" id="{49C494B0-86B7-2B02-AF74-37DFCA78F384}"/>
              </a:ext>
            </a:extLst>
          </p:cNvPr>
          <p:cNvSpPr>
            <a:spLocks noGrp="1"/>
          </p:cNvSpPr>
          <p:nvPr>
            <p:ph type="sldNum" sz="quarter" idx="12"/>
          </p:nvPr>
        </p:nvSpPr>
        <p:spPr/>
        <p:txBody>
          <a:bodyPr/>
          <a:lstStyle/>
          <a:p>
            <a:fld id="{271ECC92-9CDE-4EB3-B1C5-F46B9E1FA3C1}" type="slidenum">
              <a:rPr lang="en-SE" smtClean="0"/>
              <a:t>‹#›</a:t>
            </a:fld>
            <a:endParaRPr lang="en-SE"/>
          </a:p>
        </p:txBody>
      </p:sp>
      <p:pic>
        <p:nvPicPr>
          <p:cNvPr id="8" name="Picture 7" descr="A black background with a black square&#10;&#10;AI-generated content may be incorrect.">
            <a:extLst>
              <a:ext uri="{FF2B5EF4-FFF2-40B4-BE49-F238E27FC236}">
                <a16:creationId xmlns:a16="http://schemas.microsoft.com/office/drawing/2014/main" id="{219E70D1-BC5E-0623-4514-854441A4D3F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350110" y="365125"/>
            <a:ext cx="1003690" cy="1325563"/>
          </a:xfrm>
          <a:prstGeom prst="rect">
            <a:avLst/>
          </a:prstGeom>
        </p:spPr>
      </p:pic>
    </p:spTree>
    <p:extLst>
      <p:ext uri="{BB962C8B-B14F-4D97-AF65-F5344CB8AC3E}">
        <p14:creationId xmlns:p14="http://schemas.microsoft.com/office/powerpoint/2010/main" val="28118717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BA3C64-99A3-C45B-FC04-CD6D7DF0E05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SE"/>
          </a:p>
        </p:txBody>
      </p:sp>
      <p:sp>
        <p:nvSpPr>
          <p:cNvPr id="3" name="Text Placeholder 2">
            <a:extLst>
              <a:ext uri="{FF2B5EF4-FFF2-40B4-BE49-F238E27FC236}">
                <a16:creationId xmlns:a16="http://schemas.microsoft.com/office/drawing/2014/main" id="{183CEB3B-F9F7-57EA-A865-FA89E9BE90F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31EA0C2-17AA-E8FA-AF35-325A5B6C18D4}"/>
              </a:ext>
            </a:extLst>
          </p:cNvPr>
          <p:cNvSpPr>
            <a:spLocks noGrp="1"/>
          </p:cNvSpPr>
          <p:nvPr>
            <p:ph type="dt" sz="half" idx="10"/>
          </p:nvPr>
        </p:nvSpPr>
        <p:spPr/>
        <p:txBody>
          <a:bodyPr/>
          <a:lstStyle/>
          <a:p>
            <a:fld id="{5BC0AF29-9533-4D4E-A309-A5791971D2E2}" type="datetime1">
              <a:rPr lang="de-DE" smtClean="0"/>
              <a:t>17.06.2026</a:t>
            </a:fld>
            <a:endParaRPr lang="en-SE"/>
          </a:p>
        </p:txBody>
      </p:sp>
      <p:sp>
        <p:nvSpPr>
          <p:cNvPr id="5" name="Footer Placeholder 4">
            <a:extLst>
              <a:ext uri="{FF2B5EF4-FFF2-40B4-BE49-F238E27FC236}">
                <a16:creationId xmlns:a16="http://schemas.microsoft.com/office/drawing/2014/main" id="{EDC95503-4D40-A4E1-4A17-B8F476149189}"/>
              </a:ext>
            </a:extLst>
          </p:cNvPr>
          <p:cNvSpPr>
            <a:spLocks noGrp="1"/>
          </p:cNvSpPr>
          <p:nvPr>
            <p:ph type="ftr" sz="quarter" idx="11"/>
          </p:nvPr>
        </p:nvSpPr>
        <p:spPr/>
        <p:txBody>
          <a:bodyPr/>
          <a:lstStyle/>
          <a:p>
            <a:endParaRPr lang="en-SE"/>
          </a:p>
        </p:txBody>
      </p:sp>
      <p:sp>
        <p:nvSpPr>
          <p:cNvPr id="6" name="Slide Number Placeholder 5">
            <a:extLst>
              <a:ext uri="{FF2B5EF4-FFF2-40B4-BE49-F238E27FC236}">
                <a16:creationId xmlns:a16="http://schemas.microsoft.com/office/drawing/2014/main" id="{CF6C0937-6335-D00A-B738-E03007DFA8B8}"/>
              </a:ext>
            </a:extLst>
          </p:cNvPr>
          <p:cNvSpPr>
            <a:spLocks noGrp="1"/>
          </p:cNvSpPr>
          <p:nvPr>
            <p:ph type="sldNum" sz="quarter" idx="12"/>
          </p:nvPr>
        </p:nvSpPr>
        <p:spPr/>
        <p:txBody>
          <a:bodyPr/>
          <a:lstStyle/>
          <a:p>
            <a:fld id="{271ECC92-9CDE-4EB3-B1C5-F46B9E1FA3C1}" type="slidenum">
              <a:rPr lang="en-SE" smtClean="0"/>
              <a:t>‹#›</a:t>
            </a:fld>
            <a:endParaRPr lang="en-SE"/>
          </a:p>
        </p:txBody>
      </p:sp>
      <p:pic>
        <p:nvPicPr>
          <p:cNvPr id="7" name="Picture 6" descr="A black background with a black square&#10;&#10;AI-generated content may be incorrect.">
            <a:extLst>
              <a:ext uri="{FF2B5EF4-FFF2-40B4-BE49-F238E27FC236}">
                <a16:creationId xmlns:a16="http://schemas.microsoft.com/office/drawing/2014/main" id="{8E93BCFD-7846-D276-1F73-CBB0C60EEDF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16063" y="267789"/>
            <a:ext cx="4947173" cy="622536"/>
          </a:xfrm>
          <a:prstGeom prst="rect">
            <a:avLst/>
          </a:prstGeom>
        </p:spPr>
      </p:pic>
    </p:spTree>
    <p:extLst>
      <p:ext uri="{BB962C8B-B14F-4D97-AF65-F5344CB8AC3E}">
        <p14:creationId xmlns:p14="http://schemas.microsoft.com/office/powerpoint/2010/main" val="15516764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2B84F10-67C5-38A9-9573-9D83950EE145}"/>
              </a:ext>
            </a:extLst>
          </p:cNvPr>
          <p:cNvSpPr>
            <a:spLocks noGrp="1"/>
          </p:cNvSpPr>
          <p:nvPr>
            <p:ph type="title"/>
          </p:nvPr>
        </p:nvSpPr>
        <p:spPr>
          <a:xfrm>
            <a:off x="838199" y="365125"/>
            <a:ext cx="10515600" cy="1325563"/>
          </a:xfrm>
          <a:prstGeom prst="rect">
            <a:avLst/>
          </a:prstGeom>
        </p:spPr>
        <p:txBody>
          <a:bodyPr vert="horz" lIns="91440" tIns="45720" rIns="91440" bIns="45720" rtlCol="0" anchor="ctr">
            <a:normAutofit/>
          </a:bodyPr>
          <a:lstStyle/>
          <a:p>
            <a:r>
              <a:rPr lang="en-US"/>
              <a:t>Click to edit Master title style</a:t>
            </a:r>
            <a:endParaRPr lang="en-SE"/>
          </a:p>
        </p:txBody>
      </p:sp>
      <p:sp>
        <p:nvSpPr>
          <p:cNvPr id="3" name="Text Placeholder 2">
            <a:extLst>
              <a:ext uri="{FF2B5EF4-FFF2-40B4-BE49-F238E27FC236}">
                <a16:creationId xmlns:a16="http://schemas.microsoft.com/office/drawing/2014/main" id="{F94813B2-F0B2-78B0-2431-5AE1C5DC3D4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E"/>
          </a:p>
        </p:txBody>
      </p:sp>
      <p:sp>
        <p:nvSpPr>
          <p:cNvPr id="4" name="Date Placeholder 3">
            <a:extLst>
              <a:ext uri="{FF2B5EF4-FFF2-40B4-BE49-F238E27FC236}">
                <a16:creationId xmlns:a16="http://schemas.microsoft.com/office/drawing/2014/main" id="{6BCA28DA-366D-4CD9-E1EB-113EAA959DF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E67268F-5191-4EDD-9773-1EAA25AC2D33}" type="datetime1">
              <a:rPr lang="de-DE" smtClean="0"/>
              <a:t>17.06.2026</a:t>
            </a:fld>
            <a:endParaRPr lang="en-SE"/>
          </a:p>
        </p:txBody>
      </p:sp>
      <p:sp>
        <p:nvSpPr>
          <p:cNvPr id="5" name="Footer Placeholder 4">
            <a:extLst>
              <a:ext uri="{FF2B5EF4-FFF2-40B4-BE49-F238E27FC236}">
                <a16:creationId xmlns:a16="http://schemas.microsoft.com/office/drawing/2014/main" id="{9F6E68D1-9044-00B4-ABE4-8F49530ABDF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SE"/>
          </a:p>
        </p:txBody>
      </p:sp>
      <p:sp>
        <p:nvSpPr>
          <p:cNvPr id="6" name="Slide Number Placeholder 5">
            <a:extLst>
              <a:ext uri="{FF2B5EF4-FFF2-40B4-BE49-F238E27FC236}">
                <a16:creationId xmlns:a16="http://schemas.microsoft.com/office/drawing/2014/main" id="{0F136186-4B45-9116-C243-AC06504DFFB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71ECC92-9CDE-4EB3-B1C5-F46B9E1FA3C1}" type="slidenum">
              <a:rPr lang="en-SE" smtClean="0"/>
              <a:t>‹#›</a:t>
            </a:fld>
            <a:endParaRPr lang="en-SE"/>
          </a:p>
        </p:txBody>
      </p:sp>
    </p:spTree>
    <p:extLst>
      <p:ext uri="{BB962C8B-B14F-4D97-AF65-F5344CB8AC3E}">
        <p14:creationId xmlns:p14="http://schemas.microsoft.com/office/powerpoint/2010/main" val="32711416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https://github.com/JulianFrattini/bda4sci" TargetMode="External"/><Relationship Id="rId3" Type="http://schemas.openxmlformats.org/officeDocument/2006/relationships/hyperlink" Target="https://choosealicense.com/licenses/apache-2.0/" TargetMode="External"/><Relationship Id="rId7"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3.jpg"/><Relationship Id="rId5" Type="http://schemas.openxmlformats.org/officeDocument/2006/relationships/hyperlink" Target="https://julianfrattini.github.io/" TargetMode="External"/><Relationship Id="rId4" Type="http://schemas.openxmlformats.org/officeDocument/2006/relationships/hyperlink" Target="https://creativecommons.org/licenses/by-nc-sa/4.0/" TargetMode="External"/></Relationships>
</file>

<file path=ppt/slides/_rels/slide2.xml.rels><?xml version="1.0" encoding="UTF-8" standalone="yes"?>
<Relationships xmlns="http://schemas.openxmlformats.org/package/2006/relationships"><Relationship Id="rId8" Type="http://schemas.openxmlformats.org/officeDocument/2006/relationships/hyperlink" Target="https://en.wikipedia.org/wiki/File:Emojione_1F1F8-1F1EA.svg" TargetMode="External"/><Relationship Id="rId3" Type="http://schemas.openxmlformats.org/officeDocument/2006/relationships/image" Target="../media/image6.png"/><Relationship Id="rId7"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hyperlink" Target="https://en.wikipedia.org/wiki/File:Flag_of_Germany.svg" TargetMode="External"/><Relationship Id="rId5"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svg"/><Relationship Id="rId1" Type="http://schemas.openxmlformats.org/officeDocument/2006/relationships/slideLayout" Target="../slideLayouts/slideLayout2.xml"/><Relationship Id="rId4" Type="http://schemas.openxmlformats.org/officeDocument/2006/relationships/image" Target="../media/image13.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8" Type="http://schemas.openxmlformats.org/officeDocument/2006/relationships/hyperlink" Target="https://doi.org/10.1007/s00766-022-00371-x" TargetMode="External"/><Relationship Id="rId3" Type="http://schemas.openxmlformats.org/officeDocument/2006/relationships/image" Target="../media/image14.png"/><Relationship Id="rId7"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hyperlink" Target="http://dx.doi.org/10.1145/2568225.2568271" TargetMode="External"/><Relationship Id="rId11" Type="http://schemas.openxmlformats.org/officeDocument/2006/relationships/hyperlink" Target="https://doi.org/10.1109/APSEC.2005.38" TargetMode="External"/><Relationship Id="rId5" Type="http://schemas.openxmlformats.org/officeDocument/2006/relationships/image" Target="../media/image15.png"/><Relationship Id="rId10" Type="http://schemas.openxmlformats.org/officeDocument/2006/relationships/hyperlink" Target="https://doi.org/10.1007/s00766-012-0149-0" TargetMode="External"/><Relationship Id="rId4" Type="http://schemas.openxmlformats.org/officeDocument/2006/relationships/hyperlink" Target="https://doi.org/10.1109/CHASE52884.2021.00009" TargetMode="External"/><Relationship Id="rId9" Type="http://schemas.openxmlformats.org/officeDocument/2006/relationships/image" Target="../media/image17.png"/></Relationships>
</file>

<file path=ppt/slides/_rels/slide6.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20.svg"/><Relationship Id="rId4" Type="http://schemas.openxmlformats.org/officeDocument/2006/relationships/image" Target="../media/image19.svg"/></Relationships>
</file>

<file path=ppt/slides/_rels/slide7.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24.svg"/><Relationship Id="rId5" Type="http://schemas.openxmlformats.org/officeDocument/2006/relationships/image" Target="../media/image23.svg"/><Relationship Id="rId4" Type="http://schemas.openxmlformats.org/officeDocument/2006/relationships/image" Target="../media/image22.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108.png"/><Relationship Id="rId1" Type="http://schemas.openxmlformats.org/officeDocument/2006/relationships/slideLayout" Target="../slideLayouts/slideLayout2.xml"/><Relationship Id="rId11" Type="http://schemas.openxmlformats.org/officeDocument/2006/relationships/image" Target="../media/image111.png"/><Relationship Id="rId10" Type="http://schemas.openxmlformats.org/officeDocument/2006/relationships/image" Target="../media/image110.png"/><Relationship Id="rId9" Type="http://schemas.openxmlformats.org/officeDocument/2006/relationships/image" Target="../media/image109.png"/></Relationships>
</file>

<file path=ppt/slides/_rels/slide18.xml.rels><?xml version="1.0" encoding="UTF-8" standalone="yes"?>
<Relationships xmlns="http://schemas.openxmlformats.org/package/2006/relationships"><Relationship Id="rId13" Type="http://schemas.openxmlformats.org/officeDocument/2006/relationships/image" Target="../media/image27.png"/><Relationship Id="rId3" Type="http://schemas.openxmlformats.org/officeDocument/2006/relationships/image" Target="../media/image26.svg"/><Relationship Id="rId12" Type="http://schemas.openxmlformats.org/officeDocument/2006/relationships/image" Target="../media/image113.png"/><Relationship Id="rId2" Type="http://schemas.openxmlformats.org/officeDocument/2006/relationships/notesSlide" Target="../notesSlides/notesSlide9.xml"/><Relationship Id="rId1" Type="http://schemas.openxmlformats.org/officeDocument/2006/relationships/slideLayout" Target="../slideLayouts/slideLayout2.xml"/><Relationship Id="rId11" Type="http://schemas.openxmlformats.org/officeDocument/2006/relationships/image" Target="../media/image112.png"/></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0.xml"/><Relationship Id="rId1" Type="http://schemas.openxmlformats.org/officeDocument/2006/relationships/slideLayout" Target="../slideLayouts/slideLayout2.xml"/><Relationship Id="rId10" Type="http://schemas.openxmlformats.org/officeDocument/2006/relationships/image" Target="../media/image116.png"/></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31.svg"/></Relationships>
</file>

<file path=ppt/slides/_rels/slide2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 Id="rId10" Type="http://schemas.openxmlformats.org/officeDocument/2006/relationships/image" Target="../media/image122.png"/><Relationship Id="rId9" Type="http://schemas.openxmlformats.org/officeDocument/2006/relationships/image" Target="../media/image121.png"/></Relationships>
</file>

<file path=ppt/slides/_rels/slide24.xml.rels><?xml version="1.0" encoding="UTF-8" standalone="yes"?>
<Relationships xmlns="http://schemas.openxmlformats.org/package/2006/relationships"><Relationship Id="rId12" Type="http://schemas.openxmlformats.org/officeDocument/2006/relationships/image" Target="../media/image25.svg"/><Relationship Id="rId2" Type="http://schemas.openxmlformats.org/officeDocument/2006/relationships/image" Target="../media/image26.svg"/><Relationship Id="rId1" Type="http://schemas.openxmlformats.org/officeDocument/2006/relationships/slideLayout" Target="../slideLayouts/slideLayout2.xml"/><Relationship Id="rId11" Type="http://schemas.openxmlformats.org/officeDocument/2006/relationships/image" Target="../media/image124.png"/><Relationship Id="rId10" Type="http://schemas.openxmlformats.org/officeDocument/2006/relationships/image" Target="../media/image123.png"/></Relationships>
</file>

<file path=ppt/slides/_rels/slide25.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32.sv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hyperlink" Target="https://bayes.cs.ucla.edu/BOOK-2K/d-sep.html"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bayes.cs.ucla.edu/BOOK-2K/d-sep.html"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129.png"/><Relationship Id="rId4" Type="http://schemas.openxmlformats.org/officeDocument/2006/relationships/image" Target="../media/image26.svg"/></Relationships>
</file>

<file path=ppt/slides/_rels/slide29.xml.rels><?xml version="1.0" encoding="UTF-8" standalone="yes"?>
<Relationships xmlns="http://schemas.openxmlformats.org/package/2006/relationships"><Relationship Id="rId3" Type="http://schemas.openxmlformats.org/officeDocument/2006/relationships/hyperlink" Target="https://bayes.cs.ucla.edu/BOOK-2K/d-sep.html"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129.png"/><Relationship Id="rId4" Type="http://schemas.openxmlformats.org/officeDocument/2006/relationships/image" Target="../media/image26.svg"/></Relationships>
</file>

<file path=ppt/slides/_rels/slide30.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hyperlink" Target="https://bayes.cs.ucla.edu/BOOK-2K/d-sep.html" TargetMode="External"/><Relationship Id="rId1" Type="http://schemas.openxmlformats.org/officeDocument/2006/relationships/slideLayout" Target="../slideLayouts/slideLayout2.xml"/><Relationship Id="rId5" Type="http://schemas.openxmlformats.org/officeDocument/2006/relationships/image" Target="../media/image129.png"/></Relationships>
</file>

<file path=ppt/slides/_rels/slide31.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hyperlink" Target="https://bayes.cs.ucla.edu/BOOK-2K/d-sep.html" TargetMode="External"/><Relationship Id="rId1" Type="http://schemas.openxmlformats.org/officeDocument/2006/relationships/slideLayout" Target="../slideLayouts/slideLayout2.xml"/><Relationship Id="rId6" Type="http://schemas.openxmlformats.org/officeDocument/2006/relationships/image" Target="../media/image131.png"/><Relationship Id="rId5" Type="http://schemas.openxmlformats.org/officeDocument/2006/relationships/image" Target="../media/image130.png"/></Relationships>
</file>

<file path=ppt/slides/_rels/slide32.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hyperlink" Target="https://bayes.cs.ucla.edu/BOOK-2K/d-sep.html" TargetMode="External"/><Relationship Id="rId1" Type="http://schemas.openxmlformats.org/officeDocument/2006/relationships/slideLayout" Target="../slideLayouts/slideLayout2.xml"/><Relationship Id="rId6" Type="http://schemas.openxmlformats.org/officeDocument/2006/relationships/image" Target="../media/image133.png"/><Relationship Id="rId5" Type="http://schemas.openxmlformats.org/officeDocument/2006/relationships/image" Target="../media/image132.png"/></Relationships>
</file>

<file path=ppt/slides/_rels/slide33.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hyperlink" Target="https://bayes.cs.ucla.edu/BOOK-2K/d-sep.html" TargetMode="External"/><Relationship Id="rId1" Type="http://schemas.openxmlformats.org/officeDocument/2006/relationships/slideLayout" Target="../slideLayouts/slideLayout2.xml"/><Relationship Id="rId6" Type="http://schemas.openxmlformats.org/officeDocument/2006/relationships/image" Target="../media/image133.png"/><Relationship Id="rId5" Type="http://schemas.openxmlformats.org/officeDocument/2006/relationships/image" Target="../media/image13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5.sv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5.sv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notesSlide" Target="../notesSlides/notesSlide18.xml"/><Relationship Id="rId1" Type="http://schemas.openxmlformats.org/officeDocument/2006/relationships/slideLayout" Target="../slideLayouts/slideLayout2.xml"/><Relationship Id="rId11" Type="http://schemas.openxmlformats.org/officeDocument/2006/relationships/image" Target="../media/image26.svg"/><Relationship Id="rId5" Type="http://schemas.openxmlformats.org/officeDocument/2006/relationships/image" Target="../media/image35.svg"/><Relationship Id="rId10" Type="http://schemas.openxmlformats.org/officeDocument/2006/relationships/image" Target="../media/image36.png"/><Relationship Id="rId4" Type="http://schemas.openxmlformats.org/officeDocument/2006/relationships/image" Target="../media/image34.svg"/><Relationship Id="rId9" Type="http://schemas.openxmlformats.org/officeDocument/2006/relationships/image" Target="../media/image155.png"/></Relationships>
</file>

<file path=ppt/slides/_rels/slide49.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37.svg"/><Relationship Id="rId5" Type="http://schemas.openxmlformats.org/officeDocument/2006/relationships/image" Target="../media/image35.svg"/><Relationship Id="rId4" Type="http://schemas.openxmlformats.org/officeDocument/2006/relationships/image" Target="../media/image34.svg"/></Relationships>
</file>

<file path=ppt/slides/_rels/slide50.xml.rels><?xml version="1.0" encoding="UTF-8" standalone="yes"?>
<Relationships xmlns="http://schemas.openxmlformats.org/package/2006/relationships"><Relationship Id="rId3" Type="http://schemas.openxmlformats.org/officeDocument/2006/relationships/image" Target="../media/image33.svg"/><Relationship Id="rId7" Type="http://schemas.openxmlformats.org/officeDocument/2006/relationships/image" Target="../media/image25.sv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37.svg"/><Relationship Id="rId5" Type="http://schemas.openxmlformats.org/officeDocument/2006/relationships/image" Target="../media/image35.svg"/><Relationship Id="rId4" Type="http://schemas.openxmlformats.org/officeDocument/2006/relationships/image" Target="../media/image34.svg"/></Relationships>
</file>

<file path=ppt/slides/_rels/slide51.xml.rels><?xml version="1.0" encoding="UTF-8" standalone="yes"?>
<Relationships xmlns="http://schemas.openxmlformats.org/package/2006/relationships"><Relationship Id="rId3" Type="http://schemas.openxmlformats.org/officeDocument/2006/relationships/image" Target="../media/image33.svg"/><Relationship Id="rId7" Type="http://schemas.openxmlformats.org/officeDocument/2006/relationships/image" Target="../media/image25.sv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37.svg"/><Relationship Id="rId5" Type="http://schemas.openxmlformats.org/officeDocument/2006/relationships/image" Target="../media/image35.svg"/><Relationship Id="rId4" Type="http://schemas.openxmlformats.org/officeDocument/2006/relationships/image" Target="../media/image34.svg"/></Relationships>
</file>

<file path=ppt/slides/_rels/slide52.xml.rels><?xml version="1.0" encoding="UTF-8" standalone="yes"?>
<Relationships xmlns="http://schemas.openxmlformats.org/package/2006/relationships"><Relationship Id="rId3" Type="http://schemas.openxmlformats.org/officeDocument/2006/relationships/image" Target="../media/image33.svg"/><Relationship Id="rId7" Type="http://schemas.openxmlformats.org/officeDocument/2006/relationships/image" Target="../media/image38.sv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35.svg"/><Relationship Id="rId5" Type="http://schemas.openxmlformats.org/officeDocument/2006/relationships/image" Target="../media/image37.svg"/><Relationship Id="rId4" Type="http://schemas.openxmlformats.org/officeDocument/2006/relationships/image" Target="../media/image34.svg"/></Relationships>
</file>

<file path=ppt/slides/_rels/slide53.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40.svg"/><Relationship Id="rId4" Type="http://schemas.openxmlformats.org/officeDocument/2006/relationships/image" Target="../media/image39.svg"/></Relationships>
</file>

<file path=ppt/slides/_rels/slide55.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41.sv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42.png"/><Relationship Id="rId1" Type="http://schemas.openxmlformats.org/officeDocument/2006/relationships/slideLayout" Target="../slideLayouts/slideLayout2.xml"/><Relationship Id="rId4" Type="http://schemas.openxmlformats.org/officeDocument/2006/relationships/hyperlink" Target="https://github.com/JulianFrattini/bda4sci"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8E8D0B-776C-E8F7-4D2E-37BA60724F3A}"/>
              </a:ext>
            </a:extLst>
          </p:cNvPr>
          <p:cNvSpPr>
            <a:spLocks noGrp="1"/>
          </p:cNvSpPr>
          <p:nvPr>
            <p:ph type="ctrTitle"/>
          </p:nvPr>
        </p:nvSpPr>
        <p:spPr/>
        <p:txBody>
          <a:bodyPr/>
          <a:lstStyle/>
          <a:p>
            <a:r>
              <a:rPr lang="en-US" noProof="0" dirty="0"/>
              <a:t>Statistical Causal Inference</a:t>
            </a:r>
          </a:p>
        </p:txBody>
      </p:sp>
      <p:sp>
        <p:nvSpPr>
          <p:cNvPr id="3" name="Subtitle 2">
            <a:extLst>
              <a:ext uri="{FF2B5EF4-FFF2-40B4-BE49-F238E27FC236}">
                <a16:creationId xmlns:a16="http://schemas.microsoft.com/office/drawing/2014/main" id="{DAECA751-926C-8553-9E48-80B7DF1A9306}"/>
              </a:ext>
            </a:extLst>
          </p:cNvPr>
          <p:cNvSpPr>
            <a:spLocks noGrp="1"/>
          </p:cNvSpPr>
          <p:nvPr>
            <p:ph type="subTitle" idx="1"/>
          </p:nvPr>
        </p:nvSpPr>
        <p:spPr/>
        <p:txBody>
          <a:bodyPr/>
          <a:lstStyle/>
          <a:p>
            <a:r>
              <a:rPr lang="en-US" dirty="0"/>
              <a:t>Emerging Paradigms for Advanced Data Anal</a:t>
            </a:r>
            <a:r>
              <a:rPr lang="en-SE" dirty="0" err="1"/>
              <a:t>ysis</a:t>
            </a:r>
            <a:endParaRPr lang="en-US" noProof="0" dirty="0"/>
          </a:p>
        </p:txBody>
      </p:sp>
      <p:sp>
        <p:nvSpPr>
          <p:cNvPr id="4" name="TextBox 3">
            <a:extLst>
              <a:ext uri="{FF2B5EF4-FFF2-40B4-BE49-F238E27FC236}">
                <a16:creationId xmlns:a16="http://schemas.microsoft.com/office/drawing/2014/main" id="{AD75591A-FA02-7123-DF74-EDB9D33C0122}"/>
              </a:ext>
            </a:extLst>
          </p:cNvPr>
          <p:cNvSpPr txBox="1"/>
          <p:nvPr/>
        </p:nvSpPr>
        <p:spPr>
          <a:xfrm>
            <a:off x="6795534" y="5859885"/>
            <a:ext cx="4705904" cy="738664"/>
          </a:xfrm>
          <a:prstGeom prst="rect">
            <a:avLst/>
          </a:prstGeom>
          <a:noFill/>
        </p:spPr>
        <p:txBody>
          <a:bodyPr wrap="none" rtlCol="0">
            <a:spAutoFit/>
          </a:bodyPr>
          <a:lstStyle/>
          <a:p>
            <a:pPr algn="r"/>
            <a:r>
              <a:rPr lang="en-US" sz="1400" noProof="0" dirty="0"/>
              <a:t>Copyright © 2024 Julian Frattini. </a:t>
            </a:r>
          </a:p>
          <a:p>
            <a:pPr algn="r"/>
            <a:r>
              <a:rPr lang="en-US" sz="1400" dirty="0"/>
              <a:t>The source code is licensed under the </a:t>
            </a:r>
            <a:r>
              <a:rPr lang="en-SE" sz="1400" dirty="0">
                <a:hlinkClick r:id="rId3"/>
              </a:rPr>
              <a:t>Apache License 2.0</a:t>
            </a:r>
            <a:r>
              <a:rPr lang="en-US" sz="1400" dirty="0"/>
              <a:t>.</a:t>
            </a:r>
          </a:p>
          <a:p>
            <a:pPr algn="r"/>
            <a:r>
              <a:rPr lang="en-US" sz="1400" dirty="0"/>
              <a:t>This presentation is licensed under</a:t>
            </a:r>
            <a:r>
              <a:rPr lang="en-SE" sz="1400" dirty="0"/>
              <a:t> </a:t>
            </a:r>
            <a:r>
              <a:rPr lang="de-DE" sz="1400" dirty="0">
                <a:hlinkClick r:id="rId4"/>
              </a:rPr>
              <a:t>CC BY-NC-SA 4.0</a:t>
            </a:r>
            <a:r>
              <a:rPr lang="en-SE" sz="1400"/>
              <a:t>.</a:t>
            </a:r>
            <a:endParaRPr lang="en-US" sz="1400" dirty="0"/>
          </a:p>
        </p:txBody>
      </p:sp>
      <p:sp>
        <p:nvSpPr>
          <p:cNvPr id="11" name="TextBox 10">
            <a:extLst>
              <a:ext uri="{FF2B5EF4-FFF2-40B4-BE49-F238E27FC236}">
                <a16:creationId xmlns:a16="http://schemas.microsoft.com/office/drawing/2014/main" id="{6B4FEC08-B055-2789-C209-ABB868E097B3}"/>
              </a:ext>
            </a:extLst>
          </p:cNvPr>
          <p:cNvSpPr txBox="1"/>
          <p:nvPr/>
        </p:nvSpPr>
        <p:spPr>
          <a:xfrm>
            <a:off x="1866348" y="5398220"/>
            <a:ext cx="4488986" cy="923330"/>
          </a:xfrm>
          <a:prstGeom prst="rect">
            <a:avLst/>
          </a:prstGeom>
          <a:noFill/>
        </p:spPr>
        <p:txBody>
          <a:bodyPr wrap="none" rtlCol="0">
            <a:spAutoFit/>
          </a:bodyPr>
          <a:lstStyle/>
          <a:p>
            <a:r>
              <a:rPr lang="en-US" noProof="0" dirty="0"/>
              <a:t>Julian </a:t>
            </a:r>
            <a:r>
              <a:rPr lang="en-US" b="1" noProof="0" dirty="0"/>
              <a:t>Frattini</a:t>
            </a:r>
            <a:r>
              <a:rPr lang="en-US" noProof="0" dirty="0"/>
              <a:t>, Ph.D.</a:t>
            </a:r>
          </a:p>
          <a:p>
            <a:r>
              <a:rPr lang="en-US" noProof="0" dirty="0">
                <a:solidFill>
                  <a:schemeClr val="tx1">
                    <a:lumMod val="50000"/>
                    <a:lumOff val="50000"/>
                  </a:schemeClr>
                </a:solidFill>
              </a:rPr>
              <a:t>Chalmers University of Technology, Sweden</a:t>
            </a:r>
          </a:p>
          <a:p>
            <a:r>
              <a:rPr lang="en-US" noProof="0" dirty="0">
                <a:hlinkClick r:id="rId5"/>
              </a:rPr>
              <a:t>https://julianfrattini.github.io/</a:t>
            </a:r>
            <a:r>
              <a:rPr lang="en-US" noProof="0" dirty="0"/>
              <a:t> </a:t>
            </a:r>
          </a:p>
        </p:txBody>
      </p:sp>
      <p:sp>
        <p:nvSpPr>
          <p:cNvPr id="12" name="Oval 11">
            <a:extLst>
              <a:ext uri="{FF2B5EF4-FFF2-40B4-BE49-F238E27FC236}">
                <a16:creationId xmlns:a16="http://schemas.microsoft.com/office/drawing/2014/main" id="{492E9483-BEDA-C731-B7BE-ABF0A5518387}"/>
              </a:ext>
            </a:extLst>
          </p:cNvPr>
          <p:cNvSpPr/>
          <p:nvPr/>
        </p:nvSpPr>
        <p:spPr>
          <a:xfrm>
            <a:off x="715676" y="5303105"/>
            <a:ext cx="1080000" cy="1080000"/>
          </a:xfrm>
          <a:prstGeom prst="ellipse">
            <a:avLst/>
          </a:prstGeom>
          <a:blipFill dpi="0" rotWithShape="1">
            <a:blip r:embed="rId6">
              <a:extLst>
                <a:ext uri="{28A0092B-C50C-407E-A947-70E740481C1C}">
                  <a14:useLocalDpi xmlns:a14="http://schemas.microsoft.com/office/drawing/2010/main" val="0"/>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5" name="Group 4">
            <a:extLst>
              <a:ext uri="{FF2B5EF4-FFF2-40B4-BE49-F238E27FC236}">
                <a16:creationId xmlns:a16="http://schemas.microsoft.com/office/drawing/2014/main" id="{579BBCC2-696B-4EE1-4FE4-2E4411C0F251}"/>
              </a:ext>
            </a:extLst>
          </p:cNvPr>
          <p:cNvGrpSpPr/>
          <p:nvPr/>
        </p:nvGrpSpPr>
        <p:grpSpPr>
          <a:xfrm>
            <a:off x="7967672" y="5336710"/>
            <a:ext cx="3533766" cy="444265"/>
            <a:chOff x="7967672" y="5336710"/>
            <a:chExt cx="3533766" cy="444265"/>
          </a:xfrm>
        </p:grpSpPr>
        <p:grpSp>
          <p:nvGrpSpPr>
            <p:cNvPr id="6" name="Group 5">
              <a:extLst>
                <a:ext uri="{FF2B5EF4-FFF2-40B4-BE49-F238E27FC236}">
                  <a16:creationId xmlns:a16="http://schemas.microsoft.com/office/drawing/2014/main" id="{ACCE08EC-E9A8-C79D-4C75-8B6A9708A3FB}"/>
                </a:ext>
              </a:extLst>
            </p:cNvPr>
            <p:cNvGrpSpPr/>
            <p:nvPr/>
          </p:nvGrpSpPr>
          <p:grpSpPr>
            <a:xfrm>
              <a:off x="7967672" y="5370114"/>
              <a:ext cx="3508652" cy="369332"/>
              <a:chOff x="7896235" y="5406529"/>
              <a:chExt cx="3508652" cy="369332"/>
            </a:xfrm>
          </p:grpSpPr>
          <p:pic>
            <p:nvPicPr>
              <p:cNvPr id="8" name="Picture 7" descr="A black background with a black square&#10;&#10;Description automatically generated with medium confidence">
                <a:extLst>
                  <a:ext uri="{FF2B5EF4-FFF2-40B4-BE49-F238E27FC236}">
                    <a16:creationId xmlns:a16="http://schemas.microsoft.com/office/drawing/2014/main" id="{865BDC89-0957-2AB2-5308-DA5566DFCF2B}"/>
                  </a:ext>
                </a:extLst>
              </p:cNvPr>
              <p:cNvPicPr>
                <a:picLocks noChangeAspect="1"/>
              </p:cNvPicPr>
              <p:nvPr/>
            </p:nvPicPr>
            <p:blipFill>
              <a:blip r:embed="rId7"/>
              <a:stretch>
                <a:fillRect/>
              </a:stretch>
            </p:blipFill>
            <p:spPr>
              <a:xfrm>
                <a:off x="7896235" y="5422888"/>
                <a:ext cx="344101" cy="344101"/>
              </a:xfrm>
              <a:prstGeom prst="rect">
                <a:avLst/>
              </a:prstGeom>
            </p:spPr>
          </p:pic>
          <p:sp>
            <p:nvSpPr>
              <p:cNvPr id="9" name="TextBox 8">
                <a:extLst>
                  <a:ext uri="{FF2B5EF4-FFF2-40B4-BE49-F238E27FC236}">
                    <a16:creationId xmlns:a16="http://schemas.microsoft.com/office/drawing/2014/main" id="{045BE95E-49F9-842E-7B93-BDF91E09C7D3}"/>
                  </a:ext>
                </a:extLst>
              </p:cNvPr>
              <p:cNvSpPr txBox="1"/>
              <p:nvPr/>
            </p:nvSpPr>
            <p:spPr>
              <a:xfrm>
                <a:off x="8240336" y="5406529"/>
                <a:ext cx="2356992" cy="369332"/>
              </a:xfrm>
              <a:prstGeom prst="rect">
                <a:avLst/>
              </a:prstGeom>
              <a:noFill/>
            </p:spPr>
            <p:txBody>
              <a:bodyPr wrap="none" rtlCol="0">
                <a:spAutoFit/>
              </a:bodyPr>
              <a:lstStyle/>
              <a:p>
                <a:r>
                  <a:rPr lang="en-US" noProof="0" dirty="0" err="1"/>
                  <a:t>JulianFrattini</a:t>
                </a:r>
                <a:r>
                  <a:rPr lang="en-US" noProof="0" dirty="0"/>
                  <a:t>/</a:t>
                </a:r>
                <a:r>
                  <a:rPr lang="en-US" b="1" noProof="0" dirty="0"/>
                  <a:t>bda4sci</a:t>
                </a:r>
              </a:p>
            </p:txBody>
          </p:sp>
          <p:sp>
            <p:nvSpPr>
              <p:cNvPr id="10" name="Rectangle: Rounded Corners 9">
                <a:extLst>
                  <a:ext uri="{FF2B5EF4-FFF2-40B4-BE49-F238E27FC236}">
                    <a16:creationId xmlns:a16="http://schemas.microsoft.com/office/drawing/2014/main" id="{1E137170-F20B-D8DB-3856-32092459914B}"/>
                  </a:ext>
                </a:extLst>
              </p:cNvPr>
              <p:cNvSpPr/>
              <p:nvPr/>
            </p:nvSpPr>
            <p:spPr>
              <a:xfrm>
                <a:off x="10668000" y="5456392"/>
                <a:ext cx="736887" cy="279245"/>
              </a:xfrm>
              <a:prstGeom prst="roundRect">
                <a:avLst>
                  <a:gd name="adj" fmla="val 50000"/>
                </a:avLst>
              </a:prstGeom>
              <a:noFill/>
              <a:ln w="19050">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lumMod val="65000"/>
                        <a:lumOff val="35000"/>
                      </a:schemeClr>
                    </a:solidFill>
                  </a:rPr>
                  <a:t>Public</a:t>
                </a:r>
              </a:p>
            </p:txBody>
          </p:sp>
        </p:grpSp>
        <p:sp>
          <p:nvSpPr>
            <p:cNvPr id="7" name="Rectangle 6">
              <a:hlinkClick r:id="rId8"/>
              <a:extLst>
                <a:ext uri="{FF2B5EF4-FFF2-40B4-BE49-F238E27FC236}">
                  <a16:creationId xmlns:a16="http://schemas.microsoft.com/office/drawing/2014/main" id="{1523D628-A64F-768E-A385-ECA75D071607}"/>
                </a:ext>
              </a:extLst>
            </p:cNvPr>
            <p:cNvSpPr/>
            <p:nvPr/>
          </p:nvSpPr>
          <p:spPr>
            <a:xfrm>
              <a:off x="7967672" y="5336710"/>
              <a:ext cx="3533766" cy="44426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Tree>
    <p:extLst>
      <p:ext uri="{BB962C8B-B14F-4D97-AF65-F5344CB8AC3E}">
        <p14:creationId xmlns:p14="http://schemas.microsoft.com/office/powerpoint/2010/main" val="19421989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74580F-ED55-3FF2-B66E-877B0F10212E}"/>
            </a:ext>
          </a:extLst>
        </p:cNvPr>
        <p:cNvGrpSpPr/>
        <p:nvPr/>
      </p:nvGrpSpPr>
      <p:grpSpPr>
        <a:xfrm>
          <a:off x="0" y="0"/>
          <a:ext cx="0" cy="0"/>
          <a:chOff x="0" y="0"/>
          <a:chExt cx="0" cy="0"/>
        </a:xfrm>
      </p:grpSpPr>
      <p:graphicFrame>
        <p:nvGraphicFramePr>
          <p:cNvPr id="19" name="Table 18">
            <a:extLst>
              <a:ext uri="{FF2B5EF4-FFF2-40B4-BE49-F238E27FC236}">
                <a16:creationId xmlns:a16="http://schemas.microsoft.com/office/drawing/2014/main" id="{6887FF04-F839-4D8E-FD3B-3D1EAE1D8E8F}"/>
              </a:ext>
            </a:extLst>
          </p:cNvPr>
          <p:cNvGraphicFramePr>
            <a:graphicFrameLocks noGrp="1"/>
          </p:cNvGraphicFramePr>
          <p:nvPr/>
        </p:nvGraphicFramePr>
        <p:xfrm>
          <a:off x="838200" y="4688540"/>
          <a:ext cx="5879408" cy="1010920"/>
        </p:xfrm>
        <a:graphic>
          <a:graphicData uri="http://schemas.openxmlformats.org/drawingml/2006/table">
            <a:tbl>
              <a:tblPr firstRow="1" bandRow="1">
                <a:tableStyleId>{2D5ABB26-0587-4C30-8999-92F81FD0307C}</a:tableStyleId>
              </a:tblPr>
              <a:tblGrid>
                <a:gridCol w="1645920">
                  <a:extLst>
                    <a:ext uri="{9D8B030D-6E8A-4147-A177-3AD203B41FA5}">
                      <a16:colId xmlns:a16="http://schemas.microsoft.com/office/drawing/2014/main" val="434286969"/>
                    </a:ext>
                  </a:extLst>
                </a:gridCol>
                <a:gridCol w="4233488">
                  <a:extLst>
                    <a:ext uri="{9D8B030D-6E8A-4147-A177-3AD203B41FA5}">
                      <a16:colId xmlns:a16="http://schemas.microsoft.com/office/drawing/2014/main" val="2345229328"/>
                    </a:ext>
                  </a:extLst>
                </a:gridCol>
              </a:tblGrid>
              <a:tr h="370840">
                <a:tc>
                  <a:txBody>
                    <a:bodyPr/>
                    <a:lstStyle/>
                    <a:p>
                      <a:r>
                        <a:rPr lang="en-SE" dirty="0">
                          <a:solidFill>
                            <a:schemeClr val="tx1">
                              <a:lumMod val="75000"/>
                              <a:lumOff val="25000"/>
                            </a:schemeClr>
                          </a:solidFill>
                        </a:rPr>
                        <a:t>2025 - 2029</a:t>
                      </a:r>
                    </a:p>
                  </a:txBody>
                  <a:tcPr/>
                </a:tc>
                <a:tc>
                  <a:txBody>
                    <a:bodyPr/>
                    <a:lstStyle/>
                    <a:p>
                      <a:r>
                        <a:rPr lang="en-SE" b="1" dirty="0"/>
                        <a:t>Postdoctoral Researcher</a:t>
                      </a:r>
                    </a:p>
                  </a:txBody>
                  <a:tcPr/>
                </a:tc>
                <a:extLst>
                  <a:ext uri="{0D108BD9-81ED-4DB2-BD59-A6C34878D82A}">
                    <a16:rowId xmlns:a16="http://schemas.microsoft.com/office/drawing/2014/main" val="2723834046"/>
                  </a:ext>
                </a:extLst>
              </a:tr>
              <a:tr h="370840">
                <a:tc>
                  <a:txBody>
                    <a:bodyPr/>
                    <a:lstStyle/>
                    <a:p>
                      <a:endParaRPr lang="en-SE" dirty="0"/>
                    </a:p>
                  </a:txBody>
                  <a:tcPr/>
                </a:tc>
                <a:tc>
                  <a:txBody>
                    <a:bodyPr/>
                    <a:lstStyle/>
                    <a:p>
                      <a:r>
                        <a:rPr lang="en-SE" dirty="0"/>
                        <a:t>       Chalmers University of Technology, Gothenburg, Sweden</a:t>
                      </a:r>
                    </a:p>
                  </a:txBody>
                  <a:tcPr/>
                </a:tc>
                <a:extLst>
                  <a:ext uri="{0D108BD9-81ED-4DB2-BD59-A6C34878D82A}">
                    <a16:rowId xmlns:a16="http://schemas.microsoft.com/office/drawing/2014/main" val="4280634408"/>
                  </a:ext>
                </a:extLst>
              </a:tr>
            </a:tbl>
          </a:graphicData>
        </a:graphic>
      </p:graphicFrame>
      <p:graphicFrame>
        <p:nvGraphicFramePr>
          <p:cNvPr id="10" name="Table 9">
            <a:extLst>
              <a:ext uri="{FF2B5EF4-FFF2-40B4-BE49-F238E27FC236}">
                <a16:creationId xmlns:a16="http://schemas.microsoft.com/office/drawing/2014/main" id="{46366708-4D77-633E-1F07-8D1E2E36FCCE}"/>
              </a:ext>
            </a:extLst>
          </p:cNvPr>
          <p:cNvGraphicFramePr>
            <a:graphicFrameLocks noGrp="1"/>
          </p:cNvGraphicFramePr>
          <p:nvPr/>
        </p:nvGraphicFramePr>
        <p:xfrm>
          <a:off x="838200" y="3677620"/>
          <a:ext cx="5879408" cy="1010920"/>
        </p:xfrm>
        <a:graphic>
          <a:graphicData uri="http://schemas.openxmlformats.org/drawingml/2006/table">
            <a:tbl>
              <a:tblPr firstRow="1" bandRow="1">
                <a:tableStyleId>{2D5ABB26-0587-4C30-8999-92F81FD0307C}</a:tableStyleId>
              </a:tblPr>
              <a:tblGrid>
                <a:gridCol w="1645920">
                  <a:extLst>
                    <a:ext uri="{9D8B030D-6E8A-4147-A177-3AD203B41FA5}">
                      <a16:colId xmlns:a16="http://schemas.microsoft.com/office/drawing/2014/main" val="1134552804"/>
                    </a:ext>
                  </a:extLst>
                </a:gridCol>
                <a:gridCol w="4233488">
                  <a:extLst>
                    <a:ext uri="{9D8B030D-6E8A-4147-A177-3AD203B41FA5}">
                      <a16:colId xmlns:a16="http://schemas.microsoft.com/office/drawing/2014/main" val="3504993548"/>
                    </a:ext>
                  </a:extLst>
                </a:gridCol>
              </a:tblGrid>
              <a:tr h="370840">
                <a:tc>
                  <a:txBody>
                    <a:bodyPr/>
                    <a:lstStyle/>
                    <a:p>
                      <a:r>
                        <a:rPr lang="de-DE" dirty="0">
                          <a:solidFill>
                            <a:schemeClr val="tx1">
                              <a:lumMod val="75000"/>
                              <a:lumOff val="25000"/>
                            </a:schemeClr>
                          </a:solidFill>
                        </a:rPr>
                        <a:t>2020 – 2025</a:t>
                      </a:r>
                      <a:endParaRPr lang="en-SE" dirty="0">
                        <a:solidFill>
                          <a:schemeClr val="tx1">
                            <a:lumMod val="75000"/>
                            <a:lumOff val="25000"/>
                          </a:schemeClr>
                        </a:solidFill>
                      </a:endParaRPr>
                    </a:p>
                  </a:txBody>
                  <a:tcPr/>
                </a:tc>
                <a:tc>
                  <a:txBody>
                    <a:bodyPr/>
                    <a:lstStyle/>
                    <a:p>
                      <a:r>
                        <a:rPr lang="de-DE" b="1" dirty="0" err="1"/>
                        <a:t>Ph.D</a:t>
                      </a:r>
                      <a:r>
                        <a:rPr lang="de-DE" b="1" dirty="0"/>
                        <a:t>. </a:t>
                      </a:r>
                      <a:r>
                        <a:rPr lang="en-SE" b="1" dirty="0"/>
                        <a:t>Student</a:t>
                      </a:r>
                    </a:p>
                  </a:txBody>
                  <a:tcPr/>
                </a:tc>
                <a:extLst>
                  <a:ext uri="{0D108BD9-81ED-4DB2-BD59-A6C34878D82A}">
                    <a16:rowId xmlns:a16="http://schemas.microsoft.com/office/drawing/2014/main" val="1993555051"/>
                  </a:ext>
                </a:extLst>
              </a:tr>
              <a:tr h="370840">
                <a:tc>
                  <a:txBody>
                    <a:bodyPr/>
                    <a:lstStyle/>
                    <a:p>
                      <a:endParaRPr lang="en-SE" dirty="0"/>
                    </a:p>
                  </a:txBody>
                  <a:tcPr/>
                </a:tc>
                <a:tc>
                  <a:txBody>
                    <a:bodyPr/>
                    <a:lstStyle/>
                    <a:p>
                      <a:r>
                        <a:rPr lang="en-SE" dirty="0"/>
                        <a:t>       </a:t>
                      </a:r>
                      <a:r>
                        <a:rPr lang="de-DE" dirty="0"/>
                        <a:t>Blekinge Institute of Technolog</a:t>
                      </a:r>
                      <a:r>
                        <a:rPr lang="en-SE" dirty="0"/>
                        <a:t>y, Karlskrona, Sweden</a:t>
                      </a:r>
                    </a:p>
                  </a:txBody>
                  <a:tcPr/>
                </a:tc>
                <a:extLst>
                  <a:ext uri="{0D108BD9-81ED-4DB2-BD59-A6C34878D82A}">
                    <a16:rowId xmlns:a16="http://schemas.microsoft.com/office/drawing/2014/main" val="3597508422"/>
                  </a:ext>
                </a:extLst>
              </a:tr>
            </a:tbl>
          </a:graphicData>
        </a:graphic>
      </p:graphicFrame>
      <p:sp>
        <p:nvSpPr>
          <p:cNvPr id="2" name="Title 1">
            <a:extLst>
              <a:ext uri="{FF2B5EF4-FFF2-40B4-BE49-F238E27FC236}">
                <a16:creationId xmlns:a16="http://schemas.microsoft.com/office/drawing/2014/main" id="{1AC37F8E-97C2-0940-AAFB-2EC2FDFC9613}"/>
              </a:ext>
            </a:extLst>
          </p:cNvPr>
          <p:cNvSpPr>
            <a:spLocks noGrp="1"/>
          </p:cNvSpPr>
          <p:nvPr>
            <p:ph type="title"/>
          </p:nvPr>
        </p:nvSpPr>
        <p:spPr/>
        <p:txBody>
          <a:bodyPr/>
          <a:lstStyle/>
          <a:p>
            <a:r>
              <a:rPr lang="en-SE" b="1" dirty="0"/>
              <a:t>Julian Frattini </a:t>
            </a:r>
            <a:r>
              <a:rPr lang="en-SE" dirty="0">
                <a:solidFill>
                  <a:schemeClr val="tx1">
                    <a:lumMod val="65000"/>
                    <a:lumOff val="35000"/>
                  </a:schemeClr>
                </a:solidFill>
              </a:rPr>
              <a:t>// about me</a:t>
            </a:r>
          </a:p>
        </p:txBody>
      </p:sp>
      <p:sp>
        <p:nvSpPr>
          <p:cNvPr id="4" name="Date Placeholder 3">
            <a:extLst>
              <a:ext uri="{FF2B5EF4-FFF2-40B4-BE49-F238E27FC236}">
                <a16:creationId xmlns:a16="http://schemas.microsoft.com/office/drawing/2014/main" id="{4DE965F7-F09D-38ED-BE61-1CFF0E432C79}"/>
              </a:ext>
            </a:extLst>
          </p:cNvPr>
          <p:cNvSpPr>
            <a:spLocks noGrp="1"/>
          </p:cNvSpPr>
          <p:nvPr>
            <p:ph type="dt" sz="half" idx="10"/>
          </p:nvPr>
        </p:nvSpPr>
        <p:spPr/>
        <p:txBody>
          <a:bodyPr/>
          <a:lstStyle/>
          <a:p>
            <a:r>
              <a:rPr lang="de-DE"/>
              <a:t>20.01.2026</a:t>
            </a:r>
            <a:endParaRPr lang="en-US"/>
          </a:p>
        </p:txBody>
      </p:sp>
      <p:sp>
        <p:nvSpPr>
          <p:cNvPr id="5" name="Footer Placeholder 4">
            <a:extLst>
              <a:ext uri="{FF2B5EF4-FFF2-40B4-BE49-F238E27FC236}">
                <a16:creationId xmlns:a16="http://schemas.microsoft.com/office/drawing/2014/main" id="{B39A5E70-06AE-AC6E-11C3-23CA2B179A9F}"/>
              </a:ext>
            </a:extLst>
          </p:cNvPr>
          <p:cNvSpPr>
            <a:spLocks noGrp="1"/>
          </p:cNvSpPr>
          <p:nvPr>
            <p:ph type="ftr" sz="quarter" idx="11"/>
          </p:nvPr>
        </p:nvSpPr>
        <p:spPr/>
        <p:txBody>
          <a:bodyPr/>
          <a:lstStyle/>
          <a:p>
            <a:r>
              <a:rPr lang="en-US"/>
              <a:t>Introduction to Statistical Causal Inference</a:t>
            </a:r>
          </a:p>
        </p:txBody>
      </p:sp>
      <p:sp>
        <p:nvSpPr>
          <p:cNvPr id="6" name="Slide Number Placeholder 5">
            <a:extLst>
              <a:ext uri="{FF2B5EF4-FFF2-40B4-BE49-F238E27FC236}">
                <a16:creationId xmlns:a16="http://schemas.microsoft.com/office/drawing/2014/main" id="{B2F2DD34-7021-927C-56E5-3B5BF05828C2}"/>
              </a:ext>
            </a:extLst>
          </p:cNvPr>
          <p:cNvSpPr>
            <a:spLocks noGrp="1"/>
          </p:cNvSpPr>
          <p:nvPr>
            <p:ph type="sldNum" sz="quarter" idx="12"/>
          </p:nvPr>
        </p:nvSpPr>
        <p:spPr/>
        <p:txBody>
          <a:bodyPr/>
          <a:lstStyle/>
          <a:p>
            <a:fld id="{0FA2D919-C0DE-4971-A2E9-D4AC0031921B}" type="slidenum">
              <a:rPr lang="en-US" smtClean="0"/>
              <a:t>2</a:t>
            </a:fld>
            <a:endParaRPr lang="en-US"/>
          </a:p>
        </p:txBody>
      </p:sp>
      <p:pic>
        <p:nvPicPr>
          <p:cNvPr id="1026" name="Picture 2">
            <a:extLst>
              <a:ext uri="{FF2B5EF4-FFF2-40B4-BE49-F238E27FC236}">
                <a16:creationId xmlns:a16="http://schemas.microsoft.com/office/drawing/2014/main" id="{68E563E7-04C6-C304-B5CD-EE0EB468DB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10200" y="1690688"/>
            <a:ext cx="5943600" cy="4546096"/>
          </a:xfrm>
          <a:prstGeom prst="rect">
            <a:avLst/>
          </a:prstGeom>
          <a:noFill/>
          <a:extLst>
            <a:ext uri="{909E8E84-426E-40DD-AFC4-6F175D3DCCD1}">
              <a14:hiddenFill xmlns:a14="http://schemas.microsoft.com/office/drawing/2010/main">
                <a:solidFill>
                  <a:srgbClr val="FFFFFF"/>
                </a:solidFill>
              </a14:hiddenFill>
            </a:ext>
          </a:extLst>
        </p:spPr>
      </p:pic>
      <p:grpSp>
        <p:nvGrpSpPr>
          <p:cNvPr id="12" name="Group 11">
            <a:extLst>
              <a:ext uri="{FF2B5EF4-FFF2-40B4-BE49-F238E27FC236}">
                <a16:creationId xmlns:a16="http://schemas.microsoft.com/office/drawing/2014/main" id="{73F3E252-0C3D-965D-5D69-EABFC1CE6924}"/>
              </a:ext>
            </a:extLst>
          </p:cNvPr>
          <p:cNvGrpSpPr/>
          <p:nvPr/>
        </p:nvGrpSpPr>
        <p:grpSpPr>
          <a:xfrm>
            <a:off x="7997469" y="4290009"/>
            <a:ext cx="432000" cy="540000"/>
            <a:chOff x="7861738" y="4290009"/>
            <a:chExt cx="432000" cy="540000"/>
          </a:xfrm>
        </p:grpSpPr>
        <p:sp>
          <p:nvSpPr>
            <p:cNvPr id="11" name="Flowchart: Off-page Connector 10">
              <a:extLst>
                <a:ext uri="{FF2B5EF4-FFF2-40B4-BE49-F238E27FC236}">
                  <a16:creationId xmlns:a16="http://schemas.microsoft.com/office/drawing/2014/main" id="{3616D55A-30B0-6C25-1CF7-B5251E619118}"/>
                </a:ext>
              </a:extLst>
            </p:cNvPr>
            <p:cNvSpPr/>
            <p:nvPr/>
          </p:nvSpPr>
          <p:spPr>
            <a:xfrm>
              <a:off x="7861738" y="4290009"/>
              <a:ext cx="432000" cy="540000"/>
            </a:xfrm>
            <a:prstGeom prst="flowChartOffpageConnector">
              <a:avLst/>
            </a:prstGeom>
            <a:solidFill>
              <a:schemeClr val="bg1">
                <a:lumMod val="95000"/>
              </a:schemeClr>
            </a:soli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1032" name="Picture 8" descr="Technical University of Munich (TUM) · GitHub">
              <a:extLst>
                <a:ext uri="{FF2B5EF4-FFF2-40B4-BE49-F238E27FC236}">
                  <a16:creationId xmlns:a16="http://schemas.microsoft.com/office/drawing/2014/main" id="{77A0EC93-D59A-9CC7-246A-352C8D138E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97738" y="4330490"/>
              <a:ext cx="360000" cy="36000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3" name="Group 12">
            <a:extLst>
              <a:ext uri="{FF2B5EF4-FFF2-40B4-BE49-F238E27FC236}">
                <a16:creationId xmlns:a16="http://schemas.microsoft.com/office/drawing/2014/main" id="{2CEC1183-2048-1D7C-2FBF-C2DAC1DEA60E}"/>
              </a:ext>
            </a:extLst>
          </p:cNvPr>
          <p:cNvGrpSpPr/>
          <p:nvPr/>
        </p:nvGrpSpPr>
        <p:grpSpPr>
          <a:xfrm>
            <a:off x="8240357" y="3420226"/>
            <a:ext cx="432000" cy="540000"/>
            <a:chOff x="7861738" y="4290009"/>
            <a:chExt cx="432000" cy="540000"/>
          </a:xfrm>
        </p:grpSpPr>
        <p:sp>
          <p:nvSpPr>
            <p:cNvPr id="14" name="Flowchart: Off-page Connector 13">
              <a:extLst>
                <a:ext uri="{FF2B5EF4-FFF2-40B4-BE49-F238E27FC236}">
                  <a16:creationId xmlns:a16="http://schemas.microsoft.com/office/drawing/2014/main" id="{16691E3F-7E77-891E-6AB9-E67592F63DFE}"/>
                </a:ext>
              </a:extLst>
            </p:cNvPr>
            <p:cNvSpPr/>
            <p:nvPr/>
          </p:nvSpPr>
          <p:spPr>
            <a:xfrm>
              <a:off x="7861738" y="4290009"/>
              <a:ext cx="432000" cy="540000"/>
            </a:xfrm>
            <a:prstGeom prst="flowChartOffpageConnector">
              <a:avLst/>
            </a:prstGeom>
            <a:solidFill>
              <a:schemeClr val="bg1">
                <a:lumMod val="95000"/>
              </a:schemeClr>
            </a:soli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15" name="Picture 8">
              <a:extLst>
                <a:ext uri="{FF2B5EF4-FFF2-40B4-BE49-F238E27FC236}">
                  <a16:creationId xmlns:a16="http://schemas.microsoft.com/office/drawing/2014/main" id="{53B07F32-5A28-86CB-2D82-0FB33794116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p:blipFill>
          <p:spPr bwMode="auto">
            <a:xfrm>
              <a:off x="7897738" y="4331990"/>
              <a:ext cx="360000" cy="35700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6" name="Group 15">
            <a:extLst>
              <a:ext uri="{FF2B5EF4-FFF2-40B4-BE49-F238E27FC236}">
                <a16:creationId xmlns:a16="http://schemas.microsoft.com/office/drawing/2014/main" id="{4BFBC387-11D8-5C1A-76F0-20215A6AE410}"/>
              </a:ext>
            </a:extLst>
          </p:cNvPr>
          <p:cNvGrpSpPr/>
          <p:nvPr/>
        </p:nvGrpSpPr>
        <p:grpSpPr>
          <a:xfrm>
            <a:off x="8006557" y="3297320"/>
            <a:ext cx="432000" cy="540000"/>
            <a:chOff x="7861738" y="4290009"/>
            <a:chExt cx="432000" cy="540000"/>
          </a:xfrm>
        </p:grpSpPr>
        <p:sp>
          <p:nvSpPr>
            <p:cNvPr id="17" name="Flowchart: Off-page Connector 16">
              <a:extLst>
                <a:ext uri="{FF2B5EF4-FFF2-40B4-BE49-F238E27FC236}">
                  <a16:creationId xmlns:a16="http://schemas.microsoft.com/office/drawing/2014/main" id="{81545D64-F598-C2E1-481A-1B0538C08545}"/>
                </a:ext>
              </a:extLst>
            </p:cNvPr>
            <p:cNvSpPr/>
            <p:nvPr/>
          </p:nvSpPr>
          <p:spPr>
            <a:xfrm>
              <a:off x="7861738" y="4290009"/>
              <a:ext cx="432000" cy="540000"/>
            </a:xfrm>
            <a:prstGeom prst="flowChartOffpageConnector">
              <a:avLst/>
            </a:prstGeom>
            <a:solidFill>
              <a:schemeClr val="bg1">
                <a:lumMod val="95000"/>
              </a:schemeClr>
            </a:soli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18" name="Picture 8">
              <a:extLst>
                <a:ext uri="{FF2B5EF4-FFF2-40B4-BE49-F238E27FC236}">
                  <a16:creationId xmlns:a16="http://schemas.microsoft.com/office/drawing/2014/main" id="{01C1D325-D280-4EB8-F0DB-0857E84553A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p:blipFill>
          <p:spPr bwMode="auto">
            <a:xfrm>
              <a:off x="7897738" y="4340465"/>
              <a:ext cx="360000" cy="340050"/>
            </a:xfrm>
            <a:prstGeom prst="rect">
              <a:avLst/>
            </a:prstGeom>
            <a:noFill/>
            <a:extLst>
              <a:ext uri="{909E8E84-426E-40DD-AFC4-6F175D3DCCD1}">
                <a14:hiddenFill xmlns:a14="http://schemas.microsoft.com/office/drawing/2010/main">
                  <a:solidFill>
                    <a:srgbClr val="FFFFFF"/>
                  </a:solidFill>
                </a14:hiddenFill>
              </a:ext>
            </a:extLst>
          </p:spPr>
        </p:pic>
      </p:grpSp>
      <p:graphicFrame>
        <p:nvGraphicFramePr>
          <p:cNvPr id="3" name="Table 2">
            <a:extLst>
              <a:ext uri="{FF2B5EF4-FFF2-40B4-BE49-F238E27FC236}">
                <a16:creationId xmlns:a16="http://schemas.microsoft.com/office/drawing/2014/main" id="{18D7D87C-7A74-8471-AF45-41E6B530CD24}"/>
              </a:ext>
            </a:extLst>
          </p:cNvPr>
          <p:cNvGraphicFramePr>
            <a:graphicFrameLocks noGrp="1"/>
          </p:cNvGraphicFramePr>
          <p:nvPr/>
        </p:nvGraphicFramePr>
        <p:xfrm>
          <a:off x="838200" y="2676825"/>
          <a:ext cx="5879408" cy="1010920"/>
        </p:xfrm>
        <a:graphic>
          <a:graphicData uri="http://schemas.openxmlformats.org/drawingml/2006/table">
            <a:tbl>
              <a:tblPr firstRow="1" bandRow="1">
                <a:tableStyleId>{2D5ABB26-0587-4C30-8999-92F81FD0307C}</a:tableStyleId>
              </a:tblPr>
              <a:tblGrid>
                <a:gridCol w="1645920">
                  <a:extLst>
                    <a:ext uri="{9D8B030D-6E8A-4147-A177-3AD203B41FA5}">
                      <a16:colId xmlns:a16="http://schemas.microsoft.com/office/drawing/2014/main" val="2739994605"/>
                    </a:ext>
                  </a:extLst>
                </a:gridCol>
                <a:gridCol w="4233488">
                  <a:extLst>
                    <a:ext uri="{9D8B030D-6E8A-4147-A177-3AD203B41FA5}">
                      <a16:colId xmlns:a16="http://schemas.microsoft.com/office/drawing/2014/main" val="1592377813"/>
                    </a:ext>
                  </a:extLst>
                </a:gridCol>
              </a:tblGrid>
              <a:tr h="370840">
                <a:tc>
                  <a:txBody>
                    <a:bodyPr/>
                    <a:lstStyle/>
                    <a:p>
                      <a:r>
                        <a:rPr lang="en-SE" dirty="0">
                          <a:solidFill>
                            <a:schemeClr val="tx1">
                              <a:lumMod val="75000"/>
                              <a:lumOff val="25000"/>
                            </a:schemeClr>
                          </a:solidFill>
                        </a:rPr>
                        <a:t>2013 - 2019</a:t>
                      </a:r>
                    </a:p>
                  </a:txBody>
                  <a:tcPr/>
                </a:tc>
                <a:tc>
                  <a:txBody>
                    <a:bodyPr/>
                    <a:lstStyle/>
                    <a:p>
                      <a:r>
                        <a:rPr lang="en-SE" b="1" dirty="0"/>
                        <a:t>Bachelor &amp; Master of Science</a:t>
                      </a:r>
                    </a:p>
                  </a:txBody>
                  <a:tcPr/>
                </a:tc>
                <a:extLst>
                  <a:ext uri="{0D108BD9-81ED-4DB2-BD59-A6C34878D82A}">
                    <a16:rowId xmlns:a16="http://schemas.microsoft.com/office/drawing/2014/main" val="2960308708"/>
                  </a:ext>
                </a:extLst>
              </a:tr>
              <a:tr h="370840">
                <a:tc>
                  <a:txBody>
                    <a:bodyPr/>
                    <a:lstStyle/>
                    <a:p>
                      <a:endParaRPr lang="en-SE" dirty="0"/>
                    </a:p>
                  </a:txBody>
                  <a:tcPr/>
                </a:tc>
                <a:tc>
                  <a:txBody>
                    <a:bodyPr/>
                    <a:lstStyle/>
                    <a:p>
                      <a:r>
                        <a:rPr lang="en-SE" dirty="0"/>
                        <a:t>       Technical University of Munich, </a:t>
                      </a:r>
                    </a:p>
                    <a:p>
                      <a:r>
                        <a:rPr lang="en-SE" dirty="0"/>
                        <a:t>Munich, Germany</a:t>
                      </a:r>
                    </a:p>
                  </a:txBody>
                  <a:tcPr/>
                </a:tc>
                <a:extLst>
                  <a:ext uri="{0D108BD9-81ED-4DB2-BD59-A6C34878D82A}">
                    <a16:rowId xmlns:a16="http://schemas.microsoft.com/office/drawing/2014/main" val="1621492810"/>
                  </a:ext>
                </a:extLst>
              </a:tr>
            </a:tbl>
          </a:graphicData>
        </a:graphic>
      </p:graphicFrame>
      <p:pic>
        <p:nvPicPr>
          <p:cNvPr id="7" name="Picture 2">
            <a:hlinkClick r:id="rId6"/>
            <a:extLst>
              <a:ext uri="{FF2B5EF4-FFF2-40B4-BE49-F238E27FC236}">
                <a16:creationId xmlns:a16="http://schemas.microsoft.com/office/drawing/2014/main" id="{DB2B0C08-2A84-11A3-6A4C-3C0A0A91002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94957" y="3154680"/>
            <a:ext cx="304800" cy="18097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hlinkClick r:id="rId8"/>
            <a:extLst>
              <a:ext uri="{FF2B5EF4-FFF2-40B4-BE49-F238E27FC236}">
                <a16:creationId xmlns:a16="http://schemas.microsoft.com/office/drawing/2014/main" id="{0B92AB39-7C43-0596-FD59-99A1D237192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494957" y="4083770"/>
            <a:ext cx="304800" cy="30480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a:hlinkClick r:id="rId8"/>
            <a:extLst>
              <a:ext uri="{FF2B5EF4-FFF2-40B4-BE49-F238E27FC236}">
                <a16:creationId xmlns:a16="http://schemas.microsoft.com/office/drawing/2014/main" id="{A1691886-7E95-45FD-7D98-C69CF0B2FEC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496650" y="5089610"/>
            <a:ext cx="304800" cy="304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165395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47"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250"/>
                                        <p:tgtEl>
                                          <p:spTgt spid="12"/>
                                        </p:tgtEl>
                                      </p:cBhvr>
                                    </p:animEffect>
                                    <p:anim calcmode="lin" valueType="num">
                                      <p:cBhvr>
                                        <p:cTn id="12" dur="250" fill="hold"/>
                                        <p:tgtEl>
                                          <p:spTgt spid="12"/>
                                        </p:tgtEl>
                                        <p:attrNameLst>
                                          <p:attrName>ppt_x</p:attrName>
                                        </p:attrNameLst>
                                      </p:cBhvr>
                                      <p:tavLst>
                                        <p:tav tm="0">
                                          <p:val>
                                            <p:strVal val="#ppt_x"/>
                                          </p:val>
                                        </p:tav>
                                        <p:tav tm="100000">
                                          <p:val>
                                            <p:strVal val="#ppt_x"/>
                                          </p:val>
                                        </p:tav>
                                      </p:tavLst>
                                    </p:anim>
                                    <p:anim calcmode="lin" valueType="num">
                                      <p:cBhvr>
                                        <p:cTn id="13" dur="25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10"/>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1028"/>
                                        </p:tgtEl>
                                        <p:attrNameLst>
                                          <p:attrName>style.visibility</p:attrName>
                                        </p:attrNameLst>
                                      </p:cBhvr>
                                      <p:to>
                                        <p:strVal val="visible"/>
                                      </p:to>
                                    </p:set>
                                  </p:childTnLst>
                                </p:cTn>
                              </p:par>
                              <p:par>
                                <p:cTn id="20" presetID="47" presetClass="entr" presetSubtype="0" fill="hold"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250"/>
                                        <p:tgtEl>
                                          <p:spTgt spid="13"/>
                                        </p:tgtEl>
                                      </p:cBhvr>
                                    </p:animEffect>
                                    <p:anim calcmode="lin" valueType="num">
                                      <p:cBhvr>
                                        <p:cTn id="23" dur="250" fill="hold"/>
                                        <p:tgtEl>
                                          <p:spTgt spid="13"/>
                                        </p:tgtEl>
                                        <p:attrNameLst>
                                          <p:attrName>ppt_x</p:attrName>
                                        </p:attrNameLst>
                                      </p:cBhvr>
                                      <p:tavLst>
                                        <p:tav tm="0">
                                          <p:val>
                                            <p:strVal val="#ppt_x"/>
                                          </p:val>
                                        </p:tav>
                                        <p:tav tm="100000">
                                          <p:val>
                                            <p:strVal val="#ppt_x"/>
                                          </p:val>
                                        </p:tav>
                                      </p:tavLst>
                                    </p:anim>
                                    <p:anim calcmode="lin" valueType="num">
                                      <p:cBhvr>
                                        <p:cTn id="24" dur="25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9"/>
                                        </p:tgtEl>
                                        <p:attrNameLst>
                                          <p:attrName>style.visibility</p:attrName>
                                        </p:attrNameLst>
                                      </p:cBhvr>
                                      <p:to>
                                        <p:strVal val="visible"/>
                                      </p:to>
                                    </p:set>
                                  </p:childTnLst>
                                </p:cTn>
                              </p:par>
                              <p:par>
                                <p:cTn id="31" presetID="47" presetClass="entr" presetSubtype="0" fill="hold" nodeType="with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250"/>
                                        <p:tgtEl>
                                          <p:spTgt spid="16"/>
                                        </p:tgtEl>
                                      </p:cBhvr>
                                    </p:animEffect>
                                    <p:anim calcmode="lin" valueType="num">
                                      <p:cBhvr>
                                        <p:cTn id="34" dur="250" fill="hold"/>
                                        <p:tgtEl>
                                          <p:spTgt spid="16"/>
                                        </p:tgtEl>
                                        <p:attrNameLst>
                                          <p:attrName>ppt_x</p:attrName>
                                        </p:attrNameLst>
                                      </p:cBhvr>
                                      <p:tavLst>
                                        <p:tav tm="0">
                                          <p:val>
                                            <p:strVal val="#ppt_x"/>
                                          </p:val>
                                        </p:tav>
                                        <p:tav tm="100000">
                                          <p:val>
                                            <p:strVal val="#ppt_x"/>
                                          </p:val>
                                        </p:tav>
                                      </p:tavLst>
                                    </p:anim>
                                    <p:anim calcmode="lin" valueType="num">
                                      <p:cBhvr>
                                        <p:cTn id="35" dur="25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85037-967D-2E5C-D288-71C4BF1EA7F7}"/>
              </a:ext>
            </a:extLst>
          </p:cNvPr>
          <p:cNvSpPr>
            <a:spLocks noGrp="1"/>
          </p:cNvSpPr>
          <p:nvPr>
            <p:ph type="title"/>
          </p:nvPr>
        </p:nvSpPr>
        <p:spPr/>
        <p:txBody>
          <a:bodyPr/>
          <a:lstStyle/>
          <a:p>
            <a:r>
              <a:rPr lang="en-SE" b="1" dirty="0"/>
              <a:t>Julian Frattini </a:t>
            </a:r>
            <a:r>
              <a:rPr lang="en-SE" dirty="0">
                <a:solidFill>
                  <a:schemeClr val="tx1">
                    <a:lumMod val="65000"/>
                    <a:lumOff val="35000"/>
                  </a:schemeClr>
                </a:solidFill>
              </a:rPr>
              <a:t>// about my research</a:t>
            </a:r>
            <a:endParaRPr lang="en-SE" dirty="0"/>
          </a:p>
        </p:txBody>
      </p:sp>
      <p:sp>
        <p:nvSpPr>
          <p:cNvPr id="4" name="Date Placeholder 3">
            <a:extLst>
              <a:ext uri="{FF2B5EF4-FFF2-40B4-BE49-F238E27FC236}">
                <a16:creationId xmlns:a16="http://schemas.microsoft.com/office/drawing/2014/main" id="{69E3E6FF-11D6-0515-FB73-130181AF9E19}"/>
              </a:ext>
            </a:extLst>
          </p:cNvPr>
          <p:cNvSpPr>
            <a:spLocks noGrp="1"/>
          </p:cNvSpPr>
          <p:nvPr>
            <p:ph type="dt" sz="half" idx="10"/>
          </p:nvPr>
        </p:nvSpPr>
        <p:spPr/>
        <p:txBody>
          <a:bodyPr/>
          <a:lstStyle/>
          <a:p>
            <a:r>
              <a:rPr lang="de-DE"/>
              <a:t>20.01.2026</a:t>
            </a:r>
            <a:endParaRPr lang="en-US"/>
          </a:p>
        </p:txBody>
      </p:sp>
      <p:sp>
        <p:nvSpPr>
          <p:cNvPr id="5" name="Footer Placeholder 4">
            <a:extLst>
              <a:ext uri="{FF2B5EF4-FFF2-40B4-BE49-F238E27FC236}">
                <a16:creationId xmlns:a16="http://schemas.microsoft.com/office/drawing/2014/main" id="{79546E2E-0842-EB26-9D7D-CAA8067EB26E}"/>
              </a:ext>
            </a:extLst>
          </p:cNvPr>
          <p:cNvSpPr>
            <a:spLocks noGrp="1"/>
          </p:cNvSpPr>
          <p:nvPr>
            <p:ph type="ftr" sz="quarter" idx="11"/>
          </p:nvPr>
        </p:nvSpPr>
        <p:spPr/>
        <p:txBody>
          <a:bodyPr/>
          <a:lstStyle/>
          <a:p>
            <a:r>
              <a:rPr lang="en-US"/>
              <a:t>Introduction to Statistical Causal Inference</a:t>
            </a:r>
          </a:p>
        </p:txBody>
      </p:sp>
      <p:sp>
        <p:nvSpPr>
          <p:cNvPr id="6" name="Slide Number Placeholder 5">
            <a:extLst>
              <a:ext uri="{FF2B5EF4-FFF2-40B4-BE49-F238E27FC236}">
                <a16:creationId xmlns:a16="http://schemas.microsoft.com/office/drawing/2014/main" id="{6ED6595F-D83A-CFEA-CFC4-052D2057A5F7}"/>
              </a:ext>
            </a:extLst>
          </p:cNvPr>
          <p:cNvSpPr>
            <a:spLocks noGrp="1"/>
          </p:cNvSpPr>
          <p:nvPr>
            <p:ph type="sldNum" sz="quarter" idx="12"/>
          </p:nvPr>
        </p:nvSpPr>
        <p:spPr/>
        <p:txBody>
          <a:bodyPr/>
          <a:lstStyle/>
          <a:p>
            <a:fld id="{0FA2D919-C0DE-4971-A2E9-D4AC0031921B}" type="slidenum">
              <a:rPr lang="en-US" smtClean="0"/>
              <a:t>3</a:t>
            </a:fld>
            <a:endParaRPr lang="en-US"/>
          </a:p>
        </p:txBody>
      </p:sp>
      <p:grpSp>
        <p:nvGrpSpPr>
          <p:cNvPr id="15" name="Group 14">
            <a:extLst>
              <a:ext uri="{FF2B5EF4-FFF2-40B4-BE49-F238E27FC236}">
                <a16:creationId xmlns:a16="http://schemas.microsoft.com/office/drawing/2014/main" id="{CB1C7CDA-093D-E147-88FD-69F6F3C5BCCA}"/>
              </a:ext>
            </a:extLst>
          </p:cNvPr>
          <p:cNvGrpSpPr/>
          <p:nvPr/>
        </p:nvGrpSpPr>
        <p:grpSpPr>
          <a:xfrm>
            <a:off x="1276577" y="1986844"/>
            <a:ext cx="9638845" cy="1260000"/>
            <a:chOff x="408267" y="1986844"/>
            <a:chExt cx="9638845" cy="1260000"/>
          </a:xfrm>
          <a:effectLst>
            <a:outerShdw blurRad="50800" dist="38100" dir="2700000" algn="tl" rotWithShape="0">
              <a:prstClr val="black">
                <a:alpha val="40000"/>
              </a:prstClr>
            </a:outerShdw>
          </a:effectLst>
        </p:grpSpPr>
        <p:sp>
          <p:nvSpPr>
            <p:cNvPr id="7" name="Rectangle: Rounded Corners 6">
              <a:extLst>
                <a:ext uri="{FF2B5EF4-FFF2-40B4-BE49-F238E27FC236}">
                  <a16:creationId xmlns:a16="http://schemas.microsoft.com/office/drawing/2014/main" id="{C7818B4D-625B-89FD-E9AB-64A277DFE531}"/>
                </a:ext>
              </a:extLst>
            </p:cNvPr>
            <p:cNvSpPr/>
            <p:nvPr/>
          </p:nvSpPr>
          <p:spPr>
            <a:xfrm>
              <a:off x="948268" y="1986844"/>
              <a:ext cx="9098844" cy="1260000"/>
            </a:xfrm>
            <a:prstGeom prst="roundRect">
              <a:avLst/>
            </a:prstGeom>
            <a:solidFill>
              <a:schemeClr val="accent6">
                <a:lumMod val="7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612000" rtlCol="0" anchor="ctr"/>
            <a:lstStyle/>
            <a:p>
              <a:r>
                <a:rPr lang="en-SE" sz="2400" b="1" dirty="0"/>
                <a:t>Good-enough Requirements Engineering</a:t>
              </a:r>
            </a:p>
            <a:p>
              <a:r>
                <a:rPr lang="en-SE" dirty="0"/>
                <a:t>Quantifying the effect of quality factors of requirements artifacts on downstream software development activities</a:t>
              </a:r>
            </a:p>
          </p:txBody>
        </p:sp>
        <p:grpSp>
          <p:nvGrpSpPr>
            <p:cNvPr id="14" name="Group 13">
              <a:extLst>
                <a:ext uri="{FF2B5EF4-FFF2-40B4-BE49-F238E27FC236}">
                  <a16:creationId xmlns:a16="http://schemas.microsoft.com/office/drawing/2014/main" id="{5190160C-E7B1-DDE8-DA9F-ADBFEB30256B}"/>
                </a:ext>
              </a:extLst>
            </p:cNvPr>
            <p:cNvGrpSpPr/>
            <p:nvPr/>
          </p:nvGrpSpPr>
          <p:grpSpPr>
            <a:xfrm>
              <a:off x="408267" y="2076844"/>
              <a:ext cx="1080000" cy="1080000"/>
              <a:chOff x="408267" y="2076844"/>
              <a:chExt cx="1080000" cy="1080000"/>
            </a:xfrm>
          </p:grpSpPr>
          <p:sp>
            <p:nvSpPr>
              <p:cNvPr id="10" name="Oval 9">
                <a:extLst>
                  <a:ext uri="{FF2B5EF4-FFF2-40B4-BE49-F238E27FC236}">
                    <a16:creationId xmlns:a16="http://schemas.microsoft.com/office/drawing/2014/main" id="{34A6AC9B-8FCD-E23C-EBFE-A5E24AB1E61B}"/>
                  </a:ext>
                </a:extLst>
              </p:cNvPr>
              <p:cNvSpPr/>
              <p:nvPr/>
            </p:nvSpPr>
            <p:spPr>
              <a:xfrm>
                <a:off x="408267" y="2076844"/>
                <a:ext cx="1080000" cy="1080000"/>
              </a:xfrm>
              <a:prstGeom prst="ellipse">
                <a:avLst/>
              </a:prstGeom>
              <a:solidFill>
                <a:schemeClr val="bg1">
                  <a:lumMod val="8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12" name="Graphic 11" descr="Document with solid fill">
                <a:extLst>
                  <a:ext uri="{FF2B5EF4-FFF2-40B4-BE49-F238E27FC236}">
                    <a16:creationId xmlns:a16="http://schemas.microsoft.com/office/drawing/2014/main" id="{0904D603-1F42-91FB-75D8-B2158A29FD2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91067" y="2159644"/>
                <a:ext cx="914400" cy="914400"/>
              </a:xfrm>
              <a:prstGeom prst="rect">
                <a:avLst/>
              </a:prstGeom>
            </p:spPr>
          </p:pic>
        </p:grpSp>
      </p:grpSp>
      <p:grpSp>
        <p:nvGrpSpPr>
          <p:cNvPr id="16" name="Group 15">
            <a:extLst>
              <a:ext uri="{FF2B5EF4-FFF2-40B4-BE49-F238E27FC236}">
                <a16:creationId xmlns:a16="http://schemas.microsoft.com/office/drawing/2014/main" id="{588F82A9-163D-D4B3-1EF5-C59B5CEBC245}"/>
              </a:ext>
            </a:extLst>
          </p:cNvPr>
          <p:cNvGrpSpPr/>
          <p:nvPr/>
        </p:nvGrpSpPr>
        <p:grpSpPr>
          <a:xfrm>
            <a:off x="1276577" y="3419563"/>
            <a:ext cx="9638845" cy="1260000"/>
            <a:chOff x="408267" y="1986844"/>
            <a:chExt cx="9638845" cy="1260000"/>
          </a:xfrm>
          <a:effectLst>
            <a:outerShdw blurRad="50800" dist="38100" dir="2700000" algn="tl" rotWithShape="0">
              <a:prstClr val="black">
                <a:alpha val="40000"/>
              </a:prstClr>
            </a:outerShdw>
          </a:effectLst>
        </p:grpSpPr>
        <p:sp>
          <p:nvSpPr>
            <p:cNvPr id="17" name="Rectangle: Rounded Corners 16">
              <a:extLst>
                <a:ext uri="{FF2B5EF4-FFF2-40B4-BE49-F238E27FC236}">
                  <a16:creationId xmlns:a16="http://schemas.microsoft.com/office/drawing/2014/main" id="{F6F454A6-8162-5633-812E-A06ABE7510E6}"/>
                </a:ext>
              </a:extLst>
            </p:cNvPr>
            <p:cNvSpPr/>
            <p:nvPr/>
          </p:nvSpPr>
          <p:spPr>
            <a:xfrm>
              <a:off x="948268" y="1986844"/>
              <a:ext cx="9098844" cy="1260000"/>
            </a:xfrm>
            <a:prstGeom prst="roundRect">
              <a:avLst/>
            </a:prstGeom>
            <a:solidFill>
              <a:schemeClr val="accent6">
                <a:lumMod val="60000"/>
                <a:lumOff val="4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612000" rtlCol="0" anchor="ctr"/>
            <a:lstStyle/>
            <a:p>
              <a:r>
                <a:rPr lang="en-SE" sz="2400" b="1" dirty="0"/>
                <a:t>Hybrid-AI Software Engineering</a:t>
              </a:r>
            </a:p>
            <a:p>
              <a:r>
                <a:rPr lang="en-SE" dirty="0"/>
                <a:t>Understanding the interface between traditional and data-driven software components in a hybrid software system.</a:t>
              </a:r>
            </a:p>
          </p:txBody>
        </p:sp>
        <p:grpSp>
          <p:nvGrpSpPr>
            <p:cNvPr id="18" name="Group 17">
              <a:extLst>
                <a:ext uri="{FF2B5EF4-FFF2-40B4-BE49-F238E27FC236}">
                  <a16:creationId xmlns:a16="http://schemas.microsoft.com/office/drawing/2014/main" id="{3DC7CC7A-4CBC-5FF8-E382-B410D1257C11}"/>
                </a:ext>
              </a:extLst>
            </p:cNvPr>
            <p:cNvGrpSpPr/>
            <p:nvPr/>
          </p:nvGrpSpPr>
          <p:grpSpPr>
            <a:xfrm>
              <a:off x="408267" y="2076844"/>
              <a:ext cx="1080000" cy="1080000"/>
              <a:chOff x="408267" y="2076844"/>
              <a:chExt cx="1080000" cy="1080000"/>
            </a:xfrm>
          </p:grpSpPr>
          <p:sp>
            <p:nvSpPr>
              <p:cNvPr id="19" name="Oval 18">
                <a:extLst>
                  <a:ext uri="{FF2B5EF4-FFF2-40B4-BE49-F238E27FC236}">
                    <a16:creationId xmlns:a16="http://schemas.microsoft.com/office/drawing/2014/main" id="{DCADBDAE-E0C8-01E9-C511-FC7F903182ED}"/>
                  </a:ext>
                </a:extLst>
              </p:cNvPr>
              <p:cNvSpPr/>
              <p:nvPr/>
            </p:nvSpPr>
            <p:spPr>
              <a:xfrm>
                <a:off x="408267" y="2076844"/>
                <a:ext cx="1080000" cy="1080000"/>
              </a:xfrm>
              <a:prstGeom prst="ellipse">
                <a:avLst/>
              </a:prstGeom>
              <a:solidFill>
                <a:schemeClr val="bg1">
                  <a:lumMod val="8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20" name="Graphic 19" descr="Processor with solid fill">
                <a:extLst>
                  <a:ext uri="{FF2B5EF4-FFF2-40B4-BE49-F238E27FC236}">
                    <a16:creationId xmlns:a16="http://schemas.microsoft.com/office/drawing/2014/main" id="{8FD70865-05D0-AA12-7CAE-762EE8F8B57D}"/>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491067" y="2159644"/>
                <a:ext cx="914400" cy="914400"/>
              </a:xfrm>
              <a:prstGeom prst="rect">
                <a:avLst/>
              </a:prstGeom>
            </p:spPr>
          </p:pic>
        </p:grpSp>
      </p:grpSp>
      <p:grpSp>
        <p:nvGrpSpPr>
          <p:cNvPr id="21" name="Group 20">
            <a:extLst>
              <a:ext uri="{FF2B5EF4-FFF2-40B4-BE49-F238E27FC236}">
                <a16:creationId xmlns:a16="http://schemas.microsoft.com/office/drawing/2014/main" id="{ACFE6CF8-D622-C925-2C40-1EBD1F2D0B5A}"/>
              </a:ext>
            </a:extLst>
          </p:cNvPr>
          <p:cNvGrpSpPr/>
          <p:nvPr/>
        </p:nvGrpSpPr>
        <p:grpSpPr>
          <a:xfrm>
            <a:off x="1276577" y="4852282"/>
            <a:ext cx="9638845" cy="1260000"/>
            <a:chOff x="408267" y="1986844"/>
            <a:chExt cx="9638845" cy="1260000"/>
          </a:xfrm>
          <a:effectLst>
            <a:outerShdw blurRad="50800" dist="38100" dir="2700000" algn="tl" rotWithShape="0">
              <a:prstClr val="black">
                <a:alpha val="40000"/>
              </a:prstClr>
            </a:outerShdw>
          </a:effectLst>
        </p:grpSpPr>
        <p:sp>
          <p:nvSpPr>
            <p:cNvPr id="22" name="Rectangle: Rounded Corners 21">
              <a:extLst>
                <a:ext uri="{FF2B5EF4-FFF2-40B4-BE49-F238E27FC236}">
                  <a16:creationId xmlns:a16="http://schemas.microsoft.com/office/drawing/2014/main" id="{0ED6F147-67CC-2A01-D039-3B34AFFF58B3}"/>
                </a:ext>
              </a:extLst>
            </p:cNvPr>
            <p:cNvSpPr/>
            <p:nvPr/>
          </p:nvSpPr>
          <p:spPr>
            <a:xfrm>
              <a:off x="948268" y="1986844"/>
              <a:ext cx="9098844" cy="1260000"/>
            </a:xfrm>
            <a:prstGeom prst="roundRect">
              <a:avLst/>
            </a:prstGeom>
            <a:solidFill>
              <a:schemeClr val="accent6">
                <a:lumMod val="40000"/>
                <a:lumOff val="6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612000" rtlCol="0" anchor="ctr"/>
            <a:lstStyle/>
            <a:p>
              <a:r>
                <a:rPr lang="en-SE" sz="2400" b="1" dirty="0">
                  <a:solidFill>
                    <a:schemeClr val="tx1"/>
                  </a:solidFill>
                </a:rPr>
                <a:t>Software Engineering Research Methodology</a:t>
              </a:r>
            </a:p>
            <a:p>
              <a:r>
                <a:rPr lang="en-SE" dirty="0">
                  <a:solidFill>
                    <a:schemeClr val="tx1"/>
                  </a:solidFill>
                </a:rPr>
                <a:t>Improving the methods used in research to produce more rigorous and valid conclusions</a:t>
              </a:r>
            </a:p>
          </p:txBody>
        </p:sp>
        <p:grpSp>
          <p:nvGrpSpPr>
            <p:cNvPr id="23" name="Group 22">
              <a:extLst>
                <a:ext uri="{FF2B5EF4-FFF2-40B4-BE49-F238E27FC236}">
                  <a16:creationId xmlns:a16="http://schemas.microsoft.com/office/drawing/2014/main" id="{CB8453AF-CBAE-29C5-C288-CF92FD2B470C}"/>
                </a:ext>
              </a:extLst>
            </p:cNvPr>
            <p:cNvGrpSpPr/>
            <p:nvPr/>
          </p:nvGrpSpPr>
          <p:grpSpPr>
            <a:xfrm>
              <a:off x="408267" y="2076844"/>
              <a:ext cx="1080000" cy="1080000"/>
              <a:chOff x="408267" y="2076844"/>
              <a:chExt cx="1080000" cy="1080000"/>
            </a:xfrm>
          </p:grpSpPr>
          <p:sp>
            <p:nvSpPr>
              <p:cNvPr id="24" name="Oval 23">
                <a:extLst>
                  <a:ext uri="{FF2B5EF4-FFF2-40B4-BE49-F238E27FC236}">
                    <a16:creationId xmlns:a16="http://schemas.microsoft.com/office/drawing/2014/main" id="{B578FB96-B30D-D783-B246-5A27B977AEF3}"/>
                  </a:ext>
                </a:extLst>
              </p:cNvPr>
              <p:cNvSpPr/>
              <p:nvPr/>
            </p:nvSpPr>
            <p:spPr>
              <a:xfrm>
                <a:off x="408267" y="2076844"/>
                <a:ext cx="1080000" cy="1080000"/>
              </a:xfrm>
              <a:prstGeom prst="ellipse">
                <a:avLst/>
              </a:prstGeom>
              <a:solidFill>
                <a:schemeClr val="bg1">
                  <a:lumMod val="8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25" name="Graphic 24" descr="Flask with solid fill">
                <a:extLst>
                  <a:ext uri="{FF2B5EF4-FFF2-40B4-BE49-F238E27FC236}">
                    <a16:creationId xmlns:a16="http://schemas.microsoft.com/office/drawing/2014/main" id="{619F5E63-99E6-C6A1-0B57-02684E17FCD1}"/>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491067" y="2159644"/>
                <a:ext cx="914400" cy="914400"/>
              </a:xfrm>
              <a:prstGeom prst="rect">
                <a:avLst/>
              </a:prstGeom>
            </p:spPr>
          </p:pic>
        </p:grpSp>
      </p:grpSp>
    </p:spTree>
    <p:extLst>
      <p:ext uri="{BB962C8B-B14F-4D97-AF65-F5344CB8AC3E}">
        <p14:creationId xmlns:p14="http://schemas.microsoft.com/office/powerpoint/2010/main" val="24554016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anim calcmode="lin" valueType="num">
                                      <p:cBhvr>
                                        <p:cTn id="8" dur="500" fill="hold"/>
                                        <p:tgtEl>
                                          <p:spTgt spid="15"/>
                                        </p:tgtEl>
                                        <p:attrNameLst>
                                          <p:attrName>ppt_x</p:attrName>
                                        </p:attrNameLst>
                                      </p:cBhvr>
                                      <p:tavLst>
                                        <p:tav tm="0">
                                          <p:val>
                                            <p:strVal val="#ppt_x"/>
                                          </p:val>
                                        </p:tav>
                                        <p:tav tm="100000">
                                          <p:val>
                                            <p:strVal val="#ppt_x"/>
                                          </p:val>
                                        </p:tav>
                                      </p:tavLst>
                                    </p:anim>
                                    <p:anim calcmode="lin" valueType="num">
                                      <p:cBhvr>
                                        <p:cTn id="9" dur="5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6"/>
                                        </p:tgtEl>
                                        <p:attrNameLst>
                                          <p:attrName>style.visibility</p:attrName>
                                        </p:attrNameLst>
                                      </p:cBhvr>
                                      <p:to>
                                        <p:strVal val="visible"/>
                                      </p:to>
                                    </p:set>
                                    <p:animEffect transition="in" filter="fade">
                                      <p:cBhvr>
                                        <p:cTn id="14" dur="500"/>
                                        <p:tgtEl>
                                          <p:spTgt spid="16"/>
                                        </p:tgtEl>
                                      </p:cBhvr>
                                    </p:animEffect>
                                    <p:anim calcmode="lin" valueType="num">
                                      <p:cBhvr>
                                        <p:cTn id="15" dur="500" fill="hold"/>
                                        <p:tgtEl>
                                          <p:spTgt spid="16"/>
                                        </p:tgtEl>
                                        <p:attrNameLst>
                                          <p:attrName>ppt_x</p:attrName>
                                        </p:attrNameLst>
                                      </p:cBhvr>
                                      <p:tavLst>
                                        <p:tav tm="0">
                                          <p:val>
                                            <p:strVal val="#ppt_x"/>
                                          </p:val>
                                        </p:tav>
                                        <p:tav tm="100000">
                                          <p:val>
                                            <p:strVal val="#ppt_x"/>
                                          </p:val>
                                        </p:tav>
                                      </p:tavLst>
                                    </p:anim>
                                    <p:anim calcmode="lin" valueType="num">
                                      <p:cBhvr>
                                        <p:cTn id="16" dur="5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fade">
                                      <p:cBhvr>
                                        <p:cTn id="21" dur="500"/>
                                        <p:tgtEl>
                                          <p:spTgt spid="21"/>
                                        </p:tgtEl>
                                      </p:cBhvr>
                                    </p:animEffect>
                                    <p:anim calcmode="lin" valueType="num">
                                      <p:cBhvr>
                                        <p:cTn id="22" dur="500" fill="hold"/>
                                        <p:tgtEl>
                                          <p:spTgt spid="21"/>
                                        </p:tgtEl>
                                        <p:attrNameLst>
                                          <p:attrName>ppt_x</p:attrName>
                                        </p:attrNameLst>
                                      </p:cBhvr>
                                      <p:tavLst>
                                        <p:tav tm="0">
                                          <p:val>
                                            <p:strVal val="#ppt_x"/>
                                          </p:val>
                                        </p:tav>
                                        <p:tav tm="100000">
                                          <p:val>
                                            <p:strVal val="#ppt_x"/>
                                          </p:val>
                                        </p:tav>
                                      </p:tavLst>
                                    </p:anim>
                                    <p:anim calcmode="lin" valueType="num">
                                      <p:cBhvr>
                                        <p:cTn id="23" dur="500" fill="hold"/>
                                        <p:tgtEl>
                                          <p:spTgt spid="2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FE5E9469-D3A8-63B3-E325-12A1E764501D}"/>
              </a:ext>
            </a:extLst>
          </p:cNvPr>
          <p:cNvSpPr>
            <a:spLocks noGrp="1"/>
          </p:cNvSpPr>
          <p:nvPr>
            <p:ph type="title"/>
          </p:nvPr>
        </p:nvSpPr>
        <p:spPr/>
        <p:txBody>
          <a:bodyPr/>
          <a:lstStyle/>
          <a:p>
            <a:r>
              <a:rPr lang="en-SE" dirty="0"/>
              <a:t>Motivation</a:t>
            </a:r>
          </a:p>
        </p:txBody>
      </p:sp>
      <p:sp>
        <p:nvSpPr>
          <p:cNvPr id="7" name="Text Placeholder 6">
            <a:extLst>
              <a:ext uri="{FF2B5EF4-FFF2-40B4-BE49-F238E27FC236}">
                <a16:creationId xmlns:a16="http://schemas.microsoft.com/office/drawing/2014/main" id="{6FACAA28-F1DF-7A93-B49A-A9351380C2F8}"/>
              </a:ext>
            </a:extLst>
          </p:cNvPr>
          <p:cNvSpPr>
            <a:spLocks noGrp="1"/>
          </p:cNvSpPr>
          <p:nvPr>
            <p:ph type="body" idx="1"/>
          </p:nvPr>
        </p:nvSpPr>
        <p:spPr/>
        <p:txBody>
          <a:bodyPr/>
          <a:lstStyle/>
          <a:p>
            <a:r>
              <a:rPr lang="en-SE" dirty="0"/>
              <a:t>T</a:t>
            </a:r>
            <a:r>
              <a:rPr lang="de-DE" dirty="0"/>
              <a:t>h</a:t>
            </a:r>
            <a:r>
              <a:rPr lang="en-SE" dirty="0"/>
              <a:t>e Point of Science</a:t>
            </a:r>
          </a:p>
        </p:txBody>
      </p:sp>
      <p:sp>
        <p:nvSpPr>
          <p:cNvPr id="4" name="Date Placeholder 3">
            <a:extLst>
              <a:ext uri="{FF2B5EF4-FFF2-40B4-BE49-F238E27FC236}">
                <a16:creationId xmlns:a16="http://schemas.microsoft.com/office/drawing/2014/main" id="{BBA1E362-F4DE-7023-341C-83A9D456C781}"/>
              </a:ext>
            </a:extLst>
          </p:cNvPr>
          <p:cNvSpPr>
            <a:spLocks noGrp="1"/>
          </p:cNvSpPr>
          <p:nvPr>
            <p:ph type="dt" sz="half" idx="10"/>
          </p:nvPr>
        </p:nvSpPr>
        <p:spPr/>
        <p:txBody>
          <a:bodyPr/>
          <a:lstStyle/>
          <a:p>
            <a:fld id="{A1C06950-82F8-45F4-A28D-9FBF8CAE29F7}" type="datetime1">
              <a:rPr lang="de-DE" smtClean="0"/>
              <a:t>17.06.2026</a:t>
            </a:fld>
            <a:endParaRPr lang="en-SE"/>
          </a:p>
        </p:txBody>
      </p:sp>
      <p:sp>
        <p:nvSpPr>
          <p:cNvPr id="5" name="Slide Number Placeholder 4">
            <a:extLst>
              <a:ext uri="{FF2B5EF4-FFF2-40B4-BE49-F238E27FC236}">
                <a16:creationId xmlns:a16="http://schemas.microsoft.com/office/drawing/2014/main" id="{E1EE6094-0D5B-E1B4-0A30-E349879AFB20}"/>
              </a:ext>
            </a:extLst>
          </p:cNvPr>
          <p:cNvSpPr>
            <a:spLocks noGrp="1"/>
          </p:cNvSpPr>
          <p:nvPr>
            <p:ph type="sldNum" sz="quarter" idx="12"/>
          </p:nvPr>
        </p:nvSpPr>
        <p:spPr/>
        <p:txBody>
          <a:bodyPr/>
          <a:lstStyle/>
          <a:p>
            <a:fld id="{271ECC92-9CDE-4EB3-B1C5-F46B9E1FA3C1}" type="slidenum">
              <a:rPr lang="en-SE" smtClean="0"/>
              <a:t>4</a:t>
            </a:fld>
            <a:endParaRPr lang="en-SE"/>
          </a:p>
        </p:txBody>
      </p:sp>
    </p:spTree>
    <p:extLst>
      <p:ext uri="{BB962C8B-B14F-4D97-AF65-F5344CB8AC3E}">
        <p14:creationId xmlns:p14="http://schemas.microsoft.com/office/powerpoint/2010/main" val="361631664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4496814-E6E8-AF59-48EA-2C88428A6AFE}"/>
              </a:ext>
            </a:extLst>
          </p:cNvPr>
          <p:cNvSpPr>
            <a:spLocks noGrp="1"/>
          </p:cNvSpPr>
          <p:nvPr>
            <p:ph type="title"/>
          </p:nvPr>
        </p:nvSpPr>
        <p:spPr/>
        <p:txBody>
          <a:bodyPr/>
          <a:lstStyle/>
          <a:p>
            <a:r>
              <a:rPr lang="en-US" noProof="0" dirty="0"/>
              <a:t>State-of-the-art</a:t>
            </a:r>
          </a:p>
        </p:txBody>
      </p:sp>
      <p:sp>
        <p:nvSpPr>
          <p:cNvPr id="4" name="Date Placeholder 3">
            <a:extLst>
              <a:ext uri="{FF2B5EF4-FFF2-40B4-BE49-F238E27FC236}">
                <a16:creationId xmlns:a16="http://schemas.microsoft.com/office/drawing/2014/main" id="{F68BFACD-3B4A-CB5E-645E-3446E72AE50C}"/>
              </a:ext>
            </a:extLst>
          </p:cNvPr>
          <p:cNvSpPr>
            <a:spLocks noGrp="1"/>
          </p:cNvSpPr>
          <p:nvPr>
            <p:ph type="dt" sz="half" idx="10"/>
          </p:nvPr>
        </p:nvSpPr>
        <p:spPr/>
        <p:txBody>
          <a:bodyPr/>
          <a:lstStyle/>
          <a:p>
            <a:fld id="{B1F82A23-AB26-4EA9-9EE4-DB6F9A4796C6}" type="datetime1">
              <a:rPr lang="en-US" noProof="0" smtClean="0"/>
              <a:t>6/17/2026</a:t>
            </a:fld>
            <a:endParaRPr lang="en-US" noProof="0" dirty="0"/>
          </a:p>
        </p:txBody>
      </p:sp>
      <p:sp>
        <p:nvSpPr>
          <p:cNvPr id="5" name="Footer Placeholder 4">
            <a:extLst>
              <a:ext uri="{FF2B5EF4-FFF2-40B4-BE49-F238E27FC236}">
                <a16:creationId xmlns:a16="http://schemas.microsoft.com/office/drawing/2014/main" id="{0C36527D-ED42-3A78-13DC-DBB30CC06716}"/>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3D17868A-84F4-286C-CD7B-0C1A6006F032}"/>
              </a:ext>
            </a:extLst>
          </p:cNvPr>
          <p:cNvSpPr>
            <a:spLocks noGrp="1"/>
          </p:cNvSpPr>
          <p:nvPr>
            <p:ph type="sldNum" sz="quarter" idx="12"/>
          </p:nvPr>
        </p:nvSpPr>
        <p:spPr/>
        <p:txBody>
          <a:bodyPr/>
          <a:lstStyle/>
          <a:p>
            <a:fld id="{0FA2D919-C0DE-4971-A2E9-D4AC0031921B}" type="slidenum">
              <a:rPr lang="en-US" noProof="0" smtClean="0"/>
              <a:t>5</a:t>
            </a:fld>
            <a:endParaRPr lang="en-US" noProof="0" dirty="0"/>
          </a:p>
        </p:txBody>
      </p:sp>
      <p:pic>
        <p:nvPicPr>
          <p:cNvPr id="3" name="Picture 2">
            <a:extLst>
              <a:ext uri="{FF2B5EF4-FFF2-40B4-BE49-F238E27FC236}">
                <a16:creationId xmlns:a16="http://schemas.microsoft.com/office/drawing/2014/main" id="{6B183B19-313A-7363-40DB-219F7656B34D}"/>
              </a:ext>
            </a:extLst>
          </p:cNvPr>
          <p:cNvPicPr>
            <a:picLocks noChangeAspect="1"/>
          </p:cNvPicPr>
          <p:nvPr/>
        </p:nvPicPr>
        <p:blipFill>
          <a:blip r:embed="rId3"/>
          <a:stretch>
            <a:fillRect/>
          </a:stretch>
        </p:blipFill>
        <p:spPr>
          <a:xfrm>
            <a:off x="838200" y="1884891"/>
            <a:ext cx="5010150" cy="2343150"/>
          </a:xfrm>
          <a:prstGeom prst="rect">
            <a:avLst/>
          </a:prstGeom>
          <a:effectLst>
            <a:outerShdw blurRad="63500" sx="102000" sy="102000" algn="ctr" rotWithShape="0">
              <a:prstClr val="black">
                <a:alpha val="40000"/>
              </a:prstClr>
            </a:outerShdw>
          </a:effectLst>
        </p:spPr>
      </p:pic>
      <p:sp>
        <p:nvSpPr>
          <p:cNvPr id="9" name="Rectangle 8">
            <a:extLst>
              <a:ext uri="{FF2B5EF4-FFF2-40B4-BE49-F238E27FC236}">
                <a16:creationId xmlns:a16="http://schemas.microsoft.com/office/drawing/2014/main" id="{39D28F5F-CC60-85EA-6FCA-08DA375B7416}"/>
              </a:ext>
            </a:extLst>
          </p:cNvPr>
          <p:cNvSpPr/>
          <p:nvPr/>
        </p:nvSpPr>
        <p:spPr>
          <a:xfrm>
            <a:off x="934720" y="2417870"/>
            <a:ext cx="3103880" cy="240981"/>
          </a:xfrm>
          <a:prstGeom prst="rect">
            <a:avLst/>
          </a:prstGeom>
          <a:solidFill>
            <a:srgbClr val="C00000">
              <a:alpha val="3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ectangle 9">
            <a:extLst>
              <a:ext uri="{FF2B5EF4-FFF2-40B4-BE49-F238E27FC236}">
                <a16:creationId xmlns:a16="http://schemas.microsoft.com/office/drawing/2014/main" id="{FDAE6EC4-4823-F09F-C521-D18178CD6DCE}"/>
              </a:ext>
            </a:extLst>
          </p:cNvPr>
          <p:cNvSpPr/>
          <p:nvPr/>
        </p:nvSpPr>
        <p:spPr>
          <a:xfrm>
            <a:off x="1183640" y="2658850"/>
            <a:ext cx="3103880" cy="245851"/>
          </a:xfrm>
          <a:prstGeom prst="rect">
            <a:avLst/>
          </a:prstGeom>
          <a:solidFill>
            <a:srgbClr val="FFC000">
              <a:alpha val="3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TextBox 10">
            <a:extLst>
              <a:ext uri="{FF2B5EF4-FFF2-40B4-BE49-F238E27FC236}">
                <a16:creationId xmlns:a16="http://schemas.microsoft.com/office/drawing/2014/main" id="{BE3A0D77-7CC3-2F74-F25F-71850A264905}"/>
              </a:ext>
            </a:extLst>
          </p:cNvPr>
          <p:cNvSpPr txBox="1"/>
          <p:nvPr/>
        </p:nvSpPr>
        <p:spPr>
          <a:xfrm>
            <a:off x="838200" y="4291660"/>
            <a:ext cx="5095240" cy="646331"/>
          </a:xfrm>
          <a:prstGeom prst="rect">
            <a:avLst/>
          </a:prstGeom>
          <a:noFill/>
        </p:spPr>
        <p:txBody>
          <a:bodyPr wrap="square" rtlCol="0">
            <a:spAutoFit/>
          </a:bodyPr>
          <a:lstStyle/>
          <a:p>
            <a:r>
              <a:rPr lang="en-US" sz="900" noProof="0" dirty="0"/>
              <a:t>Sanei, A., Cheng, J., &amp; Adams, B. (2021, May). The impacts of sentiments and tones in community-generated issue discussions. In </a:t>
            </a:r>
            <a:r>
              <a:rPr lang="en-US" sz="900" i="1" noProof="0" dirty="0"/>
              <a:t>2021 IEEE/ACM 13th International Workshop on Cooperative and Human Aspects of Software Engineering (CHASE)</a:t>
            </a:r>
            <a:r>
              <a:rPr lang="en-US" sz="900" noProof="0" dirty="0"/>
              <a:t> (pp. 1-10). IEEE. DOI: </a:t>
            </a:r>
            <a:r>
              <a:rPr lang="en-US" sz="900" noProof="0" dirty="0">
                <a:hlinkClick r:id="rId4"/>
              </a:rPr>
              <a:t>10.1109/CHASE52884.2021.00009</a:t>
            </a:r>
            <a:endParaRPr lang="en-US" sz="900" noProof="0" dirty="0"/>
          </a:p>
        </p:txBody>
      </p:sp>
      <p:pic>
        <p:nvPicPr>
          <p:cNvPr id="8" name="Picture 7">
            <a:extLst>
              <a:ext uri="{FF2B5EF4-FFF2-40B4-BE49-F238E27FC236}">
                <a16:creationId xmlns:a16="http://schemas.microsoft.com/office/drawing/2014/main" id="{441F07E6-CF49-C07A-39B7-89A44AA1DE19}"/>
              </a:ext>
            </a:extLst>
          </p:cNvPr>
          <p:cNvPicPr>
            <a:picLocks noChangeAspect="1"/>
          </p:cNvPicPr>
          <p:nvPr/>
        </p:nvPicPr>
        <p:blipFill>
          <a:blip r:embed="rId5"/>
          <a:stretch>
            <a:fillRect/>
          </a:stretch>
        </p:blipFill>
        <p:spPr>
          <a:xfrm>
            <a:off x="6343652" y="1908926"/>
            <a:ext cx="4580017" cy="2712955"/>
          </a:xfrm>
          <a:prstGeom prst="rect">
            <a:avLst/>
          </a:prstGeom>
          <a:effectLst>
            <a:outerShdw blurRad="63500" sx="102000" sy="102000" algn="ctr" rotWithShape="0">
              <a:prstClr val="black">
                <a:alpha val="40000"/>
              </a:prstClr>
            </a:outerShdw>
          </a:effectLst>
        </p:spPr>
      </p:pic>
      <p:sp>
        <p:nvSpPr>
          <p:cNvPr id="12" name="Rectangle 11">
            <a:extLst>
              <a:ext uri="{FF2B5EF4-FFF2-40B4-BE49-F238E27FC236}">
                <a16:creationId xmlns:a16="http://schemas.microsoft.com/office/drawing/2014/main" id="{C8F805A2-32C3-80D0-ED36-FB6CA473FE84}"/>
              </a:ext>
            </a:extLst>
          </p:cNvPr>
          <p:cNvSpPr/>
          <p:nvPr/>
        </p:nvSpPr>
        <p:spPr>
          <a:xfrm>
            <a:off x="6534991" y="4190986"/>
            <a:ext cx="2641709" cy="175340"/>
          </a:xfrm>
          <a:prstGeom prst="rect">
            <a:avLst/>
          </a:prstGeom>
          <a:solidFill>
            <a:srgbClr val="C00000">
              <a:alpha val="3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Rectangle 15">
            <a:extLst>
              <a:ext uri="{FF2B5EF4-FFF2-40B4-BE49-F238E27FC236}">
                <a16:creationId xmlns:a16="http://schemas.microsoft.com/office/drawing/2014/main" id="{D218C615-6294-FCFE-DCA3-50D3593B81BA}"/>
              </a:ext>
            </a:extLst>
          </p:cNvPr>
          <p:cNvSpPr/>
          <p:nvPr/>
        </p:nvSpPr>
        <p:spPr>
          <a:xfrm>
            <a:off x="9205971" y="4187564"/>
            <a:ext cx="1596854" cy="175340"/>
          </a:xfrm>
          <a:prstGeom prst="rect">
            <a:avLst/>
          </a:prstGeom>
          <a:solidFill>
            <a:srgbClr val="FFC000">
              <a:alpha val="3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Rectangle 20">
            <a:extLst>
              <a:ext uri="{FF2B5EF4-FFF2-40B4-BE49-F238E27FC236}">
                <a16:creationId xmlns:a16="http://schemas.microsoft.com/office/drawing/2014/main" id="{E24E833A-3917-5686-6DF9-C80B75C85A10}"/>
              </a:ext>
            </a:extLst>
          </p:cNvPr>
          <p:cNvSpPr/>
          <p:nvPr/>
        </p:nvSpPr>
        <p:spPr>
          <a:xfrm>
            <a:off x="6413467" y="4372216"/>
            <a:ext cx="2877703" cy="175340"/>
          </a:xfrm>
          <a:prstGeom prst="rect">
            <a:avLst/>
          </a:prstGeom>
          <a:solidFill>
            <a:srgbClr val="FFC000">
              <a:alpha val="3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3" name="TextBox 22">
            <a:extLst>
              <a:ext uri="{FF2B5EF4-FFF2-40B4-BE49-F238E27FC236}">
                <a16:creationId xmlns:a16="http://schemas.microsoft.com/office/drawing/2014/main" id="{24FCD34C-0E00-4026-C875-A05A92FAF0C4}"/>
              </a:ext>
            </a:extLst>
          </p:cNvPr>
          <p:cNvSpPr txBox="1"/>
          <p:nvPr/>
        </p:nvSpPr>
        <p:spPr>
          <a:xfrm>
            <a:off x="6343652" y="4631193"/>
            <a:ext cx="4580017" cy="507831"/>
          </a:xfrm>
          <a:prstGeom prst="rect">
            <a:avLst/>
          </a:prstGeom>
          <a:noFill/>
        </p:spPr>
        <p:txBody>
          <a:bodyPr wrap="square">
            <a:spAutoFit/>
          </a:bodyPr>
          <a:lstStyle/>
          <a:p>
            <a:r>
              <a:rPr lang="en-US" sz="900" dirty="0" err="1"/>
              <a:t>Inozemtseva</a:t>
            </a:r>
            <a:r>
              <a:rPr lang="en-US" sz="900" dirty="0"/>
              <a:t>, L., &amp; Holmes, R. (2014, May). Coverage is not strongly correlated with test suite effectiveness. In </a:t>
            </a:r>
            <a:r>
              <a:rPr lang="en-US" sz="900" i="1" dirty="0"/>
              <a:t>Proceedings of the 36th international conference on software engineering</a:t>
            </a:r>
            <a:r>
              <a:rPr lang="en-US" sz="900" dirty="0"/>
              <a:t> (pp. 435-445).</a:t>
            </a:r>
            <a:r>
              <a:rPr lang="en-SE" sz="900" dirty="0"/>
              <a:t> </a:t>
            </a:r>
            <a:r>
              <a:rPr lang="en-SE" sz="900" dirty="0">
                <a:hlinkClick r:id="rId6"/>
              </a:rPr>
              <a:t>10.1145/2568225.2568271</a:t>
            </a:r>
            <a:endParaRPr lang="en-US" sz="900" noProof="0" dirty="0"/>
          </a:p>
        </p:txBody>
      </p:sp>
      <p:pic>
        <p:nvPicPr>
          <p:cNvPr id="13" name="Picture 12">
            <a:extLst>
              <a:ext uri="{FF2B5EF4-FFF2-40B4-BE49-F238E27FC236}">
                <a16:creationId xmlns:a16="http://schemas.microsoft.com/office/drawing/2014/main" id="{F5C0A147-6D39-1327-AAE1-A8BE9CD8CDBF}"/>
              </a:ext>
            </a:extLst>
          </p:cNvPr>
          <p:cNvPicPr>
            <a:picLocks noChangeAspect="1"/>
          </p:cNvPicPr>
          <p:nvPr/>
        </p:nvPicPr>
        <p:blipFill>
          <a:blip r:embed="rId7"/>
          <a:stretch>
            <a:fillRect/>
          </a:stretch>
        </p:blipFill>
        <p:spPr>
          <a:xfrm>
            <a:off x="7427931" y="1471799"/>
            <a:ext cx="4022389" cy="4129246"/>
          </a:xfrm>
          <a:prstGeom prst="rect">
            <a:avLst/>
          </a:prstGeom>
          <a:effectLst>
            <a:outerShdw blurRad="63500" sx="102000" sy="102000" algn="ctr" rotWithShape="0">
              <a:prstClr val="black">
                <a:alpha val="40000"/>
              </a:prstClr>
            </a:outerShdw>
          </a:effectLst>
        </p:spPr>
      </p:pic>
      <p:sp>
        <p:nvSpPr>
          <p:cNvPr id="14" name="Rectangle 13">
            <a:extLst>
              <a:ext uri="{FF2B5EF4-FFF2-40B4-BE49-F238E27FC236}">
                <a16:creationId xmlns:a16="http://schemas.microsoft.com/office/drawing/2014/main" id="{DFCBFB27-DAC6-A680-FD80-5D66AEFB1B35}"/>
              </a:ext>
            </a:extLst>
          </p:cNvPr>
          <p:cNvSpPr/>
          <p:nvPr/>
        </p:nvSpPr>
        <p:spPr>
          <a:xfrm>
            <a:off x="8780767" y="4113597"/>
            <a:ext cx="2560320" cy="212800"/>
          </a:xfrm>
          <a:prstGeom prst="rect">
            <a:avLst/>
          </a:prstGeom>
          <a:solidFill>
            <a:srgbClr val="C00000">
              <a:alpha val="3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Rectangle 14">
            <a:extLst>
              <a:ext uri="{FF2B5EF4-FFF2-40B4-BE49-F238E27FC236}">
                <a16:creationId xmlns:a16="http://schemas.microsoft.com/office/drawing/2014/main" id="{0CAFAF70-8F7B-DB6E-8ACF-AF0C30AA871D}"/>
              </a:ext>
            </a:extLst>
          </p:cNvPr>
          <p:cNvSpPr/>
          <p:nvPr/>
        </p:nvSpPr>
        <p:spPr>
          <a:xfrm>
            <a:off x="10299687" y="4538121"/>
            <a:ext cx="1041400" cy="212800"/>
          </a:xfrm>
          <a:prstGeom prst="rect">
            <a:avLst/>
          </a:prstGeom>
          <a:solidFill>
            <a:srgbClr val="FFC000">
              <a:alpha val="3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Rectangle 16">
            <a:extLst>
              <a:ext uri="{FF2B5EF4-FFF2-40B4-BE49-F238E27FC236}">
                <a16:creationId xmlns:a16="http://schemas.microsoft.com/office/drawing/2014/main" id="{707DDC02-3F70-FBDF-9177-AD7882DD3DD9}"/>
              </a:ext>
            </a:extLst>
          </p:cNvPr>
          <p:cNvSpPr/>
          <p:nvPr/>
        </p:nvSpPr>
        <p:spPr>
          <a:xfrm>
            <a:off x="7513021" y="4326397"/>
            <a:ext cx="3828066" cy="212800"/>
          </a:xfrm>
          <a:prstGeom prst="rect">
            <a:avLst/>
          </a:prstGeom>
          <a:solidFill>
            <a:srgbClr val="C00000">
              <a:alpha val="3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ectangle 17">
            <a:extLst>
              <a:ext uri="{FF2B5EF4-FFF2-40B4-BE49-F238E27FC236}">
                <a16:creationId xmlns:a16="http://schemas.microsoft.com/office/drawing/2014/main" id="{F41C4E20-EBBB-5B8A-AC57-697D71BC2871}"/>
              </a:ext>
            </a:extLst>
          </p:cNvPr>
          <p:cNvSpPr/>
          <p:nvPr/>
        </p:nvSpPr>
        <p:spPr>
          <a:xfrm>
            <a:off x="7513021" y="4538121"/>
            <a:ext cx="2786666" cy="212800"/>
          </a:xfrm>
          <a:prstGeom prst="rect">
            <a:avLst/>
          </a:prstGeom>
          <a:solidFill>
            <a:srgbClr val="C00000">
              <a:alpha val="3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ectangle 18">
            <a:extLst>
              <a:ext uri="{FF2B5EF4-FFF2-40B4-BE49-F238E27FC236}">
                <a16:creationId xmlns:a16="http://schemas.microsoft.com/office/drawing/2014/main" id="{D444053D-F771-A474-D35E-607B59EC0CDD}"/>
              </a:ext>
            </a:extLst>
          </p:cNvPr>
          <p:cNvSpPr/>
          <p:nvPr/>
        </p:nvSpPr>
        <p:spPr>
          <a:xfrm>
            <a:off x="7513021" y="4749845"/>
            <a:ext cx="3828066" cy="212800"/>
          </a:xfrm>
          <a:prstGeom prst="rect">
            <a:avLst/>
          </a:prstGeom>
          <a:solidFill>
            <a:srgbClr val="FFC000">
              <a:alpha val="3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Rectangle 19">
            <a:extLst>
              <a:ext uri="{FF2B5EF4-FFF2-40B4-BE49-F238E27FC236}">
                <a16:creationId xmlns:a16="http://schemas.microsoft.com/office/drawing/2014/main" id="{A2397972-1BBE-28C4-452D-8202FD6502BB}"/>
              </a:ext>
            </a:extLst>
          </p:cNvPr>
          <p:cNvSpPr/>
          <p:nvPr/>
        </p:nvSpPr>
        <p:spPr>
          <a:xfrm>
            <a:off x="7513021" y="4960493"/>
            <a:ext cx="1496346" cy="132641"/>
          </a:xfrm>
          <a:prstGeom prst="rect">
            <a:avLst/>
          </a:prstGeom>
          <a:solidFill>
            <a:srgbClr val="FFC000">
              <a:alpha val="3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TextBox 21">
            <a:extLst>
              <a:ext uri="{FF2B5EF4-FFF2-40B4-BE49-F238E27FC236}">
                <a16:creationId xmlns:a16="http://schemas.microsoft.com/office/drawing/2014/main" id="{3F2F848F-807F-D41E-5569-F0CD6BC0418B}"/>
              </a:ext>
            </a:extLst>
          </p:cNvPr>
          <p:cNvSpPr txBox="1"/>
          <p:nvPr/>
        </p:nvSpPr>
        <p:spPr>
          <a:xfrm>
            <a:off x="7427931" y="5664285"/>
            <a:ext cx="4022389" cy="646331"/>
          </a:xfrm>
          <a:prstGeom prst="rect">
            <a:avLst/>
          </a:prstGeom>
          <a:noFill/>
        </p:spPr>
        <p:txBody>
          <a:bodyPr wrap="square">
            <a:spAutoFit/>
          </a:bodyPr>
          <a:lstStyle/>
          <a:p>
            <a:r>
              <a:rPr lang="en-US" sz="900" noProof="0" dirty="0"/>
              <a:t>Frattini, J., Fischbach, J., Mendez, D., Unterkalmsteiner, M., Vogelsang, A., &amp; Wnuk, K. (2023). Causality in requirements artifacts: prevalence, detection, and impact. </a:t>
            </a:r>
            <a:r>
              <a:rPr lang="en-US" sz="900" i="1" noProof="0" dirty="0"/>
              <a:t>Requirements Engineering</a:t>
            </a:r>
            <a:r>
              <a:rPr lang="en-US" sz="900" noProof="0" dirty="0"/>
              <a:t>, </a:t>
            </a:r>
            <a:r>
              <a:rPr lang="en-US" sz="900" i="1" noProof="0" dirty="0"/>
              <a:t>28</a:t>
            </a:r>
            <a:r>
              <a:rPr lang="en-US" sz="900" noProof="0" dirty="0"/>
              <a:t>(1), 49-74. DOI: </a:t>
            </a:r>
            <a:r>
              <a:rPr lang="en-US" sz="900" noProof="0" dirty="0">
                <a:hlinkClick r:id="rId8"/>
              </a:rPr>
              <a:t>10.1007/s00766-022-00371-x</a:t>
            </a:r>
            <a:endParaRPr lang="en-US" sz="900" noProof="0" dirty="0"/>
          </a:p>
        </p:txBody>
      </p:sp>
      <p:pic>
        <p:nvPicPr>
          <p:cNvPr id="24" name="Picture 23">
            <a:extLst>
              <a:ext uri="{FF2B5EF4-FFF2-40B4-BE49-F238E27FC236}">
                <a16:creationId xmlns:a16="http://schemas.microsoft.com/office/drawing/2014/main" id="{BCDC2DCD-CCAE-9F6C-7B50-9865DF6477E6}"/>
              </a:ext>
            </a:extLst>
          </p:cNvPr>
          <p:cNvPicPr>
            <a:picLocks noChangeAspect="1"/>
          </p:cNvPicPr>
          <p:nvPr/>
        </p:nvPicPr>
        <p:blipFill>
          <a:blip r:embed="rId9"/>
          <a:stretch>
            <a:fillRect/>
          </a:stretch>
        </p:blipFill>
        <p:spPr>
          <a:xfrm>
            <a:off x="2712632" y="1637628"/>
            <a:ext cx="3840656" cy="3582743"/>
          </a:xfrm>
          <a:prstGeom prst="rect">
            <a:avLst/>
          </a:prstGeom>
          <a:effectLst>
            <a:outerShdw blurRad="63500" sx="102000" sy="102000" algn="ctr" rotWithShape="0">
              <a:prstClr val="black">
                <a:alpha val="40000"/>
              </a:prstClr>
            </a:outerShdw>
          </a:effectLst>
        </p:spPr>
      </p:pic>
      <p:sp>
        <p:nvSpPr>
          <p:cNvPr id="25" name="Rectangle 24">
            <a:extLst>
              <a:ext uri="{FF2B5EF4-FFF2-40B4-BE49-F238E27FC236}">
                <a16:creationId xmlns:a16="http://schemas.microsoft.com/office/drawing/2014/main" id="{BC95B3B0-9E51-073E-9E62-9CBA855FDF14}"/>
              </a:ext>
            </a:extLst>
          </p:cNvPr>
          <p:cNvSpPr/>
          <p:nvPr/>
        </p:nvSpPr>
        <p:spPr>
          <a:xfrm>
            <a:off x="3690969" y="4016857"/>
            <a:ext cx="2064671" cy="203140"/>
          </a:xfrm>
          <a:prstGeom prst="rect">
            <a:avLst/>
          </a:prstGeom>
          <a:solidFill>
            <a:srgbClr val="C00000">
              <a:alpha val="3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8" name="Rectangle 27">
            <a:extLst>
              <a:ext uri="{FF2B5EF4-FFF2-40B4-BE49-F238E27FC236}">
                <a16:creationId xmlns:a16="http://schemas.microsoft.com/office/drawing/2014/main" id="{E8367AE5-C9A0-801C-0D5A-8CB80631C6FB}"/>
              </a:ext>
            </a:extLst>
          </p:cNvPr>
          <p:cNvSpPr/>
          <p:nvPr/>
        </p:nvSpPr>
        <p:spPr>
          <a:xfrm>
            <a:off x="2735580" y="4224827"/>
            <a:ext cx="2471420" cy="203140"/>
          </a:xfrm>
          <a:prstGeom prst="rect">
            <a:avLst/>
          </a:prstGeom>
          <a:solidFill>
            <a:srgbClr val="FFC000">
              <a:alpha val="3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9" name="Rectangle 28">
            <a:extLst>
              <a:ext uri="{FF2B5EF4-FFF2-40B4-BE49-F238E27FC236}">
                <a16:creationId xmlns:a16="http://schemas.microsoft.com/office/drawing/2014/main" id="{9368A4E7-8F4C-9EEC-9522-863B2DD90B95}"/>
              </a:ext>
            </a:extLst>
          </p:cNvPr>
          <p:cNvSpPr/>
          <p:nvPr/>
        </p:nvSpPr>
        <p:spPr>
          <a:xfrm>
            <a:off x="5755640" y="4024901"/>
            <a:ext cx="771519" cy="203140"/>
          </a:xfrm>
          <a:prstGeom prst="rect">
            <a:avLst/>
          </a:prstGeom>
          <a:solidFill>
            <a:srgbClr val="FFC000">
              <a:alpha val="3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0" name="Rectangle 29">
            <a:extLst>
              <a:ext uri="{FF2B5EF4-FFF2-40B4-BE49-F238E27FC236}">
                <a16:creationId xmlns:a16="http://schemas.microsoft.com/office/drawing/2014/main" id="{CD1BA083-10B9-4064-4D18-4712287067FB}"/>
              </a:ext>
            </a:extLst>
          </p:cNvPr>
          <p:cNvSpPr/>
          <p:nvPr/>
        </p:nvSpPr>
        <p:spPr>
          <a:xfrm>
            <a:off x="3015301" y="4430463"/>
            <a:ext cx="3517259" cy="203140"/>
          </a:xfrm>
          <a:prstGeom prst="rect">
            <a:avLst/>
          </a:prstGeom>
          <a:solidFill>
            <a:srgbClr val="92D050">
              <a:alpha val="3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1" name="Rectangle 30">
            <a:extLst>
              <a:ext uri="{FF2B5EF4-FFF2-40B4-BE49-F238E27FC236}">
                <a16:creationId xmlns:a16="http://schemas.microsoft.com/office/drawing/2014/main" id="{D0546234-B9AD-F37B-303D-5B01FD2A3506}"/>
              </a:ext>
            </a:extLst>
          </p:cNvPr>
          <p:cNvSpPr/>
          <p:nvPr/>
        </p:nvSpPr>
        <p:spPr>
          <a:xfrm>
            <a:off x="2712632" y="4631524"/>
            <a:ext cx="3791667" cy="378549"/>
          </a:xfrm>
          <a:prstGeom prst="rect">
            <a:avLst/>
          </a:prstGeom>
          <a:solidFill>
            <a:srgbClr val="92D050">
              <a:alpha val="3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2" name="Rectangle 31">
            <a:extLst>
              <a:ext uri="{FF2B5EF4-FFF2-40B4-BE49-F238E27FC236}">
                <a16:creationId xmlns:a16="http://schemas.microsoft.com/office/drawing/2014/main" id="{620C5D81-B1D1-E048-940B-891EEEBE73D8}"/>
              </a:ext>
            </a:extLst>
          </p:cNvPr>
          <p:cNvSpPr/>
          <p:nvPr/>
        </p:nvSpPr>
        <p:spPr>
          <a:xfrm>
            <a:off x="2712633" y="5010073"/>
            <a:ext cx="548728" cy="203140"/>
          </a:xfrm>
          <a:prstGeom prst="rect">
            <a:avLst/>
          </a:prstGeom>
          <a:solidFill>
            <a:srgbClr val="92D050">
              <a:alpha val="3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3" name="TextBox 32">
            <a:extLst>
              <a:ext uri="{FF2B5EF4-FFF2-40B4-BE49-F238E27FC236}">
                <a16:creationId xmlns:a16="http://schemas.microsoft.com/office/drawing/2014/main" id="{D5F43C2D-F2C8-A6E3-B3E5-F5FD488FEC41}"/>
              </a:ext>
            </a:extLst>
          </p:cNvPr>
          <p:cNvSpPr txBox="1"/>
          <p:nvPr/>
        </p:nvSpPr>
        <p:spPr>
          <a:xfrm>
            <a:off x="2712109" y="5248171"/>
            <a:ext cx="3840657" cy="1061829"/>
          </a:xfrm>
          <a:prstGeom prst="rect">
            <a:avLst/>
          </a:prstGeom>
          <a:noFill/>
        </p:spPr>
        <p:txBody>
          <a:bodyPr wrap="square">
            <a:spAutoFit/>
          </a:bodyPr>
          <a:lstStyle/>
          <a:p>
            <a:r>
              <a:rPr lang="en-US" sz="900" noProof="0" dirty="0"/>
              <a:t>McGee, S., &amp; Greer, D. (2012). Towards an understanding of the causes and effects of software requirements change: two case studies. </a:t>
            </a:r>
            <a:r>
              <a:rPr lang="en-US" sz="900" i="1" noProof="0" dirty="0"/>
              <a:t>Requirements Engineering</a:t>
            </a:r>
            <a:r>
              <a:rPr lang="en-US" sz="900" noProof="0" dirty="0"/>
              <a:t>, </a:t>
            </a:r>
            <a:r>
              <a:rPr lang="en-US" sz="900" i="1" noProof="0" dirty="0"/>
              <a:t>17</a:t>
            </a:r>
            <a:r>
              <a:rPr lang="en-US" sz="900" noProof="0" dirty="0"/>
              <a:t>, 133-155. DOI: </a:t>
            </a:r>
            <a:r>
              <a:rPr lang="en-US" sz="900" noProof="0" dirty="0">
                <a:hlinkClick r:id="rId10"/>
              </a:rPr>
              <a:t>10.1007/s00766-012-0149-0</a:t>
            </a:r>
            <a:endParaRPr lang="en-US" sz="900" noProof="0" dirty="0"/>
          </a:p>
          <a:p>
            <a:r>
              <a:rPr lang="en-US" sz="900" b="1" noProof="0" dirty="0"/>
              <a:t>Referring to </a:t>
            </a:r>
            <a:r>
              <a:rPr lang="en-US" sz="900" noProof="0" dirty="0"/>
              <a:t> </a:t>
            </a:r>
            <a:r>
              <a:rPr lang="en-US" sz="900" noProof="0" dirty="0" err="1"/>
              <a:t>Loconsole</a:t>
            </a:r>
            <a:r>
              <a:rPr lang="en-US" sz="900" noProof="0" dirty="0"/>
              <a:t>, A., &amp; </a:t>
            </a:r>
            <a:r>
              <a:rPr lang="en-US" sz="900" noProof="0" dirty="0" err="1"/>
              <a:t>Borstler</a:t>
            </a:r>
            <a:r>
              <a:rPr lang="en-US" sz="900" noProof="0" dirty="0"/>
              <a:t>, J. (2005, December). An industrial case study on requirements volatility measures. In </a:t>
            </a:r>
            <a:r>
              <a:rPr lang="en-US" sz="900" i="1" noProof="0" dirty="0"/>
              <a:t>12th Asia-Pacific Software Engineering Conference (APSEC'05)</a:t>
            </a:r>
            <a:r>
              <a:rPr lang="en-US" sz="900" noProof="0" dirty="0"/>
              <a:t> (pp. 8-pp). IEEE. DOI: </a:t>
            </a:r>
            <a:r>
              <a:rPr lang="en-US" sz="900" noProof="0" dirty="0">
                <a:hlinkClick r:id="rId11"/>
              </a:rPr>
              <a:t>10.1109/APSEC.2005.38</a:t>
            </a:r>
            <a:endParaRPr lang="en-US" sz="900" noProof="0" dirty="0"/>
          </a:p>
        </p:txBody>
      </p:sp>
    </p:spTree>
    <p:extLst>
      <p:ext uri="{BB962C8B-B14F-4D97-AF65-F5344CB8AC3E}">
        <p14:creationId xmlns:p14="http://schemas.microsoft.com/office/powerpoint/2010/main" val="41745372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0"/>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3"/>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2"/>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14"/>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7"/>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8"/>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15"/>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19"/>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p:bldP spid="12" grpId="0" animBg="1"/>
      <p:bldP spid="16" grpId="0" animBg="1"/>
      <p:bldP spid="21" grpId="0" animBg="1"/>
      <p:bldP spid="23" grpId="0"/>
      <p:bldP spid="14" grpId="0" animBg="1"/>
      <p:bldP spid="15" grpId="0" animBg="1"/>
      <p:bldP spid="17" grpId="0" animBg="1"/>
      <p:bldP spid="18" grpId="0" animBg="1"/>
      <p:bldP spid="19" grpId="0" animBg="1"/>
      <p:bldP spid="20" grpId="0" animBg="1"/>
      <p:bldP spid="22" grpId="0"/>
      <p:bldP spid="25" grpId="0" animBg="1"/>
      <p:bldP spid="28" grpId="0" animBg="1"/>
      <p:bldP spid="29" grpId="0" animBg="1"/>
      <p:bldP spid="30" grpId="0" animBg="1"/>
      <p:bldP spid="31" grpId="0" animBg="1"/>
      <p:bldP spid="32" grpId="0" animBg="1"/>
      <p:bldP spid="3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07C81C-A1BF-D1B7-2640-4711CFF699F8}"/>
              </a:ext>
            </a:extLst>
          </p:cNvPr>
          <p:cNvSpPr>
            <a:spLocks noGrp="1"/>
          </p:cNvSpPr>
          <p:nvPr>
            <p:ph type="title"/>
          </p:nvPr>
        </p:nvSpPr>
        <p:spPr/>
        <p:txBody>
          <a:bodyPr/>
          <a:lstStyle/>
          <a:p>
            <a:r>
              <a:rPr lang="en-US" noProof="0" dirty="0"/>
              <a:t>Correlation versus Causality</a:t>
            </a:r>
          </a:p>
        </p:txBody>
      </p:sp>
      <p:sp>
        <p:nvSpPr>
          <p:cNvPr id="3" name="Content Placeholder 2">
            <a:extLst>
              <a:ext uri="{FF2B5EF4-FFF2-40B4-BE49-F238E27FC236}">
                <a16:creationId xmlns:a16="http://schemas.microsoft.com/office/drawing/2014/main" id="{FA80506F-FEDE-9318-E20E-0AA487F45151}"/>
              </a:ext>
            </a:extLst>
          </p:cNvPr>
          <p:cNvSpPr>
            <a:spLocks noGrp="1"/>
          </p:cNvSpPr>
          <p:nvPr>
            <p:ph idx="1"/>
          </p:nvPr>
        </p:nvSpPr>
        <p:spPr>
          <a:xfrm>
            <a:off x="838200" y="3484955"/>
            <a:ext cx="10515600" cy="2692007"/>
          </a:xfrm>
        </p:spPr>
        <p:txBody>
          <a:bodyPr>
            <a:normAutofit/>
          </a:bodyPr>
          <a:lstStyle/>
          <a:p>
            <a:pPr marL="0" indent="0">
              <a:buNone/>
            </a:pPr>
            <a:r>
              <a:rPr lang="en-US" noProof="0" dirty="0"/>
              <a:t>If we want to make a </a:t>
            </a:r>
            <a:r>
              <a:rPr lang="en-US" b="1" noProof="0" dirty="0"/>
              <a:t>positive impact </a:t>
            </a:r>
            <a:r>
              <a:rPr lang="en-US" noProof="0" dirty="0"/>
              <a:t>on the target audience of our research (i.e., SE practitioners), we need to provide </a:t>
            </a:r>
            <a:r>
              <a:rPr lang="en-US" b="1" noProof="0" dirty="0"/>
              <a:t>reliable </a:t>
            </a:r>
            <a:r>
              <a:rPr lang="en-SE" b="1" noProof="0" dirty="0"/>
              <a:t>decision-making policies </a:t>
            </a:r>
            <a:r>
              <a:rPr lang="en-US" noProof="0" dirty="0"/>
              <a:t>– which we can only derive from </a:t>
            </a:r>
            <a:r>
              <a:rPr lang="en-US" b="1" noProof="0" dirty="0"/>
              <a:t>causal</a:t>
            </a:r>
            <a:r>
              <a:rPr lang="en-US" noProof="0" dirty="0"/>
              <a:t> relationships, not correlations.</a:t>
            </a:r>
          </a:p>
        </p:txBody>
      </p:sp>
      <p:sp>
        <p:nvSpPr>
          <p:cNvPr id="4" name="Date Placeholder 3">
            <a:extLst>
              <a:ext uri="{FF2B5EF4-FFF2-40B4-BE49-F238E27FC236}">
                <a16:creationId xmlns:a16="http://schemas.microsoft.com/office/drawing/2014/main" id="{72313719-8DAA-FA36-43B1-A46D784E2763}"/>
              </a:ext>
            </a:extLst>
          </p:cNvPr>
          <p:cNvSpPr>
            <a:spLocks noGrp="1"/>
          </p:cNvSpPr>
          <p:nvPr>
            <p:ph type="dt" sz="half" idx="10"/>
          </p:nvPr>
        </p:nvSpPr>
        <p:spPr/>
        <p:txBody>
          <a:bodyPr/>
          <a:lstStyle/>
          <a:p>
            <a:fld id="{403A2FDA-9B6F-4F19-BB52-15CB2FEB03DD}" type="datetime1">
              <a:rPr lang="en-US" noProof="0" smtClean="0"/>
              <a:t>6/17/2026</a:t>
            </a:fld>
            <a:endParaRPr lang="en-US" noProof="0" dirty="0"/>
          </a:p>
        </p:txBody>
      </p:sp>
      <p:sp>
        <p:nvSpPr>
          <p:cNvPr id="5" name="Footer Placeholder 4">
            <a:extLst>
              <a:ext uri="{FF2B5EF4-FFF2-40B4-BE49-F238E27FC236}">
                <a16:creationId xmlns:a16="http://schemas.microsoft.com/office/drawing/2014/main" id="{3633E04D-DEE9-84E5-4792-98F8AEAFB767}"/>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249DE150-6A02-E9B2-9B95-D357B96496D9}"/>
              </a:ext>
            </a:extLst>
          </p:cNvPr>
          <p:cNvSpPr>
            <a:spLocks noGrp="1"/>
          </p:cNvSpPr>
          <p:nvPr>
            <p:ph type="sldNum" sz="quarter" idx="12"/>
          </p:nvPr>
        </p:nvSpPr>
        <p:spPr/>
        <p:txBody>
          <a:bodyPr/>
          <a:lstStyle/>
          <a:p>
            <a:fld id="{0FA2D919-C0DE-4971-A2E9-D4AC0031921B}" type="slidenum">
              <a:rPr lang="en-US" noProof="0" smtClean="0"/>
              <a:t>6</a:t>
            </a:fld>
            <a:endParaRPr lang="en-US" noProof="0" dirty="0"/>
          </a:p>
        </p:txBody>
      </p:sp>
      <p:sp>
        <p:nvSpPr>
          <p:cNvPr id="9" name="TextBox 8">
            <a:extLst>
              <a:ext uri="{FF2B5EF4-FFF2-40B4-BE49-F238E27FC236}">
                <a16:creationId xmlns:a16="http://schemas.microsoft.com/office/drawing/2014/main" id="{AFCAAE86-A36C-9BC5-0C25-FDDB6D92FB7D}"/>
              </a:ext>
            </a:extLst>
          </p:cNvPr>
          <p:cNvSpPr txBox="1"/>
          <p:nvPr/>
        </p:nvSpPr>
        <p:spPr>
          <a:xfrm>
            <a:off x="5909461" y="6082541"/>
            <a:ext cx="3204058" cy="276999"/>
          </a:xfrm>
          <a:prstGeom prst="rect">
            <a:avLst/>
          </a:prstGeom>
          <a:noFill/>
        </p:spPr>
        <p:txBody>
          <a:bodyPr wrap="square">
            <a:spAutoFit/>
          </a:bodyPr>
          <a:lstStyle/>
          <a:p>
            <a:pPr algn="r"/>
            <a:r>
              <a:rPr lang="en-US" sz="1200" baseline="30000" noProof="0" dirty="0"/>
              <a:t>1</a:t>
            </a:r>
            <a:r>
              <a:rPr lang="en-US" sz="1200" noProof="0" dirty="0"/>
              <a:t>we’ll revisit this statement later</a:t>
            </a:r>
          </a:p>
        </p:txBody>
      </p:sp>
      <p:grpSp>
        <p:nvGrpSpPr>
          <p:cNvPr id="12" name="Group 11">
            <a:extLst>
              <a:ext uri="{FF2B5EF4-FFF2-40B4-BE49-F238E27FC236}">
                <a16:creationId xmlns:a16="http://schemas.microsoft.com/office/drawing/2014/main" id="{AF0170DD-3F15-69DF-BF1B-A2CD4898C771}"/>
              </a:ext>
            </a:extLst>
          </p:cNvPr>
          <p:cNvGrpSpPr/>
          <p:nvPr/>
        </p:nvGrpSpPr>
        <p:grpSpPr>
          <a:xfrm>
            <a:off x="3078480" y="5139136"/>
            <a:ext cx="6035039" cy="946595"/>
            <a:chOff x="775411" y="5230368"/>
            <a:chExt cx="6035039" cy="946595"/>
          </a:xfrm>
        </p:grpSpPr>
        <p:sp>
          <p:nvSpPr>
            <p:cNvPr id="7" name="Rectangle: Rounded Corners 6">
              <a:extLst>
                <a:ext uri="{FF2B5EF4-FFF2-40B4-BE49-F238E27FC236}">
                  <a16:creationId xmlns:a16="http://schemas.microsoft.com/office/drawing/2014/main" id="{167DB7A9-0AFB-7D89-7C1A-94A5D3AE1DD6}"/>
                </a:ext>
              </a:extLst>
            </p:cNvPr>
            <p:cNvSpPr/>
            <p:nvPr/>
          </p:nvSpPr>
          <p:spPr>
            <a:xfrm>
              <a:off x="775411" y="5230368"/>
              <a:ext cx="6035039" cy="946595"/>
            </a:xfrm>
            <a:prstGeom prst="roundRect">
              <a:avLst/>
            </a:prstGeom>
            <a:solidFill>
              <a:schemeClr val="tx2"/>
            </a:solidFill>
            <a:ln>
              <a:solidFill>
                <a:schemeClr val="tx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612000" rtlCol="0" anchor="ctr"/>
            <a:lstStyle/>
            <a:p>
              <a:r>
                <a:rPr lang="en-US" noProof="0" dirty="0"/>
                <a:t>We cannot infer causality from data alone – we must also know the process that created that data.</a:t>
              </a:r>
              <a:r>
                <a:rPr lang="en-US" baseline="30000" noProof="0" dirty="0"/>
                <a:t>1</a:t>
              </a:r>
            </a:p>
          </p:txBody>
        </p:sp>
        <p:pic>
          <p:nvPicPr>
            <p:cNvPr id="11" name="Graphic 10" descr="Open quotation mark with solid fill">
              <a:extLst>
                <a:ext uri="{FF2B5EF4-FFF2-40B4-BE49-F238E27FC236}">
                  <a16:creationId xmlns:a16="http://schemas.microsoft.com/office/drawing/2014/main" id="{B97B62C8-0097-A527-ADE8-10BE2529342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0800000">
              <a:off x="775412" y="5343665"/>
              <a:ext cx="720000" cy="720000"/>
            </a:xfrm>
            <a:prstGeom prst="rect">
              <a:avLst/>
            </a:prstGeom>
          </p:spPr>
        </p:pic>
      </p:grpSp>
      <p:sp>
        <p:nvSpPr>
          <p:cNvPr id="14" name="TextBox 13">
            <a:extLst>
              <a:ext uri="{FF2B5EF4-FFF2-40B4-BE49-F238E27FC236}">
                <a16:creationId xmlns:a16="http://schemas.microsoft.com/office/drawing/2014/main" id="{5896B250-C81A-E64D-B295-3192BB4F1B26}"/>
              </a:ext>
            </a:extLst>
          </p:cNvPr>
          <p:cNvSpPr txBox="1"/>
          <p:nvPr/>
        </p:nvSpPr>
        <p:spPr>
          <a:xfrm>
            <a:off x="2120831" y="2587822"/>
            <a:ext cx="2635300" cy="923330"/>
          </a:xfrm>
          <a:prstGeom prst="rect">
            <a:avLst/>
          </a:prstGeom>
          <a:noFill/>
        </p:spPr>
        <p:txBody>
          <a:bodyPr wrap="square">
            <a:spAutoFit/>
          </a:bodyPr>
          <a:lstStyle/>
          <a:p>
            <a:pPr marL="0" indent="0" algn="ctr">
              <a:buNone/>
            </a:pPr>
            <a:r>
              <a:rPr lang="en-US" b="1" noProof="0" dirty="0"/>
              <a:t>Correlation:</a:t>
            </a:r>
          </a:p>
          <a:p>
            <a:pPr marL="0" indent="0" algn="ctr">
              <a:buNone/>
            </a:pPr>
            <a:r>
              <a:rPr lang="en-US" noProof="0" dirty="0"/>
              <a:t>when we </a:t>
            </a:r>
            <a:r>
              <a:rPr lang="en-US" i="1" noProof="0" dirty="0"/>
              <a:t>observe</a:t>
            </a:r>
            <a:r>
              <a:rPr lang="en-US" noProof="0" dirty="0"/>
              <a:t> X, </a:t>
            </a:r>
          </a:p>
          <a:p>
            <a:pPr marL="0" indent="0" algn="ctr">
              <a:buNone/>
            </a:pPr>
            <a:r>
              <a:rPr lang="en-US" noProof="0" dirty="0"/>
              <a:t>we also observe Y</a:t>
            </a:r>
          </a:p>
        </p:txBody>
      </p:sp>
      <p:pic>
        <p:nvPicPr>
          <p:cNvPr id="16" name="Graphic 15" descr="Raised hand with solid fill">
            <a:extLst>
              <a:ext uri="{FF2B5EF4-FFF2-40B4-BE49-F238E27FC236}">
                <a16:creationId xmlns:a16="http://schemas.microsoft.com/office/drawing/2014/main" id="{CA956E1D-65FB-1AF0-6690-1627DB6E454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96321" y="1673422"/>
            <a:ext cx="914400" cy="914400"/>
          </a:xfrm>
          <a:prstGeom prst="rect">
            <a:avLst/>
          </a:prstGeom>
        </p:spPr>
      </p:pic>
      <p:pic>
        <p:nvPicPr>
          <p:cNvPr id="18" name="Graphic 17" descr="Eye with solid fill">
            <a:extLst>
              <a:ext uri="{FF2B5EF4-FFF2-40B4-BE49-F238E27FC236}">
                <a16:creationId xmlns:a16="http://schemas.microsoft.com/office/drawing/2014/main" id="{DC3318F7-1DB1-344E-2916-48A042F6F2C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981281" y="1673422"/>
            <a:ext cx="914400" cy="914400"/>
          </a:xfrm>
          <a:prstGeom prst="rect">
            <a:avLst/>
          </a:prstGeom>
        </p:spPr>
      </p:pic>
      <p:sp>
        <p:nvSpPr>
          <p:cNvPr id="20" name="TextBox 19">
            <a:extLst>
              <a:ext uri="{FF2B5EF4-FFF2-40B4-BE49-F238E27FC236}">
                <a16:creationId xmlns:a16="http://schemas.microsoft.com/office/drawing/2014/main" id="{EE7BD2C6-E66D-F733-782B-5AF40BB4375E}"/>
              </a:ext>
            </a:extLst>
          </p:cNvPr>
          <p:cNvSpPr txBox="1"/>
          <p:nvPr/>
        </p:nvSpPr>
        <p:spPr>
          <a:xfrm>
            <a:off x="6985986" y="2587822"/>
            <a:ext cx="3535070" cy="923330"/>
          </a:xfrm>
          <a:prstGeom prst="rect">
            <a:avLst/>
          </a:prstGeom>
          <a:noFill/>
        </p:spPr>
        <p:txBody>
          <a:bodyPr wrap="square">
            <a:spAutoFit/>
          </a:bodyPr>
          <a:lstStyle/>
          <a:p>
            <a:pPr marL="0" indent="0" algn="ctr">
              <a:buNone/>
            </a:pPr>
            <a:r>
              <a:rPr lang="en-US" b="1" noProof="0" dirty="0"/>
              <a:t>Causality</a:t>
            </a:r>
            <a:r>
              <a:rPr lang="en-US" noProof="0" dirty="0"/>
              <a:t>: </a:t>
            </a:r>
          </a:p>
          <a:p>
            <a:pPr marL="0" indent="0" algn="ctr">
              <a:buNone/>
            </a:pPr>
            <a:r>
              <a:rPr lang="en-US" noProof="0" dirty="0"/>
              <a:t>when we </a:t>
            </a:r>
            <a:r>
              <a:rPr lang="en-US" i="1" noProof="0" dirty="0"/>
              <a:t>do</a:t>
            </a:r>
            <a:r>
              <a:rPr lang="en-US" noProof="0" dirty="0"/>
              <a:t> X, </a:t>
            </a:r>
          </a:p>
          <a:p>
            <a:pPr marL="0" indent="0" algn="ctr">
              <a:buNone/>
            </a:pPr>
            <a:r>
              <a:rPr lang="en-US" noProof="0" dirty="0"/>
              <a:t>we observe Y.</a:t>
            </a:r>
          </a:p>
        </p:txBody>
      </p:sp>
    </p:spTree>
    <p:extLst>
      <p:ext uri="{BB962C8B-B14F-4D97-AF65-F5344CB8AC3E}">
        <p14:creationId xmlns:p14="http://schemas.microsoft.com/office/powerpoint/2010/main" val="11301957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9" grpId="0"/>
      <p:bldP spid="14" grpId="0"/>
      <p:bldP spid="2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926E0F-6D3C-7CB6-3EBC-D30E7B418EA4}"/>
              </a:ext>
            </a:extLst>
          </p:cNvPr>
          <p:cNvSpPr>
            <a:spLocks noGrp="1"/>
          </p:cNvSpPr>
          <p:nvPr>
            <p:ph type="title"/>
          </p:nvPr>
        </p:nvSpPr>
        <p:spPr/>
        <p:txBody>
          <a:bodyPr/>
          <a:lstStyle/>
          <a:p>
            <a:r>
              <a:rPr lang="en-US" noProof="0" dirty="0"/>
              <a:t>Experimental vs. Observational Studies</a:t>
            </a:r>
          </a:p>
        </p:txBody>
      </p:sp>
      <p:sp>
        <p:nvSpPr>
          <p:cNvPr id="3" name="Content Placeholder 2">
            <a:extLst>
              <a:ext uri="{FF2B5EF4-FFF2-40B4-BE49-F238E27FC236}">
                <a16:creationId xmlns:a16="http://schemas.microsoft.com/office/drawing/2014/main" id="{7D9E17BD-9ECC-584F-CE66-DA619E01909F}"/>
              </a:ext>
            </a:extLst>
          </p:cNvPr>
          <p:cNvSpPr>
            <a:spLocks noGrp="1"/>
          </p:cNvSpPr>
          <p:nvPr>
            <p:ph idx="1"/>
          </p:nvPr>
        </p:nvSpPr>
        <p:spPr/>
        <p:txBody>
          <a:bodyPr/>
          <a:lstStyle/>
          <a:p>
            <a:pPr marL="0" indent="0">
              <a:buNone/>
            </a:pPr>
            <a:r>
              <a:rPr lang="en-US" noProof="0" dirty="0"/>
              <a:t>One ”straightforward” way to distinguish correlation from causality: </a:t>
            </a:r>
            <a:r>
              <a:rPr lang="en-US" b="1" noProof="0" dirty="0"/>
              <a:t>conduct a controlled experiment</a:t>
            </a:r>
            <a:r>
              <a:rPr lang="en-US" noProof="0" dirty="0"/>
              <a:t>, where we exert control over a treatment and isolate its effect from all confounding.</a:t>
            </a:r>
          </a:p>
        </p:txBody>
      </p:sp>
      <p:sp>
        <p:nvSpPr>
          <p:cNvPr id="4" name="Date Placeholder 3">
            <a:extLst>
              <a:ext uri="{FF2B5EF4-FFF2-40B4-BE49-F238E27FC236}">
                <a16:creationId xmlns:a16="http://schemas.microsoft.com/office/drawing/2014/main" id="{831E049E-8069-3730-02A1-D5A5832CBA6F}"/>
              </a:ext>
            </a:extLst>
          </p:cNvPr>
          <p:cNvSpPr>
            <a:spLocks noGrp="1"/>
          </p:cNvSpPr>
          <p:nvPr>
            <p:ph type="dt" sz="half" idx="10"/>
          </p:nvPr>
        </p:nvSpPr>
        <p:spPr/>
        <p:txBody>
          <a:bodyPr/>
          <a:lstStyle/>
          <a:p>
            <a:fld id="{403A2FDA-9B6F-4F19-BB52-15CB2FEB03DD}" type="datetime1">
              <a:rPr lang="en-US" noProof="0" smtClean="0"/>
              <a:t>6/17/2026</a:t>
            </a:fld>
            <a:endParaRPr lang="en-US" noProof="0" dirty="0"/>
          </a:p>
        </p:txBody>
      </p:sp>
      <p:sp>
        <p:nvSpPr>
          <p:cNvPr id="5" name="Footer Placeholder 4">
            <a:extLst>
              <a:ext uri="{FF2B5EF4-FFF2-40B4-BE49-F238E27FC236}">
                <a16:creationId xmlns:a16="http://schemas.microsoft.com/office/drawing/2014/main" id="{CE80D031-B52A-B22D-65AD-5208E3DA92BB}"/>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4C84C927-AF2D-C904-AE32-16D8D39E9E29}"/>
              </a:ext>
            </a:extLst>
          </p:cNvPr>
          <p:cNvSpPr>
            <a:spLocks noGrp="1"/>
          </p:cNvSpPr>
          <p:nvPr>
            <p:ph type="sldNum" sz="quarter" idx="12"/>
          </p:nvPr>
        </p:nvSpPr>
        <p:spPr/>
        <p:txBody>
          <a:bodyPr/>
          <a:lstStyle/>
          <a:p>
            <a:fld id="{0FA2D919-C0DE-4971-A2E9-D4AC0031921B}" type="slidenum">
              <a:rPr lang="en-US" noProof="0" smtClean="0"/>
              <a:t>7</a:t>
            </a:fld>
            <a:endParaRPr lang="en-US" noProof="0" dirty="0"/>
          </a:p>
        </p:txBody>
      </p:sp>
      <p:grpSp>
        <p:nvGrpSpPr>
          <p:cNvPr id="12" name="Group 11">
            <a:extLst>
              <a:ext uri="{FF2B5EF4-FFF2-40B4-BE49-F238E27FC236}">
                <a16:creationId xmlns:a16="http://schemas.microsoft.com/office/drawing/2014/main" id="{E6B67477-AF0B-1623-5BA2-BE5B3D2C0FDD}"/>
              </a:ext>
            </a:extLst>
          </p:cNvPr>
          <p:cNvGrpSpPr/>
          <p:nvPr/>
        </p:nvGrpSpPr>
        <p:grpSpPr>
          <a:xfrm>
            <a:off x="955244" y="3429000"/>
            <a:ext cx="2403652" cy="2132630"/>
            <a:chOff x="4894174" y="3429000"/>
            <a:chExt cx="2403652" cy="2132630"/>
          </a:xfrm>
        </p:grpSpPr>
        <p:grpSp>
          <p:nvGrpSpPr>
            <p:cNvPr id="10" name="Group 9">
              <a:extLst>
                <a:ext uri="{FF2B5EF4-FFF2-40B4-BE49-F238E27FC236}">
                  <a16:creationId xmlns:a16="http://schemas.microsoft.com/office/drawing/2014/main" id="{5AFD7788-9DF3-6427-4BFB-03391A89DE67}"/>
                </a:ext>
              </a:extLst>
            </p:cNvPr>
            <p:cNvGrpSpPr/>
            <p:nvPr/>
          </p:nvGrpSpPr>
          <p:grpSpPr>
            <a:xfrm>
              <a:off x="5556000" y="3429000"/>
              <a:ext cx="1080000" cy="1080000"/>
              <a:chOff x="3313786" y="3686861"/>
              <a:chExt cx="1080000" cy="1080000"/>
            </a:xfrm>
          </p:grpSpPr>
          <p:sp>
            <p:nvSpPr>
              <p:cNvPr id="7" name="Oval 6">
                <a:extLst>
                  <a:ext uri="{FF2B5EF4-FFF2-40B4-BE49-F238E27FC236}">
                    <a16:creationId xmlns:a16="http://schemas.microsoft.com/office/drawing/2014/main" id="{398E7490-2C0F-E8A8-0921-F6AE05674F4C}"/>
                  </a:ext>
                </a:extLst>
              </p:cNvPr>
              <p:cNvSpPr/>
              <p:nvPr/>
            </p:nvSpPr>
            <p:spPr>
              <a:xfrm>
                <a:off x="3313786" y="3686861"/>
                <a:ext cx="1080000" cy="1080000"/>
              </a:xfrm>
              <a:prstGeom prst="ellipse">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9" name="Graphic 8" descr="Flying Money with solid fill">
                <a:extLst>
                  <a:ext uri="{FF2B5EF4-FFF2-40B4-BE49-F238E27FC236}">
                    <a16:creationId xmlns:a16="http://schemas.microsoft.com/office/drawing/2014/main" id="{3ABC9A5C-0899-D4BD-0FC1-68778363AAE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96586" y="3769661"/>
                <a:ext cx="914400" cy="914400"/>
              </a:xfrm>
              <a:prstGeom prst="rect">
                <a:avLst/>
              </a:prstGeom>
            </p:spPr>
          </p:pic>
        </p:grpSp>
        <p:sp>
          <p:nvSpPr>
            <p:cNvPr id="11" name="TextBox 10">
              <a:extLst>
                <a:ext uri="{FF2B5EF4-FFF2-40B4-BE49-F238E27FC236}">
                  <a16:creationId xmlns:a16="http://schemas.microsoft.com/office/drawing/2014/main" id="{6192D482-2076-DA9C-2F2A-DD11ED57A98E}"/>
                </a:ext>
              </a:extLst>
            </p:cNvPr>
            <p:cNvSpPr txBox="1"/>
            <p:nvPr/>
          </p:nvSpPr>
          <p:spPr>
            <a:xfrm>
              <a:off x="4894174" y="4669078"/>
              <a:ext cx="2403652" cy="892552"/>
            </a:xfrm>
            <a:prstGeom prst="rect">
              <a:avLst/>
            </a:prstGeom>
            <a:noFill/>
          </p:spPr>
          <p:txBody>
            <a:bodyPr wrap="square" rtlCol="0">
              <a:spAutoFit/>
            </a:bodyPr>
            <a:lstStyle/>
            <a:p>
              <a:pPr algn="ctr"/>
              <a:r>
                <a:rPr lang="en-US" b="1" noProof="0" dirty="0"/>
                <a:t>Expensive</a:t>
              </a:r>
            </a:p>
            <a:p>
              <a:pPr algn="ctr"/>
              <a:r>
                <a:rPr lang="en-US" sz="1600" noProof="0" dirty="0"/>
                <a:t>Recruiting eligible participants is difficult </a:t>
              </a:r>
            </a:p>
          </p:txBody>
        </p:sp>
      </p:grpSp>
      <p:grpSp>
        <p:nvGrpSpPr>
          <p:cNvPr id="23" name="Group 22">
            <a:extLst>
              <a:ext uri="{FF2B5EF4-FFF2-40B4-BE49-F238E27FC236}">
                <a16:creationId xmlns:a16="http://schemas.microsoft.com/office/drawing/2014/main" id="{A5C0B264-5B48-DF38-5270-D3303FE93FED}"/>
              </a:ext>
            </a:extLst>
          </p:cNvPr>
          <p:cNvGrpSpPr/>
          <p:nvPr/>
        </p:nvGrpSpPr>
        <p:grpSpPr>
          <a:xfrm>
            <a:off x="3492902" y="3429000"/>
            <a:ext cx="2403652" cy="2101852"/>
            <a:chOff x="4894174" y="3429000"/>
            <a:chExt cx="2403652" cy="2101852"/>
          </a:xfrm>
        </p:grpSpPr>
        <p:grpSp>
          <p:nvGrpSpPr>
            <p:cNvPr id="24" name="Group 23">
              <a:extLst>
                <a:ext uri="{FF2B5EF4-FFF2-40B4-BE49-F238E27FC236}">
                  <a16:creationId xmlns:a16="http://schemas.microsoft.com/office/drawing/2014/main" id="{717A8823-0719-8D1E-39F5-095D4C01FDFF}"/>
                </a:ext>
              </a:extLst>
            </p:cNvPr>
            <p:cNvGrpSpPr/>
            <p:nvPr/>
          </p:nvGrpSpPr>
          <p:grpSpPr>
            <a:xfrm>
              <a:off x="5556000" y="3429000"/>
              <a:ext cx="1080000" cy="1080000"/>
              <a:chOff x="3313786" y="3686861"/>
              <a:chExt cx="1080000" cy="1080000"/>
            </a:xfrm>
          </p:grpSpPr>
          <p:sp>
            <p:nvSpPr>
              <p:cNvPr id="26" name="Oval 25">
                <a:extLst>
                  <a:ext uri="{FF2B5EF4-FFF2-40B4-BE49-F238E27FC236}">
                    <a16:creationId xmlns:a16="http://schemas.microsoft.com/office/drawing/2014/main" id="{6EA48B92-9EC2-A025-8C5F-8B753D185662}"/>
                  </a:ext>
                </a:extLst>
              </p:cNvPr>
              <p:cNvSpPr/>
              <p:nvPr/>
            </p:nvSpPr>
            <p:spPr>
              <a:xfrm>
                <a:off x="3313786" y="3686861"/>
                <a:ext cx="1080000" cy="1080000"/>
              </a:xfrm>
              <a:prstGeom prst="ellipse">
                <a:avLst/>
              </a:prstGeom>
              <a:solidFill>
                <a:schemeClr val="accent1">
                  <a:lumMod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27" name="Graphic 26" descr="Forest scene with solid fill">
                <a:extLst>
                  <a:ext uri="{FF2B5EF4-FFF2-40B4-BE49-F238E27FC236}">
                    <a16:creationId xmlns:a16="http://schemas.microsoft.com/office/drawing/2014/main" id="{35BE519F-3E92-4F93-D6E8-65E5C181DC2E}"/>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3396586" y="3769661"/>
                <a:ext cx="914400" cy="914400"/>
              </a:xfrm>
              <a:prstGeom prst="rect">
                <a:avLst/>
              </a:prstGeom>
            </p:spPr>
          </p:pic>
        </p:grpSp>
        <p:sp>
          <p:nvSpPr>
            <p:cNvPr id="25" name="TextBox 24">
              <a:extLst>
                <a:ext uri="{FF2B5EF4-FFF2-40B4-BE49-F238E27FC236}">
                  <a16:creationId xmlns:a16="http://schemas.microsoft.com/office/drawing/2014/main" id="{70E4E1AC-CBEE-D673-1DD4-DD0C3DCFE979}"/>
                </a:ext>
              </a:extLst>
            </p:cNvPr>
            <p:cNvSpPr txBox="1"/>
            <p:nvPr/>
          </p:nvSpPr>
          <p:spPr>
            <a:xfrm>
              <a:off x="4894174" y="4669078"/>
              <a:ext cx="2403652" cy="861774"/>
            </a:xfrm>
            <a:prstGeom prst="rect">
              <a:avLst/>
            </a:prstGeom>
            <a:noFill/>
          </p:spPr>
          <p:txBody>
            <a:bodyPr wrap="square" rtlCol="0">
              <a:spAutoFit/>
            </a:bodyPr>
            <a:lstStyle/>
            <a:p>
              <a:pPr algn="ctr"/>
              <a:r>
                <a:rPr lang="en-US" b="1" noProof="0" dirty="0"/>
                <a:t>Unrealistic</a:t>
              </a:r>
            </a:p>
            <a:p>
              <a:pPr algn="ctr"/>
              <a:r>
                <a:rPr lang="en-US" sz="1600" noProof="0" dirty="0"/>
                <a:t>Experiments perturb the natural context</a:t>
              </a:r>
            </a:p>
          </p:txBody>
        </p:sp>
      </p:grpSp>
      <p:grpSp>
        <p:nvGrpSpPr>
          <p:cNvPr id="33" name="Group 32">
            <a:extLst>
              <a:ext uri="{FF2B5EF4-FFF2-40B4-BE49-F238E27FC236}">
                <a16:creationId xmlns:a16="http://schemas.microsoft.com/office/drawing/2014/main" id="{EBBD9692-1549-B8CF-73F0-60F62EECE3EB}"/>
              </a:ext>
            </a:extLst>
          </p:cNvPr>
          <p:cNvGrpSpPr/>
          <p:nvPr/>
        </p:nvGrpSpPr>
        <p:grpSpPr>
          <a:xfrm>
            <a:off x="6030560" y="3429000"/>
            <a:ext cx="2403652" cy="2101852"/>
            <a:chOff x="4894174" y="3429000"/>
            <a:chExt cx="2403652" cy="2101852"/>
          </a:xfrm>
        </p:grpSpPr>
        <p:grpSp>
          <p:nvGrpSpPr>
            <p:cNvPr id="34" name="Group 33">
              <a:extLst>
                <a:ext uri="{FF2B5EF4-FFF2-40B4-BE49-F238E27FC236}">
                  <a16:creationId xmlns:a16="http://schemas.microsoft.com/office/drawing/2014/main" id="{7E152CBB-69B5-AC9F-E6B5-2437F524A400}"/>
                </a:ext>
              </a:extLst>
            </p:cNvPr>
            <p:cNvGrpSpPr/>
            <p:nvPr/>
          </p:nvGrpSpPr>
          <p:grpSpPr>
            <a:xfrm>
              <a:off x="5556000" y="3429000"/>
              <a:ext cx="1080000" cy="1080000"/>
              <a:chOff x="3313786" y="3686861"/>
              <a:chExt cx="1080000" cy="1080000"/>
            </a:xfrm>
          </p:grpSpPr>
          <p:sp>
            <p:nvSpPr>
              <p:cNvPr id="36" name="Oval 35">
                <a:extLst>
                  <a:ext uri="{FF2B5EF4-FFF2-40B4-BE49-F238E27FC236}">
                    <a16:creationId xmlns:a16="http://schemas.microsoft.com/office/drawing/2014/main" id="{11B1B7D8-758A-EC52-D562-1D663C96BE59}"/>
                  </a:ext>
                </a:extLst>
              </p:cNvPr>
              <p:cNvSpPr/>
              <p:nvPr/>
            </p:nvSpPr>
            <p:spPr>
              <a:xfrm>
                <a:off x="3313786" y="3686861"/>
                <a:ext cx="1080000" cy="1080000"/>
              </a:xfrm>
              <a:prstGeom prst="ellipse">
                <a:avLst/>
              </a:prstGeom>
              <a:solidFill>
                <a:schemeClr val="accent1">
                  <a:lumMod val="60000"/>
                  <a:lumOff val="4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37" name="Graphic 36" descr="Right Brain with solid fill">
                <a:extLst>
                  <a:ext uri="{FF2B5EF4-FFF2-40B4-BE49-F238E27FC236}">
                    <a16:creationId xmlns:a16="http://schemas.microsoft.com/office/drawing/2014/main" id="{CC1E6FD6-6AAA-1754-20F6-B79D6CC48118}"/>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3396586" y="3769661"/>
                <a:ext cx="914400" cy="914400"/>
              </a:xfrm>
              <a:prstGeom prst="rect">
                <a:avLst/>
              </a:prstGeom>
            </p:spPr>
          </p:pic>
        </p:grpSp>
        <p:sp>
          <p:nvSpPr>
            <p:cNvPr id="35" name="TextBox 34">
              <a:extLst>
                <a:ext uri="{FF2B5EF4-FFF2-40B4-BE49-F238E27FC236}">
                  <a16:creationId xmlns:a16="http://schemas.microsoft.com/office/drawing/2014/main" id="{8E12ECA0-BF47-69CA-2F7E-0EFD81CC7C1C}"/>
                </a:ext>
              </a:extLst>
            </p:cNvPr>
            <p:cNvSpPr txBox="1"/>
            <p:nvPr/>
          </p:nvSpPr>
          <p:spPr>
            <a:xfrm>
              <a:off x="4894174" y="4669078"/>
              <a:ext cx="2403652" cy="861774"/>
            </a:xfrm>
            <a:prstGeom prst="rect">
              <a:avLst/>
            </a:prstGeom>
            <a:noFill/>
          </p:spPr>
          <p:txBody>
            <a:bodyPr wrap="square" rtlCol="0">
              <a:spAutoFit/>
            </a:bodyPr>
            <a:lstStyle/>
            <a:p>
              <a:pPr algn="ctr"/>
              <a:r>
                <a:rPr lang="en-US" b="1" noProof="0" dirty="0"/>
                <a:t>Impossible</a:t>
              </a:r>
            </a:p>
            <a:p>
              <a:pPr algn="ctr"/>
              <a:r>
                <a:rPr lang="en-US" sz="1600" noProof="0" dirty="0"/>
                <a:t>Some factors are impossible to control</a:t>
              </a:r>
            </a:p>
          </p:txBody>
        </p:sp>
      </p:grpSp>
      <p:grpSp>
        <p:nvGrpSpPr>
          <p:cNvPr id="38" name="Group 37">
            <a:extLst>
              <a:ext uri="{FF2B5EF4-FFF2-40B4-BE49-F238E27FC236}">
                <a16:creationId xmlns:a16="http://schemas.microsoft.com/office/drawing/2014/main" id="{F348F97D-AB27-9FC0-7E0C-86FAE05BB410}"/>
              </a:ext>
            </a:extLst>
          </p:cNvPr>
          <p:cNvGrpSpPr/>
          <p:nvPr/>
        </p:nvGrpSpPr>
        <p:grpSpPr>
          <a:xfrm>
            <a:off x="8568218" y="3429000"/>
            <a:ext cx="2403652" cy="2594295"/>
            <a:chOff x="4894174" y="3429000"/>
            <a:chExt cx="2403652" cy="2594295"/>
          </a:xfrm>
        </p:grpSpPr>
        <p:grpSp>
          <p:nvGrpSpPr>
            <p:cNvPr id="39" name="Group 38">
              <a:extLst>
                <a:ext uri="{FF2B5EF4-FFF2-40B4-BE49-F238E27FC236}">
                  <a16:creationId xmlns:a16="http://schemas.microsoft.com/office/drawing/2014/main" id="{DF097F5B-10A9-0F02-1292-E434DFA8477D}"/>
                </a:ext>
              </a:extLst>
            </p:cNvPr>
            <p:cNvGrpSpPr/>
            <p:nvPr/>
          </p:nvGrpSpPr>
          <p:grpSpPr>
            <a:xfrm>
              <a:off x="5556000" y="3429000"/>
              <a:ext cx="1080000" cy="1080000"/>
              <a:chOff x="3313786" y="3686861"/>
              <a:chExt cx="1080000" cy="1080000"/>
            </a:xfrm>
          </p:grpSpPr>
          <p:sp>
            <p:nvSpPr>
              <p:cNvPr id="41" name="Oval 40">
                <a:extLst>
                  <a:ext uri="{FF2B5EF4-FFF2-40B4-BE49-F238E27FC236}">
                    <a16:creationId xmlns:a16="http://schemas.microsoft.com/office/drawing/2014/main" id="{0BB6DDAC-EF08-61B1-AE3E-ED8D582D62B8}"/>
                  </a:ext>
                </a:extLst>
              </p:cNvPr>
              <p:cNvSpPr/>
              <p:nvPr/>
            </p:nvSpPr>
            <p:spPr>
              <a:xfrm>
                <a:off x="3313786" y="3686861"/>
                <a:ext cx="1080000" cy="1080000"/>
              </a:xfrm>
              <a:prstGeom prst="ellipse">
                <a:avLst/>
              </a:prstGeom>
              <a:solidFill>
                <a:schemeClr val="accent1">
                  <a:lumMod val="40000"/>
                  <a:lumOff val="6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42" name="Graphic 41" descr="Bar chart with solid fill">
                <a:extLst>
                  <a:ext uri="{FF2B5EF4-FFF2-40B4-BE49-F238E27FC236}">
                    <a16:creationId xmlns:a16="http://schemas.microsoft.com/office/drawing/2014/main" id="{02D681B4-E588-25CA-DF28-623910AABBCF}"/>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3396586" y="3769661"/>
                <a:ext cx="914400" cy="914400"/>
              </a:xfrm>
              <a:prstGeom prst="rect">
                <a:avLst/>
              </a:prstGeom>
            </p:spPr>
          </p:pic>
        </p:grpSp>
        <p:sp>
          <p:nvSpPr>
            <p:cNvPr id="40" name="TextBox 39">
              <a:extLst>
                <a:ext uri="{FF2B5EF4-FFF2-40B4-BE49-F238E27FC236}">
                  <a16:creationId xmlns:a16="http://schemas.microsoft.com/office/drawing/2014/main" id="{18C5D87B-90D1-41E2-FFA2-23688B8A3358}"/>
                </a:ext>
              </a:extLst>
            </p:cNvPr>
            <p:cNvSpPr txBox="1"/>
            <p:nvPr/>
          </p:nvSpPr>
          <p:spPr>
            <a:xfrm>
              <a:off x="4894174" y="4669078"/>
              <a:ext cx="2403652" cy="1354217"/>
            </a:xfrm>
            <a:prstGeom prst="rect">
              <a:avLst/>
            </a:prstGeom>
            <a:noFill/>
          </p:spPr>
          <p:txBody>
            <a:bodyPr wrap="square" rtlCol="0">
              <a:spAutoFit/>
            </a:bodyPr>
            <a:lstStyle/>
            <a:p>
              <a:pPr algn="ctr"/>
              <a:r>
                <a:rPr lang="en-US" b="1" noProof="0" dirty="0"/>
                <a:t>Assumed</a:t>
              </a:r>
            </a:p>
            <a:p>
              <a:pPr algn="ctr"/>
              <a:r>
                <a:rPr lang="en-US" sz="1600" noProof="0" dirty="0"/>
                <a:t>The validity of experimental results depends on several conditions</a:t>
              </a:r>
            </a:p>
          </p:txBody>
        </p:sp>
      </p:grpSp>
    </p:spTree>
    <p:extLst>
      <p:ext uri="{BB962C8B-B14F-4D97-AF65-F5344CB8AC3E}">
        <p14:creationId xmlns:p14="http://schemas.microsoft.com/office/powerpoint/2010/main" val="27569416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6E76B28-07A6-8A80-934E-7ED4486260EE}"/>
              </a:ext>
            </a:extLst>
          </p:cNvPr>
          <p:cNvSpPr>
            <a:spLocks noGrp="1"/>
          </p:cNvSpPr>
          <p:nvPr>
            <p:ph type="title"/>
          </p:nvPr>
        </p:nvSpPr>
        <p:spPr/>
        <p:txBody>
          <a:bodyPr/>
          <a:lstStyle/>
          <a:p>
            <a:r>
              <a:rPr lang="en-SE" dirty="0"/>
              <a:t>Causal Modelling</a:t>
            </a:r>
          </a:p>
        </p:txBody>
      </p:sp>
      <p:sp>
        <p:nvSpPr>
          <p:cNvPr id="7" name="Text Placeholder 6">
            <a:extLst>
              <a:ext uri="{FF2B5EF4-FFF2-40B4-BE49-F238E27FC236}">
                <a16:creationId xmlns:a16="http://schemas.microsoft.com/office/drawing/2014/main" id="{4343B233-1733-892B-6BDD-2841F11698D0}"/>
              </a:ext>
            </a:extLst>
          </p:cNvPr>
          <p:cNvSpPr>
            <a:spLocks noGrp="1"/>
          </p:cNvSpPr>
          <p:nvPr>
            <p:ph type="body" idx="1"/>
          </p:nvPr>
        </p:nvSpPr>
        <p:spPr/>
        <p:txBody>
          <a:bodyPr/>
          <a:lstStyle/>
          <a:p>
            <a:r>
              <a:rPr lang="en-SE" dirty="0"/>
              <a:t>Framing Causal Assumptions</a:t>
            </a:r>
          </a:p>
        </p:txBody>
      </p:sp>
      <p:sp>
        <p:nvSpPr>
          <p:cNvPr id="4" name="Date Placeholder 3">
            <a:extLst>
              <a:ext uri="{FF2B5EF4-FFF2-40B4-BE49-F238E27FC236}">
                <a16:creationId xmlns:a16="http://schemas.microsoft.com/office/drawing/2014/main" id="{F8C57C07-FA78-364F-0DBC-8AC3852CE773}"/>
              </a:ext>
            </a:extLst>
          </p:cNvPr>
          <p:cNvSpPr>
            <a:spLocks noGrp="1"/>
          </p:cNvSpPr>
          <p:nvPr>
            <p:ph type="dt" sz="half" idx="10"/>
          </p:nvPr>
        </p:nvSpPr>
        <p:spPr/>
        <p:txBody>
          <a:bodyPr/>
          <a:lstStyle/>
          <a:p>
            <a:fld id="{A1C06950-82F8-45F4-A28D-9FBF8CAE29F7}" type="datetime1">
              <a:rPr lang="de-DE" smtClean="0"/>
              <a:t>17.06.2026</a:t>
            </a:fld>
            <a:endParaRPr lang="en-SE"/>
          </a:p>
        </p:txBody>
      </p:sp>
      <p:sp>
        <p:nvSpPr>
          <p:cNvPr id="5" name="Slide Number Placeholder 4">
            <a:extLst>
              <a:ext uri="{FF2B5EF4-FFF2-40B4-BE49-F238E27FC236}">
                <a16:creationId xmlns:a16="http://schemas.microsoft.com/office/drawing/2014/main" id="{102C1D4A-A91D-46FB-382E-EDEF00A2CE33}"/>
              </a:ext>
            </a:extLst>
          </p:cNvPr>
          <p:cNvSpPr>
            <a:spLocks noGrp="1"/>
          </p:cNvSpPr>
          <p:nvPr>
            <p:ph type="sldNum" sz="quarter" idx="12"/>
          </p:nvPr>
        </p:nvSpPr>
        <p:spPr/>
        <p:txBody>
          <a:bodyPr/>
          <a:lstStyle/>
          <a:p>
            <a:fld id="{271ECC92-9CDE-4EB3-B1C5-F46B9E1FA3C1}" type="slidenum">
              <a:rPr lang="en-SE" smtClean="0"/>
              <a:t>8</a:t>
            </a:fld>
            <a:endParaRPr lang="en-SE"/>
          </a:p>
        </p:txBody>
      </p:sp>
    </p:spTree>
    <p:extLst>
      <p:ext uri="{BB962C8B-B14F-4D97-AF65-F5344CB8AC3E}">
        <p14:creationId xmlns:p14="http://schemas.microsoft.com/office/powerpoint/2010/main" val="33486357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7A01D5-E46A-3D2F-2040-19A469994ACF}"/>
              </a:ext>
            </a:extLst>
          </p:cNvPr>
          <p:cNvSpPr>
            <a:spLocks noGrp="1"/>
          </p:cNvSpPr>
          <p:nvPr>
            <p:ph type="title"/>
          </p:nvPr>
        </p:nvSpPr>
        <p:spPr/>
        <p:txBody>
          <a:bodyPr/>
          <a:lstStyle/>
          <a:p>
            <a:r>
              <a:rPr lang="en-US" noProof="0" dirty="0"/>
              <a:t>Causal Modeling</a:t>
            </a:r>
          </a:p>
        </p:txBody>
      </p:sp>
      <p:sp>
        <p:nvSpPr>
          <p:cNvPr id="3" name="Content Placeholder 2">
            <a:extLst>
              <a:ext uri="{FF2B5EF4-FFF2-40B4-BE49-F238E27FC236}">
                <a16:creationId xmlns:a16="http://schemas.microsoft.com/office/drawing/2014/main" id="{268C1ED3-CD9B-41F7-C616-17DFEBB418D3}"/>
              </a:ext>
            </a:extLst>
          </p:cNvPr>
          <p:cNvSpPr>
            <a:spLocks noGrp="1"/>
          </p:cNvSpPr>
          <p:nvPr>
            <p:ph idx="1"/>
          </p:nvPr>
        </p:nvSpPr>
        <p:spPr>
          <a:xfrm>
            <a:off x="838200" y="1825625"/>
            <a:ext cx="10515600" cy="1648155"/>
          </a:xfrm>
        </p:spPr>
        <p:txBody>
          <a:bodyPr/>
          <a:lstStyle/>
          <a:p>
            <a:pPr marL="0" indent="0">
              <a:buNone/>
            </a:pPr>
            <a:r>
              <a:rPr lang="en-US" b="1" noProof="0" dirty="0"/>
              <a:t>Directed, acyclic graphs </a:t>
            </a:r>
            <a:r>
              <a:rPr lang="en-US" noProof="0" dirty="0"/>
              <a:t>(DAGs) can represent causal assumptions, where </a:t>
            </a:r>
            <a:r>
              <a:rPr lang="en-US" i="1" noProof="0" dirty="0"/>
              <a:t>nodes represent variables </a:t>
            </a:r>
            <a:r>
              <a:rPr lang="en-US" noProof="0" dirty="0"/>
              <a:t>and </a:t>
            </a:r>
            <a:r>
              <a:rPr lang="en-US" i="1" noProof="0" dirty="0"/>
              <a:t>edges represent assumed/potential causal relationships </a:t>
            </a:r>
            <a:r>
              <a:rPr lang="en-US" noProof="0" dirty="0"/>
              <a:t>between those variables. </a:t>
            </a:r>
          </a:p>
        </p:txBody>
      </p:sp>
      <p:sp>
        <p:nvSpPr>
          <p:cNvPr id="4" name="Date Placeholder 3">
            <a:extLst>
              <a:ext uri="{FF2B5EF4-FFF2-40B4-BE49-F238E27FC236}">
                <a16:creationId xmlns:a16="http://schemas.microsoft.com/office/drawing/2014/main" id="{D3ECDEA1-9251-8010-9BDF-96EB0C689E28}"/>
              </a:ext>
            </a:extLst>
          </p:cNvPr>
          <p:cNvSpPr>
            <a:spLocks noGrp="1"/>
          </p:cNvSpPr>
          <p:nvPr>
            <p:ph type="dt" sz="half" idx="10"/>
          </p:nvPr>
        </p:nvSpPr>
        <p:spPr/>
        <p:txBody>
          <a:bodyPr/>
          <a:lstStyle/>
          <a:p>
            <a:fld id="{403A2FDA-9B6F-4F19-BB52-15CB2FEB03DD}" type="datetime1">
              <a:rPr lang="en-US" noProof="0" smtClean="0"/>
              <a:t>6/17/2026</a:t>
            </a:fld>
            <a:endParaRPr lang="en-US" noProof="0" dirty="0"/>
          </a:p>
        </p:txBody>
      </p:sp>
      <p:sp>
        <p:nvSpPr>
          <p:cNvPr id="5" name="Footer Placeholder 4">
            <a:extLst>
              <a:ext uri="{FF2B5EF4-FFF2-40B4-BE49-F238E27FC236}">
                <a16:creationId xmlns:a16="http://schemas.microsoft.com/office/drawing/2014/main" id="{C9BBC3B8-D200-43BE-3E66-C6281791291B}"/>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49A06E96-EAC8-884A-18DB-A872B14C1C4B}"/>
              </a:ext>
            </a:extLst>
          </p:cNvPr>
          <p:cNvSpPr>
            <a:spLocks noGrp="1"/>
          </p:cNvSpPr>
          <p:nvPr>
            <p:ph type="sldNum" sz="quarter" idx="12"/>
          </p:nvPr>
        </p:nvSpPr>
        <p:spPr/>
        <p:txBody>
          <a:bodyPr/>
          <a:lstStyle/>
          <a:p>
            <a:fld id="{0FA2D919-C0DE-4971-A2E9-D4AC0031921B}" type="slidenum">
              <a:rPr lang="en-US" noProof="0" smtClean="0"/>
              <a:t>9</a:t>
            </a:fld>
            <a:endParaRPr lang="en-US" noProof="0" dirty="0"/>
          </a:p>
        </p:txBody>
      </p:sp>
      <p:sp>
        <p:nvSpPr>
          <p:cNvPr id="7" name="Oval 6">
            <a:extLst>
              <a:ext uri="{FF2B5EF4-FFF2-40B4-BE49-F238E27FC236}">
                <a16:creationId xmlns:a16="http://schemas.microsoft.com/office/drawing/2014/main" id="{E29DF2B2-1294-E509-291E-087811B57916}"/>
              </a:ext>
            </a:extLst>
          </p:cNvPr>
          <p:cNvSpPr/>
          <p:nvPr/>
        </p:nvSpPr>
        <p:spPr>
          <a:xfrm>
            <a:off x="1618046" y="3968441"/>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Oval 7">
            <a:extLst>
              <a:ext uri="{FF2B5EF4-FFF2-40B4-BE49-F238E27FC236}">
                <a16:creationId xmlns:a16="http://schemas.microsoft.com/office/drawing/2014/main" id="{939CE83A-5A3D-768C-F51B-5236EB03EB28}"/>
              </a:ext>
            </a:extLst>
          </p:cNvPr>
          <p:cNvSpPr/>
          <p:nvPr/>
        </p:nvSpPr>
        <p:spPr>
          <a:xfrm>
            <a:off x="4109426" y="3968441"/>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10" name="Straight Arrow Connector 9">
            <a:extLst>
              <a:ext uri="{FF2B5EF4-FFF2-40B4-BE49-F238E27FC236}">
                <a16:creationId xmlns:a16="http://schemas.microsoft.com/office/drawing/2014/main" id="{E1E7991C-5FE2-6232-D234-92F4BCB3C857}"/>
              </a:ext>
            </a:extLst>
          </p:cNvPr>
          <p:cNvCxnSpPr>
            <a:stCxn id="7" idx="6"/>
            <a:endCxn id="8" idx="2"/>
          </p:cNvCxnSpPr>
          <p:nvPr/>
        </p:nvCxnSpPr>
        <p:spPr>
          <a:xfrm>
            <a:off x="1978046" y="4148441"/>
            <a:ext cx="21313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1" name="TextBox 10">
            <a:extLst>
              <a:ext uri="{FF2B5EF4-FFF2-40B4-BE49-F238E27FC236}">
                <a16:creationId xmlns:a16="http://schemas.microsoft.com/office/drawing/2014/main" id="{C2BD42AF-E48E-7B51-DE49-8941430EC6D2}"/>
              </a:ext>
            </a:extLst>
          </p:cNvPr>
          <p:cNvSpPr txBox="1"/>
          <p:nvPr/>
        </p:nvSpPr>
        <p:spPr>
          <a:xfrm>
            <a:off x="956794" y="3509109"/>
            <a:ext cx="3081806" cy="369332"/>
          </a:xfrm>
          <a:prstGeom prst="rect">
            <a:avLst/>
          </a:prstGeom>
          <a:noFill/>
        </p:spPr>
        <p:txBody>
          <a:bodyPr wrap="none" rtlCol="0">
            <a:spAutoFit/>
          </a:bodyPr>
          <a:lstStyle/>
          <a:p>
            <a:r>
              <a:rPr lang="en-US" noProof="0" dirty="0">
                <a:solidFill>
                  <a:srgbClr val="D0180A"/>
                </a:solidFill>
              </a:rPr>
              <a:t>document reading technique</a:t>
            </a:r>
          </a:p>
        </p:txBody>
      </p:sp>
      <p:sp>
        <p:nvSpPr>
          <p:cNvPr id="12" name="TextBox 11">
            <a:extLst>
              <a:ext uri="{FF2B5EF4-FFF2-40B4-BE49-F238E27FC236}">
                <a16:creationId xmlns:a16="http://schemas.microsoft.com/office/drawing/2014/main" id="{5D552F5E-017B-6C53-D8E0-E7F2B4B2A9C7}"/>
              </a:ext>
            </a:extLst>
          </p:cNvPr>
          <p:cNvSpPr txBox="1"/>
          <p:nvPr/>
        </p:nvSpPr>
        <p:spPr>
          <a:xfrm>
            <a:off x="2882359" y="4396926"/>
            <a:ext cx="1921680" cy="369332"/>
          </a:xfrm>
          <a:prstGeom prst="rect">
            <a:avLst/>
          </a:prstGeom>
          <a:noFill/>
        </p:spPr>
        <p:txBody>
          <a:bodyPr wrap="none" rtlCol="0">
            <a:spAutoFit/>
          </a:bodyPr>
          <a:lstStyle/>
          <a:p>
            <a:r>
              <a:rPr lang="en-US" noProof="0" dirty="0">
                <a:solidFill>
                  <a:srgbClr val="006D70"/>
                </a:solidFill>
              </a:rPr>
              <a:t>identified defects</a:t>
            </a:r>
          </a:p>
        </p:txBody>
      </p:sp>
      <p:grpSp>
        <p:nvGrpSpPr>
          <p:cNvPr id="9" name="Group 8">
            <a:extLst>
              <a:ext uri="{FF2B5EF4-FFF2-40B4-BE49-F238E27FC236}">
                <a16:creationId xmlns:a16="http://schemas.microsoft.com/office/drawing/2014/main" id="{AC9E53DE-C33F-6F0F-B577-09D1BAEA87C4}"/>
              </a:ext>
            </a:extLst>
          </p:cNvPr>
          <p:cNvGrpSpPr/>
          <p:nvPr/>
        </p:nvGrpSpPr>
        <p:grpSpPr>
          <a:xfrm>
            <a:off x="6169980" y="3509109"/>
            <a:ext cx="5692291" cy="1604317"/>
            <a:chOff x="6169980" y="3509109"/>
            <a:chExt cx="5692291" cy="1604317"/>
          </a:xfrm>
        </p:grpSpPr>
        <p:sp>
          <p:nvSpPr>
            <p:cNvPr id="14" name="Oval 13">
              <a:extLst>
                <a:ext uri="{FF2B5EF4-FFF2-40B4-BE49-F238E27FC236}">
                  <a16:creationId xmlns:a16="http://schemas.microsoft.com/office/drawing/2014/main" id="{735E4827-12C0-027C-234F-9DD84F6191EB}"/>
                </a:ext>
              </a:extLst>
            </p:cNvPr>
            <p:cNvSpPr/>
            <p:nvPr/>
          </p:nvSpPr>
          <p:spPr>
            <a:xfrm>
              <a:off x="7666780" y="3968441"/>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Oval 14">
              <a:extLst>
                <a:ext uri="{FF2B5EF4-FFF2-40B4-BE49-F238E27FC236}">
                  <a16:creationId xmlns:a16="http://schemas.microsoft.com/office/drawing/2014/main" id="{D2DC2964-CB7F-2751-FF50-A4EE8CA7B5B1}"/>
                </a:ext>
              </a:extLst>
            </p:cNvPr>
            <p:cNvSpPr/>
            <p:nvPr/>
          </p:nvSpPr>
          <p:spPr>
            <a:xfrm>
              <a:off x="10158160" y="3968441"/>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16" name="Straight Arrow Connector 15">
              <a:extLst>
                <a:ext uri="{FF2B5EF4-FFF2-40B4-BE49-F238E27FC236}">
                  <a16:creationId xmlns:a16="http://schemas.microsoft.com/office/drawing/2014/main" id="{E7B0F98D-67A4-5225-43AF-40A40C93155B}"/>
                </a:ext>
              </a:extLst>
            </p:cNvPr>
            <p:cNvCxnSpPr>
              <a:stCxn id="14" idx="6"/>
              <a:endCxn id="15" idx="2"/>
            </p:cNvCxnSpPr>
            <p:nvPr/>
          </p:nvCxnSpPr>
          <p:spPr>
            <a:xfrm>
              <a:off x="8026780" y="4148441"/>
              <a:ext cx="21313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7" name="TextBox 16">
              <a:extLst>
                <a:ext uri="{FF2B5EF4-FFF2-40B4-BE49-F238E27FC236}">
                  <a16:creationId xmlns:a16="http://schemas.microsoft.com/office/drawing/2014/main" id="{4EFBCF18-C3E1-44FD-78AE-22C9C3A88B12}"/>
                </a:ext>
              </a:extLst>
            </p:cNvPr>
            <p:cNvSpPr txBox="1"/>
            <p:nvPr/>
          </p:nvSpPr>
          <p:spPr>
            <a:xfrm>
              <a:off x="6485877" y="3509109"/>
              <a:ext cx="3081806" cy="369332"/>
            </a:xfrm>
            <a:prstGeom prst="rect">
              <a:avLst/>
            </a:prstGeom>
            <a:noFill/>
          </p:spPr>
          <p:txBody>
            <a:bodyPr wrap="none" rtlCol="0">
              <a:spAutoFit/>
            </a:bodyPr>
            <a:lstStyle/>
            <a:p>
              <a:r>
                <a:rPr lang="en-US" noProof="0" dirty="0">
                  <a:solidFill>
                    <a:srgbClr val="D0180A"/>
                  </a:solidFill>
                </a:rPr>
                <a:t>document reading technique</a:t>
              </a:r>
            </a:p>
          </p:txBody>
        </p:sp>
        <p:sp>
          <p:nvSpPr>
            <p:cNvPr id="18" name="TextBox 17">
              <a:extLst>
                <a:ext uri="{FF2B5EF4-FFF2-40B4-BE49-F238E27FC236}">
                  <a16:creationId xmlns:a16="http://schemas.microsoft.com/office/drawing/2014/main" id="{E78C183F-0AF0-6378-D245-B9084C4B288A}"/>
                </a:ext>
              </a:extLst>
            </p:cNvPr>
            <p:cNvSpPr txBox="1"/>
            <p:nvPr/>
          </p:nvSpPr>
          <p:spPr>
            <a:xfrm>
              <a:off x="9940591" y="4403963"/>
              <a:ext cx="1921680" cy="369332"/>
            </a:xfrm>
            <a:prstGeom prst="rect">
              <a:avLst/>
            </a:prstGeom>
            <a:noFill/>
          </p:spPr>
          <p:txBody>
            <a:bodyPr wrap="none" rtlCol="0">
              <a:spAutoFit/>
            </a:bodyPr>
            <a:lstStyle/>
            <a:p>
              <a:r>
                <a:rPr lang="en-US" noProof="0" dirty="0">
                  <a:solidFill>
                    <a:srgbClr val="006D70"/>
                  </a:solidFill>
                </a:rPr>
                <a:t>identified defects</a:t>
              </a:r>
            </a:p>
          </p:txBody>
        </p:sp>
        <p:sp>
          <p:nvSpPr>
            <p:cNvPr id="19" name="Oval 18">
              <a:extLst>
                <a:ext uri="{FF2B5EF4-FFF2-40B4-BE49-F238E27FC236}">
                  <a16:creationId xmlns:a16="http://schemas.microsoft.com/office/drawing/2014/main" id="{525FBA5D-B19E-AE26-5D16-E0A6359250B7}"/>
                </a:ext>
              </a:extLst>
            </p:cNvPr>
            <p:cNvSpPr/>
            <p:nvPr/>
          </p:nvSpPr>
          <p:spPr>
            <a:xfrm>
              <a:off x="7666780" y="4744094"/>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Oval 19">
              <a:extLst>
                <a:ext uri="{FF2B5EF4-FFF2-40B4-BE49-F238E27FC236}">
                  <a16:creationId xmlns:a16="http://schemas.microsoft.com/office/drawing/2014/main" id="{56AA87ED-42BF-3907-AA2E-ECD69776208C}"/>
                </a:ext>
              </a:extLst>
            </p:cNvPr>
            <p:cNvSpPr/>
            <p:nvPr/>
          </p:nvSpPr>
          <p:spPr>
            <a:xfrm>
              <a:off x="9039374" y="4744094"/>
              <a:ext cx="360000" cy="360000"/>
            </a:xfrm>
            <a:prstGeom prst="ellipse">
              <a:avLst/>
            </a:prstGeom>
            <a:solidFill>
              <a:schemeClr val="bg1">
                <a:lumMod val="75000"/>
              </a:schemeClr>
            </a:solidFill>
            <a:ln>
              <a:solidFill>
                <a:schemeClr val="bg1">
                  <a:lumMod val="5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TextBox 20">
              <a:extLst>
                <a:ext uri="{FF2B5EF4-FFF2-40B4-BE49-F238E27FC236}">
                  <a16:creationId xmlns:a16="http://schemas.microsoft.com/office/drawing/2014/main" id="{34208AB7-6ABE-E78A-BB4D-D6EEAF512645}"/>
                </a:ext>
              </a:extLst>
            </p:cNvPr>
            <p:cNvSpPr txBox="1"/>
            <p:nvPr/>
          </p:nvSpPr>
          <p:spPr>
            <a:xfrm>
              <a:off x="9399374" y="4734762"/>
              <a:ext cx="1246239" cy="369332"/>
            </a:xfrm>
            <a:prstGeom prst="rect">
              <a:avLst/>
            </a:prstGeom>
            <a:noFill/>
          </p:spPr>
          <p:txBody>
            <a:bodyPr wrap="none" rtlCol="0">
              <a:spAutoFit/>
            </a:bodyPr>
            <a:lstStyle/>
            <a:p>
              <a:r>
                <a:rPr lang="en-US" noProof="0" dirty="0">
                  <a:solidFill>
                    <a:schemeClr val="tx1">
                      <a:lumMod val="65000"/>
                      <a:lumOff val="35000"/>
                    </a:schemeClr>
                  </a:solidFill>
                </a:rPr>
                <a:t>motivation</a:t>
              </a:r>
            </a:p>
          </p:txBody>
        </p:sp>
        <p:sp>
          <p:nvSpPr>
            <p:cNvPr id="22" name="TextBox 21">
              <a:extLst>
                <a:ext uri="{FF2B5EF4-FFF2-40B4-BE49-F238E27FC236}">
                  <a16:creationId xmlns:a16="http://schemas.microsoft.com/office/drawing/2014/main" id="{9BD8E16A-7AC8-E5FF-0282-43AA2045018D}"/>
                </a:ext>
              </a:extLst>
            </p:cNvPr>
            <p:cNvSpPr txBox="1"/>
            <p:nvPr/>
          </p:nvSpPr>
          <p:spPr>
            <a:xfrm>
              <a:off x="6169980" y="4744094"/>
              <a:ext cx="1455398" cy="369332"/>
            </a:xfrm>
            <a:prstGeom prst="rect">
              <a:avLst/>
            </a:prstGeom>
            <a:noFill/>
          </p:spPr>
          <p:txBody>
            <a:bodyPr wrap="none" rtlCol="0">
              <a:spAutoFit/>
            </a:bodyPr>
            <a:lstStyle/>
            <a:p>
              <a:pPr algn="r"/>
              <a:r>
                <a:rPr lang="en-US" noProof="0" dirty="0">
                  <a:solidFill>
                    <a:schemeClr val="tx1">
                      <a:lumMod val="65000"/>
                      <a:lumOff val="35000"/>
                    </a:schemeClr>
                  </a:solidFill>
                </a:rPr>
                <a:t>participation</a:t>
              </a:r>
            </a:p>
          </p:txBody>
        </p:sp>
        <p:cxnSp>
          <p:nvCxnSpPr>
            <p:cNvPr id="23" name="Straight Arrow Connector 22">
              <a:extLst>
                <a:ext uri="{FF2B5EF4-FFF2-40B4-BE49-F238E27FC236}">
                  <a16:creationId xmlns:a16="http://schemas.microsoft.com/office/drawing/2014/main" id="{BC03D372-C488-4028-534A-E7FB39B29F94}"/>
                </a:ext>
              </a:extLst>
            </p:cNvPr>
            <p:cNvCxnSpPr>
              <a:cxnSpLocks/>
              <a:stCxn id="20" idx="7"/>
              <a:endCxn id="15" idx="3"/>
            </p:cNvCxnSpPr>
            <p:nvPr/>
          </p:nvCxnSpPr>
          <p:spPr>
            <a:xfrm flipV="1">
              <a:off x="9346653" y="4275720"/>
              <a:ext cx="864228" cy="52109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6" name="Straight Arrow Connector 25">
              <a:extLst>
                <a:ext uri="{FF2B5EF4-FFF2-40B4-BE49-F238E27FC236}">
                  <a16:creationId xmlns:a16="http://schemas.microsoft.com/office/drawing/2014/main" id="{3EB0E2A5-0C7E-E710-6AA2-B2CC3BDD87B5}"/>
                </a:ext>
              </a:extLst>
            </p:cNvPr>
            <p:cNvCxnSpPr>
              <a:cxnSpLocks/>
              <a:stCxn id="20" idx="2"/>
              <a:endCxn id="19" idx="6"/>
            </p:cNvCxnSpPr>
            <p:nvPr/>
          </p:nvCxnSpPr>
          <p:spPr>
            <a:xfrm flipH="1">
              <a:off x="8026780" y="4924094"/>
              <a:ext cx="1012594"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9" name="Straight Arrow Connector 28">
              <a:extLst>
                <a:ext uri="{FF2B5EF4-FFF2-40B4-BE49-F238E27FC236}">
                  <a16:creationId xmlns:a16="http://schemas.microsoft.com/office/drawing/2014/main" id="{1B39319A-01E2-9541-B069-3F3F4BF0E758}"/>
                </a:ext>
              </a:extLst>
            </p:cNvPr>
            <p:cNvCxnSpPr>
              <a:cxnSpLocks/>
              <a:stCxn id="19" idx="0"/>
              <a:endCxn id="14" idx="4"/>
            </p:cNvCxnSpPr>
            <p:nvPr/>
          </p:nvCxnSpPr>
          <p:spPr>
            <a:xfrm flipV="1">
              <a:off x="7846780" y="4328441"/>
              <a:ext cx="0" cy="41565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3" name="Straight Arrow Connector 32">
              <a:extLst>
                <a:ext uri="{FF2B5EF4-FFF2-40B4-BE49-F238E27FC236}">
                  <a16:creationId xmlns:a16="http://schemas.microsoft.com/office/drawing/2014/main" id="{CCED2772-E71C-F3B2-5272-CCC723B63BFA}"/>
                </a:ext>
              </a:extLst>
            </p:cNvPr>
            <p:cNvCxnSpPr>
              <a:cxnSpLocks/>
              <a:stCxn id="20" idx="1"/>
              <a:endCxn id="14" idx="5"/>
            </p:cNvCxnSpPr>
            <p:nvPr/>
          </p:nvCxnSpPr>
          <p:spPr>
            <a:xfrm flipH="1" flipV="1">
              <a:off x="7974059" y="4275720"/>
              <a:ext cx="1118036" cy="52109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grpSp>
        <p:nvGrpSpPr>
          <p:cNvPr id="27" name="Group 26">
            <a:extLst>
              <a:ext uri="{FF2B5EF4-FFF2-40B4-BE49-F238E27FC236}">
                <a16:creationId xmlns:a16="http://schemas.microsoft.com/office/drawing/2014/main" id="{D9125773-8726-84AC-1CBA-1E9538E72964}"/>
              </a:ext>
            </a:extLst>
          </p:cNvPr>
          <p:cNvGrpSpPr/>
          <p:nvPr/>
        </p:nvGrpSpPr>
        <p:grpSpPr>
          <a:xfrm>
            <a:off x="1076545" y="4856774"/>
            <a:ext cx="1477744" cy="360000"/>
            <a:chOff x="1076545" y="4856774"/>
            <a:chExt cx="1477744" cy="360000"/>
          </a:xfrm>
        </p:grpSpPr>
        <p:sp>
          <p:nvSpPr>
            <p:cNvPr id="36" name="Oval 35">
              <a:extLst>
                <a:ext uri="{FF2B5EF4-FFF2-40B4-BE49-F238E27FC236}">
                  <a16:creationId xmlns:a16="http://schemas.microsoft.com/office/drawing/2014/main" id="{E382FD1B-5874-1E26-2E7E-9CAF206FAEE4}"/>
                </a:ext>
              </a:extLst>
            </p:cNvPr>
            <p:cNvSpPr/>
            <p:nvPr/>
          </p:nvSpPr>
          <p:spPr>
            <a:xfrm>
              <a:off x="1076545" y="4856774"/>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5" name="TextBox 44">
              <a:extLst>
                <a:ext uri="{FF2B5EF4-FFF2-40B4-BE49-F238E27FC236}">
                  <a16:creationId xmlns:a16="http://schemas.microsoft.com/office/drawing/2014/main" id="{81B26CC4-ED14-560D-E74B-753EE216E14E}"/>
                </a:ext>
              </a:extLst>
            </p:cNvPr>
            <p:cNvSpPr txBox="1"/>
            <p:nvPr/>
          </p:nvSpPr>
          <p:spPr>
            <a:xfrm>
              <a:off x="1495794" y="4867742"/>
              <a:ext cx="1058495" cy="338554"/>
            </a:xfrm>
            <a:prstGeom prst="rect">
              <a:avLst/>
            </a:prstGeom>
            <a:noFill/>
          </p:spPr>
          <p:txBody>
            <a:bodyPr wrap="none" rtlCol="0">
              <a:spAutoFit/>
            </a:bodyPr>
            <a:lstStyle/>
            <a:p>
              <a:r>
                <a:rPr lang="en-US" sz="1600" noProof="0" dirty="0"/>
                <a:t>treatment</a:t>
              </a:r>
            </a:p>
          </p:txBody>
        </p:sp>
      </p:grpSp>
      <p:grpSp>
        <p:nvGrpSpPr>
          <p:cNvPr id="28" name="Group 27">
            <a:extLst>
              <a:ext uri="{FF2B5EF4-FFF2-40B4-BE49-F238E27FC236}">
                <a16:creationId xmlns:a16="http://schemas.microsoft.com/office/drawing/2014/main" id="{6E6F7AF7-FF8F-8972-0BB1-083F1B1B9A01}"/>
              </a:ext>
            </a:extLst>
          </p:cNvPr>
          <p:cNvGrpSpPr/>
          <p:nvPr/>
        </p:nvGrpSpPr>
        <p:grpSpPr>
          <a:xfrm>
            <a:off x="1074854" y="5309376"/>
            <a:ext cx="1402758" cy="360000"/>
            <a:chOff x="1074854" y="5309376"/>
            <a:chExt cx="1402758" cy="360000"/>
          </a:xfrm>
        </p:grpSpPr>
        <p:sp>
          <p:nvSpPr>
            <p:cNvPr id="37" name="Oval 36">
              <a:extLst>
                <a:ext uri="{FF2B5EF4-FFF2-40B4-BE49-F238E27FC236}">
                  <a16:creationId xmlns:a16="http://schemas.microsoft.com/office/drawing/2014/main" id="{8E347C23-1F0C-FBBC-53EF-0DCAF58BB11E}"/>
                </a:ext>
              </a:extLst>
            </p:cNvPr>
            <p:cNvSpPr/>
            <p:nvPr/>
          </p:nvSpPr>
          <p:spPr>
            <a:xfrm>
              <a:off x="1074854" y="5309376"/>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6" name="TextBox 45">
              <a:extLst>
                <a:ext uri="{FF2B5EF4-FFF2-40B4-BE49-F238E27FC236}">
                  <a16:creationId xmlns:a16="http://schemas.microsoft.com/office/drawing/2014/main" id="{52844D70-CDCB-C029-3674-F9895018B753}"/>
                </a:ext>
              </a:extLst>
            </p:cNvPr>
            <p:cNvSpPr txBox="1"/>
            <p:nvPr/>
          </p:nvSpPr>
          <p:spPr>
            <a:xfrm>
              <a:off x="1495677" y="5320099"/>
              <a:ext cx="981935" cy="338554"/>
            </a:xfrm>
            <a:prstGeom prst="rect">
              <a:avLst/>
            </a:prstGeom>
            <a:noFill/>
          </p:spPr>
          <p:txBody>
            <a:bodyPr wrap="none" rtlCol="0">
              <a:spAutoFit/>
            </a:bodyPr>
            <a:lstStyle/>
            <a:p>
              <a:r>
                <a:rPr lang="en-US" sz="1600" noProof="0" dirty="0"/>
                <a:t>outcome</a:t>
              </a:r>
            </a:p>
          </p:txBody>
        </p:sp>
      </p:grpSp>
      <p:grpSp>
        <p:nvGrpSpPr>
          <p:cNvPr id="35" name="Group 34">
            <a:extLst>
              <a:ext uri="{FF2B5EF4-FFF2-40B4-BE49-F238E27FC236}">
                <a16:creationId xmlns:a16="http://schemas.microsoft.com/office/drawing/2014/main" id="{F2E7BD8A-DB7C-BF9E-4658-49B3CEF7C406}"/>
              </a:ext>
            </a:extLst>
          </p:cNvPr>
          <p:cNvGrpSpPr/>
          <p:nvPr/>
        </p:nvGrpSpPr>
        <p:grpSpPr>
          <a:xfrm>
            <a:off x="3396566" y="4757200"/>
            <a:ext cx="2457272" cy="584775"/>
            <a:chOff x="3396566" y="4757200"/>
            <a:chExt cx="2457272" cy="584775"/>
          </a:xfrm>
        </p:grpSpPr>
        <p:cxnSp>
          <p:nvCxnSpPr>
            <p:cNvPr id="40" name="Straight Arrow Connector 39">
              <a:extLst>
                <a:ext uri="{FF2B5EF4-FFF2-40B4-BE49-F238E27FC236}">
                  <a16:creationId xmlns:a16="http://schemas.microsoft.com/office/drawing/2014/main" id="{F431263E-2CAD-D36B-30A3-3DBBF068E95E}"/>
                </a:ext>
              </a:extLst>
            </p:cNvPr>
            <p:cNvCxnSpPr>
              <a:cxnSpLocks/>
            </p:cNvCxnSpPr>
            <p:nvPr/>
          </p:nvCxnSpPr>
          <p:spPr>
            <a:xfrm>
              <a:off x="3396566" y="5052796"/>
              <a:ext cx="27720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47" name="TextBox 46">
              <a:extLst>
                <a:ext uri="{FF2B5EF4-FFF2-40B4-BE49-F238E27FC236}">
                  <a16:creationId xmlns:a16="http://schemas.microsoft.com/office/drawing/2014/main" id="{F6057B23-59EB-AB5C-B913-DEB1A96D8FFB}"/>
                </a:ext>
              </a:extLst>
            </p:cNvPr>
            <p:cNvSpPr txBox="1"/>
            <p:nvPr/>
          </p:nvSpPr>
          <p:spPr>
            <a:xfrm>
              <a:off x="4093548" y="4757200"/>
              <a:ext cx="1760290" cy="584775"/>
            </a:xfrm>
            <a:prstGeom prst="rect">
              <a:avLst/>
            </a:prstGeom>
            <a:noFill/>
          </p:spPr>
          <p:txBody>
            <a:bodyPr wrap="none" rtlCol="0">
              <a:spAutoFit/>
            </a:bodyPr>
            <a:lstStyle/>
            <a:p>
              <a:r>
                <a:rPr lang="en-SE" sz="1600" noProof="0" dirty="0"/>
                <a:t>(assumed) causal</a:t>
              </a:r>
              <a:br>
                <a:rPr lang="en-SE" sz="1600" noProof="0" dirty="0"/>
              </a:br>
              <a:r>
                <a:rPr lang="en-SE" sz="1600" noProof="0" dirty="0"/>
                <a:t>relationship</a:t>
              </a:r>
              <a:endParaRPr lang="en-US" sz="1600" noProof="0" dirty="0"/>
            </a:p>
          </p:txBody>
        </p:sp>
      </p:grpSp>
      <p:grpSp>
        <p:nvGrpSpPr>
          <p:cNvPr id="30" name="Group 29">
            <a:extLst>
              <a:ext uri="{FF2B5EF4-FFF2-40B4-BE49-F238E27FC236}">
                <a16:creationId xmlns:a16="http://schemas.microsoft.com/office/drawing/2014/main" id="{E7F5AFE2-76AA-52CC-B96C-A9AAA735FD62}"/>
              </a:ext>
            </a:extLst>
          </p:cNvPr>
          <p:cNvGrpSpPr/>
          <p:nvPr/>
        </p:nvGrpSpPr>
        <p:grpSpPr>
          <a:xfrm>
            <a:off x="6053569" y="5320099"/>
            <a:ext cx="6035039" cy="946595"/>
            <a:chOff x="775411" y="5230368"/>
            <a:chExt cx="6035039" cy="946595"/>
          </a:xfrm>
        </p:grpSpPr>
        <p:sp>
          <p:nvSpPr>
            <p:cNvPr id="31" name="Rectangle: Rounded Corners 30">
              <a:extLst>
                <a:ext uri="{FF2B5EF4-FFF2-40B4-BE49-F238E27FC236}">
                  <a16:creationId xmlns:a16="http://schemas.microsoft.com/office/drawing/2014/main" id="{A970723A-AA44-3235-32F5-A5043D543F74}"/>
                </a:ext>
              </a:extLst>
            </p:cNvPr>
            <p:cNvSpPr/>
            <p:nvPr/>
          </p:nvSpPr>
          <p:spPr>
            <a:xfrm>
              <a:off x="775411" y="5230368"/>
              <a:ext cx="6035039" cy="946595"/>
            </a:xfrm>
            <a:prstGeom prst="roundRect">
              <a:avLst/>
            </a:prstGeom>
            <a:solidFill>
              <a:schemeClr val="tx2"/>
            </a:solidFill>
            <a:ln>
              <a:solidFill>
                <a:schemeClr val="tx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612000" rtlCol="0" anchor="ctr"/>
            <a:lstStyle/>
            <a:p>
              <a:r>
                <a:rPr lang="en-US" noProof="0" dirty="0"/>
                <a:t>DAGs are subjective and represent the view of a domain expert.</a:t>
              </a:r>
              <a:endParaRPr lang="en-US" baseline="30000" noProof="0" dirty="0"/>
            </a:p>
          </p:txBody>
        </p:sp>
        <p:pic>
          <p:nvPicPr>
            <p:cNvPr id="32" name="Graphic 31" descr="Open quotation mark with solid fill">
              <a:extLst>
                <a:ext uri="{FF2B5EF4-FFF2-40B4-BE49-F238E27FC236}">
                  <a16:creationId xmlns:a16="http://schemas.microsoft.com/office/drawing/2014/main" id="{2A69186F-8D75-9F86-F79E-541D1830CF0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0800000">
              <a:off x="775412" y="5343665"/>
              <a:ext cx="720000" cy="720000"/>
            </a:xfrm>
            <a:prstGeom prst="rect">
              <a:avLst/>
            </a:prstGeom>
          </p:spPr>
        </p:pic>
      </p:grpSp>
      <p:grpSp>
        <p:nvGrpSpPr>
          <p:cNvPr id="34" name="Group 33">
            <a:extLst>
              <a:ext uri="{FF2B5EF4-FFF2-40B4-BE49-F238E27FC236}">
                <a16:creationId xmlns:a16="http://schemas.microsoft.com/office/drawing/2014/main" id="{F92F992B-D24D-B6BE-246E-D0C0DEC972AF}"/>
              </a:ext>
            </a:extLst>
          </p:cNvPr>
          <p:cNvGrpSpPr/>
          <p:nvPr/>
        </p:nvGrpSpPr>
        <p:grpSpPr>
          <a:xfrm>
            <a:off x="1074854" y="5649590"/>
            <a:ext cx="2062133" cy="584775"/>
            <a:chOff x="1074854" y="5649590"/>
            <a:chExt cx="2062133" cy="584775"/>
          </a:xfrm>
        </p:grpSpPr>
        <p:sp>
          <p:nvSpPr>
            <p:cNvPr id="13" name="Oval 12">
              <a:extLst>
                <a:ext uri="{FF2B5EF4-FFF2-40B4-BE49-F238E27FC236}">
                  <a16:creationId xmlns:a16="http://schemas.microsoft.com/office/drawing/2014/main" id="{7E4E37D4-E266-31C8-4116-E003DB1A6EFA}"/>
                </a:ext>
              </a:extLst>
            </p:cNvPr>
            <p:cNvSpPr/>
            <p:nvPr/>
          </p:nvSpPr>
          <p:spPr>
            <a:xfrm>
              <a:off x="1074854" y="5761978"/>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4" name="TextBox 23">
              <a:extLst>
                <a:ext uri="{FF2B5EF4-FFF2-40B4-BE49-F238E27FC236}">
                  <a16:creationId xmlns:a16="http://schemas.microsoft.com/office/drawing/2014/main" id="{72E4346E-9BC2-3799-0934-262C93847A18}"/>
                </a:ext>
              </a:extLst>
            </p:cNvPr>
            <p:cNvSpPr txBox="1"/>
            <p:nvPr/>
          </p:nvSpPr>
          <p:spPr>
            <a:xfrm>
              <a:off x="1497307" y="5649590"/>
              <a:ext cx="1639680" cy="584775"/>
            </a:xfrm>
            <a:prstGeom prst="rect">
              <a:avLst/>
            </a:prstGeom>
            <a:noFill/>
          </p:spPr>
          <p:txBody>
            <a:bodyPr wrap="none" rtlCol="0">
              <a:spAutoFit/>
            </a:bodyPr>
            <a:lstStyle/>
            <a:p>
              <a:r>
                <a:rPr lang="en-SE" sz="1600" noProof="0" dirty="0"/>
                <a:t>other (observed)</a:t>
              </a:r>
            </a:p>
            <a:p>
              <a:r>
                <a:rPr lang="en-SE" sz="1600" dirty="0"/>
                <a:t>factors</a:t>
              </a:r>
              <a:endParaRPr lang="en-US" sz="1600" noProof="0" dirty="0"/>
            </a:p>
          </p:txBody>
        </p:sp>
      </p:grpSp>
      <p:grpSp>
        <p:nvGrpSpPr>
          <p:cNvPr id="41" name="Group 40">
            <a:extLst>
              <a:ext uri="{FF2B5EF4-FFF2-40B4-BE49-F238E27FC236}">
                <a16:creationId xmlns:a16="http://schemas.microsoft.com/office/drawing/2014/main" id="{7C7FC57E-FA4A-4CB9-EA8F-407E0DACC3EB}"/>
              </a:ext>
            </a:extLst>
          </p:cNvPr>
          <p:cNvGrpSpPr/>
          <p:nvPr/>
        </p:nvGrpSpPr>
        <p:grpSpPr>
          <a:xfrm>
            <a:off x="3355166" y="5655293"/>
            <a:ext cx="2612457" cy="584775"/>
            <a:chOff x="3355166" y="5655293"/>
            <a:chExt cx="2612457" cy="584775"/>
          </a:xfrm>
        </p:grpSpPr>
        <p:sp>
          <p:nvSpPr>
            <p:cNvPr id="44" name="Oval 43">
              <a:extLst>
                <a:ext uri="{FF2B5EF4-FFF2-40B4-BE49-F238E27FC236}">
                  <a16:creationId xmlns:a16="http://schemas.microsoft.com/office/drawing/2014/main" id="{AE55B341-6B8C-9909-ED3B-F8C1F59E518F}"/>
                </a:ext>
              </a:extLst>
            </p:cNvPr>
            <p:cNvSpPr/>
            <p:nvPr/>
          </p:nvSpPr>
          <p:spPr>
            <a:xfrm>
              <a:off x="3355166" y="5761978"/>
              <a:ext cx="360000" cy="360000"/>
            </a:xfrm>
            <a:prstGeom prst="ellipse">
              <a:avLst/>
            </a:prstGeom>
            <a:solidFill>
              <a:schemeClr val="bg1">
                <a:lumMod val="75000"/>
              </a:schemeClr>
            </a:solidFill>
            <a:ln>
              <a:solidFill>
                <a:schemeClr val="bg1">
                  <a:lumMod val="5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TextBox 24">
              <a:extLst>
                <a:ext uri="{FF2B5EF4-FFF2-40B4-BE49-F238E27FC236}">
                  <a16:creationId xmlns:a16="http://schemas.microsoft.com/office/drawing/2014/main" id="{80640698-F95E-6BE9-2C55-63A3C13F6284}"/>
                </a:ext>
              </a:extLst>
            </p:cNvPr>
            <p:cNvSpPr txBox="1"/>
            <p:nvPr/>
          </p:nvSpPr>
          <p:spPr>
            <a:xfrm>
              <a:off x="4098713" y="5655293"/>
              <a:ext cx="1868910" cy="584775"/>
            </a:xfrm>
            <a:prstGeom prst="rect">
              <a:avLst/>
            </a:prstGeom>
            <a:noFill/>
          </p:spPr>
          <p:txBody>
            <a:bodyPr wrap="none" rtlCol="0">
              <a:spAutoFit/>
            </a:bodyPr>
            <a:lstStyle/>
            <a:p>
              <a:r>
                <a:rPr lang="en-SE" sz="1600" noProof="0" dirty="0"/>
                <a:t>other (unobserved)</a:t>
              </a:r>
            </a:p>
            <a:p>
              <a:r>
                <a:rPr lang="en-SE" sz="1600" dirty="0"/>
                <a:t>factors</a:t>
              </a:r>
              <a:endParaRPr lang="en-US" sz="1600" noProof="0" dirty="0"/>
            </a:p>
          </p:txBody>
        </p:sp>
      </p:grpSp>
      <p:grpSp>
        <p:nvGrpSpPr>
          <p:cNvPr id="42" name="Group 41">
            <a:extLst>
              <a:ext uri="{FF2B5EF4-FFF2-40B4-BE49-F238E27FC236}">
                <a16:creationId xmlns:a16="http://schemas.microsoft.com/office/drawing/2014/main" id="{A0313812-826F-D872-88A7-981B1F392AA9}"/>
              </a:ext>
            </a:extLst>
          </p:cNvPr>
          <p:cNvGrpSpPr/>
          <p:nvPr/>
        </p:nvGrpSpPr>
        <p:grpSpPr>
          <a:xfrm>
            <a:off x="3036566" y="5308246"/>
            <a:ext cx="2435291" cy="360000"/>
            <a:chOff x="3036566" y="4872796"/>
            <a:chExt cx="2435291" cy="360000"/>
          </a:xfrm>
        </p:grpSpPr>
        <p:sp>
          <p:nvSpPr>
            <p:cNvPr id="43" name="Oval 42">
              <a:extLst>
                <a:ext uri="{FF2B5EF4-FFF2-40B4-BE49-F238E27FC236}">
                  <a16:creationId xmlns:a16="http://schemas.microsoft.com/office/drawing/2014/main" id="{BCD69ACF-B492-931C-35F0-5AFD91AA9266}"/>
                </a:ext>
              </a:extLst>
            </p:cNvPr>
            <p:cNvSpPr/>
            <p:nvPr/>
          </p:nvSpPr>
          <p:spPr>
            <a:xfrm>
              <a:off x="3036566" y="4872796"/>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9" name="Oval 48">
              <a:extLst>
                <a:ext uri="{FF2B5EF4-FFF2-40B4-BE49-F238E27FC236}">
                  <a16:creationId xmlns:a16="http://schemas.microsoft.com/office/drawing/2014/main" id="{8A3B8E5B-9392-F1C5-01F9-6664B4560663}"/>
                </a:ext>
              </a:extLst>
            </p:cNvPr>
            <p:cNvSpPr/>
            <p:nvPr/>
          </p:nvSpPr>
          <p:spPr>
            <a:xfrm>
              <a:off x="3673766" y="4872796"/>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50" name="Straight Arrow Connector 49">
              <a:extLst>
                <a:ext uri="{FF2B5EF4-FFF2-40B4-BE49-F238E27FC236}">
                  <a16:creationId xmlns:a16="http://schemas.microsoft.com/office/drawing/2014/main" id="{4AF675E4-477A-B09F-DBD7-B14AC84B484C}"/>
                </a:ext>
              </a:extLst>
            </p:cNvPr>
            <p:cNvCxnSpPr>
              <a:stCxn id="43" idx="6"/>
              <a:endCxn id="49" idx="2"/>
            </p:cNvCxnSpPr>
            <p:nvPr/>
          </p:nvCxnSpPr>
          <p:spPr>
            <a:xfrm>
              <a:off x="3396566" y="5052796"/>
              <a:ext cx="27720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51" name="TextBox 50">
              <a:extLst>
                <a:ext uri="{FF2B5EF4-FFF2-40B4-BE49-F238E27FC236}">
                  <a16:creationId xmlns:a16="http://schemas.microsoft.com/office/drawing/2014/main" id="{28810111-6F86-AF0B-29C4-CA4F61FD6808}"/>
                </a:ext>
              </a:extLst>
            </p:cNvPr>
            <p:cNvSpPr txBox="1"/>
            <p:nvPr/>
          </p:nvSpPr>
          <p:spPr>
            <a:xfrm>
              <a:off x="4099365" y="4877874"/>
              <a:ext cx="1372492" cy="338554"/>
            </a:xfrm>
            <a:prstGeom prst="rect">
              <a:avLst/>
            </a:prstGeom>
            <a:noFill/>
          </p:spPr>
          <p:txBody>
            <a:bodyPr wrap="none" rtlCol="0">
              <a:spAutoFit/>
            </a:bodyPr>
            <a:lstStyle/>
            <a:p>
              <a:r>
                <a:rPr lang="en-US" sz="1600" noProof="0" dirty="0"/>
                <a:t>phenomenon</a:t>
              </a:r>
            </a:p>
          </p:txBody>
        </p:sp>
      </p:grpSp>
    </p:spTree>
    <p:extLst>
      <p:ext uri="{BB962C8B-B14F-4D97-AF65-F5344CB8AC3E}">
        <p14:creationId xmlns:p14="http://schemas.microsoft.com/office/powerpoint/2010/main" val="42254664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9"/>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1"/>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4"/>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nodeType="clickEffect">
                                  <p:stCondLst>
                                    <p:cond delay="0"/>
                                  </p:stCondLst>
                                  <p:childTnLst>
                                    <p:set>
                                      <p:cBhvr>
                                        <p:cTn id="40" dur="1" fill="hold">
                                          <p:stCondLst>
                                            <p:cond delay="0"/>
                                          </p:stCondLst>
                                        </p:cTn>
                                        <p:tgtEl>
                                          <p:spTgt spid="30"/>
                                        </p:tgtEl>
                                        <p:attrNameLst>
                                          <p:attrName>style.visibility</p:attrName>
                                        </p:attrNameLst>
                                      </p:cBhvr>
                                      <p:to>
                                        <p:strVal val="visible"/>
                                      </p:to>
                                    </p:set>
                                    <p:animEffect transition="in" filter="fade">
                                      <p:cBhvr>
                                        <p:cTn id="41" dur="500"/>
                                        <p:tgtEl>
                                          <p:spTgt spid="30"/>
                                        </p:tgtEl>
                                      </p:cBhvr>
                                    </p:animEffect>
                                    <p:anim calcmode="lin" valueType="num">
                                      <p:cBhvr>
                                        <p:cTn id="42" dur="500" fill="hold"/>
                                        <p:tgtEl>
                                          <p:spTgt spid="30"/>
                                        </p:tgtEl>
                                        <p:attrNameLst>
                                          <p:attrName>ppt_x</p:attrName>
                                        </p:attrNameLst>
                                      </p:cBhvr>
                                      <p:tavLst>
                                        <p:tav tm="0">
                                          <p:val>
                                            <p:strVal val="#ppt_x"/>
                                          </p:val>
                                        </p:tav>
                                        <p:tav tm="100000">
                                          <p:val>
                                            <p:strVal val="#ppt_x"/>
                                          </p:val>
                                        </p:tav>
                                      </p:tavLst>
                                    </p:anim>
                                    <p:anim calcmode="lin" valueType="num">
                                      <p:cBhvr>
                                        <p:cTn id="43" dur="500" fill="hold"/>
                                        <p:tgtEl>
                                          <p:spTgt spid="3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1" grpId="0"/>
      <p:bldP spid="1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903FBD-3F15-097F-0A5A-4356A50C9436}"/>
              </a:ext>
            </a:extLst>
          </p:cNvPr>
          <p:cNvSpPr>
            <a:spLocks noGrp="1"/>
          </p:cNvSpPr>
          <p:nvPr>
            <p:ph type="title"/>
          </p:nvPr>
        </p:nvSpPr>
        <p:spPr/>
        <p:txBody>
          <a:bodyPr/>
          <a:lstStyle/>
          <a:p>
            <a:r>
              <a:rPr lang="en-SE" dirty="0"/>
              <a:t>Exercise: Formulating a DAG</a:t>
            </a:r>
          </a:p>
        </p:txBody>
      </p:sp>
      <p:sp>
        <p:nvSpPr>
          <p:cNvPr id="3" name="Content Placeholder 2">
            <a:extLst>
              <a:ext uri="{FF2B5EF4-FFF2-40B4-BE49-F238E27FC236}">
                <a16:creationId xmlns:a16="http://schemas.microsoft.com/office/drawing/2014/main" id="{8520E043-937F-A4D7-A99D-101016C7F97D}"/>
              </a:ext>
            </a:extLst>
          </p:cNvPr>
          <p:cNvSpPr>
            <a:spLocks noGrp="1"/>
          </p:cNvSpPr>
          <p:nvPr>
            <p:ph idx="1"/>
          </p:nvPr>
        </p:nvSpPr>
        <p:spPr/>
        <p:txBody>
          <a:bodyPr/>
          <a:lstStyle/>
          <a:p>
            <a:pPr marL="0" indent="0">
              <a:buNone/>
            </a:pPr>
            <a:r>
              <a:rPr lang="en-SE" dirty="0"/>
              <a:t>Derive a causal DAG from the following description:</a:t>
            </a:r>
          </a:p>
          <a:p>
            <a:pPr marL="0" indent="0">
              <a:buNone/>
            </a:pPr>
            <a:r>
              <a:rPr lang="en-SE" dirty="0"/>
              <a:t>“Researchers are interested in knowing if using ChatGPT affects the quality and length of code reviews at a company. Since they cannot interrupt the regular workflow, they cannot force anyone to use or not use ChatGPT. They do know, however, that younger developers use ChatGPT more often. On the other hand, they know that more skilled developers generally produce more concise (i.e., shorter) and better code reviews.”</a:t>
            </a:r>
          </a:p>
        </p:txBody>
      </p:sp>
      <p:sp>
        <p:nvSpPr>
          <p:cNvPr id="4" name="Date Placeholder 3">
            <a:extLst>
              <a:ext uri="{FF2B5EF4-FFF2-40B4-BE49-F238E27FC236}">
                <a16:creationId xmlns:a16="http://schemas.microsoft.com/office/drawing/2014/main" id="{FE30DA3F-B36B-C446-2568-6FB2E8D7CD11}"/>
              </a:ext>
            </a:extLst>
          </p:cNvPr>
          <p:cNvSpPr>
            <a:spLocks noGrp="1"/>
          </p:cNvSpPr>
          <p:nvPr>
            <p:ph type="dt" sz="half" idx="10"/>
          </p:nvPr>
        </p:nvSpPr>
        <p:spPr/>
        <p:txBody>
          <a:bodyPr/>
          <a:lstStyle/>
          <a:p>
            <a:r>
              <a:rPr lang="de-DE"/>
              <a:t>20.01.2026</a:t>
            </a:r>
            <a:endParaRPr lang="en-US"/>
          </a:p>
        </p:txBody>
      </p:sp>
      <p:sp>
        <p:nvSpPr>
          <p:cNvPr id="5" name="Footer Placeholder 4">
            <a:extLst>
              <a:ext uri="{FF2B5EF4-FFF2-40B4-BE49-F238E27FC236}">
                <a16:creationId xmlns:a16="http://schemas.microsoft.com/office/drawing/2014/main" id="{38C1258D-69CE-0243-5B7F-09B485770739}"/>
              </a:ext>
            </a:extLst>
          </p:cNvPr>
          <p:cNvSpPr>
            <a:spLocks noGrp="1"/>
          </p:cNvSpPr>
          <p:nvPr>
            <p:ph type="ftr" sz="quarter" idx="11"/>
          </p:nvPr>
        </p:nvSpPr>
        <p:spPr/>
        <p:txBody>
          <a:bodyPr/>
          <a:lstStyle/>
          <a:p>
            <a:r>
              <a:rPr lang="en-US"/>
              <a:t>Introduction to Statistical Causal Inference</a:t>
            </a:r>
          </a:p>
        </p:txBody>
      </p:sp>
      <p:sp>
        <p:nvSpPr>
          <p:cNvPr id="6" name="Slide Number Placeholder 5">
            <a:extLst>
              <a:ext uri="{FF2B5EF4-FFF2-40B4-BE49-F238E27FC236}">
                <a16:creationId xmlns:a16="http://schemas.microsoft.com/office/drawing/2014/main" id="{FD2CEE6E-05D8-428C-90C9-B674D6C83BC3}"/>
              </a:ext>
            </a:extLst>
          </p:cNvPr>
          <p:cNvSpPr>
            <a:spLocks noGrp="1"/>
          </p:cNvSpPr>
          <p:nvPr>
            <p:ph type="sldNum" sz="quarter" idx="12"/>
          </p:nvPr>
        </p:nvSpPr>
        <p:spPr/>
        <p:txBody>
          <a:bodyPr/>
          <a:lstStyle/>
          <a:p>
            <a:fld id="{0FA2D919-C0DE-4971-A2E9-D4AC0031921B}" type="slidenum">
              <a:rPr lang="en-US" smtClean="0"/>
              <a:t>10</a:t>
            </a:fld>
            <a:endParaRPr lang="en-US"/>
          </a:p>
        </p:txBody>
      </p:sp>
    </p:spTree>
    <p:extLst>
      <p:ext uri="{BB962C8B-B14F-4D97-AF65-F5344CB8AC3E}">
        <p14:creationId xmlns:p14="http://schemas.microsoft.com/office/powerpoint/2010/main" val="36398915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26BC84-5614-7D01-2D78-2D3ABA246A68}"/>
              </a:ext>
            </a:extLst>
          </p:cNvPr>
          <p:cNvSpPr>
            <a:spLocks noGrp="1"/>
          </p:cNvSpPr>
          <p:nvPr>
            <p:ph type="title"/>
          </p:nvPr>
        </p:nvSpPr>
        <p:spPr/>
        <p:txBody>
          <a:bodyPr/>
          <a:lstStyle/>
          <a:p>
            <a:r>
              <a:rPr lang="en-SE" dirty="0"/>
              <a:t>Solution: Formulating a DAG</a:t>
            </a:r>
          </a:p>
        </p:txBody>
      </p:sp>
      <p:sp>
        <p:nvSpPr>
          <p:cNvPr id="3" name="Content Placeholder 2">
            <a:extLst>
              <a:ext uri="{FF2B5EF4-FFF2-40B4-BE49-F238E27FC236}">
                <a16:creationId xmlns:a16="http://schemas.microsoft.com/office/drawing/2014/main" id="{532C4A99-4A50-C416-A31F-28FD0E0B24AC}"/>
              </a:ext>
            </a:extLst>
          </p:cNvPr>
          <p:cNvSpPr>
            <a:spLocks noGrp="1"/>
          </p:cNvSpPr>
          <p:nvPr>
            <p:ph idx="1"/>
          </p:nvPr>
        </p:nvSpPr>
        <p:spPr>
          <a:xfrm>
            <a:off x="838200" y="1825625"/>
            <a:ext cx="10515600" cy="2106295"/>
          </a:xfrm>
        </p:spPr>
        <p:txBody>
          <a:bodyPr>
            <a:normAutofit fontScale="92500" lnSpcReduction="20000"/>
          </a:bodyPr>
          <a:lstStyle/>
          <a:p>
            <a:pPr marL="0" indent="0">
              <a:buNone/>
            </a:pPr>
            <a:r>
              <a:rPr lang="en-SE" dirty="0"/>
              <a:t>“Researchers are interested in knowing if </a:t>
            </a:r>
            <a:r>
              <a:rPr lang="en-SE" b="1" dirty="0">
                <a:solidFill>
                  <a:srgbClr val="D0180A"/>
                </a:solidFill>
              </a:rPr>
              <a:t>using ChatGPT </a:t>
            </a:r>
            <a:r>
              <a:rPr lang="en-SE" dirty="0"/>
              <a:t>affects the </a:t>
            </a:r>
            <a:r>
              <a:rPr lang="en-SE" b="1" dirty="0">
                <a:solidFill>
                  <a:srgbClr val="006D70"/>
                </a:solidFill>
              </a:rPr>
              <a:t>quality</a:t>
            </a:r>
            <a:r>
              <a:rPr lang="en-SE" dirty="0"/>
              <a:t> and </a:t>
            </a:r>
            <a:r>
              <a:rPr lang="en-SE" b="1" dirty="0">
                <a:solidFill>
                  <a:srgbClr val="006D70"/>
                </a:solidFill>
              </a:rPr>
              <a:t>length of code reviews </a:t>
            </a:r>
            <a:r>
              <a:rPr lang="en-SE" dirty="0"/>
              <a:t>at a company. Since they cannot interrupt the regular workflow, they cannot force anyone to use or not use ChatGPT. They do know, however, that younger developers use ChatGPT more often. On the other hand, they know that more skilled developers generally produce more concise (i.e., shorter) and better code reviews.”</a:t>
            </a:r>
          </a:p>
        </p:txBody>
      </p:sp>
      <p:sp>
        <p:nvSpPr>
          <p:cNvPr id="4" name="Date Placeholder 3">
            <a:extLst>
              <a:ext uri="{FF2B5EF4-FFF2-40B4-BE49-F238E27FC236}">
                <a16:creationId xmlns:a16="http://schemas.microsoft.com/office/drawing/2014/main" id="{95E1153F-693D-D8AE-050C-27F8E6809906}"/>
              </a:ext>
            </a:extLst>
          </p:cNvPr>
          <p:cNvSpPr>
            <a:spLocks noGrp="1"/>
          </p:cNvSpPr>
          <p:nvPr>
            <p:ph type="dt" sz="half" idx="10"/>
          </p:nvPr>
        </p:nvSpPr>
        <p:spPr/>
        <p:txBody>
          <a:bodyPr/>
          <a:lstStyle/>
          <a:p>
            <a:r>
              <a:rPr lang="de-DE"/>
              <a:t>20.01.2026</a:t>
            </a:r>
            <a:endParaRPr lang="en-US"/>
          </a:p>
        </p:txBody>
      </p:sp>
      <p:sp>
        <p:nvSpPr>
          <p:cNvPr id="5" name="Footer Placeholder 4">
            <a:extLst>
              <a:ext uri="{FF2B5EF4-FFF2-40B4-BE49-F238E27FC236}">
                <a16:creationId xmlns:a16="http://schemas.microsoft.com/office/drawing/2014/main" id="{52B03A78-3F16-F624-7D27-419C8623AE34}"/>
              </a:ext>
            </a:extLst>
          </p:cNvPr>
          <p:cNvSpPr>
            <a:spLocks noGrp="1"/>
          </p:cNvSpPr>
          <p:nvPr>
            <p:ph type="ftr" sz="quarter" idx="11"/>
          </p:nvPr>
        </p:nvSpPr>
        <p:spPr/>
        <p:txBody>
          <a:bodyPr/>
          <a:lstStyle/>
          <a:p>
            <a:r>
              <a:rPr lang="en-US"/>
              <a:t>Introduction to Statistical Causal Inference</a:t>
            </a:r>
          </a:p>
        </p:txBody>
      </p:sp>
      <p:sp>
        <p:nvSpPr>
          <p:cNvPr id="6" name="Slide Number Placeholder 5">
            <a:extLst>
              <a:ext uri="{FF2B5EF4-FFF2-40B4-BE49-F238E27FC236}">
                <a16:creationId xmlns:a16="http://schemas.microsoft.com/office/drawing/2014/main" id="{8054C5B4-8E28-1D83-AA8A-C6FD58D80896}"/>
              </a:ext>
            </a:extLst>
          </p:cNvPr>
          <p:cNvSpPr>
            <a:spLocks noGrp="1"/>
          </p:cNvSpPr>
          <p:nvPr>
            <p:ph type="sldNum" sz="quarter" idx="12"/>
          </p:nvPr>
        </p:nvSpPr>
        <p:spPr/>
        <p:txBody>
          <a:bodyPr/>
          <a:lstStyle/>
          <a:p>
            <a:fld id="{0FA2D919-C0DE-4971-A2E9-D4AC0031921B}" type="slidenum">
              <a:rPr lang="en-US" smtClean="0"/>
              <a:t>11</a:t>
            </a:fld>
            <a:endParaRPr lang="en-US"/>
          </a:p>
        </p:txBody>
      </p:sp>
      <p:sp>
        <p:nvSpPr>
          <p:cNvPr id="8" name="Oval 7">
            <a:extLst>
              <a:ext uri="{FF2B5EF4-FFF2-40B4-BE49-F238E27FC236}">
                <a16:creationId xmlns:a16="http://schemas.microsoft.com/office/drawing/2014/main" id="{18175F8B-187A-30E0-30C2-F02D74199FCA}"/>
              </a:ext>
            </a:extLst>
          </p:cNvPr>
          <p:cNvSpPr/>
          <p:nvPr/>
        </p:nvSpPr>
        <p:spPr>
          <a:xfrm>
            <a:off x="4607392" y="4467770"/>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Oval 8">
            <a:extLst>
              <a:ext uri="{FF2B5EF4-FFF2-40B4-BE49-F238E27FC236}">
                <a16:creationId xmlns:a16="http://schemas.microsoft.com/office/drawing/2014/main" id="{75714894-43F6-757E-1CB0-106EDA63EE87}"/>
              </a:ext>
            </a:extLst>
          </p:cNvPr>
          <p:cNvSpPr/>
          <p:nvPr/>
        </p:nvSpPr>
        <p:spPr>
          <a:xfrm>
            <a:off x="6953083" y="4086787"/>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TextBox 10">
            <a:extLst>
              <a:ext uri="{FF2B5EF4-FFF2-40B4-BE49-F238E27FC236}">
                <a16:creationId xmlns:a16="http://schemas.microsoft.com/office/drawing/2014/main" id="{C3E838D0-C15A-76A0-AF04-F5770A4C116F}"/>
              </a:ext>
            </a:extLst>
          </p:cNvPr>
          <p:cNvSpPr txBox="1"/>
          <p:nvPr/>
        </p:nvSpPr>
        <p:spPr>
          <a:xfrm>
            <a:off x="3405801" y="4456119"/>
            <a:ext cx="1071640" cy="369332"/>
          </a:xfrm>
          <a:prstGeom prst="rect">
            <a:avLst/>
          </a:prstGeom>
          <a:noFill/>
        </p:spPr>
        <p:txBody>
          <a:bodyPr wrap="none" rtlCol="0">
            <a:spAutoFit/>
          </a:bodyPr>
          <a:lstStyle/>
          <a:p>
            <a:pPr algn="r"/>
            <a:r>
              <a:rPr lang="en-SE" noProof="0" dirty="0">
                <a:solidFill>
                  <a:srgbClr val="D0180A"/>
                </a:solidFill>
              </a:rPr>
              <a:t>ChatGPT</a:t>
            </a:r>
            <a:endParaRPr lang="en-US" noProof="0" dirty="0">
              <a:solidFill>
                <a:srgbClr val="D0180A"/>
              </a:solidFill>
            </a:endParaRPr>
          </a:p>
        </p:txBody>
      </p:sp>
      <p:sp>
        <p:nvSpPr>
          <p:cNvPr id="12" name="TextBox 11">
            <a:extLst>
              <a:ext uri="{FF2B5EF4-FFF2-40B4-BE49-F238E27FC236}">
                <a16:creationId xmlns:a16="http://schemas.microsoft.com/office/drawing/2014/main" id="{133C62B1-3A48-4ECA-316A-EE2AD7FA5063}"/>
              </a:ext>
            </a:extLst>
          </p:cNvPr>
          <p:cNvSpPr txBox="1"/>
          <p:nvPr/>
        </p:nvSpPr>
        <p:spPr>
          <a:xfrm>
            <a:off x="7404821" y="4086787"/>
            <a:ext cx="1205779" cy="369332"/>
          </a:xfrm>
          <a:prstGeom prst="rect">
            <a:avLst/>
          </a:prstGeom>
          <a:noFill/>
        </p:spPr>
        <p:txBody>
          <a:bodyPr wrap="none" rtlCol="0">
            <a:spAutoFit/>
          </a:bodyPr>
          <a:lstStyle/>
          <a:p>
            <a:r>
              <a:rPr lang="en-SE" noProof="0" dirty="0">
                <a:solidFill>
                  <a:srgbClr val="006D70"/>
                </a:solidFill>
              </a:rPr>
              <a:t>CR quality</a:t>
            </a:r>
            <a:endParaRPr lang="en-US" noProof="0" dirty="0">
              <a:solidFill>
                <a:srgbClr val="006D70"/>
              </a:solidFill>
            </a:endParaRPr>
          </a:p>
        </p:txBody>
      </p:sp>
      <p:sp>
        <p:nvSpPr>
          <p:cNvPr id="13" name="Oval 12">
            <a:extLst>
              <a:ext uri="{FF2B5EF4-FFF2-40B4-BE49-F238E27FC236}">
                <a16:creationId xmlns:a16="http://schemas.microsoft.com/office/drawing/2014/main" id="{2BF66CED-272B-EA6A-5C41-BEB0955019CD}"/>
              </a:ext>
            </a:extLst>
          </p:cNvPr>
          <p:cNvSpPr/>
          <p:nvPr/>
        </p:nvSpPr>
        <p:spPr>
          <a:xfrm>
            <a:off x="6953083" y="4827770"/>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TextBox 13">
            <a:extLst>
              <a:ext uri="{FF2B5EF4-FFF2-40B4-BE49-F238E27FC236}">
                <a16:creationId xmlns:a16="http://schemas.microsoft.com/office/drawing/2014/main" id="{813E89A1-C46F-C36C-BDD3-88AA1C5DC749}"/>
              </a:ext>
            </a:extLst>
          </p:cNvPr>
          <p:cNvSpPr txBox="1"/>
          <p:nvPr/>
        </p:nvSpPr>
        <p:spPr>
          <a:xfrm>
            <a:off x="7404821" y="4827770"/>
            <a:ext cx="1152880" cy="369332"/>
          </a:xfrm>
          <a:prstGeom prst="rect">
            <a:avLst/>
          </a:prstGeom>
          <a:noFill/>
        </p:spPr>
        <p:txBody>
          <a:bodyPr wrap="none" rtlCol="0">
            <a:spAutoFit/>
          </a:bodyPr>
          <a:lstStyle/>
          <a:p>
            <a:r>
              <a:rPr lang="en-SE" noProof="0" dirty="0">
                <a:solidFill>
                  <a:srgbClr val="006D70"/>
                </a:solidFill>
              </a:rPr>
              <a:t>CR length</a:t>
            </a:r>
            <a:endParaRPr lang="en-US" noProof="0" dirty="0">
              <a:solidFill>
                <a:srgbClr val="006D70"/>
              </a:solidFill>
            </a:endParaRPr>
          </a:p>
        </p:txBody>
      </p:sp>
      <p:cxnSp>
        <p:nvCxnSpPr>
          <p:cNvPr id="16" name="Straight Arrow Connector 15">
            <a:extLst>
              <a:ext uri="{FF2B5EF4-FFF2-40B4-BE49-F238E27FC236}">
                <a16:creationId xmlns:a16="http://schemas.microsoft.com/office/drawing/2014/main" id="{2EEA25BF-6D9F-44D0-6B1A-2E21982658EB}"/>
              </a:ext>
            </a:extLst>
          </p:cNvPr>
          <p:cNvCxnSpPr>
            <a:stCxn id="8" idx="6"/>
            <a:endCxn id="9" idx="2"/>
          </p:cNvCxnSpPr>
          <p:nvPr/>
        </p:nvCxnSpPr>
        <p:spPr>
          <a:xfrm flipV="1">
            <a:off x="4967392" y="4266787"/>
            <a:ext cx="1985691" cy="38098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7" name="Straight Arrow Connector 16">
            <a:extLst>
              <a:ext uri="{FF2B5EF4-FFF2-40B4-BE49-F238E27FC236}">
                <a16:creationId xmlns:a16="http://schemas.microsoft.com/office/drawing/2014/main" id="{08E56E22-C969-C2CE-75E5-5FA5F5B3A0FF}"/>
              </a:ext>
            </a:extLst>
          </p:cNvPr>
          <p:cNvCxnSpPr>
            <a:cxnSpLocks/>
            <a:stCxn id="8" idx="6"/>
            <a:endCxn id="13" idx="2"/>
          </p:cNvCxnSpPr>
          <p:nvPr/>
        </p:nvCxnSpPr>
        <p:spPr>
          <a:xfrm>
            <a:off x="4967392" y="4647770"/>
            <a:ext cx="1985691" cy="36000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6227284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3CA498-8414-567E-6E35-B446EF79CE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A404F4-9740-2A34-C7C3-080DA6AA4F2A}"/>
              </a:ext>
            </a:extLst>
          </p:cNvPr>
          <p:cNvSpPr>
            <a:spLocks noGrp="1"/>
          </p:cNvSpPr>
          <p:nvPr>
            <p:ph type="title"/>
          </p:nvPr>
        </p:nvSpPr>
        <p:spPr/>
        <p:txBody>
          <a:bodyPr/>
          <a:lstStyle/>
          <a:p>
            <a:r>
              <a:rPr lang="en-SE" dirty="0"/>
              <a:t>Solution: Formulating a DAG</a:t>
            </a:r>
          </a:p>
        </p:txBody>
      </p:sp>
      <p:sp>
        <p:nvSpPr>
          <p:cNvPr id="3" name="Content Placeholder 2">
            <a:extLst>
              <a:ext uri="{FF2B5EF4-FFF2-40B4-BE49-F238E27FC236}">
                <a16:creationId xmlns:a16="http://schemas.microsoft.com/office/drawing/2014/main" id="{ADD477A6-9DC8-1C3B-1A18-6DBF23DBC90E}"/>
              </a:ext>
            </a:extLst>
          </p:cNvPr>
          <p:cNvSpPr>
            <a:spLocks noGrp="1"/>
          </p:cNvSpPr>
          <p:nvPr>
            <p:ph idx="1"/>
          </p:nvPr>
        </p:nvSpPr>
        <p:spPr>
          <a:xfrm>
            <a:off x="838200" y="1825625"/>
            <a:ext cx="10515600" cy="2106295"/>
          </a:xfrm>
        </p:spPr>
        <p:txBody>
          <a:bodyPr>
            <a:normAutofit fontScale="92500" lnSpcReduction="20000"/>
          </a:bodyPr>
          <a:lstStyle/>
          <a:p>
            <a:pPr marL="0" indent="0">
              <a:buNone/>
            </a:pPr>
            <a:r>
              <a:rPr lang="en-SE" dirty="0"/>
              <a:t>“Researchers are interested in knowing if </a:t>
            </a:r>
            <a:r>
              <a:rPr lang="en-SE" b="1" dirty="0">
                <a:solidFill>
                  <a:srgbClr val="D0180A"/>
                </a:solidFill>
              </a:rPr>
              <a:t>using ChatGPT </a:t>
            </a:r>
            <a:r>
              <a:rPr lang="en-SE" dirty="0"/>
              <a:t>affects the </a:t>
            </a:r>
            <a:r>
              <a:rPr lang="en-SE" b="1" dirty="0">
                <a:solidFill>
                  <a:srgbClr val="006D70"/>
                </a:solidFill>
              </a:rPr>
              <a:t>quality</a:t>
            </a:r>
            <a:r>
              <a:rPr lang="en-SE" dirty="0"/>
              <a:t> and </a:t>
            </a:r>
            <a:r>
              <a:rPr lang="en-SE" b="1" dirty="0">
                <a:solidFill>
                  <a:srgbClr val="006D70"/>
                </a:solidFill>
              </a:rPr>
              <a:t>length of code reviews </a:t>
            </a:r>
            <a:r>
              <a:rPr lang="en-SE" dirty="0"/>
              <a:t>at a company. Since they cannot interrupt the regular workflow, they cannot force anyone to use or not use ChatGPT. They do know, however, that </a:t>
            </a:r>
            <a:r>
              <a:rPr lang="en-SE" b="1" dirty="0"/>
              <a:t>younger developers </a:t>
            </a:r>
            <a:r>
              <a:rPr lang="en-SE" dirty="0"/>
              <a:t>use ChatGPT more often. On the other hand, they know that more skilled developers generally produce more concise (i.e., shorter) and better code reviews.”</a:t>
            </a:r>
          </a:p>
        </p:txBody>
      </p:sp>
      <p:sp>
        <p:nvSpPr>
          <p:cNvPr id="4" name="Date Placeholder 3">
            <a:extLst>
              <a:ext uri="{FF2B5EF4-FFF2-40B4-BE49-F238E27FC236}">
                <a16:creationId xmlns:a16="http://schemas.microsoft.com/office/drawing/2014/main" id="{5EBADD74-03AF-4D12-367D-88626577A8CA}"/>
              </a:ext>
            </a:extLst>
          </p:cNvPr>
          <p:cNvSpPr>
            <a:spLocks noGrp="1"/>
          </p:cNvSpPr>
          <p:nvPr>
            <p:ph type="dt" sz="half" idx="10"/>
          </p:nvPr>
        </p:nvSpPr>
        <p:spPr/>
        <p:txBody>
          <a:bodyPr/>
          <a:lstStyle/>
          <a:p>
            <a:r>
              <a:rPr lang="de-DE"/>
              <a:t>20.01.2026</a:t>
            </a:r>
            <a:endParaRPr lang="en-US"/>
          </a:p>
        </p:txBody>
      </p:sp>
      <p:sp>
        <p:nvSpPr>
          <p:cNvPr id="5" name="Footer Placeholder 4">
            <a:extLst>
              <a:ext uri="{FF2B5EF4-FFF2-40B4-BE49-F238E27FC236}">
                <a16:creationId xmlns:a16="http://schemas.microsoft.com/office/drawing/2014/main" id="{FC96F183-7284-41A5-0BA9-27A7B2DA5DB7}"/>
              </a:ext>
            </a:extLst>
          </p:cNvPr>
          <p:cNvSpPr>
            <a:spLocks noGrp="1"/>
          </p:cNvSpPr>
          <p:nvPr>
            <p:ph type="ftr" sz="quarter" idx="11"/>
          </p:nvPr>
        </p:nvSpPr>
        <p:spPr/>
        <p:txBody>
          <a:bodyPr/>
          <a:lstStyle/>
          <a:p>
            <a:r>
              <a:rPr lang="en-US"/>
              <a:t>Introduction to Statistical Causal Inference</a:t>
            </a:r>
          </a:p>
        </p:txBody>
      </p:sp>
      <p:sp>
        <p:nvSpPr>
          <p:cNvPr id="6" name="Slide Number Placeholder 5">
            <a:extLst>
              <a:ext uri="{FF2B5EF4-FFF2-40B4-BE49-F238E27FC236}">
                <a16:creationId xmlns:a16="http://schemas.microsoft.com/office/drawing/2014/main" id="{8B4B37FA-5D19-CB1A-B279-878BC1388FFB}"/>
              </a:ext>
            </a:extLst>
          </p:cNvPr>
          <p:cNvSpPr>
            <a:spLocks noGrp="1"/>
          </p:cNvSpPr>
          <p:nvPr>
            <p:ph type="sldNum" sz="quarter" idx="12"/>
          </p:nvPr>
        </p:nvSpPr>
        <p:spPr/>
        <p:txBody>
          <a:bodyPr/>
          <a:lstStyle/>
          <a:p>
            <a:fld id="{0FA2D919-C0DE-4971-A2E9-D4AC0031921B}" type="slidenum">
              <a:rPr lang="en-US" smtClean="0"/>
              <a:t>12</a:t>
            </a:fld>
            <a:endParaRPr lang="en-US"/>
          </a:p>
        </p:txBody>
      </p:sp>
      <p:sp>
        <p:nvSpPr>
          <p:cNvPr id="8" name="Oval 7">
            <a:extLst>
              <a:ext uri="{FF2B5EF4-FFF2-40B4-BE49-F238E27FC236}">
                <a16:creationId xmlns:a16="http://schemas.microsoft.com/office/drawing/2014/main" id="{26B8DEA0-EA65-E16C-D2A5-F14FF21CE063}"/>
              </a:ext>
            </a:extLst>
          </p:cNvPr>
          <p:cNvSpPr/>
          <p:nvPr/>
        </p:nvSpPr>
        <p:spPr>
          <a:xfrm>
            <a:off x="4607392" y="4467770"/>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Oval 8">
            <a:extLst>
              <a:ext uri="{FF2B5EF4-FFF2-40B4-BE49-F238E27FC236}">
                <a16:creationId xmlns:a16="http://schemas.microsoft.com/office/drawing/2014/main" id="{DDE8D316-788C-3E14-61DA-0FC24B66F004}"/>
              </a:ext>
            </a:extLst>
          </p:cNvPr>
          <p:cNvSpPr/>
          <p:nvPr/>
        </p:nvSpPr>
        <p:spPr>
          <a:xfrm>
            <a:off x="6953083" y="4086787"/>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TextBox 10">
            <a:extLst>
              <a:ext uri="{FF2B5EF4-FFF2-40B4-BE49-F238E27FC236}">
                <a16:creationId xmlns:a16="http://schemas.microsoft.com/office/drawing/2014/main" id="{D3DF0A8B-2C28-6584-5B28-FC8CB687475C}"/>
              </a:ext>
            </a:extLst>
          </p:cNvPr>
          <p:cNvSpPr txBox="1"/>
          <p:nvPr/>
        </p:nvSpPr>
        <p:spPr>
          <a:xfrm>
            <a:off x="3405801" y="4456119"/>
            <a:ext cx="1071640" cy="369332"/>
          </a:xfrm>
          <a:prstGeom prst="rect">
            <a:avLst/>
          </a:prstGeom>
          <a:noFill/>
        </p:spPr>
        <p:txBody>
          <a:bodyPr wrap="none" rtlCol="0">
            <a:spAutoFit/>
          </a:bodyPr>
          <a:lstStyle/>
          <a:p>
            <a:pPr algn="r"/>
            <a:r>
              <a:rPr lang="en-SE" noProof="0" dirty="0">
                <a:solidFill>
                  <a:srgbClr val="D0180A"/>
                </a:solidFill>
              </a:rPr>
              <a:t>ChatGPT</a:t>
            </a:r>
            <a:endParaRPr lang="en-US" noProof="0" dirty="0">
              <a:solidFill>
                <a:srgbClr val="D0180A"/>
              </a:solidFill>
            </a:endParaRPr>
          </a:p>
        </p:txBody>
      </p:sp>
      <p:sp>
        <p:nvSpPr>
          <p:cNvPr id="12" name="TextBox 11">
            <a:extLst>
              <a:ext uri="{FF2B5EF4-FFF2-40B4-BE49-F238E27FC236}">
                <a16:creationId xmlns:a16="http://schemas.microsoft.com/office/drawing/2014/main" id="{D7AF8B61-FFB9-B6E9-4F0C-5E3DA5D5C390}"/>
              </a:ext>
            </a:extLst>
          </p:cNvPr>
          <p:cNvSpPr txBox="1"/>
          <p:nvPr/>
        </p:nvSpPr>
        <p:spPr>
          <a:xfrm>
            <a:off x="7404821" y="4086787"/>
            <a:ext cx="1205779" cy="369332"/>
          </a:xfrm>
          <a:prstGeom prst="rect">
            <a:avLst/>
          </a:prstGeom>
          <a:noFill/>
        </p:spPr>
        <p:txBody>
          <a:bodyPr wrap="none" rtlCol="0">
            <a:spAutoFit/>
          </a:bodyPr>
          <a:lstStyle/>
          <a:p>
            <a:r>
              <a:rPr lang="en-SE" noProof="0" dirty="0">
                <a:solidFill>
                  <a:srgbClr val="006D70"/>
                </a:solidFill>
              </a:rPr>
              <a:t>CR quality</a:t>
            </a:r>
            <a:endParaRPr lang="en-US" noProof="0" dirty="0">
              <a:solidFill>
                <a:srgbClr val="006D70"/>
              </a:solidFill>
            </a:endParaRPr>
          </a:p>
        </p:txBody>
      </p:sp>
      <p:sp>
        <p:nvSpPr>
          <p:cNvPr id="13" name="Oval 12">
            <a:extLst>
              <a:ext uri="{FF2B5EF4-FFF2-40B4-BE49-F238E27FC236}">
                <a16:creationId xmlns:a16="http://schemas.microsoft.com/office/drawing/2014/main" id="{A369C4C4-FB1F-A6C0-4FB1-E50083325A69}"/>
              </a:ext>
            </a:extLst>
          </p:cNvPr>
          <p:cNvSpPr/>
          <p:nvPr/>
        </p:nvSpPr>
        <p:spPr>
          <a:xfrm>
            <a:off x="6953083" y="4827770"/>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TextBox 13">
            <a:extLst>
              <a:ext uri="{FF2B5EF4-FFF2-40B4-BE49-F238E27FC236}">
                <a16:creationId xmlns:a16="http://schemas.microsoft.com/office/drawing/2014/main" id="{E6267037-8EE4-F739-A21B-C220C2C7FC52}"/>
              </a:ext>
            </a:extLst>
          </p:cNvPr>
          <p:cNvSpPr txBox="1"/>
          <p:nvPr/>
        </p:nvSpPr>
        <p:spPr>
          <a:xfrm>
            <a:off x="7404821" y="4827770"/>
            <a:ext cx="1152880" cy="369332"/>
          </a:xfrm>
          <a:prstGeom prst="rect">
            <a:avLst/>
          </a:prstGeom>
          <a:noFill/>
        </p:spPr>
        <p:txBody>
          <a:bodyPr wrap="none" rtlCol="0">
            <a:spAutoFit/>
          </a:bodyPr>
          <a:lstStyle/>
          <a:p>
            <a:r>
              <a:rPr lang="en-SE" noProof="0" dirty="0">
                <a:solidFill>
                  <a:srgbClr val="006D70"/>
                </a:solidFill>
              </a:rPr>
              <a:t>CR length</a:t>
            </a:r>
            <a:endParaRPr lang="en-US" noProof="0" dirty="0">
              <a:solidFill>
                <a:srgbClr val="006D70"/>
              </a:solidFill>
            </a:endParaRPr>
          </a:p>
        </p:txBody>
      </p:sp>
      <p:cxnSp>
        <p:nvCxnSpPr>
          <p:cNvPr id="16" name="Straight Arrow Connector 15">
            <a:extLst>
              <a:ext uri="{FF2B5EF4-FFF2-40B4-BE49-F238E27FC236}">
                <a16:creationId xmlns:a16="http://schemas.microsoft.com/office/drawing/2014/main" id="{73B44695-22F1-F969-BE45-88177636E988}"/>
              </a:ext>
            </a:extLst>
          </p:cNvPr>
          <p:cNvCxnSpPr>
            <a:stCxn id="8" idx="6"/>
            <a:endCxn id="9" idx="2"/>
          </p:cNvCxnSpPr>
          <p:nvPr/>
        </p:nvCxnSpPr>
        <p:spPr>
          <a:xfrm flipV="1">
            <a:off x="4967392" y="4266787"/>
            <a:ext cx="1985691" cy="38098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7" name="Straight Arrow Connector 16">
            <a:extLst>
              <a:ext uri="{FF2B5EF4-FFF2-40B4-BE49-F238E27FC236}">
                <a16:creationId xmlns:a16="http://schemas.microsoft.com/office/drawing/2014/main" id="{37FE34C5-0657-2C78-59B9-AEB3FDBFC7FA}"/>
              </a:ext>
            </a:extLst>
          </p:cNvPr>
          <p:cNvCxnSpPr>
            <a:cxnSpLocks/>
            <a:stCxn id="8" idx="6"/>
            <a:endCxn id="13" idx="2"/>
          </p:cNvCxnSpPr>
          <p:nvPr/>
        </p:nvCxnSpPr>
        <p:spPr>
          <a:xfrm>
            <a:off x="4967392" y="4647770"/>
            <a:ext cx="1985691" cy="36000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7" name="Oval 6">
            <a:extLst>
              <a:ext uri="{FF2B5EF4-FFF2-40B4-BE49-F238E27FC236}">
                <a16:creationId xmlns:a16="http://schemas.microsoft.com/office/drawing/2014/main" id="{E828F2C6-0075-EC0D-5325-F3605D071CFB}"/>
              </a:ext>
            </a:extLst>
          </p:cNvPr>
          <p:cNvSpPr/>
          <p:nvPr/>
        </p:nvSpPr>
        <p:spPr>
          <a:xfrm>
            <a:off x="4607392" y="5652151"/>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TextBox 9">
            <a:extLst>
              <a:ext uri="{FF2B5EF4-FFF2-40B4-BE49-F238E27FC236}">
                <a16:creationId xmlns:a16="http://schemas.microsoft.com/office/drawing/2014/main" id="{A4F4793F-E500-530B-A97B-EC5B5EA272FB}"/>
              </a:ext>
            </a:extLst>
          </p:cNvPr>
          <p:cNvSpPr txBox="1"/>
          <p:nvPr/>
        </p:nvSpPr>
        <p:spPr>
          <a:xfrm>
            <a:off x="3936972" y="5656817"/>
            <a:ext cx="540469" cy="369332"/>
          </a:xfrm>
          <a:prstGeom prst="rect">
            <a:avLst/>
          </a:prstGeom>
          <a:noFill/>
        </p:spPr>
        <p:txBody>
          <a:bodyPr wrap="none" rtlCol="0">
            <a:spAutoFit/>
          </a:bodyPr>
          <a:lstStyle/>
          <a:p>
            <a:pPr algn="r"/>
            <a:r>
              <a:rPr lang="de-DE" noProof="0" dirty="0">
                <a:solidFill>
                  <a:schemeClr val="tx1">
                    <a:lumMod val="65000"/>
                    <a:lumOff val="35000"/>
                  </a:schemeClr>
                </a:solidFill>
              </a:rPr>
              <a:t>a</a:t>
            </a:r>
            <a:r>
              <a:rPr lang="en-SE" noProof="0" dirty="0" err="1">
                <a:solidFill>
                  <a:schemeClr val="tx1">
                    <a:lumMod val="65000"/>
                    <a:lumOff val="35000"/>
                  </a:schemeClr>
                </a:solidFill>
              </a:rPr>
              <a:t>ge</a:t>
            </a:r>
            <a:endParaRPr lang="en-US" noProof="0" dirty="0">
              <a:solidFill>
                <a:schemeClr val="tx1">
                  <a:lumMod val="65000"/>
                  <a:lumOff val="35000"/>
                </a:schemeClr>
              </a:solidFill>
            </a:endParaRPr>
          </a:p>
        </p:txBody>
      </p:sp>
      <p:cxnSp>
        <p:nvCxnSpPr>
          <p:cNvPr id="15" name="Straight Arrow Connector 14">
            <a:extLst>
              <a:ext uri="{FF2B5EF4-FFF2-40B4-BE49-F238E27FC236}">
                <a16:creationId xmlns:a16="http://schemas.microsoft.com/office/drawing/2014/main" id="{A99FDF26-7044-4DD5-2CB1-5C8E6A46DC50}"/>
              </a:ext>
            </a:extLst>
          </p:cNvPr>
          <p:cNvCxnSpPr>
            <a:cxnSpLocks/>
            <a:stCxn id="7" idx="0"/>
            <a:endCxn id="8" idx="4"/>
          </p:cNvCxnSpPr>
          <p:nvPr/>
        </p:nvCxnSpPr>
        <p:spPr>
          <a:xfrm flipV="1">
            <a:off x="4787392" y="4827770"/>
            <a:ext cx="0" cy="82438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6774314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2DBB2C-A452-E7D9-9B3C-51178077EA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D2F985-06B4-4887-FAB3-1358F3E2FD30}"/>
              </a:ext>
            </a:extLst>
          </p:cNvPr>
          <p:cNvSpPr>
            <a:spLocks noGrp="1"/>
          </p:cNvSpPr>
          <p:nvPr>
            <p:ph type="title"/>
          </p:nvPr>
        </p:nvSpPr>
        <p:spPr/>
        <p:txBody>
          <a:bodyPr/>
          <a:lstStyle/>
          <a:p>
            <a:r>
              <a:rPr lang="en-SE" dirty="0"/>
              <a:t>Solution: Formulating a DAG</a:t>
            </a:r>
          </a:p>
        </p:txBody>
      </p:sp>
      <p:sp>
        <p:nvSpPr>
          <p:cNvPr id="3" name="Content Placeholder 2">
            <a:extLst>
              <a:ext uri="{FF2B5EF4-FFF2-40B4-BE49-F238E27FC236}">
                <a16:creationId xmlns:a16="http://schemas.microsoft.com/office/drawing/2014/main" id="{F65F50E0-0D03-13BC-5343-A95615B0F5B7}"/>
              </a:ext>
            </a:extLst>
          </p:cNvPr>
          <p:cNvSpPr>
            <a:spLocks noGrp="1"/>
          </p:cNvSpPr>
          <p:nvPr>
            <p:ph idx="1"/>
          </p:nvPr>
        </p:nvSpPr>
        <p:spPr>
          <a:xfrm>
            <a:off x="838200" y="1825625"/>
            <a:ext cx="10515600" cy="2106295"/>
          </a:xfrm>
        </p:spPr>
        <p:txBody>
          <a:bodyPr>
            <a:normAutofit fontScale="92500" lnSpcReduction="20000"/>
          </a:bodyPr>
          <a:lstStyle/>
          <a:p>
            <a:pPr marL="0" indent="0">
              <a:buNone/>
            </a:pPr>
            <a:r>
              <a:rPr lang="en-SE" dirty="0"/>
              <a:t>“Researchers are interested in knowing if </a:t>
            </a:r>
            <a:r>
              <a:rPr lang="en-SE" b="1" dirty="0">
                <a:solidFill>
                  <a:srgbClr val="D0180A"/>
                </a:solidFill>
              </a:rPr>
              <a:t>using ChatGPT </a:t>
            </a:r>
            <a:r>
              <a:rPr lang="en-SE" dirty="0"/>
              <a:t>affects the </a:t>
            </a:r>
            <a:r>
              <a:rPr lang="en-SE" b="1" dirty="0">
                <a:solidFill>
                  <a:srgbClr val="006D70"/>
                </a:solidFill>
              </a:rPr>
              <a:t>quality</a:t>
            </a:r>
            <a:r>
              <a:rPr lang="en-SE" dirty="0"/>
              <a:t> and </a:t>
            </a:r>
            <a:r>
              <a:rPr lang="en-SE" b="1" dirty="0">
                <a:solidFill>
                  <a:srgbClr val="006D70"/>
                </a:solidFill>
              </a:rPr>
              <a:t>length of code reviews </a:t>
            </a:r>
            <a:r>
              <a:rPr lang="en-SE" dirty="0"/>
              <a:t>at a company. Since they cannot interrupt the regular workflow, they cannot force anyone to use or not use ChatGPT. They do know, however, that </a:t>
            </a:r>
            <a:r>
              <a:rPr lang="en-SE" b="1" dirty="0"/>
              <a:t>younger developers </a:t>
            </a:r>
            <a:r>
              <a:rPr lang="en-SE" dirty="0"/>
              <a:t>use ChatGPT more often. On the other hand, they know that </a:t>
            </a:r>
            <a:r>
              <a:rPr lang="en-SE" b="1" dirty="0"/>
              <a:t>more skilled developers </a:t>
            </a:r>
            <a:r>
              <a:rPr lang="en-SE" dirty="0"/>
              <a:t>generally produce more concise (i.e., shorter) and better code reviews.”</a:t>
            </a:r>
          </a:p>
        </p:txBody>
      </p:sp>
      <p:sp>
        <p:nvSpPr>
          <p:cNvPr id="4" name="Date Placeholder 3">
            <a:extLst>
              <a:ext uri="{FF2B5EF4-FFF2-40B4-BE49-F238E27FC236}">
                <a16:creationId xmlns:a16="http://schemas.microsoft.com/office/drawing/2014/main" id="{F41EDFA7-76B0-4778-3326-0AAE183370C0}"/>
              </a:ext>
            </a:extLst>
          </p:cNvPr>
          <p:cNvSpPr>
            <a:spLocks noGrp="1"/>
          </p:cNvSpPr>
          <p:nvPr>
            <p:ph type="dt" sz="half" idx="10"/>
          </p:nvPr>
        </p:nvSpPr>
        <p:spPr/>
        <p:txBody>
          <a:bodyPr/>
          <a:lstStyle/>
          <a:p>
            <a:r>
              <a:rPr lang="de-DE"/>
              <a:t>20.01.2026</a:t>
            </a:r>
            <a:endParaRPr lang="en-US"/>
          </a:p>
        </p:txBody>
      </p:sp>
      <p:sp>
        <p:nvSpPr>
          <p:cNvPr id="5" name="Footer Placeholder 4">
            <a:extLst>
              <a:ext uri="{FF2B5EF4-FFF2-40B4-BE49-F238E27FC236}">
                <a16:creationId xmlns:a16="http://schemas.microsoft.com/office/drawing/2014/main" id="{E6983AFC-8BBB-0561-FF03-1850B25D5B8C}"/>
              </a:ext>
            </a:extLst>
          </p:cNvPr>
          <p:cNvSpPr>
            <a:spLocks noGrp="1"/>
          </p:cNvSpPr>
          <p:nvPr>
            <p:ph type="ftr" sz="quarter" idx="11"/>
          </p:nvPr>
        </p:nvSpPr>
        <p:spPr/>
        <p:txBody>
          <a:bodyPr/>
          <a:lstStyle/>
          <a:p>
            <a:r>
              <a:rPr lang="en-US"/>
              <a:t>Introduction to Statistical Causal Inference</a:t>
            </a:r>
          </a:p>
        </p:txBody>
      </p:sp>
      <p:sp>
        <p:nvSpPr>
          <p:cNvPr id="6" name="Slide Number Placeholder 5">
            <a:extLst>
              <a:ext uri="{FF2B5EF4-FFF2-40B4-BE49-F238E27FC236}">
                <a16:creationId xmlns:a16="http://schemas.microsoft.com/office/drawing/2014/main" id="{AE9A8FC9-725A-279C-DA2D-88F2A2A563EF}"/>
              </a:ext>
            </a:extLst>
          </p:cNvPr>
          <p:cNvSpPr>
            <a:spLocks noGrp="1"/>
          </p:cNvSpPr>
          <p:nvPr>
            <p:ph type="sldNum" sz="quarter" idx="12"/>
          </p:nvPr>
        </p:nvSpPr>
        <p:spPr/>
        <p:txBody>
          <a:bodyPr/>
          <a:lstStyle/>
          <a:p>
            <a:fld id="{0FA2D919-C0DE-4971-A2E9-D4AC0031921B}" type="slidenum">
              <a:rPr lang="en-US" smtClean="0"/>
              <a:t>13</a:t>
            </a:fld>
            <a:endParaRPr lang="en-US"/>
          </a:p>
        </p:txBody>
      </p:sp>
      <p:sp>
        <p:nvSpPr>
          <p:cNvPr id="8" name="Oval 7">
            <a:extLst>
              <a:ext uri="{FF2B5EF4-FFF2-40B4-BE49-F238E27FC236}">
                <a16:creationId xmlns:a16="http://schemas.microsoft.com/office/drawing/2014/main" id="{24F1A287-AFB1-42FC-BC5D-55AED8845BEF}"/>
              </a:ext>
            </a:extLst>
          </p:cNvPr>
          <p:cNvSpPr/>
          <p:nvPr/>
        </p:nvSpPr>
        <p:spPr>
          <a:xfrm>
            <a:off x="4607392" y="4467770"/>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Oval 8">
            <a:extLst>
              <a:ext uri="{FF2B5EF4-FFF2-40B4-BE49-F238E27FC236}">
                <a16:creationId xmlns:a16="http://schemas.microsoft.com/office/drawing/2014/main" id="{367D5160-CB7A-E0B1-DCBA-85D6881C12FD}"/>
              </a:ext>
            </a:extLst>
          </p:cNvPr>
          <p:cNvSpPr/>
          <p:nvPr/>
        </p:nvSpPr>
        <p:spPr>
          <a:xfrm>
            <a:off x="6953083" y="4086787"/>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TextBox 10">
            <a:extLst>
              <a:ext uri="{FF2B5EF4-FFF2-40B4-BE49-F238E27FC236}">
                <a16:creationId xmlns:a16="http://schemas.microsoft.com/office/drawing/2014/main" id="{3EDAF45D-CA56-CB00-C4C4-90773BC55468}"/>
              </a:ext>
            </a:extLst>
          </p:cNvPr>
          <p:cNvSpPr txBox="1"/>
          <p:nvPr/>
        </p:nvSpPr>
        <p:spPr>
          <a:xfrm>
            <a:off x="3405801" y="4456119"/>
            <a:ext cx="1071640" cy="369332"/>
          </a:xfrm>
          <a:prstGeom prst="rect">
            <a:avLst/>
          </a:prstGeom>
          <a:noFill/>
        </p:spPr>
        <p:txBody>
          <a:bodyPr wrap="none" rtlCol="0">
            <a:spAutoFit/>
          </a:bodyPr>
          <a:lstStyle/>
          <a:p>
            <a:pPr algn="r"/>
            <a:r>
              <a:rPr lang="en-SE" noProof="0" dirty="0">
                <a:solidFill>
                  <a:srgbClr val="D0180A"/>
                </a:solidFill>
              </a:rPr>
              <a:t>ChatGPT</a:t>
            </a:r>
            <a:endParaRPr lang="en-US" noProof="0" dirty="0">
              <a:solidFill>
                <a:srgbClr val="D0180A"/>
              </a:solidFill>
            </a:endParaRPr>
          </a:p>
        </p:txBody>
      </p:sp>
      <p:sp>
        <p:nvSpPr>
          <p:cNvPr id="12" name="TextBox 11">
            <a:extLst>
              <a:ext uri="{FF2B5EF4-FFF2-40B4-BE49-F238E27FC236}">
                <a16:creationId xmlns:a16="http://schemas.microsoft.com/office/drawing/2014/main" id="{C3BB0BDD-87D9-181F-1145-F08805504A9B}"/>
              </a:ext>
            </a:extLst>
          </p:cNvPr>
          <p:cNvSpPr txBox="1"/>
          <p:nvPr/>
        </p:nvSpPr>
        <p:spPr>
          <a:xfrm>
            <a:off x="7404821" y="4086787"/>
            <a:ext cx="1205779" cy="369332"/>
          </a:xfrm>
          <a:prstGeom prst="rect">
            <a:avLst/>
          </a:prstGeom>
          <a:noFill/>
        </p:spPr>
        <p:txBody>
          <a:bodyPr wrap="none" rtlCol="0">
            <a:spAutoFit/>
          </a:bodyPr>
          <a:lstStyle/>
          <a:p>
            <a:r>
              <a:rPr lang="en-SE" noProof="0" dirty="0">
                <a:solidFill>
                  <a:srgbClr val="006D70"/>
                </a:solidFill>
              </a:rPr>
              <a:t>CR quality</a:t>
            </a:r>
            <a:endParaRPr lang="en-US" noProof="0" dirty="0">
              <a:solidFill>
                <a:srgbClr val="006D70"/>
              </a:solidFill>
            </a:endParaRPr>
          </a:p>
        </p:txBody>
      </p:sp>
      <p:sp>
        <p:nvSpPr>
          <p:cNvPr id="13" name="Oval 12">
            <a:extLst>
              <a:ext uri="{FF2B5EF4-FFF2-40B4-BE49-F238E27FC236}">
                <a16:creationId xmlns:a16="http://schemas.microsoft.com/office/drawing/2014/main" id="{13E50191-DE93-64CF-1A7D-742F5A9B8545}"/>
              </a:ext>
            </a:extLst>
          </p:cNvPr>
          <p:cNvSpPr/>
          <p:nvPr/>
        </p:nvSpPr>
        <p:spPr>
          <a:xfrm>
            <a:off x="6953083" y="4827770"/>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TextBox 13">
            <a:extLst>
              <a:ext uri="{FF2B5EF4-FFF2-40B4-BE49-F238E27FC236}">
                <a16:creationId xmlns:a16="http://schemas.microsoft.com/office/drawing/2014/main" id="{D6F6E08F-EFF2-D971-9D29-272B409C6929}"/>
              </a:ext>
            </a:extLst>
          </p:cNvPr>
          <p:cNvSpPr txBox="1"/>
          <p:nvPr/>
        </p:nvSpPr>
        <p:spPr>
          <a:xfrm>
            <a:off x="7404821" y="4827770"/>
            <a:ext cx="1152880" cy="369332"/>
          </a:xfrm>
          <a:prstGeom prst="rect">
            <a:avLst/>
          </a:prstGeom>
          <a:noFill/>
        </p:spPr>
        <p:txBody>
          <a:bodyPr wrap="none" rtlCol="0">
            <a:spAutoFit/>
          </a:bodyPr>
          <a:lstStyle/>
          <a:p>
            <a:r>
              <a:rPr lang="en-SE" noProof="0" dirty="0">
                <a:solidFill>
                  <a:srgbClr val="006D70"/>
                </a:solidFill>
              </a:rPr>
              <a:t>CR length</a:t>
            </a:r>
            <a:endParaRPr lang="en-US" noProof="0" dirty="0">
              <a:solidFill>
                <a:srgbClr val="006D70"/>
              </a:solidFill>
            </a:endParaRPr>
          </a:p>
        </p:txBody>
      </p:sp>
      <p:cxnSp>
        <p:nvCxnSpPr>
          <p:cNvPr id="16" name="Straight Arrow Connector 15">
            <a:extLst>
              <a:ext uri="{FF2B5EF4-FFF2-40B4-BE49-F238E27FC236}">
                <a16:creationId xmlns:a16="http://schemas.microsoft.com/office/drawing/2014/main" id="{920AE35A-901B-0EAC-339E-7F243FEDFA64}"/>
              </a:ext>
            </a:extLst>
          </p:cNvPr>
          <p:cNvCxnSpPr>
            <a:stCxn id="8" idx="6"/>
            <a:endCxn id="9" idx="2"/>
          </p:cNvCxnSpPr>
          <p:nvPr/>
        </p:nvCxnSpPr>
        <p:spPr>
          <a:xfrm flipV="1">
            <a:off x="4967392" y="4266787"/>
            <a:ext cx="1985691" cy="38098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7" name="Straight Arrow Connector 16">
            <a:extLst>
              <a:ext uri="{FF2B5EF4-FFF2-40B4-BE49-F238E27FC236}">
                <a16:creationId xmlns:a16="http://schemas.microsoft.com/office/drawing/2014/main" id="{5118A04E-65F7-E100-208F-D979D602A407}"/>
              </a:ext>
            </a:extLst>
          </p:cNvPr>
          <p:cNvCxnSpPr>
            <a:cxnSpLocks/>
            <a:stCxn id="8" idx="6"/>
            <a:endCxn id="13" idx="2"/>
          </p:cNvCxnSpPr>
          <p:nvPr/>
        </p:nvCxnSpPr>
        <p:spPr>
          <a:xfrm>
            <a:off x="4967392" y="4647770"/>
            <a:ext cx="1985691" cy="36000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7" name="Oval 6">
            <a:extLst>
              <a:ext uri="{FF2B5EF4-FFF2-40B4-BE49-F238E27FC236}">
                <a16:creationId xmlns:a16="http://schemas.microsoft.com/office/drawing/2014/main" id="{785A9354-B27F-A4A8-BD7E-F53AE2E7F922}"/>
              </a:ext>
            </a:extLst>
          </p:cNvPr>
          <p:cNvSpPr/>
          <p:nvPr/>
        </p:nvSpPr>
        <p:spPr>
          <a:xfrm>
            <a:off x="4607392" y="5652151"/>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TextBox 9">
            <a:extLst>
              <a:ext uri="{FF2B5EF4-FFF2-40B4-BE49-F238E27FC236}">
                <a16:creationId xmlns:a16="http://schemas.microsoft.com/office/drawing/2014/main" id="{FCF8B61F-22D9-A742-961D-7F52685F8CBA}"/>
              </a:ext>
            </a:extLst>
          </p:cNvPr>
          <p:cNvSpPr txBox="1"/>
          <p:nvPr/>
        </p:nvSpPr>
        <p:spPr>
          <a:xfrm>
            <a:off x="3936972" y="5656817"/>
            <a:ext cx="540469" cy="369332"/>
          </a:xfrm>
          <a:prstGeom prst="rect">
            <a:avLst/>
          </a:prstGeom>
          <a:noFill/>
        </p:spPr>
        <p:txBody>
          <a:bodyPr wrap="none" rtlCol="0">
            <a:spAutoFit/>
          </a:bodyPr>
          <a:lstStyle/>
          <a:p>
            <a:pPr algn="r"/>
            <a:r>
              <a:rPr lang="de-DE" noProof="0" dirty="0">
                <a:solidFill>
                  <a:schemeClr val="tx1">
                    <a:lumMod val="65000"/>
                    <a:lumOff val="35000"/>
                  </a:schemeClr>
                </a:solidFill>
              </a:rPr>
              <a:t>a</a:t>
            </a:r>
            <a:r>
              <a:rPr lang="en-SE" noProof="0" dirty="0" err="1">
                <a:solidFill>
                  <a:schemeClr val="tx1">
                    <a:lumMod val="65000"/>
                    <a:lumOff val="35000"/>
                  </a:schemeClr>
                </a:solidFill>
              </a:rPr>
              <a:t>ge</a:t>
            </a:r>
            <a:endParaRPr lang="en-US" noProof="0" dirty="0">
              <a:solidFill>
                <a:schemeClr val="tx1">
                  <a:lumMod val="65000"/>
                  <a:lumOff val="35000"/>
                </a:schemeClr>
              </a:solidFill>
            </a:endParaRPr>
          </a:p>
        </p:txBody>
      </p:sp>
      <p:cxnSp>
        <p:nvCxnSpPr>
          <p:cNvPr id="15" name="Straight Arrow Connector 14">
            <a:extLst>
              <a:ext uri="{FF2B5EF4-FFF2-40B4-BE49-F238E27FC236}">
                <a16:creationId xmlns:a16="http://schemas.microsoft.com/office/drawing/2014/main" id="{E03F05D1-FA23-5888-D34F-3F0045232519}"/>
              </a:ext>
            </a:extLst>
          </p:cNvPr>
          <p:cNvCxnSpPr>
            <a:cxnSpLocks/>
            <a:stCxn id="7" idx="0"/>
            <a:endCxn id="8" idx="4"/>
          </p:cNvCxnSpPr>
          <p:nvPr/>
        </p:nvCxnSpPr>
        <p:spPr>
          <a:xfrm flipV="1">
            <a:off x="4787392" y="4827770"/>
            <a:ext cx="0" cy="82438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8" name="Oval 17">
            <a:extLst>
              <a:ext uri="{FF2B5EF4-FFF2-40B4-BE49-F238E27FC236}">
                <a16:creationId xmlns:a16="http://schemas.microsoft.com/office/drawing/2014/main" id="{A3C08348-25F4-0E35-3207-525EDA0AA0BC}"/>
              </a:ext>
            </a:extLst>
          </p:cNvPr>
          <p:cNvSpPr/>
          <p:nvPr/>
        </p:nvSpPr>
        <p:spPr>
          <a:xfrm>
            <a:off x="5910037" y="5652151"/>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TextBox 18">
            <a:extLst>
              <a:ext uri="{FF2B5EF4-FFF2-40B4-BE49-F238E27FC236}">
                <a16:creationId xmlns:a16="http://schemas.microsoft.com/office/drawing/2014/main" id="{0B3D504A-1D64-B936-D21C-591AC4A50C36}"/>
              </a:ext>
            </a:extLst>
          </p:cNvPr>
          <p:cNvSpPr txBox="1"/>
          <p:nvPr/>
        </p:nvSpPr>
        <p:spPr>
          <a:xfrm>
            <a:off x="6270037" y="5642893"/>
            <a:ext cx="582211" cy="369332"/>
          </a:xfrm>
          <a:prstGeom prst="rect">
            <a:avLst/>
          </a:prstGeom>
          <a:noFill/>
        </p:spPr>
        <p:txBody>
          <a:bodyPr wrap="none" rtlCol="0">
            <a:spAutoFit/>
          </a:bodyPr>
          <a:lstStyle/>
          <a:p>
            <a:r>
              <a:rPr lang="de-DE" noProof="0" dirty="0">
                <a:solidFill>
                  <a:schemeClr val="tx1">
                    <a:lumMod val="65000"/>
                    <a:lumOff val="35000"/>
                  </a:schemeClr>
                </a:solidFill>
              </a:rPr>
              <a:t>s</a:t>
            </a:r>
            <a:r>
              <a:rPr lang="en-SE" noProof="0" dirty="0">
                <a:solidFill>
                  <a:schemeClr val="tx1">
                    <a:lumMod val="65000"/>
                    <a:lumOff val="35000"/>
                  </a:schemeClr>
                </a:solidFill>
              </a:rPr>
              <a:t>kill</a:t>
            </a:r>
            <a:endParaRPr lang="en-US" noProof="0" dirty="0">
              <a:solidFill>
                <a:schemeClr val="tx1">
                  <a:lumMod val="65000"/>
                  <a:lumOff val="35000"/>
                </a:schemeClr>
              </a:solidFill>
            </a:endParaRPr>
          </a:p>
        </p:txBody>
      </p:sp>
      <p:cxnSp>
        <p:nvCxnSpPr>
          <p:cNvPr id="20" name="Straight Arrow Connector 19">
            <a:extLst>
              <a:ext uri="{FF2B5EF4-FFF2-40B4-BE49-F238E27FC236}">
                <a16:creationId xmlns:a16="http://schemas.microsoft.com/office/drawing/2014/main" id="{993D8069-2E80-92BF-2643-F85B784EF0A1}"/>
              </a:ext>
            </a:extLst>
          </p:cNvPr>
          <p:cNvCxnSpPr>
            <a:cxnSpLocks/>
            <a:stCxn id="18" idx="0"/>
            <a:endCxn id="9" idx="3"/>
          </p:cNvCxnSpPr>
          <p:nvPr/>
        </p:nvCxnSpPr>
        <p:spPr>
          <a:xfrm flipV="1">
            <a:off x="6090037" y="4394066"/>
            <a:ext cx="915767" cy="125808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3" name="Straight Arrow Connector 22">
            <a:extLst>
              <a:ext uri="{FF2B5EF4-FFF2-40B4-BE49-F238E27FC236}">
                <a16:creationId xmlns:a16="http://schemas.microsoft.com/office/drawing/2014/main" id="{F5AD61E4-47BE-B97B-EBE7-966FBE9DA0E9}"/>
              </a:ext>
            </a:extLst>
          </p:cNvPr>
          <p:cNvCxnSpPr>
            <a:cxnSpLocks/>
            <a:stCxn id="18" idx="7"/>
            <a:endCxn id="13" idx="3"/>
          </p:cNvCxnSpPr>
          <p:nvPr/>
        </p:nvCxnSpPr>
        <p:spPr>
          <a:xfrm flipV="1">
            <a:off x="6217316" y="5135049"/>
            <a:ext cx="788488" cy="56982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42883896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1DC2E5-6942-8D1F-89FB-3602D8967C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191076-CF1D-A1AC-8C10-7341EA0685DF}"/>
              </a:ext>
            </a:extLst>
          </p:cNvPr>
          <p:cNvSpPr>
            <a:spLocks noGrp="1"/>
          </p:cNvSpPr>
          <p:nvPr>
            <p:ph type="title"/>
          </p:nvPr>
        </p:nvSpPr>
        <p:spPr/>
        <p:txBody>
          <a:bodyPr/>
          <a:lstStyle/>
          <a:p>
            <a:r>
              <a:rPr lang="en-SE" dirty="0"/>
              <a:t>Solution: Formulating a DAG</a:t>
            </a:r>
          </a:p>
        </p:txBody>
      </p:sp>
      <p:sp>
        <p:nvSpPr>
          <p:cNvPr id="3" name="Content Placeholder 2">
            <a:extLst>
              <a:ext uri="{FF2B5EF4-FFF2-40B4-BE49-F238E27FC236}">
                <a16:creationId xmlns:a16="http://schemas.microsoft.com/office/drawing/2014/main" id="{9A5F1933-5CF0-2341-7C01-2A87FA99EDCA}"/>
              </a:ext>
            </a:extLst>
          </p:cNvPr>
          <p:cNvSpPr>
            <a:spLocks noGrp="1"/>
          </p:cNvSpPr>
          <p:nvPr>
            <p:ph idx="1"/>
          </p:nvPr>
        </p:nvSpPr>
        <p:spPr>
          <a:xfrm>
            <a:off x="838200" y="1825625"/>
            <a:ext cx="10515600" cy="2106295"/>
          </a:xfrm>
        </p:spPr>
        <p:txBody>
          <a:bodyPr>
            <a:normAutofit fontScale="92500" lnSpcReduction="20000"/>
          </a:bodyPr>
          <a:lstStyle/>
          <a:p>
            <a:pPr marL="0" indent="0">
              <a:buNone/>
            </a:pPr>
            <a:r>
              <a:rPr lang="en-SE" dirty="0"/>
              <a:t>“Researchers are interested in knowing if </a:t>
            </a:r>
            <a:r>
              <a:rPr lang="en-SE" b="1" dirty="0">
                <a:solidFill>
                  <a:srgbClr val="D0180A"/>
                </a:solidFill>
              </a:rPr>
              <a:t>using ChatGPT </a:t>
            </a:r>
            <a:r>
              <a:rPr lang="en-SE" dirty="0"/>
              <a:t>affects the </a:t>
            </a:r>
            <a:r>
              <a:rPr lang="en-SE" b="1" dirty="0">
                <a:solidFill>
                  <a:srgbClr val="006D70"/>
                </a:solidFill>
              </a:rPr>
              <a:t>quality</a:t>
            </a:r>
            <a:r>
              <a:rPr lang="en-SE" dirty="0"/>
              <a:t> and </a:t>
            </a:r>
            <a:r>
              <a:rPr lang="en-SE" b="1" dirty="0">
                <a:solidFill>
                  <a:srgbClr val="006D70"/>
                </a:solidFill>
              </a:rPr>
              <a:t>length of code reviews </a:t>
            </a:r>
            <a:r>
              <a:rPr lang="en-SE" dirty="0"/>
              <a:t>at a company. Since they cannot interrupt the regular workflow, they cannot force anyone to use or not use ChatGPT. They do know, however, that </a:t>
            </a:r>
            <a:r>
              <a:rPr lang="en-SE" b="1" dirty="0"/>
              <a:t>younger developers </a:t>
            </a:r>
            <a:r>
              <a:rPr lang="en-SE" dirty="0"/>
              <a:t>use ChatGPT more often. On the other hand, they know that </a:t>
            </a:r>
            <a:r>
              <a:rPr lang="en-SE" b="1" dirty="0"/>
              <a:t>more skilled developers</a:t>
            </a:r>
            <a:r>
              <a:rPr lang="en-SE" dirty="0"/>
              <a:t> generally produce more concise (i.e., shorter) and better code reviews.”</a:t>
            </a:r>
          </a:p>
        </p:txBody>
      </p:sp>
      <p:sp>
        <p:nvSpPr>
          <p:cNvPr id="4" name="Date Placeholder 3">
            <a:extLst>
              <a:ext uri="{FF2B5EF4-FFF2-40B4-BE49-F238E27FC236}">
                <a16:creationId xmlns:a16="http://schemas.microsoft.com/office/drawing/2014/main" id="{838EC19A-9E5A-EC9F-8FA7-5D91A9B16C22}"/>
              </a:ext>
            </a:extLst>
          </p:cNvPr>
          <p:cNvSpPr>
            <a:spLocks noGrp="1"/>
          </p:cNvSpPr>
          <p:nvPr>
            <p:ph type="dt" sz="half" idx="10"/>
          </p:nvPr>
        </p:nvSpPr>
        <p:spPr/>
        <p:txBody>
          <a:bodyPr/>
          <a:lstStyle/>
          <a:p>
            <a:r>
              <a:rPr lang="de-DE"/>
              <a:t>20.01.2026</a:t>
            </a:r>
            <a:endParaRPr lang="en-US"/>
          </a:p>
        </p:txBody>
      </p:sp>
      <p:sp>
        <p:nvSpPr>
          <p:cNvPr id="5" name="Footer Placeholder 4">
            <a:extLst>
              <a:ext uri="{FF2B5EF4-FFF2-40B4-BE49-F238E27FC236}">
                <a16:creationId xmlns:a16="http://schemas.microsoft.com/office/drawing/2014/main" id="{9791BBEB-F103-42E3-D274-FC18677A6E12}"/>
              </a:ext>
            </a:extLst>
          </p:cNvPr>
          <p:cNvSpPr>
            <a:spLocks noGrp="1"/>
          </p:cNvSpPr>
          <p:nvPr>
            <p:ph type="ftr" sz="quarter" idx="11"/>
          </p:nvPr>
        </p:nvSpPr>
        <p:spPr/>
        <p:txBody>
          <a:bodyPr/>
          <a:lstStyle/>
          <a:p>
            <a:r>
              <a:rPr lang="en-US"/>
              <a:t>Introduction to Statistical Causal Inference</a:t>
            </a:r>
          </a:p>
        </p:txBody>
      </p:sp>
      <p:sp>
        <p:nvSpPr>
          <p:cNvPr id="6" name="Slide Number Placeholder 5">
            <a:extLst>
              <a:ext uri="{FF2B5EF4-FFF2-40B4-BE49-F238E27FC236}">
                <a16:creationId xmlns:a16="http://schemas.microsoft.com/office/drawing/2014/main" id="{12DB5A95-7FA0-1830-0BCE-2DC4B7E1243A}"/>
              </a:ext>
            </a:extLst>
          </p:cNvPr>
          <p:cNvSpPr>
            <a:spLocks noGrp="1"/>
          </p:cNvSpPr>
          <p:nvPr>
            <p:ph type="sldNum" sz="quarter" idx="12"/>
          </p:nvPr>
        </p:nvSpPr>
        <p:spPr/>
        <p:txBody>
          <a:bodyPr/>
          <a:lstStyle/>
          <a:p>
            <a:fld id="{0FA2D919-C0DE-4971-A2E9-D4AC0031921B}" type="slidenum">
              <a:rPr lang="en-US" smtClean="0"/>
              <a:t>14</a:t>
            </a:fld>
            <a:endParaRPr lang="en-US"/>
          </a:p>
        </p:txBody>
      </p:sp>
      <p:sp>
        <p:nvSpPr>
          <p:cNvPr id="8" name="Oval 7">
            <a:extLst>
              <a:ext uri="{FF2B5EF4-FFF2-40B4-BE49-F238E27FC236}">
                <a16:creationId xmlns:a16="http://schemas.microsoft.com/office/drawing/2014/main" id="{72F6360D-FA50-E8B0-BE18-A46397906A5B}"/>
              </a:ext>
            </a:extLst>
          </p:cNvPr>
          <p:cNvSpPr/>
          <p:nvPr/>
        </p:nvSpPr>
        <p:spPr>
          <a:xfrm>
            <a:off x="4607392" y="4467770"/>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Oval 8">
            <a:extLst>
              <a:ext uri="{FF2B5EF4-FFF2-40B4-BE49-F238E27FC236}">
                <a16:creationId xmlns:a16="http://schemas.microsoft.com/office/drawing/2014/main" id="{A10B4A13-99F2-0B83-FCE8-34D2EF3E8FE5}"/>
              </a:ext>
            </a:extLst>
          </p:cNvPr>
          <p:cNvSpPr/>
          <p:nvPr/>
        </p:nvSpPr>
        <p:spPr>
          <a:xfrm>
            <a:off x="6953083" y="4086787"/>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TextBox 10">
            <a:extLst>
              <a:ext uri="{FF2B5EF4-FFF2-40B4-BE49-F238E27FC236}">
                <a16:creationId xmlns:a16="http://schemas.microsoft.com/office/drawing/2014/main" id="{45C8134B-E38D-204B-C04B-F774397EE8D5}"/>
              </a:ext>
            </a:extLst>
          </p:cNvPr>
          <p:cNvSpPr txBox="1"/>
          <p:nvPr/>
        </p:nvSpPr>
        <p:spPr>
          <a:xfrm>
            <a:off x="3405801" y="4456119"/>
            <a:ext cx="1071640" cy="369332"/>
          </a:xfrm>
          <a:prstGeom prst="rect">
            <a:avLst/>
          </a:prstGeom>
          <a:noFill/>
        </p:spPr>
        <p:txBody>
          <a:bodyPr wrap="none" rtlCol="0">
            <a:spAutoFit/>
          </a:bodyPr>
          <a:lstStyle/>
          <a:p>
            <a:pPr algn="r"/>
            <a:r>
              <a:rPr lang="en-SE" noProof="0" dirty="0">
                <a:solidFill>
                  <a:srgbClr val="D0180A"/>
                </a:solidFill>
              </a:rPr>
              <a:t>ChatGPT</a:t>
            </a:r>
            <a:endParaRPr lang="en-US" noProof="0" dirty="0">
              <a:solidFill>
                <a:srgbClr val="D0180A"/>
              </a:solidFill>
            </a:endParaRPr>
          </a:p>
        </p:txBody>
      </p:sp>
      <p:sp>
        <p:nvSpPr>
          <p:cNvPr id="12" name="TextBox 11">
            <a:extLst>
              <a:ext uri="{FF2B5EF4-FFF2-40B4-BE49-F238E27FC236}">
                <a16:creationId xmlns:a16="http://schemas.microsoft.com/office/drawing/2014/main" id="{759AB872-C278-AE65-D480-32D6EABE214C}"/>
              </a:ext>
            </a:extLst>
          </p:cNvPr>
          <p:cNvSpPr txBox="1"/>
          <p:nvPr/>
        </p:nvSpPr>
        <p:spPr>
          <a:xfrm>
            <a:off x="7404821" y="4086787"/>
            <a:ext cx="1205779" cy="369332"/>
          </a:xfrm>
          <a:prstGeom prst="rect">
            <a:avLst/>
          </a:prstGeom>
          <a:noFill/>
        </p:spPr>
        <p:txBody>
          <a:bodyPr wrap="none" rtlCol="0">
            <a:spAutoFit/>
          </a:bodyPr>
          <a:lstStyle/>
          <a:p>
            <a:r>
              <a:rPr lang="en-SE" noProof="0" dirty="0">
                <a:solidFill>
                  <a:srgbClr val="006D70"/>
                </a:solidFill>
              </a:rPr>
              <a:t>CR quality</a:t>
            </a:r>
            <a:endParaRPr lang="en-US" noProof="0" dirty="0">
              <a:solidFill>
                <a:srgbClr val="006D70"/>
              </a:solidFill>
            </a:endParaRPr>
          </a:p>
        </p:txBody>
      </p:sp>
      <p:sp>
        <p:nvSpPr>
          <p:cNvPr id="13" name="Oval 12">
            <a:extLst>
              <a:ext uri="{FF2B5EF4-FFF2-40B4-BE49-F238E27FC236}">
                <a16:creationId xmlns:a16="http://schemas.microsoft.com/office/drawing/2014/main" id="{56C444D9-4617-6916-3D59-FF5F27C3FBFE}"/>
              </a:ext>
            </a:extLst>
          </p:cNvPr>
          <p:cNvSpPr/>
          <p:nvPr/>
        </p:nvSpPr>
        <p:spPr>
          <a:xfrm>
            <a:off x="6953083" y="4827770"/>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TextBox 13">
            <a:extLst>
              <a:ext uri="{FF2B5EF4-FFF2-40B4-BE49-F238E27FC236}">
                <a16:creationId xmlns:a16="http://schemas.microsoft.com/office/drawing/2014/main" id="{68D8EC2F-500C-26E6-D22E-CFC01625009A}"/>
              </a:ext>
            </a:extLst>
          </p:cNvPr>
          <p:cNvSpPr txBox="1"/>
          <p:nvPr/>
        </p:nvSpPr>
        <p:spPr>
          <a:xfrm>
            <a:off x="7404821" y="4827770"/>
            <a:ext cx="1152880" cy="369332"/>
          </a:xfrm>
          <a:prstGeom prst="rect">
            <a:avLst/>
          </a:prstGeom>
          <a:noFill/>
        </p:spPr>
        <p:txBody>
          <a:bodyPr wrap="none" rtlCol="0">
            <a:spAutoFit/>
          </a:bodyPr>
          <a:lstStyle/>
          <a:p>
            <a:r>
              <a:rPr lang="en-SE" noProof="0" dirty="0">
                <a:solidFill>
                  <a:srgbClr val="006D70"/>
                </a:solidFill>
              </a:rPr>
              <a:t>CR length</a:t>
            </a:r>
            <a:endParaRPr lang="en-US" noProof="0" dirty="0">
              <a:solidFill>
                <a:srgbClr val="006D70"/>
              </a:solidFill>
            </a:endParaRPr>
          </a:p>
        </p:txBody>
      </p:sp>
      <p:cxnSp>
        <p:nvCxnSpPr>
          <p:cNvPr id="16" name="Straight Arrow Connector 15">
            <a:extLst>
              <a:ext uri="{FF2B5EF4-FFF2-40B4-BE49-F238E27FC236}">
                <a16:creationId xmlns:a16="http://schemas.microsoft.com/office/drawing/2014/main" id="{5993D038-AAC2-B447-9C48-0C6141A1F268}"/>
              </a:ext>
            </a:extLst>
          </p:cNvPr>
          <p:cNvCxnSpPr>
            <a:stCxn id="8" idx="6"/>
            <a:endCxn id="9" idx="2"/>
          </p:cNvCxnSpPr>
          <p:nvPr/>
        </p:nvCxnSpPr>
        <p:spPr>
          <a:xfrm flipV="1">
            <a:off x="4967392" y="4266787"/>
            <a:ext cx="1985691" cy="38098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7" name="Straight Arrow Connector 16">
            <a:extLst>
              <a:ext uri="{FF2B5EF4-FFF2-40B4-BE49-F238E27FC236}">
                <a16:creationId xmlns:a16="http://schemas.microsoft.com/office/drawing/2014/main" id="{64E4B5F8-E0AC-A7CD-DE18-48AA73D01B10}"/>
              </a:ext>
            </a:extLst>
          </p:cNvPr>
          <p:cNvCxnSpPr>
            <a:cxnSpLocks/>
            <a:stCxn id="8" idx="6"/>
            <a:endCxn id="13" idx="2"/>
          </p:cNvCxnSpPr>
          <p:nvPr/>
        </p:nvCxnSpPr>
        <p:spPr>
          <a:xfrm>
            <a:off x="4967392" y="4647770"/>
            <a:ext cx="1985691" cy="36000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7" name="Oval 6">
            <a:extLst>
              <a:ext uri="{FF2B5EF4-FFF2-40B4-BE49-F238E27FC236}">
                <a16:creationId xmlns:a16="http://schemas.microsoft.com/office/drawing/2014/main" id="{ED90D075-7E54-F2BA-2183-C14592F2AA21}"/>
              </a:ext>
            </a:extLst>
          </p:cNvPr>
          <p:cNvSpPr/>
          <p:nvPr/>
        </p:nvSpPr>
        <p:spPr>
          <a:xfrm>
            <a:off x="4607392" y="5652151"/>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TextBox 9">
            <a:extLst>
              <a:ext uri="{FF2B5EF4-FFF2-40B4-BE49-F238E27FC236}">
                <a16:creationId xmlns:a16="http://schemas.microsoft.com/office/drawing/2014/main" id="{CA431B0F-2F5C-6B89-CD12-4009D47FC00F}"/>
              </a:ext>
            </a:extLst>
          </p:cNvPr>
          <p:cNvSpPr txBox="1"/>
          <p:nvPr/>
        </p:nvSpPr>
        <p:spPr>
          <a:xfrm>
            <a:off x="3936972" y="5656817"/>
            <a:ext cx="540469" cy="369332"/>
          </a:xfrm>
          <a:prstGeom prst="rect">
            <a:avLst/>
          </a:prstGeom>
          <a:noFill/>
        </p:spPr>
        <p:txBody>
          <a:bodyPr wrap="none" rtlCol="0">
            <a:spAutoFit/>
          </a:bodyPr>
          <a:lstStyle/>
          <a:p>
            <a:pPr algn="r"/>
            <a:r>
              <a:rPr lang="de-DE" noProof="0" dirty="0">
                <a:solidFill>
                  <a:schemeClr val="tx1">
                    <a:lumMod val="65000"/>
                    <a:lumOff val="35000"/>
                  </a:schemeClr>
                </a:solidFill>
              </a:rPr>
              <a:t>a</a:t>
            </a:r>
            <a:r>
              <a:rPr lang="en-SE" noProof="0" dirty="0" err="1">
                <a:solidFill>
                  <a:schemeClr val="tx1">
                    <a:lumMod val="65000"/>
                    <a:lumOff val="35000"/>
                  </a:schemeClr>
                </a:solidFill>
              </a:rPr>
              <a:t>ge</a:t>
            </a:r>
            <a:endParaRPr lang="en-US" noProof="0" dirty="0">
              <a:solidFill>
                <a:schemeClr val="tx1">
                  <a:lumMod val="65000"/>
                  <a:lumOff val="35000"/>
                </a:schemeClr>
              </a:solidFill>
            </a:endParaRPr>
          </a:p>
        </p:txBody>
      </p:sp>
      <p:cxnSp>
        <p:nvCxnSpPr>
          <p:cNvPr id="15" name="Straight Arrow Connector 14">
            <a:extLst>
              <a:ext uri="{FF2B5EF4-FFF2-40B4-BE49-F238E27FC236}">
                <a16:creationId xmlns:a16="http://schemas.microsoft.com/office/drawing/2014/main" id="{41F0B2BF-9AB2-DCC3-1131-B2684166752F}"/>
              </a:ext>
            </a:extLst>
          </p:cNvPr>
          <p:cNvCxnSpPr>
            <a:cxnSpLocks/>
            <a:stCxn id="7" idx="0"/>
            <a:endCxn id="8" idx="4"/>
          </p:cNvCxnSpPr>
          <p:nvPr/>
        </p:nvCxnSpPr>
        <p:spPr>
          <a:xfrm flipV="1">
            <a:off x="4787392" y="4827770"/>
            <a:ext cx="0" cy="82438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8" name="Oval 17">
            <a:extLst>
              <a:ext uri="{FF2B5EF4-FFF2-40B4-BE49-F238E27FC236}">
                <a16:creationId xmlns:a16="http://schemas.microsoft.com/office/drawing/2014/main" id="{56D6D81C-7FD1-B735-9245-D7D9E64010D1}"/>
              </a:ext>
            </a:extLst>
          </p:cNvPr>
          <p:cNvSpPr/>
          <p:nvPr/>
        </p:nvSpPr>
        <p:spPr>
          <a:xfrm>
            <a:off x="5910037" y="5652151"/>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TextBox 18">
            <a:extLst>
              <a:ext uri="{FF2B5EF4-FFF2-40B4-BE49-F238E27FC236}">
                <a16:creationId xmlns:a16="http://schemas.microsoft.com/office/drawing/2014/main" id="{83F0CAC2-64C3-8F1C-5686-A45B8AE76E4C}"/>
              </a:ext>
            </a:extLst>
          </p:cNvPr>
          <p:cNvSpPr txBox="1"/>
          <p:nvPr/>
        </p:nvSpPr>
        <p:spPr>
          <a:xfrm>
            <a:off x="6270037" y="5642893"/>
            <a:ext cx="582211" cy="369332"/>
          </a:xfrm>
          <a:prstGeom prst="rect">
            <a:avLst/>
          </a:prstGeom>
          <a:noFill/>
        </p:spPr>
        <p:txBody>
          <a:bodyPr wrap="none" rtlCol="0">
            <a:spAutoFit/>
          </a:bodyPr>
          <a:lstStyle/>
          <a:p>
            <a:r>
              <a:rPr lang="de-DE" noProof="0" dirty="0">
                <a:solidFill>
                  <a:schemeClr val="tx1">
                    <a:lumMod val="65000"/>
                    <a:lumOff val="35000"/>
                  </a:schemeClr>
                </a:solidFill>
              </a:rPr>
              <a:t>s</a:t>
            </a:r>
            <a:r>
              <a:rPr lang="en-SE" noProof="0" dirty="0">
                <a:solidFill>
                  <a:schemeClr val="tx1">
                    <a:lumMod val="65000"/>
                    <a:lumOff val="35000"/>
                  </a:schemeClr>
                </a:solidFill>
              </a:rPr>
              <a:t>kill</a:t>
            </a:r>
            <a:endParaRPr lang="en-US" noProof="0" dirty="0">
              <a:solidFill>
                <a:schemeClr val="tx1">
                  <a:lumMod val="65000"/>
                  <a:lumOff val="35000"/>
                </a:schemeClr>
              </a:solidFill>
            </a:endParaRPr>
          </a:p>
        </p:txBody>
      </p:sp>
      <p:cxnSp>
        <p:nvCxnSpPr>
          <p:cNvPr id="20" name="Straight Arrow Connector 19">
            <a:extLst>
              <a:ext uri="{FF2B5EF4-FFF2-40B4-BE49-F238E27FC236}">
                <a16:creationId xmlns:a16="http://schemas.microsoft.com/office/drawing/2014/main" id="{0E330AF0-0776-6BAF-41E5-60F86176E0C1}"/>
              </a:ext>
            </a:extLst>
          </p:cNvPr>
          <p:cNvCxnSpPr>
            <a:cxnSpLocks/>
            <a:stCxn id="18" idx="0"/>
            <a:endCxn id="9" idx="3"/>
          </p:cNvCxnSpPr>
          <p:nvPr/>
        </p:nvCxnSpPr>
        <p:spPr>
          <a:xfrm flipV="1">
            <a:off x="6090037" y="4394066"/>
            <a:ext cx="915767" cy="125808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3" name="Straight Arrow Connector 22">
            <a:extLst>
              <a:ext uri="{FF2B5EF4-FFF2-40B4-BE49-F238E27FC236}">
                <a16:creationId xmlns:a16="http://schemas.microsoft.com/office/drawing/2014/main" id="{5806F6E5-EFA9-F7CB-72D0-EAC4F365473D}"/>
              </a:ext>
            </a:extLst>
          </p:cNvPr>
          <p:cNvCxnSpPr>
            <a:cxnSpLocks/>
            <a:stCxn id="18" idx="7"/>
            <a:endCxn id="13" idx="3"/>
          </p:cNvCxnSpPr>
          <p:nvPr/>
        </p:nvCxnSpPr>
        <p:spPr>
          <a:xfrm flipV="1">
            <a:off x="6217316" y="5135049"/>
            <a:ext cx="788488" cy="56982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1" name="Straight Arrow Connector 20">
            <a:extLst>
              <a:ext uri="{FF2B5EF4-FFF2-40B4-BE49-F238E27FC236}">
                <a16:creationId xmlns:a16="http://schemas.microsoft.com/office/drawing/2014/main" id="{98F964D5-95C4-966A-B124-1D9BDCCAE559}"/>
              </a:ext>
            </a:extLst>
          </p:cNvPr>
          <p:cNvCxnSpPr>
            <a:cxnSpLocks/>
            <a:stCxn id="7" idx="6"/>
            <a:endCxn id="18" idx="2"/>
          </p:cNvCxnSpPr>
          <p:nvPr/>
        </p:nvCxnSpPr>
        <p:spPr>
          <a:xfrm>
            <a:off x="4967392" y="5832151"/>
            <a:ext cx="942645"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6305588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3486D25-8B83-9D9D-5FD6-3A502B4012D4}"/>
              </a:ext>
            </a:extLst>
          </p:cNvPr>
          <p:cNvSpPr>
            <a:spLocks noGrp="1"/>
          </p:cNvSpPr>
          <p:nvPr>
            <p:ph type="title"/>
          </p:nvPr>
        </p:nvSpPr>
        <p:spPr/>
        <p:txBody>
          <a:bodyPr/>
          <a:lstStyle/>
          <a:p>
            <a:r>
              <a:rPr lang="en-SE" dirty="0"/>
              <a:t>Types of Associations</a:t>
            </a:r>
          </a:p>
        </p:txBody>
      </p:sp>
      <p:sp>
        <p:nvSpPr>
          <p:cNvPr id="7" name="Text Placeholder 6">
            <a:extLst>
              <a:ext uri="{FF2B5EF4-FFF2-40B4-BE49-F238E27FC236}">
                <a16:creationId xmlns:a16="http://schemas.microsoft.com/office/drawing/2014/main" id="{753A6951-E062-B509-D71F-ECC3FEDA4155}"/>
              </a:ext>
            </a:extLst>
          </p:cNvPr>
          <p:cNvSpPr>
            <a:spLocks noGrp="1"/>
          </p:cNvSpPr>
          <p:nvPr>
            <p:ph type="body" idx="1"/>
          </p:nvPr>
        </p:nvSpPr>
        <p:spPr/>
        <p:txBody>
          <a:bodyPr/>
          <a:lstStyle/>
          <a:p>
            <a:r>
              <a:rPr lang="en-SE" dirty="0"/>
              <a:t>Relationships Between Three (or more) Variables</a:t>
            </a:r>
          </a:p>
        </p:txBody>
      </p:sp>
      <p:sp>
        <p:nvSpPr>
          <p:cNvPr id="4" name="Date Placeholder 3">
            <a:extLst>
              <a:ext uri="{FF2B5EF4-FFF2-40B4-BE49-F238E27FC236}">
                <a16:creationId xmlns:a16="http://schemas.microsoft.com/office/drawing/2014/main" id="{460BE057-9EBE-19BE-0344-9014230CC172}"/>
              </a:ext>
            </a:extLst>
          </p:cNvPr>
          <p:cNvSpPr>
            <a:spLocks noGrp="1"/>
          </p:cNvSpPr>
          <p:nvPr>
            <p:ph type="dt" sz="half" idx="10"/>
          </p:nvPr>
        </p:nvSpPr>
        <p:spPr/>
        <p:txBody>
          <a:bodyPr/>
          <a:lstStyle/>
          <a:p>
            <a:fld id="{A1C06950-82F8-45F4-A28D-9FBF8CAE29F7}" type="datetime1">
              <a:rPr lang="de-DE" smtClean="0"/>
              <a:t>17.06.2026</a:t>
            </a:fld>
            <a:endParaRPr lang="en-SE"/>
          </a:p>
        </p:txBody>
      </p:sp>
      <p:sp>
        <p:nvSpPr>
          <p:cNvPr id="5" name="Slide Number Placeholder 4">
            <a:extLst>
              <a:ext uri="{FF2B5EF4-FFF2-40B4-BE49-F238E27FC236}">
                <a16:creationId xmlns:a16="http://schemas.microsoft.com/office/drawing/2014/main" id="{2CEAB494-5868-2999-B9F3-A1F967A683B6}"/>
              </a:ext>
            </a:extLst>
          </p:cNvPr>
          <p:cNvSpPr>
            <a:spLocks noGrp="1"/>
          </p:cNvSpPr>
          <p:nvPr>
            <p:ph type="sldNum" sz="quarter" idx="12"/>
          </p:nvPr>
        </p:nvSpPr>
        <p:spPr/>
        <p:txBody>
          <a:bodyPr/>
          <a:lstStyle/>
          <a:p>
            <a:fld id="{271ECC92-9CDE-4EB3-B1C5-F46B9E1FA3C1}" type="slidenum">
              <a:rPr lang="en-SE" smtClean="0"/>
              <a:t>15</a:t>
            </a:fld>
            <a:endParaRPr lang="en-SE"/>
          </a:p>
        </p:txBody>
      </p:sp>
    </p:spTree>
    <p:extLst>
      <p:ext uri="{BB962C8B-B14F-4D97-AF65-F5344CB8AC3E}">
        <p14:creationId xmlns:p14="http://schemas.microsoft.com/office/powerpoint/2010/main" val="13050556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DBD427-0F29-D664-0D74-8D7E924E4067}"/>
              </a:ext>
            </a:extLst>
          </p:cNvPr>
          <p:cNvSpPr>
            <a:spLocks noGrp="1"/>
          </p:cNvSpPr>
          <p:nvPr>
            <p:ph type="title"/>
          </p:nvPr>
        </p:nvSpPr>
        <p:spPr/>
        <p:txBody>
          <a:bodyPr/>
          <a:lstStyle/>
          <a:p>
            <a:r>
              <a:rPr lang="en-SE" dirty="0"/>
              <a:t>Three Types of Associations</a:t>
            </a:r>
          </a:p>
        </p:txBody>
      </p:sp>
      <p:sp>
        <p:nvSpPr>
          <p:cNvPr id="4" name="Date Placeholder 3">
            <a:extLst>
              <a:ext uri="{FF2B5EF4-FFF2-40B4-BE49-F238E27FC236}">
                <a16:creationId xmlns:a16="http://schemas.microsoft.com/office/drawing/2014/main" id="{680B4885-297B-BC5C-E3B8-5C5E3746A776}"/>
              </a:ext>
            </a:extLst>
          </p:cNvPr>
          <p:cNvSpPr>
            <a:spLocks noGrp="1"/>
          </p:cNvSpPr>
          <p:nvPr>
            <p:ph type="dt" sz="half" idx="10"/>
          </p:nvPr>
        </p:nvSpPr>
        <p:spPr/>
        <p:txBody>
          <a:bodyPr/>
          <a:lstStyle/>
          <a:p>
            <a:fld id="{A1C06950-82F8-45F4-A28D-9FBF8CAE29F7}" type="datetime1">
              <a:rPr lang="de-DE" smtClean="0"/>
              <a:t>17.06.2026</a:t>
            </a:fld>
            <a:endParaRPr lang="en-SE"/>
          </a:p>
        </p:txBody>
      </p:sp>
      <p:sp>
        <p:nvSpPr>
          <p:cNvPr id="5" name="Slide Number Placeholder 4">
            <a:extLst>
              <a:ext uri="{FF2B5EF4-FFF2-40B4-BE49-F238E27FC236}">
                <a16:creationId xmlns:a16="http://schemas.microsoft.com/office/drawing/2014/main" id="{59C3D409-B4D0-BFF4-94BF-F2C240826272}"/>
              </a:ext>
            </a:extLst>
          </p:cNvPr>
          <p:cNvSpPr>
            <a:spLocks noGrp="1"/>
          </p:cNvSpPr>
          <p:nvPr>
            <p:ph type="sldNum" sz="quarter" idx="12"/>
          </p:nvPr>
        </p:nvSpPr>
        <p:spPr/>
        <p:txBody>
          <a:bodyPr/>
          <a:lstStyle/>
          <a:p>
            <a:fld id="{271ECC92-9CDE-4EB3-B1C5-F46B9E1FA3C1}" type="slidenum">
              <a:rPr lang="en-SE" smtClean="0"/>
              <a:t>16</a:t>
            </a:fld>
            <a:endParaRPr lang="en-SE"/>
          </a:p>
        </p:txBody>
      </p:sp>
      <p:grpSp>
        <p:nvGrpSpPr>
          <p:cNvPr id="24" name="Group 23">
            <a:extLst>
              <a:ext uri="{FF2B5EF4-FFF2-40B4-BE49-F238E27FC236}">
                <a16:creationId xmlns:a16="http://schemas.microsoft.com/office/drawing/2014/main" id="{31C1EE81-5897-E7E0-5756-4E9D126B4705}"/>
              </a:ext>
            </a:extLst>
          </p:cNvPr>
          <p:cNvGrpSpPr/>
          <p:nvPr/>
        </p:nvGrpSpPr>
        <p:grpSpPr>
          <a:xfrm>
            <a:off x="1704700" y="3455983"/>
            <a:ext cx="1876697" cy="956965"/>
            <a:chOff x="1704703" y="3311892"/>
            <a:chExt cx="1876697" cy="956965"/>
          </a:xfrm>
        </p:grpSpPr>
        <p:sp>
          <p:nvSpPr>
            <p:cNvPr id="6" name="Oval 5">
              <a:extLst>
                <a:ext uri="{FF2B5EF4-FFF2-40B4-BE49-F238E27FC236}">
                  <a16:creationId xmlns:a16="http://schemas.microsoft.com/office/drawing/2014/main" id="{6F6CDA5D-67BE-6A5A-DA78-5FC4784FD643}"/>
                </a:ext>
              </a:extLst>
            </p:cNvPr>
            <p:cNvSpPr/>
            <p:nvPr/>
          </p:nvSpPr>
          <p:spPr>
            <a:xfrm>
              <a:off x="1704703" y="3311892"/>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rgbClr val="D0180A"/>
                  </a:solidFill>
                </a:rPr>
                <a:t>x</a:t>
              </a:r>
              <a:endParaRPr lang="en-US" noProof="0" dirty="0">
                <a:solidFill>
                  <a:srgbClr val="D0180A"/>
                </a:solidFill>
              </a:endParaRPr>
            </a:p>
          </p:txBody>
        </p:sp>
        <p:sp>
          <p:nvSpPr>
            <p:cNvPr id="7" name="Oval 6">
              <a:extLst>
                <a:ext uri="{FF2B5EF4-FFF2-40B4-BE49-F238E27FC236}">
                  <a16:creationId xmlns:a16="http://schemas.microsoft.com/office/drawing/2014/main" id="{7AFBD2EB-73BD-7C93-8F11-91F574D32D36}"/>
                </a:ext>
              </a:extLst>
            </p:cNvPr>
            <p:cNvSpPr/>
            <p:nvPr/>
          </p:nvSpPr>
          <p:spPr>
            <a:xfrm>
              <a:off x="3221400" y="3311892"/>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rgbClr val="006D70"/>
                  </a:solidFill>
                </a:rPr>
                <a:t>y</a:t>
              </a:r>
              <a:endParaRPr lang="en-US" noProof="0" dirty="0">
                <a:solidFill>
                  <a:srgbClr val="006D70"/>
                </a:solidFill>
              </a:endParaRPr>
            </a:p>
          </p:txBody>
        </p:sp>
        <p:cxnSp>
          <p:nvCxnSpPr>
            <p:cNvPr id="9" name="Straight Arrow Connector 8">
              <a:extLst>
                <a:ext uri="{FF2B5EF4-FFF2-40B4-BE49-F238E27FC236}">
                  <a16:creationId xmlns:a16="http://schemas.microsoft.com/office/drawing/2014/main" id="{4DC63294-9E9E-CB14-0610-681981229BCE}"/>
                </a:ext>
              </a:extLst>
            </p:cNvPr>
            <p:cNvCxnSpPr>
              <a:cxnSpLocks/>
              <a:stCxn id="6" idx="6"/>
              <a:endCxn id="7" idx="2"/>
            </p:cNvCxnSpPr>
            <p:nvPr/>
          </p:nvCxnSpPr>
          <p:spPr>
            <a:xfrm>
              <a:off x="2064703" y="3491892"/>
              <a:ext cx="115669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3" name="Oval 12">
              <a:extLst>
                <a:ext uri="{FF2B5EF4-FFF2-40B4-BE49-F238E27FC236}">
                  <a16:creationId xmlns:a16="http://schemas.microsoft.com/office/drawing/2014/main" id="{ECB62CFF-E1D5-638D-464A-DF84324D03ED}"/>
                </a:ext>
              </a:extLst>
            </p:cNvPr>
            <p:cNvSpPr/>
            <p:nvPr/>
          </p:nvSpPr>
          <p:spPr>
            <a:xfrm>
              <a:off x="2468474" y="3908857"/>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dirty="0">
                  <a:solidFill>
                    <a:schemeClr val="tx1">
                      <a:lumMod val="65000"/>
                      <a:lumOff val="35000"/>
                    </a:schemeClr>
                  </a:solidFill>
                </a:rPr>
                <a:t>z</a:t>
              </a:r>
              <a:endParaRPr lang="en-US" noProof="0" dirty="0">
                <a:solidFill>
                  <a:schemeClr val="tx1">
                    <a:lumMod val="65000"/>
                    <a:lumOff val="35000"/>
                  </a:schemeClr>
                </a:solidFill>
              </a:endParaRPr>
            </a:p>
          </p:txBody>
        </p:sp>
        <p:cxnSp>
          <p:nvCxnSpPr>
            <p:cNvPr id="16" name="Straight Arrow Connector 15">
              <a:extLst>
                <a:ext uri="{FF2B5EF4-FFF2-40B4-BE49-F238E27FC236}">
                  <a16:creationId xmlns:a16="http://schemas.microsoft.com/office/drawing/2014/main" id="{FB10F6A4-8EB2-B1EE-BA03-26C242D9D6B4}"/>
                </a:ext>
              </a:extLst>
            </p:cNvPr>
            <p:cNvCxnSpPr>
              <a:cxnSpLocks/>
              <a:stCxn id="13" idx="1"/>
              <a:endCxn id="6" idx="5"/>
            </p:cNvCxnSpPr>
            <p:nvPr/>
          </p:nvCxnSpPr>
          <p:spPr>
            <a:xfrm flipH="1" flipV="1">
              <a:off x="2011982" y="3619171"/>
              <a:ext cx="509213" cy="34240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0" name="Straight Arrow Connector 19">
              <a:extLst>
                <a:ext uri="{FF2B5EF4-FFF2-40B4-BE49-F238E27FC236}">
                  <a16:creationId xmlns:a16="http://schemas.microsoft.com/office/drawing/2014/main" id="{E2E93487-4848-2774-EBE6-6417AF8CDF94}"/>
                </a:ext>
              </a:extLst>
            </p:cNvPr>
            <p:cNvCxnSpPr>
              <a:cxnSpLocks/>
              <a:stCxn id="13" idx="7"/>
              <a:endCxn id="7" idx="3"/>
            </p:cNvCxnSpPr>
            <p:nvPr/>
          </p:nvCxnSpPr>
          <p:spPr>
            <a:xfrm flipV="1">
              <a:off x="2775753" y="3619171"/>
              <a:ext cx="498368" cy="34240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sp>
        <p:nvSpPr>
          <p:cNvPr id="23" name="TextBox 22">
            <a:extLst>
              <a:ext uri="{FF2B5EF4-FFF2-40B4-BE49-F238E27FC236}">
                <a16:creationId xmlns:a16="http://schemas.microsoft.com/office/drawing/2014/main" id="{CF36F291-AB83-1A5A-25F5-DBDF0FA1AC3F}"/>
              </a:ext>
            </a:extLst>
          </p:cNvPr>
          <p:cNvSpPr txBox="1"/>
          <p:nvPr/>
        </p:nvSpPr>
        <p:spPr>
          <a:xfrm>
            <a:off x="1220881" y="2068914"/>
            <a:ext cx="2844339" cy="1169551"/>
          </a:xfrm>
          <a:prstGeom prst="rect">
            <a:avLst/>
          </a:prstGeom>
          <a:noFill/>
        </p:spPr>
        <p:txBody>
          <a:bodyPr wrap="square" rtlCol="0">
            <a:spAutoFit/>
          </a:bodyPr>
          <a:lstStyle/>
          <a:p>
            <a:pPr algn="ctr"/>
            <a:r>
              <a:rPr lang="en-SE" sz="2400" b="1" dirty="0"/>
              <a:t>Confounder</a:t>
            </a:r>
          </a:p>
          <a:p>
            <a:pPr algn="ctr"/>
            <a:r>
              <a:rPr lang="en-SE" sz="1400" dirty="0"/>
              <a:t>(or: fork)</a:t>
            </a:r>
          </a:p>
          <a:p>
            <a:pPr algn="ctr"/>
            <a:r>
              <a:rPr lang="en-SE" sz="1600" dirty="0"/>
              <a:t>z is a common cause of both exposure x and the outcome y</a:t>
            </a:r>
            <a:endParaRPr lang="en-SE" dirty="0"/>
          </a:p>
        </p:txBody>
      </p:sp>
      <p:sp>
        <p:nvSpPr>
          <p:cNvPr id="25" name="TextBox 24">
            <a:extLst>
              <a:ext uri="{FF2B5EF4-FFF2-40B4-BE49-F238E27FC236}">
                <a16:creationId xmlns:a16="http://schemas.microsoft.com/office/drawing/2014/main" id="{723E9F04-C7BC-0CAA-912A-3E283BE7C4C8}"/>
              </a:ext>
            </a:extLst>
          </p:cNvPr>
          <p:cNvSpPr txBox="1"/>
          <p:nvPr/>
        </p:nvSpPr>
        <p:spPr>
          <a:xfrm>
            <a:off x="1220880" y="4630466"/>
            <a:ext cx="2844339" cy="830997"/>
          </a:xfrm>
          <a:prstGeom prst="rect">
            <a:avLst/>
          </a:prstGeom>
          <a:noFill/>
        </p:spPr>
        <p:txBody>
          <a:bodyPr wrap="square" rtlCol="0">
            <a:spAutoFit/>
          </a:bodyPr>
          <a:lstStyle/>
          <a:p>
            <a:pPr algn="ctr"/>
            <a:r>
              <a:rPr lang="en-SE" sz="1600" dirty="0"/>
              <a:t>To get an unbiased estimation of the effect x → y we must control z.</a:t>
            </a:r>
            <a:endParaRPr lang="en-SE" sz="1200" dirty="0"/>
          </a:p>
        </p:txBody>
      </p:sp>
      <p:grpSp>
        <p:nvGrpSpPr>
          <p:cNvPr id="28" name="Group 27">
            <a:extLst>
              <a:ext uri="{FF2B5EF4-FFF2-40B4-BE49-F238E27FC236}">
                <a16:creationId xmlns:a16="http://schemas.microsoft.com/office/drawing/2014/main" id="{22690261-C43F-3A70-727F-DAB52E6DDF5F}"/>
              </a:ext>
            </a:extLst>
          </p:cNvPr>
          <p:cNvGrpSpPr/>
          <p:nvPr/>
        </p:nvGrpSpPr>
        <p:grpSpPr>
          <a:xfrm>
            <a:off x="5157650" y="3455983"/>
            <a:ext cx="1876697" cy="956965"/>
            <a:chOff x="1704703" y="3311892"/>
            <a:chExt cx="1876697" cy="956965"/>
          </a:xfrm>
        </p:grpSpPr>
        <p:sp>
          <p:nvSpPr>
            <p:cNvPr id="31" name="Oval 30">
              <a:extLst>
                <a:ext uri="{FF2B5EF4-FFF2-40B4-BE49-F238E27FC236}">
                  <a16:creationId xmlns:a16="http://schemas.microsoft.com/office/drawing/2014/main" id="{2DA01170-E563-5557-7995-DF3DD988A8E1}"/>
                </a:ext>
              </a:extLst>
            </p:cNvPr>
            <p:cNvSpPr/>
            <p:nvPr/>
          </p:nvSpPr>
          <p:spPr>
            <a:xfrm>
              <a:off x="1704703" y="3311892"/>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rgbClr val="D0180A"/>
                  </a:solidFill>
                </a:rPr>
                <a:t>x</a:t>
              </a:r>
              <a:endParaRPr lang="en-US" noProof="0" dirty="0">
                <a:solidFill>
                  <a:srgbClr val="D0180A"/>
                </a:solidFill>
              </a:endParaRPr>
            </a:p>
          </p:txBody>
        </p:sp>
        <p:sp>
          <p:nvSpPr>
            <p:cNvPr id="32" name="Oval 31">
              <a:extLst>
                <a:ext uri="{FF2B5EF4-FFF2-40B4-BE49-F238E27FC236}">
                  <a16:creationId xmlns:a16="http://schemas.microsoft.com/office/drawing/2014/main" id="{94D6F8A2-9E9D-50F8-1E50-7E61F59EA7D3}"/>
                </a:ext>
              </a:extLst>
            </p:cNvPr>
            <p:cNvSpPr/>
            <p:nvPr/>
          </p:nvSpPr>
          <p:spPr>
            <a:xfrm>
              <a:off x="3221400" y="3311892"/>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rgbClr val="006D70"/>
                  </a:solidFill>
                </a:rPr>
                <a:t>y</a:t>
              </a:r>
              <a:endParaRPr lang="en-US" noProof="0" dirty="0">
                <a:solidFill>
                  <a:srgbClr val="006D70"/>
                </a:solidFill>
              </a:endParaRPr>
            </a:p>
          </p:txBody>
        </p:sp>
        <p:cxnSp>
          <p:nvCxnSpPr>
            <p:cNvPr id="33" name="Straight Arrow Connector 32">
              <a:extLst>
                <a:ext uri="{FF2B5EF4-FFF2-40B4-BE49-F238E27FC236}">
                  <a16:creationId xmlns:a16="http://schemas.microsoft.com/office/drawing/2014/main" id="{C4A07D57-2954-5BF8-2E8B-3B7A06668475}"/>
                </a:ext>
              </a:extLst>
            </p:cNvPr>
            <p:cNvCxnSpPr>
              <a:cxnSpLocks/>
              <a:stCxn id="31" idx="6"/>
              <a:endCxn id="32" idx="2"/>
            </p:cNvCxnSpPr>
            <p:nvPr/>
          </p:nvCxnSpPr>
          <p:spPr>
            <a:xfrm>
              <a:off x="2064703" y="3491892"/>
              <a:ext cx="115669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4" name="Oval 33">
              <a:extLst>
                <a:ext uri="{FF2B5EF4-FFF2-40B4-BE49-F238E27FC236}">
                  <a16:creationId xmlns:a16="http://schemas.microsoft.com/office/drawing/2014/main" id="{05FC0E83-AC9F-B337-6D23-48A1E19B9B6F}"/>
                </a:ext>
              </a:extLst>
            </p:cNvPr>
            <p:cNvSpPr/>
            <p:nvPr/>
          </p:nvSpPr>
          <p:spPr>
            <a:xfrm>
              <a:off x="2468474" y="3908857"/>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dirty="0">
                  <a:solidFill>
                    <a:schemeClr val="tx1">
                      <a:lumMod val="65000"/>
                      <a:lumOff val="35000"/>
                    </a:schemeClr>
                  </a:solidFill>
                </a:rPr>
                <a:t>z</a:t>
              </a:r>
              <a:endParaRPr lang="en-US" noProof="0" dirty="0">
                <a:solidFill>
                  <a:schemeClr val="tx1">
                    <a:lumMod val="65000"/>
                    <a:lumOff val="35000"/>
                  </a:schemeClr>
                </a:solidFill>
              </a:endParaRPr>
            </a:p>
          </p:txBody>
        </p:sp>
        <p:cxnSp>
          <p:nvCxnSpPr>
            <p:cNvPr id="35" name="Straight Arrow Connector 34">
              <a:extLst>
                <a:ext uri="{FF2B5EF4-FFF2-40B4-BE49-F238E27FC236}">
                  <a16:creationId xmlns:a16="http://schemas.microsoft.com/office/drawing/2014/main" id="{6DB24529-8717-3002-A0FE-1DFBADE574FE}"/>
                </a:ext>
              </a:extLst>
            </p:cNvPr>
            <p:cNvCxnSpPr>
              <a:cxnSpLocks/>
              <a:stCxn id="31" idx="5"/>
              <a:endCxn id="34" idx="1"/>
            </p:cNvCxnSpPr>
            <p:nvPr/>
          </p:nvCxnSpPr>
          <p:spPr>
            <a:xfrm>
              <a:off x="2011982" y="3619171"/>
              <a:ext cx="509213" cy="34240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6" name="Straight Arrow Connector 35">
              <a:extLst>
                <a:ext uri="{FF2B5EF4-FFF2-40B4-BE49-F238E27FC236}">
                  <a16:creationId xmlns:a16="http://schemas.microsoft.com/office/drawing/2014/main" id="{B5CB1040-5239-161C-4FA4-7B8178D7B033}"/>
                </a:ext>
              </a:extLst>
            </p:cNvPr>
            <p:cNvCxnSpPr>
              <a:cxnSpLocks/>
              <a:stCxn id="34" idx="7"/>
              <a:endCxn id="32" idx="3"/>
            </p:cNvCxnSpPr>
            <p:nvPr/>
          </p:nvCxnSpPr>
          <p:spPr>
            <a:xfrm flipV="1">
              <a:off x="2775753" y="3619171"/>
              <a:ext cx="498368" cy="34240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sp>
        <p:nvSpPr>
          <p:cNvPr id="29" name="TextBox 28">
            <a:extLst>
              <a:ext uri="{FF2B5EF4-FFF2-40B4-BE49-F238E27FC236}">
                <a16:creationId xmlns:a16="http://schemas.microsoft.com/office/drawing/2014/main" id="{BDFFF9FE-60D3-6F7C-15C5-690240EE0FA4}"/>
              </a:ext>
            </a:extLst>
          </p:cNvPr>
          <p:cNvSpPr txBox="1"/>
          <p:nvPr/>
        </p:nvSpPr>
        <p:spPr>
          <a:xfrm>
            <a:off x="4673831" y="2068914"/>
            <a:ext cx="2844339" cy="1169551"/>
          </a:xfrm>
          <a:prstGeom prst="rect">
            <a:avLst/>
          </a:prstGeom>
          <a:noFill/>
        </p:spPr>
        <p:txBody>
          <a:bodyPr wrap="square" rtlCol="0">
            <a:spAutoFit/>
          </a:bodyPr>
          <a:lstStyle/>
          <a:p>
            <a:pPr algn="ctr"/>
            <a:r>
              <a:rPr lang="en-SE" sz="2400" b="1" dirty="0"/>
              <a:t>Mediator</a:t>
            </a:r>
          </a:p>
          <a:p>
            <a:pPr algn="ctr"/>
            <a:r>
              <a:rPr lang="en-SE" sz="1400" dirty="0"/>
              <a:t>(or: pipe)</a:t>
            </a:r>
          </a:p>
          <a:p>
            <a:pPr algn="ctr"/>
            <a:r>
              <a:rPr lang="en-SE" sz="1600" dirty="0"/>
              <a:t>z is an effect of exposure x and a cause the outcome y</a:t>
            </a:r>
            <a:endParaRPr lang="en-SE" dirty="0"/>
          </a:p>
        </p:txBody>
      </p:sp>
      <p:sp>
        <p:nvSpPr>
          <p:cNvPr id="30" name="TextBox 29">
            <a:extLst>
              <a:ext uri="{FF2B5EF4-FFF2-40B4-BE49-F238E27FC236}">
                <a16:creationId xmlns:a16="http://schemas.microsoft.com/office/drawing/2014/main" id="{B499B8D2-2E01-5625-29EC-FBCCBB144859}"/>
              </a:ext>
            </a:extLst>
          </p:cNvPr>
          <p:cNvSpPr txBox="1"/>
          <p:nvPr/>
        </p:nvSpPr>
        <p:spPr>
          <a:xfrm>
            <a:off x="4673830" y="4630466"/>
            <a:ext cx="2844339" cy="830997"/>
          </a:xfrm>
          <a:prstGeom prst="rect">
            <a:avLst/>
          </a:prstGeom>
          <a:noFill/>
        </p:spPr>
        <p:txBody>
          <a:bodyPr wrap="square" rtlCol="0">
            <a:spAutoFit/>
          </a:bodyPr>
          <a:lstStyle/>
          <a:p>
            <a:pPr algn="ctr"/>
            <a:r>
              <a:rPr lang="en-SE" sz="1600" dirty="0"/>
              <a:t>To get the direct effect x → y we must control z. To get the total effect, we must not control z.</a:t>
            </a:r>
            <a:endParaRPr lang="en-SE" sz="1200" dirty="0"/>
          </a:p>
        </p:txBody>
      </p:sp>
      <p:grpSp>
        <p:nvGrpSpPr>
          <p:cNvPr id="37" name="Group 36">
            <a:extLst>
              <a:ext uri="{FF2B5EF4-FFF2-40B4-BE49-F238E27FC236}">
                <a16:creationId xmlns:a16="http://schemas.microsoft.com/office/drawing/2014/main" id="{A761C3CC-7529-B05B-3C9A-4B35235B61BB}"/>
              </a:ext>
            </a:extLst>
          </p:cNvPr>
          <p:cNvGrpSpPr/>
          <p:nvPr/>
        </p:nvGrpSpPr>
        <p:grpSpPr>
          <a:xfrm>
            <a:off x="8126781" y="2066987"/>
            <a:ext cx="2844339" cy="2344034"/>
            <a:chOff x="1220881" y="2068914"/>
            <a:chExt cx="2844339" cy="2344034"/>
          </a:xfrm>
        </p:grpSpPr>
        <p:grpSp>
          <p:nvGrpSpPr>
            <p:cNvPr id="38" name="Group 37">
              <a:extLst>
                <a:ext uri="{FF2B5EF4-FFF2-40B4-BE49-F238E27FC236}">
                  <a16:creationId xmlns:a16="http://schemas.microsoft.com/office/drawing/2014/main" id="{C9F3005A-4192-5456-4DF1-E889A18A3F3E}"/>
                </a:ext>
              </a:extLst>
            </p:cNvPr>
            <p:cNvGrpSpPr/>
            <p:nvPr/>
          </p:nvGrpSpPr>
          <p:grpSpPr>
            <a:xfrm>
              <a:off x="1704700" y="3455983"/>
              <a:ext cx="1876697" cy="956965"/>
              <a:chOff x="1704703" y="3311892"/>
              <a:chExt cx="1876697" cy="956965"/>
            </a:xfrm>
          </p:grpSpPr>
          <p:sp>
            <p:nvSpPr>
              <p:cNvPr id="41" name="Oval 40">
                <a:extLst>
                  <a:ext uri="{FF2B5EF4-FFF2-40B4-BE49-F238E27FC236}">
                    <a16:creationId xmlns:a16="http://schemas.microsoft.com/office/drawing/2014/main" id="{58F6CCC3-161F-F969-C2F2-B9A299DF41D7}"/>
                  </a:ext>
                </a:extLst>
              </p:cNvPr>
              <p:cNvSpPr/>
              <p:nvPr/>
            </p:nvSpPr>
            <p:spPr>
              <a:xfrm>
                <a:off x="1704703" y="3311892"/>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rgbClr val="D0180A"/>
                    </a:solidFill>
                  </a:rPr>
                  <a:t>x</a:t>
                </a:r>
                <a:endParaRPr lang="en-US" noProof="0" dirty="0">
                  <a:solidFill>
                    <a:srgbClr val="D0180A"/>
                  </a:solidFill>
                </a:endParaRPr>
              </a:p>
            </p:txBody>
          </p:sp>
          <p:sp>
            <p:nvSpPr>
              <p:cNvPr id="42" name="Oval 41">
                <a:extLst>
                  <a:ext uri="{FF2B5EF4-FFF2-40B4-BE49-F238E27FC236}">
                    <a16:creationId xmlns:a16="http://schemas.microsoft.com/office/drawing/2014/main" id="{4C95E87C-D1CB-A3B3-FE6B-65877C2B68B4}"/>
                  </a:ext>
                </a:extLst>
              </p:cNvPr>
              <p:cNvSpPr/>
              <p:nvPr/>
            </p:nvSpPr>
            <p:spPr>
              <a:xfrm>
                <a:off x="3221400" y="3311892"/>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rgbClr val="006D70"/>
                    </a:solidFill>
                  </a:rPr>
                  <a:t>y</a:t>
                </a:r>
                <a:endParaRPr lang="en-US" noProof="0" dirty="0">
                  <a:solidFill>
                    <a:srgbClr val="006D70"/>
                  </a:solidFill>
                </a:endParaRPr>
              </a:p>
            </p:txBody>
          </p:sp>
          <p:cxnSp>
            <p:nvCxnSpPr>
              <p:cNvPr id="43" name="Straight Arrow Connector 42">
                <a:extLst>
                  <a:ext uri="{FF2B5EF4-FFF2-40B4-BE49-F238E27FC236}">
                    <a16:creationId xmlns:a16="http://schemas.microsoft.com/office/drawing/2014/main" id="{10393DE9-F0D3-6D63-C0C2-749AE930905F}"/>
                  </a:ext>
                </a:extLst>
              </p:cNvPr>
              <p:cNvCxnSpPr>
                <a:cxnSpLocks/>
                <a:stCxn id="41" idx="6"/>
                <a:endCxn id="42" idx="2"/>
              </p:cNvCxnSpPr>
              <p:nvPr/>
            </p:nvCxnSpPr>
            <p:spPr>
              <a:xfrm>
                <a:off x="2064703" y="3491892"/>
                <a:ext cx="115669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44" name="Oval 43">
                <a:extLst>
                  <a:ext uri="{FF2B5EF4-FFF2-40B4-BE49-F238E27FC236}">
                    <a16:creationId xmlns:a16="http://schemas.microsoft.com/office/drawing/2014/main" id="{A452810C-B960-468D-5EE7-C514139760EC}"/>
                  </a:ext>
                </a:extLst>
              </p:cNvPr>
              <p:cNvSpPr/>
              <p:nvPr/>
            </p:nvSpPr>
            <p:spPr>
              <a:xfrm>
                <a:off x="2468474" y="3908857"/>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dirty="0">
                    <a:solidFill>
                      <a:schemeClr val="tx1">
                        <a:lumMod val="65000"/>
                        <a:lumOff val="35000"/>
                      </a:schemeClr>
                    </a:solidFill>
                  </a:rPr>
                  <a:t>z</a:t>
                </a:r>
                <a:endParaRPr lang="en-US" noProof="0" dirty="0">
                  <a:solidFill>
                    <a:schemeClr val="tx1">
                      <a:lumMod val="65000"/>
                      <a:lumOff val="35000"/>
                    </a:schemeClr>
                  </a:solidFill>
                </a:endParaRPr>
              </a:p>
            </p:txBody>
          </p:sp>
          <p:cxnSp>
            <p:nvCxnSpPr>
              <p:cNvPr id="45" name="Straight Arrow Connector 44">
                <a:extLst>
                  <a:ext uri="{FF2B5EF4-FFF2-40B4-BE49-F238E27FC236}">
                    <a16:creationId xmlns:a16="http://schemas.microsoft.com/office/drawing/2014/main" id="{50BD1BA6-614C-C303-F500-E81A6B24F7EC}"/>
                  </a:ext>
                </a:extLst>
              </p:cNvPr>
              <p:cNvCxnSpPr>
                <a:cxnSpLocks/>
                <a:stCxn id="41" idx="5"/>
                <a:endCxn id="44" idx="1"/>
              </p:cNvCxnSpPr>
              <p:nvPr/>
            </p:nvCxnSpPr>
            <p:spPr>
              <a:xfrm>
                <a:off x="2011982" y="3619171"/>
                <a:ext cx="509213" cy="34240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6" name="Straight Arrow Connector 45">
                <a:extLst>
                  <a:ext uri="{FF2B5EF4-FFF2-40B4-BE49-F238E27FC236}">
                    <a16:creationId xmlns:a16="http://schemas.microsoft.com/office/drawing/2014/main" id="{B2F077F2-1609-FFA6-E65A-7D7B82F48D6A}"/>
                  </a:ext>
                </a:extLst>
              </p:cNvPr>
              <p:cNvCxnSpPr>
                <a:cxnSpLocks/>
                <a:stCxn id="42" idx="3"/>
                <a:endCxn id="44" idx="7"/>
              </p:cNvCxnSpPr>
              <p:nvPr/>
            </p:nvCxnSpPr>
            <p:spPr>
              <a:xfrm flipH="1">
                <a:off x="2775753" y="3619171"/>
                <a:ext cx="498368" cy="34240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sp>
          <p:nvSpPr>
            <p:cNvPr id="39" name="TextBox 38">
              <a:extLst>
                <a:ext uri="{FF2B5EF4-FFF2-40B4-BE49-F238E27FC236}">
                  <a16:creationId xmlns:a16="http://schemas.microsoft.com/office/drawing/2014/main" id="{ECBC2C37-65D3-CCA1-ED73-0E6011349AD7}"/>
                </a:ext>
              </a:extLst>
            </p:cNvPr>
            <p:cNvSpPr txBox="1"/>
            <p:nvPr/>
          </p:nvSpPr>
          <p:spPr>
            <a:xfrm>
              <a:off x="1220881" y="2068914"/>
              <a:ext cx="2844339" cy="1169551"/>
            </a:xfrm>
            <a:prstGeom prst="rect">
              <a:avLst/>
            </a:prstGeom>
            <a:noFill/>
          </p:spPr>
          <p:txBody>
            <a:bodyPr wrap="square" rtlCol="0">
              <a:spAutoFit/>
            </a:bodyPr>
            <a:lstStyle/>
            <a:p>
              <a:pPr algn="ctr"/>
              <a:r>
                <a:rPr lang="en-SE" sz="2400" b="1" dirty="0"/>
                <a:t>Collider</a:t>
              </a:r>
            </a:p>
            <a:p>
              <a:pPr algn="ctr"/>
              <a:endParaRPr lang="en-SE" sz="1400" dirty="0"/>
            </a:p>
            <a:p>
              <a:pPr algn="ctr"/>
              <a:r>
                <a:rPr lang="en-SE" sz="1600" dirty="0"/>
                <a:t>z is a common effect of both exposure x and the outcome y</a:t>
              </a:r>
              <a:endParaRPr lang="en-SE" dirty="0"/>
            </a:p>
          </p:txBody>
        </p:sp>
      </p:grpSp>
    </p:spTree>
    <p:extLst>
      <p:ext uri="{BB962C8B-B14F-4D97-AF65-F5344CB8AC3E}">
        <p14:creationId xmlns:p14="http://schemas.microsoft.com/office/powerpoint/2010/main" val="19672243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5" grpId="0"/>
      <p:bldP spid="29" grpId="0"/>
      <p:bldP spid="30"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F11C01-89BD-E7B9-75D5-5B0643184126}"/>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0523C338-DA81-BDEE-F4A4-9EFDD1FADD00}"/>
              </a:ext>
            </a:extLst>
          </p:cNvPr>
          <p:cNvSpPr>
            <a:spLocks noGrp="1"/>
          </p:cNvSpPr>
          <p:nvPr>
            <p:ph type="title"/>
          </p:nvPr>
        </p:nvSpPr>
        <p:spPr/>
        <p:txBody>
          <a:bodyPr/>
          <a:lstStyle/>
          <a:p>
            <a:r>
              <a:rPr lang="en-US" noProof="0" dirty="0"/>
              <a:t>Colliding: Common Effects</a:t>
            </a:r>
          </a:p>
        </p:txBody>
      </p:sp>
      <p:sp>
        <p:nvSpPr>
          <p:cNvPr id="8" name="Content Placeholder 7">
            <a:extLst>
              <a:ext uri="{FF2B5EF4-FFF2-40B4-BE49-F238E27FC236}">
                <a16:creationId xmlns:a16="http://schemas.microsoft.com/office/drawing/2014/main" id="{0CDE1F96-C813-C2D0-1BB6-18F629A4EE76}"/>
              </a:ext>
            </a:extLst>
          </p:cNvPr>
          <p:cNvSpPr>
            <a:spLocks noGrp="1"/>
          </p:cNvSpPr>
          <p:nvPr>
            <p:ph idx="1"/>
          </p:nvPr>
        </p:nvSpPr>
        <p:spPr>
          <a:xfrm>
            <a:off x="838200" y="1825625"/>
            <a:ext cx="10515600" cy="1317631"/>
          </a:xfrm>
        </p:spPr>
        <p:txBody>
          <a:bodyPr>
            <a:normAutofit/>
          </a:bodyPr>
          <a:lstStyle/>
          <a:p>
            <a:pPr marL="0" indent="0">
              <a:buNone/>
            </a:pPr>
            <a:r>
              <a:rPr lang="en-US" sz="2400" noProof="0" dirty="0"/>
              <a:t>“Does the </a:t>
            </a:r>
            <a:r>
              <a:rPr lang="en-US" sz="2400" noProof="0" dirty="0">
                <a:solidFill>
                  <a:srgbClr val="D0180A"/>
                </a:solidFill>
              </a:rPr>
              <a:t>length of a requirements specification </a:t>
            </a:r>
            <a:r>
              <a:rPr lang="en-US" sz="2400" noProof="0" dirty="0"/>
              <a:t>affect its </a:t>
            </a:r>
            <a:r>
              <a:rPr lang="en-US" sz="2400" noProof="0" dirty="0">
                <a:solidFill>
                  <a:srgbClr val="006D70"/>
                </a:solidFill>
              </a:rPr>
              <a:t>quality</a:t>
            </a:r>
            <a:r>
              <a:rPr lang="en-US" sz="2400" noProof="0" dirty="0"/>
              <a:t>? Both factors do affect whether the specified feature is </a:t>
            </a:r>
            <a:r>
              <a:rPr lang="en-US" sz="2400" noProof="0" dirty="0">
                <a:solidFill>
                  <a:schemeClr val="bg1">
                    <a:lumMod val="50000"/>
                  </a:schemeClr>
                </a:solidFill>
              </a:rPr>
              <a:t>implemented successfully</a:t>
            </a:r>
            <a:r>
              <a:rPr lang="en-US" sz="2400" noProof="0" dirty="0"/>
              <a:t>.”</a:t>
            </a:r>
          </a:p>
        </p:txBody>
      </p:sp>
      <p:sp>
        <p:nvSpPr>
          <p:cNvPr id="4" name="Date Placeholder 3">
            <a:extLst>
              <a:ext uri="{FF2B5EF4-FFF2-40B4-BE49-F238E27FC236}">
                <a16:creationId xmlns:a16="http://schemas.microsoft.com/office/drawing/2014/main" id="{FF830CB6-0EE4-6848-1FEB-88BE6262BC6D}"/>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53FBD1F6-3707-7533-3CF8-00EFB73EB266}"/>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CAD39BF5-066E-F2C2-4973-BDEA1DB88B68}"/>
              </a:ext>
            </a:extLst>
          </p:cNvPr>
          <p:cNvSpPr>
            <a:spLocks noGrp="1"/>
          </p:cNvSpPr>
          <p:nvPr>
            <p:ph type="sldNum" sz="quarter" idx="12"/>
          </p:nvPr>
        </p:nvSpPr>
        <p:spPr/>
        <p:txBody>
          <a:bodyPr/>
          <a:lstStyle/>
          <a:p>
            <a:fld id="{0FA2D919-C0DE-4971-A2E9-D4AC0031921B}" type="slidenum">
              <a:rPr lang="en-US" noProof="0" smtClean="0"/>
              <a:t>17</a:t>
            </a:fld>
            <a:endParaRPr lang="en-US" noProof="0" dirty="0"/>
          </a:p>
        </p:txBody>
      </p:sp>
      <p:cxnSp>
        <p:nvCxnSpPr>
          <p:cNvPr id="13" name="Straight Arrow Connector 12">
            <a:extLst>
              <a:ext uri="{FF2B5EF4-FFF2-40B4-BE49-F238E27FC236}">
                <a16:creationId xmlns:a16="http://schemas.microsoft.com/office/drawing/2014/main" id="{119C8D2D-444F-C2BA-B329-A0E4C98B4516}"/>
              </a:ext>
            </a:extLst>
          </p:cNvPr>
          <p:cNvCxnSpPr>
            <a:cxnSpLocks/>
            <a:stCxn id="17" idx="3"/>
            <a:endCxn id="18" idx="1"/>
          </p:cNvCxnSpPr>
          <p:nvPr/>
        </p:nvCxnSpPr>
        <p:spPr>
          <a:xfrm>
            <a:off x="4491656" y="4106826"/>
            <a:ext cx="3286599" cy="0"/>
          </a:xfrm>
          <a:prstGeom prst="straightConnector1">
            <a:avLst/>
          </a:prstGeom>
          <a:ln w="28575">
            <a:prstDash val="sysDash"/>
            <a:tailEnd type="triangle"/>
          </a:ln>
        </p:spPr>
        <p:style>
          <a:lnRef idx="2">
            <a:schemeClr val="dk1"/>
          </a:lnRef>
          <a:fillRef idx="0">
            <a:schemeClr val="dk1"/>
          </a:fillRef>
          <a:effectRef idx="1">
            <a:schemeClr val="dk1"/>
          </a:effectRef>
          <a:fontRef idx="minor">
            <a:schemeClr val="tx1"/>
          </a:fontRef>
        </p:style>
      </p:cxnSp>
      <p:sp>
        <p:nvSpPr>
          <p:cNvPr id="14" name="TextBox 13">
            <a:extLst>
              <a:ext uri="{FF2B5EF4-FFF2-40B4-BE49-F238E27FC236}">
                <a16:creationId xmlns:a16="http://schemas.microsoft.com/office/drawing/2014/main" id="{7D1F7776-1A18-C88D-8A55-1719A04B19CA}"/>
              </a:ext>
            </a:extLst>
          </p:cNvPr>
          <p:cNvSpPr txBox="1"/>
          <p:nvPr/>
        </p:nvSpPr>
        <p:spPr>
          <a:xfrm>
            <a:off x="3660712" y="3168412"/>
            <a:ext cx="1905843" cy="369332"/>
          </a:xfrm>
          <a:prstGeom prst="rect">
            <a:avLst/>
          </a:prstGeom>
          <a:noFill/>
        </p:spPr>
        <p:txBody>
          <a:bodyPr wrap="none" rtlCol="0">
            <a:spAutoFit/>
          </a:bodyPr>
          <a:lstStyle/>
          <a:p>
            <a:r>
              <a:rPr lang="en-US" noProof="0" dirty="0">
                <a:solidFill>
                  <a:srgbClr val="D0180A"/>
                </a:solidFill>
              </a:rPr>
              <a:t>specification size</a:t>
            </a:r>
          </a:p>
        </p:txBody>
      </p:sp>
      <p:sp>
        <p:nvSpPr>
          <p:cNvPr id="15" name="TextBox 14">
            <a:extLst>
              <a:ext uri="{FF2B5EF4-FFF2-40B4-BE49-F238E27FC236}">
                <a16:creationId xmlns:a16="http://schemas.microsoft.com/office/drawing/2014/main" id="{A92DE9DF-2336-7932-E334-AA2D93C83D42}"/>
              </a:ext>
            </a:extLst>
          </p:cNvPr>
          <p:cNvSpPr txBox="1"/>
          <p:nvPr/>
        </p:nvSpPr>
        <p:spPr>
          <a:xfrm>
            <a:off x="7401051" y="3162735"/>
            <a:ext cx="2194640" cy="369332"/>
          </a:xfrm>
          <a:prstGeom prst="rect">
            <a:avLst/>
          </a:prstGeom>
          <a:noFill/>
        </p:spPr>
        <p:txBody>
          <a:bodyPr wrap="none" rtlCol="0">
            <a:spAutoFit/>
          </a:bodyPr>
          <a:lstStyle/>
          <a:p>
            <a:r>
              <a:rPr lang="en-US" noProof="0" dirty="0">
                <a:solidFill>
                  <a:srgbClr val="006D70"/>
                </a:solidFill>
              </a:rPr>
              <a:t>specification quality</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874FDD8F-DD4D-1FDD-1173-E8B983E59665}"/>
                  </a:ext>
                </a:extLst>
              </p:cNvPr>
              <p:cNvSpPr txBox="1"/>
              <p:nvPr/>
            </p:nvSpPr>
            <p:spPr>
              <a:xfrm>
                <a:off x="4922098" y="4166628"/>
                <a:ext cx="2425714" cy="523220"/>
              </a:xfrm>
              <a:prstGeom prst="rect">
                <a:avLst/>
              </a:prstGeom>
              <a:noFill/>
            </p:spPr>
            <p:txBody>
              <a:bodyPr wrap="square">
                <a:spAutoFit/>
              </a:bodyPr>
              <a:lstStyle/>
              <a:p>
                <a14:m>
                  <m:oMath xmlns:m="http://schemas.openxmlformats.org/officeDocument/2006/math">
                    <m:r>
                      <a:rPr lang="en-US" sz="1400" b="0" i="1" noProof="0" smtClean="0">
                        <a:latin typeface="Cambria Math" panose="02040503050406030204" pitchFamily="18" charset="0"/>
                      </a:rPr>
                      <m:t>0</m:t>
                    </m:r>
                  </m:oMath>
                </a14:m>
                <a:r>
                  <a:rPr lang="en-US" sz="1400" noProof="0" dirty="0"/>
                  <a:t>: the specification size does not affect its quality</a:t>
                </a:r>
              </a:p>
            </p:txBody>
          </p:sp>
        </mc:Choice>
        <mc:Fallback xmlns="">
          <p:sp>
            <p:nvSpPr>
              <p:cNvPr id="16" name="TextBox 15">
                <a:extLst>
                  <a:ext uri="{FF2B5EF4-FFF2-40B4-BE49-F238E27FC236}">
                    <a16:creationId xmlns:a16="http://schemas.microsoft.com/office/drawing/2014/main" id="{874FDD8F-DD4D-1FDD-1173-E8B983E59665}"/>
                  </a:ext>
                </a:extLst>
              </p:cNvPr>
              <p:cNvSpPr txBox="1">
                <a:spLocks noRot="1" noChangeAspect="1" noMove="1" noResize="1" noEditPoints="1" noAdjustHandles="1" noChangeArrowheads="1" noChangeShapeType="1" noTextEdit="1"/>
              </p:cNvSpPr>
              <p:nvPr/>
            </p:nvSpPr>
            <p:spPr>
              <a:xfrm>
                <a:off x="4922098" y="4166628"/>
                <a:ext cx="2425714" cy="523220"/>
              </a:xfrm>
              <a:prstGeom prst="rect">
                <a:avLst/>
              </a:prstGeom>
              <a:blipFill>
                <a:blip r:embed="rId8"/>
                <a:stretch>
                  <a:fillRect l="-754" t="-2353" r="-1005" b="-11765"/>
                </a:stretch>
              </a:blipFill>
            </p:spPr>
            <p:txBody>
              <a:bodyPr/>
              <a:lstStyle/>
              <a:p>
                <a:r>
                  <a:rPr lang="en-SE">
                    <a:noFill/>
                  </a:rPr>
                  <a:t> </a:t>
                </a:r>
              </a:p>
            </p:txBody>
          </p:sp>
        </mc:Fallback>
      </mc:AlternateContent>
      <p:sp>
        <p:nvSpPr>
          <p:cNvPr id="17" name="Rectangle: Rounded Corners 16">
            <a:extLst>
              <a:ext uri="{FF2B5EF4-FFF2-40B4-BE49-F238E27FC236}">
                <a16:creationId xmlns:a16="http://schemas.microsoft.com/office/drawing/2014/main" id="{E6C50474-6BB3-E3EE-349B-B3ABF6F13F9E}"/>
              </a:ext>
            </a:extLst>
          </p:cNvPr>
          <p:cNvSpPr/>
          <p:nvPr/>
        </p:nvSpPr>
        <p:spPr>
          <a:xfrm>
            <a:off x="4131656" y="3926826"/>
            <a:ext cx="360000" cy="360000"/>
          </a:xfrm>
          <a:prstGeom prst="roundRect">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ectangle: Rounded Corners 17">
            <a:extLst>
              <a:ext uri="{FF2B5EF4-FFF2-40B4-BE49-F238E27FC236}">
                <a16:creationId xmlns:a16="http://schemas.microsoft.com/office/drawing/2014/main" id="{FD2C2B6F-81E5-F7FB-5E5A-30EFB2ADBCF5}"/>
              </a:ext>
            </a:extLst>
          </p:cNvPr>
          <p:cNvSpPr/>
          <p:nvPr/>
        </p:nvSpPr>
        <p:spPr>
          <a:xfrm>
            <a:off x="7778255" y="3926826"/>
            <a:ext cx="360000" cy="360000"/>
          </a:xfrm>
          <a:prstGeom prst="roundRect">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3" name="Rectangle: Rounded Corners 62">
            <a:extLst>
              <a:ext uri="{FF2B5EF4-FFF2-40B4-BE49-F238E27FC236}">
                <a16:creationId xmlns:a16="http://schemas.microsoft.com/office/drawing/2014/main" id="{92F703E1-F5B7-38A3-9F2E-D1A1A32A9B60}"/>
              </a:ext>
            </a:extLst>
          </p:cNvPr>
          <p:cNvSpPr/>
          <p:nvPr/>
        </p:nvSpPr>
        <p:spPr>
          <a:xfrm>
            <a:off x="5954955" y="5166166"/>
            <a:ext cx="360000" cy="360000"/>
          </a:xfrm>
          <a:prstGeom prst="roundRect">
            <a:avLst/>
          </a:prstGeom>
          <a:solidFill>
            <a:schemeClr val="bg1">
              <a:lumMod val="8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64" name="Straight Arrow Connector 63">
            <a:extLst>
              <a:ext uri="{FF2B5EF4-FFF2-40B4-BE49-F238E27FC236}">
                <a16:creationId xmlns:a16="http://schemas.microsoft.com/office/drawing/2014/main" id="{C96DDE53-818B-5E9A-5A0D-2041712831E9}"/>
              </a:ext>
            </a:extLst>
          </p:cNvPr>
          <p:cNvCxnSpPr>
            <a:cxnSpLocks/>
            <a:stCxn id="17" idx="2"/>
            <a:endCxn id="63" idx="1"/>
          </p:cNvCxnSpPr>
          <p:nvPr/>
        </p:nvCxnSpPr>
        <p:spPr>
          <a:xfrm>
            <a:off x="4311656" y="4286826"/>
            <a:ext cx="1643299" cy="1059340"/>
          </a:xfrm>
          <a:prstGeom prst="straightConnector1">
            <a:avLst/>
          </a:prstGeom>
          <a:ln w="12700">
            <a:tailEnd type="triangle"/>
          </a:ln>
        </p:spPr>
        <p:style>
          <a:lnRef idx="2">
            <a:schemeClr val="dk1"/>
          </a:lnRef>
          <a:fillRef idx="0">
            <a:schemeClr val="dk1"/>
          </a:fillRef>
          <a:effectRef idx="1">
            <a:schemeClr val="dk1"/>
          </a:effectRef>
          <a:fontRef idx="minor">
            <a:schemeClr val="tx1"/>
          </a:fontRef>
        </p:style>
      </p:cxnSp>
      <p:cxnSp>
        <p:nvCxnSpPr>
          <p:cNvPr id="69" name="Straight Arrow Connector 68">
            <a:extLst>
              <a:ext uri="{FF2B5EF4-FFF2-40B4-BE49-F238E27FC236}">
                <a16:creationId xmlns:a16="http://schemas.microsoft.com/office/drawing/2014/main" id="{B32D83B3-6883-2DBC-D14D-0E5F9BF66474}"/>
              </a:ext>
            </a:extLst>
          </p:cNvPr>
          <p:cNvCxnSpPr>
            <a:cxnSpLocks/>
            <a:stCxn id="18" idx="2"/>
            <a:endCxn id="63" idx="3"/>
          </p:cNvCxnSpPr>
          <p:nvPr/>
        </p:nvCxnSpPr>
        <p:spPr>
          <a:xfrm flipH="1">
            <a:off x="6314955" y="4286826"/>
            <a:ext cx="1643300" cy="1059340"/>
          </a:xfrm>
          <a:prstGeom prst="straightConnector1">
            <a:avLst/>
          </a:prstGeom>
          <a:ln w="12700">
            <a:tailEnd type="triangle"/>
          </a:ln>
        </p:spPr>
        <p:style>
          <a:lnRef idx="2">
            <a:schemeClr val="dk1"/>
          </a:lnRef>
          <a:fillRef idx="0">
            <a:schemeClr val="dk1"/>
          </a:fillRef>
          <a:effectRef idx="1">
            <a:schemeClr val="dk1"/>
          </a:effectRef>
          <a:fontRef idx="minor">
            <a:schemeClr val="tx1"/>
          </a:fontRef>
        </p:style>
      </p:cxnSp>
      <p:sp>
        <p:nvSpPr>
          <p:cNvPr id="72" name="TextBox 71">
            <a:extLst>
              <a:ext uri="{FF2B5EF4-FFF2-40B4-BE49-F238E27FC236}">
                <a16:creationId xmlns:a16="http://schemas.microsoft.com/office/drawing/2014/main" id="{B785E1F2-5AD3-114B-2B59-E759796E56BC}"/>
              </a:ext>
            </a:extLst>
          </p:cNvPr>
          <p:cNvSpPr txBox="1"/>
          <p:nvPr/>
        </p:nvSpPr>
        <p:spPr>
          <a:xfrm>
            <a:off x="5594155" y="5600357"/>
            <a:ext cx="4497513" cy="369332"/>
          </a:xfrm>
          <a:prstGeom prst="rect">
            <a:avLst/>
          </a:prstGeom>
          <a:noFill/>
        </p:spPr>
        <p:txBody>
          <a:bodyPr wrap="none" rtlCol="0">
            <a:spAutoFit/>
          </a:bodyPr>
          <a:lstStyle/>
          <a:p>
            <a:r>
              <a:rPr lang="en-US" noProof="0" dirty="0">
                <a:solidFill>
                  <a:schemeClr val="bg1">
                    <a:lumMod val="50000"/>
                  </a:schemeClr>
                </a:solidFill>
              </a:rPr>
              <a:t>feature success (0 = rejected, 1 = approved)</a:t>
            </a:r>
          </a:p>
        </p:txBody>
      </p:sp>
      <p:sp>
        <p:nvSpPr>
          <p:cNvPr id="73" name="TextBox 72">
            <a:extLst>
              <a:ext uri="{FF2B5EF4-FFF2-40B4-BE49-F238E27FC236}">
                <a16:creationId xmlns:a16="http://schemas.microsoft.com/office/drawing/2014/main" id="{5BCA5CCB-4062-671E-F56C-EEBE5A9EE677}"/>
              </a:ext>
            </a:extLst>
          </p:cNvPr>
          <p:cNvSpPr txBox="1"/>
          <p:nvPr/>
        </p:nvSpPr>
        <p:spPr>
          <a:xfrm>
            <a:off x="2172764" y="4622171"/>
            <a:ext cx="2743201" cy="523220"/>
          </a:xfrm>
          <a:prstGeom prst="rect">
            <a:avLst/>
          </a:prstGeom>
          <a:noFill/>
        </p:spPr>
        <p:txBody>
          <a:bodyPr wrap="square">
            <a:spAutoFit/>
          </a:bodyPr>
          <a:lstStyle/>
          <a:p>
            <a:r>
              <a:rPr lang="en-US" sz="1400" noProof="0" dirty="0"/>
              <a:t>A feature is successful if it is very elaborately described ...</a:t>
            </a:r>
          </a:p>
        </p:txBody>
      </p:sp>
      <p:sp>
        <p:nvSpPr>
          <p:cNvPr id="74" name="TextBox 73">
            <a:extLst>
              <a:ext uri="{FF2B5EF4-FFF2-40B4-BE49-F238E27FC236}">
                <a16:creationId xmlns:a16="http://schemas.microsoft.com/office/drawing/2014/main" id="{03BAB81F-3B2D-F565-7A5C-48172ACD3682}"/>
              </a:ext>
            </a:extLst>
          </p:cNvPr>
          <p:cNvSpPr txBox="1"/>
          <p:nvPr/>
        </p:nvSpPr>
        <p:spPr>
          <a:xfrm>
            <a:off x="7333701" y="4617782"/>
            <a:ext cx="1936005" cy="523220"/>
          </a:xfrm>
          <a:prstGeom prst="rect">
            <a:avLst/>
          </a:prstGeom>
          <a:noFill/>
        </p:spPr>
        <p:txBody>
          <a:bodyPr wrap="square">
            <a:spAutoFit/>
          </a:bodyPr>
          <a:lstStyle/>
          <a:p>
            <a:r>
              <a:rPr lang="en-US" sz="1400" noProof="0" dirty="0"/>
              <a:t>... or its description is high-quality</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482A7BB0-3F7D-A4C4-886D-0E3B146E6B3B}"/>
                  </a:ext>
                </a:extLst>
              </p:cNvPr>
              <p:cNvSpPr txBox="1"/>
              <p:nvPr/>
            </p:nvSpPr>
            <p:spPr>
              <a:xfrm>
                <a:off x="3688312" y="3489019"/>
                <a:ext cx="1905843" cy="36933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US" b="0" i="1" noProof="0" smtClean="0">
                          <a:solidFill>
                            <a:srgbClr val="D0180A"/>
                          </a:solidFill>
                          <a:latin typeface="Cambria Math" panose="02040503050406030204" pitchFamily="18" charset="0"/>
                        </a:rPr>
                        <m:t>~ </m:t>
                      </m:r>
                      <m:r>
                        <a:rPr lang="en-US" b="0" i="1" noProof="0" smtClean="0">
                          <a:solidFill>
                            <a:srgbClr val="D0180A"/>
                          </a:solidFill>
                          <a:latin typeface="Cambria Math" panose="02040503050406030204" pitchFamily="18" charset="0"/>
                        </a:rPr>
                        <m:t>𝑁</m:t>
                      </m:r>
                      <m:r>
                        <a:rPr lang="en-US" b="0" i="1" noProof="0" smtClean="0">
                          <a:solidFill>
                            <a:srgbClr val="D0180A"/>
                          </a:solidFill>
                          <a:latin typeface="Cambria Math" panose="02040503050406030204" pitchFamily="18" charset="0"/>
                        </a:rPr>
                        <m:t>(0, 1)</m:t>
                      </m:r>
                    </m:oMath>
                  </m:oMathPara>
                </a14:m>
                <a:endParaRPr lang="en-US" noProof="0" dirty="0"/>
              </a:p>
            </p:txBody>
          </p:sp>
        </mc:Choice>
        <mc:Fallback xmlns="">
          <p:sp>
            <p:nvSpPr>
              <p:cNvPr id="3" name="TextBox 2">
                <a:extLst>
                  <a:ext uri="{FF2B5EF4-FFF2-40B4-BE49-F238E27FC236}">
                    <a16:creationId xmlns:a16="http://schemas.microsoft.com/office/drawing/2014/main" id="{482A7BB0-3F7D-A4C4-886D-0E3B146E6B3B}"/>
                  </a:ext>
                </a:extLst>
              </p:cNvPr>
              <p:cNvSpPr txBox="1">
                <a:spLocks noRot="1" noChangeAspect="1" noMove="1" noResize="1" noEditPoints="1" noAdjustHandles="1" noChangeArrowheads="1" noChangeShapeType="1" noTextEdit="1"/>
              </p:cNvSpPr>
              <p:nvPr/>
            </p:nvSpPr>
            <p:spPr>
              <a:xfrm>
                <a:off x="3688312" y="3489019"/>
                <a:ext cx="1905843" cy="369332"/>
              </a:xfrm>
              <a:prstGeom prst="rect">
                <a:avLst/>
              </a:prstGeom>
              <a:blipFill>
                <a:blip r:embed="rId9"/>
                <a:stretch>
                  <a:fillRect b="-13115"/>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CFFAD873-6739-DD65-7458-AA44E46B8330}"/>
                  </a:ext>
                </a:extLst>
              </p:cNvPr>
              <p:cNvSpPr txBox="1"/>
              <p:nvPr/>
            </p:nvSpPr>
            <p:spPr>
              <a:xfrm>
                <a:off x="7373451" y="3492729"/>
                <a:ext cx="1359127" cy="36933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US" b="0" i="1" noProof="0" smtClean="0">
                          <a:solidFill>
                            <a:srgbClr val="006D70"/>
                          </a:solidFill>
                          <a:latin typeface="Cambria Math" panose="02040503050406030204" pitchFamily="18" charset="0"/>
                        </a:rPr>
                        <m:t>~ </m:t>
                      </m:r>
                      <m:r>
                        <a:rPr lang="en-US" b="0" i="1" noProof="0" smtClean="0">
                          <a:solidFill>
                            <a:srgbClr val="006D70"/>
                          </a:solidFill>
                          <a:latin typeface="Cambria Math" panose="02040503050406030204" pitchFamily="18" charset="0"/>
                        </a:rPr>
                        <m:t>𝑁</m:t>
                      </m:r>
                      <m:r>
                        <a:rPr lang="en-US" b="0" i="1" noProof="0" smtClean="0">
                          <a:solidFill>
                            <a:srgbClr val="006D70"/>
                          </a:solidFill>
                          <a:latin typeface="Cambria Math" panose="02040503050406030204" pitchFamily="18" charset="0"/>
                        </a:rPr>
                        <m:t>(0, 1)</m:t>
                      </m:r>
                    </m:oMath>
                  </m:oMathPara>
                </a14:m>
                <a:endParaRPr lang="en-US" noProof="0" dirty="0"/>
              </a:p>
            </p:txBody>
          </p:sp>
        </mc:Choice>
        <mc:Fallback xmlns="">
          <p:sp>
            <p:nvSpPr>
              <p:cNvPr id="10" name="TextBox 9">
                <a:extLst>
                  <a:ext uri="{FF2B5EF4-FFF2-40B4-BE49-F238E27FC236}">
                    <a16:creationId xmlns:a16="http://schemas.microsoft.com/office/drawing/2014/main" id="{CFFAD873-6739-DD65-7458-AA44E46B8330}"/>
                  </a:ext>
                </a:extLst>
              </p:cNvPr>
              <p:cNvSpPr txBox="1">
                <a:spLocks noRot="1" noChangeAspect="1" noMove="1" noResize="1" noEditPoints="1" noAdjustHandles="1" noChangeArrowheads="1" noChangeShapeType="1" noTextEdit="1"/>
              </p:cNvSpPr>
              <p:nvPr/>
            </p:nvSpPr>
            <p:spPr>
              <a:xfrm>
                <a:off x="7373451" y="3492729"/>
                <a:ext cx="1359127" cy="369332"/>
              </a:xfrm>
              <a:prstGeom prst="rect">
                <a:avLst/>
              </a:prstGeom>
              <a:blipFill>
                <a:blip r:embed="rId10"/>
                <a:stretch>
                  <a:fillRect b="-11475"/>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EB3AF9D8-9CDD-587B-62F5-77004DFD46EB}"/>
                  </a:ext>
                </a:extLst>
              </p:cNvPr>
              <p:cNvSpPr txBox="1"/>
              <p:nvPr/>
            </p:nvSpPr>
            <p:spPr>
              <a:xfrm>
                <a:off x="5636586" y="5939122"/>
                <a:ext cx="2974014" cy="36933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US" b="0" i="0" noProof="0" smtClean="0">
                          <a:solidFill>
                            <a:schemeClr val="bg1">
                              <a:lumMod val="50000"/>
                            </a:schemeClr>
                          </a:solidFill>
                          <a:latin typeface="Cambria Math" panose="02040503050406030204" pitchFamily="18" charset="0"/>
                        </a:rPr>
                        <m:t>~ </m:t>
                      </m:r>
                      <m:d>
                        <m:dPr>
                          <m:ctrlPr>
                            <a:rPr lang="en-US" b="0" i="1" noProof="0" smtClean="0">
                              <a:solidFill>
                                <a:schemeClr val="bg1">
                                  <a:lumMod val="50000"/>
                                </a:schemeClr>
                              </a:solidFill>
                              <a:latin typeface="Cambria Math" panose="02040503050406030204" pitchFamily="18" charset="0"/>
                            </a:rPr>
                          </m:ctrlPr>
                        </m:dPr>
                        <m:e>
                          <m:r>
                            <a:rPr lang="en-US" b="0" i="1" noProof="0" smtClean="0">
                              <a:solidFill>
                                <a:srgbClr val="C00000"/>
                              </a:solidFill>
                              <a:latin typeface="Cambria Math" panose="02040503050406030204" pitchFamily="18" charset="0"/>
                            </a:rPr>
                            <m:t>𝑠𝑖𝑧𝑒</m:t>
                          </m:r>
                          <m:r>
                            <a:rPr lang="en-US" b="0" i="1" noProof="0" smtClean="0">
                              <a:solidFill>
                                <a:schemeClr val="bg1">
                                  <a:lumMod val="50000"/>
                                </a:schemeClr>
                              </a:solidFill>
                              <a:latin typeface="Cambria Math" panose="02040503050406030204" pitchFamily="18" charset="0"/>
                            </a:rPr>
                            <m:t>+</m:t>
                          </m:r>
                          <m:r>
                            <a:rPr lang="en-US" b="0" i="1" noProof="0" smtClean="0">
                              <a:solidFill>
                                <a:srgbClr val="006D70"/>
                              </a:solidFill>
                              <a:latin typeface="Cambria Math" panose="02040503050406030204" pitchFamily="18" charset="0"/>
                            </a:rPr>
                            <m:t>𝑞𝑢𝑎𝑙𝑖𝑡𝑦</m:t>
                          </m:r>
                          <m:r>
                            <a:rPr lang="en-US" b="0" i="1" noProof="0" smtClean="0">
                              <a:solidFill>
                                <a:schemeClr val="bg1">
                                  <a:lumMod val="50000"/>
                                </a:schemeClr>
                              </a:solidFill>
                              <a:latin typeface="Cambria Math" panose="02040503050406030204" pitchFamily="18" charset="0"/>
                            </a:rPr>
                            <m:t>&gt;0.7</m:t>
                          </m:r>
                        </m:e>
                      </m:d>
                    </m:oMath>
                  </m:oMathPara>
                </a14:m>
                <a:endParaRPr lang="en-US" noProof="0" dirty="0"/>
              </a:p>
            </p:txBody>
          </p:sp>
        </mc:Choice>
        <mc:Fallback xmlns="">
          <p:sp>
            <p:nvSpPr>
              <p:cNvPr id="12" name="TextBox 11">
                <a:extLst>
                  <a:ext uri="{FF2B5EF4-FFF2-40B4-BE49-F238E27FC236}">
                    <a16:creationId xmlns:a16="http://schemas.microsoft.com/office/drawing/2014/main" id="{EB3AF9D8-9CDD-587B-62F5-77004DFD46EB}"/>
                  </a:ext>
                </a:extLst>
              </p:cNvPr>
              <p:cNvSpPr txBox="1">
                <a:spLocks noRot="1" noChangeAspect="1" noMove="1" noResize="1" noEditPoints="1" noAdjustHandles="1" noChangeArrowheads="1" noChangeShapeType="1" noTextEdit="1"/>
              </p:cNvSpPr>
              <p:nvPr/>
            </p:nvSpPr>
            <p:spPr>
              <a:xfrm>
                <a:off x="5636586" y="5939122"/>
                <a:ext cx="2974014" cy="369332"/>
              </a:xfrm>
              <a:prstGeom prst="rect">
                <a:avLst/>
              </a:prstGeom>
              <a:blipFill>
                <a:blip r:embed="rId11"/>
                <a:stretch>
                  <a:fillRect b="-13115"/>
                </a:stretch>
              </a:blipFill>
            </p:spPr>
            <p:txBody>
              <a:bodyPr/>
              <a:lstStyle/>
              <a:p>
                <a:r>
                  <a:rPr lang="en-SE">
                    <a:noFill/>
                  </a:rPr>
                  <a:t> </a:t>
                </a:r>
              </a:p>
            </p:txBody>
          </p:sp>
        </mc:Fallback>
      </mc:AlternateContent>
    </p:spTree>
    <p:extLst>
      <p:ext uri="{BB962C8B-B14F-4D97-AF65-F5344CB8AC3E}">
        <p14:creationId xmlns:p14="http://schemas.microsoft.com/office/powerpoint/2010/main" val="2665835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6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7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74"/>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P spid="14" grpId="0"/>
      <p:bldP spid="15" grpId="0"/>
      <p:bldP spid="16" grpId="0"/>
      <p:bldP spid="17" grpId="0" animBg="1"/>
      <p:bldP spid="18" grpId="0" animBg="1"/>
      <p:bldP spid="63" grpId="0" animBg="1"/>
      <p:bldP spid="72" grpId="0"/>
      <p:bldP spid="73" grpId="0"/>
      <p:bldP spid="74" grpId="0"/>
      <p:bldP spid="3" grpId="0"/>
      <p:bldP spid="10" grpId="0"/>
      <p:bldP spid="1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858F9F-19B4-4DAB-7784-EB5BAB827F69}"/>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F364900A-94DF-DCB0-C66E-5AC62E5FA2CC}"/>
              </a:ext>
            </a:extLst>
          </p:cNvPr>
          <p:cNvSpPr>
            <a:spLocks noGrp="1"/>
          </p:cNvSpPr>
          <p:nvPr>
            <p:ph type="title"/>
          </p:nvPr>
        </p:nvSpPr>
        <p:spPr/>
        <p:txBody>
          <a:bodyPr/>
          <a:lstStyle/>
          <a:p>
            <a:r>
              <a:rPr lang="en-US" noProof="0" dirty="0"/>
              <a:t>Colliding: Common Effects</a:t>
            </a:r>
          </a:p>
        </p:txBody>
      </p:sp>
      <p:sp>
        <p:nvSpPr>
          <p:cNvPr id="8" name="Content Placeholder 7">
            <a:extLst>
              <a:ext uri="{FF2B5EF4-FFF2-40B4-BE49-F238E27FC236}">
                <a16:creationId xmlns:a16="http://schemas.microsoft.com/office/drawing/2014/main" id="{E1A08D7F-BD29-22EF-40A1-6B8A7B407220}"/>
              </a:ext>
            </a:extLst>
          </p:cNvPr>
          <p:cNvSpPr>
            <a:spLocks noGrp="1"/>
          </p:cNvSpPr>
          <p:nvPr>
            <p:ph idx="1"/>
          </p:nvPr>
        </p:nvSpPr>
        <p:spPr>
          <a:xfrm>
            <a:off x="838200" y="1825625"/>
            <a:ext cx="10515600" cy="1317631"/>
          </a:xfrm>
        </p:spPr>
        <p:txBody>
          <a:bodyPr>
            <a:normAutofit/>
          </a:bodyPr>
          <a:lstStyle/>
          <a:p>
            <a:pPr marL="0" indent="0">
              <a:buNone/>
            </a:pPr>
            <a:r>
              <a:rPr lang="en-US" sz="2400" noProof="0" dirty="0"/>
              <a:t>“Does the </a:t>
            </a:r>
            <a:r>
              <a:rPr lang="en-US" sz="2400" noProof="0" dirty="0">
                <a:solidFill>
                  <a:srgbClr val="D0180A"/>
                </a:solidFill>
              </a:rPr>
              <a:t>length of a requirements specification </a:t>
            </a:r>
            <a:r>
              <a:rPr lang="en-US" sz="2400" noProof="0" dirty="0"/>
              <a:t>affect its </a:t>
            </a:r>
            <a:r>
              <a:rPr lang="en-US" sz="2400" noProof="0" dirty="0">
                <a:solidFill>
                  <a:srgbClr val="006D70"/>
                </a:solidFill>
              </a:rPr>
              <a:t>quality</a:t>
            </a:r>
            <a:r>
              <a:rPr lang="en-US" sz="2400" noProof="0" dirty="0"/>
              <a:t>? Both factors do affect whether the specified feature is </a:t>
            </a:r>
            <a:r>
              <a:rPr lang="en-US" sz="2400" noProof="0" dirty="0">
                <a:solidFill>
                  <a:schemeClr val="bg1">
                    <a:lumMod val="50000"/>
                  </a:schemeClr>
                </a:solidFill>
              </a:rPr>
              <a:t>implemented successfully</a:t>
            </a:r>
            <a:r>
              <a:rPr lang="en-US" sz="2400" noProof="0" dirty="0"/>
              <a:t>.”</a:t>
            </a:r>
          </a:p>
        </p:txBody>
      </p:sp>
      <p:sp>
        <p:nvSpPr>
          <p:cNvPr id="4" name="Date Placeholder 3">
            <a:extLst>
              <a:ext uri="{FF2B5EF4-FFF2-40B4-BE49-F238E27FC236}">
                <a16:creationId xmlns:a16="http://schemas.microsoft.com/office/drawing/2014/main" id="{1B957326-8650-DD99-6D98-CF3EEA730776}"/>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0AB56ACE-8815-9C4E-5FC4-7721FDB22A35}"/>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CFC87614-970F-DD6A-05B2-9C1D148127E9}"/>
              </a:ext>
            </a:extLst>
          </p:cNvPr>
          <p:cNvSpPr>
            <a:spLocks noGrp="1"/>
          </p:cNvSpPr>
          <p:nvPr>
            <p:ph type="sldNum" sz="quarter" idx="12"/>
          </p:nvPr>
        </p:nvSpPr>
        <p:spPr/>
        <p:txBody>
          <a:bodyPr/>
          <a:lstStyle/>
          <a:p>
            <a:fld id="{0FA2D919-C0DE-4971-A2E9-D4AC0031921B}" type="slidenum">
              <a:rPr lang="en-US" noProof="0" smtClean="0"/>
              <a:t>18</a:t>
            </a:fld>
            <a:endParaRPr lang="en-US" noProof="0" dirty="0"/>
          </a:p>
        </p:txBody>
      </p:sp>
      <p:sp>
        <p:nvSpPr>
          <p:cNvPr id="2" name="Oval 1">
            <a:extLst>
              <a:ext uri="{FF2B5EF4-FFF2-40B4-BE49-F238E27FC236}">
                <a16:creationId xmlns:a16="http://schemas.microsoft.com/office/drawing/2014/main" id="{366691D1-B5E4-852E-3992-6D3A6CD6D91F}"/>
              </a:ext>
            </a:extLst>
          </p:cNvPr>
          <p:cNvSpPr/>
          <p:nvPr/>
        </p:nvSpPr>
        <p:spPr>
          <a:xfrm>
            <a:off x="1157256" y="3888332"/>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Oval 8">
            <a:extLst>
              <a:ext uri="{FF2B5EF4-FFF2-40B4-BE49-F238E27FC236}">
                <a16:creationId xmlns:a16="http://schemas.microsoft.com/office/drawing/2014/main" id="{5A690D11-2CEB-7030-1E04-EE7A8AB30800}"/>
              </a:ext>
            </a:extLst>
          </p:cNvPr>
          <p:cNvSpPr/>
          <p:nvPr/>
        </p:nvSpPr>
        <p:spPr>
          <a:xfrm>
            <a:off x="3648636" y="3888332"/>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11" name="Straight Arrow Connector 10">
            <a:extLst>
              <a:ext uri="{FF2B5EF4-FFF2-40B4-BE49-F238E27FC236}">
                <a16:creationId xmlns:a16="http://schemas.microsoft.com/office/drawing/2014/main" id="{659540DB-7094-9D47-8C6B-4E1CAFAB713E}"/>
              </a:ext>
            </a:extLst>
          </p:cNvPr>
          <p:cNvCxnSpPr>
            <a:stCxn id="2" idx="6"/>
            <a:endCxn id="9" idx="2"/>
          </p:cNvCxnSpPr>
          <p:nvPr/>
        </p:nvCxnSpPr>
        <p:spPr>
          <a:xfrm>
            <a:off x="1517256" y="4068332"/>
            <a:ext cx="21313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9" name="TextBox 18">
            <a:extLst>
              <a:ext uri="{FF2B5EF4-FFF2-40B4-BE49-F238E27FC236}">
                <a16:creationId xmlns:a16="http://schemas.microsoft.com/office/drawing/2014/main" id="{50168ED8-AD89-33B7-3E4A-F0860C87B859}"/>
              </a:ext>
            </a:extLst>
          </p:cNvPr>
          <p:cNvSpPr txBox="1"/>
          <p:nvPr/>
        </p:nvSpPr>
        <p:spPr>
          <a:xfrm>
            <a:off x="666492" y="3429000"/>
            <a:ext cx="1905843" cy="369332"/>
          </a:xfrm>
          <a:prstGeom prst="rect">
            <a:avLst/>
          </a:prstGeom>
          <a:noFill/>
        </p:spPr>
        <p:txBody>
          <a:bodyPr wrap="none" rtlCol="0">
            <a:spAutoFit/>
          </a:bodyPr>
          <a:lstStyle/>
          <a:p>
            <a:r>
              <a:rPr lang="en-US" noProof="0" dirty="0">
                <a:solidFill>
                  <a:srgbClr val="D0180A"/>
                </a:solidFill>
              </a:rPr>
              <a:t>specification size</a:t>
            </a:r>
          </a:p>
        </p:txBody>
      </p:sp>
      <p:sp>
        <p:nvSpPr>
          <p:cNvPr id="20" name="TextBox 19">
            <a:extLst>
              <a:ext uri="{FF2B5EF4-FFF2-40B4-BE49-F238E27FC236}">
                <a16:creationId xmlns:a16="http://schemas.microsoft.com/office/drawing/2014/main" id="{4C9D27AD-39C8-F7EE-2A24-C132157A9796}"/>
              </a:ext>
            </a:extLst>
          </p:cNvPr>
          <p:cNvSpPr txBox="1"/>
          <p:nvPr/>
        </p:nvSpPr>
        <p:spPr>
          <a:xfrm>
            <a:off x="2791327" y="3432289"/>
            <a:ext cx="2194640" cy="369332"/>
          </a:xfrm>
          <a:prstGeom prst="rect">
            <a:avLst/>
          </a:prstGeom>
          <a:noFill/>
        </p:spPr>
        <p:txBody>
          <a:bodyPr wrap="none" rtlCol="0">
            <a:spAutoFit/>
          </a:bodyPr>
          <a:lstStyle/>
          <a:p>
            <a:r>
              <a:rPr lang="en-US" noProof="0" dirty="0">
                <a:solidFill>
                  <a:srgbClr val="006D70"/>
                </a:solidFill>
              </a:rPr>
              <a:t>specification quality</a:t>
            </a:r>
          </a:p>
        </p:txBody>
      </p:sp>
      <p:sp>
        <p:nvSpPr>
          <p:cNvPr id="21" name="Oval 20">
            <a:extLst>
              <a:ext uri="{FF2B5EF4-FFF2-40B4-BE49-F238E27FC236}">
                <a16:creationId xmlns:a16="http://schemas.microsoft.com/office/drawing/2014/main" id="{72853731-6FBD-2AA6-5450-DFCC9568E5AE}"/>
              </a:ext>
            </a:extLst>
          </p:cNvPr>
          <p:cNvSpPr/>
          <p:nvPr/>
        </p:nvSpPr>
        <p:spPr>
          <a:xfrm>
            <a:off x="2402946" y="5059963"/>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TextBox 21">
            <a:extLst>
              <a:ext uri="{FF2B5EF4-FFF2-40B4-BE49-F238E27FC236}">
                <a16:creationId xmlns:a16="http://schemas.microsoft.com/office/drawing/2014/main" id="{810179F5-2278-09D4-72AD-D08267175F4F}"/>
              </a:ext>
            </a:extLst>
          </p:cNvPr>
          <p:cNvSpPr txBox="1"/>
          <p:nvPr/>
        </p:nvSpPr>
        <p:spPr>
          <a:xfrm>
            <a:off x="2791327" y="5050631"/>
            <a:ext cx="1769908" cy="369332"/>
          </a:xfrm>
          <a:prstGeom prst="rect">
            <a:avLst/>
          </a:prstGeom>
          <a:noFill/>
        </p:spPr>
        <p:txBody>
          <a:bodyPr wrap="none" rtlCol="0">
            <a:spAutoFit/>
          </a:bodyPr>
          <a:lstStyle/>
          <a:p>
            <a:r>
              <a:rPr lang="en-US" noProof="0" dirty="0">
                <a:solidFill>
                  <a:schemeClr val="tx1">
                    <a:lumMod val="65000"/>
                    <a:lumOff val="35000"/>
                  </a:schemeClr>
                </a:solidFill>
              </a:rPr>
              <a:t>feature success</a:t>
            </a:r>
          </a:p>
        </p:txBody>
      </p:sp>
      <p:cxnSp>
        <p:nvCxnSpPr>
          <p:cNvPr id="23" name="Straight Arrow Connector 22">
            <a:extLst>
              <a:ext uri="{FF2B5EF4-FFF2-40B4-BE49-F238E27FC236}">
                <a16:creationId xmlns:a16="http://schemas.microsoft.com/office/drawing/2014/main" id="{C877FAFC-74AB-36BC-665C-A4C26F5CA47F}"/>
              </a:ext>
            </a:extLst>
          </p:cNvPr>
          <p:cNvCxnSpPr>
            <a:cxnSpLocks/>
            <a:stCxn id="9" idx="3"/>
            <a:endCxn id="21" idx="7"/>
          </p:cNvCxnSpPr>
          <p:nvPr/>
        </p:nvCxnSpPr>
        <p:spPr>
          <a:xfrm flipH="1">
            <a:off x="2710225" y="4195611"/>
            <a:ext cx="991132" cy="91707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4" name="Straight Arrow Connector 23">
            <a:extLst>
              <a:ext uri="{FF2B5EF4-FFF2-40B4-BE49-F238E27FC236}">
                <a16:creationId xmlns:a16="http://schemas.microsoft.com/office/drawing/2014/main" id="{AF8E67E6-1E4F-31E2-4C3D-015B813300F6}"/>
              </a:ext>
            </a:extLst>
          </p:cNvPr>
          <p:cNvCxnSpPr>
            <a:cxnSpLocks/>
            <a:stCxn id="2" idx="5"/>
            <a:endCxn id="21" idx="1"/>
          </p:cNvCxnSpPr>
          <p:nvPr/>
        </p:nvCxnSpPr>
        <p:spPr>
          <a:xfrm>
            <a:off x="1464535" y="4195611"/>
            <a:ext cx="991132" cy="91707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nvGrpSpPr>
          <p:cNvPr id="27" name="Group 26">
            <a:extLst>
              <a:ext uri="{FF2B5EF4-FFF2-40B4-BE49-F238E27FC236}">
                <a16:creationId xmlns:a16="http://schemas.microsoft.com/office/drawing/2014/main" id="{249A6B0B-63C3-3A46-B706-642E4D35301B}"/>
              </a:ext>
            </a:extLst>
          </p:cNvPr>
          <p:cNvGrpSpPr/>
          <p:nvPr/>
        </p:nvGrpSpPr>
        <p:grpSpPr>
          <a:xfrm>
            <a:off x="4814355" y="4032332"/>
            <a:ext cx="2563289" cy="432000"/>
            <a:chOff x="4604412" y="1893985"/>
            <a:chExt cx="2563289" cy="432000"/>
          </a:xfrm>
        </p:grpSpPr>
        <p:sp>
          <p:nvSpPr>
            <p:cNvPr id="28" name="Arrow: Pentagon 27">
              <a:extLst>
                <a:ext uri="{FF2B5EF4-FFF2-40B4-BE49-F238E27FC236}">
                  <a16:creationId xmlns:a16="http://schemas.microsoft.com/office/drawing/2014/main" id="{A34E88B4-CB83-68A0-1AA5-31F9329A8005}"/>
                </a:ext>
              </a:extLst>
            </p:cNvPr>
            <p:cNvSpPr/>
            <p:nvPr/>
          </p:nvSpPr>
          <p:spPr>
            <a:xfrm>
              <a:off x="4604412" y="1893985"/>
              <a:ext cx="2563289" cy="432000"/>
            </a:xfrm>
            <a:prstGeom prst="homePlate">
              <a:avLst/>
            </a:prstGeom>
            <a:solidFill>
              <a:schemeClr val="accent4">
                <a:lumMod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432000" rtlCol="0" anchor="ctr"/>
            <a:lstStyle/>
            <a:p>
              <a:r>
                <a:rPr lang="en-US" noProof="0" dirty="0"/>
                <a:t>Model Derivation</a:t>
              </a:r>
            </a:p>
          </p:txBody>
        </p:sp>
        <p:pic>
          <p:nvPicPr>
            <p:cNvPr id="29" name="Graphic 28" descr="Connections with solid fill">
              <a:extLst>
                <a:ext uri="{FF2B5EF4-FFF2-40B4-BE49-F238E27FC236}">
                  <a16:creationId xmlns:a16="http://schemas.microsoft.com/office/drawing/2014/main" id="{1EFBDB66-82F9-3F9C-31B4-5AFA4696583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64301" y="1929985"/>
              <a:ext cx="360000" cy="360000"/>
            </a:xfrm>
            <a:prstGeom prst="rect">
              <a:avLst/>
            </a:prstGeom>
          </p:spPr>
        </p:pic>
      </p:gr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6269DDD8-42D2-CE2D-225A-B4EA5078763A}"/>
                  </a:ext>
                </a:extLst>
              </p:cNvPr>
              <p:cNvSpPr txBox="1"/>
              <p:nvPr/>
            </p:nvSpPr>
            <p:spPr>
              <a:xfrm>
                <a:off x="7480486" y="4344783"/>
                <a:ext cx="218053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noProof="0" smtClean="0">
                              <a:latin typeface="Cambria Math" panose="02040503050406030204" pitchFamily="18" charset="0"/>
                            </a:rPr>
                          </m:ctrlPr>
                        </m:sSubPr>
                        <m:e>
                          <m:r>
                            <a:rPr lang="en-US" b="0" i="1" noProof="0" smtClean="0">
                              <a:latin typeface="Cambria Math" panose="02040503050406030204" pitchFamily="18" charset="0"/>
                            </a:rPr>
                            <m:t>𝑚</m:t>
                          </m:r>
                        </m:e>
                        <m:sub>
                          <m:r>
                            <a:rPr lang="en-US" b="0" i="1" noProof="0" smtClean="0">
                              <a:latin typeface="Cambria Math" panose="02040503050406030204" pitchFamily="18" charset="0"/>
                            </a:rPr>
                            <m:t>2</m:t>
                          </m:r>
                        </m:sub>
                      </m:sSub>
                      <m:r>
                        <a:rPr lang="en-US" b="0" i="1" noProof="0" smtClean="0">
                          <a:latin typeface="Cambria Math" panose="02040503050406030204" pitchFamily="18" charset="0"/>
                        </a:rPr>
                        <m:t>:</m:t>
                      </m:r>
                      <m:r>
                        <a:rPr lang="en-US" b="0" i="1" noProof="0" smtClean="0">
                          <a:solidFill>
                            <a:srgbClr val="006D70"/>
                          </a:solidFill>
                          <a:latin typeface="Cambria Math" panose="02040503050406030204" pitchFamily="18" charset="0"/>
                        </a:rPr>
                        <m:t>𝑞𝑢𝑎𝑙𝑖𝑡𝑦</m:t>
                      </m:r>
                      <m:r>
                        <a:rPr lang="en-US" b="0" i="1" noProof="0" smtClean="0">
                          <a:latin typeface="Cambria Math" panose="02040503050406030204" pitchFamily="18" charset="0"/>
                        </a:rPr>
                        <m:t>~1+</m:t>
                      </m:r>
                      <m:r>
                        <a:rPr lang="en-US" b="0" i="1" noProof="0" smtClean="0">
                          <a:solidFill>
                            <a:srgbClr val="D0180A"/>
                          </a:solidFill>
                          <a:latin typeface="Cambria Math" panose="02040503050406030204" pitchFamily="18" charset="0"/>
                        </a:rPr>
                        <m:t>𝑠𝑖𝑧𝑒</m:t>
                      </m:r>
                    </m:oMath>
                  </m:oMathPara>
                </a14:m>
                <a:endParaRPr lang="en-US" noProof="0" dirty="0"/>
              </a:p>
            </p:txBody>
          </p:sp>
        </mc:Choice>
        <mc:Fallback xmlns="">
          <p:sp>
            <p:nvSpPr>
              <p:cNvPr id="30" name="TextBox 29">
                <a:extLst>
                  <a:ext uri="{FF2B5EF4-FFF2-40B4-BE49-F238E27FC236}">
                    <a16:creationId xmlns:a16="http://schemas.microsoft.com/office/drawing/2014/main" id="{6269DDD8-42D2-CE2D-225A-B4EA5078763A}"/>
                  </a:ext>
                </a:extLst>
              </p:cNvPr>
              <p:cNvSpPr txBox="1">
                <a:spLocks noRot="1" noChangeAspect="1" noMove="1" noResize="1" noEditPoints="1" noAdjustHandles="1" noChangeArrowheads="1" noChangeShapeType="1" noTextEdit="1"/>
              </p:cNvSpPr>
              <p:nvPr/>
            </p:nvSpPr>
            <p:spPr>
              <a:xfrm>
                <a:off x="7480486" y="4344783"/>
                <a:ext cx="2180533" cy="276999"/>
              </a:xfrm>
              <a:prstGeom prst="rect">
                <a:avLst/>
              </a:prstGeom>
              <a:blipFill>
                <a:blip r:embed="rId11"/>
                <a:stretch>
                  <a:fillRect l="-1397" t="-4444" r="-2514" b="-35556"/>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0E1EC060-1B20-B0E6-7437-3852085C2B5B}"/>
                  </a:ext>
                </a:extLst>
              </p:cNvPr>
              <p:cNvSpPr txBox="1"/>
              <p:nvPr/>
            </p:nvSpPr>
            <p:spPr>
              <a:xfrm>
                <a:off x="7480486" y="3846626"/>
                <a:ext cx="324697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noProof="0" smtClean="0">
                              <a:latin typeface="Cambria Math" panose="02040503050406030204" pitchFamily="18" charset="0"/>
                            </a:rPr>
                          </m:ctrlPr>
                        </m:sSubPr>
                        <m:e>
                          <m:r>
                            <a:rPr lang="en-US" b="0" i="1" noProof="0" smtClean="0">
                              <a:latin typeface="Cambria Math" panose="02040503050406030204" pitchFamily="18" charset="0"/>
                            </a:rPr>
                            <m:t>𝑚</m:t>
                          </m:r>
                        </m:e>
                        <m:sub>
                          <m:r>
                            <a:rPr lang="en-US" b="0" i="1" noProof="0" smtClean="0">
                              <a:latin typeface="Cambria Math" panose="02040503050406030204" pitchFamily="18" charset="0"/>
                            </a:rPr>
                            <m:t>1</m:t>
                          </m:r>
                        </m:sub>
                      </m:sSub>
                      <m:r>
                        <a:rPr lang="en-US" b="0" i="1" noProof="0" smtClean="0">
                          <a:latin typeface="Cambria Math" panose="02040503050406030204" pitchFamily="18" charset="0"/>
                        </a:rPr>
                        <m:t>:</m:t>
                      </m:r>
                      <m:r>
                        <a:rPr lang="en-US" b="0" i="1" noProof="0" smtClean="0">
                          <a:solidFill>
                            <a:srgbClr val="006D70"/>
                          </a:solidFill>
                          <a:latin typeface="Cambria Math" panose="02040503050406030204" pitchFamily="18" charset="0"/>
                        </a:rPr>
                        <m:t>𝑞𝑢𝑎𝑙𝑖𝑡𝑦</m:t>
                      </m:r>
                      <m:r>
                        <a:rPr lang="en-US" b="0" i="1" noProof="0" smtClean="0">
                          <a:latin typeface="Cambria Math" panose="02040503050406030204" pitchFamily="18" charset="0"/>
                        </a:rPr>
                        <m:t>~1+</m:t>
                      </m:r>
                      <m:r>
                        <a:rPr lang="en-US" b="0" i="1" noProof="0" smtClean="0">
                          <a:solidFill>
                            <a:srgbClr val="D0180A"/>
                          </a:solidFill>
                          <a:latin typeface="Cambria Math" panose="02040503050406030204" pitchFamily="18" charset="0"/>
                        </a:rPr>
                        <m:t>𝑠𝑖𝑧𝑒</m:t>
                      </m:r>
                      <m:r>
                        <a:rPr lang="en-US" b="0" i="1" noProof="0" smtClean="0">
                          <a:latin typeface="Cambria Math" panose="02040503050406030204" pitchFamily="18" charset="0"/>
                        </a:rPr>
                        <m:t>+</m:t>
                      </m:r>
                      <m:r>
                        <a:rPr lang="en-US" b="0" i="1" noProof="0" smtClean="0">
                          <a:solidFill>
                            <a:schemeClr val="bg1">
                              <a:lumMod val="50000"/>
                            </a:schemeClr>
                          </a:solidFill>
                          <a:latin typeface="Cambria Math" panose="02040503050406030204" pitchFamily="18" charset="0"/>
                        </a:rPr>
                        <m:t>𝑠𝑢𝑐𝑐𝑒𝑠𝑠</m:t>
                      </m:r>
                    </m:oMath>
                  </m:oMathPara>
                </a14:m>
                <a:endParaRPr lang="en-US" noProof="0" dirty="0"/>
              </a:p>
            </p:txBody>
          </p:sp>
        </mc:Choice>
        <mc:Fallback xmlns="">
          <p:sp>
            <p:nvSpPr>
              <p:cNvPr id="31" name="TextBox 30">
                <a:extLst>
                  <a:ext uri="{FF2B5EF4-FFF2-40B4-BE49-F238E27FC236}">
                    <a16:creationId xmlns:a16="http://schemas.microsoft.com/office/drawing/2014/main" id="{0E1EC060-1B20-B0E6-7437-3852085C2B5B}"/>
                  </a:ext>
                </a:extLst>
              </p:cNvPr>
              <p:cNvSpPr txBox="1">
                <a:spLocks noRot="1" noChangeAspect="1" noMove="1" noResize="1" noEditPoints="1" noAdjustHandles="1" noChangeArrowheads="1" noChangeShapeType="1" noTextEdit="1"/>
              </p:cNvSpPr>
              <p:nvPr/>
            </p:nvSpPr>
            <p:spPr>
              <a:xfrm>
                <a:off x="7480486" y="3846626"/>
                <a:ext cx="3246979" cy="276999"/>
              </a:xfrm>
              <a:prstGeom prst="rect">
                <a:avLst/>
              </a:prstGeom>
              <a:blipFill>
                <a:blip r:embed="rId12"/>
                <a:stretch>
                  <a:fillRect l="-563" t="-2222" r="-563" b="-35556"/>
                </a:stretch>
              </a:blipFill>
            </p:spPr>
            <p:txBody>
              <a:bodyPr/>
              <a:lstStyle/>
              <a:p>
                <a:r>
                  <a:rPr lang="en-SE">
                    <a:noFill/>
                  </a:rPr>
                  <a:t> </a:t>
                </a:r>
              </a:p>
            </p:txBody>
          </p:sp>
        </mc:Fallback>
      </mc:AlternateContent>
      <p:pic>
        <p:nvPicPr>
          <p:cNvPr id="10" name="Picture 9">
            <a:extLst>
              <a:ext uri="{FF2B5EF4-FFF2-40B4-BE49-F238E27FC236}">
                <a16:creationId xmlns:a16="http://schemas.microsoft.com/office/drawing/2014/main" id="{826BBC42-5AA5-5B6D-6E1E-51BD4F70AD94}"/>
              </a:ext>
            </a:extLst>
          </p:cNvPr>
          <p:cNvPicPr>
            <a:picLocks noChangeAspect="1"/>
          </p:cNvPicPr>
          <p:nvPr/>
        </p:nvPicPr>
        <p:blipFill>
          <a:blip r:embed="rId13"/>
          <a:stretch>
            <a:fillRect/>
          </a:stretch>
        </p:blipFill>
        <p:spPr>
          <a:xfrm>
            <a:off x="7860683" y="4702397"/>
            <a:ext cx="3493117" cy="2105386"/>
          </a:xfrm>
          <a:prstGeom prst="rect">
            <a:avLst/>
          </a:prstGeom>
        </p:spPr>
      </p:pic>
    </p:spTree>
    <p:extLst>
      <p:ext uri="{BB962C8B-B14F-4D97-AF65-F5344CB8AC3E}">
        <p14:creationId xmlns:p14="http://schemas.microsoft.com/office/powerpoint/2010/main" val="11023999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1"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32172D-3CAE-8671-D842-9334E227402D}"/>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B828711C-1F3E-B19D-E5AC-112CD7222EE5}"/>
              </a:ext>
            </a:extLst>
          </p:cNvPr>
          <p:cNvSpPr>
            <a:spLocks noGrp="1"/>
          </p:cNvSpPr>
          <p:nvPr>
            <p:ph type="title"/>
          </p:nvPr>
        </p:nvSpPr>
        <p:spPr/>
        <p:txBody>
          <a:bodyPr/>
          <a:lstStyle/>
          <a:p>
            <a:r>
              <a:rPr lang="en-US" noProof="0" dirty="0"/>
              <a:t>Colliding: Common Effects</a:t>
            </a:r>
          </a:p>
        </p:txBody>
      </p:sp>
      <p:sp>
        <p:nvSpPr>
          <p:cNvPr id="8" name="Content Placeholder 7">
            <a:extLst>
              <a:ext uri="{FF2B5EF4-FFF2-40B4-BE49-F238E27FC236}">
                <a16:creationId xmlns:a16="http://schemas.microsoft.com/office/drawing/2014/main" id="{69BE27F1-83E2-1955-05D7-057F7E598A86}"/>
              </a:ext>
            </a:extLst>
          </p:cNvPr>
          <p:cNvSpPr>
            <a:spLocks noGrp="1"/>
          </p:cNvSpPr>
          <p:nvPr>
            <p:ph idx="1"/>
          </p:nvPr>
        </p:nvSpPr>
        <p:spPr>
          <a:xfrm>
            <a:off x="838200" y="1825625"/>
            <a:ext cx="10515600" cy="1317631"/>
          </a:xfrm>
        </p:spPr>
        <p:txBody>
          <a:bodyPr>
            <a:normAutofit/>
          </a:bodyPr>
          <a:lstStyle/>
          <a:p>
            <a:pPr marL="0" indent="0">
              <a:buNone/>
            </a:pPr>
            <a:r>
              <a:rPr lang="en-US" sz="2400" noProof="0" dirty="0"/>
              <a:t>“Does the </a:t>
            </a:r>
            <a:r>
              <a:rPr lang="en-US" sz="2400" noProof="0" dirty="0">
                <a:solidFill>
                  <a:srgbClr val="D0180A"/>
                </a:solidFill>
              </a:rPr>
              <a:t>length of a requirements specification </a:t>
            </a:r>
            <a:r>
              <a:rPr lang="en-US" sz="2400" noProof="0" dirty="0"/>
              <a:t>affect its </a:t>
            </a:r>
            <a:r>
              <a:rPr lang="en-US" sz="2400" noProof="0" dirty="0">
                <a:solidFill>
                  <a:srgbClr val="006D70"/>
                </a:solidFill>
              </a:rPr>
              <a:t>quality</a:t>
            </a:r>
            <a:r>
              <a:rPr lang="en-US" sz="2400" noProof="0" dirty="0"/>
              <a:t>? Both factors do affect whether the specified feature is </a:t>
            </a:r>
            <a:r>
              <a:rPr lang="en-US" sz="2400" noProof="0" dirty="0">
                <a:solidFill>
                  <a:schemeClr val="bg1">
                    <a:lumMod val="50000"/>
                  </a:schemeClr>
                </a:solidFill>
              </a:rPr>
              <a:t>implemented successfully</a:t>
            </a:r>
            <a:r>
              <a:rPr lang="en-US" sz="2400" noProof="0" dirty="0"/>
              <a:t>.”</a:t>
            </a:r>
          </a:p>
        </p:txBody>
      </p:sp>
      <p:sp>
        <p:nvSpPr>
          <p:cNvPr id="4" name="Date Placeholder 3">
            <a:extLst>
              <a:ext uri="{FF2B5EF4-FFF2-40B4-BE49-F238E27FC236}">
                <a16:creationId xmlns:a16="http://schemas.microsoft.com/office/drawing/2014/main" id="{3324F0B3-D651-79AA-F449-D99E2EF9D9C7}"/>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34D3EF88-8A84-9866-EA2F-68FB3BC461D3}"/>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C750B3EB-315F-6964-EEA2-738629B344D0}"/>
              </a:ext>
            </a:extLst>
          </p:cNvPr>
          <p:cNvSpPr>
            <a:spLocks noGrp="1"/>
          </p:cNvSpPr>
          <p:nvPr>
            <p:ph type="sldNum" sz="quarter" idx="12"/>
          </p:nvPr>
        </p:nvSpPr>
        <p:spPr/>
        <p:txBody>
          <a:bodyPr/>
          <a:lstStyle/>
          <a:p>
            <a:fld id="{0FA2D919-C0DE-4971-A2E9-D4AC0031921B}" type="slidenum">
              <a:rPr lang="en-US" noProof="0" smtClean="0"/>
              <a:t>19</a:t>
            </a:fld>
            <a:endParaRPr lang="en-US" noProof="0" dirty="0"/>
          </a:p>
        </p:txBody>
      </p:sp>
      <p:pic>
        <p:nvPicPr>
          <p:cNvPr id="3" name="Picture 2">
            <a:extLst>
              <a:ext uri="{FF2B5EF4-FFF2-40B4-BE49-F238E27FC236}">
                <a16:creationId xmlns:a16="http://schemas.microsoft.com/office/drawing/2014/main" id="{E91955AF-555A-1890-D047-D0AC701E1476}"/>
              </a:ext>
            </a:extLst>
          </p:cNvPr>
          <p:cNvPicPr>
            <a:picLocks noChangeAspect="1"/>
          </p:cNvPicPr>
          <p:nvPr/>
        </p:nvPicPr>
        <p:blipFill>
          <a:blip r:embed="rId3"/>
          <a:srcRect l="2765" b="54810"/>
          <a:stretch>
            <a:fillRect/>
          </a:stretch>
        </p:blipFill>
        <p:spPr>
          <a:xfrm>
            <a:off x="1885244" y="3143256"/>
            <a:ext cx="7634974" cy="1317631"/>
          </a:xfrm>
          <a:prstGeom prst="rect">
            <a:avLst/>
          </a:prstGeom>
        </p:spPr>
      </p:pic>
      <p:pic>
        <p:nvPicPr>
          <p:cNvPr id="2" name="Picture 1">
            <a:extLst>
              <a:ext uri="{FF2B5EF4-FFF2-40B4-BE49-F238E27FC236}">
                <a16:creationId xmlns:a16="http://schemas.microsoft.com/office/drawing/2014/main" id="{0C5E3445-BA89-FAAB-E907-F13C5816A448}"/>
              </a:ext>
            </a:extLst>
          </p:cNvPr>
          <p:cNvPicPr>
            <a:picLocks noChangeAspect="1"/>
          </p:cNvPicPr>
          <p:nvPr/>
        </p:nvPicPr>
        <p:blipFill>
          <a:blip r:embed="rId3"/>
          <a:srcRect l="13907" t="86437" b="-301"/>
          <a:stretch>
            <a:fillRect/>
          </a:stretch>
        </p:blipFill>
        <p:spPr>
          <a:xfrm>
            <a:off x="2760133" y="4404279"/>
            <a:ext cx="6760085" cy="404213"/>
          </a:xfrm>
          <a:prstGeom prst="rect">
            <a:avLst/>
          </a:prstGeom>
        </p:spPr>
      </p:pic>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272B1FD6-5569-AA0F-6227-3A730D711B89}"/>
                  </a:ext>
                </a:extLst>
              </p:cNvPr>
              <p:cNvSpPr txBox="1"/>
              <p:nvPr/>
            </p:nvSpPr>
            <p:spPr>
              <a:xfrm>
                <a:off x="4472510" y="2795651"/>
                <a:ext cx="324697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noProof="0" smtClean="0">
                              <a:latin typeface="Cambria Math" panose="02040503050406030204" pitchFamily="18" charset="0"/>
                            </a:rPr>
                          </m:ctrlPr>
                        </m:sSubPr>
                        <m:e>
                          <m:r>
                            <a:rPr lang="en-US" b="0" i="1" noProof="0" smtClean="0">
                              <a:latin typeface="Cambria Math" panose="02040503050406030204" pitchFamily="18" charset="0"/>
                            </a:rPr>
                            <m:t>𝑚</m:t>
                          </m:r>
                        </m:e>
                        <m:sub>
                          <m:r>
                            <a:rPr lang="en-US" b="0" i="1" noProof="0" smtClean="0">
                              <a:latin typeface="Cambria Math" panose="02040503050406030204" pitchFamily="18" charset="0"/>
                            </a:rPr>
                            <m:t>1</m:t>
                          </m:r>
                        </m:sub>
                      </m:sSub>
                      <m:r>
                        <a:rPr lang="en-US" b="0" i="1" noProof="0" smtClean="0">
                          <a:latin typeface="Cambria Math" panose="02040503050406030204" pitchFamily="18" charset="0"/>
                        </a:rPr>
                        <m:t>:</m:t>
                      </m:r>
                      <m:r>
                        <a:rPr lang="en-US" b="0" i="1" noProof="0" smtClean="0">
                          <a:solidFill>
                            <a:srgbClr val="006D70"/>
                          </a:solidFill>
                          <a:latin typeface="Cambria Math" panose="02040503050406030204" pitchFamily="18" charset="0"/>
                        </a:rPr>
                        <m:t>𝑞𝑢𝑎𝑙𝑖𝑡𝑦</m:t>
                      </m:r>
                      <m:r>
                        <a:rPr lang="en-US" b="0" i="1" noProof="0" smtClean="0">
                          <a:latin typeface="Cambria Math" panose="02040503050406030204" pitchFamily="18" charset="0"/>
                        </a:rPr>
                        <m:t>~1+</m:t>
                      </m:r>
                      <m:r>
                        <a:rPr lang="en-US" b="0" i="1" noProof="0" smtClean="0">
                          <a:solidFill>
                            <a:srgbClr val="D0180A"/>
                          </a:solidFill>
                          <a:latin typeface="Cambria Math" panose="02040503050406030204" pitchFamily="18" charset="0"/>
                        </a:rPr>
                        <m:t>𝑠𝑖𝑧𝑒</m:t>
                      </m:r>
                      <m:r>
                        <a:rPr lang="en-US" b="0" i="1" noProof="0" smtClean="0">
                          <a:latin typeface="Cambria Math" panose="02040503050406030204" pitchFamily="18" charset="0"/>
                        </a:rPr>
                        <m:t>+</m:t>
                      </m:r>
                      <m:r>
                        <a:rPr lang="en-US" b="0" i="1" noProof="0" smtClean="0">
                          <a:solidFill>
                            <a:schemeClr val="bg1">
                              <a:lumMod val="50000"/>
                            </a:schemeClr>
                          </a:solidFill>
                          <a:latin typeface="Cambria Math" panose="02040503050406030204" pitchFamily="18" charset="0"/>
                        </a:rPr>
                        <m:t>𝑠𝑢𝑐𝑐𝑒𝑠𝑠</m:t>
                      </m:r>
                    </m:oMath>
                  </m:oMathPara>
                </a14:m>
                <a:endParaRPr lang="en-US" noProof="0" dirty="0"/>
              </a:p>
            </p:txBody>
          </p:sp>
        </mc:Choice>
        <mc:Fallback xmlns="">
          <p:sp>
            <p:nvSpPr>
              <p:cNvPr id="9" name="TextBox 8">
                <a:extLst>
                  <a:ext uri="{FF2B5EF4-FFF2-40B4-BE49-F238E27FC236}">
                    <a16:creationId xmlns:a16="http://schemas.microsoft.com/office/drawing/2014/main" id="{272B1FD6-5569-AA0F-6227-3A730D711B89}"/>
                  </a:ext>
                </a:extLst>
              </p:cNvPr>
              <p:cNvSpPr txBox="1">
                <a:spLocks noRot="1" noChangeAspect="1" noMove="1" noResize="1" noEditPoints="1" noAdjustHandles="1" noChangeArrowheads="1" noChangeShapeType="1" noTextEdit="1"/>
              </p:cNvSpPr>
              <p:nvPr/>
            </p:nvSpPr>
            <p:spPr>
              <a:xfrm>
                <a:off x="4472510" y="2795651"/>
                <a:ext cx="3246979" cy="276999"/>
              </a:xfrm>
              <a:prstGeom prst="rect">
                <a:avLst/>
              </a:prstGeom>
              <a:blipFill>
                <a:blip r:embed="rId10"/>
                <a:stretch>
                  <a:fillRect l="-564" t="-4444" r="-752" b="-35556"/>
                </a:stretch>
              </a:blipFill>
            </p:spPr>
            <p:txBody>
              <a:bodyPr/>
              <a:lstStyle/>
              <a:p>
                <a:r>
                  <a:rPr lang="en-SE">
                    <a:noFill/>
                  </a:rPr>
                  <a:t> </a:t>
                </a:r>
              </a:p>
            </p:txBody>
          </p:sp>
        </mc:Fallback>
      </mc:AlternateContent>
    </p:spTree>
    <p:extLst>
      <p:ext uri="{BB962C8B-B14F-4D97-AF65-F5344CB8AC3E}">
        <p14:creationId xmlns:p14="http://schemas.microsoft.com/office/powerpoint/2010/main" val="38752114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8861CE-0EBB-24FF-8FCF-1E9E8CFCDA95}"/>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D9BF91DE-8E78-9FA3-BB8D-65BAB62F1D0D}"/>
              </a:ext>
            </a:extLst>
          </p:cNvPr>
          <p:cNvSpPr>
            <a:spLocks noGrp="1"/>
          </p:cNvSpPr>
          <p:nvPr>
            <p:ph type="title"/>
          </p:nvPr>
        </p:nvSpPr>
        <p:spPr/>
        <p:txBody>
          <a:bodyPr/>
          <a:lstStyle/>
          <a:p>
            <a:r>
              <a:rPr lang="en-US" noProof="0" dirty="0"/>
              <a:t>Colliding: Common Effects</a:t>
            </a:r>
          </a:p>
        </p:txBody>
      </p:sp>
      <p:sp>
        <p:nvSpPr>
          <p:cNvPr id="8" name="Content Placeholder 7">
            <a:extLst>
              <a:ext uri="{FF2B5EF4-FFF2-40B4-BE49-F238E27FC236}">
                <a16:creationId xmlns:a16="http://schemas.microsoft.com/office/drawing/2014/main" id="{CA0E45FC-B484-8CAA-D7F3-64C2C685A906}"/>
              </a:ext>
            </a:extLst>
          </p:cNvPr>
          <p:cNvSpPr>
            <a:spLocks noGrp="1"/>
          </p:cNvSpPr>
          <p:nvPr>
            <p:ph idx="1"/>
          </p:nvPr>
        </p:nvSpPr>
        <p:spPr>
          <a:xfrm>
            <a:off x="838200" y="1825625"/>
            <a:ext cx="10515600" cy="1317631"/>
          </a:xfrm>
        </p:spPr>
        <p:txBody>
          <a:bodyPr>
            <a:normAutofit/>
          </a:bodyPr>
          <a:lstStyle/>
          <a:p>
            <a:pPr marL="0" indent="0">
              <a:buNone/>
            </a:pPr>
            <a:r>
              <a:rPr lang="en-US" sz="2400" noProof="0" dirty="0"/>
              <a:t>“Does the </a:t>
            </a:r>
            <a:r>
              <a:rPr lang="en-US" sz="2400" noProof="0" dirty="0">
                <a:solidFill>
                  <a:srgbClr val="D0180A"/>
                </a:solidFill>
              </a:rPr>
              <a:t>length of a requirements specification </a:t>
            </a:r>
            <a:r>
              <a:rPr lang="en-US" sz="2400" noProof="0" dirty="0"/>
              <a:t>affect its </a:t>
            </a:r>
            <a:r>
              <a:rPr lang="en-US" sz="2400" noProof="0" dirty="0">
                <a:solidFill>
                  <a:srgbClr val="006D70"/>
                </a:solidFill>
              </a:rPr>
              <a:t>quality</a:t>
            </a:r>
            <a:r>
              <a:rPr lang="en-US" sz="2400" noProof="0" dirty="0"/>
              <a:t>? Both factors do affect whether the specified feature is </a:t>
            </a:r>
            <a:r>
              <a:rPr lang="en-US" sz="2400" noProof="0" dirty="0">
                <a:solidFill>
                  <a:schemeClr val="bg1">
                    <a:lumMod val="50000"/>
                  </a:schemeClr>
                </a:solidFill>
              </a:rPr>
              <a:t>implemented successfully</a:t>
            </a:r>
            <a:r>
              <a:rPr lang="en-US" sz="2400" noProof="0" dirty="0"/>
              <a:t>.”</a:t>
            </a:r>
          </a:p>
        </p:txBody>
      </p:sp>
      <p:sp>
        <p:nvSpPr>
          <p:cNvPr id="4" name="Date Placeholder 3">
            <a:extLst>
              <a:ext uri="{FF2B5EF4-FFF2-40B4-BE49-F238E27FC236}">
                <a16:creationId xmlns:a16="http://schemas.microsoft.com/office/drawing/2014/main" id="{F52B0266-E5A1-7463-3A68-A2EAB26B5E75}"/>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16F6B24E-73D5-9983-79B5-CA591D303F2A}"/>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E058DBB4-878C-4B93-679C-2B04C8DFD99D}"/>
              </a:ext>
            </a:extLst>
          </p:cNvPr>
          <p:cNvSpPr>
            <a:spLocks noGrp="1"/>
          </p:cNvSpPr>
          <p:nvPr>
            <p:ph type="sldNum" sz="quarter" idx="12"/>
          </p:nvPr>
        </p:nvSpPr>
        <p:spPr/>
        <p:txBody>
          <a:bodyPr/>
          <a:lstStyle/>
          <a:p>
            <a:fld id="{0FA2D919-C0DE-4971-A2E9-D4AC0031921B}" type="slidenum">
              <a:rPr lang="en-US" noProof="0" smtClean="0"/>
              <a:t>20</a:t>
            </a:fld>
            <a:endParaRPr lang="en-US" noProof="0" dirty="0"/>
          </a:p>
        </p:txBody>
      </p:sp>
      <p:pic>
        <p:nvPicPr>
          <p:cNvPr id="9" name="Picture 8">
            <a:extLst>
              <a:ext uri="{FF2B5EF4-FFF2-40B4-BE49-F238E27FC236}">
                <a16:creationId xmlns:a16="http://schemas.microsoft.com/office/drawing/2014/main" id="{D549F156-9CBF-0267-A912-FE93DE675A3D}"/>
              </a:ext>
            </a:extLst>
          </p:cNvPr>
          <p:cNvPicPr>
            <a:picLocks noChangeAspect="1"/>
          </p:cNvPicPr>
          <p:nvPr/>
        </p:nvPicPr>
        <p:blipFill>
          <a:blip r:embed="rId3"/>
          <a:stretch>
            <a:fillRect/>
          </a:stretch>
        </p:blipFill>
        <p:spPr>
          <a:xfrm>
            <a:off x="768640" y="2898100"/>
            <a:ext cx="5210497" cy="3131024"/>
          </a:xfrm>
          <a:prstGeom prst="rect">
            <a:avLst/>
          </a:prstGeom>
        </p:spPr>
      </p:pic>
      <p:pic>
        <p:nvPicPr>
          <p:cNvPr id="11" name="Picture 10">
            <a:extLst>
              <a:ext uri="{FF2B5EF4-FFF2-40B4-BE49-F238E27FC236}">
                <a16:creationId xmlns:a16="http://schemas.microsoft.com/office/drawing/2014/main" id="{6874E0F7-1058-B69F-D551-0BFC9ECA72C6}"/>
              </a:ext>
            </a:extLst>
          </p:cNvPr>
          <p:cNvPicPr>
            <a:picLocks noChangeAspect="1"/>
          </p:cNvPicPr>
          <p:nvPr/>
        </p:nvPicPr>
        <p:blipFill>
          <a:blip r:embed="rId4"/>
          <a:stretch>
            <a:fillRect/>
          </a:stretch>
        </p:blipFill>
        <p:spPr>
          <a:xfrm>
            <a:off x="6347743" y="2898100"/>
            <a:ext cx="5075616" cy="3131024"/>
          </a:xfrm>
          <a:prstGeom prst="rect">
            <a:avLst/>
          </a:prstGeom>
        </p:spPr>
      </p:pic>
    </p:spTree>
    <p:extLst>
      <p:ext uri="{BB962C8B-B14F-4D97-AF65-F5344CB8AC3E}">
        <p14:creationId xmlns:p14="http://schemas.microsoft.com/office/powerpoint/2010/main" val="2044581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468E83-B85E-4198-5F12-CF31E7E16FC5}"/>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28C3B3A8-BEFB-869A-7797-FF776155F4C2}"/>
              </a:ext>
            </a:extLst>
          </p:cNvPr>
          <p:cNvPicPr>
            <a:picLocks noChangeAspect="1"/>
          </p:cNvPicPr>
          <p:nvPr/>
        </p:nvPicPr>
        <p:blipFill>
          <a:blip r:embed="rId2"/>
          <a:stretch>
            <a:fillRect/>
          </a:stretch>
        </p:blipFill>
        <p:spPr>
          <a:xfrm>
            <a:off x="838200" y="2662182"/>
            <a:ext cx="5786120" cy="3569316"/>
          </a:xfrm>
          <a:prstGeom prst="rect">
            <a:avLst/>
          </a:prstGeom>
        </p:spPr>
      </p:pic>
      <p:sp>
        <p:nvSpPr>
          <p:cNvPr id="7" name="Title 6">
            <a:extLst>
              <a:ext uri="{FF2B5EF4-FFF2-40B4-BE49-F238E27FC236}">
                <a16:creationId xmlns:a16="http://schemas.microsoft.com/office/drawing/2014/main" id="{904F73A1-F684-723A-2BB5-4905394EA455}"/>
              </a:ext>
            </a:extLst>
          </p:cNvPr>
          <p:cNvSpPr>
            <a:spLocks noGrp="1"/>
          </p:cNvSpPr>
          <p:nvPr>
            <p:ph type="title"/>
          </p:nvPr>
        </p:nvSpPr>
        <p:spPr/>
        <p:txBody>
          <a:bodyPr/>
          <a:lstStyle/>
          <a:p>
            <a:r>
              <a:rPr lang="en-US" noProof="0" dirty="0"/>
              <a:t>Colliding: Common Effects</a:t>
            </a:r>
          </a:p>
        </p:txBody>
      </p:sp>
      <p:sp>
        <p:nvSpPr>
          <p:cNvPr id="8" name="Content Placeholder 7">
            <a:extLst>
              <a:ext uri="{FF2B5EF4-FFF2-40B4-BE49-F238E27FC236}">
                <a16:creationId xmlns:a16="http://schemas.microsoft.com/office/drawing/2014/main" id="{5E4FE536-B71B-8410-4908-21925AC06257}"/>
              </a:ext>
            </a:extLst>
          </p:cNvPr>
          <p:cNvSpPr>
            <a:spLocks noGrp="1"/>
          </p:cNvSpPr>
          <p:nvPr>
            <p:ph idx="1"/>
          </p:nvPr>
        </p:nvSpPr>
        <p:spPr>
          <a:xfrm>
            <a:off x="838200" y="1825625"/>
            <a:ext cx="10515600" cy="1317631"/>
          </a:xfrm>
        </p:spPr>
        <p:txBody>
          <a:bodyPr>
            <a:normAutofit/>
          </a:bodyPr>
          <a:lstStyle/>
          <a:p>
            <a:pPr marL="0" indent="0">
              <a:buNone/>
            </a:pPr>
            <a:r>
              <a:rPr lang="en-US" sz="2400" noProof="0" dirty="0"/>
              <a:t>“Does the </a:t>
            </a:r>
            <a:r>
              <a:rPr lang="en-US" sz="2400" noProof="0" dirty="0">
                <a:solidFill>
                  <a:srgbClr val="D0180A"/>
                </a:solidFill>
              </a:rPr>
              <a:t>length of a requirements specification </a:t>
            </a:r>
            <a:r>
              <a:rPr lang="en-US" sz="2400" noProof="0" dirty="0"/>
              <a:t>affect its </a:t>
            </a:r>
            <a:r>
              <a:rPr lang="en-US" sz="2400" noProof="0" dirty="0">
                <a:solidFill>
                  <a:srgbClr val="006D70"/>
                </a:solidFill>
              </a:rPr>
              <a:t>quality</a:t>
            </a:r>
            <a:r>
              <a:rPr lang="en-US" sz="2400" noProof="0" dirty="0"/>
              <a:t>? Both factors do affect whether the specified feature is </a:t>
            </a:r>
            <a:r>
              <a:rPr lang="en-US" sz="2400" noProof="0" dirty="0">
                <a:solidFill>
                  <a:schemeClr val="bg1">
                    <a:lumMod val="50000"/>
                  </a:schemeClr>
                </a:solidFill>
              </a:rPr>
              <a:t>implemented successfully</a:t>
            </a:r>
            <a:r>
              <a:rPr lang="en-US" sz="2400" noProof="0" dirty="0"/>
              <a:t>.”</a:t>
            </a:r>
          </a:p>
        </p:txBody>
      </p:sp>
      <p:sp>
        <p:nvSpPr>
          <p:cNvPr id="4" name="Date Placeholder 3">
            <a:extLst>
              <a:ext uri="{FF2B5EF4-FFF2-40B4-BE49-F238E27FC236}">
                <a16:creationId xmlns:a16="http://schemas.microsoft.com/office/drawing/2014/main" id="{D16B08CD-68BF-7550-B950-51043BF1B5EE}"/>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A07758D4-FEBB-FBA9-26FE-1A836DCD6F70}"/>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4C31C984-9DD1-6F69-52D6-EC6CEC8FEB8C}"/>
              </a:ext>
            </a:extLst>
          </p:cNvPr>
          <p:cNvSpPr>
            <a:spLocks noGrp="1"/>
          </p:cNvSpPr>
          <p:nvPr>
            <p:ph type="sldNum" sz="quarter" idx="12"/>
          </p:nvPr>
        </p:nvSpPr>
        <p:spPr/>
        <p:txBody>
          <a:bodyPr/>
          <a:lstStyle/>
          <a:p>
            <a:fld id="{0FA2D919-C0DE-4971-A2E9-D4AC0031921B}" type="slidenum">
              <a:rPr lang="en-US" noProof="0" smtClean="0"/>
              <a:t>21</a:t>
            </a:fld>
            <a:endParaRPr lang="en-US" noProof="0" dirty="0"/>
          </a:p>
        </p:txBody>
      </p:sp>
      <p:sp>
        <p:nvSpPr>
          <p:cNvPr id="11" name="Rectangle 10">
            <a:extLst>
              <a:ext uri="{FF2B5EF4-FFF2-40B4-BE49-F238E27FC236}">
                <a16:creationId xmlns:a16="http://schemas.microsoft.com/office/drawing/2014/main" id="{104B2E89-4D37-BB4D-3C00-34CC469529EE}"/>
              </a:ext>
            </a:extLst>
          </p:cNvPr>
          <p:cNvSpPr/>
          <p:nvPr/>
        </p:nvSpPr>
        <p:spPr>
          <a:xfrm>
            <a:off x="1037507" y="3248614"/>
            <a:ext cx="4482954" cy="416560"/>
          </a:xfrm>
          <a:prstGeom prst="rect">
            <a:avLst/>
          </a:prstGeom>
          <a:no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Rectangle 11">
            <a:extLst>
              <a:ext uri="{FF2B5EF4-FFF2-40B4-BE49-F238E27FC236}">
                <a16:creationId xmlns:a16="http://schemas.microsoft.com/office/drawing/2014/main" id="{4C4618BE-F218-ADBD-F510-3D3E6747A3BF}"/>
              </a:ext>
            </a:extLst>
          </p:cNvPr>
          <p:cNvSpPr/>
          <p:nvPr/>
        </p:nvSpPr>
        <p:spPr>
          <a:xfrm>
            <a:off x="1011061" y="5077183"/>
            <a:ext cx="4482954" cy="416560"/>
          </a:xfrm>
          <a:prstGeom prst="rect">
            <a:avLst/>
          </a:prstGeom>
          <a:no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TextBox 24">
            <a:extLst>
              <a:ext uri="{FF2B5EF4-FFF2-40B4-BE49-F238E27FC236}">
                <a16:creationId xmlns:a16="http://schemas.microsoft.com/office/drawing/2014/main" id="{D13728C6-BE00-6026-B4F8-549268B8B81F}"/>
              </a:ext>
            </a:extLst>
          </p:cNvPr>
          <p:cNvSpPr txBox="1"/>
          <p:nvPr/>
        </p:nvSpPr>
        <p:spPr>
          <a:xfrm>
            <a:off x="5719768" y="3133728"/>
            <a:ext cx="6096000" cy="646331"/>
          </a:xfrm>
          <a:prstGeom prst="rect">
            <a:avLst/>
          </a:prstGeom>
          <a:noFill/>
        </p:spPr>
        <p:txBody>
          <a:bodyPr wrap="square">
            <a:spAutoFit/>
          </a:bodyPr>
          <a:lstStyle/>
          <a:p>
            <a:r>
              <a:rPr lang="en-US" noProof="0" dirty="0"/>
              <a:t>For any high</a:t>
            </a:r>
            <a:r>
              <a:rPr lang="en-SE" noProof="0" dirty="0"/>
              <a:t>-</a:t>
            </a:r>
            <a:r>
              <a:rPr lang="en-US" noProof="0" dirty="0">
                <a:solidFill>
                  <a:srgbClr val="006D70"/>
                </a:solidFill>
              </a:rPr>
              <a:t>quality</a:t>
            </a:r>
            <a:r>
              <a:rPr lang="en-US" noProof="0" dirty="0"/>
              <a:t> value, if </a:t>
            </a:r>
            <a:r>
              <a:rPr lang="en-US" noProof="0" dirty="0">
                <a:solidFill>
                  <a:schemeClr val="accent4"/>
                </a:solidFill>
              </a:rPr>
              <a:t>feature success </a:t>
            </a:r>
            <a:r>
              <a:rPr lang="en-US" noProof="0" dirty="0"/>
              <a:t>is </a:t>
            </a:r>
            <a:r>
              <a:rPr lang="en-US" i="1" noProof="0" dirty="0"/>
              <a:t>false</a:t>
            </a:r>
            <a:r>
              <a:rPr lang="en-US" noProof="0" dirty="0"/>
              <a:t>, then it is more likely that the </a:t>
            </a:r>
            <a:r>
              <a:rPr lang="en-US" noProof="0" dirty="0">
                <a:solidFill>
                  <a:srgbClr val="D0180A"/>
                </a:solidFill>
              </a:rPr>
              <a:t>specification size </a:t>
            </a:r>
            <a:r>
              <a:rPr lang="en-US" noProof="0" dirty="0"/>
              <a:t>was small.</a:t>
            </a:r>
          </a:p>
        </p:txBody>
      </p:sp>
      <p:sp>
        <p:nvSpPr>
          <p:cNvPr id="26" name="TextBox 25">
            <a:extLst>
              <a:ext uri="{FF2B5EF4-FFF2-40B4-BE49-F238E27FC236}">
                <a16:creationId xmlns:a16="http://schemas.microsoft.com/office/drawing/2014/main" id="{5AAB7AC1-A161-59A4-BD00-A9594A0967F1}"/>
              </a:ext>
            </a:extLst>
          </p:cNvPr>
          <p:cNvSpPr txBox="1"/>
          <p:nvPr/>
        </p:nvSpPr>
        <p:spPr>
          <a:xfrm>
            <a:off x="5719768" y="4962297"/>
            <a:ext cx="6096000" cy="646331"/>
          </a:xfrm>
          <a:prstGeom prst="rect">
            <a:avLst/>
          </a:prstGeom>
          <a:noFill/>
        </p:spPr>
        <p:txBody>
          <a:bodyPr wrap="square">
            <a:spAutoFit/>
          </a:bodyPr>
          <a:lstStyle/>
          <a:p>
            <a:r>
              <a:rPr lang="en-US" noProof="0" dirty="0"/>
              <a:t>For any low</a:t>
            </a:r>
            <a:r>
              <a:rPr lang="en-SE" noProof="0" dirty="0"/>
              <a:t>-</a:t>
            </a:r>
            <a:r>
              <a:rPr lang="en-US" noProof="0" dirty="0">
                <a:solidFill>
                  <a:srgbClr val="006D70"/>
                </a:solidFill>
              </a:rPr>
              <a:t>quality</a:t>
            </a:r>
            <a:r>
              <a:rPr lang="en-US" noProof="0" dirty="0"/>
              <a:t> value, if </a:t>
            </a:r>
            <a:r>
              <a:rPr lang="en-US" noProof="0" dirty="0">
                <a:solidFill>
                  <a:schemeClr val="accent4"/>
                </a:solidFill>
              </a:rPr>
              <a:t>feature success </a:t>
            </a:r>
            <a:r>
              <a:rPr lang="en-US" noProof="0" dirty="0"/>
              <a:t>is </a:t>
            </a:r>
            <a:r>
              <a:rPr lang="en-US" i="1" noProof="0" dirty="0"/>
              <a:t>true</a:t>
            </a:r>
            <a:r>
              <a:rPr lang="en-US" noProof="0" dirty="0"/>
              <a:t>, then it is more likely that the </a:t>
            </a:r>
            <a:r>
              <a:rPr lang="en-US" noProof="0" dirty="0">
                <a:solidFill>
                  <a:srgbClr val="D0180A"/>
                </a:solidFill>
              </a:rPr>
              <a:t>specification size </a:t>
            </a:r>
            <a:r>
              <a:rPr lang="en-US" noProof="0" dirty="0"/>
              <a:t>was large.</a:t>
            </a:r>
          </a:p>
        </p:txBody>
      </p:sp>
    </p:spTree>
    <p:extLst>
      <p:ext uri="{BB962C8B-B14F-4D97-AF65-F5344CB8AC3E}">
        <p14:creationId xmlns:p14="http://schemas.microsoft.com/office/powerpoint/2010/main" val="8836766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25" grpId="0"/>
      <p:bldP spid="2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95C4EA-647C-2598-1568-ADAECD47457F}"/>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3D4E3AD4-3A22-4105-AFA6-3CBB35A1080F}"/>
              </a:ext>
            </a:extLst>
          </p:cNvPr>
          <p:cNvPicPr>
            <a:picLocks noChangeAspect="1"/>
          </p:cNvPicPr>
          <p:nvPr/>
        </p:nvPicPr>
        <p:blipFill>
          <a:blip r:embed="rId2"/>
          <a:stretch>
            <a:fillRect/>
          </a:stretch>
        </p:blipFill>
        <p:spPr>
          <a:xfrm>
            <a:off x="838200" y="2662182"/>
            <a:ext cx="5786120" cy="3569316"/>
          </a:xfrm>
          <a:prstGeom prst="rect">
            <a:avLst/>
          </a:prstGeom>
        </p:spPr>
      </p:pic>
      <p:sp>
        <p:nvSpPr>
          <p:cNvPr id="7" name="Title 6">
            <a:extLst>
              <a:ext uri="{FF2B5EF4-FFF2-40B4-BE49-F238E27FC236}">
                <a16:creationId xmlns:a16="http://schemas.microsoft.com/office/drawing/2014/main" id="{BA3F1740-886A-B4F9-54A2-321F320873AD}"/>
              </a:ext>
            </a:extLst>
          </p:cNvPr>
          <p:cNvSpPr>
            <a:spLocks noGrp="1"/>
          </p:cNvSpPr>
          <p:nvPr>
            <p:ph type="title"/>
          </p:nvPr>
        </p:nvSpPr>
        <p:spPr/>
        <p:txBody>
          <a:bodyPr/>
          <a:lstStyle/>
          <a:p>
            <a:r>
              <a:rPr lang="en-US" noProof="0" dirty="0"/>
              <a:t>Colliding: Common Effects</a:t>
            </a:r>
          </a:p>
        </p:txBody>
      </p:sp>
      <p:sp>
        <p:nvSpPr>
          <p:cNvPr id="8" name="Content Placeholder 7">
            <a:extLst>
              <a:ext uri="{FF2B5EF4-FFF2-40B4-BE49-F238E27FC236}">
                <a16:creationId xmlns:a16="http://schemas.microsoft.com/office/drawing/2014/main" id="{36193F7B-A825-D4C9-1972-55A209BBFA4D}"/>
              </a:ext>
            </a:extLst>
          </p:cNvPr>
          <p:cNvSpPr>
            <a:spLocks noGrp="1"/>
          </p:cNvSpPr>
          <p:nvPr>
            <p:ph idx="1"/>
          </p:nvPr>
        </p:nvSpPr>
        <p:spPr>
          <a:xfrm>
            <a:off x="838200" y="1825625"/>
            <a:ext cx="10515600" cy="1317631"/>
          </a:xfrm>
        </p:spPr>
        <p:txBody>
          <a:bodyPr>
            <a:normAutofit/>
          </a:bodyPr>
          <a:lstStyle/>
          <a:p>
            <a:pPr marL="0" indent="0">
              <a:buNone/>
            </a:pPr>
            <a:r>
              <a:rPr lang="en-US" sz="2400" noProof="0" dirty="0"/>
              <a:t>“Does the </a:t>
            </a:r>
            <a:r>
              <a:rPr lang="en-US" sz="2400" noProof="0" dirty="0">
                <a:solidFill>
                  <a:srgbClr val="D0180A"/>
                </a:solidFill>
              </a:rPr>
              <a:t>length of a requirements specification </a:t>
            </a:r>
            <a:r>
              <a:rPr lang="en-US" sz="2400" noProof="0" dirty="0"/>
              <a:t>affect its </a:t>
            </a:r>
            <a:r>
              <a:rPr lang="en-US" sz="2400" noProof="0" dirty="0">
                <a:solidFill>
                  <a:srgbClr val="006D70"/>
                </a:solidFill>
              </a:rPr>
              <a:t>quality</a:t>
            </a:r>
            <a:r>
              <a:rPr lang="en-US" sz="2400" noProof="0" dirty="0"/>
              <a:t>? Both factors do affect whether the specified feature is </a:t>
            </a:r>
            <a:r>
              <a:rPr lang="en-US" sz="2400" noProof="0" dirty="0">
                <a:solidFill>
                  <a:schemeClr val="bg1">
                    <a:lumMod val="50000"/>
                  </a:schemeClr>
                </a:solidFill>
              </a:rPr>
              <a:t>implemented successfully</a:t>
            </a:r>
            <a:r>
              <a:rPr lang="en-US" sz="2400" noProof="0" dirty="0"/>
              <a:t>.”</a:t>
            </a:r>
          </a:p>
        </p:txBody>
      </p:sp>
      <p:sp>
        <p:nvSpPr>
          <p:cNvPr id="4" name="Date Placeholder 3">
            <a:extLst>
              <a:ext uri="{FF2B5EF4-FFF2-40B4-BE49-F238E27FC236}">
                <a16:creationId xmlns:a16="http://schemas.microsoft.com/office/drawing/2014/main" id="{3AD670EE-361F-3DDA-2996-0D2787130078}"/>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3ACDA021-56E4-0182-50F6-15FBDE4AA2FE}"/>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ABE81024-F1E6-D25C-E90C-1449DE0DB13D}"/>
              </a:ext>
            </a:extLst>
          </p:cNvPr>
          <p:cNvSpPr>
            <a:spLocks noGrp="1"/>
          </p:cNvSpPr>
          <p:nvPr>
            <p:ph type="sldNum" sz="quarter" idx="12"/>
          </p:nvPr>
        </p:nvSpPr>
        <p:spPr/>
        <p:txBody>
          <a:bodyPr/>
          <a:lstStyle/>
          <a:p>
            <a:fld id="{0FA2D919-C0DE-4971-A2E9-D4AC0031921B}" type="slidenum">
              <a:rPr lang="en-US" noProof="0" smtClean="0"/>
              <a:t>22</a:t>
            </a:fld>
            <a:endParaRPr lang="en-US" noProof="0" dirty="0"/>
          </a:p>
        </p:txBody>
      </p:sp>
      <p:sp>
        <p:nvSpPr>
          <p:cNvPr id="11" name="Rectangle 10">
            <a:extLst>
              <a:ext uri="{FF2B5EF4-FFF2-40B4-BE49-F238E27FC236}">
                <a16:creationId xmlns:a16="http://schemas.microsoft.com/office/drawing/2014/main" id="{984322C2-BEB0-FB83-6B15-38D4EDAE3A84}"/>
              </a:ext>
            </a:extLst>
          </p:cNvPr>
          <p:cNvSpPr/>
          <p:nvPr/>
        </p:nvSpPr>
        <p:spPr>
          <a:xfrm>
            <a:off x="1037507" y="3248614"/>
            <a:ext cx="4482954" cy="416560"/>
          </a:xfrm>
          <a:prstGeom prst="rect">
            <a:avLst/>
          </a:prstGeom>
          <a:no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Rectangle 11">
            <a:extLst>
              <a:ext uri="{FF2B5EF4-FFF2-40B4-BE49-F238E27FC236}">
                <a16:creationId xmlns:a16="http://schemas.microsoft.com/office/drawing/2014/main" id="{289213B8-1157-5C24-847D-E275B8535823}"/>
              </a:ext>
            </a:extLst>
          </p:cNvPr>
          <p:cNvSpPr/>
          <p:nvPr/>
        </p:nvSpPr>
        <p:spPr>
          <a:xfrm>
            <a:off x="1011061" y="5077183"/>
            <a:ext cx="4482954" cy="416560"/>
          </a:xfrm>
          <a:prstGeom prst="rect">
            <a:avLst/>
          </a:prstGeom>
          <a:no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13" name="Group 12">
            <a:extLst>
              <a:ext uri="{FF2B5EF4-FFF2-40B4-BE49-F238E27FC236}">
                <a16:creationId xmlns:a16="http://schemas.microsoft.com/office/drawing/2014/main" id="{0ABC0337-A870-C75D-5BDA-8BC8A815E2EC}"/>
              </a:ext>
            </a:extLst>
          </p:cNvPr>
          <p:cNvGrpSpPr/>
          <p:nvPr/>
        </p:nvGrpSpPr>
        <p:grpSpPr>
          <a:xfrm>
            <a:off x="5826761" y="5171477"/>
            <a:ext cx="6111240" cy="946595"/>
            <a:chOff x="775412" y="5230368"/>
            <a:chExt cx="6111240" cy="946595"/>
          </a:xfrm>
        </p:grpSpPr>
        <p:sp>
          <p:nvSpPr>
            <p:cNvPr id="14" name="Rectangle: Rounded Corners 13">
              <a:extLst>
                <a:ext uri="{FF2B5EF4-FFF2-40B4-BE49-F238E27FC236}">
                  <a16:creationId xmlns:a16="http://schemas.microsoft.com/office/drawing/2014/main" id="{02E1905C-6EE6-B516-6BF2-A964C97A95B9}"/>
                </a:ext>
              </a:extLst>
            </p:cNvPr>
            <p:cNvSpPr/>
            <p:nvPr/>
          </p:nvSpPr>
          <p:spPr>
            <a:xfrm>
              <a:off x="775412" y="5230368"/>
              <a:ext cx="6111240" cy="946595"/>
            </a:xfrm>
            <a:prstGeom prst="roundRect">
              <a:avLst/>
            </a:prstGeom>
            <a:solidFill>
              <a:schemeClr val="tx2"/>
            </a:solidFill>
            <a:ln>
              <a:solidFill>
                <a:schemeClr val="tx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612000" rtlCol="0" anchor="ctr"/>
            <a:lstStyle/>
            <a:p>
              <a:r>
                <a:rPr lang="en-US" noProof="0" dirty="0"/>
                <a:t>The non-causal association suggests a negative relationship between the cause and effect (</a:t>
              </a:r>
              <a:r>
                <a:rPr lang="en-US" b="1" noProof="0" dirty="0"/>
                <a:t>Berkson’s paradox/fallacy</a:t>
              </a:r>
              <a:r>
                <a:rPr lang="en-US" noProof="0" dirty="0"/>
                <a:t>).</a:t>
              </a:r>
            </a:p>
          </p:txBody>
        </p:sp>
        <p:pic>
          <p:nvPicPr>
            <p:cNvPr id="15" name="Graphic 14" descr="Open quotation mark with solid fill">
              <a:extLst>
                <a:ext uri="{FF2B5EF4-FFF2-40B4-BE49-F238E27FC236}">
                  <a16:creationId xmlns:a16="http://schemas.microsoft.com/office/drawing/2014/main" id="{40AEB187-6D35-C8E2-28B1-EF2206164AB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0800000">
              <a:off x="775412" y="5343665"/>
              <a:ext cx="720000" cy="720000"/>
            </a:xfrm>
            <a:prstGeom prst="rect">
              <a:avLst/>
            </a:prstGeom>
          </p:spPr>
        </p:pic>
      </p:grpSp>
      <p:grpSp>
        <p:nvGrpSpPr>
          <p:cNvPr id="2" name="Group 1">
            <a:extLst>
              <a:ext uri="{FF2B5EF4-FFF2-40B4-BE49-F238E27FC236}">
                <a16:creationId xmlns:a16="http://schemas.microsoft.com/office/drawing/2014/main" id="{4BC14CA7-3359-0551-704A-88D9E7DB1799}"/>
              </a:ext>
            </a:extLst>
          </p:cNvPr>
          <p:cNvGrpSpPr/>
          <p:nvPr/>
        </p:nvGrpSpPr>
        <p:grpSpPr>
          <a:xfrm>
            <a:off x="6624320" y="2662182"/>
            <a:ext cx="4319475" cy="1990963"/>
            <a:chOff x="666492" y="3429000"/>
            <a:chExt cx="4319475" cy="1990963"/>
          </a:xfrm>
        </p:grpSpPr>
        <p:sp>
          <p:nvSpPr>
            <p:cNvPr id="3" name="Oval 2">
              <a:extLst>
                <a:ext uri="{FF2B5EF4-FFF2-40B4-BE49-F238E27FC236}">
                  <a16:creationId xmlns:a16="http://schemas.microsoft.com/office/drawing/2014/main" id="{752EFA76-06DA-C1FD-4125-EBBBF612199B}"/>
                </a:ext>
              </a:extLst>
            </p:cNvPr>
            <p:cNvSpPr/>
            <p:nvPr/>
          </p:nvSpPr>
          <p:spPr>
            <a:xfrm>
              <a:off x="1157256" y="3888332"/>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Oval 8">
              <a:extLst>
                <a:ext uri="{FF2B5EF4-FFF2-40B4-BE49-F238E27FC236}">
                  <a16:creationId xmlns:a16="http://schemas.microsoft.com/office/drawing/2014/main" id="{1626A664-3107-9402-67CB-2D879737C325}"/>
                </a:ext>
              </a:extLst>
            </p:cNvPr>
            <p:cNvSpPr/>
            <p:nvPr/>
          </p:nvSpPr>
          <p:spPr>
            <a:xfrm>
              <a:off x="3648636" y="3888332"/>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16" name="Straight Arrow Connector 15">
              <a:extLst>
                <a:ext uri="{FF2B5EF4-FFF2-40B4-BE49-F238E27FC236}">
                  <a16:creationId xmlns:a16="http://schemas.microsoft.com/office/drawing/2014/main" id="{9FC35A53-E954-7963-E811-E693131001E2}"/>
                </a:ext>
              </a:extLst>
            </p:cNvPr>
            <p:cNvCxnSpPr>
              <a:stCxn id="3" idx="6"/>
              <a:endCxn id="9" idx="2"/>
            </p:cNvCxnSpPr>
            <p:nvPr/>
          </p:nvCxnSpPr>
          <p:spPr>
            <a:xfrm>
              <a:off x="1517256" y="4068332"/>
              <a:ext cx="21313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7" name="TextBox 16">
              <a:extLst>
                <a:ext uri="{FF2B5EF4-FFF2-40B4-BE49-F238E27FC236}">
                  <a16:creationId xmlns:a16="http://schemas.microsoft.com/office/drawing/2014/main" id="{3DC8D3B6-CEB9-F910-8F13-7CF73259C41D}"/>
                </a:ext>
              </a:extLst>
            </p:cNvPr>
            <p:cNvSpPr txBox="1"/>
            <p:nvPr/>
          </p:nvSpPr>
          <p:spPr>
            <a:xfrm>
              <a:off x="666492" y="3429000"/>
              <a:ext cx="1905843" cy="369332"/>
            </a:xfrm>
            <a:prstGeom prst="rect">
              <a:avLst/>
            </a:prstGeom>
            <a:noFill/>
          </p:spPr>
          <p:txBody>
            <a:bodyPr wrap="none" rtlCol="0">
              <a:spAutoFit/>
            </a:bodyPr>
            <a:lstStyle/>
            <a:p>
              <a:r>
                <a:rPr lang="en-US" noProof="0" dirty="0">
                  <a:solidFill>
                    <a:srgbClr val="D0180A"/>
                  </a:solidFill>
                </a:rPr>
                <a:t>specification size</a:t>
              </a:r>
            </a:p>
          </p:txBody>
        </p:sp>
        <p:sp>
          <p:nvSpPr>
            <p:cNvPr id="18" name="TextBox 17">
              <a:extLst>
                <a:ext uri="{FF2B5EF4-FFF2-40B4-BE49-F238E27FC236}">
                  <a16:creationId xmlns:a16="http://schemas.microsoft.com/office/drawing/2014/main" id="{264E2A05-C4ED-B28D-EA17-45D039575D0A}"/>
                </a:ext>
              </a:extLst>
            </p:cNvPr>
            <p:cNvSpPr txBox="1"/>
            <p:nvPr/>
          </p:nvSpPr>
          <p:spPr>
            <a:xfrm>
              <a:off x="2791327" y="3432289"/>
              <a:ext cx="2194640" cy="369332"/>
            </a:xfrm>
            <a:prstGeom prst="rect">
              <a:avLst/>
            </a:prstGeom>
            <a:noFill/>
          </p:spPr>
          <p:txBody>
            <a:bodyPr wrap="none" rtlCol="0">
              <a:spAutoFit/>
            </a:bodyPr>
            <a:lstStyle/>
            <a:p>
              <a:r>
                <a:rPr lang="en-US" noProof="0" dirty="0">
                  <a:solidFill>
                    <a:srgbClr val="006D70"/>
                  </a:solidFill>
                </a:rPr>
                <a:t>specification quality</a:t>
              </a:r>
            </a:p>
          </p:txBody>
        </p:sp>
        <p:sp>
          <p:nvSpPr>
            <p:cNvPr id="19" name="Oval 18">
              <a:extLst>
                <a:ext uri="{FF2B5EF4-FFF2-40B4-BE49-F238E27FC236}">
                  <a16:creationId xmlns:a16="http://schemas.microsoft.com/office/drawing/2014/main" id="{438EB28F-9581-AC6C-8234-0DBD32E4739B}"/>
                </a:ext>
              </a:extLst>
            </p:cNvPr>
            <p:cNvSpPr/>
            <p:nvPr/>
          </p:nvSpPr>
          <p:spPr>
            <a:xfrm>
              <a:off x="2402946" y="5059963"/>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TextBox 19">
              <a:extLst>
                <a:ext uri="{FF2B5EF4-FFF2-40B4-BE49-F238E27FC236}">
                  <a16:creationId xmlns:a16="http://schemas.microsoft.com/office/drawing/2014/main" id="{A26C19A1-307F-BB02-7057-5DE2A592E300}"/>
                </a:ext>
              </a:extLst>
            </p:cNvPr>
            <p:cNvSpPr txBox="1"/>
            <p:nvPr/>
          </p:nvSpPr>
          <p:spPr>
            <a:xfrm>
              <a:off x="2791327" y="5050631"/>
              <a:ext cx="1822807" cy="369332"/>
            </a:xfrm>
            <a:prstGeom prst="rect">
              <a:avLst/>
            </a:prstGeom>
            <a:noFill/>
          </p:spPr>
          <p:txBody>
            <a:bodyPr wrap="none" rtlCol="0">
              <a:spAutoFit/>
            </a:bodyPr>
            <a:lstStyle/>
            <a:p>
              <a:r>
                <a:rPr lang="en-US" noProof="0" dirty="0">
                  <a:solidFill>
                    <a:schemeClr val="tx1">
                      <a:lumMod val="65000"/>
                      <a:lumOff val="35000"/>
                    </a:schemeClr>
                  </a:solidFill>
                </a:rPr>
                <a:t>feature success</a:t>
              </a:r>
            </a:p>
          </p:txBody>
        </p:sp>
        <p:cxnSp>
          <p:nvCxnSpPr>
            <p:cNvPr id="24" name="Straight Arrow Connector 23">
              <a:extLst>
                <a:ext uri="{FF2B5EF4-FFF2-40B4-BE49-F238E27FC236}">
                  <a16:creationId xmlns:a16="http://schemas.microsoft.com/office/drawing/2014/main" id="{9C8253A7-1923-E811-18BF-E5A9F5C5F1F9}"/>
                </a:ext>
              </a:extLst>
            </p:cNvPr>
            <p:cNvCxnSpPr>
              <a:cxnSpLocks/>
              <a:stCxn id="9" idx="3"/>
              <a:endCxn id="19" idx="7"/>
            </p:cNvCxnSpPr>
            <p:nvPr/>
          </p:nvCxnSpPr>
          <p:spPr>
            <a:xfrm flipH="1">
              <a:off x="2710225" y="4195611"/>
              <a:ext cx="991132" cy="91707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5" name="Straight Arrow Connector 24">
              <a:extLst>
                <a:ext uri="{FF2B5EF4-FFF2-40B4-BE49-F238E27FC236}">
                  <a16:creationId xmlns:a16="http://schemas.microsoft.com/office/drawing/2014/main" id="{5E5AF028-DE3A-DB18-BB29-077E07E2E17E}"/>
                </a:ext>
              </a:extLst>
            </p:cNvPr>
            <p:cNvCxnSpPr>
              <a:cxnSpLocks/>
              <a:stCxn id="3" idx="5"/>
              <a:endCxn id="19" idx="1"/>
            </p:cNvCxnSpPr>
            <p:nvPr/>
          </p:nvCxnSpPr>
          <p:spPr>
            <a:xfrm>
              <a:off x="1464535" y="4195611"/>
              <a:ext cx="991132" cy="91707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grpSp>
        <p:nvGrpSpPr>
          <p:cNvPr id="31" name="Group 30">
            <a:extLst>
              <a:ext uri="{FF2B5EF4-FFF2-40B4-BE49-F238E27FC236}">
                <a16:creationId xmlns:a16="http://schemas.microsoft.com/office/drawing/2014/main" id="{50229754-D947-FBE8-4342-922C81D19F40}"/>
              </a:ext>
            </a:extLst>
          </p:cNvPr>
          <p:cNvGrpSpPr/>
          <p:nvPr/>
        </p:nvGrpSpPr>
        <p:grpSpPr>
          <a:xfrm>
            <a:off x="8170163" y="3481514"/>
            <a:ext cx="720000" cy="720000"/>
            <a:chOff x="5604304" y="3426506"/>
            <a:chExt cx="720000" cy="720000"/>
          </a:xfrm>
        </p:grpSpPr>
        <p:sp>
          <p:nvSpPr>
            <p:cNvPr id="32" name="Oval 31">
              <a:extLst>
                <a:ext uri="{FF2B5EF4-FFF2-40B4-BE49-F238E27FC236}">
                  <a16:creationId xmlns:a16="http://schemas.microsoft.com/office/drawing/2014/main" id="{8EF7C19E-76CB-DD14-3E18-D88B26EF0663}"/>
                </a:ext>
              </a:extLst>
            </p:cNvPr>
            <p:cNvSpPr/>
            <p:nvPr/>
          </p:nvSpPr>
          <p:spPr>
            <a:xfrm>
              <a:off x="5604304" y="3426506"/>
              <a:ext cx="720000" cy="720000"/>
            </a:xfrm>
            <a:prstGeom prst="ellipse">
              <a:avLst/>
            </a:prstGeom>
            <a:solidFill>
              <a:srgbClr val="C0000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33" name="Graphic 32" descr="No sign with solid fill">
              <a:extLst>
                <a:ext uri="{FF2B5EF4-FFF2-40B4-BE49-F238E27FC236}">
                  <a16:creationId xmlns:a16="http://schemas.microsoft.com/office/drawing/2014/main" id="{597DAEE0-92B2-AB07-65A8-20C30F05A0C5}"/>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5661776" y="3489838"/>
              <a:ext cx="612000" cy="612000"/>
            </a:xfrm>
            <a:prstGeom prst="rect">
              <a:avLst/>
            </a:prstGeom>
          </p:spPr>
        </p:pic>
      </p:grpSp>
    </p:spTree>
    <p:extLst>
      <p:ext uri="{BB962C8B-B14F-4D97-AF65-F5344CB8AC3E}">
        <p14:creationId xmlns:p14="http://schemas.microsoft.com/office/powerpoint/2010/main" val="11315166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9008A-EBF9-5D72-2B31-6D0E448E4F68}"/>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4E16DBE5-3F62-21C6-511D-F8A3C2A33AE4}"/>
              </a:ext>
            </a:extLst>
          </p:cNvPr>
          <p:cNvSpPr>
            <a:spLocks noGrp="1"/>
          </p:cNvSpPr>
          <p:nvPr>
            <p:ph type="title"/>
          </p:nvPr>
        </p:nvSpPr>
        <p:spPr/>
        <p:txBody>
          <a:bodyPr/>
          <a:lstStyle/>
          <a:p>
            <a:r>
              <a:rPr lang="en-US" noProof="0" dirty="0"/>
              <a:t>Colliding: Common Effects</a:t>
            </a:r>
          </a:p>
        </p:txBody>
      </p:sp>
      <p:sp>
        <p:nvSpPr>
          <p:cNvPr id="8" name="Content Placeholder 7">
            <a:extLst>
              <a:ext uri="{FF2B5EF4-FFF2-40B4-BE49-F238E27FC236}">
                <a16:creationId xmlns:a16="http://schemas.microsoft.com/office/drawing/2014/main" id="{819C1A48-45A7-DC74-9CE8-576D5F04174F}"/>
              </a:ext>
            </a:extLst>
          </p:cNvPr>
          <p:cNvSpPr>
            <a:spLocks noGrp="1"/>
          </p:cNvSpPr>
          <p:nvPr>
            <p:ph idx="1"/>
          </p:nvPr>
        </p:nvSpPr>
        <p:spPr>
          <a:xfrm>
            <a:off x="838200" y="1825625"/>
            <a:ext cx="10515600" cy="1317631"/>
          </a:xfrm>
        </p:spPr>
        <p:txBody>
          <a:bodyPr>
            <a:normAutofit/>
          </a:bodyPr>
          <a:lstStyle/>
          <a:p>
            <a:pPr marL="0" indent="0">
              <a:buNone/>
            </a:pPr>
            <a:r>
              <a:rPr lang="en-US" sz="2400" noProof="0" dirty="0"/>
              <a:t>“Does the </a:t>
            </a:r>
            <a:r>
              <a:rPr lang="en-US" sz="2400" noProof="0" dirty="0">
                <a:solidFill>
                  <a:srgbClr val="D0180A"/>
                </a:solidFill>
              </a:rPr>
              <a:t>length of a requirements specification </a:t>
            </a:r>
            <a:r>
              <a:rPr lang="en-US" sz="2400" noProof="0" dirty="0"/>
              <a:t>affect its </a:t>
            </a:r>
            <a:r>
              <a:rPr lang="en-US" sz="2400" noProof="0" dirty="0">
                <a:solidFill>
                  <a:srgbClr val="006D70"/>
                </a:solidFill>
              </a:rPr>
              <a:t>quality</a:t>
            </a:r>
            <a:r>
              <a:rPr lang="en-US" sz="2400" noProof="0" dirty="0"/>
              <a:t>? Both factors do affect whether the specified feature is </a:t>
            </a:r>
            <a:r>
              <a:rPr lang="en-US" sz="2400" noProof="0" dirty="0">
                <a:solidFill>
                  <a:schemeClr val="bg1">
                    <a:lumMod val="50000"/>
                  </a:schemeClr>
                </a:solidFill>
              </a:rPr>
              <a:t>implemented successfully</a:t>
            </a:r>
            <a:r>
              <a:rPr lang="en-US" sz="2400" noProof="0" dirty="0"/>
              <a:t>.”</a:t>
            </a:r>
          </a:p>
        </p:txBody>
      </p:sp>
      <p:sp>
        <p:nvSpPr>
          <p:cNvPr id="4" name="Date Placeholder 3">
            <a:extLst>
              <a:ext uri="{FF2B5EF4-FFF2-40B4-BE49-F238E27FC236}">
                <a16:creationId xmlns:a16="http://schemas.microsoft.com/office/drawing/2014/main" id="{0C22A3BD-F0B4-116D-125A-C77CB598A553}"/>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780966F1-121D-BBCE-B7AD-155CE42B9985}"/>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04243766-CAB9-D1FA-B0FF-0628C670A1E3}"/>
              </a:ext>
            </a:extLst>
          </p:cNvPr>
          <p:cNvSpPr>
            <a:spLocks noGrp="1"/>
          </p:cNvSpPr>
          <p:nvPr>
            <p:ph type="sldNum" sz="quarter" idx="12"/>
          </p:nvPr>
        </p:nvSpPr>
        <p:spPr/>
        <p:txBody>
          <a:bodyPr/>
          <a:lstStyle/>
          <a:p>
            <a:fld id="{0FA2D919-C0DE-4971-A2E9-D4AC0031921B}" type="slidenum">
              <a:rPr lang="en-US" noProof="0" smtClean="0"/>
              <a:t>23</a:t>
            </a:fld>
            <a:endParaRPr lang="en-US" noProof="0" dirty="0"/>
          </a:p>
        </p:txBody>
      </p:sp>
      <p:pic>
        <p:nvPicPr>
          <p:cNvPr id="3" name="Picture 2">
            <a:extLst>
              <a:ext uri="{FF2B5EF4-FFF2-40B4-BE49-F238E27FC236}">
                <a16:creationId xmlns:a16="http://schemas.microsoft.com/office/drawing/2014/main" id="{1E856A0E-E604-9F15-B3BA-FEE30EA3F686}"/>
              </a:ext>
            </a:extLst>
          </p:cNvPr>
          <p:cNvPicPr>
            <a:picLocks noChangeAspect="1"/>
          </p:cNvPicPr>
          <p:nvPr/>
        </p:nvPicPr>
        <p:blipFill>
          <a:blip r:embed="rId2"/>
          <a:srcRect b="1"/>
          <a:stretch>
            <a:fillRect/>
          </a:stretch>
        </p:blipFill>
        <p:spPr>
          <a:xfrm>
            <a:off x="993286" y="3143256"/>
            <a:ext cx="7852126" cy="2915677"/>
          </a:xfrm>
          <a:prstGeom prst="rect">
            <a:avLst/>
          </a:prstGeom>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286B7385-6A9A-FD62-79C3-23D98EEC5519}"/>
                  </a:ext>
                </a:extLst>
              </p:cNvPr>
              <p:cNvSpPr txBox="1"/>
              <p:nvPr/>
            </p:nvSpPr>
            <p:spPr>
              <a:xfrm>
                <a:off x="8891933" y="4462594"/>
                <a:ext cx="218053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noProof="0" smtClean="0">
                              <a:latin typeface="Cambria Math" panose="02040503050406030204" pitchFamily="18" charset="0"/>
                            </a:rPr>
                          </m:ctrlPr>
                        </m:sSubPr>
                        <m:e>
                          <m:r>
                            <a:rPr lang="en-US" b="0" i="1" noProof="0" smtClean="0">
                              <a:latin typeface="Cambria Math" panose="02040503050406030204" pitchFamily="18" charset="0"/>
                            </a:rPr>
                            <m:t>𝑚</m:t>
                          </m:r>
                        </m:e>
                        <m:sub>
                          <m:r>
                            <a:rPr lang="en-US" b="0" i="1" noProof="0" smtClean="0">
                              <a:latin typeface="Cambria Math" panose="02040503050406030204" pitchFamily="18" charset="0"/>
                            </a:rPr>
                            <m:t>2</m:t>
                          </m:r>
                        </m:sub>
                      </m:sSub>
                      <m:r>
                        <a:rPr lang="en-US" b="0" i="1" noProof="0" smtClean="0">
                          <a:latin typeface="Cambria Math" panose="02040503050406030204" pitchFamily="18" charset="0"/>
                        </a:rPr>
                        <m:t>:</m:t>
                      </m:r>
                      <m:r>
                        <a:rPr lang="en-US" b="0" i="1" noProof="0" smtClean="0">
                          <a:solidFill>
                            <a:srgbClr val="006D70"/>
                          </a:solidFill>
                          <a:latin typeface="Cambria Math" panose="02040503050406030204" pitchFamily="18" charset="0"/>
                        </a:rPr>
                        <m:t>𝑞𝑢𝑎𝑙𝑖𝑡𝑦</m:t>
                      </m:r>
                      <m:r>
                        <a:rPr lang="en-US" b="0" i="1" noProof="0" smtClean="0">
                          <a:latin typeface="Cambria Math" panose="02040503050406030204" pitchFamily="18" charset="0"/>
                        </a:rPr>
                        <m:t>~1+</m:t>
                      </m:r>
                      <m:r>
                        <a:rPr lang="en-US" b="0" i="1" noProof="0" smtClean="0">
                          <a:solidFill>
                            <a:srgbClr val="D0180A"/>
                          </a:solidFill>
                          <a:latin typeface="Cambria Math" panose="02040503050406030204" pitchFamily="18" charset="0"/>
                        </a:rPr>
                        <m:t>𝑠𝑖𝑧𝑒</m:t>
                      </m:r>
                    </m:oMath>
                  </m:oMathPara>
                </a14:m>
                <a:endParaRPr lang="en-US" noProof="0" dirty="0"/>
              </a:p>
            </p:txBody>
          </p:sp>
        </mc:Choice>
        <mc:Fallback xmlns="">
          <p:sp>
            <p:nvSpPr>
              <p:cNvPr id="2" name="TextBox 1">
                <a:extLst>
                  <a:ext uri="{FF2B5EF4-FFF2-40B4-BE49-F238E27FC236}">
                    <a16:creationId xmlns:a16="http://schemas.microsoft.com/office/drawing/2014/main" id="{286B7385-6A9A-FD62-79C3-23D98EEC5519}"/>
                  </a:ext>
                </a:extLst>
              </p:cNvPr>
              <p:cNvSpPr txBox="1">
                <a:spLocks noRot="1" noChangeAspect="1" noMove="1" noResize="1" noEditPoints="1" noAdjustHandles="1" noChangeArrowheads="1" noChangeShapeType="1" noTextEdit="1"/>
              </p:cNvSpPr>
              <p:nvPr/>
            </p:nvSpPr>
            <p:spPr>
              <a:xfrm>
                <a:off x="8891933" y="4462594"/>
                <a:ext cx="2180533" cy="276999"/>
              </a:xfrm>
              <a:prstGeom prst="rect">
                <a:avLst/>
              </a:prstGeom>
              <a:blipFill>
                <a:blip r:embed="rId9"/>
                <a:stretch>
                  <a:fillRect l="-1401" t="-2222" r="-2801" b="-35556"/>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4DC36C5A-FF1D-7CA3-354A-ABF4162B3DE1}"/>
                  </a:ext>
                </a:extLst>
              </p:cNvPr>
              <p:cNvSpPr txBox="1"/>
              <p:nvPr/>
            </p:nvSpPr>
            <p:spPr>
              <a:xfrm>
                <a:off x="8845412" y="3163674"/>
                <a:ext cx="324697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noProof="0" smtClean="0">
                              <a:latin typeface="Cambria Math" panose="02040503050406030204" pitchFamily="18" charset="0"/>
                            </a:rPr>
                          </m:ctrlPr>
                        </m:sSubPr>
                        <m:e>
                          <m:r>
                            <a:rPr lang="en-US" b="0" i="1" noProof="0" smtClean="0">
                              <a:latin typeface="Cambria Math" panose="02040503050406030204" pitchFamily="18" charset="0"/>
                            </a:rPr>
                            <m:t>𝑚</m:t>
                          </m:r>
                        </m:e>
                        <m:sub>
                          <m:r>
                            <a:rPr lang="en-US" b="0" i="1" noProof="0" smtClean="0">
                              <a:latin typeface="Cambria Math" panose="02040503050406030204" pitchFamily="18" charset="0"/>
                            </a:rPr>
                            <m:t>1</m:t>
                          </m:r>
                        </m:sub>
                      </m:sSub>
                      <m:r>
                        <a:rPr lang="en-US" b="0" i="1" noProof="0" smtClean="0">
                          <a:latin typeface="Cambria Math" panose="02040503050406030204" pitchFamily="18" charset="0"/>
                        </a:rPr>
                        <m:t>:</m:t>
                      </m:r>
                      <m:r>
                        <a:rPr lang="en-US" b="0" i="1" noProof="0" smtClean="0">
                          <a:solidFill>
                            <a:srgbClr val="006D70"/>
                          </a:solidFill>
                          <a:latin typeface="Cambria Math" panose="02040503050406030204" pitchFamily="18" charset="0"/>
                        </a:rPr>
                        <m:t>𝑞𝑢𝑎𝑙𝑖𝑡𝑦</m:t>
                      </m:r>
                      <m:r>
                        <a:rPr lang="en-US" b="0" i="1" noProof="0" smtClean="0">
                          <a:latin typeface="Cambria Math" panose="02040503050406030204" pitchFamily="18" charset="0"/>
                        </a:rPr>
                        <m:t>~1+</m:t>
                      </m:r>
                      <m:r>
                        <a:rPr lang="en-US" b="0" i="1" noProof="0" smtClean="0">
                          <a:solidFill>
                            <a:srgbClr val="D0180A"/>
                          </a:solidFill>
                          <a:latin typeface="Cambria Math" panose="02040503050406030204" pitchFamily="18" charset="0"/>
                        </a:rPr>
                        <m:t>𝑠𝑖𝑧𝑒</m:t>
                      </m:r>
                      <m:r>
                        <a:rPr lang="en-US" b="0" i="1" noProof="0" smtClean="0">
                          <a:latin typeface="Cambria Math" panose="02040503050406030204" pitchFamily="18" charset="0"/>
                        </a:rPr>
                        <m:t>+</m:t>
                      </m:r>
                      <m:r>
                        <a:rPr lang="en-US" b="0" i="1" noProof="0" smtClean="0">
                          <a:solidFill>
                            <a:schemeClr val="bg1">
                              <a:lumMod val="50000"/>
                            </a:schemeClr>
                          </a:solidFill>
                          <a:latin typeface="Cambria Math" panose="02040503050406030204" pitchFamily="18" charset="0"/>
                        </a:rPr>
                        <m:t>𝑠𝑢𝑐𝑐𝑒𝑠𝑠</m:t>
                      </m:r>
                    </m:oMath>
                  </m:oMathPara>
                </a14:m>
                <a:endParaRPr lang="en-US" noProof="0" dirty="0"/>
              </a:p>
            </p:txBody>
          </p:sp>
        </mc:Choice>
        <mc:Fallback xmlns="">
          <p:sp>
            <p:nvSpPr>
              <p:cNvPr id="9" name="TextBox 8">
                <a:extLst>
                  <a:ext uri="{FF2B5EF4-FFF2-40B4-BE49-F238E27FC236}">
                    <a16:creationId xmlns:a16="http://schemas.microsoft.com/office/drawing/2014/main" id="{4DC36C5A-FF1D-7CA3-354A-ABF4162B3DE1}"/>
                  </a:ext>
                </a:extLst>
              </p:cNvPr>
              <p:cNvSpPr txBox="1">
                <a:spLocks noRot="1" noChangeAspect="1" noMove="1" noResize="1" noEditPoints="1" noAdjustHandles="1" noChangeArrowheads="1" noChangeShapeType="1" noTextEdit="1"/>
              </p:cNvSpPr>
              <p:nvPr/>
            </p:nvSpPr>
            <p:spPr>
              <a:xfrm>
                <a:off x="8845412" y="3163674"/>
                <a:ext cx="3246979" cy="276999"/>
              </a:xfrm>
              <a:prstGeom prst="rect">
                <a:avLst/>
              </a:prstGeom>
              <a:blipFill>
                <a:blip r:embed="rId10"/>
                <a:stretch>
                  <a:fillRect l="-563" t="-2222" r="-563" b="-35556"/>
                </a:stretch>
              </a:blipFill>
            </p:spPr>
            <p:txBody>
              <a:bodyPr/>
              <a:lstStyle/>
              <a:p>
                <a:r>
                  <a:rPr lang="en-SE">
                    <a:noFill/>
                  </a:rPr>
                  <a:t> </a:t>
                </a:r>
              </a:p>
            </p:txBody>
          </p:sp>
        </mc:Fallback>
      </mc:AlternateContent>
    </p:spTree>
    <p:extLst>
      <p:ext uri="{BB962C8B-B14F-4D97-AF65-F5344CB8AC3E}">
        <p14:creationId xmlns:p14="http://schemas.microsoft.com/office/powerpoint/2010/main" val="11509397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73AC6D-FD56-99BB-45EF-7D395D7A69EF}"/>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AC3289E8-418C-AD07-A144-82F4A346F486}"/>
              </a:ext>
            </a:extLst>
          </p:cNvPr>
          <p:cNvSpPr>
            <a:spLocks noGrp="1"/>
          </p:cNvSpPr>
          <p:nvPr>
            <p:ph type="title"/>
          </p:nvPr>
        </p:nvSpPr>
        <p:spPr/>
        <p:txBody>
          <a:bodyPr/>
          <a:lstStyle/>
          <a:p>
            <a:r>
              <a:rPr lang="en-US" noProof="0" dirty="0"/>
              <a:t>Colliding: Common Effects</a:t>
            </a:r>
          </a:p>
        </p:txBody>
      </p:sp>
      <p:sp>
        <p:nvSpPr>
          <p:cNvPr id="8" name="Content Placeholder 7">
            <a:extLst>
              <a:ext uri="{FF2B5EF4-FFF2-40B4-BE49-F238E27FC236}">
                <a16:creationId xmlns:a16="http://schemas.microsoft.com/office/drawing/2014/main" id="{F7116176-4D08-11D7-6CA1-D543E2F9D8D6}"/>
              </a:ext>
            </a:extLst>
          </p:cNvPr>
          <p:cNvSpPr>
            <a:spLocks noGrp="1"/>
          </p:cNvSpPr>
          <p:nvPr>
            <p:ph idx="1"/>
          </p:nvPr>
        </p:nvSpPr>
        <p:spPr>
          <a:xfrm>
            <a:off x="838200" y="1825625"/>
            <a:ext cx="10515600" cy="1317631"/>
          </a:xfrm>
        </p:spPr>
        <p:txBody>
          <a:bodyPr>
            <a:normAutofit/>
          </a:bodyPr>
          <a:lstStyle/>
          <a:p>
            <a:pPr marL="0" indent="0">
              <a:buNone/>
            </a:pPr>
            <a:r>
              <a:rPr lang="en-US" sz="2400" noProof="0" dirty="0"/>
              <a:t>“Does the </a:t>
            </a:r>
            <a:r>
              <a:rPr lang="en-US" sz="2400" noProof="0" dirty="0">
                <a:solidFill>
                  <a:srgbClr val="D0180A"/>
                </a:solidFill>
              </a:rPr>
              <a:t>length of a requirements specification </a:t>
            </a:r>
            <a:r>
              <a:rPr lang="en-US" sz="2400" noProof="0" dirty="0"/>
              <a:t>affect its </a:t>
            </a:r>
            <a:r>
              <a:rPr lang="en-US" sz="2400" noProof="0" dirty="0">
                <a:solidFill>
                  <a:srgbClr val="006D70"/>
                </a:solidFill>
              </a:rPr>
              <a:t>quality</a:t>
            </a:r>
            <a:r>
              <a:rPr lang="en-US" sz="2400" noProof="0" dirty="0"/>
              <a:t>? Both factors do affect whether the specified feature is </a:t>
            </a:r>
            <a:r>
              <a:rPr lang="en-US" sz="2400" noProof="0" dirty="0">
                <a:solidFill>
                  <a:schemeClr val="bg1">
                    <a:lumMod val="50000"/>
                  </a:schemeClr>
                </a:solidFill>
              </a:rPr>
              <a:t>implemented successfully</a:t>
            </a:r>
            <a:r>
              <a:rPr lang="en-US" sz="2400" noProof="0" dirty="0"/>
              <a:t>.”</a:t>
            </a:r>
          </a:p>
        </p:txBody>
      </p:sp>
      <p:sp>
        <p:nvSpPr>
          <p:cNvPr id="4" name="Date Placeholder 3">
            <a:extLst>
              <a:ext uri="{FF2B5EF4-FFF2-40B4-BE49-F238E27FC236}">
                <a16:creationId xmlns:a16="http://schemas.microsoft.com/office/drawing/2014/main" id="{EA71E1AE-5B71-5FCC-0DDF-D27DCEFB04BE}"/>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B6175B06-CB77-7998-2CB3-0056E88EF001}"/>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159EBABA-373C-E437-135F-B503957FAEBD}"/>
              </a:ext>
            </a:extLst>
          </p:cNvPr>
          <p:cNvSpPr>
            <a:spLocks noGrp="1"/>
          </p:cNvSpPr>
          <p:nvPr>
            <p:ph type="sldNum" sz="quarter" idx="12"/>
          </p:nvPr>
        </p:nvSpPr>
        <p:spPr/>
        <p:txBody>
          <a:bodyPr/>
          <a:lstStyle/>
          <a:p>
            <a:fld id="{0FA2D919-C0DE-4971-A2E9-D4AC0031921B}" type="slidenum">
              <a:rPr lang="en-US" noProof="0" smtClean="0"/>
              <a:t>24</a:t>
            </a:fld>
            <a:endParaRPr lang="en-US" noProof="0" dirty="0"/>
          </a:p>
        </p:txBody>
      </p:sp>
      <p:grpSp>
        <p:nvGrpSpPr>
          <p:cNvPr id="16" name="Group 15">
            <a:extLst>
              <a:ext uri="{FF2B5EF4-FFF2-40B4-BE49-F238E27FC236}">
                <a16:creationId xmlns:a16="http://schemas.microsoft.com/office/drawing/2014/main" id="{C8D4E8BA-FDA5-8BEF-C09E-F3A2F146E3B7}"/>
              </a:ext>
            </a:extLst>
          </p:cNvPr>
          <p:cNvGrpSpPr/>
          <p:nvPr/>
        </p:nvGrpSpPr>
        <p:grpSpPr>
          <a:xfrm>
            <a:off x="4808088" y="3678745"/>
            <a:ext cx="2563289" cy="432000"/>
            <a:chOff x="4604412" y="1893985"/>
            <a:chExt cx="2563289" cy="432000"/>
          </a:xfrm>
        </p:grpSpPr>
        <p:sp>
          <p:nvSpPr>
            <p:cNvPr id="17" name="Arrow: Pentagon 16">
              <a:extLst>
                <a:ext uri="{FF2B5EF4-FFF2-40B4-BE49-F238E27FC236}">
                  <a16:creationId xmlns:a16="http://schemas.microsoft.com/office/drawing/2014/main" id="{D08446F8-3D19-B1DA-9814-EE377BBA673B}"/>
                </a:ext>
              </a:extLst>
            </p:cNvPr>
            <p:cNvSpPr/>
            <p:nvPr/>
          </p:nvSpPr>
          <p:spPr>
            <a:xfrm>
              <a:off x="4604412" y="1893985"/>
              <a:ext cx="2563289" cy="432000"/>
            </a:xfrm>
            <a:prstGeom prst="homePlate">
              <a:avLst/>
            </a:prstGeom>
            <a:solidFill>
              <a:schemeClr val="accent4">
                <a:lumMod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432000" rtlCol="0" anchor="ctr"/>
            <a:lstStyle/>
            <a:p>
              <a:r>
                <a:rPr lang="en-US" noProof="0" dirty="0"/>
                <a:t>Model Derivation</a:t>
              </a:r>
            </a:p>
          </p:txBody>
        </p:sp>
        <p:pic>
          <p:nvPicPr>
            <p:cNvPr id="18" name="Graphic 17" descr="Connections with solid fill">
              <a:extLst>
                <a:ext uri="{FF2B5EF4-FFF2-40B4-BE49-F238E27FC236}">
                  <a16:creationId xmlns:a16="http://schemas.microsoft.com/office/drawing/2014/main" id="{30B44D3A-1B46-FB1F-D56E-2487A70510D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664301" y="1929985"/>
              <a:ext cx="360000" cy="360000"/>
            </a:xfrm>
            <a:prstGeom prst="rect">
              <a:avLst/>
            </a:prstGeom>
          </p:spPr>
        </p:pic>
      </p:gr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C8A88B5C-38D1-13E9-4ABB-59A7232D28C5}"/>
                  </a:ext>
                </a:extLst>
              </p:cNvPr>
              <p:cNvSpPr txBox="1"/>
              <p:nvPr/>
            </p:nvSpPr>
            <p:spPr>
              <a:xfrm>
                <a:off x="7602992" y="3361158"/>
                <a:ext cx="324165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trike="sngStrike" noProof="0" smtClean="0">
                              <a:solidFill>
                                <a:schemeClr val="bg1">
                                  <a:lumMod val="85000"/>
                                </a:schemeClr>
                              </a:solidFill>
                              <a:latin typeface="Cambria Math" panose="02040503050406030204" pitchFamily="18" charset="0"/>
                            </a:rPr>
                          </m:ctrlPr>
                        </m:sSubPr>
                        <m:e>
                          <m:r>
                            <a:rPr lang="en-US" b="0" i="1" strike="sngStrike" noProof="0" smtClean="0">
                              <a:solidFill>
                                <a:schemeClr val="bg1">
                                  <a:lumMod val="85000"/>
                                </a:schemeClr>
                              </a:solidFill>
                              <a:latin typeface="Cambria Math" panose="02040503050406030204" pitchFamily="18" charset="0"/>
                            </a:rPr>
                            <m:t>𝑚</m:t>
                          </m:r>
                        </m:e>
                        <m:sub>
                          <m:r>
                            <a:rPr lang="en-US" b="0" i="1" strike="sngStrike" noProof="0" smtClean="0">
                              <a:solidFill>
                                <a:schemeClr val="bg1">
                                  <a:lumMod val="85000"/>
                                </a:schemeClr>
                              </a:solidFill>
                              <a:latin typeface="Cambria Math" panose="02040503050406030204" pitchFamily="18" charset="0"/>
                            </a:rPr>
                            <m:t>1</m:t>
                          </m:r>
                        </m:sub>
                      </m:sSub>
                      <m:r>
                        <a:rPr lang="en-US" b="0" i="1" strike="sngStrike" noProof="0" smtClean="0">
                          <a:solidFill>
                            <a:schemeClr val="bg1">
                              <a:lumMod val="85000"/>
                            </a:schemeClr>
                          </a:solidFill>
                          <a:latin typeface="Cambria Math" panose="02040503050406030204" pitchFamily="18" charset="0"/>
                        </a:rPr>
                        <m:t>:</m:t>
                      </m:r>
                      <m:r>
                        <a:rPr lang="en-US" b="0" i="1" strike="sngStrike" noProof="0" smtClean="0">
                          <a:solidFill>
                            <a:srgbClr val="00BFC4"/>
                          </a:solidFill>
                          <a:latin typeface="Cambria Math" panose="02040503050406030204" pitchFamily="18" charset="0"/>
                        </a:rPr>
                        <m:t>𝑞𝑢𝑎𝑙𝑖𝑡𝑦</m:t>
                      </m:r>
                      <m:r>
                        <a:rPr lang="en-US" b="0" i="1" strike="sngStrike" noProof="0" smtClean="0">
                          <a:solidFill>
                            <a:schemeClr val="bg1">
                              <a:lumMod val="85000"/>
                            </a:schemeClr>
                          </a:solidFill>
                          <a:latin typeface="Cambria Math" panose="02040503050406030204" pitchFamily="18" charset="0"/>
                        </a:rPr>
                        <m:t>~1+</m:t>
                      </m:r>
                      <m:r>
                        <a:rPr lang="en-US" b="0" i="1" strike="sngStrike" noProof="0" smtClean="0">
                          <a:solidFill>
                            <a:srgbClr val="F8766D"/>
                          </a:solidFill>
                          <a:latin typeface="Cambria Math" panose="02040503050406030204" pitchFamily="18" charset="0"/>
                        </a:rPr>
                        <m:t>𝑠𝑖𝑧𝑒</m:t>
                      </m:r>
                      <m:r>
                        <a:rPr lang="en-US" i="1" strike="sngStrike" noProof="0" smtClean="0">
                          <a:solidFill>
                            <a:schemeClr val="bg1">
                              <a:lumMod val="85000"/>
                            </a:schemeClr>
                          </a:solidFill>
                          <a:latin typeface="Cambria Math" panose="02040503050406030204" pitchFamily="18" charset="0"/>
                        </a:rPr>
                        <m:t>+</m:t>
                      </m:r>
                      <m:r>
                        <a:rPr lang="en-US" b="0" i="1" strike="sngStrike" noProof="0" smtClean="0">
                          <a:solidFill>
                            <a:schemeClr val="bg1">
                              <a:lumMod val="50000"/>
                            </a:schemeClr>
                          </a:solidFill>
                          <a:latin typeface="Cambria Math" panose="02040503050406030204" pitchFamily="18" charset="0"/>
                        </a:rPr>
                        <m:t>𝑠𝑢𝑐𝑐𝑒𝑠𝑠</m:t>
                      </m:r>
                    </m:oMath>
                  </m:oMathPara>
                </a14:m>
                <a:endParaRPr lang="en-US" strike="sngStrike" noProof="0" dirty="0"/>
              </a:p>
            </p:txBody>
          </p:sp>
        </mc:Choice>
        <mc:Fallback xmlns="">
          <p:sp>
            <p:nvSpPr>
              <p:cNvPr id="19" name="TextBox 18">
                <a:extLst>
                  <a:ext uri="{FF2B5EF4-FFF2-40B4-BE49-F238E27FC236}">
                    <a16:creationId xmlns:a16="http://schemas.microsoft.com/office/drawing/2014/main" id="{C8A88B5C-38D1-13E9-4ABB-59A7232D28C5}"/>
                  </a:ext>
                </a:extLst>
              </p:cNvPr>
              <p:cNvSpPr txBox="1">
                <a:spLocks noRot="1" noChangeAspect="1" noMove="1" noResize="1" noEditPoints="1" noAdjustHandles="1" noChangeArrowheads="1" noChangeShapeType="1" noTextEdit="1"/>
              </p:cNvSpPr>
              <p:nvPr/>
            </p:nvSpPr>
            <p:spPr>
              <a:xfrm>
                <a:off x="7602992" y="3361158"/>
                <a:ext cx="3241657" cy="276999"/>
              </a:xfrm>
              <a:prstGeom prst="rect">
                <a:avLst/>
              </a:prstGeom>
              <a:blipFill>
                <a:blip r:embed="rId10"/>
                <a:stretch>
                  <a:fillRect l="-752" t="-2174" r="-752" b="-32609"/>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3477CFBB-21B7-199F-D6B8-C88A2CFA1939}"/>
                  </a:ext>
                </a:extLst>
              </p:cNvPr>
              <p:cNvSpPr txBox="1"/>
              <p:nvPr/>
            </p:nvSpPr>
            <p:spPr>
              <a:xfrm>
                <a:off x="7602992" y="3932647"/>
                <a:ext cx="218585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noProof="0" smtClean="0">
                              <a:latin typeface="Cambria Math" panose="02040503050406030204" pitchFamily="18" charset="0"/>
                            </a:rPr>
                          </m:ctrlPr>
                        </m:sSubPr>
                        <m:e>
                          <m:r>
                            <a:rPr lang="en-US" b="0" i="1" noProof="0" smtClean="0">
                              <a:latin typeface="Cambria Math" panose="02040503050406030204" pitchFamily="18" charset="0"/>
                            </a:rPr>
                            <m:t>𝑚</m:t>
                          </m:r>
                        </m:e>
                        <m:sub>
                          <m:r>
                            <a:rPr lang="en-US" b="0" i="1" noProof="0" smtClean="0">
                              <a:latin typeface="Cambria Math" panose="02040503050406030204" pitchFamily="18" charset="0"/>
                            </a:rPr>
                            <m:t>2</m:t>
                          </m:r>
                        </m:sub>
                      </m:sSub>
                      <m:r>
                        <a:rPr lang="en-US" b="0" i="1" noProof="0" smtClean="0">
                          <a:latin typeface="Cambria Math" panose="02040503050406030204" pitchFamily="18" charset="0"/>
                        </a:rPr>
                        <m:t>:</m:t>
                      </m:r>
                      <m:r>
                        <a:rPr lang="en-US" b="0" i="1" noProof="0" smtClean="0">
                          <a:solidFill>
                            <a:srgbClr val="006D70"/>
                          </a:solidFill>
                          <a:latin typeface="Cambria Math" panose="02040503050406030204" pitchFamily="18" charset="0"/>
                        </a:rPr>
                        <m:t>𝑞𝑢𝑎𝑙𝑖𝑡𝑦</m:t>
                      </m:r>
                      <m:r>
                        <a:rPr lang="en-US" b="0" i="1" noProof="0" smtClean="0">
                          <a:latin typeface="Cambria Math" panose="02040503050406030204" pitchFamily="18" charset="0"/>
                        </a:rPr>
                        <m:t>~1+</m:t>
                      </m:r>
                      <m:r>
                        <a:rPr lang="en-US" b="0" i="1" noProof="0" smtClean="0">
                          <a:solidFill>
                            <a:srgbClr val="D0180A"/>
                          </a:solidFill>
                          <a:latin typeface="Cambria Math" panose="02040503050406030204" pitchFamily="18" charset="0"/>
                        </a:rPr>
                        <m:t>𝑠𝑖𝑧𝑒</m:t>
                      </m:r>
                    </m:oMath>
                  </m:oMathPara>
                </a14:m>
                <a:endParaRPr lang="en-US" noProof="0" dirty="0"/>
              </a:p>
            </p:txBody>
          </p:sp>
        </mc:Choice>
        <mc:Fallback xmlns="">
          <p:sp>
            <p:nvSpPr>
              <p:cNvPr id="20" name="TextBox 19">
                <a:extLst>
                  <a:ext uri="{FF2B5EF4-FFF2-40B4-BE49-F238E27FC236}">
                    <a16:creationId xmlns:a16="http://schemas.microsoft.com/office/drawing/2014/main" id="{3477CFBB-21B7-199F-D6B8-C88A2CFA1939}"/>
                  </a:ext>
                </a:extLst>
              </p:cNvPr>
              <p:cNvSpPr txBox="1">
                <a:spLocks noRot="1" noChangeAspect="1" noMove="1" noResize="1" noEditPoints="1" noAdjustHandles="1" noChangeArrowheads="1" noChangeShapeType="1" noTextEdit="1"/>
              </p:cNvSpPr>
              <p:nvPr/>
            </p:nvSpPr>
            <p:spPr>
              <a:xfrm>
                <a:off x="7602992" y="3932647"/>
                <a:ext cx="2185855" cy="276999"/>
              </a:xfrm>
              <a:prstGeom prst="rect">
                <a:avLst/>
              </a:prstGeom>
              <a:blipFill>
                <a:blip r:embed="rId11"/>
                <a:stretch>
                  <a:fillRect l="-1393" t="-2174" r="-2228" b="-32609"/>
                </a:stretch>
              </a:blipFill>
            </p:spPr>
            <p:txBody>
              <a:bodyPr/>
              <a:lstStyle/>
              <a:p>
                <a:r>
                  <a:rPr lang="en-SE">
                    <a:noFill/>
                  </a:rPr>
                  <a:t> </a:t>
                </a:r>
              </a:p>
            </p:txBody>
          </p:sp>
        </mc:Fallback>
      </mc:AlternateContent>
      <p:grpSp>
        <p:nvGrpSpPr>
          <p:cNvPr id="21" name="Group 20">
            <a:extLst>
              <a:ext uri="{FF2B5EF4-FFF2-40B4-BE49-F238E27FC236}">
                <a16:creationId xmlns:a16="http://schemas.microsoft.com/office/drawing/2014/main" id="{10D81A56-66A1-94BD-DB44-647454877D26}"/>
              </a:ext>
            </a:extLst>
          </p:cNvPr>
          <p:cNvGrpSpPr/>
          <p:nvPr/>
        </p:nvGrpSpPr>
        <p:grpSpPr>
          <a:xfrm>
            <a:off x="838200" y="5248387"/>
            <a:ext cx="10515599" cy="946595"/>
            <a:chOff x="775411" y="5230368"/>
            <a:chExt cx="10515599" cy="946595"/>
          </a:xfrm>
        </p:grpSpPr>
        <p:sp>
          <p:nvSpPr>
            <p:cNvPr id="22" name="Rectangle: Rounded Corners 21">
              <a:extLst>
                <a:ext uri="{FF2B5EF4-FFF2-40B4-BE49-F238E27FC236}">
                  <a16:creationId xmlns:a16="http://schemas.microsoft.com/office/drawing/2014/main" id="{DB7A3BA9-62A9-C722-FF83-B7D0BA1B35E9}"/>
                </a:ext>
              </a:extLst>
            </p:cNvPr>
            <p:cNvSpPr/>
            <p:nvPr/>
          </p:nvSpPr>
          <p:spPr>
            <a:xfrm>
              <a:off x="775411" y="5230368"/>
              <a:ext cx="10515599" cy="946595"/>
            </a:xfrm>
            <a:prstGeom prst="roundRect">
              <a:avLst/>
            </a:prstGeom>
            <a:solidFill>
              <a:schemeClr val="tx2"/>
            </a:solidFill>
            <a:ln>
              <a:solidFill>
                <a:schemeClr val="tx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612000" rtlCol="0" anchor="ctr"/>
            <a:lstStyle/>
            <a:p>
              <a:r>
                <a:rPr lang="en-US" noProof="0" dirty="0"/>
                <a:t>If both treatment and outcome have a common effect, we must not condition on this common effect. Consequently, we cannot simply add </a:t>
              </a:r>
              <a:r>
                <a:rPr lang="en-US" i="1" noProof="0" dirty="0"/>
                <a:t>all</a:t>
              </a:r>
              <a:r>
                <a:rPr lang="en-US" noProof="0" dirty="0"/>
                <a:t> relevant variables as predictors.</a:t>
              </a:r>
            </a:p>
          </p:txBody>
        </p:sp>
        <p:pic>
          <p:nvPicPr>
            <p:cNvPr id="23" name="Graphic 22" descr="Open quotation mark with solid fill">
              <a:extLst>
                <a:ext uri="{FF2B5EF4-FFF2-40B4-BE49-F238E27FC236}">
                  <a16:creationId xmlns:a16="http://schemas.microsoft.com/office/drawing/2014/main" id="{0BC65A9F-7394-B909-5E8D-CD23F976309A}"/>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rot="10800000">
              <a:off x="775412" y="5343665"/>
              <a:ext cx="720000" cy="720000"/>
            </a:xfrm>
            <a:prstGeom prst="rect">
              <a:avLst/>
            </a:prstGeom>
          </p:spPr>
        </p:pic>
      </p:grpSp>
      <p:grpSp>
        <p:nvGrpSpPr>
          <p:cNvPr id="38" name="Group 37">
            <a:extLst>
              <a:ext uri="{FF2B5EF4-FFF2-40B4-BE49-F238E27FC236}">
                <a16:creationId xmlns:a16="http://schemas.microsoft.com/office/drawing/2014/main" id="{6B3BE524-9911-794C-0975-E5D06C6AF7D9}"/>
              </a:ext>
            </a:extLst>
          </p:cNvPr>
          <p:cNvGrpSpPr/>
          <p:nvPr/>
        </p:nvGrpSpPr>
        <p:grpSpPr>
          <a:xfrm>
            <a:off x="728502" y="2899263"/>
            <a:ext cx="4319475" cy="1990963"/>
            <a:chOff x="666492" y="3429000"/>
            <a:chExt cx="4319475" cy="1990963"/>
          </a:xfrm>
        </p:grpSpPr>
        <p:sp>
          <p:nvSpPr>
            <p:cNvPr id="29" name="Oval 28">
              <a:extLst>
                <a:ext uri="{FF2B5EF4-FFF2-40B4-BE49-F238E27FC236}">
                  <a16:creationId xmlns:a16="http://schemas.microsoft.com/office/drawing/2014/main" id="{81931A43-BA82-2FDE-BFDC-74E868F39802}"/>
                </a:ext>
              </a:extLst>
            </p:cNvPr>
            <p:cNvSpPr/>
            <p:nvPr/>
          </p:nvSpPr>
          <p:spPr>
            <a:xfrm>
              <a:off x="1157256" y="3888332"/>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0" name="Oval 29">
              <a:extLst>
                <a:ext uri="{FF2B5EF4-FFF2-40B4-BE49-F238E27FC236}">
                  <a16:creationId xmlns:a16="http://schemas.microsoft.com/office/drawing/2014/main" id="{28DCB918-5FAF-EC86-956D-F2D84919E23A}"/>
                </a:ext>
              </a:extLst>
            </p:cNvPr>
            <p:cNvSpPr/>
            <p:nvPr/>
          </p:nvSpPr>
          <p:spPr>
            <a:xfrm>
              <a:off x="3648636" y="3888332"/>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31" name="Straight Arrow Connector 30">
              <a:extLst>
                <a:ext uri="{FF2B5EF4-FFF2-40B4-BE49-F238E27FC236}">
                  <a16:creationId xmlns:a16="http://schemas.microsoft.com/office/drawing/2014/main" id="{37A14433-7377-3425-E3E0-2B3D969AC668}"/>
                </a:ext>
              </a:extLst>
            </p:cNvPr>
            <p:cNvCxnSpPr>
              <a:stCxn id="29" idx="6"/>
              <a:endCxn id="30" idx="2"/>
            </p:cNvCxnSpPr>
            <p:nvPr/>
          </p:nvCxnSpPr>
          <p:spPr>
            <a:xfrm>
              <a:off x="1517256" y="4068332"/>
              <a:ext cx="21313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2" name="TextBox 31">
              <a:extLst>
                <a:ext uri="{FF2B5EF4-FFF2-40B4-BE49-F238E27FC236}">
                  <a16:creationId xmlns:a16="http://schemas.microsoft.com/office/drawing/2014/main" id="{07A56669-0FB4-11A5-5F6C-ED3BA497DCF6}"/>
                </a:ext>
              </a:extLst>
            </p:cNvPr>
            <p:cNvSpPr txBox="1"/>
            <p:nvPr/>
          </p:nvSpPr>
          <p:spPr>
            <a:xfrm>
              <a:off x="666492" y="3429000"/>
              <a:ext cx="1905843" cy="369332"/>
            </a:xfrm>
            <a:prstGeom prst="rect">
              <a:avLst/>
            </a:prstGeom>
            <a:noFill/>
          </p:spPr>
          <p:txBody>
            <a:bodyPr wrap="none" rtlCol="0">
              <a:spAutoFit/>
            </a:bodyPr>
            <a:lstStyle/>
            <a:p>
              <a:r>
                <a:rPr lang="en-US" noProof="0" dirty="0">
                  <a:solidFill>
                    <a:srgbClr val="D0180A"/>
                  </a:solidFill>
                </a:rPr>
                <a:t>specification size</a:t>
              </a:r>
            </a:p>
          </p:txBody>
        </p:sp>
        <p:sp>
          <p:nvSpPr>
            <p:cNvPr id="33" name="TextBox 32">
              <a:extLst>
                <a:ext uri="{FF2B5EF4-FFF2-40B4-BE49-F238E27FC236}">
                  <a16:creationId xmlns:a16="http://schemas.microsoft.com/office/drawing/2014/main" id="{D25B75A1-1C1A-6454-DF7B-B31FFEE90C9E}"/>
                </a:ext>
              </a:extLst>
            </p:cNvPr>
            <p:cNvSpPr txBox="1"/>
            <p:nvPr/>
          </p:nvSpPr>
          <p:spPr>
            <a:xfrm>
              <a:off x="2791327" y="3432289"/>
              <a:ext cx="2194640" cy="369332"/>
            </a:xfrm>
            <a:prstGeom prst="rect">
              <a:avLst/>
            </a:prstGeom>
            <a:noFill/>
          </p:spPr>
          <p:txBody>
            <a:bodyPr wrap="none" rtlCol="0">
              <a:spAutoFit/>
            </a:bodyPr>
            <a:lstStyle/>
            <a:p>
              <a:r>
                <a:rPr lang="en-US" noProof="0" dirty="0">
                  <a:solidFill>
                    <a:srgbClr val="006D70"/>
                  </a:solidFill>
                </a:rPr>
                <a:t>specification quality</a:t>
              </a:r>
            </a:p>
          </p:txBody>
        </p:sp>
        <p:sp>
          <p:nvSpPr>
            <p:cNvPr id="34" name="Oval 33">
              <a:extLst>
                <a:ext uri="{FF2B5EF4-FFF2-40B4-BE49-F238E27FC236}">
                  <a16:creationId xmlns:a16="http://schemas.microsoft.com/office/drawing/2014/main" id="{DD757184-5752-D2B0-DBB3-71731AEB966C}"/>
                </a:ext>
              </a:extLst>
            </p:cNvPr>
            <p:cNvSpPr/>
            <p:nvPr/>
          </p:nvSpPr>
          <p:spPr>
            <a:xfrm>
              <a:off x="2402946" y="5059963"/>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5" name="TextBox 34">
              <a:extLst>
                <a:ext uri="{FF2B5EF4-FFF2-40B4-BE49-F238E27FC236}">
                  <a16:creationId xmlns:a16="http://schemas.microsoft.com/office/drawing/2014/main" id="{5BF220C6-9E3F-720B-4EDC-7596F4B422A7}"/>
                </a:ext>
              </a:extLst>
            </p:cNvPr>
            <p:cNvSpPr txBox="1"/>
            <p:nvPr/>
          </p:nvSpPr>
          <p:spPr>
            <a:xfrm>
              <a:off x="2791327" y="5050631"/>
              <a:ext cx="1822807" cy="369332"/>
            </a:xfrm>
            <a:prstGeom prst="rect">
              <a:avLst/>
            </a:prstGeom>
            <a:noFill/>
          </p:spPr>
          <p:txBody>
            <a:bodyPr wrap="none" rtlCol="0">
              <a:spAutoFit/>
            </a:bodyPr>
            <a:lstStyle/>
            <a:p>
              <a:r>
                <a:rPr lang="en-US" noProof="0" dirty="0">
                  <a:solidFill>
                    <a:schemeClr val="tx1">
                      <a:lumMod val="65000"/>
                      <a:lumOff val="35000"/>
                    </a:schemeClr>
                  </a:solidFill>
                </a:rPr>
                <a:t>feature success</a:t>
              </a:r>
            </a:p>
          </p:txBody>
        </p:sp>
        <p:cxnSp>
          <p:nvCxnSpPr>
            <p:cNvPr id="36" name="Straight Arrow Connector 35">
              <a:extLst>
                <a:ext uri="{FF2B5EF4-FFF2-40B4-BE49-F238E27FC236}">
                  <a16:creationId xmlns:a16="http://schemas.microsoft.com/office/drawing/2014/main" id="{09C5C728-AA05-110A-BC93-97260B3DCB39}"/>
                </a:ext>
              </a:extLst>
            </p:cNvPr>
            <p:cNvCxnSpPr>
              <a:cxnSpLocks/>
              <a:stCxn id="30" idx="3"/>
              <a:endCxn id="34" idx="7"/>
            </p:cNvCxnSpPr>
            <p:nvPr/>
          </p:nvCxnSpPr>
          <p:spPr>
            <a:xfrm flipH="1">
              <a:off x="2710225" y="4195611"/>
              <a:ext cx="991132" cy="91707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7" name="Straight Arrow Connector 36">
              <a:extLst>
                <a:ext uri="{FF2B5EF4-FFF2-40B4-BE49-F238E27FC236}">
                  <a16:creationId xmlns:a16="http://schemas.microsoft.com/office/drawing/2014/main" id="{6C54813C-E9EB-905A-95EF-6F247C054184}"/>
                </a:ext>
              </a:extLst>
            </p:cNvPr>
            <p:cNvCxnSpPr>
              <a:cxnSpLocks/>
              <a:stCxn id="29" idx="5"/>
              <a:endCxn id="34" idx="1"/>
            </p:cNvCxnSpPr>
            <p:nvPr/>
          </p:nvCxnSpPr>
          <p:spPr>
            <a:xfrm>
              <a:off x="1464535" y="4195611"/>
              <a:ext cx="991132" cy="91707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spTree>
    <p:extLst>
      <p:ext uri="{BB962C8B-B14F-4D97-AF65-F5344CB8AC3E}">
        <p14:creationId xmlns:p14="http://schemas.microsoft.com/office/powerpoint/2010/main" val="41215220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E4D984-D518-32C9-4EF5-CA5E0B845B8F}"/>
              </a:ext>
            </a:extLst>
          </p:cNvPr>
          <p:cNvSpPr>
            <a:spLocks noGrp="1"/>
          </p:cNvSpPr>
          <p:nvPr>
            <p:ph type="title"/>
          </p:nvPr>
        </p:nvSpPr>
        <p:spPr/>
        <p:txBody>
          <a:bodyPr/>
          <a:lstStyle/>
          <a:p>
            <a:r>
              <a:rPr lang="en-US" noProof="0" dirty="0"/>
              <a:t>Basic Types of Association</a:t>
            </a:r>
          </a:p>
        </p:txBody>
      </p:sp>
      <p:sp>
        <p:nvSpPr>
          <p:cNvPr id="3" name="Content Placeholder 2">
            <a:extLst>
              <a:ext uri="{FF2B5EF4-FFF2-40B4-BE49-F238E27FC236}">
                <a16:creationId xmlns:a16="http://schemas.microsoft.com/office/drawing/2014/main" id="{DF62D629-A6BE-16A9-EF3B-B8F19B1A3515}"/>
              </a:ext>
            </a:extLst>
          </p:cNvPr>
          <p:cNvSpPr>
            <a:spLocks noGrp="1"/>
          </p:cNvSpPr>
          <p:nvPr>
            <p:ph idx="1"/>
          </p:nvPr>
        </p:nvSpPr>
        <p:spPr>
          <a:xfrm>
            <a:off x="838200" y="1756428"/>
            <a:ext cx="10515600" cy="1055998"/>
          </a:xfrm>
        </p:spPr>
        <p:txBody>
          <a:bodyPr/>
          <a:lstStyle/>
          <a:p>
            <a:pPr marL="0" indent="0">
              <a:buNone/>
            </a:pPr>
            <a:r>
              <a:rPr lang="en-US" noProof="0" dirty="0"/>
              <a:t>The three basic types of association behave differently when statistically controlling for the third variable:</a:t>
            </a:r>
          </a:p>
        </p:txBody>
      </p:sp>
      <p:sp>
        <p:nvSpPr>
          <p:cNvPr id="4" name="Date Placeholder 3">
            <a:extLst>
              <a:ext uri="{FF2B5EF4-FFF2-40B4-BE49-F238E27FC236}">
                <a16:creationId xmlns:a16="http://schemas.microsoft.com/office/drawing/2014/main" id="{DC513192-8CE3-79D8-EAB3-35D97F68A109}"/>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84EF2C75-983A-4A7A-D815-E2C4157A7F1C}"/>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0CD2B199-179A-2733-1C79-5F06954B8A01}"/>
              </a:ext>
            </a:extLst>
          </p:cNvPr>
          <p:cNvSpPr>
            <a:spLocks noGrp="1"/>
          </p:cNvSpPr>
          <p:nvPr>
            <p:ph type="sldNum" sz="quarter" idx="12"/>
          </p:nvPr>
        </p:nvSpPr>
        <p:spPr/>
        <p:txBody>
          <a:bodyPr/>
          <a:lstStyle/>
          <a:p>
            <a:fld id="{0FA2D919-C0DE-4971-A2E9-D4AC0031921B}" type="slidenum">
              <a:rPr lang="en-US" noProof="0" smtClean="0"/>
              <a:t>25</a:t>
            </a:fld>
            <a:endParaRPr lang="en-US" noProof="0" dirty="0"/>
          </a:p>
        </p:txBody>
      </p:sp>
      <p:sp>
        <p:nvSpPr>
          <p:cNvPr id="9" name="TextBox 8">
            <a:extLst>
              <a:ext uri="{FF2B5EF4-FFF2-40B4-BE49-F238E27FC236}">
                <a16:creationId xmlns:a16="http://schemas.microsoft.com/office/drawing/2014/main" id="{B2EDF7C6-A4C4-F3AA-4488-16AACBC8C01D}"/>
              </a:ext>
            </a:extLst>
          </p:cNvPr>
          <p:cNvSpPr txBox="1"/>
          <p:nvPr/>
        </p:nvSpPr>
        <p:spPr>
          <a:xfrm>
            <a:off x="3008919" y="3631518"/>
            <a:ext cx="1438022" cy="369332"/>
          </a:xfrm>
          <a:prstGeom prst="rect">
            <a:avLst/>
          </a:prstGeom>
          <a:noFill/>
        </p:spPr>
        <p:txBody>
          <a:bodyPr wrap="none" rtlCol="0">
            <a:spAutoFit/>
          </a:bodyPr>
          <a:lstStyle/>
          <a:p>
            <a:r>
              <a:rPr lang="en-SE" b="1" noProof="0" dirty="0"/>
              <a:t>Confounder</a:t>
            </a:r>
            <a:endParaRPr lang="en-US" b="1" noProof="0" dirty="0"/>
          </a:p>
        </p:txBody>
      </p:sp>
      <p:sp>
        <p:nvSpPr>
          <p:cNvPr id="18" name="TextBox 17">
            <a:extLst>
              <a:ext uri="{FF2B5EF4-FFF2-40B4-BE49-F238E27FC236}">
                <a16:creationId xmlns:a16="http://schemas.microsoft.com/office/drawing/2014/main" id="{DC201E99-68B0-D44B-5AB2-7C5AF6CCD470}"/>
              </a:ext>
            </a:extLst>
          </p:cNvPr>
          <p:cNvSpPr txBox="1"/>
          <p:nvPr/>
        </p:nvSpPr>
        <p:spPr>
          <a:xfrm>
            <a:off x="3012334" y="4674585"/>
            <a:ext cx="1123000" cy="369332"/>
          </a:xfrm>
          <a:prstGeom prst="rect">
            <a:avLst/>
          </a:prstGeom>
          <a:noFill/>
        </p:spPr>
        <p:txBody>
          <a:bodyPr wrap="none" rtlCol="0">
            <a:spAutoFit/>
          </a:bodyPr>
          <a:lstStyle/>
          <a:p>
            <a:r>
              <a:rPr lang="en-SE" b="1" noProof="0" dirty="0"/>
              <a:t>Mediator</a:t>
            </a:r>
            <a:endParaRPr lang="en-US" b="1" noProof="0" dirty="0"/>
          </a:p>
        </p:txBody>
      </p:sp>
      <p:sp>
        <p:nvSpPr>
          <p:cNvPr id="27" name="TextBox 26">
            <a:extLst>
              <a:ext uri="{FF2B5EF4-FFF2-40B4-BE49-F238E27FC236}">
                <a16:creationId xmlns:a16="http://schemas.microsoft.com/office/drawing/2014/main" id="{73104E06-C75B-B58B-ABC6-AB4C5C46ED73}"/>
              </a:ext>
            </a:extLst>
          </p:cNvPr>
          <p:cNvSpPr txBox="1"/>
          <p:nvPr/>
        </p:nvSpPr>
        <p:spPr>
          <a:xfrm>
            <a:off x="3008919" y="5717350"/>
            <a:ext cx="1029449" cy="369332"/>
          </a:xfrm>
          <a:prstGeom prst="rect">
            <a:avLst/>
          </a:prstGeom>
          <a:noFill/>
        </p:spPr>
        <p:txBody>
          <a:bodyPr wrap="none" rtlCol="0">
            <a:spAutoFit/>
          </a:bodyPr>
          <a:lstStyle/>
          <a:p>
            <a:r>
              <a:rPr lang="en-US" b="1" noProof="0" dirty="0"/>
              <a:t>Collider</a:t>
            </a:r>
          </a:p>
        </p:txBody>
      </p:sp>
      <p:sp>
        <p:nvSpPr>
          <p:cNvPr id="34" name="TextBox 33">
            <a:extLst>
              <a:ext uri="{FF2B5EF4-FFF2-40B4-BE49-F238E27FC236}">
                <a16:creationId xmlns:a16="http://schemas.microsoft.com/office/drawing/2014/main" id="{3E3D294D-263D-5018-1DB1-75BC4764DAD7}"/>
              </a:ext>
            </a:extLst>
          </p:cNvPr>
          <p:cNvSpPr txBox="1"/>
          <p:nvPr/>
        </p:nvSpPr>
        <p:spPr>
          <a:xfrm>
            <a:off x="4126896" y="3041816"/>
            <a:ext cx="1908536" cy="369332"/>
          </a:xfrm>
          <a:prstGeom prst="rect">
            <a:avLst/>
          </a:prstGeom>
          <a:noFill/>
        </p:spPr>
        <p:txBody>
          <a:bodyPr wrap="none" rtlCol="0">
            <a:spAutoFit/>
          </a:bodyPr>
          <a:lstStyle/>
          <a:p>
            <a:pPr algn="ctr"/>
            <a:r>
              <a:rPr lang="en-US" b="1" noProof="0" dirty="0"/>
              <a:t>Not controlling z</a:t>
            </a:r>
          </a:p>
        </p:txBody>
      </p:sp>
      <p:sp>
        <p:nvSpPr>
          <p:cNvPr id="35" name="TextBox 34">
            <a:extLst>
              <a:ext uri="{FF2B5EF4-FFF2-40B4-BE49-F238E27FC236}">
                <a16:creationId xmlns:a16="http://schemas.microsoft.com/office/drawing/2014/main" id="{DB7C6E84-3433-E6BF-F599-8F6C1FACB2DB}"/>
              </a:ext>
            </a:extLst>
          </p:cNvPr>
          <p:cNvSpPr txBox="1"/>
          <p:nvPr/>
        </p:nvSpPr>
        <p:spPr>
          <a:xfrm>
            <a:off x="6181714" y="3041816"/>
            <a:ext cx="1517403" cy="369332"/>
          </a:xfrm>
          <a:prstGeom prst="rect">
            <a:avLst/>
          </a:prstGeom>
          <a:noFill/>
        </p:spPr>
        <p:txBody>
          <a:bodyPr wrap="none" rtlCol="0">
            <a:spAutoFit/>
          </a:bodyPr>
          <a:lstStyle/>
          <a:p>
            <a:pPr algn="ctr"/>
            <a:r>
              <a:rPr lang="en-US" b="1" noProof="0" dirty="0"/>
              <a:t>Controlling z</a:t>
            </a:r>
          </a:p>
        </p:txBody>
      </p:sp>
      <p:grpSp>
        <p:nvGrpSpPr>
          <p:cNvPr id="36" name="Group 35">
            <a:extLst>
              <a:ext uri="{FF2B5EF4-FFF2-40B4-BE49-F238E27FC236}">
                <a16:creationId xmlns:a16="http://schemas.microsoft.com/office/drawing/2014/main" id="{DAF4B801-AD07-4682-C7BA-33EBBB453611}"/>
              </a:ext>
            </a:extLst>
          </p:cNvPr>
          <p:cNvGrpSpPr/>
          <p:nvPr/>
        </p:nvGrpSpPr>
        <p:grpSpPr>
          <a:xfrm>
            <a:off x="4739163" y="3424708"/>
            <a:ext cx="720000" cy="720000"/>
            <a:chOff x="5604304" y="3426506"/>
            <a:chExt cx="720000" cy="720000"/>
          </a:xfrm>
        </p:grpSpPr>
        <p:sp>
          <p:nvSpPr>
            <p:cNvPr id="37" name="Oval 36">
              <a:extLst>
                <a:ext uri="{FF2B5EF4-FFF2-40B4-BE49-F238E27FC236}">
                  <a16:creationId xmlns:a16="http://schemas.microsoft.com/office/drawing/2014/main" id="{4F1607F8-422C-22E4-922B-B0A380C13131}"/>
                </a:ext>
              </a:extLst>
            </p:cNvPr>
            <p:cNvSpPr/>
            <p:nvPr/>
          </p:nvSpPr>
          <p:spPr>
            <a:xfrm>
              <a:off x="5604304" y="3426506"/>
              <a:ext cx="720000" cy="720000"/>
            </a:xfrm>
            <a:prstGeom prst="ellipse">
              <a:avLst/>
            </a:prstGeom>
            <a:solidFill>
              <a:srgbClr val="92D05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38" name="Graphic 37" descr="Chevron arrows with solid fill">
              <a:extLst>
                <a:ext uri="{FF2B5EF4-FFF2-40B4-BE49-F238E27FC236}">
                  <a16:creationId xmlns:a16="http://schemas.microsoft.com/office/drawing/2014/main" id="{D48D4820-F7E6-36B3-5A24-250B45E95E7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661776" y="3489838"/>
              <a:ext cx="612000" cy="612000"/>
            </a:xfrm>
            <a:prstGeom prst="rect">
              <a:avLst/>
            </a:prstGeom>
          </p:spPr>
        </p:pic>
      </p:grpSp>
      <p:grpSp>
        <p:nvGrpSpPr>
          <p:cNvPr id="39" name="Group 38">
            <a:extLst>
              <a:ext uri="{FF2B5EF4-FFF2-40B4-BE49-F238E27FC236}">
                <a16:creationId xmlns:a16="http://schemas.microsoft.com/office/drawing/2014/main" id="{0D86205B-BC4C-A808-3B25-E5075F2388F0}"/>
              </a:ext>
            </a:extLst>
          </p:cNvPr>
          <p:cNvGrpSpPr/>
          <p:nvPr/>
        </p:nvGrpSpPr>
        <p:grpSpPr>
          <a:xfrm>
            <a:off x="4739163" y="4483893"/>
            <a:ext cx="720000" cy="720000"/>
            <a:chOff x="5604304" y="3426506"/>
            <a:chExt cx="720000" cy="720000"/>
          </a:xfrm>
        </p:grpSpPr>
        <p:sp>
          <p:nvSpPr>
            <p:cNvPr id="40" name="Oval 39">
              <a:extLst>
                <a:ext uri="{FF2B5EF4-FFF2-40B4-BE49-F238E27FC236}">
                  <a16:creationId xmlns:a16="http://schemas.microsoft.com/office/drawing/2014/main" id="{2DD835DD-8023-2EE8-38EC-47634FBBEC9B}"/>
                </a:ext>
              </a:extLst>
            </p:cNvPr>
            <p:cNvSpPr/>
            <p:nvPr/>
          </p:nvSpPr>
          <p:spPr>
            <a:xfrm>
              <a:off x="5604304" y="3426506"/>
              <a:ext cx="720000" cy="720000"/>
            </a:xfrm>
            <a:prstGeom prst="ellipse">
              <a:avLst/>
            </a:prstGeom>
            <a:solidFill>
              <a:srgbClr val="92D05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41" name="Graphic 40" descr="Chevron arrows with solid fill">
              <a:extLst>
                <a:ext uri="{FF2B5EF4-FFF2-40B4-BE49-F238E27FC236}">
                  <a16:creationId xmlns:a16="http://schemas.microsoft.com/office/drawing/2014/main" id="{B8B819D7-77E1-46BA-F441-60968DB5A43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661776" y="3489838"/>
              <a:ext cx="612000" cy="612000"/>
            </a:xfrm>
            <a:prstGeom prst="rect">
              <a:avLst/>
            </a:prstGeom>
          </p:spPr>
        </p:pic>
      </p:grpSp>
      <p:grpSp>
        <p:nvGrpSpPr>
          <p:cNvPr id="42" name="Group 41">
            <a:extLst>
              <a:ext uri="{FF2B5EF4-FFF2-40B4-BE49-F238E27FC236}">
                <a16:creationId xmlns:a16="http://schemas.microsoft.com/office/drawing/2014/main" id="{D3609DA1-2243-BA05-956B-ACF8CD64F697}"/>
              </a:ext>
            </a:extLst>
          </p:cNvPr>
          <p:cNvGrpSpPr/>
          <p:nvPr/>
        </p:nvGrpSpPr>
        <p:grpSpPr>
          <a:xfrm>
            <a:off x="4739163" y="5548495"/>
            <a:ext cx="720000" cy="720000"/>
            <a:chOff x="5604304" y="3426506"/>
            <a:chExt cx="720000" cy="720000"/>
          </a:xfrm>
        </p:grpSpPr>
        <p:sp>
          <p:nvSpPr>
            <p:cNvPr id="43" name="Oval 42">
              <a:extLst>
                <a:ext uri="{FF2B5EF4-FFF2-40B4-BE49-F238E27FC236}">
                  <a16:creationId xmlns:a16="http://schemas.microsoft.com/office/drawing/2014/main" id="{5EF3478B-D1AD-9D3C-2C25-47B22AFE5216}"/>
                </a:ext>
              </a:extLst>
            </p:cNvPr>
            <p:cNvSpPr/>
            <p:nvPr/>
          </p:nvSpPr>
          <p:spPr>
            <a:xfrm>
              <a:off x="5604304" y="3426506"/>
              <a:ext cx="720000" cy="720000"/>
            </a:xfrm>
            <a:prstGeom prst="ellipse">
              <a:avLst/>
            </a:prstGeom>
            <a:solidFill>
              <a:srgbClr val="C0000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44" name="Graphic 43" descr="No sign with solid fill">
              <a:extLst>
                <a:ext uri="{FF2B5EF4-FFF2-40B4-BE49-F238E27FC236}">
                  <a16:creationId xmlns:a16="http://schemas.microsoft.com/office/drawing/2014/main" id="{40D49ECC-C26B-AAE1-35CA-D3CC7738264F}"/>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661776" y="3489838"/>
              <a:ext cx="612000" cy="612000"/>
            </a:xfrm>
            <a:prstGeom prst="rect">
              <a:avLst/>
            </a:prstGeom>
          </p:spPr>
        </p:pic>
      </p:grpSp>
      <p:grpSp>
        <p:nvGrpSpPr>
          <p:cNvPr id="45" name="Group 44">
            <a:extLst>
              <a:ext uri="{FF2B5EF4-FFF2-40B4-BE49-F238E27FC236}">
                <a16:creationId xmlns:a16="http://schemas.microsoft.com/office/drawing/2014/main" id="{062147FE-1C1F-15E5-3F50-1CCEB16C617D}"/>
              </a:ext>
            </a:extLst>
          </p:cNvPr>
          <p:cNvGrpSpPr/>
          <p:nvPr/>
        </p:nvGrpSpPr>
        <p:grpSpPr>
          <a:xfrm>
            <a:off x="6638910" y="3416544"/>
            <a:ext cx="720000" cy="720000"/>
            <a:chOff x="5604304" y="3426506"/>
            <a:chExt cx="720000" cy="720000"/>
          </a:xfrm>
        </p:grpSpPr>
        <p:sp>
          <p:nvSpPr>
            <p:cNvPr id="46" name="Oval 45">
              <a:extLst>
                <a:ext uri="{FF2B5EF4-FFF2-40B4-BE49-F238E27FC236}">
                  <a16:creationId xmlns:a16="http://schemas.microsoft.com/office/drawing/2014/main" id="{1E6C3C14-66AB-EF33-D17B-2B4E8B90DD38}"/>
                </a:ext>
              </a:extLst>
            </p:cNvPr>
            <p:cNvSpPr/>
            <p:nvPr/>
          </p:nvSpPr>
          <p:spPr>
            <a:xfrm>
              <a:off x="5604304" y="3426506"/>
              <a:ext cx="720000" cy="720000"/>
            </a:xfrm>
            <a:prstGeom prst="ellipse">
              <a:avLst/>
            </a:prstGeom>
            <a:solidFill>
              <a:srgbClr val="C0000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47" name="Graphic 46" descr="No sign with solid fill">
              <a:extLst>
                <a:ext uri="{FF2B5EF4-FFF2-40B4-BE49-F238E27FC236}">
                  <a16:creationId xmlns:a16="http://schemas.microsoft.com/office/drawing/2014/main" id="{E7C9A13F-94D2-7CB0-9B27-332B3EBA393B}"/>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661776" y="3489838"/>
              <a:ext cx="612000" cy="612000"/>
            </a:xfrm>
            <a:prstGeom prst="rect">
              <a:avLst/>
            </a:prstGeom>
          </p:spPr>
        </p:pic>
      </p:grpSp>
      <p:grpSp>
        <p:nvGrpSpPr>
          <p:cNvPr id="48" name="Group 47">
            <a:extLst>
              <a:ext uri="{FF2B5EF4-FFF2-40B4-BE49-F238E27FC236}">
                <a16:creationId xmlns:a16="http://schemas.microsoft.com/office/drawing/2014/main" id="{88525EAB-26DB-A836-F1B7-A65653A2A89D}"/>
              </a:ext>
            </a:extLst>
          </p:cNvPr>
          <p:cNvGrpSpPr/>
          <p:nvPr/>
        </p:nvGrpSpPr>
        <p:grpSpPr>
          <a:xfrm>
            <a:off x="6638910" y="4475729"/>
            <a:ext cx="720000" cy="720000"/>
            <a:chOff x="5604304" y="3426506"/>
            <a:chExt cx="720000" cy="720000"/>
          </a:xfrm>
        </p:grpSpPr>
        <p:sp>
          <p:nvSpPr>
            <p:cNvPr id="49" name="Oval 48">
              <a:extLst>
                <a:ext uri="{FF2B5EF4-FFF2-40B4-BE49-F238E27FC236}">
                  <a16:creationId xmlns:a16="http://schemas.microsoft.com/office/drawing/2014/main" id="{B829F0AA-3627-9316-4BFF-DD5A8D935E26}"/>
                </a:ext>
              </a:extLst>
            </p:cNvPr>
            <p:cNvSpPr/>
            <p:nvPr/>
          </p:nvSpPr>
          <p:spPr>
            <a:xfrm>
              <a:off x="5604304" y="3426506"/>
              <a:ext cx="720000" cy="720000"/>
            </a:xfrm>
            <a:prstGeom prst="ellipse">
              <a:avLst/>
            </a:prstGeom>
            <a:solidFill>
              <a:srgbClr val="C0000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50" name="Graphic 49" descr="No sign with solid fill">
              <a:extLst>
                <a:ext uri="{FF2B5EF4-FFF2-40B4-BE49-F238E27FC236}">
                  <a16:creationId xmlns:a16="http://schemas.microsoft.com/office/drawing/2014/main" id="{604450CB-D9F1-BED9-25E9-EA440DDCDF38}"/>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661776" y="3489838"/>
              <a:ext cx="612000" cy="612000"/>
            </a:xfrm>
            <a:prstGeom prst="rect">
              <a:avLst/>
            </a:prstGeom>
          </p:spPr>
        </p:pic>
      </p:grpSp>
      <p:grpSp>
        <p:nvGrpSpPr>
          <p:cNvPr id="51" name="Group 50">
            <a:extLst>
              <a:ext uri="{FF2B5EF4-FFF2-40B4-BE49-F238E27FC236}">
                <a16:creationId xmlns:a16="http://schemas.microsoft.com/office/drawing/2014/main" id="{112FF957-309B-9308-EE53-C05C026184BF}"/>
              </a:ext>
            </a:extLst>
          </p:cNvPr>
          <p:cNvGrpSpPr/>
          <p:nvPr/>
        </p:nvGrpSpPr>
        <p:grpSpPr>
          <a:xfrm>
            <a:off x="6638910" y="5540331"/>
            <a:ext cx="720000" cy="720000"/>
            <a:chOff x="5604304" y="3426506"/>
            <a:chExt cx="720000" cy="720000"/>
          </a:xfrm>
        </p:grpSpPr>
        <p:sp>
          <p:nvSpPr>
            <p:cNvPr id="52" name="Oval 51">
              <a:extLst>
                <a:ext uri="{FF2B5EF4-FFF2-40B4-BE49-F238E27FC236}">
                  <a16:creationId xmlns:a16="http://schemas.microsoft.com/office/drawing/2014/main" id="{EA289122-D661-CDFE-C9B5-405BA1A4FC4E}"/>
                </a:ext>
              </a:extLst>
            </p:cNvPr>
            <p:cNvSpPr/>
            <p:nvPr/>
          </p:nvSpPr>
          <p:spPr>
            <a:xfrm>
              <a:off x="5604304" y="3426506"/>
              <a:ext cx="720000" cy="720000"/>
            </a:xfrm>
            <a:prstGeom prst="ellipse">
              <a:avLst/>
            </a:prstGeom>
            <a:solidFill>
              <a:srgbClr val="92D05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53" name="Graphic 52" descr="Chevron arrows with solid fill">
              <a:extLst>
                <a:ext uri="{FF2B5EF4-FFF2-40B4-BE49-F238E27FC236}">
                  <a16:creationId xmlns:a16="http://schemas.microsoft.com/office/drawing/2014/main" id="{186FE68B-F044-DDF7-5DDC-4F2D925B0C2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661776" y="3489838"/>
              <a:ext cx="612000" cy="612000"/>
            </a:xfrm>
            <a:prstGeom prst="rect">
              <a:avLst/>
            </a:prstGeom>
          </p:spPr>
        </p:pic>
      </p:grpSp>
      <p:grpSp>
        <p:nvGrpSpPr>
          <p:cNvPr id="57" name="Group 56">
            <a:extLst>
              <a:ext uri="{FF2B5EF4-FFF2-40B4-BE49-F238E27FC236}">
                <a16:creationId xmlns:a16="http://schemas.microsoft.com/office/drawing/2014/main" id="{4F41440B-F756-661A-49CF-535BCABB4F78}"/>
              </a:ext>
            </a:extLst>
          </p:cNvPr>
          <p:cNvGrpSpPr/>
          <p:nvPr/>
        </p:nvGrpSpPr>
        <p:grpSpPr>
          <a:xfrm>
            <a:off x="8610600" y="5301125"/>
            <a:ext cx="360000" cy="360000"/>
            <a:chOff x="5604304" y="3426506"/>
            <a:chExt cx="720000" cy="720000"/>
          </a:xfrm>
        </p:grpSpPr>
        <p:sp>
          <p:nvSpPr>
            <p:cNvPr id="58" name="Oval 57">
              <a:extLst>
                <a:ext uri="{FF2B5EF4-FFF2-40B4-BE49-F238E27FC236}">
                  <a16:creationId xmlns:a16="http://schemas.microsoft.com/office/drawing/2014/main" id="{FBF0585F-F17A-677D-6A53-B7CE5772F633}"/>
                </a:ext>
              </a:extLst>
            </p:cNvPr>
            <p:cNvSpPr/>
            <p:nvPr/>
          </p:nvSpPr>
          <p:spPr>
            <a:xfrm>
              <a:off x="5604304" y="3426506"/>
              <a:ext cx="720000" cy="720000"/>
            </a:xfrm>
            <a:prstGeom prst="ellipse">
              <a:avLst/>
            </a:prstGeom>
            <a:solidFill>
              <a:srgbClr val="92D05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59" name="Graphic 58" descr="Chevron arrows with solid fill">
              <a:extLst>
                <a:ext uri="{FF2B5EF4-FFF2-40B4-BE49-F238E27FC236}">
                  <a16:creationId xmlns:a16="http://schemas.microsoft.com/office/drawing/2014/main" id="{543D3AC4-44DE-75C7-D66C-5D403663ECE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661776" y="3489838"/>
              <a:ext cx="612000" cy="612000"/>
            </a:xfrm>
            <a:prstGeom prst="rect">
              <a:avLst/>
            </a:prstGeom>
          </p:spPr>
        </p:pic>
      </p:grpSp>
      <p:grpSp>
        <p:nvGrpSpPr>
          <p:cNvPr id="60" name="Group 59">
            <a:extLst>
              <a:ext uri="{FF2B5EF4-FFF2-40B4-BE49-F238E27FC236}">
                <a16:creationId xmlns:a16="http://schemas.microsoft.com/office/drawing/2014/main" id="{05A7504B-F8EE-E951-4638-B04D074E1BFF}"/>
              </a:ext>
            </a:extLst>
          </p:cNvPr>
          <p:cNvGrpSpPr/>
          <p:nvPr/>
        </p:nvGrpSpPr>
        <p:grpSpPr>
          <a:xfrm>
            <a:off x="8610600" y="5753909"/>
            <a:ext cx="360000" cy="360000"/>
            <a:chOff x="5604304" y="3426506"/>
            <a:chExt cx="720000" cy="720000"/>
          </a:xfrm>
        </p:grpSpPr>
        <p:sp>
          <p:nvSpPr>
            <p:cNvPr id="61" name="Oval 60">
              <a:extLst>
                <a:ext uri="{FF2B5EF4-FFF2-40B4-BE49-F238E27FC236}">
                  <a16:creationId xmlns:a16="http://schemas.microsoft.com/office/drawing/2014/main" id="{AA03F63D-6313-0C25-7F53-A0C15696A547}"/>
                </a:ext>
              </a:extLst>
            </p:cNvPr>
            <p:cNvSpPr/>
            <p:nvPr/>
          </p:nvSpPr>
          <p:spPr>
            <a:xfrm>
              <a:off x="5604304" y="3426506"/>
              <a:ext cx="720000" cy="720000"/>
            </a:xfrm>
            <a:prstGeom prst="ellipse">
              <a:avLst/>
            </a:prstGeom>
            <a:solidFill>
              <a:srgbClr val="C0000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62" name="Graphic 61" descr="No sign with solid fill">
              <a:extLst>
                <a:ext uri="{FF2B5EF4-FFF2-40B4-BE49-F238E27FC236}">
                  <a16:creationId xmlns:a16="http://schemas.microsoft.com/office/drawing/2014/main" id="{BF6F2B07-189B-4EB1-C233-C2F5C77EE27E}"/>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661776" y="3489838"/>
              <a:ext cx="612000" cy="612000"/>
            </a:xfrm>
            <a:prstGeom prst="rect">
              <a:avLst/>
            </a:prstGeom>
          </p:spPr>
        </p:pic>
      </p:grpSp>
      <p:sp>
        <p:nvSpPr>
          <p:cNvPr id="63" name="TextBox 62">
            <a:extLst>
              <a:ext uri="{FF2B5EF4-FFF2-40B4-BE49-F238E27FC236}">
                <a16:creationId xmlns:a16="http://schemas.microsoft.com/office/drawing/2014/main" id="{21B1B150-BF6B-6067-8F71-2EC9561ADD2B}"/>
              </a:ext>
            </a:extLst>
          </p:cNvPr>
          <p:cNvSpPr txBox="1"/>
          <p:nvPr/>
        </p:nvSpPr>
        <p:spPr>
          <a:xfrm>
            <a:off x="8970600" y="5323675"/>
            <a:ext cx="2680286" cy="338554"/>
          </a:xfrm>
          <a:prstGeom prst="rect">
            <a:avLst/>
          </a:prstGeom>
          <a:noFill/>
        </p:spPr>
        <p:txBody>
          <a:bodyPr wrap="none" rtlCol="0">
            <a:spAutoFit/>
          </a:bodyPr>
          <a:lstStyle/>
          <a:p>
            <a:r>
              <a:rPr lang="en-US" sz="1600" noProof="0" dirty="0"/>
              <a:t>Information flows from x to y</a:t>
            </a:r>
          </a:p>
        </p:txBody>
      </p:sp>
      <p:sp>
        <p:nvSpPr>
          <p:cNvPr id="64" name="TextBox 63">
            <a:extLst>
              <a:ext uri="{FF2B5EF4-FFF2-40B4-BE49-F238E27FC236}">
                <a16:creationId xmlns:a16="http://schemas.microsoft.com/office/drawing/2014/main" id="{D34FBAF2-3980-CFF9-1A05-71CC3A28478B}"/>
              </a:ext>
            </a:extLst>
          </p:cNvPr>
          <p:cNvSpPr txBox="1"/>
          <p:nvPr/>
        </p:nvSpPr>
        <p:spPr>
          <a:xfrm>
            <a:off x="8970600" y="5639052"/>
            <a:ext cx="2448106" cy="584775"/>
          </a:xfrm>
          <a:prstGeom prst="rect">
            <a:avLst/>
          </a:prstGeom>
          <a:noFill/>
        </p:spPr>
        <p:txBody>
          <a:bodyPr wrap="none" rtlCol="0">
            <a:spAutoFit/>
          </a:bodyPr>
          <a:lstStyle/>
          <a:p>
            <a:r>
              <a:rPr lang="en-US" sz="1600" noProof="0" dirty="0"/>
              <a:t>Information does not flow</a:t>
            </a:r>
          </a:p>
          <a:p>
            <a:r>
              <a:rPr lang="en-US" sz="1600" noProof="0" dirty="0"/>
              <a:t> from x to y</a:t>
            </a:r>
          </a:p>
        </p:txBody>
      </p:sp>
      <p:grpSp>
        <p:nvGrpSpPr>
          <p:cNvPr id="82" name="Group 81">
            <a:extLst>
              <a:ext uri="{FF2B5EF4-FFF2-40B4-BE49-F238E27FC236}">
                <a16:creationId xmlns:a16="http://schemas.microsoft.com/office/drawing/2014/main" id="{765D1A82-A163-F899-293B-3B804E62E12B}"/>
              </a:ext>
            </a:extLst>
          </p:cNvPr>
          <p:cNvGrpSpPr/>
          <p:nvPr/>
        </p:nvGrpSpPr>
        <p:grpSpPr>
          <a:xfrm>
            <a:off x="1156195" y="5530822"/>
            <a:ext cx="1657770" cy="755345"/>
            <a:chOff x="1113271" y="5421792"/>
            <a:chExt cx="1657770" cy="755345"/>
          </a:xfrm>
        </p:grpSpPr>
        <p:sp>
          <p:nvSpPr>
            <p:cNvPr id="68" name="Oval 67">
              <a:extLst>
                <a:ext uri="{FF2B5EF4-FFF2-40B4-BE49-F238E27FC236}">
                  <a16:creationId xmlns:a16="http://schemas.microsoft.com/office/drawing/2014/main" id="{F6F29A36-28B5-D045-AA35-7FAF300A2763}"/>
                </a:ext>
              </a:extLst>
            </p:cNvPr>
            <p:cNvSpPr/>
            <p:nvPr/>
          </p:nvSpPr>
          <p:spPr>
            <a:xfrm>
              <a:off x="1113271" y="5425575"/>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rgbClr val="D0180A"/>
                  </a:solidFill>
                </a:rPr>
                <a:t>x</a:t>
              </a:r>
              <a:endParaRPr lang="en-US" noProof="0" dirty="0">
                <a:solidFill>
                  <a:srgbClr val="D0180A"/>
                </a:solidFill>
              </a:endParaRPr>
            </a:p>
          </p:txBody>
        </p:sp>
        <p:sp>
          <p:nvSpPr>
            <p:cNvPr id="69" name="Oval 68">
              <a:extLst>
                <a:ext uri="{FF2B5EF4-FFF2-40B4-BE49-F238E27FC236}">
                  <a16:creationId xmlns:a16="http://schemas.microsoft.com/office/drawing/2014/main" id="{4BE0450B-F1D7-2A69-45B7-2F5A1E8A0D43}"/>
                </a:ext>
              </a:extLst>
            </p:cNvPr>
            <p:cNvSpPr/>
            <p:nvPr/>
          </p:nvSpPr>
          <p:spPr>
            <a:xfrm>
              <a:off x="2411041" y="5421792"/>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rgbClr val="006D70"/>
                  </a:solidFill>
                </a:rPr>
                <a:t>y</a:t>
              </a:r>
              <a:endParaRPr lang="en-US" noProof="0" dirty="0">
                <a:solidFill>
                  <a:srgbClr val="006D70"/>
                </a:solidFill>
              </a:endParaRPr>
            </a:p>
          </p:txBody>
        </p:sp>
        <p:cxnSp>
          <p:nvCxnSpPr>
            <p:cNvPr id="70" name="Straight Arrow Connector 69">
              <a:extLst>
                <a:ext uri="{FF2B5EF4-FFF2-40B4-BE49-F238E27FC236}">
                  <a16:creationId xmlns:a16="http://schemas.microsoft.com/office/drawing/2014/main" id="{10AC58CA-A396-9ADC-B82E-0BD4A37CD728}"/>
                </a:ext>
              </a:extLst>
            </p:cNvPr>
            <p:cNvCxnSpPr>
              <a:cxnSpLocks/>
              <a:stCxn id="68" idx="6"/>
              <a:endCxn id="69" idx="2"/>
            </p:cNvCxnSpPr>
            <p:nvPr/>
          </p:nvCxnSpPr>
          <p:spPr>
            <a:xfrm flipV="1">
              <a:off x="1473271" y="5601792"/>
              <a:ext cx="937770" cy="378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71" name="Oval 70">
              <a:extLst>
                <a:ext uri="{FF2B5EF4-FFF2-40B4-BE49-F238E27FC236}">
                  <a16:creationId xmlns:a16="http://schemas.microsoft.com/office/drawing/2014/main" id="{D02BB1C6-8A2B-8353-297F-CA72868A0F6B}"/>
                </a:ext>
              </a:extLst>
            </p:cNvPr>
            <p:cNvSpPr/>
            <p:nvPr/>
          </p:nvSpPr>
          <p:spPr>
            <a:xfrm>
              <a:off x="1757229" y="5817137"/>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dirty="0">
                  <a:solidFill>
                    <a:schemeClr val="tx1">
                      <a:lumMod val="65000"/>
                      <a:lumOff val="35000"/>
                    </a:schemeClr>
                  </a:solidFill>
                </a:rPr>
                <a:t>z</a:t>
              </a:r>
              <a:endParaRPr lang="en-US" noProof="0" dirty="0">
                <a:solidFill>
                  <a:schemeClr val="tx1">
                    <a:lumMod val="65000"/>
                    <a:lumOff val="35000"/>
                  </a:schemeClr>
                </a:solidFill>
              </a:endParaRPr>
            </a:p>
          </p:txBody>
        </p:sp>
        <p:cxnSp>
          <p:nvCxnSpPr>
            <p:cNvPr id="72" name="Straight Arrow Connector 71">
              <a:extLst>
                <a:ext uri="{FF2B5EF4-FFF2-40B4-BE49-F238E27FC236}">
                  <a16:creationId xmlns:a16="http://schemas.microsoft.com/office/drawing/2014/main" id="{CC5E9922-6788-D902-425E-BBD70441C404}"/>
                </a:ext>
              </a:extLst>
            </p:cNvPr>
            <p:cNvCxnSpPr>
              <a:cxnSpLocks/>
              <a:stCxn id="68" idx="5"/>
              <a:endCxn id="71" idx="2"/>
            </p:cNvCxnSpPr>
            <p:nvPr/>
          </p:nvCxnSpPr>
          <p:spPr>
            <a:xfrm>
              <a:off x="1420550" y="5732854"/>
              <a:ext cx="336679" cy="26428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73" name="Straight Arrow Connector 72">
              <a:extLst>
                <a:ext uri="{FF2B5EF4-FFF2-40B4-BE49-F238E27FC236}">
                  <a16:creationId xmlns:a16="http://schemas.microsoft.com/office/drawing/2014/main" id="{036F1CEA-9A09-1EB7-2CED-A9B441662FEC}"/>
                </a:ext>
              </a:extLst>
            </p:cNvPr>
            <p:cNvCxnSpPr>
              <a:cxnSpLocks/>
              <a:stCxn id="69" idx="3"/>
              <a:endCxn id="71" idx="6"/>
            </p:cNvCxnSpPr>
            <p:nvPr/>
          </p:nvCxnSpPr>
          <p:spPr>
            <a:xfrm flipH="1">
              <a:off x="2117229" y="5729071"/>
              <a:ext cx="346533" cy="26806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grpSp>
        <p:nvGrpSpPr>
          <p:cNvPr id="83" name="Group 82">
            <a:extLst>
              <a:ext uri="{FF2B5EF4-FFF2-40B4-BE49-F238E27FC236}">
                <a16:creationId xmlns:a16="http://schemas.microsoft.com/office/drawing/2014/main" id="{F3B96268-B4B8-B87D-DA50-50A572F7CC3E}"/>
              </a:ext>
            </a:extLst>
          </p:cNvPr>
          <p:cNvGrpSpPr/>
          <p:nvPr/>
        </p:nvGrpSpPr>
        <p:grpSpPr>
          <a:xfrm>
            <a:off x="1156195" y="4486329"/>
            <a:ext cx="1657770" cy="755345"/>
            <a:chOff x="1113271" y="5421792"/>
            <a:chExt cx="1657770" cy="755345"/>
          </a:xfrm>
        </p:grpSpPr>
        <p:sp>
          <p:nvSpPr>
            <p:cNvPr id="84" name="Oval 83">
              <a:extLst>
                <a:ext uri="{FF2B5EF4-FFF2-40B4-BE49-F238E27FC236}">
                  <a16:creationId xmlns:a16="http://schemas.microsoft.com/office/drawing/2014/main" id="{24E8B856-AAF4-CDCF-936A-62F221B06AD3}"/>
                </a:ext>
              </a:extLst>
            </p:cNvPr>
            <p:cNvSpPr/>
            <p:nvPr/>
          </p:nvSpPr>
          <p:spPr>
            <a:xfrm>
              <a:off x="1113271" y="5425575"/>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rgbClr val="D0180A"/>
                  </a:solidFill>
                </a:rPr>
                <a:t>x</a:t>
              </a:r>
              <a:endParaRPr lang="en-US" noProof="0" dirty="0">
                <a:solidFill>
                  <a:srgbClr val="D0180A"/>
                </a:solidFill>
              </a:endParaRPr>
            </a:p>
          </p:txBody>
        </p:sp>
        <p:sp>
          <p:nvSpPr>
            <p:cNvPr id="85" name="Oval 84">
              <a:extLst>
                <a:ext uri="{FF2B5EF4-FFF2-40B4-BE49-F238E27FC236}">
                  <a16:creationId xmlns:a16="http://schemas.microsoft.com/office/drawing/2014/main" id="{A255CBAA-7687-1D91-A5F8-61974DE645C3}"/>
                </a:ext>
              </a:extLst>
            </p:cNvPr>
            <p:cNvSpPr/>
            <p:nvPr/>
          </p:nvSpPr>
          <p:spPr>
            <a:xfrm>
              <a:off x="2411041" y="5421792"/>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rgbClr val="006D70"/>
                  </a:solidFill>
                </a:rPr>
                <a:t>y</a:t>
              </a:r>
              <a:endParaRPr lang="en-US" noProof="0" dirty="0">
                <a:solidFill>
                  <a:srgbClr val="006D70"/>
                </a:solidFill>
              </a:endParaRPr>
            </a:p>
          </p:txBody>
        </p:sp>
        <p:cxnSp>
          <p:nvCxnSpPr>
            <p:cNvPr id="86" name="Straight Arrow Connector 85">
              <a:extLst>
                <a:ext uri="{FF2B5EF4-FFF2-40B4-BE49-F238E27FC236}">
                  <a16:creationId xmlns:a16="http://schemas.microsoft.com/office/drawing/2014/main" id="{F5430D97-D47E-17AF-AEE9-949DE8B9ABE5}"/>
                </a:ext>
              </a:extLst>
            </p:cNvPr>
            <p:cNvCxnSpPr>
              <a:cxnSpLocks/>
              <a:stCxn id="84" idx="6"/>
              <a:endCxn id="85" idx="2"/>
            </p:cNvCxnSpPr>
            <p:nvPr/>
          </p:nvCxnSpPr>
          <p:spPr>
            <a:xfrm flipV="1">
              <a:off x="1473271" y="5601792"/>
              <a:ext cx="937770" cy="378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87" name="Oval 86">
              <a:extLst>
                <a:ext uri="{FF2B5EF4-FFF2-40B4-BE49-F238E27FC236}">
                  <a16:creationId xmlns:a16="http://schemas.microsoft.com/office/drawing/2014/main" id="{86114FD1-D13E-9A47-7102-3EEA2C41D520}"/>
                </a:ext>
              </a:extLst>
            </p:cNvPr>
            <p:cNvSpPr/>
            <p:nvPr/>
          </p:nvSpPr>
          <p:spPr>
            <a:xfrm>
              <a:off x="1757229" y="5817137"/>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dirty="0">
                  <a:solidFill>
                    <a:schemeClr val="tx1">
                      <a:lumMod val="65000"/>
                      <a:lumOff val="35000"/>
                    </a:schemeClr>
                  </a:solidFill>
                </a:rPr>
                <a:t>z</a:t>
              </a:r>
              <a:endParaRPr lang="en-US" noProof="0" dirty="0">
                <a:solidFill>
                  <a:schemeClr val="tx1">
                    <a:lumMod val="65000"/>
                    <a:lumOff val="35000"/>
                  </a:schemeClr>
                </a:solidFill>
              </a:endParaRPr>
            </a:p>
          </p:txBody>
        </p:sp>
        <p:cxnSp>
          <p:nvCxnSpPr>
            <p:cNvPr id="88" name="Straight Arrow Connector 87">
              <a:extLst>
                <a:ext uri="{FF2B5EF4-FFF2-40B4-BE49-F238E27FC236}">
                  <a16:creationId xmlns:a16="http://schemas.microsoft.com/office/drawing/2014/main" id="{204B7C72-B325-45F7-7569-9ED8F5776462}"/>
                </a:ext>
              </a:extLst>
            </p:cNvPr>
            <p:cNvCxnSpPr>
              <a:cxnSpLocks/>
              <a:stCxn id="84" idx="5"/>
              <a:endCxn id="87" idx="2"/>
            </p:cNvCxnSpPr>
            <p:nvPr/>
          </p:nvCxnSpPr>
          <p:spPr>
            <a:xfrm>
              <a:off x="1420550" y="5732854"/>
              <a:ext cx="336679" cy="26428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89" name="Straight Arrow Connector 88">
              <a:extLst>
                <a:ext uri="{FF2B5EF4-FFF2-40B4-BE49-F238E27FC236}">
                  <a16:creationId xmlns:a16="http://schemas.microsoft.com/office/drawing/2014/main" id="{2227B418-9D70-1A23-6E76-711E28064ACD}"/>
                </a:ext>
              </a:extLst>
            </p:cNvPr>
            <p:cNvCxnSpPr>
              <a:cxnSpLocks/>
              <a:stCxn id="87" idx="6"/>
              <a:endCxn id="85" idx="3"/>
            </p:cNvCxnSpPr>
            <p:nvPr/>
          </p:nvCxnSpPr>
          <p:spPr>
            <a:xfrm flipV="1">
              <a:off x="2117229" y="5729071"/>
              <a:ext cx="346533" cy="26806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grpSp>
        <p:nvGrpSpPr>
          <p:cNvPr id="90" name="Group 89">
            <a:extLst>
              <a:ext uri="{FF2B5EF4-FFF2-40B4-BE49-F238E27FC236}">
                <a16:creationId xmlns:a16="http://schemas.microsoft.com/office/drawing/2014/main" id="{9B15B0A0-0B3F-EFD3-86AB-2F52AA9B0029}"/>
              </a:ext>
            </a:extLst>
          </p:cNvPr>
          <p:cNvGrpSpPr/>
          <p:nvPr/>
        </p:nvGrpSpPr>
        <p:grpSpPr>
          <a:xfrm>
            <a:off x="1156195" y="3441835"/>
            <a:ext cx="1657770" cy="755345"/>
            <a:chOff x="1113271" y="5421792"/>
            <a:chExt cx="1657770" cy="755345"/>
          </a:xfrm>
        </p:grpSpPr>
        <p:sp>
          <p:nvSpPr>
            <p:cNvPr id="91" name="Oval 90">
              <a:extLst>
                <a:ext uri="{FF2B5EF4-FFF2-40B4-BE49-F238E27FC236}">
                  <a16:creationId xmlns:a16="http://schemas.microsoft.com/office/drawing/2014/main" id="{259C2857-8ECD-09AC-6874-A9D910A9DCCF}"/>
                </a:ext>
              </a:extLst>
            </p:cNvPr>
            <p:cNvSpPr/>
            <p:nvPr/>
          </p:nvSpPr>
          <p:spPr>
            <a:xfrm>
              <a:off x="1113271" y="5425575"/>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rgbClr val="D0180A"/>
                  </a:solidFill>
                </a:rPr>
                <a:t>x</a:t>
              </a:r>
              <a:endParaRPr lang="en-US" noProof="0" dirty="0">
                <a:solidFill>
                  <a:srgbClr val="D0180A"/>
                </a:solidFill>
              </a:endParaRPr>
            </a:p>
          </p:txBody>
        </p:sp>
        <p:sp>
          <p:nvSpPr>
            <p:cNvPr id="92" name="Oval 91">
              <a:extLst>
                <a:ext uri="{FF2B5EF4-FFF2-40B4-BE49-F238E27FC236}">
                  <a16:creationId xmlns:a16="http://schemas.microsoft.com/office/drawing/2014/main" id="{72350B48-E555-ACD2-C7B2-E75E3CB6E9C1}"/>
                </a:ext>
              </a:extLst>
            </p:cNvPr>
            <p:cNvSpPr/>
            <p:nvPr/>
          </p:nvSpPr>
          <p:spPr>
            <a:xfrm>
              <a:off x="2411041" y="5421792"/>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rgbClr val="006D70"/>
                  </a:solidFill>
                </a:rPr>
                <a:t>y</a:t>
              </a:r>
              <a:endParaRPr lang="en-US" noProof="0" dirty="0">
                <a:solidFill>
                  <a:srgbClr val="006D70"/>
                </a:solidFill>
              </a:endParaRPr>
            </a:p>
          </p:txBody>
        </p:sp>
        <p:cxnSp>
          <p:nvCxnSpPr>
            <p:cNvPr id="93" name="Straight Arrow Connector 92">
              <a:extLst>
                <a:ext uri="{FF2B5EF4-FFF2-40B4-BE49-F238E27FC236}">
                  <a16:creationId xmlns:a16="http://schemas.microsoft.com/office/drawing/2014/main" id="{81CE6F03-546A-B946-D99F-4914DF733B18}"/>
                </a:ext>
              </a:extLst>
            </p:cNvPr>
            <p:cNvCxnSpPr>
              <a:cxnSpLocks/>
              <a:stCxn id="91" idx="6"/>
              <a:endCxn id="92" idx="2"/>
            </p:cNvCxnSpPr>
            <p:nvPr/>
          </p:nvCxnSpPr>
          <p:spPr>
            <a:xfrm flipV="1">
              <a:off x="1473271" y="5601792"/>
              <a:ext cx="937770" cy="378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94" name="Oval 93">
              <a:extLst>
                <a:ext uri="{FF2B5EF4-FFF2-40B4-BE49-F238E27FC236}">
                  <a16:creationId xmlns:a16="http://schemas.microsoft.com/office/drawing/2014/main" id="{AACCB2A1-BF29-5DB5-4BB8-EC0C3D2DE2C5}"/>
                </a:ext>
              </a:extLst>
            </p:cNvPr>
            <p:cNvSpPr/>
            <p:nvPr/>
          </p:nvSpPr>
          <p:spPr>
            <a:xfrm>
              <a:off x="1757229" y="5817137"/>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dirty="0">
                  <a:solidFill>
                    <a:schemeClr val="tx1">
                      <a:lumMod val="65000"/>
                      <a:lumOff val="35000"/>
                    </a:schemeClr>
                  </a:solidFill>
                </a:rPr>
                <a:t>z</a:t>
              </a:r>
              <a:endParaRPr lang="en-US" noProof="0" dirty="0">
                <a:solidFill>
                  <a:schemeClr val="tx1">
                    <a:lumMod val="65000"/>
                    <a:lumOff val="35000"/>
                  </a:schemeClr>
                </a:solidFill>
              </a:endParaRPr>
            </a:p>
          </p:txBody>
        </p:sp>
        <p:cxnSp>
          <p:nvCxnSpPr>
            <p:cNvPr id="95" name="Straight Arrow Connector 94">
              <a:extLst>
                <a:ext uri="{FF2B5EF4-FFF2-40B4-BE49-F238E27FC236}">
                  <a16:creationId xmlns:a16="http://schemas.microsoft.com/office/drawing/2014/main" id="{01D62D4B-CF2D-5822-656B-C57571459F68}"/>
                </a:ext>
              </a:extLst>
            </p:cNvPr>
            <p:cNvCxnSpPr>
              <a:cxnSpLocks/>
              <a:stCxn id="94" idx="2"/>
              <a:endCxn id="91" idx="5"/>
            </p:cNvCxnSpPr>
            <p:nvPr/>
          </p:nvCxnSpPr>
          <p:spPr>
            <a:xfrm flipH="1" flipV="1">
              <a:off x="1420550" y="5732854"/>
              <a:ext cx="336679" cy="26428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96" name="Straight Arrow Connector 95">
              <a:extLst>
                <a:ext uri="{FF2B5EF4-FFF2-40B4-BE49-F238E27FC236}">
                  <a16:creationId xmlns:a16="http://schemas.microsoft.com/office/drawing/2014/main" id="{18EFECB0-D053-BE32-0393-2B4917E6336A}"/>
                </a:ext>
              </a:extLst>
            </p:cNvPr>
            <p:cNvCxnSpPr>
              <a:cxnSpLocks/>
              <a:stCxn id="94" idx="6"/>
              <a:endCxn id="92" idx="3"/>
            </p:cNvCxnSpPr>
            <p:nvPr/>
          </p:nvCxnSpPr>
          <p:spPr>
            <a:xfrm flipV="1">
              <a:off x="2117229" y="5729071"/>
              <a:ext cx="346533" cy="26806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spTree>
    <p:extLst>
      <p:ext uri="{BB962C8B-B14F-4D97-AF65-F5344CB8AC3E}">
        <p14:creationId xmlns:p14="http://schemas.microsoft.com/office/powerpoint/2010/main" val="33461125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4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4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35" grpId="0"/>
      <p:bldP spid="63" grpId="0"/>
      <p:bldP spid="6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D05F20B-A23A-E6FA-AA37-DFC6933C35CE}"/>
              </a:ext>
            </a:extLst>
          </p:cNvPr>
          <p:cNvSpPr>
            <a:spLocks noGrp="1"/>
          </p:cNvSpPr>
          <p:nvPr>
            <p:ph type="title"/>
          </p:nvPr>
        </p:nvSpPr>
        <p:spPr/>
        <p:txBody>
          <a:bodyPr/>
          <a:lstStyle/>
          <a:p>
            <a:r>
              <a:rPr lang="en-SE" dirty="0"/>
              <a:t>Identification</a:t>
            </a:r>
          </a:p>
        </p:txBody>
      </p:sp>
      <p:sp>
        <p:nvSpPr>
          <p:cNvPr id="7" name="Text Placeholder 6">
            <a:extLst>
              <a:ext uri="{FF2B5EF4-FFF2-40B4-BE49-F238E27FC236}">
                <a16:creationId xmlns:a16="http://schemas.microsoft.com/office/drawing/2014/main" id="{7C606A60-3A19-8DC0-6904-13EB5A2138EA}"/>
              </a:ext>
            </a:extLst>
          </p:cNvPr>
          <p:cNvSpPr>
            <a:spLocks noGrp="1"/>
          </p:cNvSpPr>
          <p:nvPr>
            <p:ph type="body" idx="1"/>
          </p:nvPr>
        </p:nvSpPr>
        <p:spPr/>
        <p:txBody>
          <a:bodyPr/>
          <a:lstStyle/>
          <a:p>
            <a:r>
              <a:rPr lang="en-SE" dirty="0"/>
              <a:t>Causal Inference Based on Causal </a:t>
            </a:r>
            <a:r>
              <a:rPr lang="en-SE" dirty="0" err="1"/>
              <a:t>DAGs</a:t>
            </a:r>
            <a:endParaRPr lang="en-SE" dirty="0"/>
          </a:p>
        </p:txBody>
      </p:sp>
      <p:sp>
        <p:nvSpPr>
          <p:cNvPr id="4" name="Date Placeholder 3">
            <a:extLst>
              <a:ext uri="{FF2B5EF4-FFF2-40B4-BE49-F238E27FC236}">
                <a16:creationId xmlns:a16="http://schemas.microsoft.com/office/drawing/2014/main" id="{5E8D0E40-0B6C-F657-C159-E3437E22E99F}"/>
              </a:ext>
            </a:extLst>
          </p:cNvPr>
          <p:cNvSpPr>
            <a:spLocks noGrp="1"/>
          </p:cNvSpPr>
          <p:nvPr>
            <p:ph type="dt" sz="half" idx="10"/>
          </p:nvPr>
        </p:nvSpPr>
        <p:spPr/>
        <p:txBody>
          <a:bodyPr/>
          <a:lstStyle/>
          <a:p>
            <a:fld id="{A1C06950-82F8-45F4-A28D-9FBF8CAE29F7}" type="datetime1">
              <a:rPr lang="de-DE" smtClean="0"/>
              <a:t>17.06.2026</a:t>
            </a:fld>
            <a:endParaRPr lang="en-SE"/>
          </a:p>
        </p:txBody>
      </p:sp>
      <p:sp>
        <p:nvSpPr>
          <p:cNvPr id="5" name="Slide Number Placeholder 4">
            <a:extLst>
              <a:ext uri="{FF2B5EF4-FFF2-40B4-BE49-F238E27FC236}">
                <a16:creationId xmlns:a16="http://schemas.microsoft.com/office/drawing/2014/main" id="{EF121F18-9EE3-65F2-EA01-30A7A4C3E214}"/>
              </a:ext>
            </a:extLst>
          </p:cNvPr>
          <p:cNvSpPr>
            <a:spLocks noGrp="1"/>
          </p:cNvSpPr>
          <p:nvPr>
            <p:ph type="sldNum" sz="quarter" idx="12"/>
          </p:nvPr>
        </p:nvSpPr>
        <p:spPr/>
        <p:txBody>
          <a:bodyPr/>
          <a:lstStyle/>
          <a:p>
            <a:fld id="{271ECC92-9CDE-4EB3-B1C5-F46B9E1FA3C1}" type="slidenum">
              <a:rPr lang="en-SE" smtClean="0"/>
              <a:t>26</a:t>
            </a:fld>
            <a:endParaRPr lang="en-SE"/>
          </a:p>
        </p:txBody>
      </p:sp>
    </p:spTree>
    <p:extLst>
      <p:ext uri="{BB962C8B-B14F-4D97-AF65-F5344CB8AC3E}">
        <p14:creationId xmlns:p14="http://schemas.microsoft.com/office/powerpoint/2010/main" val="19258674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1DCDE7-1223-9778-1325-9BD7ECAA96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BAE039-0BAF-21F4-43C6-11E7267ED940}"/>
              </a:ext>
            </a:extLst>
          </p:cNvPr>
          <p:cNvSpPr>
            <a:spLocks noGrp="1"/>
          </p:cNvSpPr>
          <p:nvPr>
            <p:ph type="title"/>
          </p:nvPr>
        </p:nvSpPr>
        <p:spPr/>
        <p:txBody>
          <a:bodyPr/>
          <a:lstStyle/>
          <a:p>
            <a:r>
              <a:rPr lang="en-US" noProof="0" dirty="0"/>
              <a:t>Deriving a statistical Model from a causal Model: d-separation</a:t>
            </a:r>
          </a:p>
        </p:txBody>
      </p:sp>
      <p:sp>
        <p:nvSpPr>
          <p:cNvPr id="3" name="Content Placeholder 2">
            <a:extLst>
              <a:ext uri="{FF2B5EF4-FFF2-40B4-BE49-F238E27FC236}">
                <a16:creationId xmlns:a16="http://schemas.microsoft.com/office/drawing/2014/main" id="{CD9677A1-CAF1-C80D-A9C8-5DEB632CF4D1}"/>
              </a:ext>
            </a:extLst>
          </p:cNvPr>
          <p:cNvSpPr>
            <a:spLocks noGrp="1"/>
          </p:cNvSpPr>
          <p:nvPr>
            <p:ph idx="1"/>
          </p:nvPr>
        </p:nvSpPr>
        <p:spPr>
          <a:xfrm>
            <a:off x="838200" y="1825625"/>
            <a:ext cx="10515600" cy="1603375"/>
          </a:xfrm>
        </p:spPr>
        <p:txBody>
          <a:bodyPr>
            <a:normAutofit/>
          </a:bodyPr>
          <a:lstStyle/>
          <a:p>
            <a:pPr marL="0" indent="0">
              <a:buNone/>
            </a:pPr>
            <a:r>
              <a:rPr lang="en-US" sz="2400" noProof="0" dirty="0"/>
              <a:t>A general framework to derive statistical models from causal models uses </a:t>
            </a:r>
            <a:r>
              <a:rPr lang="en-US" sz="2400" b="1" noProof="0" dirty="0"/>
              <a:t>d-separation</a:t>
            </a:r>
            <a:r>
              <a:rPr lang="en-US" sz="2400" noProof="0" dirty="0"/>
              <a:t>. It produces an </a:t>
            </a:r>
            <a:r>
              <a:rPr lang="en-US" sz="2400" b="1" noProof="0" dirty="0"/>
              <a:t>adjustment set</a:t>
            </a:r>
            <a:r>
              <a:rPr lang="en-US" sz="2400" noProof="0" dirty="0"/>
              <a:t>, i.e., the set of variables to control statistically in order to de-confound the causal effect between the exposure and the outcome.</a:t>
            </a:r>
          </a:p>
        </p:txBody>
      </p:sp>
      <p:sp>
        <p:nvSpPr>
          <p:cNvPr id="4" name="Date Placeholder 3">
            <a:extLst>
              <a:ext uri="{FF2B5EF4-FFF2-40B4-BE49-F238E27FC236}">
                <a16:creationId xmlns:a16="http://schemas.microsoft.com/office/drawing/2014/main" id="{7CA4F1FC-8DF7-9A95-7AF1-A702A44682FC}"/>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DF6EDA96-D8DE-F120-25A8-D7DF9F7DA2EA}"/>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F7F91CF4-3AFF-E562-FDA5-EE850B868700}"/>
              </a:ext>
            </a:extLst>
          </p:cNvPr>
          <p:cNvSpPr>
            <a:spLocks noGrp="1"/>
          </p:cNvSpPr>
          <p:nvPr>
            <p:ph type="sldNum" sz="quarter" idx="12"/>
          </p:nvPr>
        </p:nvSpPr>
        <p:spPr/>
        <p:txBody>
          <a:bodyPr/>
          <a:lstStyle/>
          <a:p>
            <a:fld id="{0FA2D919-C0DE-4971-A2E9-D4AC0031921B}" type="slidenum">
              <a:rPr lang="en-US" noProof="0" smtClean="0"/>
              <a:t>27</a:t>
            </a:fld>
            <a:endParaRPr lang="en-US" noProof="0" dirty="0"/>
          </a:p>
        </p:txBody>
      </p:sp>
      <p:sp>
        <p:nvSpPr>
          <p:cNvPr id="8" name="TextBox 7">
            <a:extLst>
              <a:ext uri="{FF2B5EF4-FFF2-40B4-BE49-F238E27FC236}">
                <a16:creationId xmlns:a16="http://schemas.microsoft.com/office/drawing/2014/main" id="{45DFD197-A361-BDA0-0AE1-EBB49FA91E6F}"/>
              </a:ext>
            </a:extLst>
          </p:cNvPr>
          <p:cNvSpPr txBox="1"/>
          <p:nvPr/>
        </p:nvSpPr>
        <p:spPr>
          <a:xfrm>
            <a:off x="838200" y="5987018"/>
            <a:ext cx="6096000" cy="369332"/>
          </a:xfrm>
          <a:prstGeom prst="rect">
            <a:avLst/>
          </a:prstGeom>
          <a:noFill/>
        </p:spPr>
        <p:txBody>
          <a:bodyPr wrap="square">
            <a:spAutoFit/>
          </a:bodyPr>
          <a:lstStyle/>
          <a:p>
            <a:pPr marL="0" indent="0">
              <a:buNone/>
            </a:pPr>
            <a:r>
              <a:rPr lang="en-US" noProof="0" dirty="0">
                <a:hlinkClick r:id="rId3"/>
              </a:rPr>
              <a:t>https://bayes.cs.ucla.edu/BOOK-2K/d-sep.html</a:t>
            </a:r>
            <a:r>
              <a:rPr lang="en-US" noProof="0" dirty="0"/>
              <a:t> </a:t>
            </a:r>
          </a:p>
        </p:txBody>
      </p:sp>
    </p:spTree>
    <p:extLst>
      <p:ext uri="{BB962C8B-B14F-4D97-AF65-F5344CB8AC3E}">
        <p14:creationId xmlns:p14="http://schemas.microsoft.com/office/powerpoint/2010/main" val="16150703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DA66E-ACFF-1268-CDA5-18AC5C848D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756EFA-FB6F-EA4D-7A66-1AAE04EC7E89}"/>
              </a:ext>
            </a:extLst>
          </p:cNvPr>
          <p:cNvSpPr>
            <a:spLocks noGrp="1"/>
          </p:cNvSpPr>
          <p:nvPr>
            <p:ph type="title"/>
          </p:nvPr>
        </p:nvSpPr>
        <p:spPr/>
        <p:txBody>
          <a:bodyPr/>
          <a:lstStyle/>
          <a:p>
            <a:r>
              <a:rPr lang="en-US" noProof="0" dirty="0"/>
              <a:t>Deriving a statistical Model from a causal Model: d-separation</a:t>
            </a:r>
          </a:p>
        </p:txBody>
      </p:sp>
      <p:sp>
        <p:nvSpPr>
          <p:cNvPr id="3" name="Content Placeholder 2">
            <a:extLst>
              <a:ext uri="{FF2B5EF4-FFF2-40B4-BE49-F238E27FC236}">
                <a16:creationId xmlns:a16="http://schemas.microsoft.com/office/drawing/2014/main" id="{8DA10461-5544-791C-36EA-5F7830BB5441}"/>
              </a:ext>
            </a:extLst>
          </p:cNvPr>
          <p:cNvSpPr>
            <a:spLocks noGrp="1"/>
          </p:cNvSpPr>
          <p:nvPr>
            <p:ph idx="1"/>
          </p:nvPr>
        </p:nvSpPr>
        <p:spPr>
          <a:xfrm>
            <a:off x="838200" y="1825625"/>
            <a:ext cx="10515600" cy="1603375"/>
          </a:xfrm>
        </p:spPr>
        <p:txBody>
          <a:bodyPr>
            <a:normAutofit/>
          </a:bodyPr>
          <a:lstStyle/>
          <a:p>
            <a:pPr marL="0" indent="0">
              <a:buNone/>
            </a:pPr>
            <a:r>
              <a:rPr lang="en-US" sz="2400" noProof="0" dirty="0"/>
              <a:t>A general framework to derive statistical models from causal models uses </a:t>
            </a:r>
            <a:r>
              <a:rPr lang="en-US" sz="2400" b="1" noProof="0" dirty="0"/>
              <a:t>d-separation</a:t>
            </a:r>
            <a:r>
              <a:rPr lang="en-US" sz="2400" noProof="0" dirty="0"/>
              <a:t>. It produces an </a:t>
            </a:r>
            <a:r>
              <a:rPr lang="en-US" sz="2400" b="1" noProof="0" dirty="0"/>
              <a:t>adjustment set</a:t>
            </a:r>
            <a:r>
              <a:rPr lang="en-US" sz="2400" noProof="0" dirty="0"/>
              <a:t>, i.e., the set of variables to control statistically in order to de-confound the causal effect between the exposure and the outcome.</a:t>
            </a:r>
          </a:p>
        </p:txBody>
      </p:sp>
      <p:sp>
        <p:nvSpPr>
          <p:cNvPr id="4" name="Date Placeholder 3">
            <a:extLst>
              <a:ext uri="{FF2B5EF4-FFF2-40B4-BE49-F238E27FC236}">
                <a16:creationId xmlns:a16="http://schemas.microsoft.com/office/drawing/2014/main" id="{644DF340-E5BB-4C8A-26F3-A75AA7492277}"/>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300754B9-6194-75F6-FD55-44F99A285D55}"/>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358287CD-A3D9-D6F2-2DAD-937B67C91E0B}"/>
              </a:ext>
            </a:extLst>
          </p:cNvPr>
          <p:cNvSpPr>
            <a:spLocks noGrp="1"/>
          </p:cNvSpPr>
          <p:nvPr>
            <p:ph type="sldNum" sz="quarter" idx="12"/>
          </p:nvPr>
        </p:nvSpPr>
        <p:spPr/>
        <p:txBody>
          <a:bodyPr/>
          <a:lstStyle/>
          <a:p>
            <a:fld id="{0FA2D919-C0DE-4971-A2E9-D4AC0031921B}" type="slidenum">
              <a:rPr lang="en-US" noProof="0" smtClean="0"/>
              <a:t>28</a:t>
            </a:fld>
            <a:endParaRPr lang="en-US" noProof="0" dirty="0"/>
          </a:p>
        </p:txBody>
      </p:sp>
      <p:sp>
        <p:nvSpPr>
          <p:cNvPr id="8" name="TextBox 7">
            <a:extLst>
              <a:ext uri="{FF2B5EF4-FFF2-40B4-BE49-F238E27FC236}">
                <a16:creationId xmlns:a16="http://schemas.microsoft.com/office/drawing/2014/main" id="{85E5C05E-890A-85C3-746A-68D3691EFC1C}"/>
              </a:ext>
            </a:extLst>
          </p:cNvPr>
          <p:cNvSpPr txBox="1"/>
          <p:nvPr/>
        </p:nvSpPr>
        <p:spPr>
          <a:xfrm>
            <a:off x="838200" y="5987018"/>
            <a:ext cx="6096000" cy="369332"/>
          </a:xfrm>
          <a:prstGeom prst="rect">
            <a:avLst/>
          </a:prstGeom>
          <a:noFill/>
        </p:spPr>
        <p:txBody>
          <a:bodyPr wrap="square">
            <a:spAutoFit/>
          </a:bodyPr>
          <a:lstStyle/>
          <a:p>
            <a:pPr marL="0" indent="0">
              <a:buNone/>
            </a:pPr>
            <a:r>
              <a:rPr lang="en-US" noProof="0" dirty="0">
                <a:hlinkClick r:id="rId3"/>
              </a:rPr>
              <a:t>https://bayes.cs.ucla.edu/BOOK-2K/d-sep.html</a:t>
            </a:r>
            <a:r>
              <a:rPr lang="en-US" noProof="0" dirty="0"/>
              <a:t> </a:t>
            </a:r>
          </a:p>
        </p:txBody>
      </p:sp>
      <p:sp>
        <p:nvSpPr>
          <p:cNvPr id="11" name="Oval 10">
            <a:extLst>
              <a:ext uri="{FF2B5EF4-FFF2-40B4-BE49-F238E27FC236}">
                <a16:creationId xmlns:a16="http://schemas.microsoft.com/office/drawing/2014/main" id="{AAEE7681-F563-0162-5D6E-13B8797B989B}"/>
              </a:ext>
            </a:extLst>
          </p:cNvPr>
          <p:cNvSpPr/>
          <p:nvPr/>
        </p:nvSpPr>
        <p:spPr>
          <a:xfrm>
            <a:off x="1328964" y="4394427"/>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a</a:t>
            </a:r>
          </a:p>
        </p:txBody>
      </p:sp>
      <p:sp>
        <p:nvSpPr>
          <p:cNvPr id="12" name="Oval 11">
            <a:extLst>
              <a:ext uri="{FF2B5EF4-FFF2-40B4-BE49-F238E27FC236}">
                <a16:creationId xmlns:a16="http://schemas.microsoft.com/office/drawing/2014/main" id="{CD9BB880-B857-43FD-5C44-050598F8ECD2}"/>
              </a:ext>
            </a:extLst>
          </p:cNvPr>
          <p:cNvSpPr/>
          <p:nvPr/>
        </p:nvSpPr>
        <p:spPr>
          <a:xfrm>
            <a:off x="3820344" y="4394427"/>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b</a:t>
            </a:r>
          </a:p>
        </p:txBody>
      </p:sp>
      <p:cxnSp>
        <p:nvCxnSpPr>
          <p:cNvPr id="13" name="Straight Arrow Connector 12">
            <a:extLst>
              <a:ext uri="{FF2B5EF4-FFF2-40B4-BE49-F238E27FC236}">
                <a16:creationId xmlns:a16="http://schemas.microsoft.com/office/drawing/2014/main" id="{31628A8E-B656-3DBE-64A7-287580785766}"/>
              </a:ext>
            </a:extLst>
          </p:cNvPr>
          <p:cNvCxnSpPr>
            <a:stCxn id="11" idx="6"/>
            <a:endCxn id="12" idx="2"/>
          </p:cNvCxnSpPr>
          <p:nvPr/>
        </p:nvCxnSpPr>
        <p:spPr>
          <a:xfrm>
            <a:off x="1688964" y="4574427"/>
            <a:ext cx="21313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6" name="Oval 15">
            <a:extLst>
              <a:ext uri="{FF2B5EF4-FFF2-40B4-BE49-F238E27FC236}">
                <a16:creationId xmlns:a16="http://schemas.microsoft.com/office/drawing/2014/main" id="{635496F8-682B-93C7-04C7-FE12C0D55C7C}"/>
              </a:ext>
            </a:extLst>
          </p:cNvPr>
          <p:cNvSpPr/>
          <p:nvPr/>
        </p:nvSpPr>
        <p:spPr>
          <a:xfrm>
            <a:off x="2574654" y="5052577"/>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e</a:t>
            </a:r>
          </a:p>
        </p:txBody>
      </p:sp>
      <p:cxnSp>
        <p:nvCxnSpPr>
          <p:cNvPr id="18" name="Straight Arrow Connector 17">
            <a:extLst>
              <a:ext uri="{FF2B5EF4-FFF2-40B4-BE49-F238E27FC236}">
                <a16:creationId xmlns:a16="http://schemas.microsoft.com/office/drawing/2014/main" id="{22C317EE-C832-0C92-F95E-28C6AEDAD01A}"/>
              </a:ext>
            </a:extLst>
          </p:cNvPr>
          <p:cNvCxnSpPr>
            <a:cxnSpLocks/>
            <a:stCxn id="16" idx="6"/>
            <a:endCxn id="12" idx="3"/>
          </p:cNvCxnSpPr>
          <p:nvPr/>
        </p:nvCxnSpPr>
        <p:spPr>
          <a:xfrm flipV="1">
            <a:off x="2934654" y="4701706"/>
            <a:ext cx="938411" cy="53087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9" name="Straight Arrow Connector 18">
            <a:extLst>
              <a:ext uri="{FF2B5EF4-FFF2-40B4-BE49-F238E27FC236}">
                <a16:creationId xmlns:a16="http://schemas.microsoft.com/office/drawing/2014/main" id="{2C7EB212-8EA8-1217-9094-BE082E0788FB}"/>
              </a:ext>
            </a:extLst>
          </p:cNvPr>
          <p:cNvCxnSpPr>
            <a:cxnSpLocks/>
            <a:stCxn id="11" idx="5"/>
            <a:endCxn id="16" idx="2"/>
          </p:cNvCxnSpPr>
          <p:nvPr/>
        </p:nvCxnSpPr>
        <p:spPr>
          <a:xfrm>
            <a:off x="1636243" y="4701706"/>
            <a:ext cx="938411" cy="53087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3" name="Oval 22">
            <a:extLst>
              <a:ext uri="{FF2B5EF4-FFF2-40B4-BE49-F238E27FC236}">
                <a16:creationId xmlns:a16="http://schemas.microsoft.com/office/drawing/2014/main" id="{C5BD7D2C-3CFF-CEB3-2074-3DD65931219E}"/>
              </a:ext>
            </a:extLst>
          </p:cNvPr>
          <p:cNvSpPr/>
          <p:nvPr/>
        </p:nvSpPr>
        <p:spPr>
          <a:xfrm>
            <a:off x="1330258" y="3556278"/>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c</a:t>
            </a:r>
          </a:p>
        </p:txBody>
      </p:sp>
      <p:sp>
        <p:nvSpPr>
          <p:cNvPr id="24" name="Oval 23">
            <a:extLst>
              <a:ext uri="{FF2B5EF4-FFF2-40B4-BE49-F238E27FC236}">
                <a16:creationId xmlns:a16="http://schemas.microsoft.com/office/drawing/2014/main" id="{09839CD6-8FB8-88C1-12A4-FD4B8E7691A4}"/>
              </a:ext>
            </a:extLst>
          </p:cNvPr>
          <p:cNvSpPr/>
          <p:nvPr/>
        </p:nvSpPr>
        <p:spPr>
          <a:xfrm>
            <a:off x="2574654" y="3551713"/>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d</a:t>
            </a:r>
          </a:p>
        </p:txBody>
      </p:sp>
      <p:cxnSp>
        <p:nvCxnSpPr>
          <p:cNvPr id="25" name="Straight Arrow Connector 24">
            <a:extLst>
              <a:ext uri="{FF2B5EF4-FFF2-40B4-BE49-F238E27FC236}">
                <a16:creationId xmlns:a16="http://schemas.microsoft.com/office/drawing/2014/main" id="{FFC0513E-92A3-E8C3-7CDE-670E13813BE4}"/>
              </a:ext>
            </a:extLst>
          </p:cNvPr>
          <p:cNvCxnSpPr>
            <a:cxnSpLocks/>
            <a:stCxn id="23" idx="4"/>
            <a:endCxn id="11" idx="0"/>
          </p:cNvCxnSpPr>
          <p:nvPr/>
        </p:nvCxnSpPr>
        <p:spPr>
          <a:xfrm flipH="1">
            <a:off x="1508964" y="3916278"/>
            <a:ext cx="1294" cy="478149"/>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cxnSp>
        <p:nvCxnSpPr>
          <p:cNvPr id="31" name="Straight Arrow Connector 30">
            <a:extLst>
              <a:ext uri="{FF2B5EF4-FFF2-40B4-BE49-F238E27FC236}">
                <a16:creationId xmlns:a16="http://schemas.microsoft.com/office/drawing/2014/main" id="{B6C3CF87-8090-3130-EC04-45E9A05B29CA}"/>
              </a:ext>
            </a:extLst>
          </p:cNvPr>
          <p:cNvCxnSpPr>
            <a:cxnSpLocks/>
            <a:stCxn id="23" idx="6"/>
            <a:endCxn id="24" idx="2"/>
          </p:cNvCxnSpPr>
          <p:nvPr/>
        </p:nvCxnSpPr>
        <p:spPr>
          <a:xfrm flipV="1">
            <a:off x="1690258" y="3731713"/>
            <a:ext cx="884396" cy="4565"/>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cxnSp>
        <p:nvCxnSpPr>
          <p:cNvPr id="34" name="Straight Arrow Connector 33">
            <a:extLst>
              <a:ext uri="{FF2B5EF4-FFF2-40B4-BE49-F238E27FC236}">
                <a16:creationId xmlns:a16="http://schemas.microsoft.com/office/drawing/2014/main" id="{61D4BF4C-56D2-FFE6-53ED-F00543734C3D}"/>
              </a:ext>
            </a:extLst>
          </p:cNvPr>
          <p:cNvCxnSpPr>
            <a:cxnSpLocks/>
            <a:stCxn id="12" idx="1"/>
            <a:endCxn id="24" idx="5"/>
          </p:cNvCxnSpPr>
          <p:nvPr/>
        </p:nvCxnSpPr>
        <p:spPr>
          <a:xfrm flipH="1" flipV="1">
            <a:off x="2881933" y="3858992"/>
            <a:ext cx="991132" cy="588156"/>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sp>
        <p:nvSpPr>
          <p:cNvPr id="54" name="Oval 53">
            <a:extLst>
              <a:ext uri="{FF2B5EF4-FFF2-40B4-BE49-F238E27FC236}">
                <a16:creationId xmlns:a16="http://schemas.microsoft.com/office/drawing/2014/main" id="{6F2EB214-29DF-7F9B-D114-9A7C523FB416}"/>
              </a:ext>
            </a:extLst>
          </p:cNvPr>
          <p:cNvSpPr/>
          <p:nvPr/>
        </p:nvSpPr>
        <p:spPr>
          <a:xfrm>
            <a:off x="1328964" y="5592576"/>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f</a:t>
            </a:r>
          </a:p>
        </p:txBody>
      </p:sp>
      <p:sp>
        <p:nvSpPr>
          <p:cNvPr id="55" name="Oval 54">
            <a:extLst>
              <a:ext uri="{FF2B5EF4-FFF2-40B4-BE49-F238E27FC236}">
                <a16:creationId xmlns:a16="http://schemas.microsoft.com/office/drawing/2014/main" id="{071C02B5-4BAE-B196-4A9B-66025C81659C}"/>
              </a:ext>
            </a:extLst>
          </p:cNvPr>
          <p:cNvSpPr/>
          <p:nvPr/>
        </p:nvSpPr>
        <p:spPr>
          <a:xfrm>
            <a:off x="3820344" y="5592576"/>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g</a:t>
            </a:r>
          </a:p>
        </p:txBody>
      </p:sp>
      <p:cxnSp>
        <p:nvCxnSpPr>
          <p:cNvPr id="56" name="Straight Arrow Connector 55">
            <a:extLst>
              <a:ext uri="{FF2B5EF4-FFF2-40B4-BE49-F238E27FC236}">
                <a16:creationId xmlns:a16="http://schemas.microsoft.com/office/drawing/2014/main" id="{890230D3-BCCE-D220-18FC-AD8204217065}"/>
              </a:ext>
            </a:extLst>
          </p:cNvPr>
          <p:cNvCxnSpPr>
            <a:cxnSpLocks/>
            <a:stCxn id="54" idx="0"/>
            <a:endCxn id="11" idx="4"/>
          </p:cNvCxnSpPr>
          <p:nvPr/>
        </p:nvCxnSpPr>
        <p:spPr>
          <a:xfrm flipV="1">
            <a:off x="1508964" y="4754427"/>
            <a:ext cx="0" cy="838149"/>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cxnSp>
        <p:nvCxnSpPr>
          <p:cNvPr id="59" name="Straight Arrow Connector 58">
            <a:extLst>
              <a:ext uri="{FF2B5EF4-FFF2-40B4-BE49-F238E27FC236}">
                <a16:creationId xmlns:a16="http://schemas.microsoft.com/office/drawing/2014/main" id="{D724D3C6-1542-35A3-4F4E-57DA07CF6998}"/>
              </a:ext>
            </a:extLst>
          </p:cNvPr>
          <p:cNvCxnSpPr>
            <a:cxnSpLocks/>
            <a:stCxn id="54" idx="6"/>
            <a:endCxn id="55" idx="2"/>
          </p:cNvCxnSpPr>
          <p:nvPr/>
        </p:nvCxnSpPr>
        <p:spPr>
          <a:xfrm>
            <a:off x="1688964" y="5772576"/>
            <a:ext cx="2131380" cy="0"/>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cxnSp>
        <p:nvCxnSpPr>
          <p:cNvPr id="62" name="Straight Arrow Connector 61">
            <a:extLst>
              <a:ext uri="{FF2B5EF4-FFF2-40B4-BE49-F238E27FC236}">
                <a16:creationId xmlns:a16="http://schemas.microsoft.com/office/drawing/2014/main" id="{3207E108-9D92-DBC9-C7BD-85801EE87899}"/>
              </a:ext>
            </a:extLst>
          </p:cNvPr>
          <p:cNvCxnSpPr>
            <a:cxnSpLocks/>
            <a:stCxn id="55" idx="0"/>
            <a:endCxn id="12" idx="4"/>
          </p:cNvCxnSpPr>
          <p:nvPr/>
        </p:nvCxnSpPr>
        <p:spPr>
          <a:xfrm flipV="1">
            <a:off x="4000344" y="4754427"/>
            <a:ext cx="0" cy="838149"/>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grpSp>
        <p:nvGrpSpPr>
          <p:cNvPr id="69" name="Group 68">
            <a:extLst>
              <a:ext uri="{FF2B5EF4-FFF2-40B4-BE49-F238E27FC236}">
                <a16:creationId xmlns:a16="http://schemas.microsoft.com/office/drawing/2014/main" id="{860D6E7E-47A1-684A-1423-8DBB4A488B04}"/>
              </a:ext>
            </a:extLst>
          </p:cNvPr>
          <p:cNvGrpSpPr/>
          <p:nvPr/>
        </p:nvGrpSpPr>
        <p:grpSpPr>
          <a:xfrm>
            <a:off x="4564594" y="3582332"/>
            <a:ext cx="2563289" cy="432000"/>
            <a:chOff x="4604412" y="1893985"/>
            <a:chExt cx="2563289" cy="432000"/>
          </a:xfrm>
        </p:grpSpPr>
        <p:sp>
          <p:nvSpPr>
            <p:cNvPr id="70" name="Arrow: Pentagon 69">
              <a:extLst>
                <a:ext uri="{FF2B5EF4-FFF2-40B4-BE49-F238E27FC236}">
                  <a16:creationId xmlns:a16="http://schemas.microsoft.com/office/drawing/2014/main" id="{84C6A342-7F7C-4480-2DAB-71497AEC56DE}"/>
                </a:ext>
              </a:extLst>
            </p:cNvPr>
            <p:cNvSpPr/>
            <p:nvPr/>
          </p:nvSpPr>
          <p:spPr>
            <a:xfrm>
              <a:off x="4604412" y="1893985"/>
              <a:ext cx="2563289" cy="432000"/>
            </a:xfrm>
            <a:prstGeom prst="homePlate">
              <a:avLst/>
            </a:prstGeom>
            <a:solidFill>
              <a:schemeClr val="accent4">
                <a:lumMod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432000" rtlCol="0" anchor="ctr"/>
            <a:lstStyle/>
            <a:p>
              <a:r>
                <a:rPr lang="en-US" noProof="0" dirty="0"/>
                <a:t>Model Derivation</a:t>
              </a:r>
            </a:p>
          </p:txBody>
        </p:sp>
        <p:pic>
          <p:nvPicPr>
            <p:cNvPr id="71" name="Graphic 70" descr="Connections with solid fill">
              <a:extLst>
                <a:ext uri="{FF2B5EF4-FFF2-40B4-BE49-F238E27FC236}">
                  <a16:creationId xmlns:a16="http://schemas.microsoft.com/office/drawing/2014/main" id="{555999C7-8281-83DB-E452-6172B3AAE89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64301" y="1929985"/>
              <a:ext cx="360000" cy="360000"/>
            </a:xfrm>
            <a:prstGeom prst="rect">
              <a:avLst/>
            </a:prstGeom>
          </p:spPr>
        </p:pic>
      </p:grpSp>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15F26C48-155A-FE75-0B25-B4866D71255B}"/>
                  </a:ext>
                </a:extLst>
              </p:cNvPr>
              <p:cNvSpPr txBox="1"/>
              <p:nvPr/>
            </p:nvSpPr>
            <p:spPr>
              <a:xfrm>
                <a:off x="7320769" y="3601512"/>
                <a:ext cx="77290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noProof="0" smtClean="0">
                          <a:latin typeface="Cambria Math" panose="02040503050406030204" pitchFamily="18" charset="0"/>
                        </a:rPr>
                        <m:t>𝑚</m:t>
                      </m:r>
                      <m:r>
                        <a:rPr lang="en-US" b="0" i="1" noProof="0" smtClean="0">
                          <a:latin typeface="Cambria Math" panose="02040503050406030204" pitchFamily="18" charset="0"/>
                        </a:rPr>
                        <m:t>:</m:t>
                      </m:r>
                      <m:r>
                        <a:rPr lang="en-US" b="0" i="1" noProof="0" smtClean="0">
                          <a:solidFill>
                            <a:srgbClr val="006D70"/>
                          </a:solidFill>
                          <a:latin typeface="Cambria Math" panose="02040503050406030204" pitchFamily="18" charset="0"/>
                        </a:rPr>
                        <m:t>𝑏</m:t>
                      </m:r>
                      <m:r>
                        <a:rPr lang="en-US" b="0" i="1" noProof="0" smtClean="0">
                          <a:latin typeface="Cambria Math" panose="02040503050406030204" pitchFamily="18" charset="0"/>
                        </a:rPr>
                        <m:t>~</m:t>
                      </m:r>
                      <m:r>
                        <a:rPr lang="en-US" b="0" i="1" noProof="0" smtClean="0">
                          <a:solidFill>
                            <a:srgbClr val="D0180A"/>
                          </a:solidFill>
                          <a:latin typeface="Cambria Math" panose="02040503050406030204" pitchFamily="18" charset="0"/>
                        </a:rPr>
                        <m:t>𝑎</m:t>
                      </m:r>
                    </m:oMath>
                  </m:oMathPara>
                </a14:m>
                <a:endParaRPr lang="en-US" noProof="0" dirty="0"/>
              </a:p>
            </p:txBody>
          </p:sp>
        </mc:Choice>
        <mc:Fallback xmlns="">
          <p:sp>
            <p:nvSpPr>
              <p:cNvPr id="72" name="TextBox 71">
                <a:extLst>
                  <a:ext uri="{FF2B5EF4-FFF2-40B4-BE49-F238E27FC236}">
                    <a16:creationId xmlns:a16="http://schemas.microsoft.com/office/drawing/2014/main" id="{15F26C48-155A-FE75-0B25-B4866D71255B}"/>
                  </a:ext>
                </a:extLst>
              </p:cNvPr>
              <p:cNvSpPr txBox="1">
                <a:spLocks noRot="1" noChangeAspect="1" noMove="1" noResize="1" noEditPoints="1" noAdjustHandles="1" noChangeArrowheads="1" noChangeShapeType="1" noTextEdit="1"/>
              </p:cNvSpPr>
              <p:nvPr/>
            </p:nvSpPr>
            <p:spPr>
              <a:xfrm>
                <a:off x="7320769" y="3601512"/>
                <a:ext cx="772904" cy="276999"/>
              </a:xfrm>
              <a:prstGeom prst="rect">
                <a:avLst/>
              </a:prstGeom>
              <a:blipFill>
                <a:blip r:embed="rId6"/>
                <a:stretch>
                  <a:fillRect l="-4724" r="-3937" b="-8889"/>
                </a:stretch>
              </a:blipFill>
            </p:spPr>
            <p:txBody>
              <a:bodyPr/>
              <a:lstStyle/>
              <a:p>
                <a:r>
                  <a:rPr lang="en-SE">
                    <a:noFill/>
                  </a:rPr>
                  <a:t> </a:t>
                </a:r>
              </a:p>
            </p:txBody>
          </p:sp>
        </mc:Fallback>
      </mc:AlternateContent>
    </p:spTree>
    <p:extLst>
      <p:ext uri="{BB962C8B-B14F-4D97-AF65-F5344CB8AC3E}">
        <p14:creationId xmlns:p14="http://schemas.microsoft.com/office/powerpoint/2010/main" val="18813245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E1E925-04CC-8A66-E145-BCE170F41D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EF556D-FD7E-CA3B-8A8F-4886E9F1BD8E}"/>
              </a:ext>
            </a:extLst>
          </p:cNvPr>
          <p:cNvSpPr>
            <a:spLocks noGrp="1"/>
          </p:cNvSpPr>
          <p:nvPr>
            <p:ph type="title"/>
          </p:nvPr>
        </p:nvSpPr>
        <p:spPr/>
        <p:txBody>
          <a:bodyPr/>
          <a:lstStyle/>
          <a:p>
            <a:r>
              <a:rPr lang="en-US" noProof="0" dirty="0"/>
              <a:t>Deriving a statistical Model from a causal Model: d-separation</a:t>
            </a:r>
          </a:p>
        </p:txBody>
      </p:sp>
      <p:sp>
        <p:nvSpPr>
          <p:cNvPr id="3" name="Content Placeholder 2">
            <a:extLst>
              <a:ext uri="{FF2B5EF4-FFF2-40B4-BE49-F238E27FC236}">
                <a16:creationId xmlns:a16="http://schemas.microsoft.com/office/drawing/2014/main" id="{A46E0AE1-3DEF-DAAD-55EE-685F8AE89158}"/>
              </a:ext>
            </a:extLst>
          </p:cNvPr>
          <p:cNvSpPr>
            <a:spLocks noGrp="1"/>
          </p:cNvSpPr>
          <p:nvPr>
            <p:ph idx="1"/>
          </p:nvPr>
        </p:nvSpPr>
        <p:spPr>
          <a:xfrm>
            <a:off x="838200" y="1825625"/>
            <a:ext cx="10515600" cy="1603375"/>
          </a:xfrm>
        </p:spPr>
        <p:txBody>
          <a:bodyPr>
            <a:normAutofit/>
          </a:bodyPr>
          <a:lstStyle/>
          <a:p>
            <a:pPr marL="0" indent="0">
              <a:buNone/>
            </a:pPr>
            <a:r>
              <a:rPr lang="en-US" sz="2400" noProof="0" dirty="0"/>
              <a:t>A general framework to derive statistical models from causal models uses </a:t>
            </a:r>
            <a:r>
              <a:rPr lang="en-US" sz="2400" b="1" noProof="0" dirty="0"/>
              <a:t>d-separation</a:t>
            </a:r>
            <a:r>
              <a:rPr lang="en-US" sz="2400" noProof="0" dirty="0"/>
              <a:t>. It produces an </a:t>
            </a:r>
            <a:r>
              <a:rPr lang="en-US" sz="2400" b="1" noProof="0" dirty="0"/>
              <a:t>adjustment set</a:t>
            </a:r>
            <a:r>
              <a:rPr lang="en-US" sz="2400" noProof="0" dirty="0"/>
              <a:t>, i.e., the set of variables to control statistically in order to de-confound the causal effect between the exposure and the outcome.</a:t>
            </a:r>
          </a:p>
        </p:txBody>
      </p:sp>
      <p:sp>
        <p:nvSpPr>
          <p:cNvPr id="4" name="Date Placeholder 3">
            <a:extLst>
              <a:ext uri="{FF2B5EF4-FFF2-40B4-BE49-F238E27FC236}">
                <a16:creationId xmlns:a16="http://schemas.microsoft.com/office/drawing/2014/main" id="{8136881D-9E55-10D7-AD5A-63988AEFEE9C}"/>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B61CD6CB-4F6B-EEAE-F2FC-C009C03BD7F7}"/>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BE2FA418-7807-4889-72A9-2309957B34DD}"/>
              </a:ext>
            </a:extLst>
          </p:cNvPr>
          <p:cNvSpPr>
            <a:spLocks noGrp="1"/>
          </p:cNvSpPr>
          <p:nvPr>
            <p:ph type="sldNum" sz="quarter" idx="12"/>
          </p:nvPr>
        </p:nvSpPr>
        <p:spPr/>
        <p:txBody>
          <a:bodyPr/>
          <a:lstStyle/>
          <a:p>
            <a:fld id="{0FA2D919-C0DE-4971-A2E9-D4AC0031921B}" type="slidenum">
              <a:rPr lang="en-US" noProof="0" smtClean="0"/>
              <a:t>29</a:t>
            </a:fld>
            <a:endParaRPr lang="en-US" noProof="0" dirty="0"/>
          </a:p>
        </p:txBody>
      </p:sp>
      <p:sp>
        <p:nvSpPr>
          <p:cNvPr id="8" name="TextBox 7">
            <a:extLst>
              <a:ext uri="{FF2B5EF4-FFF2-40B4-BE49-F238E27FC236}">
                <a16:creationId xmlns:a16="http://schemas.microsoft.com/office/drawing/2014/main" id="{9CC66470-CB10-B468-9560-0A79A5D104DB}"/>
              </a:ext>
            </a:extLst>
          </p:cNvPr>
          <p:cNvSpPr txBox="1"/>
          <p:nvPr/>
        </p:nvSpPr>
        <p:spPr>
          <a:xfrm>
            <a:off x="838200" y="5987018"/>
            <a:ext cx="6096000" cy="369332"/>
          </a:xfrm>
          <a:prstGeom prst="rect">
            <a:avLst/>
          </a:prstGeom>
          <a:noFill/>
        </p:spPr>
        <p:txBody>
          <a:bodyPr wrap="square">
            <a:spAutoFit/>
          </a:bodyPr>
          <a:lstStyle/>
          <a:p>
            <a:pPr marL="0" indent="0">
              <a:buNone/>
            </a:pPr>
            <a:r>
              <a:rPr lang="en-US" noProof="0" dirty="0">
                <a:hlinkClick r:id="rId3"/>
              </a:rPr>
              <a:t>https://bayes.cs.ucla.edu/BOOK-2K/d-sep.html</a:t>
            </a:r>
            <a:r>
              <a:rPr lang="en-US" noProof="0" dirty="0"/>
              <a:t> </a:t>
            </a:r>
          </a:p>
        </p:txBody>
      </p:sp>
      <p:sp>
        <p:nvSpPr>
          <p:cNvPr id="11" name="Oval 10">
            <a:extLst>
              <a:ext uri="{FF2B5EF4-FFF2-40B4-BE49-F238E27FC236}">
                <a16:creationId xmlns:a16="http://schemas.microsoft.com/office/drawing/2014/main" id="{2816B623-6EAB-F025-6800-4CA4730FD53A}"/>
              </a:ext>
            </a:extLst>
          </p:cNvPr>
          <p:cNvSpPr/>
          <p:nvPr/>
        </p:nvSpPr>
        <p:spPr>
          <a:xfrm>
            <a:off x="1328964" y="4394427"/>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a</a:t>
            </a:r>
          </a:p>
        </p:txBody>
      </p:sp>
      <p:sp>
        <p:nvSpPr>
          <p:cNvPr id="12" name="Oval 11">
            <a:extLst>
              <a:ext uri="{FF2B5EF4-FFF2-40B4-BE49-F238E27FC236}">
                <a16:creationId xmlns:a16="http://schemas.microsoft.com/office/drawing/2014/main" id="{47B1B23C-97B8-5894-1AA3-84BD08F73004}"/>
              </a:ext>
            </a:extLst>
          </p:cNvPr>
          <p:cNvSpPr/>
          <p:nvPr/>
        </p:nvSpPr>
        <p:spPr>
          <a:xfrm>
            <a:off x="3820344" y="4394427"/>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b</a:t>
            </a:r>
          </a:p>
        </p:txBody>
      </p:sp>
      <p:cxnSp>
        <p:nvCxnSpPr>
          <p:cNvPr id="13" name="Straight Arrow Connector 12">
            <a:extLst>
              <a:ext uri="{FF2B5EF4-FFF2-40B4-BE49-F238E27FC236}">
                <a16:creationId xmlns:a16="http://schemas.microsoft.com/office/drawing/2014/main" id="{2AC58CF2-D667-4A36-8656-B274A06E73AA}"/>
              </a:ext>
            </a:extLst>
          </p:cNvPr>
          <p:cNvCxnSpPr>
            <a:stCxn id="11" idx="6"/>
            <a:endCxn id="12" idx="2"/>
          </p:cNvCxnSpPr>
          <p:nvPr/>
        </p:nvCxnSpPr>
        <p:spPr>
          <a:xfrm>
            <a:off x="1688964" y="4574427"/>
            <a:ext cx="21313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6" name="Oval 15">
            <a:extLst>
              <a:ext uri="{FF2B5EF4-FFF2-40B4-BE49-F238E27FC236}">
                <a16:creationId xmlns:a16="http://schemas.microsoft.com/office/drawing/2014/main" id="{C62E228D-6D24-3DE0-E119-986B7ECFA131}"/>
              </a:ext>
            </a:extLst>
          </p:cNvPr>
          <p:cNvSpPr/>
          <p:nvPr/>
        </p:nvSpPr>
        <p:spPr>
          <a:xfrm>
            <a:off x="2574654" y="5052577"/>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e</a:t>
            </a:r>
          </a:p>
        </p:txBody>
      </p:sp>
      <p:cxnSp>
        <p:nvCxnSpPr>
          <p:cNvPr id="18" name="Straight Arrow Connector 17">
            <a:extLst>
              <a:ext uri="{FF2B5EF4-FFF2-40B4-BE49-F238E27FC236}">
                <a16:creationId xmlns:a16="http://schemas.microsoft.com/office/drawing/2014/main" id="{26C6988E-7659-A50D-24E1-891879658818}"/>
              </a:ext>
            </a:extLst>
          </p:cNvPr>
          <p:cNvCxnSpPr>
            <a:cxnSpLocks/>
            <a:stCxn id="16" idx="6"/>
            <a:endCxn id="12" idx="3"/>
          </p:cNvCxnSpPr>
          <p:nvPr/>
        </p:nvCxnSpPr>
        <p:spPr>
          <a:xfrm flipV="1">
            <a:off x="2934654" y="4701706"/>
            <a:ext cx="938411" cy="53087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9" name="Straight Arrow Connector 18">
            <a:extLst>
              <a:ext uri="{FF2B5EF4-FFF2-40B4-BE49-F238E27FC236}">
                <a16:creationId xmlns:a16="http://schemas.microsoft.com/office/drawing/2014/main" id="{B9C88A5D-8B24-C6BB-C12E-C99D6330AC98}"/>
              </a:ext>
            </a:extLst>
          </p:cNvPr>
          <p:cNvCxnSpPr>
            <a:cxnSpLocks/>
            <a:stCxn id="11" idx="5"/>
            <a:endCxn id="16" idx="2"/>
          </p:cNvCxnSpPr>
          <p:nvPr/>
        </p:nvCxnSpPr>
        <p:spPr>
          <a:xfrm>
            <a:off x="1636243" y="4701706"/>
            <a:ext cx="938411" cy="53087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3" name="Oval 22">
            <a:extLst>
              <a:ext uri="{FF2B5EF4-FFF2-40B4-BE49-F238E27FC236}">
                <a16:creationId xmlns:a16="http://schemas.microsoft.com/office/drawing/2014/main" id="{14002446-6E48-6C52-6760-514530EEC84A}"/>
              </a:ext>
            </a:extLst>
          </p:cNvPr>
          <p:cNvSpPr/>
          <p:nvPr/>
        </p:nvSpPr>
        <p:spPr>
          <a:xfrm>
            <a:off x="1330258" y="3556278"/>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c</a:t>
            </a:r>
          </a:p>
        </p:txBody>
      </p:sp>
      <p:sp>
        <p:nvSpPr>
          <p:cNvPr id="24" name="Oval 23">
            <a:extLst>
              <a:ext uri="{FF2B5EF4-FFF2-40B4-BE49-F238E27FC236}">
                <a16:creationId xmlns:a16="http://schemas.microsoft.com/office/drawing/2014/main" id="{2D2626C0-C962-33DB-4992-6B21C56E084F}"/>
              </a:ext>
            </a:extLst>
          </p:cNvPr>
          <p:cNvSpPr/>
          <p:nvPr/>
        </p:nvSpPr>
        <p:spPr>
          <a:xfrm>
            <a:off x="2574654" y="3551713"/>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d</a:t>
            </a:r>
          </a:p>
        </p:txBody>
      </p:sp>
      <p:cxnSp>
        <p:nvCxnSpPr>
          <p:cNvPr id="25" name="Straight Arrow Connector 24">
            <a:extLst>
              <a:ext uri="{FF2B5EF4-FFF2-40B4-BE49-F238E27FC236}">
                <a16:creationId xmlns:a16="http://schemas.microsoft.com/office/drawing/2014/main" id="{13A462E5-6973-C535-4007-0E46636A42A4}"/>
              </a:ext>
            </a:extLst>
          </p:cNvPr>
          <p:cNvCxnSpPr>
            <a:cxnSpLocks/>
            <a:stCxn id="23" idx="4"/>
            <a:endCxn id="11" idx="0"/>
          </p:cNvCxnSpPr>
          <p:nvPr/>
        </p:nvCxnSpPr>
        <p:spPr>
          <a:xfrm flipH="1">
            <a:off x="1508964" y="3916278"/>
            <a:ext cx="1294" cy="478149"/>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cxnSp>
        <p:nvCxnSpPr>
          <p:cNvPr id="31" name="Straight Arrow Connector 30">
            <a:extLst>
              <a:ext uri="{FF2B5EF4-FFF2-40B4-BE49-F238E27FC236}">
                <a16:creationId xmlns:a16="http://schemas.microsoft.com/office/drawing/2014/main" id="{959CAD51-13D5-C7DD-0426-D634DD83342A}"/>
              </a:ext>
            </a:extLst>
          </p:cNvPr>
          <p:cNvCxnSpPr>
            <a:cxnSpLocks/>
            <a:stCxn id="23" idx="6"/>
            <a:endCxn id="24" idx="2"/>
          </p:cNvCxnSpPr>
          <p:nvPr/>
        </p:nvCxnSpPr>
        <p:spPr>
          <a:xfrm flipV="1">
            <a:off x="1690258" y="3731713"/>
            <a:ext cx="884396" cy="4565"/>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cxnSp>
        <p:nvCxnSpPr>
          <p:cNvPr id="34" name="Straight Arrow Connector 33">
            <a:extLst>
              <a:ext uri="{FF2B5EF4-FFF2-40B4-BE49-F238E27FC236}">
                <a16:creationId xmlns:a16="http://schemas.microsoft.com/office/drawing/2014/main" id="{0CD89038-C556-5F4B-53A9-4E34BDBFE607}"/>
              </a:ext>
            </a:extLst>
          </p:cNvPr>
          <p:cNvCxnSpPr>
            <a:cxnSpLocks/>
            <a:stCxn id="12" idx="1"/>
            <a:endCxn id="24" idx="5"/>
          </p:cNvCxnSpPr>
          <p:nvPr/>
        </p:nvCxnSpPr>
        <p:spPr>
          <a:xfrm flipH="1" flipV="1">
            <a:off x="2881933" y="3858992"/>
            <a:ext cx="991132" cy="588156"/>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sp>
        <p:nvSpPr>
          <p:cNvPr id="54" name="Oval 53">
            <a:extLst>
              <a:ext uri="{FF2B5EF4-FFF2-40B4-BE49-F238E27FC236}">
                <a16:creationId xmlns:a16="http://schemas.microsoft.com/office/drawing/2014/main" id="{FC9D6E6E-1E4B-4419-ADAB-B8CBC675EAA5}"/>
              </a:ext>
            </a:extLst>
          </p:cNvPr>
          <p:cNvSpPr/>
          <p:nvPr/>
        </p:nvSpPr>
        <p:spPr>
          <a:xfrm>
            <a:off x="1328964" y="5592576"/>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f</a:t>
            </a:r>
          </a:p>
        </p:txBody>
      </p:sp>
      <p:sp>
        <p:nvSpPr>
          <p:cNvPr id="55" name="Oval 54">
            <a:extLst>
              <a:ext uri="{FF2B5EF4-FFF2-40B4-BE49-F238E27FC236}">
                <a16:creationId xmlns:a16="http://schemas.microsoft.com/office/drawing/2014/main" id="{09B928AC-111F-9EB0-FCE9-A082C5A0FD39}"/>
              </a:ext>
            </a:extLst>
          </p:cNvPr>
          <p:cNvSpPr/>
          <p:nvPr/>
        </p:nvSpPr>
        <p:spPr>
          <a:xfrm>
            <a:off x="3820344" y="5592576"/>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g</a:t>
            </a:r>
          </a:p>
        </p:txBody>
      </p:sp>
      <p:cxnSp>
        <p:nvCxnSpPr>
          <p:cNvPr id="56" name="Straight Arrow Connector 55">
            <a:extLst>
              <a:ext uri="{FF2B5EF4-FFF2-40B4-BE49-F238E27FC236}">
                <a16:creationId xmlns:a16="http://schemas.microsoft.com/office/drawing/2014/main" id="{513B3E57-C7C4-207D-6985-340CA69A2978}"/>
              </a:ext>
            </a:extLst>
          </p:cNvPr>
          <p:cNvCxnSpPr>
            <a:cxnSpLocks/>
            <a:stCxn id="54" idx="0"/>
            <a:endCxn id="11" idx="4"/>
          </p:cNvCxnSpPr>
          <p:nvPr/>
        </p:nvCxnSpPr>
        <p:spPr>
          <a:xfrm flipV="1">
            <a:off x="1508964" y="4754427"/>
            <a:ext cx="0" cy="838149"/>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cxnSp>
        <p:nvCxnSpPr>
          <p:cNvPr id="59" name="Straight Arrow Connector 58">
            <a:extLst>
              <a:ext uri="{FF2B5EF4-FFF2-40B4-BE49-F238E27FC236}">
                <a16:creationId xmlns:a16="http://schemas.microsoft.com/office/drawing/2014/main" id="{0D2DA356-22E1-0574-024E-DA05B5406EC0}"/>
              </a:ext>
            </a:extLst>
          </p:cNvPr>
          <p:cNvCxnSpPr>
            <a:cxnSpLocks/>
            <a:stCxn id="54" idx="6"/>
            <a:endCxn id="55" idx="2"/>
          </p:cNvCxnSpPr>
          <p:nvPr/>
        </p:nvCxnSpPr>
        <p:spPr>
          <a:xfrm>
            <a:off x="1688964" y="5772576"/>
            <a:ext cx="2131380" cy="0"/>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cxnSp>
        <p:nvCxnSpPr>
          <p:cNvPr id="62" name="Straight Arrow Connector 61">
            <a:extLst>
              <a:ext uri="{FF2B5EF4-FFF2-40B4-BE49-F238E27FC236}">
                <a16:creationId xmlns:a16="http://schemas.microsoft.com/office/drawing/2014/main" id="{88D59CFE-4887-8CB6-B0A0-D097D882BEF2}"/>
              </a:ext>
            </a:extLst>
          </p:cNvPr>
          <p:cNvCxnSpPr>
            <a:cxnSpLocks/>
            <a:stCxn id="55" idx="0"/>
            <a:endCxn id="12" idx="4"/>
          </p:cNvCxnSpPr>
          <p:nvPr/>
        </p:nvCxnSpPr>
        <p:spPr>
          <a:xfrm flipV="1">
            <a:off x="4000344" y="4754427"/>
            <a:ext cx="0" cy="838149"/>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sp>
        <p:nvSpPr>
          <p:cNvPr id="68" name="TextBox 67">
            <a:extLst>
              <a:ext uri="{FF2B5EF4-FFF2-40B4-BE49-F238E27FC236}">
                <a16:creationId xmlns:a16="http://schemas.microsoft.com/office/drawing/2014/main" id="{F2B9F061-BFA7-E6CE-2949-D99D496428C8}"/>
              </a:ext>
            </a:extLst>
          </p:cNvPr>
          <p:cNvSpPr txBox="1"/>
          <p:nvPr/>
        </p:nvSpPr>
        <p:spPr>
          <a:xfrm>
            <a:off x="4564594" y="4232692"/>
            <a:ext cx="7254125" cy="369332"/>
          </a:xfrm>
          <a:prstGeom prst="rect">
            <a:avLst/>
          </a:prstGeom>
          <a:noFill/>
        </p:spPr>
        <p:txBody>
          <a:bodyPr wrap="square" rtlCol="0">
            <a:spAutoFit/>
          </a:bodyPr>
          <a:lstStyle/>
          <a:p>
            <a:pPr marL="342900" indent="-342900">
              <a:buFont typeface="+mj-lt"/>
              <a:buAutoNum type="arabicPeriod"/>
            </a:pPr>
            <a:r>
              <a:rPr lang="en-US" noProof="0" dirty="0"/>
              <a:t>Identify every </a:t>
            </a:r>
            <a:r>
              <a:rPr lang="en-US" b="1" noProof="0" dirty="0"/>
              <a:t>backdoor path</a:t>
            </a:r>
            <a:r>
              <a:rPr lang="en-US" i="1" noProof="0" dirty="0"/>
              <a:t>.</a:t>
            </a:r>
            <a:endParaRPr lang="en-US" noProof="0" dirty="0"/>
          </a:p>
        </p:txBody>
      </p:sp>
      <p:grpSp>
        <p:nvGrpSpPr>
          <p:cNvPr id="69" name="Group 68">
            <a:extLst>
              <a:ext uri="{FF2B5EF4-FFF2-40B4-BE49-F238E27FC236}">
                <a16:creationId xmlns:a16="http://schemas.microsoft.com/office/drawing/2014/main" id="{B8E8643C-3A89-2DE5-1B8E-ABFB0C4F9E7F}"/>
              </a:ext>
            </a:extLst>
          </p:cNvPr>
          <p:cNvGrpSpPr/>
          <p:nvPr/>
        </p:nvGrpSpPr>
        <p:grpSpPr>
          <a:xfrm>
            <a:off x="4564594" y="3582332"/>
            <a:ext cx="2563289" cy="432000"/>
            <a:chOff x="4604412" y="1893985"/>
            <a:chExt cx="2563289" cy="432000"/>
          </a:xfrm>
        </p:grpSpPr>
        <p:sp>
          <p:nvSpPr>
            <p:cNvPr id="70" name="Arrow: Pentagon 69">
              <a:extLst>
                <a:ext uri="{FF2B5EF4-FFF2-40B4-BE49-F238E27FC236}">
                  <a16:creationId xmlns:a16="http://schemas.microsoft.com/office/drawing/2014/main" id="{42252693-6B02-15AB-8A4A-E2580DF2C570}"/>
                </a:ext>
              </a:extLst>
            </p:cNvPr>
            <p:cNvSpPr/>
            <p:nvPr/>
          </p:nvSpPr>
          <p:spPr>
            <a:xfrm>
              <a:off x="4604412" y="1893985"/>
              <a:ext cx="2563289" cy="432000"/>
            </a:xfrm>
            <a:prstGeom prst="homePlate">
              <a:avLst/>
            </a:prstGeom>
            <a:solidFill>
              <a:schemeClr val="accent4">
                <a:lumMod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432000" rtlCol="0" anchor="ctr"/>
            <a:lstStyle/>
            <a:p>
              <a:r>
                <a:rPr lang="en-US" noProof="0" dirty="0"/>
                <a:t>Model Derivation</a:t>
              </a:r>
            </a:p>
          </p:txBody>
        </p:sp>
        <p:pic>
          <p:nvPicPr>
            <p:cNvPr id="71" name="Graphic 70" descr="Connections with solid fill">
              <a:extLst>
                <a:ext uri="{FF2B5EF4-FFF2-40B4-BE49-F238E27FC236}">
                  <a16:creationId xmlns:a16="http://schemas.microsoft.com/office/drawing/2014/main" id="{49271CE2-A685-A000-EB07-13F5C029A1F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64301" y="1929985"/>
              <a:ext cx="360000" cy="360000"/>
            </a:xfrm>
            <a:prstGeom prst="rect">
              <a:avLst/>
            </a:prstGeom>
          </p:spPr>
        </p:pic>
      </p:grpSp>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38930368-5507-D9A8-D65F-C0CC098D4B82}"/>
                  </a:ext>
                </a:extLst>
              </p:cNvPr>
              <p:cNvSpPr txBox="1"/>
              <p:nvPr/>
            </p:nvSpPr>
            <p:spPr>
              <a:xfrm>
                <a:off x="7320769" y="3601512"/>
                <a:ext cx="77290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noProof="0" smtClean="0">
                          <a:latin typeface="Cambria Math" panose="02040503050406030204" pitchFamily="18" charset="0"/>
                        </a:rPr>
                        <m:t>𝑚</m:t>
                      </m:r>
                      <m:r>
                        <a:rPr lang="en-US" b="0" i="1" noProof="0" smtClean="0">
                          <a:latin typeface="Cambria Math" panose="02040503050406030204" pitchFamily="18" charset="0"/>
                        </a:rPr>
                        <m:t>:</m:t>
                      </m:r>
                      <m:r>
                        <a:rPr lang="en-US" b="0" i="1" noProof="0" smtClean="0">
                          <a:solidFill>
                            <a:srgbClr val="006D70"/>
                          </a:solidFill>
                          <a:latin typeface="Cambria Math" panose="02040503050406030204" pitchFamily="18" charset="0"/>
                        </a:rPr>
                        <m:t>𝑏</m:t>
                      </m:r>
                      <m:r>
                        <a:rPr lang="en-US" b="0" i="1" noProof="0" smtClean="0">
                          <a:latin typeface="Cambria Math" panose="02040503050406030204" pitchFamily="18" charset="0"/>
                        </a:rPr>
                        <m:t>~</m:t>
                      </m:r>
                      <m:r>
                        <a:rPr lang="en-US" b="0" i="1" noProof="0" smtClean="0">
                          <a:solidFill>
                            <a:srgbClr val="D0180A"/>
                          </a:solidFill>
                          <a:latin typeface="Cambria Math" panose="02040503050406030204" pitchFamily="18" charset="0"/>
                        </a:rPr>
                        <m:t>𝑎</m:t>
                      </m:r>
                    </m:oMath>
                  </m:oMathPara>
                </a14:m>
                <a:endParaRPr lang="en-US" noProof="0" dirty="0"/>
              </a:p>
            </p:txBody>
          </p:sp>
        </mc:Choice>
        <mc:Fallback xmlns="">
          <p:sp>
            <p:nvSpPr>
              <p:cNvPr id="72" name="TextBox 71">
                <a:extLst>
                  <a:ext uri="{FF2B5EF4-FFF2-40B4-BE49-F238E27FC236}">
                    <a16:creationId xmlns:a16="http://schemas.microsoft.com/office/drawing/2014/main" id="{38930368-5507-D9A8-D65F-C0CC098D4B82}"/>
                  </a:ext>
                </a:extLst>
              </p:cNvPr>
              <p:cNvSpPr txBox="1">
                <a:spLocks noRot="1" noChangeAspect="1" noMove="1" noResize="1" noEditPoints="1" noAdjustHandles="1" noChangeArrowheads="1" noChangeShapeType="1" noTextEdit="1"/>
              </p:cNvSpPr>
              <p:nvPr/>
            </p:nvSpPr>
            <p:spPr>
              <a:xfrm>
                <a:off x="7320769" y="3601512"/>
                <a:ext cx="772904" cy="276999"/>
              </a:xfrm>
              <a:prstGeom prst="rect">
                <a:avLst/>
              </a:prstGeom>
              <a:blipFill>
                <a:blip r:embed="rId6"/>
                <a:stretch>
                  <a:fillRect l="-4724" r="-3937" b="-8889"/>
                </a:stretch>
              </a:blipFill>
            </p:spPr>
            <p:txBody>
              <a:bodyPr/>
              <a:lstStyle/>
              <a:p>
                <a:r>
                  <a:rPr lang="en-SE">
                    <a:noFill/>
                  </a:rPr>
                  <a:t> </a:t>
                </a:r>
              </a:p>
            </p:txBody>
          </p:sp>
        </mc:Fallback>
      </mc:AlternateContent>
    </p:spTree>
    <p:extLst>
      <p:ext uri="{BB962C8B-B14F-4D97-AF65-F5344CB8AC3E}">
        <p14:creationId xmlns:p14="http://schemas.microsoft.com/office/powerpoint/2010/main" val="33731463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7CB685-E138-A5B6-F802-EFAA34361A4C}"/>
              </a:ext>
            </a:extLst>
          </p:cNvPr>
          <p:cNvSpPr>
            <a:spLocks noGrp="1"/>
          </p:cNvSpPr>
          <p:nvPr>
            <p:ph type="title"/>
          </p:nvPr>
        </p:nvSpPr>
        <p:spPr/>
        <p:txBody>
          <a:bodyPr/>
          <a:lstStyle/>
          <a:p>
            <a:r>
              <a:rPr lang="en-US" noProof="0" dirty="0"/>
              <a:t>Deriving a statistical Model from a causal Model: d-separation</a:t>
            </a:r>
          </a:p>
        </p:txBody>
      </p:sp>
      <p:sp>
        <p:nvSpPr>
          <p:cNvPr id="3" name="Content Placeholder 2">
            <a:extLst>
              <a:ext uri="{FF2B5EF4-FFF2-40B4-BE49-F238E27FC236}">
                <a16:creationId xmlns:a16="http://schemas.microsoft.com/office/drawing/2014/main" id="{EFB16A0E-D5B6-B943-CA50-9C3C086B7798}"/>
              </a:ext>
            </a:extLst>
          </p:cNvPr>
          <p:cNvSpPr>
            <a:spLocks noGrp="1"/>
          </p:cNvSpPr>
          <p:nvPr>
            <p:ph idx="1"/>
          </p:nvPr>
        </p:nvSpPr>
        <p:spPr>
          <a:xfrm>
            <a:off x="838200" y="1825625"/>
            <a:ext cx="10515600" cy="1603375"/>
          </a:xfrm>
        </p:spPr>
        <p:txBody>
          <a:bodyPr>
            <a:normAutofit/>
          </a:bodyPr>
          <a:lstStyle/>
          <a:p>
            <a:pPr marL="0" indent="0">
              <a:buNone/>
            </a:pPr>
            <a:r>
              <a:rPr lang="en-US" sz="2400" noProof="0" dirty="0"/>
              <a:t>A general framework to derive statistical models from causal models uses </a:t>
            </a:r>
            <a:r>
              <a:rPr lang="en-US" sz="2400" b="1" noProof="0" dirty="0"/>
              <a:t>d-separation</a:t>
            </a:r>
            <a:r>
              <a:rPr lang="en-US" sz="2400" noProof="0" dirty="0"/>
              <a:t>. It produces an </a:t>
            </a:r>
            <a:r>
              <a:rPr lang="en-US" sz="2400" b="1" noProof="0" dirty="0"/>
              <a:t>adjustment set</a:t>
            </a:r>
            <a:r>
              <a:rPr lang="en-US" sz="2400" noProof="0" dirty="0"/>
              <a:t>, i.e., the set of variables to control statistically in order to de-confound the causal effect between the exposure and the outcome.</a:t>
            </a:r>
          </a:p>
        </p:txBody>
      </p:sp>
      <p:sp>
        <p:nvSpPr>
          <p:cNvPr id="4" name="Date Placeholder 3">
            <a:extLst>
              <a:ext uri="{FF2B5EF4-FFF2-40B4-BE49-F238E27FC236}">
                <a16:creationId xmlns:a16="http://schemas.microsoft.com/office/drawing/2014/main" id="{9254DF0C-883F-EF08-C47B-748D4F15265E}"/>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13A587E4-C813-16A5-A723-B84D42C31CBA}"/>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801C69C6-658E-795A-B968-D882D3E1456C}"/>
              </a:ext>
            </a:extLst>
          </p:cNvPr>
          <p:cNvSpPr>
            <a:spLocks noGrp="1"/>
          </p:cNvSpPr>
          <p:nvPr>
            <p:ph type="sldNum" sz="quarter" idx="12"/>
          </p:nvPr>
        </p:nvSpPr>
        <p:spPr/>
        <p:txBody>
          <a:bodyPr/>
          <a:lstStyle/>
          <a:p>
            <a:fld id="{0FA2D919-C0DE-4971-A2E9-D4AC0031921B}" type="slidenum">
              <a:rPr lang="en-US" noProof="0" smtClean="0"/>
              <a:t>30</a:t>
            </a:fld>
            <a:endParaRPr lang="en-US" noProof="0" dirty="0"/>
          </a:p>
        </p:txBody>
      </p:sp>
      <p:sp>
        <p:nvSpPr>
          <p:cNvPr id="8" name="TextBox 7">
            <a:extLst>
              <a:ext uri="{FF2B5EF4-FFF2-40B4-BE49-F238E27FC236}">
                <a16:creationId xmlns:a16="http://schemas.microsoft.com/office/drawing/2014/main" id="{26F53804-34C1-6FF8-E0DC-73F846EF02F4}"/>
              </a:ext>
            </a:extLst>
          </p:cNvPr>
          <p:cNvSpPr txBox="1"/>
          <p:nvPr/>
        </p:nvSpPr>
        <p:spPr>
          <a:xfrm>
            <a:off x="838200" y="5987018"/>
            <a:ext cx="6096000" cy="369332"/>
          </a:xfrm>
          <a:prstGeom prst="rect">
            <a:avLst/>
          </a:prstGeom>
          <a:noFill/>
        </p:spPr>
        <p:txBody>
          <a:bodyPr wrap="square">
            <a:spAutoFit/>
          </a:bodyPr>
          <a:lstStyle/>
          <a:p>
            <a:pPr marL="0" indent="0">
              <a:buNone/>
            </a:pPr>
            <a:r>
              <a:rPr lang="en-US" noProof="0" dirty="0">
                <a:hlinkClick r:id="rId2"/>
              </a:rPr>
              <a:t>https://bayes.cs.ucla.edu/BOOK-2K/d-sep.html</a:t>
            </a:r>
            <a:r>
              <a:rPr lang="en-US" noProof="0" dirty="0"/>
              <a:t> </a:t>
            </a:r>
          </a:p>
        </p:txBody>
      </p:sp>
      <p:sp>
        <p:nvSpPr>
          <p:cNvPr id="68" name="TextBox 67">
            <a:extLst>
              <a:ext uri="{FF2B5EF4-FFF2-40B4-BE49-F238E27FC236}">
                <a16:creationId xmlns:a16="http://schemas.microsoft.com/office/drawing/2014/main" id="{6D5868F1-5011-6AA7-6FA7-3C2640A364B4}"/>
              </a:ext>
            </a:extLst>
          </p:cNvPr>
          <p:cNvSpPr txBox="1"/>
          <p:nvPr/>
        </p:nvSpPr>
        <p:spPr>
          <a:xfrm>
            <a:off x="4564594" y="4232692"/>
            <a:ext cx="7254125" cy="923330"/>
          </a:xfrm>
          <a:prstGeom prst="rect">
            <a:avLst/>
          </a:prstGeom>
          <a:noFill/>
        </p:spPr>
        <p:txBody>
          <a:bodyPr wrap="square" rtlCol="0">
            <a:spAutoFit/>
          </a:bodyPr>
          <a:lstStyle/>
          <a:p>
            <a:pPr marL="342900" indent="-342900">
              <a:buFont typeface="+mj-lt"/>
              <a:buAutoNum type="arabicPeriod"/>
            </a:pPr>
            <a:r>
              <a:rPr lang="en-US" noProof="0" dirty="0"/>
              <a:t>Identify every backdoor path</a:t>
            </a:r>
            <a:r>
              <a:rPr lang="en-US" i="1" noProof="0" dirty="0"/>
              <a:t>.</a:t>
            </a:r>
            <a:endParaRPr lang="en-US" noProof="0" dirty="0"/>
          </a:p>
          <a:p>
            <a:pPr marL="342900" indent="-342900">
              <a:buFont typeface="+mj-lt"/>
              <a:buAutoNum type="arabicPeriod"/>
            </a:pPr>
            <a:r>
              <a:rPr lang="en-US" noProof="0" dirty="0"/>
              <a:t>Check if there is a </a:t>
            </a:r>
            <a:r>
              <a:rPr lang="en-US" b="1" noProof="0" dirty="0">
                <a:solidFill>
                  <a:schemeClr val="bg2">
                    <a:lumMod val="75000"/>
                  </a:schemeClr>
                </a:solidFill>
              </a:rPr>
              <a:t>collider</a:t>
            </a:r>
            <a:r>
              <a:rPr lang="en-US" noProof="0" dirty="0"/>
              <a:t> between the cause and effect of interest.</a:t>
            </a:r>
          </a:p>
          <a:p>
            <a:pPr marL="800100" lvl="1" indent="-342900">
              <a:buFont typeface="+mj-lt"/>
              <a:buAutoNum type="arabicPeriod"/>
            </a:pPr>
            <a:r>
              <a:rPr lang="en-US" noProof="0" dirty="0"/>
              <a:t>If yes, do not condition on any of the variables on this path.</a:t>
            </a:r>
          </a:p>
        </p:txBody>
      </p:sp>
      <p:grpSp>
        <p:nvGrpSpPr>
          <p:cNvPr id="69" name="Group 68">
            <a:extLst>
              <a:ext uri="{FF2B5EF4-FFF2-40B4-BE49-F238E27FC236}">
                <a16:creationId xmlns:a16="http://schemas.microsoft.com/office/drawing/2014/main" id="{892F82F6-5C06-7A19-A9AA-4081360BC9FB}"/>
              </a:ext>
            </a:extLst>
          </p:cNvPr>
          <p:cNvGrpSpPr/>
          <p:nvPr/>
        </p:nvGrpSpPr>
        <p:grpSpPr>
          <a:xfrm>
            <a:off x="4564594" y="3582332"/>
            <a:ext cx="2563289" cy="432000"/>
            <a:chOff x="4604412" y="1893985"/>
            <a:chExt cx="2563289" cy="432000"/>
          </a:xfrm>
        </p:grpSpPr>
        <p:sp>
          <p:nvSpPr>
            <p:cNvPr id="70" name="Arrow: Pentagon 69">
              <a:extLst>
                <a:ext uri="{FF2B5EF4-FFF2-40B4-BE49-F238E27FC236}">
                  <a16:creationId xmlns:a16="http://schemas.microsoft.com/office/drawing/2014/main" id="{706CAA29-7C42-41AF-8F7E-81D25A568C4A}"/>
                </a:ext>
              </a:extLst>
            </p:cNvPr>
            <p:cNvSpPr/>
            <p:nvPr/>
          </p:nvSpPr>
          <p:spPr>
            <a:xfrm>
              <a:off x="4604412" y="1893985"/>
              <a:ext cx="2563289" cy="432000"/>
            </a:xfrm>
            <a:prstGeom prst="homePlate">
              <a:avLst/>
            </a:prstGeom>
            <a:solidFill>
              <a:schemeClr val="accent4">
                <a:lumMod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432000" rtlCol="0" anchor="ctr"/>
            <a:lstStyle/>
            <a:p>
              <a:r>
                <a:rPr lang="en-US" noProof="0" dirty="0"/>
                <a:t>Model Derivation</a:t>
              </a:r>
            </a:p>
          </p:txBody>
        </p:sp>
        <p:pic>
          <p:nvPicPr>
            <p:cNvPr id="71" name="Graphic 70" descr="Connections with solid fill">
              <a:extLst>
                <a:ext uri="{FF2B5EF4-FFF2-40B4-BE49-F238E27FC236}">
                  <a16:creationId xmlns:a16="http://schemas.microsoft.com/office/drawing/2014/main" id="{766D0D84-C177-6635-D9B1-3CF076BD9D4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64301" y="1929985"/>
              <a:ext cx="360000" cy="360000"/>
            </a:xfrm>
            <a:prstGeom prst="rect">
              <a:avLst/>
            </a:prstGeom>
          </p:spPr>
        </p:pic>
      </p:grpSp>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FEAD5DDA-B7CF-C07B-F9C9-62056900083E}"/>
                  </a:ext>
                </a:extLst>
              </p:cNvPr>
              <p:cNvSpPr txBox="1"/>
              <p:nvPr/>
            </p:nvSpPr>
            <p:spPr>
              <a:xfrm>
                <a:off x="7320769" y="3601512"/>
                <a:ext cx="77290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noProof="0" smtClean="0">
                          <a:latin typeface="Cambria Math" panose="02040503050406030204" pitchFamily="18" charset="0"/>
                        </a:rPr>
                        <m:t>𝑚</m:t>
                      </m:r>
                      <m:r>
                        <a:rPr lang="en-US" b="0" i="1" noProof="0" smtClean="0">
                          <a:latin typeface="Cambria Math" panose="02040503050406030204" pitchFamily="18" charset="0"/>
                        </a:rPr>
                        <m:t>:</m:t>
                      </m:r>
                      <m:r>
                        <a:rPr lang="en-US" b="0" i="1" noProof="0" smtClean="0">
                          <a:solidFill>
                            <a:srgbClr val="006D70"/>
                          </a:solidFill>
                          <a:latin typeface="Cambria Math" panose="02040503050406030204" pitchFamily="18" charset="0"/>
                        </a:rPr>
                        <m:t>𝑏</m:t>
                      </m:r>
                      <m:r>
                        <a:rPr lang="en-US" b="0" i="1" noProof="0" smtClean="0">
                          <a:latin typeface="Cambria Math" panose="02040503050406030204" pitchFamily="18" charset="0"/>
                        </a:rPr>
                        <m:t>~</m:t>
                      </m:r>
                      <m:r>
                        <a:rPr lang="en-US" b="0" i="1" noProof="0" smtClean="0">
                          <a:solidFill>
                            <a:srgbClr val="D0180A"/>
                          </a:solidFill>
                          <a:latin typeface="Cambria Math" panose="02040503050406030204" pitchFamily="18" charset="0"/>
                        </a:rPr>
                        <m:t>𝑎</m:t>
                      </m:r>
                    </m:oMath>
                  </m:oMathPara>
                </a14:m>
                <a:endParaRPr lang="en-US" noProof="0" dirty="0"/>
              </a:p>
            </p:txBody>
          </p:sp>
        </mc:Choice>
        <mc:Fallback xmlns="">
          <p:sp>
            <p:nvSpPr>
              <p:cNvPr id="72" name="TextBox 71">
                <a:extLst>
                  <a:ext uri="{FF2B5EF4-FFF2-40B4-BE49-F238E27FC236}">
                    <a16:creationId xmlns:a16="http://schemas.microsoft.com/office/drawing/2014/main" id="{FEAD5DDA-B7CF-C07B-F9C9-62056900083E}"/>
                  </a:ext>
                </a:extLst>
              </p:cNvPr>
              <p:cNvSpPr txBox="1">
                <a:spLocks noRot="1" noChangeAspect="1" noMove="1" noResize="1" noEditPoints="1" noAdjustHandles="1" noChangeArrowheads="1" noChangeShapeType="1" noTextEdit="1"/>
              </p:cNvSpPr>
              <p:nvPr/>
            </p:nvSpPr>
            <p:spPr>
              <a:xfrm>
                <a:off x="7320769" y="3601512"/>
                <a:ext cx="772904" cy="276999"/>
              </a:xfrm>
              <a:prstGeom prst="rect">
                <a:avLst/>
              </a:prstGeom>
              <a:blipFill>
                <a:blip r:embed="rId5"/>
                <a:stretch>
                  <a:fillRect l="-4724" r="-3937" b="-8889"/>
                </a:stretch>
              </a:blipFill>
            </p:spPr>
            <p:txBody>
              <a:bodyPr/>
              <a:lstStyle/>
              <a:p>
                <a:r>
                  <a:rPr lang="en-SE">
                    <a:noFill/>
                  </a:rPr>
                  <a:t> </a:t>
                </a:r>
              </a:p>
            </p:txBody>
          </p:sp>
        </mc:Fallback>
      </mc:AlternateContent>
      <p:sp>
        <p:nvSpPr>
          <p:cNvPr id="73" name="Oval 72">
            <a:extLst>
              <a:ext uri="{FF2B5EF4-FFF2-40B4-BE49-F238E27FC236}">
                <a16:creationId xmlns:a16="http://schemas.microsoft.com/office/drawing/2014/main" id="{07B4066A-549A-1302-27A5-39E495A03B3B}"/>
              </a:ext>
            </a:extLst>
          </p:cNvPr>
          <p:cNvSpPr/>
          <p:nvPr/>
        </p:nvSpPr>
        <p:spPr>
          <a:xfrm>
            <a:off x="1328964" y="4394427"/>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a</a:t>
            </a:r>
          </a:p>
        </p:txBody>
      </p:sp>
      <p:sp>
        <p:nvSpPr>
          <p:cNvPr id="74" name="Oval 73">
            <a:extLst>
              <a:ext uri="{FF2B5EF4-FFF2-40B4-BE49-F238E27FC236}">
                <a16:creationId xmlns:a16="http://schemas.microsoft.com/office/drawing/2014/main" id="{1C879866-19E7-8E5E-7D9D-FBB628FBE65D}"/>
              </a:ext>
            </a:extLst>
          </p:cNvPr>
          <p:cNvSpPr/>
          <p:nvPr/>
        </p:nvSpPr>
        <p:spPr>
          <a:xfrm>
            <a:off x="3820344" y="4394427"/>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b</a:t>
            </a:r>
          </a:p>
        </p:txBody>
      </p:sp>
      <p:cxnSp>
        <p:nvCxnSpPr>
          <p:cNvPr id="75" name="Straight Arrow Connector 74">
            <a:extLst>
              <a:ext uri="{FF2B5EF4-FFF2-40B4-BE49-F238E27FC236}">
                <a16:creationId xmlns:a16="http://schemas.microsoft.com/office/drawing/2014/main" id="{172E67BB-96B3-95D8-857A-366C72D5E6BF}"/>
              </a:ext>
            </a:extLst>
          </p:cNvPr>
          <p:cNvCxnSpPr>
            <a:stCxn id="73" idx="6"/>
            <a:endCxn id="74" idx="2"/>
          </p:cNvCxnSpPr>
          <p:nvPr/>
        </p:nvCxnSpPr>
        <p:spPr>
          <a:xfrm>
            <a:off x="1688964" y="4574427"/>
            <a:ext cx="21313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76" name="Oval 75">
            <a:extLst>
              <a:ext uri="{FF2B5EF4-FFF2-40B4-BE49-F238E27FC236}">
                <a16:creationId xmlns:a16="http://schemas.microsoft.com/office/drawing/2014/main" id="{A590A7B2-66C6-2BBD-4049-C9DB161BDAD6}"/>
              </a:ext>
            </a:extLst>
          </p:cNvPr>
          <p:cNvSpPr/>
          <p:nvPr/>
        </p:nvSpPr>
        <p:spPr>
          <a:xfrm>
            <a:off x="2574654" y="5052577"/>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e</a:t>
            </a:r>
          </a:p>
        </p:txBody>
      </p:sp>
      <p:cxnSp>
        <p:nvCxnSpPr>
          <p:cNvPr id="77" name="Straight Arrow Connector 76">
            <a:extLst>
              <a:ext uri="{FF2B5EF4-FFF2-40B4-BE49-F238E27FC236}">
                <a16:creationId xmlns:a16="http://schemas.microsoft.com/office/drawing/2014/main" id="{4ABBB32A-30A7-CAFE-DB19-B2D844659865}"/>
              </a:ext>
            </a:extLst>
          </p:cNvPr>
          <p:cNvCxnSpPr>
            <a:cxnSpLocks/>
            <a:stCxn id="76" idx="6"/>
            <a:endCxn id="74" idx="3"/>
          </p:cNvCxnSpPr>
          <p:nvPr/>
        </p:nvCxnSpPr>
        <p:spPr>
          <a:xfrm flipV="1">
            <a:off x="2934654" y="4701706"/>
            <a:ext cx="938411" cy="53087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78" name="Straight Arrow Connector 77">
            <a:extLst>
              <a:ext uri="{FF2B5EF4-FFF2-40B4-BE49-F238E27FC236}">
                <a16:creationId xmlns:a16="http://schemas.microsoft.com/office/drawing/2014/main" id="{8783E7FF-2DAA-775B-B2C4-5C7F301DD2C7}"/>
              </a:ext>
            </a:extLst>
          </p:cNvPr>
          <p:cNvCxnSpPr>
            <a:cxnSpLocks/>
            <a:stCxn id="73" idx="5"/>
            <a:endCxn id="76" idx="2"/>
          </p:cNvCxnSpPr>
          <p:nvPr/>
        </p:nvCxnSpPr>
        <p:spPr>
          <a:xfrm>
            <a:off x="1636243" y="4701706"/>
            <a:ext cx="938411" cy="53087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79" name="Oval 78">
            <a:extLst>
              <a:ext uri="{FF2B5EF4-FFF2-40B4-BE49-F238E27FC236}">
                <a16:creationId xmlns:a16="http://schemas.microsoft.com/office/drawing/2014/main" id="{D7B07AFD-5AB2-1201-994F-73A92E4295AA}"/>
              </a:ext>
            </a:extLst>
          </p:cNvPr>
          <p:cNvSpPr/>
          <p:nvPr/>
        </p:nvSpPr>
        <p:spPr>
          <a:xfrm>
            <a:off x="1330258" y="3556278"/>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c</a:t>
            </a:r>
          </a:p>
        </p:txBody>
      </p:sp>
      <p:sp>
        <p:nvSpPr>
          <p:cNvPr id="80" name="Oval 79">
            <a:extLst>
              <a:ext uri="{FF2B5EF4-FFF2-40B4-BE49-F238E27FC236}">
                <a16:creationId xmlns:a16="http://schemas.microsoft.com/office/drawing/2014/main" id="{C24C6894-E548-EAA4-CB55-E250321FD45E}"/>
              </a:ext>
            </a:extLst>
          </p:cNvPr>
          <p:cNvSpPr/>
          <p:nvPr/>
        </p:nvSpPr>
        <p:spPr>
          <a:xfrm>
            <a:off x="2574654" y="3551713"/>
            <a:ext cx="360000" cy="360000"/>
          </a:xfrm>
          <a:prstGeom prst="ellipse">
            <a:avLst/>
          </a:prstGeom>
          <a:solidFill>
            <a:srgbClr val="FFC00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d</a:t>
            </a:r>
          </a:p>
        </p:txBody>
      </p:sp>
      <p:cxnSp>
        <p:nvCxnSpPr>
          <p:cNvPr id="81" name="Straight Arrow Connector 80">
            <a:extLst>
              <a:ext uri="{FF2B5EF4-FFF2-40B4-BE49-F238E27FC236}">
                <a16:creationId xmlns:a16="http://schemas.microsoft.com/office/drawing/2014/main" id="{9A535583-DF23-435B-8BF2-38456ADC5A92}"/>
              </a:ext>
            </a:extLst>
          </p:cNvPr>
          <p:cNvCxnSpPr>
            <a:cxnSpLocks/>
            <a:stCxn id="79" idx="4"/>
            <a:endCxn id="73" idx="0"/>
          </p:cNvCxnSpPr>
          <p:nvPr/>
        </p:nvCxnSpPr>
        <p:spPr>
          <a:xfrm flipH="1">
            <a:off x="1508964" y="3916278"/>
            <a:ext cx="1294" cy="478149"/>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cxnSp>
        <p:nvCxnSpPr>
          <p:cNvPr id="82" name="Straight Arrow Connector 81">
            <a:extLst>
              <a:ext uri="{FF2B5EF4-FFF2-40B4-BE49-F238E27FC236}">
                <a16:creationId xmlns:a16="http://schemas.microsoft.com/office/drawing/2014/main" id="{E8417A89-8C5D-51EE-8211-5502543D9FF2}"/>
              </a:ext>
            </a:extLst>
          </p:cNvPr>
          <p:cNvCxnSpPr>
            <a:cxnSpLocks/>
            <a:stCxn id="79" idx="6"/>
            <a:endCxn id="80" idx="2"/>
          </p:cNvCxnSpPr>
          <p:nvPr/>
        </p:nvCxnSpPr>
        <p:spPr>
          <a:xfrm flipV="1">
            <a:off x="1690258" y="3731713"/>
            <a:ext cx="884396" cy="4565"/>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cxnSp>
        <p:nvCxnSpPr>
          <p:cNvPr id="83" name="Straight Arrow Connector 82">
            <a:extLst>
              <a:ext uri="{FF2B5EF4-FFF2-40B4-BE49-F238E27FC236}">
                <a16:creationId xmlns:a16="http://schemas.microsoft.com/office/drawing/2014/main" id="{6B350669-1929-669D-9CAC-5DF0C233CF42}"/>
              </a:ext>
            </a:extLst>
          </p:cNvPr>
          <p:cNvCxnSpPr>
            <a:cxnSpLocks/>
            <a:stCxn id="74" idx="1"/>
            <a:endCxn id="80" idx="5"/>
          </p:cNvCxnSpPr>
          <p:nvPr/>
        </p:nvCxnSpPr>
        <p:spPr>
          <a:xfrm flipH="1" flipV="1">
            <a:off x="2881933" y="3858992"/>
            <a:ext cx="991132" cy="588156"/>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sp>
        <p:nvSpPr>
          <p:cNvPr id="84" name="Oval 83">
            <a:extLst>
              <a:ext uri="{FF2B5EF4-FFF2-40B4-BE49-F238E27FC236}">
                <a16:creationId xmlns:a16="http://schemas.microsoft.com/office/drawing/2014/main" id="{8DC4373E-0BA6-1F4E-E746-A6F049D39974}"/>
              </a:ext>
            </a:extLst>
          </p:cNvPr>
          <p:cNvSpPr/>
          <p:nvPr/>
        </p:nvSpPr>
        <p:spPr>
          <a:xfrm>
            <a:off x="1328964" y="5592576"/>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f</a:t>
            </a:r>
          </a:p>
        </p:txBody>
      </p:sp>
      <p:sp>
        <p:nvSpPr>
          <p:cNvPr id="85" name="Oval 84">
            <a:extLst>
              <a:ext uri="{FF2B5EF4-FFF2-40B4-BE49-F238E27FC236}">
                <a16:creationId xmlns:a16="http://schemas.microsoft.com/office/drawing/2014/main" id="{321D2E0F-C80E-E756-D12B-2F1AE15EA0EE}"/>
              </a:ext>
            </a:extLst>
          </p:cNvPr>
          <p:cNvSpPr/>
          <p:nvPr/>
        </p:nvSpPr>
        <p:spPr>
          <a:xfrm>
            <a:off x="3820344" y="5592576"/>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g</a:t>
            </a:r>
          </a:p>
        </p:txBody>
      </p:sp>
      <p:cxnSp>
        <p:nvCxnSpPr>
          <p:cNvPr id="86" name="Straight Arrow Connector 85">
            <a:extLst>
              <a:ext uri="{FF2B5EF4-FFF2-40B4-BE49-F238E27FC236}">
                <a16:creationId xmlns:a16="http://schemas.microsoft.com/office/drawing/2014/main" id="{A11F05EC-A40D-4B42-A6E8-0D245E999CEC}"/>
              </a:ext>
            </a:extLst>
          </p:cNvPr>
          <p:cNvCxnSpPr>
            <a:cxnSpLocks/>
            <a:stCxn id="84" idx="0"/>
            <a:endCxn id="73" idx="4"/>
          </p:cNvCxnSpPr>
          <p:nvPr/>
        </p:nvCxnSpPr>
        <p:spPr>
          <a:xfrm flipV="1">
            <a:off x="1508964" y="4754427"/>
            <a:ext cx="0" cy="838149"/>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cxnSp>
        <p:nvCxnSpPr>
          <p:cNvPr id="87" name="Straight Arrow Connector 86">
            <a:extLst>
              <a:ext uri="{FF2B5EF4-FFF2-40B4-BE49-F238E27FC236}">
                <a16:creationId xmlns:a16="http://schemas.microsoft.com/office/drawing/2014/main" id="{5D9774B0-22B5-25EE-7651-E21CC584505D}"/>
              </a:ext>
            </a:extLst>
          </p:cNvPr>
          <p:cNvCxnSpPr>
            <a:cxnSpLocks/>
            <a:stCxn id="84" idx="6"/>
            <a:endCxn id="85" idx="2"/>
          </p:cNvCxnSpPr>
          <p:nvPr/>
        </p:nvCxnSpPr>
        <p:spPr>
          <a:xfrm>
            <a:off x="1688964" y="5772576"/>
            <a:ext cx="2131380" cy="0"/>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cxnSp>
        <p:nvCxnSpPr>
          <p:cNvPr id="88" name="Straight Arrow Connector 87">
            <a:extLst>
              <a:ext uri="{FF2B5EF4-FFF2-40B4-BE49-F238E27FC236}">
                <a16:creationId xmlns:a16="http://schemas.microsoft.com/office/drawing/2014/main" id="{84C19F3C-D130-F153-CF01-EF46CF4FF1C0}"/>
              </a:ext>
            </a:extLst>
          </p:cNvPr>
          <p:cNvCxnSpPr>
            <a:cxnSpLocks/>
            <a:stCxn id="85" idx="0"/>
            <a:endCxn id="74" idx="4"/>
          </p:cNvCxnSpPr>
          <p:nvPr/>
        </p:nvCxnSpPr>
        <p:spPr>
          <a:xfrm flipV="1">
            <a:off x="4000344" y="4754427"/>
            <a:ext cx="0" cy="838149"/>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9064816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4BDD02-9E2D-3246-79E8-D4DA8BA0E7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805777-79EE-E32E-C089-B9DAA594FCA1}"/>
              </a:ext>
            </a:extLst>
          </p:cNvPr>
          <p:cNvSpPr>
            <a:spLocks noGrp="1"/>
          </p:cNvSpPr>
          <p:nvPr>
            <p:ph type="title"/>
          </p:nvPr>
        </p:nvSpPr>
        <p:spPr/>
        <p:txBody>
          <a:bodyPr/>
          <a:lstStyle/>
          <a:p>
            <a:r>
              <a:rPr lang="en-US" noProof="0" dirty="0"/>
              <a:t>Deriving a statistical Model from a causal Model: d-separation</a:t>
            </a:r>
          </a:p>
        </p:txBody>
      </p:sp>
      <p:sp>
        <p:nvSpPr>
          <p:cNvPr id="3" name="Content Placeholder 2">
            <a:extLst>
              <a:ext uri="{FF2B5EF4-FFF2-40B4-BE49-F238E27FC236}">
                <a16:creationId xmlns:a16="http://schemas.microsoft.com/office/drawing/2014/main" id="{AA2903D0-C641-4B89-868E-DB782D3E0762}"/>
              </a:ext>
            </a:extLst>
          </p:cNvPr>
          <p:cNvSpPr>
            <a:spLocks noGrp="1"/>
          </p:cNvSpPr>
          <p:nvPr>
            <p:ph idx="1"/>
          </p:nvPr>
        </p:nvSpPr>
        <p:spPr>
          <a:xfrm>
            <a:off x="838200" y="1825625"/>
            <a:ext cx="10515600" cy="1603375"/>
          </a:xfrm>
        </p:spPr>
        <p:txBody>
          <a:bodyPr>
            <a:normAutofit/>
          </a:bodyPr>
          <a:lstStyle/>
          <a:p>
            <a:pPr marL="0" indent="0">
              <a:buNone/>
            </a:pPr>
            <a:r>
              <a:rPr lang="en-US" sz="2400" noProof="0" dirty="0"/>
              <a:t>A general framework to derive statistical models from causal models uses </a:t>
            </a:r>
            <a:r>
              <a:rPr lang="en-US" sz="2400" b="1" noProof="0" dirty="0"/>
              <a:t>d-separation</a:t>
            </a:r>
            <a:r>
              <a:rPr lang="en-US" sz="2400" noProof="0" dirty="0"/>
              <a:t>. It produces an </a:t>
            </a:r>
            <a:r>
              <a:rPr lang="en-US" sz="2400" b="1" noProof="0" dirty="0"/>
              <a:t>adjustment set</a:t>
            </a:r>
            <a:r>
              <a:rPr lang="en-US" sz="2400" noProof="0" dirty="0"/>
              <a:t>, i.e., the set of variables to control statistically in order to de-confound the causal effect between the exposure and the outcome.</a:t>
            </a:r>
          </a:p>
        </p:txBody>
      </p:sp>
      <p:sp>
        <p:nvSpPr>
          <p:cNvPr id="4" name="Date Placeholder 3">
            <a:extLst>
              <a:ext uri="{FF2B5EF4-FFF2-40B4-BE49-F238E27FC236}">
                <a16:creationId xmlns:a16="http://schemas.microsoft.com/office/drawing/2014/main" id="{5BB669A3-E574-F8F7-32DD-184599C6FAD0}"/>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4F5546B6-5DA8-3F64-FDC1-52B4B2652447}"/>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3D492D98-8172-2817-EA16-8C4449378EE4}"/>
              </a:ext>
            </a:extLst>
          </p:cNvPr>
          <p:cNvSpPr>
            <a:spLocks noGrp="1"/>
          </p:cNvSpPr>
          <p:nvPr>
            <p:ph type="sldNum" sz="quarter" idx="12"/>
          </p:nvPr>
        </p:nvSpPr>
        <p:spPr/>
        <p:txBody>
          <a:bodyPr/>
          <a:lstStyle/>
          <a:p>
            <a:fld id="{0FA2D919-C0DE-4971-A2E9-D4AC0031921B}" type="slidenum">
              <a:rPr lang="en-US" noProof="0" smtClean="0"/>
              <a:t>31</a:t>
            </a:fld>
            <a:endParaRPr lang="en-US" noProof="0" dirty="0"/>
          </a:p>
        </p:txBody>
      </p:sp>
      <p:sp>
        <p:nvSpPr>
          <p:cNvPr id="8" name="TextBox 7">
            <a:extLst>
              <a:ext uri="{FF2B5EF4-FFF2-40B4-BE49-F238E27FC236}">
                <a16:creationId xmlns:a16="http://schemas.microsoft.com/office/drawing/2014/main" id="{687BA49A-EDF0-9034-DFE7-3034AE3A355B}"/>
              </a:ext>
            </a:extLst>
          </p:cNvPr>
          <p:cNvSpPr txBox="1"/>
          <p:nvPr/>
        </p:nvSpPr>
        <p:spPr>
          <a:xfrm>
            <a:off x="838200" y="5987018"/>
            <a:ext cx="6096000" cy="369332"/>
          </a:xfrm>
          <a:prstGeom prst="rect">
            <a:avLst/>
          </a:prstGeom>
          <a:noFill/>
        </p:spPr>
        <p:txBody>
          <a:bodyPr wrap="square">
            <a:spAutoFit/>
          </a:bodyPr>
          <a:lstStyle/>
          <a:p>
            <a:pPr marL="0" indent="0">
              <a:buNone/>
            </a:pPr>
            <a:r>
              <a:rPr lang="en-US" noProof="0" dirty="0">
                <a:hlinkClick r:id="rId2"/>
              </a:rPr>
              <a:t>https://bayes.cs.ucla.edu/BOOK-2K/d-sep.html</a:t>
            </a:r>
            <a:r>
              <a:rPr lang="en-US" noProof="0" dirty="0"/>
              <a:t> </a:t>
            </a:r>
          </a:p>
        </p:txBody>
      </p:sp>
      <p:sp>
        <p:nvSpPr>
          <p:cNvPr id="68" name="TextBox 67">
            <a:extLst>
              <a:ext uri="{FF2B5EF4-FFF2-40B4-BE49-F238E27FC236}">
                <a16:creationId xmlns:a16="http://schemas.microsoft.com/office/drawing/2014/main" id="{EA551C66-4DFD-EBD0-CF84-0493AD21CBCD}"/>
              </a:ext>
            </a:extLst>
          </p:cNvPr>
          <p:cNvSpPr txBox="1"/>
          <p:nvPr/>
        </p:nvSpPr>
        <p:spPr>
          <a:xfrm>
            <a:off x="4564594" y="4232692"/>
            <a:ext cx="7254125" cy="1477328"/>
          </a:xfrm>
          <a:prstGeom prst="rect">
            <a:avLst/>
          </a:prstGeom>
          <a:noFill/>
        </p:spPr>
        <p:txBody>
          <a:bodyPr wrap="square" rtlCol="0">
            <a:spAutoFit/>
          </a:bodyPr>
          <a:lstStyle/>
          <a:p>
            <a:pPr marL="342900" indent="-342900">
              <a:buFont typeface="+mj-lt"/>
              <a:buAutoNum type="arabicPeriod"/>
            </a:pPr>
            <a:r>
              <a:rPr lang="en-US" noProof="0" dirty="0"/>
              <a:t>Identify every backdoor</a:t>
            </a:r>
            <a:r>
              <a:rPr lang="en-US" i="1" noProof="0" dirty="0"/>
              <a:t> </a:t>
            </a:r>
            <a:r>
              <a:rPr lang="en-US" noProof="0" dirty="0"/>
              <a:t>path</a:t>
            </a:r>
            <a:r>
              <a:rPr lang="en-US" i="1" noProof="0" dirty="0"/>
              <a:t>.</a:t>
            </a:r>
            <a:endParaRPr lang="en-US" noProof="0" dirty="0"/>
          </a:p>
          <a:p>
            <a:pPr marL="342900" indent="-342900">
              <a:buFont typeface="+mj-lt"/>
              <a:buAutoNum type="arabicPeriod"/>
            </a:pPr>
            <a:r>
              <a:rPr lang="en-US" noProof="0" dirty="0"/>
              <a:t>Check if there is a collider between the cause and effect of interest.</a:t>
            </a:r>
          </a:p>
          <a:p>
            <a:pPr marL="800100" lvl="1" indent="-342900">
              <a:buFont typeface="+mj-lt"/>
              <a:buAutoNum type="arabicPeriod"/>
            </a:pPr>
            <a:r>
              <a:rPr lang="en-US" noProof="0" dirty="0"/>
              <a:t>If yes, do not condition on any of the variables on this path.</a:t>
            </a:r>
          </a:p>
          <a:p>
            <a:pPr marL="800100" lvl="1" indent="-342900">
              <a:buFont typeface="+mj-lt"/>
              <a:buAutoNum type="arabicPeriod"/>
            </a:pPr>
            <a:r>
              <a:rPr lang="en-US" noProof="0" dirty="0"/>
              <a:t>If not, condition on </a:t>
            </a:r>
            <a:r>
              <a:rPr lang="en-US" b="1" noProof="0" dirty="0">
                <a:solidFill>
                  <a:schemeClr val="accent1">
                    <a:lumMod val="75000"/>
                  </a:schemeClr>
                </a:solidFill>
              </a:rPr>
              <a:t>any of the variables </a:t>
            </a:r>
            <a:r>
              <a:rPr lang="en-US" noProof="0" dirty="0"/>
              <a:t>on this path to “close” the backdoor path.</a:t>
            </a:r>
          </a:p>
        </p:txBody>
      </p:sp>
      <p:grpSp>
        <p:nvGrpSpPr>
          <p:cNvPr id="69" name="Group 68">
            <a:extLst>
              <a:ext uri="{FF2B5EF4-FFF2-40B4-BE49-F238E27FC236}">
                <a16:creationId xmlns:a16="http://schemas.microsoft.com/office/drawing/2014/main" id="{95238822-1B79-5A25-AAF9-693D26075F99}"/>
              </a:ext>
            </a:extLst>
          </p:cNvPr>
          <p:cNvGrpSpPr/>
          <p:nvPr/>
        </p:nvGrpSpPr>
        <p:grpSpPr>
          <a:xfrm>
            <a:off x="4564594" y="3582332"/>
            <a:ext cx="2563289" cy="432000"/>
            <a:chOff x="4604412" y="1893985"/>
            <a:chExt cx="2563289" cy="432000"/>
          </a:xfrm>
        </p:grpSpPr>
        <p:sp>
          <p:nvSpPr>
            <p:cNvPr id="70" name="Arrow: Pentagon 69">
              <a:extLst>
                <a:ext uri="{FF2B5EF4-FFF2-40B4-BE49-F238E27FC236}">
                  <a16:creationId xmlns:a16="http://schemas.microsoft.com/office/drawing/2014/main" id="{9B506046-EB78-768D-DADF-8E435D33909C}"/>
                </a:ext>
              </a:extLst>
            </p:cNvPr>
            <p:cNvSpPr/>
            <p:nvPr/>
          </p:nvSpPr>
          <p:spPr>
            <a:xfrm>
              <a:off x="4604412" y="1893985"/>
              <a:ext cx="2563289" cy="432000"/>
            </a:xfrm>
            <a:prstGeom prst="homePlate">
              <a:avLst/>
            </a:prstGeom>
            <a:solidFill>
              <a:schemeClr val="accent4">
                <a:lumMod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432000" rtlCol="0" anchor="ctr"/>
            <a:lstStyle/>
            <a:p>
              <a:r>
                <a:rPr lang="en-US" noProof="0" dirty="0"/>
                <a:t>Model Derivation</a:t>
              </a:r>
            </a:p>
          </p:txBody>
        </p:sp>
        <p:pic>
          <p:nvPicPr>
            <p:cNvPr id="71" name="Graphic 70" descr="Connections with solid fill">
              <a:extLst>
                <a:ext uri="{FF2B5EF4-FFF2-40B4-BE49-F238E27FC236}">
                  <a16:creationId xmlns:a16="http://schemas.microsoft.com/office/drawing/2014/main" id="{7155CCD0-EA21-30DF-C7E5-9165F25929D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64301" y="1929985"/>
              <a:ext cx="360000" cy="360000"/>
            </a:xfrm>
            <a:prstGeom prst="rect">
              <a:avLst/>
            </a:prstGeom>
          </p:spPr>
        </p:pic>
      </p:grpSp>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E29F024D-78E5-275B-C59D-6C649B07EE31}"/>
                  </a:ext>
                </a:extLst>
              </p:cNvPr>
              <p:cNvSpPr txBox="1"/>
              <p:nvPr/>
            </p:nvSpPr>
            <p:spPr>
              <a:xfrm>
                <a:off x="7343347" y="3413213"/>
                <a:ext cx="118199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noProof="0" smtClean="0">
                          <a:latin typeface="Cambria Math" panose="02040503050406030204" pitchFamily="18" charset="0"/>
                        </a:rPr>
                        <m:t>𝑚</m:t>
                      </m:r>
                      <m:r>
                        <a:rPr lang="en-US" b="0" i="1" noProof="0" smtClean="0">
                          <a:latin typeface="Cambria Math" panose="02040503050406030204" pitchFamily="18" charset="0"/>
                        </a:rPr>
                        <m:t>:</m:t>
                      </m:r>
                      <m:r>
                        <a:rPr lang="en-US" b="0" i="1" noProof="0" smtClean="0">
                          <a:solidFill>
                            <a:srgbClr val="006D70"/>
                          </a:solidFill>
                          <a:latin typeface="Cambria Math" panose="02040503050406030204" pitchFamily="18" charset="0"/>
                        </a:rPr>
                        <m:t>𝑏</m:t>
                      </m:r>
                      <m:r>
                        <a:rPr lang="en-US" b="0" i="1" noProof="0" smtClean="0">
                          <a:latin typeface="Cambria Math" panose="02040503050406030204" pitchFamily="18" charset="0"/>
                        </a:rPr>
                        <m:t>~</m:t>
                      </m:r>
                      <m:r>
                        <a:rPr lang="en-US" b="0" i="1" noProof="0" smtClean="0">
                          <a:solidFill>
                            <a:srgbClr val="D0180A"/>
                          </a:solidFill>
                          <a:latin typeface="Cambria Math" panose="02040503050406030204" pitchFamily="18" charset="0"/>
                        </a:rPr>
                        <m:t>𝑎</m:t>
                      </m:r>
                      <m:r>
                        <a:rPr lang="en-US" b="0" i="1" noProof="0" smtClean="0">
                          <a:solidFill>
                            <a:schemeClr val="tx1"/>
                          </a:solidFill>
                          <a:latin typeface="Cambria Math" panose="02040503050406030204" pitchFamily="18" charset="0"/>
                        </a:rPr>
                        <m:t>+</m:t>
                      </m:r>
                      <m:r>
                        <a:rPr lang="en-US" b="0" i="1" noProof="0" smtClean="0">
                          <a:solidFill>
                            <a:schemeClr val="accent1">
                              <a:lumMod val="75000"/>
                            </a:schemeClr>
                          </a:solidFill>
                          <a:latin typeface="Cambria Math" panose="02040503050406030204" pitchFamily="18" charset="0"/>
                        </a:rPr>
                        <m:t>𝑓</m:t>
                      </m:r>
                    </m:oMath>
                  </m:oMathPara>
                </a14:m>
                <a:endParaRPr lang="en-US" noProof="0" dirty="0"/>
              </a:p>
            </p:txBody>
          </p:sp>
        </mc:Choice>
        <mc:Fallback xmlns="">
          <p:sp>
            <p:nvSpPr>
              <p:cNvPr id="72" name="TextBox 71">
                <a:extLst>
                  <a:ext uri="{FF2B5EF4-FFF2-40B4-BE49-F238E27FC236}">
                    <a16:creationId xmlns:a16="http://schemas.microsoft.com/office/drawing/2014/main" id="{E29F024D-78E5-275B-C59D-6C649B07EE31}"/>
                  </a:ext>
                </a:extLst>
              </p:cNvPr>
              <p:cNvSpPr txBox="1">
                <a:spLocks noRot="1" noChangeAspect="1" noMove="1" noResize="1" noEditPoints="1" noAdjustHandles="1" noChangeArrowheads="1" noChangeShapeType="1" noTextEdit="1"/>
              </p:cNvSpPr>
              <p:nvPr/>
            </p:nvSpPr>
            <p:spPr>
              <a:xfrm>
                <a:off x="7343347" y="3413213"/>
                <a:ext cx="1181990" cy="276999"/>
              </a:xfrm>
              <a:prstGeom prst="rect">
                <a:avLst/>
              </a:prstGeom>
              <a:blipFill>
                <a:blip r:embed="rId5"/>
                <a:stretch>
                  <a:fillRect l="-2577" t="-2222" r="-6186" b="-35556"/>
                </a:stretch>
              </a:blipFill>
            </p:spPr>
            <p:txBody>
              <a:bodyPr/>
              <a:lstStyle/>
              <a:p>
                <a:r>
                  <a:rPr lang="en-SE">
                    <a:noFill/>
                  </a:rPr>
                  <a:t> </a:t>
                </a:r>
              </a:p>
            </p:txBody>
          </p:sp>
        </mc:Fallback>
      </mc:AlternateContent>
      <p:sp>
        <p:nvSpPr>
          <p:cNvPr id="73" name="Oval 72">
            <a:extLst>
              <a:ext uri="{FF2B5EF4-FFF2-40B4-BE49-F238E27FC236}">
                <a16:creationId xmlns:a16="http://schemas.microsoft.com/office/drawing/2014/main" id="{D153B058-98B5-D8B7-7612-3D4FE437ADA0}"/>
              </a:ext>
            </a:extLst>
          </p:cNvPr>
          <p:cNvSpPr/>
          <p:nvPr/>
        </p:nvSpPr>
        <p:spPr>
          <a:xfrm>
            <a:off x="1328964" y="4394427"/>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a</a:t>
            </a:r>
          </a:p>
        </p:txBody>
      </p:sp>
      <p:sp>
        <p:nvSpPr>
          <p:cNvPr id="74" name="Oval 73">
            <a:extLst>
              <a:ext uri="{FF2B5EF4-FFF2-40B4-BE49-F238E27FC236}">
                <a16:creationId xmlns:a16="http://schemas.microsoft.com/office/drawing/2014/main" id="{296D6679-FEC9-A27A-A200-A1024155CC7C}"/>
              </a:ext>
            </a:extLst>
          </p:cNvPr>
          <p:cNvSpPr/>
          <p:nvPr/>
        </p:nvSpPr>
        <p:spPr>
          <a:xfrm>
            <a:off x="3820344" y="4394427"/>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b</a:t>
            </a:r>
          </a:p>
        </p:txBody>
      </p:sp>
      <p:cxnSp>
        <p:nvCxnSpPr>
          <p:cNvPr id="75" name="Straight Arrow Connector 74">
            <a:extLst>
              <a:ext uri="{FF2B5EF4-FFF2-40B4-BE49-F238E27FC236}">
                <a16:creationId xmlns:a16="http://schemas.microsoft.com/office/drawing/2014/main" id="{8CE91BB8-8229-DD96-D5EE-64C468F0A8FC}"/>
              </a:ext>
            </a:extLst>
          </p:cNvPr>
          <p:cNvCxnSpPr>
            <a:stCxn id="73" idx="6"/>
            <a:endCxn id="74" idx="2"/>
          </p:cNvCxnSpPr>
          <p:nvPr/>
        </p:nvCxnSpPr>
        <p:spPr>
          <a:xfrm>
            <a:off x="1688964" y="4574427"/>
            <a:ext cx="21313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76" name="Oval 75">
            <a:extLst>
              <a:ext uri="{FF2B5EF4-FFF2-40B4-BE49-F238E27FC236}">
                <a16:creationId xmlns:a16="http://schemas.microsoft.com/office/drawing/2014/main" id="{20B8A9CE-C67B-967E-020C-C2C667DC64EB}"/>
              </a:ext>
            </a:extLst>
          </p:cNvPr>
          <p:cNvSpPr/>
          <p:nvPr/>
        </p:nvSpPr>
        <p:spPr>
          <a:xfrm>
            <a:off x="2574654" y="5052577"/>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e</a:t>
            </a:r>
          </a:p>
        </p:txBody>
      </p:sp>
      <p:cxnSp>
        <p:nvCxnSpPr>
          <p:cNvPr id="77" name="Straight Arrow Connector 76">
            <a:extLst>
              <a:ext uri="{FF2B5EF4-FFF2-40B4-BE49-F238E27FC236}">
                <a16:creationId xmlns:a16="http://schemas.microsoft.com/office/drawing/2014/main" id="{B61010B2-B72C-EE5D-B9AE-962163B986AA}"/>
              </a:ext>
            </a:extLst>
          </p:cNvPr>
          <p:cNvCxnSpPr>
            <a:cxnSpLocks/>
            <a:stCxn id="76" idx="6"/>
            <a:endCxn id="74" idx="3"/>
          </p:cNvCxnSpPr>
          <p:nvPr/>
        </p:nvCxnSpPr>
        <p:spPr>
          <a:xfrm flipV="1">
            <a:off x="2934654" y="4701706"/>
            <a:ext cx="938411" cy="53087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78" name="Straight Arrow Connector 77">
            <a:extLst>
              <a:ext uri="{FF2B5EF4-FFF2-40B4-BE49-F238E27FC236}">
                <a16:creationId xmlns:a16="http://schemas.microsoft.com/office/drawing/2014/main" id="{C4CBF350-C383-B199-3080-9A556D7CF853}"/>
              </a:ext>
            </a:extLst>
          </p:cNvPr>
          <p:cNvCxnSpPr>
            <a:cxnSpLocks/>
            <a:stCxn id="73" idx="5"/>
            <a:endCxn id="76" idx="2"/>
          </p:cNvCxnSpPr>
          <p:nvPr/>
        </p:nvCxnSpPr>
        <p:spPr>
          <a:xfrm>
            <a:off x="1636243" y="4701706"/>
            <a:ext cx="938411" cy="53087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79" name="Oval 78">
            <a:extLst>
              <a:ext uri="{FF2B5EF4-FFF2-40B4-BE49-F238E27FC236}">
                <a16:creationId xmlns:a16="http://schemas.microsoft.com/office/drawing/2014/main" id="{D7F555ED-40DE-ABC8-8CF6-606BEB3A2A98}"/>
              </a:ext>
            </a:extLst>
          </p:cNvPr>
          <p:cNvSpPr/>
          <p:nvPr/>
        </p:nvSpPr>
        <p:spPr>
          <a:xfrm>
            <a:off x="1330258" y="3556278"/>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c</a:t>
            </a:r>
          </a:p>
        </p:txBody>
      </p:sp>
      <p:sp>
        <p:nvSpPr>
          <p:cNvPr id="80" name="Oval 79">
            <a:extLst>
              <a:ext uri="{FF2B5EF4-FFF2-40B4-BE49-F238E27FC236}">
                <a16:creationId xmlns:a16="http://schemas.microsoft.com/office/drawing/2014/main" id="{447BB812-015A-9441-8984-A04235DB6508}"/>
              </a:ext>
            </a:extLst>
          </p:cNvPr>
          <p:cNvSpPr/>
          <p:nvPr/>
        </p:nvSpPr>
        <p:spPr>
          <a:xfrm>
            <a:off x="2574654" y="3551713"/>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d</a:t>
            </a:r>
          </a:p>
        </p:txBody>
      </p:sp>
      <p:cxnSp>
        <p:nvCxnSpPr>
          <p:cNvPr id="81" name="Straight Arrow Connector 80">
            <a:extLst>
              <a:ext uri="{FF2B5EF4-FFF2-40B4-BE49-F238E27FC236}">
                <a16:creationId xmlns:a16="http://schemas.microsoft.com/office/drawing/2014/main" id="{F3BE1D9E-C963-7AE7-C604-F5A7173DD911}"/>
              </a:ext>
            </a:extLst>
          </p:cNvPr>
          <p:cNvCxnSpPr>
            <a:cxnSpLocks/>
            <a:stCxn id="79" idx="4"/>
            <a:endCxn id="73" idx="0"/>
          </p:cNvCxnSpPr>
          <p:nvPr/>
        </p:nvCxnSpPr>
        <p:spPr>
          <a:xfrm flipH="1">
            <a:off x="1508964" y="3916278"/>
            <a:ext cx="1294" cy="478149"/>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cxnSp>
        <p:nvCxnSpPr>
          <p:cNvPr id="82" name="Straight Arrow Connector 81">
            <a:extLst>
              <a:ext uri="{FF2B5EF4-FFF2-40B4-BE49-F238E27FC236}">
                <a16:creationId xmlns:a16="http://schemas.microsoft.com/office/drawing/2014/main" id="{C94A1A0E-7A6E-20E9-7416-1C8E2DF53CF3}"/>
              </a:ext>
            </a:extLst>
          </p:cNvPr>
          <p:cNvCxnSpPr>
            <a:cxnSpLocks/>
            <a:stCxn id="79" idx="6"/>
            <a:endCxn id="80" idx="2"/>
          </p:cNvCxnSpPr>
          <p:nvPr/>
        </p:nvCxnSpPr>
        <p:spPr>
          <a:xfrm flipV="1">
            <a:off x="1690258" y="3731713"/>
            <a:ext cx="884396" cy="4565"/>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cxnSp>
        <p:nvCxnSpPr>
          <p:cNvPr id="83" name="Straight Arrow Connector 82">
            <a:extLst>
              <a:ext uri="{FF2B5EF4-FFF2-40B4-BE49-F238E27FC236}">
                <a16:creationId xmlns:a16="http://schemas.microsoft.com/office/drawing/2014/main" id="{BE1F8288-59A4-7B48-52CC-A29AAC01A815}"/>
              </a:ext>
            </a:extLst>
          </p:cNvPr>
          <p:cNvCxnSpPr>
            <a:cxnSpLocks/>
            <a:stCxn id="74" idx="1"/>
            <a:endCxn id="80" idx="5"/>
          </p:cNvCxnSpPr>
          <p:nvPr/>
        </p:nvCxnSpPr>
        <p:spPr>
          <a:xfrm flipH="1" flipV="1">
            <a:off x="2881933" y="3858992"/>
            <a:ext cx="991132" cy="588156"/>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sp>
        <p:nvSpPr>
          <p:cNvPr id="84" name="Oval 83">
            <a:extLst>
              <a:ext uri="{FF2B5EF4-FFF2-40B4-BE49-F238E27FC236}">
                <a16:creationId xmlns:a16="http://schemas.microsoft.com/office/drawing/2014/main" id="{8DD842D9-A7CB-F96B-CD41-3557FE36FE49}"/>
              </a:ext>
            </a:extLst>
          </p:cNvPr>
          <p:cNvSpPr/>
          <p:nvPr/>
        </p:nvSpPr>
        <p:spPr>
          <a:xfrm>
            <a:off x="1328964" y="5592576"/>
            <a:ext cx="360000" cy="360000"/>
          </a:xfrm>
          <a:prstGeom prst="ellipse">
            <a:avLst/>
          </a:prstGeom>
          <a:solidFill>
            <a:schemeClr val="accent1">
              <a:lumMod val="60000"/>
              <a:lumOff val="4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f</a:t>
            </a:r>
          </a:p>
        </p:txBody>
      </p:sp>
      <p:sp>
        <p:nvSpPr>
          <p:cNvPr id="85" name="Oval 84">
            <a:extLst>
              <a:ext uri="{FF2B5EF4-FFF2-40B4-BE49-F238E27FC236}">
                <a16:creationId xmlns:a16="http://schemas.microsoft.com/office/drawing/2014/main" id="{1EF99C20-288F-08B1-FFCA-F41C7D6C2C1D}"/>
              </a:ext>
            </a:extLst>
          </p:cNvPr>
          <p:cNvSpPr/>
          <p:nvPr/>
        </p:nvSpPr>
        <p:spPr>
          <a:xfrm>
            <a:off x="3820344" y="5592576"/>
            <a:ext cx="360000" cy="360000"/>
          </a:xfrm>
          <a:prstGeom prst="ellipse">
            <a:avLst/>
          </a:prstGeom>
          <a:solidFill>
            <a:schemeClr val="accent1">
              <a:lumMod val="60000"/>
              <a:lumOff val="4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g</a:t>
            </a:r>
          </a:p>
        </p:txBody>
      </p:sp>
      <p:cxnSp>
        <p:nvCxnSpPr>
          <p:cNvPr id="86" name="Straight Arrow Connector 85">
            <a:extLst>
              <a:ext uri="{FF2B5EF4-FFF2-40B4-BE49-F238E27FC236}">
                <a16:creationId xmlns:a16="http://schemas.microsoft.com/office/drawing/2014/main" id="{FE061B77-0A79-288A-169A-8602367E0EF9}"/>
              </a:ext>
            </a:extLst>
          </p:cNvPr>
          <p:cNvCxnSpPr>
            <a:cxnSpLocks/>
            <a:stCxn id="84" idx="0"/>
            <a:endCxn id="73" idx="4"/>
          </p:cNvCxnSpPr>
          <p:nvPr/>
        </p:nvCxnSpPr>
        <p:spPr>
          <a:xfrm flipV="1">
            <a:off x="1508964" y="4754427"/>
            <a:ext cx="0" cy="838149"/>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cxnSp>
        <p:nvCxnSpPr>
          <p:cNvPr id="87" name="Straight Arrow Connector 86">
            <a:extLst>
              <a:ext uri="{FF2B5EF4-FFF2-40B4-BE49-F238E27FC236}">
                <a16:creationId xmlns:a16="http://schemas.microsoft.com/office/drawing/2014/main" id="{7984948F-1F6E-68DA-DB9C-85674604CE7F}"/>
              </a:ext>
            </a:extLst>
          </p:cNvPr>
          <p:cNvCxnSpPr>
            <a:cxnSpLocks/>
            <a:stCxn id="84" idx="6"/>
            <a:endCxn id="85" idx="2"/>
          </p:cNvCxnSpPr>
          <p:nvPr/>
        </p:nvCxnSpPr>
        <p:spPr>
          <a:xfrm>
            <a:off x="1688964" y="5772576"/>
            <a:ext cx="2131380" cy="0"/>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cxnSp>
        <p:nvCxnSpPr>
          <p:cNvPr id="88" name="Straight Arrow Connector 87">
            <a:extLst>
              <a:ext uri="{FF2B5EF4-FFF2-40B4-BE49-F238E27FC236}">
                <a16:creationId xmlns:a16="http://schemas.microsoft.com/office/drawing/2014/main" id="{BA1F7EC4-72AF-7ED9-4B02-8889BF83E9AF}"/>
              </a:ext>
            </a:extLst>
          </p:cNvPr>
          <p:cNvCxnSpPr>
            <a:cxnSpLocks/>
            <a:stCxn id="85" idx="0"/>
            <a:endCxn id="74" idx="4"/>
          </p:cNvCxnSpPr>
          <p:nvPr/>
        </p:nvCxnSpPr>
        <p:spPr>
          <a:xfrm flipV="1">
            <a:off x="4000344" y="4754427"/>
            <a:ext cx="0" cy="838149"/>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04D8E65E-4D31-EFA4-D4CC-0CB0D9599883}"/>
                  </a:ext>
                </a:extLst>
              </p:cNvPr>
              <p:cNvSpPr txBox="1"/>
              <p:nvPr/>
            </p:nvSpPr>
            <p:spPr>
              <a:xfrm>
                <a:off x="7343347" y="3798331"/>
                <a:ext cx="119366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noProof="0" smtClean="0">
                          <a:latin typeface="Cambria Math" panose="02040503050406030204" pitchFamily="18" charset="0"/>
                        </a:rPr>
                        <m:t>𝑚</m:t>
                      </m:r>
                      <m:r>
                        <a:rPr lang="en-US" b="0" i="1" noProof="0" smtClean="0">
                          <a:latin typeface="Cambria Math" panose="02040503050406030204" pitchFamily="18" charset="0"/>
                        </a:rPr>
                        <m:t>:</m:t>
                      </m:r>
                      <m:r>
                        <a:rPr lang="en-US" b="0" i="1" noProof="0" smtClean="0">
                          <a:solidFill>
                            <a:srgbClr val="006D70"/>
                          </a:solidFill>
                          <a:latin typeface="Cambria Math" panose="02040503050406030204" pitchFamily="18" charset="0"/>
                        </a:rPr>
                        <m:t>𝑏</m:t>
                      </m:r>
                      <m:r>
                        <a:rPr lang="en-US" b="0" i="1" noProof="0" smtClean="0">
                          <a:latin typeface="Cambria Math" panose="02040503050406030204" pitchFamily="18" charset="0"/>
                        </a:rPr>
                        <m:t>~</m:t>
                      </m:r>
                      <m:r>
                        <a:rPr lang="en-US" b="0" i="1" noProof="0" smtClean="0">
                          <a:solidFill>
                            <a:srgbClr val="D0180A"/>
                          </a:solidFill>
                          <a:latin typeface="Cambria Math" panose="02040503050406030204" pitchFamily="18" charset="0"/>
                        </a:rPr>
                        <m:t>𝑎</m:t>
                      </m:r>
                      <m:r>
                        <a:rPr lang="en-US" b="0" i="1" noProof="0" smtClean="0">
                          <a:solidFill>
                            <a:schemeClr val="tx1"/>
                          </a:solidFill>
                          <a:latin typeface="Cambria Math" panose="02040503050406030204" pitchFamily="18" charset="0"/>
                        </a:rPr>
                        <m:t>+</m:t>
                      </m:r>
                      <m:r>
                        <a:rPr lang="en-US" b="0" i="1" noProof="0" smtClean="0">
                          <a:solidFill>
                            <a:schemeClr val="accent1">
                              <a:lumMod val="75000"/>
                            </a:schemeClr>
                          </a:solidFill>
                          <a:latin typeface="Cambria Math" panose="02040503050406030204" pitchFamily="18" charset="0"/>
                        </a:rPr>
                        <m:t>𝑔</m:t>
                      </m:r>
                    </m:oMath>
                  </m:oMathPara>
                </a14:m>
                <a:endParaRPr lang="en-US" noProof="0" dirty="0"/>
              </a:p>
            </p:txBody>
          </p:sp>
        </mc:Choice>
        <mc:Fallback xmlns="">
          <p:sp>
            <p:nvSpPr>
              <p:cNvPr id="7" name="TextBox 6">
                <a:extLst>
                  <a:ext uri="{FF2B5EF4-FFF2-40B4-BE49-F238E27FC236}">
                    <a16:creationId xmlns:a16="http://schemas.microsoft.com/office/drawing/2014/main" id="{04D8E65E-4D31-EFA4-D4CC-0CB0D9599883}"/>
                  </a:ext>
                </a:extLst>
              </p:cNvPr>
              <p:cNvSpPr txBox="1">
                <a:spLocks noRot="1" noChangeAspect="1" noMove="1" noResize="1" noEditPoints="1" noAdjustHandles="1" noChangeArrowheads="1" noChangeShapeType="1" noTextEdit="1"/>
              </p:cNvSpPr>
              <p:nvPr/>
            </p:nvSpPr>
            <p:spPr>
              <a:xfrm>
                <a:off x="7343347" y="3798331"/>
                <a:ext cx="1193660" cy="276999"/>
              </a:xfrm>
              <a:prstGeom prst="rect">
                <a:avLst/>
              </a:prstGeom>
              <a:blipFill>
                <a:blip r:embed="rId6"/>
                <a:stretch>
                  <a:fillRect l="-2564" r="-4615" b="-23913"/>
                </a:stretch>
              </a:blipFill>
            </p:spPr>
            <p:txBody>
              <a:bodyPr/>
              <a:lstStyle/>
              <a:p>
                <a:r>
                  <a:rPr lang="en-SE">
                    <a:noFill/>
                  </a:rPr>
                  <a:t> </a:t>
                </a:r>
              </a:p>
            </p:txBody>
          </p:sp>
        </mc:Fallback>
      </mc:AlternateContent>
    </p:spTree>
    <p:extLst>
      <p:ext uri="{BB962C8B-B14F-4D97-AF65-F5344CB8AC3E}">
        <p14:creationId xmlns:p14="http://schemas.microsoft.com/office/powerpoint/2010/main" val="10289570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5202F2-F79B-D05C-21ED-3D7568CA7C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16046C-17A3-C09A-DAD2-CC44EAF25750}"/>
              </a:ext>
            </a:extLst>
          </p:cNvPr>
          <p:cNvSpPr>
            <a:spLocks noGrp="1"/>
          </p:cNvSpPr>
          <p:nvPr>
            <p:ph type="title"/>
          </p:nvPr>
        </p:nvSpPr>
        <p:spPr/>
        <p:txBody>
          <a:bodyPr/>
          <a:lstStyle/>
          <a:p>
            <a:r>
              <a:rPr lang="en-US" noProof="0" dirty="0"/>
              <a:t>Deriving a statistical Model from a causal Model: d-separation</a:t>
            </a:r>
          </a:p>
        </p:txBody>
      </p:sp>
      <p:sp>
        <p:nvSpPr>
          <p:cNvPr id="3" name="Content Placeholder 2">
            <a:extLst>
              <a:ext uri="{FF2B5EF4-FFF2-40B4-BE49-F238E27FC236}">
                <a16:creationId xmlns:a16="http://schemas.microsoft.com/office/drawing/2014/main" id="{6DDFAA80-628C-C223-5468-C86EABCF6D40}"/>
              </a:ext>
            </a:extLst>
          </p:cNvPr>
          <p:cNvSpPr>
            <a:spLocks noGrp="1"/>
          </p:cNvSpPr>
          <p:nvPr>
            <p:ph idx="1"/>
          </p:nvPr>
        </p:nvSpPr>
        <p:spPr>
          <a:xfrm>
            <a:off x="838200" y="1825625"/>
            <a:ext cx="10515600" cy="1603375"/>
          </a:xfrm>
        </p:spPr>
        <p:txBody>
          <a:bodyPr>
            <a:normAutofit/>
          </a:bodyPr>
          <a:lstStyle/>
          <a:p>
            <a:pPr marL="0" indent="0">
              <a:buNone/>
            </a:pPr>
            <a:r>
              <a:rPr lang="en-US" sz="2400" noProof="0" dirty="0"/>
              <a:t>A general framework to derive statistical models from causal models uses </a:t>
            </a:r>
            <a:r>
              <a:rPr lang="en-US" sz="2400" b="1" noProof="0" dirty="0"/>
              <a:t>d-separation</a:t>
            </a:r>
            <a:r>
              <a:rPr lang="en-US" sz="2400" noProof="0" dirty="0"/>
              <a:t>. It produces an </a:t>
            </a:r>
            <a:r>
              <a:rPr lang="en-US" sz="2400" b="1" noProof="0" dirty="0"/>
              <a:t>adjustment set</a:t>
            </a:r>
            <a:r>
              <a:rPr lang="en-US" sz="2400" noProof="0" dirty="0"/>
              <a:t>, i.e., the set of variables to control statistically in order to de-confound the causal effect between the exposure and the outcome.</a:t>
            </a:r>
          </a:p>
        </p:txBody>
      </p:sp>
      <p:sp>
        <p:nvSpPr>
          <p:cNvPr id="4" name="Date Placeholder 3">
            <a:extLst>
              <a:ext uri="{FF2B5EF4-FFF2-40B4-BE49-F238E27FC236}">
                <a16:creationId xmlns:a16="http://schemas.microsoft.com/office/drawing/2014/main" id="{7878A1D1-EC29-96A0-B3FD-CF7826235969}"/>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6942BBAD-0A64-1030-1ABD-14006A7CA278}"/>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0F803046-05B0-1820-1E85-95E4F3DD999E}"/>
              </a:ext>
            </a:extLst>
          </p:cNvPr>
          <p:cNvSpPr>
            <a:spLocks noGrp="1"/>
          </p:cNvSpPr>
          <p:nvPr>
            <p:ph type="sldNum" sz="quarter" idx="12"/>
          </p:nvPr>
        </p:nvSpPr>
        <p:spPr/>
        <p:txBody>
          <a:bodyPr/>
          <a:lstStyle/>
          <a:p>
            <a:fld id="{0FA2D919-C0DE-4971-A2E9-D4AC0031921B}" type="slidenum">
              <a:rPr lang="en-US" noProof="0" smtClean="0"/>
              <a:t>32</a:t>
            </a:fld>
            <a:endParaRPr lang="en-US" noProof="0" dirty="0"/>
          </a:p>
        </p:txBody>
      </p:sp>
      <p:sp>
        <p:nvSpPr>
          <p:cNvPr id="8" name="TextBox 7">
            <a:extLst>
              <a:ext uri="{FF2B5EF4-FFF2-40B4-BE49-F238E27FC236}">
                <a16:creationId xmlns:a16="http://schemas.microsoft.com/office/drawing/2014/main" id="{A7D374A2-A4B5-A689-3334-2F4BB14EC52D}"/>
              </a:ext>
            </a:extLst>
          </p:cNvPr>
          <p:cNvSpPr txBox="1"/>
          <p:nvPr/>
        </p:nvSpPr>
        <p:spPr>
          <a:xfrm>
            <a:off x="838200" y="5987018"/>
            <a:ext cx="6096000" cy="369332"/>
          </a:xfrm>
          <a:prstGeom prst="rect">
            <a:avLst/>
          </a:prstGeom>
          <a:noFill/>
        </p:spPr>
        <p:txBody>
          <a:bodyPr wrap="square">
            <a:spAutoFit/>
          </a:bodyPr>
          <a:lstStyle/>
          <a:p>
            <a:pPr marL="0" indent="0">
              <a:buNone/>
            </a:pPr>
            <a:r>
              <a:rPr lang="en-US" noProof="0" dirty="0">
                <a:hlinkClick r:id="rId2"/>
              </a:rPr>
              <a:t>https://bayes.cs.ucla.edu/BOOK-2K/d-sep.html</a:t>
            </a:r>
            <a:r>
              <a:rPr lang="en-US" noProof="0" dirty="0"/>
              <a:t> </a:t>
            </a:r>
          </a:p>
        </p:txBody>
      </p:sp>
      <p:sp>
        <p:nvSpPr>
          <p:cNvPr id="11" name="Oval 10">
            <a:extLst>
              <a:ext uri="{FF2B5EF4-FFF2-40B4-BE49-F238E27FC236}">
                <a16:creationId xmlns:a16="http://schemas.microsoft.com/office/drawing/2014/main" id="{B731331E-6910-B223-2594-9DF25C4A3471}"/>
              </a:ext>
            </a:extLst>
          </p:cNvPr>
          <p:cNvSpPr/>
          <p:nvPr/>
        </p:nvSpPr>
        <p:spPr>
          <a:xfrm>
            <a:off x="1328964" y="4394427"/>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a</a:t>
            </a:r>
          </a:p>
        </p:txBody>
      </p:sp>
      <p:sp>
        <p:nvSpPr>
          <p:cNvPr id="12" name="Oval 11">
            <a:extLst>
              <a:ext uri="{FF2B5EF4-FFF2-40B4-BE49-F238E27FC236}">
                <a16:creationId xmlns:a16="http://schemas.microsoft.com/office/drawing/2014/main" id="{7601A7D7-58A6-301A-488D-E3F11069C124}"/>
              </a:ext>
            </a:extLst>
          </p:cNvPr>
          <p:cNvSpPr/>
          <p:nvPr/>
        </p:nvSpPr>
        <p:spPr>
          <a:xfrm>
            <a:off x="3820344" y="4394427"/>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b</a:t>
            </a:r>
          </a:p>
        </p:txBody>
      </p:sp>
      <p:cxnSp>
        <p:nvCxnSpPr>
          <p:cNvPr id="13" name="Straight Arrow Connector 12">
            <a:extLst>
              <a:ext uri="{FF2B5EF4-FFF2-40B4-BE49-F238E27FC236}">
                <a16:creationId xmlns:a16="http://schemas.microsoft.com/office/drawing/2014/main" id="{3EB309B2-EDF8-15DB-6FC3-C9989C5849E1}"/>
              </a:ext>
            </a:extLst>
          </p:cNvPr>
          <p:cNvCxnSpPr>
            <a:stCxn id="11" idx="6"/>
            <a:endCxn id="12" idx="2"/>
          </p:cNvCxnSpPr>
          <p:nvPr/>
        </p:nvCxnSpPr>
        <p:spPr>
          <a:xfrm>
            <a:off x="1688964" y="4574427"/>
            <a:ext cx="21313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6" name="Oval 15">
            <a:extLst>
              <a:ext uri="{FF2B5EF4-FFF2-40B4-BE49-F238E27FC236}">
                <a16:creationId xmlns:a16="http://schemas.microsoft.com/office/drawing/2014/main" id="{1D58E774-65F4-2B64-F8EB-F40DC9FF0730}"/>
              </a:ext>
            </a:extLst>
          </p:cNvPr>
          <p:cNvSpPr/>
          <p:nvPr/>
        </p:nvSpPr>
        <p:spPr>
          <a:xfrm>
            <a:off x="2574654" y="5052577"/>
            <a:ext cx="360000" cy="360000"/>
          </a:xfrm>
          <a:prstGeom prst="ellipse">
            <a:avLst/>
          </a:prstGeom>
          <a:solidFill>
            <a:schemeClr val="accent2">
              <a:lumMod val="60000"/>
              <a:lumOff val="4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e</a:t>
            </a:r>
          </a:p>
        </p:txBody>
      </p:sp>
      <p:cxnSp>
        <p:nvCxnSpPr>
          <p:cNvPr id="18" name="Straight Arrow Connector 17">
            <a:extLst>
              <a:ext uri="{FF2B5EF4-FFF2-40B4-BE49-F238E27FC236}">
                <a16:creationId xmlns:a16="http://schemas.microsoft.com/office/drawing/2014/main" id="{59DE0A00-8737-6D41-24DE-F2BC9A713E31}"/>
              </a:ext>
            </a:extLst>
          </p:cNvPr>
          <p:cNvCxnSpPr>
            <a:cxnSpLocks/>
            <a:stCxn id="16" idx="6"/>
            <a:endCxn id="12" idx="3"/>
          </p:cNvCxnSpPr>
          <p:nvPr/>
        </p:nvCxnSpPr>
        <p:spPr>
          <a:xfrm flipV="1">
            <a:off x="2934654" y="4701706"/>
            <a:ext cx="938411" cy="53087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9" name="Straight Arrow Connector 18">
            <a:extLst>
              <a:ext uri="{FF2B5EF4-FFF2-40B4-BE49-F238E27FC236}">
                <a16:creationId xmlns:a16="http://schemas.microsoft.com/office/drawing/2014/main" id="{114A2C3E-7D09-B2B3-0FDD-B33649F3E055}"/>
              </a:ext>
            </a:extLst>
          </p:cNvPr>
          <p:cNvCxnSpPr>
            <a:cxnSpLocks/>
            <a:stCxn id="11" idx="5"/>
            <a:endCxn id="16" idx="2"/>
          </p:cNvCxnSpPr>
          <p:nvPr/>
        </p:nvCxnSpPr>
        <p:spPr>
          <a:xfrm>
            <a:off x="1636243" y="4701706"/>
            <a:ext cx="938411" cy="53087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3" name="Oval 22">
            <a:extLst>
              <a:ext uri="{FF2B5EF4-FFF2-40B4-BE49-F238E27FC236}">
                <a16:creationId xmlns:a16="http://schemas.microsoft.com/office/drawing/2014/main" id="{FCD33DFC-09A5-9519-669E-986739A7096D}"/>
              </a:ext>
            </a:extLst>
          </p:cNvPr>
          <p:cNvSpPr/>
          <p:nvPr/>
        </p:nvSpPr>
        <p:spPr>
          <a:xfrm>
            <a:off x="1330258" y="3556278"/>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c</a:t>
            </a:r>
          </a:p>
        </p:txBody>
      </p:sp>
      <p:sp>
        <p:nvSpPr>
          <p:cNvPr id="24" name="Oval 23">
            <a:extLst>
              <a:ext uri="{FF2B5EF4-FFF2-40B4-BE49-F238E27FC236}">
                <a16:creationId xmlns:a16="http://schemas.microsoft.com/office/drawing/2014/main" id="{77FB51FE-94BE-37C1-115B-B8412A97641F}"/>
              </a:ext>
            </a:extLst>
          </p:cNvPr>
          <p:cNvSpPr/>
          <p:nvPr/>
        </p:nvSpPr>
        <p:spPr>
          <a:xfrm>
            <a:off x="2574654" y="3551713"/>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d</a:t>
            </a:r>
          </a:p>
        </p:txBody>
      </p:sp>
      <p:cxnSp>
        <p:nvCxnSpPr>
          <p:cNvPr id="25" name="Straight Arrow Connector 24">
            <a:extLst>
              <a:ext uri="{FF2B5EF4-FFF2-40B4-BE49-F238E27FC236}">
                <a16:creationId xmlns:a16="http://schemas.microsoft.com/office/drawing/2014/main" id="{93CB89C6-003B-5BE8-205F-07BCC5A89D61}"/>
              </a:ext>
            </a:extLst>
          </p:cNvPr>
          <p:cNvCxnSpPr>
            <a:cxnSpLocks/>
            <a:stCxn id="23" idx="4"/>
            <a:endCxn id="11" idx="0"/>
          </p:cNvCxnSpPr>
          <p:nvPr/>
        </p:nvCxnSpPr>
        <p:spPr>
          <a:xfrm flipH="1">
            <a:off x="1508964" y="3916278"/>
            <a:ext cx="1294" cy="47814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1" name="Straight Arrow Connector 30">
            <a:extLst>
              <a:ext uri="{FF2B5EF4-FFF2-40B4-BE49-F238E27FC236}">
                <a16:creationId xmlns:a16="http://schemas.microsoft.com/office/drawing/2014/main" id="{953E3A3B-F93C-4667-E0A7-C792F580D779}"/>
              </a:ext>
            </a:extLst>
          </p:cNvPr>
          <p:cNvCxnSpPr>
            <a:cxnSpLocks/>
            <a:stCxn id="23" idx="6"/>
            <a:endCxn id="24" idx="2"/>
          </p:cNvCxnSpPr>
          <p:nvPr/>
        </p:nvCxnSpPr>
        <p:spPr>
          <a:xfrm flipV="1">
            <a:off x="1690258" y="3731713"/>
            <a:ext cx="884396" cy="456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4" name="Straight Arrow Connector 33">
            <a:extLst>
              <a:ext uri="{FF2B5EF4-FFF2-40B4-BE49-F238E27FC236}">
                <a16:creationId xmlns:a16="http://schemas.microsoft.com/office/drawing/2014/main" id="{06CB4104-082E-D629-5D93-C0B8D501CC2D}"/>
              </a:ext>
            </a:extLst>
          </p:cNvPr>
          <p:cNvCxnSpPr>
            <a:cxnSpLocks/>
            <a:stCxn id="12" idx="1"/>
            <a:endCxn id="24" idx="5"/>
          </p:cNvCxnSpPr>
          <p:nvPr/>
        </p:nvCxnSpPr>
        <p:spPr>
          <a:xfrm flipH="1" flipV="1">
            <a:off x="2881933" y="3858992"/>
            <a:ext cx="991132" cy="58815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54" name="Oval 53">
            <a:extLst>
              <a:ext uri="{FF2B5EF4-FFF2-40B4-BE49-F238E27FC236}">
                <a16:creationId xmlns:a16="http://schemas.microsoft.com/office/drawing/2014/main" id="{1C3D8ECF-BB55-3E41-2DB3-6E640C17BB55}"/>
              </a:ext>
            </a:extLst>
          </p:cNvPr>
          <p:cNvSpPr/>
          <p:nvPr/>
        </p:nvSpPr>
        <p:spPr>
          <a:xfrm>
            <a:off x="1328964" y="5592576"/>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f</a:t>
            </a:r>
          </a:p>
        </p:txBody>
      </p:sp>
      <p:sp>
        <p:nvSpPr>
          <p:cNvPr id="55" name="Oval 54">
            <a:extLst>
              <a:ext uri="{FF2B5EF4-FFF2-40B4-BE49-F238E27FC236}">
                <a16:creationId xmlns:a16="http://schemas.microsoft.com/office/drawing/2014/main" id="{1C1F852A-B19E-C838-BF80-54803AE24BC4}"/>
              </a:ext>
            </a:extLst>
          </p:cNvPr>
          <p:cNvSpPr/>
          <p:nvPr/>
        </p:nvSpPr>
        <p:spPr>
          <a:xfrm>
            <a:off x="3820344" y="5592576"/>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g</a:t>
            </a:r>
          </a:p>
        </p:txBody>
      </p:sp>
      <p:cxnSp>
        <p:nvCxnSpPr>
          <p:cNvPr id="56" name="Straight Arrow Connector 55">
            <a:extLst>
              <a:ext uri="{FF2B5EF4-FFF2-40B4-BE49-F238E27FC236}">
                <a16:creationId xmlns:a16="http://schemas.microsoft.com/office/drawing/2014/main" id="{1D3B0D4F-B8A8-78D2-D309-A727425CCABF}"/>
              </a:ext>
            </a:extLst>
          </p:cNvPr>
          <p:cNvCxnSpPr>
            <a:cxnSpLocks/>
            <a:stCxn id="54" idx="0"/>
            <a:endCxn id="11" idx="4"/>
          </p:cNvCxnSpPr>
          <p:nvPr/>
        </p:nvCxnSpPr>
        <p:spPr>
          <a:xfrm flipV="1">
            <a:off x="1508964" y="4754427"/>
            <a:ext cx="0" cy="83814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9" name="Straight Arrow Connector 58">
            <a:extLst>
              <a:ext uri="{FF2B5EF4-FFF2-40B4-BE49-F238E27FC236}">
                <a16:creationId xmlns:a16="http://schemas.microsoft.com/office/drawing/2014/main" id="{D40C9C76-F3B5-5313-E0CE-011DB241FD9F}"/>
              </a:ext>
            </a:extLst>
          </p:cNvPr>
          <p:cNvCxnSpPr>
            <a:cxnSpLocks/>
            <a:stCxn id="54" idx="6"/>
            <a:endCxn id="55" idx="2"/>
          </p:cNvCxnSpPr>
          <p:nvPr/>
        </p:nvCxnSpPr>
        <p:spPr>
          <a:xfrm>
            <a:off x="1688964" y="5772576"/>
            <a:ext cx="21313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2" name="Straight Arrow Connector 61">
            <a:extLst>
              <a:ext uri="{FF2B5EF4-FFF2-40B4-BE49-F238E27FC236}">
                <a16:creationId xmlns:a16="http://schemas.microsoft.com/office/drawing/2014/main" id="{F6E2DC36-0140-3B07-FFFD-2B24DD93B22A}"/>
              </a:ext>
            </a:extLst>
          </p:cNvPr>
          <p:cNvCxnSpPr>
            <a:cxnSpLocks/>
            <a:stCxn id="55" idx="0"/>
            <a:endCxn id="12" idx="4"/>
          </p:cNvCxnSpPr>
          <p:nvPr/>
        </p:nvCxnSpPr>
        <p:spPr>
          <a:xfrm flipV="1">
            <a:off x="4000344" y="4754427"/>
            <a:ext cx="0" cy="83814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68" name="TextBox 67">
            <a:extLst>
              <a:ext uri="{FF2B5EF4-FFF2-40B4-BE49-F238E27FC236}">
                <a16:creationId xmlns:a16="http://schemas.microsoft.com/office/drawing/2014/main" id="{1136C5DF-F561-18A9-3887-E00AD5E27C16}"/>
              </a:ext>
            </a:extLst>
          </p:cNvPr>
          <p:cNvSpPr txBox="1"/>
          <p:nvPr/>
        </p:nvSpPr>
        <p:spPr>
          <a:xfrm>
            <a:off x="4564594" y="4232692"/>
            <a:ext cx="7254125" cy="1754326"/>
          </a:xfrm>
          <a:prstGeom prst="rect">
            <a:avLst/>
          </a:prstGeom>
          <a:noFill/>
        </p:spPr>
        <p:txBody>
          <a:bodyPr wrap="square" rtlCol="0">
            <a:spAutoFit/>
          </a:bodyPr>
          <a:lstStyle/>
          <a:p>
            <a:pPr marL="342900" indent="-342900">
              <a:buFont typeface="+mj-lt"/>
              <a:buAutoNum type="arabicPeriod"/>
            </a:pPr>
            <a:r>
              <a:rPr lang="en-US" noProof="0" dirty="0"/>
              <a:t>Identify every backdoor path</a:t>
            </a:r>
            <a:r>
              <a:rPr lang="en-US" i="1" noProof="0" dirty="0"/>
              <a:t>.</a:t>
            </a:r>
            <a:endParaRPr lang="en-US" noProof="0" dirty="0"/>
          </a:p>
          <a:p>
            <a:pPr marL="342900" indent="-342900">
              <a:buFont typeface="+mj-lt"/>
              <a:buAutoNum type="arabicPeriod"/>
            </a:pPr>
            <a:r>
              <a:rPr lang="en-US" noProof="0" dirty="0"/>
              <a:t>Check if there is a collider between the cause and effect of interest.</a:t>
            </a:r>
          </a:p>
          <a:p>
            <a:pPr marL="800100" lvl="1" indent="-342900">
              <a:buFont typeface="+mj-lt"/>
              <a:buAutoNum type="arabicPeriod"/>
            </a:pPr>
            <a:r>
              <a:rPr lang="en-US" noProof="0" dirty="0"/>
              <a:t>If yes, do not condition on any of the variables on this path.</a:t>
            </a:r>
          </a:p>
          <a:p>
            <a:pPr marL="800100" lvl="1" indent="-342900">
              <a:buFont typeface="+mj-lt"/>
              <a:buAutoNum type="arabicPeriod"/>
            </a:pPr>
            <a:r>
              <a:rPr lang="en-US" noProof="0" dirty="0"/>
              <a:t>If not, condition on any of the variables on this path to “close” the backdoor path.</a:t>
            </a:r>
          </a:p>
          <a:p>
            <a:pPr marL="342900" indent="-342900">
              <a:buFont typeface="+mj-lt"/>
              <a:buAutoNum type="arabicPeriod"/>
            </a:pPr>
            <a:r>
              <a:rPr lang="en-US" noProof="0" dirty="0"/>
              <a:t>Optionally, condition on </a:t>
            </a:r>
            <a:r>
              <a:rPr lang="en-US" b="1" noProof="0" dirty="0">
                <a:solidFill>
                  <a:schemeClr val="accent2"/>
                </a:solidFill>
              </a:rPr>
              <a:t>mediators</a:t>
            </a:r>
            <a:r>
              <a:rPr lang="en-US" noProof="0" dirty="0"/>
              <a:t> to discern the direct effect.</a:t>
            </a:r>
          </a:p>
        </p:txBody>
      </p:sp>
      <p:grpSp>
        <p:nvGrpSpPr>
          <p:cNvPr id="69" name="Group 68">
            <a:extLst>
              <a:ext uri="{FF2B5EF4-FFF2-40B4-BE49-F238E27FC236}">
                <a16:creationId xmlns:a16="http://schemas.microsoft.com/office/drawing/2014/main" id="{1DDFBBE8-FA1A-F588-524A-A1BF1B296339}"/>
              </a:ext>
            </a:extLst>
          </p:cNvPr>
          <p:cNvGrpSpPr/>
          <p:nvPr/>
        </p:nvGrpSpPr>
        <p:grpSpPr>
          <a:xfrm>
            <a:off x="4564594" y="3582332"/>
            <a:ext cx="2563289" cy="432000"/>
            <a:chOff x="4604412" y="1893985"/>
            <a:chExt cx="2563289" cy="432000"/>
          </a:xfrm>
        </p:grpSpPr>
        <p:sp>
          <p:nvSpPr>
            <p:cNvPr id="70" name="Arrow: Pentagon 69">
              <a:extLst>
                <a:ext uri="{FF2B5EF4-FFF2-40B4-BE49-F238E27FC236}">
                  <a16:creationId xmlns:a16="http://schemas.microsoft.com/office/drawing/2014/main" id="{6449C24C-C5CB-ECB3-FB01-883F15FAEE74}"/>
                </a:ext>
              </a:extLst>
            </p:cNvPr>
            <p:cNvSpPr/>
            <p:nvPr/>
          </p:nvSpPr>
          <p:spPr>
            <a:xfrm>
              <a:off x="4604412" y="1893985"/>
              <a:ext cx="2563289" cy="432000"/>
            </a:xfrm>
            <a:prstGeom prst="homePlate">
              <a:avLst/>
            </a:prstGeom>
            <a:solidFill>
              <a:schemeClr val="accent4">
                <a:lumMod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432000" rtlCol="0" anchor="ctr"/>
            <a:lstStyle/>
            <a:p>
              <a:r>
                <a:rPr lang="en-US" noProof="0" dirty="0"/>
                <a:t>Model Derivation</a:t>
              </a:r>
            </a:p>
          </p:txBody>
        </p:sp>
        <p:pic>
          <p:nvPicPr>
            <p:cNvPr id="71" name="Graphic 70" descr="Connections with solid fill">
              <a:extLst>
                <a:ext uri="{FF2B5EF4-FFF2-40B4-BE49-F238E27FC236}">
                  <a16:creationId xmlns:a16="http://schemas.microsoft.com/office/drawing/2014/main" id="{ABF714F2-A00F-1CD0-4A16-ED0D1B5952B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64301" y="1929985"/>
              <a:ext cx="360000" cy="360000"/>
            </a:xfrm>
            <a:prstGeom prst="rect">
              <a:avLst/>
            </a:prstGeom>
          </p:spPr>
        </p:pic>
      </p:gr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4481A5DB-C159-DD21-6688-25DD68F25627}"/>
                  </a:ext>
                </a:extLst>
              </p:cNvPr>
              <p:cNvSpPr txBox="1"/>
              <p:nvPr/>
            </p:nvSpPr>
            <p:spPr>
              <a:xfrm>
                <a:off x="7343347" y="3413213"/>
                <a:ext cx="166635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noProof="0" smtClean="0">
                          <a:latin typeface="Cambria Math" panose="02040503050406030204" pitchFamily="18" charset="0"/>
                        </a:rPr>
                        <m:t>𝑚</m:t>
                      </m:r>
                      <m:r>
                        <a:rPr lang="en-US" b="0" i="1" noProof="0" smtClean="0">
                          <a:latin typeface="Cambria Math" panose="02040503050406030204" pitchFamily="18" charset="0"/>
                        </a:rPr>
                        <m:t>:</m:t>
                      </m:r>
                      <m:r>
                        <a:rPr lang="en-US" b="0" i="1" noProof="0" smtClean="0">
                          <a:solidFill>
                            <a:srgbClr val="006D70"/>
                          </a:solidFill>
                          <a:latin typeface="Cambria Math" panose="02040503050406030204" pitchFamily="18" charset="0"/>
                        </a:rPr>
                        <m:t>𝑏</m:t>
                      </m:r>
                      <m:r>
                        <a:rPr lang="en-US" b="0" i="1" noProof="0" smtClean="0">
                          <a:latin typeface="Cambria Math" panose="02040503050406030204" pitchFamily="18" charset="0"/>
                        </a:rPr>
                        <m:t>~</m:t>
                      </m:r>
                      <m:r>
                        <a:rPr lang="en-US" b="0" i="1" noProof="0" smtClean="0">
                          <a:solidFill>
                            <a:srgbClr val="D0180A"/>
                          </a:solidFill>
                          <a:latin typeface="Cambria Math" panose="02040503050406030204" pitchFamily="18" charset="0"/>
                        </a:rPr>
                        <m:t>𝑎</m:t>
                      </m:r>
                      <m:r>
                        <a:rPr lang="en-US" b="0" i="1" noProof="0" smtClean="0">
                          <a:solidFill>
                            <a:schemeClr val="tx1"/>
                          </a:solidFill>
                          <a:latin typeface="Cambria Math" panose="02040503050406030204" pitchFamily="18" charset="0"/>
                        </a:rPr>
                        <m:t>+</m:t>
                      </m:r>
                      <m:r>
                        <a:rPr lang="en-US" b="0" i="1" noProof="0" smtClean="0">
                          <a:solidFill>
                            <a:schemeClr val="accent1">
                              <a:lumMod val="75000"/>
                            </a:schemeClr>
                          </a:solidFill>
                          <a:latin typeface="Cambria Math" panose="02040503050406030204" pitchFamily="18" charset="0"/>
                        </a:rPr>
                        <m:t>𝑓</m:t>
                      </m:r>
                      <m:r>
                        <a:rPr lang="en-US" b="0" i="1" noProof="0" smtClean="0">
                          <a:solidFill>
                            <a:schemeClr val="tx1"/>
                          </a:solidFill>
                          <a:latin typeface="Cambria Math" panose="02040503050406030204" pitchFamily="18" charset="0"/>
                        </a:rPr>
                        <m:t>(+</m:t>
                      </m:r>
                      <m:r>
                        <a:rPr lang="en-US" b="0" i="1" noProof="0" smtClean="0">
                          <a:solidFill>
                            <a:schemeClr val="accent2"/>
                          </a:solidFill>
                          <a:latin typeface="Cambria Math" panose="02040503050406030204" pitchFamily="18" charset="0"/>
                        </a:rPr>
                        <m:t>𝑒</m:t>
                      </m:r>
                      <m:r>
                        <a:rPr lang="en-US" b="0" i="1" noProof="0" smtClean="0">
                          <a:solidFill>
                            <a:schemeClr val="tx1"/>
                          </a:solidFill>
                          <a:latin typeface="Cambria Math" panose="02040503050406030204" pitchFamily="18" charset="0"/>
                        </a:rPr>
                        <m:t>)</m:t>
                      </m:r>
                    </m:oMath>
                  </m:oMathPara>
                </a14:m>
                <a:endParaRPr lang="en-US" noProof="0" dirty="0"/>
              </a:p>
            </p:txBody>
          </p:sp>
        </mc:Choice>
        <mc:Fallback xmlns="">
          <p:sp>
            <p:nvSpPr>
              <p:cNvPr id="7" name="TextBox 6">
                <a:extLst>
                  <a:ext uri="{FF2B5EF4-FFF2-40B4-BE49-F238E27FC236}">
                    <a16:creationId xmlns:a16="http://schemas.microsoft.com/office/drawing/2014/main" id="{4481A5DB-C159-DD21-6688-25DD68F25627}"/>
                  </a:ext>
                </a:extLst>
              </p:cNvPr>
              <p:cNvSpPr txBox="1">
                <a:spLocks noRot="1" noChangeAspect="1" noMove="1" noResize="1" noEditPoints="1" noAdjustHandles="1" noChangeArrowheads="1" noChangeShapeType="1" noTextEdit="1"/>
              </p:cNvSpPr>
              <p:nvPr/>
            </p:nvSpPr>
            <p:spPr>
              <a:xfrm>
                <a:off x="7343347" y="3413213"/>
                <a:ext cx="1666354" cy="276999"/>
              </a:xfrm>
              <a:prstGeom prst="rect">
                <a:avLst/>
              </a:prstGeom>
              <a:blipFill>
                <a:blip r:embed="rId5"/>
                <a:stretch>
                  <a:fillRect l="-1832" t="-2222" r="-5128" b="-35556"/>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95FD7F4A-CF27-4B23-3CE1-FA0270C38BC3}"/>
                  </a:ext>
                </a:extLst>
              </p:cNvPr>
              <p:cNvSpPr txBox="1"/>
              <p:nvPr/>
            </p:nvSpPr>
            <p:spPr>
              <a:xfrm>
                <a:off x="7343347" y="3798331"/>
                <a:ext cx="167802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noProof="0" smtClean="0">
                          <a:latin typeface="Cambria Math" panose="02040503050406030204" pitchFamily="18" charset="0"/>
                        </a:rPr>
                        <m:t>𝑚</m:t>
                      </m:r>
                      <m:r>
                        <a:rPr lang="en-US" b="0" i="1" noProof="0" smtClean="0">
                          <a:latin typeface="Cambria Math" panose="02040503050406030204" pitchFamily="18" charset="0"/>
                        </a:rPr>
                        <m:t>:</m:t>
                      </m:r>
                      <m:r>
                        <a:rPr lang="en-US" b="0" i="1" noProof="0" smtClean="0">
                          <a:solidFill>
                            <a:srgbClr val="006D70"/>
                          </a:solidFill>
                          <a:latin typeface="Cambria Math" panose="02040503050406030204" pitchFamily="18" charset="0"/>
                        </a:rPr>
                        <m:t>𝑏</m:t>
                      </m:r>
                      <m:r>
                        <a:rPr lang="en-US" b="0" i="1" noProof="0" smtClean="0">
                          <a:latin typeface="Cambria Math" panose="02040503050406030204" pitchFamily="18" charset="0"/>
                        </a:rPr>
                        <m:t>~</m:t>
                      </m:r>
                      <m:r>
                        <a:rPr lang="en-US" b="0" i="1" noProof="0" smtClean="0">
                          <a:solidFill>
                            <a:srgbClr val="D0180A"/>
                          </a:solidFill>
                          <a:latin typeface="Cambria Math" panose="02040503050406030204" pitchFamily="18" charset="0"/>
                        </a:rPr>
                        <m:t>𝑎</m:t>
                      </m:r>
                      <m:r>
                        <a:rPr lang="en-US" b="0" i="1" noProof="0" smtClean="0">
                          <a:solidFill>
                            <a:schemeClr val="tx1"/>
                          </a:solidFill>
                          <a:latin typeface="Cambria Math" panose="02040503050406030204" pitchFamily="18" charset="0"/>
                        </a:rPr>
                        <m:t>+</m:t>
                      </m:r>
                      <m:r>
                        <a:rPr lang="en-US" b="0" i="1" noProof="0" smtClean="0">
                          <a:solidFill>
                            <a:schemeClr val="accent1">
                              <a:lumMod val="75000"/>
                            </a:schemeClr>
                          </a:solidFill>
                          <a:latin typeface="Cambria Math" panose="02040503050406030204" pitchFamily="18" charset="0"/>
                        </a:rPr>
                        <m:t>𝑔</m:t>
                      </m:r>
                      <m:r>
                        <a:rPr lang="en-US" i="1" noProof="0" smtClean="0">
                          <a:latin typeface="Cambria Math" panose="02040503050406030204" pitchFamily="18" charset="0"/>
                        </a:rPr>
                        <m:t>(+</m:t>
                      </m:r>
                      <m:r>
                        <a:rPr lang="en-US" i="1" noProof="0" smtClean="0">
                          <a:solidFill>
                            <a:schemeClr val="accent2"/>
                          </a:solidFill>
                          <a:latin typeface="Cambria Math" panose="02040503050406030204" pitchFamily="18" charset="0"/>
                        </a:rPr>
                        <m:t>𝑒</m:t>
                      </m:r>
                      <m:r>
                        <a:rPr lang="en-US" i="1" noProof="0" smtClean="0">
                          <a:latin typeface="Cambria Math" panose="02040503050406030204" pitchFamily="18" charset="0"/>
                        </a:rPr>
                        <m:t>)</m:t>
                      </m:r>
                    </m:oMath>
                  </m:oMathPara>
                </a14:m>
                <a:endParaRPr lang="en-US" noProof="0" dirty="0"/>
              </a:p>
            </p:txBody>
          </p:sp>
        </mc:Choice>
        <mc:Fallback xmlns="">
          <p:sp>
            <p:nvSpPr>
              <p:cNvPr id="9" name="TextBox 8">
                <a:extLst>
                  <a:ext uri="{FF2B5EF4-FFF2-40B4-BE49-F238E27FC236}">
                    <a16:creationId xmlns:a16="http://schemas.microsoft.com/office/drawing/2014/main" id="{95FD7F4A-CF27-4B23-3CE1-FA0270C38BC3}"/>
                  </a:ext>
                </a:extLst>
              </p:cNvPr>
              <p:cNvSpPr txBox="1">
                <a:spLocks noRot="1" noChangeAspect="1" noMove="1" noResize="1" noEditPoints="1" noAdjustHandles="1" noChangeArrowheads="1" noChangeShapeType="1" noTextEdit="1"/>
              </p:cNvSpPr>
              <p:nvPr/>
            </p:nvSpPr>
            <p:spPr>
              <a:xfrm>
                <a:off x="7343347" y="3798331"/>
                <a:ext cx="1678023" cy="276999"/>
              </a:xfrm>
              <a:prstGeom prst="rect">
                <a:avLst/>
              </a:prstGeom>
              <a:blipFill>
                <a:blip r:embed="rId6"/>
                <a:stretch>
                  <a:fillRect l="-1818" t="-2174" r="-5091" b="-32609"/>
                </a:stretch>
              </a:blipFill>
            </p:spPr>
            <p:txBody>
              <a:bodyPr/>
              <a:lstStyle/>
              <a:p>
                <a:r>
                  <a:rPr lang="en-SE">
                    <a:noFill/>
                  </a:rPr>
                  <a:t> </a:t>
                </a:r>
              </a:p>
            </p:txBody>
          </p:sp>
        </mc:Fallback>
      </mc:AlternateContent>
    </p:spTree>
    <p:extLst>
      <p:ext uri="{BB962C8B-B14F-4D97-AF65-F5344CB8AC3E}">
        <p14:creationId xmlns:p14="http://schemas.microsoft.com/office/powerpoint/2010/main" val="4478782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03B4EB-CD83-7F10-A23F-0B210B0F19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8CB8C2-F5B4-3F87-CE12-8C64D293A419}"/>
              </a:ext>
            </a:extLst>
          </p:cNvPr>
          <p:cNvSpPr>
            <a:spLocks noGrp="1"/>
          </p:cNvSpPr>
          <p:nvPr>
            <p:ph type="title"/>
          </p:nvPr>
        </p:nvSpPr>
        <p:spPr/>
        <p:txBody>
          <a:bodyPr/>
          <a:lstStyle/>
          <a:p>
            <a:r>
              <a:rPr lang="en-US" noProof="0" dirty="0"/>
              <a:t>Deriving a statistical Model from a causal Model: d-separation</a:t>
            </a:r>
          </a:p>
        </p:txBody>
      </p:sp>
      <p:sp>
        <p:nvSpPr>
          <p:cNvPr id="3" name="Content Placeholder 2">
            <a:extLst>
              <a:ext uri="{FF2B5EF4-FFF2-40B4-BE49-F238E27FC236}">
                <a16:creationId xmlns:a16="http://schemas.microsoft.com/office/drawing/2014/main" id="{C23B5A46-BA94-D6A8-11A7-27AA1740FB9D}"/>
              </a:ext>
            </a:extLst>
          </p:cNvPr>
          <p:cNvSpPr>
            <a:spLocks noGrp="1"/>
          </p:cNvSpPr>
          <p:nvPr>
            <p:ph idx="1"/>
          </p:nvPr>
        </p:nvSpPr>
        <p:spPr>
          <a:xfrm>
            <a:off x="838200" y="1825625"/>
            <a:ext cx="10515600" cy="1603375"/>
          </a:xfrm>
        </p:spPr>
        <p:txBody>
          <a:bodyPr>
            <a:normAutofit/>
          </a:bodyPr>
          <a:lstStyle/>
          <a:p>
            <a:pPr marL="0" indent="0">
              <a:buNone/>
            </a:pPr>
            <a:r>
              <a:rPr lang="en-US" sz="2400" noProof="0" dirty="0"/>
              <a:t>A general framework to derive statistical models from causal models uses </a:t>
            </a:r>
            <a:r>
              <a:rPr lang="en-US" sz="2400" b="1" noProof="0" dirty="0"/>
              <a:t>d-separation</a:t>
            </a:r>
            <a:r>
              <a:rPr lang="en-US" sz="2400" noProof="0" dirty="0"/>
              <a:t>. It produces an </a:t>
            </a:r>
            <a:r>
              <a:rPr lang="en-US" sz="2400" b="1" noProof="0" dirty="0"/>
              <a:t>adjustment set</a:t>
            </a:r>
            <a:r>
              <a:rPr lang="en-US" sz="2400" noProof="0" dirty="0"/>
              <a:t>, i.e., the set of variables to control statistically in order to de-confound the causal effect between the exposure and the outcome.</a:t>
            </a:r>
          </a:p>
        </p:txBody>
      </p:sp>
      <p:sp>
        <p:nvSpPr>
          <p:cNvPr id="4" name="Date Placeholder 3">
            <a:extLst>
              <a:ext uri="{FF2B5EF4-FFF2-40B4-BE49-F238E27FC236}">
                <a16:creationId xmlns:a16="http://schemas.microsoft.com/office/drawing/2014/main" id="{601D9834-2F95-B93F-D9F5-5AB5BC2B489A}"/>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F0EC682D-1E4F-4EBC-CE1D-9244BB07891F}"/>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04AC1162-C451-0965-1469-5990C8C44EAF}"/>
              </a:ext>
            </a:extLst>
          </p:cNvPr>
          <p:cNvSpPr>
            <a:spLocks noGrp="1"/>
          </p:cNvSpPr>
          <p:nvPr>
            <p:ph type="sldNum" sz="quarter" idx="12"/>
          </p:nvPr>
        </p:nvSpPr>
        <p:spPr/>
        <p:txBody>
          <a:bodyPr/>
          <a:lstStyle/>
          <a:p>
            <a:fld id="{0FA2D919-C0DE-4971-A2E9-D4AC0031921B}" type="slidenum">
              <a:rPr lang="en-US" noProof="0" smtClean="0"/>
              <a:t>33</a:t>
            </a:fld>
            <a:endParaRPr lang="en-US" noProof="0" dirty="0"/>
          </a:p>
        </p:txBody>
      </p:sp>
      <p:sp>
        <p:nvSpPr>
          <p:cNvPr id="8" name="TextBox 7">
            <a:extLst>
              <a:ext uri="{FF2B5EF4-FFF2-40B4-BE49-F238E27FC236}">
                <a16:creationId xmlns:a16="http://schemas.microsoft.com/office/drawing/2014/main" id="{B790E4ED-10C8-92E0-DDC4-4C6ADA754EA0}"/>
              </a:ext>
            </a:extLst>
          </p:cNvPr>
          <p:cNvSpPr txBox="1"/>
          <p:nvPr/>
        </p:nvSpPr>
        <p:spPr>
          <a:xfrm>
            <a:off x="838200" y="5987018"/>
            <a:ext cx="6096000" cy="369332"/>
          </a:xfrm>
          <a:prstGeom prst="rect">
            <a:avLst/>
          </a:prstGeom>
          <a:noFill/>
        </p:spPr>
        <p:txBody>
          <a:bodyPr wrap="square">
            <a:spAutoFit/>
          </a:bodyPr>
          <a:lstStyle/>
          <a:p>
            <a:pPr marL="0" indent="0">
              <a:buNone/>
            </a:pPr>
            <a:r>
              <a:rPr lang="en-US" noProof="0" dirty="0">
                <a:hlinkClick r:id="rId2"/>
              </a:rPr>
              <a:t>https://bayes.cs.ucla.edu/BOOK-2K/d-sep.html</a:t>
            </a:r>
            <a:r>
              <a:rPr lang="en-US" noProof="0" dirty="0"/>
              <a:t> </a:t>
            </a:r>
          </a:p>
        </p:txBody>
      </p:sp>
      <p:sp>
        <p:nvSpPr>
          <p:cNvPr id="11" name="Oval 10">
            <a:extLst>
              <a:ext uri="{FF2B5EF4-FFF2-40B4-BE49-F238E27FC236}">
                <a16:creationId xmlns:a16="http://schemas.microsoft.com/office/drawing/2014/main" id="{CFFF73C8-0B22-142B-0DF5-0D1364F33D80}"/>
              </a:ext>
            </a:extLst>
          </p:cNvPr>
          <p:cNvSpPr/>
          <p:nvPr/>
        </p:nvSpPr>
        <p:spPr>
          <a:xfrm>
            <a:off x="1328964" y="4394427"/>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a</a:t>
            </a:r>
          </a:p>
        </p:txBody>
      </p:sp>
      <p:sp>
        <p:nvSpPr>
          <p:cNvPr id="12" name="Oval 11">
            <a:extLst>
              <a:ext uri="{FF2B5EF4-FFF2-40B4-BE49-F238E27FC236}">
                <a16:creationId xmlns:a16="http://schemas.microsoft.com/office/drawing/2014/main" id="{63F30886-0664-6CCE-3C9E-CDA150E7731E}"/>
              </a:ext>
            </a:extLst>
          </p:cNvPr>
          <p:cNvSpPr/>
          <p:nvPr/>
        </p:nvSpPr>
        <p:spPr>
          <a:xfrm>
            <a:off x="3820344" y="4394427"/>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b</a:t>
            </a:r>
          </a:p>
        </p:txBody>
      </p:sp>
      <p:cxnSp>
        <p:nvCxnSpPr>
          <p:cNvPr id="13" name="Straight Arrow Connector 12">
            <a:extLst>
              <a:ext uri="{FF2B5EF4-FFF2-40B4-BE49-F238E27FC236}">
                <a16:creationId xmlns:a16="http://schemas.microsoft.com/office/drawing/2014/main" id="{BEFA903B-56D0-2B5F-BFA6-620190088DEB}"/>
              </a:ext>
            </a:extLst>
          </p:cNvPr>
          <p:cNvCxnSpPr>
            <a:stCxn id="11" idx="6"/>
            <a:endCxn id="12" idx="2"/>
          </p:cNvCxnSpPr>
          <p:nvPr/>
        </p:nvCxnSpPr>
        <p:spPr>
          <a:xfrm>
            <a:off x="1688964" y="4574427"/>
            <a:ext cx="21313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6" name="Oval 15">
            <a:extLst>
              <a:ext uri="{FF2B5EF4-FFF2-40B4-BE49-F238E27FC236}">
                <a16:creationId xmlns:a16="http://schemas.microsoft.com/office/drawing/2014/main" id="{FB2A9811-A725-B996-58B4-CBED74D293AE}"/>
              </a:ext>
            </a:extLst>
          </p:cNvPr>
          <p:cNvSpPr/>
          <p:nvPr/>
        </p:nvSpPr>
        <p:spPr>
          <a:xfrm>
            <a:off x="2574654" y="5052577"/>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e</a:t>
            </a:r>
          </a:p>
        </p:txBody>
      </p:sp>
      <p:cxnSp>
        <p:nvCxnSpPr>
          <p:cNvPr id="18" name="Straight Arrow Connector 17">
            <a:extLst>
              <a:ext uri="{FF2B5EF4-FFF2-40B4-BE49-F238E27FC236}">
                <a16:creationId xmlns:a16="http://schemas.microsoft.com/office/drawing/2014/main" id="{0D000759-2D0B-7F6C-4A0C-B96EF8FFB40F}"/>
              </a:ext>
            </a:extLst>
          </p:cNvPr>
          <p:cNvCxnSpPr>
            <a:cxnSpLocks/>
            <a:stCxn id="16" idx="6"/>
            <a:endCxn id="12" idx="3"/>
          </p:cNvCxnSpPr>
          <p:nvPr/>
        </p:nvCxnSpPr>
        <p:spPr>
          <a:xfrm flipV="1">
            <a:off x="2934654" y="4701706"/>
            <a:ext cx="938411" cy="53087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9" name="Straight Arrow Connector 18">
            <a:extLst>
              <a:ext uri="{FF2B5EF4-FFF2-40B4-BE49-F238E27FC236}">
                <a16:creationId xmlns:a16="http://schemas.microsoft.com/office/drawing/2014/main" id="{9982B517-5C5F-9975-EC69-2FA4AF5237F1}"/>
              </a:ext>
            </a:extLst>
          </p:cNvPr>
          <p:cNvCxnSpPr>
            <a:cxnSpLocks/>
            <a:stCxn id="11" idx="5"/>
            <a:endCxn id="16" idx="2"/>
          </p:cNvCxnSpPr>
          <p:nvPr/>
        </p:nvCxnSpPr>
        <p:spPr>
          <a:xfrm>
            <a:off x="1636243" y="4701706"/>
            <a:ext cx="938411" cy="53087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3" name="Oval 22">
            <a:extLst>
              <a:ext uri="{FF2B5EF4-FFF2-40B4-BE49-F238E27FC236}">
                <a16:creationId xmlns:a16="http://schemas.microsoft.com/office/drawing/2014/main" id="{1231C93E-2141-3AFB-AA7A-03DCDA93B680}"/>
              </a:ext>
            </a:extLst>
          </p:cNvPr>
          <p:cNvSpPr/>
          <p:nvPr/>
        </p:nvSpPr>
        <p:spPr>
          <a:xfrm>
            <a:off x="1330258" y="3556278"/>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c</a:t>
            </a:r>
          </a:p>
        </p:txBody>
      </p:sp>
      <p:sp>
        <p:nvSpPr>
          <p:cNvPr id="24" name="Oval 23">
            <a:extLst>
              <a:ext uri="{FF2B5EF4-FFF2-40B4-BE49-F238E27FC236}">
                <a16:creationId xmlns:a16="http://schemas.microsoft.com/office/drawing/2014/main" id="{D7EE3AA2-4E0C-66A5-16AD-9AB5C61FB5BD}"/>
              </a:ext>
            </a:extLst>
          </p:cNvPr>
          <p:cNvSpPr/>
          <p:nvPr/>
        </p:nvSpPr>
        <p:spPr>
          <a:xfrm>
            <a:off x="2574654" y="3551713"/>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d</a:t>
            </a:r>
          </a:p>
        </p:txBody>
      </p:sp>
      <p:cxnSp>
        <p:nvCxnSpPr>
          <p:cNvPr id="25" name="Straight Arrow Connector 24">
            <a:extLst>
              <a:ext uri="{FF2B5EF4-FFF2-40B4-BE49-F238E27FC236}">
                <a16:creationId xmlns:a16="http://schemas.microsoft.com/office/drawing/2014/main" id="{E84D6396-A4E0-086B-4841-BD3EDE6BF8A7}"/>
              </a:ext>
            </a:extLst>
          </p:cNvPr>
          <p:cNvCxnSpPr>
            <a:cxnSpLocks/>
            <a:stCxn id="23" idx="4"/>
            <a:endCxn id="11" idx="0"/>
          </p:cNvCxnSpPr>
          <p:nvPr/>
        </p:nvCxnSpPr>
        <p:spPr>
          <a:xfrm flipH="1">
            <a:off x="1508964" y="3916278"/>
            <a:ext cx="1294" cy="47814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1" name="Straight Arrow Connector 30">
            <a:extLst>
              <a:ext uri="{FF2B5EF4-FFF2-40B4-BE49-F238E27FC236}">
                <a16:creationId xmlns:a16="http://schemas.microsoft.com/office/drawing/2014/main" id="{561249AD-AD75-F6FF-FF9D-50A557BFDD36}"/>
              </a:ext>
            </a:extLst>
          </p:cNvPr>
          <p:cNvCxnSpPr>
            <a:cxnSpLocks/>
            <a:stCxn id="23" idx="6"/>
            <a:endCxn id="24" idx="2"/>
          </p:cNvCxnSpPr>
          <p:nvPr/>
        </p:nvCxnSpPr>
        <p:spPr>
          <a:xfrm flipV="1">
            <a:off x="1690258" y="3731713"/>
            <a:ext cx="884396" cy="456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4" name="Straight Arrow Connector 33">
            <a:extLst>
              <a:ext uri="{FF2B5EF4-FFF2-40B4-BE49-F238E27FC236}">
                <a16:creationId xmlns:a16="http://schemas.microsoft.com/office/drawing/2014/main" id="{E8D793B5-D618-C576-11C9-585E4E0B7C37}"/>
              </a:ext>
            </a:extLst>
          </p:cNvPr>
          <p:cNvCxnSpPr>
            <a:cxnSpLocks/>
            <a:stCxn id="12" idx="1"/>
            <a:endCxn id="24" idx="5"/>
          </p:cNvCxnSpPr>
          <p:nvPr/>
        </p:nvCxnSpPr>
        <p:spPr>
          <a:xfrm flipH="1" flipV="1">
            <a:off x="2881933" y="3858992"/>
            <a:ext cx="991132" cy="58815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54" name="Oval 53">
            <a:extLst>
              <a:ext uri="{FF2B5EF4-FFF2-40B4-BE49-F238E27FC236}">
                <a16:creationId xmlns:a16="http://schemas.microsoft.com/office/drawing/2014/main" id="{AD2B4D6B-552D-12F7-2529-D6105ABF0E45}"/>
              </a:ext>
            </a:extLst>
          </p:cNvPr>
          <p:cNvSpPr/>
          <p:nvPr/>
        </p:nvSpPr>
        <p:spPr>
          <a:xfrm>
            <a:off x="1328964" y="5592576"/>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f</a:t>
            </a:r>
          </a:p>
        </p:txBody>
      </p:sp>
      <p:sp>
        <p:nvSpPr>
          <p:cNvPr id="55" name="Oval 54">
            <a:extLst>
              <a:ext uri="{FF2B5EF4-FFF2-40B4-BE49-F238E27FC236}">
                <a16:creationId xmlns:a16="http://schemas.microsoft.com/office/drawing/2014/main" id="{DD58EE99-327E-5333-0C62-AD3CBB038A28}"/>
              </a:ext>
            </a:extLst>
          </p:cNvPr>
          <p:cNvSpPr/>
          <p:nvPr/>
        </p:nvSpPr>
        <p:spPr>
          <a:xfrm>
            <a:off x="3820344" y="5592576"/>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g</a:t>
            </a:r>
          </a:p>
        </p:txBody>
      </p:sp>
      <p:cxnSp>
        <p:nvCxnSpPr>
          <p:cNvPr id="56" name="Straight Arrow Connector 55">
            <a:extLst>
              <a:ext uri="{FF2B5EF4-FFF2-40B4-BE49-F238E27FC236}">
                <a16:creationId xmlns:a16="http://schemas.microsoft.com/office/drawing/2014/main" id="{3DFC211B-D8DA-7EDD-AE65-37E7AAC20D56}"/>
              </a:ext>
            </a:extLst>
          </p:cNvPr>
          <p:cNvCxnSpPr>
            <a:cxnSpLocks/>
            <a:stCxn id="54" idx="0"/>
            <a:endCxn id="11" idx="4"/>
          </p:cNvCxnSpPr>
          <p:nvPr/>
        </p:nvCxnSpPr>
        <p:spPr>
          <a:xfrm flipV="1">
            <a:off x="1508964" y="4754427"/>
            <a:ext cx="0" cy="83814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9" name="Straight Arrow Connector 58">
            <a:extLst>
              <a:ext uri="{FF2B5EF4-FFF2-40B4-BE49-F238E27FC236}">
                <a16:creationId xmlns:a16="http://schemas.microsoft.com/office/drawing/2014/main" id="{3D5B6D3C-62F8-CC63-38EE-0423DA2914E8}"/>
              </a:ext>
            </a:extLst>
          </p:cNvPr>
          <p:cNvCxnSpPr>
            <a:cxnSpLocks/>
            <a:stCxn id="54" idx="6"/>
            <a:endCxn id="55" idx="2"/>
          </p:cNvCxnSpPr>
          <p:nvPr/>
        </p:nvCxnSpPr>
        <p:spPr>
          <a:xfrm>
            <a:off x="1688964" y="5772576"/>
            <a:ext cx="21313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2" name="Straight Arrow Connector 61">
            <a:extLst>
              <a:ext uri="{FF2B5EF4-FFF2-40B4-BE49-F238E27FC236}">
                <a16:creationId xmlns:a16="http://schemas.microsoft.com/office/drawing/2014/main" id="{79901BB4-A080-D52D-F777-E453748F7044}"/>
              </a:ext>
            </a:extLst>
          </p:cNvPr>
          <p:cNvCxnSpPr>
            <a:cxnSpLocks/>
            <a:stCxn id="55" idx="0"/>
            <a:endCxn id="12" idx="4"/>
          </p:cNvCxnSpPr>
          <p:nvPr/>
        </p:nvCxnSpPr>
        <p:spPr>
          <a:xfrm flipV="1">
            <a:off x="4000344" y="4754427"/>
            <a:ext cx="0" cy="83814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68" name="TextBox 67">
            <a:extLst>
              <a:ext uri="{FF2B5EF4-FFF2-40B4-BE49-F238E27FC236}">
                <a16:creationId xmlns:a16="http://schemas.microsoft.com/office/drawing/2014/main" id="{F1122550-BD3F-92A9-F1AC-B9842CDC08E2}"/>
              </a:ext>
            </a:extLst>
          </p:cNvPr>
          <p:cNvSpPr txBox="1"/>
          <p:nvPr/>
        </p:nvSpPr>
        <p:spPr>
          <a:xfrm>
            <a:off x="4564594" y="4232692"/>
            <a:ext cx="7254125" cy="1754326"/>
          </a:xfrm>
          <a:prstGeom prst="rect">
            <a:avLst/>
          </a:prstGeom>
          <a:noFill/>
        </p:spPr>
        <p:txBody>
          <a:bodyPr wrap="square" rtlCol="0">
            <a:spAutoFit/>
          </a:bodyPr>
          <a:lstStyle/>
          <a:p>
            <a:pPr marL="342900" indent="-342900">
              <a:buFont typeface="+mj-lt"/>
              <a:buAutoNum type="arabicPeriod"/>
            </a:pPr>
            <a:r>
              <a:rPr lang="en-US" noProof="0" dirty="0"/>
              <a:t>Identify every backdoor path</a:t>
            </a:r>
            <a:r>
              <a:rPr lang="en-US" i="1" noProof="0" dirty="0"/>
              <a:t>.</a:t>
            </a:r>
            <a:endParaRPr lang="en-US" noProof="0" dirty="0"/>
          </a:p>
          <a:p>
            <a:pPr marL="342900" indent="-342900">
              <a:buFont typeface="+mj-lt"/>
              <a:buAutoNum type="arabicPeriod"/>
            </a:pPr>
            <a:r>
              <a:rPr lang="en-US" noProof="0" dirty="0"/>
              <a:t>Check if there is a collider between the cause and effect of interest.</a:t>
            </a:r>
          </a:p>
          <a:p>
            <a:pPr marL="800100" lvl="1" indent="-342900">
              <a:buFont typeface="+mj-lt"/>
              <a:buAutoNum type="arabicPeriod"/>
            </a:pPr>
            <a:r>
              <a:rPr lang="en-US" noProof="0" dirty="0"/>
              <a:t>If yes, do not condition on any of the variables on this path.</a:t>
            </a:r>
          </a:p>
          <a:p>
            <a:pPr marL="800100" lvl="1" indent="-342900">
              <a:buFont typeface="+mj-lt"/>
              <a:buAutoNum type="arabicPeriod"/>
            </a:pPr>
            <a:r>
              <a:rPr lang="en-US" noProof="0" dirty="0"/>
              <a:t>If not, condition on any of the variables on this path to “close” the backdoor path.</a:t>
            </a:r>
          </a:p>
          <a:p>
            <a:pPr marL="342900" indent="-342900">
              <a:buFont typeface="+mj-lt"/>
              <a:buAutoNum type="arabicPeriod"/>
            </a:pPr>
            <a:r>
              <a:rPr lang="en-US" noProof="0" dirty="0"/>
              <a:t>Optionally, condition on mediators to discern the direct effect.</a:t>
            </a:r>
          </a:p>
        </p:txBody>
      </p:sp>
      <p:grpSp>
        <p:nvGrpSpPr>
          <p:cNvPr id="69" name="Group 68">
            <a:extLst>
              <a:ext uri="{FF2B5EF4-FFF2-40B4-BE49-F238E27FC236}">
                <a16:creationId xmlns:a16="http://schemas.microsoft.com/office/drawing/2014/main" id="{EFD97713-6117-501C-2C1D-CDB6B9517732}"/>
              </a:ext>
            </a:extLst>
          </p:cNvPr>
          <p:cNvGrpSpPr/>
          <p:nvPr/>
        </p:nvGrpSpPr>
        <p:grpSpPr>
          <a:xfrm>
            <a:off x="4564594" y="3582332"/>
            <a:ext cx="2563289" cy="432000"/>
            <a:chOff x="4604412" y="1893985"/>
            <a:chExt cx="2563289" cy="432000"/>
          </a:xfrm>
        </p:grpSpPr>
        <p:sp>
          <p:nvSpPr>
            <p:cNvPr id="70" name="Arrow: Pentagon 69">
              <a:extLst>
                <a:ext uri="{FF2B5EF4-FFF2-40B4-BE49-F238E27FC236}">
                  <a16:creationId xmlns:a16="http://schemas.microsoft.com/office/drawing/2014/main" id="{84B7D666-21D5-4E3C-41D4-7EFC19FB4500}"/>
                </a:ext>
              </a:extLst>
            </p:cNvPr>
            <p:cNvSpPr/>
            <p:nvPr/>
          </p:nvSpPr>
          <p:spPr>
            <a:xfrm>
              <a:off x="4604412" y="1893985"/>
              <a:ext cx="2563289" cy="432000"/>
            </a:xfrm>
            <a:prstGeom prst="homePlate">
              <a:avLst/>
            </a:prstGeom>
            <a:solidFill>
              <a:schemeClr val="accent4">
                <a:lumMod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432000" rtlCol="0" anchor="ctr"/>
            <a:lstStyle/>
            <a:p>
              <a:r>
                <a:rPr lang="en-US" noProof="0" dirty="0"/>
                <a:t>Model Derivation</a:t>
              </a:r>
            </a:p>
          </p:txBody>
        </p:sp>
        <p:pic>
          <p:nvPicPr>
            <p:cNvPr id="71" name="Graphic 70" descr="Connections with solid fill">
              <a:extLst>
                <a:ext uri="{FF2B5EF4-FFF2-40B4-BE49-F238E27FC236}">
                  <a16:creationId xmlns:a16="http://schemas.microsoft.com/office/drawing/2014/main" id="{CABB0A44-8A36-B53B-89D8-C1FE178D074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64301" y="1929985"/>
              <a:ext cx="360000" cy="360000"/>
            </a:xfrm>
            <a:prstGeom prst="rect">
              <a:avLst/>
            </a:prstGeom>
          </p:spPr>
        </p:pic>
      </p:gr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F5338462-B37F-7148-C56E-FBC16D963310}"/>
                  </a:ext>
                </a:extLst>
              </p:cNvPr>
              <p:cNvSpPr txBox="1"/>
              <p:nvPr/>
            </p:nvSpPr>
            <p:spPr>
              <a:xfrm>
                <a:off x="7343347" y="3413213"/>
                <a:ext cx="166635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noProof="0" smtClean="0">
                          <a:latin typeface="Cambria Math" panose="02040503050406030204" pitchFamily="18" charset="0"/>
                        </a:rPr>
                        <m:t>𝑚</m:t>
                      </m:r>
                      <m:r>
                        <a:rPr lang="en-US" b="0" i="1" noProof="0" smtClean="0">
                          <a:latin typeface="Cambria Math" panose="02040503050406030204" pitchFamily="18" charset="0"/>
                        </a:rPr>
                        <m:t>:</m:t>
                      </m:r>
                      <m:r>
                        <a:rPr lang="en-US" b="0" i="1" noProof="0" smtClean="0">
                          <a:solidFill>
                            <a:srgbClr val="006D70"/>
                          </a:solidFill>
                          <a:latin typeface="Cambria Math" panose="02040503050406030204" pitchFamily="18" charset="0"/>
                        </a:rPr>
                        <m:t>𝑏</m:t>
                      </m:r>
                      <m:r>
                        <a:rPr lang="en-US" b="0" i="1" noProof="0" smtClean="0">
                          <a:latin typeface="Cambria Math" panose="02040503050406030204" pitchFamily="18" charset="0"/>
                        </a:rPr>
                        <m:t>~</m:t>
                      </m:r>
                      <m:r>
                        <a:rPr lang="en-US" b="0" i="1" noProof="0" smtClean="0">
                          <a:solidFill>
                            <a:srgbClr val="D0180A"/>
                          </a:solidFill>
                          <a:latin typeface="Cambria Math" panose="02040503050406030204" pitchFamily="18" charset="0"/>
                        </a:rPr>
                        <m:t>𝑎</m:t>
                      </m:r>
                      <m:r>
                        <a:rPr lang="en-US" b="0" i="1" noProof="0" smtClean="0">
                          <a:solidFill>
                            <a:schemeClr val="tx1"/>
                          </a:solidFill>
                          <a:latin typeface="Cambria Math" panose="02040503050406030204" pitchFamily="18" charset="0"/>
                        </a:rPr>
                        <m:t>+</m:t>
                      </m:r>
                      <m:r>
                        <a:rPr lang="en-US" b="0" i="1" noProof="0" smtClean="0">
                          <a:solidFill>
                            <a:schemeClr val="accent1">
                              <a:lumMod val="75000"/>
                            </a:schemeClr>
                          </a:solidFill>
                          <a:latin typeface="Cambria Math" panose="02040503050406030204" pitchFamily="18" charset="0"/>
                        </a:rPr>
                        <m:t>𝑓</m:t>
                      </m:r>
                      <m:r>
                        <a:rPr lang="en-US" b="0" i="1" noProof="0" smtClean="0">
                          <a:solidFill>
                            <a:schemeClr val="tx1"/>
                          </a:solidFill>
                          <a:latin typeface="Cambria Math" panose="02040503050406030204" pitchFamily="18" charset="0"/>
                        </a:rPr>
                        <m:t>(+</m:t>
                      </m:r>
                      <m:r>
                        <a:rPr lang="en-US" b="0" i="1" noProof="0" smtClean="0">
                          <a:solidFill>
                            <a:schemeClr val="accent2"/>
                          </a:solidFill>
                          <a:latin typeface="Cambria Math" panose="02040503050406030204" pitchFamily="18" charset="0"/>
                        </a:rPr>
                        <m:t>𝑒</m:t>
                      </m:r>
                      <m:r>
                        <a:rPr lang="en-US" b="0" i="1" noProof="0" smtClean="0">
                          <a:solidFill>
                            <a:schemeClr val="tx1"/>
                          </a:solidFill>
                          <a:latin typeface="Cambria Math" panose="02040503050406030204" pitchFamily="18" charset="0"/>
                        </a:rPr>
                        <m:t>)</m:t>
                      </m:r>
                    </m:oMath>
                  </m:oMathPara>
                </a14:m>
                <a:endParaRPr lang="en-US" noProof="0" dirty="0"/>
              </a:p>
            </p:txBody>
          </p:sp>
        </mc:Choice>
        <mc:Fallback xmlns="">
          <p:sp>
            <p:nvSpPr>
              <p:cNvPr id="7" name="TextBox 6">
                <a:extLst>
                  <a:ext uri="{FF2B5EF4-FFF2-40B4-BE49-F238E27FC236}">
                    <a16:creationId xmlns:a16="http://schemas.microsoft.com/office/drawing/2014/main" id="{F5338462-B37F-7148-C56E-FBC16D963310}"/>
                  </a:ext>
                </a:extLst>
              </p:cNvPr>
              <p:cNvSpPr txBox="1">
                <a:spLocks noRot="1" noChangeAspect="1" noMove="1" noResize="1" noEditPoints="1" noAdjustHandles="1" noChangeArrowheads="1" noChangeShapeType="1" noTextEdit="1"/>
              </p:cNvSpPr>
              <p:nvPr/>
            </p:nvSpPr>
            <p:spPr>
              <a:xfrm>
                <a:off x="7343347" y="3413213"/>
                <a:ext cx="1666354" cy="276999"/>
              </a:xfrm>
              <a:prstGeom prst="rect">
                <a:avLst/>
              </a:prstGeom>
              <a:blipFill>
                <a:blip r:embed="rId5"/>
                <a:stretch>
                  <a:fillRect l="-1832" t="-2222" r="-5128" b="-35556"/>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A2699206-B808-3192-91F3-C1677150B653}"/>
                  </a:ext>
                </a:extLst>
              </p:cNvPr>
              <p:cNvSpPr txBox="1"/>
              <p:nvPr/>
            </p:nvSpPr>
            <p:spPr>
              <a:xfrm>
                <a:off x="7343347" y="3798331"/>
                <a:ext cx="167802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noProof="0" smtClean="0">
                          <a:latin typeface="Cambria Math" panose="02040503050406030204" pitchFamily="18" charset="0"/>
                        </a:rPr>
                        <m:t>𝑚</m:t>
                      </m:r>
                      <m:r>
                        <a:rPr lang="en-US" b="0" i="1" noProof="0" smtClean="0">
                          <a:latin typeface="Cambria Math" panose="02040503050406030204" pitchFamily="18" charset="0"/>
                        </a:rPr>
                        <m:t>:</m:t>
                      </m:r>
                      <m:r>
                        <a:rPr lang="en-US" b="0" i="1" noProof="0" smtClean="0">
                          <a:solidFill>
                            <a:srgbClr val="006D70"/>
                          </a:solidFill>
                          <a:latin typeface="Cambria Math" panose="02040503050406030204" pitchFamily="18" charset="0"/>
                        </a:rPr>
                        <m:t>𝑏</m:t>
                      </m:r>
                      <m:r>
                        <a:rPr lang="en-US" b="0" i="1" noProof="0" smtClean="0">
                          <a:latin typeface="Cambria Math" panose="02040503050406030204" pitchFamily="18" charset="0"/>
                        </a:rPr>
                        <m:t>~</m:t>
                      </m:r>
                      <m:r>
                        <a:rPr lang="en-US" b="0" i="1" noProof="0" smtClean="0">
                          <a:solidFill>
                            <a:srgbClr val="D0180A"/>
                          </a:solidFill>
                          <a:latin typeface="Cambria Math" panose="02040503050406030204" pitchFamily="18" charset="0"/>
                        </a:rPr>
                        <m:t>𝑎</m:t>
                      </m:r>
                      <m:r>
                        <a:rPr lang="en-US" b="0" i="1" noProof="0" smtClean="0">
                          <a:solidFill>
                            <a:schemeClr val="tx1"/>
                          </a:solidFill>
                          <a:latin typeface="Cambria Math" panose="02040503050406030204" pitchFamily="18" charset="0"/>
                        </a:rPr>
                        <m:t>+</m:t>
                      </m:r>
                      <m:r>
                        <a:rPr lang="en-US" b="0" i="1" noProof="0" smtClean="0">
                          <a:solidFill>
                            <a:schemeClr val="accent1">
                              <a:lumMod val="75000"/>
                            </a:schemeClr>
                          </a:solidFill>
                          <a:latin typeface="Cambria Math" panose="02040503050406030204" pitchFamily="18" charset="0"/>
                        </a:rPr>
                        <m:t>𝑔</m:t>
                      </m:r>
                      <m:r>
                        <a:rPr lang="en-US" i="1" noProof="0" smtClean="0">
                          <a:latin typeface="Cambria Math" panose="02040503050406030204" pitchFamily="18" charset="0"/>
                        </a:rPr>
                        <m:t>(+</m:t>
                      </m:r>
                      <m:r>
                        <a:rPr lang="en-US" i="1" noProof="0" smtClean="0">
                          <a:solidFill>
                            <a:schemeClr val="accent2"/>
                          </a:solidFill>
                          <a:latin typeface="Cambria Math" panose="02040503050406030204" pitchFamily="18" charset="0"/>
                        </a:rPr>
                        <m:t>𝑒</m:t>
                      </m:r>
                      <m:r>
                        <a:rPr lang="en-US" i="1" noProof="0" smtClean="0">
                          <a:latin typeface="Cambria Math" panose="02040503050406030204" pitchFamily="18" charset="0"/>
                        </a:rPr>
                        <m:t>)</m:t>
                      </m:r>
                    </m:oMath>
                  </m:oMathPara>
                </a14:m>
                <a:endParaRPr lang="en-US" noProof="0" dirty="0"/>
              </a:p>
            </p:txBody>
          </p:sp>
        </mc:Choice>
        <mc:Fallback xmlns="">
          <p:sp>
            <p:nvSpPr>
              <p:cNvPr id="9" name="TextBox 8">
                <a:extLst>
                  <a:ext uri="{FF2B5EF4-FFF2-40B4-BE49-F238E27FC236}">
                    <a16:creationId xmlns:a16="http://schemas.microsoft.com/office/drawing/2014/main" id="{A2699206-B808-3192-91F3-C1677150B653}"/>
                  </a:ext>
                </a:extLst>
              </p:cNvPr>
              <p:cNvSpPr txBox="1">
                <a:spLocks noRot="1" noChangeAspect="1" noMove="1" noResize="1" noEditPoints="1" noAdjustHandles="1" noChangeArrowheads="1" noChangeShapeType="1" noTextEdit="1"/>
              </p:cNvSpPr>
              <p:nvPr/>
            </p:nvSpPr>
            <p:spPr>
              <a:xfrm>
                <a:off x="7343347" y="3798331"/>
                <a:ext cx="1678023" cy="276999"/>
              </a:xfrm>
              <a:prstGeom prst="rect">
                <a:avLst/>
              </a:prstGeom>
              <a:blipFill>
                <a:blip r:embed="rId6"/>
                <a:stretch>
                  <a:fillRect l="-1818" t="-2174" r="-5091" b="-32609"/>
                </a:stretch>
              </a:blipFill>
            </p:spPr>
            <p:txBody>
              <a:bodyPr/>
              <a:lstStyle/>
              <a:p>
                <a:r>
                  <a:rPr lang="en-SE">
                    <a:noFill/>
                  </a:rPr>
                  <a:t> </a:t>
                </a:r>
              </a:p>
            </p:txBody>
          </p:sp>
        </mc:Fallback>
      </mc:AlternateContent>
    </p:spTree>
    <p:extLst>
      <p:ext uri="{BB962C8B-B14F-4D97-AF65-F5344CB8AC3E}">
        <p14:creationId xmlns:p14="http://schemas.microsoft.com/office/powerpoint/2010/main" val="25220819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311B4-7994-C422-582A-A0C655791F65}"/>
              </a:ext>
            </a:extLst>
          </p:cNvPr>
          <p:cNvSpPr>
            <a:spLocks noGrp="1"/>
          </p:cNvSpPr>
          <p:nvPr>
            <p:ph type="title"/>
          </p:nvPr>
        </p:nvSpPr>
        <p:spPr/>
        <p:txBody>
          <a:bodyPr/>
          <a:lstStyle/>
          <a:p>
            <a:r>
              <a:rPr lang="en-US" noProof="0" dirty="0"/>
              <a:t>Exercises</a:t>
            </a:r>
          </a:p>
        </p:txBody>
      </p:sp>
      <p:sp>
        <p:nvSpPr>
          <p:cNvPr id="3" name="Content Placeholder 2">
            <a:extLst>
              <a:ext uri="{FF2B5EF4-FFF2-40B4-BE49-F238E27FC236}">
                <a16:creationId xmlns:a16="http://schemas.microsoft.com/office/drawing/2014/main" id="{6A9F43D3-DE29-5FC3-0D6E-D876DED2A5D2}"/>
              </a:ext>
            </a:extLst>
          </p:cNvPr>
          <p:cNvSpPr>
            <a:spLocks noGrp="1"/>
          </p:cNvSpPr>
          <p:nvPr>
            <p:ph idx="1"/>
          </p:nvPr>
        </p:nvSpPr>
        <p:spPr>
          <a:xfrm>
            <a:off x="838200" y="1825625"/>
            <a:ext cx="10515600" cy="1132064"/>
          </a:xfrm>
        </p:spPr>
        <p:txBody>
          <a:bodyPr/>
          <a:lstStyle/>
          <a:p>
            <a:pPr marL="0" indent="0">
              <a:buNone/>
            </a:pPr>
            <a:r>
              <a:rPr lang="en-US" noProof="0" dirty="0"/>
              <a:t>Determine the </a:t>
            </a:r>
            <a:r>
              <a:rPr lang="en-US" b="1" noProof="0" dirty="0"/>
              <a:t>adjustment set</a:t>
            </a:r>
            <a:r>
              <a:rPr lang="en-US" noProof="0" dirty="0"/>
              <a:t> of variables to de-confound the estimation of the effect of the phenomenon </a:t>
            </a:r>
            <a:r>
              <a:rPr lang="en-US" noProof="0" dirty="0">
                <a:solidFill>
                  <a:srgbClr val="C00000"/>
                </a:solidFill>
              </a:rPr>
              <a:t>a </a:t>
            </a:r>
            <a:r>
              <a:rPr lang="en-US" noProof="0" dirty="0"/>
              <a:t>→ </a:t>
            </a:r>
            <a:r>
              <a:rPr lang="en-US" noProof="0" dirty="0">
                <a:solidFill>
                  <a:srgbClr val="006D70"/>
                </a:solidFill>
              </a:rPr>
              <a:t>b</a:t>
            </a:r>
            <a:r>
              <a:rPr lang="en-US" noProof="0" dirty="0"/>
              <a:t> via d-separation.</a:t>
            </a:r>
          </a:p>
        </p:txBody>
      </p:sp>
      <p:sp>
        <p:nvSpPr>
          <p:cNvPr id="4" name="Date Placeholder 3">
            <a:extLst>
              <a:ext uri="{FF2B5EF4-FFF2-40B4-BE49-F238E27FC236}">
                <a16:creationId xmlns:a16="http://schemas.microsoft.com/office/drawing/2014/main" id="{CBFB09EB-5EB2-C850-AD3B-0326572DA261}"/>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A616949B-6B95-49E4-C467-E55A5BDE9088}"/>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2398F953-2F86-BDE6-F755-6AA85D7CEB2E}"/>
              </a:ext>
            </a:extLst>
          </p:cNvPr>
          <p:cNvSpPr>
            <a:spLocks noGrp="1"/>
          </p:cNvSpPr>
          <p:nvPr>
            <p:ph type="sldNum" sz="quarter" idx="12"/>
          </p:nvPr>
        </p:nvSpPr>
        <p:spPr/>
        <p:txBody>
          <a:bodyPr/>
          <a:lstStyle/>
          <a:p>
            <a:fld id="{0FA2D919-C0DE-4971-A2E9-D4AC0031921B}" type="slidenum">
              <a:rPr lang="en-US" noProof="0" smtClean="0"/>
              <a:t>34</a:t>
            </a:fld>
            <a:endParaRPr lang="en-US" noProof="0" dirty="0"/>
          </a:p>
        </p:txBody>
      </p:sp>
      <p:cxnSp>
        <p:nvCxnSpPr>
          <p:cNvPr id="9" name="Straight Arrow Connector 8">
            <a:extLst>
              <a:ext uri="{FF2B5EF4-FFF2-40B4-BE49-F238E27FC236}">
                <a16:creationId xmlns:a16="http://schemas.microsoft.com/office/drawing/2014/main" id="{5F149A54-8CB3-C5AC-1C51-A4E18019E2D1}"/>
              </a:ext>
            </a:extLst>
          </p:cNvPr>
          <p:cNvCxnSpPr>
            <a:stCxn id="7" idx="6"/>
            <a:endCxn id="8" idx="2"/>
          </p:cNvCxnSpPr>
          <p:nvPr/>
        </p:nvCxnSpPr>
        <p:spPr>
          <a:xfrm>
            <a:off x="5120310" y="4780370"/>
            <a:ext cx="19513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7" name="Oval 6">
            <a:extLst>
              <a:ext uri="{FF2B5EF4-FFF2-40B4-BE49-F238E27FC236}">
                <a16:creationId xmlns:a16="http://schemas.microsoft.com/office/drawing/2014/main" id="{C6C594A1-6FE1-C539-1B8E-4C937CE7FCBB}"/>
              </a:ext>
            </a:extLst>
          </p:cNvPr>
          <p:cNvSpPr/>
          <p:nvPr/>
        </p:nvSpPr>
        <p:spPr>
          <a:xfrm>
            <a:off x="4580310" y="4510370"/>
            <a:ext cx="540000" cy="54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a</a:t>
            </a:r>
          </a:p>
        </p:txBody>
      </p:sp>
      <p:sp>
        <p:nvSpPr>
          <p:cNvPr id="8" name="Oval 7">
            <a:extLst>
              <a:ext uri="{FF2B5EF4-FFF2-40B4-BE49-F238E27FC236}">
                <a16:creationId xmlns:a16="http://schemas.microsoft.com/office/drawing/2014/main" id="{936F7CBB-1551-E58D-0665-50C4C46A3FB5}"/>
              </a:ext>
            </a:extLst>
          </p:cNvPr>
          <p:cNvSpPr/>
          <p:nvPr/>
        </p:nvSpPr>
        <p:spPr>
          <a:xfrm>
            <a:off x="7071690" y="4510370"/>
            <a:ext cx="540000" cy="54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b</a:t>
            </a:r>
          </a:p>
        </p:txBody>
      </p:sp>
      <p:sp>
        <p:nvSpPr>
          <p:cNvPr id="10" name="Oval 9">
            <a:extLst>
              <a:ext uri="{FF2B5EF4-FFF2-40B4-BE49-F238E27FC236}">
                <a16:creationId xmlns:a16="http://schemas.microsoft.com/office/drawing/2014/main" id="{015D402D-8EDE-B2A7-F9DE-17B7104FB077}"/>
              </a:ext>
            </a:extLst>
          </p:cNvPr>
          <p:cNvSpPr/>
          <p:nvPr/>
        </p:nvSpPr>
        <p:spPr>
          <a:xfrm>
            <a:off x="4581604" y="3213520"/>
            <a:ext cx="540000" cy="54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c</a:t>
            </a:r>
          </a:p>
        </p:txBody>
      </p:sp>
      <p:sp>
        <p:nvSpPr>
          <p:cNvPr id="11" name="Oval 10">
            <a:extLst>
              <a:ext uri="{FF2B5EF4-FFF2-40B4-BE49-F238E27FC236}">
                <a16:creationId xmlns:a16="http://schemas.microsoft.com/office/drawing/2014/main" id="{17132629-54BD-1BBD-9780-87787ACDCBBF}"/>
              </a:ext>
            </a:extLst>
          </p:cNvPr>
          <p:cNvSpPr/>
          <p:nvPr/>
        </p:nvSpPr>
        <p:spPr>
          <a:xfrm>
            <a:off x="5826000" y="3208955"/>
            <a:ext cx="540000" cy="54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d</a:t>
            </a:r>
          </a:p>
        </p:txBody>
      </p:sp>
      <p:cxnSp>
        <p:nvCxnSpPr>
          <p:cNvPr id="13" name="Straight Arrow Connector 12">
            <a:extLst>
              <a:ext uri="{FF2B5EF4-FFF2-40B4-BE49-F238E27FC236}">
                <a16:creationId xmlns:a16="http://schemas.microsoft.com/office/drawing/2014/main" id="{F961F598-07E0-B771-9F16-40BE31D805A9}"/>
              </a:ext>
            </a:extLst>
          </p:cNvPr>
          <p:cNvCxnSpPr>
            <a:cxnSpLocks/>
            <a:stCxn id="10" idx="6"/>
            <a:endCxn id="11" idx="2"/>
          </p:cNvCxnSpPr>
          <p:nvPr/>
        </p:nvCxnSpPr>
        <p:spPr>
          <a:xfrm flipV="1">
            <a:off x="5121604" y="3478955"/>
            <a:ext cx="704396" cy="4565"/>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cxnSp>
        <p:nvCxnSpPr>
          <p:cNvPr id="20" name="Straight Arrow Connector 19">
            <a:extLst>
              <a:ext uri="{FF2B5EF4-FFF2-40B4-BE49-F238E27FC236}">
                <a16:creationId xmlns:a16="http://schemas.microsoft.com/office/drawing/2014/main" id="{E6648A4B-D269-C636-BA19-A8515B4C7AC6}"/>
              </a:ext>
            </a:extLst>
          </p:cNvPr>
          <p:cNvCxnSpPr>
            <a:cxnSpLocks/>
            <a:stCxn id="11" idx="5"/>
            <a:endCxn id="8" idx="1"/>
          </p:cNvCxnSpPr>
          <p:nvPr/>
        </p:nvCxnSpPr>
        <p:spPr>
          <a:xfrm>
            <a:off x="6286919" y="3669874"/>
            <a:ext cx="863852" cy="919577"/>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cxnSp>
        <p:nvCxnSpPr>
          <p:cNvPr id="23" name="Straight Arrow Connector 22">
            <a:extLst>
              <a:ext uri="{FF2B5EF4-FFF2-40B4-BE49-F238E27FC236}">
                <a16:creationId xmlns:a16="http://schemas.microsoft.com/office/drawing/2014/main" id="{7104FD7F-20C1-2449-2BD4-6039195DAF4F}"/>
              </a:ext>
            </a:extLst>
          </p:cNvPr>
          <p:cNvCxnSpPr>
            <a:cxnSpLocks/>
            <a:stCxn id="10" idx="4"/>
            <a:endCxn id="7" idx="0"/>
          </p:cNvCxnSpPr>
          <p:nvPr/>
        </p:nvCxnSpPr>
        <p:spPr>
          <a:xfrm flipH="1">
            <a:off x="4850310" y="3753520"/>
            <a:ext cx="1294" cy="756850"/>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7812002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0F3232-4782-4E6A-AAF4-8A08E8B754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6040A6-D6BC-F293-4F2E-A9516D6FF384}"/>
              </a:ext>
            </a:extLst>
          </p:cNvPr>
          <p:cNvSpPr>
            <a:spLocks noGrp="1"/>
          </p:cNvSpPr>
          <p:nvPr>
            <p:ph type="title"/>
          </p:nvPr>
        </p:nvSpPr>
        <p:spPr/>
        <p:txBody>
          <a:bodyPr/>
          <a:lstStyle/>
          <a:p>
            <a:r>
              <a:rPr lang="en-US" noProof="0" dirty="0"/>
              <a:t>Exercises</a:t>
            </a:r>
          </a:p>
        </p:txBody>
      </p:sp>
      <p:sp>
        <p:nvSpPr>
          <p:cNvPr id="3" name="Content Placeholder 2">
            <a:extLst>
              <a:ext uri="{FF2B5EF4-FFF2-40B4-BE49-F238E27FC236}">
                <a16:creationId xmlns:a16="http://schemas.microsoft.com/office/drawing/2014/main" id="{0A689463-30DE-E4C7-1F4D-196C886058E5}"/>
              </a:ext>
            </a:extLst>
          </p:cNvPr>
          <p:cNvSpPr>
            <a:spLocks noGrp="1"/>
          </p:cNvSpPr>
          <p:nvPr>
            <p:ph idx="1"/>
          </p:nvPr>
        </p:nvSpPr>
        <p:spPr>
          <a:xfrm>
            <a:off x="838200" y="1825625"/>
            <a:ext cx="10515600" cy="1132064"/>
          </a:xfrm>
        </p:spPr>
        <p:txBody>
          <a:bodyPr/>
          <a:lstStyle/>
          <a:p>
            <a:pPr marL="0" indent="0">
              <a:buNone/>
            </a:pPr>
            <a:r>
              <a:rPr lang="en-US" noProof="0" dirty="0"/>
              <a:t>Determine the </a:t>
            </a:r>
            <a:r>
              <a:rPr lang="en-US" b="1" noProof="0" dirty="0"/>
              <a:t>adjustment set</a:t>
            </a:r>
            <a:r>
              <a:rPr lang="en-US" noProof="0" dirty="0"/>
              <a:t> of variables to de-confound the estimation of the effect of the phenomenon </a:t>
            </a:r>
            <a:r>
              <a:rPr lang="en-US" noProof="0" dirty="0">
                <a:solidFill>
                  <a:srgbClr val="C00000"/>
                </a:solidFill>
              </a:rPr>
              <a:t>a </a:t>
            </a:r>
            <a:r>
              <a:rPr lang="en-US" noProof="0" dirty="0"/>
              <a:t>→ </a:t>
            </a:r>
            <a:r>
              <a:rPr lang="en-US" noProof="0" dirty="0">
                <a:solidFill>
                  <a:srgbClr val="006D70"/>
                </a:solidFill>
              </a:rPr>
              <a:t>b</a:t>
            </a:r>
            <a:r>
              <a:rPr lang="en-US" noProof="0" dirty="0"/>
              <a:t> via d-separation.</a:t>
            </a:r>
          </a:p>
        </p:txBody>
      </p:sp>
      <p:sp>
        <p:nvSpPr>
          <p:cNvPr id="4" name="Date Placeholder 3">
            <a:extLst>
              <a:ext uri="{FF2B5EF4-FFF2-40B4-BE49-F238E27FC236}">
                <a16:creationId xmlns:a16="http://schemas.microsoft.com/office/drawing/2014/main" id="{DED72C93-9A6E-2F8A-B870-5513850629A4}"/>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47B8A84F-A8FA-38CC-9957-868EFD7C3434}"/>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796F1E63-298A-7C22-1556-374DA1E16AED}"/>
              </a:ext>
            </a:extLst>
          </p:cNvPr>
          <p:cNvSpPr>
            <a:spLocks noGrp="1"/>
          </p:cNvSpPr>
          <p:nvPr>
            <p:ph type="sldNum" sz="quarter" idx="12"/>
          </p:nvPr>
        </p:nvSpPr>
        <p:spPr/>
        <p:txBody>
          <a:bodyPr/>
          <a:lstStyle/>
          <a:p>
            <a:fld id="{0FA2D919-C0DE-4971-A2E9-D4AC0031921B}" type="slidenum">
              <a:rPr lang="en-US" noProof="0" smtClean="0"/>
              <a:t>35</a:t>
            </a:fld>
            <a:endParaRPr lang="en-US" noProof="0" dirty="0"/>
          </a:p>
        </p:txBody>
      </p:sp>
      <p:grpSp>
        <p:nvGrpSpPr>
          <p:cNvPr id="16" name="Group 15">
            <a:extLst>
              <a:ext uri="{FF2B5EF4-FFF2-40B4-BE49-F238E27FC236}">
                <a16:creationId xmlns:a16="http://schemas.microsoft.com/office/drawing/2014/main" id="{E81B7DD4-6BD7-C251-84A6-B9A97D417EA0}"/>
              </a:ext>
            </a:extLst>
          </p:cNvPr>
          <p:cNvGrpSpPr/>
          <p:nvPr/>
        </p:nvGrpSpPr>
        <p:grpSpPr>
          <a:xfrm>
            <a:off x="1464577" y="3089804"/>
            <a:ext cx="3031380" cy="1841415"/>
            <a:chOff x="4580310" y="3208955"/>
            <a:chExt cx="3031380" cy="1841415"/>
          </a:xfrm>
        </p:grpSpPr>
        <p:cxnSp>
          <p:nvCxnSpPr>
            <p:cNvPr id="9" name="Straight Arrow Connector 8">
              <a:extLst>
                <a:ext uri="{FF2B5EF4-FFF2-40B4-BE49-F238E27FC236}">
                  <a16:creationId xmlns:a16="http://schemas.microsoft.com/office/drawing/2014/main" id="{CC7A1DD2-BAE6-3884-B8A4-801E6E61CD5C}"/>
                </a:ext>
              </a:extLst>
            </p:cNvPr>
            <p:cNvCxnSpPr>
              <a:stCxn id="7" idx="6"/>
              <a:endCxn id="8" idx="2"/>
            </p:cNvCxnSpPr>
            <p:nvPr/>
          </p:nvCxnSpPr>
          <p:spPr>
            <a:xfrm>
              <a:off x="5120310" y="4780370"/>
              <a:ext cx="19513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7" name="Oval 6">
              <a:extLst>
                <a:ext uri="{FF2B5EF4-FFF2-40B4-BE49-F238E27FC236}">
                  <a16:creationId xmlns:a16="http://schemas.microsoft.com/office/drawing/2014/main" id="{E114EEF6-9894-A8B2-3B64-C7B0DBCED83C}"/>
                </a:ext>
              </a:extLst>
            </p:cNvPr>
            <p:cNvSpPr/>
            <p:nvPr/>
          </p:nvSpPr>
          <p:spPr>
            <a:xfrm>
              <a:off x="4580310" y="4510370"/>
              <a:ext cx="540000" cy="54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a</a:t>
              </a:r>
            </a:p>
          </p:txBody>
        </p:sp>
        <p:sp>
          <p:nvSpPr>
            <p:cNvPr id="8" name="Oval 7">
              <a:extLst>
                <a:ext uri="{FF2B5EF4-FFF2-40B4-BE49-F238E27FC236}">
                  <a16:creationId xmlns:a16="http://schemas.microsoft.com/office/drawing/2014/main" id="{B3280ADB-707F-DA0A-D554-A0161C3B18AB}"/>
                </a:ext>
              </a:extLst>
            </p:cNvPr>
            <p:cNvSpPr/>
            <p:nvPr/>
          </p:nvSpPr>
          <p:spPr>
            <a:xfrm>
              <a:off x="7071690" y="4510370"/>
              <a:ext cx="540000" cy="54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b</a:t>
              </a:r>
            </a:p>
          </p:txBody>
        </p:sp>
        <p:sp>
          <p:nvSpPr>
            <p:cNvPr id="10" name="Oval 9">
              <a:extLst>
                <a:ext uri="{FF2B5EF4-FFF2-40B4-BE49-F238E27FC236}">
                  <a16:creationId xmlns:a16="http://schemas.microsoft.com/office/drawing/2014/main" id="{96E7A474-BCA0-628A-475D-6C9DFB201FCC}"/>
                </a:ext>
              </a:extLst>
            </p:cNvPr>
            <p:cNvSpPr/>
            <p:nvPr/>
          </p:nvSpPr>
          <p:spPr>
            <a:xfrm>
              <a:off x="4581604" y="3213520"/>
              <a:ext cx="540000" cy="54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c</a:t>
              </a:r>
            </a:p>
          </p:txBody>
        </p:sp>
        <p:sp>
          <p:nvSpPr>
            <p:cNvPr id="11" name="Oval 10">
              <a:extLst>
                <a:ext uri="{FF2B5EF4-FFF2-40B4-BE49-F238E27FC236}">
                  <a16:creationId xmlns:a16="http://schemas.microsoft.com/office/drawing/2014/main" id="{5E59E8A5-F09B-9F0F-70DE-EACF52891AC6}"/>
                </a:ext>
              </a:extLst>
            </p:cNvPr>
            <p:cNvSpPr/>
            <p:nvPr/>
          </p:nvSpPr>
          <p:spPr>
            <a:xfrm>
              <a:off x="5826000" y="3208955"/>
              <a:ext cx="540000" cy="540000"/>
            </a:xfrm>
            <a:prstGeom prst="ellipse">
              <a:avLst/>
            </a:prstGeom>
            <a:solidFill>
              <a:schemeClr val="accent1">
                <a:lumMod val="60000"/>
                <a:lumOff val="4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d</a:t>
              </a:r>
            </a:p>
          </p:txBody>
        </p:sp>
        <p:cxnSp>
          <p:nvCxnSpPr>
            <p:cNvPr id="12" name="Straight Arrow Connector 11">
              <a:extLst>
                <a:ext uri="{FF2B5EF4-FFF2-40B4-BE49-F238E27FC236}">
                  <a16:creationId xmlns:a16="http://schemas.microsoft.com/office/drawing/2014/main" id="{23F884DD-5BC6-F197-CE57-FAA6E0CA0554}"/>
                </a:ext>
              </a:extLst>
            </p:cNvPr>
            <p:cNvCxnSpPr>
              <a:cxnSpLocks/>
              <a:stCxn id="10" idx="4"/>
              <a:endCxn id="7" idx="0"/>
            </p:cNvCxnSpPr>
            <p:nvPr/>
          </p:nvCxnSpPr>
          <p:spPr>
            <a:xfrm flipH="1">
              <a:off x="4850310" y="3753520"/>
              <a:ext cx="1294" cy="756850"/>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cxnSp>
          <p:nvCxnSpPr>
            <p:cNvPr id="13" name="Straight Arrow Connector 12">
              <a:extLst>
                <a:ext uri="{FF2B5EF4-FFF2-40B4-BE49-F238E27FC236}">
                  <a16:creationId xmlns:a16="http://schemas.microsoft.com/office/drawing/2014/main" id="{5DD9995D-8290-6827-9F0E-D90C8908946B}"/>
                </a:ext>
              </a:extLst>
            </p:cNvPr>
            <p:cNvCxnSpPr>
              <a:cxnSpLocks/>
              <a:stCxn id="10" idx="6"/>
              <a:endCxn id="11" idx="2"/>
            </p:cNvCxnSpPr>
            <p:nvPr/>
          </p:nvCxnSpPr>
          <p:spPr>
            <a:xfrm flipV="1">
              <a:off x="5121604" y="3478955"/>
              <a:ext cx="704396" cy="4565"/>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cxnSp>
          <p:nvCxnSpPr>
            <p:cNvPr id="20" name="Straight Arrow Connector 19">
              <a:extLst>
                <a:ext uri="{FF2B5EF4-FFF2-40B4-BE49-F238E27FC236}">
                  <a16:creationId xmlns:a16="http://schemas.microsoft.com/office/drawing/2014/main" id="{07FD872C-1360-BAB3-A32E-6EB5D137C601}"/>
                </a:ext>
              </a:extLst>
            </p:cNvPr>
            <p:cNvCxnSpPr>
              <a:cxnSpLocks/>
              <a:stCxn id="11" idx="5"/>
              <a:endCxn id="8" idx="1"/>
            </p:cNvCxnSpPr>
            <p:nvPr/>
          </p:nvCxnSpPr>
          <p:spPr>
            <a:xfrm>
              <a:off x="6286919" y="3669874"/>
              <a:ext cx="863852" cy="919577"/>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grpSp>
      <p:sp>
        <p:nvSpPr>
          <p:cNvPr id="26" name="TextBox 25">
            <a:extLst>
              <a:ext uri="{FF2B5EF4-FFF2-40B4-BE49-F238E27FC236}">
                <a16:creationId xmlns:a16="http://schemas.microsoft.com/office/drawing/2014/main" id="{BE3F88E9-BF0A-2FE6-E260-2ED5F6D6B89A}"/>
              </a:ext>
            </a:extLst>
          </p:cNvPr>
          <p:cNvSpPr txBox="1"/>
          <p:nvPr/>
        </p:nvSpPr>
        <p:spPr>
          <a:xfrm>
            <a:off x="838200" y="5560519"/>
            <a:ext cx="3285964" cy="523220"/>
          </a:xfrm>
          <a:prstGeom prst="rect">
            <a:avLst/>
          </a:prstGeom>
          <a:noFill/>
        </p:spPr>
        <p:txBody>
          <a:bodyPr wrap="none" rtlCol="0">
            <a:spAutoFit/>
          </a:bodyPr>
          <a:lstStyle/>
          <a:p>
            <a:r>
              <a:rPr lang="en-US" sz="2800" noProof="0" dirty="0"/>
              <a:t>Adjustment set = {d}</a:t>
            </a:r>
          </a:p>
        </p:txBody>
      </p:sp>
      <p:grpSp>
        <p:nvGrpSpPr>
          <p:cNvPr id="17" name="Group 16">
            <a:extLst>
              <a:ext uri="{FF2B5EF4-FFF2-40B4-BE49-F238E27FC236}">
                <a16:creationId xmlns:a16="http://schemas.microsoft.com/office/drawing/2014/main" id="{0FC0142D-EC76-FA7A-0D41-5C6A668A46EA}"/>
              </a:ext>
            </a:extLst>
          </p:cNvPr>
          <p:cNvGrpSpPr/>
          <p:nvPr/>
        </p:nvGrpSpPr>
        <p:grpSpPr>
          <a:xfrm>
            <a:off x="7426045" y="3089803"/>
            <a:ext cx="3031380" cy="1841415"/>
            <a:chOff x="4580310" y="3208955"/>
            <a:chExt cx="3031380" cy="1841415"/>
          </a:xfrm>
        </p:grpSpPr>
        <p:cxnSp>
          <p:nvCxnSpPr>
            <p:cNvPr id="18" name="Straight Arrow Connector 17">
              <a:extLst>
                <a:ext uri="{FF2B5EF4-FFF2-40B4-BE49-F238E27FC236}">
                  <a16:creationId xmlns:a16="http://schemas.microsoft.com/office/drawing/2014/main" id="{75A092F3-703E-23FE-9DB2-6F23C527837C}"/>
                </a:ext>
              </a:extLst>
            </p:cNvPr>
            <p:cNvCxnSpPr>
              <a:stCxn id="19" idx="6"/>
              <a:endCxn id="21" idx="2"/>
            </p:cNvCxnSpPr>
            <p:nvPr/>
          </p:nvCxnSpPr>
          <p:spPr>
            <a:xfrm>
              <a:off x="5120310" y="4780370"/>
              <a:ext cx="19513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9" name="Oval 18">
              <a:extLst>
                <a:ext uri="{FF2B5EF4-FFF2-40B4-BE49-F238E27FC236}">
                  <a16:creationId xmlns:a16="http://schemas.microsoft.com/office/drawing/2014/main" id="{E600C439-1B57-1C80-16E2-3C76339331B6}"/>
                </a:ext>
              </a:extLst>
            </p:cNvPr>
            <p:cNvSpPr/>
            <p:nvPr/>
          </p:nvSpPr>
          <p:spPr>
            <a:xfrm>
              <a:off x="4580310" y="4510370"/>
              <a:ext cx="540000" cy="54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a</a:t>
              </a:r>
            </a:p>
          </p:txBody>
        </p:sp>
        <p:sp>
          <p:nvSpPr>
            <p:cNvPr id="21" name="Oval 20">
              <a:extLst>
                <a:ext uri="{FF2B5EF4-FFF2-40B4-BE49-F238E27FC236}">
                  <a16:creationId xmlns:a16="http://schemas.microsoft.com/office/drawing/2014/main" id="{1D88D6FF-2402-7DF5-70D0-6E88C820B718}"/>
                </a:ext>
              </a:extLst>
            </p:cNvPr>
            <p:cNvSpPr/>
            <p:nvPr/>
          </p:nvSpPr>
          <p:spPr>
            <a:xfrm>
              <a:off x="7071690" y="4510370"/>
              <a:ext cx="540000" cy="54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b</a:t>
              </a:r>
            </a:p>
          </p:txBody>
        </p:sp>
        <p:sp>
          <p:nvSpPr>
            <p:cNvPr id="22" name="Oval 21">
              <a:extLst>
                <a:ext uri="{FF2B5EF4-FFF2-40B4-BE49-F238E27FC236}">
                  <a16:creationId xmlns:a16="http://schemas.microsoft.com/office/drawing/2014/main" id="{F3EDE4AF-B3C3-4950-2D9D-47333ACFA6CC}"/>
                </a:ext>
              </a:extLst>
            </p:cNvPr>
            <p:cNvSpPr/>
            <p:nvPr/>
          </p:nvSpPr>
          <p:spPr>
            <a:xfrm>
              <a:off x="4581604" y="3213520"/>
              <a:ext cx="540000" cy="540000"/>
            </a:xfrm>
            <a:prstGeom prst="ellipse">
              <a:avLst/>
            </a:prstGeom>
            <a:solidFill>
              <a:schemeClr val="accent1">
                <a:lumMod val="60000"/>
                <a:lumOff val="4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c</a:t>
              </a:r>
            </a:p>
          </p:txBody>
        </p:sp>
        <p:sp>
          <p:nvSpPr>
            <p:cNvPr id="24" name="Oval 23">
              <a:extLst>
                <a:ext uri="{FF2B5EF4-FFF2-40B4-BE49-F238E27FC236}">
                  <a16:creationId xmlns:a16="http://schemas.microsoft.com/office/drawing/2014/main" id="{C48AA794-093D-7B35-4DFF-901618B959D4}"/>
                </a:ext>
              </a:extLst>
            </p:cNvPr>
            <p:cNvSpPr/>
            <p:nvPr/>
          </p:nvSpPr>
          <p:spPr>
            <a:xfrm>
              <a:off x="5826000" y="3208955"/>
              <a:ext cx="540000" cy="54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d</a:t>
              </a:r>
            </a:p>
          </p:txBody>
        </p:sp>
        <p:cxnSp>
          <p:nvCxnSpPr>
            <p:cNvPr id="25" name="Straight Arrow Connector 24">
              <a:extLst>
                <a:ext uri="{FF2B5EF4-FFF2-40B4-BE49-F238E27FC236}">
                  <a16:creationId xmlns:a16="http://schemas.microsoft.com/office/drawing/2014/main" id="{D7041801-0823-5CA4-CC42-B50A8D124210}"/>
                </a:ext>
              </a:extLst>
            </p:cNvPr>
            <p:cNvCxnSpPr>
              <a:cxnSpLocks/>
              <a:stCxn id="22" idx="4"/>
              <a:endCxn id="19" idx="0"/>
            </p:cNvCxnSpPr>
            <p:nvPr/>
          </p:nvCxnSpPr>
          <p:spPr>
            <a:xfrm flipH="1">
              <a:off x="4850310" y="3753520"/>
              <a:ext cx="1294" cy="756850"/>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cxnSp>
          <p:nvCxnSpPr>
            <p:cNvPr id="27" name="Straight Arrow Connector 26">
              <a:extLst>
                <a:ext uri="{FF2B5EF4-FFF2-40B4-BE49-F238E27FC236}">
                  <a16:creationId xmlns:a16="http://schemas.microsoft.com/office/drawing/2014/main" id="{D86A5268-35E9-71AD-F05D-82DEEB2B4616}"/>
                </a:ext>
              </a:extLst>
            </p:cNvPr>
            <p:cNvCxnSpPr>
              <a:cxnSpLocks/>
              <a:stCxn id="22" idx="6"/>
              <a:endCxn id="24" idx="2"/>
            </p:cNvCxnSpPr>
            <p:nvPr/>
          </p:nvCxnSpPr>
          <p:spPr>
            <a:xfrm flipV="1">
              <a:off x="5121604" y="3478955"/>
              <a:ext cx="704396" cy="4565"/>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cxnSp>
          <p:nvCxnSpPr>
            <p:cNvPr id="28" name="Straight Arrow Connector 27">
              <a:extLst>
                <a:ext uri="{FF2B5EF4-FFF2-40B4-BE49-F238E27FC236}">
                  <a16:creationId xmlns:a16="http://schemas.microsoft.com/office/drawing/2014/main" id="{8B34773C-CC77-D7A3-BC7E-92229B6D6549}"/>
                </a:ext>
              </a:extLst>
            </p:cNvPr>
            <p:cNvCxnSpPr>
              <a:cxnSpLocks/>
              <a:stCxn id="24" idx="5"/>
              <a:endCxn id="21" idx="1"/>
            </p:cNvCxnSpPr>
            <p:nvPr/>
          </p:nvCxnSpPr>
          <p:spPr>
            <a:xfrm>
              <a:off x="6286919" y="3669874"/>
              <a:ext cx="863852" cy="919577"/>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grpSp>
      <p:sp>
        <p:nvSpPr>
          <p:cNvPr id="29" name="TextBox 28">
            <a:extLst>
              <a:ext uri="{FF2B5EF4-FFF2-40B4-BE49-F238E27FC236}">
                <a16:creationId xmlns:a16="http://schemas.microsoft.com/office/drawing/2014/main" id="{4696D951-3D30-A57E-CA07-7D37247BE82E}"/>
              </a:ext>
            </a:extLst>
          </p:cNvPr>
          <p:cNvSpPr txBox="1"/>
          <p:nvPr/>
        </p:nvSpPr>
        <p:spPr>
          <a:xfrm>
            <a:off x="6872440" y="5563137"/>
            <a:ext cx="3273140" cy="523220"/>
          </a:xfrm>
          <a:prstGeom prst="rect">
            <a:avLst/>
          </a:prstGeom>
          <a:noFill/>
        </p:spPr>
        <p:txBody>
          <a:bodyPr wrap="none" rtlCol="0">
            <a:spAutoFit/>
          </a:bodyPr>
          <a:lstStyle/>
          <a:p>
            <a:r>
              <a:rPr lang="en-US" sz="2800" noProof="0" dirty="0"/>
              <a:t>Adjustment set = {c}</a:t>
            </a:r>
          </a:p>
        </p:txBody>
      </p:sp>
    </p:spTree>
    <p:extLst>
      <p:ext uri="{BB962C8B-B14F-4D97-AF65-F5344CB8AC3E}">
        <p14:creationId xmlns:p14="http://schemas.microsoft.com/office/powerpoint/2010/main" val="4752998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2ED900-85B1-B8DC-89BA-8E62C6E842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D97DB4-FE5B-F859-03A3-0056F3F4C6AA}"/>
              </a:ext>
            </a:extLst>
          </p:cNvPr>
          <p:cNvSpPr>
            <a:spLocks noGrp="1"/>
          </p:cNvSpPr>
          <p:nvPr>
            <p:ph type="title"/>
          </p:nvPr>
        </p:nvSpPr>
        <p:spPr/>
        <p:txBody>
          <a:bodyPr/>
          <a:lstStyle/>
          <a:p>
            <a:r>
              <a:rPr lang="en-US" noProof="0" dirty="0"/>
              <a:t>Exercises</a:t>
            </a:r>
          </a:p>
        </p:txBody>
      </p:sp>
      <p:sp>
        <p:nvSpPr>
          <p:cNvPr id="3" name="Content Placeholder 2">
            <a:extLst>
              <a:ext uri="{FF2B5EF4-FFF2-40B4-BE49-F238E27FC236}">
                <a16:creationId xmlns:a16="http://schemas.microsoft.com/office/drawing/2014/main" id="{28F3EAD8-B743-88C5-75A7-68AB49C4B664}"/>
              </a:ext>
            </a:extLst>
          </p:cNvPr>
          <p:cNvSpPr>
            <a:spLocks noGrp="1"/>
          </p:cNvSpPr>
          <p:nvPr>
            <p:ph idx="1"/>
          </p:nvPr>
        </p:nvSpPr>
        <p:spPr>
          <a:xfrm>
            <a:off x="838200" y="1825625"/>
            <a:ext cx="10515600" cy="1132064"/>
          </a:xfrm>
        </p:spPr>
        <p:txBody>
          <a:bodyPr/>
          <a:lstStyle/>
          <a:p>
            <a:pPr marL="0" indent="0">
              <a:buNone/>
            </a:pPr>
            <a:r>
              <a:rPr lang="en-US" noProof="0" dirty="0"/>
              <a:t>Determine the </a:t>
            </a:r>
            <a:r>
              <a:rPr lang="en-US" b="1" noProof="0" dirty="0"/>
              <a:t>adjustment set</a:t>
            </a:r>
            <a:r>
              <a:rPr lang="en-US" noProof="0" dirty="0"/>
              <a:t> of variables to de-confound the estimation of the effect of the phenomenon </a:t>
            </a:r>
            <a:r>
              <a:rPr lang="en-US" noProof="0" dirty="0">
                <a:solidFill>
                  <a:srgbClr val="C00000"/>
                </a:solidFill>
              </a:rPr>
              <a:t>a </a:t>
            </a:r>
            <a:r>
              <a:rPr lang="en-US" noProof="0" dirty="0"/>
              <a:t>→ </a:t>
            </a:r>
            <a:r>
              <a:rPr lang="en-US" noProof="0" dirty="0">
                <a:solidFill>
                  <a:srgbClr val="006D70"/>
                </a:solidFill>
              </a:rPr>
              <a:t>b</a:t>
            </a:r>
            <a:r>
              <a:rPr lang="en-US" noProof="0" dirty="0"/>
              <a:t> via d-separation.</a:t>
            </a:r>
          </a:p>
        </p:txBody>
      </p:sp>
      <p:sp>
        <p:nvSpPr>
          <p:cNvPr id="4" name="Date Placeholder 3">
            <a:extLst>
              <a:ext uri="{FF2B5EF4-FFF2-40B4-BE49-F238E27FC236}">
                <a16:creationId xmlns:a16="http://schemas.microsoft.com/office/drawing/2014/main" id="{2B67325E-CC0E-C1F8-562F-D0DB5EEA9C0B}"/>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5898B4F4-1B4A-4862-8729-80D55F7943C9}"/>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D12F75DB-1ADF-8368-D6EE-B3FAC5DEC32D}"/>
              </a:ext>
            </a:extLst>
          </p:cNvPr>
          <p:cNvSpPr>
            <a:spLocks noGrp="1"/>
          </p:cNvSpPr>
          <p:nvPr>
            <p:ph type="sldNum" sz="quarter" idx="12"/>
          </p:nvPr>
        </p:nvSpPr>
        <p:spPr/>
        <p:txBody>
          <a:bodyPr/>
          <a:lstStyle/>
          <a:p>
            <a:fld id="{0FA2D919-C0DE-4971-A2E9-D4AC0031921B}" type="slidenum">
              <a:rPr lang="en-US" noProof="0" smtClean="0"/>
              <a:t>36</a:t>
            </a:fld>
            <a:endParaRPr lang="en-US" noProof="0" dirty="0"/>
          </a:p>
        </p:txBody>
      </p:sp>
      <p:cxnSp>
        <p:nvCxnSpPr>
          <p:cNvPr id="9" name="Straight Arrow Connector 8">
            <a:extLst>
              <a:ext uri="{FF2B5EF4-FFF2-40B4-BE49-F238E27FC236}">
                <a16:creationId xmlns:a16="http://schemas.microsoft.com/office/drawing/2014/main" id="{A241440D-E3BD-02BF-1BED-F38461B4BB36}"/>
              </a:ext>
            </a:extLst>
          </p:cNvPr>
          <p:cNvCxnSpPr>
            <a:stCxn id="7" idx="6"/>
            <a:endCxn id="8" idx="2"/>
          </p:cNvCxnSpPr>
          <p:nvPr/>
        </p:nvCxnSpPr>
        <p:spPr>
          <a:xfrm>
            <a:off x="5120310" y="4780370"/>
            <a:ext cx="19513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7" name="Oval 6">
            <a:extLst>
              <a:ext uri="{FF2B5EF4-FFF2-40B4-BE49-F238E27FC236}">
                <a16:creationId xmlns:a16="http://schemas.microsoft.com/office/drawing/2014/main" id="{B52E9A57-0F1C-5DA2-062E-5861854DE0D6}"/>
              </a:ext>
            </a:extLst>
          </p:cNvPr>
          <p:cNvSpPr/>
          <p:nvPr/>
        </p:nvSpPr>
        <p:spPr>
          <a:xfrm>
            <a:off x="4580310" y="4510370"/>
            <a:ext cx="540000" cy="54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a</a:t>
            </a:r>
          </a:p>
        </p:txBody>
      </p:sp>
      <p:sp>
        <p:nvSpPr>
          <p:cNvPr id="8" name="Oval 7">
            <a:extLst>
              <a:ext uri="{FF2B5EF4-FFF2-40B4-BE49-F238E27FC236}">
                <a16:creationId xmlns:a16="http://schemas.microsoft.com/office/drawing/2014/main" id="{DF52679C-A397-E428-6EF6-1B0D0E4A15A2}"/>
              </a:ext>
            </a:extLst>
          </p:cNvPr>
          <p:cNvSpPr/>
          <p:nvPr/>
        </p:nvSpPr>
        <p:spPr>
          <a:xfrm>
            <a:off x="7071690" y="4510370"/>
            <a:ext cx="540000" cy="54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b</a:t>
            </a:r>
          </a:p>
        </p:txBody>
      </p:sp>
      <p:sp>
        <p:nvSpPr>
          <p:cNvPr id="10" name="Oval 9">
            <a:extLst>
              <a:ext uri="{FF2B5EF4-FFF2-40B4-BE49-F238E27FC236}">
                <a16:creationId xmlns:a16="http://schemas.microsoft.com/office/drawing/2014/main" id="{793CF13F-B1C9-D60C-9C36-72AB77AE0246}"/>
              </a:ext>
            </a:extLst>
          </p:cNvPr>
          <p:cNvSpPr/>
          <p:nvPr/>
        </p:nvSpPr>
        <p:spPr>
          <a:xfrm>
            <a:off x="4581604" y="3213520"/>
            <a:ext cx="540000" cy="54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c</a:t>
            </a:r>
          </a:p>
        </p:txBody>
      </p:sp>
      <p:sp>
        <p:nvSpPr>
          <p:cNvPr id="11" name="Oval 10">
            <a:extLst>
              <a:ext uri="{FF2B5EF4-FFF2-40B4-BE49-F238E27FC236}">
                <a16:creationId xmlns:a16="http://schemas.microsoft.com/office/drawing/2014/main" id="{0A9C3CB1-903C-6B14-4AFF-2713713089BC}"/>
              </a:ext>
            </a:extLst>
          </p:cNvPr>
          <p:cNvSpPr/>
          <p:nvPr/>
        </p:nvSpPr>
        <p:spPr>
          <a:xfrm>
            <a:off x="5826000" y="3630312"/>
            <a:ext cx="540000" cy="54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d</a:t>
            </a:r>
          </a:p>
        </p:txBody>
      </p:sp>
      <p:cxnSp>
        <p:nvCxnSpPr>
          <p:cNvPr id="13" name="Straight Arrow Connector 12">
            <a:extLst>
              <a:ext uri="{FF2B5EF4-FFF2-40B4-BE49-F238E27FC236}">
                <a16:creationId xmlns:a16="http://schemas.microsoft.com/office/drawing/2014/main" id="{7E73DB78-4B04-E385-4709-587A695F405D}"/>
              </a:ext>
            </a:extLst>
          </p:cNvPr>
          <p:cNvCxnSpPr>
            <a:cxnSpLocks/>
            <a:stCxn id="10" idx="6"/>
            <a:endCxn id="11" idx="2"/>
          </p:cNvCxnSpPr>
          <p:nvPr/>
        </p:nvCxnSpPr>
        <p:spPr>
          <a:xfrm>
            <a:off x="5121604" y="3483520"/>
            <a:ext cx="704396" cy="416792"/>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cxnSp>
        <p:nvCxnSpPr>
          <p:cNvPr id="23" name="Straight Arrow Connector 22">
            <a:extLst>
              <a:ext uri="{FF2B5EF4-FFF2-40B4-BE49-F238E27FC236}">
                <a16:creationId xmlns:a16="http://schemas.microsoft.com/office/drawing/2014/main" id="{CD5D9EFC-AA07-B201-6FA6-1C1E31DA6895}"/>
              </a:ext>
            </a:extLst>
          </p:cNvPr>
          <p:cNvCxnSpPr>
            <a:cxnSpLocks/>
            <a:stCxn id="10" idx="4"/>
            <a:endCxn id="7" idx="0"/>
          </p:cNvCxnSpPr>
          <p:nvPr/>
        </p:nvCxnSpPr>
        <p:spPr>
          <a:xfrm flipH="1">
            <a:off x="4850310" y="3753520"/>
            <a:ext cx="1294" cy="756850"/>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sp>
        <p:nvSpPr>
          <p:cNvPr id="18" name="Oval 17">
            <a:extLst>
              <a:ext uri="{FF2B5EF4-FFF2-40B4-BE49-F238E27FC236}">
                <a16:creationId xmlns:a16="http://schemas.microsoft.com/office/drawing/2014/main" id="{52250740-41F1-CA88-3564-DF388E11822E}"/>
              </a:ext>
            </a:extLst>
          </p:cNvPr>
          <p:cNvSpPr/>
          <p:nvPr/>
        </p:nvSpPr>
        <p:spPr>
          <a:xfrm>
            <a:off x="7071690" y="3213520"/>
            <a:ext cx="540000" cy="54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e</a:t>
            </a:r>
          </a:p>
        </p:txBody>
      </p:sp>
      <p:cxnSp>
        <p:nvCxnSpPr>
          <p:cNvPr id="21" name="Straight Arrow Connector 20">
            <a:extLst>
              <a:ext uri="{FF2B5EF4-FFF2-40B4-BE49-F238E27FC236}">
                <a16:creationId xmlns:a16="http://schemas.microsoft.com/office/drawing/2014/main" id="{89142A50-F358-EDFD-3D3C-799FA59F5FE6}"/>
              </a:ext>
            </a:extLst>
          </p:cNvPr>
          <p:cNvCxnSpPr>
            <a:cxnSpLocks/>
            <a:stCxn id="18" idx="2"/>
            <a:endCxn id="11" idx="6"/>
          </p:cNvCxnSpPr>
          <p:nvPr/>
        </p:nvCxnSpPr>
        <p:spPr>
          <a:xfrm flipH="1">
            <a:off x="6366000" y="3483520"/>
            <a:ext cx="705690" cy="416792"/>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cxnSp>
        <p:nvCxnSpPr>
          <p:cNvPr id="27" name="Straight Arrow Connector 26">
            <a:extLst>
              <a:ext uri="{FF2B5EF4-FFF2-40B4-BE49-F238E27FC236}">
                <a16:creationId xmlns:a16="http://schemas.microsoft.com/office/drawing/2014/main" id="{EBE6F43F-5C08-BF1B-7011-1347F9D2D509}"/>
              </a:ext>
            </a:extLst>
          </p:cNvPr>
          <p:cNvCxnSpPr>
            <a:cxnSpLocks/>
            <a:stCxn id="18" idx="4"/>
            <a:endCxn id="8" idx="0"/>
          </p:cNvCxnSpPr>
          <p:nvPr/>
        </p:nvCxnSpPr>
        <p:spPr>
          <a:xfrm>
            <a:off x="7341690" y="3753520"/>
            <a:ext cx="0" cy="756850"/>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7298304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6369E4-1C4F-C5CB-B714-FAEFE962A7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460DEF-44E3-013B-70D7-87AF14330EB6}"/>
              </a:ext>
            </a:extLst>
          </p:cNvPr>
          <p:cNvSpPr>
            <a:spLocks noGrp="1"/>
          </p:cNvSpPr>
          <p:nvPr>
            <p:ph type="title"/>
          </p:nvPr>
        </p:nvSpPr>
        <p:spPr/>
        <p:txBody>
          <a:bodyPr/>
          <a:lstStyle/>
          <a:p>
            <a:r>
              <a:rPr lang="en-US" noProof="0" dirty="0"/>
              <a:t>Exercises</a:t>
            </a:r>
          </a:p>
        </p:txBody>
      </p:sp>
      <p:sp>
        <p:nvSpPr>
          <p:cNvPr id="3" name="Content Placeholder 2">
            <a:extLst>
              <a:ext uri="{FF2B5EF4-FFF2-40B4-BE49-F238E27FC236}">
                <a16:creationId xmlns:a16="http://schemas.microsoft.com/office/drawing/2014/main" id="{77832429-55EF-E10E-75D8-DF3133D9556E}"/>
              </a:ext>
            </a:extLst>
          </p:cNvPr>
          <p:cNvSpPr>
            <a:spLocks noGrp="1"/>
          </p:cNvSpPr>
          <p:nvPr>
            <p:ph idx="1"/>
          </p:nvPr>
        </p:nvSpPr>
        <p:spPr>
          <a:xfrm>
            <a:off x="838200" y="1825625"/>
            <a:ext cx="10515600" cy="1132064"/>
          </a:xfrm>
        </p:spPr>
        <p:txBody>
          <a:bodyPr/>
          <a:lstStyle/>
          <a:p>
            <a:pPr marL="0" indent="0">
              <a:buNone/>
            </a:pPr>
            <a:r>
              <a:rPr lang="en-US" noProof="0" dirty="0"/>
              <a:t>Determine the </a:t>
            </a:r>
            <a:r>
              <a:rPr lang="en-US" b="1" noProof="0" dirty="0"/>
              <a:t>adjustment set</a:t>
            </a:r>
            <a:r>
              <a:rPr lang="en-US" noProof="0" dirty="0"/>
              <a:t> of variables to de-confound the estimation of the effect of the phenomenon </a:t>
            </a:r>
            <a:r>
              <a:rPr lang="en-US" noProof="0" dirty="0">
                <a:solidFill>
                  <a:srgbClr val="C00000"/>
                </a:solidFill>
              </a:rPr>
              <a:t>a </a:t>
            </a:r>
            <a:r>
              <a:rPr lang="en-US" noProof="0" dirty="0"/>
              <a:t>→ </a:t>
            </a:r>
            <a:r>
              <a:rPr lang="en-US" noProof="0" dirty="0">
                <a:solidFill>
                  <a:srgbClr val="006D70"/>
                </a:solidFill>
              </a:rPr>
              <a:t>b</a:t>
            </a:r>
            <a:r>
              <a:rPr lang="en-US" noProof="0" dirty="0"/>
              <a:t> via d-separation.</a:t>
            </a:r>
          </a:p>
        </p:txBody>
      </p:sp>
      <p:sp>
        <p:nvSpPr>
          <p:cNvPr id="4" name="Date Placeholder 3">
            <a:extLst>
              <a:ext uri="{FF2B5EF4-FFF2-40B4-BE49-F238E27FC236}">
                <a16:creationId xmlns:a16="http://schemas.microsoft.com/office/drawing/2014/main" id="{C734B9EE-2E5D-527B-6249-329D0891512E}"/>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138C4841-90BD-5C51-239C-49FB1C14C12D}"/>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FA744EC9-4CBD-6EF4-0884-6737E4B4DC55}"/>
              </a:ext>
            </a:extLst>
          </p:cNvPr>
          <p:cNvSpPr>
            <a:spLocks noGrp="1"/>
          </p:cNvSpPr>
          <p:nvPr>
            <p:ph type="sldNum" sz="quarter" idx="12"/>
          </p:nvPr>
        </p:nvSpPr>
        <p:spPr/>
        <p:txBody>
          <a:bodyPr/>
          <a:lstStyle/>
          <a:p>
            <a:fld id="{0FA2D919-C0DE-4971-A2E9-D4AC0031921B}" type="slidenum">
              <a:rPr lang="en-US" noProof="0" smtClean="0"/>
              <a:t>37</a:t>
            </a:fld>
            <a:endParaRPr lang="en-US" noProof="0" dirty="0"/>
          </a:p>
        </p:txBody>
      </p:sp>
      <p:cxnSp>
        <p:nvCxnSpPr>
          <p:cNvPr id="9" name="Straight Arrow Connector 8">
            <a:extLst>
              <a:ext uri="{FF2B5EF4-FFF2-40B4-BE49-F238E27FC236}">
                <a16:creationId xmlns:a16="http://schemas.microsoft.com/office/drawing/2014/main" id="{470723E8-2DBC-76FA-5869-F34A9EC955D5}"/>
              </a:ext>
            </a:extLst>
          </p:cNvPr>
          <p:cNvCxnSpPr>
            <a:stCxn id="7" idx="6"/>
            <a:endCxn id="8" idx="2"/>
          </p:cNvCxnSpPr>
          <p:nvPr/>
        </p:nvCxnSpPr>
        <p:spPr>
          <a:xfrm>
            <a:off x="5120310" y="4780370"/>
            <a:ext cx="19513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7" name="Oval 6">
            <a:extLst>
              <a:ext uri="{FF2B5EF4-FFF2-40B4-BE49-F238E27FC236}">
                <a16:creationId xmlns:a16="http://schemas.microsoft.com/office/drawing/2014/main" id="{4AF4F974-3ED0-0529-7FF5-79E25A6CB251}"/>
              </a:ext>
            </a:extLst>
          </p:cNvPr>
          <p:cNvSpPr/>
          <p:nvPr/>
        </p:nvSpPr>
        <p:spPr>
          <a:xfrm>
            <a:off x="4580310" y="4510370"/>
            <a:ext cx="540000" cy="54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a</a:t>
            </a:r>
          </a:p>
        </p:txBody>
      </p:sp>
      <p:sp>
        <p:nvSpPr>
          <p:cNvPr id="8" name="Oval 7">
            <a:extLst>
              <a:ext uri="{FF2B5EF4-FFF2-40B4-BE49-F238E27FC236}">
                <a16:creationId xmlns:a16="http://schemas.microsoft.com/office/drawing/2014/main" id="{46AB46CA-1340-9A5A-F488-AE83FE9A7A9B}"/>
              </a:ext>
            </a:extLst>
          </p:cNvPr>
          <p:cNvSpPr/>
          <p:nvPr/>
        </p:nvSpPr>
        <p:spPr>
          <a:xfrm>
            <a:off x="7071690" y="4510370"/>
            <a:ext cx="540000" cy="54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b</a:t>
            </a:r>
          </a:p>
        </p:txBody>
      </p:sp>
      <p:sp>
        <p:nvSpPr>
          <p:cNvPr id="10" name="Oval 9">
            <a:extLst>
              <a:ext uri="{FF2B5EF4-FFF2-40B4-BE49-F238E27FC236}">
                <a16:creationId xmlns:a16="http://schemas.microsoft.com/office/drawing/2014/main" id="{5933F246-8C62-D4D8-3002-B9D25AB15349}"/>
              </a:ext>
            </a:extLst>
          </p:cNvPr>
          <p:cNvSpPr/>
          <p:nvPr/>
        </p:nvSpPr>
        <p:spPr>
          <a:xfrm>
            <a:off x="4581604" y="3213520"/>
            <a:ext cx="540000" cy="54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c</a:t>
            </a:r>
          </a:p>
        </p:txBody>
      </p:sp>
      <p:sp>
        <p:nvSpPr>
          <p:cNvPr id="11" name="Oval 10">
            <a:extLst>
              <a:ext uri="{FF2B5EF4-FFF2-40B4-BE49-F238E27FC236}">
                <a16:creationId xmlns:a16="http://schemas.microsoft.com/office/drawing/2014/main" id="{ACA57904-5370-499A-E32C-AAE967884E90}"/>
              </a:ext>
            </a:extLst>
          </p:cNvPr>
          <p:cNvSpPr/>
          <p:nvPr/>
        </p:nvSpPr>
        <p:spPr>
          <a:xfrm>
            <a:off x="5826000" y="3630312"/>
            <a:ext cx="540000" cy="540000"/>
          </a:xfrm>
          <a:prstGeom prst="ellipse">
            <a:avLst/>
          </a:prstGeom>
          <a:solidFill>
            <a:srgbClr val="FFC00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d</a:t>
            </a:r>
          </a:p>
        </p:txBody>
      </p:sp>
      <p:cxnSp>
        <p:nvCxnSpPr>
          <p:cNvPr id="13" name="Straight Arrow Connector 12">
            <a:extLst>
              <a:ext uri="{FF2B5EF4-FFF2-40B4-BE49-F238E27FC236}">
                <a16:creationId xmlns:a16="http://schemas.microsoft.com/office/drawing/2014/main" id="{47D71EA4-9CC2-C737-A1EA-2CAE1C476D0C}"/>
              </a:ext>
            </a:extLst>
          </p:cNvPr>
          <p:cNvCxnSpPr>
            <a:cxnSpLocks/>
            <a:stCxn id="10" idx="6"/>
            <a:endCxn id="11" idx="2"/>
          </p:cNvCxnSpPr>
          <p:nvPr/>
        </p:nvCxnSpPr>
        <p:spPr>
          <a:xfrm>
            <a:off x="5121604" y="3483520"/>
            <a:ext cx="704396" cy="416792"/>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cxnSp>
        <p:nvCxnSpPr>
          <p:cNvPr id="23" name="Straight Arrow Connector 22">
            <a:extLst>
              <a:ext uri="{FF2B5EF4-FFF2-40B4-BE49-F238E27FC236}">
                <a16:creationId xmlns:a16="http://schemas.microsoft.com/office/drawing/2014/main" id="{79780E22-B47A-F019-EDA3-414E026A8BDA}"/>
              </a:ext>
            </a:extLst>
          </p:cNvPr>
          <p:cNvCxnSpPr>
            <a:cxnSpLocks/>
            <a:stCxn id="10" idx="4"/>
            <a:endCxn id="7" idx="0"/>
          </p:cNvCxnSpPr>
          <p:nvPr/>
        </p:nvCxnSpPr>
        <p:spPr>
          <a:xfrm flipH="1">
            <a:off x="4850310" y="3753520"/>
            <a:ext cx="1294" cy="756850"/>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sp>
        <p:nvSpPr>
          <p:cNvPr id="26" name="TextBox 25">
            <a:extLst>
              <a:ext uri="{FF2B5EF4-FFF2-40B4-BE49-F238E27FC236}">
                <a16:creationId xmlns:a16="http://schemas.microsoft.com/office/drawing/2014/main" id="{ACB082A6-E359-7946-2854-21BA49D2B5B6}"/>
              </a:ext>
            </a:extLst>
          </p:cNvPr>
          <p:cNvSpPr txBox="1"/>
          <p:nvPr/>
        </p:nvSpPr>
        <p:spPr>
          <a:xfrm>
            <a:off x="838200" y="5560519"/>
            <a:ext cx="3083986" cy="523220"/>
          </a:xfrm>
          <a:prstGeom prst="rect">
            <a:avLst/>
          </a:prstGeom>
          <a:noFill/>
        </p:spPr>
        <p:txBody>
          <a:bodyPr wrap="none" rtlCol="0">
            <a:spAutoFit/>
          </a:bodyPr>
          <a:lstStyle/>
          <a:p>
            <a:r>
              <a:rPr lang="en-US" sz="2800" noProof="0" dirty="0"/>
              <a:t>Adjustment set = {}</a:t>
            </a:r>
          </a:p>
        </p:txBody>
      </p:sp>
      <p:sp>
        <p:nvSpPr>
          <p:cNvPr id="18" name="Oval 17">
            <a:extLst>
              <a:ext uri="{FF2B5EF4-FFF2-40B4-BE49-F238E27FC236}">
                <a16:creationId xmlns:a16="http://schemas.microsoft.com/office/drawing/2014/main" id="{23AA91B9-F463-4C21-13A0-C102C66BDDA8}"/>
              </a:ext>
            </a:extLst>
          </p:cNvPr>
          <p:cNvSpPr/>
          <p:nvPr/>
        </p:nvSpPr>
        <p:spPr>
          <a:xfrm>
            <a:off x="7071690" y="3213520"/>
            <a:ext cx="540000" cy="54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e</a:t>
            </a:r>
          </a:p>
        </p:txBody>
      </p:sp>
      <p:cxnSp>
        <p:nvCxnSpPr>
          <p:cNvPr id="21" name="Straight Arrow Connector 20">
            <a:extLst>
              <a:ext uri="{FF2B5EF4-FFF2-40B4-BE49-F238E27FC236}">
                <a16:creationId xmlns:a16="http://schemas.microsoft.com/office/drawing/2014/main" id="{59C07A8B-41F3-4223-A55E-967391017509}"/>
              </a:ext>
            </a:extLst>
          </p:cNvPr>
          <p:cNvCxnSpPr>
            <a:cxnSpLocks/>
            <a:stCxn id="18" idx="2"/>
            <a:endCxn id="11" idx="6"/>
          </p:cNvCxnSpPr>
          <p:nvPr/>
        </p:nvCxnSpPr>
        <p:spPr>
          <a:xfrm flipH="1">
            <a:off x="6366000" y="3483520"/>
            <a:ext cx="705690" cy="416792"/>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cxnSp>
        <p:nvCxnSpPr>
          <p:cNvPr id="27" name="Straight Arrow Connector 26">
            <a:extLst>
              <a:ext uri="{FF2B5EF4-FFF2-40B4-BE49-F238E27FC236}">
                <a16:creationId xmlns:a16="http://schemas.microsoft.com/office/drawing/2014/main" id="{58AE4355-406D-817C-C5C3-65A0D5F0D94D}"/>
              </a:ext>
            </a:extLst>
          </p:cNvPr>
          <p:cNvCxnSpPr>
            <a:cxnSpLocks/>
            <a:stCxn id="18" idx="4"/>
            <a:endCxn id="8" idx="0"/>
          </p:cNvCxnSpPr>
          <p:nvPr/>
        </p:nvCxnSpPr>
        <p:spPr>
          <a:xfrm>
            <a:off x="7341690" y="3753520"/>
            <a:ext cx="0" cy="756850"/>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8082067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9AA278-CFE6-FCDF-5F63-FB3C06CBBD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7D69A6-7BAB-7B76-AE53-290501E42717}"/>
              </a:ext>
            </a:extLst>
          </p:cNvPr>
          <p:cNvSpPr>
            <a:spLocks noGrp="1"/>
          </p:cNvSpPr>
          <p:nvPr>
            <p:ph type="title"/>
          </p:nvPr>
        </p:nvSpPr>
        <p:spPr/>
        <p:txBody>
          <a:bodyPr/>
          <a:lstStyle/>
          <a:p>
            <a:r>
              <a:rPr lang="en-US" noProof="0" dirty="0"/>
              <a:t>Exercises</a:t>
            </a:r>
          </a:p>
        </p:txBody>
      </p:sp>
      <p:sp>
        <p:nvSpPr>
          <p:cNvPr id="3" name="Content Placeholder 2">
            <a:extLst>
              <a:ext uri="{FF2B5EF4-FFF2-40B4-BE49-F238E27FC236}">
                <a16:creationId xmlns:a16="http://schemas.microsoft.com/office/drawing/2014/main" id="{849BF4AB-ADD5-20E5-AE3D-B38C6928DB1F}"/>
              </a:ext>
            </a:extLst>
          </p:cNvPr>
          <p:cNvSpPr>
            <a:spLocks noGrp="1"/>
          </p:cNvSpPr>
          <p:nvPr>
            <p:ph idx="1"/>
          </p:nvPr>
        </p:nvSpPr>
        <p:spPr>
          <a:xfrm>
            <a:off x="838200" y="1825625"/>
            <a:ext cx="10515600" cy="1132064"/>
          </a:xfrm>
        </p:spPr>
        <p:txBody>
          <a:bodyPr/>
          <a:lstStyle/>
          <a:p>
            <a:pPr marL="0" indent="0">
              <a:buNone/>
            </a:pPr>
            <a:r>
              <a:rPr lang="en-US" noProof="0" dirty="0"/>
              <a:t>Determine the </a:t>
            </a:r>
            <a:r>
              <a:rPr lang="en-US" b="1" noProof="0" dirty="0"/>
              <a:t>adjustment set</a:t>
            </a:r>
            <a:r>
              <a:rPr lang="en-US" noProof="0" dirty="0"/>
              <a:t> of variables to de-confound the estimation of the effect of the phenomenon </a:t>
            </a:r>
            <a:r>
              <a:rPr lang="en-US" noProof="0" dirty="0">
                <a:solidFill>
                  <a:srgbClr val="C00000"/>
                </a:solidFill>
              </a:rPr>
              <a:t>a </a:t>
            </a:r>
            <a:r>
              <a:rPr lang="en-US" noProof="0" dirty="0"/>
              <a:t>→ </a:t>
            </a:r>
            <a:r>
              <a:rPr lang="en-US" noProof="0" dirty="0">
                <a:solidFill>
                  <a:srgbClr val="006D70"/>
                </a:solidFill>
              </a:rPr>
              <a:t>b</a:t>
            </a:r>
            <a:r>
              <a:rPr lang="en-US" noProof="0" dirty="0"/>
              <a:t> via d-separation.</a:t>
            </a:r>
          </a:p>
        </p:txBody>
      </p:sp>
      <p:sp>
        <p:nvSpPr>
          <p:cNvPr id="4" name="Date Placeholder 3">
            <a:extLst>
              <a:ext uri="{FF2B5EF4-FFF2-40B4-BE49-F238E27FC236}">
                <a16:creationId xmlns:a16="http://schemas.microsoft.com/office/drawing/2014/main" id="{5B8DF799-E556-BDC2-A9D9-4C1EF2AB2279}"/>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AD2D62BE-77AB-4F66-54FE-E8F5539B9DF7}"/>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0D629A2D-E10A-0CE3-CAA1-5DA6A81BDA31}"/>
              </a:ext>
            </a:extLst>
          </p:cNvPr>
          <p:cNvSpPr>
            <a:spLocks noGrp="1"/>
          </p:cNvSpPr>
          <p:nvPr>
            <p:ph type="sldNum" sz="quarter" idx="12"/>
          </p:nvPr>
        </p:nvSpPr>
        <p:spPr/>
        <p:txBody>
          <a:bodyPr/>
          <a:lstStyle/>
          <a:p>
            <a:fld id="{0FA2D919-C0DE-4971-A2E9-D4AC0031921B}" type="slidenum">
              <a:rPr lang="en-US" noProof="0" smtClean="0"/>
              <a:t>38</a:t>
            </a:fld>
            <a:endParaRPr lang="en-US" noProof="0" dirty="0"/>
          </a:p>
        </p:txBody>
      </p:sp>
      <p:cxnSp>
        <p:nvCxnSpPr>
          <p:cNvPr id="9" name="Straight Arrow Connector 8">
            <a:extLst>
              <a:ext uri="{FF2B5EF4-FFF2-40B4-BE49-F238E27FC236}">
                <a16:creationId xmlns:a16="http://schemas.microsoft.com/office/drawing/2014/main" id="{1911EA5A-9CAB-DD8C-DCCF-5A255F1B7B61}"/>
              </a:ext>
            </a:extLst>
          </p:cNvPr>
          <p:cNvCxnSpPr>
            <a:stCxn id="7" idx="6"/>
            <a:endCxn id="8" idx="2"/>
          </p:cNvCxnSpPr>
          <p:nvPr/>
        </p:nvCxnSpPr>
        <p:spPr>
          <a:xfrm>
            <a:off x="5120310" y="4780370"/>
            <a:ext cx="19513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7" name="Oval 6">
            <a:extLst>
              <a:ext uri="{FF2B5EF4-FFF2-40B4-BE49-F238E27FC236}">
                <a16:creationId xmlns:a16="http://schemas.microsoft.com/office/drawing/2014/main" id="{EC6ADDC1-38D5-9CFF-2CBC-08DEE0912721}"/>
              </a:ext>
            </a:extLst>
          </p:cNvPr>
          <p:cNvSpPr/>
          <p:nvPr/>
        </p:nvSpPr>
        <p:spPr>
          <a:xfrm>
            <a:off x="4580310" y="4510370"/>
            <a:ext cx="540000" cy="54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a</a:t>
            </a:r>
          </a:p>
        </p:txBody>
      </p:sp>
      <p:sp>
        <p:nvSpPr>
          <p:cNvPr id="8" name="Oval 7">
            <a:extLst>
              <a:ext uri="{FF2B5EF4-FFF2-40B4-BE49-F238E27FC236}">
                <a16:creationId xmlns:a16="http://schemas.microsoft.com/office/drawing/2014/main" id="{DDB00622-91C8-1D09-A1E3-00313C0673D8}"/>
              </a:ext>
            </a:extLst>
          </p:cNvPr>
          <p:cNvSpPr/>
          <p:nvPr/>
        </p:nvSpPr>
        <p:spPr>
          <a:xfrm>
            <a:off x="7071690" y="4510370"/>
            <a:ext cx="540000" cy="54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b</a:t>
            </a:r>
          </a:p>
        </p:txBody>
      </p:sp>
      <p:sp>
        <p:nvSpPr>
          <p:cNvPr id="10" name="Oval 9">
            <a:extLst>
              <a:ext uri="{FF2B5EF4-FFF2-40B4-BE49-F238E27FC236}">
                <a16:creationId xmlns:a16="http://schemas.microsoft.com/office/drawing/2014/main" id="{3C570943-CB0A-5E74-33A8-6E3FB435B7FA}"/>
              </a:ext>
            </a:extLst>
          </p:cNvPr>
          <p:cNvSpPr/>
          <p:nvPr/>
        </p:nvSpPr>
        <p:spPr>
          <a:xfrm>
            <a:off x="4581604" y="3213520"/>
            <a:ext cx="540000" cy="54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c</a:t>
            </a:r>
          </a:p>
        </p:txBody>
      </p:sp>
      <p:sp>
        <p:nvSpPr>
          <p:cNvPr id="11" name="Oval 10">
            <a:extLst>
              <a:ext uri="{FF2B5EF4-FFF2-40B4-BE49-F238E27FC236}">
                <a16:creationId xmlns:a16="http://schemas.microsoft.com/office/drawing/2014/main" id="{EEEBE441-1FE7-6AD2-DC65-05EEAE9202D1}"/>
              </a:ext>
            </a:extLst>
          </p:cNvPr>
          <p:cNvSpPr/>
          <p:nvPr/>
        </p:nvSpPr>
        <p:spPr>
          <a:xfrm>
            <a:off x="5826000" y="3630312"/>
            <a:ext cx="540000" cy="54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d</a:t>
            </a:r>
          </a:p>
        </p:txBody>
      </p:sp>
      <p:cxnSp>
        <p:nvCxnSpPr>
          <p:cNvPr id="13" name="Straight Arrow Connector 12">
            <a:extLst>
              <a:ext uri="{FF2B5EF4-FFF2-40B4-BE49-F238E27FC236}">
                <a16:creationId xmlns:a16="http://schemas.microsoft.com/office/drawing/2014/main" id="{2A7094A1-117E-59E8-331C-7CBAB0AC91C1}"/>
              </a:ext>
            </a:extLst>
          </p:cNvPr>
          <p:cNvCxnSpPr>
            <a:cxnSpLocks/>
            <a:stCxn id="10" idx="6"/>
            <a:endCxn id="11" idx="2"/>
          </p:cNvCxnSpPr>
          <p:nvPr/>
        </p:nvCxnSpPr>
        <p:spPr>
          <a:xfrm>
            <a:off x="5121604" y="3483520"/>
            <a:ext cx="704396" cy="416792"/>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cxnSp>
        <p:nvCxnSpPr>
          <p:cNvPr id="23" name="Straight Arrow Connector 22">
            <a:extLst>
              <a:ext uri="{FF2B5EF4-FFF2-40B4-BE49-F238E27FC236}">
                <a16:creationId xmlns:a16="http://schemas.microsoft.com/office/drawing/2014/main" id="{8F1F6AAB-FD5B-E658-76E9-BC780B6EA647}"/>
              </a:ext>
            </a:extLst>
          </p:cNvPr>
          <p:cNvCxnSpPr>
            <a:cxnSpLocks/>
            <a:stCxn id="10" idx="4"/>
            <a:endCxn id="7" idx="0"/>
          </p:cNvCxnSpPr>
          <p:nvPr/>
        </p:nvCxnSpPr>
        <p:spPr>
          <a:xfrm flipH="1">
            <a:off x="4850310" y="3753520"/>
            <a:ext cx="1294" cy="756850"/>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sp>
        <p:nvSpPr>
          <p:cNvPr id="18" name="Oval 17">
            <a:extLst>
              <a:ext uri="{FF2B5EF4-FFF2-40B4-BE49-F238E27FC236}">
                <a16:creationId xmlns:a16="http://schemas.microsoft.com/office/drawing/2014/main" id="{0E23A043-B944-3073-012C-328EE872D5DB}"/>
              </a:ext>
            </a:extLst>
          </p:cNvPr>
          <p:cNvSpPr/>
          <p:nvPr/>
        </p:nvSpPr>
        <p:spPr>
          <a:xfrm>
            <a:off x="7071690" y="3213520"/>
            <a:ext cx="540000" cy="54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e</a:t>
            </a:r>
          </a:p>
        </p:txBody>
      </p:sp>
      <p:cxnSp>
        <p:nvCxnSpPr>
          <p:cNvPr id="21" name="Straight Arrow Connector 20">
            <a:extLst>
              <a:ext uri="{FF2B5EF4-FFF2-40B4-BE49-F238E27FC236}">
                <a16:creationId xmlns:a16="http://schemas.microsoft.com/office/drawing/2014/main" id="{B5B4B0D3-FD83-557C-4AA9-B7A23DC4DD02}"/>
              </a:ext>
            </a:extLst>
          </p:cNvPr>
          <p:cNvCxnSpPr>
            <a:cxnSpLocks/>
            <a:stCxn id="18" idx="2"/>
            <a:endCxn id="11" idx="6"/>
          </p:cNvCxnSpPr>
          <p:nvPr/>
        </p:nvCxnSpPr>
        <p:spPr>
          <a:xfrm flipH="1">
            <a:off x="6366000" y="3483520"/>
            <a:ext cx="705690" cy="416792"/>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cxnSp>
        <p:nvCxnSpPr>
          <p:cNvPr id="27" name="Straight Arrow Connector 26">
            <a:extLst>
              <a:ext uri="{FF2B5EF4-FFF2-40B4-BE49-F238E27FC236}">
                <a16:creationId xmlns:a16="http://schemas.microsoft.com/office/drawing/2014/main" id="{3DB5F601-5A2C-834A-CDAF-877BB4F2C9E5}"/>
              </a:ext>
            </a:extLst>
          </p:cNvPr>
          <p:cNvCxnSpPr>
            <a:cxnSpLocks/>
            <a:stCxn id="18" idx="4"/>
            <a:endCxn id="8" idx="0"/>
          </p:cNvCxnSpPr>
          <p:nvPr/>
        </p:nvCxnSpPr>
        <p:spPr>
          <a:xfrm>
            <a:off x="7341690" y="3753520"/>
            <a:ext cx="0" cy="756850"/>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cxnSp>
        <p:nvCxnSpPr>
          <p:cNvPr id="12" name="Straight Arrow Connector 11">
            <a:extLst>
              <a:ext uri="{FF2B5EF4-FFF2-40B4-BE49-F238E27FC236}">
                <a16:creationId xmlns:a16="http://schemas.microsoft.com/office/drawing/2014/main" id="{B87E3672-224A-FEE8-ED3D-6A6EF9125BE4}"/>
              </a:ext>
            </a:extLst>
          </p:cNvPr>
          <p:cNvCxnSpPr>
            <a:cxnSpLocks/>
            <a:stCxn id="11" idx="3"/>
            <a:endCxn id="7" idx="7"/>
          </p:cNvCxnSpPr>
          <p:nvPr/>
        </p:nvCxnSpPr>
        <p:spPr>
          <a:xfrm flipH="1">
            <a:off x="5041229" y="4091231"/>
            <a:ext cx="863852" cy="498220"/>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6600456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D60E63-3BA5-BC71-B4C5-836FA1198F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5BA513-B5B7-27CF-658B-E4B273A9F47C}"/>
              </a:ext>
            </a:extLst>
          </p:cNvPr>
          <p:cNvSpPr>
            <a:spLocks noGrp="1"/>
          </p:cNvSpPr>
          <p:nvPr>
            <p:ph type="title"/>
          </p:nvPr>
        </p:nvSpPr>
        <p:spPr/>
        <p:txBody>
          <a:bodyPr/>
          <a:lstStyle/>
          <a:p>
            <a:r>
              <a:rPr lang="en-US" noProof="0" dirty="0"/>
              <a:t>Exercises</a:t>
            </a:r>
          </a:p>
        </p:txBody>
      </p:sp>
      <p:sp>
        <p:nvSpPr>
          <p:cNvPr id="3" name="Content Placeholder 2">
            <a:extLst>
              <a:ext uri="{FF2B5EF4-FFF2-40B4-BE49-F238E27FC236}">
                <a16:creationId xmlns:a16="http://schemas.microsoft.com/office/drawing/2014/main" id="{6ED44FBA-AFDE-BFA9-5BB3-DCA485F1E69D}"/>
              </a:ext>
            </a:extLst>
          </p:cNvPr>
          <p:cNvSpPr>
            <a:spLocks noGrp="1"/>
          </p:cNvSpPr>
          <p:nvPr>
            <p:ph idx="1"/>
          </p:nvPr>
        </p:nvSpPr>
        <p:spPr>
          <a:xfrm>
            <a:off x="838200" y="1825625"/>
            <a:ext cx="10515600" cy="1132064"/>
          </a:xfrm>
        </p:spPr>
        <p:txBody>
          <a:bodyPr/>
          <a:lstStyle/>
          <a:p>
            <a:pPr marL="0" indent="0">
              <a:buNone/>
            </a:pPr>
            <a:r>
              <a:rPr lang="en-US" noProof="0" dirty="0"/>
              <a:t>Determine the </a:t>
            </a:r>
            <a:r>
              <a:rPr lang="en-US" b="1" noProof="0" dirty="0"/>
              <a:t>adjustment set</a:t>
            </a:r>
            <a:r>
              <a:rPr lang="en-US" noProof="0" dirty="0"/>
              <a:t> of variables to de-confound the estimation of the effect of the phenomenon </a:t>
            </a:r>
            <a:r>
              <a:rPr lang="en-US" noProof="0" dirty="0">
                <a:solidFill>
                  <a:srgbClr val="C00000"/>
                </a:solidFill>
              </a:rPr>
              <a:t>a </a:t>
            </a:r>
            <a:r>
              <a:rPr lang="en-US" noProof="0" dirty="0"/>
              <a:t>→ </a:t>
            </a:r>
            <a:r>
              <a:rPr lang="en-US" noProof="0" dirty="0">
                <a:solidFill>
                  <a:srgbClr val="006D70"/>
                </a:solidFill>
              </a:rPr>
              <a:t>b</a:t>
            </a:r>
            <a:r>
              <a:rPr lang="en-US" noProof="0" dirty="0"/>
              <a:t> via d-separation.</a:t>
            </a:r>
          </a:p>
        </p:txBody>
      </p:sp>
      <p:sp>
        <p:nvSpPr>
          <p:cNvPr id="4" name="Date Placeholder 3">
            <a:extLst>
              <a:ext uri="{FF2B5EF4-FFF2-40B4-BE49-F238E27FC236}">
                <a16:creationId xmlns:a16="http://schemas.microsoft.com/office/drawing/2014/main" id="{6D7CD522-94D0-8966-D0DC-1220FB6ACFB7}"/>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DADA0E48-04AE-3A72-94A2-65FFA5F7C139}"/>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EF442C8A-FD9B-953B-9208-2A5BF00357EF}"/>
              </a:ext>
            </a:extLst>
          </p:cNvPr>
          <p:cNvSpPr>
            <a:spLocks noGrp="1"/>
          </p:cNvSpPr>
          <p:nvPr>
            <p:ph type="sldNum" sz="quarter" idx="12"/>
          </p:nvPr>
        </p:nvSpPr>
        <p:spPr/>
        <p:txBody>
          <a:bodyPr/>
          <a:lstStyle/>
          <a:p>
            <a:fld id="{0FA2D919-C0DE-4971-A2E9-D4AC0031921B}" type="slidenum">
              <a:rPr lang="en-US" noProof="0" smtClean="0"/>
              <a:t>39</a:t>
            </a:fld>
            <a:endParaRPr lang="en-US" noProof="0" dirty="0"/>
          </a:p>
        </p:txBody>
      </p:sp>
      <p:cxnSp>
        <p:nvCxnSpPr>
          <p:cNvPr id="9" name="Straight Arrow Connector 8">
            <a:extLst>
              <a:ext uri="{FF2B5EF4-FFF2-40B4-BE49-F238E27FC236}">
                <a16:creationId xmlns:a16="http://schemas.microsoft.com/office/drawing/2014/main" id="{5A20D218-6D45-FB1B-7C52-FB7B4251EC45}"/>
              </a:ext>
            </a:extLst>
          </p:cNvPr>
          <p:cNvCxnSpPr>
            <a:stCxn id="7" idx="6"/>
            <a:endCxn id="8" idx="2"/>
          </p:cNvCxnSpPr>
          <p:nvPr/>
        </p:nvCxnSpPr>
        <p:spPr>
          <a:xfrm>
            <a:off x="5120310" y="4780370"/>
            <a:ext cx="19513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7" name="Oval 6">
            <a:extLst>
              <a:ext uri="{FF2B5EF4-FFF2-40B4-BE49-F238E27FC236}">
                <a16:creationId xmlns:a16="http://schemas.microsoft.com/office/drawing/2014/main" id="{19581589-3FDE-BEFE-6DFE-EB7CD4051A8A}"/>
              </a:ext>
            </a:extLst>
          </p:cNvPr>
          <p:cNvSpPr/>
          <p:nvPr/>
        </p:nvSpPr>
        <p:spPr>
          <a:xfrm>
            <a:off x="4580310" y="4510370"/>
            <a:ext cx="540000" cy="54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a</a:t>
            </a:r>
          </a:p>
        </p:txBody>
      </p:sp>
      <p:sp>
        <p:nvSpPr>
          <p:cNvPr id="8" name="Oval 7">
            <a:extLst>
              <a:ext uri="{FF2B5EF4-FFF2-40B4-BE49-F238E27FC236}">
                <a16:creationId xmlns:a16="http://schemas.microsoft.com/office/drawing/2014/main" id="{820AE815-C136-7610-5A5B-24E24F204A86}"/>
              </a:ext>
            </a:extLst>
          </p:cNvPr>
          <p:cNvSpPr/>
          <p:nvPr/>
        </p:nvSpPr>
        <p:spPr>
          <a:xfrm>
            <a:off x="7071690" y="4510370"/>
            <a:ext cx="540000" cy="54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b</a:t>
            </a:r>
          </a:p>
        </p:txBody>
      </p:sp>
      <p:sp>
        <p:nvSpPr>
          <p:cNvPr id="10" name="Oval 9">
            <a:extLst>
              <a:ext uri="{FF2B5EF4-FFF2-40B4-BE49-F238E27FC236}">
                <a16:creationId xmlns:a16="http://schemas.microsoft.com/office/drawing/2014/main" id="{42465E7F-0A37-C79C-8056-415524EA46A6}"/>
              </a:ext>
            </a:extLst>
          </p:cNvPr>
          <p:cNvSpPr/>
          <p:nvPr/>
        </p:nvSpPr>
        <p:spPr>
          <a:xfrm>
            <a:off x="4581604" y="3213520"/>
            <a:ext cx="540000" cy="54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c</a:t>
            </a:r>
          </a:p>
        </p:txBody>
      </p:sp>
      <p:sp>
        <p:nvSpPr>
          <p:cNvPr id="11" name="Oval 10">
            <a:extLst>
              <a:ext uri="{FF2B5EF4-FFF2-40B4-BE49-F238E27FC236}">
                <a16:creationId xmlns:a16="http://schemas.microsoft.com/office/drawing/2014/main" id="{35B9F72B-CA49-FB06-3540-9E5AA5A9A848}"/>
              </a:ext>
            </a:extLst>
          </p:cNvPr>
          <p:cNvSpPr/>
          <p:nvPr/>
        </p:nvSpPr>
        <p:spPr>
          <a:xfrm>
            <a:off x="5826000" y="3630312"/>
            <a:ext cx="540000" cy="54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d</a:t>
            </a:r>
          </a:p>
        </p:txBody>
      </p:sp>
      <p:cxnSp>
        <p:nvCxnSpPr>
          <p:cNvPr id="13" name="Straight Arrow Connector 12">
            <a:extLst>
              <a:ext uri="{FF2B5EF4-FFF2-40B4-BE49-F238E27FC236}">
                <a16:creationId xmlns:a16="http://schemas.microsoft.com/office/drawing/2014/main" id="{CAD1EE67-0624-7578-42D9-2EA0D443BE82}"/>
              </a:ext>
            </a:extLst>
          </p:cNvPr>
          <p:cNvCxnSpPr>
            <a:cxnSpLocks/>
            <a:stCxn id="10" idx="6"/>
            <a:endCxn id="11" idx="2"/>
          </p:cNvCxnSpPr>
          <p:nvPr/>
        </p:nvCxnSpPr>
        <p:spPr>
          <a:xfrm>
            <a:off x="5121604" y="3483520"/>
            <a:ext cx="704396" cy="416792"/>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cxnSp>
        <p:nvCxnSpPr>
          <p:cNvPr id="23" name="Straight Arrow Connector 22">
            <a:extLst>
              <a:ext uri="{FF2B5EF4-FFF2-40B4-BE49-F238E27FC236}">
                <a16:creationId xmlns:a16="http://schemas.microsoft.com/office/drawing/2014/main" id="{D33DE82B-5543-B3C5-961D-E652D29AF249}"/>
              </a:ext>
            </a:extLst>
          </p:cNvPr>
          <p:cNvCxnSpPr>
            <a:cxnSpLocks/>
            <a:stCxn id="10" idx="4"/>
            <a:endCxn id="7" idx="0"/>
          </p:cNvCxnSpPr>
          <p:nvPr/>
        </p:nvCxnSpPr>
        <p:spPr>
          <a:xfrm flipH="1">
            <a:off x="4850310" y="3753520"/>
            <a:ext cx="1294" cy="756850"/>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sp>
        <p:nvSpPr>
          <p:cNvPr id="18" name="Oval 17">
            <a:extLst>
              <a:ext uri="{FF2B5EF4-FFF2-40B4-BE49-F238E27FC236}">
                <a16:creationId xmlns:a16="http://schemas.microsoft.com/office/drawing/2014/main" id="{8CC58ABE-F07F-4E1D-382A-52CBAD3BCAFA}"/>
              </a:ext>
            </a:extLst>
          </p:cNvPr>
          <p:cNvSpPr/>
          <p:nvPr/>
        </p:nvSpPr>
        <p:spPr>
          <a:xfrm>
            <a:off x="7071690" y="3213520"/>
            <a:ext cx="540000" cy="54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e</a:t>
            </a:r>
          </a:p>
        </p:txBody>
      </p:sp>
      <p:cxnSp>
        <p:nvCxnSpPr>
          <p:cNvPr id="21" name="Straight Arrow Connector 20">
            <a:extLst>
              <a:ext uri="{FF2B5EF4-FFF2-40B4-BE49-F238E27FC236}">
                <a16:creationId xmlns:a16="http://schemas.microsoft.com/office/drawing/2014/main" id="{8D9A5DBB-9B04-A114-F717-B5BECB14E084}"/>
              </a:ext>
            </a:extLst>
          </p:cNvPr>
          <p:cNvCxnSpPr>
            <a:cxnSpLocks/>
            <a:stCxn id="18" idx="2"/>
            <a:endCxn id="11" idx="6"/>
          </p:cNvCxnSpPr>
          <p:nvPr/>
        </p:nvCxnSpPr>
        <p:spPr>
          <a:xfrm flipH="1">
            <a:off x="6366000" y="3483520"/>
            <a:ext cx="705690" cy="416792"/>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cxnSp>
        <p:nvCxnSpPr>
          <p:cNvPr id="27" name="Straight Arrow Connector 26">
            <a:extLst>
              <a:ext uri="{FF2B5EF4-FFF2-40B4-BE49-F238E27FC236}">
                <a16:creationId xmlns:a16="http://schemas.microsoft.com/office/drawing/2014/main" id="{ADEE7863-2833-A36B-ABC3-1F572B8CC9A9}"/>
              </a:ext>
            </a:extLst>
          </p:cNvPr>
          <p:cNvCxnSpPr>
            <a:cxnSpLocks/>
            <a:stCxn id="18" idx="4"/>
            <a:endCxn id="8" idx="0"/>
          </p:cNvCxnSpPr>
          <p:nvPr/>
        </p:nvCxnSpPr>
        <p:spPr>
          <a:xfrm>
            <a:off x="7341690" y="3753520"/>
            <a:ext cx="0" cy="756850"/>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cxnSp>
        <p:nvCxnSpPr>
          <p:cNvPr id="12" name="Straight Arrow Connector 11">
            <a:extLst>
              <a:ext uri="{FF2B5EF4-FFF2-40B4-BE49-F238E27FC236}">
                <a16:creationId xmlns:a16="http://schemas.microsoft.com/office/drawing/2014/main" id="{0B6FEE8A-D999-A647-B1A1-37BD82DAB51A}"/>
              </a:ext>
            </a:extLst>
          </p:cNvPr>
          <p:cNvCxnSpPr>
            <a:cxnSpLocks/>
            <a:stCxn id="11" idx="3"/>
            <a:endCxn id="7" idx="7"/>
          </p:cNvCxnSpPr>
          <p:nvPr/>
        </p:nvCxnSpPr>
        <p:spPr>
          <a:xfrm flipH="1">
            <a:off x="5041229" y="4091231"/>
            <a:ext cx="863852" cy="498220"/>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sp>
        <p:nvSpPr>
          <p:cNvPr id="14" name="TextBox 13">
            <a:extLst>
              <a:ext uri="{FF2B5EF4-FFF2-40B4-BE49-F238E27FC236}">
                <a16:creationId xmlns:a16="http://schemas.microsoft.com/office/drawing/2014/main" id="{7AB4711B-50F8-7CE3-C12B-5BB32AFA9A3C}"/>
              </a:ext>
            </a:extLst>
          </p:cNvPr>
          <p:cNvSpPr txBox="1"/>
          <p:nvPr/>
        </p:nvSpPr>
        <p:spPr>
          <a:xfrm>
            <a:off x="838200" y="5245939"/>
            <a:ext cx="5314917" cy="1200329"/>
          </a:xfrm>
          <a:prstGeom prst="rect">
            <a:avLst/>
          </a:prstGeom>
          <a:noFill/>
        </p:spPr>
        <p:txBody>
          <a:bodyPr wrap="none" rtlCol="0">
            <a:spAutoFit/>
          </a:bodyPr>
          <a:lstStyle/>
          <a:p>
            <a:r>
              <a:rPr lang="en-US" sz="2400" noProof="0" dirty="0"/>
              <a:t>The DAG contains two backdoor paths:</a:t>
            </a:r>
          </a:p>
          <a:p>
            <a:pPr marL="514350" indent="-514350">
              <a:buFont typeface="+mj-lt"/>
              <a:buAutoNum type="arabicPeriod"/>
            </a:pPr>
            <a:r>
              <a:rPr lang="en-US" sz="2400" noProof="0" dirty="0"/>
              <a:t> </a:t>
            </a:r>
            <a:r>
              <a:rPr lang="en-US" sz="2400" noProof="0" dirty="0">
                <a:solidFill>
                  <a:srgbClr val="D0180A"/>
                </a:solidFill>
              </a:rPr>
              <a:t>a</a:t>
            </a:r>
            <a:r>
              <a:rPr lang="en-US" sz="2400" noProof="0" dirty="0"/>
              <a:t> ← c → d ← e → </a:t>
            </a:r>
            <a:r>
              <a:rPr lang="en-US" sz="2400" noProof="0" dirty="0">
                <a:solidFill>
                  <a:srgbClr val="006D70"/>
                </a:solidFill>
              </a:rPr>
              <a:t>b</a:t>
            </a:r>
          </a:p>
          <a:p>
            <a:pPr marL="514350" indent="-514350">
              <a:buFont typeface="+mj-lt"/>
              <a:buAutoNum type="arabicPeriod"/>
            </a:pPr>
            <a:r>
              <a:rPr lang="en-US" sz="2400" noProof="0" dirty="0"/>
              <a:t> </a:t>
            </a:r>
            <a:r>
              <a:rPr lang="en-US" sz="2400" noProof="0" dirty="0">
                <a:solidFill>
                  <a:srgbClr val="D0180A"/>
                </a:solidFill>
              </a:rPr>
              <a:t>a</a:t>
            </a:r>
            <a:r>
              <a:rPr lang="en-US" sz="2400" noProof="0" dirty="0"/>
              <a:t> ← d ← e → </a:t>
            </a:r>
            <a:r>
              <a:rPr lang="en-US" sz="2400" noProof="0" dirty="0">
                <a:solidFill>
                  <a:srgbClr val="006D70"/>
                </a:solidFill>
              </a:rPr>
              <a:t>b</a:t>
            </a:r>
          </a:p>
        </p:txBody>
      </p:sp>
    </p:spTree>
    <p:extLst>
      <p:ext uri="{BB962C8B-B14F-4D97-AF65-F5344CB8AC3E}">
        <p14:creationId xmlns:p14="http://schemas.microsoft.com/office/powerpoint/2010/main" val="17932982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37A14E-2B4F-2F7D-4891-1C534F8E6A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686E21-648E-5972-1B4B-88444130BF52}"/>
              </a:ext>
            </a:extLst>
          </p:cNvPr>
          <p:cNvSpPr>
            <a:spLocks noGrp="1"/>
          </p:cNvSpPr>
          <p:nvPr>
            <p:ph type="title"/>
          </p:nvPr>
        </p:nvSpPr>
        <p:spPr/>
        <p:txBody>
          <a:bodyPr/>
          <a:lstStyle/>
          <a:p>
            <a:r>
              <a:rPr lang="en-US" noProof="0" dirty="0"/>
              <a:t>Exercises</a:t>
            </a:r>
          </a:p>
        </p:txBody>
      </p:sp>
      <p:sp>
        <p:nvSpPr>
          <p:cNvPr id="3" name="Content Placeholder 2">
            <a:extLst>
              <a:ext uri="{FF2B5EF4-FFF2-40B4-BE49-F238E27FC236}">
                <a16:creationId xmlns:a16="http://schemas.microsoft.com/office/drawing/2014/main" id="{EEC49AE9-D056-281E-1070-81A6AFC73072}"/>
              </a:ext>
            </a:extLst>
          </p:cNvPr>
          <p:cNvSpPr>
            <a:spLocks noGrp="1"/>
          </p:cNvSpPr>
          <p:nvPr>
            <p:ph idx="1"/>
          </p:nvPr>
        </p:nvSpPr>
        <p:spPr>
          <a:xfrm>
            <a:off x="838200" y="1825625"/>
            <a:ext cx="10515600" cy="1132064"/>
          </a:xfrm>
        </p:spPr>
        <p:txBody>
          <a:bodyPr/>
          <a:lstStyle/>
          <a:p>
            <a:pPr marL="0" indent="0">
              <a:buNone/>
            </a:pPr>
            <a:r>
              <a:rPr lang="en-US" noProof="0" dirty="0"/>
              <a:t>Determine the </a:t>
            </a:r>
            <a:r>
              <a:rPr lang="en-US" b="1" noProof="0" dirty="0"/>
              <a:t>adjustment set</a:t>
            </a:r>
            <a:r>
              <a:rPr lang="en-US" noProof="0" dirty="0"/>
              <a:t> of variables to de-confound the estimation of the effect of the phenomenon </a:t>
            </a:r>
            <a:r>
              <a:rPr lang="en-US" noProof="0" dirty="0">
                <a:solidFill>
                  <a:srgbClr val="C00000"/>
                </a:solidFill>
              </a:rPr>
              <a:t>a </a:t>
            </a:r>
            <a:r>
              <a:rPr lang="en-US" noProof="0" dirty="0"/>
              <a:t>→ </a:t>
            </a:r>
            <a:r>
              <a:rPr lang="en-US" noProof="0" dirty="0">
                <a:solidFill>
                  <a:srgbClr val="006D70"/>
                </a:solidFill>
              </a:rPr>
              <a:t>b</a:t>
            </a:r>
            <a:r>
              <a:rPr lang="en-US" noProof="0" dirty="0"/>
              <a:t> via d-separation.</a:t>
            </a:r>
          </a:p>
        </p:txBody>
      </p:sp>
      <p:sp>
        <p:nvSpPr>
          <p:cNvPr id="4" name="Date Placeholder 3">
            <a:extLst>
              <a:ext uri="{FF2B5EF4-FFF2-40B4-BE49-F238E27FC236}">
                <a16:creationId xmlns:a16="http://schemas.microsoft.com/office/drawing/2014/main" id="{40FC55FB-2C1D-9094-8265-26C6D42C1694}"/>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C21E3EAE-BFD3-C12C-8C03-0E08C047F099}"/>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66AE2A54-660C-D8D9-1731-188CB18AE127}"/>
              </a:ext>
            </a:extLst>
          </p:cNvPr>
          <p:cNvSpPr>
            <a:spLocks noGrp="1"/>
          </p:cNvSpPr>
          <p:nvPr>
            <p:ph type="sldNum" sz="quarter" idx="12"/>
          </p:nvPr>
        </p:nvSpPr>
        <p:spPr/>
        <p:txBody>
          <a:bodyPr/>
          <a:lstStyle/>
          <a:p>
            <a:fld id="{0FA2D919-C0DE-4971-A2E9-D4AC0031921B}" type="slidenum">
              <a:rPr lang="en-US" noProof="0" smtClean="0"/>
              <a:t>40</a:t>
            </a:fld>
            <a:endParaRPr lang="en-US" noProof="0" dirty="0"/>
          </a:p>
        </p:txBody>
      </p:sp>
      <p:grpSp>
        <p:nvGrpSpPr>
          <p:cNvPr id="14" name="Group 13">
            <a:extLst>
              <a:ext uri="{FF2B5EF4-FFF2-40B4-BE49-F238E27FC236}">
                <a16:creationId xmlns:a16="http://schemas.microsoft.com/office/drawing/2014/main" id="{6079B753-6C6B-0A26-ED61-5E82D7D398D5}"/>
              </a:ext>
            </a:extLst>
          </p:cNvPr>
          <p:cNvGrpSpPr/>
          <p:nvPr/>
        </p:nvGrpSpPr>
        <p:grpSpPr>
          <a:xfrm>
            <a:off x="2065710" y="2895854"/>
            <a:ext cx="3031380" cy="1836850"/>
            <a:chOff x="4580310" y="3213520"/>
            <a:chExt cx="3031380" cy="1836850"/>
          </a:xfrm>
        </p:grpSpPr>
        <p:cxnSp>
          <p:nvCxnSpPr>
            <p:cNvPr id="9" name="Straight Arrow Connector 8">
              <a:extLst>
                <a:ext uri="{FF2B5EF4-FFF2-40B4-BE49-F238E27FC236}">
                  <a16:creationId xmlns:a16="http://schemas.microsoft.com/office/drawing/2014/main" id="{1A3473F2-FB37-9A13-0E37-DBB2ABA53D06}"/>
                </a:ext>
              </a:extLst>
            </p:cNvPr>
            <p:cNvCxnSpPr>
              <a:stCxn id="7" idx="6"/>
              <a:endCxn id="8" idx="2"/>
            </p:cNvCxnSpPr>
            <p:nvPr/>
          </p:nvCxnSpPr>
          <p:spPr>
            <a:xfrm>
              <a:off x="5120310" y="4780370"/>
              <a:ext cx="19513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7" name="Oval 6">
              <a:extLst>
                <a:ext uri="{FF2B5EF4-FFF2-40B4-BE49-F238E27FC236}">
                  <a16:creationId xmlns:a16="http://schemas.microsoft.com/office/drawing/2014/main" id="{A1D7C59E-1088-D794-28EB-1B8DC12CCDC7}"/>
                </a:ext>
              </a:extLst>
            </p:cNvPr>
            <p:cNvSpPr/>
            <p:nvPr/>
          </p:nvSpPr>
          <p:spPr>
            <a:xfrm>
              <a:off x="4580310" y="4510370"/>
              <a:ext cx="540000" cy="54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a</a:t>
              </a:r>
            </a:p>
          </p:txBody>
        </p:sp>
        <p:sp>
          <p:nvSpPr>
            <p:cNvPr id="8" name="Oval 7">
              <a:extLst>
                <a:ext uri="{FF2B5EF4-FFF2-40B4-BE49-F238E27FC236}">
                  <a16:creationId xmlns:a16="http://schemas.microsoft.com/office/drawing/2014/main" id="{488DB945-0988-90CA-3C6D-9A625B4C2521}"/>
                </a:ext>
              </a:extLst>
            </p:cNvPr>
            <p:cNvSpPr/>
            <p:nvPr/>
          </p:nvSpPr>
          <p:spPr>
            <a:xfrm>
              <a:off x="7071690" y="4510370"/>
              <a:ext cx="540000" cy="54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b</a:t>
              </a:r>
            </a:p>
          </p:txBody>
        </p:sp>
        <p:sp>
          <p:nvSpPr>
            <p:cNvPr id="10" name="Oval 9">
              <a:extLst>
                <a:ext uri="{FF2B5EF4-FFF2-40B4-BE49-F238E27FC236}">
                  <a16:creationId xmlns:a16="http://schemas.microsoft.com/office/drawing/2014/main" id="{26AF79C9-2107-E098-D49F-EE6BA9E4C042}"/>
                </a:ext>
              </a:extLst>
            </p:cNvPr>
            <p:cNvSpPr/>
            <p:nvPr/>
          </p:nvSpPr>
          <p:spPr>
            <a:xfrm>
              <a:off x="4581604" y="3213520"/>
              <a:ext cx="540000" cy="54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c</a:t>
              </a:r>
            </a:p>
          </p:txBody>
        </p:sp>
        <p:sp>
          <p:nvSpPr>
            <p:cNvPr id="11" name="Oval 10">
              <a:extLst>
                <a:ext uri="{FF2B5EF4-FFF2-40B4-BE49-F238E27FC236}">
                  <a16:creationId xmlns:a16="http://schemas.microsoft.com/office/drawing/2014/main" id="{30F63CA6-0897-3DBC-6516-D1026B2C8B31}"/>
                </a:ext>
              </a:extLst>
            </p:cNvPr>
            <p:cNvSpPr/>
            <p:nvPr/>
          </p:nvSpPr>
          <p:spPr>
            <a:xfrm>
              <a:off x="5826000" y="3630312"/>
              <a:ext cx="540000" cy="54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d</a:t>
              </a:r>
            </a:p>
          </p:txBody>
        </p:sp>
        <p:cxnSp>
          <p:nvCxnSpPr>
            <p:cNvPr id="13" name="Straight Arrow Connector 12">
              <a:extLst>
                <a:ext uri="{FF2B5EF4-FFF2-40B4-BE49-F238E27FC236}">
                  <a16:creationId xmlns:a16="http://schemas.microsoft.com/office/drawing/2014/main" id="{7F03E491-A49B-5896-6051-927DA8DD766A}"/>
                </a:ext>
              </a:extLst>
            </p:cNvPr>
            <p:cNvCxnSpPr>
              <a:cxnSpLocks/>
              <a:stCxn id="10" idx="6"/>
              <a:endCxn id="11" idx="2"/>
            </p:cNvCxnSpPr>
            <p:nvPr/>
          </p:nvCxnSpPr>
          <p:spPr>
            <a:xfrm>
              <a:off x="5121604" y="3483520"/>
              <a:ext cx="704396" cy="416792"/>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cxnSp>
          <p:nvCxnSpPr>
            <p:cNvPr id="23" name="Straight Arrow Connector 22">
              <a:extLst>
                <a:ext uri="{FF2B5EF4-FFF2-40B4-BE49-F238E27FC236}">
                  <a16:creationId xmlns:a16="http://schemas.microsoft.com/office/drawing/2014/main" id="{4EB5224E-C686-DF5B-1458-BF6AD8D094E5}"/>
                </a:ext>
              </a:extLst>
            </p:cNvPr>
            <p:cNvCxnSpPr>
              <a:cxnSpLocks/>
              <a:stCxn id="10" idx="4"/>
              <a:endCxn id="7" idx="0"/>
            </p:cNvCxnSpPr>
            <p:nvPr/>
          </p:nvCxnSpPr>
          <p:spPr>
            <a:xfrm flipH="1">
              <a:off x="4850310" y="3753520"/>
              <a:ext cx="1294" cy="756850"/>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sp>
          <p:nvSpPr>
            <p:cNvPr id="18" name="Oval 17">
              <a:extLst>
                <a:ext uri="{FF2B5EF4-FFF2-40B4-BE49-F238E27FC236}">
                  <a16:creationId xmlns:a16="http://schemas.microsoft.com/office/drawing/2014/main" id="{C5D5B228-3F04-8B18-E9BB-26A2F180D9D9}"/>
                </a:ext>
              </a:extLst>
            </p:cNvPr>
            <p:cNvSpPr/>
            <p:nvPr/>
          </p:nvSpPr>
          <p:spPr>
            <a:xfrm>
              <a:off x="7071690" y="3213520"/>
              <a:ext cx="540000" cy="540000"/>
            </a:xfrm>
            <a:prstGeom prst="ellipse">
              <a:avLst/>
            </a:prstGeom>
            <a:solidFill>
              <a:schemeClr val="accent1">
                <a:lumMod val="60000"/>
                <a:lumOff val="4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e</a:t>
              </a:r>
            </a:p>
          </p:txBody>
        </p:sp>
        <p:cxnSp>
          <p:nvCxnSpPr>
            <p:cNvPr id="21" name="Straight Arrow Connector 20">
              <a:extLst>
                <a:ext uri="{FF2B5EF4-FFF2-40B4-BE49-F238E27FC236}">
                  <a16:creationId xmlns:a16="http://schemas.microsoft.com/office/drawing/2014/main" id="{9DBD06CB-2F87-A1B2-547E-249E825B375B}"/>
                </a:ext>
              </a:extLst>
            </p:cNvPr>
            <p:cNvCxnSpPr>
              <a:cxnSpLocks/>
              <a:stCxn id="18" idx="2"/>
              <a:endCxn id="11" idx="6"/>
            </p:cNvCxnSpPr>
            <p:nvPr/>
          </p:nvCxnSpPr>
          <p:spPr>
            <a:xfrm flipH="1">
              <a:off x="6366000" y="3483520"/>
              <a:ext cx="705690" cy="416792"/>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cxnSp>
          <p:nvCxnSpPr>
            <p:cNvPr id="27" name="Straight Arrow Connector 26">
              <a:extLst>
                <a:ext uri="{FF2B5EF4-FFF2-40B4-BE49-F238E27FC236}">
                  <a16:creationId xmlns:a16="http://schemas.microsoft.com/office/drawing/2014/main" id="{5551FB4E-B472-7A22-D3CA-B668F3D36B02}"/>
                </a:ext>
              </a:extLst>
            </p:cNvPr>
            <p:cNvCxnSpPr>
              <a:cxnSpLocks/>
              <a:stCxn id="18" idx="4"/>
              <a:endCxn id="8" idx="0"/>
            </p:cNvCxnSpPr>
            <p:nvPr/>
          </p:nvCxnSpPr>
          <p:spPr>
            <a:xfrm>
              <a:off x="7341690" y="3753520"/>
              <a:ext cx="0" cy="756850"/>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cxnSp>
          <p:nvCxnSpPr>
            <p:cNvPr id="12" name="Straight Arrow Connector 11">
              <a:extLst>
                <a:ext uri="{FF2B5EF4-FFF2-40B4-BE49-F238E27FC236}">
                  <a16:creationId xmlns:a16="http://schemas.microsoft.com/office/drawing/2014/main" id="{5A530650-2895-8137-562D-6A6EC9964618}"/>
                </a:ext>
              </a:extLst>
            </p:cNvPr>
            <p:cNvCxnSpPr>
              <a:cxnSpLocks/>
              <a:stCxn id="11" idx="3"/>
              <a:endCxn id="7" idx="7"/>
            </p:cNvCxnSpPr>
            <p:nvPr/>
          </p:nvCxnSpPr>
          <p:spPr>
            <a:xfrm flipH="1">
              <a:off x="5041229" y="4091231"/>
              <a:ext cx="863852" cy="498220"/>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grpSp>
      <p:grpSp>
        <p:nvGrpSpPr>
          <p:cNvPr id="15" name="Group 14">
            <a:extLst>
              <a:ext uri="{FF2B5EF4-FFF2-40B4-BE49-F238E27FC236}">
                <a16:creationId xmlns:a16="http://schemas.microsoft.com/office/drawing/2014/main" id="{353325C8-65DD-23D0-6C72-4381EC715AA9}"/>
              </a:ext>
            </a:extLst>
          </p:cNvPr>
          <p:cNvGrpSpPr/>
          <p:nvPr/>
        </p:nvGrpSpPr>
        <p:grpSpPr>
          <a:xfrm>
            <a:off x="7364911" y="2895854"/>
            <a:ext cx="3031380" cy="1836850"/>
            <a:chOff x="4580310" y="3213520"/>
            <a:chExt cx="3031380" cy="1836850"/>
          </a:xfrm>
        </p:grpSpPr>
        <p:cxnSp>
          <p:nvCxnSpPr>
            <p:cNvPr id="16" name="Straight Arrow Connector 15">
              <a:extLst>
                <a:ext uri="{FF2B5EF4-FFF2-40B4-BE49-F238E27FC236}">
                  <a16:creationId xmlns:a16="http://schemas.microsoft.com/office/drawing/2014/main" id="{27D45DF3-DA1A-9781-6EF4-56448AC7A73B}"/>
                </a:ext>
              </a:extLst>
            </p:cNvPr>
            <p:cNvCxnSpPr>
              <a:stCxn id="17" idx="6"/>
              <a:endCxn id="19" idx="2"/>
            </p:cNvCxnSpPr>
            <p:nvPr/>
          </p:nvCxnSpPr>
          <p:spPr>
            <a:xfrm>
              <a:off x="5120310" y="4780370"/>
              <a:ext cx="19513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7" name="Oval 16">
              <a:extLst>
                <a:ext uri="{FF2B5EF4-FFF2-40B4-BE49-F238E27FC236}">
                  <a16:creationId xmlns:a16="http://schemas.microsoft.com/office/drawing/2014/main" id="{A4CA7CFF-54FF-D1F0-7145-E64F396D2127}"/>
                </a:ext>
              </a:extLst>
            </p:cNvPr>
            <p:cNvSpPr/>
            <p:nvPr/>
          </p:nvSpPr>
          <p:spPr>
            <a:xfrm>
              <a:off x="4580310" y="4510370"/>
              <a:ext cx="540000" cy="54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a</a:t>
              </a:r>
            </a:p>
          </p:txBody>
        </p:sp>
        <p:sp>
          <p:nvSpPr>
            <p:cNvPr id="19" name="Oval 18">
              <a:extLst>
                <a:ext uri="{FF2B5EF4-FFF2-40B4-BE49-F238E27FC236}">
                  <a16:creationId xmlns:a16="http://schemas.microsoft.com/office/drawing/2014/main" id="{C6065B33-B5E5-8437-4061-BFE22E2EE0B4}"/>
                </a:ext>
              </a:extLst>
            </p:cNvPr>
            <p:cNvSpPr/>
            <p:nvPr/>
          </p:nvSpPr>
          <p:spPr>
            <a:xfrm>
              <a:off x="7071690" y="4510370"/>
              <a:ext cx="540000" cy="54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b</a:t>
              </a:r>
            </a:p>
          </p:txBody>
        </p:sp>
        <p:sp>
          <p:nvSpPr>
            <p:cNvPr id="20" name="Oval 19">
              <a:extLst>
                <a:ext uri="{FF2B5EF4-FFF2-40B4-BE49-F238E27FC236}">
                  <a16:creationId xmlns:a16="http://schemas.microsoft.com/office/drawing/2014/main" id="{8B7427FA-1AD3-BD6A-FA9B-C7557B36C599}"/>
                </a:ext>
              </a:extLst>
            </p:cNvPr>
            <p:cNvSpPr/>
            <p:nvPr/>
          </p:nvSpPr>
          <p:spPr>
            <a:xfrm>
              <a:off x="4581604" y="3213520"/>
              <a:ext cx="540000" cy="54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c</a:t>
              </a:r>
            </a:p>
          </p:txBody>
        </p:sp>
        <p:sp>
          <p:nvSpPr>
            <p:cNvPr id="22" name="Oval 21">
              <a:extLst>
                <a:ext uri="{FF2B5EF4-FFF2-40B4-BE49-F238E27FC236}">
                  <a16:creationId xmlns:a16="http://schemas.microsoft.com/office/drawing/2014/main" id="{16374387-9DEA-1CF9-8AC1-9FD816BBB8CF}"/>
                </a:ext>
              </a:extLst>
            </p:cNvPr>
            <p:cNvSpPr/>
            <p:nvPr/>
          </p:nvSpPr>
          <p:spPr>
            <a:xfrm>
              <a:off x="5826000" y="3630312"/>
              <a:ext cx="540000" cy="540000"/>
            </a:xfrm>
            <a:prstGeom prst="ellipse">
              <a:avLst/>
            </a:prstGeom>
            <a:solidFill>
              <a:schemeClr val="accent1">
                <a:lumMod val="60000"/>
                <a:lumOff val="4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d</a:t>
              </a:r>
            </a:p>
          </p:txBody>
        </p:sp>
        <p:cxnSp>
          <p:nvCxnSpPr>
            <p:cNvPr id="24" name="Straight Arrow Connector 23">
              <a:extLst>
                <a:ext uri="{FF2B5EF4-FFF2-40B4-BE49-F238E27FC236}">
                  <a16:creationId xmlns:a16="http://schemas.microsoft.com/office/drawing/2014/main" id="{174F6C52-F9D0-917E-D54D-19D10F6B6B11}"/>
                </a:ext>
              </a:extLst>
            </p:cNvPr>
            <p:cNvCxnSpPr>
              <a:cxnSpLocks/>
              <a:stCxn id="20" idx="6"/>
              <a:endCxn id="22" idx="2"/>
            </p:cNvCxnSpPr>
            <p:nvPr/>
          </p:nvCxnSpPr>
          <p:spPr>
            <a:xfrm>
              <a:off x="5121604" y="3483520"/>
              <a:ext cx="704396" cy="416792"/>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cxnSp>
          <p:nvCxnSpPr>
            <p:cNvPr id="25" name="Straight Arrow Connector 24">
              <a:extLst>
                <a:ext uri="{FF2B5EF4-FFF2-40B4-BE49-F238E27FC236}">
                  <a16:creationId xmlns:a16="http://schemas.microsoft.com/office/drawing/2014/main" id="{95E4A6AC-353F-2802-CF6A-4D5FFEB1628D}"/>
                </a:ext>
              </a:extLst>
            </p:cNvPr>
            <p:cNvCxnSpPr>
              <a:cxnSpLocks/>
              <a:stCxn id="20" idx="4"/>
              <a:endCxn id="17" idx="0"/>
            </p:cNvCxnSpPr>
            <p:nvPr/>
          </p:nvCxnSpPr>
          <p:spPr>
            <a:xfrm flipH="1">
              <a:off x="4850310" y="3753520"/>
              <a:ext cx="1294" cy="756850"/>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sp>
          <p:nvSpPr>
            <p:cNvPr id="26" name="Oval 25">
              <a:extLst>
                <a:ext uri="{FF2B5EF4-FFF2-40B4-BE49-F238E27FC236}">
                  <a16:creationId xmlns:a16="http://schemas.microsoft.com/office/drawing/2014/main" id="{F134EF1B-B3EA-C956-DEF1-BD43E3C2EB38}"/>
                </a:ext>
              </a:extLst>
            </p:cNvPr>
            <p:cNvSpPr/>
            <p:nvPr/>
          </p:nvSpPr>
          <p:spPr>
            <a:xfrm>
              <a:off x="7071690" y="3213520"/>
              <a:ext cx="540000" cy="54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e</a:t>
              </a:r>
            </a:p>
          </p:txBody>
        </p:sp>
        <p:cxnSp>
          <p:nvCxnSpPr>
            <p:cNvPr id="28" name="Straight Arrow Connector 27">
              <a:extLst>
                <a:ext uri="{FF2B5EF4-FFF2-40B4-BE49-F238E27FC236}">
                  <a16:creationId xmlns:a16="http://schemas.microsoft.com/office/drawing/2014/main" id="{C5EE0A84-0FF1-B3F7-0E07-063FFFD92CD8}"/>
                </a:ext>
              </a:extLst>
            </p:cNvPr>
            <p:cNvCxnSpPr>
              <a:cxnSpLocks/>
              <a:stCxn id="26" idx="2"/>
              <a:endCxn id="22" idx="6"/>
            </p:cNvCxnSpPr>
            <p:nvPr/>
          </p:nvCxnSpPr>
          <p:spPr>
            <a:xfrm flipH="1">
              <a:off x="6366000" y="3483520"/>
              <a:ext cx="705690" cy="416792"/>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cxnSp>
          <p:nvCxnSpPr>
            <p:cNvPr id="29" name="Straight Arrow Connector 28">
              <a:extLst>
                <a:ext uri="{FF2B5EF4-FFF2-40B4-BE49-F238E27FC236}">
                  <a16:creationId xmlns:a16="http://schemas.microsoft.com/office/drawing/2014/main" id="{0F8D9FFD-62F7-7717-ABC8-26014DB64FDD}"/>
                </a:ext>
              </a:extLst>
            </p:cNvPr>
            <p:cNvCxnSpPr>
              <a:cxnSpLocks/>
              <a:stCxn id="26" idx="4"/>
              <a:endCxn id="19" idx="0"/>
            </p:cNvCxnSpPr>
            <p:nvPr/>
          </p:nvCxnSpPr>
          <p:spPr>
            <a:xfrm>
              <a:off x="7341690" y="3753520"/>
              <a:ext cx="0" cy="756850"/>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cxnSp>
          <p:nvCxnSpPr>
            <p:cNvPr id="30" name="Straight Arrow Connector 29">
              <a:extLst>
                <a:ext uri="{FF2B5EF4-FFF2-40B4-BE49-F238E27FC236}">
                  <a16:creationId xmlns:a16="http://schemas.microsoft.com/office/drawing/2014/main" id="{33F035C7-AE28-8AF5-4FCC-B293EF2662F4}"/>
                </a:ext>
              </a:extLst>
            </p:cNvPr>
            <p:cNvCxnSpPr>
              <a:cxnSpLocks/>
              <a:stCxn id="22" idx="3"/>
              <a:endCxn id="17" idx="7"/>
            </p:cNvCxnSpPr>
            <p:nvPr/>
          </p:nvCxnSpPr>
          <p:spPr>
            <a:xfrm flipH="1">
              <a:off x="5041229" y="4091231"/>
              <a:ext cx="863852" cy="498220"/>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grpSp>
      <p:sp>
        <p:nvSpPr>
          <p:cNvPr id="43" name="TextBox 42">
            <a:extLst>
              <a:ext uri="{FF2B5EF4-FFF2-40B4-BE49-F238E27FC236}">
                <a16:creationId xmlns:a16="http://schemas.microsoft.com/office/drawing/2014/main" id="{E335E23C-52D1-69C7-6928-5B3C4E2632D2}"/>
              </a:ext>
            </a:extLst>
          </p:cNvPr>
          <p:cNvSpPr txBox="1"/>
          <p:nvPr/>
        </p:nvSpPr>
        <p:spPr>
          <a:xfrm>
            <a:off x="838200" y="4935480"/>
            <a:ext cx="3273140" cy="523220"/>
          </a:xfrm>
          <a:prstGeom prst="rect">
            <a:avLst/>
          </a:prstGeom>
          <a:noFill/>
        </p:spPr>
        <p:txBody>
          <a:bodyPr wrap="none" rtlCol="0">
            <a:spAutoFit/>
          </a:bodyPr>
          <a:lstStyle/>
          <a:p>
            <a:r>
              <a:rPr lang="en-US" sz="2800" noProof="0" dirty="0"/>
              <a:t>Adjustment set = {e}</a:t>
            </a:r>
          </a:p>
        </p:txBody>
      </p:sp>
      <p:sp>
        <p:nvSpPr>
          <p:cNvPr id="44" name="TextBox 43">
            <a:extLst>
              <a:ext uri="{FF2B5EF4-FFF2-40B4-BE49-F238E27FC236}">
                <a16:creationId xmlns:a16="http://schemas.microsoft.com/office/drawing/2014/main" id="{2279BC9C-B9C0-5FF3-ED0A-24C506F6F99E}"/>
              </a:ext>
            </a:extLst>
          </p:cNvPr>
          <p:cNvSpPr txBox="1"/>
          <p:nvPr/>
        </p:nvSpPr>
        <p:spPr>
          <a:xfrm>
            <a:off x="6116180" y="4914495"/>
            <a:ext cx="3640548" cy="523220"/>
          </a:xfrm>
          <a:prstGeom prst="rect">
            <a:avLst/>
          </a:prstGeom>
          <a:noFill/>
        </p:spPr>
        <p:txBody>
          <a:bodyPr wrap="none" rtlCol="0">
            <a:spAutoFit/>
          </a:bodyPr>
          <a:lstStyle/>
          <a:p>
            <a:r>
              <a:rPr lang="en-US" sz="2800" noProof="0" dirty="0"/>
              <a:t>Adjustment set = {c, d}</a:t>
            </a:r>
          </a:p>
        </p:txBody>
      </p:sp>
      <p:grpSp>
        <p:nvGrpSpPr>
          <p:cNvPr id="45" name="Group 44">
            <a:extLst>
              <a:ext uri="{FF2B5EF4-FFF2-40B4-BE49-F238E27FC236}">
                <a16:creationId xmlns:a16="http://schemas.microsoft.com/office/drawing/2014/main" id="{1E4AFBE7-67D7-BB84-3DC3-6854C317A8D0}"/>
              </a:ext>
            </a:extLst>
          </p:cNvPr>
          <p:cNvGrpSpPr/>
          <p:nvPr/>
        </p:nvGrpSpPr>
        <p:grpSpPr>
          <a:xfrm>
            <a:off x="6601049" y="5458700"/>
            <a:ext cx="4559103" cy="946595"/>
            <a:chOff x="775412" y="5230368"/>
            <a:chExt cx="4559103" cy="946595"/>
          </a:xfrm>
        </p:grpSpPr>
        <p:sp>
          <p:nvSpPr>
            <p:cNvPr id="46" name="Rectangle: Rounded Corners 45">
              <a:extLst>
                <a:ext uri="{FF2B5EF4-FFF2-40B4-BE49-F238E27FC236}">
                  <a16:creationId xmlns:a16="http://schemas.microsoft.com/office/drawing/2014/main" id="{9E67F73F-8800-25B8-B05D-375B21C190DE}"/>
                </a:ext>
              </a:extLst>
            </p:cNvPr>
            <p:cNvSpPr/>
            <p:nvPr/>
          </p:nvSpPr>
          <p:spPr>
            <a:xfrm>
              <a:off x="775412" y="5230368"/>
              <a:ext cx="4559103" cy="946595"/>
            </a:xfrm>
            <a:prstGeom prst="roundRect">
              <a:avLst/>
            </a:prstGeom>
            <a:solidFill>
              <a:schemeClr val="tx2"/>
            </a:solidFill>
            <a:ln>
              <a:solidFill>
                <a:schemeClr val="tx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612000" rtlCol="0" anchor="ctr"/>
            <a:lstStyle/>
            <a:p>
              <a:r>
                <a:rPr lang="en-US" sz="1400" noProof="0" dirty="0">
                  <a:solidFill>
                    <a:schemeClr val="bg1"/>
                  </a:solidFill>
                </a:rPr>
                <a:t>Conditioning on </a:t>
              </a:r>
              <a:r>
                <a:rPr lang="en-US" sz="1400" noProof="0" dirty="0">
                  <a:solidFill>
                    <a:schemeClr val="accent1">
                      <a:lumMod val="40000"/>
                      <a:lumOff val="60000"/>
                    </a:schemeClr>
                  </a:solidFill>
                </a:rPr>
                <a:t>d</a:t>
              </a:r>
              <a:r>
                <a:rPr lang="en-US" sz="1400" noProof="0" dirty="0">
                  <a:solidFill>
                    <a:schemeClr val="bg1"/>
                  </a:solidFill>
                </a:rPr>
                <a:t> opens the backdoor-path </a:t>
              </a:r>
              <a:r>
                <a:rPr lang="en-US" sz="1400" noProof="0" dirty="0">
                  <a:solidFill>
                    <a:srgbClr val="D0180A"/>
                  </a:solidFill>
                </a:rPr>
                <a:t>a</a:t>
              </a:r>
              <a:r>
                <a:rPr lang="en-US" sz="1400" noProof="0" dirty="0"/>
                <a:t> ← c → d ← e → </a:t>
              </a:r>
              <a:r>
                <a:rPr lang="en-US" sz="1400" noProof="0" dirty="0">
                  <a:solidFill>
                    <a:srgbClr val="006D70"/>
                  </a:solidFill>
                </a:rPr>
                <a:t>b</a:t>
              </a:r>
              <a:r>
                <a:rPr lang="en-US" sz="1400" noProof="0" dirty="0">
                  <a:solidFill>
                    <a:schemeClr val="bg1"/>
                  </a:solidFill>
                </a:rPr>
                <a:t> which then has to be closed by additionally conditioning on </a:t>
              </a:r>
              <a:r>
                <a:rPr lang="en-US" sz="1400" noProof="0" dirty="0">
                  <a:solidFill>
                    <a:schemeClr val="accent1">
                      <a:lumMod val="40000"/>
                      <a:lumOff val="60000"/>
                    </a:schemeClr>
                  </a:solidFill>
                </a:rPr>
                <a:t>c</a:t>
              </a:r>
              <a:r>
                <a:rPr lang="en-US" sz="1400" noProof="0" dirty="0">
                  <a:solidFill>
                    <a:schemeClr val="bg1"/>
                  </a:solidFill>
                </a:rPr>
                <a:t>.</a:t>
              </a:r>
              <a:endParaRPr lang="en-US" sz="1400" noProof="0" dirty="0">
                <a:solidFill>
                  <a:srgbClr val="006D70"/>
                </a:solidFill>
              </a:endParaRPr>
            </a:p>
          </p:txBody>
        </p:sp>
        <p:pic>
          <p:nvPicPr>
            <p:cNvPr id="47" name="Graphic 46" descr="Open quotation mark with solid fill">
              <a:extLst>
                <a:ext uri="{FF2B5EF4-FFF2-40B4-BE49-F238E27FC236}">
                  <a16:creationId xmlns:a16="http://schemas.microsoft.com/office/drawing/2014/main" id="{CACD80F4-1C6A-15CA-AB3D-6B67409F5F6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rot="10800000">
              <a:off x="775412" y="5343665"/>
              <a:ext cx="720000" cy="720000"/>
            </a:xfrm>
            <a:prstGeom prst="rect">
              <a:avLst/>
            </a:prstGeom>
          </p:spPr>
        </p:pic>
      </p:grpSp>
      <p:sp>
        <p:nvSpPr>
          <p:cNvPr id="31" name="Oval 30">
            <a:extLst>
              <a:ext uri="{FF2B5EF4-FFF2-40B4-BE49-F238E27FC236}">
                <a16:creationId xmlns:a16="http://schemas.microsoft.com/office/drawing/2014/main" id="{C1630F94-6BD9-2D48-3A73-0270772BD318}"/>
              </a:ext>
            </a:extLst>
          </p:cNvPr>
          <p:cNvSpPr/>
          <p:nvPr/>
        </p:nvSpPr>
        <p:spPr>
          <a:xfrm>
            <a:off x="7364911" y="2894727"/>
            <a:ext cx="540000" cy="540000"/>
          </a:xfrm>
          <a:prstGeom prst="ellipse">
            <a:avLst/>
          </a:prstGeom>
          <a:solidFill>
            <a:schemeClr val="accent1">
              <a:lumMod val="60000"/>
              <a:lumOff val="4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c</a:t>
            </a:r>
          </a:p>
        </p:txBody>
      </p:sp>
    </p:spTree>
    <p:extLst>
      <p:ext uri="{BB962C8B-B14F-4D97-AF65-F5344CB8AC3E}">
        <p14:creationId xmlns:p14="http://schemas.microsoft.com/office/powerpoint/2010/main" val="32678560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P spid="44" grpId="0"/>
      <p:bldP spid="31"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0E93D0-3DEB-8D66-EF39-33BA9D5020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F3A7A4-2E1B-6BA2-5198-0250B2983139}"/>
              </a:ext>
            </a:extLst>
          </p:cNvPr>
          <p:cNvSpPr>
            <a:spLocks noGrp="1"/>
          </p:cNvSpPr>
          <p:nvPr>
            <p:ph type="title"/>
          </p:nvPr>
        </p:nvSpPr>
        <p:spPr/>
        <p:txBody>
          <a:bodyPr/>
          <a:lstStyle/>
          <a:p>
            <a:r>
              <a:rPr lang="en-US" noProof="0" dirty="0"/>
              <a:t>Exercises</a:t>
            </a:r>
          </a:p>
        </p:txBody>
      </p:sp>
      <p:sp>
        <p:nvSpPr>
          <p:cNvPr id="3" name="Content Placeholder 2">
            <a:extLst>
              <a:ext uri="{FF2B5EF4-FFF2-40B4-BE49-F238E27FC236}">
                <a16:creationId xmlns:a16="http://schemas.microsoft.com/office/drawing/2014/main" id="{7DC8B2A9-2867-C965-D32D-604D008B58F0}"/>
              </a:ext>
            </a:extLst>
          </p:cNvPr>
          <p:cNvSpPr>
            <a:spLocks noGrp="1"/>
          </p:cNvSpPr>
          <p:nvPr>
            <p:ph idx="1"/>
          </p:nvPr>
        </p:nvSpPr>
        <p:spPr>
          <a:xfrm>
            <a:off x="838200" y="1825625"/>
            <a:ext cx="10515600" cy="1132064"/>
          </a:xfrm>
        </p:spPr>
        <p:txBody>
          <a:bodyPr/>
          <a:lstStyle/>
          <a:p>
            <a:pPr marL="0" indent="0">
              <a:buNone/>
            </a:pPr>
            <a:r>
              <a:rPr lang="en-US" noProof="0" dirty="0"/>
              <a:t>Determine the </a:t>
            </a:r>
            <a:r>
              <a:rPr lang="en-US" b="1" noProof="0" dirty="0"/>
              <a:t>adjustment set</a:t>
            </a:r>
            <a:r>
              <a:rPr lang="en-US" noProof="0" dirty="0"/>
              <a:t> of variables to de-confound the estimation of the effect of the phenomenon </a:t>
            </a:r>
            <a:r>
              <a:rPr lang="en-US" noProof="0" dirty="0">
                <a:solidFill>
                  <a:srgbClr val="C00000"/>
                </a:solidFill>
              </a:rPr>
              <a:t>a </a:t>
            </a:r>
            <a:r>
              <a:rPr lang="en-US" noProof="0" dirty="0"/>
              <a:t>→ </a:t>
            </a:r>
            <a:r>
              <a:rPr lang="en-US" noProof="0" dirty="0">
                <a:solidFill>
                  <a:srgbClr val="006D70"/>
                </a:solidFill>
              </a:rPr>
              <a:t>b</a:t>
            </a:r>
            <a:r>
              <a:rPr lang="en-US" noProof="0" dirty="0"/>
              <a:t> via d-separation.</a:t>
            </a:r>
          </a:p>
        </p:txBody>
      </p:sp>
      <p:sp>
        <p:nvSpPr>
          <p:cNvPr id="4" name="Date Placeholder 3">
            <a:extLst>
              <a:ext uri="{FF2B5EF4-FFF2-40B4-BE49-F238E27FC236}">
                <a16:creationId xmlns:a16="http://schemas.microsoft.com/office/drawing/2014/main" id="{2A7423C3-AD85-77A9-8F34-2B9B687CA814}"/>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AE3CFB47-BB8D-9115-3FDD-837F4E41A662}"/>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94C03ED5-D29A-D2A2-94A6-4BC427146E3D}"/>
              </a:ext>
            </a:extLst>
          </p:cNvPr>
          <p:cNvSpPr>
            <a:spLocks noGrp="1"/>
          </p:cNvSpPr>
          <p:nvPr>
            <p:ph type="sldNum" sz="quarter" idx="12"/>
          </p:nvPr>
        </p:nvSpPr>
        <p:spPr/>
        <p:txBody>
          <a:bodyPr/>
          <a:lstStyle/>
          <a:p>
            <a:fld id="{0FA2D919-C0DE-4971-A2E9-D4AC0031921B}" type="slidenum">
              <a:rPr lang="en-US" noProof="0" smtClean="0"/>
              <a:t>41</a:t>
            </a:fld>
            <a:endParaRPr lang="en-US" noProof="0" dirty="0"/>
          </a:p>
        </p:txBody>
      </p:sp>
      <p:cxnSp>
        <p:nvCxnSpPr>
          <p:cNvPr id="9" name="Straight Arrow Connector 8">
            <a:extLst>
              <a:ext uri="{FF2B5EF4-FFF2-40B4-BE49-F238E27FC236}">
                <a16:creationId xmlns:a16="http://schemas.microsoft.com/office/drawing/2014/main" id="{87C1995E-5727-995D-E2F5-3ACE47DE1B4D}"/>
              </a:ext>
            </a:extLst>
          </p:cNvPr>
          <p:cNvCxnSpPr>
            <a:stCxn id="7" idx="6"/>
            <a:endCxn id="8" idx="2"/>
          </p:cNvCxnSpPr>
          <p:nvPr/>
        </p:nvCxnSpPr>
        <p:spPr>
          <a:xfrm>
            <a:off x="5120310" y="4780370"/>
            <a:ext cx="19513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7" name="Oval 6">
            <a:extLst>
              <a:ext uri="{FF2B5EF4-FFF2-40B4-BE49-F238E27FC236}">
                <a16:creationId xmlns:a16="http://schemas.microsoft.com/office/drawing/2014/main" id="{6EFE541A-1232-0C26-DF44-FDCD6E11F0B8}"/>
              </a:ext>
            </a:extLst>
          </p:cNvPr>
          <p:cNvSpPr/>
          <p:nvPr/>
        </p:nvSpPr>
        <p:spPr>
          <a:xfrm>
            <a:off x="4580310" y="4510370"/>
            <a:ext cx="540000" cy="54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a</a:t>
            </a:r>
          </a:p>
        </p:txBody>
      </p:sp>
      <p:sp>
        <p:nvSpPr>
          <p:cNvPr id="8" name="Oval 7">
            <a:extLst>
              <a:ext uri="{FF2B5EF4-FFF2-40B4-BE49-F238E27FC236}">
                <a16:creationId xmlns:a16="http://schemas.microsoft.com/office/drawing/2014/main" id="{2FFCB15B-423A-2709-DEED-B94BBF8A6237}"/>
              </a:ext>
            </a:extLst>
          </p:cNvPr>
          <p:cNvSpPr/>
          <p:nvPr/>
        </p:nvSpPr>
        <p:spPr>
          <a:xfrm>
            <a:off x="7071690" y="4510370"/>
            <a:ext cx="540000" cy="54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b</a:t>
            </a:r>
          </a:p>
        </p:txBody>
      </p:sp>
      <p:sp>
        <p:nvSpPr>
          <p:cNvPr id="10" name="Oval 9">
            <a:extLst>
              <a:ext uri="{FF2B5EF4-FFF2-40B4-BE49-F238E27FC236}">
                <a16:creationId xmlns:a16="http://schemas.microsoft.com/office/drawing/2014/main" id="{A759F4D2-C7A2-F70C-420C-D9759876F755}"/>
              </a:ext>
            </a:extLst>
          </p:cNvPr>
          <p:cNvSpPr/>
          <p:nvPr/>
        </p:nvSpPr>
        <p:spPr>
          <a:xfrm>
            <a:off x="4581604" y="3213520"/>
            <a:ext cx="540000" cy="54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c</a:t>
            </a:r>
          </a:p>
        </p:txBody>
      </p:sp>
      <p:sp>
        <p:nvSpPr>
          <p:cNvPr id="11" name="Oval 10">
            <a:extLst>
              <a:ext uri="{FF2B5EF4-FFF2-40B4-BE49-F238E27FC236}">
                <a16:creationId xmlns:a16="http://schemas.microsoft.com/office/drawing/2014/main" id="{A98C5993-7687-EBD0-AB27-81EAC9B605D1}"/>
              </a:ext>
            </a:extLst>
          </p:cNvPr>
          <p:cNvSpPr/>
          <p:nvPr/>
        </p:nvSpPr>
        <p:spPr>
          <a:xfrm>
            <a:off x="5826000" y="3630312"/>
            <a:ext cx="540000" cy="540000"/>
          </a:xfrm>
          <a:prstGeom prst="ellipse">
            <a:avLst/>
          </a:prstGeom>
          <a:solidFill>
            <a:schemeClr val="bg1">
              <a:lumMod val="65000"/>
            </a:schemeClr>
          </a:solidFill>
          <a:ln>
            <a:solidFill>
              <a:schemeClr val="tx1">
                <a:lumMod val="85000"/>
                <a:lumOff val="1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d</a:t>
            </a:r>
          </a:p>
        </p:txBody>
      </p:sp>
      <p:cxnSp>
        <p:nvCxnSpPr>
          <p:cNvPr id="13" name="Straight Arrow Connector 12">
            <a:extLst>
              <a:ext uri="{FF2B5EF4-FFF2-40B4-BE49-F238E27FC236}">
                <a16:creationId xmlns:a16="http://schemas.microsoft.com/office/drawing/2014/main" id="{28AD559F-79FF-1609-551B-22DB87E29987}"/>
              </a:ext>
            </a:extLst>
          </p:cNvPr>
          <p:cNvCxnSpPr>
            <a:cxnSpLocks/>
            <a:stCxn id="10" idx="6"/>
            <a:endCxn id="11" idx="2"/>
          </p:cNvCxnSpPr>
          <p:nvPr/>
        </p:nvCxnSpPr>
        <p:spPr>
          <a:xfrm>
            <a:off x="5121604" y="3483520"/>
            <a:ext cx="704396" cy="416792"/>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cxnSp>
        <p:nvCxnSpPr>
          <p:cNvPr id="23" name="Straight Arrow Connector 22">
            <a:extLst>
              <a:ext uri="{FF2B5EF4-FFF2-40B4-BE49-F238E27FC236}">
                <a16:creationId xmlns:a16="http://schemas.microsoft.com/office/drawing/2014/main" id="{15205C4A-4398-781F-2D1B-5959D55525E8}"/>
              </a:ext>
            </a:extLst>
          </p:cNvPr>
          <p:cNvCxnSpPr>
            <a:cxnSpLocks/>
            <a:stCxn id="10" idx="4"/>
            <a:endCxn id="7" idx="0"/>
          </p:cNvCxnSpPr>
          <p:nvPr/>
        </p:nvCxnSpPr>
        <p:spPr>
          <a:xfrm flipH="1">
            <a:off x="4850310" y="3753520"/>
            <a:ext cx="1294" cy="756850"/>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sp>
        <p:nvSpPr>
          <p:cNvPr id="18" name="Oval 17">
            <a:extLst>
              <a:ext uri="{FF2B5EF4-FFF2-40B4-BE49-F238E27FC236}">
                <a16:creationId xmlns:a16="http://schemas.microsoft.com/office/drawing/2014/main" id="{63E611F9-D4D3-6B64-5E56-ED4DEE952FE7}"/>
              </a:ext>
            </a:extLst>
          </p:cNvPr>
          <p:cNvSpPr/>
          <p:nvPr/>
        </p:nvSpPr>
        <p:spPr>
          <a:xfrm>
            <a:off x="7071690" y="3213520"/>
            <a:ext cx="540000" cy="54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e</a:t>
            </a:r>
          </a:p>
        </p:txBody>
      </p:sp>
      <p:cxnSp>
        <p:nvCxnSpPr>
          <p:cNvPr id="21" name="Straight Arrow Connector 20">
            <a:extLst>
              <a:ext uri="{FF2B5EF4-FFF2-40B4-BE49-F238E27FC236}">
                <a16:creationId xmlns:a16="http://schemas.microsoft.com/office/drawing/2014/main" id="{CA79F451-538D-A2B2-947B-FC04314CCA0C}"/>
              </a:ext>
            </a:extLst>
          </p:cNvPr>
          <p:cNvCxnSpPr>
            <a:cxnSpLocks/>
            <a:stCxn id="18" idx="2"/>
            <a:endCxn id="11" idx="6"/>
          </p:cNvCxnSpPr>
          <p:nvPr/>
        </p:nvCxnSpPr>
        <p:spPr>
          <a:xfrm flipH="1">
            <a:off x="6366000" y="3483520"/>
            <a:ext cx="705690" cy="416792"/>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cxnSp>
        <p:nvCxnSpPr>
          <p:cNvPr id="27" name="Straight Arrow Connector 26">
            <a:extLst>
              <a:ext uri="{FF2B5EF4-FFF2-40B4-BE49-F238E27FC236}">
                <a16:creationId xmlns:a16="http://schemas.microsoft.com/office/drawing/2014/main" id="{6B676DC8-3493-DDEB-BC14-C1CB56B1EF0D}"/>
              </a:ext>
            </a:extLst>
          </p:cNvPr>
          <p:cNvCxnSpPr>
            <a:cxnSpLocks/>
            <a:stCxn id="18" idx="4"/>
            <a:endCxn id="8" idx="0"/>
          </p:cNvCxnSpPr>
          <p:nvPr/>
        </p:nvCxnSpPr>
        <p:spPr>
          <a:xfrm>
            <a:off x="7341690" y="3753520"/>
            <a:ext cx="0" cy="756850"/>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cxnSp>
        <p:nvCxnSpPr>
          <p:cNvPr id="12" name="Straight Arrow Connector 11">
            <a:extLst>
              <a:ext uri="{FF2B5EF4-FFF2-40B4-BE49-F238E27FC236}">
                <a16:creationId xmlns:a16="http://schemas.microsoft.com/office/drawing/2014/main" id="{9FE11636-2FA9-E62F-053E-2E241C7DFF3B}"/>
              </a:ext>
            </a:extLst>
          </p:cNvPr>
          <p:cNvCxnSpPr>
            <a:cxnSpLocks/>
            <a:stCxn id="11" idx="3"/>
            <a:endCxn id="7" idx="7"/>
          </p:cNvCxnSpPr>
          <p:nvPr/>
        </p:nvCxnSpPr>
        <p:spPr>
          <a:xfrm flipH="1">
            <a:off x="5041229" y="4091231"/>
            <a:ext cx="863852" cy="498220"/>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sp>
        <p:nvSpPr>
          <p:cNvPr id="16" name="TextBox 15">
            <a:extLst>
              <a:ext uri="{FF2B5EF4-FFF2-40B4-BE49-F238E27FC236}">
                <a16:creationId xmlns:a16="http://schemas.microsoft.com/office/drawing/2014/main" id="{739CFA24-C021-723E-1A46-6CCA4DBC4D31}"/>
              </a:ext>
            </a:extLst>
          </p:cNvPr>
          <p:cNvSpPr txBox="1"/>
          <p:nvPr/>
        </p:nvSpPr>
        <p:spPr>
          <a:xfrm rot="367986">
            <a:off x="7611690" y="2707920"/>
            <a:ext cx="2170985" cy="646331"/>
          </a:xfrm>
          <a:prstGeom prst="rect">
            <a:avLst/>
          </a:prstGeom>
          <a:noFill/>
        </p:spPr>
        <p:txBody>
          <a:bodyPr wrap="square" rtlCol="0">
            <a:spAutoFit/>
          </a:bodyPr>
          <a:lstStyle/>
          <a:p>
            <a:r>
              <a:rPr lang="en-US" noProof="0" dirty="0">
                <a:solidFill>
                  <a:schemeClr val="tx2">
                    <a:lumMod val="75000"/>
                    <a:lumOff val="25000"/>
                  </a:schemeClr>
                </a:solidFill>
              </a:rPr>
              <a:t>unobservable variable</a:t>
            </a:r>
          </a:p>
        </p:txBody>
      </p:sp>
      <p:cxnSp>
        <p:nvCxnSpPr>
          <p:cNvPr id="17" name="Connector: Curved 16">
            <a:extLst>
              <a:ext uri="{FF2B5EF4-FFF2-40B4-BE49-F238E27FC236}">
                <a16:creationId xmlns:a16="http://schemas.microsoft.com/office/drawing/2014/main" id="{A7B43C43-4FE2-A121-A94D-D852C4413529}"/>
              </a:ext>
            </a:extLst>
          </p:cNvPr>
          <p:cNvCxnSpPr>
            <a:cxnSpLocks/>
            <a:stCxn id="16" idx="1"/>
            <a:endCxn id="11" idx="0"/>
          </p:cNvCxnSpPr>
          <p:nvPr/>
        </p:nvCxnSpPr>
        <p:spPr>
          <a:xfrm rot="10800000" flipV="1">
            <a:off x="6096001" y="2915114"/>
            <a:ext cx="1521903" cy="715198"/>
          </a:xfrm>
          <a:prstGeom prst="curvedConnector2">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942495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66FC9F-31F2-9A09-3181-D4693A6BC1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B34722-FF76-4BA2-6DD4-082EE2797DE0}"/>
              </a:ext>
            </a:extLst>
          </p:cNvPr>
          <p:cNvSpPr>
            <a:spLocks noGrp="1"/>
          </p:cNvSpPr>
          <p:nvPr>
            <p:ph type="title"/>
          </p:nvPr>
        </p:nvSpPr>
        <p:spPr/>
        <p:txBody>
          <a:bodyPr/>
          <a:lstStyle/>
          <a:p>
            <a:r>
              <a:rPr lang="en-US" noProof="0" dirty="0"/>
              <a:t>Exercises</a:t>
            </a:r>
          </a:p>
        </p:txBody>
      </p:sp>
      <p:sp>
        <p:nvSpPr>
          <p:cNvPr id="3" name="Content Placeholder 2">
            <a:extLst>
              <a:ext uri="{FF2B5EF4-FFF2-40B4-BE49-F238E27FC236}">
                <a16:creationId xmlns:a16="http://schemas.microsoft.com/office/drawing/2014/main" id="{A2F0110C-154E-8BE7-5244-0C0FC24576FF}"/>
              </a:ext>
            </a:extLst>
          </p:cNvPr>
          <p:cNvSpPr>
            <a:spLocks noGrp="1"/>
          </p:cNvSpPr>
          <p:nvPr>
            <p:ph idx="1"/>
          </p:nvPr>
        </p:nvSpPr>
        <p:spPr>
          <a:xfrm>
            <a:off x="838200" y="1825625"/>
            <a:ext cx="10515600" cy="1132064"/>
          </a:xfrm>
        </p:spPr>
        <p:txBody>
          <a:bodyPr/>
          <a:lstStyle/>
          <a:p>
            <a:pPr marL="0" indent="0">
              <a:buNone/>
            </a:pPr>
            <a:r>
              <a:rPr lang="en-US" noProof="0" dirty="0"/>
              <a:t>Determine the </a:t>
            </a:r>
            <a:r>
              <a:rPr lang="en-US" b="1" noProof="0" dirty="0"/>
              <a:t>adjustment set</a:t>
            </a:r>
            <a:r>
              <a:rPr lang="en-US" noProof="0" dirty="0"/>
              <a:t> of variables to de-confound the estimation of the effect of the phenomenon </a:t>
            </a:r>
            <a:r>
              <a:rPr lang="en-US" noProof="0" dirty="0">
                <a:solidFill>
                  <a:srgbClr val="C00000"/>
                </a:solidFill>
              </a:rPr>
              <a:t>a </a:t>
            </a:r>
            <a:r>
              <a:rPr lang="en-US" noProof="0" dirty="0"/>
              <a:t>→ </a:t>
            </a:r>
            <a:r>
              <a:rPr lang="en-US" noProof="0" dirty="0">
                <a:solidFill>
                  <a:srgbClr val="006D70"/>
                </a:solidFill>
              </a:rPr>
              <a:t>b</a:t>
            </a:r>
            <a:r>
              <a:rPr lang="en-US" noProof="0" dirty="0"/>
              <a:t> via d-separation.</a:t>
            </a:r>
          </a:p>
        </p:txBody>
      </p:sp>
      <p:sp>
        <p:nvSpPr>
          <p:cNvPr id="4" name="Date Placeholder 3">
            <a:extLst>
              <a:ext uri="{FF2B5EF4-FFF2-40B4-BE49-F238E27FC236}">
                <a16:creationId xmlns:a16="http://schemas.microsoft.com/office/drawing/2014/main" id="{5A362326-EE1A-DDCF-C6FA-266D38716C02}"/>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80B9C4E8-F0C9-14D6-9935-E3DC3B4136AD}"/>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720C1028-F5D5-419F-259D-F26481BEADAA}"/>
              </a:ext>
            </a:extLst>
          </p:cNvPr>
          <p:cNvSpPr>
            <a:spLocks noGrp="1"/>
          </p:cNvSpPr>
          <p:nvPr>
            <p:ph type="sldNum" sz="quarter" idx="12"/>
          </p:nvPr>
        </p:nvSpPr>
        <p:spPr/>
        <p:txBody>
          <a:bodyPr/>
          <a:lstStyle/>
          <a:p>
            <a:fld id="{0FA2D919-C0DE-4971-A2E9-D4AC0031921B}" type="slidenum">
              <a:rPr lang="en-US" noProof="0" smtClean="0"/>
              <a:t>42</a:t>
            </a:fld>
            <a:endParaRPr lang="en-US" noProof="0" dirty="0"/>
          </a:p>
        </p:txBody>
      </p:sp>
      <p:sp>
        <p:nvSpPr>
          <p:cNvPr id="43" name="TextBox 42">
            <a:extLst>
              <a:ext uri="{FF2B5EF4-FFF2-40B4-BE49-F238E27FC236}">
                <a16:creationId xmlns:a16="http://schemas.microsoft.com/office/drawing/2014/main" id="{437E2232-154A-1ADC-E1AE-99309EEDD494}"/>
              </a:ext>
            </a:extLst>
          </p:cNvPr>
          <p:cNvSpPr txBox="1"/>
          <p:nvPr/>
        </p:nvSpPr>
        <p:spPr>
          <a:xfrm>
            <a:off x="838200" y="4935480"/>
            <a:ext cx="3273140" cy="523220"/>
          </a:xfrm>
          <a:prstGeom prst="rect">
            <a:avLst/>
          </a:prstGeom>
          <a:noFill/>
        </p:spPr>
        <p:txBody>
          <a:bodyPr wrap="none" rtlCol="0">
            <a:spAutoFit/>
          </a:bodyPr>
          <a:lstStyle/>
          <a:p>
            <a:r>
              <a:rPr lang="en-US" sz="2800" noProof="0" dirty="0"/>
              <a:t>Adjustment set = {e}</a:t>
            </a:r>
          </a:p>
        </p:txBody>
      </p:sp>
      <p:cxnSp>
        <p:nvCxnSpPr>
          <p:cNvPr id="32" name="Straight Arrow Connector 31">
            <a:extLst>
              <a:ext uri="{FF2B5EF4-FFF2-40B4-BE49-F238E27FC236}">
                <a16:creationId xmlns:a16="http://schemas.microsoft.com/office/drawing/2014/main" id="{61A7213E-DDCD-5E11-E76E-8C525DDD1596}"/>
              </a:ext>
            </a:extLst>
          </p:cNvPr>
          <p:cNvCxnSpPr>
            <a:stCxn id="33" idx="6"/>
            <a:endCxn id="34" idx="2"/>
          </p:cNvCxnSpPr>
          <p:nvPr/>
        </p:nvCxnSpPr>
        <p:spPr>
          <a:xfrm>
            <a:off x="5120310" y="4780370"/>
            <a:ext cx="19513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3" name="Oval 32">
            <a:extLst>
              <a:ext uri="{FF2B5EF4-FFF2-40B4-BE49-F238E27FC236}">
                <a16:creationId xmlns:a16="http://schemas.microsoft.com/office/drawing/2014/main" id="{9FB15397-C630-AC5D-4089-85E631A4B189}"/>
              </a:ext>
            </a:extLst>
          </p:cNvPr>
          <p:cNvSpPr/>
          <p:nvPr/>
        </p:nvSpPr>
        <p:spPr>
          <a:xfrm>
            <a:off x="4580310" y="4510370"/>
            <a:ext cx="540000" cy="54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a</a:t>
            </a:r>
          </a:p>
        </p:txBody>
      </p:sp>
      <p:sp>
        <p:nvSpPr>
          <p:cNvPr id="34" name="Oval 33">
            <a:extLst>
              <a:ext uri="{FF2B5EF4-FFF2-40B4-BE49-F238E27FC236}">
                <a16:creationId xmlns:a16="http://schemas.microsoft.com/office/drawing/2014/main" id="{4CF67CE9-C3AB-2F0D-552E-DEBF6EBFA220}"/>
              </a:ext>
            </a:extLst>
          </p:cNvPr>
          <p:cNvSpPr/>
          <p:nvPr/>
        </p:nvSpPr>
        <p:spPr>
          <a:xfrm>
            <a:off x="7071690" y="4510370"/>
            <a:ext cx="540000" cy="54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b</a:t>
            </a:r>
          </a:p>
        </p:txBody>
      </p:sp>
      <p:sp>
        <p:nvSpPr>
          <p:cNvPr id="35" name="Oval 34">
            <a:extLst>
              <a:ext uri="{FF2B5EF4-FFF2-40B4-BE49-F238E27FC236}">
                <a16:creationId xmlns:a16="http://schemas.microsoft.com/office/drawing/2014/main" id="{9A6B98CA-C5D3-EC3B-652F-BD2554428790}"/>
              </a:ext>
            </a:extLst>
          </p:cNvPr>
          <p:cNvSpPr/>
          <p:nvPr/>
        </p:nvSpPr>
        <p:spPr>
          <a:xfrm>
            <a:off x="4581604" y="3213520"/>
            <a:ext cx="540000" cy="54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c</a:t>
            </a:r>
          </a:p>
        </p:txBody>
      </p:sp>
      <p:sp>
        <p:nvSpPr>
          <p:cNvPr id="36" name="Oval 35">
            <a:extLst>
              <a:ext uri="{FF2B5EF4-FFF2-40B4-BE49-F238E27FC236}">
                <a16:creationId xmlns:a16="http://schemas.microsoft.com/office/drawing/2014/main" id="{0CC8E379-5615-DDF6-2F76-BB56C946CC08}"/>
              </a:ext>
            </a:extLst>
          </p:cNvPr>
          <p:cNvSpPr/>
          <p:nvPr/>
        </p:nvSpPr>
        <p:spPr>
          <a:xfrm>
            <a:off x="5826000" y="3630312"/>
            <a:ext cx="540000" cy="540000"/>
          </a:xfrm>
          <a:prstGeom prst="ellipse">
            <a:avLst/>
          </a:prstGeom>
          <a:solidFill>
            <a:schemeClr val="bg1">
              <a:lumMod val="65000"/>
            </a:schemeClr>
          </a:solidFill>
          <a:ln>
            <a:solidFill>
              <a:schemeClr val="tx1">
                <a:lumMod val="85000"/>
                <a:lumOff val="1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d</a:t>
            </a:r>
          </a:p>
        </p:txBody>
      </p:sp>
      <p:cxnSp>
        <p:nvCxnSpPr>
          <p:cNvPr id="37" name="Straight Arrow Connector 36">
            <a:extLst>
              <a:ext uri="{FF2B5EF4-FFF2-40B4-BE49-F238E27FC236}">
                <a16:creationId xmlns:a16="http://schemas.microsoft.com/office/drawing/2014/main" id="{8A9AF39D-3E5F-46DF-4006-5B051EA402E8}"/>
              </a:ext>
            </a:extLst>
          </p:cNvPr>
          <p:cNvCxnSpPr>
            <a:cxnSpLocks/>
            <a:stCxn id="35" idx="6"/>
            <a:endCxn id="36" idx="2"/>
          </p:cNvCxnSpPr>
          <p:nvPr/>
        </p:nvCxnSpPr>
        <p:spPr>
          <a:xfrm>
            <a:off x="5121604" y="3483520"/>
            <a:ext cx="704396" cy="416792"/>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cxnSp>
        <p:nvCxnSpPr>
          <p:cNvPr id="38" name="Straight Arrow Connector 37">
            <a:extLst>
              <a:ext uri="{FF2B5EF4-FFF2-40B4-BE49-F238E27FC236}">
                <a16:creationId xmlns:a16="http://schemas.microsoft.com/office/drawing/2014/main" id="{266B53D7-0B07-8D2C-7192-70B9C41A7643}"/>
              </a:ext>
            </a:extLst>
          </p:cNvPr>
          <p:cNvCxnSpPr>
            <a:cxnSpLocks/>
            <a:stCxn id="35" idx="4"/>
            <a:endCxn id="33" idx="0"/>
          </p:cNvCxnSpPr>
          <p:nvPr/>
        </p:nvCxnSpPr>
        <p:spPr>
          <a:xfrm flipH="1">
            <a:off x="4850310" y="3753520"/>
            <a:ext cx="1294" cy="756850"/>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sp>
        <p:nvSpPr>
          <p:cNvPr id="39" name="Oval 38">
            <a:extLst>
              <a:ext uri="{FF2B5EF4-FFF2-40B4-BE49-F238E27FC236}">
                <a16:creationId xmlns:a16="http://schemas.microsoft.com/office/drawing/2014/main" id="{641D88E2-E6A7-4B40-5FF7-682C65C175CB}"/>
              </a:ext>
            </a:extLst>
          </p:cNvPr>
          <p:cNvSpPr/>
          <p:nvPr/>
        </p:nvSpPr>
        <p:spPr>
          <a:xfrm>
            <a:off x="7071690" y="3213520"/>
            <a:ext cx="540000" cy="540000"/>
          </a:xfrm>
          <a:prstGeom prst="ellipse">
            <a:avLst/>
          </a:prstGeom>
          <a:solidFill>
            <a:schemeClr val="accent1">
              <a:lumMod val="60000"/>
              <a:lumOff val="4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e</a:t>
            </a:r>
          </a:p>
        </p:txBody>
      </p:sp>
      <p:cxnSp>
        <p:nvCxnSpPr>
          <p:cNvPr id="40" name="Straight Arrow Connector 39">
            <a:extLst>
              <a:ext uri="{FF2B5EF4-FFF2-40B4-BE49-F238E27FC236}">
                <a16:creationId xmlns:a16="http://schemas.microsoft.com/office/drawing/2014/main" id="{1C85B7DB-F4B9-4EFF-7B3A-AE73CC9E05A1}"/>
              </a:ext>
            </a:extLst>
          </p:cNvPr>
          <p:cNvCxnSpPr>
            <a:cxnSpLocks/>
            <a:stCxn id="39" idx="2"/>
            <a:endCxn id="36" idx="6"/>
          </p:cNvCxnSpPr>
          <p:nvPr/>
        </p:nvCxnSpPr>
        <p:spPr>
          <a:xfrm flipH="1">
            <a:off x="6366000" y="3483520"/>
            <a:ext cx="705690" cy="416792"/>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cxnSp>
        <p:nvCxnSpPr>
          <p:cNvPr id="41" name="Straight Arrow Connector 40">
            <a:extLst>
              <a:ext uri="{FF2B5EF4-FFF2-40B4-BE49-F238E27FC236}">
                <a16:creationId xmlns:a16="http://schemas.microsoft.com/office/drawing/2014/main" id="{D8E81561-67B4-8FF2-2265-C467E47FA3E9}"/>
              </a:ext>
            </a:extLst>
          </p:cNvPr>
          <p:cNvCxnSpPr>
            <a:cxnSpLocks/>
            <a:stCxn id="39" idx="4"/>
            <a:endCxn id="34" idx="0"/>
          </p:cNvCxnSpPr>
          <p:nvPr/>
        </p:nvCxnSpPr>
        <p:spPr>
          <a:xfrm>
            <a:off x="7341690" y="3753520"/>
            <a:ext cx="0" cy="756850"/>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cxnSp>
        <p:nvCxnSpPr>
          <p:cNvPr id="42" name="Straight Arrow Connector 41">
            <a:extLst>
              <a:ext uri="{FF2B5EF4-FFF2-40B4-BE49-F238E27FC236}">
                <a16:creationId xmlns:a16="http://schemas.microsoft.com/office/drawing/2014/main" id="{28CA2ACF-A651-B7B9-D54B-9B9507EFA3CA}"/>
              </a:ext>
            </a:extLst>
          </p:cNvPr>
          <p:cNvCxnSpPr>
            <a:cxnSpLocks/>
            <a:stCxn id="36" idx="3"/>
            <a:endCxn id="33" idx="7"/>
          </p:cNvCxnSpPr>
          <p:nvPr/>
        </p:nvCxnSpPr>
        <p:spPr>
          <a:xfrm flipH="1">
            <a:off x="5041229" y="4091231"/>
            <a:ext cx="863852" cy="498220"/>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4350751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36CF34-4589-03E6-5023-0E380149BE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7CBD58-475A-2AD0-ACA2-85D56126FC17}"/>
              </a:ext>
            </a:extLst>
          </p:cNvPr>
          <p:cNvSpPr>
            <a:spLocks noGrp="1"/>
          </p:cNvSpPr>
          <p:nvPr>
            <p:ph type="title"/>
          </p:nvPr>
        </p:nvSpPr>
        <p:spPr/>
        <p:txBody>
          <a:bodyPr/>
          <a:lstStyle/>
          <a:p>
            <a:r>
              <a:rPr lang="en-US" noProof="0" dirty="0"/>
              <a:t>Exercises</a:t>
            </a:r>
          </a:p>
        </p:txBody>
      </p:sp>
      <p:sp>
        <p:nvSpPr>
          <p:cNvPr id="3" name="Content Placeholder 2">
            <a:extLst>
              <a:ext uri="{FF2B5EF4-FFF2-40B4-BE49-F238E27FC236}">
                <a16:creationId xmlns:a16="http://schemas.microsoft.com/office/drawing/2014/main" id="{ED961BC6-1ACE-0198-22FB-011140FD2BD1}"/>
              </a:ext>
            </a:extLst>
          </p:cNvPr>
          <p:cNvSpPr>
            <a:spLocks noGrp="1"/>
          </p:cNvSpPr>
          <p:nvPr>
            <p:ph idx="1"/>
          </p:nvPr>
        </p:nvSpPr>
        <p:spPr>
          <a:xfrm>
            <a:off x="838200" y="1825625"/>
            <a:ext cx="10515600" cy="1132064"/>
          </a:xfrm>
        </p:spPr>
        <p:txBody>
          <a:bodyPr/>
          <a:lstStyle/>
          <a:p>
            <a:pPr marL="0" indent="0">
              <a:buNone/>
            </a:pPr>
            <a:r>
              <a:rPr lang="en-US" noProof="0" dirty="0"/>
              <a:t>Determine the </a:t>
            </a:r>
            <a:r>
              <a:rPr lang="en-US" b="1" noProof="0" dirty="0"/>
              <a:t>adjustment set</a:t>
            </a:r>
            <a:r>
              <a:rPr lang="en-US" noProof="0" dirty="0"/>
              <a:t> of variables to de-confound the estimation of the effect of the phenomenon </a:t>
            </a:r>
            <a:r>
              <a:rPr lang="en-US" noProof="0" dirty="0">
                <a:solidFill>
                  <a:srgbClr val="C00000"/>
                </a:solidFill>
              </a:rPr>
              <a:t>a </a:t>
            </a:r>
            <a:r>
              <a:rPr lang="en-US" noProof="0" dirty="0"/>
              <a:t>→ </a:t>
            </a:r>
            <a:r>
              <a:rPr lang="en-US" noProof="0" dirty="0">
                <a:solidFill>
                  <a:srgbClr val="006D70"/>
                </a:solidFill>
              </a:rPr>
              <a:t>b</a:t>
            </a:r>
            <a:r>
              <a:rPr lang="en-US" noProof="0" dirty="0"/>
              <a:t> via d-separation.</a:t>
            </a:r>
          </a:p>
        </p:txBody>
      </p:sp>
      <p:sp>
        <p:nvSpPr>
          <p:cNvPr id="4" name="Date Placeholder 3">
            <a:extLst>
              <a:ext uri="{FF2B5EF4-FFF2-40B4-BE49-F238E27FC236}">
                <a16:creationId xmlns:a16="http://schemas.microsoft.com/office/drawing/2014/main" id="{A852B7D4-0C39-4D49-3DC6-0A2CD3BC07F0}"/>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6F38D140-F525-C1D9-5032-CC53FC299BEC}"/>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710F2E49-4898-F107-DC3E-FB2025B538F6}"/>
              </a:ext>
            </a:extLst>
          </p:cNvPr>
          <p:cNvSpPr>
            <a:spLocks noGrp="1"/>
          </p:cNvSpPr>
          <p:nvPr>
            <p:ph type="sldNum" sz="quarter" idx="12"/>
          </p:nvPr>
        </p:nvSpPr>
        <p:spPr/>
        <p:txBody>
          <a:bodyPr/>
          <a:lstStyle/>
          <a:p>
            <a:fld id="{0FA2D919-C0DE-4971-A2E9-D4AC0031921B}" type="slidenum">
              <a:rPr lang="en-US" noProof="0" smtClean="0"/>
              <a:t>43</a:t>
            </a:fld>
            <a:endParaRPr lang="en-US" noProof="0" dirty="0"/>
          </a:p>
        </p:txBody>
      </p:sp>
      <p:cxnSp>
        <p:nvCxnSpPr>
          <p:cNvPr id="44" name="Straight Arrow Connector 43">
            <a:extLst>
              <a:ext uri="{FF2B5EF4-FFF2-40B4-BE49-F238E27FC236}">
                <a16:creationId xmlns:a16="http://schemas.microsoft.com/office/drawing/2014/main" id="{6E749E40-8CA3-6BDE-8CAF-E3B718AAABB9}"/>
              </a:ext>
            </a:extLst>
          </p:cNvPr>
          <p:cNvCxnSpPr>
            <a:stCxn id="45" idx="6"/>
            <a:endCxn id="46" idx="2"/>
          </p:cNvCxnSpPr>
          <p:nvPr/>
        </p:nvCxnSpPr>
        <p:spPr>
          <a:xfrm>
            <a:off x="5120310" y="4780370"/>
            <a:ext cx="19513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45" name="Oval 44">
            <a:extLst>
              <a:ext uri="{FF2B5EF4-FFF2-40B4-BE49-F238E27FC236}">
                <a16:creationId xmlns:a16="http://schemas.microsoft.com/office/drawing/2014/main" id="{6E1F1A3C-9C1F-7EA5-F0A3-E34B245A48EB}"/>
              </a:ext>
            </a:extLst>
          </p:cNvPr>
          <p:cNvSpPr/>
          <p:nvPr/>
        </p:nvSpPr>
        <p:spPr>
          <a:xfrm>
            <a:off x="4580310" y="4510370"/>
            <a:ext cx="540000" cy="54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a</a:t>
            </a:r>
          </a:p>
        </p:txBody>
      </p:sp>
      <p:sp>
        <p:nvSpPr>
          <p:cNvPr id="46" name="Oval 45">
            <a:extLst>
              <a:ext uri="{FF2B5EF4-FFF2-40B4-BE49-F238E27FC236}">
                <a16:creationId xmlns:a16="http://schemas.microsoft.com/office/drawing/2014/main" id="{7E8C63B7-B4BB-178B-FB54-C20574540CC7}"/>
              </a:ext>
            </a:extLst>
          </p:cNvPr>
          <p:cNvSpPr/>
          <p:nvPr/>
        </p:nvSpPr>
        <p:spPr>
          <a:xfrm>
            <a:off x="7071690" y="4510370"/>
            <a:ext cx="540000" cy="54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b</a:t>
            </a:r>
          </a:p>
        </p:txBody>
      </p:sp>
      <p:sp>
        <p:nvSpPr>
          <p:cNvPr id="47" name="Oval 46">
            <a:extLst>
              <a:ext uri="{FF2B5EF4-FFF2-40B4-BE49-F238E27FC236}">
                <a16:creationId xmlns:a16="http://schemas.microsoft.com/office/drawing/2014/main" id="{D66C3459-FCAB-6AA8-F599-C50877E36E13}"/>
              </a:ext>
            </a:extLst>
          </p:cNvPr>
          <p:cNvSpPr/>
          <p:nvPr/>
        </p:nvSpPr>
        <p:spPr>
          <a:xfrm>
            <a:off x="4581604" y="3213520"/>
            <a:ext cx="540000" cy="540000"/>
          </a:xfrm>
          <a:prstGeom prst="ellipse">
            <a:avLst/>
          </a:prstGeom>
          <a:solidFill>
            <a:schemeClr val="bg1">
              <a:lumMod val="65000"/>
            </a:schemeClr>
          </a:solidFill>
          <a:ln>
            <a:solidFill>
              <a:schemeClr val="tx1">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c</a:t>
            </a:r>
          </a:p>
        </p:txBody>
      </p:sp>
      <p:sp>
        <p:nvSpPr>
          <p:cNvPr id="48" name="Oval 47">
            <a:extLst>
              <a:ext uri="{FF2B5EF4-FFF2-40B4-BE49-F238E27FC236}">
                <a16:creationId xmlns:a16="http://schemas.microsoft.com/office/drawing/2014/main" id="{F584DD6B-BC75-7D72-D561-C84C90864DAC}"/>
              </a:ext>
            </a:extLst>
          </p:cNvPr>
          <p:cNvSpPr/>
          <p:nvPr/>
        </p:nvSpPr>
        <p:spPr>
          <a:xfrm>
            <a:off x="5826000" y="3630312"/>
            <a:ext cx="540000" cy="540000"/>
          </a:xfrm>
          <a:prstGeom prst="ellipse">
            <a:avLst/>
          </a:prstGeom>
          <a:solidFill>
            <a:schemeClr val="bg1">
              <a:lumMod val="85000"/>
            </a:schemeClr>
          </a:solidFill>
          <a:ln>
            <a:solidFill>
              <a:schemeClr val="bg1">
                <a:lumMod val="5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d</a:t>
            </a:r>
          </a:p>
        </p:txBody>
      </p:sp>
      <p:cxnSp>
        <p:nvCxnSpPr>
          <p:cNvPr id="49" name="Straight Arrow Connector 48">
            <a:extLst>
              <a:ext uri="{FF2B5EF4-FFF2-40B4-BE49-F238E27FC236}">
                <a16:creationId xmlns:a16="http://schemas.microsoft.com/office/drawing/2014/main" id="{A96D7D9A-7CB9-4786-727A-20B7637985BC}"/>
              </a:ext>
            </a:extLst>
          </p:cNvPr>
          <p:cNvCxnSpPr>
            <a:cxnSpLocks/>
            <a:stCxn id="47" idx="6"/>
            <a:endCxn id="48" idx="2"/>
          </p:cNvCxnSpPr>
          <p:nvPr/>
        </p:nvCxnSpPr>
        <p:spPr>
          <a:xfrm>
            <a:off x="5121604" y="3483520"/>
            <a:ext cx="704396" cy="416792"/>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cxnSp>
        <p:nvCxnSpPr>
          <p:cNvPr id="50" name="Straight Arrow Connector 49">
            <a:extLst>
              <a:ext uri="{FF2B5EF4-FFF2-40B4-BE49-F238E27FC236}">
                <a16:creationId xmlns:a16="http://schemas.microsoft.com/office/drawing/2014/main" id="{3D203DC9-FFC1-BA4B-07EC-69B860FEA851}"/>
              </a:ext>
            </a:extLst>
          </p:cNvPr>
          <p:cNvCxnSpPr>
            <a:cxnSpLocks/>
            <a:stCxn id="47" idx="4"/>
            <a:endCxn id="45" idx="0"/>
          </p:cNvCxnSpPr>
          <p:nvPr/>
        </p:nvCxnSpPr>
        <p:spPr>
          <a:xfrm flipH="1">
            <a:off x="4850310" y="3753520"/>
            <a:ext cx="1294" cy="756850"/>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sp>
        <p:nvSpPr>
          <p:cNvPr id="51" name="Oval 50">
            <a:extLst>
              <a:ext uri="{FF2B5EF4-FFF2-40B4-BE49-F238E27FC236}">
                <a16:creationId xmlns:a16="http://schemas.microsoft.com/office/drawing/2014/main" id="{F757A87F-FA61-A107-FCA7-1557BE854ACB}"/>
              </a:ext>
            </a:extLst>
          </p:cNvPr>
          <p:cNvSpPr/>
          <p:nvPr/>
        </p:nvSpPr>
        <p:spPr>
          <a:xfrm>
            <a:off x="7071690" y="3213520"/>
            <a:ext cx="540000" cy="540000"/>
          </a:xfrm>
          <a:prstGeom prst="ellipse">
            <a:avLst/>
          </a:prstGeom>
          <a:solidFill>
            <a:schemeClr val="bg1">
              <a:lumMod val="65000"/>
            </a:schemeClr>
          </a:solidFill>
          <a:ln>
            <a:solidFill>
              <a:schemeClr val="tx1">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e</a:t>
            </a:r>
          </a:p>
        </p:txBody>
      </p:sp>
      <p:cxnSp>
        <p:nvCxnSpPr>
          <p:cNvPr id="52" name="Straight Arrow Connector 51">
            <a:extLst>
              <a:ext uri="{FF2B5EF4-FFF2-40B4-BE49-F238E27FC236}">
                <a16:creationId xmlns:a16="http://schemas.microsoft.com/office/drawing/2014/main" id="{673D70CD-DB0D-9B1D-05D7-3AB2ABC5A112}"/>
              </a:ext>
            </a:extLst>
          </p:cNvPr>
          <p:cNvCxnSpPr>
            <a:cxnSpLocks/>
            <a:stCxn id="51" idx="2"/>
            <a:endCxn id="48" idx="6"/>
          </p:cNvCxnSpPr>
          <p:nvPr/>
        </p:nvCxnSpPr>
        <p:spPr>
          <a:xfrm flipH="1">
            <a:off x="6366000" y="3483520"/>
            <a:ext cx="705690" cy="416792"/>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cxnSp>
        <p:nvCxnSpPr>
          <p:cNvPr id="53" name="Straight Arrow Connector 52">
            <a:extLst>
              <a:ext uri="{FF2B5EF4-FFF2-40B4-BE49-F238E27FC236}">
                <a16:creationId xmlns:a16="http://schemas.microsoft.com/office/drawing/2014/main" id="{7C53BE1B-C1CC-5AC1-A820-2D6B03D00D8A}"/>
              </a:ext>
            </a:extLst>
          </p:cNvPr>
          <p:cNvCxnSpPr>
            <a:cxnSpLocks/>
            <a:stCxn id="51" idx="4"/>
            <a:endCxn id="46" idx="0"/>
          </p:cNvCxnSpPr>
          <p:nvPr/>
        </p:nvCxnSpPr>
        <p:spPr>
          <a:xfrm>
            <a:off x="7341690" y="3753520"/>
            <a:ext cx="0" cy="756850"/>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cxnSp>
        <p:nvCxnSpPr>
          <p:cNvPr id="54" name="Straight Arrow Connector 53">
            <a:extLst>
              <a:ext uri="{FF2B5EF4-FFF2-40B4-BE49-F238E27FC236}">
                <a16:creationId xmlns:a16="http://schemas.microsoft.com/office/drawing/2014/main" id="{EBA88B61-CD57-C237-AD38-370118D38056}"/>
              </a:ext>
            </a:extLst>
          </p:cNvPr>
          <p:cNvCxnSpPr>
            <a:cxnSpLocks/>
            <a:stCxn id="48" idx="3"/>
            <a:endCxn id="45" idx="7"/>
          </p:cNvCxnSpPr>
          <p:nvPr/>
        </p:nvCxnSpPr>
        <p:spPr>
          <a:xfrm flipH="1">
            <a:off x="5041229" y="4091231"/>
            <a:ext cx="863852" cy="498220"/>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6708075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47A26C-21DC-C2C4-E16A-E5D8FD1323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89DE1E-249E-1022-7D5A-F5EA8AEE0074}"/>
              </a:ext>
            </a:extLst>
          </p:cNvPr>
          <p:cNvSpPr>
            <a:spLocks noGrp="1"/>
          </p:cNvSpPr>
          <p:nvPr>
            <p:ph type="title"/>
          </p:nvPr>
        </p:nvSpPr>
        <p:spPr/>
        <p:txBody>
          <a:bodyPr/>
          <a:lstStyle/>
          <a:p>
            <a:r>
              <a:rPr lang="en-US" noProof="0" dirty="0"/>
              <a:t>Exercises</a:t>
            </a:r>
          </a:p>
        </p:txBody>
      </p:sp>
      <p:sp>
        <p:nvSpPr>
          <p:cNvPr id="3" name="Content Placeholder 2">
            <a:extLst>
              <a:ext uri="{FF2B5EF4-FFF2-40B4-BE49-F238E27FC236}">
                <a16:creationId xmlns:a16="http://schemas.microsoft.com/office/drawing/2014/main" id="{D5CDBA9C-718B-BDF5-D5CF-CF999AD69197}"/>
              </a:ext>
            </a:extLst>
          </p:cNvPr>
          <p:cNvSpPr>
            <a:spLocks noGrp="1"/>
          </p:cNvSpPr>
          <p:nvPr>
            <p:ph idx="1"/>
          </p:nvPr>
        </p:nvSpPr>
        <p:spPr>
          <a:xfrm>
            <a:off x="838200" y="1825625"/>
            <a:ext cx="10515600" cy="1132064"/>
          </a:xfrm>
        </p:spPr>
        <p:txBody>
          <a:bodyPr/>
          <a:lstStyle/>
          <a:p>
            <a:pPr marL="0" indent="0">
              <a:buNone/>
            </a:pPr>
            <a:r>
              <a:rPr lang="en-US" noProof="0" dirty="0"/>
              <a:t>Determine the </a:t>
            </a:r>
            <a:r>
              <a:rPr lang="en-US" b="1" noProof="0" dirty="0"/>
              <a:t>adjustment set</a:t>
            </a:r>
            <a:r>
              <a:rPr lang="en-US" noProof="0" dirty="0"/>
              <a:t> of variables to de-confound the estimation of the effect of the phenomenon </a:t>
            </a:r>
            <a:r>
              <a:rPr lang="en-US" noProof="0" dirty="0">
                <a:solidFill>
                  <a:srgbClr val="C00000"/>
                </a:solidFill>
              </a:rPr>
              <a:t>a </a:t>
            </a:r>
            <a:r>
              <a:rPr lang="en-US" noProof="0" dirty="0"/>
              <a:t>→ </a:t>
            </a:r>
            <a:r>
              <a:rPr lang="en-US" noProof="0" dirty="0">
                <a:solidFill>
                  <a:srgbClr val="006D70"/>
                </a:solidFill>
              </a:rPr>
              <a:t>b</a:t>
            </a:r>
            <a:r>
              <a:rPr lang="en-US" noProof="0" dirty="0"/>
              <a:t> via d-separation.</a:t>
            </a:r>
          </a:p>
        </p:txBody>
      </p:sp>
      <p:sp>
        <p:nvSpPr>
          <p:cNvPr id="4" name="Date Placeholder 3">
            <a:extLst>
              <a:ext uri="{FF2B5EF4-FFF2-40B4-BE49-F238E27FC236}">
                <a16:creationId xmlns:a16="http://schemas.microsoft.com/office/drawing/2014/main" id="{D9F274E1-20B4-D162-644D-54AF2B39DFE7}"/>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A71DC1F9-8535-7221-7AEC-64C80C39C55B}"/>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41F77A66-6C84-64E5-0D1F-86361F5DB96B}"/>
              </a:ext>
            </a:extLst>
          </p:cNvPr>
          <p:cNvSpPr>
            <a:spLocks noGrp="1"/>
          </p:cNvSpPr>
          <p:nvPr>
            <p:ph type="sldNum" sz="quarter" idx="12"/>
          </p:nvPr>
        </p:nvSpPr>
        <p:spPr/>
        <p:txBody>
          <a:bodyPr/>
          <a:lstStyle/>
          <a:p>
            <a:fld id="{0FA2D919-C0DE-4971-A2E9-D4AC0031921B}" type="slidenum">
              <a:rPr lang="en-US" noProof="0" smtClean="0"/>
              <a:t>44</a:t>
            </a:fld>
            <a:endParaRPr lang="en-US" noProof="0" dirty="0"/>
          </a:p>
        </p:txBody>
      </p:sp>
      <p:grpSp>
        <p:nvGrpSpPr>
          <p:cNvPr id="29" name="Group 28">
            <a:extLst>
              <a:ext uri="{FF2B5EF4-FFF2-40B4-BE49-F238E27FC236}">
                <a16:creationId xmlns:a16="http://schemas.microsoft.com/office/drawing/2014/main" id="{E7F28A5B-77B3-213C-6475-ECBB147AAB4A}"/>
              </a:ext>
            </a:extLst>
          </p:cNvPr>
          <p:cNvGrpSpPr/>
          <p:nvPr/>
        </p:nvGrpSpPr>
        <p:grpSpPr>
          <a:xfrm>
            <a:off x="5594155" y="5241289"/>
            <a:ext cx="6154149" cy="946595"/>
            <a:chOff x="775412" y="5230368"/>
            <a:chExt cx="6154149" cy="946595"/>
          </a:xfrm>
        </p:grpSpPr>
        <p:sp>
          <p:nvSpPr>
            <p:cNvPr id="30" name="Rectangle: Rounded Corners 29">
              <a:extLst>
                <a:ext uri="{FF2B5EF4-FFF2-40B4-BE49-F238E27FC236}">
                  <a16:creationId xmlns:a16="http://schemas.microsoft.com/office/drawing/2014/main" id="{C36E4619-CB58-83B2-947C-26715AFAE881}"/>
                </a:ext>
              </a:extLst>
            </p:cNvPr>
            <p:cNvSpPr/>
            <p:nvPr/>
          </p:nvSpPr>
          <p:spPr>
            <a:xfrm>
              <a:off x="775412" y="5230368"/>
              <a:ext cx="6154149" cy="946595"/>
            </a:xfrm>
            <a:prstGeom prst="roundRect">
              <a:avLst/>
            </a:prstGeom>
            <a:solidFill>
              <a:schemeClr val="tx2"/>
            </a:solidFill>
            <a:ln>
              <a:solidFill>
                <a:schemeClr val="tx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612000" rtlCol="0" anchor="ctr"/>
            <a:lstStyle/>
            <a:p>
              <a:r>
                <a:rPr lang="en-US" noProof="0" dirty="0">
                  <a:solidFill>
                    <a:schemeClr val="bg1"/>
                  </a:solidFill>
                </a:rPr>
                <a:t>For some DAGs, it is impossible to find an adjustment set that </a:t>
              </a:r>
              <a:r>
                <a:rPr lang="en-US" noProof="0" dirty="0" err="1">
                  <a:solidFill>
                    <a:schemeClr val="bg1"/>
                  </a:solidFill>
                </a:rPr>
                <a:t>deconfounds</a:t>
              </a:r>
              <a:r>
                <a:rPr lang="en-US" noProof="0" dirty="0">
                  <a:solidFill>
                    <a:schemeClr val="bg1"/>
                  </a:solidFill>
                </a:rPr>
                <a:t> the effect of interest.</a:t>
              </a:r>
              <a:endParaRPr lang="en-US" noProof="0" dirty="0">
                <a:solidFill>
                  <a:srgbClr val="006D70"/>
                </a:solidFill>
              </a:endParaRPr>
            </a:p>
          </p:txBody>
        </p:sp>
        <p:pic>
          <p:nvPicPr>
            <p:cNvPr id="31" name="Graphic 30" descr="Open quotation mark with solid fill">
              <a:extLst>
                <a:ext uri="{FF2B5EF4-FFF2-40B4-BE49-F238E27FC236}">
                  <a16:creationId xmlns:a16="http://schemas.microsoft.com/office/drawing/2014/main" id="{81390112-F08C-DFCD-87C2-A2FD629DAB7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rot="10800000">
              <a:off x="775412" y="5343665"/>
              <a:ext cx="720000" cy="720000"/>
            </a:xfrm>
            <a:prstGeom prst="rect">
              <a:avLst/>
            </a:prstGeom>
          </p:spPr>
        </p:pic>
      </p:grpSp>
      <p:cxnSp>
        <p:nvCxnSpPr>
          <p:cNvPr id="7" name="Straight Arrow Connector 6">
            <a:extLst>
              <a:ext uri="{FF2B5EF4-FFF2-40B4-BE49-F238E27FC236}">
                <a16:creationId xmlns:a16="http://schemas.microsoft.com/office/drawing/2014/main" id="{36D55121-5959-2BFF-35C5-93528002A086}"/>
              </a:ext>
            </a:extLst>
          </p:cNvPr>
          <p:cNvCxnSpPr>
            <a:stCxn id="8" idx="6"/>
            <a:endCxn id="9" idx="2"/>
          </p:cNvCxnSpPr>
          <p:nvPr/>
        </p:nvCxnSpPr>
        <p:spPr>
          <a:xfrm>
            <a:off x="5120310" y="4780370"/>
            <a:ext cx="19513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8" name="Oval 7">
            <a:extLst>
              <a:ext uri="{FF2B5EF4-FFF2-40B4-BE49-F238E27FC236}">
                <a16:creationId xmlns:a16="http://schemas.microsoft.com/office/drawing/2014/main" id="{7A6EA974-708D-9B0F-4E33-D688B29430FA}"/>
              </a:ext>
            </a:extLst>
          </p:cNvPr>
          <p:cNvSpPr/>
          <p:nvPr/>
        </p:nvSpPr>
        <p:spPr>
          <a:xfrm>
            <a:off x="4580310" y="4510370"/>
            <a:ext cx="540000" cy="54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a</a:t>
            </a:r>
          </a:p>
        </p:txBody>
      </p:sp>
      <p:sp>
        <p:nvSpPr>
          <p:cNvPr id="9" name="Oval 8">
            <a:extLst>
              <a:ext uri="{FF2B5EF4-FFF2-40B4-BE49-F238E27FC236}">
                <a16:creationId xmlns:a16="http://schemas.microsoft.com/office/drawing/2014/main" id="{993FF2C0-050A-C2A8-A38A-92513E756A9B}"/>
              </a:ext>
            </a:extLst>
          </p:cNvPr>
          <p:cNvSpPr/>
          <p:nvPr/>
        </p:nvSpPr>
        <p:spPr>
          <a:xfrm>
            <a:off x="7071690" y="4510370"/>
            <a:ext cx="540000" cy="54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b</a:t>
            </a:r>
          </a:p>
        </p:txBody>
      </p:sp>
      <p:sp>
        <p:nvSpPr>
          <p:cNvPr id="10" name="Oval 9">
            <a:extLst>
              <a:ext uri="{FF2B5EF4-FFF2-40B4-BE49-F238E27FC236}">
                <a16:creationId xmlns:a16="http://schemas.microsoft.com/office/drawing/2014/main" id="{FA848C4A-402E-4AE7-56A9-E5C2D304D179}"/>
              </a:ext>
            </a:extLst>
          </p:cNvPr>
          <p:cNvSpPr/>
          <p:nvPr/>
        </p:nvSpPr>
        <p:spPr>
          <a:xfrm>
            <a:off x="4581604" y="3213520"/>
            <a:ext cx="540000" cy="540000"/>
          </a:xfrm>
          <a:prstGeom prst="ellipse">
            <a:avLst/>
          </a:prstGeom>
          <a:solidFill>
            <a:schemeClr val="bg1">
              <a:lumMod val="65000"/>
            </a:schemeClr>
          </a:solidFill>
          <a:ln>
            <a:solidFill>
              <a:schemeClr val="tx1">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c</a:t>
            </a:r>
          </a:p>
        </p:txBody>
      </p:sp>
      <p:sp>
        <p:nvSpPr>
          <p:cNvPr id="11" name="Oval 10">
            <a:extLst>
              <a:ext uri="{FF2B5EF4-FFF2-40B4-BE49-F238E27FC236}">
                <a16:creationId xmlns:a16="http://schemas.microsoft.com/office/drawing/2014/main" id="{62B277E9-0C49-72F3-3F6F-65ECAB6AFC08}"/>
              </a:ext>
            </a:extLst>
          </p:cNvPr>
          <p:cNvSpPr/>
          <p:nvPr/>
        </p:nvSpPr>
        <p:spPr>
          <a:xfrm>
            <a:off x="5826000" y="3630312"/>
            <a:ext cx="540000" cy="540000"/>
          </a:xfrm>
          <a:prstGeom prst="ellipse">
            <a:avLst/>
          </a:prstGeom>
          <a:solidFill>
            <a:schemeClr val="bg1">
              <a:lumMod val="85000"/>
            </a:schemeClr>
          </a:solidFill>
          <a:ln>
            <a:solidFill>
              <a:schemeClr val="bg1">
                <a:lumMod val="5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d</a:t>
            </a:r>
          </a:p>
        </p:txBody>
      </p:sp>
      <p:cxnSp>
        <p:nvCxnSpPr>
          <p:cNvPr id="12" name="Straight Arrow Connector 11">
            <a:extLst>
              <a:ext uri="{FF2B5EF4-FFF2-40B4-BE49-F238E27FC236}">
                <a16:creationId xmlns:a16="http://schemas.microsoft.com/office/drawing/2014/main" id="{19545329-5902-5061-AD0C-36876F07C449}"/>
              </a:ext>
            </a:extLst>
          </p:cNvPr>
          <p:cNvCxnSpPr>
            <a:cxnSpLocks/>
            <a:stCxn id="10" idx="6"/>
            <a:endCxn id="11" idx="2"/>
          </p:cNvCxnSpPr>
          <p:nvPr/>
        </p:nvCxnSpPr>
        <p:spPr>
          <a:xfrm>
            <a:off x="5121604" y="3483520"/>
            <a:ext cx="704396" cy="416792"/>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cxnSp>
        <p:nvCxnSpPr>
          <p:cNvPr id="13" name="Straight Arrow Connector 12">
            <a:extLst>
              <a:ext uri="{FF2B5EF4-FFF2-40B4-BE49-F238E27FC236}">
                <a16:creationId xmlns:a16="http://schemas.microsoft.com/office/drawing/2014/main" id="{18AA39AC-2F58-7E97-6E61-9918ACB936B3}"/>
              </a:ext>
            </a:extLst>
          </p:cNvPr>
          <p:cNvCxnSpPr>
            <a:cxnSpLocks/>
            <a:stCxn id="10" idx="4"/>
            <a:endCxn id="8" idx="0"/>
          </p:cNvCxnSpPr>
          <p:nvPr/>
        </p:nvCxnSpPr>
        <p:spPr>
          <a:xfrm flipH="1">
            <a:off x="4850310" y="3753520"/>
            <a:ext cx="1294" cy="756850"/>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sp>
        <p:nvSpPr>
          <p:cNvPr id="14" name="Oval 13">
            <a:extLst>
              <a:ext uri="{FF2B5EF4-FFF2-40B4-BE49-F238E27FC236}">
                <a16:creationId xmlns:a16="http://schemas.microsoft.com/office/drawing/2014/main" id="{F7C23D02-6E20-B1CB-1D48-6A5AF812A25D}"/>
              </a:ext>
            </a:extLst>
          </p:cNvPr>
          <p:cNvSpPr/>
          <p:nvPr/>
        </p:nvSpPr>
        <p:spPr>
          <a:xfrm>
            <a:off x="7071690" y="3213520"/>
            <a:ext cx="540000" cy="540000"/>
          </a:xfrm>
          <a:prstGeom prst="ellipse">
            <a:avLst/>
          </a:prstGeom>
          <a:solidFill>
            <a:schemeClr val="bg1">
              <a:lumMod val="65000"/>
            </a:schemeClr>
          </a:solidFill>
          <a:ln>
            <a:solidFill>
              <a:schemeClr val="tx1">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e</a:t>
            </a:r>
          </a:p>
        </p:txBody>
      </p:sp>
      <p:cxnSp>
        <p:nvCxnSpPr>
          <p:cNvPr id="15" name="Straight Arrow Connector 14">
            <a:extLst>
              <a:ext uri="{FF2B5EF4-FFF2-40B4-BE49-F238E27FC236}">
                <a16:creationId xmlns:a16="http://schemas.microsoft.com/office/drawing/2014/main" id="{E8B3DD38-7B5A-1F87-C41A-BAE0B6F6CF02}"/>
              </a:ext>
            </a:extLst>
          </p:cNvPr>
          <p:cNvCxnSpPr>
            <a:cxnSpLocks/>
            <a:stCxn id="14" idx="2"/>
            <a:endCxn id="11" idx="6"/>
          </p:cNvCxnSpPr>
          <p:nvPr/>
        </p:nvCxnSpPr>
        <p:spPr>
          <a:xfrm flipH="1">
            <a:off x="6366000" y="3483520"/>
            <a:ext cx="705690" cy="416792"/>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cxnSp>
        <p:nvCxnSpPr>
          <p:cNvPr id="16" name="Straight Arrow Connector 15">
            <a:extLst>
              <a:ext uri="{FF2B5EF4-FFF2-40B4-BE49-F238E27FC236}">
                <a16:creationId xmlns:a16="http://schemas.microsoft.com/office/drawing/2014/main" id="{382C2505-7261-A5D3-3617-DB4518BC51F1}"/>
              </a:ext>
            </a:extLst>
          </p:cNvPr>
          <p:cNvCxnSpPr>
            <a:cxnSpLocks/>
            <a:stCxn id="14" idx="4"/>
            <a:endCxn id="9" idx="0"/>
          </p:cNvCxnSpPr>
          <p:nvPr/>
        </p:nvCxnSpPr>
        <p:spPr>
          <a:xfrm>
            <a:off x="7341690" y="3753520"/>
            <a:ext cx="0" cy="756850"/>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cxnSp>
        <p:nvCxnSpPr>
          <p:cNvPr id="17" name="Straight Arrow Connector 16">
            <a:extLst>
              <a:ext uri="{FF2B5EF4-FFF2-40B4-BE49-F238E27FC236}">
                <a16:creationId xmlns:a16="http://schemas.microsoft.com/office/drawing/2014/main" id="{05E9EB85-9798-A5C7-A564-590F3C71AF01}"/>
              </a:ext>
            </a:extLst>
          </p:cNvPr>
          <p:cNvCxnSpPr>
            <a:cxnSpLocks/>
            <a:stCxn id="11" idx="3"/>
            <a:endCxn id="8" idx="7"/>
          </p:cNvCxnSpPr>
          <p:nvPr/>
        </p:nvCxnSpPr>
        <p:spPr>
          <a:xfrm flipH="1">
            <a:off x="5041229" y="4091231"/>
            <a:ext cx="863852" cy="498220"/>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127885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F4A34C0-C293-368E-01AE-7A95A6573F32}"/>
              </a:ext>
            </a:extLst>
          </p:cNvPr>
          <p:cNvSpPr>
            <a:spLocks noGrp="1"/>
          </p:cNvSpPr>
          <p:nvPr>
            <p:ph type="title"/>
          </p:nvPr>
        </p:nvSpPr>
        <p:spPr/>
        <p:txBody>
          <a:bodyPr/>
          <a:lstStyle/>
          <a:p>
            <a:r>
              <a:rPr lang="en-SE" dirty="0"/>
              <a:t>Conclusion</a:t>
            </a:r>
          </a:p>
        </p:txBody>
      </p:sp>
      <p:sp>
        <p:nvSpPr>
          <p:cNvPr id="7" name="Text Placeholder 6">
            <a:extLst>
              <a:ext uri="{FF2B5EF4-FFF2-40B4-BE49-F238E27FC236}">
                <a16:creationId xmlns:a16="http://schemas.microsoft.com/office/drawing/2014/main" id="{A1D73B4E-C719-5AE6-5BC5-1C5293AB1A39}"/>
              </a:ext>
            </a:extLst>
          </p:cNvPr>
          <p:cNvSpPr>
            <a:spLocks noGrp="1"/>
          </p:cNvSpPr>
          <p:nvPr>
            <p:ph type="body" idx="1"/>
          </p:nvPr>
        </p:nvSpPr>
        <p:spPr/>
        <p:txBody>
          <a:bodyPr/>
          <a:lstStyle/>
          <a:p>
            <a:r>
              <a:rPr lang="en-SE" dirty="0"/>
              <a:t>Implications for Better Science</a:t>
            </a:r>
          </a:p>
        </p:txBody>
      </p:sp>
      <p:sp>
        <p:nvSpPr>
          <p:cNvPr id="4" name="Date Placeholder 3">
            <a:extLst>
              <a:ext uri="{FF2B5EF4-FFF2-40B4-BE49-F238E27FC236}">
                <a16:creationId xmlns:a16="http://schemas.microsoft.com/office/drawing/2014/main" id="{4E32E988-1450-2E4A-335E-2DD9F1EF439E}"/>
              </a:ext>
            </a:extLst>
          </p:cNvPr>
          <p:cNvSpPr>
            <a:spLocks noGrp="1"/>
          </p:cNvSpPr>
          <p:nvPr>
            <p:ph type="dt" sz="half" idx="10"/>
          </p:nvPr>
        </p:nvSpPr>
        <p:spPr/>
        <p:txBody>
          <a:bodyPr/>
          <a:lstStyle/>
          <a:p>
            <a:fld id="{A1C06950-82F8-45F4-A28D-9FBF8CAE29F7}" type="datetime1">
              <a:rPr lang="de-DE" smtClean="0"/>
              <a:t>17.06.2026</a:t>
            </a:fld>
            <a:endParaRPr lang="en-SE"/>
          </a:p>
        </p:txBody>
      </p:sp>
      <p:sp>
        <p:nvSpPr>
          <p:cNvPr id="5" name="Slide Number Placeholder 4">
            <a:extLst>
              <a:ext uri="{FF2B5EF4-FFF2-40B4-BE49-F238E27FC236}">
                <a16:creationId xmlns:a16="http://schemas.microsoft.com/office/drawing/2014/main" id="{2117A2E1-6763-88D7-46BD-4749DDD468BA}"/>
              </a:ext>
            </a:extLst>
          </p:cNvPr>
          <p:cNvSpPr>
            <a:spLocks noGrp="1"/>
          </p:cNvSpPr>
          <p:nvPr>
            <p:ph type="sldNum" sz="quarter" idx="12"/>
          </p:nvPr>
        </p:nvSpPr>
        <p:spPr/>
        <p:txBody>
          <a:bodyPr/>
          <a:lstStyle/>
          <a:p>
            <a:fld id="{271ECC92-9CDE-4EB3-B1C5-F46B9E1FA3C1}" type="slidenum">
              <a:rPr lang="en-SE" smtClean="0"/>
              <a:t>45</a:t>
            </a:fld>
            <a:endParaRPr lang="en-SE"/>
          </a:p>
        </p:txBody>
      </p:sp>
    </p:spTree>
    <p:extLst>
      <p:ext uri="{BB962C8B-B14F-4D97-AF65-F5344CB8AC3E}">
        <p14:creationId xmlns:p14="http://schemas.microsoft.com/office/powerpoint/2010/main" val="8477809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0E0A7E-FB22-019E-2894-6F64380729FE}"/>
              </a:ext>
            </a:extLst>
          </p:cNvPr>
          <p:cNvSpPr>
            <a:spLocks noGrp="1"/>
          </p:cNvSpPr>
          <p:nvPr>
            <p:ph type="title"/>
          </p:nvPr>
        </p:nvSpPr>
        <p:spPr/>
        <p:txBody>
          <a:bodyPr/>
          <a:lstStyle/>
          <a:p>
            <a:r>
              <a:rPr lang="en-SE" dirty="0"/>
              <a:t>Internal vs. External Validity</a:t>
            </a:r>
          </a:p>
        </p:txBody>
      </p:sp>
      <p:sp>
        <p:nvSpPr>
          <p:cNvPr id="4" name="Date Placeholder 3">
            <a:extLst>
              <a:ext uri="{FF2B5EF4-FFF2-40B4-BE49-F238E27FC236}">
                <a16:creationId xmlns:a16="http://schemas.microsoft.com/office/drawing/2014/main" id="{E329837F-BE0D-E8AE-15E4-E534E737E443}"/>
              </a:ext>
            </a:extLst>
          </p:cNvPr>
          <p:cNvSpPr>
            <a:spLocks noGrp="1"/>
          </p:cNvSpPr>
          <p:nvPr>
            <p:ph type="dt" sz="half" idx="10"/>
          </p:nvPr>
        </p:nvSpPr>
        <p:spPr/>
        <p:txBody>
          <a:bodyPr/>
          <a:lstStyle/>
          <a:p>
            <a:fld id="{A1C06950-82F8-45F4-A28D-9FBF8CAE29F7}" type="datetime1">
              <a:rPr lang="de-DE" smtClean="0"/>
              <a:t>17.06.2026</a:t>
            </a:fld>
            <a:endParaRPr lang="en-SE"/>
          </a:p>
        </p:txBody>
      </p:sp>
      <p:sp>
        <p:nvSpPr>
          <p:cNvPr id="5" name="Slide Number Placeholder 4">
            <a:extLst>
              <a:ext uri="{FF2B5EF4-FFF2-40B4-BE49-F238E27FC236}">
                <a16:creationId xmlns:a16="http://schemas.microsoft.com/office/drawing/2014/main" id="{8291CE67-E14B-E574-9AE7-CAF32BAF237D}"/>
              </a:ext>
            </a:extLst>
          </p:cNvPr>
          <p:cNvSpPr>
            <a:spLocks noGrp="1"/>
          </p:cNvSpPr>
          <p:nvPr>
            <p:ph type="sldNum" sz="quarter" idx="12"/>
          </p:nvPr>
        </p:nvSpPr>
        <p:spPr/>
        <p:txBody>
          <a:bodyPr/>
          <a:lstStyle/>
          <a:p>
            <a:fld id="{271ECC92-9CDE-4EB3-B1C5-F46B9E1FA3C1}" type="slidenum">
              <a:rPr lang="en-SE" smtClean="0"/>
              <a:t>46</a:t>
            </a:fld>
            <a:endParaRPr lang="en-SE"/>
          </a:p>
        </p:txBody>
      </p:sp>
      <p:grpSp>
        <p:nvGrpSpPr>
          <p:cNvPr id="15" name="Group 14">
            <a:extLst>
              <a:ext uri="{FF2B5EF4-FFF2-40B4-BE49-F238E27FC236}">
                <a16:creationId xmlns:a16="http://schemas.microsoft.com/office/drawing/2014/main" id="{65A8F85E-7E8D-8C04-FCFA-CD0D091C353E}"/>
              </a:ext>
            </a:extLst>
          </p:cNvPr>
          <p:cNvGrpSpPr/>
          <p:nvPr/>
        </p:nvGrpSpPr>
        <p:grpSpPr>
          <a:xfrm>
            <a:off x="5199293" y="3429000"/>
            <a:ext cx="1793413" cy="1665182"/>
            <a:chOff x="6458873" y="2830463"/>
            <a:chExt cx="1793413" cy="1665182"/>
          </a:xfrm>
        </p:grpSpPr>
        <p:sp>
          <p:nvSpPr>
            <p:cNvPr id="6" name="Oval 5">
              <a:extLst>
                <a:ext uri="{FF2B5EF4-FFF2-40B4-BE49-F238E27FC236}">
                  <a16:creationId xmlns:a16="http://schemas.microsoft.com/office/drawing/2014/main" id="{CB0CFD9F-E211-EACD-7170-7373ED45BDFD}"/>
                </a:ext>
              </a:extLst>
            </p:cNvPr>
            <p:cNvSpPr/>
            <p:nvPr/>
          </p:nvSpPr>
          <p:spPr>
            <a:xfrm>
              <a:off x="6458873" y="3479501"/>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dirty="0"/>
                <a:t>x</a:t>
              </a:r>
            </a:p>
          </p:txBody>
        </p:sp>
        <p:sp>
          <p:nvSpPr>
            <p:cNvPr id="7" name="Oval 6">
              <a:extLst>
                <a:ext uri="{FF2B5EF4-FFF2-40B4-BE49-F238E27FC236}">
                  <a16:creationId xmlns:a16="http://schemas.microsoft.com/office/drawing/2014/main" id="{3D7D455C-8F7A-594B-22E9-5516DDD22B22}"/>
                </a:ext>
              </a:extLst>
            </p:cNvPr>
            <p:cNvSpPr/>
            <p:nvPr/>
          </p:nvSpPr>
          <p:spPr>
            <a:xfrm>
              <a:off x="7892286" y="3479501"/>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dirty="0"/>
                <a:t>y</a:t>
              </a:r>
            </a:p>
          </p:txBody>
        </p:sp>
        <p:cxnSp>
          <p:nvCxnSpPr>
            <p:cNvPr id="8" name="Straight Arrow Connector 7">
              <a:extLst>
                <a:ext uri="{FF2B5EF4-FFF2-40B4-BE49-F238E27FC236}">
                  <a16:creationId xmlns:a16="http://schemas.microsoft.com/office/drawing/2014/main" id="{C4D4F47C-FBAC-A25C-7143-54BC821A6741}"/>
                </a:ext>
              </a:extLst>
            </p:cNvPr>
            <p:cNvCxnSpPr>
              <a:stCxn id="6" idx="6"/>
              <a:endCxn id="7" idx="2"/>
            </p:cNvCxnSpPr>
            <p:nvPr/>
          </p:nvCxnSpPr>
          <p:spPr>
            <a:xfrm>
              <a:off x="6818873" y="3659501"/>
              <a:ext cx="1073413"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9" name="Oval 8">
              <a:extLst>
                <a:ext uri="{FF2B5EF4-FFF2-40B4-BE49-F238E27FC236}">
                  <a16:creationId xmlns:a16="http://schemas.microsoft.com/office/drawing/2014/main" id="{A61EB8EA-F6F0-3616-2317-EAF3EDB8AA32}"/>
                </a:ext>
              </a:extLst>
            </p:cNvPr>
            <p:cNvSpPr/>
            <p:nvPr/>
          </p:nvSpPr>
          <p:spPr>
            <a:xfrm>
              <a:off x="7175578" y="2830463"/>
              <a:ext cx="360000" cy="360000"/>
            </a:xfrm>
            <a:prstGeom prst="ellipse">
              <a:avLst/>
            </a:prstGeom>
            <a:solidFill>
              <a:schemeClr val="bg1">
                <a:lumMod val="8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dirty="0">
                  <a:solidFill>
                    <a:schemeClr val="tx1"/>
                  </a:solidFill>
                </a:rPr>
                <a:t>z</a:t>
              </a:r>
            </a:p>
          </p:txBody>
        </p:sp>
        <p:cxnSp>
          <p:nvCxnSpPr>
            <p:cNvPr id="10" name="Straight Arrow Connector 9">
              <a:extLst>
                <a:ext uri="{FF2B5EF4-FFF2-40B4-BE49-F238E27FC236}">
                  <a16:creationId xmlns:a16="http://schemas.microsoft.com/office/drawing/2014/main" id="{3EFA49D0-7DBF-3E11-5D4F-FE0B74D34F3A}"/>
                </a:ext>
              </a:extLst>
            </p:cNvPr>
            <p:cNvCxnSpPr>
              <a:cxnSpLocks/>
              <a:stCxn id="9" idx="3"/>
              <a:endCxn id="6" idx="7"/>
            </p:cNvCxnSpPr>
            <p:nvPr/>
          </p:nvCxnSpPr>
          <p:spPr>
            <a:xfrm flipH="1">
              <a:off x="6766152" y="3137742"/>
              <a:ext cx="462147" cy="39448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1" name="Straight Arrow Connector 10">
              <a:extLst>
                <a:ext uri="{FF2B5EF4-FFF2-40B4-BE49-F238E27FC236}">
                  <a16:creationId xmlns:a16="http://schemas.microsoft.com/office/drawing/2014/main" id="{F11891CD-6021-F8AB-BCD8-4FED8C6CFFC6}"/>
                </a:ext>
              </a:extLst>
            </p:cNvPr>
            <p:cNvCxnSpPr>
              <a:cxnSpLocks/>
              <a:stCxn id="9" idx="5"/>
              <a:endCxn id="7" idx="1"/>
            </p:cNvCxnSpPr>
            <p:nvPr/>
          </p:nvCxnSpPr>
          <p:spPr>
            <a:xfrm>
              <a:off x="7482857" y="3137742"/>
              <a:ext cx="462150" cy="39448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2" name="Oval 11">
              <a:extLst>
                <a:ext uri="{FF2B5EF4-FFF2-40B4-BE49-F238E27FC236}">
                  <a16:creationId xmlns:a16="http://schemas.microsoft.com/office/drawing/2014/main" id="{605B7509-D81A-5722-BEDF-A89D71467758}"/>
                </a:ext>
              </a:extLst>
            </p:cNvPr>
            <p:cNvSpPr/>
            <p:nvPr/>
          </p:nvSpPr>
          <p:spPr>
            <a:xfrm>
              <a:off x="7175578" y="4135645"/>
              <a:ext cx="360000" cy="360000"/>
            </a:xfrm>
            <a:prstGeom prst="ellipse">
              <a:avLst/>
            </a:prstGeom>
            <a:solidFill>
              <a:schemeClr val="bg1">
                <a:lumMod val="65000"/>
              </a:schemeClr>
            </a:solidFill>
            <a:ln>
              <a:solidFill>
                <a:schemeClr val="tx1">
                  <a:lumMod val="95000"/>
                  <a:lumOff val="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dirty="0">
                  <a:solidFill>
                    <a:schemeClr val="tx1"/>
                  </a:solidFill>
                </a:rPr>
                <a:t>a</a:t>
              </a:r>
            </a:p>
          </p:txBody>
        </p:sp>
        <p:cxnSp>
          <p:nvCxnSpPr>
            <p:cNvPr id="13" name="Straight Arrow Connector 12">
              <a:extLst>
                <a:ext uri="{FF2B5EF4-FFF2-40B4-BE49-F238E27FC236}">
                  <a16:creationId xmlns:a16="http://schemas.microsoft.com/office/drawing/2014/main" id="{B0C00798-723C-C228-C116-93076E78A098}"/>
                </a:ext>
              </a:extLst>
            </p:cNvPr>
            <p:cNvCxnSpPr>
              <a:cxnSpLocks/>
              <a:stCxn id="12" idx="7"/>
              <a:endCxn id="7" idx="3"/>
            </p:cNvCxnSpPr>
            <p:nvPr/>
          </p:nvCxnSpPr>
          <p:spPr>
            <a:xfrm flipV="1">
              <a:off x="7482857" y="3786780"/>
              <a:ext cx="462150" cy="40158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4" name="Straight Arrow Connector 13">
              <a:extLst>
                <a:ext uri="{FF2B5EF4-FFF2-40B4-BE49-F238E27FC236}">
                  <a16:creationId xmlns:a16="http://schemas.microsoft.com/office/drawing/2014/main" id="{2A3B57A4-2D5E-5568-EF2D-86A728ABCB1C}"/>
                </a:ext>
              </a:extLst>
            </p:cNvPr>
            <p:cNvCxnSpPr>
              <a:cxnSpLocks/>
              <a:stCxn id="12" idx="1"/>
              <a:endCxn id="6" idx="5"/>
            </p:cNvCxnSpPr>
            <p:nvPr/>
          </p:nvCxnSpPr>
          <p:spPr>
            <a:xfrm flipH="1" flipV="1">
              <a:off x="6766152" y="3786780"/>
              <a:ext cx="462147" cy="40158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sp>
        <p:nvSpPr>
          <p:cNvPr id="16" name="TextBox 15">
            <a:extLst>
              <a:ext uri="{FF2B5EF4-FFF2-40B4-BE49-F238E27FC236}">
                <a16:creationId xmlns:a16="http://schemas.microsoft.com/office/drawing/2014/main" id="{E8E31BD8-C8B7-C79B-AE8A-8E913BDA99D1}"/>
              </a:ext>
            </a:extLst>
          </p:cNvPr>
          <p:cNvSpPr txBox="1"/>
          <p:nvPr/>
        </p:nvSpPr>
        <p:spPr>
          <a:xfrm>
            <a:off x="838197" y="4371336"/>
            <a:ext cx="4997302" cy="923330"/>
          </a:xfrm>
          <a:prstGeom prst="rect">
            <a:avLst/>
          </a:prstGeom>
          <a:noFill/>
        </p:spPr>
        <p:txBody>
          <a:bodyPr wrap="square" rtlCol="0">
            <a:spAutoFit/>
          </a:bodyPr>
          <a:lstStyle/>
          <a:p>
            <a:r>
              <a:rPr lang="de-DE" dirty="0"/>
              <a:t>A</a:t>
            </a:r>
            <a:r>
              <a:rPr lang="en-SE" dirty="0"/>
              <a:t>n unobserved/unobservable variable with a causal effect on the phenomenon threatens the </a:t>
            </a:r>
            <a:r>
              <a:rPr lang="en-SE" b="1" dirty="0"/>
              <a:t>internal validity</a:t>
            </a:r>
            <a:r>
              <a:rPr lang="en-SE" dirty="0"/>
              <a:t> of the conclusion.</a:t>
            </a:r>
          </a:p>
        </p:txBody>
      </p:sp>
      <p:grpSp>
        <p:nvGrpSpPr>
          <p:cNvPr id="26" name="Group 25">
            <a:extLst>
              <a:ext uri="{FF2B5EF4-FFF2-40B4-BE49-F238E27FC236}">
                <a16:creationId xmlns:a16="http://schemas.microsoft.com/office/drawing/2014/main" id="{A2401361-80A1-D1A7-041D-20BF08673572}"/>
              </a:ext>
            </a:extLst>
          </p:cNvPr>
          <p:cNvGrpSpPr/>
          <p:nvPr/>
        </p:nvGrpSpPr>
        <p:grpSpPr>
          <a:xfrm>
            <a:off x="838197" y="5328040"/>
            <a:ext cx="7529627" cy="1393435"/>
            <a:chOff x="838197" y="5328040"/>
            <a:chExt cx="7529627" cy="1393435"/>
          </a:xfrm>
        </p:grpSpPr>
        <p:sp>
          <p:nvSpPr>
            <p:cNvPr id="20" name="Rectangle: Rounded Corners 19">
              <a:extLst>
                <a:ext uri="{FF2B5EF4-FFF2-40B4-BE49-F238E27FC236}">
                  <a16:creationId xmlns:a16="http://schemas.microsoft.com/office/drawing/2014/main" id="{B5CA97AA-8EC2-BC0A-79D9-D1939342D83D}"/>
                </a:ext>
              </a:extLst>
            </p:cNvPr>
            <p:cNvSpPr/>
            <p:nvPr/>
          </p:nvSpPr>
          <p:spPr>
            <a:xfrm>
              <a:off x="838202" y="5378941"/>
              <a:ext cx="7529622" cy="1342534"/>
            </a:xfrm>
            <a:prstGeom prst="roundRect">
              <a:avLst/>
            </a:prstGeom>
            <a:solidFill>
              <a:schemeClr val="tx2"/>
            </a:solidFill>
            <a:ln>
              <a:solidFill>
                <a:schemeClr val="tx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108000" tIns="360000" rtlCol="0" anchor="ctr"/>
            <a:lstStyle/>
            <a:p>
              <a:r>
                <a:rPr lang="en-US" noProof="0" dirty="0"/>
                <a:t>Threats to internal validity are influences that can affect the independent variable</a:t>
              </a:r>
              <a:r>
                <a:rPr lang="en-SE" noProof="0" dirty="0"/>
                <a:t> </a:t>
              </a:r>
              <a:r>
                <a:rPr lang="en-US" noProof="0" dirty="0"/>
                <a:t>with respect to causality, without the researcher’s knowledge.</a:t>
              </a:r>
            </a:p>
          </p:txBody>
        </p:sp>
        <p:pic>
          <p:nvPicPr>
            <p:cNvPr id="21" name="Graphic 20" descr="Open quotation mark with solid fill">
              <a:extLst>
                <a:ext uri="{FF2B5EF4-FFF2-40B4-BE49-F238E27FC236}">
                  <a16:creationId xmlns:a16="http://schemas.microsoft.com/office/drawing/2014/main" id="{F284C336-5B20-FBF6-5A67-89A0A971982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0800000">
              <a:off x="838197" y="5328040"/>
              <a:ext cx="720000" cy="787017"/>
            </a:xfrm>
            <a:prstGeom prst="rect">
              <a:avLst/>
            </a:prstGeom>
          </p:spPr>
        </p:pic>
        <p:sp>
          <p:nvSpPr>
            <p:cNvPr id="22" name="TextBox 21">
              <a:extLst>
                <a:ext uri="{FF2B5EF4-FFF2-40B4-BE49-F238E27FC236}">
                  <a16:creationId xmlns:a16="http://schemas.microsoft.com/office/drawing/2014/main" id="{9D15CEB1-3C3C-E0ED-82E4-6A0A6D9A4D29}"/>
                </a:ext>
              </a:extLst>
            </p:cNvPr>
            <p:cNvSpPr txBox="1"/>
            <p:nvPr/>
          </p:nvSpPr>
          <p:spPr>
            <a:xfrm>
              <a:off x="1558199" y="5507665"/>
              <a:ext cx="6628872" cy="400110"/>
            </a:xfrm>
            <a:prstGeom prst="rect">
              <a:avLst/>
            </a:prstGeom>
            <a:noFill/>
          </p:spPr>
          <p:txBody>
            <a:bodyPr wrap="square" rtlCol="0">
              <a:spAutoFit/>
            </a:bodyPr>
            <a:lstStyle/>
            <a:p>
              <a:r>
                <a:rPr lang="de-DE" sz="1000" dirty="0" err="1">
                  <a:solidFill>
                    <a:schemeClr val="bg1"/>
                  </a:solidFill>
                </a:rPr>
                <a:t>Wohlin</a:t>
              </a:r>
              <a:r>
                <a:rPr lang="de-DE" sz="1000" dirty="0">
                  <a:solidFill>
                    <a:schemeClr val="bg1"/>
                  </a:solidFill>
                </a:rPr>
                <a:t>, C., </a:t>
              </a:r>
              <a:r>
                <a:rPr lang="de-DE" sz="1000" dirty="0" err="1">
                  <a:solidFill>
                    <a:schemeClr val="bg1"/>
                  </a:solidFill>
                </a:rPr>
                <a:t>Runeson</a:t>
              </a:r>
              <a:r>
                <a:rPr lang="de-DE" sz="1000" dirty="0">
                  <a:solidFill>
                    <a:schemeClr val="bg1"/>
                  </a:solidFill>
                </a:rPr>
                <a:t>, P., </a:t>
              </a:r>
              <a:r>
                <a:rPr lang="de-DE" sz="1000" dirty="0" err="1">
                  <a:solidFill>
                    <a:schemeClr val="bg1"/>
                  </a:solidFill>
                </a:rPr>
                <a:t>Höst</a:t>
              </a:r>
              <a:r>
                <a:rPr lang="de-DE" sz="1000" dirty="0">
                  <a:solidFill>
                    <a:schemeClr val="bg1"/>
                  </a:solidFill>
                </a:rPr>
                <a:t>, M., </a:t>
              </a:r>
              <a:r>
                <a:rPr lang="de-DE" sz="1000" dirty="0" err="1">
                  <a:solidFill>
                    <a:schemeClr val="bg1"/>
                  </a:solidFill>
                </a:rPr>
                <a:t>Ohlsson</a:t>
              </a:r>
              <a:r>
                <a:rPr lang="de-DE" sz="1000" dirty="0">
                  <a:solidFill>
                    <a:schemeClr val="bg1"/>
                  </a:solidFill>
                </a:rPr>
                <a:t>, M. C., Regnell, B., &amp; </a:t>
              </a:r>
              <a:r>
                <a:rPr lang="de-DE" sz="1000" dirty="0" err="1">
                  <a:solidFill>
                    <a:schemeClr val="bg1"/>
                  </a:solidFill>
                </a:rPr>
                <a:t>Wesslén</a:t>
              </a:r>
              <a:r>
                <a:rPr lang="de-DE" sz="1000" dirty="0">
                  <a:solidFill>
                    <a:schemeClr val="bg1"/>
                  </a:solidFill>
                </a:rPr>
                <a:t>, A. (2012). </a:t>
              </a:r>
              <a:r>
                <a:rPr lang="de-DE" sz="1000" dirty="0" err="1">
                  <a:solidFill>
                    <a:schemeClr val="bg1"/>
                  </a:solidFill>
                </a:rPr>
                <a:t>Experimentation</a:t>
              </a:r>
              <a:r>
                <a:rPr lang="de-DE" sz="1000" dirty="0">
                  <a:solidFill>
                    <a:schemeClr val="bg1"/>
                  </a:solidFill>
                </a:rPr>
                <a:t> in </a:t>
              </a:r>
              <a:r>
                <a:rPr lang="de-DE" sz="1000" dirty="0" err="1">
                  <a:solidFill>
                    <a:schemeClr val="bg1"/>
                  </a:solidFill>
                </a:rPr>
                <a:t>software</a:t>
              </a:r>
              <a:r>
                <a:rPr lang="de-DE" sz="1000" dirty="0">
                  <a:solidFill>
                    <a:schemeClr val="bg1"/>
                  </a:solidFill>
                </a:rPr>
                <a:t> </a:t>
              </a:r>
              <a:r>
                <a:rPr lang="de-DE" sz="1000" dirty="0" err="1">
                  <a:solidFill>
                    <a:schemeClr val="bg1"/>
                  </a:solidFill>
                </a:rPr>
                <a:t>engineering</a:t>
              </a:r>
              <a:r>
                <a:rPr lang="de-DE" sz="1000" dirty="0">
                  <a:solidFill>
                    <a:schemeClr val="bg1"/>
                  </a:solidFill>
                </a:rPr>
                <a:t> (Vol. 236). Berlin: Springer.</a:t>
              </a:r>
              <a:endParaRPr lang="en-SE" sz="1000" dirty="0">
                <a:solidFill>
                  <a:schemeClr val="bg1"/>
                </a:solidFill>
              </a:endParaRPr>
            </a:p>
          </p:txBody>
        </p:sp>
      </p:grpSp>
      <p:grpSp>
        <p:nvGrpSpPr>
          <p:cNvPr id="27" name="Group 26">
            <a:extLst>
              <a:ext uri="{FF2B5EF4-FFF2-40B4-BE49-F238E27FC236}">
                <a16:creationId xmlns:a16="http://schemas.microsoft.com/office/drawing/2014/main" id="{E620CAC8-D8EF-20AD-C477-9BD9A8E00363}"/>
              </a:ext>
            </a:extLst>
          </p:cNvPr>
          <p:cNvGrpSpPr/>
          <p:nvPr/>
        </p:nvGrpSpPr>
        <p:grpSpPr>
          <a:xfrm>
            <a:off x="3824173" y="1693806"/>
            <a:ext cx="7529627" cy="1393435"/>
            <a:chOff x="838197" y="5328040"/>
            <a:chExt cx="7529627" cy="1393435"/>
          </a:xfrm>
        </p:grpSpPr>
        <p:sp>
          <p:nvSpPr>
            <p:cNvPr id="28" name="Rectangle: Rounded Corners 27">
              <a:extLst>
                <a:ext uri="{FF2B5EF4-FFF2-40B4-BE49-F238E27FC236}">
                  <a16:creationId xmlns:a16="http://schemas.microsoft.com/office/drawing/2014/main" id="{D6208D84-BE44-F55B-FD3A-69CC8621FE2A}"/>
                </a:ext>
              </a:extLst>
            </p:cNvPr>
            <p:cNvSpPr/>
            <p:nvPr/>
          </p:nvSpPr>
          <p:spPr>
            <a:xfrm>
              <a:off x="838202" y="5378941"/>
              <a:ext cx="7529622" cy="1342534"/>
            </a:xfrm>
            <a:prstGeom prst="roundRect">
              <a:avLst/>
            </a:prstGeom>
            <a:solidFill>
              <a:schemeClr val="tx2"/>
            </a:solidFill>
            <a:ln>
              <a:solidFill>
                <a:schemeClr val="tx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108000" tIns="360000" rtlCol="0" anchor="ctr"/>
            <a:lstStyle/>
            <a:p>
              <a:r>
                <a:rPr lang="en-US" dirty="0"/>
                <a:t>Threats to external validity are conditions that limit our ability to generalize the</a:t>
              </a:r>
              <a:r>
                <a:rPr lang="en-SE" dirty="0"/>
                <a:t> </a:t>
              </a:r>
              <a:r>
                <a:rPr lang="en-US" dirty="0"/>
                <a:t>results of our experiment to industrial practice.</a:t>
              </a:r>
              <a:endParaRPr lang="en-US" noProof="0" dirty="0"/>
            </a:p>
          </p:txBody>
        </p:sp>
        <p:pic>
          <p:nvPicPr>
            <p:cNvPr id="29" name="Graphic 28" descr="Open quotation mark with solid fill">
              <a:extLst>
                <a:ext uri="{FF2B5EF4-FFF2-40B4-BE49-F238E27FC236}">
                  <a16:creationId xmlns:a16="http://schemas.microsoft.com/office/drawing/2014/main" id="{40D04A9C-EA53-5ABE-352B-3059EB568EB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0800000">
              <a:off x="838197" y="5328040"/>
              <a:ext cx="720000" cy="787017"/>
            </a:xfrm>
            <a:prstGeom prst="rect">
              <a:avLst/>
            </a:prstGeom>
          </p:spPr>
        </p:pic>
        <p:sp>
          <p:nvSpPr>
            <p:cNvPr id="30" name="TextBox 29">
              <a:extLst>
                <a:ext uri="{FF2B5EF4-FFF2-40B4-BE49-F238E27FC236}">
                  <a16:creationId xmlns:a16="http://schemas.microsoft.com/office/drawing/2014/main" id="{E96ECEA2-C784-C6AA-5BE4-1B95280C1912}"/>
                </a:ext>
              </a:extLst>
            </p:cNvPr>
            <p:cNvSpPr txBox="1"/>
            <p:nvPr/>
          </p:nvSpPr>
          <p:spPr>
            <a:xfrm>
              <a:off x="1558199" y="5507665"/>
              <a:ext cx="6628872" cy="400110"/>
            </a:xfrm>
            <a:prstGeom prst="rect">
              <a:avLst/>
            </a:prstGeom>
            <a:noFill/>
          </p:spPr>
          <p:txBody>
            <a:bodyPr wrap="square" rtlCol="0">
              <a:spAutoFit/>
            </a:bodyPr>
            <a:lstStyle/>
            <a:p>
              <a:r>
                <a:rPr lang="de-DE" sz="1000" dirty="0" err="1">
                  <a:solidFill>
                    <a:schemeClr val="bg1"/>
                  </a:solidFill>
                </a:rPr>
                <a:t>Wohlin</a:t>
              </a:r>
              <a:r>
                <a:rPr lang="de-DE" sz="1000" dirty="0">
                  <a:solidFill>
                    <a:schemeClr val="bg1"/>
                  </a:solidFill>
                </a:rPr>
                <a:t>, C., </a:t>
              </a:r>
              <a:r>
                <a:rPr lang="de-DE" sz="1000" dirty="0" err="1">
                  <a:solidFill>
                    <a:schemeClr val="bg1"/>
                  </a:solidFill>
                </a:rPr>
                <a:t>Runeson</a:t>
              </a:r>
              <a:r>
                <a:rPr lang="de-DE" sz="1000" dirty="0">
                  <a:solidFill>
                    <a:schemeClr val="bg1"/>
                  </a:solidFill>
                </a:rPr>
                <a:t>, P., </a:t>
              </a:r>
              <a:r>
                <a:rPr lang="de-DE" sz="1000" dirty="0" err="1">
                  <a:solidFill>
                    <a:schemeClr val="bg1"/>
                  </a:solidFill>
                </a:rPr>
                <a:t>Höst</a:t>
              </a:r>
              <a:r>
                <a:rPr lang="de-DE" sz="1000" dirty="0">
                  <a:solidFill>
                    <a:schemeClr val="bg1"/>
                  </a:solidFill>
                </a:rPr>
                <a:t>, M., </a:t>
              </a:r>
              <a:r>
                <a:rPr lang="de-DE" sz="1000" dirty="0" err="1">
                  <a:solidFill>
                    <a:schemeClr val="bg1"/>
                  </a:solidFill>
                </a:rPr>
                <a:t>Ohlsson</a:t>
              </a:r>
              <a:r>
                <a:rPr lang="de-DE" sz="1000" dirty="0">
                  <a:solidFill>
                    <a:schemeClr val="bg1"/>
                  </a:solidFill>
                </a:rPr>
                <a:t>, M. C., Regnell, B., &amp; </a:t>
              </a:r>
              <a:r>
                <a:rPr lang="de-DE" sz="1000" dirty="0" err="1">
                  <a:solidFill>
                    <a:schemeClr val="bg1"/>
                  </a:solidFill>
                </a:rPr>
                <a:t>Wesslén</a:t>
              </a:r>
              <a:r>
                <a:rPr lang="de-DE" sz="1000" dirty="0">
                  <a:solidFill>
                    <a:schemeClr val="bg1"/>
                  </a:solidFill>
                </a:rPr>
                <a:t>, A. (2012). </a:t>
              </a:r>
              <a:r>
                <a:rPr lang="de-DE" sz="1000" dirty="0" err="1">
                  <a:solidFill>
                    <a:schemeClr val="bg1"/>
                  </a:solidFill>
                </a:rPr>
                <a:t>Experimentation</a:t>
              </a:r>
              <a:r>
                <a:rPr lang="de-DE" sz="1000" dirty="0">
                  <a:solidFill>
                    <a:schemeClr val="bg1"/>
                  </a:solidFill>
                </a:rPr>
                <a:t> in </a:t>
              </a:r>
              <a:r>
                <a:rPr lang="de-DE" sz="1000" dirty="0" err="1">
                  <a:solidFill>
                    <a:schemeClr val="bg1"/>
                  </a:solidFill>
                </a:rPr>
                <a:t>software</a:t>
              </a:r>
              <a:r>
                <a:rPr lang="de-DE" sz="1000" dirty="0">
                  <a:solidFill>
                    <a:schemeClr val="bg1"/>
                  </a:solidFill>
                </a:rPr>
                <a:t> </a:t>
              </a:r>
              <a:r>
                <a:rPr lang="de-DE" sz="1000" dirty="0" err="1">
                  <a:solidFill>
                    <a:schemeClr val="bg1"/>
                  </a:solidFill>
                </a:rPr>
                <a:t>engineering</a:t>
              </a:r>
              <a:r>
                <a:rPr lang="de-DE" sz="1000" dirty="0">
                  <a:solidFill>
                    <a:schemeClr val="bg1"/>
                  </a:solidFill>
                </a:rPr>
                <a:t> (Vol. 236). Berlin: Springer.</a:t>
              </a:r>
              <a:endParaRPr lang="en-SE" sz="1000" dirty="0">
                <a:solidFill>
                  <a:schemeClr val="bg1"/>
                </a:solidFill>
              </a:endParaRPr>
            </a:p>
          </p:txBody>
        </p:sp>
      </p:grpSp>
      <p:sp>
        <p:nvSpPr>
          <p:cNvPr id="31" name="TextBox 30">
            <a:extLst>
              <a:ext uri="{FF2B5EF4-FFF2-40B4-BE49-F238E27FC236}">
                <a16:creationId xmlns:a16="http://schemas.microsoft.com/office/drawing/2014/main" id="{F169C8E6-E298-F1E6-F236-42854D946DF4}"/>
              </a:ext>
            </a:extLst>
          </p:cNvPr>
          <p:cNvSpPr txBox="1"/>
          <p:nvPr/>
        </p:nvSpPr>
        <p:spPr>
          <a:xfrm>
            <a:off x="6356498" y="3221411"/>
            <a:ext cx="4997302" cy="923330"/>
          </a:xfrm>
          <a:prstGeom prst="rect">
            <a:avLst/>
          </a:prstGeom>
          <a:noFill/>
        </p:spPr>
        <p:txBody>
          <a:bodyPr wrap="square" rtlCol="0">
            <a:spAutoFit/>
          </a:bodyPr>
          <a:lstStyle/>
          <a:p>
            <a:pPr algn="r"/>
            <a:r>
              <a:rPr lang="de-DE" dirty="0"/>
              <a:t>A</a:t>
            </a:r>
            <a:r>
              <a:rPr lang="en-SE" dirty="0"/>
              <a:t>n insufficiently distributed variable with a causal effect on the phenomenon threatens the </a:t>
            </a:r>
            <a:r>
              <a:rPr lang="en-SE" b="1" dirty="0"/>
              <a:t>external validity</a:t>
            </a:r>
            <a:r>
              <a:rPr lang="en-SE" dirty="0"/>
              <a:t> of the conclusion.</a:t>
            </a:r>
          </a:p>
        </p:txBody>
      </p:sp>
    </p:spTree>
    <p:extLst>
      <p:ext uri="{BB962C8B-B14F-4D97-AF65-F5344CB8AC3E}">
        <p14:creationId xmlns:p14="http://schemas.microsoft.com/office/powerpoint/2010/main" val="28982997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nodeType="clickEffect">
                                  <p:stCondLst>
                                    <p:cond delay="0"/>
                                  </p:stCondLst>
                                  <p:childTnLst>
                                    <p:set>
                                      <p:cBhvr>
                                        <p:cTn id="10" dur="1" fill="hold">
                                          <p:stCondLst>
                                            <p:cond delay="0"/>
                                          </p:stCondLst>
                                        </p:cTn>
                                        <p:tgtEl>
                                          <p:spTgt spid="27"/>
                                        </p:tgtEl>
                                        <p:attrNameLst>
                                          <p:attrName>style.visibility</p:attrName>
                                        </p:attrNameLst>
                                      </p:cBhvr>
                                      <p:to>
                                        <p:strVal val="visible"/>
                                      </p:to>
                                    </p:set>
                                    <p:animEffect transition="in" filter="fade">
                                      <p:cBhvr>
                                        <p:cTn id="11" dur="500"/>
                                        <p:tgtEl>
                                          <p:spTgt spid="27"/>
                                        </p:tgtEl>
                                      </p:cBhvr>
                                    </p:animEffect>
                                    <p:anim calcmode="lin" valueType="num">
                                      <p:cBhvr>
                                        <p:cTn id="12" dur="500" fill="hold"/>
                                        <p:tgtEl>
                                          <p:spTgt spid="27"/>
                                        </p:tgtEl>
                                        <p:attrNameLst>
                                          <p:attrName>ppt_x</p:attrName>
                                        </p:attrNameLst>
                                      </p:cBhvr>
                                      <p:tavLst>
                                        <p:tav tm="0">
                                          <p:val>
                                            <p:strVal val="#ppt_x"/>
                                          </p:val>
                                        </p:tav>
                                        <p:tav tm="100000">
                                          <p:val>
                                            <p:strVal val="#ppt_x"/>
                                          </p:val>
                                        </p:tav>
                                      </p:tavLst>
                                    </p:anim>
                                    <p:anim calcmode="lin" valueType="num">
                                      <p:cBhvr>
                                        <p:cTn id="13" dur="5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16"/>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nodeType="click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fade">
                                      <p:cBhvr>
                                        <p:cTn id="22" dur="500"/>
                                        <p:tgtEl>
                                          <p:spTgt spid="26"/>
                                        </p:tgtEl>
                                      </p:cBhvr>
                                    </p:animEffect>
                                    <p:anim calcmode="lin" valueType="num">
                                      <p:cBhvr>
                                        <p:cTn id="23" dur="500" fill="hold"/>
                                        <p:tgtEl>
                                          <p:spTgt spid="26"/>
                                        </p:tgtEl>
                                        <p:attrNameLst>
                                          <p:attrName>ppt_x</p:attrName>
                                        </p:attrNameLst>
                                      </p:cBhvr>
                                      <p:tavLst>
                                        <p:tav tm="0">
                                          <p:val>
                                            <p:strVal val="#ppt_x"/>
                                          </p:val>
                                        </p:tav>
                                        <p:tav tm="100000">
                                          <p:val>
                                            <p:strVal val="#ppt_x"/>
                                          </p:val>
                                        </p:tav>
                                      </p:tavLst>
                                    </p:anim>
                                    <p:anim calcmode="lin" valueType="num">
                                      <p:cBhvr>
                                        <p:cTn id="24" dur="500" fill="hold"/>
                                        <p:tgtEl>
                                          <p:spTgt spid="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31"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2720BF-FA17-A541-2D0C-B78B10B02D6A}"/>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1207948A-44E1-C648-1FFF-A839E089E95B}"/>
              </a:ext>
            </a:extLst>
          </p:cNvPr>
          <p:cNvSpPr>
            <a:spLocks noGrp="1"/>
          </p:cNvSpPr>
          <p:nvPr>
            <p:ph type="title"/>
          </p:nvPr>
        </p:nvSpPr>
        <p:spPr/>
        <p:txBody>
          <a:bodyPr/>
          <a:lstStyle/>
          <a:p>
            <a:r>
              <a:rPr lang="en-US" noProof="0" dirty="0"/>
              <a:t>Workflow for Statistical Causal Inference</a:t>
            </a:r>
          </a:p>
        </p:txBody>
      </p:sp>
      <p:sp>
        <p:nvSpPr>
          <p:cNvPr id="4" name="Date Placeholder 3">
            <a:extLst>
              <a:ext uri="{FF2B5EF4-FFF2-40B4-BE49-F238E27FC236}">
                <a16:creationId xmlns:a16="http://schemas.microsoft.com/office/drawing/2014/main" id="{E434F649-204E-D5C4-7EF1-D83DDAA46DB2}"/>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CCC6E14B-EF21-D0E0-9997-92E238101D7A}"/>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F1C58BFD-4F67-6768-D701-9FBEC5DB87A9}"/>
              </a:ext>
            </a:extLst>
          </p:cNvPr>
          <p:cNvSpPr>
            <a:spLocks noGrp="1"/>
          </p:cNvSpPr>
          <p:nvPr>
            <p:ph type="sldNum" sz="quarter" idx="12"/>
          </p:nvPr>
        </p:nvSpPr>
        <p:spPr/>
        <p:txBody>
          <a:bodyPr/>
          <a:lstStyle/>
          <a:p>
            <a:fld id="{0FA2D919-C0DE-4971-A2E9-D4AC0031921B}" type="slidenum">
              <a:rPr lang="en-US" noProof="0" smtClean="0"/>
              <a:t>47</a:t>
            </a:fld>
            <a:endParaRPr lang="en-US" noProof="0" dirty="0"/>
          </a:p>
        </p:txBody>
      </p:sp>
      <p:grpSp>
        <p:nvGrpSpPr>
          <p:cNvPr id="14" name="Group 13">
            <a:extLst>
              <a:ext uri="{FF2B5EF4-FFF2-40B4-BE49-F238E27FC236}">
                <a16:creationId xmlns:a16="http://schemas.microsoft.com/office/drawing/2014/main" id="{CC65A5C1-AD8B-8361-9287-658B75E3093D}"/>
              </a:ext>
            </a:extLst>
          </p:cNvPr>
          <p:cNvGrpSpPr/>
          <p:nvPr/>
        </p:nvGrpSpPr>
        <p:grpSpPr>
          <a:xfrm>
            <a:off x="838200" y="1905000"/>
            <a:ext cx="1080000" cy="1080000"/>
            <a:chOff x="838200" y="1905000"/>
            <a:chExt cx="1080000" cy="1080000"/>
          </a:xfrm>
        </p:grpSpPr>
        <p:sp>
          <p:nvSpPr>
            <p:cNvPr id="9" name="Oval 8">
              <a:extLst>
                <a:ext uri="{FF2B5EF4-FFF2-40B4-BE49-F238E27FC236}">
                  <a16:creationId xmlns:a16="http://schemas.microsoft.com/office/drawing/2014/main" id="{12CB1253-6F4A-DE48-AD52-652ED3F2A6ED}"/>
                </a:ext>
              </a:extLst>
            </p:cNvPr>
            <p:cNvSpPr/>
            <p:nvPr/>
          </p:nvSpPr>
          <p:spPr>
            <a:xfrm>
              <a:off x="838200" y="1905000"/>
              <a:ext cx="1080000" cy="1080000"/>
            </a:xfrm>
            <a:prstGeom prst="ellipse">
              <a:avLst/>
            </a:prstGeom>
            <a:solidFill>
              <a:schemeClr val="tx2"/>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13" name="Graphic 12" descr="Influencer with solid fill">
              <a:extLst>
                <a:ext uri="{FF2B5EF4-FFF2-40B4-BE49-F238E27FC236}">
                  <a16:creationId xmlns:a16="http://schemas.microsoft.com/office/drawing/2014/main" id="{C0CF110D-A430-E306-8C84-38475EC7A32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21000" y="1987800"/>
              <a:ext cx="914400" cy="914400"/>
            </a:xfrm>
            <a:prstGeom prst="rect">
              <a:avLst/>
            </a:prstGeom>
          </p:spPr>
        </p:pic>
      </p:grpSp>
      <p:sp>
        <p:nvSpPr>
          <p:cNvPr id="26" name="TextBox 25">
            <a:extLst>
              <a:ext uri="{FF2B5EF4-FFF2-40B4-BE49-F238E27FC236}">
                <a16:creationId xmlns:a16="http://schemas.microsoft.com/office/drawing/2014/main" id="{7401B5E4-8F60-B78B-B95F-F1238E8AAE9A}"/>
              </a:ext>
            </a:extLst>
          </p:cNvPr>
          <p:cNvSpPr txBox="1"/>
          <p:nvPr/>
        </p:nvSpPr>
        <p:spPr>
          <a:xfrm>
            <a:off x="2001000" y="2075668"/>
            <a:ext cx="4964692" cy="738664"/>
          </a:xfrm>
          <a:prstGeom prst="rect">
            <a:avLst/>
          </a:prstGeom>
          <a:noFill/>
        </p:spPr>
        <p:txBody>
          <a:bodyPr wrap="none" rtlCol="0">
            <a:spAutoFit/>
          </a:bodyPr>
          <a:lstStyle/>
          <a:p>
            <a:r>
              <a:rPr lang="en-US" sz="2400" b="1" noProof="0" dirty="0"/>
              <a:t>1) Modelling</a:t>
            </a:r>
          </a:p>
          <a:p>
            <a:r>
              <a:rPr lang="en-US" noProof="0" dirty="0"/>
              <a:t>Creating a DAG of assumed causal relationships</a:t>
            </a:r>
          </a:p>
        </p:txBody>
      </p:sp>
      <p:grpSp>
        <p:nvGrpSpPr>
          <p:cNvPr id="30" name="Group 29">
            <a:extLst>
              <a:ext uri="{FF2B5EF4-FFF2-40B4-BE49-F238E27FC236}">
                <a16:creationId xmlns:a16="http://schemas.microsoft.com/office/drawing/2014/main" id="{654B00B8-BEB6-CC10-174C-1CA6991AF43D}"/>
              </a:ext>
            </a:extLst>
          </p:cNvPr>
          <p:cNvGrpSpPr/>
          <p:nvPr/>
        </p:nvGrpSpPr>
        <p:grpSpPr>
          <a:xfrm>
            <a:off x="8785503" y="2222888"/>
            <a:ext cx="1127414" cy="640099"/>
            <a:chOff x="4267273" y="3180368"/>
            <a:chExt cx="1127414" cy="640099"/>
          </a:xfrm>
        </p:grpSpPr>
        <p:sp>
          <p:nvSpPr>
            <p:cNvPr id="32" name="Oval 31">
              <a:extLst>
                <a:ext uri="{FF2B5EF4-FFF2-40B4-BE49-F238E27FC236}">
                  <a16:creationId xmlns:a16="http://schemas.microsoft.com/office/drawing/2014/main" id="{F819EF44-9830-B396-3FD5-354515991723}"/>
                </a:ext>
              </a:extLst>
            </p:cNvPr>
            <p:cNvSpPr/>
            <p:nvPr/>
          </p:nvSpPr>
          <p:spPr>
            <a:xfrm>
              <a:off x="4267273" y="3180368"/>
              <a:ext cx="252000" cy="252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rgbClr val="D0180A"/>
                  </a:solidFill>
                </a:rPr>
                <a:t>x</a:t>
              </a:r>
            </a:p>
          </p:txBody>
        </p:sp>
        <p:sp>
          <p:nvSpPr>
            <p:cNvPr id="33" name="Oval 32">
              <a:extLst>
                <a:ext uri="{FF2B5EF4-FFF2-40B4-BE49-F238E27FC236}">
                  <a16:creationId xmlns:a16="http://schemas.microsoft.com/office/drawing/2014/main" id="{FC0D858A-5134-BCB5-648E-E7AC70CBFD5E}"/>
                </a:ext>
              </a:extLst>
            </p:cNvPr>
            <p:cNvSpPr/>
            <p:nvPr/>
          </p:nvSpPr>
          <p:spPr>
            <a:xfrm>
              <a:off x="5142687" y="3180368"/>
              <a:ext cx="252000" cy="252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rgbClr val="006D70"/>
                  </a:solidFill>
                </a:rPr>
                <a:t>y</a:t>
              </a:r>
            </a:p>
          </p:txBody>
        </p:sp>
        <p:cxnSp>
          <p:nvCxnSpPr>
            <p:cNvPr id="34" name="Straight Arrow Connector 33">
              <a:extLst>
                <a:ext uri="{FF2B5EF4-FFF2-40B4-BE49-F238E27FC236}">
                  <a16:creationId xmlns:a16="http://schemas.microsoft.com/office/drawing/2014/main" id="{05CA63DB-7249-0AE7-C670-CD9ADAF6B9E5}"/>
                </a:ext>
              </a:extLst>
            </p:cNvPr>
            <p:cNvCxnSpPr>
              <a:cxnSpLocks/>
              <a:stCxn id="32" idx="6"/>
              <a:endCxn id="33" idx="2"/>
            </p:cNvCxnSpPr>
            <p:nvPr/>
          </p:nvCxnSpPr>
          <p:spPr>
            <a:xfrm>
              <a:off x="4519273" y="3306368"/>
              <a:ext cx="623414"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5" name="Oval 34">
              <a:extLst>
                <a:ext uri="{FF2B5EF4-FFF2-40B4-BE49-F238E27FC236}">
                  <a16:creationId xmlns:a16="http://schemas.microsoft.com/office/drawing/2014/main" id="{6D464648-32A9-F17B-A1D6-E622DE15C49F}"/>
                </a:ext>
              </a:extLst>
            </p:cNvPr>
            <p:cNvSpPr/>
            <p:nvPr/>
          </p:nvSpPr>
          <p:spPr>
            <a:xfrm>
              <a:off x="4704980" y="3568467"/>
              <a:ext cx="252000" cy="252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lumMod val="50000"/>
                      <a:lumOff val="50000"/>
                    </a:schemeClr>
                  </a:solidFill>
                </a:rPr>
                <a:t>z</a:t>
              </a:r>
            </a:p>
          </p:txBody>
        </p:sp>
        <p:cxnSp>
          <p:nvCxnSpPr>
            <p:cNvPr id="36" name="Straight Arrow Connector 35">
              <a:extLst>
                <a:ext uri="{FF2B5EF4-FFF2-40B4-BE49-F238E27FC236}">
                  <a16:creationId xmlns:a16="http://schemas.microsoft.com/office/drawing/2014/main" id="{796EA802-00D6-2424-2B31-95B0C54C250D}"/>
                </a:ext>
              </a:extLst>
            </p:cNvPr>
            <p:cNvCxnSpPr>
              <a:cxnSpLocks/>
              <a:stCxn id="35" idx="7"/>
              <a:endCxn id="33" idx="3"/>
            </p:cNvCxnSpPr>
            <p:nvPr/>
          </p:nvCxnSpPr>
          <p:spPr>
            <a:xfrm flipV="1">
              <a:off x="4920075" y="3395463"/>
              <a:ext cx="259517" cy="20990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7" name="Straight Arrow Connector 36">
              <a:extLst>
                <a:ext uri="{FF2B5EF4-FFF2-40B4-BE49-F238E27FC236}">
                  <a16:creationId xmlns:a16="http://schemas.microsoft.com/office/drawing/2014/main" id="{DE628415-8FA6-C78E-EB19-42EE5A3FA3F3}"/>
                </a:ext>
              </a:extLst>
            </p:cNvPr>
            <p:cNvCxnSpPr>
              <a:cxnSpLocks/>
              <a:stCxn id="35" idx="1"/>
              <a:endCxn id="32" idx="5"/>
            </p:cNvCxnSpPr>
            <p:nvPr/>
          </p:nvCxnSpPr>
          <p:spPr>
            <a:xfrm flipH="1" flipV="1">
              <a:off x="4482368" y="3395463"/>
              <a:ext cx="259517" cy="20990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spTree>
    <p:extLst>
      <p:ext uri="{BB962C8B-B14F-4D97-AF65-F5344CB8AC3E}">
        <p14:creationId xmlns:p14="http://schemas.microsoft.com/office/powerpoint/2010/main" val="11013384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D181A2F-78DA-C928-AB92-182CDA96BB59}"/>
              </a:ext>
            </a:extLst>
          </p:cNvPr>
          <p:cNvSpPr>
            <a:spLocks noGrp="1"/>
          </p:cNvSpPr>
          <p:nvPr>
            <p:ph type="title"/>
          </p:nvPr>
        </p:nvSpPr>
        <p:spPr/>
        <p:txBody>
          <a:bodyPr/>
          <a:lstStyle/>
          <a:p>
            <a:r>
              <a:rPr lang="en-US" noProof="0" dirty="0"/>
              <a:t>Workflow for Statistical Causal Inference</a:t>
            </a:r>
          </a:p>
        </p:txBody>
      </p:sp>
      <p:sp>
        <p:nvSpPr>
          <p:cNvPr id="4" name="Date Placeholder 3">
            <a:extLst>
              <a:ext uri="{FF2B5EF4-FFF2-40B4-BE49-F238E27FC236}">
                <a16:creationId xmlns:a16="http://schemas.microsoft.com/office/drawing/2014/main" id="{ACD504CB-94CA-8247-959D-F38A1B926B57}"/>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15F5E643-9603-D133-F61C-F2E80BAAAFA4}"/>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36879301-DBC3-CC0D-BAFD-9B903BD3DD0D}"/>
              </a:ext>
            </a:extLst>
          </p:cNvPr>
          <p:cNvSpPr>
            <a:spLocks noGrp="1"/>
          </p:cNvSpPr>
          <p:nvPr>
            <p:ph type="sldNum" sz="quarter" idx="12"/>
          </p:nvPr>
        </p:nvSpPr>
        <p:spPr/>
        <p:txBody>
          <a:bodyPr/>
          <a:lstStyle/>
          <a:p>
            <a:fld id="{0FA2D919-C0DE-4971-A2E9-D4AC0031921B}" type="slidenum">
              <a:rPr lang="en-US" noProof="0" smtClean="0"/>
              <a:t>48</a:t>
            </a:fld>
            <a:endParaRPr lang="en-US" noProof="0" dirty="0"/>
          </a:p>
        </p:txBody>
      </p:sp>
      <p:sp>
        <p:nvSpPr>
          <p:cNvPr id="3" name="TextBox 2">
            <a:extLst>
              <a:ext uri="{FF2B5EF4-FFF2-40B4-BE49-F238E27FC236}">
                <a16:creationId xmlns:a16="http://schemas.microsoft.com/office/drawing/2014/main" id="{0D5C9EA1-3B5A-AF1D-EA3B-CAA745DF9159}"/>
              </a:ext>
            </a:extLst>
          </p:cNvPr>
          <p:cNvSpPr txBox="1"/>
          <p:nvPr/>
        </p:nvSpPr>
        <p:spPr>
          <a:xfrm>
            <a:off x="838200" y="5987018"/>
            <a:ext cx="4206240" cy="369332"/>
          </a:xfrm>
          <a:prstGeom prst="rect">
            <a:avLst/>
          </a:prstGeom>
          <a:noFill/>
        </p:spPr>
        <p:txBody>
          <a:bodyPr wrap="square">
            <a:spAutoFit/>
          </a:bodyPr>
          <a:lstStyle/>
          <a:p>
            <a:r>
              <a:rPr lang="en-US" sz="900" b="1" noProof="0" dirty="0"/>
              <a:t>Siebert</a:t>
            </a:r>
            <a:r>
              <a:rPr lang="en-US" sz="900" noProof="0" dirty="0"/>
              <a:t>, J. (2023). Applications of statistical causal inference in software engineering. </a:t>
            </a:r>
            <a:r>
              <a:rPr lang="en-US" sz="900" i="1" noProof="0" dirty="0"/>
              <a:t>Information and Software Technology</a:t>
            </a:r>
            <a:r>
              <a:rPr lang="en-US" sz="900" noProof="0" dirty="0"/>
              <a:t>, </a:t>
            </a:r>
            <a:r>
              <a:rPr lang="en-US" sz="900" i="1" noProof="0" dirty="0"/>
              <a:t>159</a:t>
            </a:r>
            <a:r>
              <a:rPr lang="en-US" sz="900" noProof="0" dirty="0"/>
              <a:t>, 107198.</a:t>
            </a:r>
          </a:p>
        </p:txBody>
      </p:sp>
      <p:grpSp>
        <p:nvGrpSpPr>
          <p:cNvPr id="14" name="Group 13">
            <a:extLst>
              <a:ext uri="{FF2B5EF4-FFF2-40B4-BE49-F238E27FC236}">
                <a16:creationId xmlns:a16="http://schemas.microsoft.com/office/drawing/2014/main" id="{40E62E30-F2ED-32D2-AC19-684CBB42655C}"/>
              </a:ext>
            </a:extLst>
          </p:cNvPr>
          <p:cNvGrpSpPr/>
          <p:nvPr/>
        </p:nvGrpSpPr>
        <p:grpSpPr>
          <a:xfrm>
            <a:off x="838200" y="1905000"/>
            <a:ext cx="1080000" cy="1080000"/>
            <a:chOff x="838200" y="1905000"/>
            <a:chExt cx="1080000" cy="1080000"/>
          </a:xfrm>
        </p:grpSpPr>
        <p:sp>
          <p:nvSpPr>
            <p:cNvPr id="9" name="Oval 8">
              <a:extLst>
                <a:ext uri="{FF2B5EF4-FFF2-40B4-BE49-F238E27FC236}">
                  <a16:creationId xmlns:a16="http://schemas.microsoft.com/office/drawing/2014/main" id="{D2DF88DC-BE77-B1C6-0B70-540CD83622D3}"/>
                </a:ext>
              </a:extLst>
            </p:cNvPr>
            <p:cNvSpPr/>
            <p:nvPr/>
          </p:nvSpPr>
          <p:spPr>
            <a:xfrm>
              <a:off x="838200" y="1905000"/>
              <a:ext cx="1080000" cy="1080000"/>
            </a:xfrm>
            <a:prstGeom prst="ellipse">
              <a:avLst/>
            </a:prstGeom>
            <a:solidFill>
              <a:schemeClr val="tx2"/>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13" name="Graphic 12" descr="Influencer with solid fill">
              <a:extLst>
                <a:ext uri="{FF2B5EF4-FFF2-40B4-BE49-F238E27FC236}">
                  <a16:creationId xmlns:a16="http://schemas.microsoft.com/office/drawing/2014/main" id="{68FCE6AE-3789-A30E-748E-F8D7398BB61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21000" y="1987800"/>
              <a:ext cx="914400" cy="914400"/>
            </a:xfrm>
            <a:prstGeom prst="rect">
              <a:avLst/>
            </a:prstGeom>
          </p:spPr>
        </p:pic>
      </p:grpSp>
      <p:grpSp>
        <p:nvGrpSpPr>
          <p:cNvPr id="15" name="Group 14">
            <a:extLst>
              <a:ext uri="{FF2B5EF4-FFF2-40B4-BE49-F238E27FC236}">
                <a16:creationId xmlns:a16="http://schemas.microsoft.com/office/drawing/2014/main" id="{1CAF5FAF-DD18-23F4-1039-18B838D8B726}"/>
              </a:ext>
            </a:extLst>
          </p:cNvPr>
          <p:cNvGrpSpPr/>
          <p:nvPr/>
        </p:nvGrpSpPr>
        <p:grpSpPr>
          <a:xfrm>
            <a:off x="838200" y="3343897"/>
            <a:ext cx="1080000" cy="1080000"/>
            <a:chOff x="838200" y="1905000"/>
            <a:chExt cx="1080000" cy="1080000"/>
          </a:xfrm>
        </p:grpSpPr>
        <p:sp>
          <p:nvSpPr>
            <p:cNvPr id="16" name="Oval 15">
              <a:extLst>
                <a:ext uri="{FF2B5EF4-FFF2-40B4-BE49-F238E27FC236}">
                  <a16:creationId xmlns:a16="http://schemas.microsoft.com/office/drawing/2014/main" id="{272C8FE5-B791-4EB1-5650-4EE886A249CE}"/>
                </a:ext>
              </a:extLst>
            </p:cNvPr>
            <p:cNvSpPr/>
            <p:nvPr/>
          </p:nvSpPr>
          <p:spPr>
            <a:xfrm>
              <a:off x="838200" y="1905000"/>
              <a:ext cx="1080000" cy="1080000"/>
            </a:xfrm>
            <a:prstGeom prst="ellipse">
              <a:avLst/>
            </a:prstGeom>
            <a:solidFill>
              <a:schemeClr val="tx2">
                <a:lumMod val="90000"/>
                <a:lumOff val="1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17" name="Graphic 16" descr="Magnifying glass with solid fill">
              <a:extLst>
                <a:ext uri="{FF2B5EF4-FFF2-40B4-BE49-F238E27FC236}">
                  <a16:creationId xmlns:a16="http://schemas.microsoft.com/office/drawing/2014/main" id="{0981D9A0-8BD7-BA5E-CC6C-1F527C02C51A}"/>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921000" y="1987800"/>
              <a:ext cx="914400" cy="914400"/>
            </a:xfrm>
            <a:prstGeom prst="rect">
              <a:avLst/>
            </a:prstGeom>
          </p:spPr>
        </p:pic>
      </p:grpSp>
      <p:grpSp>
        <p:nvGrpSpPr>
          <p:cNvPr id="18" name="Group 17">
            <a:extLst>
              <a:ext uri="{FF2B5EF4-FFF2-40B4-BE49-F238E27FC236}">
                <a16:creationId xmlns:a16="http://schemas.microsoft.com/office/drawing/2014/main" id="{14EAB15A-EF99-FE4C-6EF6-BD6402267625}"/>
              </a:ext>
            </a:extLst>
          </p:cNvPr>
          <p:cNvGrpSpPr/>
          <p:nvPr/>
        </p:nvGrpSpPr>
        <p:grpSpPr>
          <a:xfrm>
            <a:off x="838200" y="4779416"/>
            <a:ext cx="1080000" cy="1080000"/>
            <a:chOff x="838200" y="1905000"/>
            <a:chExt cx="1080000" cy="1080000"/>
          </a:xfrm>
        </p:grpSpPr>
        <p:sp>
          <p:nvSpPr>
            <p:cNvPr id="19" name="Oval 18">
              <a:extLst>
                <a:ext uri="{FF2B5EF4-FFF2-40B4-BE49-F238E27FC236}">
                  <a16:creationId xmlns:a16="http://schemas.microsoft.com/office/drawing/2014/main" id="{855E9A09-9FD2-FAC0-4400-E7E953055E43}"/>
                </a:ext>
              </a:extLst>
            </p:cNvPr>
            <p:cNvSpPr/>
            <p:nvPr/>
          </p:nvSpPr>
          <p:spPr>
            <a:xfrm>
              <a:off x="838200" y="1905000"/>
              <a:ext cx="1080000" cy="1080000"/>
            </a:xfrm>
            <a:prstGeom prst="ellipse">
              <a:avLst/>
            </a:prstGeom>
            <a:solidFill>
              <a:schemeClr val="tx2">
                <a:lumMod val="75000"/>
                <a:lumOff val="2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20" name="Graphic 19" descr="Normal Distribution with solid fill">
              <a:extLst>
                <a:ext uri="{FF2B5EF4-FFF2-40B4-BE49-F238E27FC236}">
                  <a16:creationId xmlns:a16="http://schemas.microsoft.com/office/drawing/2014/main" id="{9C7E0F61-6F3E-C982-D162-B9B819B08F1C}"/>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921000" y="1987800"/>
              <a:ext cx="914400" cy="914400"/>
            </a:xfrm>
            <a:prstGeom prst="rect">
              <a:avLst/>
            </a:prstGeom>
          </p:spPr>
        </p:pic>
      </p:grpSp>
      <p:cxnSp>
        <p:nvCxnSpPr>
          <p:cNvPr id="22" name="Straight Arrow Connector 21">
            <a:extLst>
              <a:ext uri="{FF2B5EF4-FFF2-40B4-BE49-F238E27FC236}">
                <a16:creationId xmlns:a16="http://schemas.microsoft.com/office/drawing/2014/main" id="{C55A203C-240A-E1AF-598E-68A4B54FB7C1}"/>
              </a:ext>
            </a:extLst>
          </p:cNvPr>
          <p:cNvCxnSpPr>
            <a:stCxn id="9" idx="4"/>
            <a:endCxn id="16" idx="0"/>
          </p:cNvCxnSpPr>
          <p:nvPr/>
        </p:nvCxnSpPr>
        <p:spPr>
          <a:xfrm>
            <a:off x="1378200" y="2985000"/>
            <a:ext cx="0" cy="358897"/>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C087B968-AB36-AC69-2267-1853B97815B7}"/>
              </a:ext>
            </a:extLst>
          </p:cNvPr>
          <p:cNvCxnSpPr>
            <a:cxnSpLocks/>
            <a:stCxn id="16" idx="4"/>
            <a:endCxn id="19" idx="0"/>
          </p:cNvCxnSpPr>
          <p:nvPr/>
        </p:nvCxnSpPr>
        <p:spPr>
          <a:xfrm>
            <a:off x="1378200" y="4423897"/>
            <a:ext cx="0" cy="355519"/>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0E445826-783E-D4DF-09E4-01D8287037BE}"/>
              </a:ext>
            </a:extLst>
          </p:cNvPr>
          <p:cNvSpPr txBox="1"/>
          <p:nvPr/>
        </p:nvSpPr>
        <p:spPr>
          <a:xfrm>
            <a:off x="2001000" y="2075668"/>
            <a:ext cx="4964692" cy="738664"/>
          </a:xfrm>
          <a:prstGeom prst="rect">
            <a:avLst/>
          </a:prstGeom>
          <a:noFill/>
        </p:spPr>
        <p:txBody>
          <a:bodyPr wrap="none" rtlCol="0">
            <a:spAutoFit/>
          </a:bodyPr>
          <a:lstStyle/>
          <a:p>
            <a:r>
              <a:rPr lang="en-US" sz="2400" b="1" noProof="0" dirty="0"/>
              <a:t>1) Modelling</a:t>
            </a:r>
          </a:p>
          <a:p>
            <a:r>
              <a:rPr lang="en-US" noProof="0" dirty="0"/>
              <a:t>Creating a DAG of assumed causal relationships</a:t>
            </a:r>
          </a:p>
        </p:txBody>
      </p:sp>
      <p:sp>
        <p:nvSpPr>
          <p:cNvPr id="27" name="TextBox 26">
            <a:extLst>
              <a:ext uri="{FF2B5EF4-FFF2-40B4-BE49-F238E27FC236}">
                <a16:creationId xmlns:a16="http://schemas.microsoft.com/office/drawing/2014/main" id="{A6E146A4-57B9-1F16-7572-C518F645291D}"/>
              </a:ext>
            </a:extLst>
          </p:cNvPr>
          <p:cNvSpPr txBox="1"/>
          <p:nvPr/>
        </p:nvSpPr>
        <p:spPr>
          <a:xfrm>
            <a:off x="2001000" y="3376065"/>
            <a:ext cx="6355922" cy="738664"/>
          </a:xfrm>
          <a:prstGeom prst="rect">
            <a:avLst/>
          </a:prstGeom>
          <a:noFill/>
        </p:spPr>
        <p:txBody>
          <a:bodyPr wrap="square" rtlCol="0">
            <a:spAutoFit/>
          </a:bodyPr>
          <a:lstStyle/>
          <a:p>
            <a:r>
              <a:rPr lang="en-US" sz="2400" b="1" noProof="0" dirty="0"/>
              <a:t>2) Identification</a:t>
            </a:r>
          </a:p>
          <a:p>
            <a:r>
              <a:rPr lang="en-US" noProof="0" dirty="0"/>
              <a:t>Deriving a statistical from the causal model</a:t>
            </a:r>
          </a:p>
        </p:txBody>
      </p:sp>
      <p:sp>
        <p:nvSpPr>
          <p:cNvPr id="28" name="TextBox 27">
            <a:extLst>
              <a:ext uri="{FF2B5EF4-FFF2-40B4-BE49-F238E27FC236}">
                <a16:creationId xmlns:a16="http://schemas.microsoft.com/office/drawing/2014/main" id="{B2B6186A-2F54-4402-424F-76B203E44BBD}"/>
              </a:ext>
            </a:extLst>
          </p:cNvPr>
          <p:cNvSpPr txBox="1"/>
          <p:nvPr/>
        </p:nvSpPr>
        <p:spPr>
          <a:xfrm>
            <a:off x="2001000" y="4811584"/>
            <a:ext cx="4727460" cy="1015663"/>
          </a:xfrm>
          <a:prstGeom prst="rect">
            <a:avLst/>
          </a:prstGeom>
          <a:noFill/>
        </p:spPr>
        <p:txBody>
          <a:bodyPr wrap="square" rtlCol="0">
            <a:spAutoFit/>
          </a:bodyPr>
          <a:lstStyle/>
          <a:p>
            <a:r>
              <a:rPr lang="en-US" sz="2400" b="1" noProof="0" dirty="0"/>
              <a:t>3) Estimation</a:t>
            </a:r>
          </a:p>
          <a:p>
            <a:r>
              <a:rPr lang="en-US" noProof="0" dirty="0"/>
              <a:t>Training a statistical model with the observed data and evaluating the results</a:t>
            </a:r>
          </a:p>
        </p:txBody>
      </p:sp>
      <p:grpSp>
        <p:nvGrpSpPr>
          <p:cNvPr id="30" name="Group 29">
            <a:extLst>
              <a:ext uri="{FF2B5EF4-FFF2-40B4-BE49-F238E27FC236}">
                <a16:creationId xmlns:a16="http://schemas.microsoft.com/office/drawing/2014/main" id="{95E5F68D-C4F0-5D48-FFE5-AE43D2D24578}"/>
              </a:ext>
            </a:extLst>
          </p:cNvPr>
          <p:cNvGrpSpPr/>
          <p:nvPr/>
        </p:nvGrpSpPr>
        <p:grpSpPr>
          <a:xfrm>
            <a:off x="8785503" y="2222888"/>
            <a:ext cx="1127414" cy="640099"/>
            <a:chOff x="4267273" y="3180368"/>
            <a:chExt cx="1127414" cy="640099"/>
          </a:xfrm>
        </p:grpSpPr>
        <p:sp>
          <p:nvSpPr>
            <p:cNvPr id="32" name="Oval 31">
              <a:extLst>
                <a:ext uri="{FF2B5EF4-FFF2-40B4-BE49-F238E27FC236}">
                  <a16:creationId xmlns:a16="http://schemas.microsoft.com/office/drawing/2014/main" id="{5075ECF1-84E9-0984-C438-816600E6FA8D}"/>
                </a:ext>
              </a:extLst>
            </p:cNvPr>
            <p:cNvSpPr/>
            <p:nvPr/>
          </p:nvSpPr>
          <p:spPr>
            <a:xfrm>
              <a:off x="4267273" y="3180368"/>
              <a:ext cx="252000" cy="252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rgbClr val="D0180A"/>
                  </a:solidFill>
                </a:rPr>
                <a:t>x</a:t>
              </a:r>
            </a:p>
          </p:txBody>
        </p:sp>
        <p:sp>
          <p:nvSpPr>
            <p:cNvPr id="33" name="Oval 32">
              <a:extLst>
                <a:ext uri="{FF2B5EF4-FFF2-40B4-BE49-F238E27FC236}">
                  <a16:creationId xmlns:a16="http://schemas.microsoft.com/office/drawing/2014/main" id="{BB525688-D454-1DF4-B66F-256ECE7A4727}"/>
                </a:ext>
              </a:extLst>
            </p:cNvPr>
            <p:cNvSpPr/>
            <p:nvPr/>
          </p:nvSpPr>
          <p:spPr>
            <a:xfrm>
              <a:off x="5142687" y="3180368"/>
              <a:ext cx="252000" cy="252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rgbClr val="006D70"/>
                  </a:solidFill>
                </a:rPr>
                <a:t>y</a:t>
              </a:r>
            </a:p>
          </p:txBody>
        </p:sp>
        <p:cxnSp>
          <p:nvCxnSpPr>
            <p:cNvPr id="34" name="Straight Arrow Connector 33">
              <a:extLst>
                <a:ext uri="{FF2B5EF4-FFF2-40B4-BE49-F238E27FC236}">
                  <a16:creationId xmlns:a16="http://schemas.microsoft.com/office/drawing/2014/main" id="{DE2F8BEB-6EA8-7A42-50AF-C204A3DE9B43}"/>
                </a:ext>
              </a:extLst>
            </p:cNvPr>
            <p:cNvCxnSpPr>
              <a:cxnSpLocks/>
              <a:stCxn id="32" idx="6"/>
              <a:endCxn id="33" idx="2"/>
            </p:cNvCxnSpPr>
            <p:nvPr/>
          </p:nvCxnSpPr>
          <p:spPr>
            <a:xfrm>
              <a:off x="4519273" y="3306368"/>
              <a:ext cx="623414"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5" name="Oval 34">
              <a:extLst>
                <a:ext uri="{FF2B5EF4-FFF2-40B4-BE49-F238E27FC236}">
                  <a16:creationId xmlns:a16="http://schemas.microsoft.com/office/drawing/2014/main" id="{81F0DF9B-F5B5-CE6C-CB19-69FEF11690CA}"/>
                </a:ext>
              </a:extLst>
            </p:cNvPr>
            <p:cNvSpPr/>
            <p:nvPr/>
          </p:nvSpPr>
          <p:spPr>
            <a:xfrm>
              <a:off x="4704980" y="3568467"/>
              <a:ext cx="252000" cy="252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lumMod val="50000"/>
                      <a:lumOff val="50000"/>
                    </a:schemeClr>
                  </a:solidFill>
                </a:rPr>
                <a:t>z</a:t>
              </a:r>
            </a:p>
          </p:txBody>
        </p:sp>
        <p:cxnSp>
          <p:nvCxnSpPr>
            <p:cNvPr id="36" name="Straight Arrow Connector 35">
              <a:extLst>
                <a:ext uri="{FF2B5EF4-FFF2-40B4-BE49-F238E27FC236}">
                  <a16:creationId xmlns:a16="http://schemas.microsoft.com/office/drawing/2014/main" id="{C6554BA8-E244-3D3D-8F30-C20BDD0F9CE0}"/>
                </a:ext>
              </a:extLst>
            </p:cNvPr>
            <p:cNvCxnSpPr>
              <a:cxnSpLocks/>
              <a:stCxn id="35" idx="7"/>
              <a:endCxn id="33" idx="3"/>
            </p:cNvCxnSpPr>
            <p:nvPr/>
          </p:nvCxnSpPr>
          <p:spPr>
            <a:xfrm flipV="1">
              <a:off x="4920075" y="3395463"/>
              <a:ext cx="259517" cy="20990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7" name="Straight Arrow Connector 36">
              <a:extLst>
                <a:ext uri="{FF2B5EF4-FFF2-40B4-BE49-F238E27FC236}">
                  <a16:creationId xmlns:a16="http://schemas.microsoft.com/office/drawing/2014/main" id="{DBB933CE-FF6C-0632-028B-C846E95DFF32}"/>
                </a:ext>
              </a:extLst>
            </p:cNvPr>
            <p:cNvCxnSpPr>
              <a:cxnSpLocks/>
              <a:stCxn id="35" idx="1"/>
              <a:endCxn id="32" idx="5"/>
            </p:cNvCxnSpPr>
            <p:nvPr/>
          </p:nvCxnSpPr>
          <p:spPr>
            <a:xfrm flipH="1" flipV="1">
              <a:off x="4482368" y="3395463"/>
              <a:ext cx="259517" cy="20990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6DCE0E8E-61AB-E629-20AC-9C15C95C29B5}"/>
                  </a:ext>
                </a:extLst>
              </p:cNvPr>
              <p:cNvSpPr txBox="1"/>
              <p:nvPr/>
            </p:nvSpPr>
            <p:spPr>
              <a:xfrm>
                <a:off x="8919179" y="3700353"/>
                <a:ext cx="86773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noProof="0" smtClean="0">
                          <a:latin typeface="Cambria Math" panose="02040503050406030204" pitchFamily="18" charset="0"/>
                        </a:rPr>
                        <m:t>𝑦</m:t>
                      </m:r>
                      <m:r>
                        <a:rPr lang="en-US" b="0" i="1" noProof="0" smtClean="0">
                          <a:latin typeface="Cambria Math" panose="02040503050406030204" pitchFamily="18" charset="0"/>
                        </a:rPr>
                        <m:t>~</m:t>
                      </m:r>
                      <m:r>
                        <a:rPr lang="en-US" b="0" i="1" noProof="0" smtClean="0">
                          <a:latin typeface="Cambria Math" panose="02040503050406030204" pitchFamily="18" charset="0"/>
                        </a:rPr>
                        <m:t>𝑥</m:t>
                      </m:r>
                      <m:r>
                        <a:rPr lang="en-US" b="0" i="1" noProof="0" smtClean="0">
                          <a:latin typeface="Cambria Math" panose="02040503050406030204" pitchFamily="18" charset="0"/>
                        </a:rPr>
                        <m:t>+</m:t>
                      </m:r>
                      <m:r>
                        <a:rPr lang="en-US" b="0" i="1" noProof="0" smtClean="0">
                          <a:latin typeface="Cambria Math" panose="02040503050406030204" pitchFamily="18" charset="0"/>
                        </a:rPr>
                        <m:t>𝑧</m:t>
                      </m:r>
                    </m:oMath>
                  </m:oMathPara>
                </a14:m>
                <a:endParaRPr lang="en-US" noProof="0" dirty="0"/>
              </a:p>
            </p:txBody>
          </p:sp>
        </mc:Choice>
        <mc:Fallback xmlns="">
          <p:sp>
            <p:nvSpPr>
              <p:cNvPr id="31" name="TextBox 30">
                <a:extLst>
                  <a:ext uri="{FF2B5EF4-FFF2-40B4-BE49-F238E27FC236}">
                    <a16:creationId xmlns:a16="http://schemas.microsoft.com/office/drawing/2014/main" id="{6DCE0E8E-61AB-E629-20AC-9C15C95C29B5}"/>
                  </a:ext>
                </a:extLst>
              </p:cNvPr>
              <p:cNvSpPr txBox="1">
                <a:spLocks noRot="1" noChangeAspect="1" noMove="1" noResize="1" noEditPoints="1" noAdjustHandles="1" noChangeArrowheads="1" noChangeShapeType="1" noTextEdit="1"/>
              </p:cNvSpPr>
              <p:nvPr/>
            </p:nvSpPr>
            <p:spPr>
              <a:xfrm>
                <a:off x="8919179" y="3700353"/>
                <a:ext cx="867738" cy="276999"/>
              </a:xfrm>
              <a:prstGeom prst="rect">
                <a:avLst/>
              </a:prstGeom>
              <a:blipFill>
                <a:blip r:embed="rId9"/>
                <a:stretch>
                  <a:fillRect l="-7042" r="-3521" b="-26667"/>
                </a:stretch>
              </a:blipFill>
            </p:spPr>
            <p:txBody>
              <a:bodyPr/>
              <a:lstStyle/>
              <a:p>
                <a:r>
                  <a:rPr lang="en-SE">
                    <a:noFill/>
                  </a:rPr>
                  <a:t> </a:t>
                </a:r>
              </a:p>
            </p:txBody>
          </p:sp>
        </mc:Fallback>
      </mc:AlternateContent>
      <p:pic>
        <p:nvPicPr>
          <p:cNvPr id="38" name="Picture 37" descr="A graph of a graph&#10;&#10;AI-generated content may be incorrect.">
            <a:extLst>
              <a:ext uri="{FF2B5EF4-FFF2-40B4-BE49-F238E27FC236}">
                <a16:creationId xmlns:a16="http://schemas.microsoft.com/office/drawing/2014/main" id="{14BBB085-08A3-BC03-D8A0-A45DC74541EF}"/>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8094222" y="4649510"/>
            <a:ext cx="2509975" cy="1755495"/>
          </a:xfrm>
          <a:prstGeom prst="rect">
            <a:avLst/>
          </a:prstGeom>
        </p:spPr>
      </p:pic>
      <p:grpSp>
        <p:nvGrpSpPr>
          <p:cNvPr id="2" name="Group 1">
            <a:extLst>
              <a:ext uri="{FF2B5EF4-FFF2-40B4-BE49-F238E27FC236}">
                <a16:creationId xmlns:a16="http://schemas.microsoft.com/office/drawing/2014/main" id="{E830FAEC-21EF-3ED3-33A0-664E78D53B2F}"/>
              </a:ext>
            </a:extLst>
          </p:cNvPr>
          <p:cNvGrpSpPr/>
          <p:nvPr/>
        </p:nvGrpSpPr>
        <p:grpSpPr>
          <a:xfrm>
            <a:off x="2001000" y="4115033"/>
            <a:ext cx="2563289" cy="432000"/>
            <a:chOff x="4604412" y="1893985"/>
            <a:chExt cx="2563289" cy="432000"/>
          </a:xfrm>
        </p:grpSpPr>
        <p:sp>
          <p:nvSpPr>
            <p:cNvPr id="8" name="Arrow: Pentagon 7">
              <a:extLst>
                <a:ext uri="{FF2B5EF4-FFF2-40B4-BE49-F238E27FC236}">
                  <a16:creationId xmlns:a16="http://schemas.microsoft.com/office/drawing/2014/main" id="{10605B65-60D1-89A6-D875-B99924AA1781}"/>
                </a:ext>
              </a:extLst>
            </p:cNvPr>
            <p:cNvSpPr/>
            <p:nvPr/>
          </p:nvSpPr>
          <p:spPr>
            <a:xfrm>
              <a:off x="4604412" y="1893985"/>
              <a:ext cx="2563289" cy="432000"/>
            </a:xfrm>
            <a:prstGeom prst="homePlate">
              <a:avLst/>
            </a:prstGeom>
            <a:solidFill>
              <a:schemeClr val="accent4">
                <a:lumMod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432000" rtlCol="0" anchor="ctr"/>
            <a:lstStyle/>
            <a:p>
              <a:r>
                <a:rPr lang="en-US" noProof="0" dirty="0"/>
                <a:t>Model Derivation</a:t>
              </a:r>
            </a:p>
          </p:txBody>
        </p:sp>
        <p:pic>
          <p:nvPicPr>
            <p:cNvPr id="10" name="Graphic 9" descr="Connections with solid fill">
              <a:extLst>
                <a:ext uri="{FF2B5EF4-FFF2-40B4-BE49-F238E27FC236}">
                  <a16:creationId xmlns:a16="http://schemas.microsoft.com/office/drawing/2014/main" id="{78D7CE72-87B3-2F97-1D23-25A8038D61CA}"/>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4664301" y="1929985"/>
              <a:ext cx="360000" cy="360000"/>
            </a:xfrm>
            <a:prstGeom prst="rect">
              <a:avLst/>
            </a:prstGeom>
          </p:spPr>
        </p:pic>
      </p:grpSp>
    </p:spTree>
    <p:extLst>
      <p:ext uri="{BB962C8B-B14F-4D97-AF65-F5344CB8AC3E}">
        <p14:creationId xmlns:p14="http://schemas.microsoft.com/office/powerpoint/2010/main" val="32885377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8" grpId="0"/>
      <p:bldP spid="31"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BB6A21-8FB7-329F-0F45-E980AA584A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655D26-0366-9854-039A-922AC27812DD}"/>
              </a:ext>
            </a:extLst>
          </p:cNvPr>
          <p:cNvSpPr>
            <a:spLocks noGrp="1"/>
          </p:cNvSpPr>
          <p:nvPr>
            <p:ph type="title"/>
          </p:nvPr>
        </p:nvSpPr>
        <p:spPr/>
        <p:txBody>
          <a:bodyPr/>
          <a:lstStyle/>
          <a:p>
            <a:r>
              <a:rPr lang="en-US" noProof="0" dirty="0"/>
              <a:t>Scientific Workflow: Traditional</a:t>
            </a:r>
          </a:p>
        </p:txBody>
      </p:sp>
      <p:sp>
        <p:nvSpPr>
          <p:cNvPr id="56" name="Content Placeholder 55">
            <a:extLst>
              <a:ext uri="{FF2B5EF4-FFF2-40B4-BE49-F238E27FC236}">
                <a16:creationId xmlns:a16="http://schemas.microsoft.com/office/drawing/2014/main" id="{F0CC5C2C-C2B1-39FC-8F7C-311F74790999}"/>
              </a:ext>
            </a:extLst>
          </p:cNvPr>
          <p:cNvSpPr>
            <a:spLocks noGrp="1"/>
          </p:cNvSpPr>
          <p:nvPr>
            <p:ph idx="1"/>
          </p:nvPr>
        </p:nvSpPr>
        <p:spPr>
          <a:xfrm>
            <a:off x="838200" y="4787559"/>
            <a:ext cx="10515600" cy="1389404"/>
          </a:xfrm>
        </p:spPr>
        <p:txBody>
          <a:bodyPr/>
          <a:lstStyle/>
          <a:p>
            <a:pPr marL="0" indent="0">
              <a:buNone/>
            </a:pPr>
            <a:r>
              <a:rPr lang="en-US" noProof="0" dirty="0"/>
              <a:t>Too often, we derive hypotheses from the data available to us.</a:t>
            </a:r>
          </a:p>
        </p:txBody>
      </p:sp>
      <p:sp>
        <p:nvSpPr>
          <p:cNvPr id="4" name="Date Placeholder 3">
            <a:extLst>
              <a:ext uri="{FF2B5EF4-FFF2-40B4-BE49-F238E27FC236}">
                <a16:creationId xmlns:a16="http://schemas.microsoft.com/office/drawing/2014/main" id="{61ACCA0F-FFA0-284E-994F-7DB9073DEAE3}"/>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2AAE6BEA-C09C-0A6D-6EFE-9EF788AA217A}"/>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776B480C-BAB7-5A41-B374-C1D7E6554556}"/>
              </a:ext>
            </a:extLst>
          </p:cNvPr>
          <p:cNvSpPr>
            <a:spLocks noGrp="1"/>
          </p:cNvSpPr>
          <p:nvPr>
            <p:ph type="sldNum" sz="quarter" idx="12"/>
          </p:nvPr>
        </p:nvSpPr>
        <p:spPr/>
        <p:txBody>
          <a:bodyPr/>
          <a:lstStyle/>
          <a:p>
            <a:fld id="{0FA2D919-C0DE-4971-A2E9-D4AC0031921B}" type="slidenum">
              <a:rPr lang="en-US" noProof="0" smtClean="0"/>
              <a:t>49</a:t>
            </a:fld>
            <a:endParaRPr lang="en-US" noProof="0" dirty="0"/>
          </a:p>
        </p:txBody>
      </p:sp>
      <p:grpSp>
        <p:nvGrpSpPr>
          <p:cNvPr id="33" name="Group 32">
            <a:extLst>
              <a:ext uri="{FF2B5EF4-FFF2-40B4-BE49-F238E27FC236}">
                <a16:creationId xmlns:a16="http://schemas.microsoft.com/office/drawing/2014/main" id="{ABA7C6A9-19C8-7282-C6FF-DD4152B96D9D}"/>
              </a:ext>
            </a:extLst>
          </p:cNvPr>
          <p:cNvGrpSpPr/>
          <p:nvPr/>
        </p:nvGrpSpPr>
        <p:grpSpPr>
          <a:xfrm>
            <a:off x="844469" y="2409728"/>
            <a:ext cx="540000" cy="540000"/>
            <a:chOff x="838200" y="1905000"/>
            <a:chExt cx="1080000" cy="1080000"/>
          </a:xfrm>
        </p:grpSpPr>
        <p:sp>
          <p:nvSpPr>
            <p:cNvPr id="34" name="Oval 33">
              <a:extLst>
                <a:ext uri="{FF2B5EF4-FFF2-40B4-BE49-F238E27FC236}">
                  <a16:creationId xmlns:a16="http://schemas.microsoft.com/office/drawing/2014/main" id="{0B471997-81DC-89B6-4545-3F6AD43F2B55}"/>
                </a:ext>
              </a:extLst>
            </p:cNvPr>
            <p:cNvSpPr/>
            <p:nvPr/>
          </p:nvSpPr>
          <p:spPr>
            <a:xfrm>
              <a:off x="838200" y="1905000"/>
              <a:ext cx="1080000" cy="1080000"/>
            </a:xfrm>
            <a:prstGeom prst="ellipse">
              <a:avLst/>
            </a:prstGeom>
            <a:solidFill>
              <a:schemeClr val="tx2"/>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35" name="Graphic 34" descr="Influencer with solid fill">
              <a:extLst>
                <a:ext uri="{FF2B5EF4-FFF2-40B4-BE49-F238E27FC236}">
                  <a16:creationId xmlns:a16="http://schemas.microsoft.com/office/drawing/2014/main" id="{97DC8785-B324-1F16-EE17-6C4D370F6D7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21000" y="1987800"/>
              <a:ext cx="914400" cy="914400"/>
            </a:xfrm>
            <a:prstGeom prst="rect">
              <a:avLst/>
            </a:prstGeom>
          </p:spPr>
        </p:pic>
      </p:grpSp>
      <p:grpSp>
        <p:nvGrpSpPr>
          <p:cNvPr id="36" name="Group 35">
            <a:extLst>
              <a:ext uri="{FF2B5EF4-FFF2-40B4-BE49-F238E27FC236}">
                <a16:creationId xmlns:a16="http://schemas.microsoft.com/office/drawing/2014/main" id="{CCF4013E-2DCA-AA18-904F-3B92FBD0041C}"/>
              </a:ext>
            </a:extLst>
          </p:cNvPr>
          <p:cNvGrpSpPr/>
          <p:nvPr/>
        </p:nvGrpSpPr>
        <p:grpSpPr>
          <a:xfrm>
            <a:off x="844469" y="3131382"/>
            <a:ext cx="540000" cy="540000"/>
            <a:chOff x="838200" y="1905000"/>
            <a:chExt cx="1080000" cy="1080000"/>
          </a:xfrm>
        </p:grpSpPr>
        <p:sp>
          <p:nvSpPr>
            <p:cNvPr id="37" name="Oval 36">
              <a:extLst>
                <a:ext uri="{FF2B5EF4-FFF2-40B4-BE49-F238E27FC236}">
                  <a16:creationId xmlns:a16="http://schemas.microsoft.com/office/drawing/2014/main" id="{E4EFC1A4-0C41-8749-4330-E16CA75AD877}"/>
                </a:ext>
              </a:extLst>
            </p:cNvPr>
            <p:cNvSpPr/>
            <p:nvPr/>
          </p:nvSpPr>
          <p:spPr>
            <a:xfrm>
              <a:off x="838200" y="1905000"/>
              <a:ext cx="1080000" cy="1080000"/>
            </a:xfrm>
            <a:prstGeom prst="ellipse">
              <a:avLst/>
            </a:prstGeom>
            <a:solidFill>
              <a:schemeClr val="tx2">
                <a:lumMod val="90000"/>
                <a:lumOff val="1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38" name="Graphic 37" descr="Magnifying glass with solid fill">
              <a:extLst>
                <a:ext uri="{FF2B5EF4-FFF2-40B4-BE49-F238E27FC236}">
                  <a16:creationId xmlns:a16="http://schemas.microsoft.com/office/drawing/2014/main" id="{2E21A9D2-1EAE-793C-FF1C-62C7777A8D9F}"/>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921000" y="1987800"/>
              <a:ext cx="914400" cy="914400"/>
            </a:xfrm>
            <a:prstGeom prst="rect">
              <a:avLst/>
            </a:prstGeom>
          </p:spPr>
        </p:pic>
      </p:grpSp>
      <p:grpSp>
        <p:nvGrpSpPr>
          <p:cNvPr id="39" name="Group 38">
            <a:extLst>
              <a:ext uri="{FF2B5EF4-FFF2-40B4-BE49-F238E27FC236}">
                <a16:creationId xmlns:a16="http://schemas.microsoft.com/office/drawing/2014/main" id="{4C529F51-08AA-0464-1D07-BE7BA2B6AE9E}"/>
              </a:ext>
            </a:extLst>
          </p:cNvPr>
          <p:cNvGrpSpPr/>
          <p:nvPr/>
        </p:nvGrpSpPr>
        <p:grpSpPr>
          <a:xfrm>
            <a:off x="838200" y="3843059"/>
            <a:ext cx="540000" cy="540000"/>
            <a:chOff x="838200" y="1905000"/>
            <a:chExt cx="1080000" cy="1080000"/>
          </a:xfrm>
        </p:grpSpPr>
        <p:sp>
          <p:nvSpPr>
            <p:cNvPr id="40" name="Oval 39">
              <a:extLst>
                <a:ext uri="{FF2B5EF4-FFF2-40B4-BE49-F238E27FC236}">
                  <a16:creationId xmlns:a16="http://schemas.microsoft.com/office/drawing/2014/main" id="{E91F2583-5A61-5F1F-21B9-D5FADAEAAD66}"/>
                </a:ext>
              </a:extLst>
            </p:cNvPr>
            <p:cNvSpPr/>
            <p:nvPr/>
          </p:nvSpPr>
          <p:spPr>
            <a:xfrm>
              <a:off x="838200" y="1905000"/>
              <a:ext cx="1080000" cy="1080000"/>
            </a:xfrm>
            <a:prstGeom prst="ellipse">
              <a:avLst/>
            </a:prstGeom>
            <a:solidFill>
              <a:schemeClr val="tx2">
                <a:lumMod val="75000"/>
                <a:lumOff val="2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41" name="Graphic 40" descr="Normal Distribution with solid fill">
              <a:extLst>
                <a:ext uri="{FF2B5EF4-FFF2-40B4-BE49-F238E27FC236}">
                  <a16:creationId xmlns:a16="http://schemas.microsoft.com/office/drawing/2014/main" id="{A0067B6C-AB59-EEAD-7ADE-3CE08DD54938}"/>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921000" y="1987800"/>
              <a:ext cx="914400" cy="914400"/>
            </a:xfrm>
            <a:prstGeom prst="rect">
              <a:avLst/>
            </a:prstGeom>
          </p:spPr>
        </p:pic>
      </p:grpSp>
      <p:cxnSp>
        <p:nvCxnSpPr>
          <p:cNvPr id="42" name="Straight Arrow Connector 41">
            <a:extLst>
              <a:ext uri="{FF2B5EF4-FFF2-40B4-BE49-F238E27FC236}">
                <a16:creationId xmlns:a16="http://schemas.microsoft.com/office/drawing/2014/main" id="{D51C900F-433F-788E-B10E-436E366E1236}"/>
              </a:ext>
            </a:extLst>
          </p:cNvPr>
          <p:cNvCxnSpPr>
            <a:stCxn id="34" idx="4"/>
            <a:endCxn id="37" idx="0"/>
          </p:cNvCxnSpPr>
          <p:nvPr/>
        </p:nvCxnSpPr>
        <p:spPr>
          <a:xfrm>
            <a:off x="1114469" y="2949728"/>
            <a:ext cx="0" cy="18165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3" name="Straight Arrow Connector 42">
            <a:extLst>
              <a:ext uri="{FF2B5EF4-FFF2-40B4-BE49-F238E27FC236}">
                <a16:creationId xmlns:a16="http://schemas.microsoft.com/office/drawing/2014/main" id="{074A63FB-3309-7791-0439-C44D0E8740D7}"/>
              </a:ext>
            </a:extLst>
          </p:cNvPr>
          <p:cNvCxnSpPr>
            <a:cxnSpLocks/>
            <a:stCxn id="37" idx="4"/>
            <a:endCxn id="40" idx="0"/>
          </p:cNvCxnSpPr>
          <p:nvPr/>
        </p:nvCxnSpPr>
        <p:spPr>
          <a:xfrm flipH="1">
            <a:off x="1108200" y="3671382"/>
            <a:ext cx="6269" cy="171677"/>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nvGrpSpPr>
          <p:cNvPr id="44" name="Group 43">
            <a:extLst>
              <a:ext uri="{FF2B5EF4-FFF2-40B4-BE49-F238E27FC236}">
                <a16:creationId xmlns:a16="http://schemas.microsoft.com/office/drawing/2014/main" id="{7DBF0791-553F-307D-34E6-C95A315A0AE6}"/>
              </a:ext>
            </a:extLst>
          </p:cNvPr>
          <p:cNvGrpSpPr/>
          <p:nvPr/>
        </p:nvGrpSpPr>
        <p:grpSpPr>
          <a:xfrm>
            <a:off x="844469" y="1692045"/>
            <a:ext cx="540000" cy="540000"/>
            <a:chOff x="838200" y="1905000"/>
            <a:chExt cx="1080000" cy="1080000"/>
          </a:xfrm>
        </p:grpSpPr>
        <p:sp>
          <p:nvSpPr>
            <p:cNvPr id="45" name="Oval 44">
              <a:extLst>
                <a:ext uri="{FF2B5EF4-FFF2-40B4-BE49-F238E27FC236}">
                  <a16:creationId xmlns:a16="http://schemas.microsoft.com/office/drawing/2014/main" id="{B5AF7B60-9D35-6AD4-35D7-D6A57C4E0B5A}"/>
                </a:ext>
              </a:extLst>
            </p:cNvPr>
            <p:cNvSpPr/>
            <p:nvPr/>
          </p:nvSpPr>
          <p:spPr>
            <a:xfrm>
              <a:off x="838200" y="1905000"/>
              <a:ext cx="1080000" cy="1080000"/>
            </a:xfrm>
            <a:prstGeom prst="ellipse">
              <a:avLst/>
            </a:prstGeom>
            <a:solidFill>
              <a:schemeClr val="accent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46" name="Graphic 45" descr="Database with solid fill">
              <a:extLst>
                <a:ext uri="{FF2B5EF4-FFF2-40B4-BE49-F238E27FC236}">
                  <a16:creationId xmlns:a16="http://schemas.microsoft.com/office/drawing/2014/main" id="{0A6630BE-E20F-D135-2F16-22BD768C7995}"/>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921000" y="1987800"/>
              <a:ext cx="914400" cy="914400"/>
            </a:xfrm>
            <a:prstGeom prst="rect">
              <a:avLst/>
            </a:prstGeom>
          </p:spPr>
        </p:pic>
      </p:grpSp>
      <p:cxnSp>
        <p:nvCxnSpPr>
          <p:cNvPr id="47" name="Straight Arrow Connector 46">
            <a:extLst>
              <a:ext uri="{FF2B5EF4-FFF2-40B4-BE49-F238E27FC236}">
                <a16:creationId xmlns:a16="http://schemas.microsoft.com/office/drawing/2014/main" id="{AEA510EF-0DAA-ADA2-BD98-DD87EEA216B1}"/>
              </a:ext>
            </a:extLst>
          </p:cNvPr>
          <p:cNvCxnSpPr>
            <a:cxnSpLocks/>
            <a:stCxn id="45" idx="4"/>
            <a:endCxn id="34" idx="0"/>
          </p:cNvCxnSpPr>
          <p:nvPr/>
        </p:nvCxnSpPr>
        <p:spPr>
          <a:xfrm>
            <a:off x="1114469" y="2232045"/>
            <a:ext cx="0" cy="17768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50" name="TextBox 49">
            <a:extLst>
              <a:ext uri="{FF2B5EF4-FFF2-40B4-BE49-F238E27FC236}">
                <a16:creationId xmlns:a16="http://schemas.microsoft.com/office/drawing/2014/main" id="{EF7BE868-28F2-DF06-8678-A014E0E7AB01}"/>
              </a:ext>
            </a:extLst>
          </p:cNvPr>
          <p:cNvSpPr txBox="1"/>
          <p:nvPr/>
        </p:nvSpPr>
        <p:spPr>
          <a:xfrm>
            <a:off x="1432842" y="2451128"/>
            <a:ext cx="1486304" cy="461665"/>
          </a:xfrm>
          <a:prstGeom prst="rect">
            <a:avLst/>
          </a:prstGeom>
          <a:noFill/>
        </p:spPr>
        <p:txBody>
          <a:bodyPr wrap="none" rtlCol="0">
            <a:spAutoFit/>
          </a:bodyPr>
          <a:lstStyle/>
          <a:p>
            <a:r>
              <a:rPr lang="en-US" sz="2400" noProof="0" dirty="0"/>
              <a:t>Modelling</a:t>
            </a:r>
            <a:endParaRPr lang="en-US" noProof="0" dirty="0"/>
          </a:p>
        </p:txBody>
      </p:sp>
      <p:sp>
        <p:nvSpPr>
          <p:cNvPr id="51" name="TextBox 50">
            <a:extLst>
              <a:ext uri="{FF2B5EF4-FFF2-40B4-BE49-F238E27FC236}">
                <a16:creationId xmlns:a16="http://schemas.microsoft.com/office/drawing/2014/main" id="{0F8A8FA9-EC40-78BD-69B9-D63990AEC07E}"/>
              </a:ext>
            </a:extLst>
          </p:cNvPr>
          <p:cNvSpPr txBox="1"/>
          <p:nvPr/>
        </p:nvSpPr>
        <p:spPr>
          <a:xfrm>
            <a:off x="1439923" y="3170549"/>
            <a:ext cx="1943481" cy="461665"/>
          </a:xfrm>
          <a:prstGeom prst="rect">
            <a:avLst/>
          </a:prstGeom>
          <a:noFill/>
        </p:spPr>
        <p:txBody>
          <a:bodyPr wrap="none" rtlCol="0">
            <a:spAutoFit/>
          </a:bodyPr>
          <a:lstStyle/>
          <a:p>
            <a:r>
              <a:rPr lang="en-US" sz="2400" noProof="0" dirty="0"/>
              <a:t>Identification</a:t>
            </a:r>
            <a:endParaRPr lang="en-US" noProof="0" dirty="0"/>
          </a:p>
        </p:txBody>
      </p:sp>
      <p:sp>
        <p:nvSpPr>
          <p:cNvPr id="52" name="TextBox 51">
            <a:extLst>
              <a:ext uri="{FF2B5EF4-FFF2-40B4-BE49-F238E27FC236}">
                <a16:creationId xmlns:a16="http://schemas.microsoft.com/office/drawing/2014/main" id="{9CF416BC-E98C-1843-1532-B6C70A40D672}"/>
              </a:ext>
            </a:extLst>
          </p:cNvPr>
          <p:cNvSpPr txBox="1"/>
          <p:nvPr/>
        </p:nvSpPr>
        <p:spPr>
          <a:xfrm>
            <a:off x="1439923" y="3878762"/>
            <a:ext cx="1613262" cy="461665"/>
          </a:xfrm>
          <a:prstGeom prst="rect">
            <a:avLst/>
          </a:prstGeom>
          <a:noFill/>
        </p:spPr>
        <p:txBody>
          <a:bodyPr wrap="none" rtlCol="0">
            <a:spAutoFit/>
          </a:bodyPr>
          <a:lstStyle/>
          <a:p>
            <a:r>
              <a:rPr lang="en-US" sz="2400" noProof="0" dirty="0"/>
              <a:t>Estimation</a:t>
            </a:r>
            <a:endParaRPr lang="en-US" noProof="0" dirty="0"/>
          </a:p>
        </p:txBody>
      </p:sp>
      <p:sp>
        <p:nvSpPr>
          <p:cNvPr id="53" name="TextBox 52">
            <a:extLst>
              <a:ext uri="{FF2B5EF4-FFF2-40B4-BE49-F238E27FC236}">
                <a16:creationId xmlns:a16="http://schemas.microsoft.com/office/drawing/2014/main" id="{052BF937-6BA6-DDFC-EAC9-EE859AFE3ADD}"/>
              </a:ext>
            </a:extLst>
          </p:cNvPr>
          <p:cNvSpPr txBox="1"/>
          <p:nvPr/>
        </p:nvSpPr>
        <p:spPr>
          <a:xfrm>
            <a:off x="1439923" y="1721554"/>
            <a:ext cx="2261132" cy="461665"/>
          </a:xfrm>
          <a:prstGeom prst="rect">
            <a:avLst/>
          </a:prstGeom>
          <a:noFill/>
        </p:spPr>
        <p:txBody>
          <a:bodyPr wrap="none" rtlCol="0">
            <a:spAutoFit/>
          </a:bodyPr>
          <a:lstStyle/>
          <a:p>
            <a:r>
              <a:rPr lang="en-US" sz="2400" noProof="0" dirty="0"/>
              <a:t>Data Collection</a:t>
            </a:r>
            <a:endParaRPr lang="en-US" noProof="0" dirty="0"/>
          </a:p>
        </p:txBody>
      </p:sp>
      <p:sp>
        <p:nvSpPr>
          <p:cNvPr id="17" name="Oval 16">
            <a:extLst>
              <a:ext uri="{FF2B5EF4-FFF2-40B4-BE49-F238E27FC236}">
                <a16:creationId xmlns:a16="http://schemas.microsoft.com/office/drawing/2014/main" id="{755EB22E-876B-3BCF-0DF1-D0787B5DBD77}"/>
              </a:ext>
            </a:extLst>
          </p:cNvPr>
          <p:cNvSpPr/>
          <p:nvPr/>
        </p:nvSpPr>
        <p:spPr>
          <a:xfrm>
            <a:off x="6458873" y="3479501"/>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dirty="0"/>
              <a:t>x</a:t>
            </a:r>
          </a:p>
        </p:txBody>
      </p:sp>
      <p:sp>
        <p:nvSpPr>
          <p:cNvPr id="20" name="Oval 19">
            <a:extLst>
              <a:ext uri="{FF2B5EF4-FFF2-40B4-BE49-F238E27FC236}">
                <a16:creationId xmlns:a16="http://schemas.microsoft.com/office/drawing/2014/main" id="{C2D4E3AD-340C-F387-6574-57431268A5DB}"/>
              </a:ext>
            </a:extLst>
          </p:cNvPr>
          <p:cNvSpPr/>
          <p:nvPr/>
        </p:nvSpPr>
        <p:spPr>
          <a:xfrm>
            <a:off x="7892286" y="3479501"/>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dirty="0"/>
              <a:t>y</a:t>
            </a:r>
          </a:p>
        </p:txBody>
      </p:sp>
      <p:cxnSp>
        <p:nvCxnSpPr>
          <p:cNvPr id="21" name="Straight Arrow Connector 20">
            <a:extLst>
              <a:ext uri="{FF2B5EF4-FFF2-40B4-BE49-F238E27FC236}">
                <a16:creationId xmlns:a16="http://schemas.microsoft.com/office/drawing/2014/main" id="{0EDA9761-9E80-8040-3483-56FD175FE4FF}"/>
              </a:ext>
            </a:extLst>
          </p:cNvPr>
          <p:cNvCxnSpPr>
            <a:stCxn id="17" idx="6"/>
            <a:endCxn id="20" idx="2"/>
          </p:cNvCxnSpPr>
          <p:nvPr/>
        </p:nvCxnSpPr>
        <p:spPr>
          <a:xfrm>
            <a:off x="6818873" y="3659501"/>
            <a:ext cx="1073413"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aphicFrame>
        <p:nvGraphicFramePr>
          <p:cNvPr id="49" name="Table 48">
            <a:extLst>
              <a:ext uri="{FF2B5EF4-FFF2-40B4-BE49-F238E27FC236}">
                <a16:creationId xmlns:a16="http://schemas.microsoft.com/office/drawing/2014/main" id="{7E6F0DF1-AFD6-19C9-9E92-0A4B8E485618}"/>
              </a:ext>
            </a:extLst>
          </p:cNvPr>
          <p:cNvGraphicFramePr>
            <a:graphicFrameLocks noGrp="1"/>
          </p:cNvGraphicFramePr>
          <p:nvPr/>
        </p:nvGraphicFramePr>
        <p:xfrm>
          <a:off x="9138812" y="2614326"/>
          <a:ext cx="1003300" cy="1828800"/>
        </p:xfrm>
        <a:graphic>
          <a:graphicData uri="http://schemas.openxmlformats.org/drawingml/2006/table">
            <a:tbl>
              <a:tblPr firstRow="1" bandRow="1">
                <a:tableStyleId>{5C22544A-7EE6-4342-B048-85BDC9FD1C3A}</a:tableStyleId>
              </a:tblPr>
              <a:tblGrid>
                <a:gridCol w="501650">
                  <a:extLst>
                    <a:ext uri="{9D8B030D-6E8A-4147-A177-3AD203B41FA5}">
                      <a16:colId xmlns:a16="http://schemas.microsoft.com/office/drawing/2014/main" val="421997289"/>
                    </a:ext>
                  </a:extLst>
                </a:gridCol>
                <a:gridCol w="501650">
                  <a:extLst>
                    <a:ext uri="{9D8B030D-6E8A-4147-A177-3AD203B41FA5}">
                      <a16:colId xmlns:a16="http://schemas.microsoft.com/office/drawing/2014/main" val="794981153"/>
                    </a:ext>
                  </a:extLst>
                </a:gridCol>
              </a:tblGrid>
              <a:tr h="0">
                <a:tc>
                  <a:txBody>
                    <a:bodyPr/>
                    <a:lstStyle/>
                    <a:p>
                      <a:r>
                        <a:rPr lang="en-US" noProof="0" dirty="0"/>
                        <a:t>x</a:t>
                      </a:r>
                    </a:p>
                  </a:txBody>
                  <a:tcPr>
                    <a:solidFill>
                      <a:srgbClr val="F8766D"/>
                    </a:solidFill>
                  </a:tcPr>
                </a:tc>
                <a:tc>
                  <a:txBody>
                    <a:bodyPr/>
                    <a:lstStyle/>
                    <a:p>
                      <a:r>
                        <a:rPr lang="en-US" noProof="0" dirty="0"/>
                        <a:t>y</a:t>
                      </a:r>
                    </a:p>
                  </a:txBody>
                  <a:tcPr>
                    <a:solidFill>
                      <a:srgbClr val="00BFC4"/>
                    </a:solidFill>
                  </a:tcPr>
                </a:tc>
                <a:extLst>
                  <a:ext uri="{0D108BD9-81ED-4DB2-BD59-A6C34878D82A}">
                    <a16:rowId xmlns:a16="http://schemas.microsoft.com/office/drawing/2014/main" val="1542626891"/>
                  </a:ext>
                </a:extLst>
              </a:tr>
              <a:tr h="0">
                <a:tc>
                  <a:txBody>
                    <a:bodyPr/>
                    <a:lstStyle/>
                    <a:p>
                      <a:endParaRPr lang="en-US" noProof="0" dirty="0"/>
                    </a:p>
                  </a:txBody>
                  <a:tcPr/>
                </a:tc>
                <a:tc>
                  <a:txBody>
                    <a:bodyPr/>
                    <a:lstStyle/>
                    <a:p>
                      <a:endParaRPr lang="en-US" noProof="0" dirty="0"/>
                    </a:p>
                  </a:txBody>
                  <a:tcPr>
                    <a:solidFill>
                      <a:schemeClr val="accent3">
                        <a:lumMod val="40000"/>
                        <a:lumOff val="60000"/>
                      </a:schemeClr>
                    </a:solidFill>
                  </a:tcPr>
                </a:tc>
                <a:extLst>
                  <a:ext uri="{0D108BD9-81ED-4DB2-BD59-A6C34878D82A}">
                    <a16:rowId xmlns:a16="http://schemas.microsoft.com/office/drawing/2014/main" val="853162634"/>
                  </a:ext>
                </a:extLst>
              </a:tr>
              <a:tr h="0">
                <a:tc>
                  <a:txBody>
                    <a:bodyPr/>
                    <a:lstStyle/>
                    <a:p>
                      <a:endParaRPr lang="en-US" noProof="0" dirty="0"/>
                    </a:p>
                  </a:txBody>
                  <a:tcPr/>
                </a:tc>
                <a:tc>
                  <a:txBody>
                    <a:bodyPr/>
                    <a:lstStyle/>
                    <a:p>
                      <a:endParaRPr lang="en-US" noProof="0" dirty="0"/>
                    </a:p>
                  </a:txBody>
                  <a:tcPr>
                    <a:solidFill>
                      <a:schemeClr val="accent3">
                        <a:lumMod val="20000"/>
                        <a:lumOff val="80000"/>
                      </a:schemeClr>
                    </a:solidFill>
                  </a:tcPr>
                </a:tc>
                <a:extLst>
                  <a:ext uri="{0D108BD9-81ED-4DB2-BD59-A6C34878D82A}">
                    <a16:rowId xmlns:a16="http://schemas.microsoft.com/office/drawing/2014/main" val="3084250803"/>
                  </a:ext>
                </a:extLst>
              </a:tr>
              <a:tr h="0">
                <a:tc>
                  <a:txBody>
                    <a:bodyPr/>
                    <a:lstStyle/>
                    <a:p>
                      <a:endParaRPr lang="en-US" noProof="0" dirty="0"/>
                    </a:p>
                  </a:txBody>
                  <a:tcPr/>
                </a:tc>
                <a:tc>
                  <a:txBody>
                    <a:bodyPr/>
                    <a:lstStyle/>
                    <a:p>
                      <a:endParaRPr lang="en-US" noProof="0" dirty="0"/>
                    </a:p>
                  </a:txBody>
                  <a:tcPr>
                    <a:solidFill>
                      <a:schemeClr val="accent3">
                        <a:lumMod val="40000"/>
                        <a:lumOff val="60000"/>
                      </a:schemeClr>
                    </a:solidFill>
                  </a:tcPr>
                </a:tc>
                <a:extLst>
                  <a:ext uri="{0D108BD9-81ED-4DB2-BD59-A6C34878D82A}">
                    <a16:rowId xmlns:a16="http://schemas.microsoft.com/office/drawing/2014/main" val="3356807227"/>
                  </a:ext>
                </a:extLst>
              </a:tr>
              <a:tr h="0">
                <a:tc>
                  <a:txBody>
                    <a:bodyPr/>
                    <a:lstStyle/>
                    <a:p>
                      <a:endParaRPr lang="en-US" noProof="0" dirty="0"/>
                    </a:p>
                  </a:txBody>
                  <a:tcPr/>
                </a:tc>
                <a:tc>
                  <a:txBody>
                    <a:bodyPr/>
                    <a:lstStyle/>
                    <a:p>
                      <a:endParaRPr lang="en-US" noProof="0" dirty="0"/>
                    </a:p>
                  </a:txBody>
                  <a:tcPr>
                    <a:solidFill>
                      <a:schemeClr val="accent3">
                        <a:lumMod val="20000"/>
                        <a:lumOff val="80000"/>
                      </a:schemeClr>
                    </a:solidFill>
                  </a:tcPr>
                </a:tc>
                <a:extLst>
                  <a:ext uri="{0D108BD9-81ED-4DB2-BD59-A6C34878D82A}">
                    <a16:rowId xmlns:a16="http://schemas.microsoft.com/office/drawing/2014/main" val="143162048"/>
                  </a:ext>
                </a:extLst>
              </a:tr>
            </a:tbl>
          </a:graphicData>
        </a:graphic>
      </p:graphicFrame>
      <p:sp>
        <p:nvSpPr>
          <p:cNvPr id="54" name="TextBox 53">
            <a:extLst>
              <a:ext uri="{FF2B5EF4-FFF2-40B4-BE49-F238E27FC236}">
                <a16:creationId xmlns:a16="http://schemas.microsoft.com/office/drawing/2014/main" id="{BD88F371-6ED2-DE9A-10BF-91214773B1B1}"/>
              </a:ext>
            </a:extLst>
          </p:cNvPr>
          <p:cNvSpPr txBox="1"/>
          <p:nvPr/>
        </p:nvSpPr>
        <p:spPr>
          <a:xfrm>
            <a:off x="6430963" y="1690601"/>
            <a:ext cx="1849224" cy="400110"/>
          </a:xfrm>
          <a:prstGeom prst="rect">
            <a:avLst/>
          </a:prstGeom>
          <a:noFill/>
        </p:spPr>
        <p:txBody>
          <a:bodyPr wrap="none" rtlCol="0">
            <a:spAutoFit/>
          </a:bodyPr>
          <a:lstStyle/>
          <a:p>
            <a:r>
              <a:rPr lang="en-US" sz="2000" b="1" noProof="0" dirty="0"/>
              <a:t>Assumed DAG</a:t>
            </a:r>
          </a:p>
        </p:txBody>
      </p:sp>
      <p:sp>
        <p:nvSpPr>
          <p:cNvPr id="55" name="TextBox 54">
            <a:extLst>
              <a:ext uri="{FF2B5EF4-FFF2-40B4-BE49-F238E27FC236}">
                <a16:creationId xmlns:a16="http://schemas.microsoft.com/office/drawing/2014/main" id="{15D46008-754B-DBBE-710A-EDCB69FF3AEC}"/>
              </a:ext>
            </a:extLst>
          </p:cNvPr>
          <p:cNvSpPr txBox="1"/>
          <p:nvPr/>
        </p:nvSpPr>
        <p:spPr>
          <a:xfrm>
            <a:off x="9174219" y="1690601"/>
            <a:ext cx="1935786" cy="400110"/>
          </a:xfrm>
          <a:prstGeom prst="rect">
            <a:avLst/>
          </a:prstGeom>
          <a:noFill/>
        </p:spPr>
        <p:txBody>
          <a:bodyPr wrap="none" rtlCol="0">
            <a:spAutoFit/>
          </a:bodyPr>
          <a:lstStyle/>
          <a:p>
            <a:r>
              <a:rPr lang="en-US" sz="2000" b="1" noProof="0" dirty="0"/>
              <a:t>Collected Data</a:t>
            </a:r>
          </a:p>
        </p:txBody>
      </p:sp>
    </p:spTree>
    <p:extLst>
      <p:ext uri="{BB962C8B-B14F-4D97-AF65-F5344CB8AC3E}">
        <p14:creationId xmlns:p14="http://schemas.microsoft.com/office/powerpoint/2010/main" val="19551005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build="p"/>
      <p:bldP spid="53" grpId="0"/>
      <p:bldP spid="17" grpId="0" animBg="1"/>
      <p:bldP spid="20" grpId="0" animBg="1"/>
      <p:bldP spid="54" grpId="0"/>
      <p:bldP spid="55"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026055-3BE4-B054-88CD-25384E83AE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8B423E-8187-0A59-57CF-795C580765B5}"/>
              </a:ext>
            </a:extLst>
          </p:cNvPr>
          <p:cNvSpPr>
            <a:spLocks noGrp="1"/>
          </p:cNvSpPr>
          <p:nvPr>
            <p:ph type="title"/>
          </p:nvPr>
        </p:nvSpPr>
        <p:spPr/>
        <p:txBody>
          <a:bodyPr/>
          <a:lstStyle/>
          <a:p>
            <a:r>
              <a:rPr lang="en-US" noProof="0" dirty="0"/>
              <a:t>Scientific Workflow: Traditional</a:t>
            </a:r>
          </a:p>
        </p:txBody>
      </p:sp>
      <p:sp>
        <p:nvSpPr>
          <p:cNvPr id="4" name="Date Placeholder 3">
            <a:extLst>
              <a:ext uri="{FF2B5EF4-FFF2-40B4-BE49-F238E27FC236}">
                <a16:creationId xmlns:a16="http://schemas.microsoft.com/office/drawing/2014/main" id="{CCB7B1A1-9921-23E5-0276-1644FA456F1F}"/>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8820CEAB-63D6-33BE-4E0F-467B4D0B386E}"/>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10A0FB60-0576-373A-B0A4-9CD4A3B09623}"/>
              </a:ext>
            </a:extLst>
          </p:cNvPr>
          <p:cNvSpPr>
            <a:spLocks noGrp="1"/>
          </p:cNvSpPr>
          <p:nvPr>
            <p:ph type="sldNum" sz="quarter" idx="12"/>
          </p:nvPr>
        </p:nvSpPr>
        <p:spPr/>
        <p:txBody>
          <a:bodyPr/>
          <a:lstStyle/>
          <a:p>
            <a:fld id="{0FA2D919-C0DE-4971-A2E9-D4AC0031921B}" type="slidenum">
              <a:rPr lang="en-US" noProof="0" smtClean="0"/>
              <a:t>50</a:t>
            </a:fld>
            <a:endParaRPr lang="en-US" noProof="0" dirty="0"/>
          </a:p>
        </p:txBody>
      </p:sp>
      <p:grpSp>
        <p:nvGrpSpPr>
          <p:cNvPr id="33" name="Group 32">
            <a:extLst>
              <a:ext uri="{FF2B5EF4-FFF2-40B4-BE49-F238E27FC236}">
                <a16:creationId xmlns:a16="http://schemas.microsoft.com/office/drawing/2014/main" id="{DD5D0A07-F8FA-B15F-DC6B-80AB2CC8EC76}"/>
              </a:ext>
            </a:extLst>
          </p:cNvPr>
          <p:cNvGrpSpPr/>
          <p:nvPr/>
        </p:nvGrpSpPr>
        <p:grpSpPr>
          <a:xfrm>
            <a:off x="844469" y="2409728"/>
            <a:ext cx="540000" cy="540000"/>
            <a:chOff x="838200" y="1905000"/>
            <a:chExt cx="1080000" cy="1080000"/>
          </a:xfrm>
        </p:grpSpPr>
        <p:sp>
          <p:nvSpPr>
            <p:cNvPr id="34" name="Oval 33">
              <a:extLst>
                <a:ext uri="{FF2B5EF4-FFF2-40B4-BE49-F238E27FC236}">
                  <a16:creationId xmlns:a16="http://schemas.microsoft.com/office/drawing/2014/main" id="{03440D40-1419-AE0C-D708-43D956DB0D93}"/>
                </a:ext>
              </a:extLst>
            </p:cNvPr>
            <p:cNvSpPr/>
            <p:nvPr/>
          </p:nvSpPr>
          <p:spPr>
            <a:xfrm>
              <a:off x="838200" y="1905000"/>
              <a:ext cx="1080000" cy="1080000"/>
            </a:xfrm>
            <a:prstGeom prst="ellipse">
              <a:avLst/>
            </a:prstGeom>
            <a:solidFill>
              <a:schemeClr val="tx2"/>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35" name="Graphic 34" descr="Influencer with solid fill">
              <a:extLst>
                <a:ext uri="{FF2B5EF4-FFF2-40B4-BE49-F238E27FC236}">
                  <a16:creationId xmlns:a16="http://schemas.microsoft.com/office/drawing/2014/main" id="{6CA808BD-431B-7A91-9EB5-EB997EAFD43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21000" y="1987800"/>
              <a:ext cx="914400" cy="914400"/>
            </a:xfrm>
            <a:prstGeom prst="rect">
              <a:avLst/>
            </a:prstGeom>
          </p:spPr>
        </p:pic>
      </p:grpSp>
      <p:grpSp>
        <p:nvGrpSpPr>
          <p:cNvPr id="36" name="Group 35">
            <a:extLst>
              <a:ext uri="{FF2B5EF4-FFF2-40B4-BE49-F238E27FC236}">
                <a16:creationId xmlns:a16="http://schemas.microsoft.com/office/drawing/2014/main" id="{79CE7D86-24F0-C16F-F25D-46604BF51FCD}"/>
              </a:ext>
            </a:extLst>
          </p:cNvPr>
          <p:cNvGrpSpPr/>
          <p:nvPr/>
        </p:nvGrpSpPr>
        <p:grpSpPr>
          <a:xfrm>
            <a:off x="844469" y="3131382"/>
            <a:ext cx="540000" cy="540000"/>
            <a:chOff x="838200" y="1905000"/>
            <a:chExt cx="1080000" cy="1080000"/>
          </a:xfrm>
        </p:grpSpPr>
        <p:sp>
          <p:nvSpPr>
            <p:cNvPr id="37" name="Oval 36">
              <a:extLst>
                <a:ext uri="{FF2B5EF4-FFF2-40B4-BE49-F238E27FC236}">
                  <a16:creationId xmlns:a16="http://schemas.microsoft.com/office/drawing/2014/main" id="{A453F834-E6A4-4E7F-58EE-7FF59B96FFF0}"/>
                </a:ext>
              </a:extLst>
            </p:cNvPr>
            <p:cNvSpPr/>
            <p:nvPr/>
          </p:nvSpPr>
          <p:spPr>
            <a:xfrm>
              <a:off x="838200" y="1905000"/>
              <a:ext cx="1080000" cy="1080000"/>
            </a:xfrm>
            <a:prstGeom prst="ellipse">
              <a:avLst/>
            </a:prstGeom>
            <a:solidFill>
              <a:schemeClr val="tx2">
                <a:lumMod val="90000"/>
                <a:lumOff val="1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38" name="Graphic 37" descr="Magnifying glass with solid fill">
              <a:extLst>
                <a:ext uri="{FF2B5EF4-FFF2-40B4-BE49-F238E27FC236}">
                  <a16:creationId xmlns:a16="http://schemas.microsoft.com/office/drawing/2014/main" id="{E37D6469-4982-2224-8CAD-5ABD1E6185F8}"/>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921000" y="1987800"/>
              <a:ext cx="914400" cy="914400"/>
            </a:xfrm>
            <a:prstGeom prst="rect">
              <a:avLst/>
            </a:prstGeom>
          </p:spPr>
        </p:pic>
      </p:grpSp>
      <p:grpSp>
        <p:nvGrpSpPr>
          <p:cNvPr id="39" name="Group 38">
            <a:extLst>
              <a:ext uri="{FF2B5EF4-FFF2-40B4-BE49-F238E27FC236}">
                <a16:creationId xmlns:a16="http://schemas.microsoft.com/office/drawing/2014/main" id="{69DCDBAE-48D7-6D70-A6B2-6A20BBF5C511}"/>
              </a:ext>
            </a:extLst>
          </p:cNvPr>
          <p:cNvGrpSpPr/>
          <p:nvPr/>
        </p:nvGrpSpPr>
        <p:grpSpPr>
          <a:xfrm>
            <a:off x="838200" y="3843059"/>
            <a:ext cx="540000" cy="540000"/>
            <a:chOff x="838200" y="1905000"/>
            <a:chExt cx="1080000" cy="1080000"/>
          </a:xfrm>
        </p:grpSpPr>
        <p:sp>
          <p:nvSpPr>
            <p:cNvPr id="40" name="Oval 39">
              <a:extLst>
                <a:ext uri="{FF2B5EF4-FFF2-40B4-BE49-F238E27FC236}">
                  <a16:creationId xmlns:a16="http://schemas.microsoft.com/office/drawing/2014/main" id="{7D84967D-9457-E53C-E8F7-2A8F37FD9E3F}"/>
                </a:ext>
              </a:extLst>
            </p:cNvPr>
            <p:cNvSpPr/>
            <p:nvPr/>
          </p:nvSpPr>
          <p:spPr>
            <a:xfrm>
              <a:off x="838200" y="1905000"/>
              <a:ext cx="1080000" cy="1080000"/>
            </a:xfrm>
            <a:prstGeom prst="ellipse">
              <a:avLst/>
            </a:prstGeom>
            <a:solidFill>
              <a:schemeClr val="tx2">
                <a:lumMod val="75000"/>
                <a:lumOff val="2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41" name="Graphic 40" descr="Normal Distribution with solid fill">
              <a:extLst>
                <a:ext uri="{FF2B5EF4-FFF2-40B4-BE49-F238E27FC236}">
                  <a16:creationId xmlns:a16="http://schemas.microsoft.com/office/drawing/2014/main" id="{A86B7CD5-87E1-C950-79EC-EEA601EA0F47}"/>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921000" y="1987800"/>
              <a:ext cx="914400" cy="914400"/>
            </a:xfrm>
            <a:prstGeom prst="rect">
              <a:avLst/>
            </a:prstGeom>
          </p:spPr>
        </p:pic>
      </p:grpSp>
      <p:cxnSp>
        <p:nvCxnSpPr>
          <p:cNvPr id="42" name="Straight Arrow Connector 41">
            <a:extLst>
              <a:ext uri="{FF2B5EF4-FFF2-40B4-BE49-F238E27FC236}">
                <a16:creationId xmlns:a16="http://schemas.microsoft.com/office/drawing/2014/main" id="{A80AF428-F404-ECBC-CE55-8037CDD53DB7}"/>
              </a:ext>
            </a:extLst>
          </p:cNvPr>
          <p:cNvCxnSpPr>
            <a:stCxn id="34" idx="4"/>
            <a:endCxn id="37" idx="0"/>
          </p:cNvCxnSpPr>
          <p:nvPr/>
        </p:nvCxnSpPr>
        <p:spPr>
          <a:xfrm>
            <a:off x="1114469" y="2949728"/>
            <a:ext cx="0" cy="18165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3" name="Straight Arrow Connector 42">
            <a:extLst>
              <a:ext uri="{FF2B5EF4-FFF2-40B4-BE49-F238E27FC236}">
                <a16:creationId xmlns:a16="http://schemas.microsoft.com/office/drawing/2014/main" id="{8516152A-9ACA-B8F9-6406-58EF2B4C4B37}"/>
              </a:ext>
            </a:extLst>
          </p:cNvPr>
          <p:cNvCxnSpPr>
            <a:cxnSpLocks/>
            <a:stCxn id="37" idx="4"/>
            <a:endCxn id="40" idx="0"/>
          </p:cNvCxnSpPr>
          <p:nvPr/>
        </p:nvCxnSpPr>
        <p:spPr>
          <a:xfrm flipH="1">
            <a:off x="1108200" y="3671382"/>
            <a:ext cx="6269" cy="171677"/>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nvGrpSpPr>
          <p:cNvPr id="44" name="Group 43">
            <a:extLst>
              <a:ext uri="{FF2B5EF4-FFF2-40B4-BE49-F238E27FC236}">
                <a16:creationId xmlns:a16="http://schemas.microsoft.com/office/drawing/2014/main" id="{839FBD59-C66C-C235-123B-80BCC78A49E6}"/>
              </a:ext>
            </a:extLst>
          </p:cNvPr>
          <p:cNvGrpSpPr/>
          <p:nvPr/>
        </p:nvGrpSpPr>
        <p:grpSpPr>
          <a:xfrm>
            <a:off x="844469" y="1692045"/>
            <a:ext cx="540000" cy="540000"/>
            <a:chOff x="838200" y="1905000"/>
            <a:chExt cx="1080000" cy="1080000"/>
          </a:xfrm>
        </p:grpSpPr>
        <p:sp>
          <p:nvSpPr>
            <p:cNvPr id="45" name="Oval 44">
              <a:extLst>
                <a:ext uri="{FF2B5EF4-FFF2-40B4-BE49-F238E27FC236}">
                  <a16:creationId xmlns:a16="http://schemas.microsoft.com/office/drawing/2014/main" id="{C121099D-F83A-7A49-D1E0-6F0126AD0AF2}"/>
                </a:ext>
              </a:extLst>
            </p:cNvPr>
            <p:cNvSpPr/>
            <p:nvPr/>
          </p:nvSpPr>
          <p:spPr>
            <a:xfrm>
              <a:off x="838200" y="1905000"/>
              <a:ext cx="1080000" cy="1080000"/>
            </a:xfrm>
            <a:prstGeom prst="ellipse">
              <a:avLst/>
            </a:prstGeom>
            <a:solidFill>
              <a:schemeClr val="accent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46" name="Graphic 45" descr="Database with solid fill">
              <a:extLst>
                <a:ext uri="{FF2B5EF4-FFF2-40B4-BE49-F238E27FC236}">
                  <a16:creationId xmlns:a16="http://schemas.microsoft.com/office/drawing/2014/main" id="{071DFB55-0C69-8394-80B7-E2ADF93A251B}"/>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921000" y="1987800"/>
              <a:ext cx="914400" cy="914400"/>
            </a:xfrm>
            <a:prstGeom prst="rect">
              <a:avLst/>
            </a:prstGeom>
          </p:spPr>
        </p:pic>
      </p:grpSp>
      <p:cxnSp>
        <p:nvCxnSpPr>
          <p:cNvPr id="47" name="Straight Arrow Connector 46">
            <a:extLst>
              <a:ext uri="{FF2B5EF4-FFF2-40B4-BE49-F238E27FC236}">
                <a16:creationId xmlns:a16="http://schemas.microsoft.com/office/drawing/2014/main" id="{D34A0723-1802-111A-9BD9-3732EA035BBC}"/>
              </a:ext>
            </a:extLst>
          </p:cNvPr>
          <p:cNvCxnSpPr>
            <a:cxnSpLocks/>
            <a:stCxn id="45" idx="4"/>
            <a:endCxn id="34" idx="0"/>
          </p:cNvCxnSpPr>
          <p:nvPr/>
        </p:nvCxnSpPr>
        <p:spPr>
          <a:xfrm>
            <a:off x="1114469" y="2232045"/>
            <a:ext cx="0" cy="17768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50" name="TextBox 49">
            <a:extLst>
              <a:ext uri="{FF2B5EF4-FFF2-40B4-BE49-F238E27FC236}">
                <a16:creationId xmlns:a16="http://schemas.microsoft.com/office/drawing/2014/main" id="{CE313C3D-42D2-3A74-DA12-FFF0E2931DDA}"/>
              </a:ext>
            </a:extLst>
          </p:cNvPr>
          <p:cNvSpPr txBox="1"/>
          <p:nvPr/>
        </p:nvSpPr>
        <p:spPr>
          <a:xfrm>
            <a:off x="1432842" y="2451128"/>
            <a:ext cx="1486304" cy="461665"/>
          </a:xfrm>
          <a:prstGeom prst="rect">
            <a:avLst/>
          </a:prstGeom>
          <a:noFill/>
        </p:spPr>
        <p:txBody>
          <a:bodyPr wrap="none" rtlCol="0">
            <a:spAutoFit/>
          </a:bodyPr>
          <a:lstStyle/>
          <a:p>
            <a:r>
              <a:rPr lang="en-US" sz="2400" noProof="0" dirty="0"/>
              <a:t>Modelling</a:t>
            </a:r>
            <a:endParaRPr lang="en-US" noProof="0" dirty="0"/>
          </a:p>
        </p:txBody>
      </p:sp>
      <p:sp>
        <p:nvSpPr>
          <p:cNvPr id="51" name="TextBox 50">
            <a:extLst>
              <a:ext uri="{FF2B5EF4-FFF2-40B4-BE49-F238E27FC236}">
                <a16:creationId xmlns:a16="http://schemas.microsoft.com/office/drawing/2014/main" id="{FB92D0BE-EEF8-85F7-9E44-C3804BFDC758}"/>
              </a:ext>
            </a:extLst>
          </p:cNvPr>
          <p:cNvSpPr txBox="1"/>
          <p:nvPr/>
        </p:nvSpPr>
        <p:spPr>
          <a:xfrm>
            <a:off x="1439923" y="3170549"/>
            <a:ext cx="1943481" cy="461665"/>
          </a:xfrm>
          <a:prstGeom prst="rect">
            <a:avLst/>
          </a:prstGeom>
          <a:noFill/>
        </p:spPr>
        <p:txBody>
          <a:bodyPr wrap="none" rtlCol="0">
            <a:spAutoFit/>
          </a:bodyPr>
          <a:lstStyle/>
          <a:p>
            <a:r>
              <a:rPr lang="en-US" sz="2400" noProof="0" dirty="0"/>
              <a:t>Identification</a:t>
            </a:r>
            <a:endParaRPr lang="en-US" noProof="0" dirty="0"/>
          </a:p>
        </p:txBody>
      </p:sp>
      <p:sp>
        <p:nvSpPr>
          <p:cNvPr id="52" name="TextBox 51">
            <a:extLst>
              <a:ext uri="{FF2B5EF4-FFF2-40B4-BE49-F238E27FC236}">
                <a16:creationId xmlns:a16="http://schemas.microsoft.com/office/drawing/2014/main" id="{6BE574E6-B710-0F84-05D0-DE0ABB86A1FC}"/>
              </a:ext>
            </a:extLst>
          </p:cNvPr>
          <p:cNvSpPr txBox="1"/>
          <p:nvPr/>
        </p:nvSpPr>
        <p:spPr>
          <a:xfrm>
            <a:off x="1439923" y="3878762"/>
            <a:ext cx="1613262" cy="461665"/>
          </a:xfrm>
          <a:prstGeom prst="rect">
            <a:avLst/>
          </a:prstGeom>
          <a:noFill/>
        </p:spPr>
        <p:txBody>
          <a:bodyPr wrap="none" rtlCol="0">
            <a:spAutoFit/>
          </a:bodyPr>
          <a:lstStyle/>
          <a:p>
            <a:r>
              <a:rPr lang="en-US" sz="2400" noProof="0" dirty="0"/>
              <a:t>Estimation</a:t>
            </a:r>
            <a:endParaRPr lang="en-US" noProof="0" dirty="0"/>
          </a:p>
        </p:txBody>
      </p:sp>
      <p:sp>
        <p:nvSpPr>
          <p:cNvPr id="53" name="TextBox 52">
            <a:extLst>
              <a:ext uri="{FF2B5EF4-FFF2-40B4-BE49-F238E27FC236}">
                <a16:creationId xmlns:a16="http://schemas.microsoft.com/office/drawing/2014/main" id="{2C2347F3-D97F-4606-70C3-6F7F7674B52B}"/>
              </a:ext>
            </a:extLst>
          </p:cNvPr>
          <p:cNvSpPr txBox="1"/>
          <p:nvPr/>
        </p:nvSpPr>
        <p:spPr>
          <a:xfrm>
            <a:off x="1439923" y="1721554"/>
            <a:ext cx="2261132" cy="461665"/>
          </a:xfrm>
          <a:prstGeom prst="rect">
            <a:avLst/>
          </a:prstGeom>
          <a:noFill/>
        </p:spPr>
        <p:txBody>
          <a:bodyPr wrap="none" rtlCol="0">
            <a:spAutoFit/>
          </a:bodyPr>
          <a:lstStyle/>
          <a:p>
            <a:r>
              <a:rPr lang="en-US" sz="2400" noProof="0" dirty="0"/>
              <a:t>Data Collection</a:t>
            </a:r>
            <a:endParaRPr lang="en-US" noProof="0" dirty="0"/>
          </a:p>
        </p:txBody>
      </p:sp>
      <p:sp>
        <p:nvSpPr>
          <p:cNvPr id="54" name="TextBox 53">
            <a:extLst>
              <a:ext uri="{FF2B5EF4-FFF2-40B4-BE49-F238E27FC236}">
                <a16:creationId xmlns:a16="http://schemas.microsoft.com/office/drawing/2014/main" id="{7BFA7E5B-58D7-992A-D7A1-1F41282E1F65}"/>
              </a:ext>
            </a:extLst>
          </p:cNvPr>
          <p:cNvSpPr txBox="1"/>
          <p:nvPr/>
        </p:nvSpPr>
        <p:spPr>
          <a:xfrm>
            <a:off x="6430963" y="1690601"/>
            <a:ext cx="1849224" cy="400110"/>
          </a:xfrm>
          <a:prstGeom prst="rect">
            <a:avLst/>
          </a:prstGeom>
          <a:noFill/>
        </p:spPr>
        <p:txBody>
          <a:bodyPr wrap="none" rtlCol="0">
            <a:spAutoFit/>
          </a:bodyPr>
          <a:lstStyle/>
          <a:p>
            <a:r>
              <a:rPr lang="en-US" sz="2000" b="1" noProof="0" dirty="0"/>
              <a:t>Assumed DAG</a:t>
            </a:r>
          </a:p>
        </p:txBody>
      </p:sp>
      <p:sp>
        <p:nvSpPr>
          <p:cNvPr id="55" name="TextBox 54">
            <a:extLst>
              <a:ext uri="{FF2B5EF4-FFF2-40B4-BE49-F238E27FC236}">
                <a16:creationId xmlns:a16="http://schemas.microsoft.com/office/drawing/2014/main" id="{E824AB6B-3D18-B91A-71D8-88058B1D5A6F}"/>
              </a:ext>
            </a:extLst>
          </p:cNvPr>
          <p:cNvSpPr txBox="1"/>
          <p:nvPr/>
        </p:nvSpPr>
        <p:spPr>
          <a:xfrm>
            <a:off x="9174219" y="1690601"/>
            <a:ext cx="1935786" cy="400110"/>
          </a:xfrm>
          <a:prstGeom prst="rect">
            <a:avLst/>
          </a:prstGeom>
          <a:noFill/>
        </p:spPr>
        <p:txBody>
          <a:bodyPr wrap="none" rtlCol="0">
            <a:spAutoFit/>
          </a:bodyPr>
          <a:lstStyle/>
          <a:p>
            <a:r>
              <a:rPr lang="en-US" sz="2000" b="1" noProof="0" dirty="0"/>
              <a:t>Collected Data</a:t>
            </a:r>
          </a:p>
        </p:txBody>
      </p:sp>
      <p:sp>
        <p:nvSpPr>
          <p:cNvPr id="3" name="Oval 2">
            <a:extLst>
              <a:ext uri="{FF2B5EF4-FFF2-40B4-BE49-F238E27FC236}">
                <a16:creationId xmlns:a16="http://schemas.microsoft.com/office/drawing/2014/main" id="{57FCFBE1-7AE7-0F36-744A-DCC5530ED53E}"/>
              </a:ext>
            </a:extLst>
          </p:cNvPr>
          <p:cNvSpPr/>
          <p:nvPr/>
        </p:nvSpPr>
        <p:spPr>
          <a:xfrm>
            <a:off x="6458873" y="3479501"/>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dirty="0"/>
              <a:t>x</a:t>
            </a:r>
          </a:p>
        </p:txBody>
      </p:sp>
      <p:sp>
        <p:nvSpPr>
          <p:cNvPr id="7" name="Oval 6">
            <a:extLst>
              <a:ext uri="{FF2B5EF4-FFF2-40B4-BE49-F238E27FC236}">
                <a16:creationId xmlns:a16="http://schemas.microsoft.com/office/drawing/2014/main" id="{1FC08E0F-80C8-ED9B-6419-CCC5605BD6A1}"/>
              </a:ext>
            </a:extLst>
          </p:cNvPr>
          <p:cNvSpPr/>
          <p:nvPr/>
        </p:nvSpPr>
        <p:spPr>
          <a:xfrm>
            <a:off x="7892286" y="3479501"/>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dirty="0"/>
              <a:t>y</a:t>
            </a:r>
          </a:p>
        </p:txBody>
      </p:sp>
      <p:cxnSp>
        <p:nvCxnSpPr>
          <p:cNvPr id="8" name="Straight Arrow Connector 7">
            <a:extLst>
              <a:ext uri="{FF2B5EF4-FFF2-40B4-BE49-F238E27FC236}">
                <a16:creationId xmlns:a16="http://schemas.microsoft.com/office/drawing/2014/main" id="{2B97687B-09C8-7361-31F0-DC2DF0E0603E}"/>
              </a:ext>
            </a:extLst>
          </p:cNvPr>
          <p:cNvCxnSpPr>
            <a:stCxn id="3" idx="6"/>
            <a:endCxn id="7" idx="2"/>
          </p:cNvCxnSpPr>
          <p:nvPr/>
        </p:nvCxnSpPr>
        <p:spPr>
          <a:xfrm>
            <a:off x="6818873" y="3659501"/>
            <a:ext cx="1073413"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9" name="Oval 8">
            <a:extLst>
              <a:ext uri="{FF2B5EF4-FFF2-40B4-BE49-F238E27FC236}">
                <a16:creationId xmlns:a16="http://schemas.microsoft.com/office/drawing/2014/main" id="{97F52CAA-ADD1-30F3-D5AB-474DB7A90E52}"/>
              </a:ext>
            </a:extLst>
          </p:cNvPr>
          <p:cNvSpPr/>
          <p:nvPr/>
        </p:nvSpPr>
        <p:spPr>
          <a:xfrm>
            <a:off x="7175578" y="2830463"/>
            <a:ext cx="360000" cy="360000"/>
          </a:xfrm>
          <a:prstGeom prst="ellipse">
            <a:avLst/>
          </a:prstGeom>
          <a:solidFill>
            <a:schemeClr val="bg1">
              <a:lumMod val="8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dirty="0">
                <a:solidFill>
                  <a:schemeClr val="tx1"/>
                </a:solidFill>
              </a:rPr>
              <a:t>z</a:t>
            </a:r>
          </a:p>
        </p:txBody>
      </p:sp>
      <p:cxnSp>
        <p:nvCxnSpPr>
          <p:cNvPr id="10" name="Straight Arrow Connector 9">
            <a:extLst>
              <a:ext uri="{FF2B5EF4-FFF2-40B4-BE49-F238E27FC236}">
                <a16:creationId xmlns:a16="http://schemas.microsoft.com/office/drawing/2014/main" id="{08139E90-C010-AB01-378D-8CABFF6628F5}"/>
              </a:ext>
            </a:extLst>
          </p:cNvPr>
          <p:cNvCxnSpPr>
            <a:cxnSpLocks/>
            <a:stCxn id="9" idx="3"/>
            <a:endCxn id="3" idx="7"/>
          </p:cNvCxnSpPr>
          <p:nvPr/>
        </p:nvCxnSpPr>
        <p:spPr>
          <a:xfrm flipH="1">
            <a:off x="6766152" y="3137742"/>
            <a:ext cx="462147" cy="39448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1" name="Straight Arrow Connector 10">
            <a:extLst>
              <a:ext uri="{FF2B5EF4-FFF2-40B4-BE49-F238E27FC236}">
                <a16:creationId xmlns:a16="http://schemas.microsoft.com/office/drawing/2014/main" id="{4755DBA0-756D-98A0-6A9D-BFAE5DDBF0DC}"/>
              </a:ext>
            </a:extLst>
          </p:cNvPr>
          <p:cNvCxnSpPr>
            <a:cxnSpLocks/>
            <a:stCxn id="9" idx="5"/>
            <a:endCxn id="7" idx="1"/>
          </p:cNvCxnSpPr>
          <p:nvPr/>
        </p:nvCxnSpPr>
        <p:spPr>
          <a:xfrm>
            <a:off x="7482857" y="3137742"/>
            <a:ext cx="462150" cy="39448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2" name="TextBox 11">
            <a:extLst>
              <a:ext uri="{FF2B5EF4-FFF2-40B4-BE49-F238E27FC236}">
                <a16:creationId xmlns:a16="http://schemas.microsoft.com/office/drawing/2014/main" id="{E35C3A2B-6B4C-3FAD-D115-E5AED7F60992}"/>
              </a:ext>
            </a:extLst>
          </p:cNvPr>
          <p:cNvSpPr txBox="1"/>
          <p:nvPr/>
        </p:nvSpPr>
        <p:spPr>
          <a:xfrm>
            <a:off x="6394929" y="2091388"/>
            <a:ext cx="1921295" cy="646331"/>
          </a:xfrm>
          <a:prstGeom prst="rect">
            <a:avLst/>
          </a:prstGeom>
          <a:noFill/>
        </p:spPr>
        <p:txBody>
          <a:bodyPr wrap="none" rtlCol="0">
            <a:spAutoFit/>
          </a:bodyPr>
          <a:lstStyle/>
          <a:p>
            <a:pPr algn="ctr"/>
            <a:r>
              <a:rPr lang="en-US" noProof="0" dirty="0"/>
              <a:t>hard-to-measure </a:t>
            </a:r>
          </a:p>
          <a:p>
            <a:pPr algn="ctr"/>
            <a:r>
              <a:rPr lang="en-US" noProof="0" dirty="0"/>
              <a:t>confounder</a:t>
            </a:r>
          </a:p>
        </p:txBody>
      </p:sp>
      <p:graphicFrame>
        <p:nvGraphicFramePr>
          <p:cNvPr id="14" name="Table 13">
            <a:extLst>
              <a:ext uri="{FF2B5EF4-FFF2-40B4-BE49-F238E27FC236}">
                <a16:creationId xmlns:a16="http://schemas.microsoft.com/office/drawing/2014/main" id="{49BEDFDC-DE5A-2C20-4A98-A5586DFFCD3B}"/>
              </a:ext>
            </a:extLst>
          </p:cNvPr>
          <p:cNvGraphicFramePr>
            <a:graphicFrameLocks noGrp="1"/>
          </p:cNvGraphicFramePr>
          <p:nvPr/>
        </p:nvGraphicFramePr>
        <p:xfrm>
          <a:off x="9138812" y="2614326"/>
          <a:ext cx="1003300" cy="1828800"/>
        </p:xfrm>
        <a:graphic>
          <a:graphicData uri="http://schemas.openxmlformats.org/drawingml/2006/table">
            <a:tbl>
              <a:tblPr firstRow="1" bandRow="1">
                <a:tableStyleId>{5C22544A-7EE6-4342-B048-85BDC9FD1C3A}</a:tableStyleId>
              </a:tblPr>
              <a:tblGrid>
                <a:gridCol w="501650">
                  <a:extLst>
                    <a:ext uri="{9D8B030D-6E8A-4147-A177-3AD203B41FA5}">
                      <a16:colId xmlns:a16="http://schemas.microsoft.com/office/drawing/2014/main" val="421997289"/>
                    </a:ext>
                  </a:extLst>
                </a:gridCol>
                <a:gridCol w="501650">
                  <a:extLst>
                    <a:ext uri="{9D8B030D-6E8A-4147-A177-3AD203B41FA5}">
                      <a16:colId xmlns:a16="http://schemas.microsoft.com/office/drawing/2014/main" val="794981153"/>
                    </a:ext>
                  </a:extLst>
                </a:gridCol>
              </a:tblGrid>
              <a:tr h="0">
                <a:tc>
                  <a:txBody>
                    <a:bodyPr/>
                    <a:lstStyle/>
                    <a:p>
                      <a:r>
                        <a:rPr lang="en-US" noProof="0" dirty="0"/>
                        <a:t>x</a:t>
                      </a:r>
                    </a:p>
                  </a:txBody>
                  <a:tcPr>
                    <a:solidFill>
                      <a:srgbClr val="F8766D"/>
                    </a:solidFill>
                  </a:tcPr>
                </a:tc>
                <a:tc>
                  <a:txBody>
                    <a:bodyPr/>
                    <a:lstStyle/>
                    <a:p>
                      <a:r>
                        <a:rPr lang="en-US" noProof="0" dirty="0"/>
                        <a:t>y</a:t>
                      </a:r>
                    </a:p>
                  </a:txBody>
                  <a:tcPr>
                    <a:solidFill>
                      <a:srgbClr val="00BFC4"/>
                    </a:solidFill>
                  </a:tcPr>
                </a:tc>
                <a:extLst>
                  <a:ext uri="{0D108BD9-81ED-4DB2-BD59-A6C34878D82A}">
                    <a16:rowId xmlns:a16="http://schemas.microsoft.com/office/drawing/2014/main" val="1542626891"/>
                  </a:ext>
                </a:extLst>
              </a:tr>
              <a:tr h="0">
                <a:tc>
                  <a:txBody>
                    <a:bodyPr/>
                    <a:lstStyle/>
                    <a:p>
                      <a:endParaRPr lang="en-US" noProof="0" dirty="0"/>
                    </a:p>
                  </a:txBody>
                  <a:tcPr/>
                </a:tc>
                <a:tc>
                  <a:txBody>
                    <a:bodyPr/>
                    <a:lstStyle/>
                    <a:p>
                      <a:endParaRPr lang="en-US" noProof="0" dirty="0"/>
                    </a:p>
                  </a:txBody>
                  <a:tcPr>
                    <a:solidFill>
                      <a:schemeClr val="accent3">
                        <a:lumMod val="40000"/>
                        <a:lumOff val="60000"/>
                      </a:schemeClr>
                    </a:solidFill>
                  </a:tcPr>
                </a:tc>
                <a:extLst>
                  <a:ext uri="{0D108BD9-81ED-4DB2-BD59-A6C34878D82A}">
                    <a16:rowId xmlns:a16="http://schemas.microsoft.com/office/drawing/2014/main" val="853162634"/>
                  </a:ext>
                </a:extLst>
              </a:tr>
              <a:tr h="0">
                <a:tc>
                  <a:txBody>
                    <a:bodyPr/>
                    <a:lstStyle/>
                    <a:p>
                      <a:endParaRPr lang="en-US" noProof="0" dirty="0"/>
                    </a:p>
                  </a:txBody>
                  <a:tcPr/>
                </a:tc>
                <a:tc>
                  <a:txBody>
                    <a:bodyPr/>
                    <a:lstStyle/>
                    <a:p>
                      <a:endParaRPr lang="en-US" noProof="0" dirty="0"/>
                    </a:p>
                  </a:txBody>
                  <a:tcPr>
                    <a:solidFill>
                      <a:schemeClr val="accent3">
                        <a:lumMod val="20000"/>
                        <a:lumOff val="80000"/>
                      </a:schemeClr>
                    </a:solidFill>
                  </a:tcPr>
                </a:tc>
                <a:extLst>
                  <a:ext uri="{0D108BD9-81ED-4DB2-BD59-A6C34878D82A}">
                    <a16:rowId xmlns:a16="http://schemas.microsoft.com/office/drawing/2014/main" val="3084250803"/>
                  </a:ext>
                </a:extLst>
              </a:tr>
              <a:tr h="0">
                <a:tc>
                  <a:txBody>
                    <a:bodyPr/>
                    <a:lstStyle/>
                    <a:p>
                      <a:endParaRPr lang="en-US" noProof="0" dirty="0"/>
                    </a:p>
                  </a:txBody>
                  <a:tcPr/>
                </a:tc>
                <a:tc>
                  <a:txBody>
                    <a:bodyPr/>
                    <a:lstStyle/>
                    <a:p>
                      <a:endParaRPr lang="en-US" noProof="0" dirty="0"/>
                    </a:p>
                  </a:txBody>
                  <a:tcPr>
                    <a:solidFill>
                      <a:schemeClr val="accent3">
                        <a:lumMod val="40000"/>
                        <a:lumOff val="60000"/>
                      </a:schemeClr>
                    </a:solidFill>
                  </a:tcPr>
                </a:tc>
                <a:extLst>
                  <a:ext uri="{0D108BD9-81ED-4DB2-BD59-A6C34878D82A}">
                    <a16:rowId xmlns:a16="http://schemas.microsoft.com/office/drawing/2014/main" val="3356807227"/>
                  </a:ext>
                </a:extLst>
              </a:tr>
              <a:tr h="0">
                <a:tc>
                  <a:txBody>
                    <a:bodyPr/>
                    <a:lstStyle/>
                    <a:p>
                      <a:endParaRPr lang="en-US" noProof="0" dirty="0"/>
                    </a:p>
                  </a:txBody>
                  <a:tcPr/>
                </a:tc>
                <a:tc>
                  <a:txBody>
                    <a:bodyPr/>
                    <a:lstStyle/>
                    <a:p>
                      <a:endParaRPr lang="en-US" noProof="0" dirty="0"/>
                    </a:p>
                  </a:txBody>
                  <a:tcPr>
                    <a:solidFill>
                      <a:schemeClr val="accent3">
                        <a:lumMod val="20000"/>
                        <a:lumOff val="80000"/>
                      </a:schemeClr>
                    </a:solidFill>
                  </a:tcPr>
                </a:tc>
                <a:extLst>
                  <a:ext uri="{0D108BD9-81ED-4DB2-BD59-A6C34878D82A}">
                    <a16:rowId xmlns:a16="http://schemas.microsoft.com/office/drawing/2014/main" val="143162048"/>
                  </a:ext>
                </a:extLst>
              </a:tr>
            </a:tbl>
          </a:graphicData>
        </a:graphic>
      </p:graphicFrame>
      <p:grpSp>
        <p:nvGrpSpPr>
          <p:cNvPr id="18" name="Group 17">
            <a:extLst>
              <a:ext uri="{FF2B5EF4-FFF2-40B4-BE49-F238E27FC236}">
                <a16:creationId xmlns:a16="http://schemas.microsoft.com/office/drawing/2014/main" id="{7D9B8F8A-34BB-E282-83EF-B5960C399467}"/>
              </a:ext>
            </a:extLst>
          </p:cNvPr>
          <p:cNvGrpSpPr/>
          <p:nvPr/>
        </p:nvGrpSpPr>
        <p:grpSpPr>
          <a:xfrm>
            <a:off x="5594155" y="4966741"/>
            <a:ext cx="6154149" cy="946595"/>
            <a:chOff x="775412" y="5230368"/>
            <a:chExt cx="6154149" cy="946595"/>
          </a:xfrm>
        </p:grpSpPr>
        <p:sp>
          <p:nvSpPr>
            <p:cNvPr id="19" name="Rectangle: Rounded Corners 18">
              <a:extLst>
                <a:ext uri="{FF2B5EF4-FFF2-40B4-BE49-F238E27FC236}">
                  <a16:creationId xmlns:a16="http://schemas.microsoft.com/office/drawing/2014/main" id="{F576B073-B86E-852E-CB2F-7A6F8620EB69}"/>
                </a:ext>
              </a:extLst>
            </p:cNvPr>
            <p:cNvSpPr/>
            <p:nvPr/>
          </p:nvSpPr>
          <p:spPr>
            <a:xfrm>
              <a:off x="775412" y="5230368"/>
              <a:ext cx="6154149" cy="946595"/>
            </a:xfrm>
            <a:prstGeom prst="roundRect">
              <a:avLst/>
            </a:prstGeom>
            <a:solidFill>
              <a:schemeClr val="tx2"/>
            </a:solidFill>
            <a:ln>
              <a:solidFill>
                <a:schemeClr val="tx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612000" rtlCol="0" anchor="ctr"/>
            <a:lstStyle/>
            <a:p>
              <a:r>
                <a:rPr lang="en-SE" noProof="0" dirty="0">
                  <a:solidFill>
                    <a:schemeClr val="bg1"/>
                  </a:solidFill>
                </a:rPr>
                <a:t>Not collecting data about a confounder will threaten the internal validity of your result</a:t>
              </a:r>
              <a:endParaRPr lang="en-US" noProof="0" dirty="0">
                <a:solidFill>
                  <a:srgbClr val="006D70"/>
                </a:solidFill>
              </a:endParaRPr>
            </a:p>
          </p:txBody>
        </p:sp>
        <p:pic>
          <p:nvPicPr>
            <p:cNvPr id="22" name="Graphic 21" descr="Open quotation mark with solid fill">
              <a:extLst>
                <a:ext uri="{FF2B5EF4-FFF2-40B4-BE49-F238E27FC236}">
                  <a16:creationId xmlns:a16="http://schemas.microsoft.com/office/drawing/2014/main" id="{2ACB02D8-97B7-A2F9-3927-C5BE1DE6ECBA}"/>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rot="10800000">
              <a:off x="775412" y="5343665"/>
              <a:ext cx="720000" cy="720000"/>
            </a:xfrm>
            <a:prstGeom prst="rect">
              <a:avLst/>
            </a:prstGeom>
          </p:spPr>
        </p:pic>
      </p:grpSp>
    </p:spTree>
    <p:extLst>
      <p:ext uri="{BB962C8B-B14F-4D97-AF65-F5344CB8AC3E}">
        <p14:creationId xmlns:p14="http://schemas.microsoft.com/office/powerpoint/2010/main" val="25395055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anim calcmode="lin" valueType="num">
                                      <p:cBhvr>
                                        <p:cTn id="8" dur="500" fill="hold"/>
                                        <p:tgtEl>
                                          <p:spTgt spid="18"/>
                                        </p:tgtEl>
                                        <p:attrNameLst>
                                          <p:attrName>ppt_x</p:attrName>
                                        </p:attrNameLst>
                                      </p:cBhvr>
                                      <p:tavLst>
                                        <p:tav tm="0">
                                          <p:val>
                                            <p:strVal val="#ppt_x"/>
                                          </p:val>
                                        </p:tav>
                                        <p:tav tm="100000">
                                          <p:val>
                                            <p:strVal val="#ppt_x"/>
                                          </p:val>
                                        </p:tav>
                                      </p:tavLst>
                                    </p:anim>
                                    <p:anim calcmode="lin" valueType="num">
                                      <p:cBhvr>
                                        <p:cTn id="9" dur="5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7B67A6-1EB5-1F8C-24F5-406F203DB7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73D9A2-39FA-C689-C166-FA4773F5E936}"/>
              </a:ext>
            </a:extLst>
          </p:cNvPr>
          <p:cNvSpPr>
            <a:spLocks noGrp="1"/>
          </p:cNvSpPr>
          <p:nvPr>
            <p:ph type="title"/>
          </p:nvPr>
        </p:nvSpPr>
        <p:spPr/>
        <p:txBody>
          <a:bodyPr/>
          <a:lstStyle/>
          <a:p>
            <a:r>
              <a:rPr lang="en-US" noProof="0" dirty="0"/>
              <a:t>Scientific Workflow: Better</a:t>
            </a:r>
          </a:p>
        </p:txBody>
      </p:sp>
      <p:sp>
        <p:nvSpPr>
          <p:cNvPr id="4" name="Date Placeholder 3">
            <a:extLst>
              <a:ext uri="{FF2B5EF4-FFF2-40B4-BE49-F238E27FC236}">
                <a16:creationId xmlns:a16="http://schemas.microsoft.com/office/drawing/2014/main" id="{9B1230E7-B377-78FF-B9D1-DC26E8D70E22}"/>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C403FBA6-7408-A2AE-DED3-904673DE5DA4}"/>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1513FC76-6AA8-691B-903E-4F915739E612}"/>
              </a:ext>
            </a:extLst>
          </p:cNvPr>
          <p:cNvSpPr>
            <a:spLocks noGrp="1"/>
          </p:cNvSpPr>
          <p:nvPr>
            <p:ph type="sldNum" sz="quarter" idx="12"/>
          </p:nvPr>
        </p:nvSpPr>
        <p:spPr/>
        <p:txBody>
          <a:bodyPr/>
          <a:lstStyle/>
          <a:p>
            <a:fld id="{0FA2D919-C0DE-4971-A2E9-D4AC0031921B}" type="slidenum">
              <a:rPr lang="en-US" noProof="0" smtClean="0"/>
              <a:t>51</a:t>
            </a:fld>
            <a:endParaRPr lang="en-US" noProof="0" dirty="0"/>
          </a:p>
        </p:txBody>
      </p:sp>
      <p:grpSp>
        <p:nvGrpSpPr>
          <p:cNvPr id="33" name="Group 32">
            <a:extLst>
              <a:ext uri="{FF2B5EF4-FFF2-40B4-BE49-F238E27FC236}">
                <a16:creationId xmlns:a16="http://schemas.microsoft.com/office/drawing/2014/main" id="{118D6BCF-A77F-B779-7864-20F46CC3EC23}"/>
              </a:ext>
            </a:extLst>
          </p:cNvPr>
          <p:cNvGrpSpPr/>
          <p:nvPr/>
        </p:nvGrpSpPr>
        <p:grpSpPr>
          <a:xfrm>
            <a:off x="844469" y="1692900"/>
            <a:ext cx="540000" cy="540000"/>
            <a:chOff x="838200" y="1905000"/>
            <a:chExt cx="1080000" cy="1080000"/>
          </a:xfrm>
        </p:grpSpPr>
        <p:sp>
          <p:nvSpPr>
            <p:cNvPr id="34" name="Oval 33">
              <a:extLst>
                <a:ext uri="{FF2B5EF4-FFF2-40B4-BE49-F238E27FC236}">
                  <a16:creationId xmlns:a16="http://schemas.microsoft.com/office/drawing/2014/main" id="{681CE8E9-C326-F8CF-91D3-0947C6AB28DC}"/>
                </a:ext>
              </a:extLst>
            </p:cNvPr>
            <p:cNvSpPr/>
            <p:nvPr/>
          </p:nvSpPr>
          <p:spPr>
            <a:xfrm>
              <a:off x="838200" y="1905000"/>
              <a:ext cx="1080000" cy="1080000"/>
            </a:xfrm>
            <a:prstGeom prst="ellipse">
              <a:avLst/>
            </a:prstGeom>
            <a:solidFill>
              <a:schemeClr val="tx2"/>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35" name="Graphic 34" descr="Influencer with solid fill">
              <a:extLst>
                <a:ext uri="{FF2B5EF4-FFF2-40B4-BE49-F238E27FC236}">
                  <a16:creationId xmlns:a16="http://schemas.microsoft.com/office/drawing/2014/main" id="{E9970666-9C54-9156-0873-C2D003CB758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21000" y="1987800"/>
              <a:ext cx="914400" cy="914400"/>
            </a:xfrm>
            <a:prstGeom prst="rect">
              <a:avLst/>
            </a:prstGeom>
          </p:spPr>
        </p:pic>
      </p:grpSp>
      <p:grpSp>
        <p:nvGrpSpPr>
          <p:cNvPr id="36" name="Group 35">
            <a:extLst>
              <a:ext uri="{FF2B5EF4-FFF2-40B4-BE49-F238E27FC236}">
                <a16:creationId xmlns:a16="http://schemas.microsoft.com/office/drawing/2014/main" id="{65AA9DB3-3FBA-0321-297F-D8C4F27F4F40}"/>
              </a:ext>
            </a:extLst>
          </p:cNvPr>
          <p:cNvGrpSpPr/>
          <p:nvPr/>
        </p:nvGrpSpPr>
        <p:grpSpPr>
          <a:xfrm>
            <a:off x="844469" y="2414554"/>
            <a:ext cx="540000" cy="540000"/>
            <a:chOff x="838200" y="1905000"/>
            <a:chExt cx="1080000" cy="1080000"/>
          </a:xfrm>
        </p:grpSpPr>
        <p:sp>
          <p:nvSpPr>
            <p:cNvPr id="37" name="Oval 36">
              <a:extLst>
                <a:ext uri="{FF2B5EF4-FFF2-40B4-BE49-F238E27FC236}">
                  <a16:creationId xmlns:a16="http://schemas.microsoft.com/office/drawing/2014/main" id="{AC213989-8BF5-E37B-7858-0656A005B59F}"/>
                </a:ext>
              </a:extLst>
            </p:cNvPr>
            <p:cNvSpPr/>
            <p:nvPr/>
          </p:nvSpPr>
          <p:spPr>
            <a:xfrm>
              <a:off x="838200" y="1905000"/>
              <a:ext cx="1080000" cy="1080000"/>
            </a:xfrm>
            <a:prstGeom prst="ellipse">
              <a:avLst/>
            </a:prstGeom>
            <a:solidFill>
              <a:schemeClr val="tx2">
                <a:lumMod val="90000"/>
                <a:lumOff val="1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38" name="Graphic 37" descr="Magnifying glass with solid fill">
              <a:extLst>
                <a:ext uri="{FF2B5EF4-FFF2-40B4-BE49-F238E27FC236}">
                  <a16:creationId xmlns:a16="http://schemas.microsoft.com/office/drawing/2014/main" id="{02537067-5798-CB16-FE54-E447305BD701}"/>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921000" y="1987800"/>
              <a:ext cx="914400" cy="914400"/>
            </a:xfrm>
            <a:prstGeom prst="rect">
              <a:avLst/>
            </a:prstGeom>
          </p:spPr>
        </p:pic>
      </p:grpSp>
      <p:grpSp>
        <p:nvGrpSpPr>
          <p:cNvPr id="39" name="Group 38">
            <a:extLst>
              <a:ext uri="{FF2B5EF4-FFF2-40B4-BE49-F238E27FC236}">
                <a16:creationId xmlns:a16="http://schemas.microsoft.com/office/drawing/2014/main" id="{8FD8BF5D-4A48-8C5B-86AB-C27DC7299019}"/>
              </a:ext>
            </a:extLst>
          </p:cNvPr>
          <p:cNvGrpSpPr/>
          <p:nvPr/>
        </p:nvGrpSpPr>
        <p:grpSpPr>
          <a:xfrm>
            <a:off x="838200" y="3850827"/>
            <a:ext cx="540000" cy="540000"/>
            <a:chOff x="838200" y="1905000"/>
            <a:chExt cx="1080000" cy="1080000"/>
          </a:xfrm>
        </p:grpSpPr>
        <p:sp>
          <p:nvSpPr>
            <p:cNvPr id="40" name="Oval 39">
              <a:extLst>
                <a:ext uri="{FF2B5EF4-FFF2-40B4-BE49-F238E27FC236}">
                  <a16:creationId xmlns:a16="http://schemas.microsoft.com/office/drawing/2014/main" id="{E928EABB-820B-748C-976C-553660D0A1E1}"/>
                </a:ext>
              </a:extLst>
            </p:cNvPr>
            <p:cNvSpPr/>
            <p:nvPr/>
          </p:nvSpPr>
          <p:spPr>
            <a:xfrm>
              <a:off x="838200" y="1905000"/>
              <a:ext cx="1080000" cy="1080000"/>
            </a:xfrm>
            <a:prstGeom prst="ellipse">
              <a:avLst/>
            </a:prstGeom>
            <a:solidFill>
              <a:schemeClr val="tx2">
                <a:lumMod val="75000"/>
                <a:lumOff val="2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41" name="Graphic 40" descr="Normal Distribution with solid fill">
              <a:extLst>
                <a:ext uri="{FF2B5EF4-FFF2-40B4-BE49-F238E27FC236}">
                  <a16:creationId xmlns:a16="http://schemas.microsoft.com/office/drawing/2014/main" id="{5F05D5BA-81B3-713E-5D83-6D6F880BFD16}"/>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921000" y="1987800"/>
              <a:ext cx="914400" cy="914400"/>
            </a:xfrm>
            <a:prstGeom prst="rect">
              <a:avLst/>
            </a:prstGeom>
          </p:spPr>
        </p:pic>
      </p:grpSp>
      <p:cxnSp>
        <p:nvCxnSpPr>
          <p:cNvPr id="42" name="Straight Arrow Connector 41">
            <a:extLst>
              <a:ext uri="{FF2B5EF4-FFF2-40B4-BE49-F238E27FC236}">
                <a16:creationId xmlns:a16="http://schemas.microsoft.com/office/drawing/2014/main" id="{F82552B0-4A86-8593-12AF-5A903D07DF7F}"/>
              </a:ext>
            </a:extLst>
          </p:cNvPr>
          <p:cNvCxnSpPr>
            <a:stCxn id="34" idx="4"/>
            <a:endCxn id="37" idx="0"/>
          </p:cNvCxnSpPr>
          <p:nvPr/>
        </p:nvCxnSpPr>
        <p:spPr>
          <a:xfrm>
            <a:off x="1114469" y="2232900"/>
            <a:ext cx="0" cy="18165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3" name="Straight Arrow Connector 42">
            <a:extLst>
              <a:ext uri="{FF2B5EF4-FFF2-40B4-BE49-F238E27FC236}">
                <a16:creationId xmlns:a16="http://schemas.microsoft.com/office/drawing/2014/main" id="{DB583DB3-7E16-FFA2-DACF-DB5077AA59D4}"/>
              </a:ext>
            </a:extLst>
          </p:cNvPr>
          <p:cNvCxnSpPr>
            <a:cxnSpLocks/>
            <a:stCxn id="37" idx="4"/>
            <a:endCxn id="45" idx="0"/>
          </p:cNvCxnSpPr>
          <p:nvPr/>
        </p:nvCxnSpPr>
        <p:spPr>
          <a:xfrm flipH="1">
            <a:off x="1111762" y="2954554"/>
            <a:ext cx="2707" cy="17600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nvGrpSpPr>
          <p:cNvPr id="44" name="Group 43">
            <a:extLst>
              <a:ext uri="{FF2B5EF4-FFF2-40B4-BE49-F238E27FC236}">
                <a16:creationId xmlns:a16="http://schemas.microsoft.com/office/drawing/2014/main" id="{A75810D6-6BE8-EDD9-208B-1191F28CC5BC}"/>
              </a:ext>
            </a:extLst>
          </p:cNvPr>
          <p:cNvGrpSpPr/>
          <p:nvPr/>
        </p:nvGrpSpPr>
        <p:grpSpPr>
          <a:xfrm>
            <a:off x="841762" y="3130555"/>
            <a:ext cx="540000" cy="540000"/>
            <a:chOff x="838200" y="1905000"/>
            <a:chExt cx="1080000" cy="1080000"/>
          </a:xfrm>
        </p:grpSpPr>
        <p:sp>
          <p:nvSpPr>
            <p:cNvPr id="45" name="Oval 44">
              <a:extLst>
                <a:ext uri="{FF2B5EF4-FFF2-40B4-BE49-F238E27FC236}">
                  <a16:creationId xmlns:a16="http://schemas.microsoft.com/office/drawing/2014/main" id="{B774EFB2-C2EB-0D34-F92C-165789BB5D45}"/>
                </a:ext>
              </a:extLst>
            </p:cNvPr>
            <p:cNvSpPr/>
            <p:nvPr/>
          </p:nvSpPr>
          <p:spPr>
            <a:xfrm>
              <a:off x="838200" y="1905000"/>
              <a:ext cx="1080000" cy="1080000"/>
            </a:xfrm>
            <a:prstGeom prst="ellipse">
              <a:avLst/>
            </a:prstGeom>
            <a:solidFill>
              <a:schemeClr val="accent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46" name="Graphic 45" descr="Database with solid fill">
              <a:extLst>
                <a:ext uri="{FF2B5EF4-FFF2-40B4-BE49-F238E27FC236}">
                  <a16:creationId xmlns:a16="http://schemas.microsoft.com/office/drawing/2014/main" id="{232B01EB-1108-3F76-B015-55629E6F9204}"/>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921000" y="1987800"/>
              <a:ext cx="914400" cy="914400"/>
            </a:xfrm>
            <a:prstGeom prst="rect">
              <a:avLst/>
            </a:prstGeom>
          </p:spPr>
        </p:pic>
      </p:grpSp>
      <p:cxnSp>
        <p:nvCxnSpPr>
          <p:cNvPr id="47" name="Straight Arrow Connector 46">
            <a:extLst>
              <a:ext uri="{FF2B5EF4-FFF2-40B4-BE49-F238E27FC236}">
                <a16:creationId xmlns:a16="http://schemas.microsoft.com/office/drawing/2014/main" id="{D4D62CAE-22A3-B541-83A7-69BB754D5E7C}"/>
              </a:ext>
            </a:extLst>
          </p:cNvPr>
          <p:cNvCxnSpPr>
            <a:cxnSpLocks/>
            <a:stCxn id="45" idx="4"/>
            <a:endCxn id="40" idx="0"/>
          </p:cNvCxnSpPr>
          <p:nvPr/>
        </p:nvCxnSpPr>
        <p:spPr>
          <a:xfrm flipH="1">
            <a:off x="1108200" y="3670555"/>
            <a:ext cx="3562" cy="18027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50" name="TextBox 49">
            <a:extLst>
              <a:ext uri="{FF2B5EF4-FFF2-40B4-BE49-F238E27FC236}">
                <a16:creationId xmlns:a16="http://schemas.microsoft.com/office/drawing/2014/main" id="{98E1EBC3-D461-BF52-4FDD-84BDDCC3DA3F}"/>
              </a:ext>
            </a:extLst>
          </p:cNvPr>
          <p:cNvSpPr txBox="1"/>
          <p:nvPr/>
        </p:nvSpPr>
        <p:spPr>
          <a:xfrm>
            <a:off x="1432842" y="1734300"/>
            <a:ext cx="1486304" cy="461665"/>
          </a:xfrm>
          <a:prstGeom prst="rect">
            <a:avLst/>
          </a:prstGeom>
          <a:noFill/>
        </p:spPr>
        <p:txBody>
          <a:bodyPr wrap="none" rtlCol="0">
            <a:spAutoFit/>
          </a:bodyPr>
          <a:lstStyle/>
          <a:p>
            <a:r>
              <a:rPr lang="en-US" sz="2400" noProof="0" dirty="0"/>
              <a:t>Modelling</a:t>
            </a:r>
            <a:endParaRPr lang="en-US" noProof="0" dirty="0"/>
          </a:p>
        </p:txBody>
      </p:sp>
      <p:sp>
        <p:nvSpPr>
          <p:cNvPr id="51" name="TextBox 50">
            <a:extLst>
              <a:ext uri="{FF2B5EF4-FFF2-40B4-BE49-F238E27FC236}">
                <a16:creationId xmlns:a16="http://schemas.microsoft.com/office/drawing/2014/main" id="{7B18B30A-3438-0138-0BA4-C213EEC13FAC}"/>
              </a:ext>
            </a:extLst>
          </p:cNvPr>
          <p:cNvSpPr txBox="1"/>
          <p:nvPr/>
        </p:nvSpPr>
        <p:spPr>
          <a:xfrm>
            <a:off x="1439923" y="2453721"/>
            <a:ext cx="1943481" cy="461665"/>
          </a:xfrm>
          <a:prstGeom prst="rect">
            <a:avLst/>
          </a:prstGeom>
          <a:noFill/>
        </p:spPr>
        <p:txBody>
          <a:bodyPr wrap="none" rtlCol="0">
            <a:spAutoFit/>
          </a:bodyPr>
          <a:lstStyle/>
          <a:p>
            <a:r>
              <a:rPr lang="en-US" sz="2400" noProof="0" dirty="0"/>
              <a:t>Identification</a:t>
            </a:r>
            <a:endParaRPr lang="en-US" noProof="0" dirty="0"/>
          </a:p>
        </p:txBody>
      </p:sp>
      <p:sp>
        <p:nvSpPr>
          <p:cNvPr id="52" name="TextBox 51">
            <a:extLst>
              <a:ext uri="{FF2B5EF4-FFF2-40B4-BE49-F238E27FC236}">
                <a16:creationId xmlns:a16="http://schemas.microsoft.com/office/drawing/2014/main" id="{050E7470-4CFA-0757-7F86-D80B5AC310EE}"/>
              </a:ext>
            </a:extLst>
          </p:cNvPr>
          <p:cNvSpPr txBox="1"/>
          <p:nvPr/>
        </p:nvSpPr>
        <p:spPr>
          <a:xfrm>
            <a:off x="1439923" y="3886530"/>
            <a:ext cx="1613262" cy="461665"/>
          </a:xfrm>
          <a:prstGeom prst="rect">
            <a:avLst/>
          </a:prstGeom>
          <a:noFill/>
        </p:spPr>
        <p:txBody>
          <a:bodyPr wrap="none" rtlCol="0">
            <a:spAutoFit/>
          </a:bodyPr>
          <a:lstStyle/>
          <a:p>
            <a:r>
              <a:rPr lang="en-US" sz="2400" noProof="0" dirty="0"/>
              <a:t>Estimation</a:t>
            </a:r>
            <a:endParaRPr lang="en-US" noProof="0" dirty="0"/>
          </a:p>
        </p:txBody>
      </p:sp>
      <p:sp>
        <p:nvSpPr>
          <p:cNvPr id="53" name="TextBox 52">
            <a:extLst>
              <a:ext uri="{FF2B5EF4-FFF2-40B4-BE49-F238E27FC236}">
                <a16:creationId xmlns:a16="http://schemas.microsoft.com/office/drawing/2014/main" id="{9A1D03E8-264F-255C-691D-4C695FF0D912}"/>
              </a:ext>
            </a:extLst>
          </p:cNvPr>
          <p:cNvSpPr txBox="1"/>
          <p:nvPr/>
        </p:nvSpPr>
        <p:spPr>
          <a:xfrm>
            <a:off x="1437216" y="3160064"/>
            <a:ext cx="2261132" cy="461665"/>
          </a:xfrm>
          <a:prstGeom prst="rect">
            <a:avLst/>
          </a:prstGeom>
          <a:noFill/>
        </p:spPr>
        <p:txBody>
          <a:bodyPr wrap="none" rtlCol="0">
            <a:spAutoFit/>
          </a:bodyPr>
          <a:lstStyle/>
          <a:p>
            <a:r>
              <a:rPr lang="en-US" sz="2400" noProof="0" dirty="0"/>
              <a:t>Data Collection</a:t>
            </a:r>
            <a:endParaRPr lang="en-US" noProof="0" dirty="0"/>
          </a:p>
        </p:txBody>
      </p:sp>
      <p:sp>
        <p:nvSpPr>
          <p:cNvPr id="25" name="Oval 24">
            <a:extLst>
              <a:ext uri="{FF2B5EF4-FFF2-40B4-BE49-F238E27FC236}">
                <a16:creationId xmlns:a16="http://schemas.microsoft.com/office/drawing/2014/main" id="{A0A8F6DC-AB13-D577-C8EF-E78AF6374E18}"/>
              </a:ext>
            </a:extLst>
          </p:cNvPr>
          <p:cNvSpPr/>
          <p:nvPr/>
        </p:nvSpPr>
        <p:spPr>
          <a:xfrm>
            <a:off x="6458873" y="3479501"/>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dirty="0"/>
              <a:t>x</a:t>
            </a:r>
          </a:p>
        </p:txBody>
      </p:sp>
      <p:sp>
        <p:nvSpPr>
          <p:cNvPr id="28" name="Oval 27">
            <a:extLst>
              <a:ext uri="{FF2B5EF4-FFF2-40B4-BE49-F238E27FC236}">
                <a16:creationId xmlns:a16="http://schemas.microsoft.com/office/drawing/2014/main" id="{6631B0BE-4FE4-C9F7-8496-28128BE0EBEA}"/>
              </a:ext>
            </a:extLst>
          </p:cNvPr>
          <p:cNvSpPr/>
          <p:nvPr/>
        </p:nvSpPr>
        <p:spPr>
          <a:xfrm>
            <a:off x="7892286" y="3479501"/>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dirty="0"/>
              <a:t>y</a:t>
            </a:r>
          </a:p>
        </p:txBody>
      </p:sp>
      <p:cxnSp>
        <p:nvCxnSpPr>
          <p:cNvPr id="29" name="Straight Arrow Connector 28">
            <a:extLst>
              <a:ext uri="{FF2B5EF4-FFF2-40B4-BE49-F238E27FC236}">
                <a16:creationId xmlns:a16="http://schemas.microsoft.com/office/drawing/2014/main" id="{E4904916-B9A6-506D-C836-6B68D41C44B4}"/>
              </a:ext>
            </a:extLst>
          </p:cNvPr>
          <p:cNvCxnSpPr>
            <a:stCxn id="25" idx="6"/>
            <a:endCxn id="28" idx="2"/>
          </p:cNvCxnSpPr>
          <p:nvPr/>
        </p:nvCxnSpPr>
        <p:spPr>
          <a:xfrm>
            <a:off x="6818873" y="3659501"/>
            <a:ext cx="1073413"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1" name="Oval 30">
            <a:extLst>
              <a:ext uri="{FF2B5EF4-FFF2-40B4-BE49-F238E27FC236}">
                <a16:creationId xmlns:a16="http://schemas.microsoft.com/office/drawing/2014/main" id="{372F5A25-7489-93BD-DBD3-8C09AF811B31}"/>
              </a:ext>
            </a:extLst>
          </p:cNvPr>
          <p:cNvSpPr/>
          <p:nvPr/>
        </p:nvSpPr>
        <p:spPr>
          <a:xfrm>
            <a:off x="7175578" y="2830463"/>
            <a:ext cx="360000" cy="360000"/>
          </a:xfrm>
          <a:prstGeom prst="ellipse">
            <a:avLst/>
          </a:prstGeom>
          <a:solidFill>
            <a:schemeClr val="bg1">
              <a:lumMod val="8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dirty="0">
                <a:solidFill>
                  <a:schemeClr val="tx1"/>
                </a:solidFill>
              </a:rPr>
              <a:t>z</a:t>
            </a:r>
          </a:p>
        </p:txBody>
      </p:sp>
      <p:cxnSp>
        <p:nvCxnSpPr>
          <p:cNvPr id="32" name="Straight Arrow Connector 31">
            <a:extLst>
              <a:ext uri="{FF2B5EF4-FFF2-40B4-BE49-F238E27FC236}">
                <a16:creationId xmlns:a16="http://schemas.microsoft.com/office/drawing/2014/main" id="{64719ACE-3156-368D-AC81-7AE815CDCD73}"/>
              </a:ext>
            </a:extLst>
          </p:cNvPr>
          <p:cNvCxnSpPr>
            <a:cxnSpLocks/>
            <a:stCxn id="31" idx="3"/>
            <a:endCxn id="25" idx="7"/>
          </p:cNvCxnSpPr>
          <p:nvPr/>
        </p:nvCxnSpPr>
        <p:spPr>
          <a:xfrm flipH="1">
            <a:off x="6766152" y="3137742"/>
            <a:ext cx="462147" cy="39448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8" name="Straight Arrow Connector 47">
            <a:extLst>
              <a:ext uri="{FF2B5EF4-FFF2-40B4-BE49-F238E27FC236}">
                <a16:creationId xmlns:a16="http://schemas.microsoft.com/office/drawing/2014/main" id="{630CC391-D3A2-F969-996B-C79F73AC1BE9}"/>
              </a:ext>
            </a:extLst>
          </p:cNvPr>
          <p:cNvCxnSpPr>
            <a:cxnSpLocks/>
            <a:stCxn id="31" idx="5"/>
            <a:endCxn id="28" idx="1"/>
          </p:cNvCxnSpPr>
          <p:nvPr/>
        </p:nvCxnSpPr>
        <p:spPr>
          <a:xfrm>
            <a:off x="7482857" y="3137742"/>
            <a:ext cx="462150" cy="39448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56" name="TextBox 55">
            <a:extLst>
              <a:ext uri="{FF2B5EF4-FFF2-40B4-BE49-F238E27FC236}">
                <a16:creationId xmlns:a16="http://schemas.microsoft.com/office/drawing/2014/main" id="{DF933D17-4A84-1321-E180-FC73E507ADBC}"/>
              </a:ext>
            </a:extLst>
          </p:cNvPr>
          <p:cNvSpPr txBox="1"/>
          <p:nvPr/>
        </p:nvSpPr>
        <p:spPr>
          <a:xfrm>
            <a:off x="6394929" y="2091388"/>
            <a:ext cx="1921295" cy="646331"/>
          </a:xfrm>
          <a:prstGeom prst="rect">
            <a:avLst/>
          </a:prstGeom>
          <a:noFill/>
        </p:spPr>
        <p:txBody>
          <a:bodyPr wrap="none" rtlCol="0">
            <a:spAutoFit/>
          </a:bodyPr>
          <a:lstStyle/>
          <a:p>
            <a:pPr algn="ctr"/>
            <a:r>
              <a:rPr lang="en-US" noProof="0" dirty="0"/>
              <a:t>hard-to-measure </a:t>
            </a:r>
          </a:p>
          <a:p>
            <a:pPr algn="ctr"/>
            <a:r>
              <a:rPr lang="en-US" noProof="0" dirty="0"/>
              <a:t>confounder</a:t>
            </a:r>
          </a:p>
        </p:txBody>
      </p:sp>
      <p:graphicFrame>
        <p:nvGraphicFramePr>
          <p:cNvPr id="60" name="Table 59">
            <a:extLst>
              <a:ext uri="{FF2B5EF4-FFF2-40B4-BE49-F238E27FC236}">
                <a16:creationId xmlns:a16="http://schemas.microsoft.com/office/drawing/2014/main" id="{3B4E4FFB-5BE0-0094-1402-CEB6C54A87F7}"/>
              </a:ext>
            </a:extLst>
          </p:cNvPr>
          <p:cNvGraphicFramePr>
            <a:graphicFrameLocks noGrp="1"/>
          </p:cNvGraphicFramePr>
          <p:nvPr/>
        </p:nvGraphicFramePr>
        <p:xfrm>
          <a:off x="9138812" y="2614326"/>
          <a:ext cx="1504950" cy="1828800"/>
        </p:xfrm>
        <a:graphic>
          <a:graphicData uri="http://schemas.openxmlformats.org/drawingml/2006/table">
            <a:tbl>
              <a:tblPr firstRow="1" bandRow="1">
                <a:tableStyleId>{5C22544A-7EE6-4342-B048-85BDC9FD1C3A}</a:tableStyleId>
              </a:tblPr>
              <a:tblGrid>
                <a:gridCol w="501650">
                  <a:extLst>
                    <a:ext uri="{9D8B030D-6E8A-4147-A177-3AD203B41FA5}">
                      <a16:colId xmlns:a16="http://schemas.microsoft.com/office/drawing/2014/main" val="421997289"/>
                    </a:ext>
                  </a:extLst>
                </a:gridCol>
                <a:gridCol w="501650">
                  <a:extLst>
                    <a:ext uri="{9D8B030D-6E8A-4147-A177-3AD203B41FA5}">
                      <a16:colId xmlns:a16="http://schemas.microsoft.com/office/drawing/2014/main" val="794981153"/>
                    </a:ext>
                  </a:extLst>
                </a:gridCol>
                <a:gridCol w="501650">
                  <a:extLst>
                    <a:ext uri="{9D8B030D-6E8A-4147-A177-3AD203B41FA5}">
                      <a16:colId xmlns:a16="http://schemas.microsoft.com/office/drawing/2014/main" val="515357490"/>
                    </a:ext>
                  </a:extLst>
                </a:gridCol>
              </a:tblGrid>
              <a:tr h="0">
                <a:tc>
                  <a:txBody>
                    <a:bodyPr/>
                    <a:lstStyle/>
                    <a:p>
                      <a:r>
                        <a:rPr lang="en-US" noProof="0" dirty="0"/>
                        <a:t>x</a:t>
                      </a:r>
                    </a:p>
                  </a:txBody>
                  <a:tcPr>
                    <a:solidFill>
                      <a:srgbClr val="F8766D"/>
                    </a:solidFill>
                  </a:tcPr>
                </a:tc>
                <a:tc>
                  <a:txBody>
                    <a:bodyPr/>
                    <a:lstStyle/>
                    <a:p>
                      <a:r>
                        <a:rPr lang="en-US" noProof="0" dirty="0"/>
                        <a:t>y</a:t>
                      </a:r>
                    </a:p>
                  </a:txBody>
                  <a:tcPr>
                    <a:solidFill>
                      <a:srgbClr val="00BFC4"/>
                    </a:solidFill>
                  </a:tcPr>
                </a:tc>
                <a:tc>
                  <a:txBody>
                    <a:bodyPr/>
                    <a:lstStyle/>
                    <a:p>
                      <a:r>
                        <a:rPr lang="en-US" noProof="0" dirty="0">
                          <a:solidFill>
                            <a:schemeClr val="tx1"/>
                          </a:solidFill>
                        </a:rPr>
                        <a:t>z</a:t>
                      </a:r>
                    </a:p>
                  </a:txBody>
                  <a:tcPr>
                    <a:solidFill>
                      <a:schemeClr val="bg1">
                        <a:lumMod val="85000"/>
                      </a:schemeClr>
                    </a:solidFill>
                  </a:tcPr>
                </a:tc>
                <a:extLst>
                  <a:ext uri="{0D108BD9-81ED-4DB2-BD59-A6C34878D82A}">
                    <a16:rowId xmlns:a16="http://schemas.microsoft.com/office/drawing/2014/main" val="1542626891"/>
                  </a:ext>
                </a:extLst>
              </a:tr>
              <a:tr h="0">
                <a:tc>
                  <a:txBody>
                    <a:bodyPr/>
                    <a:lstStyle/>
                    <a:p>
                      <a:endParaRPr lang="en-US" noProof="0" dirty="0"/>
                    </a:p>
                  </a:txBody>
                  <a:tcPr/>
                </a:tc>
                <a:tc>
                  <a:txBody>
                    <a:bodyPr/>
                    <a:lstStyle/>
                    <a:p>
                      <a:endParaRPr lang="en-US" noProof="0" dirty="0"/>
                    </a:p>
                  </a:txBody>
                  <a:tcPr>
                    <a:solidFill>
                      <a:schemeClr val="accent3">
                        <a:lumMod val="40000"/>
                        <a:lumOff val="60000"/>
                      </a:schemeClr>
                    </a:solidFill>
                  </a:tcPr>
                </a:tc>
                <a:tc>
                  <a:txBody>
                    <a:bodyPr/>
                    <a:lstStyle/>
                    <a:p>
                      <a:endParaRPr lang="en-US" noProof="0" dirty="0"/>
                    </a:p>
                  </a:txBody>
                  <a:tcPr>
                    <a:solidFill>
                      <a:schemeClr val="bg1">
                        <a:lumMod val="95000"/>
                      </a:schemeClr>
                    </a:solidFill>
                  </a:tcPr>
                </a:tc>
                <a:extLst>
                  <a:ext uri="{0D108BD9-81ED-4DB2-BD59-A6C34878D82A}">
                    <a16:rowId xmlns:a16="http://schemas.microsoft.com/office/drawing/2014/main" val="853162634"/>
                  </a:ext>
                </a:extLst>
              </a:tr>
              <a:tr h="0">
                <a:tc>
                  <a:txBody>
                    <a:bodyPr/>
                    <a:lstStyle/>
                    <a:p>
                      <a:endParaRPr lang="en-US" noProof="0" dirty="0"/>
                    </a:p>
                  </a:txBody>
                  <a:tcPr/>
                </a:tc>
                <a:tc>
                  <a:txBody>
                    <a:bodyPr/>
                    <a:lstStyle/>
                    <a:p>
                      <a:endParaRPr lang="en-US" noProof="0" dirty="0"/>
                    </a:p>
                  </a:txBody>
                  <a:tcPr>
                    <a:solidFill>
                      <a:schemeClr val="accent3">
                        <a:lumMod val="20000"/>
                        <a:lumOff val="80000"/>
                      </a:schemeClr>
                    </a:solidFill>
                  </a:tcPr>
                </a:tc>
                <a:tc>
                  <a:txBody>
                    <a:bodyPr/>
                    <a:lstStyle/>
                    <a:p>
                      <a:endParaRPr lang="en-US" noProof="0" dirty="0"/>
                    </a:p>
                  </a:txBody>
                  <a:tcPr>
                    <a:solidFill>
                      <a:schemeClr val="bg1"/>
                    </a:solidFill>
                  </a:tcPr>
                </a:tc>
                <a:extLst>
                  <a:ext uri="{0D108BD9-81ED-4DB2-BD59-A6C34878D82A}">
                    <a16:rowId xmlns:a16="http://schemas.microsoft.com/office/drawing/2014/main" val="3084250803"/>
                  </a:ext>
                </a:extLst>
              </a:tr>
              <a:tr h="0">
                <a:tc>
                  <a:txBody>
                    <a:bodyPr/>
                    <a:lstStyle/>
                    <a:p>
                      <a:endParaRPr lang="en-US" noProof="0" dirty="0"/>
                    </a:p>
                  </a:txBody>
                  <a:tcPr/>
                </a:tc>
                <a:tc>
                  <a:txBody>
                    <a:bodyPr/>
                    <a:lstStyle/>
                    <a:p>
                      <a:endParaRPr lang="en-US" noProof="0" dirty="0"/>
                    </a:p>
                  </a:txBody>
                  <a:tcPr>
                    <a:solidFill>
                      <a:schemeClr val="accent3">
                        <a:lumMod val="40000"/>
                        <a:lumOff val="60000"/>
                      </a:schemeClr>
                    </a:solidFill>
                  </a:tcPr>
                </a:tc>
                <a:tc>
                  <a:txBody>
                    <a:bodyPr/>
                    <a:lstStyle/>
                    <a:p>
                      <a:endParaRPr lang="en-US" noProof="0" dirty="0"/>
                    </a:p>
                  </a:txBody>
                  <a:tcPr>
                    <a:solidFill>
                      <a:schemeClr val="bg1">
                        <a:lumMod val="95000"/>
                      </a:schemeClr>
                    </a:solidFill>
                  </a:tcPr>
                </a:tc>
                <a:extLst>
                  <a:ext uri="{0D108BD9-81ED-4DB2-BD59-A6C34878D82A}">
                    <a16:rowId xmlns:a16="http://schemas.microsoft.com/office/drawing/2014/main" val="3356807227"/>
                  </a:ext>
                </a:extLst>
              </a:tr>
              <a:tr h="0">
                <a:tc>
                  <a:txBody>
                    <a:bodyPr/>
                    <a:lstStyle/>
                    <a:p>
                      <a:endParaRPr lang="en-US" noProof="0" dirty="0"/>
                    </a:p>
                  </a:txBody>
                  <a:tcPr/>
                </a:tc>
                <a:tc>
                  <a:txBody>
                    <a:bodyPr/>
                    <a:lstStyle/>
                    <a:p>
                      <a:endParaRPr lang="en-US" noProof="0" dirty="0"/>
                    </a:p>
                  </a:txBody>
                  <a:tcPr>
                    <a:solidFill>
                      <a:schemeClr val="accent3">
                        <a:lumMod val="20000"/>
                        <a:lumOff val="80000"/>
                      </a:schemeClr>
                    </a:solidFill>
                  </a:tcPr>
                </a:tc>
                <a:tc>
                  <a:txBody>
                    <a:bodyPr/>
                    <a:lstStyle/>
                    <a:p>
                      <a:endParaRPr lang="en-US" noProof="0" dirty="0"/>
                    </a:p>
                  </a:txBody>
                  <a:tcPr>
                    <a:solidFill>
                      <a:schemeClr val="bg1"/>
                    </a:solidFill>
                  </a:tcPr>
                </a:tc>
                <a:extLst>
                  <a:ext uri="{0D108BD9-81ED-4DB2-BD59-A6C34878D82A}">
                    <a16:rowId xmlns:a16="http://schemas.microsoft.com/office/drawing/2014/main" val="143162048"/>
                  </a:ext>
                </a:extLst>
              </a:tr>
            </a:tbl>
          </a:graphicData>
        </a:graphic>
      </p:graphicFrame>
      <p:sp>
        <p:nvSpPr>
          <p:cNvPr id="61" name="TextBox 60">
            <a:extLst>
              <a:ext uri="{FF2B5EF4-FFF2-40B4-BE49-F238E27FC236}">
                <a16:creationId xmlns:a16="http://schemas.microsoft.com/office/drawing/2014/main" id="{55329C02-3C0B-96AA-E2F4-CBD2B574443A}"/>
              </a:ext>
            </a:extLst>
          </p:cNvPr>
          <p:cNvSpPr txBox="1"/>
          <p:nvPr/>
        </p:nvSpPr>
        <p:spPr>
          <a:xfrm>
            <a:off x="6430963" y="1690601"/>
            <a:ext cx="1849224" cy="400110"/>
          </a:xfrm>
          <a:prstGeom prst="rect">
            <a:avLst/>
          </a:prstGeom>
          <a:noFill/>
        </p:spPr>
        <p:txBody>
          <a:bodyPr wrap="none" rtlCol="0">
            <a:spAutoFit/>
          </a:bodyPr>
          <a:lstStyle/>
          <a:p>
            <a:r>
              <a:rPr lang="en-US" sz="2000" b="1" noProof="0" dirty="0"/>
              <a:t>Assumed DAG</a:t>
            </a:r>
          </a:p>
        </p:txBody>
      </p:sp>
      <p:sp>
        <p:nvSpPr>
          <p:cNvPr id="62" name="TextBox 61">
            <a:extLst>
              <a:ext uri="{FF2B5EF4-FFF2-40B4-BE49-F238E27FC236}">
                <a16:creationId xmlns:a16="http://schemas.microsoft.com/office/drawing/2014/main" id="{A8C493A9-C56F-3EBF-B329-CF24AC2B1C09}"/>
              </a:ext>
            </a:extLst>
          </p:cNvPr>
          <p:cNvSpPr txBox="1"/>
          <p:nvPr/>
        </p:nvSpPr>
        <p:spPr>
          <a:xfrm>
            <a:off x="9174219" y="1690601"/>
            <a:ext cx="1935786" cy="400110"/>
          </a:xfrm>
          <a:prstGeom prst="rect">
            <a:avLst/>
          </a:prstGeom>
          <a:noFill/>
        </p:spPr>
        <p:txBody>
          <a:bodyPr wrap="none" rtlCol="0">
            <a:spAutoFit/>
          </a:bodyPr>
          <a:lstStyle/>
          <a:p>
            <a:r>
              <a:rPr lang="en-US" sz="2000" b="1" noProof="0" dirty="0"/>
              <a:t>Collected Data</a:t>
            </a:r>
          </a:p>
        </p:txBody>
      </p:sp>
      <p:grpSp>
        <p:nvGrpSpPr>
          <p:cNvPr id="64" name="Group 63">
            <a:extLst>
              <a:ext uri="{FF2B5EF4-FFF2-40B4-BE49-F238E27FC236}">
                <a16:creationId xmlns:a16="http://schemas.microsoft.com/office/drawing/2014/main" id="{193598F5-951A-56F3-BBEF-61C1856BE23B}"/>
              </a:ext>
            </a:extLst>
          </p:cNvPr>
          <p:cNvGrpSpPr/>
          <p:nvPr/>
        </p:nvGrpSpPr>
        <p:grpSpPr>
          <a:xfrm>
            <a:off x="838200" y="4908923"/>
            <a:ext cx="10515599" cy="946595"/>
            <a:chOff x="775411" y="5230368"/>
            <a:chExt cx="10515599" cy="946595"/>
          </a:xfrm>
        </p:grpSpPr>
        <p:sp>
          <p:nvSpPr>
            <p:cNvPr id="65" name="Rectangle: Rounded Corners 64">
              <a:extLst>
                <a:ext uri="{FF2B5EF4-FFF2-40B4-BE49-F238E27FC236}">
                  <a16:creationId xmlns:a16="http://schemas.microsoft.com/office/drawing/2014/main" id="{6DE7F9E6-E4E8-1C2B-B20A-4B7D281BBAD6}"/>
                </a:ext>
              </a:extLst>
            </p:cNvPr>
            <p:cNvSpPr/>
            <p:nvPr/>
          </p:nvSpPr>
          <p:spPr>
            <a:xfrm>
              <a:off x="775411" y="5230368"/>
              <a:ext cx="10515599" cy="946595"/>
            </a:xfrm>
            <a:prstGeom prst="roundRect">
              <a:avLst/>
            </a:prstGeom>
            <a:solidFill>
              <a:schemeClr val="tx2"/>
            </a:solidFill>
            <a:ln>
              <a:solidFill>
                <a:schemeClr val="tx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612000" rtlCol="0" anchor="ctr"/>
            <a:lstStyle/>
            <a:p>
              <a:r>
                <a:rPr lang="en-US" noProof="0" dirty="0"/>
                <a:t>Determine the variables about which you need to collect data in order to estimate an unbiased effect of interest </a:t>
              </a:r>
              <a:r>
                <a:rPr lang="en-US" i="1" noProof="0" dirty="0"/>
                <a:t>before </a:t>
              </a:r>
              <a:r>
                <a:rPr lang="en-US" noProof="0" dirty="0"/>
                <a:t>collecting that data.</a:t>
              </a:r>
            </a:p>
          </p:txBody>
        </p:sp>
        <p:pic>
          <p:nvPicPr>
            <p:cNvPr id="66" name="Graphic 65" descr="Open quotation mark with solid fill">
              <a:extLst>
                <a:ext uri="{FF2B5EF4-FFF2-40B4-BE49-F238E27FC236}">
                  <a16:creationId xmlns:a16="http://schemas.microsoft.com/office/drawing/2014/main" id="{E4B5AC4F-E187-1562-511D-443BD5D23FD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rot="10800000">
              <a:off x="775412" y="5343665"/>
              <a:ext cx="720000" cy="720000"/>
            </a:xfrm>
            <a:prstGeom prst="rect">
              <a:avLst/>
            </a:prstGeom>
          </p:spPr>
        </p:pic>
      </p:grpSp>
      <p:graphicFrame>
        <p:nvGraphicFramePr>
          <p:cNvPr id="3" name="Table 2">
            <a:extLst>
              <a:ext uri="{FF2B5EF4-FFF2-40B4-BE49-F238E27FC236}">
                <a16:creationId xmlns:a16="http://schemas.microsoft.com/office/drawing/2014/main" id="{CDB9043E-D208-2109-499A-812E7CC2769D}"/>
              </a:ext>
            </a:extLst>
          </p:cNvPr>
          <p:cNvGraphicFramePr>
            <a:graphicFrameLocks noGrp="1"/>
          </p:cNvGraphicFramePr>
          <p:nvPr/>
        </p:nvGraphicFramePr>
        <p:xfrm>
          <a:off x="9138812" y="2614326"/>
          <a:ext cx="1003300" cy="1828800"/>
        </p:xfrm>
        <a:graphic>
          <a:graphicData uri="http://schemas.openxmlformats.org/drawingml/2006/table">
            <a:tbl>
              <a:tblPr firstRow="1" bandRow="1">
                <a:tableStyleId>{5C22544A-7EE6-4342-B048-85BDC9FD1C3A}</a:tableStyleId>
              </a:tblPr>
              <a:tblGrid>
                <a:gridCol w="501650">
                  <a:extLst>
                    <a:ext uri="{9D8B030D-6E8A-4147-A177-3AD203B41FA5}">
                      <a16:colId xmlns:a16="http://schemas.microsoft.com/office/drawing/2014/main" val="421997289"/>
                    </a:ext>
                  </a:extLst>
                </a:gridCol>
                <a:gridCol w="501650">
                  <a:extLst>
                    <a:ext uri="{9D8B030D-6E8A-4147-A177-3AD203B41FA5}">
                      <a16:colId xmlns:a16="http://schemas.microsoft.com/office/drawing/2014/main" val="794981153"/>
                    </a:ext>
                  </a:extLst>
                </a:gridCol>
              </a:tblGrid>
              <a:tr h="0">
                <a:tc>
                  <a:txBody>
                    <a:bodyPr/>
                    <a:lstStyle/>
                    <a:p>
                      <a:r>
                        <a:rPr lang="en-US" noProof="0" dirty="0"/>
                        <a:t>x</a:t>
                      </a:r>
                    </a:p>
                  </a:txBody>
                  <a:tcPr>
                    <a:solidFill>
                      <a:srgbClr val="F8766D"/>
                    </a:solidFill>
                  </a:tcPr>
                </a:tc>
                <a:tc>
                  <a:txBody>
                    <a:bodyPr/>
                    <a:lstStyle/>
                    <a:p>
                      <a:r>
                        <a:rPr lang="en-US" noProof="0" dirty="0"/>
                        <a:t>y</a:t>
                      </a:r>
                    </a:p>
                  </a:txBody>
                  <a:tcPr>
                    <a:solidFill>
                      <a:srgbClr val="00BFC4"/>
                    </a:solidFill>
                  </a:tcPr>
                </a:tc>
                <a:extLst>
                  <a:ext uri="{0D108BD9-81ED-4DB2-BD59-A6C34878D82A}">
                    <a16:rowId xmlns:a16="http://schemas.microsoft.com/office/drawing/2014/main" val="1542626891"/>
                  </a:ext>
                </a:extLst>
              </a:tr>
              <a:tr h="0">
                <a:tc>
                  <a:txBody>
                    <a:bodyPr/>
                    <a:lstStyle/>
                    <a:p>
                      <a:endParaRPr lang="en-US" noProof="0" dirty="0"/>
                    </a:p>
                  </a:txBody>
                  <a:tcPr/>
                </a:tc>
                <a:tc>
                  <a:txBody>
                    <a:bodyPr/>
                    <a:lstStyle/>
                    <a:p>
                      <a:endParaRPr lang="en-US" noProof="0" dirty="0"/>
                    </a:p>
                  </a:txBody>
                  <a:tcPr>
                    <a:solidFill>
                      <a:schemeClr val="accent3">
                        <a:lumMod val="40000"/>
                        <a:lumOff val="60000"/>
                      </a:schemeClr>
                    </a:solidFill>
                  </a:tcPr>
                </a:tc>
                <a:extLst>
                  <a:ext uri="{0D108BD9-81ED-4DB2-BD59-A6C34878D82A}">
                    <a16:rowId xmlns:a16="http://schemas.microsoft.com/office/drawing/2014/main" val="853162634"/>
                  </a:ext>
                </a:extLst>
              </a:tr>
              <a:tr h="0">
                <a:tc>
                  <a:txBody>
                    <a:bodyPr/>
                    <a:lstStyle/>
                    <a:p>
                      <a:endParaRPr lang="en-US" noProof="0" dirty="0"/>
                    </a:p>
                  </a:txBody>
                  <a:tcPr/>
                </a:tc>
                <a:tc>
                  <a:txBody>
                    <a:bodyPr/>
                    <a:lstStyle/>
                    <a:p>
                      <a:endParaRPr lang="en-US" noProof="0" dirty="0"/>
                    </a:p>
                  </a:txBody>
                  <a:tcPr>
                    <a:solidFill>
                      <a:schemeClr val="accent3">
                        <a:lumMod val="20000"/>
                        <a:lumOff val="80000"/>
                      </a:schemeClr>
                    </a:solidFill>
                  </a:tcPr>
                </a:tc>
                <a:extLst>
                  <a:ext uri="{0D108BD9-81ED-4DB2-BD59-A6C34878D82A}">
                    <a16:rowId xmlns:a16="http://schemas.microsoft.com/office/drawing/2014/main" val="3084250803"/>
                  </a:ext>
                </a:extLst>
              </a:tr>
              <a:tr h="0">
                <a:tc>
                  <a:txBody>
                    <a:bodyPr/>
                    <a:lstStyle/>
                    <a:p>
                      <a:endParaRPr lang="en-US" noProof="0" dirty="0"/>
                    </a:p>
                  </a:txBody>
                  <a:tcPr/>
                </a:tc>
                <a:tc>
                  <a:txBody>
                    <a:bodyPr/>
                    <a:lstStyle/>
                    <a:p>
                      <a:endParaRPr lang="en-US" noProof="0" dirty="0"/>
                    </a:p>
                  </a:txBody>
                  <a:tcPr>
                    <a:solidFill>
                      <a:schemeClr val="accent3">
                        <a:lumMod val="40000"/>
                        <a:lumOff val="60000"/>
                      </a:schemeClr>
                    </a:solidFill>
                  </a:tcPr>
                </a:tc>
                <a:extLst>
                  <a:ext uri="{0D108BD9-81ED-4DB2-BD59-A6C34878D82A}">
                    <a16:rowId xmlns:a16="http://schemas.microsoft.com/office/drawing/2014/main" val="3356807227"/>
                  </a:ext>
                </a:extLst>
              </a:tr>
              <a:tr h="0">
                <a:tc>
                  <a:txBody>
                    <a:bodyPr/>
                    <a:lstStyle/>
                    <a:p>
                      <a:endParaRPr lang="en-US" noProof="0" dirty="0"/>
                    </a:p>
                  </a:txBody>
                  <a:tcPr/>
                </a:tc>
                <a:tc>
                  <a:txBody>
                    <a:bodyPr/>
                    <a:lstStyle/>
                    <a:p>
                      <a:endParaRPr lang="en-US" noProof="0" dirty="0"/>
                    </a:p>
                  </a:txBody>
                  <a:tcPr>
                    <a:solidFill>
                      <a:schemeClr val="accent3">
                        <a:lumMod val="20000"/>
                        <a:lumOff val="80000"/>
                      </a:schemeClr>
                    </a:solidFill>
                  </a:tcPr>
                </a:tc>
                <a:extLst>
                  <a:ext uri="{0D108BD9-81ED-4DB2-BD59-A6C34878D82A}">
                    <a16:rowId xmlns:a16="http://schemas.microsoft.com/office/drawing/2014/main" val="143162048"/>
                  </a:ext>
                </a:extLst>
              </a:tr>
            </a:tbl>
          </a:graphicData>
        </a:graphic>
      </p:graphicFrame>
    </p:spTree>
    <p:extLst>
      <p:ext uri="{BB962C8B-B14F-4D97-AF65-F5344CB8AC3E}">
        <p14:creationId xmlns:p14="http://schemas.microsoft.com/office/powerpoint/2010/main" val="15749309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nodeType="clickEffect">
                                  <p:stCondLst>
                                    <p:cond delay="0"/>
                                  </p:stCondLst>
                                  <p:childTnLst>
                                    <p:set>
                                      <p:cBhvr>
                                        <p:cTn id="10" dur="1" fill="hold">
                                          <p:stCondLst>
                                            <p:cond delay="0"/>
                                          </p:stCondLst>
                                        </p:cTn>
                                        <p:tgtEl>
                                          <p:spTgt spid="64"/>
                                        </p:tgtEl>
                                        <p:attrNameLst>
                                          <p:attrName>style.visibility</p:attrName>
                                        </p:attrNameLst>
                                      </p:cBhvr>
                                      <p:to>
                                        <p:strVal val="visible"/>
                                      </p:to>
                                    </p:set>
                                    <p:animEffect transition="in" filter="fade">
                                      <p:cBhvr>
                                        <p:cTn id="11" dur="500"/>
                                        <p:tgtEl>
                                          <p:spTgt spid="64"/>
                                        </p:tgtEl>
                                      </p:cBhvr>
                                    </p:animEffect>
                                    <p:anim calcmode="lin" valueType="num">
                                      <p:cBhvr>
                                        <p:cTn id="12" dur="500" fill="hold"/>
                                        <p:tgtEl>
                                          <p:spTgt spid="64"/>
                                        </p:tgtEl>
                                        <p:attrNameLst>
                                          <p:attrName>ppt_x</p:attrName>
                                        </p:attrNameLst>
                                      </p:cBhvr>
                                      <p:tavLst>
                                        <p:tav tm="0">
                                          <p:val>
                                            <p:strVal val="#ppt_x"/>
                                          </p:val>
                                        </p:tav>
                                        <p:tav tm="100000">
                                          <p:val>
                                            <p:strVal val="#ppt_x"/>
                                          </p:val>
                                        </p:tav>
                                      </p:tavLst>
                                    </p:anim>
                                    <p:anim calcmode="lin" valueType="num">
                                      <p:cBhvr>
                                        <p:cTn id="13" dur="500" fill="hold"/>
                                        <p:tgtEl>
                                          <p:spTgt spid="6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9DD39-8B59-5D8C-09E9-AD8E405779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B0B64E-8BC6-E2FE-ED99-91C802DEA58E}"/>
              </a:ext>
            </a:extLst>
          </p:cNvPr>
          <p:cNvSpPr>
            <a:spLocks noGrp="1"/>
          </p:cNvSpPr>
          <p:nvPr>
            <p:ph type="title"/>
          </p:nvPr>
        </p:nvSpPr>
        <p:spPr/>
        <p:txBody>
          <a:bodyPr/>
          <a:lstStyle/>
          <a:p>
            <a:r>
              <a:rPr lang="en-US" noProof="0" dirty="0"/>
              <a:t>Scientific Workflow: Best</a:t>
            </a:r>
          </a:p>
        </p:txBody>
      </p:sp>
      <p:sp>
        <p:nvSpPr>
          <p:cNvPr id="4" name="Date Placeholder 3">
            <a:extLst>
              <a:ext uri="{FF2B5EF4-FFF2-40B4-BE49-F238E27FC236}">
                <a16:creationId xmlns:a16="http://schemas.microsoft.com/office/drawing/2014/main" id="{95A91F56-9AAA-679F-8857-C6BA69F29280}"/>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48F42585-0E0B-FF6B-5755-28DAE2AC3B99}"/>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32535A42-47D3-638D-384E-C2D18C0DD390}"/>
              </a:ext>
            </a:extLst>
          </p:cNvPr>
          <p:cNvSpPr>
            <a:spLocks noGrp="1"/>
          </p:cNvSpPr>
          <p:nvPr>
            <p:ph type="sldNum" sz="quarter" idx="12"/>
          </p:nvPr>
        </p:nvSpPr>
        <p:spPr/>
        <p:txBody>
          <a:bodyPr/>
          <a:lstStyle/>
          <a:p>
            <a:fld id="{0FA2D919-C0DE-4971-A2E9-D4AC0031921B}" type="slidenum">
              <a:rPr lang="en-US" noProof="0" smtClean="0"/>
              <a:t>52</a:t>
            </a:fld>
            <a:endParaRPr lang="en-US" noProof="0" dirty="0"/>
          </a:p>
        </p:txBody>
      </p:sp>
      <p:sp>
        <p:nvSpPr>
          <p:cNvPr id="14" name="Oval 13">
            <a:extLst>
              <a:ext uri="{FF2B5EF4-FFF2-40B4-BE49-F238E27FC236}">
                <a16:creationId xmlns:a16="http://schemas.microsoft.com/office/drawing/2014/main" id="{BC331DDF-CB3E-904B-15EE-A67C71456020}"/>
              </a:ext>
            </a:extLst>
          </p:cNvPr>
          <p:cNvSpPr/>
          <p:nvPr/>
        </p:nvSpPr>
        <p:spPr>
          <a:xfrm>
            <a:off x="6458873" y="3479501"/>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dirty="0"/>
              <a:t>x</a:t>
            </a:r>
          </a:p>
        </p:txBody>
      </p:sp>
      <p:sp>
        <p:nvSpPr>
          <p:cNvPr id="15" name="Oval 14">
            <a:extLst>
              <a:ext uri="{FF2B5EF4-FFF2-40B4-BE49-F238E27FC236}">
                <a16:creationId xmlns:a16="http://schemas.microsoft.com/office/drawing/2014/main" id="{3A75D904-EEA8-9B0A-A8DC-8D20264148A5}"/>
              </a:ext>
            </a:extLst>
          </p:cNvPr>
          <p:cNvSpPr/>
          <p:nvPr/>
        </p:nvSpPr>
        <p:spPr>
          <a:xfrm>
            <a:off x="7892286" y="3479501"/>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dirty="0"/>
              <a:t>y</a:t>
            </a:r>
          </a:p>
        </p:txBody>
      </p:sp>
      <p:cxnSp>
        <p:nvCxnSpPr>
          <p:cNvPr id="16" name="Straight Arrow Connector 15">
            <a:extLst>
              <a:ext uri="{FF2B5EF4-FFF2-40B4-BE49-F238E27FC236}">
                <a16:creationId xmlns:a16="http://schemas.microsoft.com/office/drawing/2014/main" id="{A8A0A128-6EB9-C94F-41DD-3907C1461644}"/>
              </a:ext>
            </a:extLst>
          </p:cNvPr>
          <p:cNvCxnSpPr>
            <a:stCxn id="14" idx="6"/>
            <a:endCxn id="15" idx="2"/>
          </p:cNvCxnSpPr>
          <p:nvPr/>
        </p:nvCxnSpPr>
        <p:spPr>
          <a:xfrm>
            <a:off x="6818873" y="3659501"/>
            <a:ext cx="1073413"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8" name="Oval 17">
            <a:extLst>
              <a:ext uri="{FF2B5EF4-FFF2-40B4-BE49-F238E27FC236}">
                <a16:creationId xmlns:a16="http://schemas.microsoft.com/office/drawing/2014/main" id="{2A88E45B-1F0F-0AB7-B354-FCD5A965618C}"/>
              </a:ext>
            </a:extLst>
          </p:cNvPr>
          <p:cNvSpPr/>
          <p:nvPr/>
        </p:nvSpPr>
        <p:spPr>
          <a:xfrm>
            <a:off x="7175578" y="2830463"/>
            <a:ext cx="360000" cy="360000"/>
          </a:xfrm>
          <a:prstGeom prst="ellipse">
            <a:avLst/>
          </a:prstGeom>
          <a:solidFill>
            <a:schemeClr val="bg1">
              <a:lumMod val="8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dirty="0">
                <a:solidFill>
                  <a:schemeClr val="tx1"/>
                </a:solidFill>
              </a:rPr>
              <a:t>z</a:t>
            </a:r>
          </a:p>
        </p:txBody>
      </p:sp>
      <p:cxnSp>
        <p:nvCxnSpPr>
          <p:cNvPr id="19" name="Straight Arrow Connector 18">
            <a:extLst>
              <a:ext uri="{FF2B5EF4-FFF2-40B4-BE49-F238E27FC236}">
                <a16:creationId xmlns:a16="http://schemas.microsoft.com/office/drawing/2014/main" id="{873CCAF2-7360-F88B-D789-132901BB1BDD}"/>
              </a:ext>
            </a:extLst>
          </p:cNvPr>
          <p:cNvCxnSpPr>
            <a:cxnSpLocks/>
            <a:stCxn id="18" idx="3"/>
            <a:endCxn id="14" idx="7"/>
          </p:cNvCxnSpPr>
          <p:nvPr/>
        </p:nvCxnSpPr>
        <p:spPr>
          <a:xfrm flipH="1">
            <a:off x="6766152" y="3137742"/>
            <a:ext cx="462147" cy="39448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2" name="Straight Arrow Connector 21">
            <a:extLst>
              <a:ext uri="{FF2B5EF4-FFF2-40B4-BE49-F238E27FC236}">
                <a16:creationId xmlns:a16="http://schemas.microsoft.com/office/drawing/2014/main" id="{9F6BE72C-1F3B-C825-92A9-11708F24D109}"/>
              </a:ext>
            </a:extLst>
          </p:cNvPr>
          <p:cNvCxnSpPr>
            <a:cxnSpLocks/>
            <a:stCxn id="18" idx="5"/>
            <a:endCxn id="15" idx="1"/>
          </p:cNvCxnSpPr>
          <p:nvPr/>
        </p:nvCxnSpPr>
        <p:spPr>
          <a:xfrm>
            <a:off x="7482857" y="3137742"/>
            <a:ext cx="462150" cy="39448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6" name="Oval 25">
            <a:extLst>
              <a:ext uri="{FF2B5EF4-FFF2-40B4-BE49-F238E27FC236}">
                <a16:creationId xmlns:a16="http://schemas.microsoft.com/office/drawing/2014/main" id="{5777570C-9AD2-9320-5DBB-022CC1B6D5EB}"/>
              </a:ext>
            </a:extLst>
          </p:cNvPr>
          <p:cNvSpPr/>
          <p:nvPr/>
        </p:nvSpPr>
        <p:spPr>
          <a:xfrm>
            <a:off x="7175578" y="4135645"/>
            <a:ext cx="360000" cy="360000"/>
          </a:xfrm>
          <a:prstGeom prst="ellipse">
            <a:avLst/>
          </a:prstGeom>
          <a:solidFill>
            <a:schemeClr val="bg1">
              <a:lumMod val="65000"/>
            </a:schemeClr>
          </a:solidFill>
          <a:ln>
            <a:solidFill>
              <a:schemeClr val="tx1">
                <a:lumMod val="95000"/>
                <a:lumOff val="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dirty="0">
                <a:solidFill>
                  <a:schemeClr val="tx1"/>
                </a:solidFill>
              </a:rPr>
              <a:t>a</a:t>
            </a:r>
          </a:p>
        </p:txBody>
      </p:sp>
      <p:cxnSp>
        <p:nvCxnSpPr>
          <p:cNvPr id="27" name="Straight Arrow Connector 26">
            <a:extLst>
              <a:ext uri="{FF2B5EF4-FFF2-40B4-BE49-F238E27FC236}">
                <a16:creationId xmlns:a16="http://schemas.microsoft.com/office/drawing/2014/main" id="{B452CAC9-387F-DCFD-CD6D-86CB7DAFBAE3}"/>
              </a:ext>
            </a:extLst>
          </p:cNvPr>
          <p:cNvCxnSpPr>
            <a:cxnSpLocks/>
            <a:stCxn id="26" idx="7"/>
            <a:endCxn id="15" idx="3"/>
          </p:cNvCxnSpPr>
          <p:nvPr/>
        </p:nvCxnSpPr>
        <p:spPr>
          <a:xfrm flipV="1">
            <a:off x="7482857" y="3786780"/>
            <a:ext cx="462150" cy="40158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0" name="Straight Arrow Connector 29">
            <a:extLst>
              <a:ext uri="{FF2B5EF4-FFF2-40B4-BE49-F238E27FC236}">
                <a16:creationId xmlns:a16="http://schemas.microsoft.com/office/drawing/2014/main" id="{F663BD1A-242B-5871-C21B-AC3941A7170D}"/>
              </a:ext>
            </a:extLst>
          </p:cNvPr>
          <p:cNvCxnSpPr>
            <a:cxnSpLocks/>
            <a:stCxn id="26" idx="1"/>
            <a:endCxn id="14" idx="5"/>
          </p:cNvCxnSpPr>
          <p:nvPr/>
        </p:nvCxnSpPr>
        <p:spPr>
          <a:xfrm flipH="1" flipV="1">
            <a:off x="6766152" y="3786780"/>
            <a:ext cx="462147" cy="40158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57" name="TextBox 56">
            <a:extLst>
              <a:ext uri="{FF2B5EF4-FFF2-40B4-BE49-F238E27FC236}">
                <a16:creationId xmlns:a16="http://schemas.microsoft.com/office/drawing/2014/main" id="{7486070D-16BB-3177-DCDB-14D9AA5BAA5E}"/>
              </a:ext>
            </a:extLst>
          </p:cNvPr>
          <p:cNvSpPr txBox="1"/>
          <p:nvPr/>
        </p:nvSpPr>
        <p:spPr>
          <a:xfrm>
            <a:off x="6394929" y="2091388"/>
            <a:ext cx="1921295" cy="646331"/>
          </a:xfrm>
          <a:prstGeom prst="rect">
            <a:avLst/>
          </a:prstGeom>
          <a:noFill/>
        </p:spPr>
        <p:txBody>
          <a:bodyPr wrap="none" rtlCol="0">
            <a:spAutoFit/>
          </a:bodyPr>
          <a:lstStyle/>
          <a:p>
            <a:pPr algn="ctr"/>
            <a:r>
              <a:rPr lang="en-US" noProof="0" dirty="0"/>
              <a:t>hard-to-measure </a:t>
            </a:r>
          </a:p>
          <a:p>
            <a:pPr algn="ctr"/>
            <a:r>
              <a:rPr lang="en-US" noProof="0" dirty="0"/>
              <a:t>confounder</a:t>
            </a:r>
          </a:p>
        </p:txBody>
      </p:sp>
      <p:sp>
        <p:nvSpPr>
          <p:cNvPr id="58" name="TextBox 57">
            <a:extLst>
              <a:ext uri="{FF2B5EF4-FFF2-40B4-BE49-F238E27FC236}">
                <a16:creationId xmlns:a16="http://schemas.microsoft.com/office/drawing/2014/main" id="{3EB52FC4-5315-19CF-37A0-35B296CEBD64}"/>
              </a:ext>
            </a:extLst>
          </p:cNvPr>
          <p:cNvSpPr txBox="1"/>
          <p:nvPr/>
        </p:nvSpPr>
        <p:spPr>
          <a:xfrm>
            <a:off x="6581421" y="4618660"/>
            <a:ext cx="1548309" cy="646331"/>
          </a:xfrm>
          <a:prstGeom prst="rect">
            <a:avLst/>
          </a:prstGeom>
          <a:noFill/>
        </p:spPr>
        <p:txBody>
          <a:bodyPr wrap="none" rtlCol="0">
            <a:spAutoFit/>
          </a:bodyPr>
          <a:lstStyle/>
          <a:p>
            <a:pPr algn="ctr"/>
            <a:r>
              <a:rPr lang="en-US" noProof="0" dirty="0"/>
              <a:t>unobservable</a:t>
            </a:r>
          </a:p>
          <a:p>
            <a:pPr algn="ctr"/>
            <a:r>
              <a:rPr lang="en-US" noProof="0" dirty="0"/>
              <a:t>confounder</a:t>
            </a:r>
          </a:p>
        </p:txBody>
      </p:sp>
      <p:graphicFrame>
        <p:nvGraphicFramePr>
          <p:cNvPr id="13" name="Table 12">
            <a:extLst>
              <a:ext uri="{FF2B5EF4-FFF2-40B4-BE49-F238E27FC236}">
                <a16:creationId xmlns:a16="http://schemas.microsoft.com/office/drawing/2014/main" id="{6401610E-1C53-2A26-F353-FC2E526CBA09}"/>
              </a:ext>
            </a:extLst>
          </p:cNvPr>
          <p:cNvGraphicFramePr>
            <a:graphicFrameLocks noGrp="1"/>
          </p:cNvGraphicFramePr>
          <p:nvPr/>
        </p:nvGraphicFramePr>
        <p:xfrm>
          <a:off x="9138812" y="2614326"/>
          <a:ext cx="2006600" cy="1828800"/>
        </p:xfrm>
        <a:graphic>
          <a:graphicData uri="http://schemas.openxmlformats.org/drawingml/2006/table">
            <a:tbl>
              <a:tblPr firstRow="1" bandRow="1">
                <a:tableStyleId>{5C22544A-7EE6-4342-B048-85BDC9FD1C3A}</a:tableStyleId>
              </a:tblPr>
              <a:tblGrid>
                <a:gridCol w="501650">
                  <a:extLst>
                    <a:ext uri="{9D8B030D-6E8A-4147-A177-3AD203B41FA5}">
                      <a16:colId xmlns:a16="http://schemas.microsoft.com/office/drawing/2014/main" val="421997289"/>
                    </a:ext>
                  </a:extLst>
                </a:gridCol>
                <a:gridCol w="501650">
                  <a:extLst>
                    <a:ext uri="{9D8B030D-6E8A-4147-A177-3AD203B41FA5}">
                      <a16:colId xmlns:a16="http://schemas.microsoft.com/office/drawing/2014/main" val="794981153"/>
                    </a:ext>
                  </a:extLst>
                </a:gridCol>
                <a:gridCol w="501650">
                  <a:extLst>
                    <a:ext uri="{9D8B030D-6E8A-4147-A177-3AD203B41FA5}">
                      <a16:colId xmlns:a16="http://schemas.microsoft.com/office/drawing/2014/main" val="515357490"/>
                    </a:ext>
                  </a:extLst>
                </a:gridCol>
                <a:gridCol w="501650">
                  <a:extLst>
                    <a:ext uri="{9D8B030D-6E8A-4147-A177-3AD203B41FA5}">
                      <a16:colId xmlns:a16="http://schemas.microsoft.com/office/drawing/2014/main" val="25261979"/>
                    </a:ext>
                  </a:extLst>
                </a:gridCol>
              </a:tblGrid>
              <a:tr h="0">
                <a:tc>
                  <a:txBody>
                    <a:bodyPr/>
                    <a:lstStyle/>
                    <a:p>
                      <a:r>
                        <a:rPr lang="en-US" noProof="0" dirty="0"/>
                        <a:t>x</a:t>
                      </a:r>
                    </a:p>
                  </a:txBody>
                  <a:tcPr>
                    <a:solidFill>
                      <a:srgbClr val="F8766D"/>
                    </a:solidFill>
                  </a:tcPr>
                </a:tc>
                <a:tc>
                  <a:txBody>
                    <a:bodyPr/>
                    <a:lstStyle/>
                    <a:p>
                      <a:r>
                        <a:rPr lang="en-US" noProof="0" dirty="0"/>
                        <a:t>y</a:t>
                      </a:r>
                    </a:p>
                  </a:txBody>
                  <a:tcPr>
                    <a:solidFill>
                      <a:srgbClr val="00BFC4"/>
                    </a:solidFill>
                  </a:tcPr>
                </a:tc>
                <a:tc>
                  <a:txBody>
                    <a:bodyPr/>
                    <a:lstStyle/>
                    <a:p>
                      <a:r>
                        <a:rPr lang="en-US" noProof="0" dirty="0">
                          <a:solidFill>
                            <a:schemeClr val="tx1"/>
                          </a:solidFill>
                        </a:rPr>
                        <a:t>z</a:t>
                      </a:r>
                    </a:p>
                  </a:txBody>
                  <a:tcPr>
                    <a:solidFill>
                      <a:schemeClr val="bg1">
                        <a:lumMod val="85000"/>
                      </a:schemeClr>
                    </a:solidFill>
                  </a:tcPr>
                </a:tc>
                <a:tc>
                  <a:txBody>
                    <a:bodyPr/>
                    <a:lstStyle/>
                    <a:p>
                      <a:r>
                        <a:rPr lang="en-US" noProof="0" dirty="0">
                          <a:solidFill>
                            <a:schemeClr val="tx1"/>
                          </a:solidFill>
                        </a:rPr>
                        <a:t>a</a:t>
                      </a:r>
                    </a:p>
                  </a:txBody>
                  <a:tcPr>
                    <a:solidFill>
                      <a:schemeClr val="bg1">
                        <a:lumMod val="65000"/>
                      </a:schemeClr>
                    </a:solidFill>
                  </a:tcPr>
                </a:tc>
                <a:extLst>
                  <a:ext uri="{0D108BD9-81ED-4DB2-BD59-A6C34878D82A}">
                    <a16:rowId xmlns:a16="http://schemas.microsoft.com/office/drawing/2014/main" val="1542626891"/>
                  </a:ext>
                </a:extLst>
              </a:tr>
              <a:tr h="0">
                <a:tc>
                  <a:txBody>
                    <a:bodyPr/>
                    <a:lstStyle/>
                    <a:p>
                      <a:endParaRPr lang="en-US" noProof="0" dirty="0"/>
                    </a:p>
                  </a:txBody>
                  <a:tcPr/>
                </a:tc>
                <a:tc>
                  <a:txBody>
                    <a:bodyPr/>
                    <a:lstStyle/>
                    <a:p>
                      <a:endParaRPr lang="en-US" noProof="0" dirty="0"/>
                    </a:p>
                  </a:txBody>
                  <a:tcPr>
                    <a:solidFill>
                      <a:schemeClr val="accent3">
                        <a:lumMod val="40000"/>
                        <a:lumOff val="60000"/>
                      </a:schemeClr>
                    </a:solidFill>
                  </a:tcPr>
                </a:tc>
                <a:tc>
                  <a:txBody>
                    <a:bodyPr/>
                    <a:lstStyle/>
                    <a:p>
                      <a:endParaRPr lang="en-US" noProof="0" dirty="0"/>
                    </a:p>
                  </a:txBody>
                  <a:tcPr>
                    <a:solidFill>
                      <a:schemeClr val="bg1">
                        <a:lumMod val="95000"/>
                      </a:schemeClr>
                    </a:solidFill>
                  </a:tcPr>
                </a:tc>
                <a:tc>
                  <a:txBody>
                    <a:bodyPr/>
                    <a:lstStyle/>
                    <a:p>
                      <a:pPr algn="ctr"/>
                      <a:r>
                        <a:rPr lang="en-US" noProof="0" dirty="0">
                          <a:solidFill>
                            <a:srgbClr val="C00000"/>
                          </a:solidFill>
                        </a:rPr>
                        <a:t>x</a:t>
                      </a:r>
                    </a:p>
                  </a:txBody>
                  <a:tcPr>
                    <a:solidFill>
                      <a:schemeClr val="bg1">
                        <a:lumMod val="75000"/>
                      </a:schemeClr>
                    </a:solidFill>
                  </a:tcPr>
                </a:tc>
                <a:extLst>
                  <a:ext uri="{0D108BD9-81ED-4DB2-BD59-A6C34878D82A}">
                    <a16:rowId xmlns:a16="http://schemas.microsoft.com/office/drawing/2014/main" val="853162634"/>
                  </a:ext>
                </a:extLst>
              </a:tr>
              <a:tr h="0">
                <a:tc>
                  <a:txBody>
                    <a:bodyPr/>
                    <a:lstStyle/>
                    <a:p>
                      <a:endParaRPr lang="en-US" noProof="0" dirty="0"/>
                    </a:p>
                  </a:txBody>
                  <a:tcPr/>
                </a:tc>
                <a:tc>
                  <a:txBody>
                    <a:bodyPr/>
                    <a:lstStyle/>
                    <a:p>
                      <a:endParaRPr lang="en-US" noProof="0" dirty="0"/>
                    </a:p>
                  </a:txBody>
                  <a:tcPr>
                    <a:solidFill>
                      <a:schemeClr val="accent3">
                        <a:lumMod val="20000"/>
                        <a:lumOff val="80000"/>
                      </a:schemeClr>
                    </a:solidFill>
                  </a:tcPr>
                </a:tc>
                <a:tc>
                  <a:txBody>
                    <a:bodyPr/>
                    <a:lstStyle/>
                    <a:p>
                      <a:endParaRPr lang="en-US" noProof="0" dirty="0"/>
                    </a:p>
                  </a:txBody>
                  <a:tcPr>
                    <a:solidFill>
                      <a:schemeClr val="bg1"/>
                    </a:solidFill>
                  </a:tcPr>
                </a:tc>
                <a:tc>
                  <a:txBody>
                    <a:bodyPr/>
                    <a:lstStyle/>
                    <a:p>
                      <a:pPr algn="ctr"/>
                      <a:r>
                        <a:rPr lang="en-US" noProof="0" dirty="0">
                          <a:solidFill>
                            <a:srgbClr val="C00000"/>
                          </a:solidFill>
                        </a:rPr>
                        <a:t>x</a:t>
                      </a:r>
                    </a:p>
                  </a:txBody>
                  <a:tcPr>
                    <a:solidFill>
                      <a:schemeClr val="bg1">
                        <a:lumMod val="85000"/>
                      </a:schemeClr>
                    </a:solidFill>
                  </a:tcPr>
                </a:tc>
                <a:extLst>
                  <a:ext uri="{0D108BD9-81ED-4DB2-BD59-A6C34878D82A}">
                    <a16:rowId xmlns:a16="http://schemas.microsoft.com/office/drawing/2014/main" val="3084250803"/>
                  </a:ext>
                </a:extLst>
              </a:tr>
              <a:tr h="0">
                <a:tc>
                  <a:txBody>
                    <a:bodyPr/>
                    <a:lstStyle/>
                    <a:p>
                      <a:endParaRPr lang="en-US" noProof="0" dirty="0"/>
                    </a:p>
                  </a:txBody>
                  <a:tcPr/>
                </a:tc>
                <a:tc>
                  <a:txBody>
                    <a:bodyPr/>
                    <a:lstStyle/>
                    <a:p>
                      <a:endParaRPr lang="en-US" noProof="0" dirty="0"/>
                    </a:p>
                  </a:txBody>
                  <a:tcPr>
                    <a:solidFill>
                      <a:schemeClr val="accent3">
                        <a:lumMod val="40000"/>
                        <a:lumOff val="60000"/>
                      </a:schemeClr>
                    </a:solidFill>
                  </a:tcPr>
                </a:tc>
                <a:tc>
                  <a:txBody>
                    <a:bodyPr/>
                    <a:lstStyle/>
                    <a:p>
                      <a:endParaRPr lang="en-US" noProof="0" dirty="0"/>
                    </a:p>
                  </a:txBody>
                  <a:tcPr>
                    <a:solidFill>
                      <a:schemeClr val="bg1">
                        <a:lumMod val="95000"/>
                      </a:schemeClr>
                    </a:solidFill>
                  </a:tcPr>
                </a:tc>
                <a:tc>
                  <a:txBody>
                    <a:bodyPr/>
                    <a:lstStyle/>
                    <a:p>
                      <a:pPr algn="ctr"/>
                      <a:r>
                        <a:rPr lang="en-US" noProof="0" dirty="0">
                          <a:solidFill>
                            <a:srgbClr val="C00000"/>
                          </a:solidFill>
                        </a:rPr>
                        <a:t>x</a:t>
                      </a:r>
                    </a:p>
                  </a:txBody>
                  <a:tcPr>
                    <a:solidFill>
                      <a:schemeClr val="bg1">
                        <a:lumMod val="75000"/>
                      </a:schemeClr>
                    </a:solidFill>
                  </a:tcPr>
                </a:tc>
                <a:extLst>
                  <a:ext uri="{0D108BD9-81ED-4DB2-BD59-A6C34878D82A}">
                    <a16:rowId xmlns:a16="http://schemas.microsoft.com/office/drawing/2014/main" val="3356807227"/>
                  </a:ext>
                </a:extLst>
              </a:tr>
              <a:tr h="0">
                <a:tc>
                  <a:txBody>
                    <a:bodyPr/>
                    <a:lstStyle/>
                    <a:p>
                      <a:endParaRPr lang="en-US" noProof="0" dirty="0"/>
                    </a:p>
                  </a:txBody>
                  <a:tcPr/>
                </a:tc>
                <a:tc>
                  <a:txBody>
                    <a:bodyPr/>
                    <a:lstStyle/>
                    <a:p>
                      <a:endParaRPr lang="en-US" noProof="0" dirty="0"/>
                    </a:p>
                  </a:txBody>
                  <a:tcPr>
                    <a:solidFill>
                      <a:schemeClr val="accent3">
                        <a:lumMod val="20000"/>
                        <a:lumOff val="80000"/>
                      </a:schemeClr>
                    </a:solidFill>
                  </a:tcPr>
                </a:tc>
                <a:tc>
                  <a:txBody>
                    <a:bodyPr/>
                    <a:lstStyle/>
                    <a:p>
                      <a:endParaRPr lang="en-US" noProof="0" dirty="0"/>
                    </a:p>
                  </a:txBody>
                  <a:tcPr>
                    <a:solidFill>
                      <a:schemeClr val="bg1"/>
                    </a:solidFill>
                  </a:tcPr>
                </a:tc>
                <a:tc>
                  <a:txBody>
                    <a:bodyPr/>
                    <a:lstStyle/>
                    <a:p>
                      <a:pPr algn="ctr"/>
                      <a:r>
                        <a:rPr lang="en-US" noProof="0" dirty="0">
                          <a:solidFill>
                            <a:srgbClr val="C00000"/>
                          </a:solidFill>
                        </a:rPr>
                        <a:t>x</a:t>
                      </a:r>
                    </a:p>
                  </a:txBody>
                  <a:tcPr>
                    <a:solidFill>
                      <a:schemeClr val="bg1">
                        <a:lumMod val="85000"/>
                      </a:schemeClr>
                    </a:solidFill>
                  </a:tcPr>
                </a:tc>
                <a:extLst>
                  <a:ext uri="{0D108BD9-81ED-4DB2-BD59-A6C34878D82A}">
                    <a16:rowId xmlns:a16="http://schemas.microsoft.com/office/drawing/2014/main" val="143162048"/>
                  </a:ext>
                </a:extLst>
              </a:tr>
            </a:tbl>
          </a:graphicData>
        </a:graphic>
      </p:graphicFrame>
      <p:grpSp>
        <p:nvGrpSpPr>
          <p:cNvPr id="3" name="Group 2">
            <a:extLst>
              <a:ext uri="{FF2B5EF4-FFF2-40B4-BE49-F238E27FC236}">
                <a16:creationId xmlns:a16="http://schemas.microsoft.com/office/drawing/2014/main" id="{B315F2FB-EE3E-8E50-D5A5-5A276D7C295D}"/>
              </a:ext>
            </a:extLst>
          </p:cNvPr>
          <p:cNvGrpSpPr/>
          <p:nvPr/>
        </p:nvGrpSpPr>
        <p:grpSpPr>
          <a:xfrm>
            <a:off x="844469" y="1692900"/>
            <a:ext cx="540000" cy="540000"/>
            <a:chOff x="838200" y="1905000"/>
            <a:chExt cx="1080000" cy="1080000"/>
          </a:xfrm>
        </p:grpSpPr>
        <p:sp>
          <p:nvSpPr>
            <p:cNvPr id="10" name="Oval 9">
              <a:extLst>
                <a:ext uri="{FF2B5EF4-FFF2-40B4-BE49-F238E27FC236}">
                  <a16:creationId xmlns:a16="http://schemas.microsoft.com/office/drawing/2014/main" id="{436F8EEE-6F49-429D-884A-82BFBCB43D53}"/>
                </a:ext>
              </a:extLst>
            </p:cNvPr>
            <p:cNvSpPr/>
            <p:nvPr/>
          </p:nvSpPr>
          <p:spPr>
            <a:xfrm>
              <a:off x="838200" y="1905000"/>
              <a:ext cx="1080000" cy="1080000"/>
            </a:xfrm>
            <a:prstGeom prst="ellipse">
              <a:avLst/>
            </a:prstGeom>
            <a:solidFill>
              <a:schemeClr val="tx2"/>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11" name="Graphic 10" descr="Influencer with solid fill">
              <a:extLst>
                <a:ext uri="{FF2B5EF4-FFF2-40B4-BE49-F238E27FC236}">
                  <a16:creationId xmlns:a16="http://schemas.microsoft.com/office/drawing/2014/main" id="{509F22D0-B8F5-1B50-177C-025DEE38376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21000" y="1987800"/>
              <a:ext cx="914400" cy="914400"/>
            </a:xfrm>
            <a:prstGeom prst="rect">
              <a:avLst/>
            </a:prstGeom>
          </p:spPr>
        </p:pic>
      </p:grpSp>
      <p:grpSp>
        <p:nvGrpSpPr>
          <p:cNvPr id="12" name="Group 11">
            <a:extLst>
              <a:ext uri="{FF2B5EF4-FFF2-40B4-BE49-F238E27FC236}">
                <a16:creationId xmlns:a16="http://schemas.microsoft.com/office/drawing/2014/main" id="{359F0EDA-DB96-A51F-971D-D63F2FDA7986}"/>
              </a:ext>
            </a:extLst>
          </p:cNvPr>
          <p:cNvGrpSpPr/>
          <p:nvPr/>
        </p:nvGrpSpPr>
        <p:grpSpPr>
          <a:xfrm>
            <a:off x="844469" y="2414554"/>
            <a:ext cx="540000" cy="540000"/>
            <a:chOff x="838200" y="1905000"/>
            <a:chExt cx="1080000" cy="1080000"/>
          </a:xfrm>
        </p:grpSpPr>
        <p:sp>
          <p:nvSpPr>
            <p:cNvPr id="17" name="Oval 16">
              <a:extLst>
                <a:ext uri="{FF2B5EF4-FFF2-40B4-BE49-F238E27FC236}">
                  <a16:creationId xmlns:a16="http://schemas.microsoft.com/office/drawing/2014/main" id="{572E1A1B-AFA7-3C01-0E14-C62C356B7508}"/>
                </a:ext>
              </a:extLst>
            </p:cNvPr>
            <p:cNvSpPr/>
            <p:nvPr/>
          </p:nvSpPr>
          <p:spPr>
            <a:xfrm>
              <a:off x="838200" y="1905000"/>
              <a:ext cx="1080000" cy="1080000"/>
            </a:xfrm>
            <a:prstGeom prst="ellipse">
              <a:avLst/>
            </a:prstGeom>
            <a:solidFill>
              <a:schemeClr val="tx2">
                <a:lumMod val="90000"/>
                <a:lumOff val="1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20" name="Graphic 19" descr="Magnifying glass with solid fill">
              <a:extLst>
                <a:ext uri="{FF2B5EF4-FFF2-40B4-BE49-F238E27FC236}">
                  <a16:creationId xmlns:a16="http://schemas.microsoft.com/office/drawing/2014/main" id="{57F1DC1B-F82F-5608-1FAC-C5B5785CBA14}"/>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921000" y="1987800"/>
              <a:ext cx="914400" cy="914400"/>
            </a:xfrm>
            <a:prstGeom prst="rect">
              <a:avLst/>
            </a:prstGeom>
          </p:spPr>
        </p:pic>
      </p:grpSp>
      <p:cxnSp>
        <p:nvCxnSpPr>
          <p:cNvPr id="25" name="Straight Arrow Connector 24">
            <a:extLst>
              <a:ext uri="{FF2B5EF4-FFF2-40B4-BE49-F238E27FC236}">
                <a16:creationId xmlns:a16="http://schemas.microsoft.com/office/drawing/2014/main" id="{26EC8667-FF56-223D-B022-EAD26BF45B57}"/>
              </a:ext>
            </a:extLst>
          </p:cNvPr>
          <p:cNvCxnSpPr>
            <a:stCxn id="10" idx="4"/>
            <a:endCxn id="17" idx="0"/>
          </p:cNvCxnSpPr>
          <p:nvPr/>
        </p:nvCxnSpPr>
        <p:spPr>
          <a:xfrm>
            <a:off x="1114469" y="2232900"/>
            <a:ext cx="0" cy="18165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E78A1F7F-A38E-890C-D50B-BE1FF59BE5C2}"/>
              </a:ext>
            </a:extLst>
          </p:cNvPr>
          <p:cNvCxnSpPr>
            <a:cxnSpLocks/>
            <a:stCxn id="17" idx="4"/>
            <a:endCxn id="31" idx="0"/>
          </p:cNvCxnSpPr>
          <p:nvPr/>
        </p:nvCxnSpPr>
        <p:spPr>
          <a:xfrm flipH="1">
            <a:off x="1111762" y="2954554"/>
            <a:ext cx="2707" cy="17600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nvGrpSpPr>
          <p:cNvPr id="29" name="Group 28">
            <a:extLst>
              <a:ext uri="{FF2B5EF4-FFF2-40B4-BE49-F238E27FC236}">
                <a16:creationId xmlns:a16="http://schemas.microsoft.com/office/drawing/2014/main" id="{A890EE12-78D9-E1CA-B737-0868A64432F7}"/>
              </a:ext>
            </a:extLst>
          </p:cNvPr>
          <p:cNvGrpSpPr/>
          <p:nvPr/>
        </p:nvGrpSpPr>
        <p:grpSpPr>
          <a:xfrm>
            <a:off x="841762" y="3130555"/>
            <a:ext cx="540000" cy="540000"/>
            <a:chOff x="838200" y="1905000"/>
            <a:chExt cx="1080000" cy="1080000"/>
          </a:xfrm>
        </p:grpSpPr>
        <p:sp>
          <p:nvSpPr>
            <p:cNvPr id="31" name="Oval 30">
              <a:extLst>
                <a:ext uri="{FF2B5EF4-FFF2-40B4-BE49-F238E27FC236}">
                  <a16:creationId xmlns:a16="http://schemas.microsoft.com/office/drawing/2014/main" id="{5F20F3FC-439A-B4A0-E15C-E8274F1942E7}"/>
                </a:ext>
              </a:extLst>
            </p:cNvPr>
            <p:cNvSpPr/>
            <p:nvPr/>
          </p:nvSpPr>
          <p:spPr>
            <a:xfrm>
              <a:off x="838200" y="1905000"/>
              <a:ext cx="1080000" cy="1080000"/>
            </a:xfrm>
            <a:prstGeom prst="ellipse">
              <a:avLst/>
            </a:prstGeom>
            <a:solidFill>
              <a:schemeClr val="accent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32" name="Graphic 31" descr="Database with solid fill">
              <a:extLst>
                <a:ext uri="{FF2B5EF4-FFF2-40B4-BE49-F238E27FC236}">
                  <a16:creationId xmlns:a16="http://schemas.microsoft.com/office/drawing/2014/main" id="{D7DA8D5A-C742-294D-92B8-697622A716D4}"/>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921000" y="1987800"/>
              <a:ext cx="914400" cy="914400"/>
            </a:xfrm>
            <a:prstGeom prst="rect">
              <a:avLst/>
            </a:prstGeom>
          </p:spPr>
        </p:pic>
      </p:grpSp>
      <p:cxnSp>
        <p:nvCxnSpPr>
          <p:cNvPr id="48" name="Straight Arrow Connector 47">
            <a:extLst>
              <a:ext uri="{FF2B5EF4-FFF2-40B4-BE49-F238E27FC236}">
                <a16:creationId xmlns:a16="http://schemas.microsoft.com/office/drawing/2014/main" id="{098ECC9A-8FEE-CE54-520E-0E38F73C9844}"/>
              </a:ext>
            </a:extLst>
          </p:cNvPr>
          <p:cNvCxnSpPr>
            <a:cxnSpLocks/>
            <a:stCxn id="31" idx="4"/>
            <a:endCxn id="62" idx="0"/>
          </p:cNvCxnSpPr>
          <p:nvPr/>
        </p:nvCxnSpPr>
        <p:spPr>
          <a:xfrm flipH="1">
            <a:off x="1108482" y="3670555"/>
            <a:ext cx="3280" cy="161577"/>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9" name="TextBox 48">
            <a:extLst>
              <a:ext uri="{FF2B5EF4-FFF2-40B4-BE49-F238E27FC236}">
                <a16:creationId xmlns:a16="http://schemas.microsoft.com/office/drawing/2014/main" id="{1F5D39D6-5482-B6A9-6BF0-82615438E601}"/>
              </a:ext>
            </a:extLst>
          </p:cNvPr>
          <p:cNvSpPr txBox="1"/>
          <p:nvPr/>
        </p:nvSpPr>
        <p:spPr>
          <a:xfrm>
            <a:off x="1432842" y="1734300"/>
            <a:ext cx="1486304" cy="461665"/>
          </a:xfrm>
          <a:prstGeom prst="rect">
            <a:avLst/>
          </a:prstGeom>
          <a:noFill/>
        </p:spPr>
        <p:txBody>
          <a:bodyPr wrap="none" rtlCol="0">
            <a:spAutoFit/>
          </a:bodyPr>
          <a:lstStyle/>
          <a:p>
            <a:r>
              <a:rPr lang="en-US" sz="2400" noProof="0" dirty="0"/>
              <a:t>Modelling</a:t>
            </a:r>
            <a:endParaRPr lang="en-US" noProof="0" dirty="0"/>
          </a:p>
        </p:txBody>
      </p:sp>
      <p:sp>
        <p:nvSpPr>
          <p:cNvPr id="54" name="TextBox 53">
            <a:extLst>
              <a:ext uri="{FF2B5EF4-FFF2-40B4-BE49-F238E27FC236}">
                <a16:creationId xmlns:a16="http://schemas.microsoft.com/office/drawing/2014/main" id="{837C96C1-95E4-8731-2D87-A9D9D1D205E5}"/>
              </a:ext>
            </a:extLst>
          </p:cNvPr>
          <p:cNvSpPr txBox="1"/>
          <p:nvPr/>
        </p:nvSpPr>
        <p:spPr>
          <a:xfrm>
            <a:off x="1439923" y="2453721"/>
            <a:ext cx="1943481" cy="461665"/>
          </a:xfrm>
          <a:prstGeom prst="rect">
            <a:avLst/>
          </a:prstGeom>
          <a:noFill/>
        </p:spPr>
        <p:txBody>
          <a:bodyPr wrap="none" rtlCol="0">
            <a:spAutoFit/>
          </a:bodyPr>
          <a:lstStyle/>
          <a:p>
            <a:r>
              <a:rPr lang="en-US" sz="2400" noProof="0" dirty="0"/>
              <a:t>Identification</a:t>
            </a:r>
            <a:endParaRPr lang="en-US" noProof="0" dirty="0"/>
          </a:p>
        </p:txBody>
      </p:sp>
      <p:sp>
        <p:nvSpPr>
          <p:cNvPr id="55" name="TextBox 54">
            <a:extLst>
              <a:ext uri="{FF2B5EF4-FFF2-40B4-BE49-F238E27FC236}">
                <a16:creationId xmlns:a16="http://schemas.microsoft.com/office/drawing/2014/main" id="{7E12E393-1856-DEE4-16FB-8E923C7DAA3B}"/>
              </a:ext>
            </a:extLst>
          </p:cNvPr>
          <p:cNvSpPr txBox="1"/>
          <p:nvPr/>
        </p:nvSpPr>
        <p:spPr>
          <a:xfrm>
            <a:off x="1439923" y="4608176"/>
            <a:ext cx="1613262" cy="461665"/>
          </a:xfrm>
          <a:prstGeom prst="rect">
            <a:avLst/>
          </a:prstGeom>
          <a:noFill/>
        </p:spPr>
        <p:txBody>
          <a:bodyPr wrap="none" rtlCol="0">
            <a:spAutoFit/>
          </a:bodyPr>
          <a:lstStyle/>
          <a:p>
            <a:r>
              <a:rPr lang="en-US" sz="2400" noProof="0" dirty="0"/>
              <a:t>Estimation</a:t>
            </a:r>
            <a:endParaRPr lang="en-US" noProof="0" dirty="0"/>
          </a:p>
        </p:txBody>
      </p:sp>
      <p:sp>
        <p:nvSpPr>
          <p:cNvPr id="56" name="TextBox 55">
            <a:extLst>
              <a:ext uri="{FF2B5EF4-FFF2-40B4-BE49-F238E27FC236}">
                <a16:creationId xmlns:a16="http://schemas.microsoft.com/office/drawing/2014/main" id="{A210F866-44A1-2F42-EA02-803695F172FB}"/>
              </a:ext>
            </a:extLst>
          </p:cNvPr>
          <p:cNvSpPr txBox="1"/>
          <p:nvPr/>
        </p:nvSpPr>
        <p:spPr>
          <a:xfrm>
            <a:off x="1437216" y="3160064"/>
            <a:ext cx="2261132" cy="461665"/>
          </a:xfrm>
          <a:prstGeom prst="rect">
            <a:avLst/>
          </a:prstGeom>
          <a:noFill/>
        </p:spPr>
        <p:txBody>
          <a:bodyPr wrap="none" rtlCol="0">
            <a:spAutoFit/>
          </a:bodyPr>
          <a:lstStyle/>
          <a:p>
            <a:r>
              <a:rPr lang="en-US" sz="2400" noProof="0" dirty="0"/>
              <a:t>Data Collection</a:t>
            </a:r>
            <a:endParaRPr lang="en-US" noProof="0" dirty="0"/>
          </a:p>
        </p:txBody>
      </p:sp>
      <p:grpSp>
        <p:nvGrpSpPr>
          <p:cNvPr id="59" name="Group 58">
            <a:extLst>
              <a:ext uri="{FF2B5EF4-FFF2-40B4-BE49-F238E27FC236}">
                <a16:creationId xmlns:a16="http://schemas.microsoft.com/office/drawing/2014/main" id="{5152F7CF-21D3-9448-5EFD-BC41AAB12C68}"/>
              </a:ext>
            </a:extLst>
          </p:cNvPr>
          <p:cNvGrpSpPr/>
          <p:nvPr/>
        </p:nvGrpSpPr>
        <p:grpSpPr>
          <a:xfrm>
            <a:off x="838482" y="4570422"/>
            <a:ext cx="540000" cy="540000"/>
            <a:chOff x="838200" y="1905000"/>
            <a:chExt cx="1080000" cy="1080000"/>
          </a:xfrm>
        </p:grpSpPr>
        <p:sp>
          <p:nvSpPr>
            <p:cNvPr id="60" name="Oval 59">
              <a:extLst>
                <a:ext uri="{FF2B5EF4-FFF2-40B4-BE49-F238E27FC236}">
                  <a16:creationId xmlns:a16="http://schemas.microsoft.com/office/drawing/2014/main" id="{00998065-2F37-CC50-2A18-D9E25FAB5EBC}"/>
                </a:ext>
              </a:extLst>
            </p:cNvPr>
            <p:cNvSpPr/>
            <p:nvPr/>
          </p:nvSpPr>
          <p:spPr>
            <a:xfrm>
              <a:off x="838200" y="1905000"/>
              <a:ext cx="1080000" cy="1080000"/>
            </a:xfrm>
            <a:prstGeom prst="ellipse">
              <a:avLst/>
            </a:prstGeom>
            <a:solidFill>
              <a:schemeClr val="tx2">
                <a:lumMod val="75000"/>
                <a:lumOff val="2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61" name="Graphic 60" descr="Normal Distribution with solid fill">
              <a:extLst>
                <a:ext uri="{FF2B5EF4-FFF2-40B4-BE49-F238E27FC236}">
                  <a16:creationId xmlns:a16="http://schemas.microsoft.com/office/drawing/2014/main" id="{4C9876FA-EB5E-58FB-C283-54B1F556664F}"/>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921000" y="1987800"/>
              <a:ext cx="914400" cy="914400"/>
            </a:xfrm>
            <a:prstGeom prst="rect">
              <a:avLst/>
            </a:prstGeom>
          </p:spPr>
        </p:pic>
      </p:grpSp>
      <p:sp>
        <p:nvSpPr>
          <p:cNvPr id="62" name="Diamond 61">
            <a:extLst>
              <a:ext uri="{FF2B5EF4-FFF2-40B4-BE49-F238E27FC236}">
                <a16:creationId xmlns:a16="http://schemas.microsoft.com/office/drawing/2014/main" id="{757938F9-930E-500C-B0AD-BF7AF1316C56}"/>
              </a:ext>
            </a:extLst>
          </p:cNvPr>
          <p:cNvSpPr/>
          <p:nvPr/>
        </p:nvSpPr>
        <p:spPr>
          <a:xfrm>
            <a:off x="802482" y="3832132"/>
            <a:ext cx="612000" cy="576000"/>
          </a:xfrm>
          <a:prstGeom prst="diamond">
            <a:avLst/>
          </a:prstGeom>
          <a:solidFill>
            <a:schemeClr val="accent1">
              <a:lumMod val="60000"/>
              <a:lumOff val="40000"/>
            </a:schemeClr>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66" name="Straight Arrow Connector 65">
            <a:extLst>
              <a:ext uri="{FF2B5EF4-FFF2-40B4-BE49-F238E27FC236}">
                <a16:creationId xmlns:a16="http://schemas.microsoft.com/office/drawing/2014/main" id="{41CE632B-25C8-8F4C-77C7-2CD9277B3DCD}"/>
              </a:ext>
            </a:extLst>
          </p:cNvPr>
          <p:cNvCxnSpPr>
            <a:cxnSpLocks/>
            <a:stCxn id="62" idx="2"/>
            <a:endCxn id="60" idx="0"/>
          </p:cNvCxnSpPr>
          <p:nvPr/>
        </p:nvCxnSpPr>
        <p:spPr>
          <a:xfrm>
            <a:off x="1108482" y="4408132"/>
            <a:ext cx="0" cy="16229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74" name="TextBox 73">
            <a:extLst>
              <a:ext uri="{FF2B5EF4-FFF2-40B4-BE49-F238E27FC236}">
                <a16:creationId xmlns:a16="http://schemas.microsoft.com/office/drawing/2014/main" id="{4F58E637-7C94-1F07-EBDF-67A697F9A567}"/>
              </a:ext>
            </a:extLst>
          </p:cNvPr>
          <p:cNvSpPr txBox="1"/>
          <p:nvPr/>
        </p:nvSpPr>
        <p:spPr>
          <a:xfrm>
            <a:off x="3817642" y="4418946"/>
            <a:ext cx="1398909" cy="830997"/>
          </a:xfrm>
          <a:prstGeom prst="rect">
            <a:avLst/>
          </a:prstGeom>
          <a:noFill/>
        </p:spPr>
        <p:txBody>
          <a:bodyPr wrap="none" rtlCol="0">
            <a:spAutoFit/>
          </a:bodyPr>
          <a:lstStyle/>
          <a:p>
            <a:r>
              <a:rPr lang="en-US" sz="2400" noProof="0" dirty="0"/>
              <a:t>Alternate</a:t>
            </a:r>
            <a:br>
              <a:rPr lang="en-US" sz="2400" noProof="0" dirty="0"/>
            </a:br>
            <a:r>
              <a:rPr lang="en-US" sz="2400" noProof="0" dirty="0"/>
              <a:t>Strategy</a:t>
            </a:r>
            <a:endParaRPr lang="en-US" noProof="0" dirty="0"/>
          </a:p>
        </p:txBody>
      </p:sp>
      <p:grpSp>
        <p:nvGrpSpPr>
          <p:cNvPr id="75" name="Group 74">
            <a:extLst>
              <a:ext uri="{FF2B5EF4-FFF2-40B4-BE49-F238E27FC236}">
                <a16:creationId xmlns:a16="http://schemas.microsoft.com/office/drawing/2014/main" id="{E856FDCC-A23F-701F-63C5-13A32AA4E37C}"/>
              </a:ext>
            </a:extLst>
          </p:cNvPr>
          <p:cNvGrpSpPr/>
          <p:nvPr/>
        </p:nvGrpSpPr>
        <p:grpSpPr>
          <a:xfrm>
            <a:off x="3236242" y="4564445"/>
            <a:ext cx="540000" cy="540000"/>
            <a:chOff x="838200" y="1905000"/>
            <a:chExt cx="1080000" cy="1080000"/>
          </a:xfrm>
        </p:grpSpPr>
        <p:sp>
          <p:nvSpPr>
            <p:cNvPr id="76" name="Oval 75">
              <a:extLst>
                <a:ext uri="{FF2B5EF4-FFF2-40B4-BE49-F238E27FC236}">
                  <a16:creationId xmlns:a16="http://schemas.microsoft.com/office/drawing/2014/main" id="{2D2E0E10-C370-0DAE-09B9-AE21A4EC6F3B}"/>
                </a:ext>
              </a:extLst>
            </p:cNvPr>
            <p:cNvSpPr/>
            <p:nvPr/>
          </p:nvSpPr>
          <p:spPr>
            <a:xfrm>
              <a:off x="838200" y="1905000"/>
              <a:ext cx="1080000" cy="1080000"/>
            </a:xfrm>
            <a:prstGeom prst="ellipse">
              <a:avLst/>
            </a:prstGeom>
            <a:solidFill>
              <a:schemeClr val="tx2">
                <a:lumMod val="75000"/>
                <a:lumOff val="2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77" name="Graphic 76" descr="Flask with solid fill">
              <a:extLst>
                <a:ext uri="{FF2B5EF4-FFF2-40B4-BE49-F238E27FC236}">
                  <a16:creationId xmlns:a16="http://schemas.microsoft.com/office/drawing/2014/main" id="{1E00C2E0-4E20-2D4B-B02F-4024083FEAF1}"/>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921000" y="1987800"/>
              <a:ext cx="914400" cy="914400"/>
            </a:xfrm>
            <a:prstGeom prst="rect">
              <a:avLst/>
            </a:prstGeom>
          </p:spPr>
        </p:pic>
      </p:grpSp>
      <p:cxnSp>
        <p:nvCxnSpPr>
          <p:cNvPr id="78" name="Straight Arrow Connector 77">
            <a:extLst>
              <a:ext uri="{FF2B5EF4-FFF2-40B4-BE49-F238E27FC236}">
                <a16:creationId xmlns:a16="http://schemas.microsoft.com/office/drawing/2014/main" id="{87E30BCE-D489-2016-AD56-33FA719E9ACA}"/>
              </a:ext>
            </a:extLst>
          </p:cNvPr>
          <p:cNvCxnSpPr>
            <a:cxnSpLocks/>
            <a:stCxn id="62" idx="3"/>
            <a:endCxn id="76" idx="0"/>
          </p:cNvCxnSpPr>
          <p:nvPr/>
        </p:nvCxnSpPr>
        <p:spPr>
          <a:xfrm>
            <a:off x="1414482" y="4120132"/>
            <a:ext cx="2091760" cy="444313"/>
          </a:xfrm>
          <a:prstGeom prst="bentConnector2">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81" name="TextBox 80">
            <a:extLst>
              <a:ext uri="{FF2B5EF4-FFF2-40B4-BE49-F238E27FC236}">
                <a16:creationId xmlns:a16="http://schemas.microsoft.com/office/drawing/2014/main" id="{6DE9BCDD-E61D-C8E1-FE86-EA65067BDD23}"/>
              </a:ext>
            </a:extLst>
          </p:cNvPr>
          <p:cNvSpPr txBox="1"/>
          <p:nvPr/>
        </p:nvSpPr>
        <p:spPr>
          <a:xfrm>
            <a:off x="1333036" y="3735371"/>
            <a:ext cx="981744" cy="338554"/>
          </a:xfrm>
          <a:prstGeom prst="rect">
            <a:avLst/>
          </a:prstGeom>
          <a:noFill/>
        </p:spPr>
        <p:txBody>
          <a:bodyPr wrap="none" rtlCol="0">
            <a:spAutoFit/>
          </a:bodyPr>
          <a:lstStyle/>
          <a:p>
            <a:r>
              <a:rPr lang="en-US" sz="1600" noProof="0" dirty="0"/>
              <a:t>feasible?</a:t>
            </a:r>
            <a:endParaRPr lang="en-US" sz="1200" noProof="0" dirty="0"/>
          </a:p>
        </p:txBody>
      </p:sp>
      <p:sp>
        <p:nvSpPr>
          <p:cNvPr id="82" name="TextBox 81">
            <a:extLst>
              <a:ext uri="{FF2B5EF4-FFF2-40B4-BE49-F238E27FC236}">
                <a16:creationId xmlns:a16="http://schemas.microsoft.com/office/drawing/2014/main" id="{DCEE8BD7-0279-48AF-5A4D-BD22D0D343C8}"/>
              </a:ext>
            </a:extLst>
          </p:cNvPr>
          <p:cNvSpPr txBox="1"/>
          <p:nvPr/>
        </p:nvSpPr>
        <p:spPr>
          <a:xfrm>
            <a:off x="6430963" y="1690601"/>
            <a:ext cx="1849224" cy="400110"/>
          </a:xfrm>
          <a:prstGeom prst="rect">
            <a:avLst/>
          </a:prstGeom>
          <a:noFill/>
        </p:spPr>
        <p:txBody>
          <a:bodyPr wrap="none" rtlCol="0">
            <a:spAutoFit/>
          </a:bodyPr>
          <a:lstStyle/>
          <a:p>
            <a:r>
              <a:rPr lang="en-US" sz="2000" b="1" noProof="0" dirty="0"/>
              <a:t>Assumed DAG</a:t>
            </a:r>
          </a:p>
        </p:txBody>
      </p:sp>
      <p:sp>
        <p:nvSpPr>
          <p:cNvPr id="83" name="TextBox 82">
            <a:extLst>
              <a:ext uri="{FF2B5EF4-FFF2-40B4-BE49-F238E27FC236}">
                <a16:creationId xmlns:a16="http://schemas.microsoft.com/office/drawing/2014/main" id="{1531202F-3E4B-FB3B-13AF-084259E1C76C}"/>
              </a:ext>
            </a:extLst>
          </p:cNvPr>
          <p:cNvSpPr txBox="1"/>
          <p:nvPr/>
        </p:nvSpPr>
        <p:spPr>
          <a:xfrm>
            <a:off x="9174219" y="1690601"/>
            <a:ext cx="1935786" cy="400110"/>
          </a:xfrm>
          <a:prstGeom prst="rect">
            <a:avLst/>
          </a:prstGeom>
          <a:noFill/>
        </p:spPr>
        <p:txBody>
          <a:bodyPr wrap="none" rtlCol="0">
            <a:spAutoFit/>
          </a:bodyPr>
          <a:lstStyle/>
          <a:p>
            <a:r>
              <a:rPr lang="en-US" sz="2000" b="1" noProof="0" dirty="0"/>
              <a:t>Collected Data</a:t>
            </a:r>
          </a:p>
        </p:txBody>
      </p:sp>
      <p:sp>
        <p:nvSpPr>
          <p:cNvPr id="84" name="Content Placeholder 62">
            <a:extLst>
              <a:ext uri="{FF2B5EF4-FFF2-40B4-BE49-F238E27FC236}">
                <a16:creationId xmlns:a16="http://schemas.microsoft.com/office/drawing/2014/main" id="{3338044F-C686-EDF5-1394-F5C5DD4188D1}"/>
              </a:ext>
            </a:extLst>
          </p:cNvPr>
          <p:cNvSpPr>
            <a:spLocks noGrp="1"/>
          </p:cNvSpPr>
          <p:nvPr>
            <p:ph idx="1"/>
          </p:nvPr>
        </p:nvSpPr>
        <p:spPr>
          <a:xfrm>
            <a:off x="838200" y="5293674"/>
            <a:ext cx="10515600" cy="883288"/>
          </a:xfrm>
        </p:spPr>
        <p:txBody>
          <a:bodyPr>
            <a:normAutofit/>
          </a:bodyPr>
          <a:lstStyle/>
          <a:p>
            <a:pPr marL="0" indent="0">
              <a:buNone/>
            </a:pPr>
            <a:r>
              <a:rPr lang="en-US" noProof="0" dirty="0"/>
              <a:t>Unobservable confounders require (a) acknowledgement in the </a:t>
            </a:r>
            <a:r>
              <a:rPr lang="en-US" b="1" noProof="0" dirty="0"/>
              <a:t>threats to (internal) validity </a:t>
            </a:r>
            <a:r>
              <a:rPr lang="en-US" noProof="0" dirty="0"/>
              <a:t>and (b) </a:t>
            </a:r>
            <a:r>
              <a:rPr lang="en-US" b="1" noProof="0" dirty="0"/>
              <a:t>different research strategies</a:t>
            </a:r>
            <a:r>
              <a:rPr lang="en-US" noProof="0" dirty="0"/>
              <a:t>.</a:t>
            </a:r>
          </a:p>
        </p:txBody>
      </p:sp>
    </p:spTree>
    <p:extLst>
      <p:ext uri="{BB962C8B-B14F-4D97-AF65-F5344CB8AC3E}">
        <p14:creationId xmlns:p14="http://schemas.microsoft.com/office/powerpoint/2010/main" val="33305027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58" grpId="0"/>
      <p:bldP spid="84"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0E4A54-99B0-3C4D-7363-B3208BF366EC}"/>
              </a:ext>
            </a:extLst>
          </p:cNvPr>
          <p:cNvSpPr>
            <a:spLocks noGrp="1"/>
          </p:cNvSpPr>
          <p:nvPr>
            <p:ph type="title"/>
          </p:nvPr>
        </p:nvSpPr>
        <p:spPr/>
        <p:txBody>
          <a:bodyPr/>
          <a:lstStyle/>
          <a:p>
            <a:r>
              <a:rPr lang="en-SE" dirty="0"/>
              <a:t>Coherent Science</a:t>
            </a:r>
          </a:p>
        </p:txBody>
      </p:sp>
      <p:sp>
        <p:nvSpPr>
          <p:cNvPr id="4" name="Date Placeholder 3">
            <a:extLst>
              <a:ext uri="{FF2B5EF4-FFF2-40B4-BE49-F238E27FC236}">
                <a16:creationId xmlns:a16="http://schemas.microsoft.com/office/drawing/2014/main" id="{0199C14C-05B4-5DB9-8299-E3D618B736DC}"/>
              </a:ext>
            </a:extLst>
          </p:cNvPr>
          <p:cNvSpPr>
            <a:spLocks noGrp="1"/>
          </p:cNvSpPr>
          <p:nvPr>
            <p:ph type="dt" sz="half" idx="10"/>
          </p:nvPr>
        </p:nvSpPr>
        <p:spPr/>
        <p:txBody>
          <a:bodyPr/>
          <a:lstStyle/>
          <a:p>
            <a:fld id="{A1C06950-82F8-45F4-A28D-9FBF8CAE29F7}" type="datetime1">
              <a:rPr lang="de-DE" smtClean="0"/>
              <a:t>17.06.2026</a:t>
            </a:fld>
            <a:endParaRPr lang="en-SE"/>
          </a:p>
        </p:txBody>
      </p:sp>
      <p:sp>
        <p:nvSpPr>
          <p:cNvPr id="5" name="Slide Number Placeholder 4">
            <a:extLst>
              <a:ext uri="{FF2B5EF4-FFF2-40B4-BE49-F238E27FC236}">
                <a16:creationId xmlns:a16="http://schemas.microsoft.com/office/drawing/2014/main" id="{EE8D829A-ADAE-61F5-5CE7-7499A580F2B6}"/>
              </a:ext>
            </a:extLst>
          </p:cNvPr>
          <p:cNvSpPr>
            <a:spLocks noGrp="1"/>
          </p:cNvSpPr>
          <p:nvPr>
            <p:ph type="sldNum" sz="quarter" idx="12"/>
          </p:nvPr>
        </p:nvSpPr>
        <p:spPr/>
        <p:txBody>
          <a:bodyPr/>
          <a:lstStyle/>
          <a:p>
            <a:fld id="{271ECC92-9CDE-4EB3-B1C5-F46B9E1FA3C1}" type="slidenum">
              <a:rPr lang="en-SE" smtClean="0"/>
              <a:t>53</a:t>
            </a:fld>
            <a:endParaRPr lang="en-SE"/>
          </a:p>
        </p:txBody>
      </p:sp>
      <p:sp>
        <p:nvSpPr>
          <p:cNvPr id="6" name="Arrow: Right 5">
            <a:extLst>
              <a:ext uri="{FF2B5EF4-FFF2-40B4-BE49-F238E27FC236}">
                <a16:creationId xmlns:a16="http://schemas.microsoft.com/office/drawing/2014/main" id="{70F0C0F8-9351-8FF4-649D-659A4A09B044}"/>
              </a:ext>
            </a:extLst>
          </p:cNvPr>
          <p:cNvSpPr/>
          <p:nvPr/>
        </p:nvSpPr>
        <p:spPr>
          <a:xfrm>
            <a:off x="690880" y="3578756"/>
            <a:ext cx="10662920" cy="1906824"/>
          </a:xfrm>
          <a:prstGeom prst="rightArrow">
            <a:avLst/>
          </a:prstGeom>
          <a:gradFill flip="none" rotWithShape="1">
            <a:gsLst>
              <a:gs pos="0">
                <a:schemeClr val="tx2">
                  <a:lumMod val="25000"/>
                  <a:lumOff val="75000"/>
                </a:schemeClr>
              </a:gs>
              <a:gs pos="100000">
                <a:schemeClr val="tx2">
                  <a:lumMod val="75000"/>
                  <a:lumOff val="25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Content Placeholder 2">
            <a:extLst>
              <a:ext uri="{FF2B5EF4-FFF2-40B4-BE49-F238E27FC236}">
                <a16:creationId xmlns:a16="http://schemas.microsoft.com/office/drawing/2014/main" id="{722BD1C7-C84D-B7DE-B29A-E2809E151FA1}"/>
              </a:ext>
            </a:extLst>
          </p:cNvPr>
          <p:cNvSpPr>
            <a:spLocks noGrp="1"/>
          </p:cNvSpPr>
          <p:nvPr>
            <p:ph idx="1"/>
          </p:nvPr>
        </p:nvSpPr>
        <p:spPr>
          <a:xfrm>
            <a:off x="838200" y="1825625"/>
            <a:ext cx="10515600" cy="998855"/>
          </a:xfrm>
        </p:spPr>
        <p:txBody>
          <a:bodyPr/>
          <a:lstStyle/>
          <a:p>
            <a:pPr marL="0" indent="0">
              <a:buNone/>
            </a:pPr>
            <a:r>
              <a:rPr lang="en-US" noProof="0" dirty="0"/>
              <a:t>Following this scientific workflow enables us as a community to effectively contribute to a coherent </a:t>
            </a:r>
            <a:r>
              <a:rPr lang="en-US" noProof="0"/>
              <a:t>scientific endeavor.</a:t>
            </a:r>
            <a:endParaRPr lang="en-US" noProof="0" dirty="0"/>
          </a:p>
        </p:txBody>
      </p:sp>
      <p:grpSp>
        <p:nvGrpSpPr>
          <p:cNvPr id="8" name="Group 7">
            <a:extLst>
              <a:ext uri="{FF2B5EF4-FFF2-40B4-BE49-F238E27FC236}">
                <a16:creationId xmlns:a16="http://schemas.microsoft.com/office/drawing/2014/main" id="{23367F2F-5DF0-BAA3-7DC1-841CAFB022F0}"/>
              </a:ext>
            </a:extLst>
          </p:cNvPr>
          <p:cNvGrpSpPr/>
          <p:nvPr/>
        </p:nvGrpSpPr>
        <p:grpSpPr>
          <a:xfrm>
            <a:off x="838200" y="2959417"/>
            <a:ext cx="2174240" cy="2870423"/>
            <a:chOff x="826411" y="2809240"/>
            <a:chExt cx="2174240" cy="2870423"/>
          </a:xfrm>
        </p:grpSpPr>
        <p:sp>
          <p:nvSpPr>
            <p:cNvPr id="9" name="Rectangle 8">
              <a:extLst>
                <a:ext uri="{FF2B5EF4-FFF2-40B4-BE49-F238E27FC236}">
                  <a16:creationId xmlns:a16="http://schemas.microsoft.com/office/drawing/2014/main" id="{640EC96B-1012-314C-2FF4-0D679914F6BE}"/>
                </a:ext>
              </a:extLst>
            </p:cNvPr>
            <p:cNvSpPr/>
            <p:nvPr/>
          </p:nvSpPr>
          <p:spPr>
            <a:xfrm>
              <a:off x="826411" y="3190463"/>
              <a:ext cx="2174240" cy="2489200"/>
            </a:xfrm>
            <a:prstGeom prst="rect">
              <a:avLst/>
            </a:prstGeom>
            <a:solidFill>
              <a:schemeClr val="bg1"/>
            </a:solidFill>
            <a:ln>
              <a:solidFill>
                <a:schemeClr val="bg1">
                  <a:lumMod val="75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sz="1400" b="1" noProof="0" dirty="0">
                <a:solidFill>
                  <a:schemeClr val="tx1"/>
                </a:solidFill>
              </a:endParaRPr>
            </a:p>
          </p:txBody>
        </p:sp>
        <p:pic>
          <p:nvPicPr>
            <p:cNvPr id="10" name="Graphic 9" descr="Document with solid fill">
              <a:extLst>
                <a:ext uri="{FF2B5EF4-FFF2-40B4-BE49-F238E27FC236}">
                  <a16:creationId xmlns:a16="http://schemas.microsoft.com/office/drawing/2014/main" id="{79DC812F-5605-C76D-E4D0-2AA31B3D1B9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26411" y="2809240"/>
              <a:ext cx="360000" cy="360000"/>
            </a:xfrm>
            <a:prstGeom prst="rect">
              <a:avLst/>
            </a:prstGeom>
          </p:spPr>
        </p:pic>
        <p:sp>
          <p:nvSpPr>
            <p:cNvPr id="11" name="TextBox 10">
              <a:extLst>
                <a:ext uri="{FF2B5EF4-FFF2-40B4-BE49-F238E27FC236}">
                  <a16:creationId xmlns:a16="http://schemas.microsoft.com/office/drawing/2014/main" id="{B71560EC-0C2D-D10E-F865-EFDD9448D638}"/>
                </a:ext>
              </a:extLst>
            </p:cNvPr>
            <p:cNvSpPr txBox="1"/>
            <p:nvPr/>
          </p:nvSpPr>
          <p:spPr>
            <a:xfrm>
              <a:off x="1189279" y="2862542"/>
              <a:ext cx="1651657" cy="276999"/>
            </a:xfrm>
            <a:prstGeom prst="rect">
              <a:avLst/>
            </a:prstGeom>
            <a:noFill/>
          </p:spPr>
          <p:txBody>
            <a:bodyPr wrap="square">
              <a:spAutoFit/>
            </a:bodyPr>
            <a:lstStyle/>
            <a:p>
              <a:r>
                <a:rPr lang="en-US" sz="1200" b="1" noProof="0" dirty="0">
                  <a:solidFill>
                    <a:schemeClr val="tx1"/>
                  </a:solidFill>
                </a:rPr>
                <a:t>Original Contribution</a:t>
              </a:r>
            </a:p>
          </p:txBody>
        </p:sp>
        <p:sp>
          <p:nvSpPr>
            <p:cNvPr id="12" name="TextBox 11">
              <a:extLst>
                <a:ext uri="{FF2B5EF4-FFF2-40B4-BE49-F238E27FC236}">
                  <a16:creationId xmlns:a16="http://schemas.microsoft.com/office/drawing/2014/main" id="{F607115C-0C65-ECEF-80AE-3BBF23D044A4}"/>
                </a:ext>
              </a:extLst>
            </p:cNvPr>
            <p:cNvSpPr txBox="1"/>
            <p:nvPr/>
          </p:nvSpPr>
          <p:spPr>
            <a:xfrm>
              <a:off x="937607" y="3334982"/>
              <a:ext cx="1951847" cy="307777"/>
            </a:xfrm>
            <a:prstGeom prst="rect">
              <a:avLst/>
            </a:prstGeom>
            <a:noFill/>
          </p:spPr>
          <p:txBody>
            <a:bodyPr wrap="square">
              <a:spAutoFit/>
            </a:bodyPr>
            <a:lstStyle/>
            <a:p>
              <a:pPr algn="ctr"/>
              <a:r>
                <a:rPr lang="en-US" sz="1400" b="1" noProof="0" dirty="0">
                  <a:solidFill>
                    <a:schemeClr val="tx1"/>
                  </a:solidFill>
                </a:rPr>
                <a:t>The Effect of X on Y</a:t>
              </a:r>
            </a:p>
          </p:txBody>
        </p:sp>
        <p:sp>
          <p:nvSpPr>
            <p:cNvPr id="13" name="Oval 12">
              <a:extLst>
                <a:ext uri="{FF2B5EF4-FFF2-40B4-BE49-F238E27FC236}">
                  <a16:creationId xmlns:a16="http://schemas.microsoft.com/office/drawing/2014/main" id="{BB79468E-F604-B8EC-9967-2C6681E3E0EE}"/>
                </a:ext>
              </a:extLst>
            </p:cNvPr>
            <p:cNvSpPr/>
            <p:nvPr/>
          </p:nvSpPr>
          <p:spPr>
            <a:xfrm>
              <a:off x="1006411" y="5042558"/>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dirty="0"/>
                <a:t>x</a:t>
              </a:r>
            </a:p>
          </p:txBody>
        </p:sp>
        <p:sp>
          <p:nvSpPr>
            <p:cNvPr id="14" name="Oval 13">
              <a:extLst>
                <a:ext uri="{FF2B5EF4-FFF2-40B4-BE49-F238E27FC236}">
                  <a16:creationId xmlns:a16="http://schemas.microsoft.com/office/drawing/2014/main" id="{C5C03E3F-973B-46EF-978D-EA506918E122}"/>
                </a:ext>
              </a:extLst>
            </p:cNvPr>
            <p:cNvSpPr/>
            <p:nvPr/>
          </p:nvSpPr>
          <p:spPr>
            <a:xfrm>
              <a:off x="2439824" y="5042558"/>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dirty="0"/>
                <a:t>y</a:t>
              </a:r>
            </a:p>
          </p:txBody>
        </p:sp>
        <p:cxnSp>
          <p:nvCxnSpPr>
            <p:cNvPr id="15" name="Straight Arrow Connector 14">
              <a:extLst>
                <a:ext uri="{FF2B5EF4-FFF2-40B4-BE49-F238E27FC236}">
                  <a16:creationId xmlns:a16="http://schemas.microsoft.com/office/drawing/2014/main" id="{15698415-1178-06A9-7B18-76B8676623DB}"/>
                </a:ext>
              </a:extLst>
            </p:cNvPr>
            <p:cNvCxnSpPr>
              <a:cxnSpLocks/>
              <a:stCxn id="13" idx="6"/>
              <a:endCxn id="14" idx="2"/>
            </p:cNvCxnSpPr>
            <p:nvPr/>
          </p:nvCxnSpPr>
          <p:spPr>
            <a:xfrm>
              <a:off x="1366411" y="5222558"/>
              <a:ext cx="1073413"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6" name="Rectangle 15">
              <a:extLst>
                <a:ext uri="{FF2B5EF4-FFF2-40B4-BE49-F238E27FC236}">
                  <a16:creationId xmlns:a16="http://schemas.microsoft.com/office/drawing/2014/main" id="{CFA7DD4E-0072-F20D-2D21-2D30209FBFD8}"/>
                </a:ext>
              </a:extLst>
            </p:cNvPr>
            <p:cNvSpPr/>
            <p:nvPr/>
          </p:nvSpPr>
          <p:spPr>
            <a:xfrm>
              <a:off x="950262" y="3833707"/>
              <a:ext cx="1926536" cy="96915"/>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Rectangle 16">
              <a:extLst>
                <a:ext uri="{FF2B5EF4-FFF2-40B4-BE49-F238E27FC236}">
                  <a16:creationId xmlns:a16="http://schemas.microsoft.com/office/drawing/2014/main" id="{7A6F320E-3780-EEF3-FB1B-B63E52D9FB6E}"/>
                </a:ext>
              </a:extLst>
            </p:cNvPr>
            <p:cNvSpPr/>
            <p:nvPr/>
          </p:nvSpPr>
          <p:spPr>
            <a:xfrm>
              <a:off x="950262" y="3987346"/>
              <a:ext cx="1926536" cy="96915"/>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ectangle 17">
              <a:extLst>
                <a:ext uri="{FF2B5EF4-FFF2-40B4-BE49-F238E27FC236}">
                  <a16:creationId xmlns:a16="http://schemas.microsoft.com/office/drawing/2014/main" id="{61219826-D2A9-C6E6-27E2-8B5220B535E9}"/>
                </a:ext>
              </a:extLst>
            </p:cNvPr>
            <p:cNvSpPr/>
            <p:nvPr/>
          </p:nvSpPr>
          <p:spPr>
            <a:xfrm>
              <a:off x="950262" y="4152855"/>
              <a:ext cx="1261443" cy="96915"/>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9" name="Group 18">
            <a:extLst>
              <a:ext uri="{FF2B5EF4-FFF2-40B4-BE49-F238E27FC236}">
                <a16:creationId xmlns:a16="http://schemas.microsoft.com/office/drawing/2014/main" id="{469B29CF-D4C0-8463-1A2D-ED2BF3106D1F}"/>
              </a:ext>
            </a:extLst>
          </p:cNvPr>
          <p:cNvGrpSpPr/>
          <p:nvPr/>
        </p:nvGrpSpPr>
        <p:grpSpPr>
          <a:xfrm>
            <a:off x="3556000" y="2959417"/>
            <a:ext cx="2174240" cy="2870423"/>
            <a:chOff x="826411" y="2809240"/>
            <a:chExt cx="2174240" cy="2870423"/>
          </a:xfrm>
        </p:grpSpPr>
        <p:sp>
          <p:nvSpPr>
            <p:cNvPr id="20" name="Rectangle 19">
              <a:extLst>
                <a:ext uri="{FF2B5EF4-FFF2-40B4-BE49-F238E27FC236}">
                  <a16:creationId xmlns:a16="http://schemas.microsoft.com/office/drawing/2014/main" id="{0C6AC5A0-A785-FA4F-DB72-4016B7A52080}"/>
                </a:ext>
              </a:extLst>
            </p:cNvPr>
            <p:cNvSpPr/>
            <p:nvPr/>
          </p:nvSpPr>
          <p:spPr>
            <a:xfrm>
              <a:off x="826411" y="3190463"/>
              <a:ext cx="2174240" cy="2489200"/>
            </a:xfrm>
            <a:prstGeom prst="rect">
              <a:avLst/>
            </a:prstGeom>
            <a:solidFill>
              <a:schemeClr val="bg1"/>
            </a:solidFill>
            <a:ln>
              <a:solidFill>
                <a:schemeClr val="bg1">
                  <a:lumMod val="75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sz="1400" b="1" noProof="0" dirty="0">
                <a:solidFill>
                  <a:schemeClr val="tx1"/>
                </a:solidFill>
              </a:endParaRPr>
            </a:p>
          </p:txBody>
        </p:sp>
        <p:pic>
          <p:nvPicPr>
            <p:cNvPr id="21" name="Graphic 20" descr="Document with solid fill">
              <a:extLst>
                <a:ext uri="{FF2B5EF4-FFF2-40B4-BE49-F238E27FC236}">
                  <a16:creationId xmlns:a16="http://schemas.microsoft.com/office/drawing/2014/main" id="{D8E0558A-ED63-4DB4-58C7-4FEF5015D4C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26411" y="2809240"/>
              <a:ext cx="360000" cy="360000"/>
            </a:xfrm>
            <a:prstGeom prst="rect">
              <a:avLst/>
            </a:prstGeom>
          </p:spPr>
        </p:pic>
        <p:sp>
          <p:nvSpPr>
            <p:cNvPr id="22" name="TextBox 21">
              <a:extLst>
                <a:ext uri="{FF2B5EF4-FFF2-40B4-BE49-F238E27FC236}">
                  <a16:creationId xmlns:a16="http://schemas.microsoft.com/office/drawing/2014/main" id="{8805092C-92AC-5F4B-42E7-4EC3C6E61C0D}"/>
                </a:ext>
              </a:extLst>
            </p:cNvPr>
            <p:cNvSpPr txBox="1"/>
            <p:nvPr/>
          </p:nvSpPr>
          <p:spPr>
            <a:xfrm>
              <a:off x="1189279" y="2862542"/>
              <a:ext cx="1651657" cy="276999"/>
            </a:xfrm>
            <a:prstGeom prst="rect">
              <a:avLst/>
            </a:prstGeom>
            <a:noFill/>
          </p:spPr>
          <p:txBody>
            <a:bodyPr wrap="square">
              <a:spAutoFit/>
            </a:bodyPr>
            <a:lstStyle/>
            <a:p>
              <a:r>
                <a:rPr lang="en-US" sz="1200" b="1" noProof="0" dirty="0">
                  <a:solidFill>
                    <a:schemeClr val="tx1"/>
                  </a:solidFill>
                </a:rPr>
                <a:t>Close Replication</a:t>
              </a:r>
            </a:p>
          </p:txBody>
        </p:sp>
        <p:sp>
          <p:nvSpPr>
            <p:cNvPr id="23" name="TextBox 22">
              <a:extLst>
                <a:ext uri="{FF2B5EF4-FFF2-40B4-BE49-F238E27FC236}">
                  <a16:creationId xmlns:a16="http://schemas.microsoft.com/office/drawing/2014/main" id="{996640F7-1DB2-F865-F18F-0F3AD584BA38}"/>
                </a:ext>
              </a:extLst>
            </p:cNvPr>
            <p:cNvSpPr txBox="1"/>
            <p:nvPr/>
          </p:nvSpPr>
          <p:spPr>
            <a:xfrm>
              <a:off x="937607" y="3334982"/>
              <a:ext cx="1951847" cy="523220"/>
            </a:xfrm>
            <a:prstGeom prst="rect">
              <a:avLst/>
            </a:prstGeom>
            <a:noFill/>
          </p:spPr>
          <p:txBody>
            <a:bodyPr wrap="square">
              <a:spAutoFit/>
            </a:bodyPr>
            <a:lstStyle/>
            <a:p>
              <a:pPr algn="ctr"/>
              <a:r>
                <a:rPr lang="en-US" sz="1400" b="1" noProof="0" dirty="0">
                  <a:solidFill>
                    <a:schemeClr val="tx1"/>
                  </a:solidFill>
                </a:rPr>
                <a:t>The Effect of X on Y: </a:t>
              </a:r>
              <a:br>
                <a:rPr lang="en-US" sz="1400" b="1" noProof="0" dirty="0">
                  <a:solidFill>
                    <a:schemeClr val="tx1"/>
                  </a:solidFill>
                </a:rPr>
              </a:br>
              <a:r>
                <a:rPr lang="en-US" sz="1400" b="1" noProof="0" dirty="0">
                  <a:solidFill>
                    <a:schemeClr val="tx1"/>
                  </a:solidFill>
                </a:rPr>
                <a:t>A Replication Study</a:t>
              </a:r>
            </a:p>
          </p:txBody>
        </p:sp>
        <p:sp>
          <p:nvSpPr>
            <p:cNvPr id="24" name="Oval 23">
              <a:extLst>
                <a:ext uri="{FF2B5EF4-FFF2-40B4-BE49-F238E27FC236}">
                  <a16:creationId xmlns:a16="http://schemas.microsoft.com/office/drawing/2014/main" id="{8B36A747-3176-7074-5606-CC6B0E20E465}"/>
                </a:ext>
              </a:extLst>
            </p:cNvPr>
            <p:cNvSpPr/>
            <p:nvPr/>
          </p:nvSpPr>
          <p:spPr>
            <a:xfrm>
              <a:off x="1006411" y="5042558"/>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dirty="0"/>
                <a:t>x</a:t>
              </a:r>
            </a:p>
          </p:txBody>
        </p:sp>
        <p:sp>
          <p:nvSpPr>
            <p:cNvPr id="25" name="Oval 24">
              <a:extLst>
                <a:ext uri="{FF2B5EF4-FFF2-40B4-BE49-F238E27FC236}">
                  <a16:creationId xmlns:a16="http://schemas.microsoft.com/office/drawing/2014/main" id="{64402EC1-E2CA-F8B4-9131-C81019BDFA49}"/>
                </a:ext>
              </a:extLst>
            </p:cNvPr>
            <p:cNvSpPr/>
            <p:nvPr/>
          </p:nvSpPr>
          <p:spPr>
            <a:xfrm>
              <a:off x="2439824" y="5042558"/>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dirty="0"/>
                <a:t>y</a:t>
              </a:r>
            </a:p>
          </p:txBody>
        </p:sp>
        <p:cxnSp>
          <p:nvCxnSpPr>
            <p:cNvPr id="26" name="Straight Arrow Connector 25">
              <a:extLst>
                <a:ext uri="{FF2B5EF4-FFF2-40B4-BE49-F238E27FC236}">
                  <a16:creationId xmlns:a16="http://schemas.microsoft.com/office/drawing/2014/main" id="{A734119A-AE38-3D21-39BF-DEFCBB758C71}"/>
                </a:ext>
              </a:extLst>
            </p:cNvPr>
            <p:cNvCxnSpPr>
              <a:cxnSpLocks/>
              <a:stCxn id="24" idx="6"/>
              <a:endCxn id="25" idx="2"/>
            </p:cNvCxnSpPr>
            <p:nvPr/>
          </p:nvCxnSpPr>
          <p:spPr>
            <a:xfrm>
              <a:off x="1366411" y="5222558"/>
              <a:ext cx="1073413"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7" name="Rectangle 26">
              <a:extLst>
                <a:ext uri="{FF2B5EF4-FFF2-40B4-BE49-F238E27FC236}">
                  <a16:creationId xmlns:a16="http://schemas.microsoft.com/office/drawing/2014/main" id="{92866836-DD1A-2406-A01E-6960C7927AFB}"/>
                </a:ext>
              </a:extLst>
            </p:cNvPr>
            <p:cNvSpPr/>
            <p:nvPr/>
          </p:nvSpPr>
          <p:spPr>
            <a:xfrm>
              <a:off x="950262" y="3884507"/>
              <a:ext cx="1926536" cy="96915"/>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8" name="Rectangle 27">
              <a:extLst>
                <a:ext uri="{FF2B5EF4-FFF2-40B4-BE49-F238E27FC236}">
                  <a16:creationId xmlns:a16="http://schemas.microsoft.com/office/drawing/2014/main" id="{BF6FF570-389B-5BC7-15E1-66804F8B17E1}"/>
                </a:ext>
              </a:extLst>
            </p:cNvPr>
            <p:cNvSpPr/>
            <p:nvPr/>
          </p:nvSpPr>
          <p:spPr>
            <a:xfrm>
              <a:off x="950262" y="4038146"/>
              <a:ext cx="1926536" cy="96915"/>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9" name="Rectangle 28">
              <a:extLst>
                <a:ext uri="{FF2B5EF4-FFF2-40B4-BE49-F238E27FC236}">
                  <a16:creationId xmlns:a16="http://schemas.microsoft.com/office/drawing/2014/main" id="{52E3D39D-BF57-8D89-5C57-2C6E0E8BE02A}"/>
                </a:ext>
              </a:extLst>
            </p:cNvPr>
            <p:cNvSpPr/>
            <p:nvPr/>
          </p:nvSpPr>
          <p:spPr>
            <a:xfrm>
              <a:off x="950262" y="4203655"/>
              <a:ext cx="1261443" cy="96915"/>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30" name="Group 29">
            <a:extLst>
              <a:ext uri="{FF2B5EF4-FFF2-40B4-BE49-F238E27FC236}">
                <a16:creationId xmlns:a16="http://schemas.microsoft.com/office/drawing/2014/main" id="{A4FE0F5A-EC04-A7D8-1B1B-EB8B93736FA6}"/>
              </a:ext>
            </a:extLst>
          </p:cNvPr>
          <p:cNvGrpSpPr/>
          <p:nvPr/>
        </p:nvGrpSpPr>
        <p:grpSpPr>
          <a:xfrm>
            <a:off x="6217519" y="2959417"/>
            <a:ext cx="2174240" cy="2870423"/>
            <a:chOff x="826411" y="2809240"/>
            <a:chExt cx="2174240" cy="2870423"/>
          </a:xfrm>
        </p:grpSpPr>
        <p:sp>
          <p:nvSpPr>
            <p:cNvPr id="31" name="Rectangle 30">
              <a:extLst>
                <a:ext uri="{FF2B5EF4-FFF2-40B4-BE49-F238E27FC236}">
                  <a16:creationId xmlns:a16="http://schemas.microsoft.com/office/drawing/2014/main" id="{EB81799F-0BCA-5C39-1D2A-4AF6CDC0804F}"/>
                </a:ext>
              </a:extLst>
            </p:cNvPr>
            <p:cNvSpPr/>
            <p:nvPr/>
          </p:nvSpPr>
          <p:spPr>
            <a:xfrm>
              <a:off x="826411" y="3190463"/>
              <a:ext cx="2174240" cy="2489200"/>
            </a:xfrm>
            <a:prstGeom prst="rect">
              <a:avLst/>
            </a:prstGeom>
            <a:solidFill>
              <a:schemeClr val="bg1"/>
            </a:solidFill>
            <a:ln>
              <a:solidFill>
                <a:schemeClr val="bg1">
                  <a:lumMod val="75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sz="1400" b="1" noProof="0" dirty="0">
                <a:solidFill>
                  <a:schemeClr val="tx1"/>
                </a:solidFill>
              </a:endParaRPr>
            </a:p>
          </p:txBody>
        </p:sp>
        <p:pic>
          <p:nvPicPr>
            <p:cNvPr id="32" name="Graphic 31" descr="Document with solid fill">
              <a:extLst>
                <a:ext uri="{FF2B5EF4-FFF2-40B4-BE49-F238E27FC236}">
                  <a16:creationId xmlns:a16="http://schemas.microsoft.com/office/drawing/2014/main" id="{ABD95A52-B9F7-70D3-6E21-DE4758F1030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26411" y="2809240"/>
              <a:ext cx="360000" cy="360000"/>
            </a:xfrm>
            <a:prstGeom prst="rect">
              <a:avLst/>
            </a:prstGeom>
          </p:spPr>
        </p:pic>
        <p:sp>
          <p:nvSpPr>
            <p:cNvPr id="33" name="TextBox 32">
              <a:extLst>
                <a:ext uri="{FF2B5EF4-FFF2-40B4-BE49-F238E27FC236}">
                  <a16:creationId xmlns:a16="http://schemas.microsoft.com/office/drawing/2014/main" id="{E57CB4AE-7F9C-7F15-9C39-391547153542}"/>
                </a:ext>
              </a:extLst>
            </p:cNvPr>
            <p:cNvSpPr txBox="1"/>
            <p:nvPr/>
          </p:nvSpPr>
          <p:spPr>
            <a:xfrm>
              <a:off x="1189279" y="2862542"/>
              <a:ext cx="1651657" cy="276999"/>
            </a:xfrm>
            <a:prstGeom prst="rect">
              <a:avLst/>
            </a:prstGeom>
            <a:noFill/>
          </p:spPr>
          <p:txBody>
            <a:bodyPr wrap="square">
              <a:spAutoFit/>
            </a:bodyPr>
            <a:lstStyle/>
            <a:p>
              <a:r>
                <a:rPr lang="en-US" sz="1200" b="1" noProof="0" dirty="0">
                  <a:solidFill>
                    <a:schemeClr val="tx1"/>
                  </a:solidFill>
                </a:rPr>
                <a:t>Causal Revision</a:t>
              </a:r>
            </a:p>
          </p:txBody>
        </p:sp>
        <p:sp>
          <p:nvSpPr>
            <p:cNvPr id="34" name="TextBox 33">
              <a:extLst>
                <a:ext uri="{FF2B5EF4-FFF2-40B4-BE49-F238E27FC236}">
                  <a16:creationId xmlns:a16="http://schemas.microsoft.com/office/drawing/2014/main" id="{F1786C9F-739C-9729-6B5E-2B8DF21B377D}"/>
                </a:ext>
              </a:extLst>
            </p:cNvPr>
            <p:cNvSpPr txBox="1"/>
            <p:nvPr/>
          </p:nvSpPr>
          <p:spPr>
            <a:xfrm>
              <a:off x="937607" y="3334982"/>
              <a:ext cx="1951847" cy="523220"/>
            </a:xfrm>
            <a:prstGeom prst="rect">
              <a:avLst/>
            </a:prstGeom>
            <a:noFill/>
          </p:spPr>
          <p:txBody>
            <a:bodyPr wrap="square">
              <a:spAutoFit/>
            </a:bodyPr>
            <a:lstStyle/>
            <a:p>
              <a:pPr algn="ctr"/>
              <a:r>
                <a:rPr lang="en-US" sz="1400" b="1" noProof="0" dirty="0">
                  <a:solidFill>
                    <a:schemeClr val="tx1"/>
                  </a:solidFill>
                </a:rPr>
                <a:t>The Effect of X on Y is mediated by A</a:t>
              </a:r>
            </a:p>
          </p:txBody>
        </p:sp>
        <p:sp>
          <p:nvSpPr>
            <p:cNvPr id="35" name="Oval 34">
              <a:extLst>
                <a:ext uri="{FF2B5EF4-FFF2-40B4-BE49-F238E27FC236}">
                  <a16:creationId xmlns:a16="http://schemas.microsoft.com/office/drawing/2014/main" id="{6F4E31C9-8E7F-D465-F2F0-D9286388293F}"/>
                </a:ext>
              </a:extLst>
            </p:cNvPr>
            <p:cNvSpPr/>
            <p:nvPr/>
          </p:nvSpPr>
          <p:spPr>
            <a:xfrm>
              <a:off x="1006411" y="5042558"/>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dirty="0"/>
                <a:t>x</a:t>
              </a:r>
            </a:p>
          </p:txBody>
        </p:sp>
        <p:sp>
          <p:nvSpPr>
            <p:cNvPr id="36" name="Oval 35">
              <a:extLst>
                <a:ext uri="{FF2B5EF4-FFF2-40B4-BE49-F238E27FC236}">
                  <a16:creationId xmlns:a16="http://schemas.microsoft.com/office/drawing/2014/main" id="{95524703-81DC-7BAC-1A71-6E3AB37EA516}"/>
                </a:ext>
              </a:extLst>
            </p:cNvPr>
            <p:cNvSpPr/>
            <p:nvPr/>
          </p:nvSpPr>
          <p:spPr>
            <a:xfrm>
              <a:off x="2439824" y="5042558"/>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dirty="0"/>
                <a:t>y</a:t>
              </a:r>
            </a:p>
          </p:txBody>
        </p:sp>
        <p:cxnSp>
          <p:nvCxnSpPr>
            <p:cNvPr id="37" name="Straight Arrow Connector 36">
              <a:extLst>
                <a:ext uri="{FF2B5EF4-FFF2-40B4-BE49-F238E27FC236}">
                  <a16:creationId xmlns:a16="http://schemas.microsoft.com/office/drawing/2014/main" id="{60373E8E-6E52-76B9-2282-FBEE78DAEC34}"/>
                </a:ext>
              </a:extLst>
            </p:cNvPr>
            <p:cNvCxnSpPr>
              <a:cxnSpLocks/>
              <a:stCxn id="35" idx="6"/>
              <a:endCxn id="38" idx="2"/>
            </p:cNvCxnSpPr>
            <p:nvPr/>
          </p:nvCxnSpPr>
          <p:spPr>
            <a:xfrm>
              <a:off x="1366411" y="5222558"/>
              <a:ext cx="356705"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8" name="Oval 37">
              <a:extLst>
                <a:ext uri="{FF2B5EF4-FFF2-40B4-BE49-F238E27FC236}">
                  <a16:creationId xmlns:a16="http://schemas.microsoft.com/office/drawing/2014/main" id="{3EB64470-D4EE-01F4-5C06-B7E883FED6E9}"/>
                </a:ext>
              </a:extLst>
            </p:cNvPr>
            <p:cNvSpPr/>
            <p:nvPr/>
          </p:nvSpPr>
          <p:spPr>
            <a:xfrm>
              <a:off x="1723116" y="5042558"/>
              <a:ext cx="360000" cy="360000"/>
            </a:xfrm>
            <a:prstGeom prst="ellipse">
              <a:avLst/>
            </a:prstGeom>
            <a:solidFill>
              <a:schemeClr val="bg1">
                <a:lumMod val="8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dirty="0">
                  <a:solidFill>
                    <a:schemeClr val="tx1"/>
                  </a:solidFill>
                </a:rPr>
                <a:t>a</a:t>
              </a:r>
            </a:p>
          </p:txBody>
        </p:sp>
        <p:cxnSp>
          <p:nvCxnSpPr>
            <p:cNvPr id="39" name="Straight Arrow Connector 38">
              <a:extLst>
                <a:ext uri="{FF2B5EF4-FFF2-40B4-BE49-F238E27FC236}">
                  <a16:creationId xmlns:a16="http://schemas.microsoft.com/office/drawing/2014/main" id="{187568AD-DFAA-D3BE-CF61-7BD6567BB77E}"/>
                </a:ext>
              </a:extLst>
            </p:cNvPr>
            <p:cNvCxnSpPr>
              <a:cxnSpLocks/>
              <a:stCxn id="38" idx="6"/>
              <a:endCxn id="36" idx="2"/>
            </p:cNvCxnSpPr>
            <p:nvPr/>
          </p:nvCxnSpPr>
          <p:spPr>
            <a:xfrm>
              <a:off x="2083116" y="5222558"/>
              <a:ext cx="356708"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40" name="Rectangle 39">
              <a:extLst>
                <a:ext uri="{FF2B5EF4-FFF2-40B4-BE49-F238E27FC236}">
                  <a16:creationId xmlns:a16="http://schemas.microsoft.com/office/drawing/2014/main" id="{20214F12-4D01-DA87-52DC-DCC24030D3F5}"/>
                </a:ext>
              </a:extLst>
            </p:cNvPr>
            <p:cNvSpPr/>
            <p:nvPr/>
          </p:nvSpPr>
          <p:spPr>
            <a:xfrm>
              <a:off x="950262" y="3884507"/>
              <a:ext cx="1926536" cy="96915"/>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1" name="Rectangle 40">
              <a:extLst>
                <a:ext uri="{FF2B5EF4-FFF2-40B4-BE49-F238E27FC236}">
                  <a16:creationId xmlns:a16="http://schemas.microsoft.com/office/drawing/2014/main" id="{B9DC0BFC-3415-648C-56CD-A890A635760A}"/>
                </a:ext>
              </a:extLst>
            </p:cNvPr>
            <p:cNvSpPr/>
            <p:nvPr/>
          </p:nvSpPr>
          <p:spPr>
            <a:xfrm>
              <a:off x="950262" y="4038146"/>
              <a:ext cx="1926536" cy="96915"/>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2" name="Rectangle 41">
              <a:extLst>
                <a:ext uri="{FF2B5EF4-FFF2-40B4-BE49-F238E27FC236}">
                  <a16:creationId xmlns:a16="http://schemas.microsoft.com/office/drawing/2014/main" id="{50CF3FE1-58BA-2889-9FCF-DF862EA27807}"/>
                </a:ext>
              </a:extLst>
            </p:cNvPr>
            <p:cNvSpPr/>
            <p:nvPr/>
          </p:nvSpPr>
          <p:spPr>
            <a:xfrm>
              <a:off x="950262" y="4203655"/>
              <a:ext cx="1261443" cy="96915"/>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43" name="Group 42">
            <a:extLst>
              <a:ext uri="{FF2B5EF4-FFF2-40B4-BE49-F238E27FC236}">
                <a16:creationId xmlns:a16="http://schemas.microsoft.com/office/drawing/2014/main" id="{9553FD70-018A-7140-5F0D-B57B06FD99D5}"/>
              </a:ext>
            </a:extLst>
          </p:cNvPr>
          <p:cNvGrpSpPr/>
          <p:nvPr/>
        </p:nvGrpSpPr>
        <p:grpSpPr>
          <a:xfrm>
            <a:off x="8879038" y="2959417"/>
            <a:ext cx="2174240" cy="2870423"/>
            <a:chOff x="826411" y="2809240"/>
            <a:chExt cx="2174240" cy="2870423"/>
          </a:xfrm>
        </p:grpSpPr>
        <p:sp>
          <p:nvSpPr>
            <p:cNvPr id="44" name="Rectangle 43">
              <a:extLst>
                <a:ext uri="{FF2B5EF4-FFF2-40B4-BE49-F238E27FC236}">
                  <a16:creationId xmlns:a16="http://schemas.microsoft.com/office/drawing/2014/main" id="{0BD7DA94-6A90-55A3-C5EE-AEC246317D13}"/>
                </a:ext>
              </a:extLst>
            </p:cNvPr>
            <p:cNvSpPr/>
            <p:nvPr/>
          </p:nvSpPr>
          <p:spPr>
            <a:xfrm>
              <a:off x="826411" y="3190463"/>
              <a:ext cx="2174240" cy="2489200"/>
            </a:xfrm>
            <a:prstGeom prst="rect">
              <a:avLst/>
            </a:prstGeom>
            <a:solidFill>
              <a:schemeClr val="bg1"/>
            </a:solidFill>
            <a:ln>
              <a:solidFill>
                <a:schemeClr val="bg1">
                  <a:lumMod val="75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sz="1400" b="1" noProof="0" dirty="0">
                <a:solidFill>
                  <a:schemeClr val="tx1"/>
                </a:solidFill>
              </a:endParaRPr>
            </a:p>
          </p:txBody>
        </p:sp>
        <p:pic>
          <p:nvPicPr>
            <p:cNvPr id="45" name="Graphic 44" descr="Document with solid fill">
              <a:extLst>
                <a:ext uri="{FF2B5EF4-FFF2-40B4-BE49-F238E27FC236}">
                  <a16:creationId xmlns:a16="http://schemas.microsoft.com/office/drawing/2014/main" id="{2526CE24-F927-6547-9A24-4461B95536E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26411" y="2809240"/>
              <a:ext cx="360000" cy="360000"/>
            </a:xfrm>
            <a:prstGeom prst="rect">
              <a:avLst/>
            </a:prstGeom>
          </p:spPr>
        </p:pic>
        <p:sp>
          <p:nvSpPr>
            <p:cNvPr id="46" name="TextBox 45">
              <a:extLst>
                <a:ext uri="{FF2B5EF4-FFF2-40B4-BE49-F238E27FC236}">
                  <a16:creationId xmlns:a16="http://schemas.microsoft.com/office/drawing/2014/main" id="{BC29E247-7C3B-AD66-8877-1C58DA70CF67}"/>
                </a:ext>
              </a:extLst>
            </p:cNvPr>
            <p:cNvSpPr txBox="1"/>
            <p:nvPr/>
          </p:nvSpPr>
          <p:spPr>
            <a:xfrm>
              <a:off x="1189279" y="2862542"/>
              <a:ext cx="1651657" cy="276999"/>
            </a:xfrm>
            <a:prstGeom prst="rect">
              <a:avLst/>
            </a:prstGeom>
            <a:noFill/>
          </p:spPr>
          <p:txBody>
            <a:bodyPr wrap="square">
              <a:spAutoFit/>
            </a:bodyPr>
            <a:lstStyle/>
            <a:p>
              <a:r>
                <a:rPr lang="en-US" sz="1200" b="1" noProof="0" dirty="0">
                  <a:solidFill>
                    <a:schemeClr val="tx1"/>
                  </a:solidFill>
                </a:rPr>
                <a:t>Causal Revision</a:t>
              </a:r>
            </a:p>
          </p:txBody>
        </p:sp>
        <p:sp>
          <p:nvSpPr>
            <p:cNvPr id="47" name="TextBox 46">
              <a:extLst>
                <a:ext uri="{FF2B5EF4-FFF2-40B4-BE49-F238E27FC236}">
                  <a16:creationId xmlns:a16="http://schemas.microsoft.com/office/drawing/2014/main" id="{D69E439E-8876-5046-7451-5DC5621C0CB4}"/>
                </a:ext>
              </a:extLst>
            </p:cNvPr>
            <p:cNvSpPr txBox="1"/>
            <p:nvPr/>
          </p:nvSpPr>
          <p:spPr>
            <a:xfrm>
              <a:off x="937607" y="3334982"/>
              <a:ext cx="1951847" cy="523220"/>
            </a:xfrm>
            <a:prstGeom prst="rect">
              <a:avLst/>
            </a:prstGeom>
            <a:noFill/>
          </p:spPr>
          <p:txBody>
            <a:bodyPr wrap="square">
              <a:spAutoFit/>
            </a:bodyPr>
            <a:lstStyle/>
            <a:p>
              <a:pPr algn="ctr"/>
              <a:r>
                <a:rPr lang="en-US" sz="1400" b="1" noProof="0" dirty="0"/>
                <a:t>Z confounds the Effect of X on Y</a:t>
              </a:r>
              <a:endParaRPr lang="en-US" sz="1400" b="1" noProof="0" dirty="0">
                <a:solidFill>
                  <a:schemeClr val="tx1"/>
                </a:solidFill>
              </a:endParaRPr>
            </a:p>
          </p:txBody>
        </p:sp>
        <p:sp>
          <p:nvSpPr>
            <p:cNvPr id="48" name="Oval 47">
              <a:extLst>
                <a:ext uri="{FF2B5EF4-FFF2-40B4-BE49-F238E27FC236}">
                  <a16:creationId xmlns:a16="http://schemas.microsoft.com/office/drawing/2014/main" id="{DAED4274-BD01-3B2A-3BA2-282359BB328F}"/>
                </a:ext>
              </a:extLst>
            </p:cNvPr>
            <p:cNvSpPr/>
            <p:nvPr/>
          </p:nvSpPr>
          <p:spPr>
            <a:xfrm>
              <a:off x="1006411" y="5042558"/>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dirty="0"/>
                <a:t>x</a:t>
              </a:r>
            </a:p>
          </p:txBody>
        </p:sp>
        <p:sp>
          <p:nvSpPr>
            <p:cNvPr id="49" name="Oval 48">
              <a:extLst>
                <a:ext uri="{FF2B5EF4-FFF2-40B4-BE49-F238E27FC236}">
                  <a16:creationId xmlns:a16="http://schemas.microsoft.com/office/drawing/2014/main" id="{18EA0121-396A-3C1B-55B1-736C398C6AA8}"/>
                </a:ext>
              </a:extLst>
            </p:cNvPr>
            <p:cNvSpPr/>
            <p:nvPr/>
          </p:nvSpPr>
          <p:spPr>
            <a:xfrm>
              <a:off x="2439824" y="5042558"/>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dirty="0"/>
                <a:t>y</a:t>
              </a:r>
            </a:p>
          </p:txBody>
        </p:sp>
        <p:cxnSp>
          <p:nvCxnSpPr>
            <p:cNvPr id="50" name="Straight Arrow Connector 49">
              <a:extLst>
                <a:ext uri="{FF2B5EF4-FFF2-40B4-BE49-F238E27FC236}">
                  <a16:creationId xmlns:a16="http://schemas.microsoft.com/office/drawing/2014/main" id="{A72D645D-82FB-9288-74CB-511DF4E6FFD3}"/>
                </a:ext>
              </a:extLst>
            </p:cNvPr>
            <p:cNvCxnSpPr>
              <a:cxnSpLocks/>
              <a:stCxn id="48" idx="6"/>
              <a:endCxn id="54" idx="2"/>
            </p:cNvCxnSpPr>
            <p:nvPr/>
          </p:nvCxnSpPr>
          <p:spPr>
            <a:xfrm>
              <a:off x="1366411" y="5222558"/>
              <a:ext cx="356705"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51" name="Oval 50">
              <a:extLst>
                <a:ext uri="{FF2B5EF4-FFF2-40B4-BE49-F238E27FC236}">
                  <a16:creationId xmlns:a16="http://schemas.microsoft.com/office/drawing/2014/main" id="{DC8DEDBA-9B21-C6C6-D329-D47059770DC0}"/>
                </a:ext>
              </a:extLst>
            </p:cNvPr>
            <p:cNvSpPr/>
            <p:nvPr/>
          </p:nvSpPr>
          <p:spPr>
            <a:xfrm>
              <a:off x="1723116" y="4393520"/>
              <a:ext cx="360000" cy="360000"/>
            </a:xfrm>
            <a:prstGeom prst="ellipse">
              <a:avLst/>
            </a:prstGeom>
            <a:solidFill>
              <a:schemeClr val="bg1">
                <a:lumMod val="8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dirty="0">
                  <a:solidFill>
                    <a:schemeClr val="tx1"/>
                  </a:solidFill>
                </a:rPr>
                <a:t>z</a:t>
              </a:r>
            </a:p>
          </p:txBody>
        </p:sp>
        <p:cxnSp>
          <p:nvCxnSpPr>
            <p:cNvPr id="52" name="Straight Arrow Connector 51">
              <a:extLst>
                <a:ext uri="{FF2B5EF4-FFF2-40B4-BE49-F238E27FC236}">
                  <a16:creationId xmlns:a16="http://schemas.microsoft.com/office/drawing/2014/main" id="{A3E9DCCE-1187-E0DE-ABB5-A168BED7D7BD}"/>
                </a:ext>
              </a:extLst>
            </p:cNvPr>
            <p:cNvCxnSpPr>
              <a:cxnSpLocks/>
              <a:stCxn id="51" idx="3"/>
              <a:endCxn id="48" idx="7"/>
            </p:cNvCxnSpPr>
            <p:nvPr/>
          </p:nvCxnSpPr>
          <p:spPr>
            <a:xfrm flipH="1">
              <a:off x="1313690" y="4700799"/>
              <a:ext cx="462147" cy="39448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3" name="Straight Arrow Connector 52">
              <a:extLst>
                <a:ext uri="{FF2B5EF4-FFF2-40B4-BE49-F238E27FC236}">
                  <a16:creationId xmlns:a16="http://schemas.microsoft.com/office/drawing/2014/main" id="{F1DB53EC-6FCC-595D-9016-AE7CF9341AD6}"/>
                </a:ext>
              </a:extLst>
            </p:cNvPr>
            <p:cNvCxnSpPr>
              <a:cxnSpLocks/>
              <a:stCxn id="51" idx="5"/>
              <a:endCxn id="49" idx="1"/>
            </p:cNvCxnSpPr>
            <p:nvPr/>
          </p:nvCxnSpPr>
          <p:spPr>
            <a:xfrm>
              <a:off x="2030395" y="4700799"/>
              <a:ext cx="462150" cy="39448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54" name="Oval 53">
              <a:extLst>
                <a:ext uri="{FF2B5EF4-FFF2-40B4-BE49-F238E27FC236}">
                  <a16:creationId xmlns:a16="http://schemas.microsoft.com/office/drawing/2014/main" id="{294B981E-6F05-BC82-8EF0-C4FF16CA0247}"/>
                </a:ext>
              </a:extLst>
            </p:cNvPr>
            <p:cNvSpPr/>
            <p:nvPr/>
          </p:nvSpPr>
          <p:spPr>
            <a:xfrm>
              <a:off x="1723116" y="5042558"/>
              <a:ext cx="360000" cy="360000"/>
            </a:xfrm>
            <a:prstGeom prst="ellipse">
              <a:avLst/>
            </a:prstGeom>
            <a:solidFill>
              <a:schemeClr val="bg1">
                <a:lumMod val="8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dirty="0">
                  <a:solidFill>
                    <a:schemeClr val="tx1"/>
                  </a:solidFill>
                </a:rPr>
                <a:t>a</a:t>
              </a:r>
            </a:p>
          </p:txBody>
        </p:sp>
        <p:cxnSp>
          <p:nvCxnSpPr>
            <p:cNvPr id="55" name="Straight Arrow Connector 54">
              <a:extLst>
                <a:ext uri="{FF2B5EF4-FFF2-40B4-BE49-F238E27FC236}">
                  <a16:creationId xmlns:a16="http://schemas.microsoft.com/office/drawing/2014/main" id="{752F78DC-6761-20EC-AF7D-F8B9FEB0AA3E}"/>
                </a:ext>
              </a:extLst>
            </p:cNvPr>
            <p:cNvCxnSpPr>
              <a:cxnSpLocks/>
              <a:stCxn id="54" idx="6"/>
              <a:endCxn id="49" idx="2"/>
            </p:cNvCxnSpPr>
            <p:nvPr/>
          </p:nvCxnSpPr>
          <p:spPr>
            <a:xfrm>
              <a:off x="2083116" y="5222558"/>
              <a:ext cx="356708"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56" name="Rectangle 55">
              <a:extLst>
                <a:ext uri="{FF2B5EF4-FFF2-40B4-BE49-F238E27FC236}">
                  <a16:creationId xmlns:a16="http://schemas.microsoft.com/office/drawing/2014/main" id="{BBD7702A-0A02-CE5C-B458-8AAB1D6379E7}"/>
                </a:ext>
              </a:extLst>
            </p:cNvPr>
            <p:cNvSpPr/>
            <p:nvPr/>
          </p:nvSpPr>
          <p:spPr>
            <a:xfrm>
              <a:off x="950262" y="3884507"/>
              <a:ext cx="1926536" cy="96915"/>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7" name="Rectangle 56">
              <a:extLst>
                <a:ext uri="{FF2B5EF4-FFF2-40B4-BE49-F238E27FC236}">
                  <a16:creationId xmlns:a16="http://schemas.microsoft.com/office/drawing/2014/main" id="{137F143C-1D46-2FAE-6130-376E4DE65851}"/>
                </a:ext>
              </a:extLst>
            </p:cNvPr>
            <p:cNvSpPr/>
            <p:nvPr/>
          </p:nvSpPr>
          <p:spPr>
            <a:xfrm>
              <a:off x="950262" y="4038146"/>
              <a:ext cx="1926536" cy="96915"/>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8" name="Rectangle 57">
              <a:extLst>
                <a:ext uri="{FF2B5EF4-FFF2-40B4-BE49-F238E27FC236}">
                  <a16:creationId xmlns:a16="http://schemas.microsoft.com/office/drawing/2014/main" id="{37AE4DC9-5CC9-013E-10FD-C6949FD9FE28}"/>
                </a:ext>
              </a:extLst>
            </p:cNvPr>
            <p:cNvSpPr/>
            <p:nvPr/>
          </p:nvSpPr>
          <p:spPr>
            <a:xfrm>
              <a:off x="950262" y="4203655"/>
              <a:ext cx="1261443" cy="96915"/>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Tree>
    <p:extLst>
      <p:ext uri="{BB962C8B-B14F-4D97-AF65-F5344CB8AC3E}">
        <p14:creationId xmlns:p14="http://schemas.microsoft.com/office/powerpoint/2010/main" val="8349276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00391665-C762-1338-85A3-9DD51190767A}"/>
              </a:ext>
            </a:extLst>
          </p:cNvPr>
          <p:cNvSpPr>
            <a:spLocks noGrp="1"/>
          </p:cNvSpPr>
          <p:nvPr>
            <p:ph type="title"/>
          </p:nvPr>
        </p:nvSpPr>
        <p:spPr/>
        <p:txBody>
          <a:bodyPr/>
          <a:lstStyle/>
          <a:p>
            <a:r>
              <a:rPr lang="en-SE" dirty="0"/>
              <a:t>Recommendations</a:t>
            </a:r>
          </a:p>
        </p:txBody>
      </p:sp>
      <p:sp>
        <p:nvSpPr>
          <p:cNvPr id="4" name="Date Placeholder 3">
            <a:extLst>
              <a:ext uri="{FF2B5EF4-FFF2-40B4-BE49-F238E27FC236}">
                <a16:creationId xmlns:a16="http://schemas.microsoft.com/office/drawing/2014/main" id="{2AF07D6B-4155-1B97-D9D4-D8DADE7B30E0}"/>
              </a:ext>
            </a:extLst>
          </p:cNvPr>
          <p:cNvSpPr>
            <a:spLocks noGrp="1"/>
          </p:cNvSpPr>
          <p:nvPr>
            <p:ph type="dt" sz="half" idx="10"/>
          </p:nvPr>
        </p:nvSpPr>
        <p:spPr/>
        <p:txBody>
          <a:bodyPr/>
          <a:lstStyle/>
          <a:p>
            <a:r>
              <a:rPr lang="de-DE"/>
              <a:t>20.01.2026</a:t>
            </a:r>
            <a:endParaRPr lang="en-US"/>
          </a:p>
        </p:txBody>
      </p:sp>
      <p:sp>
        <p:nvSpPr>
          <p:cNvPr id="5" name="Footer Placeholder 4">
            <a:extLst>
              <a:ext uri="{FF2B5EF4-FFF2-40B4-BE49-F238E27FC236}">
                <a16:creationId xmlns:a16="http://schemas.microsoft.com/office/drawing/2014/main" id="{72855C0A-DBBF-4A2A-13A6-A39DE9CB82B3}"/>
              </a:ext>
            </a:extLst>
          </p:cNvPr>
          <p:cNvSpPr>
            <a:spLocks noGrp="1"/>
          </p:cNvSpPr>
          <p:nvPr>
            <p:ph type="ftr" sz="quarter" idx="11"/>
          </p:nvPr>
        </p:nvSpPr>
        <p:spPr/>
        <p:txBody>
          <a:bodyPr/>
          <a:lstStyle/>
          <a:p>
            <a:r>
              <a:rPr lang="en-US"/>
              <a:t>Introduction to Statistical Causal Inference</a:t>
            </a:r>
          </a:p>
        </p:txBody>
      </p:sp>
      <p:sp>
        <p:nvSpPr>
          <p:cNvPr id="6" name="Slide Number Placeholder 5">
            <a:extLst>
              <a:ext uri="{FF2B5EF4-FFF2-40B4-BE49-F238E27FC236}">
                <a16:creationId xmlns:a16="http://schemas.microsoft.com/office/drawing/2014/main" id="{77A6DFFB-334F-9546-F666-3CFA82C54C3F}"/>
              </a:ext>
            </a:extLst>
          </p:cNvPr>
          <p:cNvSpPr>
            <a:spLocks noGrp="1"/>
          </p:cNvSpPr>
          <p:nvPr>
            <p:ph type="sldNum" sz="quarter" idx="12"/>
          </p:nvPr>
        </p:nvSpPr>
        <p:spPr/>
        <p:txBody>
          <a:bodyPr/>
          <a:lstStyle/>
          <a:p>
            <a:fld id="{0FA2D919-C0DE-4971-A2E9-D4AC0031921B}" type="slidenum">
              <a:rPr lang="en-US" smtClean="0"/>
              <a:t>54</a:t>
            </a:fld>
            <a:endParaRPr lang="en-US"/>
          </a:p>
        </p:txBody>
      </p:sp>
      <p:grpSp>
        <p:nvGrpSpPr>
          <p:cNvPr id="2" name="Group 1">
            <a:extLst>
              <a:ext uri="{FF2B5EF4-FFF2-40B4-BE49-F238E27FC236}">
                <a16:creationId xmlns:a16="http://schemas.microsoft.com/office/drawing/2014/main" id="{A46E3643-C496-1823-A9F6-AE2CF5A223DC}"/>
              </a:ext>
            </a:extLst>
          </p:cNvPr>
          <p:cNvGrpSpPr/>
          <p:nvPr/>
        </p:nvGrpSpPr>
        <p:grpSpPr>
          <a:xfrm>
            <a:off x="4607662" y="2516999"/>
            <a:ext cx="2976676" cy="2311682"/>
            <a:chOff x="4607662" y="3429000"/>
            <a:chExt cx="2976676" cy="2311682"/>
          </a:xfrm>
        </p:grpSpPr>
        <p:grpSp>
          <p:nvGrpSpPr>
            <p:cNvPr id="3" name="Group 2">
              <a:extLst>
                <a:ext uri="{FF2B5EF4-FFF2-40B4-BE49-F238E27FC236}">
                  <a16:creationId xmlns:a16="http://schemas.microsoft.com/office/drawing/2014/main" id="{D1907353-5E1C-250F-E6FB-0A7ADDD81B97}"/>
                </a:ext>
              </a:extLst>
            </p:cNvPr>
            <p:cNvGrpSpPr/>
            <p:nvPr/>
          </p:nvGrpSpPr>
          <p:grpSpPr>
            <a:xfrm>
              <a:off x="5556000" y="3429000"/>
              <a:ext cx="1080000" cy="1080000"/>
              <a:chOff x="3313786" y="3686861"/>
              <a:chExt cx="1080000" cy="1080000"/>
            </a:xfrm>
          </p:grpSpPr>
          <p:sp>
            <p:nvSpPr>
              <p:cNvPr id="8" name="Oval 7">
                <a:extLst>
                  <a:ext uri="{FF2B5EF4-FFF2-40B4-BE49-F238E27FC236}">
                    <a16:creationId xmlns:a16="http://schemas.microsoft.com/office/drawing/2014/main" id="{D719FF11-B579-C884-D216-88F161F6CDA2}"/>
                  </a:ext>
                </a:extLst>
              </p:cNvPr>
              <p:cNvSpPr/>
              <p:nvPr/>
            </p:nvSpPr>
            <p:spPr>
              <a:xfrm>
                <a:off x="3313786" y="3686861"/>
                <a:ext cx="1080000" cy="1080000"/>
              </a:xfrm>
              <a:prstGeom prst="ellipse">
                <a:avLst/>
              </a:prstGeom>
              <a:solidFill>
                <a:schemeClr val="accent5">
                  <a:lumMod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11" name="Graphic 10" descr="Influencer with solid fill">
                <a:extLst>
                  <a:ext uri="{FF2B5EF4-FFF2-40B4-BE49-F238E27FC236}">
                    <a16:creationId xmlns:a16="http://schemas.microsoft.com/office/drawing/2014/main" id="{0463340E-B731-446D-756D-2BC3149984E8}"/>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3396586" y="3769661"/>
                <a:ext cx="914400" cy="914400"/>
              </a:xfrm>
              <a:prstGeom prst="rect">
                <a:avLst/>
              </a:prstGeom>
            </p:spPr>
          </p:pic>
        </p:grpSp>
        <p:sp>
          <p:nvSpPr>
            <p:cNvPr id="7" name="TextBox 6">
              <a:extLst>
                <a:ext uri="{FF2B5EF4-FFF2-40B4-BE49-F238E27FC236}">
                  <a16:creationId xmlns:a16="http://schemas.microsoft.com/office/drawing/2014/main" id="{9E8B3CAF-0117-33E7-1F4F-D4E36B8DAA69}"/>
                </a:ext>
              </a:extLst>
            </p:cNvPr>
            <p:cNvSpPr txBox="1"/>
            <p:nvPr/>
          </p:nvSpPr>
          <p:spPr>
            <a:xfrm>
              <a:off x="4607662" y="4663464"/>
              <a:ext cx="2976676" cy="1077218"/>
            </a:xfrm>
            <a:prstGeom prst="rect">
              <a:avLst/>
            </a:prstGeom>
            <a:noFill/>
          </p:spPr>
          <p:txBody>
            <a:bodyPr wrap="square" rtlCol="0">
              <a:spAutoFit/>
            </a:bodyPr>
            <a:lstStyle/>
            <a:p>
              <a:pPr algn="ctr"/>
              <a:r>
                <a:rPr lang="en-SE" sz="2400" b="1" noProof="0" dirty="0"/>
                <a:t>Draw a DAG</a:t>
              </a:r>
              <a:endParaRPr lang="en-US" sz="2400" b="1" noProof="0" dirty="0"/>
            </a:p>
            <a:p>
              <a:pPr algn="ctr"/>
              <a:r>
                <a:rPr lang="en-SE" sz="2000" dirty="0"/>
                <a:t>representing your causal assumptions</a:t>
              </a:r>
              <a:endParaRPr lang="en-US" sz="2000" noProof="0" dirty="0"/>
            </a:p>
          </p:txBody>
        </p:sp>
      </p:grpSp>
      <p:grpSp>
        <p:nvGrpSpPr>
          <p:cNvPr id="23" name="Group 22">
            <a:extLst>
              <a:ext uri="{FF2B5EF4-FFF2-40B4-BE49-F238E27FC236}">
                <a16:creationId xmlns:a16="http://schemas.microsoft.com/office/drawing/2014/main" id="{6842CE93-51B9-FF17-7CD0-68BB130E1CA3}"/>
              </a:ext>
            </a:extLst>
          </p:cNvPr>
          <p:cNvGrpSpPr/>
          <p:nvPr/>
        </p:nvGrpSpPr>
        <p:grpSpPr>
          <a:xfrm>
            <a:off x="8338004" y="2516999"/>
            <a:ext cx="2976676" cy="2927235"/>
            <a:chOff x="4607662" y="3429000"/>
            <a:chExt cx="2976676" cy="2927235"/>
          </a:xfrm>
        </p:grpSpPr>
        <p:grpSp>
          <p:nvGrpSpPr>
            <p:cNvPr id="24" name="Group 23">
              <a:extLst>
                <a:ext uri="{FF2B5EF4-FFF2-40B4-BE49-F238E27FC236}">
                  <a16:creationId xmlns:a16="http://schemas.microsoft.com/office/drawing/2014/main" id="{458593F8-A0F8-CBA8-B643-2C0802AEAD65}"/>
                </a:ext>
              </a:extLst>
            </p:cNvPr>
            <p:cNvGrpSpPr/>
            <p:nvPr/>
          </p:nvGrpSpPr>
          <p:grpSpPr>
            <a:xfrm>
              <a:off x="5556000" y="3429000"/>
              <a:ext cx="1080000" cy="1080000"/>
              <a:chOff x="3313786" y="3686861"/>
              <a:chExt cx="1080000" cy="1080000"/>
            </a:xfrm>
          </p:grpSpPr>
          <p:sp>
            <p:nvSpPr>
              <p:cNvPr id="26" name="Oval 25">
                <a:extLst>
                  <a:ext uri="{FF2B5EF4-FFF2-40B4-BE49-F238E27FC236}">
                    <a16:creationId xmlns:a16="http://schemas.microsoft.com/office/drawing/2014/main" id="{974E6D5F-B7C1-F6E4-7EE8-EA6AC79D76A4}"/>
                  </a:ext>
                </a:extLst>
              </p:cNvPr>
              <p:cNvSpPr/>
              <p:nvPr/>
            </p:nvSpPr>
            <p:spPr>
              <a:xfrm>
                <a:off x="3313786" y="3686861"/>
                <a:ext cx="1080000" cy="1080000"/>
              </a:xfrm>
              <a:prstGeom prst="ellipse">
                <a:avLst/>
              </a:prstGeom>
              <a:solidFill>
                <a:schemeClr val="accent5">
                  <a:lumMod val="60000"/>
                  <a:lumOff val="4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27" name="Graphic 26" descr="Cut with solid fill">
                <a:extLst>
                  <a:ext uri="{FF2B5EF4-FFF2-40B4-BE49-F238E27FC236}">
                    <a16:creationId xmlns:a16="http://schemas.microsoft.com/office/drawing/2014/main" id="{2E7833DF-234D-B16F-109F-78F27DB290C3}"/>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3396586" y="3769661"/>
                <a:ext cx="914400" cy="914400"/>
              </a:xfrm>
              <a:prstGeom prst="rect">
                <a:avLst/>
              </a:prstGeom>
            </p:spPr>
          </p:pic>
        </p:grpSp>
        <p:sp>
          <p:nvSpPr>
            <p:cNvPr id="25" name="TextBox 24">
              <a:extLst>
                <a:ext uri="{FF2B5EF4-FFF2-40B4-BE49-F238E27FC236}">
                  <a16:creationId xmlns:a16="http://schemas.microsoft.com/office/drawing/2014/main" id="{49817355-900F-1ED8-0EE3-4E441B130463}"/>
                </a:ext>
              </a:extLst>
            </p:cNvPr>
            <p:cNvSpPr txBox="1"/>
            <p:nvPr/>
          </p:nvSpPr>
          <p:spPr>
            <a:xfrm>
              <a:off x="4607662" y="4663464"/>
              <a:ext cx="2976676" cy="1692771"/>
            </a:xfrm>
            <a:prstGeom prst="rect">
              <a:avLst/>
            </a:prstGeom>
            <a:noFill/>
          </p:spPr>
          <p:txBody>
            <a:bodyPr wrap="square" rtlCol="0">
              <a:spAutoFit/>
            </a:bodyPr>
            <a:lstStyle/>
            <a:p>
              <a:pPr algn="ctr"/>
              <a:r>
                <a:rPr lang="en-SE" sz="2400" b="1" noProof="0" dirty="0"/>
                <a:t>Use d-separation</a:t>
              </a:r>
              <a:endParaRPr lang="en-US" sz="2400" b="1" noProof="0" dirty="0"/>
            </a:p>
            <a:p>
              <a:pPr algn="ctr"/>
              <a:r>
                <a:rPr lang="en-SE" sz="2000" noProof="0" dirty="0"/>
                <a:t>to figure out (1) if you can conduct your study and (2) what data you need to collect</a:t>
              </a:r>
              <a:endParaRPr lang="en-US" sz="2000" noProof="0" dirty="0"/>
            </a:p>
          </p:txBody>
        </p:sp>
      </p:grpSp>
      <p:grpSp>
        <p:nvGrpSpPr>
          <p:cNvPr id="28" name="Group 27">
            <a:extLst>
              <a:ext uri="{FF2B5EF4-FFF2-40B4-BE49-F238E27FC236}">
                <a16:creationId xmlns:a16="http://schemas.microsoft.com/office/drawing/2014/main" id="{C4D0138C-8CD4-55A1-1873-CAF1E4040D9C}"/>
              </a:ext>
            </a:extLst>
          </p:cNvPr>
          <p:cNvGrpSpPr/>
          <p:nvPr/>
        </p:nvGrpSpPr>
        <p:grpSpPr>
          <a:xfrm>
            <a:off x="877320" y="2516999"/>
            <a:ext cx="2976676" cy="2311682"/>
            <a:chOff x="4607662" y="3429000"/>
            <a:chExt cx="2976676" cy="2311682"/>
          </a:xfrm>
        </p:grpSpPr>
        <p:grpSp>
          <p:nvGrpSpPr>
            <p:cNvPr id="29" name="Group 28">
              <a:extLst>
                <a:ext uri="{FF2B5EF4-FFF2-40B4-BE49-F238E27FC236}">
                  <a16:creationId xmlns:a16="http://schemas.microsoft.com/office/drawing/2014/main" id="{E5638539-66BF-4BAB-D7B2-E3C36D759EF0}"/>
                </a:ext>
              </a:extLst>
            </p:cNvPr>
            <p:cNvGrpSpPr/>
            <p:nvPr/>
          </p:nvGrpSpPr>
          <p:grpSpPr>
            <a:xfrm>
              <a:off x="5556000" y="3429000"/>
              <a:ext cx="1080000" cy="1080000"/>
              <a:chOff x="3313786" y="3686861"/>
              <a:chExt cx="1080000" cy="1080000"/>
            </a:xfrm>
          </p:grpSpPr>
          <p:sp>
            <p:nvSpPr>
              <p:cNvPr id="31" name="Oval 30">
                <a:extLst>
                  <a:ext uri="{FF2B5EF4-FFF2-40B4-BE49-F238E27FC236}">
                    <a16:creationId xmlns:a16="http://schemas.microsoft.com/office/drawing/2014/main" id="{AFD49403-2702-3533-50E3-6855270AE729}"/>
                  </a:ext>
                </a:extLst>
              </p:cNvPr>
              <p:cNvSpPr/>
              <p:nvPr/>
            </p:nvSpPr>
            <p:spPr>
              <a:xfrm>
                <a:off x="3313786" y="3686861"/>
                <a:ext cx="1080000" cy="1080000"/>
              </a:xfrm>
              <a:prstGeom prst="ellipse">
                <a:avLst/>
              </a:prstGeom>
              <a:solidFill>
                <a:schemeClr val="accent5">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32" name="Graphic 31" descr="Disk with solid fill">
                <a:extLst>
                  <a:ext uri="{FF2B5EF4-FFF2-40B4-BE49-F238E27FC236}">
                    <a16:creationId xmlns:a16="http://schemas.microsoft.com/office/drawing/2014/main" id="{420DD21F-7275-DAE0-63A9-90C45310323F}"/>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3396586" y="3769661"/>
                <a:ext cx="914400" cy="914400"/>
              </a:xfrm>
              <a:prstGeom prst="rect">
                <a:avLst/>
              </a:prstGeom>
            </p:spPr>
          </p:pic>
        </p:grpSp>
        <p:sp>
          <p:nvSpPr>
            <p:cNvPr id="30" name="TextBox 29">
              <a:extLst>
                <a:ext uri="{FF2B5EF4-FFF2-40B4-BE49-F238E27FC236}">
                  <a16:creationId xmlns:a16="http://schemas.microsoft.com/office/drawing/2014/main" id="{12345CC3-BE03-20DB-E34C-EE5D84364A09}"/>
                </a:ext>
              </a:extLst>
            </p:cNvPr>
            <p:cNvSpPr txBox="1"/>
            <p:nvPr/>
          </p:nvSpPr>
          <p:spPr>
            <a:xfrm>
              <a:off x="4607662" y="4663464"/>
              <a:ext cx="2976676" cy="1077218"/>
            </a:xfrm>
            <a:prstGeom prst="rect">
              <a:avLst/>
            </a:prstGeom>
            <a:noFill/>
          </p:spPr>
          <p:txBody>
            <a:bodyPr wrap="square" rtlCol="0">
              <a:spAutoFit/>
            </a:bodyPr>
            <a:lstStyle/>
            <a:p>
              <a:pPr algn="ctr"/>
              <a:r>
                <a:rPr lang="en-SE" sz="2400" b="1" noProof="0" dirty="0"/>
                <a:t>Data Collection</a:t>
              </a:r>
              <a:endParaRPr lang="en-US" sz="2400" b="1" noProof="0" dirty="0"/>
            </a:p>
            <a:p>
              <a:pPr algn="ctr"/>
              <a:r>
                <a:rPr lang="en-SE" sz="2000" noProof="0" dirty="0"/>
                <a:t>Is a part of data analysis, not its precursor</a:t>
              </a:r>
              <a:endParaRPr lang="en-US" sz="2000" noProof="0" dirty="0"/>
            </a:p>
          </p:txBody>
        </p:sp>
      </p:grpSp>
    </p:spTree>
    <p:extLst>
      <p:ext uri="{BB962C8B-B14F-4D97-AF65-F5344CB8AC3E}">
        <p14:creationId xmlns:p14="http://schemas.microsoft.com/office/powerpoint/2010/main" val="16820946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Arrow: Down 31">
            <a:extLst>
              <a:ext uri="{FF2B5EF4-FFF2-40B4-BE49-F238E27FC236}">
                <a16:creationId xmlns:a16="http://schemas.microsoft.com/office/drawing/2014/main" id="{87C1E37E-253D-0769-F2C9-F557922C8489}"/>
              </a:ext>
            </a:extLst>
          </p:cNvPr>
          <p:cNvSpPr/>
          <p:nvPr/>
        </p:nvSpPr>
        <p:spPr>
          <a:xfrm>
            <a:off x="928599" y="1607914"/>
            <a:ext cx="539201" cy="4802187"/>
          </a:xfrm>
          <a:prstGeom prst="downArrow">
            <a:avLst/>
          </a:prstGeom>
          <a:gradFill>
            <a:gsLst>
              <a:gs pos="0">
                <a:schemeClr val="tx2">
                  <a:lumMod val="25000"/>
                  <a:lumOff val="75000"/>
                </a:schemeClr>
              </a:gs>
              <a:gs pos="100000">
                <a:schemeClr val="tx2">
                  <a:lumMod val="50000"/>
                  <a:lumOff val="5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CB43DD2-8524-4E89-FB5F-5C9CE16B2239}"/>
              </a:ext>
            </a:extLst>
          </p:cNvPr>
          <p:cNvSpPr>
            <a:spLocks noGrp="1"/>
          </p:cNvSpPr>
          <p:nvPr>
            <p:ph type="title"/>
          </p:nvPr>
        </p:nvSpPr>
        <p:spPr/>
        <p:txBody>
          <a:bodyPr/>
          <a:lstStyle/>
          <a:p>
            <a:r>
              <a:rPr lang="en-US" noProof="0" dirty="0"/>
              <a:t>Reading list</a:t>
            </a:r>
          </a:p>
        </p:txBody>
      </p:sp>
      <p:sp>
        <p:nvSpPr>
          <p:cNvPr id="4" name="Date Placeholder 3">
            <a:extLst>
              <a:ext uri="{FF2B5EF4-FFF2-40B4-BE49-F238E27FC236}">
                <a16:creationId xmlns:a16="http://schemas.microsoft.com/office/drawing/2014/main" id="{A5943B1C-7C6D-4D18-F124-A07D96017683}"/>
              </a:ext>
            </a:extLst>
          </p:cNvPr>
          <p:cNvSpPr>
            <a:spLocks noGrp="1"/>
          </p:cNvSpPr>
          <p:nvPr>
            <p:ph type="dt" sz="half" idx="10"/>
          </p:nvPr>
        </p:nvSpPr>
        <p:spPr/>
        <p:txBody>
          <a:bodyPr/>
          <a:lstStyle/>
          <a:p>
            <a:fld id="{403A2FDA-9B6F-4F19-BB52-15CB2FEB03DD}" type="datetime1">
              <a:rPr lang="en-US" noProof="0" smtClean="0"/>
              <a:t>6/17/2026</a:t>
            </a:fld>
            <a:endParaRPr lang="en-US" noProof="0" dirty="0"/>
          </a:p>
        </p:txBody>
      </p:sp>
      <p:sp>
        <p:nvSpPr>
          <p:cNvPr id="5" name="Footer Placeholder 4">
            <a:extLst>
              <a:ext uri="{FF2B5EF4-FFF2-40B4-BE49-F238E27FC236}">
                <a16:creationId xmlns:a16="http://schemas.microsoft.com/office/drawing/2014/main" id="{ED1FB4FE-E999-0789-94F4-EF2E9D4C541C}"/>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5D2AD559-4D79-BCCD-2F9F-DF2219D51487}"/>
              </a:ext>
            </a:extLst>
          </p:cNvPr>
          <p:cNvSpPr>
            <a:spLocks noGrp="1"/>
          </p:cNvSpPr>
          <p:nvPr>
            <p:ph type="sldNum" sz="quarter" idx="12"/>
          </p:nvPr>
        </p:nvSpPr>
        <p:spPr/>
        <p:txBody>
          <a:bodyPr/>
          <a:lstStyle/>
          <a:p>
            <a:fld id="{0FA2D919-C0DE-4971-A2E9-D4AC0031921B}" type="slidenum">
              <a:rPr lang="en-US" noProof="0" smtClean="0"/>
              <a:t>55</a:t>
            </a:fld>
            <a:endParaRPr lang="en-US" noProof="0" dirty="0"/>
          </a:p>
        </p:txBody>
      </p:sp>
      <p:grpSp>
        <p:nvGrpSpPr>
          <p:cNvPr id="13" name="Group 12">
            <a:extLst>
              <a:ext uri="{FF2B5EF4-FFF2-40B4-BE49-F238E27FC236}">
                <a16:creationId xmlns:a16="http://schemas.microsoft.com/office/drawing/2014/main" id="{A77D9DE9-91E9-F431-2EB7-641721D62C89}"/>
              </a:ext>
            </a:extLst>
          </p:cNvPr>
          <p:cNvGrpSpPr/>
          <p:nvPr/>
        </p:nvGrpSpPr>
        <p:grpSpPr>
          <a:xfrm>
            <a:off x="838200" y="1571080"/>
            <a:ext cx="6898500" cy="720000"/>
            <a:chOff x="838200" y="1571080"/>
            <a:chExt cx="6898500" cy="720000"/>
          </a:xfrm>
        </p:grpSpPr>
        <p:pic>
          <p:nvPicPr>
            <p:cNvPr id="10" name="Graphic 9" descr="Closed book with solid fill">
              <a:extLst>
                <a:ext uri="{FF2B5EF4-FFF2-40B4-BE49-F238E27FC236}">
                  <a16:creationId xmlns:a16="http://schemas.microsoft.com/office/drawing/2014/main" id="{33625F26-55F6-D59A-1BDB-955FEC2E7CB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38200" y="1571080"/>
              <a:ext cx="720000" cy="720000"/>
            </a:xfrm>
            <a:prstGeom prst="rect">
              <a:avLst/>
            </a:prstGeom>
          </p:spPr>
        </p:pic>
        <p:sp>
          <p:nvSpPr>
            <p:cNvPr id="12" name="TextBox 11">
              <a:extLst>
                <a:ext uri="{FF2B5EF4-FFF2-40B4-BE49-F238E27FC236}">
                  <a16:creationId xmlns:a16="http://schemas.microsoft.com/office/drawing/2014/main" id="{3DF2D159-13D7-AC63-5688-5AFFB25A40E9}"/>
                </a:ext>
              </a:extLst>
            </p:cNvPr>
            <p:cNvSpPr txBox="1"/>
            <p:nvPr/>
          </p:nvSpPr>
          <p:spPr>
            <a:xfrm>
              <a:off x="1638796" y="1607914"/>
              <a:ext cx="6097904" cy="646331"/>
            </a:xfrm>
            <a:prstGeom prst="rect">
              <a:avLst/>
            </a:prstGeom>
            <a:noFill/>
          </p:spPr>
          <p:txBody>
            <a:bodyPr wrap="square">
              <a:spAutoFit/>
            </a:bodyPr>
            <a:lstStyle/>
            <a:p>
              <a:r>
                <a:rPr lang="en-US" b="1" noProof="0" dirty="0"/>
                <a:t>Pearl</a:t>
              </a:r>
              <a:r>
                <a:rPr lang="en-US" noProof="0" dirty="0"/>
                <a:t>, J., &amp; Mackenzie, D. (2018). </a:t>
              </a:r>
              <a:r>
                <a:rPr lang="en-US" i="1" noProof="0" dirty="0"/>
                <a:t>The book of why: the new science of cause and effect</a:t>
              </a:r>
              <a:r>
                <a:rPr lang="en-US" noProof="0" dirty="0"/>
                <a:t>. Basic books.</a:t>
              </a:r>
            </a:p>
          </p:txBody>
        </p:sp>
      </p:grpSp>
      <p:grpSp>
        <p:nvGrpSpPr>
          <p:cNvPr id="14" name="Group 13">
            <a:extLst>
              <a:ext uri="{FF2B5EF4-FFF2-40B4-BE49-F238E27FC236}">
                <a16:creationId xmlns:a16="http://schemas.microsoft.com/office/drawing/2014/main" id="{71673E6E-76FC-5A35-E8F8-7017703193A6}"/>
              </a:ext>
            </a:extLst>
          </p:cNvPr>
          <p:cNvGrpSpPr/>
          <p:nvPr/>
        </p:nvGrpSpPr>
        <p:grpSpPr>
          <a:xfrm>
            <a:off x="838200" y="2332310"/>
            <a:ext cx="9654540" cy="720000"/>
            <a:chOff x="838200" y="1571080"/>
            <a:chExt cx="9654540" cy="720000"/>
          </a:xfrm>
        </p:grpSpPr>
        <p:pic>
          <p:nvPicPr>
            <p:cNvPr id="15" name="Graphic 14" descr="Closed book with solid fill">
              <a:extLst>
                <a:ext uri="{FF2B5EF4-FFF2-40B4-BE49-F238E27FC236}">
                  <a16:creationId xmlns:a16="http://schemas.microsoft.com/office/drawing/2014/main" id="{C1E5DAED-E988-F0E8-ED3A-9638FFA22A5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38200" y="1571080"/>
              <a:ext cx="720000" cy="720000"/>
            </a:xfrm>
            <a:prstGeom prst="rect">
              <a:avLst/>
            </a:prstGeom>
          </p:spPr>
        </p:pic>
        <p:sp>
          <p:nvSpPr>
            <p:cNvPr id="16" name="TextBox 15">
              <a:extLst>
                <a:ext uri="{FF2B5EF4-FFF2-40B4-BE49-F238E27FC236}">
                  <a16:creationId xmlns:a16="http://schemas.microsoft.com/office/drawing/2014/main" id="{1662FBD9-FA1F-FD46-F3AA-6F20EFB282B5}"/>
                </a:ext>
              </a:extLst>
            </p:cNvPr>
            <p:cNvSpPr txBox="1"/>
            <p:nvPr/>
          </p:nvSpPr>
          <p:spPr>
            <a:xfrm>
              <a:off x="1638796" y="1607914"/>
              <a:ext cx="8853944" cy="646331"/>
            </a:xfrm>
            <a:prstGeom prst="rect">
              <a:avLst/>
            </a:prstGeom>
            <a:noFill/>
          </p:spPr>
          <p:txBody>
            <a:bodyPr wrap="square">
              <a:spAutoFit/>
            </a:bodyPr>
            <a:lstStyle/>
            <a:p>
              <a:r>
                <a:rPr lang="en-US" b="1" noProof="0" dirty="0"/>
                <a:t>McElreath</a:t>
              </a:r>
              <a:r>
                <a:rPr lang="en-US" noProof="0" dirty="0"/>
                <a:t>, R. (2018). </a:t>
              </a:r>
              <a:r>
                <a:rPr lang="en-US" i="1" noProof="0" dirty="0"/>
                <a:t>Statistical rethinking: A Bayesian course with examples in R and Stan</a:t>
              </a:r>
              <a:r>
                <a:rPr lang="en-US" noProof="0" dirty="0"/>
                <a:t>. Chapman and Hall/CRC.</a:t>
              </a:r>
            </a:p>
          </p:txBody>
        </p:sp>
      </p:grpSp>
      <p:grpSp>
        <p:nvGrpSpPr>
          <p:cNvPr id="17" name="Group 16">
            <a:extLst>
              <a:ext uri="{FF2B5EF4-FFF2-40B4-BE49-F238E27FC236}">
                <a16:creationId xmlns:a16="http://schemas.microsoft.com/office/drawing/2014/main" id="{C7982DE3-2754-4D9A-4977-E72A6DD14831}"/>
              </a:ext>
            </a:extLst>
          </p:cNvPr>
          <p:cNvGrpSpPr/>
          <p:nvPr/>
        </p:nvGrpSpPr>
        <p:grpSpPr>
          <a:xfrm>
            <a:off x="838200" y="3125980"/>
            <a:ext cx="9654540" cy="720000"/>
            <a:chOff x="838200" y="1571080"/>
            <a:chExt cx="9654540" cy="720000"/>
          </a:xfrm>
        </p:grpSpPr>
        <p:pic>
          <p:nvPicPr>
            <p:cNvPr id="18" name="Graphic 17" descr="Document with solid fill">
              <a:extLst>
                <a:ext uri="{FF2B5EF4-FFF2-40B4-BE49-F238E27FC236}">
                  <a16:creationId xmlns:a16="http://schemas.microsoft.com/office/drawing/2014/main" id="{1C4DABFE-76D2-8D07-962D-7725E97BCD2D}"/>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838200" y="1571080"/>
              <a:ext cx="720000" cy="720000"/>
            </a:xfrm>
            <a:prstGeom prst="rect">
              <a:avLst/>
            </a:prstGeom>
          </p:spPr>
        </p:pic>
        <p:sp>
          <p:nvSpPr>
            <p:cNvPr id="19" name="TextBox 18">
              <a:extLst>
                <a:ext uri="{FF2B5EF4-FFF2-40B4-BE49-F238E27FC236}">
                  <a16:creationId xmlns:a16="http://schemas.microsoft.com/office/drawing/2014/main" id="{A95F3D12-1F91-57FE-91D7-7FE88BD75F1D}"/>
                </a:ext>
              </a:extLst>
            </p:cNvPr>
            <p:cNvSpPr txBox="1"/>
            <p:nvPr/>
          </p:nvSpPr>
          <p:spPr>
            <a:xfrm>
              <a:off x="1638796" y="1607914"/>
              <a:ext cx="8853944" cy="646331"/>
            </a:xfrm>
            <a:prstGeom prst="rect">
              <a:avLst/>
            </a:prstGeom>
            <a:noFill/>
          </p:spPr>
          <p:txBody>
            <a:bodyPr wrap="square">
              <a:spAutoFit/>
            </a:bodyPr>
            <a:lstStyle/>
            <a:p>
              <a:r>
                <a:rPr lang="en-US" b="1" noProof="0" dirty="0"/>
                <a:t>Cinelli</a:t>
              </a:r>
              <a:r>
                <a:rPr lang="en-US" noProof="0" dirty="0"/>
                <a:t>, C., </a:t>
              </a:r>
              <a:r>
                <a:rPr lang="en-US" b="1" noProof="0" dirty="0"/>
                <a:t>Forney</a:t>
              </a:r>
              <a:r>
                <a:rPr lang="en-US" noProof="0" dirty="0"/>
                <a:t>, A., &amp; </a:t>
              </a:r>
              <a:r>
                <a:rPr lang="en-US" b="1" noProof="0" dirty="0"/>
                <a:t>Pearl</a:t>
              </a:r>
              <a:r>
                <a:rPr lang="en-US" noProof="0" dirty="0"/>
                <a:t>, J. (2024). A crash course in good and bad controls. </a:t>
              </a:r>
              <a:r>
                <a:rPr lang="en-US" i="1" noProof="0" dirty="0"/>
                <a:t>Sociological Methods &amp; Research</a:t>
              </a:r>
              <a:r>
                <a:rPr lang="en-US" noProof="0" dirty="0"/>
                <a:t>, </a:t>
              </a:r>
              <a:r>
                <a:rPr lang="en-US" i="1" noProof="0" dirty="0"/>
                <a:t>53</a:t>
              </a:r>
              <a:r>
                <a:rPr lang="en-US" noProof="0" dirty="0"/>
                <a:t>(3), 1071-1104.</a:t>
              </a:r>
            </a:p>
          </p:txBody>
        </p:sp>
      </p:grpSp>
      <p:grpSp>
        <p:nvGrpSpPr>
          <p:cNvPr id="20" name="Group 19">
            <a:extLst>
              <a:ext uri="{FF2B5EF4-FFF2-40B4-BE49-F238E27FC236}">
                <a16:creationId xmlns:a16="http://schemas.microsoft.com/office/drawing/2014/main" id="{5671D1D3-72E6-8909-8354-A0C7CB84AAF6}"/>
              </a:ext>
            </a:extLst>
          </p:cNvPr>
          <p:cNvGrpSpPr/>
          <p:nvPr/>
        </p:nvGrpSpPr>
        <p:grpSpPr>
          <a:xfrm>
            <a:off x="838200" y="3931346"/>
            <a:ext cx="9654540" cy="720000"/>
            <a:chOff x="838200" y="1571080"/>
            <a:chExt cx="9654540" cy="720000"/>
          </a:xfrm>
        </p:grpSpPr>
        <p:pic>
          <p:nvPicPr>
            <p:cNvPr id="21" name="Graphic 20" descr="Document with solid fill">
              <a:extLst>
                <a:ext uri="{FF2B5EF4-FFF2-40B4-BE49-F238E27FC236}">
                  <a16:creationId xmlns:a16="http://schemas.microsoft.com/office/drawing/2014/main" id="{AD0CEB0A-C325-6826-1AF1-2288D5B12A15}"/>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838200" y="1571080"/>
              <a:ext cx="720000" cy="720000"/>
            </a:xfrm>
            <a:prstGeom prst="rect">
              <a:avLst/>
            </a:prstGeom>
          </p:spPr>
        </p:pic>
        <p:sp>
          <p:nvSpPr>
            <p:cNvPr id="22" name="TextBox 21">
              <a:extLst>
                <a:ext uri="{FF2B5EF4-FFF2-40B4-BE49-F238E27FC236}">
                  <a16:creationId xmlns:a16="http://schemas.microsoft.com/office/drawing/2014/main" id="{7E18A9FF-ACBE-EFF1-0E9B-C4E004A53A0E}"/>
                </a:ext>
              </a:extLst>
            </p:cNvPr>
            <p:cNvSpPr txBox="1"/>
            <p:nvPr/>
          </p:nvSpPr>
          <p:spPr>
            <a:xfrm>
              <a:off x="1638796" y="1607914"/>
              <a:ext cx="8853944" cy="646331"/>
            </a:xfrm>
            <a:prstGeom prst="rect">
              <a:avLst/>
            </a:prstGeom>
            <a:noFill/>
          </p:spPr>
          <p:txBody>
            <a:bodyPr wrap="square">
              <a:spAutoFit/>
            </a:bodyPr>
            <a:lstStyle/>
            <a:p>
              <a:r>
                <a:rPr lang="en-US" b="1" noProof="0" dirty="0"/>
                <a:t>Siebert</a:t>
              </a:r>
              <a:r>
                <a:rPr lang="en-US" noProof="0" dirty="0"/>
                <a:t>, J. (2023). Applications of statistical causal inference in software engineering. </a:t>
              </a:r>
              <a:r>
                <a:rPr lang="en-US" i="1" noProof="0" dirty="0"/>
                <a:t>Information and Software Technology</a:t>
              </a:r>
              <a:r>
                <a:rPr lang="en-US" noProof="0" dirty="0"/>
                <a:t>, </a:t>
              </a:r>
              <a:r>
                <a:rPr lang="en-US" i="1" noProof="0" dirty="0"/>
                <a:t>159</a:t>
              </a:r>
              <a:r>
                <a:rPr lang="en-US" noProof="0" dirty="0"/>
                <a:t>, 107198.</a:t>
              </a:r>
            </a:p>
          </p:txBody>
        </p:sp>
      </p:grpSp>
      <p:grpSp>
        <p:nvGrpSpPr>
          <p:cNvPr id="23" name="Group 22">
            <a:extLst>
              <a:ext uri="{FF2B5EF4-FFF2-40B4-BE49-F238E27FC236}">
                <a16:creationId xmlns:a16="http://schemas.microsoft.com/office/drawing/2014/main" id="{F1244D0E-B91A-B2C0-F339-1ED3695628FA}"/>
              </a:ext>
            </a:extLst>
          </p:cNvPr>
          <p:cNvGrpSpPr/>
          <p:nvPr/>
        </p:nvGrpSpPr>
        <p:grpSpPr>
          <a:xfrm>
            <a:off x="838200" y="5482193"/>
            <a:ext cx="9845233" cy="923330"/>
            <a:chOff x="838200" y="1475037"/>
            <a:chExt cx="9845233" cy="923330"/>
          </a:xfrm>
        </p:grpSpPr>
        <p:pic>
          <p:nvPicPr>
            <p:cNvPr id="24" name="Graphic 23" descr="Document with solid fill">
              <a:extLst>
                <a:ext uri="{FF2B5EF4-FFF2-40B4-BE49-F238E27FC236}">
                  <a16:creationId xmlns:a16="http://schemas.microsoft.com/office/drawing/2014/main" id="{6B7C006B-21AE-F331-1F0D-37157C3404C0}"/>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838200" y="1571080"/>
              <a:ext cx="720000" cy="720000"/>
            </a:xfrm>
            <a:prstGeom prst="rect">
              <a:avLst/>
            </a:prstGeom>
          </p:spPr>
        </p:pic>
        <p:sp>
          <p:nvSpPr>
            <p:cNvPr id="25" name="TextBox 24">
              <a:extLst>
                <a:ext uri="{FF2B5EF4-FFF2-40B4-BE49-F238E27FC236}">
                  <a16:creationId xmlns:a16="http://schemas.microsoft.com/office/drawing/2014/main" id="{57C4B8F0-6852-2072-E257-EBD05D95F91A}"/>
                </a:ext>
              </a:extLst>
            </p:cNvPr>
            <p:cNvSpPr txBox="1"/>
            <p:nvPr/>
          </p:nvSpPr>
          <p:spPr>
            <a:xfrm>
              <a:off x="1638796" y="1475037"/>
              <a:ext cx="9044637" cy="923330"/>
            </a:xfrm>
            <a:prstGeom prst="rect">
              <a:avLst/>
            </a:prstGeom>
            <a:noFill/>
          </p:spPr>
          <p:txBody>
            <a:bodyPr wrap="square">
              <a:spAutoFit/>
            </a:bodyPr>
            <a:lstStyle/>
            <a:p>
              <a:r>
                <a:rPr lang="en-US" b="1" noProof="0" dirty="0"/>
                <a:t>Furia</a:t>
              </a:r>
              <a:r>
                <a:rPr lang="en-US" noProof="0" dirty="0"/>
                <a:t>, C. A., </a:t>
              </a:r>
              <a:r>
                <a:rPr lang="en-US" b="1" noProof="0" dirty="0"/>
                <a:t>Torkar</a:t>
              </a:r>
              <a:r>
                <a:rPr lang="en-US" noProof="0" dirty="0"/>
                <a:t>, R., &amp; </a:t>
              </a:r>
              <a:r>
                <a:rPr lang="en-US" b="1" noProof="0" dirty="0"/>
                <a:t>Feldt</a:t>
              </a:r>
              <a:r>
                <a:rPr lang="en-US" noProof="0" dirty="0"/>
                <a:t>, R. (2022). Applying Bayesian analysis guidelines to empirical software engineering data: The case of programming languages and code quality. </a:t>
              </a:r>
              <a:r>
                <a:rPr lang="en-US" i="1" noProof="0" dirty="0"/>
                <a:t>ACM Transactions on Software Engineering and Methodology (TOSEM)</a:t>
              </a:r>
              <a:r>
                <a:rPr lang="en-US" noProof="0" dirty="0"/>
                <a:t>, </a:t>
              </a:r>
              <a:r>
                <a:rPr lang="en-US" i="1" noProof="0" dirty="0"/>
                <a:t>31</a:t>
              </a:r>
              <a:r>
                <a:rPr lang="en-US" noProof="0" dirty="0"/>
                <a:t>(3), 1-38.</a:t>
              </a:r>
            </a:p>
          </p:txBody>
        </p:sp>
      </p:grpSp>
      <p:grpSp>
        <p:nvGrpSpPr>
          <p:cNvPr id="29" name="Group 28">
            <a:extLst>
              <a:ext uri="{FF2B5EF4-FFF2-40B4-BE49-F238E27FC236}">
                <a16:creationId xmlns:a16="http://schemas.microsoft.com/office/drawing/2014/main" id="{EDAA5DB2-1C2B-A86A-062D-3C0BEE6F5C90}"/>
              </a:ext>
            </a:extLst>
          </p:cNvPr>
          <p:cNvGrpSpPr/>
          <p:nvPr/>
        </p:nvGrpSpPr>
        <p:grpSpPr>
          <a:xfrm>
            <a:off x="838200" y="4722748"/>
            <a:ext cx="9654540" cy="720000"/>
            <a:chOff x="838200" y="1571080"/>
            <a:chExt cx="9654540" cy="720000"/>
          </a:xfrm>
        </p:grpSpPr>
        <p:pic>
          <p:nvPicPr>
            <p:cNvPr id="30" name="Graphic 29" descr="Document with solid fill">
              <a:extLst>
                <a:ext uri="{FF2B5EF4-FFF2-40B4-BE49-F238E27FC236}">
                  <a16:creationId xmlns:a16="http://schemas.microsoft.com/office/drawing/2014/main" id="{10EFB38E-8CC5-DA03-D2DB-84532085D686}"/>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838200" y="1571080"/>
              <a:ext cx="720000" cy="720000"/>
            </a:xfrm>
            <a:prstGeom prst="rect">
              <a:avLst/>
            </a:prstGeom>
          </p:spPr>
        </p:pic>
        <p:sp>
          <p:nvSpPr>
            <p:cNvPr id="31" name="TextBox 30">
              <a:extLst>
                <a:ext uri="{FF2B5EF4-FFF2-40B4-BE49-F238E27FC236}">
                  <a16:creationId xmlns:a16="http://schemas.microsoft.com/office/drawing/2014/main" id="{1A1F88B4-628A-99E5-8A49-958877EA6266}"/>
                </a:ext>
              </a:extLst>
            </p:cNvPr>
            <p:cNvSpPr txBox="1"/>
            <p:nvPr/>
          </p:nvSpPr>
          <p:spPr>
            <a:xfrm>
              <a:off x="1638796" y="1607914"/>
              <a:ext cx="8853944" cy="646331"/>
            </a:xfrm>
            <a:prstGeom prst="rect">
              <a:avLst/>
            </a:prstGeom>
            <a:noFill/>
          </p:spPr>
          <p:txBody>
            <a:bodyPr wrap="square">
              <a:spAutoFit/>
            </a:bodyPr>
            <a:lstStyle/>
            <a:p>
              <a:r>
                <a:rPr lang="en-US" b="1" noProof="0" dirty="0"/>
                <a:t>Furia</a:t>
              </a:r>
              <a:r>
                <a:rPr lang="en-US" noProof="0" dirty="0"/>
                <a:t>, C. A., </a:t>
              </a:r>
              <a:r>
                <a:rPr lang="en-US" b="1" noProof="0" dirty="0"/>
                <a:t>Feldt</a:t>
              </a:r>
              <a:r>
                <a:rPr lang="en-US" noProof="0" dirty="0"/>
                <a:t>, R., &amp; </a:t>
              </a:r>
              <a:r>
                <a:rPr lang="en-US" b="1" noProof="0" dirty="0"/>
                <a:t>Torkar</a:t>
              </a:r>
              <a:r>
                <a:rPr lang="en-US" noProof="0" dirty="0"/>
                <a:t>, R. (2019). Bayesian data analysis in empirical software engineering research. </a:t>
              </a:r>
              <a:r>
                <a:rPr lang="en-US" i="1" noProof="0" dirty="0"/>
                <a:t>IEEE Transactions on Software Engineering</a:t>
              </a:r>
              <a:r>
                <a:rPr lang="en-US" noProof="0" dirty="0"/>
                <a:t>, </a:t>
              </a:r>
              <a:r>
                <a:rPr lang="en-US" i="1" noProof="0" dirty="0"/>
                <a:t>47</a:t>
              </a:r>
              <a:r>
                <a:rPr lang="en-US" noProof="0" dirty="0"/>
                <a:t>(9), 1786-1810.</a:t>
              </a:r>
            </a:p>
          </p:txBody>
        </p:sp>
      </p:grpSp>
    </p:spTree>
    <p:extLst>
      <p:ext uri="{BB962C8B-B14F-4D97-AF65-F5344CB8AC3E}">
        <p14:creationId xmlns:p14="http://schemas.microsoft.com/office/powerpoint/2010/main" val="5744611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2577528-D62A-74DF-7D57-3726B1BBE424}"/>
              </a:ext>
            </a:extLst>
          </p:cNvPr>
          <p:cNvSpPr>
            <a:spLocks noGrp="1"/>
          </p:cNvSpPr>
          <p:nvPr>
            <p:ph type="title"/>
          </p:nvPr>
        </p:nvSpPr>
        <p:spPr/>
        <p:txBody>
          <a:bodyPr/>
          <a:lstStyle/>
          <a:p>
            <a:r>
              <a:rPr lang="en-US" noProof="0" dirty="0"/>
              <a:t>Material</a:t>
            </a:r>
          </a:p>
        </p:txBody>
      </p:sp>
      <p:sp>
        <p:nvSpPr>
          <p:cNvPr id="15" name="Content Placeholder 14">
            <a:extLst>
              <a:ext uri="{FF2B5EF4-FFF2-40B4-BE49-F238E27FC236}">
                <a16:creationId xmlns:a16="http://schemas.microsoft.com/office/drawing/2014/main" id="{4522CE99-32AE-5F3B-70EF-2392B11C254F}"/>
              </a:ext>
            </a:extLst>
          </p:cNvPr>
          <p:cNvSpPr>
            <a:spLocks noGrp="1"/>
          </p:cNvSpPr>
          <p:nvPr>
            <p:ph idx="1"/>
          </p:nvPr>
        </p:nvSpPr>
        <p:spPr>
          <a:xfrm>
            <a:off x="838200" y="1690688"/>
            <a:ext cx="3200400" cy="4486275"/>
          </a:xfrm>
        </p:spPr>
        <p:txBody>
          <a:bodyPr>
            <a:normAutofit/>
          </a:bodyPr>
          <a:lstStyle/>
          <a:p>
            <a:pPr marL="0" indent="0">
              <a:buNone/>
            </a:pPr>
            <a:r>
              <a:rPr lang="en-US" sz="2000" noProof="0" dirty="0"/>
              <a:t>All material is public and open-source on GitHub. Feel free to clone, fork, and share the study material.</a:t>
            </a:r>
          </a:p>
          <a:p>
            <a:pPr marL="0" indent="0">
              <a:buNone/>
            </a:pPr>
            <a:r>
              <a:rPr lang="en-US" sz="2000" noProof="0" dirty="0"/>
              <a:t>Comments, requests, and additions are welcome.</a:t>
            </a:r>
          </a:p>
        </p:txBody>
      </p:sp>
      <p:sp>
        <p:nvSpPr>
          <p:cNvPr id="4" name="Date Placeholder 3">
            <a:extLst>
              <a:ext uri="{FF2B5EF4-FFF2-40B4-BE49-F238E27FC236}">
                <a16:creationId xmlns:a16="http://schemas.microsoft.com/office/drawing/2014/main" id="{FD694583-67E3-567A-CE99-BF15A055B5B1}"/>
              </a:ext>
            </a:extLst>
          </p:cNvPr>
          <p:cNvSpPr>
            <a:spLocks noGrp="1"/>
          </p:cNvSpPr>
          <p:nvPr>
            <p:ph type="dt" sz="half" idx="10"/>
          </p:nvPr>
        </p:nvSpPr>
        <p:spPr/>
        <p:txBody>
          <a:bodyPr/>
          <a:lstStyle/>
          <a:p>
            <a:fld id="{B1F82A23-AB26-4EA9-9EE4-DB6F9A4796C6}" type="datetime1">
              <a:rPr lang="en-US" noProof="0" smtClean="0"/>
              <a:t>6/17/2026</a:t>
            </a:fld>
            <a:endParaRPr lang="en-US" noProof="0" dirty="0"/>
          </a:p>
        </p:txBody>
      </p:sp>
      <p:sp>
        <p:nvSpPr>
          <p:cNvPr id="5" name="Footer Placeholder 4">
            <a:extLst>
              <a:ext uri="{FF2B5EF4-FFF2-40B4-BE49-F238E27FC236}">
                <a16:creationId xmlns:a16="http://schemas.microsoft.com/office/drawing/2014/main" id="{4B16ED83-2453-0BBC-0605-02E22ADEB2DA}"/>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B60453BF-A770-D155-739E-B37782C6D32E}"/>
              </a:ext>
            </a:extLst>
          </p:cNvPr>
          <p:cNvSpPr>
            <a:spLocks noGrp="1"/>
          </p:cNvSpPr>
          <p:nvPr>
            <p:ph type="sldNum" sz="quarter" idx="12"/>
          </p:nvPr>
        </p:nvSpPr>
        <p:spPr/>
        <p:txBody>
          <a:bodyPr/>
          <a:lstStyle/>
          <a:p>
            <a:fld id="{0FA2D919-C0DE-4971-A2E9-D4AC0031921B}" type="slidenum">
              <a:rPr lang="en-US" noProof="0" smtClean="0"/>
              <a:t>56</a:t>
            </a:fld>
            <a:endParaRPr lang="en-US" noProof="0" dirty="0"/>
          </a:p>
        </p:txBody>
      </p:sp>
      <p:pic>
        <p:nvPicPr>
          <p:cNvPr id="3" name="Picture 2">
            <a:extLst>
              <a:ext uri="{FF2B5EF4-FFF2-40B4-BE49-F238E27FC236}">
                <a16:creationId xmlns:a16="http://schemas.microsoft.com/office/drawing/2014/main" id="{7451425A-B0C9-56D1-7977-43B281D7878B}"/>
              </a:ext>
            </a:extLst>
          </p:cNvPr>
          <p:cNvPicPr>
            <a:picLocks noChangeAspect="1"/>
          </p:cNvPicPr>
          <p:nvPr/>
        </p:nvPicPr>
        <p:blipFill>
          <a:blip r:embed="rId2"/>
          <a:stretch>
            <a:fillRect/>
          </a:stretch>
        </p:blipFill>
        <p:spPr>
          <a:xfrm>
            <a:off x="4109272" y="1449386"/>
            <a:ext cx="7589979" cy="5512786"/>
          </a:xfrm>
          <a:prstGeom prst="rect">
            <a:avLst/>
          </a:prstGeom>
        </p:spPr>
      </p:pic>
      <p:grpSp>
        <p:nvGrpSpPr>
          <p:cNvPr id="9" name="Group 8">
            <a:extLst>
              <a:ext uri="{FF2B5EF4-FFF2-40B4-BE49-F238E27FC236}">
                <a16:creationId xmlns:a16="http://schemas.microsoft.com/office/drawing/2014/main" id="{84672EC6-4633-C444-1A14-50638EB6FE96}"/>
              </a:ext>
            </a:extLst>
          </p:cNvPr>
          <p:cNvGrpSpPr/>
          <p:nvPr/>
        </p:nvGrpSpPr>
        <p:grpSpPr>
          <a:xfrm>
            <a:off x="4109272" y="805773"/>
            <a:ext cx="3533766" cy="444265"/>
            <a:chOff x="7967672" y="5336710"/>
            <a:chExt cx="3533766" cy="444265"/>
          </a:xfrm>
        </p:grpSpPr>
        <p:grpSp>
          <p:nvGrpSpPr>
            <p:cNvPr id="10" name="Group 9">
              <a:extLst>
                <a:ext uri="{FF2B5EF4-FFF2-40B4-BE49-F238E27FC236}">
                  <a16:creationId xmlns:a16="http://schemas.microsoft.com/office/drawing/2014/main" id="{B4AF4A47-136E-BDD9-71CB-159BFC621559}"/>
                </a:ext>
              </a:extLst>
            </p:cNvPr>
            <p:cNvGrpSpPr/>
            <p:nvPr/>
          </p:nvGrpSpPr>
          <p:grpSpPr>
            <a:xfrm>
              <a:off x="7967672" y="5370114"/>
              <a:ext cx="3508652" cy="369332"/>
              <a:chOff x="7896235" y="5406529"/>
              <a:chExt cx="3508652" cy="369332"/>
            </a:xfrm>
          </p:grpSpPr>
          <p:pic>
            <p:nvPicPr>
              <p:cNvPr id="12" name="Picture 11" descr="A black background with a black square&#10;&#10;Description automatically generated with medium confidence">
                <a:extLst>
                  <a:ext uri="{FF2B5EF4-FFF2-40B4-BE49-F238E27FC236}">
                    <a16:creationId xmlns:a16="http://schemas.microsoft.com/office/drawing/2014/main" id="{2C95E0FF-5A30-C392-C8C8-B358288E1D40}"/>
                  </a:ext>
                </a:extLst>
              </p:cNvPr>
              <p:cNvPicPr>
                <a:picLocks noChangeAspect="1"/>
              </p:cNvPicPr>
              <p:nvPr/>
            </p:nvPicPr>
            <p:blipFill>
              <a:blip r:embed="rId3"/>
              <a:stretch>
                <a:fillRect/>
              </a:stretch>
            </p:blipFill>
            <p:spPr>
              <a:xfrm>
                <a:off x="7896235" y="5422888"/>
                <a:ext cx="344101" cy="344101"/>
              </a:xfrm>
              <a:prstGeom prst="rect">
                <a:avLst/>
              </a:prstGeom>
            </p:spPr>
          </p:pic>
          <p:sp>
            <p:nvSpPr>
              <p:cNvPr id="13" name="TextBox 12">
                <a:extLst>
                  <a:ext uri="{FF2B5EF4-FFF2-40B4-BE49-F238E27FC236}">
                    <a16:creationId xmlns:a16="http://schemas.microsoft.com/office/drawing/2014/main" id="{BAFDA95D-BE2D-670E-8C1C-CF6478220BBE}"/>
                  </a:ext>
                </a:extLst>
              </p:cNvPr>
              <p:cNvSpPr txBox="1"/>
              <p:nvPr/>
            </p:nvSpPr>
            <p:spPr>
              <a:xfrm>
                <a:off x="8240336" y="5406529"/>
                <a:ext cx="2356992" cy="369332"/>
              </a:xfrm>
              <a:prstGeom prst="rect">
                <a:avLst/>
              </a:prstGeom>
              <a:noFill/>
            </p:spPr>
            <p:txBody>
              <a:bodyPr wrap="none" rtlCol="0">
                <a:spAutoFit/>
              </a:bodyPr>
              <a:lstStyle/>
              <a:p>
                <a:r>
                  <a:rPr lang="en-US" noProof="0" dirty="0" err="1"/>
                  <a:t>JulianFrattini</a:t>
                </a:r>
                <a:r>
                  <a:rPr lang="en-US" noProof="0" dirty="0"/>
                  <a:t>/</a:t>
                </a:r>
                <a:r>
                  <a:rPr lang="en-US" b="1" noProof="0" dirty="0"/>
                  <a:t>bda4sci</a:t>
                </a:r>
              </a:p>
            </p:txBody>
          </p:sp>
          <p:sp>
            <p:nvSpPr>
              <p:cNvPr id="14" name="Rectangle: Rounded Corners 13">
                <a:extLst>
                  <a:ext uri="{FF2B5EF4-FFF2-40B4-BE49-F238E27FC236}">
                    <a16:creationId xmlns:a16="http://schemas.microsoft.com/office/drawing/2014/main" id="{60084D76-615F-26F4-6432-95BC0FFC9596}"/>
                  </a:ext>
                </a:extLst>
              </p:cNvPr>
              <p:cNvSpPr/>
              <p:nvPr/>
            </p:nvSpPr>
            <p:spPr>
              <a:xfrm>
                <a:off x="10668000" y="5456392"/>
                <a:ext cx="736887" cy="279245"/>
              </a:xfrm>
              <a:prstGeom prst="roundRect">
                <a:avLst>
                  <a:gd name="adj" fmla="val 50000"/>
                </a:avLst>
              </a:prstGeom>
              <a:noFill/>
              <a:ln w="19050">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lumMod val="65000"/>
                        <a:lumOff val="35000"/>
                      </a:schemeClr>
                    </a:solidFill>
                  </a:rPr>
                  <a:t>Public</a:t>
                </a:r>
              </a:p>
            </p:txBody>
          </p:sp>
        </p:grpSp>
        <p:sp>
          <p:nvSpPr>
            <p:cNvPr id="11" name="Rectangle 10">
              <a:hlinkClick r:id="rId4"/>
              <a:extLst>
                <a:ext uri="{FF2B5EF4-FFF2-40B4-BE49-F238E27FC236}">
                  <a16:creationId xmlns:a16="http://schemas.microsoft.com/office/drawing/2014/main" id="{D9DFC362-D44D-E0E5-9415-DDE38D90B68B}"/>
                </a:ext>
              </a:extLst>
            </p:cNvPr>
            <p:cNvSpPr/>
            <p:nvPr/>
          </p:nvSpPr>
          <p:spPr>
            <a:xfrm>
              <a:off x="7967672" y="5336710"/>
              <a:ext cx="3533766" cy="44426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Tree>
    <p:extLst>
      <p:ext uri="{BB962C8B-B14F-4D97-AF65-F5344CB8AC3E}">
        <p14:creationId xmlns:p14="http://schemas.microsoft.com/office/powerpoint/2010/main" val="15403101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theme/theme1.xml><?xml version="1.0" encoding="utf-8"?>
<a:theme xmlns:a="http://schemas.openxmlformats.org/drawingml/2006/main" name="Office Theme">
  <a:themeElements>
    <a:clrScheme name="Chalmers">
      <a:dk1>
        <a:sysClr val="windowText" lastClr="000000"/>
      </a:dk1>
      <a:lt1>
        <a:srgbClr val="FFFFFF"/>
      </a:lt1>
      <a:dk2>
        <a:srgbClr val="003050"/>
      </a:dk2>
      <a:lt2>
        <a:srgbClr val="FFCB05"/>
      </a:lt2>
      <a:accent1>
        <a:srgbClr val="F15A22"/>
      </a:accent1>
      <a:accent2>
        <a:srgbClr val="7FB539"/>
      </a:accent2>
      <a:accent3>
        <a:srgbClr val="006C5C"/>
      </a:accent3>
      <a:accent4>
        <a:srgbClr val="5D6F7A"/>
      </a:accent4>
      <a:accent5>
        <a:srgbClr val="58B0E3"/>
      </a:accent5>
      <a:accent6>
        <a:srgbClr val="270089"/>
      </a:accent6>
      <a:hlink>
        <a:srgbClr val="00A99D"/>
      </a:hlink>
      <a:folHlink>
        <a:srgbClr val="483729"/>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199</TotalTime>
  <Words>4692</Words>
  <Application>Microsoft Office PowerPoint</Application>
  <PresentationFormat>Widescreen</PresentationFormat>
  <Paragraphs>748</Paragraphs>
  <Slides>56</Slides>
  <Notes>23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56</vt:i4>
      </vt:variant>
    </vt:vector>
  </HeadingPairs>
  <TitlesOfParts>
    <vt:vector size="61" baseType="lpstr">
      <vt:lpstr>Aptos</vt:lpstr>
      <vt:lpstr>Aptos Display</vt:lpstr>
      <vt:lpstr>Arial</vt:lpstr>
      <vt:lpstr>Cambria Math</vt:lpstr>
      <vt:lpstr>Office Theme</vt:lpstr>
      <vt:lpstr>Statistical Causal Inference</vt:lpstr>
      <vt:lpstr>Julian Frattini // about me</vt:lpstr>
      <vt:lpstr>Julian Frattini // about my research</vt:lpstr>
      <vt:lpstr>Motivation</vt:lpstr>
      <vt:lpstr>State-of-the-art</vt:lpstr>
      <vt:lpstr>Correlation versus Causality</vt:lpstr>
      <vt:lpstr>Experimental vs. Observational Studies</vt:lpstr>
      <vt:lpstr>Causal Modelling</vt:lpstr>
      <vt:lpstr>Causal Modeling</vt:lpstr>
      <vt:lpstr>Exercise: Formulating a DAG</vt:lpstr>
      <vt:lpstr>Solution: Formulating a DAG</vt:lpstr>
      <vt:lpstr>Solution: Formulating a DAG</vt:lpstr>
      <vt:lpstr>Solution: Formulating a DAG</vt:lpstr>
      <vt:lpstr>Solution: Formulating a DAG</vt:lpstr>
      <vt:lpstr>Types of Associations</vt:lpstr>
      <vt:lpstr>Three Types of Associations</vt:lpstr>
      <vt:lpstr>Colliding: Common Effects</vt:lpstr>
      <vt:lpstr>Colliding: Common Effects</vt:lpstr>
      <vt:lpstr>Colliding: Common Effects</vt:lpstr>
      <vt:lpstr>Colliding: Common Effects</vt:lpstr>
      <vt:lpstr>Colliding: Common Effects</vt:lpstr>
      <vt:lpstr>Colliding: Common Effects</vt:lpstr>
      <vt:lpstr>Colliding: Common Effects</vt:lpstr>
      <vt:lpstr>Colliding: Common Effects</vt:lpstr>
      <vt:lpstr>Basic Types of Association</vt:lpstr>
      <vt:lpstr>Identification</vt:lpstr>
      <vt:lpstr>Deriving a statistical Model from a causal Model: d-separation</vt:lpstr>
      <vt:lpstr>Deriving a statistical Model from a causal Model: d-separation</vt:lpstr>
      <vt:lpstr>Deriving a statistical Model from a causal Model: d-separation</vt:lpstr>
      <vt:lpstr>Deriving a statistical Model from a causal Model: d-separation</vt:lpstr>
      <vt:lpstr>Deriving a statistical Model from a causal Model: d-separation</vt:lpstr>
      <vt:lpstr>Deriving a statistical Model from a causal Model: d-separation</vt:lpstr>
      <vt:lpstr>Deriving a statistical Model from a causal Model: d-separation</vt:lpstr>
      <vt:lpstr>Exercises</vt:lpstr>
      <vt:lpstr>Exercises</vt:lpstr>
      <vt:lpstr>Exercises</vt:lpstr>
      <vt:lpstr>Exercises</vt:lpstr>
      <vt:lpstr>Exercises</vt:lpstr>
      <vt:lpstr>Exercises</vt:lpstr>
      <vt:lpstr>Exercises</vt:lpstr>
      <vt:lpstr>Exercises</vt:lpstr>
      <vt:lpstr>Exercises</vt:lpstr>
      <vt:lpstr>Exercises</vt:lpstr>
      <vt:lpstr>Exercises</vt:lpstr>
      <vt:lpstr>Conclusion</vt:lpstr>
      <vt:lpstr>Internal vs. External Validity</vt:lpstr>
      <vt:lpstr>Workflow for Statistical Causal Inference</vt:lpstr>
      <vt:lpstr>Workflow for Statistical Causal Inference</vt:lpstr>
      <vt:lpstr>Scientific Workflow: Traditional</vt:lpstr>
      <vt:lpstr>Scientific Workflow: Traditional</vt:lpstr>
      <vt:lpstr>Scientific Workflow: Better</vt:lpstr>
      <vt:lpstr>Scientific Workflow: Best</vt:lpstr>
      <vt:lpstr>Coherent Science</vt:lpstr>
      <vt:lpstr>Recommendations</vt:lpstr>
      <vt:lpstr>Reading list</vt:lpstr>
      <vt:lpstr>Material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Julian Frattini</dc:creator>
  <cp:lastModifiedBy>Julian Frattini</cp:lastModifiedBy>
  <cp:revision>17</cp:revision>
  <dcterms:created xsi:type="dcterms:W3CDTF">2025-05-23T14:20:09Z</dcterms:created>
  <dcterms:modified xsi:type="dcterms:W3CDTF">2026-06-17T13:53:58Z</dcterms:modified>
</cp:coreProperties>
</file>