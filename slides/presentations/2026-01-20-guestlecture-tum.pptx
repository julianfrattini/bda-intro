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3"/>
  </p:notesMasterIdLst>
  <p:sldIdLst>
    <p:sldId id="349" r:id="rId2"/>
    <p:sldId id="385" r:id="rId3"/>
    <p:sldId id="370" r:id="rId4"/>
    <p:sldId id="258" r:id="rId5"/>
    <p:sldId id="375" r:id="rId6"/>
    <p:sldId id="377" r:id="rId7"/>
    <p:sldId id="378" r:id="rId8"/>
    <p:sldId id="276" r:id="rId9"/>
    <p:sldId id="277" r:id="rId10"/>
    <p:sldId id="272" r:id="rId11"/>
    <p:sldId id="273" r:id="rId12"/>
    <p:sldId id="371" r:id="rId13"/>
    <p:sldId id="314" r:id="rId14"/>
    <p:sldId id="280" r:id="rId15"/>
    <p:sldId id="376" r:id="rId16"/>
    <p:sldId id="372" r:id="rId17"/>
    <p:sldId id="379" r:id="rId18"/>
    <p:sldId id="380" r:id="rId19"/>
    <p:sldId id="381" r:id="rId20"/>
    <p:sldId id="382" r:id="rId21"/>
    <p:sldId id="260" r:id="rId22"/>
    <p:sldId id="279" r:id="rId23"/>
    <p:sldId id="281" r:id="rId24"/>
    <p:sldId id="285" r:id="rId25"/>
    <p:sldId id="286" r:id="rId26"/>
    <p:sldId id="315" r:id="rId27"/>
    <p:sldId id="261" r:id="rId28"/>
    <p:sldId id="282" r:id="rId29"/>
    <p:sldId id="316" r:id="rId30"/>
    <p:sldId id="317" r:id="rId31"/>
    <p:sldId id="319" r:id="rId32"/>
    <p:sldId id="318" r:id="rId33"/>
    <p:sldId id="321" r:id="rId34"/>
    <p:sldId id="301" r:id="rId35"/>
    <p:sldId id="320" r:id="rId36"/>
    <p:sldId id="322" r:id="rId37"/>
    <p:sldId id="323" r:id="rId38"/>
    <p:sldId id="324" r:id="rId39"/>
    <p:sldId id="291" r:id="rId40"/>
    <p:sldId id="326" r:id="rId41"/>
    <p:sldId id="327" r:id="rId42"/>
    <p:sldId id="333" r:id="rId43"/>
    <p:sldId id="331" r:id="rId44"/>
    <p:sldId id="334" r:id="rId45"/>
    <p:sldId id="335" r:id="rId46"/>
    <p:sldId id="332" r:id="rId47"/>
    <p:sldId id="330" r:id="rId48"/>
    <p:sldId id="295" r:id="rId49"/>
    <p:sldId id="296" r:id="rId50"/>
    <p:sldId id="287" r:id="rId51"/>
    <p:sldId id="373" r:id="rId52"/>
    <p:sldId id="364" r:id="rId53"/>
    <p:sldId id="363" r:id="rId54"/>
    <p:sldId id="336" r:id="rId55"/>
    <p:sldId id="294" r:id="rId56"/>
    <p:sldId id="338" r:id="rId57"/>
    <p:sldId id="337" r:id="rId58"/>
    <p:sldId id="339" r:id="rId59"/>
    <p:sldId id="297" r:id="rId60"/>
    <p:sldId id="343" r:id="rId61"/>
    <p:sldId id="344" r:id="rId62"/>
    <p:sldId id="345" r:id="rId63"/>
    <p:sldId id="346" r:id="rId64"/>
    <p:sldId id="348" r:id="rId65"/>
    <p:sldId id="347" r:id="rId66"/>
    <p:sldId id="365" r:id="rId67"/>
    <p:sldId id="366" r:id="rId68"/>
    <p:sldId id="367" r:id="rId69"/>
    <p:sldId id="368" r:id="rId70"/>
    <p:sldId id="263" r:id="rId71"/>
    <p:sldId id="383" r:id="rId72"/>
    <p:sldId id="299" r:id="rId73"/>
    <p:sldId id="311" r:id="rId74"/>
    <p:sldId id="384" r:id="rId75"/>
    <p:sldId id="312" r:id="rId76"/>
    <p:sldId id="313" r:id="rId77"/>
    <p:sldId id="374" r:id="rId78"/>
    <p:sldId id="265" r:id="rId79"/>
    <p:sldId id="308" r:id="rId80"/>
    <p:sldId id="266" r:id="rId81"/>
    <p:sldId id="298"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675554F-6BDD-421B-BE30-CFF03D3A6A4F}">
          <p14:sldIdLst>
            <p14:sldId id="349"/>
            <p14:sldId id="385"/>
            <p14:sldId id="370"/>
          </p14:sldIdLst>
        </p14:section>
        <p14:section name="Motivation" id="{219976B0-EA5D-423B-AC14-70AB39533388}">
          <p14:sldIdLst>
            <p14:sldId id="258"/>
            <p14:sldId id="375"/>
            <p14:sldId id="377"/>
            <p14:sldId id="378"/>
            <p14:sldId id="276"/>
            <p14:sldId id="277"/>
            <p14:sldId id="272"/>
            <p14:sldId id="273"/>
          </p14:sldIdLst>
        </p14:section>
        <p14:section name="Causal Modeling" id="{398ABE8F-B6B0-4853-8A98-FA6F14DE18BE}">
          <p14:sldIdLst>
            <p14:sldId id="371"/>
            <p14:sldId id="314"/>
            <p14:sldId id="280"/>
            <p14:sldId id="376"/>
            <p14:sldId id="372"/>
            <p14:sldId id="379"/>
            <p14:sldId id="380"/>
            <p14:sldId id="381"/>
            <p14:sldId id="382"/>
          </p14:sldIdLst>
        </p14:section>
        <p14:section name="Fundamentals &amp; Notation" id="{836D91A0-18AA-4CD3-9737-2C5E15E91951}">
          <p14:sldIdLst>
            <p14:sldId id="260"/>
            <p14:sldId id="279"/>
            <p14:sldId id="281"/>
            <p14:sldId id="285"/>
            <p14:sldId id="286"/>
            <p14:sldId id="315"/>
          </p14:sldIdLst>
        </p14:section>
        <p14:section name="Causal Inference" id="{FDE2B447-3232-47F1-B5FA-B755FA67090E}">
          <p14:sldIdLst>
            <p14:sldId id="261"/>
            <p14:sldId id="282"/>
            <p14:sldId id="316"/>
            <p14:sldId id="317"/>
            <p14:sldId id="319"/>
            <p14:sldId id="318"/>
            <p14:sldId id="321"/>
            <p14:sldId id="301"/>
            <p14:sldId id="320"/>
            <p14:sldId id="322"/>
            <p14:sldId id="323"/>
            <p14:sldId id="324"/>
            <p14:sldId id="291"/>
            <p14:sldId id="326"/>
            <p14:sldId id="327"/>
            <p14:sldId id="333"/>
            <p14:sldId id="331"/>
            <p14:sldId id="334"/>
            <p14:sldId id="335"/>
            <p14:sldId id="332"/>
            <p14:sldId id="330"/>
            <p14:sldId id="295"/>
            <p14:sldId id="296"/>
            <p14:sldId id="287"/>
            <p14:sldId id="373"/>
            <p14:sldId id="364"/>
            <p14:sldId id="363"/>
            <p14:sldId id="336"/>
            <p14:sldId id="294"/>
            <p14:sldId id="338"/>
            <p14:sldId id="337"/>
            <p14:sldId id="339"/>
          </p14:sldIdLst>
        </p14:section>
        <p14:section name="Exercises" id="{E7EE2058-291B-42EC-8836-A23CA7DF54A0}">
          <p14:sldIdLst>
            <p14:sldId id="297"/>
            <p14:sldId id="343"/>
            <p14:sldId id="344"/>
            <p14:sldId id="345"/>
            <p14:sldId id="346"/>
            <p14:sldId id="348"/>
            <p14:sldId id="347"/>
            <p14:sldId id="365"/>
            <p14:sldId id="366"/>
            <p14:sldId id="367"/>
            <p14:sldId id="368"/>
          </p14:sldIdLst>
        </p14:section>
        <p14:section name="Workflow" id="{C5B92FFC-5449-49F8-A611-238C54BE231E}">
          <p14:sldIdLst>
            <p14:sldId id="263"/>
            <p14:sldId id="383"/>
            <p14:sldId id="299"/>
            <p14:sldId id="311"/>
            <p14:sldId id="384"/>
            <p14:sldId id="312"/>
            <p14:sldId id="313"/>
            <p14:sldId id="374"/>
          </p14:sldIdLst>
        </p14:section>
        <p14:section name="Closing" id="{8FE90ED4-4DD4-49A3-BFD2-8159355FA4F9}">
          <p14:sldIdLst>
            <p14:sldId id="265"/>
            <p14:sldId id="308"/>
            <p14:sldId id="266"/>
            <p14:sldId id="29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1B345F-1226-5ED8-7F6E-621D34C22D2E}" name="Julian Frattini" initials="JF" userId="S::julfrat@chalmers.se::573dce7c-8427-4368-82d0-c76a66d7507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FC4"/>
    <a:srgbClr val="F8766D"/>
    <a:srgbClr val="006D70"/>
    <a:srgbClr val="D0180A"/>
    <a:srgbClr val="9FC2E5"/>
    <a:srgbClr val="3070B2"/>
    <a:srgbClr val="000000"/>
    <a:srgbClr val="D4EEFF"/>
    <a:srgbClr val="00FFFF"/>
    <a:srgbClr val="BDBD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75587" autoAdjust="0"/>
  </p:normalViewPr>
  <p:slideViewPr>
    <p:cSldViewPr snapToGrid="0">
      <p:cViewPr varScale="1">
        <p:scale>
          <a:sx n="62" d="100"/>
          <a:sy n="62" d="100"/>
        </p:scale>
        <p:origin x="142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91855A-294E-431A-9859-2765F2241587}"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C9BBD8-1C1E-4CFA-8C12-0AE7F3A91C3D}" type="slidenum">
              <a:rPr lang="en-US" smtClean="0"/>
              <a:t>‹#›</a:t>
            </a:fld>
            <a:endParaRPr lang="en-US"/>
          </a:p>
        </p:txBody>
      </p:sp>
    </p:spTree>
    <p:extLst>
      <p:ext uri="{BB962C8B-B14F-4D97-AF65-F5344CB8AC3E}">
        <p14:creationId xmlns:p14="http://schemas.microsoft.com/office/powerpoint/2010/main" val="3425758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4</a:t>
            </a:fld>
            <a:endParaRPr lang="en-US"/>
          </a:p>
        </p:txBody>
      </p:sp>
    </p:spTree>
    <p:extLst>
      <p:ext uri="{BB962C8B-B14F-4D97-AF65-F5344CB8AC3E}">
        <p14:creationId xmlns:p14="http://schemas.microsoft.com/office/powerpoint/2010/main" val="2369914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SE" dirty="0"/>
              <a:t>Humans were always interested in answering difficult questions</a:t>
            </a:r>
          </a:p>
          <a:p>
            <a:pPr marL="171450" indent="-171450">
              <a:buFont typeface="Arial" panose="020B0604020202020204" pitchFamily="34" charset="0"/>
              <a:buChar char="•"/>
            </a:pPr>
            <a:r>
              <a:rPr lang="en-SE" dirty="0"/>
              <a:t>Babylonian diet experiment: 10-day trial of vegetarian vs meat &amp; wine diet, where plant-based diet had better health results</a:t>
            </a:r>
          </a:p>
          <a:p>
            <a:pPr marL="171450" indent="-171450">
              <a:buFont typeface="Arial" panose="020B0604020202020204" pitchFamily="34" charset="0"/>
              <a:buChar char="•"/>
            </a:pPr>
            <a:r>
              <a:rPr lang="en-SE" dirty="0"/>
              <a:t>Medical questions: Does smoking cause harm? What is the effect of introducing a substance to a human?</a:t>
            </a:r>
          </a:p>
          <a:p>
            <a:pPr marL="171450" indent="-171450">
              <a:buFont typeface="Arial" panose="020B0604020202020204" pitchFamily="34" charset="0"/>
              <a:buChar char="•"/>
            </a:pPr>
            <a:r>
              <a:rPr lang="en-SE" dirty="0"/>
              <a:t>SE questions: Should you use LLMs to automatically generate your software tests?</a:t>
            </a:r>
          </a:p>
          <a:p>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One point of science is: informing decision-making policies</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5</a:t>
            </a:fld>
            <a:endParaRPr lang="en-US"/>
          </a:p>
        </p:txBody>
      </p:sp>
    </p:spTree>
    <p:extLst>
      <p:ext uri="{BB962C8B-B14F-4D97-AF65-F5344CB8AC3E}">
        <p14:creationId xmlns:p14="http://schemas.microsoft.com/office/powerpoint/2010/main" val="2659422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We can generally differentiate two types of scientific studies</a:t>
            </a:r>
          </a:p>
        </p:txBody>
      </p:sp>
      <p:sp>
        <p:nvSpPr>
          <p:cNvPr id="4" name="Slide Number Placeholder 3"/>
          <p:cNvSpPr>
            <a:spLocks noGrp="1"/>
          </p:cNvSpPr>
          <p:nvPr>
            <p:ph type="sldNum" sz="quarter" idx="5"/>
          </p:nvPr>
        </p:nvSpPr>
        <p:spPr/>
        <p:txBody>
          <a:bodyPr/>
          <a:lstStyle/>
          <a:p>
            <a:fld id="{ACC9BBD8-1C1E-4CFA-8C12-0AE7F3A91C3D}" type="slidenum">
              <a:rPr lang="en-US" smtClean="0"/>
              <a:t>6</a:t>
            </a:fld>
            <a:endParaRPr lang="en-US"/>
          </a:p>
        </p:txBody>
      </p:sp>
    </p:spTree>
    <p:extLst>
      <p:ext uri="{BB962C8B-B14F-4D97-AF65-F5344CB8AC3E}">
        <p14:creationId xmlns:p14="http://schemas.microsoft.com/office/powerpoint/2010/main" val="2395687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5727-A3DB-DF3C-D7A3-C398F47AB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098D9-9577-05C1-6F3D-7DD978A0A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95D31-A893-C2F1-5607-E35017C6EC0C}"/>
              </a:ext>
            </a:extLst>
          </p:cNvPr>
          <p:cNvSpPr>
            <a:spLocks noGrp="1"/>
          </p:cNvSpPr>
          <p:nvPr>
            <p:ph type="body" idx="1"/>
          </p:nvPr>
        </p:nvSpPr>
        <p:spPr/>
        <p:txBody>
          <a:bodyPr/>
          <a:lstStyle/>
          <a:p>
            <a:r>
              <a:rPr lang="en-SE" dirty="0"/>
              <a:t>We can generally differentiate two types of scientific studies</a:t>
            </a:r>
          </a:p>
        </p:txBody>
      </p:sp>
      <p:sp>
        <p:nvSpPr>
          <p:cNvPr id="4" name="Slide Number Placeholder 3">
            <a:extLst>
              <a:ext uri="{FF2B5EF4-FFF2-40B4-BE49-F238E27FC236}">
                <a16:creationId xmlns:a16="http://schemas.microsoft.com/office/drawing/2014/main" id="{066E9720-CBFC-3754-3515-F8C44385A221}"/>
              </a:ext>
            </a:extLst>
          </p:cNvPr>
          <p:cNvSpPr>
            <a:spLocks noGrp="1"/>
          </p:cNvSpPr>
          <p:nvPr>
            <p:ph type="sldNum" sz="quarter" idx="5"/>
          </p:nvPr>
        </p:nvSpPr>
        <p:spPr/>
        <p:txBody>
          <a:bodyPr/>
          <a:lstStyle/>
          <a:p>
            <a:fld id="{ACC9BBD8-1C1E-4CFA-8C12-0AE7F3A91C3D}" type="slidenum">
              <a:rPr lang="en-US" smtClean="0"/>
              <a:t>7</a:t>
            </a:fld>
            <a:endParaRPr lang="en-US"/>
          </a:p>
        </p:txBody>
      </p:sp>
    </p:spTree>
    <p:extLst>
      <p:ext uri="{BB962C8B-B14F-4D97-AF65-F5344CB8AC3E}">
        <p14:creationId xmlns:p14="http://schemas.microsoft.com/office/powerpoint/2010/main" val="27953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all know “Correlation does not imply causality” – but what exactly differentiates the two concepts?</a:t>
            </a:r>
          </a:p>
          <a:p>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Only causal relationships give us reliable recommendation on how to act, and therefore, how to make a positive impact on the target audience of our research (i.e., RE/SE practitioners).</a:t>
            </a:r>
          </a:p>
          <a:p>
            <a:endParaRPr lang="en-US" noProof="0" dirty="0"/>
          </a:p>
          <a:p>
            <a:endParaRPr lang="en-US" noProof="0" dirty="0"/>
          </a:p>
          <a:p>
            <a:r>
              <a:rPr lang="en-US" noProof="0" dirty="0"/>
              <a:t>Disclaimer: </a:t>
            </a:r>
          </a:p>
          <a:p>
            <a:pPr marL="171450" indent="-171450">
              <a:buFont typeface="Arial" panose="020B0604020202020204" pitchFamily="34" charset="0"/>
              <a:buChar char="•"/>
            </a:pPr>
            <a:r>
              <a:rPr lang="en-US" i="0" noProof="0" dirty="0"/>
              <a:t>I do not want to discredit correlational studies.</a:t>
            </a:r>
          </a:p>
          <a:p>
            <a:pPr marL="171450" indent="-171450">
              <a:buFont typeface="Arial" panose="020B0604020202020204" pitchFamily="34" charset="0"/>
              <a:buChar char="•"/>
            </a:pPr>
            <a:r>
              <a:rPr lang="en-US" i="0" noProof="0" dirty="0"/>
              <a:t>They are valuables to detect patterns and trends.</a:t>
            </a:r>
          </a:p>
          <a:p>
            <a:pPr marL="171450" indent="-171450">
              <a:buFont typeface="Arial" panose="020B0604020202020204" pitchFamily="34" charset="0"/>
              <a:buChar char="•"/>
            </a:pPr>
            <a:r>
              <a:rPr lang="en-US" i="0" noProof="0" dirty="0"/>
              <a:t>However, they do not get us any further and are unfit to recommend changes in an organization.</a:t>
            </a:r>
          </a:p>
          <a:p>
            <a:pPr marL="0" indent="0">
              <a:buFont typeface="Arial" panose="020B0604020202020204" pitchFamily="34" charset="0"/>
              <a:buNone/>
            </a:pPr>
            <a:r>
              <a:rPr lang="en-US" i="0" noProof="0" dirty="0"/>
              <a:t>This is the fundamental difference between </a:t>
            </a:r>
            <a:r>
              <a:rPr lang="en-US" b="1" i="0" noProof="0" dirty="0"/>
              <a:t>observing </a:t>
            </a:r>
            <a:r>
              <a:rPr lang="en-US" b="0" i="0" noProof="0" dirty="0"/>
              <a:t>(correlations) and </a:t>
            </a:r>
            <a:r>
              <a:rPr lang="en-US" b="1" i="0" noProof="0" dirty="0"/>
              <a:t>doing </a:t>
            </a:r>
            <a:r>
              <a:rPr lang="en-US" b="0" i="0" noProof="0" dirty="0"/>
              <a:t>(interventions with causal effects).</a:t>
            </a:r>
            <a:endParaRPr lang="en-US" noProof="0" dirty="0"/>
          </a:p>
        </p:txBody>
      </p:sp>
      <p:sp>
        <p:nvSpPr>
          <p:cNvPr id="4" name="Slide Number Placeholder 3"/>
          <p:cNvSpPr>
            <a:spLocks noGrp="1"/>
          </p:cNvSpPr>
          <p:nvPr>
            <p:ph type="sldNum" sz="quarter" idx="5"/>
          </p:nvPr>
        </p:nvSpPr>
        <p:spPr/>
        <p:txBody>
          <a:bodyPr/>
          <a:lstStyle/>
          <a:p>
            <a:fld id="{ACC9BBD8-1C1E-4CFA-8C12-0AE7F3A91C3D}" type="slidenum">
              <a:rPr lang="en-US" smtClean="0"/>
              <a:t>8</a:t>
            </a:fld>
            <a:endParaRPr lang="en-US"/>
          </a:p>
        </p:txBody>
      </p:sp>
    </p:spTree>
    <p:extLst>
      <p:ext uri="{BB962C8B-B14F-4D97-AF65-F5344CB8AC3E}">
        <p14:creationId xmlns:p14="http://schemas.microsoft.com/office/powerpoint/2010/main" val="1520413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dirty="0" err="1"/>
              <a:t>But</a:t>
            </a:r>
            <a:r>
              <a:rPr lang="sv-SE" dirty="0"/>
              <a:t>: experiments </a:t>
            </a:r>
            <a:r>
              <a:rPr lang="sv-SE" dirty="0" err="1"/>
              <a:t>are</a:t>
            </a:r>
            <a:r>
              <a:rPr lang="sv-SE" dirty="0"/>
              <a:t> </a:t>
            </a:r>
            <a:r>
              <a:rPr lang="sv-SE" dirty="0" err="1"/>
              <a:t>expensive</a:t>
            </a:r>
            <a:r>
              <a:rPr lang="sv-SE" dirty="0"/>
              <a:t> and </a:t>
            </a:r>
            <a:r>
              <a:rPr lang="sv-SE" dirty="0" err="1"/>
              <a:t>perturb</a:t>
            </a:r>
            <a:r>
              <a:rPr lang="sv-SE" dirty="0"/>
              <a:t> the </a:t>
            </a:r>
            <a:r>
              <a:rPr lang="sv-SE" dirty="0" err="1"/>
              <a:t>natural</a:t>
            </a:r>
            <a:r>
              <a:rPr lang="sv-SE" dirty="0"/>
              <a:t> </a:t>
            </a:r>
            <a:r>
              <a:rPr lang="sv-SE" dirty="0" err="1"/>
              <a:t>context</a:t>
            </a:r>
            <a:r>
              <a:rPr lang="sv-SE" dirty="0"/>
              <a:t> </a:t>
            </a:r>
            <a:r>
              <a:rPr lang="sv-SE" dirty="0" err="1"/>
              <a:t>of</a:t>
            </a:r>
            <a:r>
              <a:rPr lang="sv-SE" dirty="0"/>
              <a:t> a </a:t>
            </a:r>
            <a:r>
              <a:rPr lang="sv-SE" dirty="0" err="1"/>
              <a:t>phenomenon</a:t>
            </a:r>
            <a:r>
              <a:rPr lang="sv-SE" dirty="0"/>
              <a:t>. </a:t>
            </a:r>
            <a:r>
              <a:rPr lang="sv-SE" dirty="0" err="1"/>
              <a:t>Some</a:t>
            </a:r>
            <a:r>
              <a:rPr lang="sv-SE" dirty="0"/>
              <a:t> </a:t>
            </a:r>
            <a:r>
              <a:rPr lang="sv-SE" dirty="0" err="1"/>
              <a:t>phenomena</a:t>
            </a:r>
            <a:r>
              <a:rPr lang="sv-SE" dirty="0"/>
              <a:t> </a:t>
            </a:r>
            <a:r>
              <a:rPr lang="sv-SE" dirty="0" err="1"/>
              <a:t>cannot</a:t>
            </a:r>
            <a:r>
              <a:rPr lang="sv-SE" dirty="0"/>
              <a:t> be </a:t>
            </a:r>
            <a:r>
              <a:rPr lang="sv-SE" dirty="0" err="1"/>
              <a:t>studied</a:t>
            </a:r>
            <a:r>
              <a:rPr lang="sv-SE" dirty="0"/>
              <a:t> in </a:t>
            </a:r>
            <a:r>
              <a:rPr lang="sv-SE" dirty="0" err="1"/>
              <a:t>controlled</a:t>
            </a:r>
            <a:r>
              <a:rPr lang="sv-SE" dirty="0"/>
              <a:t> experiments at all (</a:t>
            </a:r>
            <a:r>
              <a:rPr lang="sv-SE" dirty="0" err="1"/>
              <a:t>e.g</a:t>
            </a:r>
            <a:r>
              <a:rPr lang="sv-SE" dirty="0"/>
              <a:t>., </a:t>
            </a:r>
            <a:r>
              <a:rPr lang="sv-SE" dirty="0" err="1"/>
              <a:t>impact</a:t>
            </a:r>
            <a:r>
              <a:rPr lang="sv-SE" dirty="0"/>
              <a:t> </a:t>
            </a:r>
            <a:r>
              <a:rPr lang="sv-SE" dirty="0" err="1"/>
              <a:t>of</a:t>
            </a:r>
            <a:r>
              <a:rPr lang="sv-SE" dirty="0"/>
              <a:t> human </a:t>
            </a:r>
            <a:r>
              <a:rPr lang="sv-SE" dirty="0" err="1"/>
              <a:t>factors</a:t>
            </a:r>
            <a:r>
              <a:rPr lang="sv-SE" dirty="0"/>
              <a:t>) </a:t>
            </a:r>
            <a:r>
              <a:rPr lang="sv-SE" dirty="0" err="1"/>
              <a:t>since</a:t>
            </a:r>
            <a:r>
              <a:rPr lang="sv-SE" dirty="0"/>
              <a:t> the </a:t>
            </a:r>
            <a:r>
              <a:rPr lang="sv-SE" dirty="0" err="1"/>
              <a:t>values</a:t>
            </a:r>
            <a:r>
              <a:rPr lang="sv-SE" dirty="0"/>
              <a:t> </a:t>
            </a:r>
            <a:r>
              <a:rPr lang="sv-SE" dirty="0" err="1"/>
              <a:t>of</a:t>
            </a:r>
            <a:r>
              <a:rPr lang="sv-SE" dirty="0"/>
              <a:t> </a:t>
            </a:r>
            <a:r>
              <a:rPr lang="sv-SE" dirty="0" err="1"/>
              <a:t>that</a:t>
            </a:r>
            <a:r>
              <a:rPr lang="sv-SE" dirty="0"/>
              <a:t> </a:t>
            </a:r>
            <a:r>
              <a:rPr lang="sv-SE" dirty="0" err="1"/>
              <a:t>variable</a:t>
            </a:r>
            <a:r>
              <a:rPr lang="sv-SE" dirty="0"/>
              <a:t> </a:t>
            </a:r>
            <a:r>
              <a:rPr lang="sv-SE" dirty="0" err="1"/>
              <a:t>cannot</a:t>
            </a:r>
            <a:r>
              <a:rPr lang="sv-SE" dirty="0"/>
              <a:t> be </a:t>
            </a:r>
            <a:r>
              <a:rPr lang="sv-SE" dirty="0" err="1"/>
              <a:t>assigned</a:t>
            </a:r>
            <a:r>
              <a:rPr lang="sv-SE" dirty="0"/>
              <a:t> </a:t>
            </a:r>
            <a:r>
              <a:rPr lang="sv-SE" dirty="0" err="1"/>
              <a:t>randomly</a:t>
            </a:r>
            <a:r>
              <a:rPr lang="sv-SE" dirty="0"/>
              <a:t>.</a:t>
            </a:r>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9</a:t>
            </a:fld>
            <a:endParaRPr lang="en-US"/>
          </a:p>
        </p:txBody>
      </p:sp>
    </p:spTree>
    <p:extLst>
      <p:ext uri="{BB962C8B-B14F-4D97-AF65-F5344CB8AC3E}">
        <p14:creationId xmlns:p14="http://schemas.microsoft.com/office/powerpoint/2010/main" val="1951823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Convincing</a:t>
            </a:r>
            <a:r>
              <a:rPr lang="sv-SE" dirty="0"/>
              <a:t> </a:t>
            </a:r>
            <a:r>
              <a:rPr lang="sv-SE" dirty="0" err="1"/>
              <a:t>you</a:t>
            </a:r>
            <a:r>
              <a:rPr lang="sv-SE" dirty="0"/>
              <a:t> </a:t>
            </a:r>
            <a:r>
              <a:rPr lang="sv-SE" dirty="0" err="1"/>
              <a:t>of</a:t>
            </a:r>
            <a:r>
              <a:rPr lang="sv-SE" dirty="0"/>
              <a:t> the </a:t>
            </a:r>
            <a:r>
              <a:rPr lang="sv-SE" dirty="0" err="1"/>
              <a:t>value</a:t>
            </a:r>
            <a:r>
              <a:rPr lang="sv-SE" dirty="0"/>
              <a:t> </a:t>
            </a:r>
            <a:r>
              <a:rPr lang="sv-SE" dirty="0" err="1"/>
              <a:t>of</a:t>
            </a:r>
            <a:r>
              <a:rPr lang="sv-SE" dirty="0"/>
              <a:t> </a:t>
            </a:r>
            <a:r>
              <a:rPr lang="sv-SE" dirty="0" err="1"/>
              <a:t>causal</a:t>
            </a:r>
            <a:r>
              <a:rPr lang="sv-SE" dirty="0"/>
              <a:t> </a:t>
            </a:r>
            <a:r>
              <a:rPr lang="sv-SE" dirty="0" err="1"/>
              <a:t>inference</a:t>
            </a:r>
            <a:r>
              <a:rPr lang="sv-SE" dirty="0"/>
              <a:t> (check)</a:t>
            </a:r>
          </a:p>
          <a:p>
            <a:r>
              <a:rPr lang="sv-SE" dirty="0"/>
              <a:t>Learning the fundamentals </a:t>
            </a:r>
            <a:r>
              <a:rPr lang="sv-SE" dirty="0" err="1"/>
              <a:t>of</a:t>
            </a:r>
            <a:r>
              <a:rPr lang="sv-SE" dirty="0"/>
              <a:t> </a:t>
            </a:r>
            <a:r>
              <a:rPr lang="sv-SE" dirty="0" err="1"/>
              <a:t>drawing</a:t>
            </a:r>
            <a:r>
              <a:rPr lang="sv-SE" dirty="0"/>
              <a:t> </a:t>
            </a:r>
            <a:r>
              <a:rPr lang="sv-SE" dirty="0" err="1"/>
              <a:t>causal</a:t>
            </a:r>
            <a:r>
              <a:rPr lang="sv-SE" dirty="0"/>
              <a:t> </a:t>
            </a:r>
            <a:r>
              <a:rPr lang="sv-SE" dirty="0" err="1"/>
              <a:t>conclusions</a:t>
            </a:r>
            <a:r>
              <a:rPr lang="sv-SE" dirty="0"/>
              <a:t> from </a:t>
            </a:r>
            <a:r>
              <a:rPr lang="sv-SE" dirty="0" err="1"/>
              <a:t>quantitative</a:t>
            </a:r>
            <a:r>
              <a:rPr lang="sv-SE" dirty="0"/>
              <a:t> data </a:t>
            </a:r>
            <a:r>
              <a:rPr lang="sv-SE" dirty="0" err="1"/>
              <a:t>collected</a:t>
            </a:r>
            <a:r>
              <a:rPr lang="sv-SE" dirty="0"/>
              <a:t> in </a:t>
            </a:r>
            <a:r>
              <a:rPr lang="sv-SE" dirty="0" err="1"/>
              <a:t>observational</a:t>
            </a:r>
            <a:r>
              <a:rPr lang="sv-SE" dirty="0"/>
              <a:t> studies</a:t>
            </a:r>
            <a:endParaRPr lang="en-US" dirty="0"/>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10</a:t>
            </a:fld>
            <a:endParaRPr lang="en-US"/>
          </a:p>
        </p:txBody>
      </p:sp>
    </p:spTree>
    <p:extLst>
      <p:ext uri="{BB962C8B-B14F-4D97-AF65-F5344CB8AC3E}">
        <p14:creationId xmlns:p14="http://schemas.microsoft.com/office/powerpoint/2010/main" val="2289137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Causal</a:t>
            </a:r>
            <a:r>
              <a:rPr lang="sv-SE" dirty="0"/>
              <a:t> </a:t>
            </a:r>
            <a:r>
              <a:rPr lang="sv-SE" dirty="0" err="1"/>
              <a:t>modelling</a:t>
            </a:r>
            <a:r>
              <a:rPr lang="sv-SE" dirty="0"/>
              <a:t>: </a:t>
            </a:r>
            <a:r>
              <a:rPr lang="sv-SE" dirty="0" err="1"/>
              <a:t>visualizing</a:t>
            </a:r>
            <a:r>
              <a:rPr lang="sv-SE" dirty="0"/>
              <a:t> </a:t>
            </a:r>
            <a:r>
              <a:rPr lang="sv-SE" dirty="0" err="1"/>
              <a:t>causal</a:t>
            </a:r>
            <a:r>
              <a:rPr lang="sv-SE" dirty="0"/>
              <a:t> </a:t>
            </a:r>
            <a:r>
              <a:rPr lang="sv-SE" dirty="0" err="1"/>
              <a:t>assumptions</a:t>
            </a:r>
            <a:r>
              <a:rPr lang="sv-SE" dirty="0"/>
              <a:t> </a:t>
            </a:r>
            <a:r>
              <a:rPr lang="sv-SE" dirty="0" err="1"/>
              <a:t>graphically</a:t>
            </a:r>
            <a:endParaRPr lang="sv-SE" dirty="0"/>
          </a:p>
          <a:p>
            <a:r>
              <a:rPr lang="sv-SE" dirty="0" err="1"/>
              <a:t>Statistical</a:t>
            </a:r>
            <a:r>
              <a:rPr lang="sv-SE" dirty="0"/>
              <a:t> </a:t>
            </a:r>
            <a:r>
              <a:rPr lang="sv-SE" dirty="0" err="1"/>
              <a:t>causal</a:t>
            </a:r>
            <a:r>
              <a:rPr lang="sv-SE" dirty="0"/>
              <a:t> </a:t>
            </a:r>
            <a:r>
              <a:rPr lang="sv-SE" dirty="0" err="1"/>
              <a:t>inference</a:t>
            </a:r>
            <a:r>
              <a:rPr lang="sv-SE" dirty="0"/>
              <a:t>: </a:t>
            </a:r>
            <a:r>
              <a:rPr lang="sv-SE" dirty="0" err="1"/>
              <a:t>drawing</a:t>
            </a:r>
            <a:r>
              <a:rPr lang="sv-SE" dirty="0"/>
              <a:t> </a:t>
            </a:r>
            <a:r>
              <a:rPr lang="sv-SE" dirty="0" err="1"/>
              <a:t>reliable</a:t>
            </a:r>
            <a:r>
              <a:rPr lang="sv-SE" dirty="0"/>
              <a:t> </a:t>
            </a:r>
            <a:r>
              <a:rPr lang="sv-SE" dirty="0" err="1"/>
              <a:t>conclusions</a:t>
            </a:r>
            <a:r>
              <a:rPr lang="sv-SE" dirty="0"/>
              <a:t> from </a:t>
            </a:r>
            <a:r>
              <a:rPr lang="sv-SE" dirty="0" err="1"/>
              <a:t>observational</a:t>
            </a:r>
            <a:r>
              <a:rPr lang="sv-SE" dirty="0"/>
              <a:t> data</a:t>
            </a:r>
          </a:p>
          <a:p>
            <a:r>
              <a:rPr lang="sv-SE" dirty="0" err="1"/>
              <a:t>Causal</a:t>
            </a:r>
            <a:r>
              <a:rPr lang="sv-SE" dirty="0"/>
              <a:t> workflow: a </a:t>
            </a:r>
            <a:r>
              <a:rPr lang="sv-SE" dirty="0" err="1"/>
              <a:t>reliable</a:t>
            </a:r>
            <a:r>
              <a:rPr lang="sv-SE" dirty="0"/>
              <a:t> workflow for SCI</a:t>
            </a:r>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11</a:t>
            </a:fld>
            <a:endParaRPr lang="en-US"/>
          </a:p>
        </p:txBody>
      </p:sp>
    </p:spTree>
    <p:extLst>
      <p:ext uri="{BB962C8B-B14F-4D97-AF65-F5344CB8AC3E}">
        <p14:creationId xmlns:p14="http://schemas.microsoft.com/office/powerpoint/2010/main" val="3018053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More</a:t>
            </a:r>
            <a:r>
              <a:rPr lang="sv-SE" dirty="0"/>
              <a:t> </a:t>
            </a:r>
            <a:r>
              <a:rPr lang="sv-SE" dirty="0" err="1"/>
              <a:t>importantly</a:t>
            </a:r>
            <a:r>
              <a:rPr lang="sv-SE" dirty="0"/>
              <a:t>, the </a:t>
            </a:r>
            <a:r>
              <a:rPr lang="sv-SE" dirty="0" err="1"/>
              <a:t>absence</a:t>
            </a:r>
            <a:r>
              <a:rPr lang="sv-SE" dirty="0"/>
              <a:t> </a:t>
            </a:r>
            <a:r>
              <a:rPr lang="sv-SE" dirty="0" err="1"/>
              <a:t>of</a:t>
            </a:r>
            <a:r>
              <a:rPr lang="sv-SE" dirty="0"/>
              <a:t> an </a:t>
            </a:r>
            <a:r>
              <a:rPr lang="sv-SE" dirty="0" err="1"/>
              <a:t>edge</a:t>
            </a:r>
            <a:r>
              <a:rPr lang="sv-SE" dirty="0"/>
              <a:t> </a:t>
            </a:r>
            <a:r>
              <a:rPr lang="sv-SE" dirty="0" err="1"/>
              <a:t>encodes</a:t>
            </a:r>
            <a:r>
              <a:rPr lang="sv-SE" dirty="0"/>
              <a:t> the </a:t>
            </a:r>
            <a:r>
              <a:rPr lang="sv-SE" i="1" dirty="0" err="1"/>
              <a:t>certainty</a:t>
            </a:r>
            <a:r>
              <a:rPr lang="sv-SE" dirty="0"/>
              <a:t> </a:t>
            </a:r>
            <a:r>
              <a:rPr lang="sv-SE" dirty="0" err="1"/>
              <a:t>that</a:t>
            </a:r>
            <a:r>
              <a:rPr lang="sv-SE" dirty="0"/>
              <a:t> </a:t>
            </a:r>
            <a:r>
              <a:rPr lang="sv-SE" dirty="0" err="1"/>
              <a:t>two</a:t>
            </a:r>
            <a:r>
              <a:rPr lang="sv-SE" dirty="0"/>
              <a:t> </a:t>
            </a:r>
            <a:r>
              <a:rPr lang="sv-SE" dirty="0" err="1"/>
              <a:t>variables</a:t>
            </a:r>
            <a:r>
              <a:rPr lang="sv-SE" dirty="0"/>
              <a:t> </a:t>
            </a:r>
            <a:r>
              <a:rPr lang="sv-SE" dirty="0" err="1"/>
              <a:t>are</a:t>
            </a:r>
            <a:r>
              <a:rPr lang="sv-SE" dirty="0"/>
              <a:t> not </a:t>
            </a:r>
            <a:r>
              <a:rPr lang="sv-SE" dirty="0" err="1"/>
              <a:t>directly</a:t>
            </a:r>
            <a:r>
              <a:rPr lang="sv-SE" dirty="0"/>
              <a:t> </a:t>
            </a:r>
            <a:r>
              <a:rPr lang="sv-SE" dirty="0" err="1"/>
              <a:t>related</a:t>
            </a:r>
            <a:r>
              <a:rPr lang="sv-SE" dirty="0"/>
              <a:t>.</a:t>
            </a:r>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14</a:t>
            </a:fld>
            <a:endParaRPr lang="en-US"/>
          </a:p>
        </p:txBody>
      </p:sp>
    </p:spTree>
    <p:extLst>
      <p:ext uri="{BB962C8B-B14F-4D97-AF65-F5344CB8AC3E}">
        <p14:creationId xmlns:p14="http://schemas.microsoft.com/office/powerpoint/2010/main" val="4233207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sometimes need “domain knowledge” to complete a DAG</a:t>
            </a:r>
          </a:p>
        </p:txBody>
      </p:sp>
      <p:sp>
        <p:nvSpPr>
          <p:cNvPr id="4" name="Slide Number Placeholder 3"/>
          <p:cNvSpPr>
            <a:spLocks noGrp="1"/>
          </p:cNvSpPr>
          <p:nvPr>
            <p:ph type="sldNum" sz="quarter" idx="5"/>
          </p:nvPr>
        </p:nvSpPr>
        <p:spPr/>
        <p:txBody>
          <a:bodyPr/>
          <a:lstStyle/>
          <a:p>
            <a:fld id="{ACC9BBD8-1C1E-4CFA-8C12-0AE7F3A91C3D}" type="slidenum">
              <a:rPr lang="en-US" smtClean="0"/>
              <a:t>20</a:t>
            </a:fld>
            <a:endParaRPr lang="en-US"/>
          </a:p>
        </p:txBody>
      </p:sp>
    </p:spTree>
    <p:extLst>
      <p:ext uri="{BB962C8B-B14F-4D97-AF65-F5344CB8AC3E}">
        <p14:creationId xmlns:p14="http://schemas.microsoft.com/office/powerpoint/2010/main" val="2000704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This may be a lengthy background section, but also</a:t>
            </a:r>
          </a:p>
          <a:p>
            <a:pPr marL="171450" indent="-171450">
              <a:buFont typeface="Arial" panose="020B0604020202020204" pitchFamily="34" charset="0"/>
              <a:buChar char="•"/>
            </a:pPr>
            <a:r>
              <a:rPr lang="en-US" noProof="0" dirty="0"/>
              <a:t>A good reminder for fundamentals of statistics,</a:t>
            </a:r>
          </a:p>
          <a:p>
            <a:pPr marL="171450" indent="-171450">
              <a:buFont typeface="Arial" panose="020B0604020202020204" pitchFamily="34" charset="0"/>
              <a:buChar char="•"/>
            </a:pPr>
            <a:r>
              <a:rPr lang="en-US" noProof="0" dirty="0"/>
              <a:t>The introduction of a valuable modeling concept, and</a:t>
            </a:r>
          </a:p>
          <a:p>
            <a:pPr marL="171450" indent="-171450">
              <a:buFont typeface="Arial" panose="020B0604020202020204" pitchFamily="34" charset="0"/>
              <a:buChar char="•"/>
            </a:pPr>
            <a:r>
              <a:rPr lang="en-US" noProof="0" dirty="0"/>
              <a:t>A recommendation for a statistical workflow.</a:t>
            </a:r>
          </a:p>
        </p:txBody>
      </p:sp>
      <p:sp>
        <p:nvSpPr>
          <p:cNvPr id="4" name="Slide Number Placeholder 3"/>
          <p:cNvSpPr>
            <a:spLocks noGrp="1"/>
          </p:cNvSpPr>
          <p:nvPr>
            <p:ph type="sldNum" sz="quarter" idx="5"/>
          </p:nvPr>
        </p:nvSpPr>
        <p:spPr/>
        <p:txBody>
          <a:bodyPr/>
          <a:lstStyle/>
          <a:p>
            <a:fld id="{ACC9BBD8-1C1E-4CFA-8C12-0AE7F3A91C3D}" type="slidenum">
              <a:rPr lang="en-US" smtClean="0"/>
              <a:t>21</a:t>
            </a:fld>
            <a:endParaRPr lang="en-US"/>
          </a:p>
        </p:txBody>
      </p:sp>
    </p:spTree>
    <p:extLst>
      <p:ext uri="{BB962C8B-B14F-4D97-AF65-F5344CB8AC3E}">
        <p14:creationId xmlns:p14="http://schemas.microsoft.com/office/powerpoint/2010/main" val="1959064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a:t>(</a:t>
            </a:r>
            <a:r>
              <a:rPr lang="sv-SE" dirty="0" err="1"/>
              <a:t>introduce</a:t>
            </a:r>
            <a:r>
              <a:rPr lang="sv-SE" dirty="0"/>
              <a:t> </a:t>
            </a:r>
            <a:r>
              <a:rPr lang="sv-SE" dirty="0" err="1"/>
              <a:t>random</a:t>
            </a:r>
            <a:r>
              <a:rPr lang="sv-SE" dirty="0"/>
              <a:t> </a:t>
            </a:r>
            <a:r>
              <a:rPr lang="sv-SE" dirty="0" err="1"/>
              <a:t>variables</a:t>
            </a:r>
            <a:r>
              <a:rPr lang="sv-SE" dirty="0"/>
              <a:t>)</a:t>
            </a:r>
          </a:p>
          <a:p>
            <a:pPr marL="0" indent="0">
              <a:buNone/>
            </a:pPr>
            <a:r>
              <a:rPr lang="sv-SE" dirty="0"/>
              <a:t>(show simulation </a:t>
            </a:r>
            <a:r>
              <a:rPr lang="sv-SE" dirty="0" err="1"/>
              <a:t>formula</a:t>
            </a:r>
            <a:r>
              <a:rPr lang="sv-SE" dirty="0"/>
              <a:t> and </a:t>
            </a:r>
            <a:r>
              <a:rPr lang="sv-SE" dirty="0" err="1"/>
              <a:t>explain</a:t>
            </a:r>
            <a:r>
              <a:rPr lang="sv-SE" dirty="0"/>
              <a:t> all terms)</a:t>
            </a:r>
          </a:p>
          <a:p>
            <a:pPr marL="0" indent="0">
              <a:buNone/>
            </a:pPr>
            <a:r>
              <a:rPr lang="sv-SE" dirty="0"/>
              <a:t>(</a:t>
            </a:r>
            <a:r>
              <a:rPr lang="sv-SE" dirty="0" err="1"/>
              <a:t>visualize</a:t>
            </a:r>
            <a:r>
              <a:rPr lang="sv-SE" dirty="0"/>
              <a:t> </a:t>
            </a:r>
            <a:r>
              <a:rPr lang="sv-SE" dirty="0" err="1"/>
              <a:t>simulated</a:t>
            </a:r>
            <a:r>
              <a:rPr lang="sv-SE" dirty="0"/>
              <a:t> data)</a:t>
            </a:r>
            <a:endParaRPr lang="en-US" dirty="0"/>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22</a:t>
            </a:fld>
            <a:endParaRPr lang="en-US"/>
          </a:p>
        </p:txBody>
      </p:sp>
    </p:spTree>
    <p:extLst>
      <p:ext uri="{BB962C8B-B14F-4D97-AF65-F5344CB8AC3E}">
        <p14:creationId xmlns:p14="http://schemas.microsoft.com/office/powerpoint/2010/main" val="2401085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err="1"/>
              <a:t>This</a:t>
            </a:r>
            <a:r>
              <a:rPr lang="sv-SE" dirty="0"/>
              <a:t> </a:t>
            </a:r>
            <a:r>
              <a:rPr lang="sv-SE" dirty="0" err="1"/>
              <a:t>represents</a:t>
            </a:r>
            <a:r>
              <a:rPr lang="sv-SE" dirty="0"/>
              <a:t> </a:t>
            </a:r>
            <a:r>
              <a:rPr lang="sv-SE" dirty="0" err="1"/>
              <a:t>our</a:t>
            </a:r>
            <a:r>
              <a:rPr lang="sv-SE" dirty="0"/>
              <a:t> </a:t>
            </a:r>
            <a:r>
              <a:rPr lang="sv-SE" dirty="0" err="1"/>
              <a:t>ground</a:t>
            </a:r>
            <a:r>
              <a:rPr lang="sv-SE" dirty="0"/>
              <a:t> </a:t>
            </a:r>
            <a:r>
              <a:rPr lang="sv-SE" dirty="0" err="1"/>
              <a:t>truth</a:t>
            </a:r>
            <a:r>
              <a:rPr lang="sv-SE" dirty="0"/>
              <a:t> (</a:t>
            </a:r>
            <a:r>
              <a:rPr lang="sv-SE" dirty="0" err="1"/>
              <a:t>both</a:t>
            </a:r>
            <a:r>
              <a:rPr lang="sv-SE" dirty="0"/>
              <a:t> in terms </a:t>
            </a:r>
            <a:r>
              <a:rPr lang="sv-SE" dirty="0" err="1"/>
              <a:t>of</a:t>
            </a:r>
            <a:r>
              <a:rPr lang="sv-SE" dirty="0"/>
              <a:t> </a:t>
            </a:r>
            <a:r>
              <a:rPr lang="sv-SE" dirty="0" err="1"/>
              <a:t>effects</a:t>
            </a:r>
            <a:r>
              <a:rPr lang="sv-SE" dirty="0"/>
              <a:t> and </a:t>
            </a:r>
            <a:r>
              <a:rPr lang="sv-SE" dirty="0" err="1"/>
              <a:t>their</a:t>
            </a:r>
            <a:r>
              <a:rPr lang="sv-SE" dirty="0"/>
              <a:t> </a:t>
            </a:r>
            <a:r>
              <a:rPr lang="sv-SE" dirty="0" err="1"/>
              <a:t>strength</a:t>
            </a:r>
            <a:r>
              <a:rPr lang="sv-SE" dirty="0"/>
              <a:t>.</a:t>
            </a:r>
            <a:endParaRPr lang="en-US" dirty="0"/>
          </a:p>
          <a:p>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T</a:t>
            </a:r>
            <a:r>
              <a:rPr lang="en-SE" dirty="0"/>
              <a:t>he </a:t>
            </a:r>
            <a:r>
              <a:rPr lang="en-SE" b="1" dirty="0"/>
              <a:t>path coefficient </a:t>
            </a:r>
            <a:r>
              <a:rPr lang="en-SE" dirty="0"/>
              <a:t>is the variable of interest, as it represents the effect strength (and direction) of one variable on another.</a:t>
            </a:r>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23</a:t>
            </a:fld>
            <a:endParaRPr lang="en-US"/>
          </a:p>
        </p:txBody>
      </p:sp>
    </p:spTree>
    <p:extLst>
      <p:ext uri="{BB962C8B-B14F-4D97-AF65-F5344CB8AC3E}">
        <p14:creationId xmlns:p14="http://schemas.microsoft.com/office/powerpoint/2010/main" val="1915203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a:t>For </a:t>
            </a:r>
            <a:r>
              <a:rPr lang="sv-SE" dirty="0" err="1"/>
              <a:t>our</a:t>
            </a:r>
            <a:r>
              <a:rPr lang="sv-SE" dirty="0"/>
              <a:t> data </a:t>
            </a:r>
            <a:r>
              <a:rPr lang="sv-SE" dirty="0" err="1"/>
              <a:t>analysis</a:t>
            </a:r>
            <a:r>
              <a:rPr lang="sv-SE" dirty="0"/>
              <a:t> </a:t>
            </a:r>
            <a:r>
              <a:rPr lang="sv-SE" dirty="0" err="1"/>
              <a:t>tool</a:t>
            </a:r>
            <a:r>
              <a:rPr lang="sv-SE" dirty="0"/>
              <a:t>, </a:t>
            </a:r>
            <a:r>
              <a:rPr lang="sv-SE" dirty="0" err="1"/>
              <a:t>we</a:t>
            </a:r>
            <a:r>
              <a:rPr lang="sv-SE" dirty="0"/>
              <a:t> </a:t>
            </a:r>
            <a:r>
              <a:rPr lang="sv-SE" dirty="0" err="1"/>
              <a:t>will</a:t>
            </a:r>
            <a:r>
              <a:rPr lang="sv-SE" dirty="0"/>
              <a:t> </a:t>
            </a:r>
            <a:r>
              <a:rPr lang="sv-SE" dirty="0" err="1"/>
              <a:t>use</a:t>
            </a:r>
            <a:r>
              <a:rPr lang="sv-SE" dirty="0"/>
              <a:t> </a:t>
            </a:r>
            <a:r>
              <a:rPr lang="sv-SE" dirty="0" err="1"/>
              <a:t>linear</a:t>
            </a:r>
            <a:r>
              <a:rPr lang="sv-SE" dirty="0"/>
              <a:t> regressions (</a:t>
            </a:r>
            <a:r>
              <a:rPr lang="sv-SE" dirty="0" err="1"/>
              <a:t>which</a:t>
            </a:r>
            <a:r>
              <a:rPr lang="sv-SE" dirty="0"/>
              <a:t> </a:t>
            </a:r>
            <a:r>
              <a:rPr lang="sv-SE" dirty="0" err="1"/>
              <a:t>are</a:t>
            </a:r>
            <a:r>
              <a:rPr lang="sv-SE" dirty="0"/>
              <a:t> </a:t>
            </a:r>
            <a:r>
              <a:rPr lang="sv-SE" dirty="0" err="1"/>
              <a:t>more</a:t>
            </a:r>
            <a:r>
              <a:rPr lang="sv-SE" dirty="0"/>
              <a:t> </a:t>
            </a:r>
            <a:r>
              <a:rPr lang="sv-SE" dirty="0" err="1"/>
              <a:t>powerful</a:t>
            </a:r>
            <a:r>
              <a:rPr lang="sv-SE" dirty="0"/>
              <a:t> </a:t>
            </a:r>
            <a:r>
              <a:rPr lang="sv-SE" dirty="0" err="1"/>
              <a:t>than</a:t>
            </a:r>
            <a:r>
              <a:rPr lang="sv-SE" dirty="0"/>
              <a:t> </a:t>
            </a:r>
            <a:r>
              <a:rPr lang="sv-SE" dirty="0" err="1"/>
              <a:t>NHSTs</a:t>
            </a:r>
            <a:r>
              <a:rPr lang="sv-SE" dirty="0"/>
              <a:t> </a:t>
            </a:r>
            <a:r>
              <a:rPr lang="sv-SE" dirty="0" err="1"/>
              <a:t>but</a:t>
            </a:r>
            <a:r>
              <a:rPr lang="sv-SE" dirty="0"/>
              <a:t> </a:t>
            </a:r>
            <a:r>
              <a:rPr lang="sv-SE" dirty="0" err="1"/>
              <a:t>more</a:t>
            </a:r>
            <a:r>
              <a:rPr lang="sv-SE" dirty="0"/>
              <a:t> </a:t>
            </a:r>
            <a:r>
              <a:rPr lang="sv-SE" dirty="0" err="1"/>
              <a:t>approachable</a:t>
            </a:r>
            <a:r>
              <a:rPr lang="sv-SE" dirty="0"/>
              <a:t> </a:t>
            </a:r>
            <a:r>
              <a:rPr lang="sv-SE" dirty="0" err="1"/>
              <a:t>than</a:t>
            </a:r>
            <a:r>
              <a:rPr lang="sv-SE" dirty="0"/>
              <a:t> </a:t>
            </a:r>
            <a:r>
              <a:rPr lang="sv-SE" dirty="0" err="1"/>
              <a:t>Bayesian</a:t>
            </a:r>
            <a:r>
              <a:rPr lang="sv-SE" dirty="0"/>
              <a:t> data </a:t>
            </a:r>
            <a:r>
              <a:rPr lang="sv-SE" dirty="0" err="1"/>
              <a:t>analysis</a:t>
            </a:r>
            <a:r>
              <a:rPr lang="sv-SE" dirty="0"/>
              <a:t>).</a:t>
            </a:r>
          </a:p>
          <a:p>
            <a:pPr marL="0" indent="0">
              <a:buNone/>
            </a:pPr>
            <a:r>
              <a:rPr lang="sv-SE" dirty="0"/>
              <a:t>Limitations: </a:t>
            </a:r>
            <a:r>
              <a:rPr lang="sv-SE" dirty="0" err="1"/>
              <a:t>assumption</a:t>
            </a:r>
            <a:r>
              <a:rPr lang="sv-SE" dirty="0"/>
              <a:t> </a:t>
            </a:r>
            <a:r>
              <a:rPr lang="sv-SE" dirty="0" err="1"/>
              <a:t>of</a:t>
            </a:r>
            <a:r>
              <a:rPr lang="sv-SE" dirty="0"/>
              <a:t> monotonicity, etc.</a:t>
            </a:r>
          </a:p>
          <a:p>
            <a:pPr marL="0" indent="0">
              <a:buNone/>
            </a:pPr>
            <a:r>
              <a:rPr lang="sv-SE" dirty="0"/>
              <a:t>(</a:t>
            </a:r>
            <a:r>
              <a:rPr lang="sv-SE" dirty="0" err="1"/>
              <a:t>example</a:t>
            </a:r>
            <a:r>
              <a:rPr lang="sv-SE" dirty="0"/>
              <a:t> </a:t>
            </a:r>
            <a:r>
              <a:rPr lang="sv-SE" dirty="0" err="1"/>
              <a:t>of</a:t>
            </a:r>
            <a:r>
              <a:rPr lang="sv-SE" dirty="0"/>
              <a:t> a regression </a:t>
            </a:r>
            <a:r>
              <a:rPr lang="sv-SE" dirty="0" err="1"/>
              <a:t>formula</a:t>
            </a:r>
            <a:r>
              <a:rPr lang="sv-SE" dirty="0"/>
              <a:t> </a:t>
            </a:r>
            <a:r>
              <a:rPr lang="sv-SE" dirty="0" err="1"/>
              <a:t>with</a:t>
            </a:r>
            <a:r>
              <a:rPr lang="sv-SE" dirty="0"/>
              <a:t> </a:t>
            </a:r>
            <a:r>
              <a:rPr lang="sv-SE" dirty="0" err="1"/>
              <a:t>explanations</a:t>
            </a:r>
            <a:r>
              <a:rPr lang="sv-SE" dirty="0"/>
              <a:t>, </a:t>
            </a:r>
            <a:r>
              <a:rPr lang="sv-SE" dirty="0" err="1"/>
              <a:t>regression+data</a:t>
            </a:r>
            <a:r>
              <a:rPr lang="sv-SE" dirty="0"/>
              <a:t>, and </a:t>
            </a:r>
            <a:r>
              <a:rPr lang="sv-SE" dirty="0" err="1"/>
              <a:t>results</a:t>
            </a:r>
            <a:r>
              <a:rPr lang="sv-SE" dirty="0"/>
              <a:t>)</a:t>
            </a:r>
            <a:endParaRPr lang="en-US" dirty="0"/>
          </a:p>
          <a:p>
            <a:endParaRPr lang="en-US" dirty="0"/>
          </a:p>
        </p:txBody>
      </p:sp>
      <p:sp>
        <p:nvSpPr>
          <p:cNvPr id="4" name="Slide Number Placeholder 3"/>
          <p:cNvSpPr>
            <a:spLocks noGrp="1"/>
          </p:cNvSpPr>
          <p:nvPr>
            <p:ph type="sldNum" sz="quarter" idx="5"/>
          </p:nvPr>
        </p:nvSpPr>
        <p:spPr/>
        <p:txBody>
          <a:bodyPr/>
          <a:lstStyle/>
          <a:p>
            <a:fld id="{ACC9BBD8-1C1E-4CFA-8C12-0AE7F3A91C3D}" type="slidenum">
              <a:rPr lang="en-US" smtClean="0"/>
              <a:t>24</a:t>
            </a:fld>
            <a:endParaRPr lang="en-US"/>
          </a:p>
        </p:txBody>
      </p:sp>
    </p:spTree>
    <p:extLst>
      <p:ext uri="{BB962C8B-B14F-4D97-AF65-F5344CB8AC3E}">
        <p14:creationId xmlns:p14="http://schemas.microsoft.com/office/powerpoint/2010/main" val="3449041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a:t>Connection </a:t>
            </a:r>
            <a:r>
              <a:rPr lang="sv-SE" dirty="0" err="1"/>
              <a:t>between</a:t>
            </a:r>
            <a:r>
              <a:rPr lang="sv-SE" dirty="0"/>
              <a:t> </a:t>
            </a:r>
            <a:r>
              <a:rPr lang="sv-SE" dirty="0" err="1"/>
              <a:t>causal</a:t>
            </a:r>
            <a:r>
              <a:rPr lang="sv-SE" dirty="0"/>
              <a:t> and </a:t>
            </a:r>
            <a:r>
              <a:rPr lang="sv-SE" dirty="0" err="1"/>
              <a:t>statistical</a:t>
            </a:r>
            <a:r>
              <a:rPr lang="sv-SE" dirty="0"/>
              <a:t> </a:t>
            </a:r>
            <a:r>
              <a:rPr lang="sv-SE" dirty="0" err="1"/>
              <a:t>models</a:t>
            </a:r>
            <a:r>
              <a:rPr lang="sv-SE" dirty="0"/>
              <a:t>:</a:t>
            </a:r>
          </a:p>
          <a:p>
            <a:pPr marL="171450" indent="-171450">
              <a:buFont typeface="Arial" panose="020B0604020202020204" pitchFamily="34" charset="0"/>
              <a:buChar char="•"/>
            </a:pPr>
            <a:r>
              <a:rPr lang="sv-SE" dirty="0" err="1"/>
              <a:t>Causal</a:t>
            </a:r>
            <a:r>
              <a:rPr lang="sv-SE" dirty="0"/>
              <a:t> </a:t>
            </a:r>
            <a:r>
              <a:rPr lang="sv-SE" dirty="0" err="1"/>
              <a:t>models</a:t>
            </a:r>
            <a:r>
              <a:rPr lang="sv-SE" dirty="0"/>
              <a:t> </a:t>
            </a:r>
            <a:r>
              <a:rPr lang="sv-SE" dirty="0" err="1"/>
              <a:t>encode</a:t>
            </a:r>
            <a:r>
              <a:rPr lang="sv-SE" dirty="0"/>
              <a:t> </a:t>
            </a:r>
            <a:r>
              <a:rPr lang="sv-SE" dirty="0" err="1"/>
              <a:t>causal</a:t>
            </a:r>
            <a:r>
              <a:rPr lang="sv-SE" dirty="0"/>
              <a:t> </a:t>
            </a:r>
            <a:r>
              <a:rPr lang="sv-SE" dirty="0" err="1"/>
              <a:t>assumptions</a:t>
            </a:r>
            <a:endParaRPr lang="sv-SE" dirty="0"/>
          </a:p>
          <a:p>
            <a:pPr marL="171450" indent="-171450">
              <a:buFont typeface="Arial" panose="020B0604020202020204" pitchFamily="34" charset="0"/>
              <a:buChar char="•"/>
            </a:pPr>
            <a:r>
              <a:rPr lang="sv-SE" dirty="0" err="1"/>
              <a:t>Statistical</a:t>
            </a:r>
            <a:r>
              <a:rPr lang="sv-SE" dirty="0"/>
              <a:t> </a:t>
            </a:r>
            <a:r>
              <a:rPr lang="sv-SE" dirty="0" err="1"/>
              <a:t>models</a:t>
            </a:r>
            <a:r>
              <a:rPr lang="sv-SE" dirty="0"/>
              <a:t> </a:t>
            </a:r>
            <a:r>
              <a:rPr lang="sv-SE" dirty="0" err="1"/>
              <a:t>implements</a:t>
            </a:r>
            <a:r>
              <a:rPr lang="sv-SE" dirty="0"/>
              <a:t> </a:t>
            </a:r>
            <a:r>
              <a:rPr lang="sv-SE" dirty="0" err="1"/>
              <a:t>inference</a:t>
            </a:r>
            <a:endParaRPr lang="sv-SE" dirty="0"/>
          </a:p>
          <a:p>
            <a:pPr marL="0" indent="0">
              <a:buNone/>
            </a:pPr>
            <a:r>
              <a:rPr lang="en-US" dirty="0"/>
              <a:t>Statistical causal inference (SCI) = deriving statistical models from causal models</a:t>
            </a:r>
          </a:p>
          <a:p>
            <a:pPr marL="0" indent="0">
              <a:buNone/>
            </a:pPr>
            <a:r>
              <a:rPr lang="en-US" dirty="0"/>
              <a:t>(how to do this is a major learning outcome of this tutorial)</a:t>
            </a:r>
            <a:endParaRPr lang="en-SE" dirty="0"/>
          </a:p>
          <a:p>
            <a:pPr marL="0" indent="0">
              <a:buNone/>
            </a:pPr>
            <a:endParaRPr lang="en-SE" dirty="0"/>
          </a:p>
          <a:p>
            <a:pPr marL="0" indent="0">
              <a:buNone/>
            </a:pPr>
            <a:r>
              <a:rPr lang="en-SE" dirty="0"/>
              <a:t>“Science before statistics”</a:t>
            </a:r>
            <a:endParaRPr lang="sv-SE" dirty="0"/>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25</a:t>
            </a:fld>
            <a:endParaRPr lang="en-US"/>
          </a:p>
        </p:txBody>
      </p:sp>
    </p:spTree>
    <p:extLst>
      <p:ext uri="{BB962C8B-B14F-4D97-AF65-F5344CB8AC3E}">
        <p14:creationId xmlns:p14="http://schemas.microsoft.com/office/powerpoint/2010/main" val="1534972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3355-F3AF-EABB-EBF1-DCF58DBEF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3E241E-51A0-41BE-B59A-7A132DBA8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1DC16C-6143-37FF-5575-50386ACCB7A1}"/>
              </a:ext>
            </a:extLst>
          </p:cNvPr>
          <p:cNvSpPr>
            <a:spLocks noGrp="1"/>
          </p:cNvSpPr>
          <p:nvPr>
            <p:ph type="body" idx="1"/>
          </p:nvPr>
        </p:nvSpPr>
        <p:spPr/>
        <p:txBody>
          <a:bodyPr/>
          <a:lstStyle/>
          <a:p>
            <a:pPr marL="0" indent="0">
              <a:buNone/>
            </a:pPr>
            <a:r>
              <a:rPr lang="en-US" noProof="0" dirty="0"/>
              <a:t>With all of these fundamentals, this is how the following examples will look like:</a:t>
            </a:r>
          </a:p>
          <a:p>
            <a:pPr marL="228600" indent="-228600">
              <a:buFont typeface="+mj-lt"/>
              <a:buAutoNum type="arabicPeriod"/>
            </a:pPr>
            <a:r>
              <a:rPr lang="en-US" noProof="0" dirty="0"/>
              <a:t>example phenomenon x -&gt; y with </a:t>
            </a:r>
            <a:r>
              <a:rPr lang="en-US" i="1" noProof="0" dirty="0"/>
              <a:t>assumed </a:t>
            </a:r>
            <a:r>
              <a:rPr lang="en-US" noProof="0" dirty="0"/>
              <a:t>DAG and data</a:t>
            </a:r>
          </a:p>
          <a:p>
            <a:pPr marL="228600" indent="-228600">
              <a:buFont typeface="+mj-lt"/>
              <a:buAutoNum type="arabicPeriod"/>
            </a:pPr>
            <a:r>
              <a:rPr lang="en-US" noProof="0" dirty="0"/>
              <a:t>derivation of a statistical model, running a regression analysis</a:t>
            </a:r>
          </a:p>
          <a:p>
            <a:pPr marL="228600" indent="-228600">
              <a:buFont typeface="+mj-lt"/>
              <a:buAutoNum type="arabicPeriod"/>
            </a:pPr>
            <a:r>
              <a:rPr lang="en-US" noProof="0" dirty="0"/>
              <a:t>comparing the results of the regression analysis with the values of the simulation: if they overlap, we inferred the correct causal conclusion</a:t>
            </a:r>
          </a:p>
          <a:p>
            <a:pPr marL="228600" indent="-228600">
              <a:buFont typeface="+mj-lt"/>
              <a:buAutoNum type="arabicPeriod"/>
            </a:pPr>
            <a:r>
              <a:rPr lang="en-US" noProof="0" dirty="0"/>
              <a:t>revealing the </a:t>
            </a:r>
            <a:r>
              <a:rPr lang="en-US" i="1" noProof="0" dirty="0"/>
              <a:t>actual </a:t>
            </a:r>
            <a:r>
              <a:rPr lang="en-US" noProof="0" dirty="0"/>
              <a:t>DAG with simulation weights</a:t>
            </a:r>
          </a:p>
        </p:txBody>
      </p:sp>
      <p:sp>
        <p:nvSpPr>
          <p:cNvPr id="4" name="Slide Number Placeholder 3">
            <a:extLst>
              <a:ext uri="{FF2B5EF4-FFF2-40B4-BE49-F238E27FC236}">
                <a16:creationId xmlns:a16="http://schemas.microsoft.com/office/drawing/2014/main" id="{8030BCD6-4A2E-0F97-62F4-AA057EA3E0DF}"/>
              </a:ext>
            </a:extLst>
          </p:cNvPr>
          <p:cNvSpPr>
            <a:spLocks noGrp="1"/>
          </p:cNvSpPr>
          <p:nvPr>
            <p:ph type="sldNum" sz="quarter" idx="5"/>
          </p:nvPr>
        </p:nvSpPr>
        <p:spPr/>
        <p:txBody>
          <a:bodyPr/>
          <a:lstStyle/>
          <a:p>
            <a:fld id="{ACC9BBD8-1C1E-4CFA-8C12-0AE7F3A91C3D}" type="slidenum">
              <a:rPr lang="en-US" smtClean="0"/>
              <a:t>26</a:t>
            </a:fld>
            <a:endParaRPr lang="en-US"/>
          </a:p>
        </p:txBody>
      </p:sp>
    </p:spTree>
    <p:extLst>
      <p:ext uri="{BB962C8B-B14F-4D97-AF65-F5344CB8AC3E}">
        <p14:creationId xmlns:p14="http://schemas.microsoft.com/office/powerpoint/2010/main" val="1046456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most relationships of interest are rarely limited to only two variables, and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these additional variables may interact with the relationship of interest in unforeseen ways,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we need to be aware of </a:t>
            </a:r>
            <a:r>
              <a:rPr lang="en-US" i="1" dirty="0"/>
              <a:t>how</a:t>
            </a:r>
            <a:r>
              <a:rPr lang="en-US" dirty="0"/>
              <a:t> they can interact.</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27</a:t>
            </a:fld>
            <a:endParaRPr lang="en-US"/>
          </a:p>
        </p:txBody>
      </p:sp>
    </p:spTree>
    <p:extLst>
      <p:ext uri="{BB962C8B-B14F-4D97-AF65-F5344CB8AC3E}">
        <p14:creationId xmlns:p14="http://schemas.microsoft.com/office/powerpoint/2010/main" val="2889084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SE" dirty="0"/>
              <a:t>Only lo</a:t>
            </a:r>
            <a:r>
              <a:rPr lang="de-DE" dirty="0"/>
              <a:t>o</a:t>
            </a:r>
            <a:r>
              <a:rPr lang="en-SE" dirty="0"/>
              <a:t>king into the effect of format on lead time suggests that the specification format has a positive effect</a:t>
            </a:r>
          </a:p>
          <a:p>
            <a:pPr marL="171450" indent="-171450">
              <a:buFont typeface="Arial" panose="020B0604020202020204" pitchFamily="34" charset="0"/>
              <a:buChar char="•"/>
            </a:pPr>
            <a:r>
              <a:rPr lang="en-SE" dirty="0"/>
              <a:t>However: stratifying by pressure levels shows that the specification format has no impact at all</a:t>
            </a:r>
          </a:p>
        </p:txBody>
      </p:sp>
      <p:sp>
        <p:nvSpPr>
          <p:cNvPr id="4" name="Slide Number Placeholder 3"/>
          <p:cNvSpPr>
            <a:spLocks noGrp="1"/>
          </p:cNvSpPr>
          <p:nvPr>
            <p:ph type="sldNum" sz="quarter" idx="5"/>
          </p:nvPr>
        </p:nvSpPr>
        <p:spPr/>
        <p:txBody>
          <a:bodyPr/>
          <a:lstStyle/>
          <a:p>
            <a:fld id="{ACC9BBD8-1C1E-4CFA-8C12-0AE7F3A91C3D}" type="slidenum">
              <a:rPr lang="en-US" smtClean="0"/>
              <a:t>31</a:t>
            </a:fld>
            <a:endParaRPr lang="en-US"/>
          </a:p>
        </p:txBody>
      </p:sp>
    </p:spTree>
    <p:extLst>
      <p:ext uri="{BB962C8B-B14F-4D97-AF65-F5344CB8AC3E}">
        <p14:creationId xmlns:p14="http://schemas.microsoft.com/office/powerpoint/2010/main" val="24085135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But why is it so?</a:t>
            </a:r>
          </a:p>
        </p:txBody>
      </p:sp>
      <p:sp>
        <p:nvSpPr>
          <p:cNvPr id="4" name="Slide Number Placeholder 3"/>
          <p:cNvSpPr>
            <a:spLocks noGrp="1"/>
          </p:cNvSpPr>
          <p:nvPr>
            <p:ph type="sldNum" sz="quarter" idx="5"/>
          </p:nvPr>
        </p:nvSpPr>
        <p:spPr/>
        <p:txBody>
          <a:bodyPr/>
          <a:lstStyle/>
          <a:p>
            <a:fld id="{ACC9BBD8-1C1E-4CFA-8C12-0AE7F3A91C3D}" type="slidenum">
              <a:rPr lang="en-US" smtClean="0"/>
              <a:t>32</a:t>
            </a:fld>
            <a:endParaRPr lang="en-US"/>
          </a:p>
        </p:txBody>
      </p:sp>
    </p:spTree>
    <p:extLst>
      <p:ext uri="{BB962C8B-B14F-4D97-AF65-F5344CB8AC3E}">
        <p14:creationId xmlns:p14="http://schemas.microsoft.com/office/powerpoint/2010/main" val="28502058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33</a:t>
            </a:fld>
            <a:endParaRPr lang="en-US"/>
          </a:p>
        </p:txBody>
      </p:sp>
    </p:spTree>
    <p:extLst>
      <p:ext uri="{BB962C8B-B14F-4D97-AF65-F5344CB8AC3E}">
        <p14:creationId xmlns:p14="http://schemas.microsoft.com/office/powerpoint/2010/main" val="21458404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dirty="0"/>
              <a:t>S</a:t>
            </a:r>
            <a:r>
              <a:rPr lang="en-SE" dirty="0" err="1"/>
              <a:t>tudying</a:t>
            </a:r>
            <a:r>
              <a:rPr lang="en-SE" dirty="0"/>
              <a:t> the effect of passive voice on the completeness of resulting domain models, we found a mediation.</a:t>
            </a:r>
            <a:endParaRPr lang="en-US" dirty="0"/>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39</a:t>
            </a:fld>
            <a:endParaRPr lang="en-US"/>
          </a:p>
        </p:txBody>
      </p:sp>
    </p:spTree>
    <p:extLst>
      <p:ext uri="{BB962C8B-B14F-4D97-AF65-F5344CB8AC3E}">
        <p14:creationId xmlns:p14="http://schemas.microsoft.com/office/powerpoint/2010/main" val="2922391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can rightfully ask: why include “success” in the statistical model anyways?</a:t>
            </a:r>
          </a:p>
          <a:p>
            <a:pPr marL="171450" indent="-171450">
              <a:buFont typeface="Arial" panose="020B0604020202020204" pitchFamily="34" charset="0"/>
              <a:buChar char="•"/>
            </a:pPr>
            <a:r>
              <a:rPr lang="en-SE" dirty="0"/>
              <a:t>We do see that “feature success” contains information about “specification quality”</a:t>
            </a:r>
          </a:p>
          <a:p>
            <a:pPr marL="171450" indent="-171450">
              <a:buFont typeface="Arial" panose="020B0604020202020204" pitchFamily="34" charset="0"/>
              <a:buChar char="•"/>
            </a:pPr>
            <a:r>
              <a:rPr lang="en-SE" dirty="0"/>
              <a:t>Hence, it might be valuable for the estimation</a:t>
            </a:r>
          </a:p>
        </p:txBody>
      </p:sp>
      <p:sp>
        <p:nvSpPr>
          <p:cNvPr id="4" name="Slide Number Placeholder 3"/>
          <p:cNvSpPr>
            <a:spLocks noGrp="1"/>
          </p:cNvSpPr>
          <p:nvPr>
            <p:ph type="sldNum" sz="quarter" idx="5"/>
          </p:nvPr>
        </p:nvSpPr>
        <p:spPr/>
        <p:txBody>
          <a:bodyPr/>
          <a:lstStyle/>
          <a:p>
            <a:fld id="{ACC9BBD8-1C1E-4CFA-8C12-0AE7F3A91C3D}" type="slidenum">
              <a:rPr lang="en-US" smtClean="0"/>
              <a:t>41</a:t>
            </a:fld>
            <a:endParaRPr lang="en-US"/>
          </a:p>
        </p:txBody>
      </p:sp>
    </p:spTree>
    <p:extLst>
      <p:ext uri="{BB962C8B-B14F-4D97-AF65-F5344CB8AC3E}">
        <p14:creationId xmlns:p14="http://schemas.microsoft.com/office/powerpoint/2010/main" val="3491078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 estimation suggests that specification size has an effect far beyond what we simulated</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42</a:t>
            </a:fld>
            <a:endParaRPr lang="en-US"/>
          </a:p>
        </p:txBody>
      </p:sp>
    </p:spTree>
    <p:extLst>
      <p:ext uri="{BB962C8B-B14F-4D97-AF65-F5344CB8AC3E}">
        <p14:creationId xmlns:p14="http://schemas.microsoft.com/office/powerpoint/2010/main" val="100557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The visualization of the raw data shows that there is indeed no effect</a:t>
            </a:r>
          </a:p>
          <a:p>
            <a:pPr marL="171450" indent="-171450">
              <a:buFont typeface="Arial" panose="020B0604020202020204" pitchFamily="34" charset="0"/>
              <a:buChar char="•"/>
            </a:pPr>
            <a:r>
              <a:rPr lang="en-SE" dirty="0"/>
              <a:t>The trendline is nearly horizontal</a:t>
            </a:r>
          </a:p>
          <a:p>
            <a:pPr marL="171450" indent="-171450">
              <a:buFont typeface="Arial" panose="020B0604020202020204" pitchFamily="34" charset="0"/>
              <a:buChar char="•"/>
            </a:pPr>
            <a:r>
              <a:rPr lang="en-SE" dirty="0"/>
              <a:t>That means: there is no effect of one variable on the other</a:t>
            </a:r>
          </a:p>
          <a:p>
            <a:pPr marL="171450" indent="-171450">
              <a:buFont typeface="Arial" panose="020B0604020202020204" pitchFamily="34" charset="0"/>
              <a:buChar char="•"/>
            </a:pPr>
            <a:endParaRPr lang="en-SE" dirty="0"/>
          </a:p>
          <a:p>
            <a:pPr marL="0" indent="0">
              <a:buFont typeface="Arial" panose="020B0604020202020204" pitchFamily="34" charset="0"/>
              <a:buNone/>
            </a:pPr>
            <a:r>
              <a:rPr lang="en-SE" dirty="0"/>
              <a:t>But stratifying by the third variable (feature success) paints a different picture:</a:t>
            </a:r>
          </a:p>
          <a:p>
            <a:pPr marL="171450" indent="-171450">
              <a:buFont typeface="Arial" panose="020B0604020202020204" pitchFamily="34" charset="0"/>
              <a:buChar char="•"/>
            </a:pPr>
            <a:r>
              <a:rPr lang="en-SE" dirty="0"/>
              <a:t>Stratification by </a:t>
            </a:r>
            <a:r>
              <a:rPr lang="en-SE" dirty="0" err="1"/>
              <a:t>color</a:t>
            </a:r>
            <a:r>
              <a:rPr lang="en-SE" dirty="0"/>
              <a:t> (and the grey cut-off line intersects the y-axis at exactly 0.7)</a:t>
            </a:r>
          </a:p>
          <a:p>
            <a:pPr marL="171450" indent="-171450">
              <a:buFont typeface="Arial" panose="020B0604020202020204" pitchFamily="34" charset="0"/>
              <a:buChar char="•"/>
            </a:pPr>
            <a:r>
              <a:rPr lang="en-SE" dirty="0"/>
              <a:t>Looking into each of the two strata individually, there is a negative association between the variables</a:t>
            </a:r>
          </a:p>
        </p:txBody>
      </p:sp>
      <p:sp>
        <p:nvSpPr>
          <p:cNvPr id="4" name="Slide Number Placeholder 3"/>
          <p:cNvSpPr>
            <a:spLocks noGrp="1"/>
          </p:cNvSpPr>
          <p:nvPr>
            <p:ph type="sldNum" sz="quarter" idx="5"/>
          </p:nvPr>
        </p:nvSpPr>
        <p:spPr/>
        <p:txBody>
          <a:bodyPr/>
          <a:lstStyle/>
          <a:p>
            <a:fld id="{ACC9BBD8-1C1E-4CFA-8C12-0AE7F3A91C3D}" type="slidenum">
              <a:rPr lang="en-US" smtClean="0"/>
              <a:t>43</a:t>
            </a:fld>
            <a:endParaRPr lang="en-US"/>
          </a:p>
        </p:txBody>
      </p:sp>
    </p:spTree>
    <p:extLst>
      <p:ext uri="{BB962C8B-B14F-4D97-AF65-F5344CB8AC3E}">
        <p14:creationId xmlns:p14="http://schemas.microsoft.com/office/powerpoint/2010/main" val="40959059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Remember: “Data alone cannot give us causal inference – we must also know about how the data emerged</a:t>
            </a:r>
            <a:r>
              <a:rPr lang="sv-SE" dirty="0"/>
              <a:t>” (show </a:t>
            </a:r>
            <a:r>
              <a:rPr lang="sv-SE" dirty="0" err="1"/>
              <a:t>collider</a:t>
            </a:r>
            <a:r>
              <a:rPr lang="sv-SE" dirty="0"/>
              <a:t> </a:t>
            </a:r>
            <a:r>
              <a:rPr lang="sv-SE" dirty="0" err="1"/>
              <a:t>versus</a:t>
            </a:r>
            <a:r>
              <a:rPr lang="sv-SE" dirty="0"/>
              <a:t> </a:t>
            </a:r>
            <a:r>
              <a:rPr lang="sv-SE" dirty="0" err="1"/>
              <a:t>fork</a:t>
            </a:r>
            <a:r>
              <a:rPr lang="sv-SE" dirty="0"/>
              <a:t>: same data, different </a:t>
            </a:r>
            <a:r>
              <a:rPr lang="sv-SE" dirty="0" err="1"/>
              <a:t>statistical</a:t>
            </a:r>
            <a:r>
              <a:rPr lang="sv-SE" dirty="0"/>
              <a:t> </a:t>
            </a:r>
            <a:r>
              <a:rPr lang="sv-SE" dirty="0" err="1"/>
              <a:t>models</a:t>
            </a:r>
            <a:r>
              <a:rPr lang="sv-SE" dirty="0"/>
              <a:t> from the </a:t>
            </a:r>
            <a:r>
              <a:rPr lang="sv-SE" dirty="0" err="1"/>
              <a:t>causal</a:t>
            </a:r>
            <a:r>
              <a:rPr lang="sv-SE" dirty="0"/>
              <a:t> </a:t>
            </a:r>
            <a:r>
              <a:rPr lang="sv-SE" dirty="0" err="1"/>
              <a:t>models</a:t>
            </a:r>
            <a:r>
              <a:rPr lang="sv-SE" dirty="0"/>
              <a:t>)</a:t>
            </a:r>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50</a:t>
            </a:fld>
            <a:endParaRPr lang="en-US"/>
          </a:p>
        </p:txBody>
      </p:sp>
    </p:spTree>
    <p:extLst>
      <p:ext uri="{BB962C8B-B14F-4D97-AF65-F5344CB8AC3E}">
        <p14:creationId xmlns:p14="http://schemas.microsoft.com/office/powerpoint/2010/main" val="5392036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A7715-A954-32B2-D319-F556BD146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62AB6-06FE-8720-4996-8A3C3AC9F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2C9E6-9483-DC6A-4CE0-A2D5E16F86A9}"/>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778F4CE0-CA10-BD27-3ECC-172B97A51AFD}"/>
              </a:ext>
            </a:extLst>
          </p:cNvPr>
          <p:cNvSpPr>
            <a:spLocks noGrp="1"/>
          </p:cNvSpPr>
          <p:nvPr>
            <p:ph type="sldNum" sz="quarter" idx="5"/>
          </p:nvPr>
        </p:nvSpPr>
        <p:spPr/>
        <p:txBody>
          <a:bodyPr/>
          <a:lstStyle/>
          <a:p>
            <a:fld id="{ACC9BBD8-1C1E-4CFA-8C12-0AE7F3A91C3D}" type="slidenum">
              <a:rPr lang="en-US" smtClean="0"/>
              <a:t>52</a:t>
            </a:fld>
            <a:endParaRPr lang="en-US"/>
          </a:p>
        </p:txBody>
      </p:sp>
    </p:spTree>
    <p:extLst>
      <p:ext uri="{BB962C8B-B14F-4D97-AF65-F5344CB8AC3E}">
        <p14:creationId xmlns:p14="http://schemas.microsoft.com/office/powerpoint/2010/main" val="3921110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25C5F-5F4A-B846-5518-88DB39A2D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8941E-7DE4-5055-2C21-6853BA46C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B2DEA-1BD4-0EAA-78F6-10A8F75BB9CB}"/>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AE540F39-C2DA-6123-719E-9E0E951C8F21}"/>
              </a:ext>
            </a:extLst>
          </p:cNvPr>
          <p:cNvSpPr>
            <a:spLocks noGrp="1"/>
          </p:cNvSpPr>
          <p:nvPr>
            <p:ph type="sldNum" sz="quarter" idx="5"/>
          </p:nvPr>
        </p:nvSpPr>
        <p:spPr/>
        <p:txBody>
          <a:bodyPr/>
          <a:lstStyle/>
          <a:p>
            <a:fld id="{ACC9BBD8-1C1E-4CFA-8C12-0AE7F3A91C3D}" type="slidenum">
              <a:rPr lang="en-US" smtClean="0"/>
              <a:t>53</a:t>
            </a:fld>
            <a:endParaRPr lang="en-US"/>
          </a:p>
        </p:txBody>
      </p:sp>
    </p:spTree>
    <p:extLst>
      <p:ext uri="{BB962C8B-B14F-4D97-AF65-F5344CB8AC3E}">
        <p14:creationId xmlns:p14="http://schemas.microsoft.com/office/powerpoint/2010/main" val="21043146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54</a:t>
            </a:fld>
            <a:endParaRPr lang="en-US"/>
          </a:p>
        </p:txBody>
      </p:sp>
    </p:spTree>
    <p:extLst>
      <p:ext uri="{BB962C8B-B14F-4D97-AF65-F5344CB8AC3E}">
        <p14:creationId xmlns:p14="http://schemas.microsoft.com/office/powerpoint/2010/main" val="9039128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How </a:t>
            </a:r>
            <a:r>
              <a:rPr lang="en-SE" dirty="0"/>
              <a:t>can you use these techniques for your own research?</a:t>
            </a:r>
          </a:p>
        </p:txBody>
      </p:sp>
      <p:sp>
        <p:nvSpPr>
          <p:cNvPr id="4" name="Slide Number Placeholder 3"/>
          <p:cNvSpPr>
            <a:spLocks noGrp="1"/>
          </p:cNvSpPr>
          <p:nvPr>
            <p:ph type="sldNum" sz="quarter" idx="5"/>
          </p:nvPr>
        </p:nvSpPr>
        <p:spPr/>
        <p:txBody>
          <a:bodyPr/>
          <a:lstStyle/>
          <a:p>
            <a:fld id="{ACC9BBD8-1C1E-4CFA-8C12-0AE7F3A91C3D}" type="slidenum">
              <a:rPr lang="en-US" smtClean="0"/>
              <a:t>70</a:t>
            </a:fld>
            <a:endParaRPr lang="en-US"/>
          </a:p>
        </p:txBody>
      </p:sp>
    </p:spTree>
    <p:extLst>
      <p:ext uri="{BB962C8B-B14F-4D97-AF65-F5344CB8AC3E}">
        <p14:creationId xmlns:p14="http://schemas.microsoft.com/office/powerpoint/2010/main" val="36011857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7842-4A48-C9D3-2CD9-EBB689104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3F402-C43B-20FD-D3D4-D86B5011F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89CBF-1E47-AEB0-397C-CA194C896BB7}"/>
              </a:ext>
            </a:extLst>
          </p:cNvPr>
          <p:cNvSpPr>
            <a:spLocks noGrp="1"/>
          </p:cNvSpPr>
          <p:nvPr>
            <p:ph type="body" idx="1"/>
          </p:nvPr>
        </p:nvSpPr>
        <p:spPr/>
        <p:txBody>
          <a:bodyPr/>
          <a:lstStyle/>
          <a:p>
            <a:pPr marL="0" indent="0">
              <a:buNone/>
            </a:pPr>
            <a:r>
              <a:rPr lang="en-SE" dirty="0"/>
              <a:t>Firstly: always draw a causal DAG that represents your causal assumptions</a:t>
            </a:r>
          </a:p>
        </p:txBody>
      </p:sp>
      <p:sp>
        <p:nvSpPr>
          <p:cNvPr id="4" name="Slide Number Placeholder 3">
            <a:extLst>
              <a:ext uri="{FF2B5EF4-FFF2-40B4-BE49-F238E27FC236}">
                <a16:creationId xmlns:a16="http://schemas.microsoft.com/office/drawing/2014/main" id="{36FAEA5C-26D5-EEB4-143D-3607D9A629A6}"/>
              </a:ext>
            </a:extLst>
          </p:cNvPr>
          <p:cNvSpPr>
            <a:spLocks noGrp="1"/>
          </p:cNvSpPr>
          <p:nvPr>
            <p:ph type="sldNum" sz="quarter" idx="5"/>
          </p:nvPr>
        </p:nvSpPr>
        <p:spPr/>
        <p:txBody>
          <a:bodyPr/>
          <a:lstStyle/>
          <a:p>
            <a:fld id="{ACC9BBD8-1C1E-4CFA-8C12-0AE7F3A91C3D}" type="slidenum">
              <a:rPr lang="en-US" smtClean="0"/>
              <a:t>71</a:t>
            </a:fld>
            <a:endParaRPr lang="en-US"/>
          </a:p>
        </p:txBody>
      </p:sp>
    </p:spTree>
    <p:extLst>
      <p:ext uri="{BB962C8B-B14F-4D97-AF65-F5344CB8AC3E}">
        <p14:creationId xmlns:p14="http://schemas.microsoft.com/office/powerpoint/2010/main" val="39851900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AutoNum type="arabicPeriod"/>
            </a:pPr>
            <a:endParaRPr lang="en-GB" dirty="0"/>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72</a:t>
            </a:fld>
            <a:endParaRPr lang="en-US"/>
          </a:p>
        </p:txBody>
      </p:sp>
    </p:spTree>
    <p:extLst>
      <p:ext uri="{BB962C8B-B14F-4D97-AF65-F5344CB8AC3E}">
        <p14:creationId xmlns:p14="http://schemas.microsoft.com/office/powerpoint/2010/main" val="36262985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46B70-8AF3-7178-F158-5D9607959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E6E8B-ADBF-C150-EBD4-69866C276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3D497B-84ED-6D95-7C98-5B97D3699722}"/>
              </a:ext>
            </a:extLst>
          </p:cNvPr>
          <p:cNvSpPr>
            <a:spLocks noGrp="1"/>
          </p:cNvSpPr>
          <p:nvPr>
            <p:ph type="body" idx="1"/>
          </p:nvPr>
        </p:nvSpPr>
        <p:spPr/>
        <p:txBody>
          <a:bodyPr/>
          <a:lstStyle/>
          <a:p>
            <a:r>
              <a:rPr lang="en-SE" dirty="0"/>
              <a:t>How do these conceptual steps intertwine with the operational steps necessary for quantitative studies?</a:t>
            </a:r>
          </a:p>
        </p:txBody>
      </p:sp>
      <p:sp>
        <p:nvSpPr>
          <p:cNvPr id="4" name="Slide Number Placeholder 3">
            <a:extLst>
              <a:ext uri="{FF2B5EF4-FFF2-40B4-BE49-F238E27FC236}">
                <a16:creationId xmlns:a16="http://schemas.microsoft.com/office/drawing/2014/main" id="{A464E05F-121F-DB64-95CC-DFCCF60B3CD1}"/>
              </a:ext>
            </a:extLst>
          </p:cNvPr>
          <p:cNvSpPr>
            <a:spLocks noGrp="1"/>
          </p:cNvSpPr>
          <p:nvPr>
            <p:ph type="sldNum" sz="quarter" idx="5"/>
          </p:nvPr>
        </p:nvSpPr>
        <p:spPr/>
        <p:txBody>
          <a:bodyPr/>
          <a:lstStyle/>
          <a:p>
            <a:fld id="{ACC9BBD8-1C1E-4CFA-8C12-0AE7F3A91C3D}" type="slidenum">
              <a:rPr lang="en-US" smtClean="0"/>
              <a:t>73</a:t>
            </a:fld>
            <a:endParaRPr lang="en-US"/>
          </a:p>
        </p:txBody>
      </p:sp>
    </p:spTree>
    <p:extLst>
      <p:ext uri="{BB962C8B-B14F-4D97-AF65-F5344CB8AC3E}">
        <p14:creationId xmlns:p14="http://schemas.microsoft.com/office/powerpoint/2010/main" val="42790430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BCE3-E678-2DE8-5B99-6F6DC1306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B6963-0CA6-3D71-8CF6-895586E24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E1510-A6F3-7CE0-02C9-B45E1C162B71}"/>
              </a:ext>
            </a:extLst>
          </p:cNvPr>
          <p:cNvSpPr>
            <a:spLocks noGrp="1"/>
          </p:cNvSpPr>
          <p:nvPr>
            <p:ph type="body" idx="1"/>
          </p:nvPr>
        </p:nvSpPr>
        <p:spPr/>
        <p:txBody>
          <a:bodyPr/>
          <a:lstStyle/>
          <a:p>
            <a:r>
              <a:rPr lang="en-SE" dirty="0"/>
              <a:t>How do these conceptual steps intertwine with the operational steps necessary for quantitative studies?</a:t>
            </a:r>
          </a:p>
        </p:txBody>
      </p:sp>
      <p:sp>
        <p:nvSpPr>
          <p:cNvPr id="4" name="Slide Number Placeholder 3">
            <a:extLst>
              <a:ext uri="{FF2B5EF4-FFF2-40B4-BE49-F238E27FC236}">
                <a16:creationId xmlns:a16="http://schemas.microsoft.com/office/drawing/2014/main" id="{64816326-6038-94C4-F88E-E95F4B86D270}"/>
              </a:ext>
            </a:extLst>
          </p:cNvPr>
          <p:cNvSpPr>
            <a:spLocks noGrp="1"/>
          </p:cNvSpPr>
          <p:nvPr>
            <p:ph type="sldNum" sz="quarter" idx="5"/>
          </p:nvPr>
        </p:nvSpPr>
        <p:spPr/>
        <p:txBody>
          <a:bodyPr/>
          <a:lstStyle/>
          <a:p>
            <a:fld id="{ACC9BBD8-1C1E-4CFA-8C12-0AE7F3A91C3D}" type="slidenum">
              <a:rPr lang="en-US" smtClean="0"/>
              <a:t>74</a:t>
            </a:fld>
            <a:endParaRPr lang="en-US"/>
          </a:p>
        </p:txBody>
      </p:sp>
    </p:spTree>
    <p:extLst>
      <p:ext uri="{BB962C8B-B14F-4D97-AF65-F5344CB8AC3E}">
        <p14:creationId xmlns:p14="http://schemas.microsoft.com/office/powerpoint/2010/main" val="11249770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AFA89-3191-ACED-63BC-50E31DEAC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9CCB1-456C-67F6-37A4-FF394E225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A615A-4C78-51AD-9092-79812EE0F9E4}"/>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A8653F5F-52BF-8474-93D7-16640A1663A6}"/>
              </a:ext>
            </a:extLst>
          </p:cNvPr>
          <p:cNvSpPr>
            <a:spLocks noGrp="1"/>
          </p:cNvSpPr>
          <p:nvPr>
            <p:ph type="sldNum" sz="quarter" idx="5"/>
          </p:nvPr>
        </p:nvSpPr>
        <p:spPr/>
        <p:txBody>
          <a:bodyPr/>
          <a:lstStyle/>
          <a:p>
            <a:fld id="{ACC9BBD8-1C1E-4CFA-8C12-0AE7F3A91C3D}" type="slidenum">
              <a:rPr lang="en-US" smtClean="0"/>
              <a:t>75</a:t>
            </a:fld>
            <a:endParaRPr lang="en-US"/>
          </a:p>
        </p:txBody>
      </p:sp>
    </p:spTree>
    <p:extLst>
      <p:ext uri="{BB962C8B-B14F-4D97-AF65-F5344CB8AC3E}">
        <p14:creationId xmlns:p14="http://schemas.microsoft.com/office/powerpoint/2010/main" val="4143458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048E-F236-38B9-B35C-032617755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B34D9-C7E4-52DC-3732-052F81758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92947-C79E-66DB-D827-9B5CF71ADDE7}"/>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FE075AF2-8544-EBCC-993D-B5E26369982E}"/>
              </a:ext>
            </a:extLst>
          </p:cNvPr>
          <p:cNvSpPr>
            <a:spLocks noGrp="1"/>
          </p:cNvSpPr>
          <p:nvPr>
            <p:ph type="sldNum" sz="quarter" idx="5"/>
          </p:nvPr>
        </p:nvSpPr>
        <p:spPr/>
        <p:txBody>
          <a:bodyPr/>
          <a:lstStyle/>
          <a:p>
            <a:fld id="{ACC9BBD8-1C1E-4CFA-8C12-0AE7F3A91C3D}" type="slidenum">
              <a:rPr lang="en-US" smtClean="0"/>
              <a:t>76</a:t>
            </a:fld>
            <a:endParaRPr lang="en-US"/>
          </a:p>
        </p:txBody>
      </p:sp>
    </p:spTree>
    <p:extLst>
      <p:ext uri="{BB962C8B-B14F-4D97-AF65-F5344CB8AC3E}">
        <p14:creationId xmlns:p14="http://schemas.microsoft.com/office/powerpoint/2010/main" val="3131189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SE" dirty="0"/>
              <a:t>In summary, when you aim to conduct a rigorous and relevant study, consider these three recommendations: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SE" dirty="0"/>
          </a:p>
          <a:p>
            <a:pPr marL="514350" indent="-514350">
              <a:buFont typeface="+mj-lt"/>
              <a:buAutoNum type="arabicPeriod"/>
            </a:pPr>
            <a:r>
              <a:rPr lang="en-SE" dirty="0"/>
              <a:t>Consider data collection as a part of data analysis, not as two separate, subsequent steps</a:t>
            </a:r>
          </a:p>
          <a:p>
            <a:pPr marL="514350" indent="-514350">
              <a:buFont typeface="+mj-lt"/>
              <a:buAutoNum type="arabicPeriod"/>
            </a:pPr>
            <a:r>
              <a:rPr lang="en-SE" dirty="0"/>
              <a:t>Start your data analysis with a DAG </a:t>
            </a:r>
          </a:p>
          <a:p>
            <a:pPr marL="514350" indent="-514350">
              <a:buFont typeface="+mj-lt"/>
              <a:buAutoNum type="arabicPeriod"/>
            </a:pPr>
            <a:r>
              <a:rPr lang="en-SE" dirty="0"/>
              <a:t>Apply d-separation to figure out (1) if you can actually conduct your study and – if so – (2) what data you need to collect</a:t>
            </a:r>
          </a:p>
          <a:p>
            <a:endParaRPr lang="en-SE" dirty="0"/>
          </a:p>
        </p:txBody>
      </p:sp>
      <p:sp>
        <p:nvSpPr>
          <p:cNvPr id="4" name="Slide Number Placeholder 3"/>
          <p:cNvSpPr>
            <a:spLocks noGrp="1"/>
          </p:cNvSpPr>
          <p:nvPr>
            <p:ph type="sldNum" sz="quarter" idx="5"/>
          </p:nvPr>
        </p:nvSpPr>
        <p:spPr/>
        <p:txBody>
          <a:bodyPr/>
          <a:lstStyle/>
          <a:p>
            <a:fld id="{ACC9BBD8-1C1E-4CFA-8C12-0AE7F3A91C3D}" type="slidenum">
              <a:rPr lang="en-US" smtClean="0"/>
              <a:t>77</a:t>
            </a:fld>
            <a:endParaRPr lang="en-US"/>
          </a:p>
        </p:txBody>
      </p:sp>
    </p:spTree>
    <p:extLst>
      <p:ext uri="{BB962C8B-B14F-4D97-AF65-F5344CB8AC3E}">
        <p14:creationId xmlns:p14="http://schemas.microsoft.com/office/powerpoint/2010/main" val="10068321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29E69-458D-894A-D444-E85892B4CDAF}"/>
              </a:ext>
            </a:extLst>
          </p:cNvPr>
          <p:cNvSpPr>
            <a:spLocks noGrp="1"/>
          </p:cNvSpPr>
          <p:nvPr>
            <p:ph type="ctrTitle"/>
          </p:nvPr>
        </p:nvSpPr>
        <p:spPr>
          <a:xfrm>
            <a:off x="1524000" y="1505527"/>
            <a:ext cx="9144000" cy="2004436"/>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3FC966-64B3-F10C-897A-7025DCA702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D47CC0-CFD5-DB6C-4217-C5C5B05F406D}"/>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64548087-6203-1B61-B5B5-02A4AE343BC4}"/>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F4450979-E927-57CD-68A1-34FD9A767F26}"/>
              </a:ext>
            </a:extLst>
          </p:cNvPr>
          <p:cNvSpPr>
            <a:spLocks noGrp="1"/>
          </p:cNvSpPr>
          <p:nvPr>
            <p:ph type="sldNum" sz="quarter" idx="12"/>
          </p:nvPr>
        </p:nvSpPr>
        <p:spPr/>
        <p:txBody>
          <a:bodyPr/>
          <a:lstStyle/>
          <a:p>
            <a:fld id="{0FA2D919-C0DE-4971-A2E9-D4AC0031921B}" type="slidenum">
              <a:rPr lang="en-US" smtClean="0"/>
              <a:t>‹#›</a:t>
            </a:fld>
            <a:endParaRPr lang="en-US"/>
          </a:p>
        </p:txBody>
      </p:sp>
      <p:pic>
        <p:nvPicPr>
          <p:cNvPr id="7" name="Picture 6" descr="A black background with a black square&#10;&#10;AI-generated content may be incorrect.">
            <a:extLst>
              <a:ext uri="{FF2B5EF4-FFF2-40B4-BE49-F238E27FC236}">
                <a16:creationId xmlns:a16="http://schemas.microsoft.com/office/drawing/2014/main" id="{9CF2C605-0998-11CD-F5C1-95368B63A0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53143" y="388368"/>
            <a:ext cx="9485714" cy="1193651"/>
          </a:xfrm>
          <a:prstGeom prst="rect">
            <a:avLst/>
          </a:prstGeom>
        </p:spPr>
      </p:pic>
    </p:spTree>
    <p:extLst>
      <p:ext uri="{BB962C8B-B14F-4D97-AF65-F5344CB8AC3E}">
        <p14:creationId xmlns:p14="http://schemas.microsoft.com/office/powerpoint/2010/main" val="2608566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DEB8-E94D-DA55-4716-3940F7843A17}"/>
              </a:ext>
            </a:extLst>
          </p:cNvPr>
          <p:cNvSpPr>
            <a:spLocks noGrp="1"/>
          </p:cNvSpPr>
          <p:nvPr>
            <p:ph type="title"/>
          </p:nvPr>
        </p:nvSpPr>
        <p:spPr>
          <a:xfrm>
            <a:off x="838200" y="365125"/>
            <a:ext cx="951191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D806917-1F97-7F80-7A90-29CE251AA7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ABD6A-A897-6448-274D-E7640250AC3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C2EB64F1-C476-196D-E12B-2E3B38BB2F51}"/>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288EB057-A537-4BD0-F676-5E957E3AA0A8}"/>
              </a:ext>
            </a:extLst>
          </p:cNvPr>
          <p:cNvSpPr>
            <a:spLocks noGrp="1"/>
          </p:cNvSpPr>
          <p:nvPr>
            <p:ph type="sldNum" sz="quarter" idx="12"/>
          </p:nvPr>
        </p:nvSpPr>
        <p:spPr/>
        <p:txBody>
          <a:bodyPr/>
          <a:lstStyle/>
          <a:p>
            <a:fld id="{0FA2D919-C0DE-4971-A2E9-D4AC0031921B}" type="slidenum">
              <a:rPr lang="en-US" smtClean="0"/>
              <a:t>‹#›</a:t>
            </a:fld>
            <a:endParaRPr lang="en-US"/>
          </a:p>
        </p:txBody>
      </p:sp>
      <p:pic>
        <p:nvPicPr>
          <p:cNvPr id="7" name="Picture 6" descr="A black background with a black square&#10;&#10;AI-generated content may be incorrect.">
            <a:extLst>
              <a:ext uri="{FF2B5EF4-FFF2-40B4-BE49-F238E27FC236}">
                <a16:creationId xmlns:a16="http://schemas.microsoft.com/office/drawing/2014/main" id="{1F50AF2B-7961-FB6D-CC67-9912328A18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50110" y="365125"/>
            <a:ext cx="1003690" cy="1325563"/>
          </a:xfrm>
          <a:prstGeom prst="rect">
            <a:avLst/>
          </a:prstGeom>
        </p:spPr>
      </p:pic>
    </p:spTree>
    <p:extLst>
      <p:ext uri="{BB962C8B-B14F-4D97-AF65-F5344CB8AC3E}">
        <p14:creationId xmlns:p14="http://schemas.microsoft.com/office/powerpoint/2010/main" val="722545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189E-00D4-B962-57CE-999594C230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D24315-5E80-F91C-400E-A26A7B2C3F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217138-020A-0B77-291B-89CFA0BD09DA}"/>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DDFBD751-00DB-DE54-B18D-88B7A070A5B5}"/>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5520F302-6FC4-72AC-F7F3-9EBE5A7AE1B1}"/>
              </a:ext>
            </a:extLst>
          </p:cNvPr>
          <p:cNvSpPr>
            <a:spLocks noGrp="1"/>
          </p:cNvSpPr>
          <p:nvPr>
            <p:ph type="sldNum" sz="quarter" idx="12"/>
          </p:nvPr>
        </p:nvSpPr>
        <p:spPr/>
        <p:txBody>
          <a:bodyPr/>
          <a:lstStyle/>
          <a:p>
            <a:fld id="{0FA2D919-C0DE-4971-A2E9-D4AC0031921B}" type="slidenum">
              <a:rPr lang="en-US" smtClean="0"/>
              <a:t>‹#›</a:t>
            </a:fld>
            <a:endParaRPr lang="en-US"/>
          </a:p>
        </p:txBody>
      </p:sp>
      <p:pic>
        <p:nvPicPr>
          <p:cNvPr id="7" name="Picture 6" descr="A black background with a black square&#10;&#10;AI-generated content may be incorrect.">
            <a:extLst>
              <a:ext uri="{FF2B5EF4-FFF2-40B4-BE49-F238E27FC236}">
                <a16:creationId xmlns:a16="http://schemas.microsoft.com/office/drawing/2014/main" id="{9FD52D54-3D09-D03D-BAAD-6E136B7DA7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16063" y="267789"/>
            <a:ext cx="4947173" cy="622536"/>
          </a:xfrm>
          <a:prstGeom prst="rect">
            <a:avLst/>
          </a:prstGeom>
        </p:spPr>
      </p:pic>
    </p:spTree>
    <p:extLst>
      <p:ext uri="{BB962C8B-B14F-4D97-AF65-F5344CB8AC3E}">
        <p14:creationId xmlns:p14="http://schemas.microsoft.com/office/powerpoint/2010/main" val="4042368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8787CA-5348-9302-C22B-8466D8DDCA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31847D-D84E-4978-94B3-435961454B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E770F7-7EFD-ACDD-FC48-3C5482BD67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de-DE"/>
              <a:t>20.01.2026</a:t>
            </a:r>
            <a:endParaRPr lang="en-US"/>
          </a:p>
        </p:txBody>
      </p:sp>
      <p:sp>
        <p:nvSpPr>
          <p:cNvPr id="5" name="Footer Placeholder 4">
            <a:extLst>
              <a:ext uri="{FF2B5EF4-FFF2-40B4-BE49-F238E27FC236}">
                <a16:creationId xmlns:a16="http://schemas.microsoft.com/office/drawing/2014/main" id="{516EAEBA-69DC-5F9E-4F84-B967356F02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Introduction to Statistical Causal Inference</a:t>
            </a:r>
          </a:p>
        </p:txBody>
      </p:sp>
      <p:sp>
        <p:nvSpPr>
          <p:cNvPr id="6" name="Slide Number Placeholder 5">
            <a:extLst>
              <a:ext uri="{FF2B5EF4-FFF2-40B4-BE49-F238E27FC236}">
                <a16:creationId xmlns:a16="http://schemas.microsoft.com/office/drawing/2014/main" id="{263E38BF-68C0-0CF5-071D-B4F0C8440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A2D919-C0DE-4971-A2E9-D4AC0031921B}" type="slidenum">
              <a:rPr lang="en-US" smtClean="0"/>
              <a:t>‹#›</a:t>
            </a:fld>
            <a:endParaRPr lang="en-US"/>
          </a:p>
        </p:txBody>
      </p:sp>
    </p:spTree>
    <p:extLst>
      <p:ext uri="{BB962C8B-B14F-4D97-AF65-F5344CB8AC3E}">
        <p14:creationId xmlns:p14="http://schemas.microsoft.com/office/powerpoint/2010/main" val="1068818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7" Type="http://schemas.openxmlformats.org/officeDocument/2006/relationships/image" Target="../media/image4.jpg"/><Relationship Id="rId2" Type="http://schemas.openxmlformats.org/officeDocument/2006/relationships/hyperlink" Target="https://choosealicense.com/licenses/apache-2.0/" TargetMode="External"/><Relationship Id="rId1" Type="http://schemas.openxmlformats.org/officeDocument/2006/relationships/slideLayout" Target="../slideLayouts/slideLayout1.xml"/><Relationship Id="rId6" Type="http://schemas.openxmlformats.org/officeDocument/2006/relationships/hyperlink" Target="https://julianfrattini.github.io/" TargetMode="External"/><Relationship Id="rId5" Type="http://schemas.openxmlformats.org/officeDocument/2006/relationships/hyperlink" Target="https://github.com/JulianFrattini/bda4sci"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File:Emojione_1F1F8-1F1EA.svg" TargetMode="External"/><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en.wikipedia.org/wiki/File:Flag_of_Germany.svg" TargetMode="External"/><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jp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32.png"/><Relationship Id="rId12"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svg"/><Relationship Id="rId11" Type="http://schemas.openxmlformats.org/officeDocument/2006/relationships/image" Target="../media/image460.png"/><Relationship Id="rId5" Type="http://schemas.openxmlformats.org/officeDocument/2006/relationships/image" Target="../media/image34.png"/><Relationship Id="rId10" Type="http://schemas.openxmlformats.org/officeDocument/2006/relationships/image" Target="../media/image450.png"/><Relationship Id="rId4" Type="http://schemas.openxmlformats.org/officeDocument/2006/relationships/image" Target="../media/image33.png"/><Relationship Id="rId9" Type="http://schemas.openxmlformats.org/officeDocument/2006/relationships/image" Target="../media/image440.png"/></Relationships>
</file>

<file path=ppt/slides/_rels/slide2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35.svg"/><Relationship Id="rId7" Type="http://schemas.openxmlformats.org/officeDocument/2006/relationships/image" Target="../media/image50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image" Target="../media/image480.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5.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530.png"/><Relationship Id="rId10" Type="http://schemas.openxmlformats.org/officeDocument/2006/relationships/image" Target="../media/image560.png"/><Relationship Id="rId4" Type="http://schemas.openxmlformats.org/officeDocument/2006/relationships/image" Target="../media/image520.png"/><Relationship Id="rId9" Type="http://schemas.openxmlformats.org/officeDocument/2006/relationships/image" Target="../media/image550.png"/></Relationships>
</file>

<file path=ppt/slides/_rels/slide2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39.svg"/><Relationship Id="rId7"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0.svg"/><Relationship Id="rId9" Type="http://schemas.openxmlformats.org/officeDocument/2006/relationships/image" Target="../media/image41.svg"/></Relationships>
</file>

<file path=ppt/slides/_rels/slide26.xml.rels><?xml version="1.0" encoding="UTF-8" standalone="yes"?>
<Relationships xmlns="http://schemas.openxmlformats.org/package/2006/relationships"><Relationship Id="rId3" Type="http://schemas.openxmlformats.org/officeDocument/2006/relationships/image" Target="../media/image42.svg"/><Relationship Id="rId12" Type="http://schemas.openxmlformats.org/officeDocument/2006/relationships/image" Target="../media/image41.svg"/><Relationship Id="rId2" Type="http://schemas.openxmlformats.org/officeDocument/2006/relationships/notesSlide" Target="../notesSlides/notesSlide16.xml"/><Relationship Id="rId1" Type="http://schemas.openxmlformats.org/officeDocument/2006/relationships/slideLayout" Target="../slideLayouts/slideLayout2.xml"/><Relationship Id="rId11" Type="http://schemas.openxmlformats.org/officeDocument/2006/relationships/image" Target="../media/image44.png"/><Relationship Id="rId5" Type="http://schemas.openxmlformats.org/officeDocument/2006/relationships/image" Target="../media/image40.svg"/><Relationship Id="rId10" Type="http://schemas.openxmlformats.org/officeDocument/2006/relationships/image" Target="../media/image69.png"/><Relationship Id="rId4" Type="http://schemas.openxmlformats.org/officeDocument/2006/relationships/image" Target="../media/image43.svg"/><Relationship Id="rId9" Type="http://schemas.openxmlformats.org/officeDocument/2006/relationships/image" Target="../media/image6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43.svg"/><Relationship Id="rId12" Type="http://schemas.openxmlformats.org/officeDocument/2006/relationships/image" Target="../media/image75.pn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74.png"/><Relationship Id="rId10" Type="http://schemas.openxmlformats.org/officeDocument/2006/relationships/image" Target="../media/image73.png"/><Relationship Id="rId4" Type="http://schemas.openxmlformats.org/officeDocument/2006/relationships/image" Target="../media/image40.svg"/><Relationship Id="rId9" Type="http://schemas.openxmlformats.org/officeDocument/2006/relationships/image" Target="../media/image72.png"/></Relationships>
</file>

<file path=ppt/slides/_rels/slide29.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78.png"/><Relationship Id="rId5" Type="http://schemas.openxmlformats.org/officeDocument/2006/relationships/image" Target="../media/image41.svg"/><Relationship Id="rId10" Type="http://schemas.openxmlformats.org/officeDocument/2006/relationships/image" Target="../media/image77.png"/><Relationship Id="rId4" Type="http://schemas.openxmlformats.org/officeDocument/2006/relationships/image" Target="../media/image40.svg"/></Relationships>
</file>

<file path=ppt/slides/_rels/slide3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2.xml"/><Relationship Id="rId5" Type="http://schemas.openxmlformats.org/officeDocument/2006/relationships/image" Target="../media/image45.png"/><Relationship Id="rId10" Type="http://schemas.openxmlformats.org/officeDocument/2006/relationships/image" Target="../media/image81.png"/><Relationship Id="rId4" Type="http://schemas.openxmlformats.org/officeDocument/2006/relationships/image" Target="../media/image40.svg"/><Relationship Id="rId9" Type="http://schemas.openxmlformats.org/officeDocument/2006/relationships/image" Target="../media/image80.png"/></Relationships>
</file>

<file path=ppt/slides/_rels/slide31.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0.svg"/><Relationship Id="rId4" Type="http://schemas.openxmlformats.org/officeDocument/2006/relationships/image" Target="../media/image43.svg"/></Relationships>
</file>

<file path=ppt/slides/_rels/slide32.xml.rels><?xml version="1.0" encoding="UTF-8" standalone="yes"?>
<Relationships xmlns="http://schemas.openxmlformats.org/package/2006/relationships"><Relationship Id="rId13" Type="http://schemas.openxmlformats.org/officeDocument/2006/relationships/image" Target="../media/image31.svg"/><Relationship Id="rId3" Type="http://schemas.openxmlformats.org/officeDocument/2006/relationships/image" Target="../media/image42.svg"/><Relationship Id="rId12" Type="http://schemas.openxmlformats.org/officeDocument/2006/relationships/image" Target="../media/image8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1.svg"/><Relationship Id="rId11" Type="http://schemas.openxmlformats.org/officeDocument/2006/relationships/image" Target="../media/image84.png"/><Relationship Id="rId5" Type="http://schemas.openxmlformats.org/officeDocument/2006/relationships/image" Target="../media/image40.svg"/><Relationship Id="rId4" Type="http://schemas.openxmlformats.org/officeDocument/2006/relationships/image" Target="../media/image43.svg"/></Relationships>
</file>

<file path=ppt/slides/_rels/slide3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42.svg"/><Relationship Id="rId7" Type="http://schemas.openxmlformats.org/officeDocument/2006/relationships/image" Target="../media/image48.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40.svg"/><Relationship Id="rId4" Type="http://schemas.openxmlformats.org/officeDocument/2006/relationships/image" Target="../media/image43.svg"/><Relationship Id="rId9" Type="http://schemas.openxmlformats.org/officeDocument/2006/relationships/image" Target="../media/image21.sv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dx.doi.org/10.1145/2568225.2568271"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43.svg"/><Relationship Id="rId12" Type="http://schemas.openxmlformats.org/officeDocument/2006/relationships/image" Target="../media/image93.pn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92.png"/><Relationship Id="rId10" Type="http://schemas.openxmlformats.org/officeDocument/2006/relationships/image" Target="../media/image91.png"/><Relationship Id="rId4" Type="http://schemas.openxmlformats.org/officeDocument/2006/relationships/image" Target="../media/image40.svg"/><Relationship Id="rId9" Type="http://schemas.openxmlformats.org/officeDocument/2006/relationships/image" Target="../media/image90.png"/></Relationships>
</file>

<file path=ppt/slides/_rels/slide3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96.png"/><Relationship Id="rId5" Type="http://schemas.openxmlformats.org/officeDocument/2006/relationships/image" Target="../media/image41.svg"/><Relationship Id="rId10" Type="http://schemas.openxmlformats.org/officeDocument/2006/relationships/image" Target="../media/image95.png"/><Relationship Id="rId4" Type="http://schemas.openxmlformats.org/officeDocument/2006/relationships/image" Target="../media/image40.svg"/></Relationships>
</file>

<file path=ppt/slides/_rels/slide37.xml.rels><?xml version="1.0" encoding="UTF-8" standalone="yes"?>
<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100.png"/><Relationship Id="rId5" Type="http://schemas.openxmlformats.org/officeDocument/2006/relationships/image" Target="../media/image50.png"/><Relationship Id="rId10" Type="http://schemas.openxmlformats.org/officeDocument/2006/relationships/image" Target="../media/image99.png"/><Relationship Id="rId4" Type="http://schemas.openxmlformats.org/officeDocument/2006/relationships/image" Target="../media/image40.svg"/><Relationship Id="rId9" Type="http://schemas.openxmlformats.org/officeDocument/2006/relationships/image" Target="../media/image98.png"/></Relationships>
</file>

<file path=ppt/slides/_rels/slide38.xml.rels><?xml version="1.0" encoding="UTF-8" standalone="yes"?>
<Relationships xmlns="http://schemas.openxmlformats.org/package/2006/relationships"><Relationship Id="rId13" Type="http://schemas.openxmlformats.org/officeDocument/2006/relationships/image" Target="../media/image31.svg"/><Relationship Id="rId3" Type="http://schemas.openxmlformats.org/officeDocument/2006/relationships/image" Target="../media/image43.svg"/><Relationship Id="rId12" Type="http://schemas.openxmlformats.org/officeDocument/2006/relationships/image" Target="../media/image104.pn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103.png"/><Relationship Id="rId5" Type="http://schemas.openxmlformats.org/officeDocument/2006/relationships/image" Target="../media/image41.svg"/><Relationship Id="rId10" Type="http://schemas.openxmlformats.org/officeDocument/2006/relationships/image" Target="../media/image102.png"/><Relationship Id="rId4" Type="http://schemas.openxmlformats.org/officeDocument/2006/relationships/image" Target="../media/image40.svg"/></Relationships>
</file>

<file path=ppt/slides/_rels/slide39.xml.rels><?xml version="1.0" encoding="UTF-8" standalone="yes"?>
<Relationships xmlns="http://schemas.openxmlformats.org/package/2006/relationships"><Relationship Id="rId3" Type="http://schemas.openxmlformats.org/officeDocument/2006/relationships/hyperlink" Target="https://doi.org/10.1145/2652524.2652554" TargetMode="External"/><Relationship Id="rId7" Type="http://schemas.openxmlformats.org/officeDocument/2006/relationships/image" Target="../media/image10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https://doi.org/10.1145/3643664.3648211"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111.png"/><Relationship Id="rId10" Type="http://schemas.openxmlformats.org/officeDocument/2006/relationships/image" Target="../media/image110.png"/><Relationship Id="rId4" Type="http://schemas.openxmlformats.org/officeDocument/2006/relationships/image" Target="../media/image40.svg"/><Relationship Id="rId9" Type="http://schemas.openxmlformats.org/officeDocument/2006/relationships/image" Target="../media/image109.png"/></Relationships>
</file>

<file path=ppt/slides/_rels/slide41.xml.rels><?xml version="1.0" encoding="UTF-8" standalone="yes"?>
<Relationships xmlns="http://schemas.openxmlformats.org/package/2006/relationships"><Relationship Id="rId13" Type="http://schemas.openxmlformats.org/officeDocument/2006/relationships/image" Target="../media/image53.png"/><Relationship Id="rId3" Type="http://schemas.openxmlformats.org/officeDocument/2006/relationships/image" Target="../media/image42.svg"/><Relationship Id="rId12" Type="http://schemas.openxmlformats.org/officeDocument/2006/relationships/image" Target="../media/image11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1.svg"/><Relationship Id="rId11" Type="http://schemas.openxmlformats.org/officeDocument/2006/relationships/image" Target="../media/image112.png"/><Relationship Id="rId5" Type="http://schemas.openxmlformats.org/officeDocument/2006/relationships/image" Target="../media/image40.svg"/><Relationship Id="rId4" Type="http://schemas.openxmlformats.org/officeDocument/2006/relationships/image" Target="../media/image43.svg"/></Relationships>
</file>

<file path=ppt/slides/_rels/slide4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40.svg"/><Relationship Id="rId10" Type="http://schemas.openxmlformats.org/officeDocument/2006/relationships/image" Target="../media/image116.png"/><Relationship Id="rId4" Type="http://schemas.openxmlformats.org/officeDocument/2006/relationships/image" Target="../media/image43.svg"/></Relationships>
</file>

<file path=ppt/slides/_rels/slide43.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40.svg"/><Relationship Id="rId4" Type="http://schemas.openxmlformats.org/officeDocument/2006/relationships/image" Target="../media/image43.svg"/></Relationships>
</file>

<file path=ppt/slides/_rels/slide4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43.svg"/></Relationships>
</file>

<file path=ppt/slides/_rels/slide45.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40.svg"/><Relationship Id="rId4" Type="http://schemas.openxmlformats.org/officeDocument/2006/relationships/image" Target="../media/image43.svg"/></Relationships>
</file>

<file path=ppt/slides/_rels/slide4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2.xml"/><Relationship Id="rId5" Type="http://schemas.openxmlformats.org/officeDocument/2006/relationships/image" Target="../media/image54.png"/><Relationship Id="rId10" Type="http://schemas.openxmlformats.org/officeDocument/2006/relationships/image" Target="../media/image122.png"/><Relationship Id="rId4" Type="http://schemas.openxmlformats.org/officeDocument/2006/relationships/image" Target="../media/image40.svg"/><Relationship Id="rId9" Type="http://schemas.openxmlformats.org/officeDocument/2006/relationships/image" Target="../media/image121.png"/></Relationships>
</file>

<file path=ppt/slides/_rels/slide47.xml.rels><?xml version="1.0" encoding="UTF-8" standalone="yes"?>
<Relationships xmlns="http://schemas.openxmlformats.org/package/2006/relationships"><Relationship Id="rId3" Type="http://schemas.openxmlformats.org/officeDocument/2006/relationships/image" Target="../media/image43.svg"/><Relationship Id="rId12" Type="http://schemas.openxmlformats.org/officeDocument/2006/relationships/image" Target="../media/image31.svg"/><Relationship Id="rId2" Type="http://schemas.openxmlformats.org/officeDocument/2006/relationships/image" Target="../media/image42.svg"/><Relationship Id="rId1" Type="http://schemas.openxmlformats.org/officeDocument/2006/relationships/slideLayout" Target="../slideLayouts/slideLayout2.xml"/><Relationship Id="rId11" Type="http://schemas.openxmlformats.org/officeDocument/2006/relationships/image" Target="../media/image124.png"/><Relationship Id="rId5" Type="http://schemas.openxmlformats.org/officeDocument/2006/relationships/image" Target="../media/image41.svg"/><Relationship Id="rId10" Type="http://schemas.openxmlformats.org/officeDocument/2006/relationships/image" Target="../media/image123.png"/><Relationship Id="rId4" Type="http://schemas.openxmlformats.org/officeDocument/2006/relationships/image" Target="../media/image40.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48.sv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7.svg"/><Relationship Id="rId7" Type="http://schemas.openxmlformats.org/officeDocument/2006/relationships/image" Target="../media/image1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1.svg"/><Relationship Id="rId9" Type="http://schemas.openxmlformats.org/officeDocument/2006/relationships/image" Target="../media/image58.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29.png"/><Relationship Id="rId4" Type="http://schemas.openxmlformats.org/officeDocument/2006/relationships/image" Target="../media/image41.svg"/></Relationships>
</file>

<file path=ppt/slides/_rels/slide54.xml.rels><?xml version="1.0" encoding="UTF-8" standalone="yes"?>
<Relationships xmlns="http://schemas.openxmlformats.org/package/2006/relationships"><Relationship Id="rId3" Type="http://schemas.openxmlformats.org/officeDocument/2006/relationships/hyperlink" Target="https://bayes.cs.ucla.edu/BOOK-2K/d-sep.ht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29.png"/><Relationship Id="rId4" Type="http://schemas.openxmlformats.org/officeDocument/2006/relationships/image" Target="../media/image41.svg"/></Relationships>
</file>

<file path=ppt/slides/_rels/slide55.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5" Type="http://schemas.openxmlformats.org/officeDocument/2006/relationships/image" Target="../media/image129.png"/></Relationships>
</file>

<file path=ppt/slides/_rels/slide56.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30.png"/></Relationships>
</file>

<file path=ppt/slides/_rels/slide5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s>
</file>

<file path=ppt/slides/_rels/slide5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hyperlink" Target="https://bayes.cs.ucla.edu/BOOK-2K/d-sep.html" TargetMode="Externa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31.xml"/><Relationship Id="rId1" Type="http://schemas.openxmlformats.org/officeDocument/2006/relationships/slideLayout" Target="../slideLayouts/slideLayout2.xml"/><Relationship Id="rId11" Type="http://schemas.openxmlformats.org/officeDocument/2006/relationships/image" Target="../media/image41.svg"/><Relationship Id="rId5" Type="http://schemas.openxmlformats.org/officeDocument/2006/relationships/image" Target="../media/image40.svg"/><Relationship Id="rId10" Type="http://schemas.openxmlformats.org/officeDocument/2006/relationships/image" Target="../media/image60.png"/><Relationship Id="rId4" Type="http://schemas.openxmlformats.org/officeDocument/2006/relationships/image" Target="../media/image59.svg"/><Relationship Id="rId9" Type="http://schemas.openxmlformats.org/officeDocument/2006/relationships/image" Target="../media/image155.png"/></Relationships>
</file>

<file path=ppt/slides/_rels/slide7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1.svg"/><Relationship Id="rId5" Type="http://schemas.openxmlformats.org/officeDocument/2006/relationships/image" Target="../media/image40.svg"/><Relationship Id="rId4" Type="http://schemas.openxmlformats.org/officeDocument/2006/relationships/image" Target="../media/image59.svg"/></Relationships>
</file>

<file path=ppt/slides/_rels/slide74.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31.sv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1.svg"/><Relationship Id="rId5" Type="http://schemas.openxmlformats.org/officeDocument/2006/relationships/image" Target="../media/image40.svg"/><Relationship Id="rId4" Type="http://schemas.openxmlformats.org/officeDocument/2006/relationships/image" Target="../media/image59.svg"/></Relationships>
</file>

<file path=ppt/slides/_rels/slide75.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31.sv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1.svg"/><Relationship Id="rId5" Type="http://schemas.openxmlformats.org/officeDocument/2006/relationships/image" Target="../media/image40.svg"/><Relationship Id="rId4" Type="http://schemas.openxmlformats.org/officeDocument/2006/relationships/image" Target="../media/image59.svg"/></Relationships>
</file>

<file path=ppt/slides/_rels/slide76.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62.sv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61.svg"/><Relationship Id="rId4" Type="http://schemas.openxmlformats.org/officeDocument/2006/relationships/image" Target="../media/image59.svg"/></Relationships>
</file>

<file path=ppt/slides/_rels/slide7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64.svg"/><Relationship Id="rId4" Type="http://schemas.openxmlformats.org/officeDocument/2006/relationships/image" Target="../media/image63.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5.sv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hyperlink" Target="https://github.com/JulianFrattini/bda4sci"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8DA52-89AC-350C-E062-CF8DE8686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8C0C3-5AA3-4AE9-05D2-9F723CBE0FCB}"/>
              </a:ext>
            </a:extLst>
          </p:cNvPr>
          <p:cNvSpPr>
            <a:spLocks noGrp="1"/>
          </p:cNvSpPr>
          <p:nvPr>
            <p:ph type="ctrTitle"/>
          </p:nvPr>
        </p:nvSpPr>
        <p:spPr/>
        <p:txBody>
          <a:bodyPr/>
          <a:lstStyle/>
          <a:p>
            <a:r>
              <a:rPr lang="en-US" noProof="0" dirty="0"/>
              <a:t>Statistical Causal Inference</a:t>
            </a:r>
          </a:p>
        </p:txBody>
      </p:sp>
      <p:sp>
        <p:nvSpPr>
          <p:cNvPr id="3" name="Subtitle 2">
            <a:extLst>
              <a:ext uri="{FF2B5EF4-FFF2-40B4-BE49-F238E27FC236}">
                <a16:creationId xmlns:a16="http://schemas.microsoft.com/office/drawing/2014/main" id="{564E1A35-70BA-79BC-2A5D-3F9878CFE0C8}"/>
              </a:ext>
            </a:extLst>
          </p:cNvPr>
          <p:cNvSpPr>
            <a:spLocks noGrp="1"/>
          </p:cNvSpPr>
          <p:nvPr>
            <p:ph type="subTitle" idx="1"/>
          </p:nvPr>
        </p:nvSpPr>
        <p:spPr/>
        <p:txBody>
          <a:bodyPr/>
          <a:lstStyle/>
          <a:p>
            <a:r>
              <a:rPr lang="en-SE" noProof="0" dirty="0"/>
              <a:t>A Gentle Introduction to Advanced Analysis of Quantitative </a:t>
            </a:r>
            <a:r>
              <a:rPr lang="en-SE" dirty="0"/>
              <a:t>D</a:t>
            </a:r>
            <a:r>
              <a:rPr lang="en-SE" noProof="0" dirty="0" err="1"/>
              <a:t>ata</a:t>
            </a:r>
            <a:endParaRPr lang="en-SE" noProof="0" dirty="0"/>
          </a:p>
        </p:txBody>
      </p:sp>
      <p:sp>
        <p:nvSpPr>
          <p:cNvPr id="5" name="TextBox 4">
            <a:extLst>
              <a:ext uri="{FF2B5EF4-FFF2-40B4-BE49-F238E27FC236}">
                <a16:creationId xmlns:a16="http://schemas.microsoft.com/office/drawing/2014/main" id="{B5F99D20-AFC0-08D4-4D19-7C35C0DD4F94}"/>
              </a:ext>
            </a:extLst>
          </p:cNvPr>
          <p:cNvSpPr txBox="1"/>
          <p:nvPr/>
        </p:nvSpPr>
        <p:spPr>
          <a:xfrm>
            <a:off x="6795534" y="5859885"/>
            <a:ext cx="4705904" cy="738664"/>
          </a:xfrm>
          <a:prstGeom prst="rect">
            <a:avLst/>
          </a:prstGeom>
          <a:noFill/>
        </p:spPr>
        <p:txBody>
          <a:bodyPr wrap="none" rtlCol="0">
            <a:spAutoFit/>
          </a:bodyPr>
          <a:lstStyle/>
          <a:p>
            <a:pPr algn="r"/>
            <a:r>
              <a:rPr lang="en-US" sz="1400" noProof="0" dirty="0"/>
              <a:t>Copyright © 2024 Julian Frattini. </a:t>
            </a:r>
          </a:p>
          <a:p>
            <a:pPr algn="r"/>
            <a:r>
              <a:rPr lang="en-US" sz="1400" dirty="0"/>
              <a:t>The source code is licensed under the </a:t>
            </a:r>
            <a:r>
              <a:rPr lang="en-SE" sz="1400" dirty="0">
                <a:hlinkClick r:id="rId2"/>
              </a:rPr>
              <a:t>Apache License 2.0</a:t>
            </a:r>
            <a:r>
              <a:rPr lang="en-US" sz="1400" dirty="0"/>
              <a:t>.</a:t>
            </a:r>
          </a:p>
          <a:p>
            <a:pPr algn="r"/>
            <a:r>
              <a:rPr lang="en-US" sz="1400" dirty="0"/>
              <a:t>This presentation is licensed under</a:t>
            </a:r>
            <a:r>
              <a:rPr lang="en-SE" sz="1400" dirty="0"/>
              <a:t> </a:t>
            </a:r>
            <a:r>
              <a:rPr lang="de-DE" sz="1400" dirty="0">
                <a:hlinkClick r:id="rId3"/>
              </a:rPr>
              <a:t>CC BY-NC-SA 4.0</a:t>
            </a:r>
            <a:r>
              <a:rPr lang="en-SE" sz="1400"/>
              <a:t>.</a:t>
            </a:r>
            <a:endParaRPr lang="en-US" sz="1400" dirty="0"/>
          </a:p>
        </p:txBody>
      </p:sp>
      <p:grpSp>
        <p:nvGrpSpPr>
          <p:cNvPr id="6" name="Group 5">
            <a:extLst>
              <a:ext uri="{FF2B5EF4-FFF2-40B4-BE49-F238E27FC236}">
                <a16:creationId xmlns:a16="http://schemas.microsoft.com/office/drawing/2014/main" id="{737B00F9-B252-5C83-4856-EA69C92CEE8A}"/>
              </a:ext>
            </a:extLst>
          </p:cNvPr>
          <p:cNvGrpSpPr/>
          <p:nvPr/>
        </p:nvGrpSpPr>
        <p:grpSpPr>
          <a:xfrm>
            <a:off x="7967672" y="5336710"/>
            <a:ext cx="3533766" cy="444265"/>
            <a:chOff x="7967672" y="5336710"/>
            <a:chExt cx="3533766" cy="444265"/>
          </a:xfrm>
        </p:grpSpPr>
        <p:grpSp>
          <p:nvGrpSpPr>
            <p:cNvPr id="7" name="Group 6">
              <a:extLst>
                <a:ext uri="{FF2B5EF4-FFF2-40B4-BE49-F238E27FC236}">
                  <a16:creationId xmlns:a16="http://schemas.microsoft.com/office/drawing/2014/main" id="{BF404468-47CC-2FB9-7C88-B4969C22A0C9}"/>
                </a:ext>
              </a:extLst>
            </p:cNvPr>
            <p:cNvGrpSpPr/>
            <p:nvPr/>
          </p:nvGrpSpPr>
          <p:grpSpPr>
            <a:xfrm>
              <a:off x="7967672" y="5370114"/>
              <a:ext cx="3508652" cy="369332"/>
              <a:chOff x="7896235" y="5406529"/>
              <a:chExt cx="3508652" cy="369332"/>
            </a:xfrm>
          </p:grpSpPr>
          <p:pic>
            <p:nvPicPr>
              <p:cNvPr id="10" name="Picture 9" descr="A black background with a black square&#10;&#10;Description automatically generated with medium confidence">
                <a:extLst>
                  <a:ext uri="{FF2B5EF4-FFF2-40B4-BE49-F238E27FC236}">
                    <a16:creationId xmlns:a16="http://schemas.microsoft.com/office/drawing/2014/main" id="{0D808307-129E-EF8D-241E-8D4AC6433C0F}"/>
                  </a:ext>
                </a:extLst>
              </p:cNvPr>
              <p:cNvPicPr>
                <a:picLocks noChangeAspect="1"/>
              </p:cNvPicPr>
              <p:nvPr/>
            </p:nvPicPr>
            <p:blipFill>
              <a:blip r:embed="rId4"/>
              <a:stretch>
                <a:fillRect/>
              </a:stretch>
            </p:blipFill>
            <p:spPr>
              <a:xfrm>
                <a:off x="7896235" y="5422888"/>
                <a:ext cx="344101" cy="344101"/>
              </a:xfrm>
              <a:prstGeom prst="rect">
                <a:avLst/>
              </a:prstGeom>
            </p:spPr>
          </p:pic>
          <p:sp>
            <p:nvSpPr>
              <p:cNvPr id="18" name="TextBox 17">
                <a:extLst>
                  <a:ext uri="{FF2B5EF4-FFF2-40B4-BE49-F238E27FC236}">
                    <a16:creationId xmlns:a16="http://schemas.microsoft.com/office/drawing/2014/main" id="{BF7C60F1-5115-6B3D-A0DD-01F75475ADA5}"/>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23" name="Rectangle: Rounded Corners 22">
                <a:extLst>
                  <a:ext uri="{FF2B5EF4-FFF2-40B4-BE49-F238E27FC236}">
                    <a16:creationId xmlns:a16="http://schemas.microsoft.com/office/drawing/2014/main" id="{EA7E5193-618A-CDFB-7497-3FD2F74BE2A0}"/>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8" name="Rectangle 7">
              <a:hlinkClick r:id="rId5"/>
              <a:extLst>
                <a:ext uri="{FF2B5EF4-FFF2-40B4-BE49-F238E27FC236}">
                  <a16:creationId xmlns:a16="http://schemas.microsoft.com/office/drawing/2014/main" id="{FB2219AE-3606-A7BE-0AA3-F391732D7195}"/>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TextBox 23">
            <a:extLst>
              <a:ext uri="{FF2B5EF4-FFF2-40B4-BE49-F238E27FC236}">
                <a16:creationId xmlns:a16="http://schemas.microsoft.com/office/drawing/2014/main" id="{2D9BC071-FE8D-9403-504E-C3F494DB30D3}"/>
              </a:ext>
            </a:extLst>
          </p:cNvPr>
          <p:cNvSpPr txBox="1"/>
          <p:nvPr/>
        </p:nvSpPr>
        <p:spPr>
          <a:xfrm>
            <a:off x="1866348" y="5398220"/>
            <a:ext cx="4488986" cy="923330"/>
          </a:xfrm>
          <a:prstGeom prst="rect">
            <a:avLst/>
          </a:prstGeom>
          <a:noFill/>
        </p:spPr>
        <p:txBody>
          <a:bodyPr wrap="none" rtlCol="0">
            <a:spAutoFit/>
          </a:bodyPr>
          <a:lstStyle/>
          <a:p>
            <a:r>
              <a:rPr lang="en-US" noProof="0" dirty="0"/>
              <a:t>Julian </a:t>
            </a:r>
            <a:r>
              <a:rPr lang="en-US" b="1" noProof="0" dirty="0"/>
              <a:t>Frattini</a:t>
            </a:r>
            <a:r>
              <a:rPr lang="en-SE" dirty="0"/>
              <a:t>, Ph.D.</a:t>
            </a:r>
            <a:endParaRPr lang="en-US" noProof="0" dirty="0"/>
          </a:p>
          <a:p>
            <a:r>
              <a:rPr lang="en-US" noProof="0" dirty="0">
                <a:solidFill>
                  <a:schemeClr val="tx1">
                    <a:lumMod val="50000"/>
                    <a:lumOff val="50000"/>
                  </a:schemeClr>
                </a:solidFill>
              </a:rPr>
              <a:t>Chalmers University of Technology, Sweden</a:t>
            </a:r>
          </a:p>
          <a:p>
            <a:r>
              <a:rPr lang="en-US" noProof="0" dirty="0">
                <a:hlinkClick r:id="rId6"/>
              </a:rPr>
              <a:t>https://julianfrattini.github.io/</a:t>
            </a:r>
            <a:r>
              <a:rPr lang="en-US" noProof="0" dirty="0"/>
              <a:t> </a:t>
            </a:r>
          </a:p>
        </p:txBody>
      </p:sp>
      <p:sp>
        <p:nvSpPr>
          <p:cNvPr id="25" name="Oval 24">
            <a:extLst>
              <a:ext uri="{FF2B5EF4-FFF2-40B4-BE49-F238E27FC236}">
                <a16:creationId xmlns:a16="http://schemas.microsoft.com/office/drawing/2014/main" id="{1B65E81B-D7E0-B95A-A8F0-9FEF92DC207A}"/>
              </a:ext>
            </a:extLst>
          </p:cNvPr>
          <p:cNvSpPr/>
          <p:nvPr/>
        </p:nvSpPr>
        <p:spPr>
          <a:xfrm>
            <a:off x="715676" y="5303105"/>
            <a:ext cx="1080000" cy="1080000"/>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94666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4580F-ED55-3FF2-B66E-877B0F10212E}"/>
            </a:ext>
          </a:extLst>
        </p:cNvPr>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6887FF04-F839-4D8E-FD3B-3D1EAE1D8E8F}"/>
              </a:ext>
            </a:extLst>
          </p:cNvPr>
          <p:cNvGraphicFramePr>
            <a:graphicFrameLocks noGrp="1"/>
          </p:cNvGraphicFramePr>
          <p:nvPr>
            <p:extLst>
              <p:ext uri="{D42A27DB-BD31-4B8C-83A1-F6EECF244321}">
                <p14:modId xmlns:p14="http://schemas.microsoft.com/office/powerpoint/2010/main" val="312711685"/>
              </p:ext>
            </p:extLst>
          </p:nvPr>
        </p:nvGraphicFramePr>
        <p:xfrm>
          <a:off x="838200" y="4688540"/>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434286969"/>
                    </a:ext>
                  </a:extLst>
                </a:gridCol>
                <a:gridCol w="4233488">
                  <a:extLst>
                    <a:ext uri="{9D8B030D-6E8A-4147-A177-3AD203B41FA5}">
                      <a16:colId xmlns:a16="http://schemas.microsoft.com/office/drawing/2014/main" val="2345229328"/>
                    </a:ext>
                  </a:extLst>
                </a:gridCol>
              </a:tblGrid>
              <a:tr h="370840">
                <a:tc>
                  <a:txBody>
                    <a:bodyPr/>
                    <a:lstStyle/>
                    <a:p>
                      <a:r>
                        <a:rPr lang="en-SE" dirty="0">
                          <a:solidFill>
                            <a:schemeClr val="tx1">
                              <a:lumMod val="75000"/>
                              <a:lumOff val="25000"/>
                            </a:schemeClr>
                          </a:solidFill>
                        </a:rPr>
                        <a:t>2025 - 2029</a:t>
                      </a:r>
                    </a:p>
                  </a:txBody>
                  <a:tcPr/>
                </a:tc>
                <a:tc>
                  <a:txBody>
                    <a:bodyPr/>
                    <a:lstStyle/>
                    <a:p>
                      <a:r>
                        <a:rPr lang="en-SE" b="1" dirty="0"/>
                        <a:t>Postdoctoral Researcher</a:t>
                      </a:r>
                    </a:p>
                  </a:txBody>
                  <a:tcPr/>
                </a:tc>
                <a:extLst>
                  <a:ext uri="{0D108BD9-81ED-4DB2-BD59-A6C34878D82A}">
                    <a16:rowId xmlns:a16="http://schemas.microsoft.com/office/drawing/2014/main" val="2723834046"/>
                  </a:ext>
                </a:extLst>
              </a:tr>
              <a:tr h="370840">
                <a:tc>
                  <a:txBody>
                    <a:bodyPr/>
                    <a:lstStyle/>
                    <a:p>
                      <a:endParaRPr lang="en-SE" dirty="0"/>
                    </a:p>
                  </a:txBody>
                  <a:tcPr/>
                </a:tc>
                <a:tc>
                  <a:txBody>
                    <a:bodyPr/>
                    <a:lstStyle/>
                    <a:p>
                      <a:r>
                        <a:rPr lang="en-SE" dirty="0"/>
                        <a:t>       Chalmers University of Technology, Gothenburg, Sweden</a:t>
                      </a:r>
                    </a:p>
                  </a:txBody>
                  <a:tcPr/>
                </a:tc>
                <a:extLst>
                  <a:ext uri="{0D108BD9-81ED-4DB2-BD59-A6C34878D82A}">
                    <a16:rowId xmlns:a16="http://schemas.microsoft.com/office/drawing/2014/main" val="4280634408"/>
                  </a:ext>
                </a:extLst>
              </a:tr>
            </a:tbl>
          </a:graphicData>
        </a:graphic>
      </p:graphicFrame>
      <p:graphicFrame>
        <p:nvGraphicFramePr>
          <p:cNvPr id="10" name="Table 9">
            <a:extLst>
              <a:ext uri="{FF2B5EF4-FFF2-40B4-BE49-F238E27FC236}">
                <a16:creationId xmlns:a16="http://schemas.microsoft.com/office/drawing/2014/main" id="{46366708-4D77-633E-1F07-8D1E2E36FCCE}"/>
              </a:ext>
            </a:extLst>
          </p:cNvPr>
          <p:cNvGraphicFramePr>
            <a:graphicFrameLocks noGrp="1"/>
          </p:cNvGraphicFramePr>
          <p:nvPr>
            <p:extLst>
              <p:ext uri="{D42A27DB-BD31-4B8C-83A1-F6EECF244321}">
                <p14:modId xmlns:p14="http://schemas.microsoft.com/office/powerpoint/2010/main" val="3140242070"/>
              </p:ext>
            </p:extLst>
          </p:nvPr>
        </p:nvGraphicFramePr>
        <p:xfrm>
          <a:off x="838200" y="3677620"/>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1134552804"/>
                    </a:ext>
                  </a:extLst>
                </a:gridCol>
                <a:gridCol w="4233488">
                  <a:extLst>
                    <a:ext uri="{9D8B030D-6E8A-4147-A177-3AD203B41FA5}">
                      <a16:colId xmlns:a16="http://schemas.microsoft.com/office/drawing/2014/main" val="3504993548"/>
                    </a:ext>
                  </a:extLst>
                </a:gridCol>
              </a:tblGrid>
              <a:tr h="370840">
                <a:tc>
                  <a:txBody>
                    <a:bodyPr/>
                    <a:lstStyle/>
                    <a:p>
                      <a:r>
                        <a:rPr lang="de-DE" dirty="0">
                          <a:solidFill>
                            <a:schemeClr val="tx1">
                              <a:lumMod val="75000"/>
                              <a:lumOff val="25000"/>
                            </a:schemeClr>
                          </a:solidFill>
                        </a:rPr>
                        <a:t>2020 – 2025</a:t>
                      </a:r>
                      <a:endParaRPr lang="en-SE" dirty="0">
                        <a:solidFill>
                          <a:schemeClr val="tx1">
                            <a:lumMod val="75000"/>
                            <a:lumOff val="25000"/>
                          </a:schemeClr>
                        </a:solidFill>
                      </a:endParaRPr>
                    </a:p>
                  </a:txBody>
                  <a:tcPr/>
                </a:tc>
                <a:tc>
                  <a:txBody>
                    <a:bodyPr/>
                    <a:lstStyle/>
                    <a:p>
                      <a:r>
                        <a:rPr lang="de-DE" b="1" dirty="0" err="1"/>
                        <a:t>Ph.D</a:t>
                      </a:r>
                      <a:r>
                        <a:rPr lang="de-DE" b="1" dirty="0"/>
                        <a:t>. </a:t>
                      </a:r>
                      <a:r>
                        <a:rPr lang="en-SE" b="1" dirty="0"/>
                        <a:t>Student</a:t>
                      </a:r>
                    </a:p>
                  </a:txBody>
                  <a:tcPr/>
                </a:tc>
                <a:extLst>
                  <a:ext uri="{0D108BD9-81ED-4DB2-BD59-A6C34878D82A}">
                    <a16:rowId xmlns:a16="http://schemas.microsoft.com/office/drawing/2014/main" val="1993555051"/>
                  </a:ext>
                </a:extLst>
              </a:tr>
              <a:tr h="370840">
                <a:tc>
                  <a:txBody>
                    <a:bodyPr/>
                    <a:lstStyle/>
                    <a:p>
                      <a:endParaRPr lang="en-SE" dirty="0"/>
                    </a:p>
                  </a:txBody>
                  <a:tcPr/>
                </a:tc>
                <a:tc>
                  <a:txBody>
                    <a:bodyPr/>
                    <a:lstStyle/>
                    <a:p>
                      <a:r>
                        <a:rPr lang="en-SE" dirty="0"/>
                        <a:t>       </a:t>
                      </a:r>
                      <a:r>
                        <a:rPr lang="de-DE" dirty="0"/>
                        <a:t>Blekinge Institute of Technolog</a:t>
                      </a:r>
                      <a:r>
                        <a:rPr lang="en-SE" dirty="0"/>
                        <a:t>y, Karlskrona, Sweden</a:t>
                      </a:r>
                    </a:p>
                  </a:txBody>
                  <a:tcPr/>
                </a:tc>
                <a:extLst>
                  <a:ext uri="{0D108BD9-81ED-4DB2-BD59-A6C34878D82A}">
                    <a16:rowId xmlns:a16="http://schemas.microsoft.com/office/drawing/2014/main" val="3597508422"/>
                  </a:ext>
                </a:extLst>
              </a:tr>
            </a:tbl>
          </a:graphicData>
        </a:graphic>
      </p:graphicFrame>
      <p:sp>
        <p:nvSpPr>
          <p:cNvPr id="2" name="Title 1">
            <a:extLst>
              <a:ext uri="{FF2B5EF4-FFF2-40B4-BE49-F238E27FC236}">
                <a16:creationId xmlns:a16="http://schemas.microsoft.com/office/drawing/2014/main" id="{1AC37F8E-97C2-0940-AAFB-2EC2FDFC9613}"/>
              </a:ext>
            </a:extLst>
          </p:cNvPr>
          <p:cNvSpPr>
            <a:spLocks noGrp="1"/>
          </p:cNvSpPr>
          <p:nvPr>
            <p:ph type="title"/>
          </p:nvPr>
        </p:nvSpPr>
        <p:spPr/>
        <p:txBody>
          <a:bodyPr/>
          <a:lstStyle/>
          <a:p>
            <a:r>
              <a:rPr lang="en-SE" b="1" dirty="0"/>
              <a:t>Julian Frattini </a:t>
            </a:r>
            <a:r>
              <a:rPr lang="en-SE" dirty="0">
                <a:solidFill>
                  <a:schemeClr val="tx1">
                    <a:lumMod val="65000"/>
                    <a:lumOff val="35000"/>
                  </a:schemeClr>
                </a:solidFill>
              </a:rPr>
              <a:t>// about me</a:t>
            </a:r>
          </a:p>
        </p:txBody>
      </p:sp>
      <p:sp>
        <p:nvSpPr>
          <p:cNvPr id="4" name="Date Placeholder 3">
            <a:extLst>
              <a:ext uri="{FF2B5EF4-FFF2-40B4-BE49-F238E27FC236}">
                <a16:creationId xmlns:a16="http://schemas.microsoft.com/office/drawing/2014/main" id="{4DE965F7-F09D-38ED-BE61-1CFF0E432C79}"/>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B39A5E70-06AE-AC6E-11C3-23CA2B179A9F}"/>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B2F2DD34-7021-927C-56E5-3B5BF05828C2}"/>
              </a:ext>
            </a:extLst>
          </p:cNvPr>
          <p:cNvSpPr>
            <a:spLocks noGrp="1"/>
          </p:cNvSpPr>
          <p:nvPr>
            <p:ph type="sldNum" sz="quarter" idx="12"/>
          </p:nvPr>
        </p:nvSpPr>
        <p:spPr/>
        <p:txBody>
          <a:bodyPr/>
          <a:lstStyle/>
          <a:p>
            <a:fld id="{0FA2D919-C0DE-4971-A2E9-D4AC0031921B}" type="slidenum">
              <a:rPr lang="en-US" smtClean="0"/>
              <a:t>2</a:t>
            </a:fld>
            <a:endParaRPr lang="en-US"/>
          </a:p>
        </p:txBody>
      </p:sp>
      <p:pic>
        <p:nvPicPr>
          <p:cNvPr id="1026" name="Picture 2">
            <a:extLst>
              <a:ext uri="{FF2B5EF4-FFF2-40B4-BE49-F238E27FC236}">
                <a16:creationId xmlns:a16="http://schemas.microsoft.com/office/drawing/2014/main" id="{68E563E7-04C6-C304-B5CD-EE0EB468D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690688"/>
            <a:ext cx="5943600" cy="4546096"/>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73F3E252-0C3D-965D-5D69-EABFC1CE6924}"/>
              </a:ext>
            </a:extLst>
          </p:cNvPr>
          <p:cNvGrpSpPr/>
          <p:nvPr/>
        </p:nvGrpSpPr>
        <p:grpSpPr>
          <a:xfrm>
            <a:off x="7997469" y="4290009"/>
            <a:ext cx="432000" cy="540000"/>
            <a:chOff x="7861738" y="4290009"/>
            <a:chExt cx="432000" cy="540000"/>
          </a:xfrm>
        </p:grpSpPr>
        <p:sp>
          <p:nvSpPr>
            <p:cNvPr id="11" name="Flowchart: Off-page Connector 10">
              <a:extLst>
                <a:ext uri="{FF2B5EF4-FFF2-40B4-BE49-F238E27FC236}">
                  <a16:creationId xmlns:a16="http://schemas.microsoft.com/office/drawing/2014/main" id="{3616D55A-30B0-6C25-1CF7-B5251E619118}"/>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032" name="Picture 8" descr="Technical University of Munich (TUM) · GitHub">
              <a:extLst>
                <a:ext uri="{FF2B5EF4-FFF2-40B4-BE49-F238E27FC236}">
                  <a16:creationId xmlns:a16="http://schemas.microsoft.com/office/drawing/2014/main" id="{77A0EC93-D59A-9CC7-246A-352C8D138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7738" y="4330490"/>
              <a:ext cx="360000" cy="36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2CEC1183-2048-1D7C-2FBF-C2DAC1DEA60E}"/>
              </a:ext>
            </a:extLst>
          </p:cNvPr>
          <p:cNvGrpSpPr/>
          <p:nvPr/>
        </p:nvGrpSpPr>
        <p:grpSpPr>
          <a:xfrm>
            <a:off x="8240357" y="3420226"/>
            <a:ext cx="432000" cy="540000"/>
            <a:chOff x="7861738" y="4290009"/>
            <a:chExt cx="432000" cy="540000"/>
          </a:xfrm>
        </p:grpSpPr>
        <p:sp>
          <p:nvSpPr>
            <p:cNvPr id="14" name="Flowchart: Off-page Connector 13">
              <a:extLst>
                <a:ext uri="{FF2B5EF4-FFF2-40B4-BE49-F238E27FC236}">
                  <a16:creationId xmlns:a16="http://schemas.microsoft.com/office/drawing/2014/main" id="{16691E3F-7E77-891E-6AB9-E67592F63DFE}"/>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Picture 8">
              <a:extLst>
                <a:ext uri="{FF2B5EF4-FFF2-40B4-BE49-F238E27FC236}">
                  <a16:creationId xmlns:a16="http://schemas.microsoft.com/office/drawing/2014/main" id="{53B07F32-5A28-86CB-2D82-0FB3379411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7897738" y="4331990"/>
              <a:ext cx="360000" cy="357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4BFBC387-11D8-5C1A-76F0-20215A6AE410}"/>
              </a:ext>
            </a:extLst>
          </p:cNvPr>
          <p:cNvGrpSpPr/>
          <p:nvPr/>
        </p:nvGrpSpPr>
        <p:grpSpPr>
          <a:xfrm>
            <a:off x="8006557" y="3297320"/>
            <a:ext cx="432000" cy="540000"/>
            <a:chOff x="7861738" y="4290009"/>
            <a:chExt cx="432000" cy="540000"/>
          </a:xfrm>
        </p:grpSpPr>
        <p:sp>
          <p:nvSpPr>
            <p:cNvPr id="17" name="Flowchart: Off-page Connector 16">
              <a:extLst>
                <a:ext uri="{FF2B5EF4-FFF2-40B4-BE49-F238E27FC236}">
                  <a16:creationId xmlns:a16="http://schemas.microsoft.com/office/drawing/2014/main" id="{81545D64-F598-C2E1-481A-1B0538C08545}"/>
                </a:ext>
              </a:extLst>
            </p:cNvPr>
            <p:cNvSpPr/>
            <p:nvPr/>
          </p:nvSpPr>
          <p:spPr>
            <a:xfrm>
              <a:off x="7861738" y="4290009"/>
              <a:ext cx="432000" cy="540000"/>
            </a:xfrm>
            <a:prstGeom prst="flowChartOffpageConnector">
              <a:avLst/>
            </a:prstGeom>
            <a:solidFill>
              <a:schemeClr val="bg1">
                <a:lumMod val="95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8" name="Picture 8">
              <a:extLst>
                <a:ext uri="{FF2B5EF4-FFF2-40B4-BE49-F238E27FC236}">
                  <a16:creationId xmlns:a16="http://schemas.microsoft.com/office/drawing/2014/main" id="{01C1D325-D280-4EB8-F0DB-0857E84553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7897738" y="4340465"/>
              <a:ext cx="360000" cy="34005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 name="Table 2">
            <a:extLst>
              <a:ext uri="{FF2B5EF4-FFF2-40B4-BE49-F238E27FC236}">
                <a16:creationId xmlns:a16="http://schemas.microsoft.com/office/drawing/2014/main" id="{18D7D87C-7A74-8471-AF45-41E6B530CD24}"/>
              </a:ext>
            </a:extLst>
          </p:cNvPr>
          <p:cNvGraphicFramePr>
            <a:graphicFrameLocks noGrp="1"/>
          </p:cNvGraphicFramePr>
          <p:nvPr>
            <p:extLst>
              <p:ext uri="{D42A27DB-BD31-4B8C-83A1-F6EECF244321}">
                <p14:modId xmlns:p14="http://schemas.microsoft.com/office/powerpoint/2010/main" val="1229588220"/>
              </p:ext>
            </p:extLst>
          </p:nvPr>
        </p:nvGraphicFramePr>
        <p:xfrm>
          <a:off x="838200" y="2676825"/>
          <a:ext cx="5879408" cy="1010920"/>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739994605"/>
                    </a:ext>
                  </a:extLst>
                </a:gridCol>
                <a:gridCol w="4233488">
                  <a:extLst>
                    <a:ext uri="{9D8B030D-6E8A-4147-A177-3AD203B41FA5}">
                      <a16:colId xmlns:a16="http://schemas.microsoft.com/office/drawing/2014/main" val="1592377813"/>
                    </a:ext>
                  </a:extLst>
                </a:gridCol>
              </a:tblGrid>
              <a:tr h="370840">
                <a:tc>
                  <a:txBody>
                    <a:bodyPr/>
                    <a:lstStyle/>
                    <a:p>
                      <a:r>
                        <a:rPr lang="en-SE" dirty="0">
                          <a:solidFill>
                            <a:schemeClr val="tx1">
                              <a:lumMod val="75000"/>
                              <a:lumOff val="25000"/>
                            </a:schemeClr>
                          </a:solidFill>
                        </a:rPr>
                        <a:t>2013 - 2019</a:t>
                      </a:r>
                    </a:p>
                  </a:txBody>
                  <a:tcPr/>
                </a:tc>
                <a:tc>
                  <a:txBody>
                    <a:bodyPr/>
                    <a:lstStyle/>
                    <a:p>
                      <a:r>
                        <a:rPr lang="en-SE" b="1" dirty="0"/>
                        <a:t>Bachelor &amp; Master of Science</a:t>
                      </a:r>
                    </a:p>
                  </a:txBody>
                  <a:tcPr/>
                </a:tc>
                <a:extLst>
                  <a:ext uri="{0D108BD9-81ED-4DB2-BD59-A6C34878D82A}">
                    <a16:rowId xmlns:a16="http://schemas.microsoft.com/office/drawing/2014/main" val="2960308708"/>
                  </a:ext>
                </a:extLst>
              </a:tr>
              <a:tr h="370840">
                <a:tc>
                  <a:txBody>
                    <a:bodyPr/>
                    <a:lstStyle/>
                    <a:p>
                      <a:endParaRPr lang="en-SE" dirty="0"/>
                    </a:p>
                  </a:txBody>
                  <a:tcPr/>
                </a:tc>
                <a:tc>
                  <a:txBody>
                    <a:bodyPr/>
                    <a:lstStyle/>
                    <a:p>
                      <a:r>
                        <a:rPr lang="en-SE" dirty="0"/>
                        <a:t>       Technical University of Munich, </a:t>
                      </a:r>
                    </a:p>
                    <a:p>
                      <a:r>
                        <a:rPr lang="en-SE" dirty="0"/>
                        <a:t>Munich, Germany</a:t>
                      </a:r>
                    </a:p>
                  </a:txBody>
                  <a:tcPr/>
                </a:tc>
                <a:extLst>
                  <a:ext uri="{0D108BD9-81ED-4DB2-BD59-A6C34878D82A}">
                    <a16:rowId xmlns:a16="http://schemas.microsoft.com/office/drawing/2014/main" val="1621492810"/>
                  </a:ext>
                </a:extLst>
              </a:tr>
            </a:tbl>
          </a:graphicData>
        </a:graphic>
      </p:graphicFrame>
      <p:pic>
        <p:nvPicPr>
          <p:cNvPr id="7" name="Picture 2">
            <a:hlinkClick r:id="rId6"/>
            <a:extLst>
              <a:ext uri="{FF2B5EF4-FFF2-40B4-BE49-F238E27FC236}">
                <a16:creationId xmlns:a16="http://schemas.microsoft.com/office/drawing/2014/main" id="{DB2B0C08-2A84-11A3-6A4C-3C0A0A9100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4957" y="3154680"/>
            <a:ext cx="304800" cy="1809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hlinkClick r:id="rId8"/>
            <a:extLst>
              <a:ext uri="{FF2B5EF4-FFF2-40B4-BE49-F238E27FC236}">
                <a16:creationId xmlns:a16="http://schemas.microsoft.com/office/drawing/2014/main" id="{0B92AB39-7C43-0596-FD59-99A1D23719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4957" y="408377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hlinkClick r:id="rId8"/>
            <a:extLst>
              <a:ext uri="{FF2B5EF4-FFF2-40B4-BE49-F238E27FC236}">
                <a16:creationId xmlns:a16="http://schemas.microsoft.com/office/drawing/2014/main" id="{A1691886-7E95-45FD-7D98-C69CF0B2FE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6650" y="5089610"/>
            <a:ext cx="3048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53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47"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250"/>
                                        <p:tgtEl>
                                          <p:spTgt spid="12"/>
                                        </p:tgtEl>
                                      </p:cBhvr>
                                    </p:animEffect>
                                    <p:anim calcmode="lin" valueType="num">
                                      <p:cBhvr>
                                        <p:cTn id="12" dur="250" fill="hold"/>
                                        <p:tgtEl>
                                          <p:spTgt spid="12"/>
                                        </p:tgtEl>
                                        <p:attrNameLst>
                                          <p:attrName>ppt_x</p:attrName>
                                        </p:attrNameLst>
                                      </p:cBhvr>
                                      <p:tavLst>
                                        <p:tav tm="0">
                                          <p:val>
                                            <p:strVal val="#ppt_x"/>
                                          </p:val>
                                        </p:tav>
                                        <p:tav tm="100000">
                                          <p:val>
                                            <p:strVal val="#ppt_x"/>
                                          </p:val>
                                        </p:tav>
                                      </p:tavLst>
                                    </p:anim>
                                    <p:anim calcmode="lin" valueType="num">
                                      <p:cBhvr>
                                        <p:cTn id="13" dur="2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28"/>
                                        </p:tgtEl>
                                        <p:attrNameLst>
                                          <p:attrName>style.visibility</p:attrName>
                                        </p:attrNameLst>
                                      </p:cBhvr>
                                      <p:to>
                                        <p:strVal val="visible"/>
                                      </p:to>
                                    </p:set>
                                  </p:childTnLst>
                                </p:cTn>
                              </p:par>
                              <p:par>
                                <p:cTn id="20" presetID="47"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anim calcmode="lin" valueType="num">
                                      <p:cBhvr>
                                        <p:cTn id="23" dur="250" fill="hold"/>
                                        <p:tgtEl>
                                          <p:spTgt spid="13"/>
                                        </p:tgtEl>
                                        <p:attrNameLst>
                                          <p:attrName>ppt_x</p:attrName>
                                        </p:attrNameLst>
                                      </p:cBhvr>
                                      <p:tavLst>
                                        <p:tav tm="0">
                                          <p:val>
                                            <p:strVal val="#ppt_x"/>
                                          </p:val>
                                        </p:tav>
                                        <p:tav tm="100000">
                                          <p:val>
                                            <p:strVal val="#ppt_x"/>
                                          </p:val>
                                        </p:tav>
                                      </p:tavLst>
                                    </p:anim>
                                    <p:anim calcmode="lin" valueType="num">
                                      <p:cBhvr>
                                        <p:cTn id="24" dur="25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47"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250"/>
                                        <p:tgtEl>
                                          <p:spTgt spid="16"/>
                                        </p:tgtEl>
                                      </p:cBhvr>
                                    </p:animEffect>
                                    <p:anim calcmode="lin" valueType="num">
                                      <p:cBhvr>
                                        <p:cTn id="34" dur="250" fill="hold"/>
                                        <p:tgtEl>
                                          <p:spTgt spid="16"/>
                                        </p:tgtEl>
                                        <p:attrNameLst>
                                          <p:attrName>ppt_x</p:attrName>
                                        </p:attrNameLst>
                                      </p:cBhvr>
                                      <p:tavLst>
                                        <p:tav tm="0">
                                          <p:val>
                                            <p:strVal val="#ppt_x"/>
                                          </p:val>
                                        </p:tav>
                                        <p:tav tm="100000">
                                          <p:val>
                                            <p:strVal val="#ppt_x"/>
                                          </p:val>
                                        </p:tav>
                                      </p:tavLst>
                                    </p:anim>
                                    <p:anim calcmode="lin" valueType="num">
                                      <p:cBhvr>
                                        <p:cTn id="35" dur="2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5037-967D-2E5C-D288-71C4BF1EA7F7}"/>
              </a:ext>
            </a:extLst>
          </p:cNvPr>
          <p:cNvSpPr>
            <a:spLocks noGrp="1"/>
          </p:cNvSpPr>
          <p:nvPr>
            <p:ph type="title"/>
          </p:nvPr>
        </p:nvSpPr>
        <p:spPr/>
        <p:txBody>
          <a:bodyPr/>
          <a:lstStyle/>
          <a:p>
            <a:r>
              <a:rPr lang="en-SE" b="1" dirty="0"/>
              <a:t>Julian Frattini </a:t>
            </a:r>
            <a:r>
              <a:rPr lang="en-SE" dirty="0">
                <a:solidFill>
                  <a:schemeClr val="tx1">
                    <a:lumMod val="65000"/>
                    <a:lumOff val="35000"/>
                  </a:schemeClr>
                </a:solidFill>
              </a:rPr>
              <a:t>// about my research</a:t>
            </a:r>
            <a:endParaRPr lang="en-SE" dirty="0"/>
          </a:p>
        </p:txBody>
      </p:sp>
      <p:sp>
        <p:nvSpPr>
          <p:cNvPr id="4" name="Date Placeholder 3">
            <a:extLst>
              <a:ext uri="{FF2B5EF4-FFF2-40B4-BE49-F238E27FC236}">
                <a16:creationId xmlns:a16="http://schemas.microsoft.com/office/drawing/2014/main" id="{69E3E6FF-11D6-0515-FB73-130181AF9E19}"/>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79546E2E-0842-EB26-9D7D-CAA8067EB26E}"/>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6ED6595F-D83A-CFEA-CFC4-052D2057A5F7}"/>
              </a:ext>
            </a:extLst>
          </p:cNvPr>
          <p:cNvSpPr>
            <a:spLocks noGrp="1"/>
          </p:cNvSpPr>
          <p:nvPr>
            <p:ph type="sldNum" sz="quarter" idx="12"/>
          </p:nvPr>
        </p:nvSpPr>
        <p:spPr/>
        <p:txBody>
          <a:bodyPr/>
          <a:lstStyle/>
          <a:p>
            <a:fld id="{0FA2D919-C0DE-4971-A2E9-D4AC0031921B}" type="slidenum">
              <a:rPr lang="en-US" smtClean="0"/>
              <a:t>3</a:t>
            </a:fld>
            <a:endParaRPr lang="en-US"/>
          </a:p>
        </p:txBody>
      </p:sp>
      <p:grpSp>
        <p:nvGrpSpPr>
          <p:cNvPr id="15" name="Group 14">
            <a:extLst>
              <a:ext uri="{FF2B5EF4-FFF2-40B4-BE49-F238E27FC236}">
                <a16:creationId xmlns:a16="http://schemas.microsoft.com/office/drawing/2014/main" id="{CB1C7CDA-093D-E147-88FD-69F6F3C5BCCA}"/>
              </a:ext>
            </a:extLst>
          </p:cNvPr>
          <p:cNvGrpSpPr/>
          <p:nvPr/>
        </p:nvGrpSpPr>
        <p:grpSpPr>
          <a:xfrm>
            <a:off x="1276577" y="1986844"/>
            <a:ext cx="9638845" cy="1260000"/>
            <a:chOff x="408267" y="1986844"/>
            <a:chExt cx="9638845" cy="1260000"/>
          </a:xfrm>
          <a:effectLst>
            <a:outerShdw blurRad="50800" dist="38100" dir="2700000" algn="tl" rotWithShape="0">
              <a:prstClr val="black">
                <a:alpha val="40000"/>
              </a:prstClr>
            </a:outerShdw>
          </a:effectLst>
        </p:grpSpPr>
        <p:sp>
          <p:nvSpPr>
            <p:cNvPr id="7" name="Rectangle: Rounded Corners 6">
              <a:extLst>
                <a:ext uri="{FF2B5EF4-FFF2-40B4-BE49-F238E27FC236}">
                  <a16:creationId xmlns:a16="http://schemas.microsoft.com/office/drawing/2014/main" id="{C7818B4D-625B-89FD-E9AB-64A277DFE531}"/>
                </a:ext>
              </a:extLst>
            </p:cNvPr>
            <p:cNvSpPr/>
            <p:nvPr/>
          </p:nvSpPr>
          <p:spPr>
            <a:xfrm>
              <a:off x="948268" y="1986844"/>
              <a:ext cx="9098844" cy="1260000"/>
            </a:xfrm>
            <a:prstGeom prst="roundRect">
              <a:avLst/>
            </a:prstGeom>
            <a:solidFill>
              <a:schemeClr val="accent6">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t>Good-enough Requirements Engineering</a:t>
              </a:r>
            </a:p>
            <a:p>
              <a:r>
                <a:rPr lang="en-SE" dirty="0"/>
                <a:t>Quantifying the effect of quality factors of requirements artifacts on downstream software development activities</a:t>
              </a:r>
            </a:p>
          </p:txBody>
        </p:sp>
        <p:grpSp>
          <p:nvGrpSpPr>
            <p:cNvPr id="14" name="Group 13">
              <a:extLst>
                <a:ext uri="{FF2B5EF4-FFF2-40B4-BE49-F238E27FC236}">
                  <a16:creationId xmlns:a16="http://schemas.microsoft.com/office/drawing/2014/main" id="{5190160C-E7B1-DDE8-DA9F-ADBFEB30256B}"/>
                </a:ext>
              </a:extLst>
            </p:cNvPr>
            <p:cNvGrpSpPr/>
            <p:nvPr/>
          </p:nvGrpSpPr>
          <p:grpSpPr>
            <a:xfrm>
              <a:off x="408267" y="2076844"/>
              <a:ext cx="1080000" cy="1080000"/>
              <a:chOff x="408267" y="2076844"/>
              <a:chExt cx="1080000" cy="1080000"/>
            </a:xfrm>
          </p:grpSpPr>
          <p:sp>
            <p:nvSpPr>
              <p:cNvPr id="10" name="Oval 9">
                <a:extLst>
                  <a:ext uri="{FF2B5EF4-FFF2-40B4-BE49-F238E27FC236}">
                    <a16:creationId xmlns:a16="http://schemas.microsoft.com/office/drawing/2014/main" id="{34A6AC9B-8FCD-E23C-EBFE-A5E24AB1E61B}"/>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2" name="Graphic 11" descr="Document with solid fill">
                <a:extLst>
                  <a:ext uri="{FF2B5EF4-FFF2-40B4-BE49-F238E27FC236}">
                    <a16:creationId xmlns:a16="http://schemas.microsoft.com/office/drawing/2014/main" id="{0904D603-1F42-91FB-75D8-B2158A29FD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91067" y="2159644"/>
                <a:ext cx="914400" cy="914400"/>
              </a:xfrm>
              <a:prstGeom prst="rect">
                <a:avLst/>
              </a:prstGeom>
            </p:spPr>
          </p:pic>
        </p:grpSp>
      </p:grpSp>
      <p:grpSp>
        <p:nvGrpSpPr>
          <p:cNvPr id="16" name="Group 15">
            <a:extLst>
              <a:ext uri="{FF2B5EF4-FFF2-40B4-BE49-F238E27FC236}">
                <a16:creationId xmlns:a16="http://schemas.microsoft.com/office/drawing/2014/main" id="{588F82A9-163D-D4B3-1EF5-C59B5CEBC245}"/>
              </a:ext>
            </a:extLst>
          </p:cNvPr>
          <p:cNvGrpSpPr/>
          <p:nvPr/>
        </p:nvGrpSpPr>
        <p:grpSpPr>
          <a:xfrm>
            <a:off x="1276577" y="3419563"/>
            <a:ext cx="9638845" cy="1260000"/>
            <a:chOff x="408267" y="1986844"/>
            <a:chExt cx="9638845" cy="1260000"/>
          </a:xfrm>
          <a:effectLst>
            <a:outerShdw blurRad="50800" dist="38100" dir="2700000" algn="tl" rotWithShape="0">
              <a:prstClr val="black">
                <a:alpha val="40000"/>
              </a:prstClr>
            </a:outerShdw>
          </a:effectLst>
        </p:grpSpPr>
        <p:sp>
          <p:nvSpPr>
            <p:cNvPr id="17" name="Rectangle: Rounded Corners 16">
              <a:extLst>
                <a:ext uri="{FF2B5EF4-FFF2-40B4-BE49-F238E27FC236}">
                  <a16:creationId xmlns:a16="http://schemas.microsoft.com/office/drawing/2014/main" id="{F6F454A6-8162-5633-812E-A06ABE7510E6}"/>
                </a:ext>
              </a:extLst>
            </p:cNvPr>
            <p:cNvSpPr/>
            <p:nvPr/>
          </p:nvSpPr>
          <p:spPr>
            <a:xfrm>
              <a:off x="948268" y="1986844"/>
              <a:ext cx="9098844" cy="1260000"/>
            </a:xfrm>
            <a:prstGeom prst="roundRect">
              <a:avLst/>
            </a:prstGeom>
            <a:solidFill>
              <a:schemeClr val="accent6">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t>Hybrid-AI Software Engineering</a:t>
              </a:r>
            </a:p>
            <a:p>
              <a:r>
                <a:rPr lang="en-SE" dirty="0"/>
                <a:t>Understanding the interface between traditional and data-driven software components in a hybrid software system.</a:t>
              </a:r>
            </a:p>
          </p:txBody>
        </p:sp>
        <p:grpSp>
          <p:nvGrpSpPr>
            <p:cNvPr id="18" name="Group 17">
              <a:extLst>
                <a:ext uri="{FF2B5EF4-FFF2-40B4-BE49-F238E27FC236}">
                  <a16:creationId xmlns:a16="http://schemas.microsoft.com/office/drawing/2014/main" id="{3DC7CC7A-4CBC-5FF8-E382-B410D1257C11}"/>
                </a:ext>
              </a:extLst>
            </p:cNvPr>
            <p:cNvGrpSpPr/>
            <p:nvPr/>
          </p:nvGrpSpPr>
          <p:grpSpPr>
            <a:xfrm>
              <a:off x="408267" y="2076844"/>
              <a:ext cx="1080000" cy="1080000"/>
              <a:chOff x="408267" y="2076844"/>
              <a:chExt cx="1080000" cy="1080000"/>
            </a:xfrm>
          </p:grpSpPr>
          <p:sp>
            <p:nvSpPr>
              <p:cNvPr id="19" name="Oval 18">
                <a:extLst>
                  <a:ext uri="{FF2B5EF4-FFF2-40B4-BE49-F238E27FC236}">
                    <a16:creationId xmlns:a16="http://schemas.microsoft.com/office/drawing/2014/main" id="{DCADBDAE-E0C8-01E9-C511-FC7F903182ED}"/>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0" name="Graphic 19" descr="Processor with solid fill">
                <a:extLst>
                  <a:ext uri="{FF2B5EF4-FFF2-40B4-BE49-F238E27FC236}">
                    <a16:creationId xmlns:a16="http://schemas.microsoft.com/office/drawing/2014/main" id="{8FD70865-05D0-AA12-7CAE-762EE8F8B57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91067" y="2159644"/>
                <a:ext cx="914400" cy="914400"/>
              </a:xfrm>
              <a:prstGeom prst="rect">
                <a:avLst/>
              </a:prstGeom>
            </p:spPr>
          </p:pic>
        </p:grpSp>
      </p:grpSp>
      <p:grpSp>
        <p:nvGrpSpPr>
          <p:cNvPr id="21" name="Group 20">
            <a:extLst>
              <a:ext uri="{FF2B5EF4-FFF2-40B4-BE49-F238E27FC236}">
                <a16:creationId xmlns:a16="http://schemas.microsoft.com/office/drawing/2014/main" id="{ACFE6CF8-D622-C925-2C40-1EBD1F2D0B5A}"/>
              </a:ext>
            </a:extLst>
          </p:cNvPr>
          <p:cNvGrpSpPr/>
          <p:nvPr/>
        </p:nvGrpSpPr>
        <p:grpSpPr>
          <a:xfrm>
            <a:off x="1276577" y="4852282"/>
            <a:ext cx="9638845" cy="1260000"/>
            <a:chOff x="408267" y="1986844"/>
            <a:chExt cx="9638845" cy="1260000"/>
          </a:xfrm>
          <a:effectLst>
            <a:outerShdw blurRad="50800" dist="38100" dir="2700000" algn="tl" rotWithShape="0">
              <a:prstClr val="black">
                <a:alpha val="40000"/>
              </a:prstClr>
            </a:outerShdw>
          </a:effectLst>
        </p:grpSpPr>
        <p:sp>
          <p:nvSpPr>
            <p:cNvPr id="22" name="Rectangle: Rounded Corners 21">
              <a:extLst>
                <a:ext uri="{FF2B5EF4-FFF2-40B4-BE49-F238E27FC236}">
                  <a16:creationId xmlns:a16="http://schemas.microsoft.com/office/drawing/2014/main" id="{0ED6F147-67CC-2A01-D039-3B34AFFF58B3}"/>
                </a:ext>
              </a:extLst>
            </p:cNvPr>
            <p:cNvSpPr/>
            <p:nvPr/>
          </p:nvSpPr>
          <p:spPr>
            <a:xfrm>
              <a:off x="948268" y="1986844"/>
              <a:ext cx="9098844" cy="1260000"/>
            </a:xfrm>
            <a:prstGeom prst="roundRect">
              <a:avLst/>
            </a:prstGeom>
            <a:solidFill>
              <a:schemeClr val="accent6">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sz="2400" b="1" dirty="0">
                  <a:solidFill>
                    <a:schemeClr val="tx1"/>
                  </a:solidFill>
                </a:rPr>
                <a:t>Software Engineering Research Methodology</a:t>
              </a:r>
            </a:p>
            <a:p>
              <a:r>
                <a:rPr lang="en-SE" dirty="0">
                  <a:solidFill>
                    <a:schemeClr val="tx1"/>
                  </a:solidFill>
                </a:rPr>
                <a:t>Improving the methods used in research to produce more rigorous and valid conclusions</a:t>
              </a:r>
            </a:p>
          </p:txBody>
        </p:sp>
        <p:grpSp>
          <p:nvGrpSpPr>
            <p:cNvPr id="23" name="Group 22">
              <a:extLst>
                <a:ext uri="{FF2B5EF4-FFF2-40B4-BE49-F238E27FC236}">
                  <a16:creationId xmlns:a16="http://schemas.microsoft.com/office/drawing/2014/main" id="{CB8453AF-CBAE-29C5-C288-CF92FD2B470C}"/>
                </a:ext>
              </a:extLst>
            </p:cNvPr>
            <p:cNvGrpSpPr/>
            <p:nvPr/>
          </p:nvGrpSpPr>
          <p:grpSpPr>
            <a:xfrm>
              <a:off x="408267" y="2076844"/>
              <a:ext cx="1080000" cy="1080000"/>
              <a:chOff x="408267" y="2076844"/>
              <a:chExt cx="1080000" cy="1080000"/>
            </a:xfrm>
          </p:grpSpPr>
          <p:sp>
            <p:nvSpPr>
              <p:cNvPr id="24" name="Oval 23">
                <a:extLst>
                  <a:ext uri="{FF2B5EF4-FFF2-40B4-BE49-F238E27FC236}">
                    <a16:creationId xmlns:a16="http://schemas.microsoft.com/office/drawing/2014/main" id="{B578FB96-B30D-D783-B246-5A27B977AEF3}"/>
                  </a:ext>
                </a:extLst>
              </p:cNvPr>
              <p:cNvSpPr/>
              <p:nvPr/>
            </p:nvSpPr>
            <p:spPr>
              <a:xfrm>
                <a:off x="408267" y="2076844"/>
                <a:ext cx="1080000" cy="1080000"/>
              </a:xfrm>
              <a:prstGeom prst="ellipse">
                <a:avLst/>
              </a:prstGeom>
              <a:solidFill>
                <a:schemeClr val="bg1">
                  <a:lumMod val="8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25" name="Graphic 24" descr="Flask with solid fill">
                <a:extLst>
                  <a:ext uri="{FF2B5EF4-FFF2-40B4-BE49-F238E27FC236}">
                    <a16:creationId xmlns:a16="http://schemas.microsoft.com/office/drawing/2014/main" id="{619F5E63-99E6-C6A1-0B57-02684E17FCD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91067" y="2159644"/>
                <a:ext cx="914400" cy="914400"/>
              </a:xfrm>
              <a:prstGeom prst="rect">
                <a:avLst/>
              </a:prstGeom>
            </p:spPr>
          </p:pic>
        </p:grpSp>
      </p:grpSp>
    </p:spTree>
    <p:extLst>
      <p:ext uri="{BB962C8B-B14F-4D97-AF65-F5344CB8AC3E}">
        <p14:creationId xmlns:p14="http://schemas.microsoft.com/office/powerpoint/2010/main" val="183000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anim calcmode="lin" valueType="num">
                                      <p:cBhvr>
                                        <p:cTn id="15" dur="500" fill="hold"/>
                                        <p:tgtEl>
                                          <p:spTgt spid="16"/>
                                        </p:tgtEl>
                                        <p:attrNameLst>
                                          <p:attrName>ppt_x</p:attrName>
                                        </p:attrNameLst>
                                      </p:cBhvr>
                                      <p:tavLst>
                                        <p:tav tm="0">
                                          <p:val>
                                            <p:strVal val="#ppt_x"/>
                                          </p:val>
                                        </p:tav>
                                        <p:tav tm="100000">
                                          <p:val>
                                            <p:strVal val="#ppt_x"/>
                                          </p:val>
                                        </p:tav>
                                      </p:tavLst>
                                    </p:anim>
                                    <p:anim calcmode="lin" valueType="num">
                                      <p:cBhvr>
                                        <p:cTn id="16"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anim calcmode="lin" valueType="num">
                                      <p:cBhvr>
                                        <p:cTn id="22" dur="500" fill="hold"/>
                                        <p:tgtEl>
                                          <p:spTgt spid="21"/>
                                        </p:tgtEl>
                                        <p:attrNameLst>
                                          <p:attrName>ppt_x</p:attrName>
                                        </p:attrNameLst>
                                      </p:cBhvr>
                                      <p:tavLst>
                                        <p:tav tm="0">
                                          <p:val>
                                            <p:strVal val="#ppt_x"/>
                                          </p:val>
                                        </p:tav>
                                        <p:tav tm="100000">
                                          <p:val>
                                            <p:strVal val="#ppt_x"/>
                                          </p:val>
                                        </p:tav>
                                      </p:tavLst>
                                    </p:anim>
                                    <p:anim calcmode="lin" valueType="num">
                                      <p:cBhvr>
                                        <p:cTn id="23"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E763765-6F2B-E7EE-DB2E-2917F4102148}"/>
              </a:ext>
            </a:extLst>
          </p:cNvPr>
          <p:cNvSpPr>
            <a:spLocks noGrp="1"/>
          </p:cNvSpPr>
          <p:nvPr>
            <p:ph type="title"/>
          </p:nvPr>
        </p:nvSpPr>
        <p:spPr/>
        <p:txBody>
          <a:bodyPr/>
          <a:lstStyle/>
          <a:p>
            <a:r>
              <a:rPr lang="en-SE" noProof="0" dirty="0"/>
              <a:t>Motivation</a:t>
            </a:r>
            <a:endParaRPr lang="en-US" noProof="0" dirty="0"/>
          </a:p>
        </p:txBody>
      </p:sp>
      <p:sp>
        <p:nvSpPr>
          <p:cNvPr id="8" name="Text Placeholder 7">
            <a:extLst>
              <a:ext uri="{FF2B5EF4-FFF2-40B4-BE49-F238E27FC236}">
                <a16:creationId xmlns:a16="http://schemas.microsoft.com/office/drawing/2014/main" id="{3067B897-F929-1DAB-9217-DC94745E42AD}"/>
              </a:ext>
            </a:extLst>
          </p:cNvPr>
          <p:cNvSpPr>
            <a:spLocks noGrp="1"/>
          </p:cNvSpPr>
          <p:nvPr>
            <p:ph type="body" idx="1"/>
          </p:nvPr>
        </p:nvSpPr>
        <p:spPr/>
        <p:txBody>
          <a:bodyPr/>
          <a:lstStyle/>
          <a:p>
            <a:r>
              <a:rPr lang="en-SE" noProof="0" dirty="0"/>
              <a:t>The Point of Science</a:t>
            </a:r>
            <a:endParaRPr lang="en-US" noProof="0" dirty="0"/>
          </a:p>
        </p:txBody>
      </p:sp>
      <p:sp>
        <p:nvSpPr>
          <p:cNvPr id="4" name="Date Placeholder 3">
            <a:extLst>
              <a:ext uri="{FF2B5EF4-FFF2-40B4-BE49-F238E27FC236}">
                <a16:creationId xmlns:a16="http://schemas.microsoft.com/office/drawing/2014/main" id="{EF54AFD4-05CC-B4A2-9CC0-2CE880BE60A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2B5EEB5-6E9B-1E0C-19C8-42EEA3311B1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4626182-BD5C-EB4B-B865-8BB65026A580}"/>
              </a:ext>
            </a:extLst>
          </p:cNvPr>
          <p:cNvSpPr>
            <a:spLocks noGrp="1"/>
          </p:cNvSpPr>
          <p:nvPr>
            <p:ph type="sldNum" sz="quarter" idx="12"/>
          </p:nvPr>
        </p:nvSpPr>
        <p:spPr/>
        <p:txBody>
          <a:bodyPr/>
          <a:lstStyle/>
          <a:p>
            <a:fld id="{0FA2D919-C0DE-4971-A2E9-D4AC0031921B}" type="slidenum">
              <a:rPr lang="en-US" noProof="0" smtClean="0"/>
              <a:t>4</a:t>
            </a:fld>
            <a:endParaRPr lang="en-US" noProof="0" dirty="0"/>
          </a:p>
        </p:txBody>
      </p:sp>
    </p:spTree>
    <p:extLst>
      <p:ext uri="{BB962C8B-B14F-4D97-AF65-F5344CB8AC3E}">
        <p14:creationId xmlns:p14="http://schemas.microsoft.com/office/powerpoint/2010/main" val="351855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5957C06-52AA-BA28-9212-C7740C723A13}"/>
              </a:ext>
            </a:extLst>
          </p:cNvPr>
          <p:cNvSpPr>
            <a:spLocks noGrp="1"/>
          </p:cNvSpPr>
          <p:nvPr>
            <p:ph type="title"/>
          </p:nvPr>
        </p:nvSpPr>
        <p:spPr/>
        <p:txBody>
          <a:bodyPr/>
          <a:lstStyle/>
          <a:p>
            <a:r>
              <a:rPr lang="en-SE" dirty="0"/>
              <a:t>The Point of Science</a:t>
            </a:r>
          </a:p>
        </p:txBody>
      </p:sp>
      <p:sp>
        <p:nvSpPr>
          <p:cNvPr id="4" name="Date Placeholder 3">
            <a:extLst>
              <a:ext uri="{FF2B5EF4-FFF2-40B4-BE49-F238E27FC236}">
                <a16:creationId xmlns:a16="http://schemas.microsoft.com/office/drawing/2014/main" id="{B7285756-C963-D273-4C30-0827F1159D1E}"/>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E409F2DE-22E6-87A7-9F78-7CC2EC7F31C2}"/>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21BA9718-C308-0D07-2196-FB27661D19F1}"/>
              </a:ext>
            </a:extLst>
          </p:cNvPr>
          <p:cNvSpPr>
            <a:spLocks noGrp="1"/>
          </p:cNvSpPr>
          <p:nvPr>
            <p:ph type="sldNum" sz="quarter" idx="12"/>
          </p:nvPr>
        </p:nvSpPr>
        <p:spPr/>
        <p:txBody>
          <a:bodyPr/>
          <a:lstStyle/>
          <a:p>
            <a:fld id="{0FA2D919-C0DE-4971-A2E9-D4AC0031921B}" type="slidenum">
              <a:rPr lang="en-US" smtClean="0"/>
              <a:t>5</a:t>
            </a:fld>
            <a:endParaRPr lang="en-US"/>
          </a:p>
        </p:txBody>
      </p:sp>
      <p:grpSp>
        <p:nvGrpSpPr>
          <p:cNvPr id="13" name="Group 12">
            <a:extLst>
              <a:ext uri="{FF2B5EF4-FFF2-40B4-BE49-F238E27FC236}">
                <a16:creationId xmlns:a16="http://schemas.microsoft.com/office/drawing/2014/main" id="{0F4ECCE3-BDFB-57CC-98EF-FE40AEB6FC81}"/>
              </a:ext>
            </a:extLst>
          </p:cNvPr>
          <p:cNvGrpSpPr/>
          <p:nvPr/>
        </p:nvGrpSpPr>
        <p:grpSpPr>
          <a:xfrm>
            <a:off x="516421" y="1875336"/>
            <a:ext cx="3647303" cy="4300151"/>
            <a:chOff x="516421" y="1873443"/>
            <a:chExt cx="3647303" cy="4300151"/>
          </a:xfrm>
        </p:grpSpPr>
        <p:sp>
          <p:nvSpPr>
            <p:cNvPr id="2" name="Rectangle: Rounded Corners 1" descr="Piles of various wholegrain foods">
              <a:extLst>
                <a:ext uri="{FF2B5EF4-FFF2-40B4-BE49-F238E27FC236}">
                  <a16:creationId xmlns:a16="http://schemas.microsoft.com/office/drawing/2014/main" id="{CF969981-D2F5-E483-CECE-C52320B9CC6F}"/>
                </a:ext>
              </a:extLst>
            </p:cNvPr>
            <p:cNvSpPr/>
            <p:nvPr/>
          </p:nvSpPr>
          <p:spPr>
            <a:xfrm>
              <a:off x="516672" y="1873443"/>
              <a:ext cx="3646800" cy="4300151"/>
            </a:xfrm>
            <a:prstGeom prst="roundRect">
              <a:avLst/>
            </a:prstGeom>
            <a:blipFill>
              <a:blip r:embed="rId3">
                <a:extLst>
                  <a:ext uri="{28A0092B-C50C-407E-A947-70E740481C1C}">
                    <a14:useLocalDpi xmlns:a14="http://schemas.microsoft.com/office/drawing/2010/main" val="0"/>
                  </a:ext>
                </a:extLst>
              </a:blip>
              <a:srcRect/>
              <a:stretch>
                <a:fillRect l="-38458" r="-38458"/>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Rectangle: Rounded Corners 7">
              <a:extLst>
                <a:ext uri="{FF2B5EF4-FFF2-40B4-BE49-F238E27FC236}">
                  <a16:creationId xmlns:a16="http://schemas.microsoft.com/office/drawing/2014/main" id="{685AFD86-AFA8-AE95-A337-724F84209B53}"/>
                </a:ext>
              </a:extLst>
            </p:cNvPr>
            <p:cNvSpPr/>
            <p:nvPr/>
          </p:nvSpPr>
          <p:spPr>
            <a:xfrm>
              <a:off x="516421" y="1873443"/>
              <a:ext cx="3647303" cy="4300151"/>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Babylonian Diet Experiment</a:t>
              </a:r>
            </a:p>
            <a:p>
              <a:pPr algn="ctr"/>
              <a:r>
                <a:rPr lang="en-SE" dirty="0"/>
                <a:t>Does a plant-based diet imply better health than a diet consisting of meat &amp; wine?</a:t>
              </a:r>
            </a:p>
          </p:txBody>
        </p:sp>
      </p:grpSp>
      <p:grpSp>
        <p:nvGrpSpPr>
          <p:cNvPr id="14" name="Group 13">
            <a:extLst>
              <a:ext uri="{FF2B5EF4-FFF2-40B4-BE49-F238E27FC236}">
                <a16:creationId xmlns:a16="http://schemas.microsoft.com/office/drawing/2014/main" id="{3150B5B4-DC1B-4AD0-20AD-ECAD5BCF0582}"/>
              </a:ext>
            </a:extLst>
          </p:cNvPr>
          <p:cNvGrpSpPr/>
          <p:nvPr/>
        </p:nvGrpSpPr>
        <p:grpSpPr>
          <a:xfrm>
            <a:off x="4337484" y="1875336"/>
            <a:ext cx="3647303" cy="4300151"/>
            <a:chOff x="4506097" y="1877229"/>
            <a:chExt cx="3647303" cy="4300151"/>
          </a:xfrm>
        </p:grpSpPr>
        <p:sp>
          <p:nvSpPr>
            <p:cNvPr id="7" name="Rectangle: Rounded Corners 6" descr="Medicine bottles on shelf">
              <a:extLst>
                <a:ext uri="{FF2B5EF4-FFF2-40B4-BE49-F238E27FC236}">
                  <a16:creationId xmlns:a16="http://schemas.microsoft.com/office/drawing/2014/main" id="{E1B3A030-0A56-6999-0140-7F3A83EC6AAB}"/>
                </a:ext>
              </a:extLst>
            </p:cNvPr>
            <p:cNvSpPr/>
            <p:nvPr/>
          </p:nvSpPr>
          <p:spPr>
            <a:xfrm>
              <a:off x="4506097" y="1877229"/>
              <a:ext cx="3647303" cy="4300151"/>
            </a:xfrm>
            <a:prstGeom prst="roundRect">
              <a:avLst/>
            </a:prstGeom>
            <a:blipFill dpi="0" rotWithShape="1">
              <a:blip r:embed="rId4">
                <a:extLst>
                  <a:ext uri="{28A0092B-C50C-407E-A947-70E740481C1C}">
                    <a14:useLocalDpi xmlns:a14="http://schemas.microsoft.com/office/drawing/2010/main" val="0"/>
                  </a:ext>
                </a:extLst>
              </a:blip>
              <a:srcRect/>
              <a:stretch>
                <a:fillRect l="-38425" r="-38425"/>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Rectangle: Rounded Corners 10">
              <a:extLst>
                <a:ext uri="{FF2B5EF4-FFF2-40B4-BE49-F238E27FC236}">
                  <a16:creationId xmlns:a16="http://schemas.microsoft.com/office/drawing/2014/main" id="{8FD280F5-64FC-634D-ECC4-58741EA06649}"/>
                </a:ext>
              </a:extLst>
            </p:cNvPr>
            <p:cNvSpPr/>
            <p:nvPr/>
          </p:nvSpPr>
          <p:spPr>
            <a:xfrm>
              <a:off x="4506097" y="1877229"/>
              <a:ext cx="3647303" cy="4300151"/>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Medical Trials</a:t>
              </a:r>
            </a:p>
            <a:p>
              <a:pPr algn="ctr"/>
              <a:r>
                <a:rPr lang="en-SE" dirty="0"/>
                <a:t>What is the effect of introducing a (medical) substance to the human body?</a:t>
              </a:r>
            </a:p>
          </p:txBody>
        </p:sp>
      </p:grpSp>
      <p:grpSp>
        <p:nvGrpSpPr>
          <p:cNvPr id="15" name="Group 14">
            <a:extLst>
              <a:ext uri="{FF2B5EF4-FFF2-40B4-BE49-F238E27FC236}">
                <a16:creationId xmlns:a16="http://schemas.microsoft.com/office/drawing/2014/main" id="{D02C814B-193F-6BA5-64AC-6D1613DFD549}"/>
              </a:ext>
            </a:extLst>
          </p:cNvPr>
          <p:cNvGrpSpPr/>
          <p:nvPr/>
        </p:nvGrpSpPr>
        <p:grpSpPr>
          <a:xfrm>
            <a:off x="8158548" y="1875336"/>
            <a:ext cx="3647303" cy="4300151"/>
            <a:chOff x="8495771" y="1873444"/>
            <a:chExt cx="3647303" cy="4300151"/>
          </a:xfrm>
        </p:grpSpPr>
        <p:sp>
          <p:nvSpPr>
            <p:cNvPr id="3" name="Rectangle: Rounded Corners 2" descr="People working on a computer">
              <a:extLst>
                <a:ext uri="{FF2B5EF4-FFF2-40B4-BE49-F238E27FC236}">
                  <a16:creationId xmlns:a16="http://schemas.microsoft.com/office/drawing/2014/main" id="{23A32666-FA88-2C3D-AA8D-5DCDDFEC4BAD}"/>
                </a:ext>
              </a:extLst>
            </p:cNvPr>
            <p:cNvSpPr/>
            <p:nvPr/>
          </p:nvSpPr>
          <p:spPr>
            <a:xfrm>
              <a:off x="8495771" y="1873444"/>
              <a:ext cx="3647303" cy="4300151"/>
            </a:xfrm>
            <a:prstGeom prst="roundRect">
              <a:avLst/>
            </a:prstGeom>
            <a:blipFill dpi="0" rotWithShape="1">
              <a:blip r:embed="rId5">
                <a:extLst>
                  <a:ext uri="{28A0092B-C50C-407E-A947-70E740481C1C}">
                    <a14:useLocalDpi xmlns:a14="http://schemas.microsoft.com/office/drawing/2010/main" val="0"/>
                  </a:ext>
                </a:extLst>
              </a:blip>
              <a:srcRect/>
              <a:stretch>
                <a:fillRect l="-25193" r="-51657"/>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Rectangle: Rounded Corners 11">
              <a:extLst>
                <a:ext uri="{FF2B5EF4-FFF2-40B4-BE49-F238E27FC236}">
                  <a16:creationId xmlns:a16="http://schemas.microsoft.com/office/drawing/2014/main" id="{E5B4089C-CAC9-65A5-42D1-3F73FA898151}"/>
                </a:ext>
              </a:extLst>
            </p:cNvPr>
            <p:cNvSpPr/>
            <p:nvPr/>
          </p:nvSpPr>
          <p:spPr>
            <a:xfrm>
              <a:off x="8495771" y="1873444"/>
              <a:ext cx="3647303" cy="4300151"/>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Software Engineering Research</a:t>
              </a:r>
            </a:p>
            <a:p>
              <a:pPr algn="ctr"/>
              <a:r>
                <a:rPr lang="en-SE" dirty="0"/>
                <a:t>What is the effect of LLM-usage on the quality of software systems?</a:t>
              </a:r>
            </a:p>
          </p:txBody>
        </p:sp>
      </p:grpSp>
      <p:grpSp>
        <p:nvGrpSpPr>
          <p:cNvPr id="16" name="Group 15">
            <a:extLst>
              <a:ext uri="{FF2B5EF4-FFF2-40B4-BE49-F238E27FC236}">
                <a16:creationId xmlns:a16="http://schemas.microsoft.com/office/drawing/2014/main" id="{509575B8-EACB-95F5-28C2-31D531CCF10F}"/>
              </a:ext>
            </a:extLst>
          </p:cNvPr>
          <p:cNvGrpSpPr/>
          <p:nvPr/>
        </p:nvGrpSpPr>
        <p:grpSpPr>
          <a:xfrm>
            <a:off x="3462386" y="1330687"/>
            <a:ext cx="5267228" cy="720001"/>
            <a:chOff x="775412" y="5343664"/>
            <a:chExt cx="5267228" cy="720001"/>
          </a:xfrm>
        </p:grpSpPr>
        <p:sp>
          <p:nvSpPr>
            <p:cNvPr id="17" name="Rectangle: Rounded Corners 16">
              <a:extLst>
                <a:ext uri="{FF2B5EF4-FFF2-40B4-BE49-F238E27FC236}">
                  <a16:creationId xmlns:a16="http://schemas.microsoft.com/office/drawing/2014/main" id="{2565F329-A369-3CA5-FA28-C908CF109B6D}"/>
                </a:ext>
              </a:extLst>
            </p:cNvPr>
            <p:cNvSpPr/>
            <p:nvPr/>
          </p:nvSpPr>
          <p:spPr>
            <a:xfrm>
              <a:off x="775412" y="5343664"/>
              <a:ext cx="5267228" cy="720001"/>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noProof="0" dirty="0"/>
                <a:t>Science informs decision-making policies.</a:t>
              </a:r>
              <a:endParaRPr lang="en-US" baseline="30000" noProof="0" dirty="0"/>
            </a:p>
          </p:txBody>
        </p:sp>
        <p:pic>
          <p:nvPicPr>
            <p:cNvPr id="18" name="Graphic 17" descr="Open quotation mark with solid fill">
              <a:extLst>
                <a:ext uri="{FF2B5EF4-FFF2-40B4-BE49-F238E27FC236}">
                  <a16:creationId xmlns:a16="http://schemas.microsoft.com/office/drawing/2014/main" id="{28C97A0D-8036-E375-5277-0F63934D723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128452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anim calcmode="lin" valueType="num">
                                      <p:cBhvr>
                                        <p:cTn id="15" dur="500" fill="hold"/>
                                        <p:tgtEl>
                                          <p:spTgt spid="14"/>
                                        </p:tgtEl>
                                        <p:attrNameLst>
                                          <p:attrName>ppt_x</p:attrName>
                                        </p:attrNameLst>
                                      </p:cBhvr>
                                      <p:tavLst>
                                        <p:tav tm="0">
                                          <p:val>
                                            <p:strVal val="#ppt_x"/>
                                          </p:val>
                                        </p:tav>
                                        <p:tav tm="100000">
                                          <p:val>
                                            <p:strVal val="#ppt_x"/>
                                          </p:val>
                                        </p:tav>
                                      </p:tavLst>
                                    </p:anim>
                                    <p:anim calcmode="lin" valueType="num">
                                      <p:cBhvr>
                                        <p:cTn id="16"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anim calcmode="lin" valueType="num">
                                      <p:cBhvr>
                                        <p:cTn id="22" dur="500" fill="hold"/>
                                        <p:tgtEl>
                                          <p:spTgt spid="15"/>
                                        </p:tgtEl>
                                        <p:attrNameLst>
                                          <p:attrName>ppt_x</p:attrName>
                                        </p:attrNameLst>
                                      </p:cBhvr>
                                      <p:tavLst>
                                        <p:tav tm="0">
                                          <p:val>
                                            <p:strVal val="#ppt_x"/>
                                          </p:val>
                                        </p:tav>
                                        <p:tav tm="100000">
                                          <p:val>
                                            <p:strVal val="#ppt_x"/>
                                          </p:val>
                                        </p:tav>
                                      </p:tavLst>
                                    </p:anim>
                                    <p:anim calcmode="lin" valueType="num">
                                      <p:cBhvr>
                                        <p:cTn id="2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52DF2-9924-E4E5-1D92-43582D051907}"/>
              </a:ext>
            </a:extLst>
          </p:cNvPr>
          <p:cNvSpPr>
            <a:spLocks noGrp="1"/>
          </p:cNvSpPr>
          <p:nvPr>
            <p:ph type="title"/>
          </p:nvPr>
        </p:nvSpPr>
        <p:spPr/>
        <p:txBody>
          <a:bodyPr/>
          <a:lstStyle/>
          <a:p>
            <a:r>
              <a:rPr lang="en-SE" dirty="0"/>
              <a:t>Types of Scientific Studies</a:t>
            </a:r>
          </a:p>
        </p:txBody>
      </p:sp>
      <p:sp>
        <p:nvSpPr>
          <p:cNvPr id="4" name="Date Placeholder 3">
            <a:extLst>
              <a:ext uri="{FF2B5EF4-FFF2-40B4-BE49-F238E27FC236}">
                <a16:creationId xmlns:a16="http://schemas.microsoft.com/office/drawing/2014/main" id="{DA08F808-3AA2-ED31-CAA4-300B69A9722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B004B355-713E-9537-EAB6-744B5699D709}"/>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FE89A477-3ECA-53FB-72CE-661C9EBDC050}"/>
              </a:ext>
            </a:extLst>
          </p:cNvPr>
          <p:cNvSpPr>
            <a:spLocks noGrp="1"/>
          </p:cNvSpPr>
          <p:nvPr>
            <p:ph type="sldNum" sz="quarter" idx="12"/>
          </p:nvPr>
        </p:nvSpPr>
        <p:spPr/>
        <p:txBody>
          <a:bodyPr/>
          <a:lstStyle/>
          <a:p>
            <a:fld id="{0FA2D919-C0DE-4971-A2E9-D4AC0031921B}" type="slidenum">
              <a:rPr lang="en-US" smtClean="0"/>
              <a:t>6</a:t>
            </a:fld>
            <a:endParaRPr lang="en-US"/>
          </a:p>
        </p:txBody>
      </p:sp>
      <p:grpSp>
        <p:nvGrpSpPr>
          <p:cNvPr id="13" name="Group 12">
            <a:extLst>
              <a:ext uri="{FF2B5EF4-FFF2-40B4-BE49-F238E27FC236}">
                <a16:creationId xmlns:a16="http://schemas.microsoft.com/office/drawing/2014/main" id="{6A65BABC-542A-8511-4CA2-F4098320F3D7}"/>
              </a:ext>
            </a:extLst>
          </p:cNvPr>
          <p:cNvGrpSpPr/>
          <p:nvPr/>
        </p:nvGrpSpPr>
        <p:grpSpPr>
          <a:xfrm>
            <a:off x="838200" y="1967463"/>
            <a:ext cx="5381621" cy="1001000"/>
            <a:chOff x="838200" y="1967463"/>
            <a:chExt cx="5381621" cy="1001000"/>
          </a:xfrm>
        </p:grpSpPr>
        <p:sp>
          <p:nvSpPr>
            <p:cNvPr id="8" name="Rectangle: Rounded Corners 7" descr="Piles of various wholegrain foods">
              <a:extLst>
                <a:ext uri="{FF2B5EF4-FFF2-40B4-BE49-F238E27FC236}">
                  <a16:creationId xmlns:a16="http://schemas.microsoft.com/office/drawing/2014/main" id="{E2F63C88-0A57-1BC0-D512-C1493D807261}"/>
                </a:ext>
              </a:extLst>
            </p:cNvPr>
            <p:cNvSpPr/>
            <p:nvPr/>
          </p:nvSpPr>
          <p:spPr>
            <a:xfrm>
              <a:off x="838200" y="1967463"/>
              <a:ext cx="5381620" cy="1001000"/>
            </a:xfrm>
            <a:prstGeom prst="roundRect">
              <a:avLst/>
            </a:prstGeom>
            <a:blipFill>
              <a:blip r:embed="rId3">
                <a:extLst>
                  <a:ext uri="{28A0092B-C50C-407E-A947-70E740481C1C}">
                    <a14:useLocalDpi xmlns:a14="http://schemas.microsoft.com/office/drawing/2010/main" val="0"/>
                  </a:ext>
                </a:extLst>
              </a:blip>
              <a:srcRect/>
              <a:stretch>
                <a:fillRect t="-129164" b="-129164"/>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Rectangle: Rounded Corners 8">
              <a:extLst>
                <a:ext uri="{FF2B5EF4-FFF2-40B4-BE49-F238E27FC236}">
                  <a16:creationId xmlns:a16="http://schemas.microsoft.com/office/drawing/2014/main" id="{CA8D7FDB-CDF5-7510-BF96-D71C9D9297A7}"/>
                </a:ext>
              </a:extLst>
            </p:cNvPr>
            <p:cNvSpPr/>
            <p:nvPr/>
          </p:nvSpPr>
          <p:spPr>
            <a:xfrm>
              <a:off x="838201" y="1967463"/>
              <a:ext cx="5381620" cy="1001000"/>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Babylonian Diet Experiment</a:t>
              </a:r>
            </a:p>
          </p:txBody>
        </p:sp>
      </p:grpSp>
      <p:grpSp>
        <p:nvGrpSpPr>
          <p:cNvPr id="3" name="Group 2">
            <a:extLst>
              <a:ext uri="{FF2B5EF4-FFF2-40B4-BE49-F238E27FC236}">
                <a16:creationId xmlns:a16="http://schemas.microsoft.com/office/drawing/2014/main" id="{B161F0FD-F11C-D454-1656-F692A4186F93}"/>
              </a:ext>
            </a:extLst>
          </p:cNvPr>
          <p:cNvGrpSpPr/>
          <p:nvPr/>
        </p:nvGrpSpPr>
        <p:grpSpPr>
          <a:xfrm>
            <a:off x="6324600" y="1964123"/>
            <a:ext cx="5381621" cy="1004339"/>
            <a:chOff x="6324600" y="1964123"/>
            <a:chExt cx="5381621" cy="1004339"/>
          </a:xfrm>
        </p:grpSpPr>
        <p:sp>
          <p:nvSpPr>
            <p:cNvPr id="11" name="Rectangle: Rounded Corners 10" descr="Smoke from factory">
              <a:extLst>
                <a:ext uri="{FF2B5EF4-FFF2-40B4-BE49-F238E27FC236}">
                  <a16:creationId xmlns:a16="http://schemas.microsoft.com/office/drawing/2014/main" id="{00EA9AE0-17FE-2274-7FBC-065D1AF17BE7}"/>
                </a:ext>
              </a:extLst>
            </p:cNvPr>
            <p:cNvSpPr/>
            <p:nvPr/>
          </p:nvSpPr>
          <p:spPr>
            <a:xfrm>
              <a:off x="6324601" y="1964124"/>
              <a:ext cx="5381620" cy="1001001"/>
            </a:xfrm>
            <a:prstGeom prst="roundRect">
              <a:avLst/>
            </a:prstGeom>
            <a:blipFill dpi="0" rotWithShape="1">
              <a:blip r:embed="rId4">
                <a:extLst>
                  <a:ext uri="{28A0092B-C50C-407E-A947-70E740481C1C}">
                    <a14:useLocalDpi xmlns:a14="http://schemas.microsoft.com/office/drawing/2010/main" val="0"/>
                  </a:ext>
                </a:extLst>
              </a:blip>
              <a:srcRect/>
              <a:stretch>
                <a:fillRect l="230" t="-139279" r="-230" b="-119527"/>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Rectangle: Rounded Corners 11">
              <a:extLst>
                <a:ext uri="{FF2B5EF4-FFF2-40B4-BE49-F238E27FC236}">
                  <a16:creationId xmlns:a16="http://schemas.microsoft.com/office/drawing/2014/main" id="{EA89E9D7-581C-B0CC-E5AB-1EE55FD6DD14}"/>
                </a:ext>
              </a:extLst>
            </p:cNvPr>
            <p:cNvSpPr/>
            <p:nvPr/>
          </p:nvSpPr>
          <p:spPr>
            <a:xfrm>
              <a:off x="6324600" y="1964123"/>
              <a:ext cx="5381621" cy="1004339"/>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Does Smoking cause Harm? </a:t>
              </a:r>
            </a:p>
          </p:txBody>
        </p:sp>
      </p:grpSp>
      <p:sp>
        <p:nvSpPr>
          <p:cNvPr id="14" name="TextBox 13">
            <a:extLst>
              <a:ext uri="{FF2B5EF4-FFF2-40B4-BE49-F238E27FC236}">
                <a16:creationId xmlns:a16="http://schemas.microsoft.com/office/drawing/2014/main" id="{60676E60-ACFC-21CD-0AFB-E4B8391CA015}"/>
              </a:ext>
            </a:extLst>
          </p:cNvPr>
          <p:cNvSpPr txBox="1"/>
          <p:nvPr/>
        </p:nvSpPr>
        <p:spPr>
          <a:xfrm>
            <a:off x="838200" y="3144353"/>
            <a:ext cx="5381620" cy="1200329"/>
          </a:xfrm>
          <a:prstGeom prst="rect">
            <a:avLst/>
          </a:prstGeom>
          <a:noFill/>
        </p:spPr>
        <p:txBody>
          <a:bodyPr wrap="square" rtlCol="0">
            <a:spAutoFit/>
          </a:bodyPr>
          <a:lstStyle/>
          <a:p>
            <a:pPr algn="just"/>
            <a:r>
              <a:rPr lang="en-SE" dirty="0"/>
              <a:t>We can safely and ethically </a:t>
            </a:r>
            <a:r>
              <a:rPr lang="en-SE" b="1" dirty="0"/>
              <a:t>control </a:t>
            </a:r>
            <a:r>
              <a:rPr lang="en-SE" dirty="0"/>
              <a:t>the factor of interest (diet), i.e., assign one of two diets (plant- vs. meat-based) to all subjects of our study and record their health outcome.</a:t>
            </a:r>
          </a:p>
        </p:txBody>
      </p:sp>
      <p:sp>
        <p:nvSpPr>
          <p:cNvPr id="15" name="TextBox 14">
            <a:extLst>
              <a:ext uri="{FF2B5EF4-FFF2-40B4-BE49-F238E27FC236}">
                <a16:creationId xmlns:a16="http://schemas.microsoft.com/office/drawing/2014/main" id="{730A8905-CA32-1AA8-96E6-63109E59B461}"/>
              </a:ext>
            </a:extLst>
          </p:cNvPr>
          <p:cNvSpPr txBox="1"/>
          <p:nvPr/>
        </p:nvSpPr>
        <p:spPr>
          <a:xfrm>
            <a:off x="6324601" y="3144353"/>
            <a:ext cx="5381620" cy="1200329"/>
          </a:xfrm>
          <a:prstGeom prst="rect">
            <a:avLst/>
          </a:prstGeom>
          <a:noFill/>
        </p:spPr>
        <p:txBody>
          <a:bodyPr wrap="square" rtlCol="0">
            <a:spAutoFit/>
          </a:bodyPr>
          <a:lstStyle/>
          <a:p>
            <a:pPr algn="just"/>
            <a:r>
              <a:rPr lang="en-SE" dirty="0"/>
              <a:t>We cannot force subjects to smoke, we can only </a:t>
            </a:r>
            <a:r>
              <a:rPr lang="en-SE" b="1" dirty="0"/>
              <a:t>observe</a:t>
            </a:r>
            <a:r>
              <a:rPr lang="en-SE" dirty="0"/>
              <a:t> their natural behaviour (whether they already smoke or not) as well as their health outcome.</a:t>
            </a:r>
          </a:p>
        </p:txBody>
      </p:sp>
      <p:sp>
        <p:nvSpPr>
          <p:cNvPr id="16" name="TextBox 15">
            <a:extLst>
              <a:ext uri="{FF2B5EF4-FFF2-40B4-BE49-F238E27FC236}">
                <a16:creationId xmlns:a16="http://schemas.microsoft.com/office/drawing/2014/main" id="{7672AC0D-325D-BE4F-17E9-3E011D651899}"/>
              </a:ext>
            </a:extLst>
          </p:cNvPr>
          <p:cNvSpPr txBox="1"/>
          <p:nvPr/>
        </p:nvSpPr>
        <p:spPr>
          <a:xfrm>
            <a:off x="838200" y="4379966"/>
            <a:ext cx="5381620" cy="461665"/>
          </a:xfrm>
          <a:prstGeom prst="rect">
            <a:avLst/>
          </a:prstGeom>
          <a:noFill/>
        </p:spPr>
        <p:txBody>
          <a:bodyPr wrap="square" rtlCol="0">
            <a:spAutoFit/>
          </a:bodyPr>
          <a:lstStyle/>
          <a:p>
            <a:pPr algn="just"/>
            <a:r>
              <a:rPr lang="en-SE" sz="2400" dirty="0"/>
              <a:t>→ (controlled) experimental studies</a:t>
            </a:r>
          </a:p>
        </p:txBody>
      </p:sp>
      <p:sp>
        <p:nvSpPr>
          <p:cNvPr id="17" name="TextBox 16">
            <a:extLst>
              <a:ext uri="{FF2B5EF4-FFF2-40B4-BE49-F238E27FC236}">
                <a16:creationId xmlns:a16="http://schemas.microsoft.com/office/drawing/2014/main" id="{9FD5A8EC-4ECA-B3AA-8F9B-DF70A283CA68}"/>
              </a:ext>
            </a:extLst>
          </p:cNvPr>
          <p:cNvSpPr txBox="1"/>
          <p:nvPr/>
        </p:nvSpPr>
        <p:spPr>
          <a:xfrm>
            <a:off x="6324601" y="4344682"/>
            <a:ext cx="5381620" cy="461665"/>
          </a:xfrm>
          <a:prstGeom prst="rect">
            <a:avLst/>
          </a:prstGeom>
          <a:noFill/>
        </p:spPr>
        <p:txBody>
          <a:bodyPr wrap="square" rtlCol="0">
            <a:spAutoFit/>
          </a:bodyPr>
          <a:lstStyle/>
          <a:p>
            <a:pPr algn="just"/>
            <a:r>
              <a:rPr lang="en-SE" sz="2400" dirty="0"/>
              <a:t>→ observational studies</a:t>
            </a:r>
          </a:p>
        </p:txBody>
      </p:sp>
      <p:grpSp>
        <p:nvGrpSpPr>
          <p:cNvPr id="18" name="Group 17">
            <a:extLst>
              <a:ext uri="{FF2B5EF4-FFF2-40B4-BE49-F238E27FC236}">
                <a16:creationId xmlns:a16="http://schemas.microsoft.com/office/drawing/2014/main" id="{754D2EFD-A4C9-2118-CAFD-E50162E2E0AF}"/>
              </a:ext>
            </a:extLst>
          </p:cNvPr>
          <p:cNvGrpSpPr/>
          <p:nvPr/>
        </p:nvGrpSpPr>
        <p:grpSpPr>
          <a:xfrm>
            <a:off x="6324601" y="4962488"/>
            <a:ext cx="6035039" cy="1165045"/>
            <a:chOff x="775411" y="5230368"/>
            <a:chExt cx="6035039" cy="1165045"/>
          </a:xfrm>
          <a:solidFill>
            <a:schemeClr val="accent1">
              <a:lumMod val="50000"/>
            </a:schemeClr>
          </a:solidFill>
        </p:grpSpPr>
        <p:sp>
          <p:nvSpPr>
            <p:cNvPr id="19" name="Rectangle: Rounded Corners 18">
              <a:extLst>
                <a:ext uri="{FF2B5EF4-FFF2-40B4-BE49-F238E27FC236}">
                  <a16:creationId xmlns:a16="http://schemas.microsoft.com/office/drawing/2014/main" id="{21C781EB-AB17-F230-D666-A18960E9C139}"/>
                </a:ext>
              </a:extLst>
            </p:cNvPr>
            <p:cNvSpPr/>
            <p:nvPr/>
          </p:nvSpPr>
          <p:spPr>
            <a:xfrm>
              <a:off x="775411" y="5230368"/>
              <a:ext cx="6035039" cy="1165045"/>
            </a:xfrm>
            <a:prstGeom prst="roundRect">
              <a:avLst/>
            </a:prstGeom>
            <a:gr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noProof="0" dirty="0"/>
                <a:t>But what if an observation that smokers have worse health is caused by another factor (e.g., social status or general health)?</a:t>
              </a:r>
              <a:endParaRPr lang="en-US" baseline="30000" noProof="0" dirty="0"/>
            </a:p>
          </p:txBody>
        </p:sp>
        <p:pic>
          <p:nvPicPr>
            <p:cNvPr id="20" name="Graphic 19" descr="Warning with solid fill">
              <a:extLst>
                <a:ext uri="{FF2B5EF4-FFF2-40B4-BE49-F238E27FC236}">
                  <a16:creationId xmlns:a16="http://schemas.microsoft.com/office/drawing/2014/main" id="{06A1D9FD-21DD-892A-C491-594A42C5CDD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98979" y="5601796"/>
              <a:ext cx="422187" cy="422187"/>
            </a:xfrm>
            <a:prstGeom prst="rect">
              <a:avLst/>
            </a:prstGeom>
          </p:spPr>
        </p:pic>
      </p:grpSp>
    </p:spTree>
    <p:extLst>
      <p:ext uri="{BB962C8B-B14F-4D97-AF65-F5344CB8AC3E}">
        <p14:creationId xmlns:p14="http://schemas.microsoft.com/office/powerpoint/2010/main" val="125511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anim calcmode="lin" valueType="num">
                                      <p:cBhvr>
                                        <p:cTn id="22" dur="500" fill="hold"/>
                                        <p:tgtEl>
                                          <p:spTgt spid="18"/>
                                        </p:tgtEl>
                                        <p:attrNameLst>
                                          <p:attrName>ppt_x</p:attrName>
                                        </p:attrNameLst>
                                      </p:cBhvr>
                                      <p:tavLst>
                                        <p:tav tm="0">
                                          <p:val>
                                            <p:strVal val="#ppt_x"/>
                                          </p:val>
                                        </p:tav>
                                        <p:tav tm="100000">
                                          <p:val>
                                            <p:strVal val="#ppt_x"/>
                                          </p:val>
                                        </p:tav>
                                      </p:tavLst>
                                    </p:anim>
                                    <p:anim calcmode="lin" valueType="num">
                                      <p:cBhvr>
                                        <p:cTn id="2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EE2DD-5970-A0B9-CE7F-2DF3D359B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6671F-7B54-B3B2-D0F3-978859CE122A}"/>
              </a:ext>
            </a:extLst>
          </p:cNvPr>
          <p:cNvSpPr>
            <a:spLocks noGrp="1"/>
          </p:cNvSpPr>
          <p:nvPr>
            <p:ph type="title"/>
          </p:nvPr>
        </p:nvSpPr>
        <p:spPr/>
        <p:txBody>
          <a:bodyPr/>
          <a:lstStyle/>
          <a:p>
            <a:r>
              <a:rPr lang="en-SE" dirty="0"/>
              <a:t>Types of Scientific Evidence</a:t>
            </a:r>
          </a:p>
        </p:txBody>
      </p:sp>
      <p:sp>
        <p:nvSpPr>
          <p:cNvPr id="4" name="Date Placeholder 3">
            <a:extLst>
              <a:ext uri="{FF2B5EF4-FFF2-40B4-BE49-F238E27FC236}">
                <a16:creationId xmlns:a16="http://schemas.microsoft.com/office/drawing/2014/main" id="{7A0135FE-3D88-80B5-556B-CF155C4B976E}"/>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3D2B8EB2-444A-FB19-ACB5-134D226DFF67}"/>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3C58EF46-FB09-F52B-BA0C-FA48AA5352CD}"/>
              </a:ext>
            </a:extLst>
          </p:cNvPr>
          <p:cNvSpPr>
            <a:spLocks noGrp="1"/>
          </p:cNvSpPr>
          <p:nvPr>
            <p:ph type="sldNum" sz="quarter" idx="12"/>
          </p:nvPr>
        </p:nvSpPr>
        <p:spPr/>
        <p:txBody>
          <a:bodyPr/>
          <a:lstStyle/>
          <a:p>
            <a:fld id="{0FA2D919-C0DE-4971-A2E9-D4AC0031921B}" type="slidenum">
              <a:rPr lang="en-US" smtClean="0"/>
              <a:t>7</a:t>
            </a:fld>
            <a:endParaRPr lang="en-US"/>
          </a:p>
        </p:txBody>
      </p:sp>
      <p:grpSp>
        <p:nvGrpSpPr>
          <p:cNvPr id="13" name="Group 12">
            <a:extLst>
              <a:ext uri="{FF2B5EF4-FFF2-40B4-BE49-F238E27FC236}">
                <a16:creationId xmlns:a16="http://schemas.microsoft.com/office/drawing/2014/main" id="{F59A1E54-6B3E-C38E-6D97-60B63DDD3E3D}"/>
              </a:ext>
            </a:extLst>
          </p:cNvPr>
          <p:cNvGrpSpPr/>
          <p:nvPr/>
        </p:nvGrpSpPr>
        <p:grpSpPr>
          <a:xfrm>
            <a:off x="838200" y="1967463"/>
            <a:ext cx="5381621" cy="1001000"/>
            <a:chOff x="838200" y="1967463"/>
            <a:chExt cx="5381621" cy="1001000"/>
          </a:xfrm>
        </p:grpSpPr>
        <p:sp>
          <p:nvSpPr>
            <p:cNvPr id="8" name="Rectangle: Rounded Corners 7" descr="Piles of various wholegrain foods">
              <a:extLst>
                <a:ext uri="{FF2B5EF4-FFF2-40B4-BE49-F238E27FC236}">
                  <a16:creationId xmlns:a16="http://schemas.microsoft.com/office/drawing/2014/main" id="{1925F18E-FD41-355F-7126-28E7431C0C52}"/>
                </a:ext>
              </a:extLst>
            </p:cNvPr>
            <p:cNvSpPr/>
            <p:nvPr/>
          </p:nvSpPr>
          <p:spPr>
            <a:xfrm>
              <a:off x="838200" y="1967463"/>
              <a:ext cx="5381620" cy="1001000"/>
            </a:xfrm>
            <a:prstGeom prst="roundRect">
              <a:avLst/>
            </a:prstGeom>
            <a:blipFill>
              <a:blip r:embed="rId3">
                <a:extLst>
                  <a:ext uri="{28A0092B-C50C-407E-A947-70E740481C1C}">
                    <a14:useLocalDpi xmlns:a14="http://schemas.microsoft.com/office/drawing/2010/main" val="0"/>
                  </a:ext>
                </a:extLst>
              </a:blip>
              <a:srcRect/>
              <a:stretch>
                <a:fillRect t="-129164" b="-129164"/>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Rectangle: Rounded Corners 8">
              <a:extLst>
                <a:ext uri="{FF2B5EF4-FFF2-40B4-BE49-F238E27FC236}">
                  <a16:creationId xmlns:a16="http://schemas.microsoft.com/office/drawing/2014/main" id="{62D95ACA-35B7-D7C2-FD42-BFFC01AC9F14}"/>
                </a:ext>
              </a:extLst>
            </p:cNvPr>
            <p:cNvSpPr/>
            <p:nvPr/>
          </p:nvSpPr>
          <p:spPr>
            <a:xfrm>
              <a:off x="838201" y="1967463"/>
              <a:ext cx="5381620" cy="1001000"/>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Experimental Studies</a:t>
              </a:r>
            </a:p>
          </p:txBody>
        </p:sp>
      </p:grpSp>
      <p:sp>
        <p:nvSpPr>
          <p:cNvPr id="11" name="Rectangle: Rounded Corners 10" descr="Smoke from factory">
            <a:extLst>
              <a:ext uri="{FF2B5EF4-FFF2-40B4-BE49-F238E27FC236}">
                <a16:creationId xmlns:a16="http://schemas.microsoft.com/office/drawing/2014/main" id="{CE62FCCA-A632-89FE-31C1-FCE3A0E0037D}"/>
              </a:ext>
            </a:extLst>
          </p:cNvPr>
          <p:cNvSpPr/>
          <p:nvPr/>
        </p:nvSpPr>
        <p:spPr>
          <a:xfrm>
            <a:off x="6324601" y="1967463"/>
            <a:ext cx="5381620" cy="1001001"/>
          </a:xfrm>
          <a:prstGeom prst="roundRect">
            <a:avLst/>
          </a:prstGeom>
          <a:blipFill dpi="0" rotWithShape="1">
            <a:blip r:embed="rId4">
              <a:extLst>
                <a:ext uri="{28A0092B-C50C-407E-A947-70E740481C1C}">
                  <a14:useLocalDpi xmlns:a14="http://schemas.microsoft.com/office/drawing/2010/main" val="0"/>
                </a:ext>
              </a:extLst>
            </a:blip>
            <a:srcRect/>
            <a:stretch>
              <a:fillRect l="230" t="-139279" r="-230" b="-119527"/>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Rectangle: Rounded Corners 11">
            <a:extLst>
              <a:ext uri="{FF2B5EF4-FFF2-40B4-BE49-F238E27FC236}">
                <a16:creationId xmlns:a16="http://schemas.microsoft.com/office/drawing/2014/main" id="{AFC7C919-0E7B-5A4E-EF96-B385547A2052}"/>
              </a:ext>
            </a:extLst>
          </p:cNvPr>
          <p:cNvSpPr/>
          <p:nvPr/>
        </p:nvSpPr>
        <p:spPr>
          <a:xfrm>
            <a:off x="6324601" y="1960785"/>
            <a:ext cx="5381620" cy="1007678"/>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Observational Studies</a:t>
            </a:r>
          </a:p>
        </p:txBody>
      </p:sp>
      <p:sp>
        <p:nvSpPr>
          <p:cNvPr id="14" name="TextBox 13">
            <a:extLst>
              <a:ext uri="{FF2B5EF4-FFF2-40B4-BE49-F238E27FC236}">
                <a16:creationId xmlns:a16="http://schemas.microsoft.com/office/drawing/2014/main" id="{E0C55E41-5B91-AAEC-A5DE-83C9BECA784A}"/>
              </a:ext>
            </a:extLst>
          </p:cNvPr>
          <p:cNvSpPr txBox="1"/>
          <p:nvPr/>
        </p:nvSpPr>
        <p:spPr>
          <a:xfrm>
            <a:off x="838200" y="3144353"/>
            <a:ext cx="5381620" cy="923330"/>
          </a:xfrm>
          <a:prstGeom prst="rect">
            <a:avLst/>
          </a:prstGeom>
          <a:noFill/>
        </p:spPr>
        <p:txBody>
          <a:bodyPr wrap="square" rtlCol="0">
            <a:spAutoFit/>
          </a:bodyPr>
          <a:lstStyle/>
          <a:p>
            <a:pPr algn="just"/>
            <a:r>
              <a:rPr lang="en-SE" dirty="0"/>
              <a:t>If we only vary one particular factor (e.g., the diet), we can assume that any change in health </a:t>
            </a:r>
            <a:r>
              <a:rPr lang="en-SE" b="1" dirty="0"/>
              <a:t>is caused</a:t>
            </a:r>
            <a:r>
              <a:rPr lang="en-SE" dirty="0"/>
              <a:t> by this factor. </a:t>
            </a:r>
          </a:p>
        </p:txBody>
      </p:sp>
      <p:sp>
        <p:nvSpPr>
          <p:cNvPr id="15" name="TextBox 14">
            <a:extLst>
              <a:ext uri="{FF2B5EF4-FFF2-40B4-BE49-F238E27FC236}">
                <a16:creationId xmlns:a16="http://schemas.microsoft.com/office/drawing/2014/main" id="{4E515278-0DD6-880F-4432-072B178473CF}"/>
              </a:ext>
            </a:extLst>
          </p:cNvPr>
          <p:cNvSpPr txBox="1"/>
          <p:nvPr/>
        </p:nvSpPr>
        <p:spPr>
          <a:xfrm>
            <a:off x="6324601" y="3144353"/>
            <a:ext cx="5381620" cy="1200329"/>
          </a:xfrm>
          <a:prstGeom prst="rect">
            <a:avLst/>
          </a:prstGeom>
          <a:noFill/>
        </p:spPr>
        <p:txBody>
          <a:bodyPr wrap="square" rtlCol="0">
            <a:spAutoFit/>
          </a:bodyPr>
          <a:lstStyle/>
          <a:p>
            <a:pPr algn="just"/>
            <a:r>
              <a:rPr lang="en-SE" dirty="0"/>
              <a:t>If several factors vary (e.g., social status, general health) in addition to the one of interest (i.e., smoking), we only know that any change in health </a:t>
            </a:r>
            <a:r>
              <a:rPr lang="en-SE" b="1" dirty="0"/>
              <a:t>is correlated </a:t>
            </a:r>
            <a:r>
              <a:rPr lang="en-SE" dirty="0"/>
              <a:t>with the main factor.</a:t>
            </a:r>
          </a:p>
        </p:txBody>
      </p:sp>
      <p:sp>
        <p:nvSpPr>
          <p:cNvPr id="3" name="TextBox 2">
            <a:extLst>
              <a:ext uri="{FF2B5EF4-FFF2-40B4-BE49-F238E27FC236}">
                <a16:creationId xmlns:a16="http://schemas.microsoft.com/office/drawing/2014/main" id="{66BB4421-D2B6-E114-D083-D043B2368646}"/>
              </a:ext>
            </a:extLst>
          </p:cNvPr>
          <p:cNvSpPr txBox="1"/>
          <p:nvPr/>
        </p:nvSpPr>
        <p:spPr>
          <a:xfrm>
            <a:off x="838200" y="4381019"/>
            <a:ext cx="5381620" cy="646331"/>
          </a:xfrm>
          <a:prstGeom prst="rect">
            <a:avLst/>
          </a:prstGeom>
          <a:noFill/>
        </p:spPr>
        <p:txBody>
          <a:bodyPr wrap="square" rtlCol="0">
            <a:spAutoFit/>
          </a:bodyPr>
          <a:lstStyle/>
          <a:p>
            <a:pPr algn="just"/>
            <a:r>
              <a:rPr lang="en-SE" dirty="0"/>
              <a:t>Changing that factor (i.e., switching ones diet) </a:t>
            </a:r>
            <a:r>
              <a:rPr lang="en-SE" i="1" dirty="0"/>
              <a:t>should</a:t>
            </a:r>
            <a:r>
              <a:rPr lang="en-SE" dirty="0"/>
              <a:t> show the same effect in any person.</a:t>
            </a:r>
          </a:p>
        </p:txBody>
      </p:sp>
      <p:sp>
        <p:nvSpPr>
          <p:cNvPr id="7" name="TextBox 6">
            <a:extLst>
              <a:ext uri="{FF2B5EF4-FFF2-40B4-BE49-F238E27FC236}">
                <a16:creationId xmlns:a16="http://schemas.microsoft.com/office/drawing/2014/main" id="{81CE4C00-335E-D1E4-F0A9-5F39317EEE74}"/>
              </a:ext>
            </a:extLst>
          </p:cNvPr>
          <p:cNvSpPr txBox="1"/>
          <p:nvPr/>
        </p:nvSpPr>
        <p:spPr>
          <a:xfrm>
            <a:off x="6324601" y="4381019"/>
            <a:ext cx="5381620" cy="1200329"/>
          </a:xfrm>
          <a:prstGeom prst="rect">
            <a:avLst/>
          </a:prstGeom>
          <a:noFill/>
        </p:spPr>
        <p:txBody>
          <a:bodyPr wrap="square" rtlCol="0">
            <a:spAutoFit/>
          </a:bodyPr>
          <a:lstStyle/>
          <a:p>
            <a:pPr algn="just"/>
            <a:r>
              <a:rPr lang="en-SE" dirty="0"/>
              <a:t>Changing that factor (i.e., stopping to smoke) </a:t>
            </a:r>
            <a:r>
              <a:rPr lang="en-SE" i="1" dirty="0"/>
              <a:t>might not show</a:t>
            </a:r>
            <a:r>
              <a:rPr lang="en-SE" dirty="0"/>
              <a:t> the same effect in any person as the other factors that remain the same may be responsible for the effect (i.e., change in health).</a:t>
            </a:r>
          </a:p>
        </p:txBody>
      </p:sp>
    </p:spTree>
    <p:extLst>
      <p:ext uri="{BB962C8B-B14F-4D97-AF65-F5344CB8AC3E}">
        <p14:creationId xmlns:p14="http://schemas.microsoft.com/office/powerpoint/2010/main" val="177900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3"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7C81C-A1BF-D1B7-2640-4711CFF699F8}"/>
              </a:ext>
            </a:extLst>
          </p:cNvPr>
          <p:cNvSpPr>
            <a:spLocks noGrp="1"/>
          </p:cNvSpPr>
          <p:nvPr>
            <p:ph type="title"/>
          </p:nvPr>
        </p:nvSpPr>
        <p:spPr/>
        <p:txBody>
          <a:bodyPr/>
          <a:lstStyle/>
          <a:p>
            <a:r>
              <a:rPr lang="en-US" noProof="0" dirty="0"/>
              <a:t>Correlation versus Causality</a:t>
            </a:r>
          </a:p>
        </p:txBody>
      </p:sp>
      <p:sp>
        <p:nvSpPr>
          <p:cNvPr id="3" name="Content Placeholder 2">
            <a:extLst>
              <a:ext uri="{FF2B5EF4-FFF2-40B4-BE49-F238E27FC236}">
                <a16:creationId xmlns:a16="http://schemas.microsoft.com/office/drawing/2014/main" id="{FA80506F-FEDE-9318-E20E-0AA487F45151}"/>
              </a:ext>
            </a:extLst>
          </p:cNvPr>
          <p:cNvSpPr>
            <a:spLocks noGrp="1"/>
          </p:cNvSpPr>
          <p:nvPr>
            <p:ph idx="1"/>
          </p:nvPr>
        </p:nvSpPr>
        <p:spPr>
          <a:xfrm>
            <a:off x="838200" y="3672921"/>
            <a:ext cx="10515600" cy="1466215"/>
          </a:xfrm>
        </p:spPr>
        <p:txBody>
          <a:bodyPr>
            <a:normAutofit fontScale="92500" lnSpcReduction="10000"/>
          </a:bodyPr>
          <a:lstStyle/>
          <a:p>
            <a:pPr marL="0" indent="0" algn="just">
              <a:buNone/>
            </a:pPr>
            <a:r>
              <a:rPr lang="en-US" noProof="0" dirty="0"/>
              <a:t>If we want to make a </a:t>
            </a:r>
            <a:r>
              <a:rPr lang="en-US" b="1" noProof="0" dirty="0"/>
              <a:t>positive impact </a:t>
            </a:r>
            <a:r>
              <a:rPr lang="en-US" noProof="0" dirty="0"/>
              <a:t>on the target audience of our research (i.e.,</a:t>
            </a:r>
            <a:r>
              <a:rPr lang="en-SE" dirty="0"/>
              <a:t> software engineers</a:t>
            </a:r>
            <a:r>
              <a:rPr lang="en-US" noProof="0" dirty="0"/>
              <a:t>), we need to provide </a:t>
            </a:r>
            <a:r>
              <a:rPr lang="en-US" b="1" noProof="0" dirty="0"/>
              <a:t>reliable </a:t>
            </a:r>
            <a:r>
              <a:rPr lang="en-SE" b="1" noProof="0" dirty="0"/>
              <a:t>decision-making policies </a:t>
            </a:r>
            <a:r>
              <a:rPr lang="en-US" noProof="0" dirty="0"/>
              <a:t>– which we can only derive from </a:t>
            </a:r>
            <a:r>
              <a:rPr lang="en-US" b="1" noProof="0" dirty="0"/>
              <a:t>causal</a:t>
            </a:r>
            <a:r>
              <a:rPr lang="en-US" noProof="0" dirty="0"/>
              <a:t> relationships, not correlations.</a:t>
            </a:r>
          </a:p>
        </p:txBody>
      </p:sp>
      <p:sp>
        <p:nvSpPr>
          <p:cNvPr id="4" name="Date Placeholder 3">
            <a:extLst>
              <a:ext uri="{FF2B5EF4-FFF2-40B4-BE49-F238E27FC236}">
                <a16:creationId xmlns:a16="http://schemas.microsoft.com/office/drawing/2014/main" id="{72313719-8DAA-FA36-43B1-A46D784E276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633E04D-DEE9-84E5-4792-98F8AEAFB76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49DE150-6A02-E9B2-9B95-D357B96496D9}"/>
              </a:ext>
            </a:extLst>
          </p:cNvPr>
          <p:cNvSpPr>
            <a:spLocks noGrp="1"/>
          </p:cNvSpPr>
          <p:nvPr>
            <p:ph type="sldNum" sz="quarter" idx="12"/>
          </p:nvPr>
        </p:nvSpPr>
        <p:spPr/>
        <p:txBody>
          <a:bodyPr/>
          <a:lstStyle/>
          <a:p>
            <a:fld id="{0FA2D919-C0DE-4971-A2E9-D4AC0031921B}" type="slidenum">
              <a:rPr lang="en-US" noProof="0" smtClean="0"/>
              <a:t>8</a:t>
            </a:fld>
            <a:endParaRPr lang="en-US" noProof="0" dirty="0"/>
          </a:p>
        </p:txBody>
      </p:sp>
      <p:sp>
        <p:nvSpPr>
          <p:cNvPr id="9" name="TextBox 8">
            <a:extLst>
              <a:ext uri="{FF2B5EF4-FFF2-40B4-BE49-F238E27FC236}">
                <a16:creationId xmlns:a16="http://schemas.microsoft.com/office/drawing/2014/main" id="{AFCAAE86-A36C-9BC5-0C25-FDDB6D92FB7D}"/>
              </a:ext>
            </a:extLst>
          </p:cNvPr>
          <p:cNvSpPr txBox="1"/>
          <p:nvPr/>
        </p:nvSpPr>
        <p:spPr>
          <a:xfrm>
            <a:off x="5909461" y="6082541"/>
            <a:ext cx="3204058" cy="276999"/>
          </a:xfrm>
          <a:prstGeom prst="rect">
            <a:avLst/>
          </a:prstGeom>
          <a:noFill/>
        </p:spPr>
        <p:txBody>
          <a:bodyPr wrap="square">
            <a:spAutoFit/>
          </a:bodyPr>
          <a:lstStyle/>
          <a:p>
            <a:pPr algn="r"/>
            <a:r>
              <a:rPr lang="en-US" sz="1200" baseline="30000" noProof="0" dirty="0"/>
              <a:t>1</a:t>
            </a:r>
            <a:r>
              <a:rPr lang="en-US" sz="1200" noProof="0" dirty="0"/>
              <a:t>we’ll revisit this statement later</a:t>
            </a:r>
          </a:p>
        </p:txBody>
      </p:sp>
      <p:grpSp>
        <p:nvGrpSpPr>
          <p:cNvPr id="12" name="Group 11">
            <a:extLst>
              <a:ext uri="{FF2B5EF4-FFF2-40B4-BE49-F238E27FC236}">
                <a16:creationId xmlns:a16="http://schemas.microsoft.com/office/drawing/2014/main" id="{AF0170DD-3F15-69DF-BF1B-A2CD4898C771}"/>
              </a:ext>
            </a:extLst>
          </p:cNvPr>
          <p:cNvGrpSpPr/>
          <p:nvPr/>
        </p:nvGrpSpPr>
        <p:grpSpPr>
          <a:xfrm>
            <a:off x="3078480" y="5139136"/>
            <a:ext cx="6035039" cy="946595"/>
            <a:chOff x="775411" y="5230368"/>
            <a:chExt cx="6035039" cy="946595"/>
          </a:xfrm>
        </p:grpSpPr>
        <p:sp>
          <p:nvSpPr>
            <p:cNvPr id="7" name="Rectangle: Rounded Corners 6">
              <a:extLst>
                <a:ext uri="{FF2B5EF4-FFF2-40B4-BE49-F238E27FC236}">
                  <a16:creationId xmlns:a16="http://schemas.microsoft.com/office/drawing/2014/main" id="{167DB7A9-0AFB-7D89-7C1A-94A5D3AE1DD6}"/>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We cannot infer causality from data alone – we must also know the process that created that data.</a:t>
              </a:r>
              <a:r>
                <a:rPr lang="en-US" baseline="30000" noProof="0" dirty="0"/>
                <a:t>1</a:t>
              </a:r>
            </a:p>
          </p:txBody>
        </p:sp>
        <p:pic>
          <p:nvPicPr>
            <p:cNvPr id="11" name="Graphic 10" descr="Open quotation mark with solid fill">
              <a:extLst>
                <a:ext uri="{FF2B5EF4-FFF2-40B4-BE49-F238E27FC236}">
                  <a16:creationId xmlns:a16="http://schemas.microsoft.com/office/drawing/2014/main" id="{B97B62C8-0097-A527-ADE8-10BE25293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775412" y="5343665"/>
              <a:ext cx="720000" cy="720000"/>
            </a:xfrm>
            <a:prstGeom prst="rect">
              <a:avLst/>
            </a:prstGeom>
          </p:spPr>
        </p:pic>
      </p:grpSp>
      <p:sp>
        <p:nvSpPr>
          <p:cNvPr id="14" name="TextBox 13">
            <a:extLst>
              <a:ext uri="{FF2B5EF4-FFF2-40B4-BE49-F238E27FC236}">
                <a16:creationId xmlns:a16="http://schemas.microsoft.com/office/drawing/2014/main" id="{5896B250-C81A-E64D-B295-3192BB4F1B26}"/>
              </a:ext>
            </a:extLst>
          </p:cNvPr>
          <p:cNvSpPr txBox="1"/>
          <p:nvPr/>
        </p:nvSpPr>
        <p:spPr>
          <a:xfrm>
            <a:off x="2120831" y="2587822"/>
            <a:ext cx="2635300" cy="923330"/>
          </a:xfrm>
          <a:prstGeom prst="rect">
            <a:avLst/>
          </a:prstGeom>
          <a:noFill/>
        </p:spPr>
        <p:txBody>
          <a:bodyPr wrap="square">
            <a:spAutoFit/>
          </a:bodyPr>
          <a:lstStyle/>
          <a:p>
            <a:pPr marL="0" indent="0" algn="ctr">
              <a:buNone/>
            </a:pPr>
            <a:r>
              <a:rPr lang="en-US" b="1" noProof="0" dirty="0"/>
              <a:t>Correlation:</a:t>
            </a:r>
          </a:p>
          <a:p>
            <a:pPr marL="0" indent="0" algn="ctr">
              <a:buNone/>
            </a:pPr>
            <a:r>
              <a:rPr lang="en-US" noProof="0" dirty="0"/>
              <a:t>when we </a:t>
            </a:r>
            <a:r>
              <a:rPr lang="en-US" i="1" noProof="0" dirty="0"/>
              <a:t>observe</a:t>
            </a:r>
            <a:r>
              <a:rPr lang="en-US" noProof="0" dirty="0"/>
              <a:t> X, </a:t>
            </a:r>
          </a:p>
          <a:p>
            <a:pPr marL="0" indent="0" algn="ctr">
              <a:buNone/>
            </a:pPr>
            <a:r>
              <a:rPr lang="en-US" noProof="0" dirty="0"/>
              <a:t>we also observe Y</a:t>
            </a:r>
          </a:p>
        </p:txBody>
      </p:sp>
      <p:pic>
        <p:nvPicPr>
          <p:cNvPr id="16" name="Graphic 15" descr="Raised hand with solid fill">
            <a:extLst>
              <a:ext uri="{FF2B5EF4-FFF2-40B4-BE49-F238E27FC236}">
                <a16:creationId xmlns:a16="http://schemas.microsoft.com/office/drawing/2014/main" id="{CA956E1D-65FB-1AF0-6690-1627DB6E45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96321" y="1673422"/>
            <a:ext cx="914400" cy="914400"/>
          </a:xfrm>
          <a:prstGeom prst="rect">
            <a:avLst/>
          </a:prstGeom>
        </p:spPr>
      </p:pic>
      <p:pic>
        <p:nvPicPr>
          <p:cNvPr id="18" name="Graphic 17" descr="Eye with solid fill">
            <a:extLst>
              <a:ext uri="{FF2B5EF4-FFF2-40B4-BE49-F238E27FC236}">
                <a16:creationId xmlns:a16="http://schemas.microsoft.com/office/drawing/2014/main" id="{DC3318F7-1DB1-344E-2916-48A042F6F2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81281" y="1673422"/>
            <a:ext cx="914400" cy="914400"/>
          </a:xfrm>
          <a:prstGeom prst="rect">
            <a:avLst/>
          </a:prstGeom>
        </p:spPr>
      </p:pic>
      <p:sp>
        <p:nvSpPr>
          <p:cNvPr id="20" name="TextBox 19">
            <a:extLst>
              <a:ext uri="{FF2B5EF4-FFF2-40B4-BE49-F238E27FC236}">
                <a16:creationId xmlns:a16="http://schemas.microsoft.com/office/drawing/2014/main" id="{EE7BD2C6-E66D-F733-782B-5AF40BB4375E}"/>
              </a:ext>
            </a:extLst>
          </p:cNvPr>
          <p:cNvSpPr txBox="1"/>
          <p:nvPr/>
        </p:nvSpPr>
        <p:spPr>
          <a:xfrm>
            <a:off x="6985986" y="2587822"/>
            <a:ext cx="3535070" cy="923330"/>
          </a:xfrm>
          <a:prstGeom prst="rect">
            <a:avLst/>
          </a:prstGeom>
          <a:noFill/>
        </p:spPr>
        <p:txBody>
          <a:bodyPr wrap="square">
            <a:spAutoFit/>
          </a:bodyPr>
          <a:lstStyle/>
          <a:p>
            <a:pPr marL="0" indent="0" algn="ctr">
              <a:buNone/>
            </a:pPr>
            <a:r>
              <a:rPr lang="en-US" b="1" noProof="0" dirty="0"/>
              <a:t>Causality</a:t>
            </a:r>
            <a:r>
              <a:rPr lang="en-US" noProof="0" dirty="0"/>
              <a:t>: </a:t>
            </a:r>
          </a:p>
          <a:p>
            <a:pPr marL="0" indent="0" algn="ctr">
              <a:buNone/>
            </a:pPr>
            <a:r>
              <a:rPr lang="en-US" noProof="0" dirty="0"/>
              <a:t>when we </a:t>
            </a:r>
            <a:r>
              <a:rPr lang="en-US" i="1" noProof="0" dirty="0"/>
              <a:t>do</a:t>
            </a:r>
            <a:r>
              <a:rPr lang="en-US" noProof="0" dirty="0"/>
              <a:t> X, </a:t>
            </a:r>
          </a:p>
          <a:p>
            <a:pPr marL="0" indent="0" algn="ctr">
              <a:buNone/>
            </a:pPr>
            <a:r>
              <a:rPr lang="en-US" noProof="0" dirty="0"/>
              <a:t>we observe Y.</a:t>
            </a:r>
          </a:p>
        </p:txBody>
      </p:sp>
    </p:spTree>
    <p:extLst>
      <p:ext uri="{BB962C8B-B14F-4D97-AF65-F5344CB8AC3E}">
        <p14:creationId xmlns:p14="http://schemas.microsoft.com/office/powerpoint/2010/main" val="1130195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4"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26E0F-6D3C-7CB6-3EBC-D30E7B418EA4}"/>
              </a:ext>
            </a:extLst>
          </p:cNvPr>
          <p:cNvSpPr>
            <a:spLocks noGrp="1"/>
          </p:cNvSpPr>
          <p:nvPr>
            <p:ph type="title"/>
          </p:nvPr>
        </p:nvSpPr>
        <p:spPr/>
        <p:txBody>
          <a:bodyPr/>
          <a:lstStyle/>
          <a:p>
            <a:r>
              <a:rPr lang="en-SE" noProof="0" dirty="0"/>
              <a:t>Limitations of Experiments</a:t>
            </a:r>
            <a:endParaRPr lang="en-US" noProof="0" dirty="0"/>
          </a:p>
        </p:txBody>
      </p:sp>
      <p:sp>
        <p:nvSpPr>
          <p:cNvPr id="3" name="Content Placeholder 2">
            <a:extLst>
              <a:ext uri="{FF2B5EF4-FFF2-40B4-BE49-F238E27FC236}">
                <a16:creationId xmlns:a16="http://schemas.microsoft.com/office/drawing/2014/main" id="{7D9E17BD-9ECC-584F-CE66-DA619E01909F}"/>
              </a:ext>
            </a:extLst>
          </p:cNvPr>
          <p:cNvSpPr>
            <a:spLocks noGrp="1"/>
          </p:cNvSpPr>
          <p:nvPr>
            <p:ph idx="1"/>
          </p:nvPr>
        </p:nvSpPr>
        <p:spPr>
          <a:xfrm>
            <a:off x="838200" y="1825625"/>
            <a:ext cx="10515600" cy="1325563"/>
          </a:xfrm>
        </p:spPr>
        <p:txBody>
          <a:bodyPr/>
          <a:lstStyle/>
          <a:p>
            <a:pPr marL="0" indent="0">
              <a:buNone/>
            </a:pPr>
            <a:r>
              <a:rPr lang="en-SE" noProof="0" dirty="0"/>
              <a:t>There are several reasons why we cannot investigate any phenomenon with a controlled experiment, as they are</a:t>
            </a:r>
            <a:endParaRPr lang="en-US" noProof="0" dirty="0"/>
          </a:p>
        </p:txBody>
      </p:sp>
      <p:sp>
        <p:nvSpPr>
          <p:cNvPr id="4" name="Date Placeholder 3">
            <a:extLst>
              <a:ext uri="{FF2B5EF4-FFF2-40B4-BE49-F238E27FC236}">
                <a16:creationId xmlns:a16="http://schemas.microsoft.com/office/drawing/2014/main" id="{831E049E-8069-3730-02A1-D5A5832CBA6F}"/>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E80D031-B52A-B22D-65AD-5208E3DA92B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C84C927-AF2D-C904-AE32-16D8D39E9E29}"/>
              </a:ext>
            </a:extLst>
          </p:cNvPr>
          <p:cNvSpPr>
            <a:spLocks noGrp="1"/>
          </p:cNvSpPr>
          <p:nvPr>
            <p:ph type="sldNum" sz="quarter" idx="12"/>
          </p:nvPr>
        </p:nvSpPr>
        <p:spPr/>
        <p:txBody>
          <a:bodyPr/>
          <a:lstStyle/>
          <a:p>
            <a:fld id="{0FA2D919-C0DE-4971-A2E9-D4AC0031921B}" type="slidenum">
              <a:rPr lang="en-US" noProof="0" smtClean="0"/>
              <a:t>9</a:t>
            </a:fld>
            <a:endParaRPr lang="en-US" noProof="0" dirty="0"/>
          </a:p>
        </p:txBody>
      </p:sp>
      <p:grpSp>
        <p:nvGrpSpPr>
          <p:cNvPr id="12" name="Group 11">
            <a:extLst>
              <a:ext uri="{FF2B5EF4-FFF2-40B4-BE49-F238E27FC236}">
                <a16:creationId xmlns:a16="http://schemas.microsoft.com/office/drawing/2014/main" id="{E6B67477-AF0B-1623-5BA2-BE5B3D2C0FDD}"/>
              </a:ext>
            </a:extLst>
          </p:cNvPr>
          <p:cNvGrpSpPr/>
          <p:nvPr/>
        </p:nvGrpSpPr>
        <p:grpSpPr>
          <a:xfrm>
            <a:off x="955244" y="2922370"/>
            <a:ext cx="2403652" cy="2132630"/>
            <a:chOff x="4894174" y="3429000"/>
            <a:chExt cx="2403652" cy="2132630"/>
          </a:xfrm>
        </p:grpSpPr>
        <p:grpSp>
          <p:nvGrpSpPr>
            <p:cNvPr id="10" name="Group 9">
              <a:extLst>
                <a:ext uri="{FF2B5EF4-FFF2-40B4-BE49-F238E27FC236}">
                  <a16:creationId xmlns:a16="http://schemas.microsoft.com/office/drawing/2014/main" id="{5AFD7788-9DF3-6427-4BFB-03391A89DE67}"/>
                </a:ext>
              </a:extLst>
            </p:cNvPr>
            <p:cNvGrpSpPr/>
            <p:nvPr/>
          </p:nvGrpSpPr>
          <p:grpSpPr>
            <a:xfrm>
              <a:off x="5556000" y="3429000"/>
              <a:ext cx="1080000" cy="1080000"/>
              <a:chOff x="3313786" y="3686861"/>
              <a:chExt cx="1080000" cy="1080000"/>
            </a:xfrm>
          </p:grpSpPr>
          <p:sp>
            <p:nvSpPr>
              <p:cNvPr id="7" name="Oval 6">
                <a:extLst>
                  <a:ext uri="{FF2B5EF4-FFF2-40B4-BE49-F238E27FC236}">
                    <a16:creationId xmlns:a16="http://schemas.microsoft.com/office/drawing/2014/main" id="{398E7490-2C0F-E8A8-0921-F6AE05674F4C}"/>
                  </a:ext>
                </a:extLst>
              </p:cNvPr>
              <p:cNvSpPr/>
              <p:nvPr/>
            </p:nvSpPr>
            <p:spPr>
              <a:xfrm>
                <a:off x="3313786" y="3686861"/>
                <a:ext cx="1080000" cy="1080000"/>
              </a:xfrm>
              <a:prstGeom prst="ellipse">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phic 8" descr="Flying Money with solid fill">
                <a:extLst>
                  <a:ext uri="{FF2B5EF4-FFF2-40B4-BE49-F238E27FC236}">
                    <a16:creationId xmlns:a16="http://schemas.microsoft.com/office/drawing/2014/main" id="{3ABC9A5C-0899-D4BD-0FC1-68778363AA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6586" y="3769661"/>
                <a:ext cx="914400" cy="914400"/>
              </a:xfrm>
              <a:prstGeom prst="rect">
                <a:avLst/>
              </a:prstGeom>
            </p:spPr>
          </p:pic>
        </p:grpSp>
        <p:sp>
          <p:nvSpPr>
            <p:cNvPr id="11" name="TextBox 10">
              <a:extLst>
                <a:ext uri="{FF2B5EF4-FFF2-40B4-BE49-F238E27FC236}">
                  <a16:creationId xmlns:a16="http://schemas.microsoft.com/office/drawing/2014/main" id="{6192D482-2076-DA9C-2F2A-DD11ED57A98E}"/>
                </a:ext>
              </a:extLst>
            </p:cNvPr>
            <p:cNvSpPr txBox="1"/>
            <p:nvPr/>
          </p:nvSpPr>
          <p:spPr>
            <a:xfrm>
              <a:off x="4894174" y="4669078"/>
              <a:ext cx="2403652" cy="892552"/>
            </a:xfrm>
            <a:prstGeom prst="rect">
              <a:avLst/>
            </a:prstGeom>
            <a:noFill/>
          </p:spPr>
          <p:txBody>
            <a:bodyPr wrap="square" rtlCol="0">
              <a:spAutoFit/>
            </a:bodyPr>
            <a:lstStyle/>
            <a:p>
              <a:pPr algn="ctr"/>
              <a:r>
                <a:rPr lang="en-US" b="1" noProof="0" dirty="0"/>
                <a:t>Expensive</a:t>
              </a:r>
            </a:p>
            <a:p>
              <a:pPr algn="ctr"/>
              <a:r>
                <a:rPr lang="en-US" sz="1600" noProof="0" dirty="0"/>
                <a:t>Recruiting eligible participants is difficult </a:t>
              </a:r>
            </a:p>
          </p:txBody>
        </p:sp>
      </p:grpSp>
      <p:grpSp>
        <p:nvGrpSpPr>
          <p:cNvPr id="23" name="Group 22">
            <a:extLst>
              <a:ext uri="{FF2B5EF4-FFF2-40B4-BE49-F238E27FC236}">
                <a16:creationId xmlns:a16="http://schemas.microsoft.com/office/drawing/2014/main" id="{A5C0B264-5B48-DF38-5270-D3303FE93FED}"/>
              </a:ext>
            </a:extLst>
          </p:cNvPr>
          <p:cNvGrpSpPr/>
          <p:nvPr/>
        </p:nvGrpSpPr>
        <p:grpSpPr>
          <a:xfrm>
            <a:off x="3492902" y="2922370"/>
            <a:ext cx="2403652" cy="2101852"/>
            <a:chOff x="4894174" y="3429000"/>
            <a:chExt cx="2403652" cy="2101852"/>
          </a:xfrm>
        </p:grpSpPr>
        <p:grpSp>
          <p:nvGrpSpPr>
            <p:cNvPr id="24" name="Group 23">
              <a:extLst>
                <a:ext uri="{FF2B5EF4-FFF2-40B4-BE49-F238E27FC236}">
                  <a16:creationId xmlns:a16="http://schemas.microsoft.com/office/drawing/2014/main" id="{717A8823-0719-8D1E-39F5-095D4C01FDFF}"/>
                </a:ext>
              </a:extLst>
            </p:cNvPr>
            <p:cNvGrpSpPr/>
            <p:nvPr/>
          </p:nvGrpSpPr>
          <p:grpSpPr>
            <a:xfrm>
              <a:off x="5556000" y="3429000"/>
              <a:ext cx="1080000" cy="1080000"/>
              <a:chOff x="3313786" y="3686861"/>
              <a:chExt cx="1080000" cy="1080000"/>
            </a:xfrm>
          </p:grpSpPr>
          <p:sp>
            <p:nvSpPr>
              <p:cNvPr id="26" name="Oval 25">
                <a:extLst>
                  <a:ext uri="{FF2B5EF4-FFF2-40B4-BE49-F238E27FC236}">
                    <a16:creationId xmlns:a16="http://schemas.microsoft.com/office/drawing/2014/main" id="{6EA48B92-9EC2-A025-8C5F-8B753D185662}"/>
                  </a:ext>
                </a:extLst>
              </p:cNvPr>
              <p:cNvSpPr/>
              <p:nvPr/>
            </p:nvSpPr>
            <p:spPr>
              <a:xfrm>
                <a:off x="3313786" y="3686861"/>
                <a:ext cx="1080000" cy="1080000"/>
              </a:xfrm>
              <a:prstGeom prst="ellipse">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7" name="Graphic 26" descr="Forest scene with solid fill">
                <a:extLst>
                  <a:ext uri="{FF2B5EF4-FFF2-40B4-BE49-F238E27FC236}">
                    <a16:creationId xmlns:a16="http://schemas.microsoft.com/office/drawing/2014/main" id="{35BE519F-3E92-4F93-D6E8-65E5C181DC2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25" name="TextBox 24">
              <a:extLst>
                <a:ext uri="{FF2B5EF4-FFF2-40B4-BE49-F238E27FC236}">
                  <a16:creationId xmlns:a16="http://schemas.microsoft.com/office/drawing/2014/main" id="{70E4E1AC-CBEE-D673-1DD4-DD0C3DCFE979}"/>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Unrealistic</a:t>
              </a:r>
            </a:p>
            <a:p>
              <a:pPr algn="ctr"/>
              <a:r>
                <a:rPr lang="en-US" sz="1600" noProof="0" dirty="0"/>
                <a:t>Experiments perturb the natural context</a:t>
              </a:r>
            </a:p>
          </p:txBody>
        </p:sp>
      </p:grpSp>
      <p:grpSp>
        <p:nvGrpSpPr>
          <p:cNvPr id="33" name="Group 32">
            <a:extLst>
              <a:ext uri="{FF2B5EF4-FFF2-40B4-BE49-F238E27FC236}">
                <a16:creationId xmlns:a16="http://schemas.microsoft.com/office/drawing/2014/main" id="{EBBD9692-1549-B8CF-73F0-60F62EECE3EB}"/>
              </a:ext>
            </a:extLst>
          </p:cNvPr>
          <p:cNvGrpSpPr/>
          <p:nvPr/>
        </p:nvGrpSpPr>
        <p:grpSpPr>
          <a:xfrm>
            <a:off x="6030560" y="2922370"/>
            <a:ext cx="2403652" cy="2101852"/>
            <a:chOff x="4894174" y="3429000"/>
            <a:chExt cx="2403652" cy="2101852"/>
          </a:xfrm>
        </p:grpSpPr>
        <p:grpSp>
          <p:nvGrpSpPr>
            <p:cNvPr id="34" name="Group 33">
              <a:extLst>
                <a:ext uri="{FF2B5EF4-FFF2-40B4-BE49-F238E27FC236}">
                  <a16:creationId xmlns:a16="http://schemas.microsoft.com/office/drawing/2014/main" id="{7E152CBB-69B5-AC9F-E6B5-2437F524A400}"/>
                </a:ext>
              </a:extLst>
            </p:cNvPr>
            <p:cNvGrpSpPr/>
            <p:nvPr/>
          </p:nvGrpSpPr>
          <p:grpSpPr>
            <a:xfrm>
              <a:off x="5556000" y="3429000"/>
              <a:ext cx="1080000" cy="1080000"/>
              <a:chOff x="3313786" y="3686861"/>
              <a:chExt cx="1080000" cy="1080000"/>
            </a:xfrm>
          </p:grpSpPr>
          <p:sp>
            <p:nvSpPr>
              <p:cNvPr id="36" name="Oval 35">
                <a:extLst>
                  <a:ext uri="{FF2B5EF4-FFF2-40B4-BE49-F238E27FC236}">
                    <a16:creationId xmlns:a16="http://schemas.microsoft.com/office/drawing/2014/main" id="{11B1B7D8-758A-EC52-D562-1D663C96BE59}"/>
                  </a:ext>
                </a:extLst>
              </p:cNvPr>
              <p:cNvSpPr/>
              <p:nvPr/>
            </p:nvSpPr>
            <p:spPr>
              <a:xfrm>
                <a:off x="3313786" y="3686861"/>
                <a:ext cx="1080000" cy="1080000"/>
              </a:xfrm>
              <a:prstGeom prst="ellipse">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7" name="Graphic 36" descr="Right Brain with solid fill">
                <a:extLst>
                  <a:ext uri="{FF2B5EF4-FFF2-40B4-BE49-F238E27FC236}">
                    <a16:creationId xmlns:a16="http://schemas.microsoft.com/office/drawing/2014/main" id="{CC1E6FD6-6AAA-1754-20F6-B79D6CC4811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sp>
          <p:nvSpPr>
            <p:cNvPr id="35" name="TextBox 34">
              <a:extLst>
                <a:ext uri="{FF2B5EF4-FFF2-40B4-BE49-F238E27FC236}">
                  <a16:creationId xmlns:a16="http://schemas.microsoft.com/office/drawing/2014/main" id="{8E12ECA0-BF47-69CA-2F7E-0EFD81CC7C1C}"/>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Impossible</a:t>
              </a:r>
            </a:p>
            <a:p>
              <a:pPr algn="ctr"/>
              <a:r>
                <a:rPr lang="en-US" sz="1600" noProof="0" dirty="0"/>
                <a:t>Some factors are impossible to control</a:t>
              </a:r>
            </a:p>
          </p:txBody>
        </p:sp>
      </p:grpSp>
      <p:grpSp>
        <p:nvGrpSpPr>
          <p:cNvPr id="38" name="Group 37">
            <a:extLst>
              <a:ext uri="{FF2B5EF4-FFF2-40B4-BE49-F238E27FC236}">
                <a16:creationId xmlns:a16="http://schemas.microsoft.com/office/drawing/2014/main" id="{F348F97D-AB27-9FC0-7E0C-86FAE05BB410}"/>
              </a:ext>
            </a:extLst>
          </p:cNvPr>
          <p:cNvGrpSpPr/>
          <p:nvPr/>
        </p:nvGrpSpPr>
        <p:grpSpPr>
          <a:xfrm>
            <a:off x="8568218" y="2922370"/>
            <a:ext cx="2403652" cy="2594295"/>
            <a:chOff x="4894174" y="3429000"/>
            <a:chExt cx="2403652" cy="2594295"/>
          </a:xfrm>
        </p:grpSpPr>
        <p:grpSp>
          <p:nvGrpSpPr>
            <p:cNvPr id="39" name="Group 38">
              <a:extLst>
                <a:ext uri="{FF2B5EF4-FFF2-40B4-BE49-F238E27FC236}">
                  <a16:creationId xmlns:a16="http://schemas.microsoft.com/office/drawing/2014/main" id="{DF097F5B-10A9-0F02-1292-E434DFA8477D}"/>
                </a:ext>
              </a:extLst>
            </p:cNvPr>
            <p:cNvGrpSpPr/>
            <p:nvPr/>
          </p:nvGrpSpPr>
          <p:grpSpPr>
            <a:xfrm>
              <a:off x="5556000" y="3429000"/>
              <a:ext cx="1080000" cy="1080000"/>
              <a:chOff x="3313786" y="3686861"/>
              <a:chExt cx="1080000" cy="1080000"/>
            </a:xfrm>
          </p:grpSpPr>
          <p:sp>
            <p:nvSpPr>
              <p:cNvPr id="41" name="Oval 40">
                <a:extLst>
                  <a:ext uri="{FF2B5EF4-FFF2-40B4-BE49-F238E27FC236}">
                    <a16:creationId xmlns:a16="http://schemas.microsoft.com/office/drawing/2014/main" id="{0BB6DDAC-EF08-61B1-AE3E-ED8D582D62B8}"/>
                  </a:ext>
                </a:extLst>
              </p:cNvPr>
              <p:cNvSpPr/>
              <p:nvPr/>
            </p:nvSpPr>
            <p:spPr>
              <a:xfrm>
                <a:off x="3313786" y="3686861"/>
                <a:ext cx="1080000" cy="1080000"/>
              </a:xfrm>
              <a:prstGeom prst="ellipse">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2" name="Graphic 41" descr="Bar chart with solid fill">
                <a:extLst>
                  <a:ext uri="{FF2B5EF4-FFF2-40B4-BE49-F238E27FC236}">
                    <a16:creationId xmlns:a16="http://schemas.microsoft.com/office/drawing/2014/main" id="{02D681B4-E588-25CA-DF28-623910AABBC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396586" y="3769661"/>
                <a:ext cx="914400" cy="914400"/>
              </a:xfrm>
              <a:prstGeom prst="rect">
                <a:avLst/>
              </a:prstGeom>
            </p:spPr>
          </p:pic>
        </p:grpSp>
        <p:sp>
          <p:nvSpPr>
            <p:cNvPr id="40" name="TextBox 39">
              <a:extLst>
                <a:ext uri="{FF2B5EF4-FFF2-40B4-BE49-F238E27FC236}">
                  <a16:creationId xmlns:a16="http://schemas.microsoft.com/office/drawing/2014/main" id="{18C5D87B-90D1-41E2-FFA2-23688B8A3358}"/>
                </a:ext>
              </a:extLst>
            </p:cNvPr>
            <p:cNvSpPr txBox="1"/>
            <p:nvPr/>
          </p:nvSpPr>
          <p:spPr>
            <a:xfrm>
              <a:off x="4894174" y="4669078"/>
              <a:ext cx="2403652" cy="1354217"/>
            </a:xfrm>
            <a:prstGeom prst="rect">
              <a:avLst/>
            </a:prstGeom>
            <a:noFill/>
          </p:spPr>
          <p:txBody>
            <a:bodyPr wrap="square" rtlCol="0">
              <a:spAutoFit/>
            </a:bodyPr>
            <a:lstStyle/>
            <a:p>
              <a:pPr algn="ctr"/>
              <a:r>
                <a:rPr lang="en-US" b="1" noProof="0" dirty="0"/>
                <a:t>Assumed</a:t>
              </a:r>
            </a:p>
            <a:p>
              <a:pPr algn="ctr"/>
              <a:r>
                <a:rPr lang="en-US" sz="1600" noProof="0" dirty="0"/>
                <a:t>The validity of experimental results depends on several conditions</a:t>
              </a:r>
            </a:p>
          </p:txBody>
        </p:sp>
      </p:grpSp>
      <p:grpSp>
        <p:nvGrpSpPr>
          <p:cNvPr id="8" name="Group 7">
            <a:extLst>
              <a:ext uri="{FF2B5EF4-FFF2-40B4-BE49-F238E27FC236}">
                <a16:creationId xmlns:a16="http://schemas.microsoft.com/office/drawing/2014/main" id="{C6003870-F791-A496-1C31-B1C6941B2F6D}"/>
              </a:ext>
            </a:extLst>
          </p:cNvPr>
          <p:cNvGrpSpPr/>
          <p:nvPr/>
        </p:nvGrpSpPr>
        <p:grpSpPr>
          <a:xfrm>
            <a:off x="838200" y="5280093"/>
            <a:ext cx="7596012" cy="946595"/>
            <a:chOff x="775411" y="5230368"/>
            <a:chExt cx="7596012" cy="946595"/>
          </a:xfrm>
        </p:grpSpPr>
        <p:sp>
          <p:nvSpPr>
            <p:cNvPr id="13" name="Rectangle: Rounded Corners 12">
              <a:extLst>
                <a:ext uri="{FF2B5EF4-FFF2-40B4-BE49-F238E27FC236}">
                  <a16:creationId xmlns:a16="http://schemas.microsoft.com/office/drawing/2014/main" id="{B8639380-FB23-944E-157B-EB04384222C3}"/>
                </a:ext>
              </a:extLst>
            </p:cNvPr>
            <p:cNvSpPr/>
            <p:nvPr/>
          </p:nvSpPr>
          <p:spPr>
            <a:xfrm>
              <a:off x="775411" y="5230368"/>
              <a:ext cx="7596012"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noProof="0" dirty="0"/>
                <a:t>Still, we can draw causal conclusions from non-experimental studies using the principles of </a:t>
              </a:r>
              <a:r>
                <a:rPr lang="en-SE" b="1" noProof="0" dirty="0"/>
                <a:t>statistical causal inference.</a:t>
              </a:r>
              <a:endParaRPr lang="en-US" baseline="30000" noProof="0" dirty="0"/>
            </a:p>
          </p:txBody>
        </p:sp>
        <p:pic>
          <p:nvPicPr>
            <p:cNvPr id="14" name="Graphic 13" descr="Open quotation mark with solid fill">
              <a:extLst>
                <a:ext uri="{FF2B5EF4-FFF2-40B4-BE49-F238E27FC236}">
                  <a16:creationId xmlns:a16="http://schemas.microsoft.com/office/drawing/2014/main" id="{2890F03C-C266-38CF-AA66-7B8BF5ED2E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2756941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4D0696-0A64-BA1F-8595-7E857ABD879B}"/>
              </a:ext>
            </a:extLst>
          </p:cNvPr>
          <p:cNvSpPr>
            <a:spLocks noGrp="1"/>
          </p:cNvSpPr>
          <p:nvPr>
            <p:ph type="title"/>
          </p:nvPr>
        </p:nvSpPr>
        <p:spPr/>
        <p:txBody>
          <a:bodyPr/>
          <a:lstStyle/>
          <a:p>
            <a:r>
              <a:rPr lang="en-US" noProof="0" dirty="0"/>
              <a:t>Goals of this </a:t>
            </a:r>
            <a:r>
              <a:rPr lang="en-SE" noProof="0" dirty="0"/>
              <a:t>Lecture</a:t>
            </a:r>
            <a:endParaRPr lang="en-US" noProof="0" dirty="0"/>
          </a:p>
        </p:txBody>
      </p:sp>
      <p:sp>
        <p:nvSpPr>
          <p:cNvPr id="4" name="Date Placeholder 3">
            <a:extLst>
              <a:ext uri="{FF2B5EF4-FFF2-40B4-BE49-F238E27FC236}">
                <a16:creationId xmlns:a16="http://schemas.microsoft.com/office/drawing/2014/main" id="{CD239AD5-6997-CEED-802E-18A199A521ED}"/>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FB776506-4EF1-63FC-CC6B-69FEADB212B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52623E8-CACE-0FB8-CDC3-0AED4B40B9CA}"/>
              </a:ext>
            </a:extLst>
          </p:cNvPr>
          <p:cNvSpPr>
            <a:spLocks noGrp="1"/>
          </p:cNvSpPr>
          <p:nvPr>
            <p:ph type="sldNum" sz="quarter" idx="12"/>
          </p:nvPr>
        </p:nvSpPr>
        <p:spPr/>
        <p:txBody>
          <a:bodyPr/>
          <a:lstStyle/>
          <a:p>
            <a:fld id="{0FA2D919-C0DE-4971-A2E9-D4AC0031921B}" type="slidenum">
              <a:rPr lang="en-US" noProof="0" smtClean="0"/>
              <a:t>10</a:t>
            </a:fld>
            <a:endParaRPr lang="en-US" noProof="0" dirty="0"/>
          </a:p>
        </p:txBody>
      </p:sp>
      <p:pic>
        <p:nvPicPr>
          <p:cNvPr id="3" name="Graphic 2" descr="Bullseye with solid fill">
            <a:extLst>
              <a:ext uri="{FF2B5EF4-FFF2-40B4-BE49-F238E27FC236}">
                <a16:creationId xmlns:a16="http://schemas.microsoft.com/office/drawing/2014/main" id="{CF641006-0507-867A-A93F-4FC49041CE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200" y="1930420"/>
            <a:ext cx="914400" cy="914400"/>
          </a:xfrm>
          <a:prstGeom prst="rect">
            <a:avLst/>
          </a:prstGeom>
        </p:spPr>
      </p:pic>
      <p:pic>
        <p:nvPicPr>
          <p:cNvPr id="9" name="Graphic 8" descr="Bullseye with solid fill">
            <a:extLst>
              <a:ext uri="{FF2B5EF4-FFF2-40B4-BE49-F238E27FC236}">
                <a16:creationId xmlns:a16="http://schemas.microsoft.com/office/drawing/2014/main" id="{B8B272F6-9235-351C-2F7E-4039803E48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200" y="3133686"/>
            <a:ext cx="914400" cy="914400"/>
          </a:xfrm>
          <a:prstGeom prst="rect">
            <a:avLst/>
          </a:prstGeom>
        </p:spPr>
      </p:pic>
      <p:sp>
        <p:nvSpPr>
          <p:cNvPr id="10" name="TextBox 9">
            <a:extLst>
              <a:ext uri="{FF2B5EF4-FFF2-40B4-BE49-F238E27FC236}">
                <a16:creationId xmlns:a16="http://schemas.microsoft.com/office/drawing/2014/main" id="{49CE961E-834F-FC61-0011-B7D9DFC2AD8D}"/>
              </a:ext>
            </a:extLst>
          </p:cNvPr>
          <p:cNvSpPr txBox="1"/>
          <p:nvPr/>
        </p:nvSpPr>
        <p:spPr>
          <a:xfrm>
            <a:off x="1752600" y="2202954"/>
            <a:ext cx="5267981" cy="369332"/>
          </a:xfrm>
          <a:prstGeom prst="rect">
            <a:avLst/>
          </a:prstGeom>
          <a:noFill/>
        </p:spPr>
        <p:txBody>
          <a:bodyPr wrap="none" rtlCol="0">
            <a:spAutoFit/>
          </a:bodyPr>
          <a:lstStyle/>
          <a:p>
            <a:r>
              <a:rPr lang="en-US" noProof="0" dirty="0"/>
              <a:t>Convincing you of the </a:t>
            </a:r>
            <a:r>
              <a:rPr lang="en-US" b="1" noProof="0" dirty="0"/>
              <a:t>value of </a:t>
            </a:r>
            <a:r>
              <a:rPr lang="en-SE" b="1" noProof="0" dirty="0"/>
              <a:t>causal conclusions</a:t>
            </a:r>
            <a:endParaRPr lang="en-US" b="1" noProof="0" dirty="0"/>
          </a:p>
        </p:txBody>
      </p:sp>
      <p:sp>
        <p:nvSpPr>
          <p:cNvPr id="11" name="TextBox 10">
            <a:extLst>
              <a:ext uri="{FF2B5EF4-FFF2-40B4-BE49-F238E27FC236}">
                <a16:creationId xmlns:a16="http://schemas.microsoft.com/office/drawing/2014/main" id="{B1E9ECA4-36F6-48F2-747E-A91DA83C3DDC}"/>
              </a:ext>
            </a:extLst>
          </p:cNvPr>
          <p:cNvSpPr txBox="1"/>
          <p:nvPr/>
        </p:nvSpPr>
        <p:spPr>
          <a:xfrm>
            <a:off x="1752600" y="3272356"/>
            <a:ext cx="8340425" cy="646331"/>
          </a:xfrm>
          <a:prstGeom prst="rect">
            <a:avLst/>
          </a:prstGeom>
          <a:noFill/>
        </p:spPr>
        <p:txBody>
          <a:bodyPr wrap="none" rtlCol="0">
            <a:spAutoFit/>
          </a:bodyPr>
          <a:lstStyle/>
          <a:p>
            <a:r>
              <a:rPr lang="en-US" noProof="0" dirty="0"/>
              <a:t>Learning the fundamentals of </a:t>
            </a:r>
            <a:r>
              <a:rPr lang="en-US" b="1" noProof="0" dirty="0"/>
              <a:t>drawing causal conclusions </a:t>
            </a:r>
            <a:r>
              <a:rPr lang="en-US" noProof="0" dirty="0"/>
              <a:t>from quantitative data </a:t>
            </a:r>
          </a:p>
          <a:p>
            <a:r>
              <a:rPr lang="en-US" noProof="0" dirty="0"/>
              <a:t>collected in </a:t>
            </a:r>
            <a:r>
              <a:rPr lang="en-US" b="1" noProof="0" dirty="0"/>
              <a:t>observational studies</a:t>
            </a:r>
          </a:p>
        </p:txBody>
      </p:sp>
      <p:pic>
        <p:nvPicPr>
          <p:cNvPr id="13" name="Graphic 12" descr="Checkmark with solid fill">
            <a:extLst>
              <a:ext uri="{FF2B5EF4-FFF2-40B4-BE49-F238E27FC236}">
                <a16:creationId xmlns:a16="http://schemas.microsoft.com/office/drawing/2014/main" id="{4DEDCC39-F47E-BA3F-2561-E55E089DE1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400" y="2117620"/>
            <a:ext cx="540000" cy="540000"/>
          </a:xfrm>
          <a:prstGeom prst="rect">
            <a:avLst/>
          </a:prstGeom>
        </p:spPr>
      </p:pic>
    </p:spTree>
    <p:extLst>
      <p:ext uri="{BB962C8B-B14F-4D97-AF65-F5344CB8AC3E}">
        <p14:creationId xmlns:p14="http://schemas.microsoft.com/office/powerpoint/2010/main" val="3576264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9434-C738-E0D2-B785-AB1DAD20096D}"/>
              </a:ext>
            </a:extLst>
          </p:cNvPr>
          <p:cNvSpPr>
            <a:spLocks noGrp="1"/>
          </p:cNvSpPr>
          <p:nvPr>
            <p:ph type="title"/>
          </p:nvPr>
        </p:nvSpPr>
        <p:spPr/>
        <p:txBody>
          <a:bodyPr/>
          <a:lstStyle/>
          <a:p>
            <a:r>
              <a:rPr lang="en-US" noProof="0" dirty="0"/>
              <a:t>Learning Outcomes</a:t>
            </a:r>
          </a:p>
        </p:txBody>
      </p:sp>
      <p:sp>
        <p:nvSpPr>
          <p:cNvPr id="4" name="Date Placeholder 3">
            <a:extLst>
              <a:ext uri="{FF2B5EF4-FFF2-40B4-BE49-F238E27FC236}">
                <a16:creationId xmlns:a16="http://schemas.microsoft.com/office/drawing/2014/main" id="{B93CE3D7-E1A1-BB88-5FE2-D963642993E1}"/>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FE875079-DFAC-BA5A-0E7F-606CF7A90D4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9726F37-FC47-0DCA-4B48-26075D033CAC}"/>
              </a:ext>
            </a:extLst>
          </p:cNvPr>
          <p:cNvSpPr>
            <a:spLocks noGrp="1"/>
          </p:cNvSpPr>
          <p:nvPr>
            <p:ph type="sldNum" sz="quarter" idx="12"/>
          </p:nvPr>
        </p:nvSpPr>
        <p:spPr/>
        <p:txBody>
          <a:bodyPr/>
          <a:lstStyle/>
          <a:p>
            <a:fld id="{0FA2D919-C0DE-4971-A2E9-D4AC0031921B}" type="slidenum">
              <a:rPr lang="en-US" noProof="0" smtClean="0"/>
              <a:t>11</a:t>
            </a:fld>
            <a:endParaRPr lang="en-US" noProof="0" dirty="0"/>
          </a:p>
        </p:txBody>
      </p:sp>
      <p:grpSp>
        <p:nvGrpSpPr>
          <p:cNvPr id="3" name="Group 2">
            <a:extLst>
              <a:ext uri="{FF2B5EF4-FFF2-40B4-BE49-F238E27FC236}">
                <a16:creationId xmlns:a16="http://schemas.microsoft.com/office/drawing/2014/main" id="{CC63782F-429E-99E5-5D83-C8A54FBD6330}"/>
              </a:ext>
            </a:extLst>
          </p:cNvPr>
          <p:cNvGrpSpPr/>
          <p:nvPr/>
        </p:nvGrpSpPr>
        <p:grpSpPr>
          <a:xfrm>
            <a:off x="838200" y="1946319"/>
            <a:ext cx="8408591" cy="1080000"/>
            <a:chOff x="838200" y="1946319"/>
            <a:chExt cx="8408591" cy="1080000"/>
          </a:xfrm>
        </p:grpSpPr>
        <p:sp>
          <p:nvSpPr>
            <p:cNvPr id="15" name="Oval 14">
              <a:extLst>
                <a:ext uri="{FF2B5EF4-FFF2-40B4-BE49-F238E27FC236}">
                  <a16:creationId xmlns:a16="http://schemas.microsoft.com/office/drawing/2014/main" id="{850798B6-18B2-FB17-B13D-6509A0D60BC8}"/>
                </a:ext>
              </a:extLst>
            </p:cNvPr>
            <p:cNvSpPr/>
            <p:nvPr/>
          </p:nvSpPr>
          <p:spPr>
            <a:xfrm>
              <a:off x="838200" y="1946319"/>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 name="Graphic 11" descr="Influencer with solid fill">
              <a:extLst>
                <a:ext uri="{FF2B5EF4-FFF2-40B4-BE49-F238E27FC236}">
                  <a16:creationId xmlns:a16="http://schemas.microsoft.com/office/drawing/2014/main" id="{882076C2-F191-E878-605C-72CFF65506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2029119"/>
              <a:ext cx="914400" cy="914400"/>
            </a:xfrm>
            <a:prstGeom prst="rect">
              <a:avLst/>
            </a:prstGeom>
          </p:spPr>
        </p:pic>
        <p:sp>
          <p:nvSpPr>
            <p:cNvPr id="18" name="TextBox 17">
              <a:extLst>
                <a:ext uri="{FF2B5EF4-FFF2-40B4-BE49-F238E27FC236}">
                  <a16:creationId xmlns:a16="http://schemas.microsoft.com/office/drawing/2014/main" id="{8B814829-569C-B934-C138-D85DCC41735E}"/>
                </a:ext>
              </a:extLst>
            </p:cNvPr>
            <p:cNvSpPr txBox="1"/>
            <p:nvPr/>
          </p:nvSpPr>
          <p:spPr>
            <a:xfrm>
              <a:off x="2209800" y="2147765"/>
              <a:ext cx="7036991" cy="677108"/>
            </a:xfrm>
            <a:prstGeom prst="rect">
              <a:avLst/>
            </a:prstGeom>
            <a:noFill/>
          </p:spPr>
          <p:txBody>
            <a:bodyPr wrap="none" rtlCol="0">
              <a:spAutoFit/>
            </a:bodyPr>
            <a:lstStyle/>
            <a:p>
              <a:r>
                <a:rPr lang="en-US" sz="2000" b="1" noProof="0" dirty="0"/>
                <a:t>Causal Modelling</a:t>
              </a:r>
            </a:p>
            <a:p>
              <a:r>
                <a:rPr lang="en-US" noProof="0" dirty="0"/>
                <a:t>Communicating transparent causal assumptions in graphical models</a:t>
              </a:r>
            </a:p>
          </p:txBody>
        </p:sp>
      </p:grpSp>
      <p:grpSp>
        <p:nvGrpSpPr>
          <p:cNvPr id="7" name="Group 6">
            <a:extLst>
              <a:ext uri="{FF2B5EF4-FFF2-40B4-BE49-F238E27FC236}">
                <a16:creationId xmlns:a16="http://schemas.microsoft.com/office/drawing/2014/main" id="{9631CF4D-DB91-4DFB-FEF6-CF13EF9C9181}"/>
              </a:ext>
            </a:extLst>
          </p:cNvPr>
          <p:cNvGrpSpPr/>
          <p:nvPr/>
        </p:nvGrpSpPr>
        <p:grpSpPr>
          <a:xfrm>
            <a:off x="838200" y="3372942"/>
            <a:ext cx="8071831" cy="1080000"/>
            <a:chOff x="838200" y="3372942"/>
            <a:chExt cx="8071831" cy="1080000"/>
          </a:xfrm>
        </p:grpSpPr>
        <p:sp>
          <p:nvSpPr>
            <p:cNvPr id="17" name="Oval 16">
              <a:extLst>
                <a:ext uri="{FF2B5EF4-FFF2-40B4-BE49-F238E27FC236}">
                  <a16:creationId xmlns:a16="http://schemas.microsoft.com/office/drawing/2014/main" id="{1E0AD3EC-B2D3-DECF-B896-AE14E1285254}"/>
                </a:ext>
              </a:extLst>
            </p:cNvPr>
            <p:cNvSpPr/>
            <p:nvPr/>
          </p:nvSpPr>
          <p:spPr>
            <a:xfrm>
              <a:off x="838200" y="3372942"/>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Graphic 7" descr="Statistics with solid fill">
              <a:extLst>
                <a:ext uri="{FF2B5EF4-FFF2-40B4-BE49-F238E27FC236}">
                  <a16:creationId xmlns:a16="http://schemas.microsoft.com/office/drawing/2014/main" id="{62A1C673-D4CB-1F04-2ABC-16A9C54C02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1000" y="3455742"/>
              <a:ext cx="914400" cy="914400"/>
            </a:xfrm>
            <a:prstGeom prst="rect">
              <a:avLst/>
            </a:prstGeom>
          </p:spPr>
        </p:pic>
        <p:sp>
          <p:nvSpPr>
            <p:cNvPr id="19" name="TextBox 18">
              <a:extLst>
                <a:ext uri="{FF2B5EF4-FFF2-40B4-BE49-F238E27FC236}">
                  <a16:creationId xmlns:a16="http://schemas.microsoft.com/office/drawing/2014/main" id="{58D94976-2A7C-0B9A-D424-B47825F86BC8}"/>
                </a:ext>
              </a:extLst>
            </p:cNvPr>
            <p:cNvSpPr txBox="1"/>
            <p:nvPr/>
          </p:nvSpPr>
          <p:spPr>
            <a:xfrm>
              <a:off x="2209799" y="3574388"/>
              <a:ext cx="6700232" cy="677108"/>
            </a:xfrm>
            <a:prstGeom prst="rect">
              <a:avLst/>
            </a:prstGeom>
            <a:noFill/>
          </p:spPr>
          <p:txBody>
            <a:bodyPr wrap="none" rtlCol="0">
              <a:spAutoFit/>
            </a:bodyPr>
            <a:lstStyle/>
            <a:p>
              <a:r>
                <a:rPr lang="en-US" sz="2000" b="1" noProof="0" dirty="0"/>
                <a:t>Statistical Causal Inference (SCI)</a:t>
              </a:r>
            </a:p>
            <a:p>
              <a:r>
                <a:rPr lang="en-US" noProof="0" dirty="0"/>
                <a:t>Drawing reliable conclusions from quantitative, observational data</a:t>
              </a:r>
            </a:p>
          </p:txBody>
        </p:sp>
      </p:grpSp>
      <p:grpSp>
        <p:nvGrpSpPr>
          <p:cNvPr id="9" name="Group 8">
            <a:extLst>
              <a:ext uri="{FF2B5EF4-FFF2-40B4-BE49-F238E27FC236}">
                <a16:creationId xmlns:a16="http://schemas.microsoft.com/office/drawing/2014/main" id="{500CDA75-86AF-D218-B769-6A89DED892D5}"/>
              </a:ext>
            </a:extLst>
          </p:cNvPr>
          <p:cNvGrpSpPr/>
          <p:nvPr/>
        </p:nvGrpSpPr>
        <p:grpSpPr>
          <a:xfrm>
            <a:off x="838200" y="4795190"/>
            <a:ext cx="9739402" cy="1080000"/>
            <a:chOff x="838200" y="4795190"/>
            <a:chExt cx="9739402" cy="1080000"/>
          </a:xfrm>
        </p:grpSpPr>
        <p:sp>
          <p:nvSpPr>
            <p:cNvPr id="16" name="Oval 15">
              <a:extLst>
                <a:ext uri="{FF2B5EF4-FFF2-40B4-BE49-F238E27FC236}">
                  <a16:creationId xmlns:a16="http://schemas.microsoft.com/office/drawing/2014/main" id="{3B5E171D-01D5-AED9-76E3-B266D90B2C5B}"/>
                </a:ext>
              </a:extLst>
            </p:cNvPr>
            <p:cNvSpPr/>
            <p:nvPr/>
          </p:nvSpPr>
          <p:spPr>
            <a:xfrm>
              <a:off x="838200" y="4795190"/>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 name="Graphic 9" descr="Workflow with solid fill">
              <a:extLst>
                <a:ext uri="{FF2B5EF4-FFF2-40B4-BE49-F238E27FC236}">
                  <a16:creationId xmlns:a16="http://schemas.microsoft.com/office/drawing/2014/main" id="{001ABD3D-126A-DC5A-15DA-5C809EA66E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1000" y="4877990"/>
              <a:ext cx="914400" cy="914400"/>
            </a:xfrm>
            <a:prstGeom prst="rect">
              <a:avLst/>
            </a:prstGeom>
          </p:spPr>
        </p:pic>
        <p:sp>
          <p:nvSpPr>
            <p:cNvPr id="20" name="TextBox 19">
              <a:extLst>
                <a:ext uri="{FF2B5EF4-FFF2-40B4-BE49-F238E27FC236}">
                  <a16:creationId xmlns:a16="http://schemas.microsoft.com/office/drawing/2014/main" id="{577BF96E-C645-611F-19A7-C93D4EEF06DF}"/>
                </a:ext>
              </a:extLst>
            </p:cNvPr>
            <p:cNvSpPr txBox="1"/>
            <p:nvPr/>
          </p:nvSpPr>
          <p:spPr>
            <a:xfrm>
              <a:off x="2209798" y="5001011"/>
              <a:ext cx="8367804" cy="677108"/>
            </a:xfrm>
            <a:prstGeom prst="rect">
              <a:avLst/>
            </a:prstGeom>
            <a:noFill/>
          </p:spPr>
          <p:txBody>
            <a:bodyPr wrap="none" rtlCol="0">
              <a:spAutoFit/>
            </a:bodyPr>
            <a:lstStyle/>
            <a:p>
              <a:r>
                <a:rPr lang="en-US" sz="2000" b="1" noProof="0" dirty="0"/>
                <a:t>Causal Workflow</a:t>
              </a:r>
            </a:p>
            <a:p>
              <a:r>
                <a:rPr lang="en-US" noProof="0" dirty="0"/>
                <a:t>Structured process for performing statistical causal inference in an empirical study</a:t>
              </a:r>
            </a:p>
          </p:txBody>
        </p:sp>
      </p:grpSp>
    </p:spTree>
    <p:extLst>
      <p:ext uri="{BB962C8B-B14F-4D97-AF65-F5344CB8AC3E}">
        <p14:creationId xmlns:p14="http://schemas.microsoft.com/office/powerpoint/2010/main" val="428287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8FAD966-991E-0D36-0DA7-09B080404CFA}"/>
              </a:ext>
            </a:extLst>
          </p:cNvPr>
          <p:cNvSpPr>
            <a:spLocks noGrp="1"/>
          </p:cNvSpPr>
          <p:nvPr>
            <p:ph type="title"/>
          </p:nvPr>
        </p:nvSpPr>
        <p:spPr/>
        <p:txBody>
          <a:bodyPr/>
          <a:lstStyle/>
          <a:p>
            <a:r>
              <a:rPr lang="en-SE" dirty="0"/>
              <a:t>Causal Modelling</a:t>
            </a:r>
          </a:p>
        </p:txBody>
      </p:sp>
      <p:sp>
        <p:nvSpPr>
          <p:cNvPr id="8" name="Text Placeholder 7">
            <a:extLst>
              <a:ext uri="{FF2B5EF4-FFF2-40B4-BE49-F238E27FC236}">
                <a16:creationId xmlns:a16="http://schemas.microsoft.com/office/drawing/2014/main" id="{31FD6228-6D10-077A-D505-411F6380222F}"/>
              </a:ext>
            </a:extLst>
          </p:cNvPr>
          <p:cNvSpPr>
            <a:spLocks noGrp="1"/>
          </p:cNvSpPr>
          <p:nvPr>
            <p:ph type="body" idx="1"/>
          </p:nvPr>
        </p:nvSpPr>
        <p:spPr/>
        <p:txBody>
          <a:bodyPr/>
          <a:lstStyle/>
          <a:p>
            <a:r>
              <a:rPr lang="en-SE" dirty="0"/>
              <a:t>Concisely Framing Causal Assumptions</a:t>
            </a:r>
          </a:p>
        </p:txBody>
      </p:sp>
      <p:sp>
        <p:nvSpPr>
          <p:cNvPr id="4" name="Date Placeholder 3">
            <a:extLst>
              <a:ext uri="{FF2B5EF4-FFF2-40B4-BE49-F238E27FC236}">
                <a16:creationId xmlns:a16="http://schemas.microsoft.com/office/drawing/2014/main" id="{ACB1B46F-36FB-4C81-0149-DD7AA9C1A509}"/>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178398D7-4FF5-0A15-9439-338A46C5A52C}"/>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972D1F9A-4495-E667-CF31-B8AB72EA02BE}"/>
              </a:ext>
            </a:extLst>
          </p:cNvPr>
          <p:cNvSpPr>
            <a:spLocks noGrp="1"/>
          </p:cNvSpPr>
          <p:nvPr>
            <p:ph type="sldNum" sz="quarter" idx="12"/>
          </p:nvPr>
        </p:nvSpPr>
        <p:spPr/>
        <p:txBody>
          <a:bodyPr/>
          <a:lstStyle/>
          <a:p>
            <a:fld id="{0FA2D919-C0DE-4971-A2E9-D4AC0031921B}" type="slidenum">
              <a:rPr lang="en-US" smtClean="0"/>
              <a:t>12</a:t>
            </a:fld>
            <a:endParaRPr lang="en-US"/>
          </a:p>
        </p:txBody>
      </p:sp>
    </p:spTree>
    <p:extLst>
      <p:ext uri="{BB962C8B-B14F-4D97-AF65-F5344CB8AC3E}">
        <p14:creationId xmlns:p14="http://schemas.microsoft.com/office/powerpoint/2010/main" val="2299281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8F286-14BD-AA99-5396-08758DEBFE26}"/>
              </a:ext>
            </a:extLst>
          </p:cNvPr>
          <p:cNvSpPr>
            <a:spLocks noGrp="1"/>
          </p:cNvSpPr>
          <p:nvPr>
            <p:ph type="title"/>
          </p:nvPr>
        </p:nvSpPr>
        <p:spPr/>
        <p:txBody>
          <a:bodyPr/>
          <a:lstStyle/>
          <a:p>
            <a:r>
              <a:rPr lang="en-US" noProof="0" dirty="0"/>
              <a:t>Basic Terminology</a:t>
            </a:r>
          </a:p>
        </p:txBody>
      </p:sp>
      <p:sp>
        <p:nvSpPr>
          <p:cNvPr id="3" name="Content Placeholder 2">
            <a:extLst>
              <a:ext uri="{FF2B5EF4-FFF2-40B4-BE49-F238E27FC236}">
                <a16:creationId xmlns:a16="http://schemas.microsoft.com/office/drawing/2014/main" id="{2C9AF39B-888B-CA10-B64D-808F28464BE6}"/>
              </a:ext>
            </a:extLst>
          </p:cNvPr>
          <p:cNvSpPr>
            <a:spLocks noGrp="1"/>
          </p:cNvSpPr>
          <p:nvPr>
            <p:ph idx="1"/>
          </p:nvPr>
        </p:nvSpPr>
        <p:spPr>
          <a:xfrm>
            <a:off x="838200" y="1825625"/>
            <a:ext cx="10515600" cy="1399896"/>
          </a:xfrm>
        </p:spPr>
        <p:txBody>
          <a:bodyPr/>
          <a:lstStyle/>
          <a:p>
            <a:pPr marL="0" indent="0">
              <a:buNone/>
            </a:pPr>
            <a:r>
              <a:rPr lang="en-US" noProof="0" dirty="0"/>
              <a:t>“We study the effect of different </a:t>
            </a:r>
            <a:r>
              <a:rPr lang="en-US" b="1" noProof="0" dirty="0">
                <a:solidFill>
                  <a:srgbClr val="D0180A"/>
                </a:solidFill>
              </a:rPr>
              <a:t>document reading techniques </a:t>
            </a:r>
            <a:r>
              <a:rPr lang="en-US" noProof="0" dirty="0"/>
              <a:t>on the </a:t>
            </a:r>
            <a:r>
              <a:rPr lang="en-US" b="1" noProof="0" dirty="0">
                <a:solidFill>
                  <a:srgbClr val="006D70"/>
                </a:solidFill>
              </a:rPr>
              <a:t>number of identified defects </a:t>
            </a:r>
            <a:r>
              <a:rPr lang="en-US" noProof="0" dirty="0"/>
              <a:t>in </a:t>
            </a:r>
            <a:r>
              <a:rPr lang="en-US" b="1" noProof="0" dirty="0"/>
              <a:t>Bachelor- and Master-level </a:t>
            </a:r>
            <a:r>
              <a:rPr lang="en-US" noProof="0" dirty="0"/>
              <a:t>students.”</a:t>
            </a:r>
          </a:p>
        </p:txBody>
      </p:sp>
      <p:sp>
        <p:nvSpPr>
          <p:cNvPr id="4" name="Date Placeholder 3">
            <a:extLst>
              <a:ext uri="{FF2B5EF4-FFF2-40B4-BE49-F238E27FC236}">
                <a16:creationId xmlns:a16="http://schemas.microsoft.com/office/drawing/2014/main" id="{323F089F-AA16-AA17-C54B-7324A6D5DE9D}"/>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F8BBE96-35D1-8071-0AA4-03F79F9EE25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9C19582-0B5D-1F85-9337-903DB508BAF1}"/>
              </a:ext>
            </a:extLst>
          </p:cNvPr>
          <p:cNvSpPr>
            <a:spLocks noGrp="1"/>
          </p:cNvSpPr>
          <p:nvPr>
            <p:ph type="sldNum" sz="quarter" idx="12"/>
          </p:nvPr>
        </p:nvSpPr>
        <p:spPr/>
        <p:txBody>
          <a:bodyPr/>
          <a:lstStyle/>
          <a:p>
            <a:fld id="{0FA2D919-C0DE-4971-A2E9-D4AC0031921B}" type="slidenum">
              <a:rPr lang="en-US" noProof="0" smtClean="0"/>
              <a:t>13</a:t>
            </a:fld>
            <a:endParaRPr lang="en-US" noProof="0" dirty="0"/>
          </a:p>
        </p:txBody>
      </p:sp>
      <p:sp>
        <p:nvSpPr>
          <p:cNvPr id="7" name="Content Placeholder 2">
            <a:extLst>
              <a:ext uri="{FF2B5EF4-FFF2-40B4-BE49-F238E27FC236}">
                <a16:creationId xmlns:a16="http://schemas.microsoft.com/office/drawing/2014/main" id="{F7DA92F7-4BCB-0D7C-9507-AD36C1243E4C}"/>
              </a:ext>
            </a:extLst>
          </p:cNvPr>
          <p:cNvSpPr txBox="1">
            <a:spLocks/>
          </p:cNvSpPr>
          <p:nvPr/>
        </p:nvSpPr>
        <p:spPr>
          <a:xfrm>
            <a:off x="838200" y="3461657"/>
            <a:ext cx="10515600" cy="26276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noProof="0" dirty="0"/>
              <a:t>Factors</a:t>
            </a:r>
            <a:r>
              <a:rPr lang="en-US" sz="2400" noProof="0" dirty="0"/>
              <a:t>: variables that associate measurements with a construct (e.g., document reading technique, identified defects, student level)</a:t>
            </a:r>
          </a:p>
          <a:p>
            <a:r>
              <a:rPr lang="en-US" sz="2400" b="1" noProof="0" dirty="0">
                <a:solidFill>
                  <a:srgbClr val="D0180A"/>
                </a:solidFill>
              </a:rPr>
              <a:t>Treatment/Exposure</a:t>
            </a:r>
            <a:r>
              <a:rPr lang="en-US" sz="2400" noProof="0" dirty="0"/>
              <a:t>: main independent factor of interest</a:t>
            </a:r>
          </a:p>
          <a:p>
            <a:r>
              <a:rPr lang="en-US" sz="2400" b="1" noProof="0" dirty="0">
                <a:solidFill>
                  <a:srgbClr val="006D70"/>
                </a:solidFill>
              </a:rPr>
              <a:t>Outcome/Response</a:t>
            </a:r>
            <a:r>
              <a:rPr lang="en-US" sz="2400" noProof="0" dirty="0"/>
              <a:t>: main dependent factor</a:t>
            </a:r>
            <a:r>
              <a:rPr lang="en-SE" sz="2400" dirty="0"/>
              <a:t>(s)</a:t>
            </a:r>
            <a:r>
              <a:rPr lang="en-US" sz="2400" noProof="0" dirty="0"/>
              <a:t> of interest</a:t>
            </a:r>
          </a:p>
          <a:p>
            <a:r>
              <a:rPr lang="en-US" sz="2400" b="1" noProof="0" dirty="0">
                <a:solidFill>
                  <a:srgbClr val="D0180A"/>
                </a:solidFill>
              </a:rPr>
              <a:t>Pheno</a:t>
            </a:r>
            <a:r>
              <a:rPr lang="en-US" sz="2400" b="1" noProof="0" dirty="0">
                <a:solidFill>
                  <a:srgbClr val="006D70"/>
                </a:solidFill>
              </a:rPr>
              <a:t>menon</a:t>
            </a:r>
            <a:r>
              <a:rPr lang="en-US" sz="2400" noProof="0" dirty="0"/>
              <a:t>: main causal effect of interest (</a:t>
            </a:r>
            <a:r>
              <a:rPr lang="en-US" sz="2400" b="1" noProof="0" dirty="0">
                <a:solidFill>
                  <a:srgbClr val="D0180A"/>
                </a:solidFill>
              </a:rPr>
              <a:t>treatment</a:t>
            </a:r>
            <a:r>
              <a:rPr lang="en-US" sz="2400" b="1" noProof="0" dirty="0"/>
              <a:t> → </a:t>
            </a:r>
            <a:r>
              <a:rPr lang="en-US" sz="2400" b="1" noProof="0" dirty="0">
                <a:solidFill>
                  <a:srgbClr val="006D70"/>
                </a:solidFill>
              </a:rPr>
              <a:t>outcome</a:t>
            </a:r>
            <a:r>
              <a:rPr lang="en-US" sz="2400" noProof="0" dirty="0"/>
              <a:t>)</a:t>
            </a:r>
          </a:p>
          <a:p>
            <a:endParaRPr lang="en-US" sz="2400" noProof="0" dirty="0"/>
          </a:p>
        </p:txBody>
      </p:sp>
    </p:spTree>
    <p:extLst>
      <p:ext uri="{BB962C8B-B14F-4D97-AF65-F5344CB8AC3E}">
        <p14:creationId xmlns:p14="http://schemas.microsoft.com/office/powerpoint/2010/main" val="254755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A01D5-E46A-3D2F-2040-19A469994ACF}"/>
              </a:ext>
            </a:extLst>
          </p:cNvPr>
          <p:cNvSpPr>
            <a:spLocks noGrp="1"/>
          </p:cNvSpPr>
          <p:nvPr>
            <p:ph type="title"/>
          </p:nvPr>
        </p:nvSpPr>
        <p:spPr/>
        <p:txBody>
          <a:bodyPr/>
          <a:lstStyle/>
          <a:p>
            <a:r>
              <a:rPr lang="en-US" noProof="0" dirty="0"/>
              <a:t>Causal Modeling</a:t>
            </a:r>
          </a:p>
        </p:txBody>
      </p:sp>
      <p:sp>
        <p:nvSpPr>
          <p:cNvPr id="3" name="Content Placeholder 2">
            <a:extLst>
              <a:ext uri="{FF2B5EF4-FFF2-40B4-BE49-F238E27FC236}">
                <a16:creationId xmlns:a16="http://schemas.microsoft.com/office/drawing/2014/main" id="{268C1ED3-CD9B-41F7-C616-17DFEBB418D3}"/>
              </a:ext>
            </a:extLst>
          </p:cNvPr>
          <p:cNvSpPr>
            <a:spLocks noGrp="1"/>
          </p:cNvSpPr>
          <p:nvPr>
            <p:ph idx="1"/>
          </p:nvPr>
        </p:nvSpPr>
        <p:spPr>
          <a:xfrm>
            <a:off x="838200" y="1825625"/>
            <a:ext cx="10515600" cy="1648155"/>
          </a:xfrm>
        </p:spPr>
        <p:txBody>
          <a:bodyPr/>
          <a:lstStyle/>
          <a:p>
            <a:pPr marL="0" indent="0">
              <a:buNone/>
            </a:pPr>
            <a:r>
              <a:rPr lang="en-US" b="1" noProof="0" dirty="0"/>
              <a:t>Directed, acyclic graphs </a:t>
            </a:r>
            <a:r>
              <a:rPr lang="en-US" noProof="0" dirty="0"/>
              <a:t>(DAGs) can represent causal assumptions, where </a:t>
            </a:r>
            <a:r>
              <a:rPr lang="en-US" i="1" noProof="0" dirty="0"/>
              <a:t>nodes represent variables </a:t>
            </a:r>
            <a:r>
              <a:rPr lang="en-US" noProof="0" dirty="0"/>
              <a:t>and </a:t>
            </a:r>
            <a:r>
              <a:rPr lang="en-US" i="1" noProof="0" dirty="0"/>
              <a:t>edges represent assumed/potential causal relationships </a:t>
            </a:r>
            <a:r>
              <a:rPr lang="en-US" noProof="0" dirty="0"/>
              <a:t>between those variables. </a:t>
            </a:r>
          </a:p>
        </p:txBody>
      </p:sp>
      <p:sp>
        <p:nvSpPr>
          <p:cNvPr id="4" name="Date Placeholder 3">
            <a:extLst>
              <a:ext uri="{FF2B5EF4-FFF2-40B4-BE49-F238E27FC236}">
                <a16:creationId xmlns:a16="http://schemas.microsoft.com/office/drawing/2014/main" id="{D3ECDEA1-9251-8010-9BDF-96EB0C689E28}"/>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9BBC3B8-D200-43BE-3E66-C6281791291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9A06E96-EAC8-884A-18DB-A872B14C1C4B}"/>
              </a:ext>
            </a:extLst>
          </p:cNvPr>
          <p:cNvSpPr>
            <a:spLocks noGrp="1"/>
          </p:cNvSpPr>
          <p:nvPr>
            <p:ph type="sldNum" sz="quarter" idx="12"/>
          </p:nvPr>
        </p:nvSpPr>
        <p:spPr/>
        <p:txBody>
          <a:bodyPr/>
          <a:lstStyle/>
          <a:p>
            <a:fld id="{0FA2D919-C0DE-4971-A2E9-D4AC0031921B}" type="slidenum">
              <a:rPr lang="en-US" noProof="0" smtClean="0"/>
              <a:t>14</a:t>
            </a:fld>
            <a:endParaRPr lang="en-US" noProof="0" dirty="0"/>
          </a:p>
        </p:txBody>
      </p:sp>
      <p:sp>
        <p:nvSpPr>
          <p:cNvPr id="7" name="Oval 6">
            <a:extLst>
              <a:ext uri="{FF2B5EF4-FFF2-40B4-BE49-F238E27FC236}">
                <a16:creationId xmlns:a16="http://schemas.microsoft.com/office/drawing/2014/main" id="{E29DF2B2-1294-E509-291E-087811B57916}"/>
              </a:ext>
            </a:extLst>
          </p:cNvPr>
          <p:cNvSpPr/>
          <p:nvPr/>
        </p:nvSpPr>
        <p:spPr>
          <a:xfrm>
            <a:off x="1618046" y="396844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939CE83A-5A3D-768C-F51B-5236EB03EB28}"/>
              </a:ext>
            </a:extLst>
          </p:cNvPr>
          <p:cNvSpPr/>
          <p:nvPr/>
        </p:nvSpPr>
        <p:spPr>
          <a:xfrm>
            <a:off x="4109426" y="396844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 name="Straight Arrow Connector 9">
            <a:extLst>
              <a:ext uri="{FF2B5EF4-FFF2-40B4-BE49-F238E27FC236}">
                <a16:creationId xmlns:a16="http://schemas.microsoft.com/office/drawing/2014/main" id="{E1E7991C-5FE2-6232-D234-92F4BCB3C857}"/>
              </a:ext>
            </a:extLst>
          </p:cNvPr>
          <p:cNvCxnSpPr>
            <a:stCxn id="7" idx="6"/>
            <a:endCxn id="8" idx="2"/>
          </p:cNvCxnSpPr>
          <p:nvPr/>
        </p:nvCxnSpPr>
        <p:spPr>
          <a:xfrm>
            <a:off x="1978046" y="4148441"/>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C2BD42AF-E48E-7B51-DE49-8941430EC6D2}"/>
              </a:ext>
            </a:extLst>
          </p:cNvPr>
          <p:cNvSpPr txBox="1"/>
          <p:nvPr/>
        </p:nvSpPr>
        <p:spPr>
          <a:xfrm>
            <a:off x="956794" y="3509109"/>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12" name="TextBox 11">
            <a:extLst>
              <a:ext uri="{FF2B5EF4-FFF2-40B4-BE49-F238E27FC236}">
                <a16:creationId xmlns:a16="http://schemas.microsoft.com/office/drawing/2014/main" id="{5D552F5E-017B-6C53-D8E0-E7F2B4B2A9C7}"/>
              </a:ext>
            </a:extLst>
          </p:cNvPr>
          <p:cNvSpPr txBox="1"/>
          <p:nvPr/>
        </p:nvSpPr>
        <p:spPr>
          <a:xfrm>
            <a:off x="2882359" y="4396926"/>
            <a:ext cx="1921680" cy="369332"/>
          </a:xfrm>
          <a:prstGeom prst="rect">
            <a:avLst/>
          </a:prstGeom>
          <a:noFill/>
        </p:spPr>
        <p:txBody>
          <a:bodyPr wrap="none" rtlCol="0">
            <a:spAutoFit/>
          </a:bodyPr>
          <a:lstStyle/>
          <a:p>
            <a:r>
              <a:rPr lang="en-US" noProof="0" dirty="0">
                <a:solidFill>
                  <a:srgbClr val="006D70"/>
                </a:solidFill>
              </a:rPr>
              <a:t>identified defects</a:t>
            </a:r>
          </a:p>
        </p:txBody>
      </p:sp>
      <p:grpSp>
        <p:nvGrpSpPr>
          <p:cNvPr id="9" name="Group 8">
            <a:extLst>
              <a:ext uri="{FF2B5EF4-FFF2-40B4-BE49-F238E27FC236}">
                <a16:creationId xmlns:a16="http://schemas.microsoft.com/office/drawing/2014/main" id="{AC9E53DE-C33F-6F0F-B577-09D1BAEA87C4}"/>
              </a:ext>
            </a:extLst>
          </p:cNvPr>
          <p:cNvGrpSpPr/>
          <p:nvPr/>
        </p:nvGrpSpPr>
        <p:grpSpPr>
          <a:xfrm>
            <a:off x="6169980" y="3509109"/>
            <a:ext cx="5692291" cy="1604317"/>
            <a:chOff x="6169980" y="3509109"/>
            <a:chExt cx="5692291" cy="1604317"/>
          </a:xfrm>
        </p:grpSpPr>
        <p:sp>
          <p:nvSpPr>
            <p:cNvPr id="14" name="Oval 13">
              <a:extLst>
                <a:ext uri="{FF2B5EF4-FFF2-40B4-BE49-F238E27FC236}">
                  <a16:creationId xmlns:a16="http://schemas.microsoft.com/office/drawing/2014/main" id="{735E4827-12C0-027C-234F-9DD84F6191EB}"/>
                </a:ext>
              </a:extLst>
            </p:cNvPr>
            <p:cNvSpPr/>
            <p:nvPr/>
          </p:nvSpPr>
          <p:spPr>
            <a:xfrm>
              <a:off x="7666780" y="396844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D2DC2964-CB7F-2751-FF50-A4EE8CA7B5B1}"/>
                </a:ext>
              </a:extLst>
            </p:cNvPr>
            <p:cNvSpPr/>
            <p:nvPr/>
          </p:nvSpPr>
          <p:spPr>
            <a:xfrm>
              <a:off x="10158160" y="396844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E7B0F98D-67A4-5225-43AF-40A40C93155B}"/>
                </a:ext>
              </a:extLst>
            </p:cNvPr>
            <p:cNvCxnSpPr>
              <a:stCxn id="14" idx="6"/>
              <a:endCxn id="15" idx="2"/>
            </p:cNvCxnSpPr>
            <p:nvPr/>
          </p:nvCxnSpPr>
          <p:spPr>
            <a:xfrm>
              <a:off x="8026780" y="4148441"/>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4EFBCF18-C3E1-44FD-78AE-22C9C3A88B12}"/>
                </a:ext>
              </a:extLst>
            </p:cNvPr>
            <p:cNvSpPr txBox="1"/>
            <p:nvPr/>
          </p:nvSpPr>
          <p:spPr>
            <a:xfrm>
              <a:off x="6485877" y="3509109"/>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18" name="TextBox 17">
              <a:extLst>
                <a:ext uri="{FF2B5EF4-FFF2-40B4-BE49-F238E27FC236}">
                  <a16:creationId xmlns:a16="http://schemas.microsoft.com/office/drawing/2014/main" id="{E78C183F-0AF0-6378-D245-B9084C4B288A}"/>
                </a:ext>
              </a:extLst>
            </p:cNvPr>
            <p:cNvSpPr txBox="1"/>
            <p:nvPr/>
          </p:nvSpPr>
          <p:spPr>
            <a:xfrm>
              <a:off x="9940591" y="4403963"/>
              <a:ext cx="1921680" cy="369332"/>
            </a:xfrm>
            <a:prstGeom prst="rect">
              <a:avLst/>
            </a:prstGeom>
            <a:noFill/>
          </p:spPr>
          <p:txBody>
            <a:bodyPr wrap="none" rtlCol="0">
              <a:spAutoFit/>
            </a:bodyPr>
            <a:lstStyle/>
            <a:p>
              <a:r>
                <a:rPr lang="en-US" noProof="0" dirty="0">
                  <a:solidFill>
                    <a:srgbClr val="006D70"/>
                  </a:solidFill>
                </a:rPr>
                <a:t>identified defects</a:t>
              </a:r>
            </a:p>
          </p:txBody>
        </p:sp>
        <p:sp>
          <p:nvSpPr>
            <p:cNvPr id="19" name="Oval 18">
              <a:extLst>
                <a:ext uri="{FF2B5EF4-FFF2-40B4-BE49-F238E27FC236}">
                  <a16:creationId xmlns:a16="http://schemas.microsoft.com/office/drawing/2014/main" id="{525FBA5D-B19E-AE26-5D16-E0A6359250B7}"/>
                </a:ext>
              </a:extLst>
            </p:cNvPr>
            <p:cNvSpPr/>
            <p:nvPr/>
          </p:nvSpPr>
          <p:spPr>
            <a:xfrm>
              <a:off x="7666780" y="4744094"/>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56AA87ED-42BF-3907-AA2E-ECD69776208C}"/>
                </a:ext>
              </a:extLst>
            </p:cNvPr>
            <p:cNvSpPr/>
            <p:nvPr/>
          </p:nvSpPr>
          <p:spPr>
            <a:xfrm>
              <a:off x="9039374" y="4744094"/>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TextBox 20">
              <a:extLst>
                <a:ext uri="{FF2B5EF4-FFF2-40B4-BE49-F238E27FC236}">
                  <a16:creationId xmlns:a16="http://schemas.microsoft.com/office/drawing/2014/main" id="{34208AB7-6ABE-E78A-BB4D-D6EEAF512645}"/>
                </a:ext>
              </a:extLst>
            </p:cNvPr>
            <p:cNvSpPr txBox="1"/>
            <p:nvPr/>
          </p:nvSpPr>
          <p:spPr>
            <a:xfrm>
              <a:off x="9399374" y="4734762"/>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22" name="TextBox 21">
              <a:extLst>
                <a:ext uri="{FF2B5EF4-FFF2-40B4-BE49-F238E27FC236}">
                  <a16:creationId xmlns:a16="http://schemas.microsoft.com/office/drawing/2014/main" id="{9BD8E16A-7AC8-E5FF-0282-43AA2045018D}"/>
                </a:ext>
              </a:extLst>
            </p:cNvPr>
            <p:cNvSpPr txBox="1"/>
            <p:nvPr/>
          </p:nvSpPr>
          <p:spPr>
            <a:xfrm>
              <a:off x="6169980" y="4744094"/>
              <a:ext cx="1455398" cy="369332"/>
            </a:xfrm>
            <a:prstGeom prst="rect">
              <a:avLst/>
            </a:prstGeom>
            <a:noFill/>
          </p:spPr>
          <p:txBody>
            <a:bodyPr wrap="none" rtlCol="0">
              <a:spAutoFit/>
            </a:bodyPr>
            <a:lstStyle/>
            <a:p>
              <a:pPr algn="r"/>
              <a:r>
                <a:rPr lang="en-US" noProof="0" dirty="0">
                  <a:solidFill>
                    <a:schemeClr val="tx1">
                      <a:lumMod val="65000"/>
                      <a:lumOff val="35000"/>
                    </a:schemeClr>
                  </a:solidFill>
                </a:rPr>
                <a:t>participation</a:t>
              </a:r>
            </a:p>
          </p:txBody>
        </p:sp>
        <p:cxnSp>
          <p:nvCxnSpPr>
            <p:cNvPr id="23" name="Straight Arrow Connector 22">
              <a:extLst>
                <a:ext uri="{FF2B5EF4-FFF2-40B4-BE49-F238E27FC236}">
                  <a16:creationId xmlns:a16="http://schemas.microsoft.com/office/drawing/2014/main" id="{BC03D372-C488-4028-534A-E7FB39B29F94}"/>
                </a:ext>
              </a:extLst>
            </p:cNvPr>
            <p:cNvCxnSpPr>
              <a:cxnSpLocks/>
              <a:stCxn id="20" idx="7"/>
              <a:endCxn id="15" idx="3"/>
            </p:cNvCxnSpPr>
            <p:nvPr/>
          </p:nvCxnSpPr>
          <p:spPr>
            <a:xfrm flipV="1">
              <a:off x="9346653" y="4275720"/>
              <a:ext cx="864228"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3EB0E2A5-0C7E-E710-6AA2-B2CC3BDD87B5}"/>
                </a:ext>
              </a:extLst>
            </p:cNvPr>
            <p:cNvCxnSpPr>
              <a:cxnSpLocks/>
              <a:stCxn id="20" idx="2"/>
              <a:endCxn id="19" idx="6"/>
            </p:cNvCxnSpPr>
            <p:nvPr/>
          </p:nvCxnSpPr>
          <p:spPr>
            <a:xfrm flipH="1">
              <a:off x="8026780" y="4924094"/>
              <a:ext cx="10125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1B39319A-01E2-9541-B069-3F3F4BF0E758}"/>
                </a:ext>
              </a:extLst>
            </p:cNvPr>
            <p:cNvCxnSpPr>
              <a:cxnSpLocks/>
              <a:stCxn id="19" idx="0"/>
              <a:endCxn id="14" idx="4"/>
            </p:cNvCxnSpPr>
            <p:nvPr/>
          </p:nvCxnSpPr>
          <p:spPr>
            <a:xfrm flipV="1">
              <a:off x="7846780" y="4328441"/>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CCED2772-E71C-F3B2-5272-CCC723B63BFA}"/>
                </a:ext>
              </a:extLst>
            </p:cNvPr>
            <p:cNvCxnSpPr>
              <a:cxnSpLocks/>
              <a:stCxn id="20" idx="1"/>
              <a:endCxn id="14" idx="5"/>
            </p:cNvCxnSpPr>
            <p:nvPr/>
          </p:nvCxnSpPr>
          <p:spPr>
            <a:xfrm flipH="1" flipV="1">
              <a:off x="7974059" y="4275720"/>
              <a:ext cx="1118036"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6" name="Oval 35">
            <a:extLst>
              <a:ext uri="{FF2B5EF4-FFF2-40B4-BE49-F238E27FC236}">
                <a16:creationId xmlns:a16="http://schemas.microsoft.com/office/drawing/2014/main" id="{E382FD1B-5874-1E26-2E7E-9CAF206FAEE4}"/>
              </a:ext>
            </a:extLst>
          </p:cNvPr>
          <p:cNvSpPr/>
          <p:nvPr/>
        </p:nvSpPr>
        <p:spPr>
          <a:xfrm>
            <a:off x="1076545" y="549338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Oval 36">
            <a:extLst>
              <a:ext uri="{FF2B5EF4-FFF2-40B4-BE49-F238E27FC236}">
                <a16:creationId xmlns:a16="http://schemas.microsoft.com/office/drawing/2014/main" id="{8E347C23-1F0C-FBBC-53EF-0DCAF58BB11E}"/>
              </a:ext>
            </a:extLst>
          </p:cNvPr>
          <p:cNvSpPr/>
          <p:nvPr/>
        </p:nvSpPr>
        <p:spPr>
          <a:xfrm>
            <a:off x="1074854" y="5945984"/>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Oval 37">
            <a:extLst>
              <a:ext uri="{FF2B5EF4-FFF2-40B4-BE49-F238E27FC236}">
                <a16:creationId xmlns:a16="http://schemas.microsoft.com/office/drawing/2014/main" id="{680AA450-D5EF-C2AD-396E-9C80E7AF6F7B}"/>
              </a:ext>
            </a:extLst>
          </p:cNvPr>
          <p:cNvSpPr/>
          <p:nvPr/>
        </p:nvSpPr>
        <p:spPr>
          <a:xfrm>
            <a:off x="3036566" y="550940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 name="Oval 38">
            <a:extLst>
              <a:ext uri="{FF2B5EF4-FFF2-40B4-BE49-F238E27FC236}">
                <a16:creationId xmlns:a16="http://schemas.microsoft.com/office/drawing/2014/main" id="{6A3EE336-0A94-8F5D-71A2-D000B829D6A0}"/>
              </a:ext>
            </a:extLst>
          </p:cNvPr>
          <p:cNvSpPr/>
          <p:nvPr/>
        </p:nvSpPr>
        <p:spPr>
          <a:xfrm>
            <a:off x="3673766" y="5509404"/>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40" name="Straight Arrow Connector 39">
            <a:extLst>
              <a:ext uri="{FF2B5EF4-FFF2-40B4-BE49-F238E27FC236}">
                <a16:creationId xmlns:a16="http://schemas.microsoft.com/office/drawing/2014/main" id="{F431263E-2CAD-D36B-30A3-3DBBF068E95E}"/>
              </a:ext>
            </a:extLst>
          </p:cNvPr>
          <p:cNvCxnSpPr>
            <a:stCxn id="38" idx="6"/>
            <a:endCxn id="39" idx="2"/>
          </p:cNvCxnSpPr>
          <p:nvPr/>
        </p:nvCxnSpPr>
        <p:spPr>
          <a:xfrm>
            <a:off x="3396566" y="5689404"/>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val 43">
            <a:extLst>
              <a:ext uri="{FF2B5EF4-FFF2-40B4-BE49-F238E27FC236}">
                <a16:creationId xmlns:a16="http://schemas.microsoft.com/office/drawing/2014/main" id="{AE55B341-6B8C-9909-ED3B-F8C1F59E518F}"/>
              </a:ext>
            </a:extLst>
          </p:cNvPr>
          <p:cNvSpPr/>
          <p:nvPr/>
        </p:nvSpPr>
        <p:spPr>
          <a:xfrm>
            <a:off x="3355166" y="598253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5" name="TextBox 44">
            <a:extLst>
              <a:ext uri="{FF2B5EF4-FFF2-40B4-BE49-F238E27FC236}">
                <a16:creationId xmlns:a16="http://schemas.microsoft.com/office/drawing/2014/main" id="{81B26CC4-ED14-560D-E74B-753EE216E14E}"/>
              </a:ext>
            </a:extLst>
          </p:cNvPr>
          <p:cNvSpPr txBox="1"/>
          <p:nvPr/>
        </p:nvSpPr>
        <p:spPr>
          <a:xfrm>
            <a:off x="1495794" y="5504350"/>
            <a:ext cx="1058495" cy="338554"/>
          </a:xfrm>
          <a:prstGeom prst="rect">
            <a:avLst/>
          </a:prstGeom>
          <a:noFill/>
        </p:spPr>
        <p:txBody>
          <a:bodyPr wrap="none" rtlCol="0">
            <a:spAutoFit/>
          </a:bodyPr>
          <a:lstStyle/>
          <a:p>
            <a:r>
              <a:rPr lang="en-US" sz="1600" noProof="0" dirty="0"/>
              <a:t>treatment</a:t>
            </a:r>
          </a:p>
        </p:txBody>
      </p:sp>
      <p:sp>
        <p:nvSpPr>
          <p:cNvPr id="46" name="TextBox 45">
            <a:extLst>
              <a:ext uri="{FF2B5EF4-FFF2-40B4-BE49-F238E27FC236}">
                <a16:creationId xmlns:a16="http://schemas.microsoft.com/office/drawing/2014/main" id="{52844D70-CDCB-C029-3674-F9895018B753}"/>
              </a:ext>
            </a:extLst>
          </p:cNvPr>
          <p:cNvSpPr txBox="1"/>
          <p:nvPr/>
        </p:nvSpPr>
        <p:spPr>
          <a:xfrm>
            <a:off x="1495677" y="5956707"/>
            <a:ext cx="981935" cy="338554"/>
          </a:xfrm>
          <a:prstGeom prst="rect">
            <a:avLst/>
          </a:prstGeom>
          <a:noFill/>
        </p:spPr>
        <p:txBody>
          <a:bodyPr wrap="none" rtlCol="0">
            <a:spAutoFit/>
          </a:bodyPr>
          <a:lstStyle/>
          <a:p>
            <a:r>
              <a:rPr lang="en-US" sz="1600" noProof="0" dirty="0"/>
              <a:t>outcome</a:t>
            </a:r>
          </a:p>
        </p:txBody>
      </p:sp>
      <p:sp>
        <p:nvSpPr>
          <p:cNvPr id="47" name="TextBox 46">
            <a:extLst>
              <a:ext uri="{FF2B5EF4-FFF2-40B4-BE49-F238E27FC236}">
                <a16:creationId xmlns:a16="http://schemas.microsoft.com/office/drawing/2014/main" id="{F6057B23-59EB-AB5C-B913-DEB1A96D8FFB}"/>
              </a:ext>
            </a:extLst>
          </p:cNvPr>
          <p:cNvSpPr txBox="1"/>
          <p:nvPr/>
        </p:nvSpPr>
        <p:spPr>
          <a:xfrm>
            <a:off x="4099365" y="5514482"/>
            <a:ext cx="1372492" cy="338554"/>
          </a:xfrm>
          <a:prstGeom prst="rect">
            <a:avLst/>
          </a:prstGeom>
          <a:noFill/>
        </p:spPr>
        <p:txBody>
          <a:bodyPr wrap="none" rtlCol="0">
            <a:spAutoFit/>
          </a:bodyPr>
          <a:lstStyle/>
          <a:p>
            <a:r>
              <a:rPr lang="en-US" sz="1600" noProof="0" dirty="0"/>
              <a:t>phenomenon</a:t>
            </a:r>
          </a:p>
        </p:txBody>
      </p:sp>
      <p:sp>
        <p:nvSpPr>
          <p:cNvPr id="48" name="TextBox 47">
            <a:extLst>
              <a:ext uri="{FF2B5EF4-FFF2-40B4-BE49-F238E27FC236}">
                <a16:creationId xmlns:a16="http://schemas.microsoft.com/office/drawing/2014/main" id="{2A1DDE53-3F44-9579-8335-1890A84707A4}"/>
              </a:ext>
            </a:extLst>
          </p:cNvPr>
          <p:cNvSpPr txBox="1"/>
          <p:nvPr/>
        </p:nvSpPr>
        <p:spPr>
          <a:xfrm>
            <a:off x="4098047" y="5956830"/>
            <a:ext cx="1315873" cy="338554"/>
          </a:xfrm>
          <a:prstGeom prst="rect">
            <a:avLst/>
          </a:prstGeom>
          <a:noFill/>
        </p:spPr>
        <p:txBody>
          <a:bodyPr wrap="none" rtlCol="0">
            <a:spAutoFit/>
          </a:bodyPr>
          <a:lstStyle/>
          <a:p>
            <a:r>
              <a:rPr lang="en-US" sz="1600" noProof="0" dirty="0"/>
              <a:t>other factors</a:t>
            </a:r>
          </a:p>
        </p:txBody>
      </p:sp>
      <p:grpSp>
        <p:nvGrpSpPr>
          <p:cNvPr id="30" name="Group 29">
            <a:extLst>
              <a:ext uri="{FF2B5EF4-FFF2-40B4-BE49-F238E27FC236}">
                <a16:creationId xmlns:a16="http://schemas.microsoft.com/office/drawing/2014/main" id="{E7F5AFE2-76AA-52CC-B96C-A9AAA735FD62}"/>
              </a:ext>
            </a:extLst>
          </p:cNvPr>
          <p:cNvGrpSpPr/>
          <p:nvPr/>
        </p:nvGrpSpPr>
        <p:grpSpPr>
          <a:xfrm>
            <a:off x="5827232" y="5320368"/>
            <a:ext cx="6035039" cy="946595"/>
            <a:chOff x="775411" y="5230368"/>
            <a:chExt cx="6035039" cy="946595"/>
          </a:xfrm>
        </p:grpSpPr>
        <p:sp>
          <p:nvSpPr>
            <p:cNvPr id="31" name="Rectangle: Rounded Corners 30">
              <a:extLst>
                <a:ext uri="{FF2B5EF4-FFF2-40B4-BE49-F238E27FC236}">
                  <a16:creationId xmlns:a16="http://schemas.microsoft.com/office/drawing/2014/main" id="{A970723A-AA44-3235-32F5-A5043D543F74}"/>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DAGs are subjective and represent the view of a domain expert.</a:t>
              </a:r>
              <a:endParaRPr lang="en-US" baseline="30000" noProof="0" dirty="0"/>
            </a:p>
          </p:txBody>
        </p:sp>
        <p:pic>
          <p:nvPicPr>
            <p:cNvPr id="32" name="Graphic 31" descr="Open quotation mark with solid fill">
              <a:extLst>
                <a:ext uri="{FF2B5EF4-FFF2-40B4-BE49-F238E27FC236}">
                  <a16:creationId xmlns:a16="http://schemas.microsoft.com/office/drawing/2014/main" id="{2A69186F-8D75-9F86-F79E-541D1830CF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422546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anim calcmode="lin" valueType="num">
                                      <p:cBhvr>
                                        <p:cTn id="48" dur="500" fill="hold"/>
                                        <p:tgtEl>
                                          <p:spTgt spid="30"/>
                                        </p:tgtEl>
                                        <p:attrNameLst>
                                          <p:attrName>ppt_x</p:attrName>
                                        </p:attrNameLst>
                                      </p:cBhvr>
                                      <p:tavLst>
                                        <p:tav tm="0">
                                          <p:val>
                                            <p:strVal val="#ppt_x"/>
                                          </p:val>
                                        </p:tav>
                                        <p:tav tm="100000">
                                          <p:val>
                                            <p:strVal val="#ppt_x"/>
                                          </p:val>
                                        </p:tav>
                                      </p:tavLst>
                                    </p:anim>
                                    <p:anim calcmode="lin" valueType="num">
                                      <p:cBhvr>
                                        <p:cTn id="49"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p:bldP spid="12" grpId="0"/>
      <p:bldP spid="36" grpId="0" animBg="1"/>
      <p:bldP spid="37" grpId="0" animBg="1"/>
      <p:bldP spid="38" grpId="0" animBg="1"/>
      <p:bldP spid="39" grpId="0" animBg="1"/>
      <p:bldP spid="44" grpId="0" animBg="1"/>
      <p:bldP spid="45" grpId="0"/>
      <p:bldP spid="46" grpId="0"/>
      <p:bldP spid="47"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E7029-8590-A898-A5E3-5BD05380F0C7}"/>
              </a:ext>
            </a:extLst>
          </p:cNvPr>
          <p:cNvSpPr>
            <a:spLocks noGrp="1"/>
          </p:cNvSpPr>
          <p:nvPr>
            <p:ph type="title"/>
          </p:nvPr>
        </p:nvSpPr>
        <p:spPr/>
        <p:txBody>
          <a:bodyPr/>
          <a:lstStyle/>
          <a:p>
            <a:r>
              <a:rPr lang="en-SE" dirty="0"/>
              <a:t>Causal </a:t>
            </a:r>
            <a:r>
              <a:rPr lang="en-SE" dirty="0" err="1"/>
              <a:t>Modeling</a:t>
            </a:r>
            <a:endParaRPr lang="en-SE" dirty="0"/>
          </a:p>
        </p:txBody>
      </p:sp>
      <p:sp>
        <p:nvSpPr>
          <p:cNvPr id="3" name="Content Placeholder 2">
            <a:extLst>
              <a:ext uri="{FF2B5EF4-FFF2-40B4-BE49-F238E27FC236}">
                <a16:creationId xmlns:a16="http://schemas.microsoft.com/office/drawing/2014/main" id="{62D19D0D-DAF4-FED7-C6D9-43E4B762D1E2}"/>
              </a:ext>
            </a:extLst>
          </p:cNvPr>
          <p:cNvSpPr>
            <a:spLocks noGrp="1"/>
          </p:cNvSpPr>
          <p:nvPr>
            <p:ph idx="1"/>
          </p:nvPr>
        </p:nvSpPr>
        <p:spPr>
          <a:xfrm>
            <a:off x="838200" y="1825625"/>
            <a:ext cx="10515600" cy="628015"/>
          </a:xfrm>
        </p:spPr>
        <p:txBody>
          <a:bodyPr/>
          <a:lstStyle/>
          <a:p>
            <a:pPr marL="0" indent="0">
              <a:buNone/>
            </a:pPr>
            <a:r>
              <a:rPr lang="en-SE" dirty="0" err="1"/>
              <a:t>DAGs</a:t>
            </a:r>
            <a:r>
              <a:rPr lang="en-SE" dirty="0"/>
              <a:t> allow visualizing causal hypotheses clearly:</a:t>
            </a:r>
          </a:p>
        </p:txBody>
      </p:sp>
      <p:sp>
        <p:nvSpPr>
          <p:cNvPr id="4" name="Date Placeholder 3">
            <a:extLst>
              <a:ext uri="{FF2B5EF4-FFF2-40B4-BE49-F238E27FC236}">
                <a16:creationId xmlns:a16="http://schemas.microsoft.com/office/drawing/2014/main" id="{2E68F64E-46E6-C12F-1BCA-62832E6A187D}"/>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F42EFD3B-1B5C-9E4A-0B96-9F84FEF1AAAC}"/>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902A69C-0885-BB07-1F1F-FBCBF341C242}"/>
              </a:ext>
            </a:extLst>
          </p:cNvPr>
          <p:cNvSpPr>
            <a:spLocks noGrp="1"/>
          </p:cNvSpPr>
          <p:nvPr>
            <p:ph type="sldNum" sz="quarter" idx="12"/>
          </p:nvPr>
        </p:nvSpPr>
        <p:spPr/>
        <p:txBody>
          <a:bodyPr/>
          <a:lstStyle/>
          <a:p>
            <a:fld id="{0FA2D919-C0DE-4971-A2E9-D4AC0031921B}" type="slidenum">
              <a:rPr lang="en-US" smtClean="0"/>
              <a:t>15</a:t>
            </a:fld>
            <a:endParaRPr lang="en-US"/>
          </a:p>
        </p:txBody>
      </p:sp>
      <p:grpSp>
        <p:nvGrpSpPr>
          <p:cNvPr id="7" name="Group 6">
            <a:extLst>
              <a:ext uri="{FF2B5EF4-FFF2-40B4-BE49-F238E27FC236}">
                <a16:creationId xmlns:a16="http://schemas.microsoft.com/office/drawing/2014/main" id="{B67B30E2-CBDE-E641-218B-C21BF6B0EB2B}"/>
              </a:ext>
            </a:extLst>
          </p:cNvPr>
          <p:cNvGrpSpPr/>
          <p:nvPr/>
        </p:nvGrpSpPr>
        <p:grpSpPr>
          <a:xfrm>
            <a:off x="714379" y="2591917"/>
            <a:ext cx="5381621" cy="1001000"/>
            <a:chOff x="838200" y="1967463"/>
            <a:chExt cx="5381621" cy="1001000"/>
          </a:xfrm>
        </p:grpSpPr>
        <p:sp>
          <p:nvSpPr>
            <p:cNvPr id="8" name="Rectangle: Rounded Corners 7" descr="Piles of various wholegrain foods">
              <a:extLst>
                <a:ext uri="{FF2B5EF4-FFF2-40B4-BE49-F238E27FC236}">
                  <a16:creationId xmlns:a16="http://schemas.microsoft.com/office/drawing/2014/main" id="{52962953-01CF-006A-21BC-BEE69E3A798E}"/>
                </a:ext>
              </a:extLst>
            </p:cNvPr>
            <p:cNvSpPr/>
            <p:nvPr/>
          </p:nvSpPr>
          <p:spPr>
            <a:xfrm>
              <a:off x="838200" y="1967463"/>
              <a:ext cx="5381620" cy="1001000"/>
            </a:xfrm>
            <a:prstGeom prst="roundRect">
              <a:avLst/>
            </a:prstGeom>
            <a:blipFill>
              <a:blip r:embed="rId2">
                <a:extLst>
                  <a:ext uri="{28A0092B-C50C-407E-A947-70E740481C1C}">
                    <a14:useLocalDpi xmlns:a14="http://schemas.microsoft.com/office/drawing/2010/main" val="0"/>
                  </a:ext>
                </a:extLst>
              </a:blip>
              <a:srcRect/>
              <a:stretch>
                <a:fillRect t="-129164" b="-129164"/>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Rectangle: Rounded Corners 8">
              <a:extLst>
                <a:ext uri="{FF2B5EF4-FFF2-40B4-BE49-F238E27FC236}">
                  <a16:creationId xmlns:a16="http://schemas.microsoft.com/office/drawing/2014/main" id="{BFFFFEBE-5886-268C-1F80-1CB89791BA45}"/>
                </a:ext>
              </a:extLst>
            </p:cNvPr>
            <p:cNvSpPr/>
            <p:nvPr/>
          </p:nvSpPr>
          <p:spPr>
            <a:xfrm>
              <a:off x="838201" y="1967463"/>
              <a:ext cx="5381620" cy="1001000"/>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Babylonian Diet Experiment</a:t>
              </a:r>
            </a:p>
          </p:txBody>
        </p:sp>
      </p:grpSp>
      <p:grpSp>
        <p:nvGrpSpPr>
          <p:cNvPr id="10" name="Group 9">
            <a:extLst>
              <a:ext uri="{FF2B5EF4-FFF2-40B4-BE49-F238E27FC236}">
                <a16:creationId xmlns:a16="http://schemas.microsoft.com/office/drawing/2014/main" id="{726E9067-7EC2-02BE-B609-74F60F9F6B60}"/>
              </a:ext>
            </a:extLst>
          </p:cNvPr>
          <p:cNvGrpSpPr/>
          <p:nvPr/>
        </p:nvGrpSpPr>
        <p:grpSpPr>
          <a:xfrm>
            <a:off x="6200779" y="2588577"/>
            <a:ext cx="5381621" cy="1004339"/>
            <a:chOff x="6324600" y="1964123"/>
            <a:chExt cx="5381621" cy="1004339"/>
          </a:xfrm>
        </p:grpSpPr>
        <p:sp>
          <p:nvSpPr>
            <p:cNvPr id="11" name="Rectangle: Rounded Corners 10" descr="Smoke from factory">
              <a:extLst>
                <a:ext uri="{FF2B5EF4-FFF2-40B4-BE49-F238E27FC236}">
                  <a16:creationId xmlns:a16="http://schemas.microsoft.com/office/drawing/2014/main" id="{2C8EDE69-AB3F-CE87-DD69-D1A8927E0340}"/>
                </a:ext>
              </a:extLst>
            </p:cNvPr>
            <p:cNvSpPr/>
            <p:nvPr/>
          </p:nvSpPr>
          <p:spPr>
            <a:xfrm>
              <a:off x="6324601" y="1964124"/>
              <a:ext cx="5381620" cy="1001001"/>
            </a:xfrm>
            <a:prstGeom prst="roundRect">
              <a:avLst/>
            </a:prstGeom>
            <a:blipFill dpi="0" rotWithShape="1">
              <a:blip r:embed="rId3">
                <a:extLst>
                  <a:ext uri="{28A0092B-C50C-407E-A947-70E740481C1C}">
                    <a14:useLocalDpi xmlns:a14="http://schemas.microsoft.com/office/drawing/2010/main" val="0"/>
                  </a:ext>
                </a:extLst>
              </a:blip>
              <a:srcRect/>
              <a:stretch>
                <a:fillRect l="230" t="-139279" r="-230" b="-119527"/>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Rectangle: Rounded Corners 11">
              <a:extLst>
                <a:ext uri="{FF2B5EF4-FFF2-40B4-BE49-F238E27FC236}">
                  <a16:creationId xmlns:a16="http://schemas.microsoft.com/office/drawing/2014/main" id="{7F7C6402-E39D-6CA6-FA61-FF86CA54695F}"/>
                </a:ext>
              </a:extLst>
            </p:cNvPr>
            <p:cNvSpPr/>
            <p:nvPr/>
          </p:nvSpPr>
          <p:spPr>
            <a:xfrm>
              <a:off x="6324600" y="1964123"/>
              <a:ext cx="5381621" cy="1004339"/>
            </a:xfrm>
            <a:prstGeom prst="roundRect">
              <a:avLst/>
            </a:prstGeom>
            <a:gradFill>
              <a:gsLst>
                <a:gs pos="0">
                  <a:schemeClr val="accent1">
                    <a:lumMod val="5000"/>
                    <a:lumOff val="95000"/>
                    <a:alpha val="0"/>
                  </a:schemeClr>
                </a:gs>
                <a:gs pos="63000">
                  <a:schemeClr val="tx1">
                    <a:alpha val="60000"/>
                  </a:schemeClr>
                </a:gs>
                <a:gs pos="82000">
                  <a:schemeClr val="tx1">
                    <a:alpha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SE" sz="2400" b="1" dirty="0"/>
                <a:t>Does Smoking cause Harm? </a:t>
              </a:r>
            </a:p>
          </p:txBody>
        </p:sp>
      </p:grpSp>
      <p:grpSp>
        <p:nvGrpSpPr>
          <p:cNvPr id="18" name="Group 17">
            <a:extLst>
              <a:ext uri="{FF2B5EF4-FFF2-40B4-BE49-F238E27FC236}">
                <a16:creationId xmlns:a16="http://schemas.microsoft.com/office/drawing/2014/main" id="{D7D6B231-B8F2-62B1-47E3-ED70F45AA9CF}"/>
              </a:ext>
            </a:extLst>
          </p:cNvPr>
          <p:cNvGrpSpPr/>
          <p:nvPr/>
        </p:nvGrpSpPr>
        <p:grpSpPr>
          <a:xfrm>
            <a:off x="1989701" y="3743967"/>
            <a:ext cx="3183397" cy="819332"/>
            <a:chOff x="1682595" y="3731194"/>
            <a:chExt cx="3183397" cy="819332"/>
          </a:xfrm>
        </p:grpSpPr>
        <p:sp>
          <p:nvSpPr>
            <p:cNvPr id="13" name="Oval 12">
              <a:extLst>
                <a:ext uri="{FF2B5EF4-FFF2-40B4-BE49-F238E27FC236}">
                  <a16:creationId xmlns:a16="http://schemas.microsoft.com/office/drawing/2014/main" id="{2FBF1539-6656-35A8-0730-C84BA0A54152}"/>
                </a:ext>
              </a:extLst>
            </p:cNvPr>
            <p:cNvSpPr/>
            <p:nvPr/>
          </p:nvSpPr>
          <p:spPr>
            <a:xfrm>
              <a:off x="1785686" y="419052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25FE2CDB-6D17-C34E-8827-8965FF0604FE}"/>
                </a:ext>
              </a:extLst>
            </p:cNvPr>
            <p:cNvSpPr/>
            <p:nvPr/>
          </p:nvSpPr>
          <p:spPr>
            <a:xfrm>
              <a:off x="4277066" y="419052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5" name="Straight Arrow Connector 14">
              <a:extLst>
                <a:ext uri="{FF2B5EF4-FFF2-40B4-BE49-F238E27FC236}">
                  <a16:creationId xmlns:a16="http://schemas.microsoft.com/office/drawing/2014/main" id="{44954349-189D-3914-3D5E-44CE1C0C67DF}"/>
                </a:ext>
              </a:extLst>
            </p:cNvPr>
            <p:cNvCxnSpPr>
              <a:stCxn id="13" idx="6"/>
              <a:endCxn id="14" idx="2"/>
            </p:cNvCxnSpPr>
            <p:nvPr/>
          </p:nvCxnSpPr>
          <p:spPr>
            <a:xfrm>
              <a:off x="2145686" y="437052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D328A4A1-65FA-BC26-F873-56503DA90456}"/>
                </a:ext>
              </a:extLst>
            </p:cNvPr>
            <p:cNvSpPr txBox="1"/>
            <p:nvPr/>
          </p:nvSpPr>
          <p:spPr>
            <a:xfrm>
              <a:off x="1682595" y="3731194"/>
              <a:ext cx="566181" cy="369332"/>
            </a:xfrm>
            <a:prstGeom prst="rect">
              <a:avLst/>
            </a:prstGeom>
            <a:noFill/>
          </p:spPr>
          <p:txBody>
            <a:bodyPr wrap="none" rtlCol="0">
              <a:spAutoFit/>
            </a:bodyPr>
            <a:lstStyle/>
            <a:p>
              <a:r>
                <a:rPr lang="en-SE" noProof="0" dirty="0">
                  <a:solidFill>
                    <a:srgbClr val="D0180A"/>
                  </a:solidFill>
                </a:rPr>
                <a:t>diet</a:t>
              </a:r>
              <a:endParaRPr lang="en-US" noProof="0" dirty="0">
                <a:solidFill>
                  <a:srgbClr val="D0180A"/>
                </a:solidFill>
              </a:endParaRPr>
            </a:p>
          </p:txBody>
        </p:sp>
        <p:sp>
          <p:nvSpPr>
            <p:cNvPr id="17" name="TextBox 16">
              <a:extLst>
                <a:ext uri="{FF2B5EF4-FFF2-40B4-BE49-F238E27FC236}">
                  <a16:creationId xmlns:a16="http://schemas.microsoft.com/office/drawing/2014/main" id="{EC19FA7B-F4EC-5D72-0E85-0EF0F0BDB2F6}"/>
                </a:ext>
              </a:extLst>
            </p:cNvPr>
            <p:cNvSpPr txBox="1"/>
            <p:nvPr/>
          </p:nvSpPr>
          <p:spPr>
            <a:xfrm>
              <a:off x="4048139" y="3736203"/>
              <a:ext cx="817853" cy="369332"/>
            </a:xfrm>
            <a:prstGeom prst="rect">
              <a:avLst/>
            </a:prstGeom>
            <a:noFill/>
          </p:spPr>
          <p:txBody>
            <a:bodyPr wrap="none" rtlCol="0">
              <a:spAutoFit/>
            </a:bodyPr>
            <a:lstStyle/>
            <a:p>
              <a:r>
                <a:rPr lang="en-SE" noProof="0" dirty="0">
                  <a:solidFill>
                    <a:srgbClr val="006D70"/>
                  </a:solidFill>
                </a:rPr>
                <a:t>health</a:t>
              </a:r>
              <a:endParaRPr lang="en-US" noProof="0" dirty="0">
                <a:solidFill>
                  <a:srgbClr val="006D70"/>
                </a:solidFill>
              </a:endParaRPr>
            </a:p>
          </p:txBody>
        </p:sp>
      </p:grpSp>
      <p:sp>
        <p:nvSpPr>
          <p:cNvPr id="20" name="Oval 19">
            <a:extLst>
              <a:ext uri="{FF2B5EF4-FFF2-40B4-BE49-F238E27FC236}">
                <a16:creationId xmlns:a16="http://schemas.microsoft.com/office/drawing/2014/main" id="{311D46E0-95CA-AE11-DBAF-F53BAB6D17F9}"/>
              </a:ext>
            </a:extLst>
          </p:cNvPr>
          <p:cNvSpPr/>
          <p:nvPr/>
        </p:nvSpPr>
        <p:spPr>
          <a:xfrm>
            <a:off x="7407569" y="4203299"/>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3DACA271-8D2C-09F5-2B77-BE3433FBC525}"/>
              </a:ext>
            </a:extLst>
          </p:cNvPr>
          <p:cNvSpPr/>
          <p:nvPr/>
        </p:nvSpPr>
        <p:spPr>
          <a:xfrm>
            <a:off x="9898949" y="4203299"/>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2" name="Straight Arrow Connector 21">
            <a:extLst>
              <a:ext uri="{FF2B5EF4-FFF2-40B4-BE49-F238E27FC236}">
                <a16:creationId xmlns:a16="http://schemas.microsoft.com/office/drawing/2014/main" id="{24B08B57-862B-EA78-B11C-5E524FAFF3BB}"/>
              </a:ext>
            </a:extLst>
          </p:cNvPr>
          <p:cNvCxnSpPr>
            <a:stCxn id="20" idx="6"/>
            <a:endCxn id="21" idx="2"/>
          </p:cNvCxnSpPr>
          <p:nvPr/>
        </p:nvCxnSpPr>
        <p:spPr>
          <a:xfrm>
            <a:off x="7767569" y="4383299"/>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558D04E1-B217-4FD6-69BD-95DEB570F840}"/>
              </a:ext>
            </a:extLst>
          </p:cNvPr>
          <p:cNvSpPr txBox="1"/>
          <p:nvPr/>
        </p:nvSpPr>
        <p:spPr>
          <a:xfrm>
            <a:off x="7074447" y="3743967"/>
            <a:ext cx="1026243" cy="369332"/>
          </a:xfrm>
          <a:prstGeom prst="rect">
            <a:avLst/>
          </a:prstGeom>
          <a:noFill/>
        </p:spPr>
        <p:txBody>
          <a:bodyPr wrap="none" rtlCol="0">
            <a:spAutoFit/>
          </a:bodyPr>
          <a:lstStyle/>
          <a:p>
            <a:r>
              <a:rPr lang="en-SE" noProof="0" dirty="0">
                <a:solidFill>
                  <a:srgbClr val="D0180A"/>
                </a:solidFill>
              </a:rPr>
              <a:t>smoking</a:t>
            </a:r>
            <a:endParaRPr lang="en-US" noProof="0" dirty="0">
              <a:solidFill>
                <a:srgbClr val="D0180A"/>
              </a:solidFill>
            </a:endParaRPr>
          </a:p>
        </p:txBody>
      </p:sp>
      <p:sp>
        <p:nvSpPr>
          <p:cNvPr id="24" name="TextBox 23">
            <a:extLst>
              <a:ext uri="{FF2B5EF4-FFF2-40B4-BE49-F238E27FC236}">
                <a16:creationId xmlns:a16="http://schemas.microsoft.com/office/drawing/2014/main" id="{984F6127-0420-3712-7B09-B41A9B6A0F55}"/>
              </a:ext>
            </a:extLst>
          </p:cNvPr>
          <p:cNvSpPr txBox="1"/>
          <p:nvPr/>
        </p:nvSpPr>
        <p:spPr>
          <a:xfrm>
            <a:off x="9670022" y="3748976"/>
            <a:ext cx="817853" cy="369332"/>
          </a:xfrm>
          <a:prstGeom prst="rect">
            <a:avLst/>
          </a:prstGeom>
          <a:noFill/>
        </p:spPr>
        <p:txBody>
          <a:bodyPr wrap="none" rtlCol="0">
            <a:spAutoFit/>
          </a:bodyPr>
          <a:lstStyle/>
          <a:p>
            <a:r>
              <a:rPr lang="en-SE" noProof="0" dirty="0">
                <a:solidFill>
                  <a:srgbClr val="006D70"/>
                </a:solidFill>
              </a:rPr>
              <a:t>health</a:t>
            </a:r>
            <a:endParaRPr lang="en-US" noProof="0" dirty="0">
              <a:solidFill>
                <a:srgbClr val="006D70"/>
              </a:solidFill>
            </a:endParaRPr>
          </a:p>
        </p:txBody>
      </p:sp>
      <p:sp>
        <p:nvSpPr>
          <p:cNvPr id="25" name="Oval 24">
            <a:extLst>
              <a:ext uri="{FF2B5EF4-FFF2-40B4-BE49-F238E27FC236}">
                <a16:creationId xmlns:a16="http://schemas.microsoft.com/office/drawing/2014/main" id="{CF46C721-6739-E6BC-C6BD-BEB83CA7B206}"/>
              </a:ext>
            </a:extLst>
          </p:cNvPr>
          <p:cNvSpPr/>
          <p:nvPr/>
        </p:nvSpPr>
        <p:spPr>
          <a:xfrm>
            <a:off x="8711589" y="4919825"/>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TextBox 25">
            <a:extLst>
              <a:ext uri="{FF2B5EF4-FFF2-40B4-BE49-F238E27FC236}">
                <a16:creationId xmlns:a16="http://schemas.microsoft.com/office/drawing/2014/main" id="{3D57EC88-D9B3-CE41-BC58-C7C052B6FA3B}"/>
              </a:ext>
            </a:extLst>
          </p:cNvPr>
          <p:cNvSpPr txBox="1"/>
          <p:nvPr/>
        </p:nvSpPr>
        <p:spPr>
          <a:xfrm>
            <a:off x="9057802" y="4916895"/>
            <a:ext cx="145155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err="1">
                <a:solidFill>
                  <a:schemeClr val="tx1">
                    <a:lumMod val="65000"/>
                    <a:lumOff val="35000"/>
                  </a:schemeClr>
                </a:solidFill>
              </a:rPr>
              <a:t>ocial</a:t>
            </a:r>
            <a:r>
              <a:rPr lang="en-SE" noProof="0" dirty="0">
                <a:solidFill>
                  <a:schemeClr val="tx1">
                    <a:lumMod val="65000"/>
                    <a:lumOff val="35000"/>
                  </a:schemeClr>
                </a:solidFill>
              </a:rPr>
              <a:t> status</a:t>
            </a:r>
            <a:endParaRPr lang="en-US" noProof="0" dirty="0">
              <a:solidFill>
                <a:schemeClr val="tx1">
                  <a:lumMod val="65000"/>
                  <a:lumOff val="35000"/>
                </a:schemeClr>
              </a:solidFill>
            </a:endParaRPr>
          </a:p>
        </p:txBody>
      </p:sp>
      <p:cxnSp>
        <p:nvCxnSpPr>
          <p:cNvPr id="27" name="Straight Arrow Connector 26">
            <a:extLst>
              <a:ext uri="{FF2B5EF4-FFF2-40B4-BE49-F238E27FC236}">
                <a16:creationId xmlns:a16="http://schemas.microsoft.com/office/drawing/2014/main" id="{5F22F787-624D-F9CD-7B82-4CD8EB94CA42}"/>
              </a:ext>
            </a:extLst>
          </p:cNvPr>
          <p:cNvCxnSpPr>
            <a:cxnSpLocks/>
            <a:stCxn id="25" idx="1"/>
            <a:endCxn id="20" idx="5"/>
          </p:cNvCxnSpPr>
          <p:nvPr/>
        </p:nvCxnSpPr>
        <p:spPr>
          <a:xfrm flipH="1" flipV="1">
            <a:off x="7714848" y="4510578"/>
            <a:ext cx="1049462" cy="4619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C52D20F1-922B-F722-3AAB-70080E39F068}"/>
              </a:ext>
            </a:extLst>
          </p:cNvPr>
          <p:cNvCxnSpPr>
            <a:cxnSpLocks/>
            <a:stCxn id="25" idx="7"/>
            <a:endCxn id="21" idx="3"/>
          </p:cNvCxnSpPr>
          <p:nvPr/>
        </p:nvCxnSpPr>
        <p:spPr>
          <a:xfrm flipV="1">
            <a:off x="9018868" y="4510578"/>
            <a:ext cx="932802" cy="4619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3" name="Group 32">
            <a:extLst>
              <a:ext uri="{FF2B5EF4-FFF2-40B4-BE49-F238E27FC236}">
                <a16:creationId xmlns:a16="http://schemas.microsoft.com/office/drawing/2014/main" id="{6F15F8BA-F792-21D6-EFEE-D1C978588538}"/>
              </a:ext>
            </a:extLst>
          </p:cNvPr>
          <p:cNvGrpSpPr/>
          <p:nvPr/>
        </p:nvGrpSpPr>
        <p:grpSpPr>
          <a:xfrm>
            <a:off x="714379" y="5191151"/>
            <a:ext cx="6035039" cy="946595"/>
            <a:chOff x="775411" y="5230368"/>
            <a:chExt cx="6035039" cy="946595"/>
          </a:xfrm>
        </p:grpSpPr>
        <p:sp>
          <p:nvSpPr>
            <p:cNvPr id="34" name="Rectangle: Rounded Corners 33">
              <a:extLst>
                <a:ext uri="{FF2B5EF4-FFF2-40B4-BE49-F238E27FC236}">
                  <a16:creationId xmlns:a16="http://schemas.microsoft.com/office/drawing/2014/main" id="{0C9E6AA6-6E98-17BA-C89D-1FBB00EBAC49}"/>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noProof="0" dirty="0"/>
                <a:t>In experimental studies, no factor influences the </a:t>
              </a:r>
              <a:r>
                <a:rPr lang="en-SE" noProof="0" dirty="0">
                  <a:solidFill>
                    <a:srgbClr val="F8766D"/>
                  </a:solidFill>
                </a:rPr>
                <a:t>exposure</a:t>
              </a:r>
              <a:r>
                <a:rPr lang="en-SE" noProof="0" dirty="0"/>
                <a:t> (other than “randomness”)</a:t>
              </a:r>
              <a:r>
                <a:rPr lang="en-US" noProof="0" dirty="0"/>
                <a:t>.</a:t>
              </a:r>
              <a:endParaRPr lang="en-US" baseline="30000" noProof="0" dirty="0"/>
            </a:p>
          </p:txBody>
        </p:sp>
        <p:pic>
          <p:nvPicPr>
            <p:cNvPr id="35" name="Graphic 34" descr="Open quotation mark with solid fill">
              <a:extLst>
                <a:ext uri="{FF2B5EF4-FFF2-40B4-BE49-F238E27FC236}">
                  <a16:creationId xmlns:a16="http://schemas.microsoft.com/office/drawing/2014/main" id="{138CA661-977F-9992-589A-0C3B176C4B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270183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anim calcmode="lin" valueType="num">
                                      <p:cBhvr>
                                        <p:cTn id="34" dur="500" fill="hold"/>
                                        <p:tgtEl>
                                          <p:spTgt spid="33"/>
                                        </p:tgtEl>
                                        <p:attrNameLst>
                                          <p:attrName>ppt_x</p:attrName>
                                        </p:attrNameLst>
                                      </p:cBhvr>
                                      <p:tavLst>
                                        <p:tav tm="0">
                                          <p:val>
                                            <p:strVal val="#ppt_x"/>
                                          </p:val>
                                        </p:tav>
                                        <p:tav tm="100000">
                                          <p:val>
                                            <p:strVal val="#ppt_x"/>
                                          </p:val>
                                        </p:tav>
                                      </p:tavLst>
                                    </p:anim>
                                    <p:anim calcmode="lin" valueType="num">
                                      <p:cBhvr>
                                        <p:cTn id="35"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p:bldP spid="24" grpId="0"/>
      <p:bldP spid="25" grpId="0" animBg="1"/>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3FBD-3F15-097F-0A5A-4356A50C9436}"/>
              </a:ext>
            </a:extLst>
          </p:cNvPr>
          <p:cNvSpPr>
            <a:spLocks noGrp="1"/>
          </p:cNvSpPr>
          <p:nvPr>
            <p:ph type="title"/>
          </p:nvPr>
        </p:nvSpPr>
        <p:spPr/>
        <p:txBody>
          <a:bodyPr/>
          <a:lstStyle/>
          <a:p>
            <a:r>
              <a:rPr lang="en-SE" dirty="0"/>
              <a:t>Exercise: Formulating a DAG</a:t>
            </a:r>
          </a:p>
        </p:txBody>
      </p:sp>
      <p:sp>
        <p:nvSpPr>
          <p:cNvPr id="3" name="Content Placeholder 2">
            <a:extLst>
              <a:ext uri="{FF2B5EF4-FFF2-40B4-BE49-F238E27FC236}">
                <a16:creationId xmlns:a16="http://schemas.microsoft.com/office/drawing/2014/main" id="{8520E043-937F-A4D7-A99D-101016C7F97D}"/>
              </a:ext>
            </a:extLst>
          </p:cNvPr>
          <p:cNvSpPr>
            <a:spLocks noGrp="1"/>
          </p:cNvSpPr>
          <p:nvPr>
            <p:ph idx="1"/>
          </p:nvPr>
        </p:nvSpPr>
        <p:spPr/>
        <p:txBody>
          <a:bodyPr/>
          <a:lstStyle/>
          <a:p>
            <a:pPr marL="0" indent="0">
              <a:buNone/>
            </a:pPr>
            <a:r>
              <a:rPr lang="en-SE" dirty="0"/>
              <a:t>Derive a causal DAG from the following description:</a:t>
            </a:r>
          </a:p>
          <a:p>
            <a:pPr marL="0" indent="0">
              <a:buNone/>
            </a:pPr>
            <a:r>
              <a:rPr lang="en-SE" dirty="0"/>
              <a:t>“Researchers are interested in knowing if using ChatGPT affects the quality and length of code reviews 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FE30DA3F-B36B-C446-2568-6FB2E8D7CD11}"/>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38C1258D-69CE-0243-5B7F-09B485770739}"/>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FD2CEE6E-05D8-428C-90C9-B674D6C83BC3}"/>
              </a:ext>
            </a:extLst>
          </p:cNvPr>
          <p:cNvSpPr>
            <a:spLocks noGrp="1"/>
          </p:cNvSpPr>
          <p:nvPr>
            <p:ph type="sldNum" sz="quarter" idx="12"/>
          </p:nvPr>
        </p:nvSpPr>
        <p:spPr/>
        <p:txBody>
          <a:bodyPr/>
          <a:lstStyle/>
          <a:p>
            <a:fld id="{0FA2D919-C0DE-4971-A2E9-D4AC0031921B}" type="slidenum">
              <a:rPr lang="en-US" smtClean="0"/>
              <a:t>16</a:t>
            </a:fld>
            <a:endParaRPr lang="en-US"/>
          </a:p>
        </p:txBody>
      </p:sp>
    </p:spTree>
    <p:extLst>
      <p:ext uri="{BB962C8B-B14F-4D97-AF65-F5344CB8AC3E}">
        <p14:creationId xmlns:p14="http://schemas.microsoft.com/office/powerpoint/2010/main" val="3639891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BC84-5614-7D01-2D78-2D3ABA246A68}"/>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532C4A99-4A50-C416-A31F-28FD0E0B24AC}"/>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95E1153F-693D-D8AE-050C-27F8E6809906}"/>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52B03A78-3F16-F624-7D27-419C8623AE34}"/>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054C5B4-8E28-1D83-AA8A-C6FD58D80896}"/>
              </a:ext>
            </a:extLst>
          </p:cNvPr>
          <p:cNvSpPr>
            <a:spLocks noGrp="1"/>
          </p:cNvSpPr>
          <p:nvPr>
            <p:ph type="sldNum" sz="quarter" idx="12"/>
          </p:nvPr>
        </p:nvSpPr>
        <p:spPr/>
        <p:txBody>
          <a:bodyPr/>
          <a:lstStyle/>
          <a:p>
            <a:fld id="{0FA2D919-C0DE-4971-A2E9-D4AC0031921B}" type="slidenum">
              <a:rPr lang="en-US" smtClean="0"/>
              <a:t>17</a:t>
            </a:fld>
            <a:endParaRPr lang="en-US"/>
          </a:p>
        </p:txBody>
      </p:sp>
      <p:sp>
        <p:nvSpPr>
          <p:cNvPr id="8" name="Oval 7">
            <a:extLst>
              <a:ext uri="{FF2B5EF4-FFF2-40B4-BE49-F238E27FC236}">
                <a16:creationId xmlns:a16="http://schemas.microsoft.com/office/drawing/2014/main" id="{18175F8B-187A-30E0-30C2-F02D74199FCA}"/>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75714894-43F6-757E-1CB0-106EDA63EE87}"/>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C3E838D0-C15A-76A0-AF04-F5770A4C116F}"/>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133C62B1-3A48-4ECA-316A-EE2AD7FA5063}"/>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2BF66CED-272B-EA6A-5C41-BEB0955019CD}"/>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813E89A1-C46F-C36C-BDD3-88AA1C5DC74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2EEA25BF-6D9F-44D0-6B1A-2E21982658EB}"/>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8E56E22-C969-C2CE-75E5-5FA5F5B3A0FF}"/>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22728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A498-8414-567E-6E35-B446EF79C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404F4-9740-2A34-C7C3-080DA6AA4F2A}"/>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ADD477A6-9DC8-1C3B-1A18-6DBF23DBC90E}"/>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5EBADD74-03AF-4D12-367D-88626577A8CA}"/>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FC96F183-7284-41A5-0BA9-27A7B2DA5DB7}"/>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B4B37FA-5D19-CB1A-B279-878BC1388FFB}"/>
              </a:ext>
            </a:extLst>
          </p:cNvPr>
          <p:cNvSpPr>
            <a:spLocks noGrp="1"/>
          </p:cNvSpPr>
          <p:nvPr>
            <p:ph type="sldNum" sz="quarter" idx="12"/>
          </p:nvPr>
        </p:nvSpPr>
        <p:spPr/>
        <p:txBody>
          <a:bodyPr/>
          <a:lstStyle/>
          <a:p>
            <a:fld id="{0FA2D919-C0DE-4971-A2E9-D4AC0031921B}" type="slidenum">
              <a:rPr lang="en-US" smtClean="0"/>
              <a:t>18</a:t>
            </a:fld>
            <a:endParaRPr lang="en-US"/>
          </a:p>
        </p:txBody>
      </p:sp>
      <p:sp>
        <p:nvSpPr>
          <p:cNvPr id="8" name="Oval 7">
            <a:extLst>
              <a:ext uri="{FF2B5EF4-FFF2-40B4-BE49-F238E27FC236}">
                <a16:creationId xmlns:a16="http://schemas.microsoft.com/office/drawing/2014/main" id="{26B8DEA0-EA65-E16C-D2A5-F14FF21CE063}"/>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DDE8D316-788C-3E14-61DA-0FC24B66F004}"/>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D3DF0A8B-2C28-6584-5B28-FC8CB687475C}"/>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D7AF8B61-FFB9-B6E9-4F0C-5E3DA5D5C390}"/>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A369C4C4-FB1F-A6C0-4FB1-E50083325A69}"/>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E6267037-8EE4-F739-A21B-C220C2C7FC52}"/>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73B44695-22F1-F969-BE45-88177636E98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37FE34C5-0657-2C78-59B9-AEB3FDBFC7FA}"/>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828F2C6-0075-EC0D-5325-F3605D071CFB}"/>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A4F4793F-E500-530B-A97B-EC5B5EA272FB}"/>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A99FDF26-7044-4DD5-2CB1-5C8E6A46DC50}"/>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77431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BB2C-A452-E7D9-9B3C-51178077E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2F985-06B4-4887-FAB3-1358F3E2FD30}"/>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F65F50E0-0D03-13BC-5343-A95615B0F5B7}"/>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 </a:t>
            </a:r>
            <a:r>
              <a:rPr lang="en-SE" dirty="0"/>
              <a:t>generally produce more concise (i.e., shorter) and better code reviews.”</a:t>
            </a:r>
          </a:p>
        </p:txBody>
      </p:sp>
      <p:sp>
        <p:nvSpPr>
          <p:cNvPr id="4" name="Date Placeholder 3">
            <a:extLst>
              <a:ext uri="{FF2B5EF4-FFF2-40B4-BE49-F238E27FC236}">
                <a16:creationId xmlns:a16="http://schemas.microsoft.com/office/drawing/2014/main" id="{F41EDFA7-76B0-4778-3326-0AAE183370C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E6983AFC-8BBB-0561-FF03-1850B25D5B8C}"/>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AE9A8FC9-725A-279C-DA2D-88F2A2A563EF}"/>
              </a:ext>
            </a:extLst>
          </p:cNvPr>
          <p:cNvSpPr>
            <a:spLocks noGrp="1"/>
          </p:cNvSpPr>
          <p:nvPr>
            <p:ph type="sldNum" sz="quarter" idx="12"/>
          </p:nvPr>
        </p:nvSpPr>
        <p:spPr/>
        <p:txBody>
          <a:bodyPr/>
          <a:lstStyle/>
          <a:p>
            <a:fld id="{0FA2D919-C0DE-4971-A2E9-D4AC0031921B}" type="slidenum">
              <a:rPr lang="en-US" smtClean="0"/>
              <a:t>19</a:t>
            </a:fld>
            <a:endParaRPr lang="en-US"/>
          </a:p>
        </p:txBody>
      </p:sp>
      <p:sp>
        <p:nvSpPr>
          <p:cNvPr id="8" name="Oval 7">
            <a:extLst>
              <a:ext uri="{FF2B5EF4-FFF2-40B4-BE49-F238E27FC236}">
                <a16:creationId xmlns:a16="http://schemas.microsoft.com/office/drawing/2014/main" id="{24F1A287-AFB1-42FC-BC5D-55AED8845BEF}"/>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367D5160-CB7A-E0B1-DCBA-85D6881C12FD}"/>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3EDAF45D-CA56-CB00-C4C4-90773BC55468}"/>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C3BB0BDD-87D9-181F-1145-F08805504A9B}"/>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13E50191-DE93-64CF-1A7D-742F5A9B8545}"/>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D6F6E08F-EFF2-D971-9D29-272B409C692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920AE35A-901B-0EAC-339E-7F243FEDFA64}"/>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118A04E-65F7-E100-208F-D979D602A407}"/>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785A9354-B27F-A4A8-BD7E-F53AE2E7F922}"/>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FCF8B61F-22D9-A742-961D-7F52685F8CBA}"/>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E03F05D1-FA23-5888-D34F-3F0045232519}"/>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A3C08348-25F4-0E35-3207-525EDA0AA0BC}"/>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0B3D504A-1D64-B936-D21C-591AC4A50C36}"/>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993D8069-2E80-92BF-2643-F85B784EF0A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5AD61E4-47BE-B97B-EBE7-966FBE9DA0E9}"/>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8389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DC2E5-6942-8D1F-89FB-3602D8967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91076-CF1D-A1AC-8C10-7341EA0685DF}"/>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9A5F1933-5CF0-2341-7C01-2A87FA99EDCA}"/>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a:t>
            </a:r>
            <a:r>
              <a:rPr lang="en-SE" dirty="0"/>
              <a:t> generally produce more concise (i.e., shorter) and better code reviews.”</a:t>
            </a:r>
          </a:p>
        </p:txBody>
      </p:sp>
      <p:sp>
        <p:nvSpPr>
          <p:cNvPr id="4" name="Date Placeholder 3">
            <a:extLst>
              <a:ext uri="{FF2B5EF4-FFF2-40B4-BE49-F238E27FC236}">
                <a16:creationId xmlns:a16="http://schemas.microsoft.com/office/drawing/2014/main" id="{838EC19A-9E5A-EC9F-8FA7-5D91A9B16C22}"/>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9791BBEB-F103-42E3-D274-FC18677A6E12}"/>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12DB5A95-7FA0-1830-0BCE-2DC4B7E1243A}"/>
              </a:ext>
            </a:extLst>
          </p:cNvPr>
          <p:cNvSpPr>
            <a:spLocks noGrp="1"/>
          </p:cNvSpPr>
          <p:nvPr>
            <p:ph type="sldNum" sz="quarter" idx="12"/>
          </p:nvPr>
        </p:nvSpPr>
        <p:spPr/>
        <p:txBody>
          <a:bodyPr/>
          <a:lstStyle/>
          <a:p>
            <a:fld id="{0FA2D919-C0DE-4971-A2E9-D4AC0031921B}" type="slidenum">
              <a:rPr lang="en-US" smtClean="0"/>
              <a:t>20</a:t>
            </a:fld>
            <a:endParaRPr lang="en-US"/>
          </a:p>
        </p:txBody>
      </p:sp>
      <p:sp>
        <p:nvSpPr>
          <p:cNvPr id="8" name="Oval 7">
            <a:extLst>
              <a:ext uri="{FF2B5EF4-FFF2-40B4-BE49-F238E27FC236}">
                <a16:creationId xmlns:a16="http://schemas.microsoft.com/office/drawing/2014/main" id="{72F6360D-FA50-E8B0-BE18-A46397906A5B}"/>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A10B4A13-99F2-0B83-FCE8-34D2EF3E8FE5}"/>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45C8134B-E38D-204B-C04B-F774397EE8D5}"/>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759AB872-C278-AE65-D480-32D6EABE214C}"/>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56C444D9-4617-6916-3D59-FF5F27C3FBFE}"/>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68D8EC2F-500C-26E6-D22E-CFC01625009A}"/>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5993D038-AAC2-B447-9C48-0C6141A1F26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64E4B5F8-E0AC-A7CD-DE18-48AA73D01B10}"/>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D90D075-7E54-F2BA-2183-C14592F2AA21}"/>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CA431B0F-2F5C-6B89-CD12-4009D47FC00F}"/>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41F0B2BF-9AB2-DCC3-1131-B2684166752F}"/>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6D6D81C-7FD1-B735-9245-D7D9E64010D1}"/>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83F0CAC2-64C3-8F1C-5686-A45B8AE76E4C}"/>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0E330AF0-0776-6BAF-41E5-60F86176E0C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5806F6E5-EFA9-F7CB-72D0-EAC4F365473D}"/>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98F964D5-95C4-966A-B124-1D9BDCCAE559}"/>
              </a:ext>
            </a:extLst>
          </p:cNvPr>
          <p:cNvCxnSpPr>
            <a:cxnSpLocks/>
            <a:stCxn id="7" idx="6"/>
            <a:endCxn id="18" idx="2"/>
          </p:cNvCxnSpPr>
          <p:nvPr/>
        </p:nvCxnSpPr>
        <p:spPr>
          <a:xfrm>
            <a:off x="4967392" y="5832151"/>
            <a:ext cx="942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30558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B96D-BFE2-703D-3E62-171D3297EA1A}"/>
              </a:ext>
            </a:extLst>
          </p:cNvPr>
          <p:cNvSpPr>
            <a:spLocks noGrp="1"/>
          </p:cNvSpPr>
          <p:nvPr>
            <p:ph type="title"/>
          </p:nvPr>
        </p:nvSpPr>
        <p:spPr/>
        <p:txBody>
          <a:bodyPr/>
          <a:lstStyle/>
          <a:p>
            <a:r>
              <a:rPr lang="en-US" noProof="0" dirty="0"/>
              <a:t>Fundamentals &amp; Notation </a:t>
            </a:r>
          </a:p>
        </p:txBody>
      </p:sp>
      <p:sp>
        <p:nvSpPr>
          <p:cNvPr id="3" name="Text Placeholder 2">
            <a:extLst>
              <a:ext uri="{FF2B5EF4-FFF2-40B4-BE49-F238E27FC236}">
                <a16:creationId xmlns:a16="http://schemas.microsoft.com/office/drawing/2014/main" id="{FD3AC0DC-57DD-7843-5E4E-38769C5A0DFD}"/>
              </a:ext>
            </a:extLst>
          </p:cNvPr>
          <p:cNvSpPr>
            <a:spLocks noGrp="1"/>
          </p:cNvSpPr>
          <p:nvPr>
            <p:ph type="body" idx="1"/>
          </p:nvPr>
        </p:nvSpPr>
        <p:spPr/>
        <p:txBody>
          <a:bodyPr/>
          <a:lstStyle/>
          <a:p>
            <a:r>
              <a:rPr lang="en-US" noProof="0" dirty="0"/>
              <a:t>Syntax and Pedagogics of this </a:t>
            </a:r>
            <a:r>
              <a:rPr lang="en-SE" noProof="0" dirty="0"/>
              <a:t>Lecture</a:t>
            </a:r>
            <a:endParaRPr lang="en-US" noProof="0" dirty="0"/>
          </a:p>
        </p:txBody>
      </p:sp>
      <p:sp>
        <p:nvSpPr>
          <p:cNvPr id="4" name="Date Placeholder 3">
            <a:extLst>
              <a:ext uri="{FF2B5EF4-FFF2-40B4-BE49-F238E27FC236}">
                <a16:creationId xmlns:a16="http://schemas.microsoft.com/office/drawing/2014/main" id="{F0B737CE-2AF4-1113-1432-8B5D472BC86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8BC287D-36B3-87CB-424B-E325DAB4D6B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D0A5055-4310-1353-62F8-F4C7A2413673}"/>
              </a:ext>
            </a:extLst>
          </p:cNvPr>
          <p:cNvSpPr>
            <a:spLocks noGrp="1"/>
          </p:cNvSpPr>
          <p:nvPr>
            <p:ph type="sldNum" sz="quarter" idx="12"/>
          </p:nvPr>
        </p:nvSpPr>
        <p:spPr/>
        <p:txBody>
          <a:bodyPr/>
          <a:lstStyle/>
          <a:p>
            <a:fld id="{0FA2D919-C0DE-4971-A2E9-D4AC0031921B}" type="slidenum">
              <a:rPr lang="en-US" noProof="0" smtClean="0"/>
              <a:t>21</a:t>
            </a:fld>
            <a:endParaRPr lang="en-US" noProof="0" dirty="0"/>
          </a:p>
        </p:txBody>
      </p:sp>
    </p:spTree>
    <p:extLst>
      <p:ext uri="{BB962C8B-B14F-4D97-AF65-F5344CB8AC3E}">
        <p14:creationId xmlns:p14="http://schemas.microsoft.com/office/powerpoint/2010/main" val="3472965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graph of a number of detected defect&#10;&#10;AI-generated content may be incorrect.">
            <a:extLst>
              <a:ext uri="{FF2B5EF4-FFF2-40B4-BE49-F238E27FC236}">
                <a16:creationId xmlns:a16="http://schemas.microsoft.com/office/drawing/2014/main" id="{1C15019E-6724-463F-C9A8-643F46F44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0492" y="4162501"/>
            <a:ext cx="3599695" cy="1978156"/>
          </a:xfrm>
          <a:prstGeom prst="rect">
            <a:avLst/>
          </a:prstGeom>
        </p:spPr>
      </p:pic>
      <p:pic>
        <p:nvPicPr>
          <p:cNvPr id="15" name="Picture 14" descr="A graph of a number of detected defect&#10;&#10;AI-generated content may be incorrect.">
            <a:extLst>
              <a:ext uri="{FF2B5EF4-FFF2-40B4-BE49-F238E27FC236}">
                <a16:creationId xmlns:a16="http://schemas.microsoft.com/office/drawing/2014/main" id="{BF6C4785-26E9-4963-6749-4A814C5487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0491" y="4137344"/>
            <a:ext cx="3599695" cy="2517653"/>
          </a:xfrm>
          <a:prstGeom prst="rect">
            <a:avLst/>
          </a:prstGeom>
        </p:spPr>
      </p:pic>
      <p:pic>
        <p:nvPicPr>
          <p:cNvPr id="88" name="Picture 87">
            <a:extLst>
              <a:ext uri="{FF2B5EF4-FFF2-40B4-BE49-F238E27FC236}">
                <a16:creationId xmlns:a16="http://schemas.microsoft.com/office/drawing/2014/main" id="{9927687E-CC6B-B023-FC1E-06E15EB520CA}"/>
              </a:ext>
            </a:extLst>
          </p:cNvPr>
          <p:cNvPicPr>
            <a:picLocks noChangeAspect="1"/>
          </p:cNvPicPr>
          <p:nvPr/>
        </p:nvPicPr>
        <p:blipFill>
          <a:blip r:embed="rId5">
            <a:extLst>
              <a:ext uri="{28A0092B-C50C-407E-A947-70E740481C1C}">
                <a14:useLocalDpi xmlns:a14="http://schemas.microsoft.com/office/drawing/2010/main" val="0"/>
              </a:ext>
            </a:extLst>
          </a:blip>
          <a:srcRect t="-364" b="4762"/>
          <a:stretch>
            <a:fillRect/>
          </a:stretch>
        </p:blipFill>
        <p:spPr>
          <a:xfrm>
            <a:off x="6391626" y="4299908"/>
            <a:ext cx="1990725" cy="2004825"/>
          </a:xfrm>
          <a:prstGeom prst="rect">
            <a:avLst/>
          </a:prstGeom>
        </p:spPr>
      </p:pic>
      <p:sp>
        <p:nvSpPr>
          <p:cNvPr id="2" name="Title 1">
            <a:extLst>
              <a:ext uri="{FF2B5EF4-FFF2-40B4-BE49-F238E27FC236}">
                <a16:creationId xmlns:a16="http://schemas.microsoft.com/office/drawing/2014/main" id="{CB41A5F6-F7AB-4DB8-C9E8-F19D0ED51CBB}"/>
              </a:ext>
            </a:extLst>
          </p:cNvPr>
          <p:cNvSpPr>
            <a:spLocks noGrp="1"/>
          </p:cNvSpPr>
          <p:nvPr>
            <p:ph type="title"/>
          </p:nvPr>
        </p:nvSpPr>
        <p:spPr/>
        <p:txBody>
          <a:bodyPr/>
          <a:lstStyle/>
          <a:p>
            <a:r>
              <a:rPr lang="en-US" noProof="0" dirty="0"/>
              <a:t>Simulations</a:t>
            </a:r>
          </a:p>
        </p:txBody>
      </p:sp>
      <p:sp>
        <p:nvSpPr>
          <p:cNvPr id="3" name="Content Placeholder 2">
            <a:extLst>
              <a:ext uri="{FF2B5EF4-FFF2-40B4-BE49-F238E27FC236}">
                <a16:creationId xmlns:a16="http://schemas.microsoft.com/office/drawing/2014/main" id="{52B50619-5306-9C83-AAB9-EBC3FC85B3F3}"/>
              </a:ext>
            </a:extLst>
          </p:cNvPr>
          <p:cNvSpPr>
            <a:spLocks noGrp="1"/>
          </p:cNvSpPr>
          <p:nvPr>
            <p:ph idx="1"/>
          </p:nvPr>
        </p:nvSpPr>
        <p:spPr>
          <a:xfrm>
            <a:off x="838200" y="1825625"/>
            <a:ext cx="10515600" cy="1033400"/>
          </a:xfrm>
        </p:spPr>
        <p:txBody>
          <a:bodyPr/>
          <a:lstStyle/>
          <a:p>
            <a:pPr marL="0" indent="0">
              <a:buNone/>
            </a:pPr>
            <a:r>
              <a:rPr lang="en-US" noProof="0" dirty="0"/>
              <a:t>To demonstrate the process of SCI, we </a:t>
            </a:r>
            <a:r>
              <a:rPr lang="en-US" b="1" noProof="0" dirty="0"/>
              <a:t>simulate</a:t>
            </a:r>
            <a:r>
              <a:rPr lang="en-US" noProof="0" dirty="0"/>
              <a:t> data sets. This gives us control over phenomena, i.e., a reliable ”ground truth.”</a:t>
            </a:r>
          </a:p>
        </p:txBody>
      </p:sp>
      <p:sp>
        <p:nvSpPr>
          <p:cNvPr id="4" name="Date Placeholder 3">
            <a:extLst>
              <a:ext uri="{FF2B5EF4-FFF2-40B4-BE49-F238E27FC236}">
                <a16:creationId xmlns:a16="http://schemas.microsoft.com/office/drawing/2014/main" id="{4064314F-9A52-EFD3-6592-3191D066675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44F9094-F08D-13B2-52C0-F4D3C099E38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AF75CD3B-B9CD-71ED-0273-CB8B0CEA3757}"/>
              </a:ext>
            </a:extLst>
          </p:cNvPr>
          <p:cNvSpPr>
            <a:spLocks noGrp="1"/>
          </p:cNvSpPr>
          <p:nvPr>
            <p:ph type="sldNum" sz="quarter" idx="12"/>
          </p:nvPr>
        </p:nvSpPr>
        <p:spPr/>
        <p:txBody>
          <a:bodyPr/>
          <a:lstStyle/>
          <a:p>
            <a:fld id="{0FA2D919-C0DE-4971-A2E9-D4AC0031921B}" type="slidenum">
              <a:rPr lang="en-US" noProof="0" smtClean="0"/>
              <a:t>22</a:t>
            </a:fld>
            <a:endParaRPr lang="en-US" noProof="0" dirty="0"/>
          </a:p>
        </p:txBody>
      </p:sp>
      <p:grpSp>
        <p:nvGrpSpPr>
          <p:cNvPr id="13" name="Group 12">
            <a:extLst>
              <a:ext uri="{FF2B5EF4-FFF2-40B4-BE49-F238E27FC236}">
                <a16:creationId xmlns:a16="http://schemas.microsoft.com/office/drawing/2014/main" id="{FDFA3284-C681-2783-40DF-448EE2EB2B8B}"/>
              </a:ext>
            </a:extLst>
          </p:cNvPr>
          <p:cNvGrpSpPr/>
          <p:nvPr/>
        </p:nvGrpSpPr>
        <p:grpSpPr>
          <a:xfrm>
            <a:off x="2149116" y="3430908"/>
            <a:ext cx="4166350" cy="1356221"/>
            <a:chOff x="3595078" y="2993962"/>
            <a:chExt cx="4166350" cy="1356221"/>
          </a:xfrm>
        </p:grpSpPr>
        <p:sp>
          <p:nvSpPr>
            <p:cNvPr id="9" name="Rectangle: Rounded Corners 8">
              <a:extLst>
                <a:ext uri="{FF2B5EF4-FFF2-40B4-BE49-F238E27FC236}">
                  <a16:creationId xmlns:a16="http://schemas.microsoft.com/office/drawing/2014/main" id="{43CCE8A0-0D56-91B9-1802-6D02E3D1FA9C}"/>
                </a:ext>
              </a:extLst>
            </p:cNvPr>
            <p:cNvSpPr/>
            <p:nvPr/>
          </p:nvSpPr>
          <p:spPr>
            <a:xfrm>
              <a:off x="3595078" y="2993962"/>
              <a:ext cx="4166350" cy="1356221"/>
            </a:xfrm>
            <a:prstGeom prst="round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396000" rtlCol="0" anchor="t"/>
            <a:lstStyle/>
            <a:p>
              <a:r>
                <a:rPr lang="en-US" b="1" noProof="0" dirty="0">
                  <a:solidFill>
                    <a:schemeClr val="tx1">
                      <a:lumMod val="75000"/>
                      <a:lumOff val="25000"/>
                    </a:schemeClr>
                  </a:solidFill>
                </a:rPr>
                <a:t>Simulation</a:t>
              </a:r>
            </a:p>
          </p:txBody>
        </p:sp>
        <p:pic>
          <p:nvPicPr>
            <p:cNvPr id="12" name="Graphic 11" descr="Normal Distribution with solid fill">
              <a:extLst>
                <a:ext uri="{FF2B5EF4-FFF2-40B4-BE49-F238E27FC236}">
                  <a16:creationId xmlns:a16="http://schemas.microsoft.com/office/drawing/2014/main" id="{31A83CFC-727B-3477-7A0D-3BB6ECBA35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03516" y="3059856"/>
              <a:ext cx="360000" cy="360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F128A87-63E4-5A92-161C-5D6FC6C8F51D}"/>
                    </a:ext>
                  </a:extLst>
                </p:cNvPr>
                <p:cNvSpPr txBox="1"/>
                <p:nvPr/>
              </p:nvSpPr>
              <p:spPr>
                <a:xfrm>
                  <a:off x="3780555" y="3599449"/>
                  <a:ext cx="2366610" cy="27699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𝑡𝑒𝑐h𝑛𝑖𝑞𝑢𝑒</m:t>
                        </m:r>
                        <m:r>
                          <a:rPr lang="en-US" b="0" i="1" noProof="0" smtClean="0">
                            <a:latin typeface="Cambria Math" panose="02040503050406030204" pitchFamily="18" charset="0"/>
                          </a:rPr>
                          <m:t>=</m:t>
                        </m:r>
                        <m:r>
                          <a:rPr lang="en-US" b="0" i="1" noProof="0" smtClean="0">
                            <a:latin typeface="Cambria Math" panose="02040503050406030204" pitchFamily="18" charset="0"/>
                          </a:rPr>
                          <m:t>𝑢𝑛𝑖𝑓</m:t>
                        </m:r>
                        <m:r>
                          <a:rPr lang="en-US" b="0" i="1" noProof="0" smtClean="0">
                            <a:latin typeface="Cambria Math" panose="02040503050406030204" pitchFamily="18" charset="0"/>
                          </a:rPr>
                          <m:t>{0, 1}</m:t>
                        </m:r>
                      </m:oMath>
                    </m:oMathPara>
                  </a14:m>
                  <a:endParaRPr lang="en-US" noProof="0" dirty="0"/>
                </a:p>
              </p:txBody>
            </p:sp>
          </mc:Choice>
          <mc:Fallback xmlns="">
            <p:sp>
              <p:nvSpPr>
                <p:cNvPr id="7" name="TextBox 6">
                  <a:extLst>
                    <a:ext uri="{FF2B5EF4-FFF2-40B4-BE49-F238E27FC236}">
                      <a16:creationId xmlns:a16="http://schemas.microsoft.com/office/drawing/2014/main" id="{9F128A87-63E4-5A92-161C-5D6FC6C8F51D}"/>
                    </a:ext>
                  </a:extLst>
                </p:cNvPr>
                <p:cNvSpPr txBox="1">
                  <a:spLocks noRot="1" noChangeAspect="1" noMove="1" noResize="1" noEditPoints="1" noAdjustHandles="1" noChangeArrowheads="1" noChangeShapeType="1" noTextEdit="1"/>
                </p:cNvSpPr>
                <p:nvPr/>
              </p:nvSpPr>
              <p:spPr>
                <a:xfrm>
                  <a:off x="3780555" y="3599449"/>
                  <a:ext cx="2366610" cy="276999"/>
                </a:xfrm>
                <a:prstGeom prst="rect">
                  <a:avLst/>
                </a:prstGeom>
                <a:blipFill>
                  <a:blip r:embed="rId8"/>
                  <a:stretch>
                    <a:fillRect l="-3093" t="-2174" r="-3351" b="-36957"/>
                  </a:stretch>
                </a:blipFill>
                <a:ln>
                  <a:no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0E1A1C-ABAB-C2EC-9A8A-CB0E6D4406ED}"/>
                    </a:ext>
                  </a:extLst>
                </p:cNvPr>
                <p:cNvSpPr txBox="1"/>
                <p:nvPr/>
              </p:nvSpPr>
              <p:spPr>
                <a:xfrm>
                  <a:off x="3678952" y="3944932"/>
                  <a:ext cx="4050148" cy="27699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𝑑𝑒𝑓𝑒𝑐𝑡𝑠</m:t>
                        </m:r>
                        <m:r>
                          <a:rPr lang="en-US" b="0" i="1" noProof="0" smtClean="0">
                            <a:latin typeface="Cambria Math" panose="02040503050406030204" pitchFamily="18" charset="0"/>
                          </a:rPr>
                          <m:t>=</m:t>
                        </m:r>
                        <m:r>
                          <a:rPr lang="en-US" b="0" i="1" noProof="0" smtClean="0">
                            <a:latin typeface="Cambria Math" panose="02040503050406030204" pitchFamily="18" charset="0"/>
                          </a:rPr>
                          <m:t>𝑃𝑜𝑖𝑠𝑠𝑜𝑛</m:t>
                        </m:r>
                        <m:r>
                          <a:rPr lang="en-US" b="0" i="1" noProof="0" smtClean="0">
                            <a:latin typeface="Cambria Math" panose="02040503050406030204" pitchFamily="18" charset="0"/>
                          </a:rPr>
                          <m:t>(10+</m:t>
                        </m:r>
                        <m:r>
                          <a:rPr lang="en-US" b="0" i="1" noProof="0" smtClean="0">
                            <a:latin typeface="Cambria Math" panose="02040503050406030204" pitchFamily="18" charset="0"/>
                          </a:rPr>
                          <m:t>𝑡𝑒𝑐h𝑛𝑖𝑞𝑢𝑒</m:t>
                        </m:r>
                        <m:r>
                          <a:rPr lang="en-US" b="0" i="1" noProof="0" smtClean="0">
                            <a:latin typeface="Cambria Math" panose="02040503050406030204" pitchFamily="18" charset="0"/>
                          </a:rPr>
                          <m:t>∗5)</m:t>
                        </m:r>
                      </m:oMath>
                    </m:oMathPara>
                  </a14:m>
                  <a:endParaRPr lang="en-US" noProof="0" dirty="0"/>
                </a:p>
              </p:txBody>
            </p:sp>
          </mc:Choice>
          <mc:Fallback xmlns="">
            <p:sp>
              <p:nvSpPr>
                <p:cNvPr id="8" name="TextBox 7">
                  <a:extLst>
                    <a:ext uri="{FF2B5EF4-FFF2-40B4-BE49-F238E27FC236}">
                      <a16:creationId xmlns:a16="http://schemas.microsoft.com/office/drawing/2014/main" id="{190E1A1C-ABAB-C2EC-9A8A-CB0E6D4406ED}"/>
                    </a:ext>
                  </a:extLst>
                </p:cNvPr>
                <p:cNvSpPr txBox="1">
                  <a:spLocks noRot="1" noChangeAspect="1" noMove="1" noResize="1" noEditPoints="1" noAdjustHandles="1" noChangeArrowheads="1" noChangeShapeType="1" noTextEdit="1"/>
                </p:cNvSpPr>
                <p:nvPr/>
              </p:nvSpPr>
              <p:spPr>
                <a:xfrm>
                  <a:off x="3678952" y="3944932"/>
                  <a:ext cx="4050148" cy="276999"/>
                </a:xfrm>
                <a:prstGeom prst="rect">
                  <a:avLst/>
                </a:prstGeom>
                <a:blipFill>
                  <a:blip r:embed="rId9"/>
                  <a:stretch>
                    <a:fillRect l="-1654" t="-2222" r="-1654" b="-35556"/>
                  </a:stretch>
                </a:blipFill>
                <a:ln>
                  <a:noFill/>
                </a:ln>
              </p:spPr>
              <p:txBody>
                <a:bodyPr/>
                <a:lstStyle/>
                <a:p>
                  <a:r>
                    <a:rPr lang="en-SE">
                      <a:noFill/>
                    </a:rPr>
                    <a:t> </a:t>
                  </a:r>
                </a:p>
              </p:txBody>
            </p:sp>
          </mc:Fallback>
        </mc:AlternateContent>
      </p:grpSp>
      <p:sp>
        <p:nvSpPr>
          <p:cNvPr id="14" name="TextBox 13">
            <a:extLst>
              <a:ext uri="{FF2B5EF4-FFF2-40B4-BE49-F238E27FC236}">
                <a16:creationId xmlns:a16="http://schemas.microsoft.com/office/drawing/2014/main" id="{7D4A468C-71CF-CD90-C929-360A8589CF7D}"/>
              </a:ext>
            </a:extLst>
          </p:cNvPr>
          <p:cNvSpPr txBox="1"/>
          <p:nvPr/>
        </p:nvSpPr>
        <p:spPr>
          <a:xfrm>
            <a:off x="249926" y="3439247"/>
            <a:ext cx="1790701" cy="923330"/>
          </a:xfrm>
          <a:prstGeom prst="rect">
            <a:avLst/>
          </a:prstGeom>
          <a:noFill/>
        </p:spPr>
        <p:txBody>
          <a:bodyPr wrap="square" rtlCol="0">
            <a:spAutoFit/>
          </a:bodyPr>
          <a:lstStyle/>
          <a:p>
            <a:pPr algn="r"/>
            <a:r>
              <a:rPr lang="en-US" noProof="0" dirty="0">
                <a:solidFill>
                  <a:schemeClr val="tx2">
                    <a:lumMod val="75000"/>
                    <a:lumOff val="25000"/>
                  </a:schemeClr>
                </a:solidFill>
              </a:rPr>
              <a:t>Simulation of an independent variable</a:t>
            </a:r>
          </a:p>
        </p:txBody>
      </p:sp>
      <p:cxnSp>
        <p:nvCxnSpPr>
          <p:cNvPr id="16" name="Connector: Curved 15">
            <a:extLst>
              <a:ext uri="{FF2B5EF4-FFF2-40B4-BE49-F238E27FC236}">
                <a16:creationId xmlns:a16="http://schemas.microsoft.com/office/drawing/2014/main" id="{A8BAE702-F408-8484-AA6F-FEBDD553EF5A}"/>
              </a:ext>
            </a:extLst>
          </p:cNvPr>
          <p:cNvCxnSpPr>
            <a:cxnSpLocks/>
            <a:stCxn id="14" idx="3"/>
            <a:endCxn id="18" idx="0"/>
          </p:cNvCxnSpPr>
          <p:nvPr/>
        </p:nvCxnSpPr>
        <p:spPr>
          <a:xfrm>
            <a:off x="2040627" y="3900912"/>
            <a:ext cx="944262" cy="14405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C66F4FE-074E-12E9-3416-CCD3FEBCA93A}"/>
              </a:ext>
            </a:extLst>
          </p:cNvPr>
          <p:cNvSpPr/>
          <p:nvPr/>
        </p:nvSpPr>
        <p:spPr>
          <a:xfrm>
            <a:off x="2775339" y="4044965"/>
            <a:ext cx="419100"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2077536D-406D-6C3A-C79A-8C49EFFF43EC}"/>
              </a:ext>
            </a:extLst>
          </p:cNvPr>
          <p:cNvSpPr/>
          <p:nvPr/>
        </p:nvSpPr>
        <p:spPr>
          <a:xfrm>
            <a:off x="3769114" y="4044965"/>
            <a:ext cx="749760"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Box 22">
            <a:extLst>
              <a:ext uri="{FF2B5EF4-FFF2-40B4-BE49-F238E27FC236}">
                <a16:creationId xmlns:a16="http://schemas.microsoft.com/office/drawing/2014/main" id="{5685CBC6-A165-A4EA-09E5-C7B2D7367EB2}"/>
              </a:ext>
            </a:extLst>
          </p:cNvPr>
          <p:cNvSpPr txBox="1"/>
          <p:nvPr/>
        </p:nvSpPr>
        <p:spPr>
          <a:xfrm>
            <a:off x="4806656" y="2769006"/>
            <a:ext cx="2170985" cy="646331"/>
          </a:xfrm>
          <a:prstGeom prst="rect">
            <a:avLst/>
          </a:prstGeom>
          <a:noFill/>
        </p:spPr>
        <p:txBody>
          <a:bodyPr wrap="square" rtlCol="0">
            <a:spAutoFit/>
          </a:bodyPr>
          <a:lstStyle/>
          <a:p>
            <a:r>
              <a:rPr lang="en-US" noProof="0" dirty="0">
                <a:solidFill>
                  <a:schemeClr val="tx2">
                    <a:lumMod val="75000"/>
                    <a:lumOff val="25000"/>
                  </a:schemeClr>
                </a:solidFill>
              </a:rPr>
              <a:t>Discrete uniform distribution</a:t>
            </a:r>
          </a:p>
        </p:txBody>
      </p:sp>
      <p:cxnSp>
        <p:nvCxnSpPr>
          <p:cNvPr id="24" name="Connector: Curved 23">
            <a:extLst>
              <a:ext uri="{FF2B5EF4-FFF2-40B4-BE49-F238E27FC236}">
                <a16:creationId xmlns:a16="http://schemas.microsoft.com/office/drawing/2014/main" id="{4E858447-04EE-69DC-F17F-296460E80D74}"/>
              </a:ext>
            </a:extLst>
          </p:cNvPr>
          <p:cNvCxnSpPr>
            <a:cxnSpLocks/>
            <a:stCxn id="23" idx="1"/>
            <a:endCxn id="22" idx="0"/>
          </p:cNvCxnSpPr>
          <p:nvPr/>
        </p:nvCxnSpPr>
        <p:spPr>
          <a:xfrm rot="10800000" flipV="1">
            <a:off x="4143994" y="3092171"/>
            <a:ext cx="662662" cy="95279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1A868C18-4036-664F-1C68-A9E0754B083F}"/>
              </a:ext>
            </a:extLst>
          </p:cNvPr>
          <p:cNvSpPr/>
          <p:nvPr/>
        </p:nvSpPr>
        <p:spPr>
          <a:xfrm>
            <a:off x="2516449" y="4376469"/>
            <a:ext cx="419100"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CD06335A-294D-366D-5A7F-9F54A9AE556A}"/>
              </a:ext>
            </a:extLst>
          </p:cNvPr>
          <p:cNvSpPr txBox="1"/>
          <p:nvPr/>
        </p:nvSpPr>
        <p:spPr>
          <a:xfrm>
            <a:off x="227779" y="4855393"/>
            <a:ext cx="2135027" cy="646331"/>
          </a:xfrm>
          <a:prstGeom prst="rect">
            <a:avLst/>
          </a:prstGeom>
          <a:noFill/>
        </p:spPr>
        <p:txBody>
          <a:bodyPr wrap="square" rtlCol="0">
            <a:spAutoFit/>
          </a:bodyPr>
          <a:lstStyle/>
          <a:p>
            <a:pPr algn="r"/>
            <a:r>
              <a:rPr lang="en-US" noProof="0" dirty="0">
                <a:solidFill>
                  <a:schemeClr val="tx2">
                    <a:lumMod val="75000"/>
                    <a:lumOff val="25000"/>
                  </a:schemeClr>
                </a:solidFill>
              </a:rPr>
              <a:t>Simulation of a dependent variable</a:t>
            </a:r>
          </a:p>
        </p:txBody>
      </p:sp>
      <p:cxnSp>
        <p:nvCxnSpPr>
          <p:cNvPr id="29" name="Connector: Curved 28">
            <a:extLst>
              <a:ext uri="{FF2B5EF4-FFF2-40B4-BE49-F238E27FC236}">
                <a16:creationId xmlns:a16="http://schemas.microsoft.com/office/drawing/2014/main" id="{76A291A8-8C63-CC7D-BE13-84FD2A9A3EED}"/>
              </a:ext>
            </a:extLst>
          </p:cNvPr>
          <p:cNvCxnSpPr>
            <a:cxnSpLocks/>
            <a:stCxn id="28" idx="3"/>
            <a:endCxn id="27" idx="2"/>
          </p:cNvCxnSpPr>
          <p:nvPr/>
        </p:nvCxnSpPr>
        <p:spPr>
          <a:xfrm flipV="1">
            <a:off x="2362806" y="4653468"/>
            <a:ext cx="363193" cy="52509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27D51152-2FF8-8904-2061-3C22235FCEE1}"/>
              </a:ext>
            </a:extLst>
          </p:cNvPr>
          <p:cNvSpPr/>
          <p:nvPr/>
        </p:nvSpPr>
        <p:spPr>
          <a:xfrm>
            <a:off x="3759132" y="4377146"/>
            <a:ext cx="241224"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TextBox 32">
            <a:extLst>
              <a:ext uri="{FF2B5EF4-FFF2-40B4-BE49-F238E27FC236}">
                <a16:creationId xmlns:a16="http://schemas.microsoft.com/office/drawing/2014/main" id="{BD017F9C-FC15-9D83-D3ED-C2C61A2968CE}"/>
              </a:ext>
            </a:extLst>
          </p:cNvPr>
          <p:cNvSpPr txBox="1"/>
          <p:nvPr/>
        </p:nvSpPr>
        <p:spPr>
          <a:xfrm>
            <a:off x="1124469" y="5540368"/>
            <a:ext cx="2298395" cy="369332"/>
          </a:xfrm>
          <a:prstGeom prst="rect">
            <a:avLst/>
          </a:prstGeom>
          <a:noFill/>
        </p:spPr>
        <p:txBody>
          <a:bodyPr wrap="square" rtlCol="0">
            <a:spAutoFit/>
          </a:bodyPr>
          <a:lstStyle/>
          <a:p>
            <a:pPr algn="r"/>
            <a:r>
              <a:rPr lang="en-US" noProof="0" dirty="0">
                <a:solidFill>
                  <a:schemeClr val="tx2">
                    <a:lumMod val="75000"/>
                    <a:lumOff val="25000"/>
                  </a:schemeClr>
                </a:solidFill>
              </a:rPr>
              <a:t>Poisson distribution</a:t>
            </a:r>
          </a:p>
        </p:txBody>
      </p:sp>
      <p:cxnSp>
        <p:nvCxnSpPr>
          <p:cNvPr id="34" name="Connector: Curved 33">
            <a:extLst>
              <a:ext uri="{FF2B5EF4-FFF2-40B4-BE49-F238E27FC236}">
                <a16:creationId xmlns:a16="http://schemas.microsoft.com/office/drawing/2014/main" id="{CB75DB75-635E-7664-B5E9-9E531F1DFC74}"/>
              </a:ext>
            </a:extLst>
          </p:cNvPr>
          <p:cNvCxnSpPr>
            <a:cxnSpLocks/>
            <a:stCxn id="33" idx="3"/>
            <a:endCxn id="32" idx="2"/>
          </p:cNvCxnSpPr>
          <p:nvPr/>
        </p:nvCxnSpPr>
        <p:spPr>
          <a:xfrm flipV="1">
            <a:off x="3422864" y="4654145"/>
            <a:ext cx="456880" cy="107088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69D9E3DB-4402-053D-4FEA-340CDEF49712}"/>
              </a:ext>
            </a:extLst>
          </p:cNvPr>
          <p:cNvSpPr/>
          <p:nvPr/>
        </p:nvSpPr>
        <p:spPr>
          <a:xfrm>
            <a:off x="4050444" y="4376468"/>
            <a:ext cx="1771396"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 name="TextBox 38">
            <a:extLst>
              <a:ext uri="{FF2B5EF4-FFF2-40B4-BE49-F238E27FC236}">
                <a16:creationId xmlns:a16="http://schemas.microsoft.com/office/drawing/2014/main" id="{1490ABCB-EB30-1195-9C92-AEB2770A8820}"/>
              </a:ext>
            </a:extLst>
          </p:cNvPr>
          <p:cNvSpPr txBox="1"/>
          <p:nvPr/>
        </p:nvSpPr>
        <p:spPr>
          <a:xfrm>
            <a:off x="3837721" y="5494326"/>
            <a:ext cx="2298395" cy="646331"/>
          </a:xfrm>
          <a:prstGeom prst="rect">
            <a:avLst/>
          </a:prstGeom>
          <a:noFill/>
        </p:spPr>
        <p:txBody>
          <a:bodyPr wrap="square" rtlCol="0">
            <a:spAutoFit/>
          </a:bodyPr>
          <a:lstStyle/>
          <a:p>
            <a:pPr algn="ctr"/>
            <a:r>
              <a:rPr lang="en-US" noProof="0" dirty="0">
                <a:solidFill>
                  <a:schemeClr val="tx2">
                    <a:lumMod val="75000"/>
                    <a:lumOff val="25000"/>
                  </a:schemeClr>
                </a:solidFill>
              </a:rPr>
              <a:t>Dependency of defects on technique</a:t>
            </a:r>
          </a:p>
        </p:txBody>
      </p:sp>
      <p:cxnSp>
        <p:nvCxnSpPr>
          <p:cNvPr id="41" name="Connector: Curved 40">
            <a:extLst>
              <a:ext uri="{FF2B5EF4-FFF2-40B4-BE49-F238E27FC236}">
                <a16:creationId xmlns:a16="http://schemas.microsoft.com/office/drawing/2014/main" id="{17C4F4E2-43C1-47B9-2DBE-D67D77E80627}"/>
              </a:ext>
            </a:extLst>
          </p:cNvPr>
          <p:cNvCxnSpPr>
            <a:cxnSpLocks/>
            <a:stCxn id="39" idx="0"/>
            <a:endCxn id="38" idx="2"/>
          </p:cNvCxnSpPr>
          <p:nvPr/>
        </p:nvCxnSpPr>
        <p:spPr>
          <a:xfrm flipH="1" flipV="1">
            <a:off x="4936142" y="4653467"/>
            <a:ext cx="50777" cy="8408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847E6059-7A1C-7D64-E082-546A6DF413D4}"/>
              </a:ext>
            </a:extLst>
          </p:cNvPr>
          <p:cNvCxnSpPr/>
          <p:nvPr/>
        </p:nvCxnSpPr>
        <p:spPr>
          <a:xfrm flipV="1">
            <a:off x="9960769" y="4274299"/>
            <a:ext cx="0" cy="1451042"/>
          </a:xfrm>
          <a:prstGeom prst="line">
            <a:avLst/>
          </a:prstGeom>
          <a:ln>
            <a:solidFill>
              <a:srgbClr val="D0180A"/>
            </a:solidFill>
            <a:prstDash val="dash"/>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76A6DE77-13C4-EEAF-A6F1-D4600954FF5C}"/>
              </a:ext>
            </a:extLst>
          </p:cNvPr>
          <p:cNvCxnSpPr/>
          <p:nvPr/>
        </p:nvCxnSpPr>
        <p:spPr>
          <a:xfrm flipV="1">
            <a:off x="10440267" y="4274299"/>
            <a:ext cx="0" cy="1451042"/>
          </a:xfrm>
          <a:prstGeom prst="line">
            <a:avLst/>
          </a:prstGeom>
          <a:ln>
            <a:solidFill>
              <a:srgbClr val="006D70"/>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E86B7886-5299-0D8E-A5B2-D53E06E8FCBF}"/>
                  </a:ext>
                </a:extLst>
              </p:cNvPr>
              <p:cNvSpPr txBox="1"/>
              <p:nvPr/>
            </p:nvSpPr>
            <p:spPr>
              <a:xfrm>
                <a:off x="9748094" y="3900766"/>
                <a:ext cx="67407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noProof="0" smtClean="0">
                          <a:latin typeface="Cambria Math" panose="02040503050406030204" pitchFamily="18" charset="0"/>
                        </a:rPr>
                        <m:t>10+</m:t>
                      </m:r>
                    </m:oMath>
                  </m:oMathPara>
                </a14:m>
                <a:endParaRPr lang="en-US" sz="1400" noProof="0" dirty="0"/>
              </a:p>
            </p:txBody>
          </p:sp>
        </mc:Choice>
        <mc:Fallback xmlns="">
          <p:sp>
            <p:nvSpPr>
              <p:cNvPr id="84" name="TextBox 83">
                <a:extLst>
                  <a:ext uri="{FF2B5EF4-FFF2-40B4-BE49-F238E27FC236}">
                    <a16:creationId xmlns:a16="http://schemas.microsoft.com/office/drawing/2014/main" id="{E86B7886-5299-0D8E-A5B2-D53E06E8FCBF}"/>
                  </a:ext>
                </a:extLst>
              </p:cNvPr>
              <p:cNvSpPr txBox="1">
                <a:spLocks noRot="1" noChangeAspect="1" noMove="1" noResize="1" noEditPoints="1" noAdjustHandles="1" noChangeArrowheads="1" noChangeShapeType="1" noTextEdit="1"/>
              </p:cNvSpPr>
              <p:nvPr/>
            </p:nvSpPr>
            <p:spPr>
              <a:xfrm>
                <a:off x="9748094" y="3900766"/>
                <a:ext cx="674076" cy="307777"/>
              </a:xfrm>
              <a:prstGeom prst="rect">
                <a:avLst/>
              </a:prstGeom>
              <a:blipFill>
                <a:blip r:embed="rId10"/>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871D0394-32E8-3C1F-D5B2-FD061300360F}"/>
                  </a:ext>
                </a:extLst>
              </p:cNvPr>
              <p:cNvSpPr txBox="1"/>
              <p:nvPr/>
            </p:nvSpPr>
            <p:spPr>
              <a:xfrm>
                <a:off x="10187688" y="3900765"/>
                <a:ext cx="14816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noProof="0" smtClean="0">
                          <a:latin typeface="Cambria Math" panose="02040503050406030204" pitchFamily="18" charset="0"/>
                        </a:rPr>
                        <m:t>𝑡𝑒𝑐h𝑛𝑖𝑞𝑢𝑒</m:t>
                      </m:r>
                      <m:r>
                        <a:rPr lang="en-US" sz="1400" b="0" i="1" noProof="0" smtClean="0">
                          <a:latin typeface="Cambria Math" panose="02040503050406030204" pitchFamily="18" charset="0"/>
                        </a:rPr>
                        <m:t>∗5</m:t>
                      </m:r>
                    </m:oMath>
                  </m:oMathPara>
                </a14:m>
                <a:endParaRPr lang="en-US" sz="1400" noProof="0" dirty="0"/>
              </a:p>
            </p:txBody>
          </p:sp>
        </mc:Choice>
        <mc:Fallback xmlns="">
          <p:sp>
            <p:nvSpPr>
              <p:cNvPr id="85" name="TextBox 84">
                <a:extLst>
                  <a:ext uri="{FF2B5EF4-FFF2-40B4-BE49-F238E27FC236}">
                    <a16:creationId xmlns:a16="http://schemas.microsoft.com/office/drawing/2014/main" id="{871D0394-32E8-3C1F-D5B2-FD061300360F}"/>
                  </a:ext>
                </a:extLst>
              </p:cNvPr>
              <p:cNvSpPr txBox="1">
                <a:spLocks noRot="1" noChangeAspect="1" noMove="1" noResize="1" noEditPoints="1" noAdjustHandles="1" noChangeArrowheads="1" noChangeShapeType="1" noTextEdit="1"/>
              </p:cNvSpPr>
              <p:nvPr/>
            </p:nvSpPr>
            <p:spPr>
              <a:xfrm>
                <a:off x="10187688" y="3900765"/>
                <a:ext cx="1481680" cy="307777"/>
              </a:xfrm>
              <a:prstGeom prst="rect">
                <a:avLst/>
              </a:prstGeom>
              <a:blipFill>
                <a:blip r:embed="rId11"/>
                <a:stretch>
                  <a:fillRect b="-8000"/>
                </a:stretch>
              </a:blipFill>
            </p:spPr>
            <p:txBody>
              <a:bodyPr/>
              <a:lstStyle/>
              <a:p>
                <a:r>
                  <a:rPr lang="en-SE">
                    <a:noFill/>
                  </a:rPr>
                  <a:t> </a:t>
                </a:r>
              </a:p>
            </p:txBody>
          </p:sp>
        </mc:Fallback>
      </mc:AlternateContent>
      <p:sp>
        <p:nvSpPr>
          <p:cNvPr id="101" name="Rectangle 100">
            <a:extLst>
              <a:ext uri="{FF2B5EF4-FFF2-40B4-BE49-F238E27FC236}">
                <a16:creationId xmlns:a16="http://schemas.microsoft.com/office/drawing/2014/main" id="{10FE6653-B71F-3B56-7387-E64D3EFCC1F4}"/>
              </a:ext>
            </a:extLst>
          </p:cNvPr>
          <p:cNvSpPr/>
          <p:nvPr/>
        </p:nvSpPr>
        <p:spPr>
          <a:xfrm>
            <a:off x="6391626" y="5794743"/>
            <a:ext cx="1990725" cy="479002"/>
          </a:xfrm>
          <a:prstGeom prst="rect">
            <a:avLst/>
          </a:prstGeom>
          <a:gradFill>
            <a:gsLst>
              <a:gs pos="0">
                <a:schemeClr val="accent1">
                  <a:lumMod val="5000"/>
                  <a:lumOff val="95000"/>
                  <a:alpha val="0"/>
                </a:schemeClr>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2" name="Connector: Curved 101">
            <a:extLst>
              <a:ext uri="{FF2B5EF4-FFF2-40B4-BE49-F238E27FC236}">
                <a16:creationId xmlns:a16="http://schemas.microsoft.com/office/drawing/2014/main" id="{D7D0B251-B9FA-9EA3-5E67-A03F57BAA164}"/>
              </a:ext>
            </a:extLst>
          </p:cNvPr>
          <p:cNvCxnSpPr>
            <a:cxnSpLocks/>
            <a:stCxn id="9" idx="3"/>
            <a:endCxn id="88" idx="0"/>
          </p:cNvCxnSpPr>
          <p:nvPr/>
        </p:nvCxnSpPr>
        <p:spPr>
          <a:xfrm>
            <a:off x="6315466" y="4109019"/>
            <a:ext cx="1071523" cy="190889"/>
          </a:xfrm>
          <a:prstGeom prst="curved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1" name="Picture 20" descr="A graph of different colored bars&#10;&#10;AI-generated content may be incorrect.">
            <a:extLst>
              <a:ext uri="{FF2B5EF4-FFF2-40B4-BE49-F238E27FC236}">
                <a16:creationId xmlns:a16="http://schemas.microsoft.com/office/drawing/2014/main" id="{8B1CC71C-6DF0-07BC-DD7C-9F9510A57047}"/>
              </a:ext>
            </a:extLst>
          </p:cNvPr>
          <p:cNvPicPr>
            <a:picLocks noChangeAspect="1"/>
          </p:cNvPicPr>
          <p:nvPr/>
        </p:nvPicPr>
        <p:blipFill>
          <a:blip r:embed="rId12">
            <a:extLst>
              <a:ext uri="{28A0092B-C50C-407E-A947-70E740481C1C}">
                <a14:useLocalDpi xmlns:a14="http://schemas.microsoft.com/office/drawing/2010/main" val="0"/>
              </a:ext>
            </a:extLst>
          </a:blip>
          <a:srcRect b="30402"/>
          <a:stretch>
            <a:fillRect/>
          </a:stretch>
        </p:blipFill>
        <p:spPr>
          <a:xfrm>
            <a:off x="8696325" y="2665324"/>
            <a:ext cx="3411879" cy="1186289"/>
          </a:xfrm>
          <a:prstGeom prst="rect">
            <a:avLst/>
          </a:prstGeom>
        </p:spPr>
      </p:pic>
    </p:spTree>
    <p:extLst>
      <p:ext uri="{BB962C8B-B14F-4D97-AF65-F5344CB8AC3E}">
        <p14:creationId xmlns:p14="http://schemas.microsoft.com/office/powerpoint/2010/main" val="400750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28" grpId="0"/>
      <p:bldP spid="33" grpId="0"/>
      <p:bldP spid="39" grpId="0"/>
      <p:bldP spid="84" grpId="0"/>
      <p:bldP spid="8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AB776A99-A0F3-D45E-2F26-7A0AA21074C7}"/>
              </a:ext>
            </a:extLst>
          </p:cNvPr>
          <p:cNvGrpSpPr/>
          <p:nvPr/>
        </p:nvGrpSpPr>
        <p:grpSpPr>
          <a:xfrm>
            <a:off x="1037768" y="3066292"/>
            <a:ext cx="4166350" cy="1356221"/>
            <a:chOff x="3595078" y="2993962"/>
            <a:chExt cx="4166350" cy="1356221"/>
          </a:xfrm>
        </p:grpSpPr>
        <p:sp>
          <p:nvSpPr>
            <p:cNvPr id="32" name="Rectangle: Rounded Corners 31">
              <a:extLst>
                <a:ext uri="{FF2B5EF4-FFF2-40B4-BE49-F238E27FC236}">
                  <a16:creationId xmlns:a16="http://schemas.microsoft.com/office/drawing/2014/main" id="{60B58559-862A-9201-1DF9-5FBE9A777B4E}"/>
                </a:ext>
              </a:extLst>
            </p:cNvPr>
            <p:cNvSpPr/>
            <p:nvPr/>
          </p:nvSpPr>
          <p:spPr>
            <a:xfrm>
              <a:off x="3595078" y="2993962"/>
              <a:ext cx="4166350" cy="1356221"/>
            </a:xfrm>
            <a:prstGeom prst="round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396000" rtlCol="0" anchor="t"/>
            <a:lstStyle/>
            <a:p>
              <a:r>
                <a:rPr lang="en-US" b="1" noProof="0" dirty="0">
                  <a:solidFill>
                    <a:schemeClr val="tx1">
                      <a:lumMod val="75000"/>
                      <a:lumOff val="25000"/>
                    </a:schemeClr>
                  </a:solidFill>
                </a:rPr>
                <a:t>Simulation</a:t>
              </a:r>
            </a:p>
          </p:txBody>
        </p:sp>
        <p:pic>
          <p:nvPicPr>
            <p:cNvPr id="33" name="Graphic 32" descr="Normal Distribution with solid fill">
              <a:extLst>
                <a:ext uri="{FF2B5EF4-FFF2-40B4-BE49-F238E27FC236}">
                  <a16:creationId xmlns:a16="http://schemas.microsoft.com/office/drawing/2014/main" id="{604A555B-3040-51CD-0127-35AEBE1919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03516" y="3059856"/>
              <a:ext cx="360000" cy="360000"/>
            </a:xfrm>
            <a:prstGeom prst="rect">
              <a:avLst/>
            </a:prstGeom>
          </p:spPr>
        </p:pic>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191654-15CC-8EC0-CF8E-67CAAB0CAC42}"/>
                    </a:ext>
                  </a:extLst>
                </p:cNvPr>
                <p:cNvSpPr txBox="1"/>
                <p:nvPr/>
              </p:nvSpPr>
              <p:spPr>
                <a:xfrm>
                  <a:off x="3780555" y="3599449"/>
                  <a:ext cx="2366610" cy="27699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𝑡𝑒𝑐h𝑛𝑖𝑞𝑢𝑒</m:t>
                        </m:r>
                        <m:r>
                          <a:rPr lang="en-US" b="0" i="1" noProof="0" smtClean="0">
                            <a:latin typeface="Cambria Math" panose="02040503050406030204" pitchFamily="18" charset="0"/>
                          </a:rPr>
                          <m:t>=</m:t>
                        </m:r>
                        <m:r>
                          <a:rPr lang="en-US" b="0" i="1" noProof="0" smtClean="0">
                            <a:latin typeface="Cambria Math" panose="02040503050406030204" pitchFamily="18" charset="0"/>
                          </a:rPr>
                          <m:t>𝑢𝑛𝑖𝑓</m:t>
                        </m:r>
                        <m:r>
                          <a:rPr lang="en-US" b="0" i="1" noProof="0" smtClean="0">
                            <a:latin typeface="Cambria Math" panose="02040503050406030204" pitchFamily="18" charset="0"/>
                          </a:rPr>
                          <m:t>{0, 1}</m:t>
                        </m:r>
                      </m:oMath>
                    </m:oMathPara>
                  </a14:m>
                  <a:endParaRPr lang="en-US" noProof="0" dirty="0"/>
                </a:p>
              </p:txBody>
            </p:sp>
          </mc:Choice>
          <mc:Fallback xmlns="">
            <p:sp>
              <p:nvSpPr>
                <p:cNvPr id="34" name="TextBox 33">
                  <a:extLst>
                    <a:ext uri="{FF2B5EF4-FFF2-40B4-BE49-F238E27FC236}">
                      <a16:creationId xmlns:a16="http://schemas.microsoft.com/office/drawing/2014/main" id="{F5191654-15CC-8EC0-CF8E-67CAAB0CAC42}"/>
                    </a:ext>
                  </a:extLst>
                </p:cNvPr>
                <p:cNvSpPr txBox="1">
                  <a:spLocks noRot="1" noChangeAspect="1" noMove="1" noResize="1" noEditPoints="1" noAdjustHandles="1" noChangeArrowheads="1" noChangeShapeType="1" noTextEdit="1"/>
                </p:cNvSpPr>
                <p:nvPr/>
              </p:nvSpPr>
              <p:spPr>
                <a:xfrm>
                  <a:off x="3780555" y="3599449"/>
                  <a:ext cx="2366610" cy="276999"/>
                </a:xfrm>
                <a:prstGeom prst="rect">
                  <a:avLst/>
                </a:prstGeom>
                <a:blipFill>
                  <a:blip r:embed="rId5"/>
                  <a:stretch>
                    <a:fillRect l="-3093" t="-2174" r="-3351" b="-36957"/>
                  </a:stretch>
                </a:blipFill>
                <a:ln>
                  <a:no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C479A6D-CF85-FDC1-5B35-7029E6CAF9A3}"/>
                    </a:ext>
                  </a:extLst>
                </p:cNvPr>
                <p:cNvSpPr txBox="1"/>
                <p:nvPr/>
              </p:nvSpPr>
              <p:spPr>
                <a:xfrm>
                  <a:off x="3678952" y="3944932"/>
                  <a:ext cx="4050148" cy="27699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𝑑𝑒𝑓𝑒𝑐𝑡𝑠</m:t>
                        </m:r>
                        <m:r>
                          <a:rPr lang="en-US" b="0" i="1" noProof="0" smtClean="0">
                            <a:latin typeface="Cambria Math" panose="02040503050406030204" pitchFamily="18" charset="0"/>
                          </a:rPr>
                          <m:t>=</m:t>
                        </m:r>
                        <m:r>
                          <a:rPr lang="en-US" b="0" i="1" noProof="0" smtClean="0">
                            <a:latin typeface="Cambria Math" panose="02040503050406030204" pitchFamily="18" charset="0"/>
                          </a:rPr>
                          <m:t>𝑃𝑜𝑖𝑠𝑠𝑜𝑛</m:t>
                        </m:r>
                        <m:r>
                          <a:rPr lang="en-US" b="0" i="1" noProof="0" smtClean="0">
                            <a:latin typeface="Cambria Math" panose="02040503050406030204" pitchFamily="18" charset="0"/>
                          </a:rPr>
                          <m:t>(10+</m:t>
                        </m:r>
                        <m:r>
                          <a:rPr lang="en-US" b="0" i="1" noProof="0" smtClean="0">
                            <a:latin typeface="Cambria Math" panose="02040503050406030204" pitchFamily="18" charset="0"/>
                          </a:rPr>
                          <m:t>𝑡𝑒𝑐h𝑛𝑖𝑞𝑢𝑒</m:t>
                        </m:r>
                        <m:r>
                          <a:rPr lang="en-US" b="0" i="1" noProof="0" smtClean="0">
                            <a:latin typeface="Cambria Math" panose="02040503050406030204" pitchFamily="18" charset="0"/>
                          </a:rPr>
                          <m:t>∗5)</m:t>
                        </m:r>
                      </m:oMath>
                    </m:oMathPara>
                  </a14:m>
                  <a:endParaRPr lang="en-US" noProof="0" dirty="0"/>
                </a:p>
              </p:txBody>
            </p:sp>
          </mc:Choice>
          <mc:Fallback xmlns="">
            <p:sp>
              <p:nvSpPr>
                <p:cNvPr id="35" name="TextBox 34">
                  <a:extLst>
                    <a:ext uri="{FF2B5EF4-FFF2-40B4-BE49-F238E27FC236}">
                      <a16:creationId xmlns:a16="http://schemas.microsoft.com/office/drawing/2014/main" id="{BC479A6D-CF85-FDC1-5B35-7029E6CAF9A3}"/>
                    </a:ext>
                  </a:extLst>
                </p:cNvPr>
                <p:cNvSpPr txBox="1">
                  <a:spLocks noRot="1" noChangeAspect="1" noMove="1" noResize="1" noEditPoints="1" noAdjustHandles="1" noChangeArrowheads="1" noChangeShapeType="1" noTextEdit="1"/>
                </p:cNvSpPr>
                <p:nvPr/>
              </p:nvSpPr>
              <p:spPr>
                <a:xfrm>
                  <a:off x="3678952" y="3944932"/>
                  <a:ext cx="4050148" cy="276999"/>
                </a:xfrm>
                <a:prstGeom prst="rect">
                  <a:avLst/>
                </a:prstGeom>
                <a:blipFill>
                  <a:blip r:embed="rId6"/>
                  <a:stretch>
                    <a:fillRect l="-1657" t="-2222" r="-1807" b="-35556"/>
                  </a:stretch>
                </a:blipFill>
                <a:ln>
                  <a:noFill/>
                </a:ln>
              </p:spPr>
              <p:txBody>
                <a:bodyPr/>
                <a:lstStyle/>
                <a:p>
                  <a:r>
                    <a:rPr lang="en-SE">
                      <a:noFill/>
                    </a:rPr>
                    <a:t> </a:t>
                  </a:r>
                </a:p>
              </p:txBody>
            </p:sp>
          </mc:Fallback>
        </mc:AlternateContent>
      </p:grpSp>
      <p:sp>
        <p:nvSpPr>
          <p:cNvPr id="2" name="Title 1">
            <a:extLst>
              <a:ext uri="{FF2B5EF4-FFF2-40B4-BE49-F238E27FC236}">
                <a16:creationId xmlns:a16="http://schemas.microsoft.com/office/drawing/2014/main" id="{FACFE031-4C28-B0A1-EFC9-22834B2E29D5}"/>
              </a:ext>
            </a:extLst>
          </p:cNvPr>
          <p:cNvSpPr>
            <a:spLocks noGrp="1"/>
          </p:cNvSpPr>
          <p:nvPr>
            <p:ph type="title"/>
          </p:nvPr>
        </p:nvSpPr>
        <p:spPr/>
        <p:txBody>
          <a:bodyPr/>
          <a:lstStyle/>
          <a:p>
            <a:r>
              <a:rPr lang="en-US" noProof="0" dirty="0"/>
              <a:t>Causal Modeling and Simulations</a:t>
            </a:r>
          </a:p>
        </p:txBody>
      </p:sp>
      <p:sp>
        <p:nvSpPr>
          <p:cNvPr id="7" name="Content Placeholder 6">
            <a:extLst>
              <a:ext uri="{FF2B5EF4-FFF2-40B4-BE49-F238E27FC236}">
                <a16:creationId xmlns:a16="http://schemas.microsoft.com/office/drawing/2014/main" id="{EFA5A131-DE9E-F7DA-D44D-419076DB479D}"/>
              </a:ext>
            </a:extLst>
          </p:cNvPr>
          <p:cNvSpPr>
            <a:spLocks noGrp="1"/>
          </p:cNvSpPr>
          <p:nvPr>
            <p:ph idx="1"/>
          </p:nvPr>
        </p:nvSpPr>
        <p:spPr>
          <a:xfrm>
            <a:off x="838200" y="1825624"/>
            <a:ext cx="10515600" cy="1150937"/>
          </a:xfrm>
        </p:spPr>
        <p:txBody>
          <a:bodyPr/>
          <a:lstStyle/>
          <a:p>
            <a:pPr marL="0" indent="0">
              <a:buNone/>
            </a:pPr>
            <a:r>
              <a:rPr lang="en-US" noProof="0" dirty="0"/>
              <a:t>DAGs are typically used to formalize </a:t>
            </a:r>
            <a:r>
              <a:rPr lang="en-US" i="1" noProof="0" dirty="0"/>
              <a:t>assumed </a:t>
            </a:r>
            <a:r>
              <a:rPr lang="en-US" noProof="0" dirty="0"/>
              <a:t>causal relationships. They can also be used to represent </a:t>
            </a:r>
            <a:r>
              <a:rPr lang="en-US" b="1" noProof="0" dirty="0"/>
              <a:t>simulated </a:t>
            </a:r>
            <a:r>
              <a:rPr lang="en-US" noProof="0" dirty="0"/>
              <a:t>causal relationships.</a:t>
            </a:r>
          </a:p>
        </p:txBody>
      </p:sp>
      <p:sp>
        <p:nvSpPr>
          <p:cNvPr id="4" name="Date Placeholder 3">
            <a:extLst>
              <a:ext uri="{FF2B5EF4-FFF2-40B4-BE49-F238E27FC236}">
                <a16:creationId xmlns:a16="http://schemas.microsoft.com/office/drawing/2014/main" id="{391C31E4-B837-E3AD-19CD-DA2169B6D84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D52ACAE-8AF6-3700-929A-555787B3584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BFA429D-6C4C-537C-D79C-65AB94298FCB}"/>
              </a:ext>
            </a:extLst>
          </p:cNvPr>
          <p:cNvSpPr>
            <a:spLocks noGrp="1"/>
          </p:cNvSpPr>
          <p:nvPr>
            <p:ph type="sldNum" sz="quarter" idx="12"/>
          </p:nvPr>
        </p:nvSpPr>
        <p:spPr/>
        <p:txBody>
          <a:bodyPr/>
          <a:lstStyle/>
          <a:p>
            <a:fld id="{0FA2D919-C0DE-4971-A2E9-D4AC0031921B}" type="slidenum">
              <a:rPr lang="en-US" noProof="0" smtClean="0"/>
              <a:t>23</a:t>
            </a:fld>
            <a:endParaRPr lang="en-US" noProof="0" dirty="0"/>
          </a:p>
        </p:txBody>
      </p:sp>
      <p:cxnSp>
        <p:nvCxnSpPr>
          <p:cNvPr id="9" name="Straight Arrow Connector 8">
            <a:extLst>
              <a:ext uri="{FF2B5EF4-FFF2-40B4-BE49-F238E27FC236}">
                <a16:creationId xmlns:a16="http://schemas.microsoft.com/office/drawing/2014/main" id="{7191B9B1-3F42-39B9-CC57-96266CB91986}"/>
              </a:ext>
            </a:extLst>
          </p:cNvPr>
          <p:cNvCxnSpPr>
            <a:cxnSpLocks/>
            <a:stCxn id="20" idx="3"/>
            <a:endCxn id="23" idx="1"/>
          </p:cNvCxnSpPr>
          <p:nvPr/>
        </p:nvCxnSpPr>
        <p:spPr>
          <a:xfrm>
            <a:off x="7140623" y="3700263"/>
            <a:ext cx="328659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AB606607-2C7B-4C20-B5AF-1A65892C1ACD}"/>
              </a:ext>
            </a:extLst>
          </p:cNvPr>
          <p:cNvSpPr txBox="1"/>
          <p:nvPr/>
        </p:nvSpPr>
        <p:spPr>
          <a:xfrm>
            <a:off x="6118860" y="3063746"/>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11" name="TextBox 10">
            <a:extLst>
              <a:ext uri="{FF2B5EF4-FFF2-40B4-BE49-F238E27FC236}">
                <a16:creationId xmlns:a16="http://schemas.microsoft.com/office/drawing/2014/main" id="{A79BAD0F-E092-B401-2710-D671F964B970}"/>
              </a:ext>
            </a:extLst>
          </p:cNvPr>
          <p:cNvSpPr txBox="1"/>
          <p:nvPr/>
        </p:nvSpPr>
        <p:spPr>
          <a:xfrm>
            <a:off x="9200666" y="3951563"/>
            <a:ext cx="1921680" cy="369332"/>
          </a:xfrm>
          <a:prstGeom prst="rect">
            <a:avLst/>
          </a:prstGeom>
          <a:noFill/>
        </p:spPr>
        <p:txBody>
          <a:bodyPr wrap="none" rtlCol="0">
            <a:spAutoFit/>
          </a:bodyPr>
          <a:lstStyle/>
          <a:p>
            <a:r>
              <a:rPr lang="en-US" noProof="0" dirty="0">
                <a:solidFill>
                  <a:srgbClr val="006D70"/>
                </a:solidFill>
              </a:rPr>
              <a:t>identified defects</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7119173-3B78-ED8D-7ED9-3C20E864E184}"/>
                  </a:ext>
                </a:extLst>
              </p:cNvPr>
              <p:cNvSpPr txBox="1"/>
              <p:nvPr/>
            </p:nvSpPr>
            <p:spPr>
              <a:xfrm>
                <a:off x="8510078" y="3741855"/>
                <a:ext cx="54768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noProof="0" smtClean="0">
                          <a:solidFill>
                            <a:schemeClr val="accent1"/>
                          </a:solidFill>
                          <a:latin typeface="Cambria Math" panose="02040503050406030204" pitchFamily="18" charset="0"/>
                        </a:rPr>
                        <m:t>5</m:t>
                      </m:r>
                    </m:oMath>
                  </m:oMathPara>
                </a14:m>
                <a:endParaRPr lang="en-US" sz="1400" noProof="0" dirty="0"/>
              </a:p>
            </p:txBody>
          </p:sp>
        </mc:Choice>
        <mc:Fallback xmlns="">
          <p:sp>
            <p:nvSpPr>
              <p:cNvPr id="19" name="TextBox 18">
                <a:extLst>
                  <a:ext uri="{FF2B5EF4-FFF2-40B4-BE49-F238E27FC236}">
                    <a16:creationId xmlns:a16="http://schemas.microsoft.com/office/drawing/2014/main" id="{77119173-3B78-ED8D-7ED9-3C20E864E184}"/>
                  </a:ext>
                </a:extLst>
              </p:cNvPr>
              <p:cNvSpPr txBox="1">
                <a:spLocks noRot="1" noChangeAspect="1" noMove="1" noResize="1" noEditPoints="1" noAdjustHandles="1" noChangeArrowheads="1" noChangeShapeType="1" noTextEdit="1"/>
              </p:cNvSpPr>
              <p:nvPr/>
            </p:nvSpPr>
            <p:spPr>
              <a:xfrm>
                <a:off x="8510078" y="3741855"/>
                <a:ext cx="547689" cy="307777"/>
              </a:xfrm>
              <a:prstGeom prst="rect">
                <a:avLst/>
              </a:prstGeom>
              <a:blipFill>
                <a:blip r:embed="rId7"/>
                <a:stretch>
                  <a:fillRect/>
                </a:stretch>
              </a:blipFill>
            </p:spPr>
            <p:txBody>
              <a:bodyPr/>
              <a:lstStyle/>
              <a:p>
                <a:r>
                  <a:rPr lang="en-SE">
                    <a:noFill/>
                  </a:rPr>
                  <a:t> </a:t>
                </a:r>
              </a:p>
            </p:txBody>
          </p:sp>
        </mc:Fallback>
      </mc:AlternateContent>
      <p:sp>
        <p:nvSpPr>
          <p:cNvPr id="20" name="Rectangle: Rounded Corners 19">
            <a:extLst>
              <a:ext uri="{FF2B5EF4-FFF2-40B4-BE49-F238E27FC236}">
                <a16:creationId xmlns:a16="http://schemas.microsoft.com/office/drawing/2014/main" id="{D2FE72C5-5E31-E91C-D5DF-9AA063DFFAC0}"/>
              </a:ext>
            </a:extLst>
          </p:cNvPr>
          <p:cNvSpPr/>
          <p:nvPr/>
        </p:nvSpPr>
        <p:spPr>
          <a:xfrm>
            <a:off x="6780623" y="3520263"/>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tangle: Rounded Corners 22">
            <a:extLst>
              <a:ext uri="{FF2B5EF4-FFF2-40B4-BE49-F238E27FC236}">
                <a16:creationId xmlns:a16="http://schemas.microsoft.com/office/drawing/2014/main" id="{CF8D3FC2-62AF-E862-AB47-001EDCECF969}"/>
              </a:ext>
            </a:extLst>
          </p:cNvPr>
          <p:cNvSpPr/>
          <p:nvPr/>
        </p:nvSpPr>
        <p:spPr>
          <a:xfrm>
            <a:off x="10427222" y="3520263"/>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29C47FC7-AC13-741D-F668-1A3032B822AF}"/>
              </a:ext>
            </a:extLst>
          </p:cNvPr>
          <p:cNvSpPr txBox="1"/>
          <p:nvPr/>
        </p:nvSpPr>
        <p:spPr>
          <a:xfrm>
            <a:off x="6118860" y="4444301"/>
            <a:ext cx="1800120" cy="369332"/>
          </a:xfrm>
          <a:prstGeom prst="rect">
            <a:avLst/>
          </a:prstGeom>
          <a:noFill/>
          <a:ln>
            <a:noFill/>
          </a:ln>
        </p:spPr>
        <p:txBody>
          <a:bodyPr wrap="square" rtlCol="0">
            <a:spAutoFit/>
          </a:bodyPr>
          <a:lstStyle/>
          <a:p>
            <a:pPr algn="ctr"/>
            <a:r>
              <a:rPr lang="en-US" noProof="0" dirty="0">
                <a:solidFill>
                  <a:schemeClr val="accent1"/>
                </a:solidFill>
              </a:rPr>
              <a:t>Path coefficient</a:t>
            </a:r>
          </a:p>
        </p:txBody>
      </p:sp>
      <p:cxnSp>
        <p:nvCxnSpPr>
          <p:cNvPr id="26" name="Connector: Curved 25">
            <a:extLst>
              <a:ext uri="{FF2B5EF4-FFF2-40B4-BE49-F238E27FC236}">
                <a16:creationId xmlns:a16="http://schemas.microsoft.com/office/drawing/2014/main" id="{80AEA964-CDA5-E80D-65F4-22D4D6252492}"/>
              </a:ext>
            </a:extLst>
          </p:cNvPr>
          <p:cNvCxnSpPr>
            <a:cxnSpLocks/>
            <a:stCxn id="25" idx="3"/>
            <a:endCxn id="19" idx="2"/>
          </p:cNvCxnSpPr>
          <p:nvPr/>
        </p:nvCxnSpPr>
        <p:spPr>
          <a:xfrm flipV="1">
            <a:off x="7918980" y="4049632"/>
            <a:ext cx="864943" cy="579335"/>
          </a:xfrm>
          <a:prstGeom prst="curvedConnector2">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3" name="Oval 2">
            <a:extLst>
              <a:ext uri="{FF2B5EF4-FFF2-40B4-BE49-F238E27FC236}">
                <a16:creationId xmlns:a16="http://schemas.microsoft.com/office/drawing/2014/main" id="{B12A6769-8627-F5F5-C361-919684B87A79}"/>
              </a:ext>
            </a:extLst>
          </p:cNvPr>
          <p:cNvSpPr/>
          <p:nvPr/>
        </p:nvSpPr>
        <p:spPr>
          <a:xfrm>
            <a:off x="8594505" y="3700263"/>
            <a:ext cx="360000" cy="369326"/>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0EB44B6B-C6C0-9BF3-8737-10441B95DF72}"/>
              </a:ext>
            </a:extLst>
          </p:cNvPr>
          <p:cNvSpPr/>
          <p:nvPr/>
        </p:nvSpPr>
        <p:spPr>
          <a:xfrm>
            <a:off x="4787199" y="3971098"/>
            <a:ext cx="360000" cy="369326"/>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2" name="Connector: Curved 11">
            <a:extLst>
              <a:ext uri="{FF2B5EF4-FFF2-40B4-BE49-F238E27FC236}">
                <a16:creationId xmlns:a16="http://schemas.microsoft.com/office/drawing/2014/main" id="{53425300-972A-2FF0-D9F1-33B08A9E0CE4}"/>
              </a:ext>
            </a:extLst>
          </p:cNvPr>
          <p:cNvCxnSpPr>
            <a:cxnSpLocks/>
            <a:stCxn id="25" idx="1"/>
            <a:endCxn id="8" idx="4"/>
          </p:cNvCxnSpPr>
          <p:nvPr/>
        </p:nvCxnSpPr>
        <p:spPr>
          <a:xfrm rot="10800000">
            <a:off x="4967200" y="4340425"/>
            <a:ext cx="1151661" cy="288543"/>
          </a:xfrm>
          <a:prstGeom prst="curvedConnector2">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24" name="Content Placeholder 6">
            <a:extLst>
              <a:ext uri="{FF2B5EF4-FFF2-40B4-BE49-F238E27FC236}">
                <a16:creationId xmlns:a16="http://schemas.microsoft.com/office/drawing/2014/main" id="{4ED6521D-D160-1A56-253A-66470E373D08}"/>
              </a:ext>
            </a:extLst>
          </p:cNvPr>
          <p:cNvSpPr txBox="1">
            <a:spLocks/>
          </p:cNvSpPr>
          <p:nvPr/>
        </p:nvSpPr>
        <p:spPr>
          <a:xfrm>
            <a:off x="838200" y="5077161"/>
            <a:ext cx="10515600" cy="1150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noProof="0" dirty="0"/>
          </a:p>
        </p:txBody>
      </p:sp>
      <p:grpSp>
        <p:nvGrpSpPr>
          <p:cNvPr id="15" name="Group 14">
            <a:extLst>
              <a:ext uri="{FF2B5EF4-FFF2-40B4-BE49-F238E27FC236}">
                <a16:creationId xmlns:a16="http://schemas.microsoft.com/office/drawing/2014/main" id="{9C779227-3AD2-6BBA-38B2-3780B080D6E7}"/>
              </a:ext>
            </a:extLst>
          </p:cNvPr>
          <p:cNvGrpSpPr/>
          <p:nvPr/>
        </p:nvGrpSpPr>
        <p:grpSpPr>
          <a:xfrm>
            <a:off x="838200" y="5257160"/>
            <a:ext cx="10515599" cy="946595"/>
            <a:chOff x="775411" y="5230368"/>
            <a:chExt cx="10515599" cy="946595"/>
          </a:xfrm>
        </p:grpSpPr>
        <p:sp>
          <p:nvSpPr>
            <p:cNvPr id="16" name="Rectangle: Rounded Corners 15">
              <a:extLst>
                <a:ext uri="{FF2B5EF4-FFF2-40B4-BE49-F238E27FC236}">
                  <a16:creationId xmlns:a16="http://schemas.microsoft.com/office/drawing/2014/main" id="{7EFE33DE-0071-55A7-651C-0407A76D070D}"/>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Changing the </a:t>
              </a:r>
              <a:r>
                <a:rPr lang="en-US" noProof="0" dirty="0">
                  <a:solidFill>
                    <a:srgbClr val="F8766D"/>
                  </a:solidFill>
                </a:rPr>
                <a:t>cause</a:t>
              </a:r>
              <a:r>
                <a:rPr lang="en-US" noProof="0" dirty="0"/>
                <a:t> by one unit causes the </a:t>
              </a:r>
              <a:r>
                <a:rPr lang="en-US" noProof="0" dirty="0">
                  <a:solidFill>
                    <a:srgbClr val="00BFC4"/>
                  </a:solidFill>
                </a:rPr>
                <a:t>effect</a:t>
              </a:r>
              <a:r>
                <a:rPr lang="en-US" noProof="0" dirty="0"/>
                <a:t> to change by &lt;</a:t>
              </a:r>
              <a:r>
                <a:rPr lang="en-US" noProof="0" dirty="0">
                  <a:solidFill>
                    <a:schemeClr val="accent1">
                      <a:lumMod val="40000"/>
                      <a:lumOff val="60000"/>
                    </a:schemeClr>
                  </a:solidFill>
                </a:rPr>
                <a:t>path coefficient</a:t>
              </a:r>
              <a:r>
                <a:rPr lang="en-US" noProof="0" dirty="0"/>
                <a:t>&gt; units. It is, therefore, our variable of interest representing effect strength.</a:t>
              </a:r>
              <a:endParaRPr lang="en-US" baseline="30000" noProof="0" dirty="0"/>
            </a:p>
          </p:txBody>
        </p:sp>
        <p:pic>
          <p:nvPicPr>
            <p:cNvPr id="17" name="Graphic 16" descr="Open quotation mark with solid fill">
              <a:extLst>
                <a:ext uri="{FF2B5EF4-FFF2-40B4-BE49-F238E27FC236}">
                  <a16:creationId xmlns:a16="http://schemas.microsoft.com/office/drawing/2014/main" id="{9CC17981-A942-B299-366C-1D3454A85D8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376440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anim calcmode="lin" valueType="num">
                                      <p:cBhvr>
                                        <p:cTn id="34" dur="500" fill="hold"/>
                                        <p:tgtEl>
                                          <p:spTgt spid="15"/>
                                        </p:tgtEl>
                                        <p:attrNameLst>
                                          <p:attrName>ppt_x</p:attrName>
                                        </p:attrNameLst>
                                      </p:cBhvr>
                                      <p:tavLst>
                                        <p:tav tm="0">
                                          <p:val>
                                            <p:strVal val="#ppt_x"/>
                                          </p:val>
                                        </p:tav>
                                        <p:tav tm="100000">
                                          <p:val>
                                            <p:strVal val="#ppt_x"/>
                                          </p:val>
                                        </p:tav>
                                      </p:tavLst>
                                    </p:anim>
                                    <p:anim calcmode="lin" valueType="num">
                                      <p:cBhvr>
                                        <p:cTn id="35"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9" grpId="0"/>
      <p:bldP spid="20" grpId="0" animBg="1"/>
      <p:bldP spid="23" grpId="0" animBg="1"/>
      <p:bldP spid="25" grpId="0"/>
      <p:bldP spid="3"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CD52E25C-0A01-811A-DF50-82CDE55E8858}"/>
              </a:ext>
            </a:extLst>
          </p:cNvPr>
          <p:cNvPicPr>
            <a:picLocks noChangeAspect="1"/>
          </p:cNvPicPr>
          <p:nvPr/>
        </p:nvPicPr>
        <p:blipFill>
          <a:blip r:embed="rId3"/>
          <a:stretch>
            <a:fillRect/>
          </a:stretch>
        </p:blipFill>
        <p:spPr>
          <a:xfrm>
            <a:off x="8644487" y="3510719"/>
            <a:ext cx="1434069" cy="2931473"/>
          </a:xfrm>
          <a:prstGeom prst="rect">
            <a:avLst/>
          </a:prstGeom>
        </p:spPr>
      </p:pic>
      <p:cxnSp>
        <p:nvCxnSpPr>
          <p:cNvPr id="39" name="Straight Connector 38">
            <a:extLst>
              <a:ext uri="{FF2B5EF4-FFF2-40B4-BE49-F238E27FC236}">
                <a16:creationId xmlns:a16="http://schemas.microsoft.com/office/drawing/2014/main" id="{ACF6D79F-C1C8-CD6A-A655-07CB930C985F}"/>
              </a:ext>
            </a:extLst>
          </p:cNvPr>
          <p:cNvCxnSpPr>
            <a:cxnSpLocks/>
          </p:cNvCxnSpPr>
          <p:nvPr/>
        </p:nvCxnSpPr>
        <p:spPr>
          <a:xfrm>
            <a:off x="8976189" y="5170774"/>
            <a:ext cx="1079193"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1" name="Left Brace 40">
            <a:extLst>
              <a:ext uri="{FF2B5EF4-FFF2-40B4-BE49-F238E27FC236}">
                <a16:creationId xmlns:a16="http://schemas.microsoft.com/office/drawing/2014/main" id="{CEC539C5-59F4-0F00-E8B9-7AD5E3D36A08}"/>
              </a:ext>
            </a:extLst>
          </p:cNvPr>
          <p:cNvSpPr/>
          <p:nvPr/>
        </p:nvSpPr>
        <p:spPr>
          <a:xfrm rot="10800000">
            <a:off x="10055381" y="4678826"/>
            <a:ext cx="162867" cy="491943"/>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62AAB243-503F-BFE0-E08E-64749FE6AC44}"/>
              </a:ext>
            </a:extLst>
          </p:cNvPr>
          <p:cNvSpPr>
            <a:spLocks noGrp="1"/>
          </p:cNvSpPr>
          <p:nvPr>
            <p:ph type="title"/>
          </p:nvPr>
        </p:nvSpPr>
        <p:spPr/>
        <p:txBody>
          <a:bodyPr/>
          <a:lstStyle/>
          <a:p>
            <a:r>
              <a:rPr lang="en-US" noProof="0" dirty="0"/>
              <a:t>Data Analysis Tool: (Linear) Modeling</a:t>
            </a:r>
          </a:p>
        </p:txBody>
      </p:sp>
      <p:sp>
        <p:nvSpPr>
          <p:cNvPr id="4" name="Date Placeholder 3">
            <a:extLst>
              <a:ext uri="{FF2B5EF4-FFF2-40B4-BE49-F238E27FC236}">
                <a16:creationId xmlns:a16="http://schemas.microsoft.com/office/drawing/2014/main" id="{C9CC0A60-369F-F0DC-30E9-71FD2581535B}"/>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FBC0A56-DCEB-842D-1DC3-75DA265C55B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A640CAB-C13E-5EB5-F935-34260882F9C2}"/>
              </a:ext>
            </a:extLst>
          </p:cNvPr>
          <p:cNvSpPr>
            <a:spLocks noGrp="1"/>
          </p:cNvSpPr>
          <p:nvPr>
            <p:ph type="sldNum" sz="quarter" idx="12"/>
          </p:nvPr>
        </p:nvSpPr>
        <p:spPr/>
        <p:txBody>
          <a:bodyPr/>
          <a:lstStyle/>
          <a:p>
            <a:fld id="{0FA2D919-C0DE-4971-A2E9-D4AC0031921B}" type="slidenum">
              <a:rPr lang="en-US" noProof="0" smtClean="0"/>
              <a:t>24</a:t>
            </a:fld>
            <a:endParaRPr lang="en-US" noProof="0" dirty="0"/>
          </a:p>
        </p:txBody>
      </p:sp>
      <p:sp>
        <p:nvSpPr>
          <p:cNvPr id="7" name="TextBox 6">
            <a:extLst>
              <a:ext uri="{FF2B5EF4-FFF2-40B4-BE49-F238E27FC236}">
                <a16:creationId xmlns:a16="http://schemas.microsoft.com/office/drawing/2014/main" id="{3F3DF573-67C8-D659-949E-EA79DEA7A51D}"/>
              </a:ext>
            </a:extLst>
          </p:cNvPr>
          <p:cNvSpPr txBox="1"/>
          <p:nvPr/>
        </p:nvSpPr>
        <p:spPr>
          <a:xfrm>
            <a:off x="4811193" y="2193581"/>
            <a:ext cx="2569613" cy="707886"/>
          </a:xfrm>
          <a:prstGeom prst="rect">
            <a:avLst/>
          </a:prstGeom>
          <a:noFill/>
        </p:spPr>
        <p:txBody>
          <a:bodyPr wrap="none" rtlCol="0">
            <a:spAutoFit/>
          </a:bodyPr>
          <a:lstStyle/>
          <a:p>
            <a:pPr algn="ctr"/>
            <a:r>
              <a:rPr lang="en-US" sz="2000" b="1" noProof="0" dirty="0"/>
              <a:t>(Generalized) Linear </a:t>
            </a:r>
          </a:p>
          <a:p>
            <a:pPr algn="ctr"/>
            <a:r>
              <a:rPr lang="en-US" sz="2000" b="1" noProof="0" dirty="0"/>
              <a:t>(Mixed) Model</a:t>
            </a:r>
          </a:p>
        </p:txBody>
      </p:sp>
      <p:sp>
        <p:nvSpPr>
          <p:cNvPr id="8" name="TextBox 7">
            <a:extLst>
              <a:ext uri="{FF2B5EF4-FFF2-40B4-BE49-F238E27FC236}">
                <a16:creationId xmlns:a16="http://schemas.microsoft.com/office/drawing/2014/main" id="{B440D856-E78D-E0A2-D306-A377607F843E}"/>
              </a:ext>
            </a:extLst>
          </p:cNvPr>
          <p:cNvSpPr txBox="1"/>
          <p:nvPr/>
        </p:nvSpPr>
        <p:spPr>
          <a:xfrm>
            <a:off x="772445" y="2193581"/>
            <a:ext cx="2283959" cy="1261884"/>
          </a:xfrm>
          <a:prstGeom prst="rect">
            <a:avLst/>
          </a:prstGeom>
          <a:noFill/>
        </p:spPr>
        <p:txBody>
          <a:bodyPr wrap="none" rtlCol="0">
            <a:spAutoFit/>
          </a:bodyPr>
          <a:lstStyle/>
          <a:p>
            <a:pPr algn="ctr"/>
            <a:r>
              <a:rPr lang="en-US" sz="2000" b="1" noProof="0" dirty="0"/>
              <a:t>Null-Hypothesis</a:t>
            </a:r>
          </a:p>
          <a:p>
            <a:pPr algn="ctr"/>
            <a:r>
              <a:rPr lang="en-US" sz="2000" b="1" noProof="0" dirty="0"/>
              <a:t>Significance Test</a:t>
            </a:r>
          </a:p>
          <a:p>
            <a:pPr algn="ctr"/>
            <a:r>
              <a:rPr lang="en-US" noProof="0" dirty="0"/>
              <a:t>e.g., Student’s t-test,</a:t>
            </a:r>
            <a:br>
              <a:rPr lang="en-US" noProof="0" dirty="0"/>
            </a:br>
            <a:r>
              <a:rPr lang="en-US" noProof="0" dirty="0"/>
              <a:t>Mann-Whitney U Test</a:t>
            </a:r>
            <a:endParaRPr lang="en-US" sz="2000" noProof="0" dirty="0"/>
          </a:p>
        </p:txBody>
      </p:sp>
      <p:sp>
        <p:nvSpPr>
          <p:cNvPr id="9" name="TextBox 8">
            <a:extLst>
              <a:ext uri="{FF2B5EF4-FFF2-40B4-BE49-F238E27FC236}">
                <a16:creationId xmlns:a16="http://schemas.microsoft.com/office/drawing/2014/main" id="{449E2B08-33F0-9CA3-10DE-CE2DD226605E}"/>
              </a:ext>
            </a:extLst>
          </p:cNvPr>
          <p:cNvSpPr txBox="1"/>
          <p:nvPr/>
        </p:nvSpPr>
        <p:spPr>
          <a:xfrm>
            <a:off x="9201350" y="2193581"/>
            <a:ext cx="1847109" cy="707886"/>
          </a:xfrm>
          <a:prstGeom prst="rect">
            <a:avLst/>
          </a:prstGeom>
          <a:noFill/>
        </p:spPr>
        <p:txBody>
          <a:bodyPr wrap="none" rtlCol="0">
            <a:spAutoFit/>
          </a:bodyPr>
          <a:lstStyle/>
          <a:p>
            <a:pPr algn="ctr"/>
            <a:r>
              <a:rPr lang="en-US" sz="2000" b="1" noProof="0" dirty="0"/>
              <a:t>Bayesian Data</a:t>
            </a:r>
          </a:p>
          <a:p>
            <a:pPr algn="ctr"/>
            <a:r>
              <a:rPr lang="en-US" sz="2000" b="1" noProof="0" dirty="0"/>
              <a:t>Analysis</a:t>
            </a:r>
          </a:p>
        </p:txBody>
      </p:sp>
      <p:cxnSp>
        <p:nvCxnSpPr>
          <p:cNvPr id="11" name="Straight Arrow Connector 10">
            <a:extLst>
              <a:ext uri="{FF2B5EF4-FFF2-40B4-BE49-F238E27FC236}">
                <a16:creationId xmlns:a16="http://schemas.microsoft.com/office/drawing/2014/main" id="{6104ABD0-DD2D-9865-2005-90D0846FC0AC}"/>
              </a:ext>
            </a:extLst>
          </p:cNvPr>
          <p:cNvCxnSpPr/>
          <p:nvPr/>
        </p:nvCxnSpPr>
        <p:spPr>
          <a:xfrm>
            <a:off x="838200" y="1967687"/>
            <a:ext cx="10515600" cy="0"/>
          </a:xfrm>
          <a:prstGeom prst="straightConnector1">
            <a:avLst/>
          </a:prstGeom>
          <a:ln>
            <a:solidFill>
              <a:schemeClr val="bg1">
                <a:lumMod val="6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5C95322-415C-4CA4-AE0F-70A0C6FFD0AA}"/>
              </a:ext>
            </a:extLst>
          </p:cNvPr>
          <p:cNvSpPr txBox="1"/>
          <p:nvPr/>
        </p:nvSpPr>
        <p:spPr>
          <a:xfrm>
            <a:off x="1056240" y="1690688"/>
            <a:ext cx="1397627" cy="276999"/>
          </a:xfrm>
          <a:prstGeom prst="rect">
            <a:avLst/>
          </a:prstGeom>
          <a:noFill/>
        </p:spPr>
        <p:txBody>
          <a:bodyPr wrap="none" rtlCol="0">
            <a:spAutoFit/>
          </a:bodyPr>
          <a:lstStyle/>
          <a:p>
            <a:r>
              <a:rPr lang="en-US" sz="1200" noProof="0" dirty="0"/>
              <a:t>+ more accessible</a:t>
            </a:r>
          </a:p>
        </p:txBody>
      </p:sp>
      <p:sp>
        <p:nvSpPr>
          <p:cNvPr id="13" name="TextBox 12">
            <a:extLst>
              <a:ext uri="{FF2B5EF4-FFF2-40B4-BE49-F238E27FC236}">
                <a16:creationId xmlns:a16="http://schemas.microsoft.com/office/drawing/2014/main" id="{6BBC7AA3-82C8-6D5A-6D93-92FCDFE713EE}"/>
              </a:ext>
            </a:extLst>
          </p:cNvPr>
          <p:cNvSpPr txBox="1"/>
          <p:nvPr/>
        </p:nvSpPr>
        <p:spPr>
          <a:xfrm>
            <a:off x="1056239" y="1967687"/>
            <a:ext cx="1122680" cy="276999"/>
          </a:xfrm>
          <a:prstGeom prst="rect">
            <a:avLst/>
          </a:prstGeom>
          <a:noFill/>
        </p:spPr>
        <p:txBody>
          <a:bodyPr wrap="none" rtlCol="0">
            <a:spAutoFit/>
          </a:bodyPr>
          <a:lstStyle/>
          <a:p>
            <a:r>
              <a:rPr lang="en-US" sz="1200" noProof="0" dirty="0"/>
              <a:t>- less granular</a:t>
            </a:r>
          </a:p>
        </p:txBody>
      </p:sp>
      <p:sp>
        <p:nvSpPr>
          <p:cNvPr id="14" name="TextBox 13">
            <a:extLst>
              <a:ext uri="{FF2B5EF4-FFF2-40B4-BE49-F238E27FC236}">
                <a16:creationId xmlns:a16="http://schemas.microsoft.com/office/drawing/2014/main" id="{7606FD7D-3221-92CC-7B26-52A65E8F938F}"/>
              </a:ext>
            </a:extLst>
          </p:cNvPr>
          <p:cNvSpPr txBox="1"/>
          <p:nvPr/>
        </p:nvSpPr>
        <p:spPr>
          <a:xfrm>
            <a:off x="8834866" y="1690688"/>
            <a:ext cx="2310569" cy="276999"/>
          </a:xfrm>
          <a:prstGeom prst="rect">
            <a:avLst/>
          </a:prstGeom>
          <a:noFill/>
        </p:spPr>
        <p:txBody>
          <a:bodyPr wrap="none" rtlCol="0">
            <a:spAutoFit/>
          </a:bodyPr>
          <a:lstStyle/>
          <a:p>
            <a:pPr algn="r"/>
            <a:r>
              <a:rPr lang="en-US" sz="1200" noProof="0" dirty="0"/>
              <a:t>more difficult to use and apply -</a:t>
            </a:r>
          </a:p>
        </p:txBody>
      </p:sp>
      <p:sp>
        <p:nvSpPr>
          <p:cNvPr id="15" name="TextBox 14">
            <a:extLst>
              <a:ext uri="{FF2B5EF4-FFF2-40B4-BE49-F238E27FC236}">
                <a16:creationId xmlns:a16="http://schemas.microsoft.com/office/drawing/2014/main" id="{B4635B55-6438-CF0B-FDB9-D28EE8D7B4E2}"/>
              </a:ext>
            </a:extLst>
          </p:cNvPr>
          <p:cNvSpPr txBox="1"/>
          <p:nvPr/>
        </p:nvSpPr>
        <p:spPr>
          <a:xfrm>
            <a:off x="9909398" y="1967686"/>
            <a:ext cx="1226362" cy="276999"/>
          </a:xfrm>
          <a:prstGeom prst="rect">
            <a:avLst/>
          </a:prstGeom>
          <a:noFill/>
        </p:spPr>
        <p:txBody>
          <a:bodyPr wrap="none" rtlCol="0">
            <a:spAutoFit/>
          </a:bodyPr>
          <a:lstStyle/>
          <a:p>
            <a:pPr algn="r"/>
            <a:r>
              <a:rPr lang="en-US" sz="1200" noProof="0" dirty="0"/>
              <a:t>more granular +</a:t>
            </a:r>
          </a:p>
        </p:txBody>
      </p:sp>
      <p:sp>
        <p:nvSpPr>
          <p:cNvPr id="17" name="TextBox 16">
            <a:extLst>
              <a:ext uri="{FF2B5EF4-FFF2-40B4-BE49-F238E27FC236}">
                <a16:creationId xmlns:a16="http://schemas.microsoft.com/office/drawing/2014/main" id="{67BC18E3-36B3-DBBE-AFCF-F9E718715546}"/>
              </a:ext>
            </a:extLst>
          </p:cNvPr>
          <p:cNvSpPr txBox="1"/>
          <p:nvPr/>
        </p:nvSpPr>
        <p:spPr>
          <a:xfrm>
            <a:off x="7218606" y="2926193"/>
            <a:ext cx="1466536" cy="369332"/>
          </a:xfrm>
          <a:prstGeom prst="rect">
            <a:avLst/>
          </a:prstGeom>
          <a:noFill/>
        </p:spPr>
        <p:txBody>
          <a:bodyPr wrap="square" rtlCol="0">
            <a:spAutoFit/>
          </a:bodyPr>
          <a:lstStyle/>
          <a:p>
            <a:r>
              <a:rPr lang="en-US" noProof="0" dirty="0">
                <a:solidFill>
                  <a:schemeClr val="accent4"/>
                </a:solidFill>
              </a:rPr>
              <a:t>predictor</a:t>
            </a:r>
          </a:p>
        </p:txBody>
      </p:sp>
      <p:cxnSp>
        <p:nvCxnSpPr>
          <p:cNvPr id="18" name="Connector: Curved 17">
            <a:extLst>
              <a:ext uri="{FF2B5EF4-FFF2-40B4-BE49-F238E27FC236}">
                <a16:creationId xmlns:a16="http://schemas.microsoft.com/office/drawing/2014/main" id="{6C4BD66A-9A9D-EC39-C5BF-9E48D5A46FFB}"/>
              </a:ext>
            </a:extLst>
          </p:cNvPr>
          <p:cNvCxnSpPr>
            <a:cxnSpLocks/>
            <a:stCxn id="17" idx="1"/>
            <a:endCxn id="21" idx="0"/>
          </p:cNvCxnSpPr>
          <p:nvPr/>
        </p:nvCxnSpPr>
        <p:spPr>
          <a:xfrm rot="10800000" flipV="1">
            <a:off x="6685160" y="3110858"/>
            <a:ext cx="533447" cy="179641"/>
          </a:xfrm>
          <a:prstGeom prst="curvedConnector2">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36DEA69-B4FB-B7FA-3C94-9D35CE080B7C}"/>
                  </a:ext>
                </a:extLst>
              </p:cNvPr>
              <p:cNvSpPr txBox="1"/>
              <p:nvPr/>
            </p:nvSpPr>
            <p:spPr>
              <a:xfrm>
                <a:off x="5084818" y="3290501"/>
                <a:ext cx="22623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𝑙𝑒𝑎𝑑𝑡𝑖𝑚𝑒</m:t>
                      </m:r>
                      <m:r>
                        <a:rPr lang="en-US" b="0" i="1" noProof="0" smtClean="0">
                          <a:latin typeface="Cambria Math" panose="02040503050406030204" pitchFamily="18" charset="0"/>
                        </a:rPr>
                        <m:t> ~ </m:t>
                      </m:r>
                      <m:r>
                        <a:rPr lang="en-US" b="0" i="1" noProof="0" smtClean="0">
                          <a:latin typeface="Cambria Math" panose="02040503050406030204" pitchFamily="18" charset="0"/>
                        </a:rPr>
                        <m:t>𝑡𝑒𝑐h𝑛𝑖𝑞𝑢𝑒</m:t>
                      </m:r>
                    </m:oMath>
                  </m:oMathPara>
                </a14:m>
                <a:endParaRPr lang="en-US" noProof="0" dirty="0"/>
              </a:p>
            </p:txBody>
          </p:sp>
        </mc:Choice>
        <mc:Fallback xmlns="">
          <p:sp>
            <p:nvSpPr>
              <p:cNvPr id="19" name="TextBox 18">
                <a:extLst>
                  <a:ext uri="{FF2B5EF4-FFF2-40B4-BE49-F238E27FC236}">
                    <a16:creationId xmlns:a16="http://schemas.microsoft.com/office/drawing/2014/main" id="{936DEA69-B4FB-B7FA-3C94-9D35CE080B7C}"/>
                  </a:ext>
                </a:extLst>
              </p:cNvPr>
              <p:cNvSpPr txBox="1">
                <a:spLocks noRot="1" noChangeAspect="1" noMove="1" noResize="1" noEditPoints="1" noAdjustHandles="1" noChangeArrowheads="1" noChangeShapeType="1" noTextEdit="1"/>
              </p:cNvSpPr>
              <p:nvPr/>
            </p:nvSpPr>
            <p:spPr>
              <a:xfrm>
                <a:off x="5084818" y="3290501"/>
                <a:ext cx="2262351" cy="276999"/>
              </a:xfrm>
              <a:prstGeom prst="rect">
                <a:avLst/>
              </a:prstGeom>
              <a:blipFill>
                <a:blip r:embed="rId4"/>
                <a:stretch>
                  <a:fillRect l="-2156" t="-2222" r="-3504" b="-35556"/>
                </a:stretch>
              </a:blipFill>
            </p:spPr>
            <p:txBody>
              <a:bodyPr/>
              <a:lstStyle/>
              <a:p>
                <a:r>
                  <a:rPr lang="en-SE">
                    <a:noFill/>
                  </a:rPr>
                  <a:t> </a:t>
                </a:r>
              </a:p>
            </p:txBody>
          </p:sp>
        </mc:Fallback>
      </mc:AlternateContent>
      <p:sp>
        <p:nvSpPr>
          <p:cNvPr id="20" name="Rectangle 19">
            <a:extLst>
              <a:ext uri="{FF2B5EF4-FFF2-40B4-BE49-F238E27FC236}">
                <a16:creationId xmlns:a16="http://schemas.microsoft.com/office/drawing/2014/main" id="{E75ABAF3-040E-AB56-6AD1-7905CE480053}"/>
              </a:ext>
            </a:extLst>
          </p:cNvPr>
          <p:cNvSpPr/>
          <p:nvPr/>
        </p:nvSpPr>
        <p:spPr>
          <a:xfrm>
            <a:off x="5022734" y="3290501"/>
            <a:ext cx="931839"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87559771-6BA6-353A-3137-8D253921E7F9}"/>
              </a:ext>
            </a:extLst>
          </p:cNvPr>
          <p:cNvSpPr/>
          <p:nvPr/>
        </p:nvSpPr>
        <p:spPr>
          <a:xfrm>
            <a:off x="6151711" y="3290500"/>
            <a:ext cx="1066895" cy="276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B2235129-A9DD-9684-55C7-5DF8948758B8}"/>
              </a:ext>
            </a:extLst>
          </p:cNvPr>
          <p:cNvSpPr txBox="1"/>
          <p:nvPr/>
        </p:nvSpPr>
        <p:spPr>
          <a:xfrm>
            <a:off x="3551379" y="2919452"/>
            <a:ext cx="1466536" cy="369332"/>
          </a:xfrm>
          <a:prstGeom prst="rect">
            <a:avLst/>
          </a:prstGeom>
          <a:noFill/>
        </p:spPr>
        <p:txBody>
          <a:bodyPr wrap="square" rtlCol="0">
            <a:spAutoFit/>
          </a:bodyPr>
          <a:lstStyle/>
          <a:p>
            <a:pPr algn="r"/>
            <a:r>
              <a:rPr lang="en-US" noProof="0" dirty="0">
                <a:solidFill>
                  <a:schemeClr val="accent4"/>
                </a:solidFill>
              </a:rPr>
              <a:t>outcome</a:t>
            </a:r>
          </a:p>
        </p:txBody>
      </p:sp>
      <p:cxnSp>
        <p:nvCxnSpPr>
          <p:cNvPr id="26" name="Connector: Curved 25">
            <a:extLst>
              <a:ext uri="{FF2B5EF4-FFF2-40B4-BE49-F238E27FC236}">
                <a16:creationId xmlns:a16="http://schemas.microsoft.com/office/drawing/2014/main" id="{E89124EB-8766-0076-B2B6-740A20562D6C}"/>
              </a:ext>
            </a:extLst>
          </p:cNvPr>
          <p:cNvCxnSpPr>
            <a:cxnSpLocks/>
            <a:stCxn id="25" idx="3"/>
            <a:endCxn id="20" idx="0"/>
          </p:cNvCxnSpPr>
          <p:nvPr/>
        </p:nvCxnSpPr>
        <p:spPr>
          <a:xfrm>
            <a:off x="5017915" y="3104118"/>
            <a:ext cx="470739" cy="186383"/>
          </a:xfrm>
          <a:prstGeom prst="curvedConnector2">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D45454F-404D-34B3-2916-EE30285FE3BE}"/>
                  </a:ext>
                </a:extLst>
              </p:cNvPr>
              <p:cNvSpPr txBox="1"/>
              <p:nvPr/>
            </p:nvSpPr>
            <p:spPr>
              <a:xfrm>
                <a:off x="5084818" y="3875984"/>
                <a:ext cx="31615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𝑙𝑒𝑎𝑑𝑡𝑖𝑚𝑒</m:t>
                      </m:r>
                      <m:r>
                        <a:rPr lang="en-US" b="0" i="1" noProof="0" smtClean="0">
                          <a:latin typeface="Cambria Math" panose="02040503050406030204" pitchFamily="18" charset="0"/>
                        </a:rPr>
                        <m:t> ~ </m:t>
                      </m:r>
                      <m:r>
                        <a:rPr lang="en-US" b="0" i="1" noProof="0" smtClean="0">
                          <a:latin typeface="Cambria Math" panose="02040503050406030204" pitchFamily="18" charset="0"/>
                        </a:rPr>
                        <m:t>𝛼</m:t>
                      </m:r>
                      <m:r>
                        <a:rPr lang="en-US" b="0" i="1" noProof="0" smtClean="0">
                          <a:latin typeface="Cambria Math" panose="02040503050406030204" pitchFamily="18" charset="0"/>
                        </a:rPr>
                        <m:t>+</m:t>
                      </m:r>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𝛽</m:t>
                          </m:r>
                        </m:e>
                        <m:sub>
                          <m:r>
                            <a:rPr lang="en-US" b="0" i="1" noProof="0" smtClean="0">
                              <a:latin typeface="Cambria Math" panose="02040503050406030204" pitchFamily="18" charset="0"/>
                            </a:rPr>
                            <m:t>𝑡</m:t>
                          </m:r>
                        </m:sub>
                      </m:sSub>
                      <m:r>
                        <a:rPr lang="en-US" b="0" i="1" noProof="0" smtClean="0">
                          <a:latin typeface="Cambria Math" panose="02040503050406030204" pitchFamily="18" charset="0"/>
                        </a:rPr>
                        <m:t>∗ </m:t>
                      </m:r>
                      <m:r>
                        <a:rPr lang="en-US" b="0" i="1" noProof="0" smtClean="0">
                          <a:latin typeface="Cambria Math" panose="02040503050406030204" pitchFamily="18" charset="0"/>
                        </a:rPr>
                        <m:t>𝑡𝑒𝑐h𝑛𝑖𝑞𝑢𝑒</m:t>
                      </m:r>
                    </m:oMath>
                  </m:oMathPara>
                </a14:m>
                <a:endParaRPr lang="en-US" noProof="0" dirty="0"/>
              </a:p>
            </p:txBody>
          </p:sp>
        </mc:Choice>
        <mc:Fallback xmlns="">
          <p:sp>
            <p:nvSpPr>
              <p:cNvPr id="30" name="TextBox 29">
                <a:extLst>
                  <a:ext uri="{FF2B5EF4-FFF2-40B4-BE49-F238E27FC236}">
                    <a16:creationId xmlns:a16="http://schemas.microsoft.com/office/drawing/2014/main" id="{FD45454F-404D-34B3-2916-EE30285FE3BE}"/>
                  </a:ext>
                </a:extLst>
              </p:cNvPr>
              <p:cNvSpPr txBox="1">
                <a:spLocks noRot="1" noChangeAspect="1" noMove="1" noResize="1" noEditPoints="1" noAdjustHandles="1" noChangeArrowheads="1" noChangeShapeType="1" noTextEdit="1"/>
              </p:cNvSpPr>
              <p:nvPr/>
            </p:nvSpPr>
            <p:spPr>
              <a:xfrm>
                <a:off x="5084818" y="3875984"/>
                <a:ext cx="3161571" cy="276999"/>
              </a:xfrm>
              <a:prstGeom prst="rect">
                <a:avLst/>
              </a:prstGeom>
              <a:blipFill>
                <a:blip r:embed="rId5"/>
                <a:stretch>
                  <a:fillRect l="-1541" t="-2222" r="-2119" b="-35556"/>
                </a:stretch>
              </a:blipFill>
            </p:spPr>
            <p:txBody>
              <a:bodyPr/>
              <a:lstStyle/>
              <a:p>
                <a:r>
                  <a:rPr lang="en-SE">
                    <a:noFill/>
                  </a:rPr>
                  <a:t> </a:t>
                </a:r>
              </a:p>
            </p:txBody>
          </p:sp>
        </mc:Fallback>
      </mc:AlternateContent>
      <p:sp>
        <p:nvSpPr>
          <p:cNvPr id="32" name="Rectangle 31">
            <a:extLst>
              <a:ext uri="{FF2B5EF4-FFF2-40B4-BE49-F238E27FC236}">
                <a16:creationId xmlns:a16="http://schemas.microsoft.com/office/drawing/2014/main" id="{649E3306-0310-8F9F-643A-B4942C08E574}"/>
              </a:ext>
            </a:extLst>
          </p:cNvPr>
          <p:cNvSpPr/>
          <p:nvPr/>
        </p:nvSpPr>
        <p:spPr>
          <a:xfrm>
            <a:off x="6215993" y="3875786"/>
            <a:ext cx="307611" cy="27699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Rectangle 35">
            <a:extLst>
              <a:ext uri="{FF2B5EF4-FFF2-40B4-BE49-F238E27FC236}">
                <a16:creationId xmlns:a16="http://schemas.microsoft.com/office/drawing/2014/main" id="{477C86C3-4123-AFEA-9301-05E660DA2970}"/>
              </a:ext>
            </a:extLst>
          </p:cNvPr>
          <p:cNvSpPr/>
          <p:nvPr/>
        </p:nvSpPr>
        <p:spPr>
          <a:xfrm>
            <a:off x="6665603" y="3875785"/>
            <a:ext cx="307611" cy="2769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TextBox 36">
            <a:extLst>
              <a:ext uri="{FF2B5EF4-FFF2-40B4-BE49-F238E27FC236}">
                <a16:creationId xmlns:a16="http://schemas.microsoft.com/office/drawing/2014/main" id="{F47A701E-98C0-466C-BCC8-E35A5DCC809D}"/>
              </a:ext>
            </a:extLst>
          </p:cNvPr>
          <p:cNvSpPr txBox="1"/>
          <p:nvPr/>
        </p:nvSpPr>
        <p:spPr>
          <a:xfrm>
            <a:off x="7128394" y="4196011"/>
            <a:ext cx="1820286" cy="369332"/>
          </a:xfrm>
          <a:prstGeom prst="rect">
            <a:avLst/>
          </a:prstGeom>
          <a:noFill/>
        </p:spPr>
        <p:txBody>
          <a:bodyPr wrap="square" rtlCol="0">
            <a:spAutoFit/>
          </a:bodyPr>
          <a:lstStyle/>
          <a:p>
            <a:r>
              <a:rPr lang="en-US" noProof="0" dirty="0">
                <a:solidFill>
                  <a:schemeClr val="accent1"/>
                </a:solidFill>
              </a:rPr>
              <a:t>path coefficient</a:t>
            </a:r>
          </a:p>
        </p:txBody>
      </p:sp>
      <p:cxnSp>
        <p:nvCxnSpPr>
          <p:cNvPr id="38" name="Connector: Curved 37">
            <a:extLst>
              <a:ext uri="{FF2B5EF4-FFF2-40B4-BE49-F238E27FC236}">
                <a16:creationId xmlns:a16="http://schemas.microsoft.com/office/drawing/2014/main" id="{6087CAD0-CF79-B131-3BED-9555B044740B}"/>
              </a:ext>
            </a:extLst>
          </p:cNvPr>
          <p:cNvCxnSpPr>
            <a:cxnSpLocks/>
            <a:stCxn id="37" idx="1"/>
            <a:endCxn id="36" idx="2"/>
          </p:cNvCxnSpPr>
          <p:nvPr/>
        </p:nvCxnSpPr>
        <p:spPr>
          <a:xfrm rot="10800000">
            <a:off x="6819410" y="4152785"/>
            <a:ext cx="308985" cy="227893"/>
          </a:xfrm>
          <a:prstGeom prst="curvedConnector2">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5B01A34D-CAC1-4F3F-1F75-4E36D85899D5}"/>
              </a:ext>
            </a:extLst>
          </p:cNvPr>
          <p:cNvSpPr txBox="1"/>
          <p:nvPr/>
        </p:nvSpPr>
        <p:spPr>
          <a:xfrm>
            <a:off x="4632960" y="4196011"/>
            <a:ext cx="1149554" cy="369332"/>
          </a:xfrm>
          <a:prstGeom prst="rect">
            <a:avLst/>
          </a:prstGeom>
          <a:noFill/>
        </p:spPr>
        <p:txBody>
          <a:bodyPr wrap="square" rtlCol="0">
            <a:spAutoFit/>
          </a:bodyPr>
          <a:lstStyle/>
          <a:p>
            <a:pPr algn="r"/>
            <a:r>
              <a:rPr lang="en-US" noProof="0" dirty="0">
                <a:solidFill>
                  <a:schemeClr val="accent2"/>
                </a:solidFill>
              </a:rPr>
              <a:t>intercept</a:t>
            </a:r>
          </a:p>
        </p:txBody>
      </p:sp>
      <p:cxnSp>
        <p:nvCxnSpPr>
          <p:cNvPr id="44" name="Connector: Curved 43">
            <a:extLst>
              <a:ext uri="{FF2B5EF4-FFF2-40B4-BE49-F238E27FC236}">
                <a16:creationId xmlns:a16="http://schemas.microsoft.com/office/drawing/2014/main" id="{48A18954-C956-47B6-D426-5325BE81EE9A}"/>
              </a:ext>
            </a:extLst>
          </p:cNvPr>
          <p:cNvCxnSpPr>
            <a:cxnSpLocks/>
            <a:stCxn id="43" idx="3"/>
            <a:endCxn id="32" idx="2"/>
          </p:cNvCxnSpPr>
          <p:nvPr/>
        </p:nvCxnSpPr>
        <p:spPr>
          <a:xfrm flipV="1">
            <a:off x="5782514" y="4152785"/>
            <a:ext cx="587285" cy="227892"/>
          </a:xfrm>
          <a:prstGeom prst="curvedConnector2">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B6D418F8-AFA9-A3C4-AD10-46D7449D4CA7}"/>
              </a:ext>
            </a:extLst>
          </p:cNvPr>
          <p:cNvCxnSpPr>
            <a:cxnSpLocks/>
          </p:cNvCxnSpPr>
          <p:nvPr/>
        </p:nvCxnSpPr>
        <p:spPr>
          <a:xfrm>
            <a:off x="6040572" y="3602831"/>
            <a:ext cx="0" cy="272956"/>
          </a:xfrm>
          <a:prstGeom prst="straightConnector1">
            <a:avLst/>
          </a:prstGeom>
          <a:ln>
            <a:solidFill>
              <a:schemeClr val="tx1">
                <a:lumMod val="75000"/>
                <a:lumOff val="25000"/>
              </a:schemeClr>
            </a:solidFill>
            <a:prstDash val="sysDot"/>
            <a:tailEnd type="triangle"/>
          </a:ln>
        </p:spPr>
        <p:style>
          <a:lnRef idx="2">
            <a:schemeClr val="dk1"/>
          </a:lnRef>
          <a:fillRef idx="0">
            <a:schemeClr val="dk1"/>
          </a:fillRef>
          <a:effectRef idx="1">
            <a:schemeClr val="dk1"/>
          </a:effectRef>
          <a:fontRef idx="minor">
            <a:schemeClr val="tx1"/>
          </a:fontRef>
        </p:style>
      </p:cxnSp>
      <p:pic>
        <p:nvPicPr>
          <p:cNvPr id="22" name="Picture 21">
            <a:extLst>
              <a:ext uri="{FF2B5EF4-FFF2-40B4-BE49-F238E27FC236}">
                <a16:creationId xmlns:a16="http://schemas.microsoft.com/office/drawing/2014/main" id="{31E9D2F3-F648-AEE0-2085-DC03C6838B9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811193" y="4718201"/>
            <a:ext cx="3749365" cy="1077017"/>
          </a:xfrm>
          <a:prstGeom prst="rect">
            <a:avLst/>
          </a:prstGeom>
          <a:ln>
            <a:noFill/>
          </a:ln>
        </p:spPr>
      </p:pic>
      <p:sp>
        <p:nvSpPr>
          <p:cNvPr id="23" name="Rectangle 22">
            <a:extLst>
              <a:ext uri="{FF2B5EF4-FFF2-40B4-BE49-F238E27FC236}">
                <a16:creationId xmlns:a16="http://schemas.microsoft.com/office/drawing/2014/main" id="{79F54CD8-B6EC-3C2B-8618-EFC284404C63}"/>
              </a:ext>
            </a:extLst>
          </p:cNvPr>
          <p:cNvSpPr/>
          <p:nvPr/>
        </p:nvSpPr>
        <p:spPr>
          <a:xfrm>
            <a:off x="4910069" y="5417819"/>
            <a:ext cx="926479" cy="308834"/>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Rectangle 23">
            <a:extLst>
              <a:ext uri="{FF2B5EF4-FFF2-40B4-BE49-F238E27FC236}">
                <a16:creationId xmlns:a16="http://schemas.microsoft.com/office/drawing/2014/main" id="{5CB44229-3295-AAC4-5E15-C5441D091D3A}"/>
              </a:ext>
            </a:extLst>
          </p:cNvPr>
          <p:cNvSpPr/>
          <p:nvPr/>
        </p:nvSpPr>
        <p:spPr>
          <a:xfrm>
            <a:off x="6040572" y="5417819"/>
            <a:ext cx="926479" cy="30883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7" name="Connector: Curved 26">
            <a:extLst>
              <a:ext uri="{FF2B5EF4-FFF2-40B4-BE49-F238E27FC236}">
                <a16:creationId xmlns:a16="http://schemas.microsoft.com/office/drawing/2014/main" id="{D64C2C3D-BF16-B10D-5ED0-14FEB20389AA}"/>
              </a:ext>
            </a:extLst>
          </p:cNvPr>
          <p:cNvCxnSpPr>
            <a:cxnSpLocks/>
            <a:stCxn id="37" idx="2"/>
            <a:endCxn id="24" idx="3"/>
          </p:cNvCxnSpPr>
          <p:nvPr/>
        </p:nvCxnSpPr>
        <p:spPr>
          <a:xfrm rot="5400000">
            <a:off x="6999348" y="4533046"/>
            <a:ext cx="1006893" cy="1071486"/>
          </a:xfrm>
          <a:prstGeom prst="curvedConnector2">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C48750AD-DFE9-C85E-E350-87B79CD055B4}"/>
              </a:ext>
            </a:extLst>
          </p:cNvPr>
          <p:cNvCxnSpPr>
            <a:cxnSpLocks/>
            <a:stCxn id="43" idx="1"/>
            <a:endCxn id="23" idx="1"/>
          </p:cNvCxnSpPr>
          <p:nvPr/>
        </p:nvCxnSpPr>
        <p:spPr>
          <a:xfrm rot="10800000" flipH="1" flipV="1">
            <a:off x="4632959" y="4380676"/>
            <a:ext cx="277109" cy="1191559"/>
          </a:xfrm>
          <a:prstGeom prst="curvedConnector3">
            <a:avLst>
              <a:gd name="adj1" fmla="val -82495"/>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72134F8F-17AD-E250-6BDA-D59D1B9E2766}"/>
              </a:ext>
            </a:extLst>
          </p:cNvPr>
          <p:cNvGrpSpPr/>
          <p:nvPr/>
        </p:nvGrpSpPr>
        <p:grpSpPr>
          <a:xfrm>
            <a:off x="183218" y="5009483"/>
            <a:ext cx="4053164" cy="1243394"/>
            <a:chOff x="3595078" y="2993963"/>
            <a:chExt cx="4053164" cy="1243394"/>
          </a:xfrm>
        </p:grpSpPr>
        <p:sp>
          <p:nvSpPr>
            <p:cNvPr id="10" name="Rectangle: Rounded Corners 9">
              <a:extLst>
                <a:ext uri="{FF2B5EF4-FFF2-40B4-BE49-F238E27FC236}">
                  <a16:creationId xmlns:a16="http://schemas.microsoft.com/office/drawing/2014/main" id="{99959E9C-1703-E721-4A24-2DCA709139A4}"/>
                </a:ext>
              </a:extLst>
            </p:cNvPr>
            <p:cNvSpPr/>
            <p:nvPr/>
          </p:nvSpPr>
          <p:spPr>
            <a:xfrm>
              <a:off x="3595078" y="2993963"/>
              <a:ext cx="4053164" cy="1243394"/>
            </a:xfrm>
            <a:prstGeom prst="round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396000" rtlCol="0" anchor="t"/>
            <a:lstStyle/>
            <a:p>
              <a:r>
                <a:rPr lang="en-US" b="1" noProof="0" dirty="0">
                  <a:solidFill>
                    <a:schemeClr val="tx1">
                      <a:lumMod val="75000"/>
                      <a:lumOff val="25000"/>
                    </a:schemeClr>
                  </a:solidFill>
                </a:rPr>
                <a:t>Simulation</a:t>
              </a:r>
            </a:p>
          </p:txBody>
        </p:sp>
        <p:pic>
          <p:nvPicPr>
            <p:cNvPr id="16" name="Graphic 15" descr="Normal Distribution with solid fill">
              <a:extLst>
                <a:ext uri="{FF2B5EF4-FFF2-40B4-BE49-F238E27FC236}">
                  <a16:creationId xmlns:a16="http://schemas.microsoft.com/office/drawing/2014/main" id="{8BACC27E-8E67-34E4-0BF8-277B6443DF5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03516" y="3059856"/>
              <a:ext cx="360000" cy="360000"/>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58430EB-5679-CB7A-5E6F-B153CDC5D05A}"/>
                    </a:ext>
                  </a:extLst>
                </p:cNvPr>
                <p:cNvSpPr txBox="1"/>
                <p:nvPr/>
              </p:nvSpPr>
              <p:spPr>
                <a:xfrm>
                  <a:off x="3703516" y="3500992"/>
                  <a:ext cx="2366610" cy="27699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𝑡𝑒𝑐h𝑛𝑖𝑞𝑢𝑒</m:t>
                        </m:r>
                        <m:r>
                          <a:rPr lang="en-US" b="0" i="1" noProof="0" smtClean="0">
                            <a:latin typeface="Cambria Math" panose="02040503050406030204" pitchFamily="18" charset="0"/>
                          </a:rPr>
                          <m:t>=</m:t>
                        </m:r>
                        <m:r>
                          <a:rPr lang="en-US" b="0" i="1" noProof="0" smtClean="0">
                            <a:latin typeface="Cambria Math" panose="02040503050406030204" pitchFamily="18" charset="0"/>
                          </a:rPr>
                          <m:t>𝑢𝑛𝑖𝑓</m:t>
                        </m:r>
                        <m:r>
                          <a:rPr lang="en-US" b="0" i="1" noProof="0" smtClean="0">
                            <a:latin typeface="Cambria Math" panose="02040503050406030204" pitchFamily="18" charset="0"/>
                          </a:rPr>
                          <m:t>{0, 1}</m:t>
                        </m:r>
                      </m:oMath>
                    </m:oMathPara>
                  </a14:m>
                  <a:endParaRPr lang="en-US" noProof="0" dirty="0"/>
                </a:p>
              </p:txBody>
            </p:sp>
          </mc:Choice>
          <mc:Fallback xmlns="">
            <p:sp>
              <p:nvSpPr>
                <p:cNvPr id="28" name="TextBox 27">
                  <a:extLst>
                    <a:ext uri="{FF2B5EF4-FFF2-40B4-BE49-F238E27FC236}">
                      <a16:creationId xmlns:a16="http://schemas.microsoft.com/office/drawing/2014/main" id="{358430EB-5679-CB7A-5E6F-B153CDC5D05A}"/>
                    </a:ext>
                  </a:extLst>
                </p:cNvPr>
                <p:cNvSpPr txBox="1">
                  <a:spLocks noRot="1" noChangeAspect="1" noMove="1" noResize="1" noEditPoints="1" noAdjustHandles="1" noChangeArrowheads="1" noChangeShapeType="1" noTextEdit="1"/>
                </p:cNvSpPr>
                <p:nvPr/>
              </p:nvSpPr>
              <p:spPr>
                <a:xfrm>
                  <a:off x="3703516" y="3500992"/>
                  <a:ext cx="2366610" cy="276999"/>
                </a:xfrm>
                <a:prstGeom prst="rect">
                  <a:avLst/>
                </a:prstGeom>
                <a:blipFill>
                  <a:blip r:embed="rId9"/>
                  <a:stretch>
                    <a:fillRect l="-3093" t="-4444" r="-3351" b="-37778"/>
                  </a:stretch>
                </a:blipFill>
                <a:ln>
                  <a:no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D77A27E-EE00-589C-839F-3C10C6FA8605}"/>
                    </a:ext>
                  </a:extLst>
                </p:cNvPr>
                <p:cNvSpPr txBox="1"/>
                <p:nvPr/>
              </p:nvSpPr>
              <p:spPr>
                <a:xfrm>
                  <a:off x="3802066" y="3819461"/>
                  <a:ext cx="3752374" cy="27699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𝑙𝑒𝑎𝑑𝑡𝑖𝑚𝑒</m:t>
                        </m:r>
                        <m:r>
                          <a:rPr lang="en-US" b="0" i="1" noProof="0" smtClean="0">
                            <a:latin typeface="Cambria Math" panose="02040503050406030204" pitchFamily="18" charset="0"/>
                          </a:rPr>
                          <m:t>=</m:t>
                        </m:r>
                        <m:r>
                          <a:rPr lang="en-US" b="0" i="1" noProof="0" smtClean="0">
                            <a:latin typeface="Cambria Math" panose="02040503050406030204" pitchFamily="18" charset="0"/>
                          </a:rPr>
                          <m:t>𝑁</m:t>
                        </m:r>
                        <m:r>
                          <a:rPr lang="en-US" b="0" i="1" noProof="0" smtClean="0">
                            <a:latin typeface="Cambria Math" panose="02040503050406030204" pitchFamily="18" charset="0"/>
                          </a:rPr>
                          <m:t>(10+</m:t>
                        </m:r>
                        <m:r>
                          <a:rPr lang="en-US" b="0" i="1" noProof="0" smtClean="0">
                            <a:latin typeface="Cambria Math" panose="02040503050406030204" pitchFamily="18" charset="0"/>
                          </a:rPr>
                          <m:t>𝑡𝑒𝑐h𝑛𝑖𝑞𝑢𝑒</m:t>
                        </m:r>
                        <m:r>
                          <a:rPr lang="en-US" b="0" i="1" noProof="0" smtClean="0">
                            <a:latin typeface="Cambria Math" panose="02040503050406030204" pitchFamily="18" charset="0"/>
                          </a:rPr>
                          <m:t>∗5, 3)</m:t>
                        </m:r>
                      </m:oMath>
                    </m:oMathPara>
                  </a14:m>
                  <a:endParaRPr lang="en-US" noProof="0" dirty="0"/>
                </a:p>
              </p:txBody>
            </p:sp>
          </mc:Choice>
          <mc:Fallback xmlns="">
            <p:sp>
              <p:nvSpPr>
                <p:cNvPr id="29" name="TextBox 28">
                  <a:extLst>
                    <a:ext uri="{FF2B5EF4-FFF2-40B4-BE49-F238E27FC236}">
                      <a16:creationId xmlns:a16="http://schemas.microsoft.com/office/drawing/2014/main" id="{9D77A27E-EE00-589C-839F-3C10C6FA8605}"/>
                    </a:ext>
                  </a:extLst>
                </p:cNvPr>
                <p:cNvSpPr txBox="1">
                  <a:spLocks noRot="1" noChangeAspect="1" noMove="1" noResize="1" noEditPoints="1" noAdjustHandles="1" noChangeArrowheads="1" noChangeShapeType="1" noTextEdit="1"/>
                </p:cNvSpPr>
                <p:nvPr/>
              </p:nvSpPr>
              <p:spPr>
                <a:xfrm>
                  <a:off x="3802066" y="3819461"/>
                  <a:ext cx="3752374" cy="276999"/>
                </a:xfrm>
                <a:prstGeom prst="rect">
                  <a:avLst/>
                </a:prstGeom>
                <a:blipFill>
                  <a:blip r:embed="rId10"/>
                  <a:stretch>
                    <a:fillRect l="-1136" t="-2174" r="-1786" b="-32609"/>
                  </a:stretch>
                </a:blipFill>
                <a:ln>
                  <a:noFill/>
                </a:ln>
              </p:spPr>
              <p:txBody>
                <a:bodyPr/>
                <a:lstStyle/>
                <a:p>
                  <a:r>
                    <a:rPr lang="en-SE">
                      <a:noFill/>
                    </a:rPr>
                    <a:t> </a:t>
                  </a:r>
                </a:p>
              </p:txBody>
            </p:sp>
          </mc:Fallback>
        </mc:AlternateContent>
      </p:grpSp>
      <p:sp>
        <p:nvSpPr>
          <p:cNvPr id="31" name="Rectangle 30">
            <a:extLst>
              <a:ext uri="{FF2B5EF4-FFF2-40B4-BE49-F238E27FC236}">
                <a16:creationId xmlns:a16="http://schemas.microsoft.com/office/drawing/2014/main" id="{56872ABD-378A-D41B-EC41-C76401F417E7}"/>
              </a:ext>
            </a:extLst>
          </p:cNvPr>
          <p:cNvSpPr/>
          <p:nvPr/>
        </p:nvSpPr>
        <p:spPr>
          <a:xfrm>
            <a:off x="1930884" y="5819063"/>
            <a:ext cx="272750" cy="29291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2A2EC5AA-E1B9-8237-8C1F-007822009DF9}"/>
              </a:ext>
            </a:extLst>
          </p:cNvPr>
          <p:cNvSpPr/>
          <p:nvPr/>
        </p:nvSpPr>
        <p:spPr>
          <a:xfrm>
            <a:off x="2410622" y="5819063"/>
            <a:ext cx="1464285" cy="29291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589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7" grpId="0"/>
      <p:bldP spid="8" grpId="0"/>
      <p:bldP spid="9" grpId="0"/>
      <p:bldP spid="12" grpId="0"/>
      <p:bldP spid="13" grpId="0"/>
      <p:bldP spid="14" grpId="0"/>
      <p:bldP spid="15" grpId="0"/>
      <p:bldP spid="17" grpId="0"/>
      <p:bldP spid="19" grpId="0"/>
      <p:bldP spid="25" grpId="0"/>
      <p:bldP spid="30" grpId="0"/>
      <p:bldP spid="32" grpId="0" animBg="1"/>
      <p:bldP spid="36" grpId="0" animBg="1"/>
      <p:bldP spid="37" grpId="0"/>
      <p:bldP spid="43" grpId="0"/>
      <p:bldP spid="23" grpId="0" animBg="1"/>
      <p:bldP spid="24" grpId="0" animBg="1"/>
      <p:bldP spid="31" grpId="0" animBg="1"/>
      <p:bldP spid="3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01E6C-DB69-79F2-BCC0-98A63EA77A92}"/>
              </a:ext>
            </a:extLst>
          </p:cNvPr>
          <p:cNvSpPr>
            <a:spLocks noGrp="1"/>
          </p:cNvSpPr>
          <p:nvPr>
            <p:ph type="title"/>
          </p:nvPr>
        </p:nvSpPr>
        <p:spPr/>
        <p:txBody>
          <a:bodyPr/>
          <a:lstStyle/>
          <a:p>
            <a:r>
              <a:rPr lang="en-US" noProof="0" dirty="0"/>
              <a:t>From causal to statistical Models</a:t>
            </a:r>
          </a:p>
        </p:txBody>
      </p:sp>
      <p:sp>
        <p:nvSpPr>
          <p:cNvPr id="4" name="Date Placeholder 3">
            <a:extLst>
              <a:ext uri="{FF2B5EF4-FFF2-40B4-BE49-F238E27FC236}">
                <a16:creationId xmlns:a16="http://schemas.microsoft.com/office/drawing/2014/main" id="{AB3815D4-0A17-D099-17B5-A1DAFE5AFEEC}"/>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5116B80-EDE5-8EB8-F144-D105377FDA6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DCE5599A-9DCA-D75E-0D2F-B954B45DC1A5}"/>
              </a:ext>
            </a:extLst>
          </p:cNvPr>
          <p:cNvSpPr>
            <a:spLocks noGrp="1"/>
          </p:cNvSpPr>
          <p:nvPr>
            <p:ph type="sldNum" sz="quarter" idx="12"/>
          </p:nvPr>
        </p:nvSpPr>
        <p:spPr/>
        <p:txBody>
          <a:bodyPr/>
          <a:lstStyle/>
          <a:p>
            <a:fld id="{0FA2D919-C0DE-4971-A2E9-D4AC0031921B}" type="slidenum">
              <a:rPr lang="en-US" noProof="0" smtClean="0"/>
              <a:t>25</a:t>
            </a:fld>
            <a:endParaRPr lang="en-US" noProof="0" dirty="0"/>
          </a:p>
        </p:txBody>
      </p:sp>
      <p:grpSp>
        <p:nvGrpSpPr>
          <p:cNvPr id="7" name="Group 6">
            <a:extLst>
              <a:ext uri="{FF2B5EF4-FFF2-40B4-BE49-F238E27FC236}">
                <a16:creationId xmlns:a16="http://schemas.microsoft.com/office/drawing/2014/main" id="{7F444E6B-6AD5-190E-F0A3-4ABE77BA87B6}"/>
              </a:ext>
            </a:extLst>
          </p:cNvPr>
          <p:cNvGrpSpPr/>
          <p:nvPr/>
        </p:nvGrpSpPr>
        <p:grpSpPr>
          <a:xfrm>
            <a:off x="2172921" y="1867941"/>
            <a:ext cx="2403652" cy="2101852"/>
            <a:chOff x="4894174" y="3429000"/>
            <a:chExt cx="2403652" cy="2101852"/>
          </a:xfrm>
        </p:grpSpPr>
        <p:grpSp>
          <p:nvGrpSpPr>
            <p:cNvPr id="8" name="Group 7">
              <a:extLst>
                <a:ext uri="{FF2B5EF4-FFF2-40B4-BE49-F238E27FC236}">
                  <a16:creationId xmlns:a16="http://schemas.microsoft.com/office/drawing/2014/main" id="{B0E3F7A8-1110-A6B5-1520-EB9823574F07}"/>
                </a:ext>
              </a:extLst>
            </p:cNvPr>
            <p:cNvGrpSpPr/>
            <p:nvPr/>
          </p:nvGrpSpPr>
          <p:grpSpPr>
            <a:xfrm>
              <a:off x="5556000" y="3429000"/>
              <a:ext cx="1080000" cy="1080000"/>
              <a:chOff x="3313786" y="3686861"/>
              <a:chExt cx="1080000" cy="1080000"/>
            </a:xfrm>
          </p:grpSpPr>
          <p:sp>
            <p:nvSpPr>
              <p:cNvPr id="10" name="Oval 9">
                <a:extLst>
                  <a:ext uri="{FF2B5EF4-FFF2-40B4-BE49-F238E27FC236}">
                    <a16:creationId xmlns:a16="http://schemas.microsoft.com/office/drawing/2014/main" id="{C9D6EADA-F8B8-51A2-9945-E7C105BDDCD4}"/>
                  </a:ext>
                </a:extLst>
              </p:cNvPr>
              <p:cNvSpPr/>
              <p:nvPr/>
            </p:nvSpPr>
            <p:spPr>
              <a:xfrm>
                <a:off x="3313786" y="368686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outline">
                <a:extLst>
                  <a:ext uri="{FF2B5EF4-FFF2-40B4-BE49-F238E27FC236}">
                    <a16:creationId xmlns:a16="http://schemas.microsoft.com/office/drawing/2014/main" id="{978F24F6-E696-35BA-74BC-70F20AA1318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sp>
          <p:nvSpPr>
            <p:cNvPr id="9" name="TextBox 8">
              <a:extLst>
                <a:ext uri="{FF2B5EF4-FFF2-40B4-BE49-F238E27FC236}">
                  <a16:creationId xmlns:a16="http://schemas.microsoft.com/office/drawing/2014/main" id="{C44D61C7-CF10-E326-43D1-2B05F1F11DEB}"/>
                </a:ext>
              </a:extLst>
            </p:cNvPr>
            <p:cNvSpPr txBox="1"/>
            <p:nvPr/>
          </p:nvSpPr>
          <p:spPr>
            <a:xfrm>
              <a:off x="4894174" y="4669078"/>
              <a:ext cx="2403652" cy="861774"/>
            </a:xfrm>
            <a:prstGeom prst="rect">
              <a:avLst/>
            </a:prstGeom>
            <a:noFill/>
          </p:spPr>
          <p:txBody>
            <a:bodyPr wrap="square" rtlCol="0">
              <a:spAutoFit/>
            </a:bodyPr>
            <a:lstStyle/>
            <a:p>
              <a:pPr algn="ctr"/>
              <a:r>
                <a:rPr lang="en-US" b="1" noProof="0" dirty="0"/>
                <a:t>Causal Models</a:t>
              </a:r>
            </a:p>
            <a:p>
              <a:pPr algn="ctr"/>
              <a:r>
                <a:rPr lang="en-US" sz="1600" noProof="0" dirty="0"/>
                <a:t>encode causal assumptions</a:t>
              </a:r>
            </a:p>
          </p:txBody>
        </p:sp>
      </p:grpSp>
      <p:grpSp>
        <p:nvGrpSpPr>
          <p:cNvPr id="12" name="Group 11">
            <a:extLst>
              <a:ext uri="{FF2B5EF4-FFF2-40B4-BE49-F238E27FC236}">
                <a16:creationId xmlns:a16="http://schemas.microsoft.com/office/drawing/2014/main" id="{57C971CA-77EA-05EA-C246-CB6706DCC793}"/>
              </a:ext>
            </a:extLst>
          </p:cNvPr>
          <p:cNvGrpSpPr/>
          <p:nvPr/>
        </p:nvGrpSpPr>
        <p:grpSpPr>
          <a:xfrm>
            <a:off x="7615429" y="1867941"/>
            <a:ext cx="2403652" cy="1855631"/>
            <a:chOff x="4894174" y="3429000"/>
            <a:chExt cx="2403652" cy="1855631"/>
          </a:xfrm>
        </p:grpSpPr>
        <p:grpSp>
          <p:nvGrpSpPr>
            <p:cNvPr id="13" name="Group 12">
              <a:extLst>
                <a:ext uri="{FF2B5EF4-FFF2-40B4-BE49-F238E27FC236}">
                  <a16:creationId xmlns:a16="http://schemas.microsoft.com/office/drawing/2014/main" id="{68E0E01F-780C-745E-FFFC-0F53D48AC533}"/>
                </a:ext>
              </a:extLst>
            </p:cNvPr>
            <p:cNvGrpSpPr/>
            <p:nvPr/>
          </p:nvGrpSpPr>
          <p:grpSpPr>
            <a:xfrm>
              <a:off x="5556000" y="3429000"/>
              <a:ext cx="1080000" cy="1080000"/>
              <a:chOff x="3313786" y="3686861"/>
              <a:chExt cx="1080000" cy="1080000"/>
            </a:xfrm>
          </p:grpSpPr>
          <p:sp>
            <p:nvSpPr>
              <p:cNvPr id="15" name="Oval 14">
                <a:extLst>
                  <a:ext uri="{FF2B5EF4-FFF2-40B4-BE49-F238E27FC236}">
                    <a16:creationId xmlns:a16="http://schemas.microsoft.com/office/drawing/2014/main" id="{825B8492-CAFB-0FF3-7D08-3718728BBBDF}"/>
                  </a:ext>
                </a:extLst>
              </p:cNvPr>
              <p:cNvSpPr/>
              <p:nvPr/>
            </p:nvSpPr>
            <p:spPr>
              <a:xfrm>
                <a:off x="3313786" y="3686861"/>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6" name="Graphic 15" descr="Normal Distribution with solid fill">
                <a:extLst>
                  <a:ext uri="{FF2B5EF4-FFF2-40B4-BE49-F238E27FC236}">
                    <a16:creationId xmlns:a16="http://schemas.microsoft.com/office/drawing/2014/main" id="{625CD9FA-5041-BD7E-C29F-1B2D72D060F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14" name="TextBox 13">
              <a:extLst>
                <a:ext uri="{FF2B5EF4-FFF2-40B4-BE49-F238E27FC236}">
                  <a16:creationId xmlns:a16="http://schemas.microsoft.com/office/drawing/2014/main" id="{53D6B8C1-5349-519F-CCC7-6E88F37743A7}"/>
                </a:ext>
              </a:extLst>
            </p:cNvPr>
            <p:cNvSpPr txBox="1"/>
            <p:nvPr/>
          </p:nvSpPr>
          <p:spPr>
            <a:xfrm>
              <a:off x="4894174" y="4669078"/>
              <a:ext cx="2403652" cy="615553"/>
            </a:xfrm>
            <a:prstGeom prst="rect">
              <a:avLst/>
            </a:prstGeom>
            <a:noFill/>
          </p:spPr>
          <p:txBody>
            <a:bodyPr wrap="square" rtlCol="0">
              <a:spAutoFit/>
            </a:bodyPr>
            <a:lstStyle/>
            <a:p>
              <a:pPr algn="ctr"/>
              <a:r>
                <a:rPr lang="en-US" b="1" noProof="0" dirty="0"/>
                <a:t>Statistical Models</a:t>
              </a:r>
            </a:p>
            <a:p>
              <a:pPr algn="ctr"/>
              <a:r>
                <a:rPr lang="en-US" sz="1600" noProof="0" dirty="0"/>
                <a:t>implement inference</a:t>
              </a:r>
            </a:p>
          </p:txBody>
        </p:sp>
      </p:grpSp>
      <p:cxnSp>
        <p:nvCxnSpPr>
          <p:cNvPr id="19" name="Straight Arrow Connector 18">
            <a:extLst>
              <a:ext uri="{FF2B5EF4-FFF2-40B4-BE49-F238E27FC236}">
                <a16:creationId xmlns:a16="http://schemas.microsoft.com/office/drawing/2014/main" id="{19AA6CDE-52A1-873F-B735-6FF438A50346}"/>
              </a:ext>
            </a:extLst>
          </p:cNvPr>
          <p:cNvCxnSpPr>
            <a:stCxn id="10" idx="6"/>
            <a:endCxn id="15" idx="2"/>
          </p:cNvCxnSpPr>
          <p:nvPr/>
        </p:nvCxnSpPr>
        <p:spPr>
          <a:xfrm>
            <a:off x="3914747" y="2407941"/>
            <a:ext cx="43625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 name="Group 2">
            <a:extLst>
              <a:ext uri="{FF2B5EF4-FFF2-40B4-BE49-F238E27FC236}">
                <a16:creationId xmlns:a16="http://schemas.microsoft.com/office/drawing/2014/main" id="{46FD86B2-E58F-E49F-8A65-B71111E4148D}"/>
              </a:ext>
            </a:extLst>
          </p:cNvPr>
          <p:cNvGrpSpPr/>
          <p:nvPr/>
        </p:nvGrpSpPr>
        <p:grpSpPr>
          <a:xfrm>
            <a:off x="316121" y="4039814"/>
            <a:ext cx="5692291" cy="2000295"/>
            <a:chOff x="316121" y="4039814"/>
            <a:chExt cx="5692291" cy="2000295"/>
          </a:xfrm>
        </p:grpSpPr>
        <p:sp>
          <p:nvSpPr>
            <p:cNvPr id="21" name="Oval 20">
              <a:extLst>
                <a:ext uri="{FF2B5EF4-FFF2-40B4-BE49-F238E27FC236}">
                  <a16:creationId xmlns:a16="http://schemas.microsoft.com/office/drawing/2014/main" id="{94811742-3410-8112-6CA3-0E8582496FC5}"/>
                </a:ext>
              </a:extLst>
            </p:cNvPr>
            <p:cNvSpPr/>
            <p:nvPr/>
          </p:nvSpPr>
          <p:spPr>
            <a:xfrm>
              <a:off x="1812921" y="449914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C7F19415-1038-E0F4-A215-50A39F91CEE5}"/>
                </a:ext>
              </a:extLst>
            </p:cNvPr>
            <p:cNvSpPr/>
            <p:nvPr/>
          </p:nvSpPr>
          <p:spPr>
            <a:xfrm>
              <a:off x="4304301" y="449914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Arrow Connector 22">
              <a:extLst>
                <a:ext uri="{FF2B5EF4-FFF2-40B4-BE49-F238E27FC236}">
                  <a16:creationId xmlns:a16="http://schemas.microsoft.com/office/drawing/2014/main" id="{102AB235-259E-84B1-F6D2-27BFCDE4552F}"/>
                </a:ext>
              </a:extLst>
            </p:cNvPr>
            <p:cNvCxnSpPr>
              <a:stCxn id="21" idx="6"/>
              <a:endCxn id="22" idx="2"/>
            </p:cNvCxnSpPr>
            <p:nvPr/>
          </p:nvCxnSpPr>
          <p:spPr>
            <a:xfrm>
              <a:off x="2172921" y="467914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5CAEF065-6FA7-EC17-EC5E-1D35BCC4060E}"/>
                </a:ext>
              </a:extLst>
            </p:cNvPr>
            <p:cNvSpPr txBox="1"/>
            <p:nvPr/>
          </p:nvSpPr>
          <p:spPr>
            <a:xfrm>
              <a:off x="632018" y="4039814"/>
              <a:ext cx="3081806" cy="369332"/>
            </a:xfrm>
            <a:prstGeom prst="rect">
              <a:avLst/>
            </a:prstGeom>
            <a:noFill/>
          </p:spPr>
          <p:txBody>
            <a:bodyPr wrap="none" rtlCol="0">
              <a:spAutoFit/>
            </a:bodyPr>
            <a:lstStyle/>
            <a:p>
              <a:r>
                <a:rPr lang="en-US" noProof="0" dirty="0">
                  <a:solidFill>
                    <a:srgbClr val="D0180A"/>
                  </a:solidFill>
                </a:rPr>
                <a:t>document reading technique</a:t>
              </a:r>
            </a:p>
          </p:txBody>
        </p:sp>
        <p:sp>
          <p:nvSpPr>
            <p:cNvPr id="25" name="TextBox 24">
              <a:extLst>
                <a:ext uri="{FF2B5EF4-FFF2-40B4-BE49-F238E27FC236}">
                  <a16:creationId xmlns:a16="http://schemas.microsoft.com/office/drawing/2014/main" id="{F2F63646-3FB7-DC6D-3CDE-5F3C0D5EE13B}"/>
                </a:ext>
              </a:extLst>
            </p:cNvPr>
            <p:cNvSpPr txBox="1"/>
            <p:nvPr/>
          </p:nvSpPr>
          <p:spPr>
            <a:xfrm>
              <a:off x="4086732" y="4934668"/>
              <a:ext cx="1921680" cy="369332"/>
            </a:xfrm>
            <a:prstGeom prst="rect">
              <a:avLst/>
            </a:prstGeom>
            <a:noFill/>
          </p:spPr>
          <p:txBody>
            <a:bodyPr wrap="none" rtlCol="0">
              <a:spAutoFit/>
            </a:bodyPr>
            <a:lstStyle/>
            <a:p>
              <a:r>
                <a:rPr lang="en-US" noProof="0" dirty="0">
                  <a:solidFill>
                    <a:srgbClr val="006D70"/>
                  </a:solidFill>
                </a:rPr>
                <a:t>identified defects</a:t>
              </a:r>
            </a:p>
          </p:txBody>
        </p:sp>
        <p:sp>
          <p:nvSpPr>
            <p:cNvPr id="26" name="Oval 25">
              <a:extLst>
                <a:ext uri="{FF2B5EF4-FFF2-40B4-BE49-F238E27FC236}">
                  <a16:creationId xmlns:a16="http://schemas.microsoft.com/office/drawing/2014/main" id="{4448D07C-317D-5F1E-0A5E-3AFC589E6250}"/>
                </a:ext>
              </a:extLst>
            </p:cNvPr>
            <p:cNvSpPr/>
            <p:nvPr/>
          </p:nvSpPr>
          <p:spPr>
            <a:xfrm>
              <a:off x="1812921" y="56707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6D1426F0-31D4-3C94-68D9-0543F3296862}"/>
                </a:ext>
              </a:extLst>
            </p:cNvPr>
            <p:cNvSpPr/>
            <p:nvPr/>
          </p:nvSpPr>
          <p:spPr>
            <a:xfrm>
              <a:off x="3185515" y="56707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80086F43-B032-6564-B084-A87AE0D44A17}"/>
                </a:ext>
              </a:extLst>
            </p:cNvPr>
            <p:cNvSpPr txBox="1"/>
            <p:nvPr/>
          </p:nvSpPr>
          <p:spPr>
            <a:xfrm>
              <a:off x="3545515" y="5661445"/>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29" name="TextBox 28">
              <a:extLst>
                <a:ext uri="{FF2B5EF4-FFF2-40B4-BE49-F238E27FC236}">
                  <a16:creationId xmlns:a16="http://schemas.microsoft.com/office/drawing/2014/main" id="{59607565-AE5B-2505-A1CD-5D249873E495}"/>
                </a:ext>
              </a:extLst>
            </p:cNvPr>
            <p:cNvSpPr txBox="1"/>
            <p:nvPr/>
          </p:nvSpPr>
          <p:spPr>
            <a:xfrm>
              <a:off x="316121" y="5670777"/>
              <a:ext cx="1455398" cy="369332"/>
            </a:xfrm>
            <a:prstGeom prst="rect">
              <a:avLst/>
            </a:prstGeom>
            <a:noFill/>
          </p:spPr>
          <p:txBody>
            <a:bodyPr wrap="none" rtlCol="0">
              <a:spAutoFit/>
            </a:bodyPr>
            <a:lstStyle/>
            <a:p>
              <a:pPr algn="r"/>
              <a:r>
                <a:rPr lang="en-US" noProof="0" dirty="0">
                  <a:solidFill>
                    <a:schemeClr val="tx1">
                      <a:lumMod val="65000"/>
                      <a:lumOff val="35000"/>
                    </a:schemeClr>
                  </a:solidFill>
                </a:rPr>
                <a:t>participation</a:t>
              </a:r>
            </a:p>
          </p:txBody>
        </p:sp>
        <p:cxnSp>
          <p:nvCxnSpPr>
            <p:cNvPr id="30" name="Straight Arrow Connector 29">
              <a:extLst>
                <a:ext uri="{FF2B5EF4-FFF2-40B4-BE49-F238E27FC236}">
                  <a16:creationId xmlns:a16="http://schemas.microsoft.com/office/drawing/2014/main" id="{C07BD9B3-46E9-5405-9380-7CAB8DC4D518}"/>
                </a:ext>
              </a:extLst>
            </p:cNvPr>
            <p:cNvCxnSpPr>
              <a:cxnSpLocks/>
              <a:stCxn id="27" idx="7"/>
              <a:endCxn id="22" idx="3"/>
            </p:cNvCxnSpPr>
            <p:nvPr/>
          </p:nvCxnSpPr>
          <p:spPr>
            <a:xfrm flipV="1">
              <a:off x="3492794" y="4806425"/>
              <a:ext cx="864228"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C94FD167-E5AC-C132-1751-1CA44F7A6E17}"/>
                </a:ext>
              </a:extLst>
            </p:cNvPr>
            <p:cNvCxnSpPr>
              <a:cxnSpLocks/>
              <a:stCxn id="27" idx="2"/>
              <a:endCxn id="26" idx="6"/>
            </p:cNvCxnSpPr>
            <p:nvPr/>
          </p:nvCxnSpPr>
          <p:spPr>
            <a:xfrm flipH="1">
              <a:off x="2172921" y="5850777"/>
              <a:ext cx="10125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92354A57-8B0F-411F-C7B1-55A0B36C6E4A}"/>
                </a:ext>
              </a:extLst>
            </p:cNvPr>
            <p:cNvCxnSpPr>
              <a:cxnSpLocks/>
              <a:stCxn id="26" idx="0"/>
              <a:endCxn id="21" idx="4"/>
            </p:cNvCxnSpPr>
            <p:nvPr/>
          </p:nvCxnSpPr>
          <p:spPr>
            <a:xfrm flipV="1">
              <a:off x="1992921" y="4859146"/>
              <a:ext cx="0" cy="8116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E9025977-7796-BB93-A5E7-4B9A527E2FA0}"/>
                </a:ext>
              </a:extLst>
            </p:cNvPr>
            <p:cNvCxnSpPr>
              <a:cxnSpLocks/>
              <a:stCxn id="27" idx="1"/>
              <a:endCxn id="21" idx="5"/>
            </p:cNvCxnSpPr>
            <p:nvPr/>
          </p:nvCxnSpPr>
          <p:spPr>
            <a:xfrm flipH="1" flipV="1">
              <a:off x="2120200" y="4806425"/>
              <a:ext cx="1118036"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4C460D4-C1AE-2C3A-71B4-9ECEEAC625CF}"/>
                  </a:ext>
                </a:extLst>
              </p:cNvPr>
              <p:cNvSpPr txBox="1"/>
              <p:nvPr/>
            </p:nvSpPr>
            <p:spPr>
              <a:xfrm>
                <a:off x="7009708" y="4676517"/>
                <a:ext cx="35708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solidFill>
                            <a:srgbClr val="006D70"/>
                          </a:solidFill>
                          <a:latin typeface="Cambria Math" panose="02040503050406030204" pitchFamily="18" charset="0"/>
                        </a:rPr>
                        <m:t>𝑑𝑒𝑓𝑒𝑐𝑡𝑠</m:t>
                      </m:r>
                      <m:r>
                        <a:rPr lang="en-US" b="0" i="1" noProof="0" smtClean="0">
                          <a:latin typeface="Cambria Math" panose="02040503050406030204" pitchFamily="18" charset="0"/>
                        </a:rPr>
                        <m:t> ~ </m:t>
                      </m:r>
                      <m:r>
                        <a:rPr lang="en-US" b="0" i="1" noProof="0" smtClean="0">
                          <a:solidFill>
                            <a:srgbClr val="D0180A"/>
                          </a:solidFill>
                          <a:latin typeface="Cambria Math" panose="02040503050406030204" pitchFamily="18" charset="0"/>
                        </a:rPr>
                        <m:t>𝑡𝑒𝑐h𝑛𝑖𝑞𝑢𝑒</m:t>
                      </m:r>
                      <m:r>
                        <a:rPr lang="en-US" b="0" i="1" noProof="0" smtClean="0">
                          <a:latin typeface="Cambria Math" panose="02040503050406030204" pitchFamily="18" charset="0"/>
                        </a:rPr>
                        <m:t>+</m:t>
                      </m:r>
                      <m:r>
                        <a:rPr lang="en-US" b="0" i="1" noProof="0" smtClean="0">
                          <a:solidFill>
                            <a:schemeClr val="tx1">
                              <a:lumMod val="65000"/>
                              <a:lumOff val="35000"/>
                            </a:schemeClr>
                          </a:solidFill>
                          <a:latin typeface="Cambria Math" panose="02040503050406030204" pitchFamily="18" charset="0"/>
                        </a:rPr>
                        <m:t>𝑚𝑜𝑡𝑖𝑣𝑎𝑡𝑖𝑜𝑛</m:t>
                      </m:r>
                    </m:oMath>
                  </m:oMathPara>
                </a14:m>
                <a:endParaRPr lang="en-US" noProof="0" dirty="0"/>
              </a:p>
            </p:txBody>
          </p:sp>
        </mc:Choice>
        <mc:Fallback xmlns="">
          <p:sp>
            <p:nvSpPr>
              <p:cNvPr id="34" name="TextBox 33">
                <a:extLst>
                  <a:ext uri="{FF2B5EF4-FFF2-40B4-BE49-F238E27FC236}">
                    <a16:creationId xmlns:a16="http://schemas.microsoft.com/office/drawing/2014/main" id="{B4C460D4-C1AE-2C3A-71B4-9ECEEAC625CF}"/>
                  </a:ext>
                </a:extLst>
              </p:cNvPr>
              <p:cNvSpPr txBox="1">
                <a:spLocks noRot="1" noChangeAspect="1" noMove="1" noResize="1" noEditPoints="1" noAdjustHandles="1" noChangeArrowheads="1" noChangeShapeType="1" noTextEdit="1"/>
              </p:cNvSpPr>
              <p:nvPr/>
            </p:nvSpPr>
            <p:spPr>
              <a:xfrm>
                <a:off x="7009708" y="4676517"/>
                <a:ext cx="3570849" cy="276999"/>
              </a:xfrm>
              <a:prstGeom prst="rect">
                <a:avLst/>
              </a:prstGeom>
              <a:blipFill>
                <a:blip r:embed="rId7"/>
                <a:stretch>
                  <a:fillRect l="-1877" t="-2174" r="-1195" b="-32609"/>
                </a:stretch>
              </a:blipFill>
            </p:spPr>
            <p:txBody>
              <a:bodyPr/>
              <a:lstStyle/>
              <a:p>
                <a:r>
                  <a:rPr lang="en-SE">
                    <a:noFill/>
                  </a:rPr>
                  <a:t> </a:t>
                </a:r>
              </a:p>
            </p:txBody>
          </p:sp>
        </mc:Fallback>
      </mc:AlternateContent>
      <p:cxnSp>
        <p:nvCxnSpPr>
          <p:cNvPr id="35" name="Straight Arrow Connector 34">
            <a:extLst>
              <a:ext uri="{FF2B5EF4-FFF2-40B4-BE49-F238E27FC236}">
                <a16:creationId xmlns:a16="http://schemas.microsoft.com/office/drawing/2014/main" id="{04A963CB-FAE6-0012-8B13-FDF3696AF69E}"/>
              </a:ext>
            </a:extLst>
          </p:cNvPr>
          <p:cNvCxnSpPr>
            <a:cxnSpLocks/>
          </p:cNvCxnSpPr>
          <p:nvPr/>
        </p:nvCxnSpPr>
        <p:spPr>
          <a:xfrm>
            <a:off x="6073878" y="4815016"/>
            <a:ext cx="814226" cy="0"/>
          </a:xfrm>
          <a:prstGeom prst="straightConnector1">
            <a:avLst/>
          </a:prstGeom>
          <a:ln>
            <a:prstDash val="sysDash"/>
            <a:tailEnd type="triangle"/>
          </a:ln>
        </p:spPr>
        <p:style>
          <a:lnRef idx="2">
            <a:schemeClr val="dk1"/>
          </a:lnRef>
          <a:fillRef idx="0">
            <a:schemeClr val="dk1"/>
          </a:fillRef>
          <a:effectRef idx="1">
            <a:schemeClr val="dk1"/>
          </a:effectRef>
          <a:fontRef idx="minor">
            <a:schemeClr val="tx1"/>
          </a:fontRef>
        </p:style>
      </p:cxnSp>
      <p:grpSp>
        <p:nvGrpSpPr>
          <p:cNvPr id="37" name="Group 36">
            <a:extLst>
              <a:ext uri="{FF2B5EF4-FFF2-40B4-BE49-F238E27FC236}">
                <a16:creationId xmlns:a16="http://schemas.microsoft.com/office/drawing/2014/main" id="{55DE7511-68FF-08AF-FC65-DFC2E9C21AE4}"/>
              </a:ext>
            </a:extLst>
          </p:cNvPr>
          <p:cNvGrpSpPr/>
          <p:nvPr/>
        </p:nvGrpSpPr>
        <p:grpSpPr>
          <a:xfrm>
            <a:off x="5777612" y="5372813"/>
            <a:ext cx="6035039" cy="946595"/>
            <a:chOff x="775411" y="5230368"/>
            <a:chExt cx="6035039" cy="946595"/>
          </a:xfrm>
        </p:grpSpPr>
        <p:sp>
          <p:nvSpPr>
            <p:cNvPr id="38" name="Rectangle: Rounded Corners 37">
              <a:extLst>
                <a:ext uri="{FF2B5EF4-FFF2-40B4-BE49-F238E27FC236}">
                  <a16:creationId xmlns:a16="http://schemas.microsoft.com/office/drawing/2014/main" id="{FC46A58F-24C6-050E-7F02-C91E04B8A596}"/>
                </a:ext>
              </a:extLst>
            </p:cNvPr>
            <p:cNvSpPr/>
            <p:nvPr/>
          </p:nvSpPr>
          <p:spPr>
            <a:xfrm>
              <a:off x="775411" y="5230368"/>
              <a:ext cx="603503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How to derive statistical from causal models is core to statistical causal inference.</a:t>
              </a:r>
              <a:endParaRPr lang="en-US" baseline="30000" noProof="0" dirty="0"/>
            </a:p>
          </p:txBody>
        </p:sp>
        <p:pic>
          <p:nvPicPr>
            <p:cNvPr id="39" name="Graphic 38" descr="Open quotation mark with solid fill">
              <a:extLst>
                <a:ext uri="{FF2B5EF4-FFF2-40B4-BE49-F238E27FC236}">
                  <a16:creationId xmlns:a16="http://schemas.microsoft.com/office/drawing/2014/main" id="{31C98198-7489-4782-D3E9-1347316995C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0800000">
              <a:off x="775412" y="5343665"/>
              <a:ext cx="720000" cy="720000"/>
            </a:xfrm>
            <a:prstGeom prst="rect">
              <a:avLst/>
            </a:prstGeom>
          </p:spPr>
        </p:pic>
      </p:grpSp>
      <p:grpSp>
        <p:nvGrpSpPr>
          <p:cNvPr id="36" name="Group 35">
            <a:extLst>
              <a:ext uri="{FF2B5EF4-FFF2-40B4-BE49-F238E27FC236}">
                <a16:creationId xmlns:a16="http://schemas.microsoft.com/office/drawing/2014/main" id="{8BF89624-6BA3-9C63-E436-3CDAC92229FB}"/>
              </a:ext>
            </a:extLst>
          </p:cNvPr>
          <p:cNvGrpSpPr/>
          <p:nvPr/>
        </p:nvGrpSpPr>
        <p:grpSpPr>
          <a:xfrm>
            <a:off x="4726767" y="1893985"/>
            <a:ext cx="2563289" cy="432000"/>
            <a:chOff x="4604412" y="1893985"/>
            <a:chExt cx="2563289" cy="432000"/>
          </a:xfrm>
        </p:grpSpPr>
        <p:sp>
          <p:nvSpPr>
            <p:cNvPr id="17" name="Arrow: Pentagon 16">
              <a:extLst>
                <a:ext uri="{FF2B5EF4-FFF2-40B4-BE49-F238E27FC236}">
                  <a16:creationId xmlns:a16="http://schemas.microsoft.com/office/drawing/2014/main" id="{D61CDB5E-67C6-DBB5-699D-BB5043CFA7B9}"/>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20" name="Graphic 19" descr="Connections with solid fill">
              <a:extLst>
                <a:ext uri="{FF2B5EF4-FFF2-40B4-BE49-F238E27FC236}">
                  <a16:creationId xmlns:a16="http://schemas.microsoft.com/office/drawing/2014/main" id="{D25E7E32-25A5-523A-409C-CCAF4DBC13C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64301" y="1929985"/>
              <a:ext cx="360000" cy="360000"/>
            </a:xfrm>
            <a:prstGeom prst="rect">
              <a:avLst/>
            </a:prstGeom>
          </p:spPr>
        </p:pic>
      </p:grpSp>
    </p:spTree>
    <p:extLst>
      <p:ext uri="{BB962C8B-B14F-4D97-AF65-F5344CB8AC3E}">
        <p14:creationId xmlns:p14="http://schemas.microsoft.com/office/powerpoint/2010/main" val="234845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anim calcmode="lin" valueType="num">
                                      <p:cBhvr>
                                        <p:cTn id="32" dur="500" fill="hold"/>
                                        <p:tgtEl>
                                          <p:spTgt spid="37"/>
                                        </p:tgtEl>
                                        <p:attrNameLst>
                                          <p:attrName>ppt_x</p:attrName>
                                        </p:attrNameLst>
                                      </p:cBhvr>
                                      <p:tavLst>
                                        <p:tav tm="0">
                                          <p:val>
                                            <p:strVal val="#ppt_x"/>
                                          </p:val>
                                        </p:tav>
                                        <p:tav tm="100000">
                                          <p:val>
                                            <p:strVal val="#ppt_x"/>
                                          </p:val>
                                        </p:tav>
                                      </p:tavLst>
                                    </p:anim>
                                    <p:anim calcmode="lin" valueType="num">
                                      <p:cBhvr>
                                        <p:cTn id="33" dur="5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D58CB-A780-89E8-DCCF-ADC3FBC33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88909-124D-7C45-A8E0-7C4A4342D4ED}"/>
              </a:ext>
            </a:extLst>
          </p:cNvPr>
          <p:cNvSpPr>
            <a:spLocks noGrp="1"/>
          </p:cNvSpPr>
          <p:nvPr>
            <p:ph type="title"/>
          </p:nvPr>
        </p:nvSpPr>
        <p:spPr/>
        <p:txBody>
          <a:bodyPr/>
          <a:lstStyle/>
          <a:p>
            <a:r>
              <a:rPr lang="en-US" noProof="0" dirty="0"/>
              <a:t>Pedagogy of this Tutorial</a:t>
            </a:r>
          </a:p>
        </p:txBody>
      </p:sp>
      <p:sp>
        <p:nvSpPr>
          <p:cNvPr id="4" name="Date Placeholder 3">
            <a:extLst>
              <a:ext uri="{FF2B5EF4-FFF2-40B4-BE49-F238E27FC236}">
                <a16:creationId xmlns:a16="http://schemas.microsoft.com/office/drawing/2014/main" id="{ABB4F0C5-1D31-4330-28DA-E36ECC2217F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FEB2CC10-2DAB-D9EF-CB25-8EF0558682A2}"/>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FF48E2A-495F-70EB-120A-1AA32DB12EEA}"/>
              </a:ext>
            </a:extLst>
          </p:cNvPr>
          <p:cNvSpPr>
            <a:spLocks noGrp="1"/>
          </p:cNvSpPr>
          <p:nvPr>
            <p:ph type="sldNum" sz="quarter" idx="12"/>
          </p:nvPr>
        </p:nvSpPr>
        <p:spPr/>
        <p:txBody>
          <a:bodyPr/>
          <a:lstStyle/>
          <a:p>
            <a:fld id="{0FA2D919-C0DE-4971-A2E9-D4AC0031921B}" type="slidenum">
              <a:rPr lang="en-US" noProof="0" smtClean="0"/>
              <a:t>26</a:t>
            </a:fld>
            <a:endParaRPr lang="en-US" noProof="0" dirty="0"/>
          </a:p>
        </p:txBody>
      </p:sp>
      <p:grpSp>
        <p:nvGrpSpPr>
          <p:cNvPr id="7" name="Group 6">
            <a:extLst>
              <a:ext uri="{FF2B5EF4-FFF2-40B4-BE49-F238E27FC236}">
                <a16:creationId xmlns:a16="http://schemas.microsoft.com/office/drawing/2014/main" id="{13D9CA2F-4E7A-A6B6-4F4D-9175542D6B35}"/>
              </a:ext>
            </a:extLst>
          </p:cNvPr>
          <p:cNvGrpSpPr/>
          <p:nvPr/>
        </p:nvGrpSpPr>
        <p:grpSpPr>
          <a:xfrm>
            <a:off x="838200" y="1660056"/>
            <a:ext cx="2403652" cy="1978742"/>
            <a:chOff x="4894174" y="3429000"/>
            <a:chExt cx="2403652" cy="1978742"/>
          </a:xfrm>
        </p:grpSpPr>
        <p:grpSp>
          <p:nvGrpSpPr>
            <p:cNvPr id="8" name="Group 7">
              <a:extLst>
                <a:ext uri="{FF2B5EF4-FFF2-40B4-BE49-F238E27FC236}">
                  <a16:creationId xmlns:a16="http://schemas.microsoft.com/office/drawing/2014/main" id="{02B170B1-3870-4174-0D65-8D8356318C9F}"/>
                </a:ext>
              </a:extLst>
            </p:cNvPr>
            <p:cNvGrpSpPr/>
            <p:nvPr/>
          </p:nvGrpSpPr>
          <p:grpSpPr>
            <a:xfrm>
              <a:off x="5556000" y="3429000"/>
              <a:ext cx="1080000" cy="1080000"/>
              <a:chOff x="3313786" y="3686861"/>
              <a:chExt cx="1080000" cy="1080000"/>
            </a:xfrm>
          </p:grpSpPr>
          <p:sp>
            <p:nvSpPr>
              <p:cNvPr id="10" name="Oval 9">
                <a:extLst>
                  <a:ext uri="{FF2B5EF4-FFF2-40B4-BE49-F238E27FC236}">
                    <a16:creationId xmlns:a16="http://schemas.microsoft.com/office/drawing/2014/main" id="{05DCA016-C38D-5C9C-ED9C-B752C1EC6756}"/>
                  </a:ext>
                </a:extLst>
              </p:cNvPr>
              <p:cNvSpPr/>
              <p:nvPr/>
            </p:nvSpPr>
            <p:spPr>
              <a:xfrm>
                <a:off x="3313786" y="3686861"/>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with solid fill">
                <a:extLst>
                  <a:ext uri="{FF2B5EF4-FFF2-40B4-BE49-F238E27FC236}">
                    <a16:creationId xmlns:a16="http://schemas.microsoft.com/office/drawing/2014/main" id="{1BC78678-57EC-6F5E-1F5A-D5CFC5EBB4B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sp>
          <p:nvSpPr>
            <p:cNvPr id="9" name="TextBox 8">
              <a:extLst>
                <a:ext uri="{FF2B5EF4-FFF2-40B4-BE49-F238E27FC236}">
                  <a16:creationId xmlns:a16="http://schemas.microsoft.com/office/drawing/2014/main" id="{FA10380D-9A90-CC4E-67FB-505B8D4EBB78}"/>
                </a:ext>
              </a:extLst>
            </p:cNvPr>
            <p:cNvSpPr txBox="1"/>
            <p:nvPr/>
          </p:nvSpPr>
          <p:spPr>
            <a:xfrm>
              <a:off x="4894174" y="4669078"/>
              <a:ext cx="2403652" cy="738664"/>
            </a:xfrm>
            <a:prstGeom prst="rect">
              <a:avLst/>
            </a:prstGeom>
            <a:noFill/>
          </p:spPr>
          <p:txBody>
            <a:bodyPr wrap="square" rtlCol="0">
              <a:spAutoFit/>
            </a:bodyPr>
            <a:lstStyle/>
            <a:p>
              <a:pPr algn="ctr"/>
              <a:r>
                <a:rPr lang="en-US" b="1" noProof="0" dirty="0"/>
                <a:t>1. Ground Truth</a:t>
              </a:r>
            </a:p>
            <a:p>
              <a:pPr algn="ctr"/>
              <a:r>
                <a:rPr lang="en-US" sz="1200" noProof="0" dirty="0"/>
                <a:t>Simulating data based on defined causal relationships</a:t>
              </a:r>
            </a:p>
          </p:txBody>
        </p:sp>
      </p:grpSp>
      <p:grpSp>
        <p:nvGrpSpPr>
          <p:cNvPr id="12" name="Group 11">
            <a:extLst>
              <a:ext uri="{FF2B5EF4-FFF2-40B4-BE49-F238E27FC236}">
                <a16:creationId xmlns:a16="http://schemas.microsoft.com/office/drawing/2014/main" id="{7E1E4281-8692-4E6A-A632-51C0F71B595B}"/>
              </a:ext>
            </a:extLst>
          </p:cNvPr>
          <p:cNvGrpSpPr/>
          <p:nvPr/>
        </p:nvGrpSpPr>
        <p:grpSpPr>
          <a:xfrm>
            <a:off x="3375858" y="1660056"/>
            <a:ext cx="2403652" cy="1978742"/>
            <a:chOff x="4894174" y="3429000"/>
            <a:chExt cx="2403652" cy="1978742"/>
          </a:xfrm>
        </p:grpSpPr>
        <p:grpSp>
          <p:nvGrpSpPr>
            <p:cNvPr id="13" name="Group 12">
              <a:extLst>
                <a:ext uri="{FF2B5EF4-FFF2-40B4-BE49-F238E27FC236}">
                  <a16:creationId xmlns:a16="http://schemas.microsoft.com/office/drawing/2014/main" id="{328FD66C-1439-1F77-9274-484F499A909C}"/>
                </a:ext>
              </a:extLst>
            </p:cNvPr>
            <p:cNvGrpSpPr/>
            <p:nvPr/>
          </p:nvGrpSpPr>
          <p:grpSpPr>
            <a:xfrm>
              <a:off x="5556000" y="3429000"/>
              <a:ext cx="1080000" cy="1080000"/>
              <a:chOff x="3313786" y="3686861"/>
              <a:chExt cx="1080000" cy="1080000"/>
            </a:xfrm>
          </p:grpSpPr>
          <p:sp>
            <p:nvSpPr>
              <p:cNvPr id="15" name="Oval 14">
                <a:extLst>
                  <a:ext uri="{FF2B5EF4-FFF2-40B4-BE49-F238E27FC236}">
                    <a16:creationId xmlns:a16="http://schemas.microsoft.com/office/drawing/2014/main" id="{6B8F0E7E-4EC4-6301-9B19-589F286E8E32}"/>
                  </a:ext>
                </a:extLst>
              </p:cNvPr>
              <p:cNvSpPr/>
              <p:nvPr/>
            </p:nvSpPr>
            <p:spPr>
              <a:xfrm>
                <a:off x="3313786" y="3686861"/>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6" name="Graphic 15" descr="Single gear with solid fill">
                <a:extLst>
                  <a:ext uri="{FF2B5EF4-FFF2-40B4-BE49-F238E27FC236}">
                    <a16:creationId xmlns:a16="http://schemas.microsoft.com/office/drawing/2014/main" id="{CA318608-4E2E-CCB4-8906-4E61B9A1F25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14" name="TextBox 13">
              <a:extLst>
                <a:ext uri="{FF2B5EF4-FFF2-40B4-BE49-F238E27FC236}">
                  <a16:creationId xmlns:a16="http://schemas.microsoft.com/office/drawing/2014/main" id="{40A5F19B-49E7-9754-9E46-6F64C5D45235}"/>
                </a:ext>
              </a:extLst>
            </p:cNvPr>
            <p:cNvSpPr txBox="1"/>
            <p:nvPr/>
          </p:nvSpPr>
          <p:spPr>
            <a:xfrm>
              <a:off x="4894174" y="4669078"/>
              <a:ext cx="2403652" cy="738664"/>
            </a:xfrm>
            <a:prstGeom prst="rect">
              <a:avLst/>
            </a:prstGeom>
            <a:noFill/>
          </p:spPr>
          <p:txBody>
            <a:bodyPr wrap="square" rtlCol="0">
              <a:spAutoFit/>
            </a:bodyPr>
            <a:lstStyle/>
            <a:p>
              <a:pPr algn="ctr"/>
              <a:r>
                <a:rPr lang="en-US" b="1" noProof="0" dirty="0"/>
                <a:t>2. Regression</a:t>
              </a:r>
            </a:p>
            <a:p>
              <a:pPr algn="ctr"/>
              <a:r>
                <a:rPr lang="en-US" sz="1200" noProof="0" dirty="0"/>
                <a:t>Deriving statistical models and running regression analyses</a:t>
              </a:r>
            </a:p>
          </p:txBody>
        </p:sp>
      </p:grpSp>
      <p:grpSp>
        <p:nvGrpSpPr>
          <p:cNvPr id="17" name="Group 16">
            <a:extLst>
              <a:ext uri="{FF2B5EF4-FFF2-40B4-BE49-F238E27FC236}">
                <a16:creationId xmlns:a16="http://schemas.microsoft.com/office/drawing/2014/main" id="{3430E620-85B6-37BE-F003-5A0393F74B76}"/>
              </a:ext>
            </a:extLst>
          </p:cNvPr>
          <p:cNvGrpSpPr/>
          <p:nvPr/>
        </p:nvGrpSpPr>
        <p:grpSpPr>
          <a:xfrm>
            <a:off x="5913516" y="1660056"/>
            <a:ext cx="2403652" cy="1978742"/>
            <a:chOff x="4894174" y="3429000"/>
            <a:chExt cx="2403652" cy="1978742"/>
          </a:xfrm>
        </p:grpSpPr>
        <p:grpSp>
          <p:nvGrpSpPr>
            <p:cNvPr id="18" name="Group 17">
              <a:extLst>
                <a:ext uri="{FF2B5EF4-FFF2-40B4-BE49-F238E27FC236}">
                  <a16:creationId xmlns:a16="http://schemas.microsoft.com/office/drawing/2014/main" id="{9281234E-23FE-D9F9-FE0D-4181EEA87F65}"/>
                </a:ext>
              </a:extLst>
            </p:cNvPr>
            <p:cNvGrpSpPr/>
            <p:nvPr/>
          </p:nvGrpSpPr>
          <p:grpSpPr>
            <a:xfrm>
              <a:off x="5556000" y="3429000"/>
              <a:ext cx="1080000" cy="1080000"/>
              <a:chOff x="3313786" y="3686861"/>
              <a:chExt cx="1080000" cy="1080000"/>
            </a:xfrm>
          </p:grpSpPr>
          <p:sp>
            <p:nvSpPr>
              <p:cNvPr id="20" name="Oval 19">
                <a:extLst>
                  <a:ext uri="{FF2B5EF4-FFF2-40B4-BE49-F238E27FC236}">
                    <a16:creationId xmlns:a16="http://schemas.microsoft.com/office/drawing/2014/main" id="{F5BEB15D-B133-FB66-F197-83833F9CC7D0}"/>
                  </a:ext>
                </a:extLst>
              </p:cNvPr>
              <p:cNvSpPr/>
              <p:nvPr/>
            </p:nvSpPr>
            <p:spPr>
              <a:xfrm>
                <a:off x="3313786" y="3686861"/>
                <a:ext cx="1080000" cy="1080000"/>
              </a:xfrm>
              <a:prstGeom prst="ellipse">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1" name="Graphic 20" descr="Normal Distribution with solid fill">
                <a:extLst>
                  <a:ext uri="{FF2B5EF4-FFF2-40B4-BE49-F238E27FC236}">
                    <a16:creationId xmlns:a16="http://schemas.microsoft.com/office/drawing/2014/main" id="{89750731-FE51-1DCE-9D65-B3C75EB7183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sp>
          <p:nvSpPr>
            <p:cNvPr id="19" name="TextBox 18">
              <a:extLst>
                <a:ext uri="{FF2B5EF4-FFF2-40B4-BE49-F238E27FC236}">
                  <a16:creationId xmlns:a16="http://schemas.microsoft.com/office/drawing/2014/main" id="{69F6FE7E-7F53-307A-BA08-6F7BDFB37C6D}"/>
                </a:ext>
              </a:extLst>
            </p:cNvPr>
            <p:cNvSpPr txBox="1"/>
            <p:nvPr/>
          </p:nvSpPr>
          <p:spPr>
            <a:xfrm>
              <a:off x="4894174" y="4669078"/>
              <a:ext cx="2403652" cy="738664"/>
            </a:xfrm>
            <a:prstGeom prst="rect">
              <a:avLst/>
            </a:prstGeom>
            <a:noFill/>
          </p:spPr>
          <p:txBody>
            <a:bodyPr wrap="square" rtlCol="0">
              <a:spAutoFit/>
            </a:bodyPr>
            <a:lstStyle/>
            <a:p>
              <a:pPr algn="ctr"/>
              <a:r>
                <a:rPr lang="en-US" b="1" noProof="0" dirty="0"/>
                <a:t>3. Comparison</a:t>
              </a:r>
            </a:p>
            <a:p>
              <a:pPr algn="ctr"/>
              <a:r>
                <a:rPr lang="en-US" sz="1200" noProof="0" dirty="0"/>
                <a:t>Comparing the results of the analysis with the ground truth</a:t>
              </a:r>
            </a:p>
          </p:txBody>
        </p:sp>
      </p:grpSp>
      <p:grpSp>
        <p:nvGrpSpPr>
          <p:cNvPr id="22" name="Group 21">
            <a:extLst>
              <a:ext uri="{FF2B5EF4-FFF2-40B4-BE49-F238E27FC236}">
                <a16:creationId xmlns:a16="http://schemas.microsoft.com/office/drawing/2014/main" id="{929E7578-3EC0-3F6A-8F53-3987D234B5E8}"/>
              </a:ext>
            </a:extLst>
          </p:cNvPr>
          <p:cNvGrpSpPr/>
          <p:nvPr/>
        </p:nvGrpSpPr>
        <p:grpSpPr>
          <a:xfrm>
            <a:off x="8451174" y="1660056"/>
            <a:ext cx="2403652" cy="1978742"/>
            <a:chOff x="4894174" y="3429000"/>
            <a:chExt cx="2403652" cy="1978742"/>
          </a:xfrm>
        </p:grpSpPr>
        <p:grpSp>
          <p:nvGrpSpPr>
            <p:cNvPr id="23" name="Group 22">
              <a:extLst>
                <a:ext uri="{FF2B5EF4-FFF2-40B4-BE49-F238E27FC236}">
                  <a16:creationId xmlns:a16="http://schemas.microsoft.com/office/drawing/2014/main" id="{9B3D4932-8FD5-B375-028A-E6EBED22E062}"/>
                </a:ext>
              </a:extLst>
            </p:cNvPr>
            <p:cNvGrpSpPr/>
            <p:nvPr/>
          </p:nvGrpSpPr>
          <p:grpSpPr>
            <a:xfrm>
              <a:off x="5556000" y="3429000"/>
              <a:ext cx="1080000" cy="1080000"/>
              <a:chOff x="3313786" y="3686861"/>
              <a:chExt cx="1080000" cy="1080000"/>
            </a:xfrm>
          </p:grpSpPr>
          <p:sp>
            <p:nvSpPr>
              <p:cNvPr id="25" name="Oval 24">
                <a:extLst>
                  <a:ext uri="{FF2B5EF4-FFF2-40B4-BE49-F238E27FC236}">
                    <a16:creationId xmlns:a16="http://schemas.microsoft.com/office/drawing/2014/main" id="{8D792247-D4D6-BD2C-47F1-B1B9743F4794}"/>
                  </a:ext>
                </a:extLst>
              </p:cNvPr>
              <p:cNvSpPr/>
              <p:nvPr/>
            </p:nvSpPr>
            <p:spPr>
              <a:xfrm>
                <a:off x="3313786" y="3686861"/>
                <a:ext cx="1080000" cy="1080000"/>
              </a:xfrm>
              <a:prstGeom prst="ellipse">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6" name="Graphic 25" descr="Influencer with solid fill">
                <a:extLst>
                  <a:ext uri="{FF2B5EF4-FFF2-40B4-BE49-F238E27FC236}">
                    <a16:creationId xmlns:a16="http://schemas.microsoft.com/office/drawing/2014/main" id="{29B1353F-26ED-1271-51B1-B1AA854CF8C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sp>
          <p:nvSpPr>
            <p:cNvPr id="24" name="TextBox 23">
              <a:extLst>
                <a:ext uri="{FF2B5EF4-FFF2-40B4-BE49-F238E27FC236}">
                  <a16:creationId xmlns:a16="http://schemas.microsoft.com/office/drawing/2014/main" id="{5EA4651F-88B6-B25F-9D00-F7FB165A2BC3}"/>
                </a:ext>
              </a:extLst>
            </p:cNvPr>
            <p:cNvSpPr txBox="1"/>
            <p:nvPr/>
          </p:nvSpPr>
          <p:spPr>
            <a:xfrm>
              <a:off x="4894174" y="4669078"/>
              <a:ext cx="2403652" cy="738664"/>
            </a:xfrm>
            <a:prstGeom prst="rect">
              <a:avLst/>
            </a:prstGeom>
            <a:noFill/>
          </p:spPr>
          <p:txBody>
            <a:bodyPr wrap="square" rtlCol="0">
              <a:spAutoFit/>
            </a:bodyPr>
            <a:lstStyle/>
            <a:p>
              <a:pPr algn="ctr"/>
              <a:r>
                <a:rPr lang="en-US" b="1" noProof="0" dirty="0"/>
                <a:t>4. Inference</a:t>
              </a:r>
            </a:p>
            <a:p>
              <a:pPr algn="ctr"/>
              <a:r>
                <a:rPr lang="en-US" sz="1200" noProof="0" dirty="0"/>
                <a:t>Deducing obtainable knowledge from the analysis results</a:t>
              </a:r>
            </a:p>
          </p:txBody>
        </p:sp>
      </p:grpSp>
      <p:cxnSp>
        <p:nvCxnSpPr>
          <p:cNvPr id="28" name="Straight Arrow Connector 27">
            <a:extLst>
              <a:ext uri="{FF2B5EF4-FFF2-40B4-BE49-F238E27FC236}">
                <a16:creationId xmlns:a16="http://schemas.microsoft.com/office/drawing/2014/main" id="{A6835EC9-BC09-95B3-3C9D-B71A5910D643}"/>
              </a:ext>
            </a:extLst>
          </p:cNvPr>
          <p:cNvCxnSpPr>
            <a:stCxn id="10" idx="6"/>
            <a:endCxn id="15" idx="2"/>
          </p:cNvCxnSpPr>
          <p:nvPr/>
        </p:nvCxnSpPr>
        <p:spPr>
          <a:xfrm>
            <a:off x="2580026" y="2200056"/>
            <a:ext cx="145765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9D23CFB3-7297-23FB-0B02-288E87D634B3}"/>
              </a:ext>
            </a:extLst>
          </p:cNvPr>
          <p:cNvCxnSpPr>
            <a:cxnSpLocks/>
            <a:stCxn id="15" idx="6"/>
            <a:endCxn id="20" idx="2"/>
          </p:cNvCxnSpPr>
          <p:nvPr/>
        </p:nvCxnSpPr>
        <p:spPr>
          <a:xfrm>
            <a:off x="5117684" y="2200056"/>
            <a:ext cx="145765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B2D9680D-9488-DC93-28A8-062F5C2AB634}"/>
              </a:ext>
            </a:extLst>
          </p:cNvPr>
          <p:cNvCxnSpPr>
            <a:cxnSpLocks/>
            <a:stCxn id="20" idx="6"/>
            <a:endCxn id="25" idx="2"/>
          </p:cNvCxnSpPr>
          <p:nvPr/>
        </p:nvCxnSpPr>
        <p:spPr>
          <a:xfrm>
            <a:off x="7655342" y="2200056"/>
            <a:ext cx="145765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4" name="Group 33">
            <a:extLst>
              <a:ext uri="{FF2B5EF4-FFF2-40B4-BE49-F238E27FC236}">
                <a16:creationId xmlns:a16="http://schemas.microsoft.com/office/drawing/2014/main" id="{4E54E963-43BC-1485-C78F-706D4879822E}"/>
              </a:ext>
            </a:extLst>
          </p:cNvPr>
          <p:cNvGrpSpPr/>
          <p:nvPr/>
        </p:nvGrpSpPr>
        <p:grpSpPr>
          <a:xfrm>
            <a:off x="8726878" y="3806182"/>
            <a:ext cx="1892893" cy="1331582"/>
            <a:chOff x="8726878" y="3806182"/>
            <a:chExt cx="1892893" cy="1331582"/>
          </a:xfrm>
        </p:grpSpPr>
        <p:sp>
          <p:nvSpPr>
            <p:cNvPr id="35" name="Oval 34">
              <a:extLst>
                <a:ext uri="{FF2B5EF4-FFF2-40B4-BE49-F238E27FC236}">
                  <a16:creationId xmlns:a16="http://schemas.microsoft.com/office/drawing/2014/main" id="{0FD84657-C66F-4C48-ACC5-89191FCDE5D9}"/>
                </a:ext>
              </a:extLst>
            </p:cNvPr>
            <p:cNvSpPr/>
            <p:nvPr/>
          </p:nvSpPr>
          <p:spPr>
            <a:xfrm>
              <a:off x="8962704" y="438564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163DC321-A342-78C4-3C03-6B72CADAB837}"/>
                </a:ext>
              </a:extLst>
            </p:cNvPr>
            <p:cNvSpPr/>
            <p:nvPr/>
          </p:nvSpPr>
          <p:spPr>
            <a:xfrm>
              <a:off x="10042704" y="438564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7" name="Straight Arrow Connector 36">
              <a:extLst>
                <a:ext uri="{FF2B5EF4-FFF2-40B4-BE49-F238E27FC236}">
                  <a16:creationId xmlns:a16="http://schemas.microsoft.com/office/drawing/2014/main" id="{1C5D168A-CD82-E307-F123-227EFF682603}"/>
                </a:ext>
              </a:extLst>
            </p:cNvPr>
            <p:cNvCxnSpPr>
              <a:stCxn id="35" idx="6"/>
              <a:endCxn id="36" idx="2"/>
            </p:cNvCxnSpPr>
            <p:nvPr/>
          </p:nvCxnSpPr>
          <p:spPr>
            <a:xfrm>
              <a:off x="9322704" y="4565640"/>
              <a:ext cx="72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4F30FBA3-11E4-66AC-A631-B9729E2B3820}"/>
                </a:ext>
              </a:extLst>
            </p:cNvPr>
            <p:cNvSpPr txBox="1"/>
            <p:nvPr/>
          </p:nvSpPr>
          <p:spPr>
            <a:xfrm>
              <a:off x="8726878" y="3806182"/>
              <a:ext cx="1623232" cy="523220"/>
            </a:xfrm>
            <a:prstGeom prst="rect">
              <a:avLst/>
            </a:prstGeom>
            <a:noFill/>
          </p:spPr>
          <p:txBody>
            <a:bodyPr wrap="square" rtlCol="0">
              <a:spAutoFit/>
            </a:bodyPr>
            <a:lstStyle/>
            <a:p>
              <a:r>
                <a:rPr lang="en-US" sz="1400" noProof="0" dirty="0">
                  <a:solidFill>
                    <a:srgbClr val="D0180A"/>
                  </a:solidFill>
                </a:rPr>
                <a:t>document reading technique</a:t>
              </a:r>
            </a:p>
          </p:txBody>
        </p:sp>
        <p:sp>
          <p:nvSpPr>
            <p:cNvPr id="39" name="TextBox 38">
              <a:extLst>
                <a:ext uri="{FF2B5EF4-FFF2-40B4-BE49-F238E27FC236}">
                  <a16:creationId xmlns:a16="http://schemas.microsoft.com/office/drawing/2014/main" id="{1CE86427-3DF6-16C3-2F51-2D2AA966E8BA}"/>
                </a:ext>
              </a:extLst>
            </p:cNvPr>
            <p:cNvSpPr txBox="1"/>
            <p:nvPr/>
          </p:nvSpPr>
          <p:spPr>
            <a:xfrm>
              <a:off x="9085184" y="4829987"/>
              <a:ext cx="1534587" cy="307777"/>
            </a:xfrm>
            <a:prstGeom prst="rect">
              <a:avLst/>
            </a:prstGeom>
            <a:noFill/>
          </p:spPr>
          <p:txBody>
            <a:bodyPr wrap="none" rtlCol="0">
              <a:spAutoFit/>
            </a:bodyPr>
            <a:lstStyle/>
            <a:p>
              <a:r>
                <a:rPr lang="en-US" sz="1400" noProof="0" dirty="0">
                  <a:solidFill>
                    <a:srgbClr val="006D70"/>
                  </a:solidFill>
                </a:rPr>
                <a:t>identified defects</a:t>
              </a:r>
            </a:p>
          </p:txBody>
        </p:sp>
      </p:grpSp>
      <p:grpSp>
        <p:nvGrpSpPr>
          <p:cNvPr id="3" name="Group 2">
            <a:extLst>
              <a:ext uri="{FF2B5EF4-FFF2-40B4-BE49-F238E27FC236}">
                <a16:creationId xmlns:a16="http://schemas.microsoft.com/office/drawing/2014/main" id="{9DDEDE0B-96BA-25CE-77B4-9B4E2BD21100}"/>
              </a:ext>
            </a:extLst>
          </p:cNvPr>
          <p:cNvGrpSpPr/>
          <p:nvPr/>
        </p:nvGrpSpPr>
        <p:grpSpPr>
          <a:xfrm>
            <a:off x="1150078" y="3866702"/>
            <a:ext cx="1778179" cy="1271062"/>
            <a:chOff x="1150078" y="3866702"/>
            <a:chExt cx="1778179" cy="1271062"/>
          </a:xfrm>
        </p:grpSpPr>
        <p:cxnSp>
          <p:nvCxnSpPr>
            <p:cNvPr id="44" name="Straight Arrow Connector 43">
              <a:extLst>
                <a:ext uri="{FF2B5EF4-FFF2-40B4-BE49-F238E27FC236}">
                  <a16:creationId xmlns:a16="http://schemas.microsoft.com/office/drawing/2014/main" id="{730815A8-F3CD-1D61-11CD-17689C38ED01}"/>
                </a:ext>
              </a:extLst>
            </p:cNvPr>
            <p:cNvCxnSpPr>
              <a:cxnSpLocks/>
              <a:stCxn id="48" idx="3"/>
              <a:endCxn id="49" idx="1"/>
            </p:cNvCxnSpPr>
            <p:nvPr/>
          </p:nvCxnSpPr>
          <p:spPr>
            <a:xfrm>
              <a:off x="1745904" y="4562802"/>
              <a:ext cx="72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73203646-7612-12DE-0463-D98F6BBED5E9}"/>
                </a:ext>
              </a:extLst>
            </p:cNvPr>
            <p:cNvSpPr txBox="1"/>
            <p:nvPr/>
          </p:nvSpPr>
          <p:spPr>
            <a:xfrm>
              <a:off x="1150078" y="3866702"/>
              <a:ext cx="1685434" cy="523220"/>
            </a:xfrm>
            <a:prstGeom prst="rect">
              <a:avLst/>
            </a:prstGeom>
            <a:noFill/>
          </p:spPr>
          <p:txBody>
            <a:bodyPr wrap="square" rtlCol="0">
              <a:spAutoFit/>
            </a:bodyPr>
            <a:lstStyle/>
            <a:p>
              <a:r>
                <a:rPr lang="en-US" sz="1400" noProof="0" dirty="0">
                  <a:solidFill>
                    <a:srgbClr val="D0180A"/>
                  </a:solidFill>
                </a:rPr>
                <a:t>document reading technique</a:t>
              </a:r>
            </a:p>
          </p:txBody>
        </p:sp>
        <p:sp>
          <p:nvSpPr>
            <p:cNvPr id="46" name="TextBox 45">
              <a:extLst>
                <a:ext uri="{FF2B5EF4-FFF2-40B4-BE49-F238E27FC236}">
                  <a16:creationId xmlns:a16="http://schemas.microsoft.com/office/drawing/2014/main" id="{B4494419-959F-4ABE-E493-F436F617BB62}"/>
                </a:ext>
              </a:extLst>
            </p:cNvPr>
            <p:cNvSpPr txBox="1"/>
            <p:nvPr/>
          </p:nvSpPr>
          <p:spPr>
            <a:xfrm>
              <a:off x="1393670" y="4829987"/>
              <a:ext cx="1534587" cy="307777"/>
            </a:xfrm>
            <a:prstGeom prst="rect">
              <a:avLst/>
            </a:prstGeom>
            <a:noFill/>
          </p:spPr>
          <p:txBody>
            <a:bodyPr wrap="none" rtlCol="0">
              <a:spAutoFit/>
            </a:bodyPr>
            <a:lstStyle/>
            <a:p>
              <a:r>
                <a:rPr lang="en-US" sz="1400" noProof="0" dirty="0">
                  <a:solidFill>
                    <a:srgbClr val="006D70"/>
                  </a:solidFill>
                </a:rPr>
                <a:t>identified defects</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DFBE9A9-D815-8215-D2CB-01BB4091B4F6}"/>
                    </a:ext>
                  </a:extLst>
                </p:cNvPr>
                <p:cNvSpPr txBox="1"/>
                <p:nvPr/>
              </p:nvSpPr>
              <p:spPr>
                <a:xfrm>
                  <a:off x="1806821" y="4567007"/>
                  <a:ext cx="54768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1" i="1" noProof="0" smtClean="0">
                            <a:solidFill>
                              <a:srgbClr val="00FFFF"/>
                            </a:solidFill>
                            <a:latin typeface="Cambria Math" panose="02040503050406030204" pitchFamily="18" charset="0"/>
                          </a:rPr>
                          <m:t>𝟓</m:t>
                        </m:r>
                      </m:oMath>
                    </m:oMathPara>
                  </a14:m>
                  <a:endParaRPr lang="en-US" sz="1400" b="1" noProof="0" dirty="0"/>
                </a:p>
              </p:txBody>
            </p:sp>
          </mc:Choice>
          <mc:Fallback xmlns="">
            <p:sp>
              <p:nvSpPr>
                <p:cNvPr id="47" name="TextBox 46">
                  <a:extLst>
                    <a:ext uri="{FF2B5EF4-FFF2-40B4-BE49-F238E27FC236}">
                      <a16:creationId xmlns:a16="http://schemas.microsoft.com/office/drawing/2014/main" id="{2DFBE9A9-D815-8215-D2CB-01BB4091B4F6}"/>
                    </a:ext>
                  </a:extLst>
                </p:cNvPr>
                <p:cNvSpPr txBox="1">
                  <a:spLocks noRot="1" noChangeAspect="1" noMove="1" noResize="1" noEditPoints="1" noAdjustHandles="1" noChangeArrowheads="1" noChangeShapeType="1" noTextEdit="1"/>
                </p:cNvSpPr>
                <p:nvPr/>
              </p:nvSpPr>
              <p:spPr>
                <a:xfrm>
                  <a:off x="1806821" y="4567007"/>
                  <a:ext cx="547689" cy="307777"/>
                </a:xfrm>
                <a:prstGeom prst="rect">
                  <a:avLst/>
                </a:prstGeom>
                <a:blipFill>
                  <a:blip r:embed="rId9"/>
                  <a:stretch>
                    <a:fillRect/>
                  </a:stretch>
                </a:blipFill>
              </p:spPr>
              <p:txBody>
                <a:bodyPr/>
                <a:lstStyle/>
                <a:p>
                  <a:r>
                    <a:rPr lang="en-SE">
                      <a:noFill/>
                    </a:rPr>
                    <a:t> </a:t>
                  </a:r>
                </a:p>
              </p:txBody>
            </p:sp>
          </mc:Fallback>
        </mc:AlternateContent>
        <p:sp>
          <p:nvSpPr>
            <p:cNvPr id="48" name="Rectangle: Rounded Corners 47">
              <a:extLst>
                <a:ext uri="{FF2B5EF4-FFF2-40B4-BE49-F238E27FC236}">
                  <a16:creationId xmlns:a16="http://schemas.microsoft.com/office/drawing/2014/main" id="{C0B8CA4F-2F5A-5897-F006-974DEBFA455B}"/>
                </a:ext>
              </a:extLst>
            </p:cNvPr>
            <p:cNvSpPr/>
            <p:nvPr/>
          </p:nvSpPr>
          <p:spPr>
            <a:xfrm>
              <a:off x="1385904" y="4382802"/>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Rectangle: Rounded Corners 48">
              <a:extLst>
                <a:ext uri="{FF2B5EF4-FFF2-40B4-BE49-F238E27FC236}">
                  <a16:creationId xmlns:a16="http://schemas.microsoft.com/office/drawing/2014/main" id="{FE6C909A-BD0D-264F-3191-0B9E6C9CDF60}"/>
                </a:ext>
              </a:extLst>
            </p:cNvPr>
            <p:cNvSpPr/>
            <p:nvPr/>
          </p:nvSpPr>
          <p:spPr>
            <a:xfrm>
              <a:off x="2465904" y="4382802"/>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B9B7D4C-A811-D562-69C2-46C679E4FAFC}"/>
                  </a:ext>
                </a:extLst>
              </p:cNvPr>
              <p:cNvSpPr txBox="1"/>
              <p:nvPr/>
            </p:nvSpPr>
            <p:spPr>
              <a:xfrm>
                <a:off x="3091027" y="4723797"/>
                <a:ext cx="28350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solidFill>
                            <a:schemeClr val="tx1"/>
                          </a:solidFill>
                          <a:latin typeface="Cambria Math" panose="02040503050406030204" pitchFamily="18" charset="0"/>
                        </a:rPr>
                        <m:t>𝑚</m:t>
                      </m:r>
                      <m:r>
                        <a:rPr lang="en-US" b="0" i="1" noProof="0" smtClean="0">
                          <a:solidFill>
                            <a:schemeClr val="tx1"/>
                          </a:solidFill>
                          <a:latin typeface="Cambria Math" panose="02040503050406030204" pitchFamily="18" charset="0"/>
                        </a:rPr>
                        <m:t>:</m:t>
                      </m:r>
                      <m:r>
                        <a:rPr lang="en-US" b="0" i="1" noProof="0" smtClean="0">
                          <a:solidFill>
                            <a:srgbClr val="006D70"/>
                          </a:solidFill>
                          <a:latin typeface="Cambria Math" panose="02040503050406030204" pitchFamily="18" charset="0"/>
                        </a:rPr>
                        <m:t>𝑑𝑒𝑓𝑒𝑐𝑡𝑠</m:t>
                      </m:r>
                      <m:r>
                        <a:rPr lang="en-US" b="0" i="1" noProof="0" smtClean="0">
                          <a:latin typeface="Cambria Math" panose="02040503050406030204" pitchFamily="18" charset="0"/>
                        </a:rPr>
                        <m:t> ~ 1+</m:t>
                      </m:r>
                      <m:r>
                        <a:rPr lang="en-US" b="0" i="1" noProof="0" smtClean="0">
                          <a:solidFill>
                            <a:srgbClr val="D0180A"/>
                          </a:solidFill>
                          <a:latin typeface="Cambria Math" panose="02040503050406030204" pitchFamily="18" charset="0"/>
                        </a:rPr>
                        <m:t>𝑡𝑒𝑐h𝑛𝑖𝑞𝑢𝑒</m:t>
                      </m:r>
                    </m:oMath>
                  </m:oMathPara>
                </a14:m>
                <a:endParaRPr lang="en-US" noProof="0" dirty="0"/>
              </a:p>
            </p:txBody>
          </p:sp>
        </mc:Choice>
        <mc:Fallback xmlns="">
          <p:sp>
            <p:nvSpPr>
              <p:cNvPr id="54" name="TextBox 53">
                <a:extLst>
                  <a:ext uri="{FF2B5EF4-FFF2-40B4-BE49-F238E27FC236}">
                    <a16:creationId xmlns:a16="http://schemas.microsoft.com/office/drawing/2014/main" id="{2B9B7D4C-A811-D562-69C2-46C679E4FAFC}"/>
                  </a:ext>
                </a:extLst>
              </p:cNvPr>
              <p:cNvSpPr txBox="1">
                <a:spLocks noRot="1" noChangeAspect="1" noMove="1" noResize="1" noEditPoints="1" noAdjustHandles="1" noChangeArrowheads="1" noChangeShapeType="1" noTextEdit="1"/>
              </p:cNvSpPr>
              <p:nvPr/>
            </p:nvSpPr>
            <p:spPr>
              <a:xfrm>
                <a:off x="3091027" y="4723797"/>
                <a:ext cx="2835071" cy="276999"/>
              </a:xfrm>
              <a:prstGeom prst="rect">
                <a:avLst/>
              </a:prstGeom>
              <a:blipFill>
                <a:blip r:embed="rId10"/>
                <a:stretch>
                  <a:fillRect l="-860" t="-2222" r="-2581" b="-35556"/>
                </a:stretch>
              </a:blipFill>
            </p:spPr>
            <p:txBody>
              <a:bodyPr/>
              <a:lstStyle/>
              <a:p>
                <a:r>
                  <a:rPr lang="en-SE">
                    <a:noFill/>
                  </a:rPr>
                  <a:t> </a:t>
                </a:r>
              </a:p>
            </p:txBody>
          </p:sp>
        </mc:Fallback>
      </mc:AlternateContent>
      <p:pic>
        <p:nvPicPr>
          <p:cNvPr id="27" name="Picture 26" descr="A graph with numbers and text&#10;&#10;AI-generated content may be incorrect.">
            <a:extLst>
              <a:ext uri="{FF2B5EF4-FFF2-40B4-BE49-F238E27FC236}">
                <a16:creationId xmlns:a16="http://schemas.microsoft.com/office/drawing/2014/main" id="{8FE2E321-DAFA-AD37-B0D9-8FC2CF30349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893103" y="4199604"/>
            <a:ext cx="2444478" cy="916679"/>
          </a:xfrm>
          <a:prstGeom prst="rect">
            <a:avLst/>
          </a:prstGeom>
        </p:spPr>
      </p:pic>
      <p:grpSp>
        <p:nvGrpSpPr>
          <p:cNvPr id="30" name="Group 29">
            <a:extLst>
              <a:ext uri="{FF2B5EF4-FFF2-40B4-BE49-F238E27FC236}">
                <a16:creationId xmlns:a16="http://schemas.microsoft.com/office/drawing/2014/main" id="{861B8913-773C-B92E-896A-C80EAD14550C}"/>
              </a:ext>
            </a:extLst>
          </p:cNvPr>
          <p:cNvGrpSpPr/>
          <p:nvPr/>
        </p:nvGrpSpPr>
        <p:grpSpPr>
          <a:xfrm>
            <a:off x="3241852" y="4236680"/>
            <a:ext cx="2563289" cy="432000"/>
            <a:chOff x="4604412" y="1893985"/>
            <a:chExt cx="2563289" cy="432000"/>
          </a:xfrm>
        </p:grpSpPr>
        <p:sp>
          <p:nvSpPr>
            <p:cNvPr id="31" name="Arrow: Pentagon 30">
              <a:extLst>
                <a:ext uri="{FF2B5EF4-FFF2-40B4-BE49-F238E27FC236}">
                  <a16:creationId xmlns:a16="http://schemas.microsoft.com/office/drawing/2014/main" id="{7A824793-7244-3BCD-2CDA-7A1E239A700B}"/>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33" name="Graphic 32" descr="Connections with solid fill">
              <a:extLst>
                <a:ext uri="{FF2B5EF4-FFF2-40B4-BE49-F238E27FC236}">
                  <a16:creationId xmlns:a16="http://schemas.microsoft.com/office/drawing/2014/main" id="{9DDC2717-3A63-F390-A736-E4E26D04A1E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664301" y="1929985"/>
              <a:ext cx="360000" cy="360000"/>
            </a:xfrm>
            <a:prstGeom prst="rect">
              <a:avLst/>
            </a:prstGeom>
          </p:spPr>
        </p:pic>
      </p:grpSp>
      <p:cxnSp>
        <p:nvCxnSpPr>
          <p:cNvPr id="40" name="Connector: Elbow 39">
            <a:extLst>
              <a:ext uri="{FF2B5EF4-FFF2-40B4-BE49-F238E27FC236}">
                <a16:creationId xmlns:a16="http://schemas.microsoft.com/office/drawing/2014/main" id="{F1827B3F-4D09-159C-C6EF-438C06C3C6F9}"/>
              </a:ext>
            </a:extLst>
          </p:cNvPr>
          <p:cNvCxnSpPr>
            <a:stCxn id="39" idx="2"/>
            <a:endCxn id="46" idx="2"/>
          </p:cNvCxnSpPr>
          <p:nvPr/>
        </p:nvCxnSpPr>
        <p:spPr>
          <a:xfrm rot="5400000">
            <a:off x="6006721" y="1292007"/>
            <a:ext cx="12700" cy="7691514"/>
          </a:xfrm>
          <a:prstGeom prst="bentConnector3">
            <a:avLst>
              <a:gd name="adj1" fmla="val 340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3996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D5246-3BED-9B8C-7CC3-745A5B9DAEEC}"/>
              </a:ext>
            </a:extLst>
          </p:cNvPr>
          <p:cNvSpPr>
            <a:spLocks noGrp="1"/>
          </p:cNvSpPr>
          <p:nvPr>
            <p:ph type="title"/>
          </p:nvPr>
        </p:nvSpPr>
        <p:spPr/>
        <p:txBody>
          <a:bodyPr/>
          <a:lstStyle/>
          <a:p>
            <a:r>
              <a:rPr lang="en-SE" noProof="0" dirty="0"/>
              <a:t>Statistical </a:t>
            </a:r>
            <a:r>
              <a:rPr lang="en-US" noProof="0" dirty="0"/>
              <a:t>Causal Inference</a:t>
            </a:r>
          </a:p>
        </p:txBody>
      </p:sp>
      <p:sp>
        <p:nvSpPr>
          <p:cNvPr id="3" name="Text Placeholder 2">
            <a:extLst>
              <a:ext uri="{FF2B5EF4-FFF2-40B4-BE49-F238E27FC236}">
                <a16:creationId xmlns:a16="http://schemas.microsoft.com/office/drawing/2014/main" id="{948E0F1F-0BFC-2071-C843-139FD4439B6F}"/>
              </a:ext>
            </a:extLst>
          </p:cNvPr>
          <p:cNvSpPr>
            <a:spLocks noGrp="1"/>
          </p:cNvSpPr>
          <p:nvPr>
            <p:ph type="body" idx="1"/>
          </p:nvPr>
        </p:nvSpPr>
        <p:spPr/>
        <p:txBody>
          <a:bodyPr/>
          <a:lstStyle/>
          <a:p>
            <a:r>
              <a:rPr lang="en-US" noProof="0" dirty="0"/>
              <a:t>Confounders and Mediators</a:t>
            </a:r>
          </a:p>
        </p:txBody>
      </p:sp>
      <p:sp>
        <p:nvSpPr>
          <p:cNvPr id="4" name="Date Placeholder 3">
            <a:extLst>
              <a:ext uri="{FF2B5EF4-FFF2-40B4-BE49-F238E27FC236}">
                <a16:creationId xmlns:a16="http://schemas.microsoft.com/office/drawing/2014/main" id="{93755037-50BD-1D61-59B2-DD05C677F6B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BF7982B-EC53-86B8-8606-8F1307AEF74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DEC97F9-3760-7F43-C06D-CE23A2CF262E}"/>
              </a:ext>
            </a:extLst>
          </p:cNvPr>
          <p:cNvSpPr>
            <a:spLocks noGrp="1"/>
          </p:cNvSpPr>
          <p:nvPr>
            <p:ph type="sldNum" sz="quarter" idx="12"/>
          </p:nvPr>
        </p:nvSpPr>
        <p:spPr/>
        <p:txBody>
          <a:bodyPr/>
          <a:lstStyle/>
          <a:p>
            <a:fld id="{0FA2D919-C0DE-4971-A2E9-D4AC0031921B}" type="slidenum">
              <a:rPr lang="en-US" noProof="0" smtClean="0"/>
              <a:t>27</a:t>
            </a:fld>
            <a:endParaRPr lang="en-US" noProof="0" dirty="0"/>
          </a:p>
        </p:txBody>
      </p:sp>
    </p:spTree>
    <p:extLst>
      <p:ext uri="{BB962C8B-B14F-4D97-AF65-F5344CB8AC3E}">
        <p14:creationId xmlns:p14="http://schemas.microsoft.com/office/powerpoint/2010/main" val="1122515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09F160-BB08-C1ED-0F82-9A7002A7D28D}"/>
              </a:ext>
            </a:extLst>
          </p:cNvPr>
          <p:cNvSpPr>
            <a:spLocks noGrp="1"/>
          </p:cNvSpPr>
          <p:nvPr>
            <p:ph type="title"/>
          </p:nvPr>
        </p:nvSpPr>
        <p:spPr/>
        <p:txBody>
          <a:bodyPr/>
          <a:lstStyle/>
          <a:p>
            <a:r>
              <a:rPr lang="en-US" noProof="0" dirty="0"/>
              <a:t>Confounding: Common Causes</a:t>
            </a:r>
          </a:p>
        </p:txBody>
      </p:sp>
      <p:sp>
        <p:nvSpPr>
          <p:cNvPr id="8" name="Content Placeholder 7">
            <a:extLst>
              <a:ext uri="{FF2B5EF4-FFF2-40B4-BE49-F238E27FC236}">
                <a16:creationId xmlns:a16="http://schemas.microsoft.com/office/drawing/2014/main" id="{C4ADB0C9-8D46-E745-607E-9C560680B81B}"/>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pushed for a use case driven requirements specification approach. We investigate whether the </a:t>
            </a:r>
            <a:r>
              <a:rPr lang="en-US" sz="2400" b="1" noProof="0" dirty="0">
                <a:solidFill>
                  <a:srgbClr val="D0180A"/>
                </a:solidFill>
              </a:rPr>
              <a:t>specification format </a:t>
            </a:r>
            <a:r>
              <a:rPr lang="en-US" sz="2400" noProof="0" dirty="0"/>
              <a:t>of a requirement decreased the normalized </a:t>
            </a:r>
            <a:r>
              <a:rPr lang="en-US" sz="2400" b="1" noProof="0" dirty="0">
                <a:solidFill>
                  <a:srgbClr val="006D70"/>
                </a:solidFill>
              </a:rPr>
              <a:t>lead time</a:t>
            </a:r>
            <a:r>
              <a:rPr lang="en-US" sz="2400" noProof="0" dirty="0"/>
              <a:t>.”</a:t>
            </a:r>
          </a:p>
        </p:txBody>
      </p:sp>
      <p:sp>
        <p:nvSpPr>
          <p:cNvPr id="4" name="Date Placeholder 3">
            <a:extLst>
              <a:ext uri="{FF2B5EF4-FFF2-40B4-BE49-F238E27FC236}">
                <a16:creationId xmlns:a16="http://schemas.microsoft.com/office/drawing/2014/main" id="{1D22A7B2-35E6-2E09-4F41-3D07706AB035}"/>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E4661E3C-F52F-2DA2-36E2-33D678B70F6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9E2188C-DFE3-964B-D15E-6DDB7A66C13A}"/>
              </a:ext>
            </a:extLst>
          </p:cNvPr>
          <p:cNvSpPr>
            <a:spLocks noGrp="1"/>
          </p:cNvSpPr>
          <p:nvPr>
            <p:ph type="sldNum" sz="quarter" idx="12"/>
          </p:nvPr>
        </p:nvSpPr>
        <p:spPr/>
        <p:txBody>
          <a:bodyPr/>
          <a:lstStyle/>
          <a:p>
            <a:fld id="{0FA2D919-C0DE-4971-A2E9-D4AC0031921B}" type="slidenum">
              <a:rPr lang="en-US" noProof="0" smtClean="0"/>
              <a:t>28</a:t>
            </a:fld>
            <a:endParaRPr lang="en-US" noProof="0" dirty="0"/>
          </a:p>
        </p:txBody>
      </p:sp>
      <p:grpSp>
        <p:nvGrpSpPr>
          <p:cNvPr id="41" name="Group 40">
            <a:extLst>
              <a:ext uri="{FF2B5EF4-FFF2-40B4-BE49-F238E27FC236}">
                <a16:creationId xmlns:a16="http://schemas.microsoft.com/office/drawing/2014/main" id="{BFA59AB1-5CC9-C150-9518-096E60FCE5CD}"/>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95004EF0-11C2-F638-8743-EEA34C26EB7C}"/>
                </a:ext>
              </a:extLst>
            </p:cNvPr>
            <p:cNvSpPr/>
            <p:nvPr/>
          </p:nvSpPr>
          <p:spPr>
            <a:xfrm>
              <a:off x="3313786" y="3686861"/>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EABF68D5-BB96-A8E6-55C6-F096E7947B3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70A136B8-1957-31E4-CDB6-4F3B915AFD9B}"/>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7994E411-1C2F-6F6B-AE47-2E5E3EF04106}"/>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9926654A-5E76-55C5-7AA2-47232CE61C7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8ABD0EB5-201B-F066-6D88-DF819AD3C4B2}"/>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FE4D17C5-8180-3E74-F034-1ADAED9E87D1}"/>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893E1F12-EBA0-2422-1BAA-26BB89EB3BC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F1B29569-5B2B-BF10-3DA8-183399EE1086}"/>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96C869C8-01FB-D285-9009-1A663DA56497}"/>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9FD82686-7A45-43FC-69A4-2A2E0874337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CBD6E67B-7B1C-562A-5505-9F713DE9F8A7}"/>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15404C17-B915-0210-B464-434DB5DDC3AE}"/>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6E6E0980-8E92-21D9-33C7-BF7D72A68266}"/>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D526EF87-42F3-BEA9-EC9D-9E2138840330}"/>
              </a:ext>
            </a:extLst>
          </p:cNvPr>
          <p:cNvCxnSpPr>
            <a:cxnSpLocks/>
            <a:stCxn id="17" idx="3"/>
            <a:endCxn id="18" idx="1"/>
          </p:cNvCxnSpPr>
          <p:nvPr/>
        </p:nvCxnSpPr>
        <p:spPr>
          <a:xfrm>
            <a:off x="4491656" y="4106826"/>
            <a:ext cx="3286599" cy="0"/>
          </a:xfrm>
          <a:prstGeom prst="straightConnector1">
            <a:avLst/>
          </a:prstGeom>
          <a:ln w="28575">
            <a:prstDash val="sysDash"/>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1EDBB21A-6E08-9786-2BAE-7BDC1AF7D224}"/>
              </a:ext>
            </a:extLst>
          </p:cNvPr>
          <p:cNvSpPr txBox="1"/>
          <p:nvPr/>
        </p:nvSpPr>
        <p:spPr>
          <a:xfrm>
            <a:off x="2392335" y="3068414"/>
            <a:ext cx="3545201" cy="646331"/>
          </a:xfrm>
          <a:prstGeom prst="rect">
            <a:avLst/>
          </a:prstGeom>
          <a:noFill/>
        </p:spPr>
        <p:txBody>
          <a:bodyPr wrap="none" rtlCol="0">
            <a:spAutoFit/>
          </a:bodyPr>
          <a:lstStyle/>
          <a:p>
            <a:r>
              <a:rPr lang="en-US" noProof="0" dirty="0">
                <a:solidFill>
                  <a:srgbClr val="D0180A"/>
                </a:solidFill>
              </a:rPr>
              <a:t>specification format </a:t>
            </a:r>
          </a:p>
          <a:p>
            <a:r>
              <a:rPr lang="en-US" noProof="0" dirty="0">
                <a:solidFill>
                  <a:srgbClr val="D0180A"/>
                </a:solidFill>
              </a:rPr>
              <a:t>(0 = baseline, 1 = use case driven) </a:t>
            </a:r>
          </a:p>
        </p:txBody>
      </p:sp>
      <p:sp>
        <p:nvSpPr>
          <p:cNvPr id="15" name="TextBox 14">
            <a:extLst>
              <a:ext uri="{FF2B5EF4-FFF2-40B4-BE49-F238E27FC236}">
                <a16:creationId xmlns:a16="http://schemas.microsoft.com/office/drawing/2014/main" id="{CB861381-43DF-4B27-10C1-AB5F8B2C7E03}"/>
              </a:ext>
            </a:extLst>
          </p:cNvPr>
          <p:cNvSpPr txBox="1"/>
          <p:nvPr/>
        </p:nvSpPr>
        <p:spPr>
          <a:xfrm>
            <a:off x="7401051" y="3254928"/>
            <a:ext cx="1114408" cy="369332"/>
          </a:xfrm>
          <a:prstGeom prst="rect">
            <a:avLst/>
          </a:prstGeom>
          <a:noFill/>
        </p:spPr>
        <p:txBody>
          <a:bodyPr wrap="none" rtlCol="0">
            <a:spAutoFit/>
          </a:bodyPr>
          <a:lstStyle/>
          <a:p>
            <a:r>
              <a:rPr lang="en-US" noProof="0" dirty="0">
                <a:solidFill>
                  <a:srgbClr val="006D70"/>
                </a:solidFill>
              </a:rPr>
              <a:t>lead time</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434628E-A922-49E1-7EA5-8222CEEF559A}"/>
                  </a:ext>
                </a:extLst>
              </p:cNvPr>
              <p:cNvSpPr txBox="1"/>
              <p:nvPr/>
            </p:nvSpPr>
            <p:spPr>
              <a:xfrm>
                <a:off x="4922098" y="4166628"/>
                <a:ext cx="2425714" cy="523220"/>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0</m:t>
                    </m:r>
                  </m:oMath>
                </a14:m>
                <a:r>
                  <a:rPr lang="en-US" sz="1400" noProof="0" dirty="0"/>
                  <a:t>: the specification format does not affect lead time</a:t>
                </a:r>
              </a:p>
            </p:txBody>
          </p:sp>
        </mc:Choice>
        <mc:Fallback xmlns="">
          <p:sp>
            <p:nvSpPr>
              <p:cNvPr id="16" name="TextBox 15">
                <a:extLst>
                  <a:ext uri="{FF2B5EF4-FFF2-40B4-BE49-F238E27FC236}">
                    <a16:creationId xmlns:a16="http://schemas.microsoft.com/office/drawing/2014/main" id="{8434628E-A922-49E1-7EA5-8222CEEF559A}"/>
                  </a:ext>
                </a:extLst>
              </p:cNvPr>
              <p:cNvSpPr txBox="1">
                <a:spLocks noRot="1" noChangeAspect="1" noMove="1" noResize="1" noEditPoints="1" noAdjustHandles="1" noChangeArrowheads="1" noChangeShapeType="1" noTextEdit="1"/>
              </p:cNvSpPr>
              <p:nvPr/>
            </p:nvSpPr>
            <p:spPr>
              <a:xfrm>
                <a:off x="4922098" y="4166628"/>
                <a:ext cx="2425714" cy="523220"/>
              </a:xfrm>
              <a:prstGeom prst="rect">
                <a:avLst/>
              </a:prstGeom>
              <a:blipFill>
                <a:blip r:embed="rId8"/>
                <a:stretch>
                  <a:fillRect l="-754" t="-2353" b="-11765"/>
                </a:stretch>
              </a:blipFill>
            </p:spPr>
            <p:txBody>
              <a:bodyPr/>
              <a:lstStyle/>
              <a:p>
                <a:r>
                  <a:rPr lang="en-SE">
                    <a:noFill/>
                  </a:rPr>
                  <a:t> </a:t>
                </a:r>
              </a:p>
            </p:txBody>
          </p:sp>
        </mc:Fallback>
      </mc:AlternateContent>
      <p:sp>
        <p:nvSpPr>
          <p:cNvPr id="17" name="Rectangle: Rounded Corners 16">
            <a:extLst>
              <a:ext uri="{FF2B5EF4-FFF2-40B4-BE49-F238E27FC236}">
                <a16:creationId xmlns:a16="http://schemas.microsoft.com/office/drawing/2014/main" id="{1EA4F2C8-C5D5-8257-FBBB-002285CA83CD}"/>
              </a:ext>
            </a:extLst>
          </p:cNvPr>
          <p:cNvSpPr/>
          <p:nvPr/>
        </p:nvSpPr>
        <p:spPr>
          <a:xfrm>
            <a:off x="4131656" y="3926826"/>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Rounded Corners 17">
            <a:extLst>
              <a:ext uri="{FF2B5EF4-FFF2-40B4-BE49-F238E27FC236}">
                <a16:creationId xmlns:a16="http://schemas.microsoft.com/office/drawing/2014/main" id="{4D3CD1FB-6B22-2409-0ABF-F7A0F0BE17A9}"/>
              </a:ext>
            </a:extLst>
          </p:cNvPr>
          <p:cNvSpPr/>
          <p:nvPr/>
        </p:nvSpPr>
        <p:spPr>
          <a:xfrm>
            <a:off x="7778255" y="3926826"/>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Rectangle: Rounded Corners 62">
            <a:extLst>
              <a:ext uri="{FF2B5EF4-FFF2-40B4-BE49-F238E27FC236}">
                <a16:creationId xmlns:a16="http://schemas.microsoft.com/office/drawing/2014/main" id="{AB5EA1B8-78F6-8F31-2C5C-5E517C908CF4}"/>
              </a:ext>
            </a:extLst>
          </p:cNvPr>
          <p:cNvSpPr/>
          <p:nvPr/>
        </p:nvSpPr>
        <p:spPr>
          <a:xfrm>
            <a:off x="5954955" y="5166166"/>
            <a:ext cx="360000" cy="360000"/>
          </a:xfrm>
          <a:prstGeom prst="round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4" name="Straight Arrow Connector 63">
            <a:extLst>
              <a:ext uri="{FF2B5EF4-FFF2-40B4-BE49-F238E27FC236}">
                <a16:creationId xmlns:a16="http://schemas.microsoft.com/office/drawing/2014/main" id="{C313B84B-0DCD-F34B-83A1-5FCB47E8FFE3}"/>
              </a:ext>
            </a:extLst>
          </p:cNvPr>
          <p:cNvCxnSpPr>
            <a:cxnSpLocks/>
            <a:stCxn id="63" idx="1"/>
            <a:endCxn id="17" idx="2"/>
          </p:cNvCxnSpPr>
          <p:nvPr/>
        </p:nvCxnSpPr>
        <p:spPr>
          <a:xfrm flipH="1" flipV="1">
            <a:off x="4311656" y="4286826"/>
            <a:ext cx="1643299"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6618871B-9379-0F28-4350-7267D6312CBD}"/>
              </a:ext>
            </a:extLst>
          </p:cNvPr>
          <p:cNvCxnSpPr>
            <a:cxnSpLocks/>
            <a:stCxn id="63" idx="3"/>
            <a:endCxn id="18" idx="2"/>
          </p:cNvCxnSpPr>
          <p:nvPr/>
        </p:nvCxnSpPr>
        <p:spPr>
          <a:xfrm flipV="1">
            <a:off x="6314955" y="4286826"/>
            <a:ext cx="1643300"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72" name="TextBox 71">
            <a:extLst>
              <a:ext uri="{FF2B5EF4-FFF2-40B4-BE49-F238E27FC236}">
                <a16:creationId xmlns:a16="http://schemas.microsoft.com/office/drawing/2014/main" id="{907E6464-51A5-B8E3-70B4-B21728AAC44D}"/>
              </a:ext>
            </a:extLst>
          </p:cNvPr>
          <p:cNvSpPr txBox="1"/>
          <p:nvPr/>
        </p:nvSpPr>
        <p:spPr>
          <a:xfrm>
            <a:off x="5594155" y="5600357"/>
            <a:ext cx="2788584" cy="369332"/>
          </a:xfrm>
          <a:prstGeom prst="rect">
            <a:avLst/>
          </a:prstGeom>
          <a:noFill/>
        </p:spPr>
        <p:txBody>
          <a:bodyPr wrap="none" rtlCol="0">
            <a:spAutoFit/>
          </a:bodyPr>
          <a:lstStyle/>
          <a:p>
            <a:r>
              <a:rPr lang="en-US" noProof="0" dirty="0">
                <a:solidFill>
                  <a:schemeClr val="bg1">
                    <a:lumMod val="50000"/>
                  </a:schemeClr>
                </a:solidFill>
              </a:rPr>
              <a:t>pressure (0 = low, 1 = high)</a:t>
            </a: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C5A7FEE-6BB8-8C0C-939C-07B78057ED0C}"/>
                  </a:ext>
                </a:extLst>
              </p:cNvPr>
              <p:cNvSpPr txBox="1"/>
              <p:nvPr/>
            </p:nvSpPr>
            <p:spPr>
              <a:xfrm>
                <a:off x="935352" y="4622171"/>
                <a:ext cx="3980614" cy="523220"/>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−0.5</m:t>
                    </m:r>
                  </m:oMath>
                </a14:m>
                <a:r>
                  <a:rPr lang="en-US" sz="1400" noProof="0" dirty="0"/>
                  <a:t>: high pressure lets requirements engineers resort to their baseline way-of-working.</a:t>
                </a:r>
              </a:p>
            </p:txBody>
          </p:sp>
        </mc:Choice>
        <mc:Fallback xmlns="">
          <p:sp>
            <p:nvSpPr>
              <p:cNvPr id="73" name="TextBox 72">
                <a:extLst>
                  <a:ext uri="{FF2B5EF4-FFF2-40B4-BE49-F238E27FC236}">
                    <a16:creationId xmlns:a16="http://schemas.microsoft.com/office/drawing/2014/main" id="{2C5A7FEE-6BB8-8C0C-939C-07B78057ED0C}"/>
                  </a:ext>
                </a:extLst>
              </p:cNvPr>
              <p:cNvSpPr txBox="1">
                <a:spLocks noRot="1" noChangeAspect="1" noMove="1" noResize="1" noEditPoints="1" noAdjustHandles="1" noChangeArrowheads="1" noChangeShapeType="1" noTextEdit="1"/>
              </p:cNvSpPr>
              <p:nvPr/>
            </p:nvSpPr>
            <p:spPr>
              <a:xfrm>
                <a:off x="935352" y="4622171"/>
                <a:ext cx="3980614" cy="523220"/>
              </a:xfrm>
              <a:prstGeom prst="rect">
                <a:avLst/>
              </a:prstGeom>
              <a:blipFill>
                <a:blip r:embed="rId9"/>
                <a:stretch>
                  <a:fillRect l="-459" t="-2326" b="-1162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A76C3ACF-8569-C5EC-B16F-37065BAA086D}"/>
                  </a:ext>
                </a:extLst>
              </p:cNvPr>
              <p:cNvSpPr txBox="1"/>
              <p:nvPr/>
            </p:nvSpPr>
            <p:spPr>
              <a:xfrm>
                <a:off x="7174128" y="4707496"/>
                <a:ext cx="4013161" cy="307777"/>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−2</m:t>
                    </m:r>
                  </m:oMath>
                </a14:m>
                <a:r>
                  <a:rPr lang="en-US" sz="1400" noProof="0" dirty="0"/>
                  <a:t>:  high pressure strongly reduces the lead time</a:t>
                </a:r>
              </a:p>
            </p:txBody>
          </p:sp>
        </mc:Choice>
        <mc:Fallback xmlns="">
          <p:sp>
            <p:nvSpPr>
              <p:cNvPr id="74" name="TextBox 73">
                <a:extLst>
                  <a:ext uri="{FF2B5EF4-FFF2-40B4-BE49-F238E27FC236}">
                    <a16:creationId xmlns:a16="http://schemas.microsoft.com/office/drawing/2014/main" id="{A76C3ACF-8569-C5EC-B16F-37065BAA086D}"/>
                  </a:ext>
                </a:extLst>
              </p:cNvPr>
              <p:cNvSpPr txBox="1">
                <a:spLocks noRot="1" noChangeAspect="1" noMove="1" noResize="1" noEditPoints="1" noAdjustHandles="1" noChangeArrowheads="1" noChangeShapeType="1" noTextEdit="1"/>
              </p:cNvSpPr>
              <p:nvPr/>
            </p:nvSpPr>
            <p:spPr>
              <a:xfrm>
                <a:off x="7174128" y="4707496"/>
                <a:ext cx="4013161" cy="307777"/>
              </a:xfrm>
              <a:prstGeom prst="rect">
                <a:avLst/>
              </a:prstGeom>
              <a:blipFill>
                <a:blip r:embed="rId10"/>
                <a:stretch>
                  <a:fillRect t="-3922" b="-1960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FAFA2C-7DD5-BAC4-BB55-7D38CFE20C50}"/>
                  </a:ext>
                </a:extLst>
              </p:cNvPr>
              <p:cNvSpPr txBox="1"/>
              <p:nvPr/>
            </p:nvSpPr>
            <p:spPr>
              <a:xfrm>
                <a:off x="2419935" y="3575535"/>
                <a:ext cx="365884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D0180A"/>
                          </a:solidFill>
                          <a:latin typeface="Cambria Math" panose="02040503050406030204" pitchFamily="18" charset="0"/>
                        </a:rPr>
                        <m:t>~ </m:t>
                      </m:r>
                      <m:r>
                        <a:rPr lang="en-US" b="0" i="1" noProof="0" smtClean="0">
                          <a:solidFill>
                            <a:srgbClr val="D0180A"/>
                          </a:solidFill>
                          <a:latin typeface="Cambria Math" panose="02040503050406030204" pitchFamily="18" charset="0"/>
                        </a:rPr>
                        <m:t>𝑏𝑒𝑟𝑛𝑜𝑢𝑙𝑙𝑖</m:t>
                      </m:r>
                      <m:r>
                        <a:rPr lang="en-US" b="0" i="1" noProof="0" smtClean="0">
                          <a:solidFill>
                            <a:srgbClr val="D0180A"/>
                          </a:solidFill>
                          <a:latin typeface="Cambria Math" panose="02040503050406030204" pitchFamily="18" charset="0"/>
                        </a:rPr>
                        <m:t>(0.8−0.5∗</m:t>
                      </m:r>
                      <m:r>
                        <a:rPr lang="en-US" b="0" i="1" noProof="0" smtClean="0">
                          <a:solidFill>
                            <a:schemeClr val="bg1">
                              <a:lumMod val="50000"/>
                            </a:schemeClr>
                          </a:solidFill>
                          <a:latin typeface="Cambria Math" panose="02040503050406030204" pitchFamily="18" charset="0"/>
                        </a:rPr>
                        <m:t>𝑝𝑟𝑒𝑠𝑠𝑢𝑟𝑒</m:t>
                      </m:r>
                      <m:r>
                        <a:rPr lang="en-US" b="0" i="1" noProof="0" smtClean="0">
                          <a:solidFill>
                            <a:srgbClr val="D0180A"/>
                          </a:solidFill>
                          <a:latin typeface="Cambria Math" panose="02040503050406030204" pitchFamily="18" charset="0"/>
                        </a:rPr>
                        <m:t>)</m:t>
                      </m:r>
                    </m:oMath>
                  </m:oMathPara>
                </a14:m>
                <a:endParaRPr lang="en-US" noProof="0" dirty="0"/>
              </a:p>
            </p:txBody>
          </p:sp>
        </mc:Choice>
        <mc:Fallback xmlns="">
          <p:sp>
            <p:nvSpPr>
              <p:cNvPr id="3" name="TextBox 2">
                <a:extLst>
                  <a:ext uri="{FF2B5EF4-FFF2-40B4-BE49-F238E27FC236}">
                    <a16:creationId xmlns:a16="http://schemas.microsoft.com/office/drawing/2014/main" id="{9BFAFA2C-7DD5-BAC4-BB55-7D38CFE20C50}"/>
                  </a:ext>
                </a:extLst>
              </p:cNvPr>
              <p:cNvSpPr txBox="1">
                <a:spLocks noRot="1" noChangeAspect="1" noMove="1" noResize="1" noEditPoints="1" noAdjustHandles="1" noChangeArrowheads="1" noChangeShapeType="1" noTextEdit="1"/>
              </p:cNvSpPr>
              <p:nvPr/>
            </p:nvSpPr>
            <p:spPr>
              <a:xfrm>
                <a:off x="2419935" y="3575535"/>
                <a:ext cx="3658844" cy="369332"/>
              </a:xfrm>
              <a:prstGeom prst="rect">
                <a:avLst/>
              </a:prstGeom>
              <a:blipFill>
                <a:blip r:embed="rId11"/>
                <a:stretch>
                  <a:fillRect b="-1333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0ECA7AC-5ADC-77D8-6AA7-60723E076A51}"/>
                  </a:ext>
                </a:extLst>
              </p:cNvPr>
              <p:cNvSpPr txBox="1"/>
              <p:nvPr/>
            </p:nvSpPr>
            <p:spPr>
              <a:xfrm>
                <a:off x="7401051" y="3560542"/>
                <a:ext cx="4342962"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006D70"/>
                          </a:solidFill>
                          <a:latin typeface="Cambria Math" panose="02040503050406030204" pitchFamily="18" charset="0"/>
                        </a:rPr>
                        <m:t>~ </m:t>
                      </m:r>
                      <m:r>
                        <a:rPr lang="en-US" b="0" i="1" noProof="0" smtClean="0">
                          <a:solidFill>
                            <a:srgbClr val="006D70"/>
                          </a:solidFill>
                          <a:latin typeface="Cambria Math" panose="02040503050406030204" pitchFamily="18" charset="0"/>
                        </a:rPr>
                        <m:t>𝑁</m:t>
                      </m:r>
                      <m:r>
                        <a:rPr lang="en-US" b="0" i="1" noProof="0" smtClean="0">
                          <a:solidFill>
                            <a:srgbClr val="006D70"/>
                          </a:solidFill>
                          <a:latin typeface="Cambria Math" panose="02040503050406030204" pitchFamily="18" charset="0"/>
                        </a:rPr>
                        <m:t>(0−2∗</m:t>
                      </m:r>
                      <m:r>
                        <a:rPr lang="en-US" b="0" i="1" noProof="0" smtClean="0">
                          <a:solidFill>
                            <a:schemeClr val="bg1">
                              <a:lumMod val="50000"/>
                            </a:schemeClr>
                          </a:solidFill>
                          <a:latin typeface="Cambria Math" panose="02040503050406030204" pitchFamily="18" charset="0"/>
                        </a:rPr>
                        <m:t>𝑝𝑟𝑒𝑠𝑠𝑢𝑟𝑒</m:t>
                      </m:r>
                      <m:r>
                        <a:rPr lang="en-US" b="0" i="1" noProof="0" smtClean="0">
                          <a:solidFill>
                            <a:schemeClr val="tx1"/>
                          </a:solidFill>
                          <a:latin typeface="Cambria Math" panose="02040503050406030204" pitchFamily="18" charset="0"/>
                        </a:rPr>
                        <m:t>+</m:t>
                      </m:r>
                      <m:r>
                        <a:rPr lang="en-US" b="0" i="1" noProof="0" smtClean="0">
                          <a:solidFill>
                            <a:srgbClr val="D0180A"/>
                          </a:solidFill>
                          <a:latin typeface="Cambria Math" panose="02040503050406030204" pitchFamily="18" charset="0"/>
                        </a:rPr>
                        <m:t>0∗</m:t>
                      </m:r>
                      <m:r>
                        <a:rPr lang="en-US" b="0" i="1" noProof="0" smtClean="0">
                          <a:solidFill>
                            <a:srgbClr val="D0180A"/>
                          </a:solidFill>
                          <a:latin typeface="Cambria Math" panose="02040503050406030204" pitchFamily="18" charset="0"/>
                        </a:rPr>
                        <m:t>𝑓𝑜𝑟𝑚𝑎𝑡</m:t>
                      </m:r>
                      <m:r>
                        <a:rPr lang="en-US" b="0" i="1" noProof="0" smtClean="0">
                          <a:solidFill>
                            <a:srgbClr val="006D70"/>
                          </a:solidFill>
                          <a:latin typeface="Cambria Math" panose="02040503050406030204" pitchFamily="18" charset="0"/>
                        </a:rPr>
                        <m:t>, 1)</m:t>
                      </m:r>
                    </m:oMath>
                  </m:oMathPara>
                </a14:m>
                <a:endParaRPr lang="en-US" noProof="0" dirty="0"/>
              </a:p>
            </p:txBody>
          </p:sp>
        </mc:Choice>
        <mc:Fallback xmlns="">
          <p:sp>
            <p:nvSpPr>
              <p:cNvPr id="10" name="TextBox 9">
                <a:extLst>
                  <a:ext uri="{FF2B5EF4-FFF2-40B4-BE49-F238E27FC236}">
                    <a16:creationId xmlns:a16="http://schemas.microsoft.com/office/drawing/2014/main" id="{D0ECA7AC-5ADC-77D8-6AA7-60723E076A51}"/>
                  </a:ext>
                </a:extLst>
              </p:cNvPr>
              <p:cNvSpPr txBox="1">
                <a:spLocks noRot="1" noChangeAspect="1" noMove="1" noResize="1" noEditPoints="1" noAdjustHandles="1" noChangeArrowheads="1" noChangeShapeType="1" noTextEdit="1"/>
              </p:cNvSpPr>
              <p:nvPr/>
            </p:nvSpPr>
            <p:spPr>
              <a:xfrm>
                <a:off x="7401051" y="3560542"/>
                <a:ext cx="4342962" cy="369332"/>
              </a:xfrm>
              <a:prstGeom prst="rect">
                <a:avLst/>
              </a:prstGeom>
              <a:blipFill>
                <a:blip r:embed="rId12"/>
                <a:stretch>
                  <a:fillRect b="-1311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B970843-4859-3C70-35A8-52E315EB7732}"/>
                  </a:ext>
                </a:extLst>
              </p:cNvPr>
              <p:cNvSpPr txBox="1"/>
              <p:nvPr/>
            </p:nvSpPr>
            <p:spPr>
              <a:xfrm>
                <a:off x="5636586" y="5939122"/>
                <a:ext cx="2032000"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0" noProof="0" smtClean="0">
                          <a:solidFill>
                            <a:schemeClr val="bg1">
                              <a:lumMod val="50000"/>
                            </a:schemeClr>
                          </a:solidFill>
                          <a:latin typeface="Cambria Math" panose="02040503050406030204" pitchFamily="18" charset="0"/>
                        </a:rPr>
                        <m:t>~ </m:t>
                      </m:r>
                      <m:r>
                        <a:rPr lang="en-US" b="0" i="1" noProof="0" smtClean="0">
                          <a:solidFill>
                            <a:schemeClr val="bg1">
                              <a:lumMod val="50000"/>
                            </a:schemeClr>
                          </a:solidFill>
                          <a:latin typeface="Cambria Math" panose="02040503050406030204" pitchFamily="18" charset="0"/>
                        </a:rPr>
                        <m:t>𝑏𝑒𝑟𝑛𝑜𝑢𝑙𝑙𝑖</m:t>
                      </m:r>
                      <m:r>
                        <a:rPr lang="en-US" b="0" i="1" noProof="0" smtClean="0">
                          <a:solidFill>
                            <a:schemeClr val="bg1">
                              <a:lumMod val="50000"/>
                            </a:schemeClr>
                          </a:solidFill>
                          <a:latin typeface="Cambria Math" panose="02040503050406030204" pitchFamily="18" charset="0"/>
                        </a:rPr>
                        <m:t>(0.3)</m:t>
                      </m:r>
                    </m:oMath>
                  </m:oMathPara>
                </a14:m>
                <a:endParaRPr lang="en-US" noProof="0" dirty="0"/>
              </a:p>
            </p:txBody>
          </p:sp>
        </mc:Choice>
        <mc:Fallback xmlns="">
          <p:sp>
            <p:nvSpPr>
              <p:cNvPr id="12" name="TextBox 11">
                <a:extLst>
                  <a:ext uri="{FF2B5EF4-FFF2-40B4-BE49-F238E27FC236}">
                    <a16:creationId xmlns:a16="http://schemas.microsoft.com/office/drawing/2014/main" id="{BB970843-4859-3C70-35A8-52E315EB7732}"/>
                  </a:ext>
                </a:extLst>
              </p:cNvPr>
              <p:cNvSpPr txBox="1">
                <a:spLocks noRot="1" noChangeAspect="1" noMove="1" noResize="1" noEditPoints="1" noAdjustHandles="1" noChangeArrowheads="1" noChangeShapeType="1" noTextEdit="1"/>
              </p:cNvSpPr>
              <p:nvPr/>
            </p:nvSpPr>
            <p:spPr>
              <a:xfrm>
                <a:off x="5636586" y="5939122"/>
                <a:ext cx="2032000" cy="369332"/>
              </a:xfrm>
              <a:prstGeom prst="rect">
                <a:avLst/>
              </a:prstGeom>
              <a:blipFill>
                <a:blip r:embed="rId13"/>
                <a:stretch>
                  <a:fillRect b="-13115"/>
                </a:stretch>
              </a:blipFill>
            </p:spPr>
            <p:txBody>
              <a:bodyPr/>
              <a:lstStyle/>
              <a:p>
                <a:r>
                  <a:rPr lang="en-SE">
                    <a:noFill/>
                  </a:rPr>
                  <a:t> </a:t>
                </a:r>
              </a:p>
            </p:txBody>
          </p:sp>
        </mc:Fallback>
      </mc:AlternateContent>
    </p:spTree>
    <p:extLst>
      <p:ext uri="{BB962C8B-B14F-4D97-AF65-F5344CB8AC3E}">
        <p14:creationId xmlns:p14="http://schemas.microsoft.com/office/powerpoint/2010/main" val="371528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animBg="1"/>
      <p:bldP spid="18" grpId="0" animBg="1"/>
      <p:bldP spid="63" grpId="0" animBg="1"/>
      <p:bldP spid="72" grpId="0"/>
      <p:bldP spid="73" grpId="0"/>
      <p:bldP spid="74" grpId="0"/>
      <p:bldP spid="3" grpId="0"/>
      <p:bldP spid="10"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6973-DDBF-D7D0-D072-4B7FBD971FF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5ED6B7C-1381-1C31-8D01-8751769A69C4}"/>
              </a:ext>
            </a:extLst>
          </p:cNvPr>
          <p:cNvSpPr>
            <a:spLocks noGrp="1"/>
          </p:cNvSpPr>
          <p:nvPr>
            <p:ph type="title"/>
          </p:nvPr>
        </p:nvSpPr>
        <p:spPr/>
        <p:txBody>
          <a:bodyPr/>
          <a:lstStyle/>
          <a:p>
            <a:r>
              <a:rPr lang="en-US" noProof="0" dirty="0"/>
              <a:t>Confounding: Common Causes</a:t>
            </a:r>
          </a:p>
        </p:txBody>
      </p:sp>
      <p:sp>
        <p:nvSpPr>
          <p:cNvPr id="8" name="Content Placeholder 7">
            <a:extLst>
              <a:ext uri="{FF2B5EF4-FFF2-40B4-BE49-F238E27FC236}">
                <a16:creationId xmlns:a16="http://schemas.microsoft.com/office/drawing/2014/main" id="{3FBBEEF8-B181-2735-03C1-703A182687DD}"/>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pushed for a use case driven requirements specification approach. We investigate whether the </a:t>
            </a:r>
            <a:r>
              <a:rPr lang="en-US" sz="2400" b="1" noProof="0" dirty="0">
                <a:solidFill>
                  <a:srgbClr val="D0180A"/>
                </a:solidFill>
              </a:rPr>
              <a:t>specification format </a:t>
            </a:r>
            <a:r>
              <a:rPr lang="en-US" sz="2400" noProof="0" dirty="0"/>
              <a:t>of a requirement decreased the normalized </a:t>
            </a:r>
            <a:r>
              <a:rPr lang="en-US" sz="2400" b="1" noProof="0" dirty="0">
                <a:solidFill>
                  <a:srgbClr val="006D70"/>
                </a:solidFill>
              </a:rPr>
              <a:t>lead time</a:t>
            </a:r>
            <a:r>
              <a:rPr lang="en-US" sz="2400" noProof="0" dirty="0"/>
              <a:t>.”</a:t>
            </a:r>
          </a:p>
        </p:txBody>
      </p:sp>
      <p:sp>
        <p:nvSpPr>
          <p:cNvPr id="4" name="Date Placeholder 3">
            <a:extLst>
              <a:ext uri="{FF2B5EF4-FFF2-40B4-BE49-F238E27FC236}">
                <a16:creationId xmlns:a16="http://schemas.microsoft.com/office/drawing/2014/main" id="{54E7E6BC-592D-B0AD-4A20-1F32DFCF26CA}"/>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69DD4A2-DB3D-3C0F-C2A2-9FE5C63C03A3}"/>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98861CF0-B994-1CEB-746D-8B1555DA42BD}"/>
              </a:ext>
            </a:extLst>
          </p:cNvPr>
          <p:cNvSpPr>
            <a:spLocks noGrp="1"/>
          </p:cNvSpPr>
          <p:nvPr>
            <p:ph type="sldNum" sz="quarter" idx="12"/>
          </p:nvPr>
        </p:nvSpPr>
        <p:spPr/>
        <p:txBody>
          <a:bodyPr/>
          <a:lstStyle/>
          <a:p>
            <a:fld id="{0FA2D919-C0DE-4971-A2E9-D4AC0031921B}" type="slidenum">
              <a:rPr lang="en-US" noProof="0" smtClean="0"/>
              <a:t>29</a:t>
            </a:fld>
            <a:endParaRPr lang="en-US" noProof="0" dirty="0"/>
          </a:p>
        </p:txBody>
      </p:sp>
      <p:grpSp>
        <p:nvGrpSpPr>
          <p:cNvPr id="41" name="Group 40">
            <a:extLst>
              <a:ext uri="{FF2B5EF4-FFF2-40B4-BE49-F238E27FC236}">
                <a16:creationId xmlns:a16="http://schemas.microsoft.com/office/drawing/2014/main" id="{2F7B65F3-DE9E-717C-0BD0-00C96F1C3937}"/>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81F08605-2FDC-DED2-B31C-0860A612B678}"/>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43EA9796-56C5-4451-04AF-E3348084B64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282D7686-AF4A-56A3-3E1D-76953553357A}"/>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8E17CFD8-034C-A71F-17C9-2CCADAFAE217}"/>
                </a:ext>
              </a:extLst>
            </p:cNvPr>
            <p:cNvSpPr/>
            <p:nvPr/>
          </p:nvSpPr>
          <p:spPr>
            <a:xfrm>
              <a:off x="3313786" y="3686861"/>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F0A1B720-44DE-BAB2-45B1-901AFE23B71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2F5BD38F-F0FE-50DB-08A3-421394BCC7CB}"/>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909D93DC-3DB8-FD69-45AB-E158E33D50A9}"/>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3B45F6F3-B074-B320-0A32-FCF7EFDB9BD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ED3F18AF-DB2A-F519-122A-3B952FF21239}"/>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BE9A319B-28A0-99C3-9462-0665A10B12AB}"/>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FA46007F-5DC7-9A7E-5A8A-51D77EC33F9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734602AA-1D5E-B942-22F6-279AA6D7D698}"/>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769D5391-9110-BF65-DC26-BF7D41ADEBFC}"/>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0CE78221-4936-3E63-9C0B-232DDAADC8B6}"/>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240507E3-ABBC-E877-2684-9019F5B23420}"/>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66D86E8B-DB59-A742-40F6-F85A5DFF1544}"/>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1" name="Straight Arrow Connector 10">
            <a:extLst>
              <a:ext uri="{FF2B5EF4-FFF2-40B4-BE49-F238E27FC236}">
                <a16:creationId xmlns:a16="http://schemas.microsoft.com/office/drawing/2014/main" id="{A96D1002-43BE-97A5-7FA3-17EC2295378B}"/>
              </a:ext>
            </a:extLst>
          </p:cNvPr>
          <p:cNvCxnSpPr>
            <a:stCxn id="2" idx="6"/>
            <a:endCxn id="9"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91ACA41-2867-523E-FEE4-C7233080A39A}"/>
              </a:ext>
            </a:extLst>
          </p:cNvPr>
          <p:cNvSpPr txBox="1"/>
          <p:nvPr/>
        </p:nvSpPr>
        <p:spPr>
          <a:xfrm>
            <a:off x="1016670" y="3429000"/>
            <a:ext cx="2183226" cy="369332"/>
          </a:xfrm>
          <a:prstGeom prst="rect">
            <a:avLst/>
          </a:prstGeom>
          <a:noFill/>
        </p:spPr>
        <p:txBody>
          <a:bodyPr wrap="none" rtlCol="0">
            <a:spAutoFit/>
          </a:bodyPr>
          <a:lstStyle/>
          <a:p>
            <a:r>
              <a:rPr lang="en-US" noProof="0" dirty="0">
                <a:solidFill>
                  <a:srgbClr val="D0180A"/>
                </a:solidFill>
              </a:rPr>
              <a:t>specification format</a:t>
            </a:r>
          </a:p>
        </p:txBody>
      </p:sp>
      <p:sp>
        <p:nvSpPr>
          <p:cNvPr id="20" name="TextBox 19">
            <a:extLst>
              <a:ext uri="{FF2B5EF4-FFF2-40B4-BE49-F238E27FC236}">
                <a16:creationId xmlns:a16="http://schemas.microsoft.com/office/drawing/2014/main" id="{1B9F80C8-2614-8F05-585C-EC80A6A8F644}"/>
              </a:ext>
            </a:extLst>
          </p:cNvPr>
          <p:cNvSpPr txBox="1"/>
          <p:nvPr/>
        </p:nvSpPr>
        <p:spPr>
          <a:xfrm>
            <a:off x="3382935" y="4333666"/>
            <a:ext cx="1114408" cy="369332"/>
          </a:xfrm>
          <a:prstGeom prst="rect">
            <a:avLst/>
          </a:prstGeom>
          <a:noFill/>
        </p:spPr>
        <p:txBody>
          <a:bodyPr wrap="none" rtlCol="0">
            <a:spAutoFit/>
          </a:bodyPr>
          <a:lstStyle/>
          <a:p>
            <a:r>
              <a:rPr lang="en-US" noProof="0" dirty="0">
                <a:solidFill>
                  <a:srgbClr val="006D70"/>
                </a:solidFill>
              </a:rPr>
              <a:t>lead time</a:t>
            </a:r>
          </a:p>
        </p:txBody>
      </p:sp>
      <p:sp>
        <p:nvSpPr>
          <p:cNvPr id="21" name="Oval 20">
            <a:extLst>
              <a:ext uri="{FF2B5EF4-FFF2-40B4-BE49-F238E27FC236}">
                <a16:creationId xmlns:a16="http://schemas.microsoft.com/office/drawing/2014/main" id="{B34F66BF-588C-06B2-0C8A-0FA1722A71D1}"/>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TextBox 21">
            <a:extLst>
              <a:ext uri="{FF2B5EF4-FFF2-40B4-BE49-F238E27FC236}">
                <a16:creationId xmlns:a16="http://schemas.microsoft.com/office/drawing/2014/main" id="{49E990ED-27F0-CD91-8C48-0428EDBE1109}"/>
              </a:ext>
            </a:extLst>
          </p:cNvPr>
          <p:cNvSpPr txBox="1"/>
          <p:nvPr/>
        </p:nvSpPr>
        <p:spPr>
          <a:xfrm>
            <a:off x="2791327" y="5050631"/>
            <a:ext cx="1058431" cy="369332"/>
          </a:xfrm>
          <a:prstGeom prst="rect">
            <a:avLst/>
          </a:prstGeom>
          <a:noFill/>
        </p:spPr>
        <p:txBody>
          <a:bodyPr wrap="none" rtlCol="0">
            <a:spAutoFit/>
          </a:bodyPr>
          <a:lstStyle/>
          <a:p>
            <a:r>
              <a:rPr lang="en-US" noProof="0" dirty="0">
                <a:solidFill>
                  <a:schemeClr val="tx1">
                    <a:lumMod val="65000"/>
                    <a:lumOff val="35000"/>
                  </a:schemeClr>
                </a:solidFill>
              </a:rPr>
              <a:t>pressure</a:t>
            </a:r>
          </a:p>
        </p:txBody>
      </p:sp>
      <p:cxnSp>
        <p:nvCxnSpPr>
          <p:cNvPr id="23" name="Straight Arrow Connector 22">
            <a:extLst>
              <a:ext uri="{FF2B5EF4-FFF2-40B4-BE49-F238E27FC236}">
                <a16:creationId xmlns:a16="http://schemas.microsoft.com/office/drawing/2014/main" id="{9E4A159F-5756-8855-CE53-8E640FF882A1}"/>
              </a:ext>
            </a:extLst>
          </p:cNvPr>
          <p:cNvCxnSpPr>
            <a:cxnSpLocks/>
            <a:stCxn id="21" idx="7"/>
            <a:endCxn id="9" idx="3"/>
          </p:cNvCxnSpPr>
          <p:nvPr/>
        </p:nvCxnSpPr>
        <p:spPr>
          <a:xfrm flipV="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4A35E53A-4E34-AC74-EA64-A65B90431E1A}"/>
              </a:ext>
            </a:extLst>
          </p:cNvPr>
          <p:cNvCxnSpPr>
            <a:cxnSpLocks/>
            <a:stCxn id="21" idx="1"/>
            <a:endCxn id="2" idx="5"/>
          </p:cNvCxnSpPr>
          <p:nvPr/>
        </p:nvCxnSpPr>
        <p:spPr>
          <a:xfrm flipH="1" flipV="1">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7" name="Group 26">
            <a:extLst>
              <a:ext uri="{FF2B5EF4-FFF2-40B4-BE49-F238E27FC236}">
                <a16:creationId xmlns:a16="http://schemas.microsoft.com/office/drawing/2014/main" id="{37AC641E-D2C8-4ADD-225A-C2111EB80BA9}"/>
              </a:ext>
            </a:extLst>
          </p:cNvPr>
          <p:cNvGrpSpPr/>
          <p:nvPr/>
        </p:nvGrpSpPr>
        <p:grpSpPr>
          <a:xfrm>
            <a:off x="4814355" y="4032332"/>
            <a:ext cx="2563289" cy="432000"/>
            <a:chOff x="4604412" y="1893985"/>
            <a:chExt cx="2563289" cy="432000"/>
          </a:xfrm>
        </p:grpSpPr>
        <p:sp>
          <p:nvSpPr>
            <p:cNvPr id="28" name="Arrow: Pentagon 27">
              <a:extLst>
                <a:ext uri="{FF2B5EF4-FFF2-40B4-BE49-F238E27FC236}">
                  <a16:creationId xmlns:a16="http://schemas.microsoft.com/office/drawing/2014/main" id="{0117FE4E-1B46-C75F-7729-69947C4AD538}"/>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29" name="Graphic 28" descr="Connections with solid fill">
              <a:extLst>
                <a:ext uri="{FF2B5EF4-FFF2-40B4-BE49-F238E27FC236}">
                  <a16:creationId xmlns:a16="http://schemas.microsoft.com/office/drawing/2014/main" id="{5314595E-8D59-8181-8221-EB33EBCA37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954577D-34E5-D390-E8C3-5321DB6103AC}"/>
                  </a:ext>
                </a:extLst>
              </p:cNvPr>
              <p:cNvSpPr txBox="1"/>
              <p:nvPr/>
            </p:nvSpPr>
            <p:spPr>
              <a:xfrm>
                <a:off x="7609259" y="3714745"/>
                <a:ext cx="27656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 </m:t>
                      </m:r>
                      <m:r>
                        <a:rPr lang="en-US" b="0" i="1" noProof="0" smtClean="0">
                          <a:solidFill>
                            <a:srgbClr val="006D70"/>
                          </a:solidFill>
                          <a:latin typeface="Cambria Math" panose="02040503050406030204" pitchFamily="18" charset="0"/>
                        </a:rPr>
                        <m:t>𝑙𝑒𝑎𝑑𝑡𝑖𝑚𝑒</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𝑓𝑜𝑟𝑚𝑎𝑡</m:t>
                      </m:r>
                    </m:oMath>
                  </m:oMathPara>
                </a14:m>
                <a:endParaRPr lang="en-US" noProof="0" dirty="0"/>
              </a:p>
            </p:txBody>
          </p:sp>
        </mc:Choice>
        <mc:Fallback xmlns="">
          <p:sp>
            <p:nvSpPr>
              <p:cNvPr id="30" name="TextBox 29">
                <a:extLst>
                  <a:ext uri="{FF2B5EF4-FFF2-40B4-BE49-F238E27FC236}">
                    <a16:creationId xmlns:a16="http://schemas.microsoft.com/office/drawing/2014/main" id="{D954577D-34E5-D390-E8C3-5321DB6103AC}"/>
                  </a:ext>
                </a:extLst>
              </p:cNvPr>
              <p:cNvSpPr txBox="1">
                <a:spLocks noRot="1" noChangeAspect="1" noMove="1" noResize="1" noEditPoints="1" noAdjustHandles="1" noChangeArrowheads="1" noChangeShapeType="1" noTextEdit="1"/>
              </p:cNvSpPr>
              <p:nvPr/>
            </p:nvSpPr>
            <p:spPr>
              <a:xfrm>
                <a:off x="7609259" y="3714745"/>
                <a:ext cx="2765694" cy="276999"/>
              </a:xfrm>
              <a:prstGeom prst="rect">
                <a:avLst/>
              </a:prstGeom>
              <a:blipFill>
                <a:blip r:embed="rId10"/>
                <a:stretch>
                  <a:fillRect l="-881" t="-2174" r="-2643"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888412E-1621-6512-FBBC-28EBE4354E8C}"/>
                  </a:ext>
                </a:extLst>
              </p:cNvPr>
              <p:cNvSpPr txBox="1"/>
              <p:nvPr/>
            </p:nvSpPr>
            <p:spPr>
              <a:xfrm>
                <a:off x="7609259" y="4286234"/>
                <a:ext cx="39735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 </m:t>
                      </m:r>
                      <m:r>
                        <a:rPr lang="en-US" b="0" i="1" noProof="0" smtClean="0">
                          <a:solidFill>
                            <a:srgbClr val="006D70"/>
                          </a:solidFill>
                          <a:latin typeface="Cambria Math" panose="02040503050406030204" pitchFamily="18" charset="0"/>
                        </a:rPr>
                        <m:t>𝑙𝑒𝑎𝑑𝑡𝑖𝑚𝑒</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𝑓𝑜𝑟𝑚𝑎𝑡</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𝑝𝑟𝑒𝑠𝑠𝑢𝑟𝑒</m:t>
                      </m:r>
                    </m:oMath>
                  </m:oMathPara>
                </a14:m>
                <a:endParaRPr lang="en-US" noProof="0" dirty="0"/>
              </a:p>
            </p:txBody>
          </p:sp>
        </mc:Choice>
        <mc:Fallback xmlns="">
          <p:sp>
            <p:nvSpPr>
              <p:cNvPr id="31" name="TextBox 30">
                <a:extLst>
                  <a:ext uri="{FF2B5EF4-FFF2-40B4-BE49-F238E27FC236}">
                    <a16:creationId xmlns:a16="http://schemas.microsoft.com/office/drawing/2014/main" id="{D888412E-1621-6512-FBBC-28EBE4354E8C}"/>
                  </a:ext>
                </a:extLst>
              </p:cNvPr>
              <p:cNvSpPr txBox="1">
                <a:spLocks noRot="1" noChangeAspect="1" noMove="1" noResize="1" noEditPoints="1" noAdjustHandles="1" noChangeArrowheads="1" noChangeShapeType="1" noTextEdit="1"/>
              </p:cNvSpPr>
              <p:nvPr/>
            </p:nvSpPr>
            <p:spPr>
              <a:xfrm>
                <a:off x="7609259" y="4286234"/>
                <a:ext cx="3973524" cy="276999"/>
              </a:xfrm>
              <a:prstGeom prst="rect">
                <a:avLst/>
              </a:prstGeom>
              <a:blipFill>
                <a:blip r:embed="rId11"/>
                <a:stretch>
                  <a:fillRect l="-460" t="-2174" r="-1074" b="-32609"/>
                </a:stretch>
              </a:blipFill>
            </p:spPr>
            <p:txBody>
              <a:bodyPr/>
              <a:lstStyle/>
              <a:p>
                <a:r>
                  <a:rPr lang="en-SE">
                    <a:noFill/>
                  </a:rPr>
                  <a:t> </a:t>
                </a:r>
              </a:p>
            </p:txBody>
          </p:sp>
        </mc:Fallback>
      </mc:AlternateContent>
    </p:spTree>
    <p:extLst>
      <p:ext uri="{BB962C8B-B14F-4D97-AF65-F5344CB8AC3E}">
        <p14:creationId xmlns:p14="http://schemas.microsoft.com/office/powerpoint/2010/main" val="3455086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A0A4E-3B9D-D037-EF40-79B11A0996A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566744E-2784-C0DB-9082-A3FE9706C210}"/>
              </a:ext>
            </a:extLst>
          </p:cNvPr>
          <p:cNvSpPr>
            <a:spLocks noGrp="1"/>
          </p:cNvSpPr>
          <p:nvPr>
            <p:ph type="title"/>
          </p:nvPr>
        </p:nvSpPr>
        <p:spPr/>
        <p:txBody>
          <a:bodyPr/>
          <a:lstStyle/>
          <a:p>
            <a:r>
              <a:rPr lang="en-US" noProof="0" dirty="0"/>
              <a:t>Confounding: Common Causes</a:t>
            </a:r>
          </a:p>
        </p:txBody>
      </p:sp>
      <p:sp>
        <p:nvSpPr>
          <p:cNvPr id="8" name="Content Placeholder 7">
            <a:extLst>
              <a:ext uri="{FF2B5EF4-FFF2-40B4-BE49-F238E27FC236}">
                <a16:creationId xmlns:a16="http://schemas.microsoft.com/office/drawing/2014/main" id="{25D83A05-39C3-AD2C-75A0-84495426378A}"/>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pushed for a use case driven requirements specification approach. We investigate whether the </a:t>
            </a:r>
            <a:r>
              <a:rPr lang="en-US" sz="2400" b="1" noProof="0" dirty="0">
                <a:solidFill>
                  <a:srgbClr val="D0180A"/>
                </a:solidFill>
              </a:rPr>
              <a:t>specification format </a:t>
            </a:r>
            <a:r>
              <a:rPr lang="en-US" sz="2400" noProof="0" dirty="0"/>
              <a:t>of a requirement decreased the normalized </a:t>
            </a:r>
            <a:r>
              <a:rPr lang="en-US" sz="2400" b="1" noProof="0" dirty="0">
                <a:solidFill>
                  <a:srgbClr val="006D70"/>
                </a:solidFill>
              </a:rPr>
              <a:t>lead time</a:t>
            </a:r>
            <a:r>
              <a:rPr lang="en-US" sz="2400" noProof="0" dirty="0"/>
              <a:t>.”</a:t>
            </a:r>
          </a:p>
        </p:txBody>
      </p:sp>
      <p:sp>
        <p:nvSpPr>
          <p:cNvPr id="4" name="Date Placeholder 3">
            <a:extLst>
              <a:ext uri="{FF2B5EF4-FFF2-40B4-BE49-F238E27FC236}">
                <a16:creationId xmlns:a16="http://schemas.microsoft.com/office/drawing/2014/main" id="{9052B9A5-FD42-B3DB-8CFB-6A1FA1F50201}"/>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05FB7FA3-2D82-9288-4B3A-CB39BEB344D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FCAA7AB-AB28-5BBC-6C98-4F6AF9F52DB4}"/>
              </a:ext>
            </a:extLst>
          </p:cNvPr>
          <p:cNvSpPr>
            <a:spLocks noGrp="1"/>
          </p:cNvSpPr>
          <p:nvPr>
            <p:ph type="sldNum" sz="quarter" idx="12"/>
          </p:nvPr>
        </p:nvSpPr>
        <p:spPr/>
        <p:txBody>
          <a:bodyPr/>
          <a:lstStyle/>
          <a:p>
            <a:fld id="{0FA2D919-C0DE-4971-A2E9-D4AC0031921B}" type="slidenum">
              <a:rPr lang="en-US" noProof="0" smtClean="0"/>
              <a:t>30</a:t>
            </a:fld>
            <a:endParaRPr lang="en-US" noProof="0" dirty="0"/>
          </a:p>
        </p:txBody>
      </p:sp>
      <p:grpSp>
        <p:nvGrpSpPr>
          <p:cNvPr id="41" name="Group 40">
            <a:extLst>
              <a:ext uri="{FF2B5EF4-FFF2-40B4-BE49-F238E27FC236}">
                <a16:creationId xmlns:a16="http://schemas.microsoft.com/office/drawing/2014/main" id="{E1F7CC95-10A0-2A83-6093-4A0BE70B99C1}"/>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29EFA9F4-1D25-240D-1F96-94306EF076F0}"/>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950C2C4C-4C01-6192-775E-605F0C08FC7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4AFAB73F-AA57-D0F0-94C8-19F1C60A2D46}"/>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15237960-2D46-74AE-66C0-17B0BCAB13EE}"/>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30CCCF04-C193-1FB7-E918-095BF8FA677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697489A6-C812-0CBC-7B92-0B564AE549BF}"/>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745FE7FA-86E2-4379-C443-10921F536327}"/>
                </a:ext>
              </a:extLst>
            </p:cNvPr>
            <p:cNvSpPr/>
            <p:nvPr/>
          </p:nvSpPr>
          <p:spPr>
            <a:xfrm>
              <a:off x="3313786" y="3686861"/>
              <a:ext cx="1080000" cy="1080000"/>
            </a:xfrm>
            <a:prstGeom prst="ellipse">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54D67EDB-263E-6A53-6367-E0CC6766E3D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8FCBE6FB-816B-97A6-E46A-ECD66097149F}"/>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D3B8FFAF-2865-A1B6-3CF7-1EE39CA034B8}"/>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4089071F-03D2-3406-1921-784B6B65C6C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34A3E8A4-8196-FBD3-DB0E-9AC01E9CA5F6}"/>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3E1F93CF-B3BB-0A53-ADDC-72B01BBF956D}"/>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7072C719-3A7F-6C91-9B63-7C20338E2420}"/>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2" name="Picture 11">
            <a:extLst>
              <a:ext uri="{FF2B5EF4-FFF2-40B4-BE49-F238E27FC236}">
                <a16:creationId xmlns:a16="http://schemas.microsoft.com/office/drawing/2014/main" id="{68B8BD47-A696-C657-D934-0F8D233478B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209800" y="3143256"/>
            <a:ext cx="5707706" cy="2815802"/>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E921D15-2829-163A-7870-9AF4A1573B91}"/>
                  </a:ext>
                </a:extLst>
              </p:cNvPr>
              <p:cNvSpPr txBox="1"/>
              <p:nvPr/>
            </p:nvSpPr>
            <p:spPr>
              <a:xfrm>
                <a:off x="8049526" y="3206806"/>
                <a:ext cx="27656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 </m:t>
                      </m:r>
                      <m:r>
                        <a:rPr lang="en-US" b="0" i="1" noProof="0" smtClean="0">
                          <a:solidFill>
                            <a:srgbClr val="006D70"/>
                          </a:solidFill>
                          <a:latin typeface="Cambria Math" panose="02040503050406030204" pitchFamily="18" charset="0"/>
                        </a:rPr>
                        <m:t>𝑙𝑒𝑎𝑑𝑡𝑖𝑚𝑒</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𝑓𝑜𝑟𝑚𝑎𝑡</m:t>
                      </m:r>
                    </m:oMath>
                  </m:oMathPara>
                </a14:m>
                <a:endParaRPr lang="en-US" noProof="0" dirty="0"/>
              </a:p>
            </p:txBody>
          </p:sp>
        </mc:Choice>
        <mc:Fallback xmlns="">
          <p:sp>
            <p:nvSpPr>
              <p:cNvPr id="2" name="TextBox 1">
                <a:extLst>
                  <a:ext uri="{FF2B5EF4-FFF2-40B4-BE49-F238E27FC236}">
                    <a16:creationId xmlns:a16="http://schemas.microsoft.com/office/drawing/2014/main" id="{8E921D15-2829-163A-7870-9AF4A1573B91}"/>
                  </a:ext>
                </a:extLst>
              </p:cNvPr>
              <p:cNvSpPr txBox="1">
                <a:spLocks noRot="1" noChangeAspect="1" noMove="1" noResize="1" noEditPoints="1" noAdjustHandles="1" noChangeArrowheads="1" noChangeShapeType="1" noTextEdit="1"/>
              </p:cNvSpPr>
              <p:nvPr/>
            </p:nvSpPr>
            <p:spPr>
              <a:xfrm>
                <a:off x="8049526" y="3206806"/>
                <a:ext cx="2765694" cy="276999"/>
              </a:xfrm>
              <a:prstGeom prst="rect">
                <a:avLst/>
              </a:prstGeom>
              <a:blipFill>
                <a:blip r:embed="rId9"/>
                <a:stretch>
                  <a:fillRect l="-881" t="-2222" r="-2643"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60C0D2F-E24B-ACD8-CF6B-0D5B7EEE5704}"/>
                  </a:ext>
                </a:extLst>
              </p:cNvPr>
              <p:cNvSpPr txBox="1"/>
              <p:nvPr/>
            </p:nvSpPr>
            <p:spPr>
              <a:xfrm>
                <a:off x="8049526" y="4302529"/>
                <a:ext cx="39735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 </m:t>
                      </m:r>
                      <m:r>
                        <a:rPr lang="en-US" b="0" i="1" noProof="0" smtClean="0">
                          <a:solidFill>
                            <a:srgbClr val="006D70"/>
                          </a:solidFill>
                          <a:latin typeface="Cambria Math" panose="02040503050406030204" pitchFamily="18" charset="0"/>
                        </a:rPr>
                        <m:t>𝑙𝑒𝑎𝑑𝑡𝑖𝑚𝑒</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𝑓𝑜𝑟𝑚𝑎𝑡</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𝑝𝑟𝑒𝑠𝑠𝑢𝑟𝑒</m:t>
                      </m:r>
                    </m:oMath>
                  </m:oMathPara>
                </a14:m>
                <a:endParaRPr lang="en-US" noProof="0" dirty="0"/>
              </a:p>
            </p:txBody>
          </p:sp>
        </mc:Choice>
        <mc:Fallback xmlns="">
          <p:sp>
            <p:nvSpPr>
              <p:cNvPr id="3" name="TextBox 2">
                <a:extLst>
                  <a:ext uri="{FF2B5EF4-FFF2-40B4-BE49-F238E27FC236}">
                    <a16:creationId xmlns:a16="http://schemas.microsoft.com/office/drawing/2014/main" id="{160C0D2F-E24B-ACD8-CF6B-0D5B7EEE5704}"/>
                  </a:ext>
                </a:extLst>
              </p:cNvPr>
              <p:cNvSpPr txBox="1">
                <a:spLocks noRot="1" noChangeAspect="1" noMove="1" noResize="1" noEditPoints="1" noAdjustHandles="1" noChangeArrowheads="1" noChangeShapeType="1" noTextEdit="1"/>
              </p:cNvSpPr>
              <p:nvPr/>
            </p:nvSpPr>
            <p:spPr>
              <a:xfrm>
                <a:off x="8049526" y="4302529"/>
                <a:ext cx="3973524" cy="276999"/>
              </a:xfrm>
              <a:prstGeom prst="rect">
                <a:avLst/>
              </a:prstGeom>
              <a:blipFill>
                <a:blip r:embed="rId10"/>
                <a:stretch>
                  <a:fillRect l="-460" t="-2222" r="-1074" b="-35556"/>
                </a:stretch>
              </a:blipFill>
            </p:spPr>
            <p:txBody>
              <a:bodyPr/>
              <a:lstStyle/>
              <a:p>
                <a:r>
                  <a:rPr lang="en-SE">
                    <a:noFill/>
                  </a:rPr>
                  <a:t> </a:t>
                </a:r>
              </a:p>
            </p:txBody>
          </p:sp>
        </mc:Fallback>
      </mc:AlternateContent>
    </p:spTree>
    <p:extLst>
      <p:ext uri="{BB962C8B-B14F-4D97-AF65-F5344CB8AC3E}">
        <p14:creationId xmlns:p14="http://schemas.microsoft.com/office/powerpoint/2010/main" val="1416672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90E50-DCA3-B62B-5EED-126C2DAA7B7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F17583-CE77-D8B1-43AF-BDEC584C7BE7}"/>
              </a:ext>
            </a:extLst>
          </p:cNvPr>
          <p:cNvSpPr>
            <a:spLocks noGrp="1"/>
          </p:cNvSpPr>
          <p:nvPr>
            <p:ph type="title"/>
          </p:nvPr>
        </p:nvSpPr>
        <p:spPr/>
        <p:txBody>
          <a:bodyPr/>
          <a:lstStyle/>
          <a:p>
            <a:r>
              <a:rPr lang="en-US" noProof="0" dirty="0"/>
              <a:t>Confounding: Common Causes</a:t>
            </a:r>
          </a:p>
        </p:txBody>
      </p:sp>
      <p:sp>
        <p:nvSpPr>
          <p:cNvPr id="8" name="Content Placeholder 7">
            <a:extLst>
              <a:ext uri="{FF2B5EF4-FFF2-40B4-BE49-F238E27FC236}">
                <a16:creationId xmlns:a16="http://schemas.microsoft.com/office/drawing/2014/main" id="{DC4B9655-F706-553E-2AA6-DC9ACE20F56A}"/>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pushed for a use case driven requirements specification approach. We investigate whether the </a:t>
            </a:r>
            <a:r>
              <a:rPr lang="en-US" sz="2400" b="1" noProof="0" dirty="0">
                <a:solidFill>
                  <a:srgbClr val="D0180A"/>
                </a:solidFill>
              </a:rPr>
              <a:t>specification format </a:t>
            </a:r>
            <a:r>
              <a:rPr lang="en-US" sz="2400" noProof="0" dirty="0"/>
              <a:t>of a requirement decreased the normalized </a:t>
            </a:r>
            <a:r>
              <a:rPr lang="en-US" sz="2400" b="1" noProof="0" dirty="0">
                <a:solidFill>
                  <a:srgbClr val="006D70"/>
                </a:solidFill>
              </a:rPr>
              <a:t>lead time</a:t>
            </a:r>
            <a:r>
              <a:rPr lang="en-US" sz="2400" noProof="0" dirty="0"/>
              <a:t>.”</a:t>
            </a:r>
          </a:p>
        </p:txBody>
      </p:sp>
      <p:sp>
        <p:nvSpPr>
          <p:cNvPr id="4" name="Date Placeholder 3">
            <a:extLst>
              <a:ext uri="{FF2B5EF4-FFF2-40B4-BE49-F238E27FC236}">
                <a16:creationId xmlns:a16="http://schemas.microsoft.com/office/drawing/2014/main" id="{59DC0F57-A7E8-9C77-95F5-5764421DFBD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A6F0E7D-50F5-AC27-0887-BC608EF0306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1AC1999-FB6F-4D3C-340C-31091B3002E3}"/>
              </a:ext>
            </a:extLst>
          </p:cNvPr>
          <p:cNvSpPr>
            <a:spLocks noGrp="1"/>
          </p:cNvSpPr>
          <p:nvPr>
            <p:ph type="sldNum" sz="quarter" idx="12"/>
          </p:nvPr>
        </p:nvSpPr>
        <p:spPr/>
        <p:txBody>
          <a:bodyPr/>
          <a:lstStyle/>
          <a:p>
            <a:fld id="{0FA2D919-C0DE-4971-A2E9-D4AC0031921B}" type="slidenum">
              <a:rPr lang="en-US" noProof="0" smtClean="0"/>
              <a:t>31</a:t>
            </a:fld>
            <a:endParaRPr lang="en-US" noProof="0" dirty="0"/>
          </a:p>
        </p:txBody>
      </p:sp>
      <p:grpSp>
        <p:nvGrpSpPr>
          <p:cNvPr id="41" name="Group 40">
            <a:extLst>
              <a:ext uri="{FF2B5EF4-FFF2-40B4-BE49-F238E27FC236}">
                <a16:creationId xmlns:a16="http://schemas.microsoft.com/office/drawing/2014/main" id="{D8DDE1E6-65D9-181B-BFEE-1019BCA52243}"/>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7D7B42CD-5F12-148A-EC3B-EC65695E7090}"/>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CD1D9996-9D55-B742-4970-587BADF50C2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124232C4-F965-EFCD-6370-C5216240F97E}"/>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9C1AB084-E70B-C87C-150E-3414BE04467A}"/>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8A946020-4AD5-1721-5846-395C2FBFD81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B25C5298-BA48-7828-54B5-E8D6B72CB26D}"/>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5B0DDA8C-FC64-C348-7F2F-B198D1D4D5E4}"/>
                </a:ext>
              </a:extLst>
            </p:cNvPr>
            <p:cNvSpPr/>
            <p:nvPr/>
          </p:nvSpPr>
          <p:spPr>
            <a:xfrm>
              <a:off x="3313786" y="3686861"/>
              <a:ext cx="1080000" cy="1080000"/>
            </a:xfrm>
            <a:prstGeom prst="ellipse">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5B4038DD-5E1C-4847-883C-D5E396A9B13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6BF6ADF3-992F-C3C4-1571-7D5D3B5E3CF7}"/>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D1A59C23-E446-7396-2E8D-0BD70AEC3903}"/>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667F36FF-DC42-D2EC-2611-A2495B2CA36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B174A699-31E5-61D2-2430-0F7D8899EE85}"/>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B83CE25D-1EA6-E6AF-7418-58620DB44D99}"/>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EEFB451A-FEF7-76B7-B89A-5CB75CCB3E9B}"/>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89E74D7B-8972-FF89-DB6D-4B425278C221}"/>
              </a:ext>
            </a:extLst>
          </p:cNvPr>
          <p:cNvPicPr>
            <a:picLocks noChangeAspect="1"/>
          </p:cNvPicPr>
          <p:nvPr/>
        </p:nvPicPr>
        <p:blipFill>
          <a:blip r:embed="rId6"/>
          <a:stretch>
            <a:fillRect/>
          </a:stretch>
        </p:blipFill>
        <p:spPr>
          <a:xfrm>
            <a:off x="993286" y="3143256"/>
            <a:ext cx="3083743" cy="3093943"/>
          </a:xfrm>
          <a:prstGeom prst="rect">
            <a:avLst/>
          </a:prstGeom>
        </p:spPr>
      </p:pic>
      <p:pic>
        <p:nvPicPr>
          <p:cNvPr id="10" name="Picture 9">
            <a:extLst>
              <a:ext uri="{FF2B5EF4-FFF2-40B4-BE49-F238E27FC236}">
                <a16:creationId xmlns:a16="http://schemas.microsoft.com/office/drawing/2014/main" id="{A1CE548C-A8FE-F510-973D-4061D00E94D2}"/>
              </a:ext>
            </a:extLst>
          </p:cNvPr>
          <p:cNvPicPr>
            <a:picLocks noChangeAspect="1"/>
          </p:cNvPicPr>
          <p:nvPr/>
        </p:nvPicPr>
        <p:blipFill>
          <a:blip r:embed="rId7"/>
          <a:stretch>
            <a:fillRect/>
          </a:stretch>
        </p:blipFill>
        <p:spPr>
          <a:xfrm>
            <a:off x="4535813" y="2932349"/>
            <a:ext cx="6624860" cy="3304850"/>
          </a:xfrm>
          <a:prstGeom prst="rect">
            <a:avLst/>
          </a:prstGeom>
        </p:spPr>
      </p:pic>
    </p:spTree>
    <p:extLst>
      <p:ext uri="{BB962C8B-B14F-4D97-AF65-F5344CB8AC3E}">
        <p14:creationId xmlns:p14="http://schemas.microsoft.com/office/powerpoint/2010/main" val="244043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41BC-8090-E56E-0135-BA773EB0921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75E9B42-312D-DA71-6E6E-0331656E985B}"/>
              </a:ext>
            </a:extLst>
          </p:cNvPr>
          <p:cNvSpPr>
            <a:spLocks noGrp="1"/>
          </p:cNvSpPr>
          <p:nvPr>
            <p:ph type="title"/>
          </p:nvPr>
        </p:nvSpPr>
        <p:spPr/>
        <p:txBody>
          <a:bodyPr/>
          <a:lstStyle/>
          <a:p>
            <a:r>
              <a:rPr lang="en-US" noProof="0" dirty="0"/>
              <a:t>Confounding: Common Causes</a:t>
            </a:r>
          </a:p>
        </p:txBody>
      </p:sp>
      <p:sp>
        <p:nvSpPr>
          <p:cNvPr id="8" name="Content Placeholder 7">
            <a:extLst>
              <a:ext uri="{FF2B5EF4-FFF2-40B4-BE49-F238E27FC236}">
                <a16:creationId xmlns:a16="http://schemas.microsoft.com/office/drawing/2014/main" id="{BD33D7ED-7D7B-1461-7BF3-6E71D9A3C39E}"/>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pushed for a use case driven requirements specification approach. We investigate whether the </a:t>
            </a:r>
            <a:r>
              <a:rPr lang="en-US" sz="2400" b="1" noProof="0" dirty="0">
                <a:solidFill>
                  <a:srgbClr val="D0180A"/>
                </a:solidFill>
              </a:rPr>
              <a:t>specification format </a:t>
            </a:r>
            <a:r>
              <a:rPr lang="en-US" sz="2400" noProof="0" dirty="0"/>
              <a:t>of a requirement decreased the normalized </a:t>
            </a:r>
            <a:r>
              <a:rPr lang="en-US" sz="2400" b="1" noProof="0" dirty="0">
                <a:solidFill>
                  <a:srgbClr val="006D70"/>
                </a:solidFill>
              </a:rPr>
              <a:t>lead time</a:t>
            </a:r>
            <a:r>
              <a:rPr lang="en-US" sz="2400" noProof="0" dirty="0"/>
              <a:t>.”</a:t>
            </a:r>
          </a:p>
        </p:txBody>
      </p:sp>
      <p:sp>
        <p:nvSpPr>
          <p:cNvPr id="4" name="Date Placeholder 3">
            <a:extLst>
              <a:ext uri="{FF2B5EF4-FFF2-40B4-BE49-F238E27FC236}">
                <a16:creationId xmlns:a16="http://schemas.microsoft.com/office/drawing/2014/main" id="{4F25C6E8-07F0-1939-6F43-08CCB3A0B9FB}"/>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05488ECC-7FB3-568B-383A-86A6D7CAF90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7D22698-BB2C-CDDD-A91A-339C1DEDB5A0}"/>
              </a:ext>
            </a:extLst>
          </p:cNvPr>
          <p:cNvSpPr>
            <a:spLocks noGrp="1"/>
          </p:cNvSpPr>
          <p:nvPr>
            <p:ph type="sldNum" sz="quarter" idx="12"/>
          </p:nvPr>
        </p:nvSpPr>
        <p:spPr/>
        <p:txBody>
          <a:bodyPr/>
          <a:lstStyle/>
          <a:p>
            <a:fld id="{0FA2D919-C0DE-4971-A2E9-D4AC0031921B}" type="slidenum">
              <a:rPr lang="en-US" noProof="0" smtClean="0"/>
              <a:t>32</a:t>
            </a:fld>
            <a:endParaRPr lang="en-US" noProof="0" dirty="0"/>
          </a:p>
        </p:txBody>
      </p:sp>
      <p:grpSp>
        <p:nvGrpSpPr>
          <p:cNvPr id="41" name="Group 40">
            <a:extLst>
              <a:ext uri="{FF2B5EF4-FFF2-40B4-BE49-F238E27FC236}">
                <a16:creationId xmlns:a16="http://schemas.microsoft.com/office/drawing/2014/main" id="{6B434AA5-5BA7-63A4-84CE-8BA5B02451AF}"/>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E2C8CA29-446C-FAA2-0DF3-FD393C940615}"/>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E93550D0-571E-8523-9E42-FD206BB5E0F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C6841811-AFFC-5E63-4025-968611D1D458}"/>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988BE7FB-2FC6-ACE5-2210-0538B307916D}"/>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5998EF44-58C8-DEE5-76D9-E4EEBE28982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23965FBD-4869-8679-D4DF-6CB73BC04A7D}"/>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B03F1050-1813-197D-1DD9-164518C8E5CF}"/>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6EED660D-7F2B-25DD-0C24-9C7641DF749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E56588C4-7EB4-6AD9-4E93-D5D935539C18}"/>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014CEA9B-4A3F-EF42-9605-0A4CA50F22D2}"/>
                </a:ext>
              </a:extLst>
            </p:cNvPr>
            <p:cNvSpPr/>
            <p:nvPr/>
          </p:nvSpPr>
          <p:spPr>
            <a:xfrm>
              <a:off x="3313786" y="3686861"/>
              <a:ext cx="1080000" cy="1080000"/>
            </a:xfrm>
            <a:prstGeom prst="ellipse">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025CE715-DA09-CC65-8FC0-E56BD0ACAD0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2F23555E-73A0-A2AB-2966-91517BBA2AC3}"/>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68B1D0D9-FD45-CC95-9CFA-46595CD018B6}"/>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1FDD771F-2481-58FA-A4E6-3497AE54694F}"/>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04DA6AF2-5E02-7E7D-36C1-39F159C87145}"/>
              </a:ext>
            </a:extLst>
          </p:cNvPr>
          <p:cNvSpPr/>
          <p:nvPr/>
        </p:nvSpPr>
        <p:spPr>
          <a:xfrm>
            <a:off x="1150989" y="353474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Oval 2">
            <a:extLst>
              <a:ext uri="{FF2B5EF4-FFF2-40B4-BE49-F238E27FC236}">
                <a16:creationId xmlns:a16="http://schemas.microsoft.com/office/drawing/2014/main" id="{375C7D0B-FE10-A943-6D04-97CAC014B2AE}"/>
              </a:ext>
            </a:extLst>
          </p:cNvPr>
          <p:cNvSpPr/>
          <p:nvPr/>
        </p:nvSpPr>
        <p:spPr>
          <a:xfrm>
            <a:off x="3642369" y="3534745"/>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9" name="Straight Arrow Connector 8">
            <a:extLst>
              <a:ext uri="{FF2B5EF4-FFF2-40B4-BE49-F238E27FC236}">
                <a16:creationId xmlns:a16="http://schemas.microsoft.com/office/drawing/2014/main" id="{A027148D-718D-5BC1-55CA-3D643F61569F}"/>
              </a:ext>
            </a:extLst>
          </p:cNvPr>
          <p:cNvCxnSpPr>
            <a:stCxn id="2" idx="6"/>
            <a:endCxn id="3" idx="2"/>
          </p:cNvCxnSpPr>
          <p:nvPr/>
        </p:nvCxnSpPr>
        <p:spPr>
          <a:xfrm>
            <a:off x="1510989" y="3714745"/>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5B9FC9A1-B69A-DBD5-1837-DF49908C2EA1}"/>
              </a:ext>
            </a:extLst>
          </p:cNvPr>
          <p:cNvSpPr txBox="1"/>
          <p:nvPr/>
        </p:nvSpPr>
        <p:spPr>
          <a:xfrm>
            <a:off x="1010403" y="3075413"/>
            <a:ext cx="2183226" cy="369332"/>
          </a:xfrm>
          <a:prstGeom prst="rect">
            <a:avLst/>
          </a:prstGeom>
          <a:noFill/>
        </p:spPr>
        <p:txBody>
          <a:bodyPr wrap="none" rtlCol="0">
            <a:spAutoFit/>
          </a:bodyPr>
          <a:lstStyle/>
          <a:p>
            <a:r>
              <a:rPr lang="en-US" noProof="0" dirty="0">
                <a:solidFill>
                  <a:srgbClr val="D0180A"/>
                </a:solidFill>
              </a:rPr>
              <a:t>specification format</a:t>
            </a:r>
          </a:p>
        </p:txBody>
      </p:sp>
      <p:sp>
        <p:nvSpPr>
          <p:cNvPr id="11" name="TextBox 10">
            <a:extLst>
              <a:ext uri="{FF2B5EF4-FFF2-40B4-BE49-F238E27FC236}">
                <a16:creationId xmlns:a16="http://schemas.microsoft.com/office/drawing/2014/main" id="{C0F13BA7-FDFE-FE47-E369-C07DF9DA6A11}"/>
              </a:ext>
            </a:extLst>
          </p:cNvPr>
          <p:cNvSpPr txBox="1"/>
          <p:nvPr/>
        </p:nvSpPr>
        <p:spPr>
          <a:xfrm>
            <a:off x="3376668" y="3980079"/>
            <a:ext cx="1114408" cy="369332"/>
          </a:xfrm>
          <a:prstGeom prst="rect">
            <a:avLst/>
          </a:prstGeom>
          <a:noFill/>
        </p:spPr>
        <p:txBody>
          <a:bodyPr wrap="none" rtlCol="0">
            <a:spAutoFit/>
          </a:bodyPr>
          <a:lstStyle/>
          <a:p>
            <a:r>
              <a:rPr lang="en-US" noProof="0" dirty="0">
                <a:solidFill>
                  <a:srgbClr val="006D70"/>
                </a:solidFill>
              </a:rPr>
              <a:t>lead time</a:t>
            </a:r>
          </a:p>
        </p:txBody>
      </p:sp>
      <p:sp>
        <p:nvSpPr>
          <p:cNvPr id="12" name="Oval 11">
            <a:extLst>
              <a:ext uri="{FF2B5EF4-FFF2-40B4-BE49-F238E27FC236}">
                <a16:creationId xmlns:a16="http://schemas.microsoft.com/office/drawing/2014/main" id="{5BEFEA2B-D2A4-EEE0-97E3-5EB8531C7955}"/>
              </a:ext>
            </a:extLst>
          </p:cNvPr>
          <p:cNvSpPr/>
          <p:nvPr/>
        </p:nvSpPr>
        <p:spPr>
          <a:xfrm>
            <a:off x="2396679" y="47063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Box 12">
            <a:extLst>
              <a:ext uri="{FF2B5EF4-FFF2-40B4-BE49-F238E27FC236}">
                <a16:creationId xmlns:a16="http://schemas.microsoft.com/office/drawing/2014/main" id="{390886E3-5B1E-ED75-848E-801E6D670E14}"/>
              </a:ext>
            </a:extLst>
          </p:cNvPr>
          <p:cNvSpPr txBox="1"/>
          <p:nvPr/>
        </p:nvSpPr>
        <p:spPr>
          <a:xfrm>
            <a:off x="2785060" y="4697044"/>
            <a:ext cx="1058431" cy="369332"/>
          </a:xfrm>
          <a:prstGeom prst="rect">
            <a:avLst/>
          </a:prstGeom>
          <a:noFill/>
        </p:spPr>
        <p:txBody>
          <a:bodyPr wrap="none" rtlCol="0">
            <a:spAutoFit/>
          </a:bodyPr>
          <a:lstStyle/>
          <a:p>
            <a:r>
              <a:rPr lang="en-US" noProof="0" dirty="0">
                <a:solidFill>
                  <a:schemeClr val="tx1">
                    <a:lumMod val="65000"/>
                    <a:lumOff val="35000"/>
                  </a:schemeClr>
                </a:solidFill>
              </a:rPr>
              <a:t>pressure</a:t>
            </a:r>
          </a:p>
        </p:txBody>
      </p:sp>
      <p:cxnSp>
        <p:nvCxnSpPr>
          <p:cNvPr id="14" name="Straight Arrow Connector 13">
            <a:extLst>
              <a:ext uri="{FF2B5EF4-FFF2-40B4-BE49-F238E27FC236}">
                <a16:creationId xmlns:a16="http://schemas.microsoft.com/office/drawing/2014/main" id="{75796977-F3FC-1AA1-36A3-BFDB10B6E24C}"/>
              </a:ext>
            </a:extLst>
          </p:cNvPr>
          <p:cNvCxnSpPr>
            <a:cxnSpLocks/>
            <a:stCxn id="12" idx="7"/>
            <a:endCxn id="3" idx="3"/>
          </p:cNvCxnSpPr>
          <p:nvPr/>
        </p:nvCxnSpPr>
        <p:spPr>
          <a:xfrm flipV="1">
            <a:off x="2703958" y="3842024"/>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EF8401D2-DAED-5D9F-4AAA-071A22B9D5D3}"/>
              </a:ext>
            </a:extLst>
          </p:cNvPr>
          <p:cNvCxnSpPr>
            <a:cxnSpLocks/>
            <a:stCxn id="12" idx="1"/>
            <a:endCxn id="2" idx="5"/>
          </p:cNvCxnSpPr>
          <p:nvPr/>
        </p:nvCxnSpPr>
        <p:spPr>
          <a:xfrm flipH="1" flipV="1">
            <a:off x="1458268" y="3842024"/>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D6F68213-9210-77E1-C80E-6ED30AB02DBA}"/>
              </a:ext>
            </a:extLst>
          </p:cNvPr>
          <p:cNvGrpSpPr/>
          <p:nvPr/>
        </p:nvGrpSpPr>
        <p:grpSpPr>
          <a:xfrm>
            <a:off x="4808088" y="3678745"/>
            <a:ext cx="2563289" cy="432000"/>
            <a:chOff x="4604412" y="1893985"/>
            <a:chExt cx="2563289" cy="432000"/>
          </a:xfrm>
        </p:grpSpPr>
        <p:sp>
          <p:nvSpPr>
            <p:cNvPr id="17" name="Arrow: Pentagon 16">
              <a:extLst>
                <a:ext uri="{FF2B5EF4-FFF2-40B4-BE49-F238E27FC236}">
                  <a16:creationId xmlns:a16="http://schemas.microsoft.com/office/drawing/2014/main" id="{D00AFDB7-9342-8283-5C41-9F3DBF362B85}"/>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8" name="Graphic 17" descr="Connections with solid fill">
              <a:extLst>
                <a:ext uri="{FF2B5EF4-FFF2-40B4-BE49-F238E27FC236}">
                  <a16:creationId xmlns:a16="http://schemas.microsoft.com/office/drawing/2014/main" id="{56E61F58-F0C7-20B9-D99C-8C79D9DDFF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DA51329-860C-FB65-6925-C442E042ED83}"/>
                  </a:ext>
                </a:extLst>
              </p:cNvPr>
              <p:cNvSpPr txBox="1"/>
              <p:nvPr/>
            </p:nvSpPr>
            <p:spPr>
              <a:xfrm>
                <a:off x="7602992" y="3361158"/>
                <a:ext cx="27656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trike="sngStrike" noProof="0" smtClean="0">
                              <a:solidFill>
                                <a:schemeClr val="bg1">
                                  <a:lumMod val="85000"/>
                                </a:schemeClr>
                              </a:solidFill>
                              <a:latin typeface="Cambria Math" panose="02040503050406030204" pitchFamily="18" charset="0"/>
                            </a:rPr>
                          </m:ctrlPr>
                        </m:sSubPr>
                        <m:e>
                          <m:r>
                            <a:rPr lang="en-US" b="0" i="1" strike="sngStrike" noProof="0" smtClean="0">
                              <a:solidFill>
                                <a:schemeClr val="bg1">
                                  <a:lumMod val="85000"/>
                                </a:schemeClr>
                              </a:solidFill>
                              <a:latin typeface="Cambria Math" panose="02040503050406030204" pitchFamily="18" charset="0"/>
                            </a:rPr>
                            <m:t>𝑚</m:t>
                          </m:r>
                        </m:e>
                        <m:sub>
                          <m:r>
                            <a:rPr lang="en-US" b="0" i="1" strike="sngStrike" noProof="0" smtClean="0">
                              <a:solidFill>
                                <a:schemeClr val="bg1">
                                  <a:lumMod val="85000"/>
                                </a:schemeClr>
                              </a:solidFill>
                              <a:latin typeface="Cambria Math" panose="02040503050406030204" pitchFamily="18" charset="0"/>
                            </a:rPr>
                            <m:t>1</m:t>
                          </m:r>
                        </m:sub>
                      </m:sSub>
                      <m:r>
                        <a:rPr lang="en-US" b="0" i="1" strike="sngStrike" noProof="0" smtClean="0">
                          <a:solidFill>
                            <a:schemeClr val="bg1">
                              <a:lumMod val="85000"/>
                            </a:schemeClr>
                          </a:solidFill>
                          <a:latin typeface="Cambria Math" panose="02040503050406030204" pitchFamily="18" charset="0"/>
                        </a:rPr>
                        <m:t>: </m:t>
                      </m:r>
                      <m:r>
                        <a:rPr lang="en-US" b="0" i="1" strike="sngStrike" noProof="0" smtClean="0">
                          <a:solidFill>
                            <a:srgbClr val="00BFC4"/>
                          </a:solidFill>
                          <a:latin typeface="Cambria Math" panose="02040503050406030204" pitchFamily="18" charset="0"/>
                        </a:rPr>
                        <m:t>𝑙𝑒𝑎𝑑𝑡𝑖𝑚𝑒</m:t>
                      </m:r>
                      <m:r>
                        <a:rPr lang="en-US" b="0" i="1" strike="sngStrike" noProof="0" smtClean="0">
                          <a:solidFill>
                            <a:schemeClr val="bg1">
                              <a:lumMod val="85000"/>
                            </a:schemeClr>
                          </a:solidFill>
                          <a:latin typeface="Cambria Math" panose="02040503050406030204" pitchFamily="18" charset="0"/>
                        </a:rPr>
                        <m:t>~1+</m:t>
                      </m:r>
                      <m:r>
                        <a:rPr lang="en-US" b="0" i="1" strike="sngStrike" noProof="0" smtClean="0">
                          <a:solidFill>
                            <a:srgbClr val="F8766D"/>
                          </a:solidFill>
                          <a:latin typeface="Cambria Math" panose="02040503050406030204" pitchFamily="18" charset="0"/>
                        </a:rPr>
                        <m:t>𝑓𝑜𝑟𝑚𝑎𝑡</m:t>
                      </m:r>
                    </m:oMath>
                  </m:oMathPara>
                </a14:m>
                <a:endParaRPr lang="en-US" strike="sngStrike" noProof="0" dirty="0"/>
              </a:p>
            </p:txBody>
          </p:sp>
        </mc:Choice>
        <mc:Fallback xmlns="">
          <p:sp>
            <p:nvSpPr>
              <p:cNvPr id="19" name="TextBox 18">
                <a:extLst>
                  <a:ext uri="{FF2B5EF4-FFF2-40B4-BE49-F238E27FC236}">
                    <a16:creationId xmlns:a16="http://schemas.microsoft.com/office/drawing/2014/main" id="{5DA51329-860C-FB65-6925-C442E042ED83}"/>
                  </a:ext>
                </a:extLst>
              </p:cNvPr>
              <p:cNvSpPr txBox="1">
                <a:spLocks noRot="1" noChangeAspect="1" noMove="1" noResize="1" noEditPoints="1" noAdjustHandles="1" noChangeArrowheads="1" noChangeShapeType="1" noTextEdit="1"/>
              </p:cNvSpPr>
              <p:nvPr/>
            </p:nvSpPr>
            <p:spPr>
              <a:xfrm>
                <a:off x="7602992" y="3361158"/>
                <a:ext cx="2765694" cy="276999"/>
              </a:xfrm>
              <a:prstGeom prst="rect">
                <a:avLst/>
              </a:prstGeom>
              <a:blipFill>
                <a:blip r:embed="rId11"/>
                <a:stretch>
                  <a:fillRect l="-881" t="-2174" r="-2643"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49E79F8-4F15-952E-6A14-49E631D2F9AF}"/>
                  </a:ext>
                </a:extLst>
              </p:cNvPr>
              <p:cNvSpPr txBox="1"/>
              <p:nvPr/>
            </p:nvSpPr>
            <p:spPr>
              <a:xfrm>
                <a:off x="7602992" y="3932647"/>
                <a:ext cx="39735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 </m:t>
                      </m:r>
                      <m:r>
                        <a:rPr lang="en-US" b="0" i="1" noProof="0" smtClean="0">
                          <a:solidFill>
                            <a:srgbClr val="006D70"/>
                          </a:solidFill>
                          <a:latin typeface="Cambria Math" panose="02040503050406030204" pitchFamily="18" charset="0"/>
                        </a:rPr>
                        <m:t>𝑙𝑒𝑎𝑑𝑡𝑖𝑚𝑒</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𝑓𝑜𝑟𝑚𝑎𝑡</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𝑝𝑟𝑒𝑠𝑠𝑢𝑟𝑒</m:t>
                      </m:r>
                    </m:oMath>
                  </m:oMathPara>
                </a14:m>
                <a:endParaRPr lang="en-US" noProof="0" dirty="0"/>
              </a:p>
            </p:txBody>
          </p:sp>
        </mc:Choice>
        <mc:Fallback xmlns="">
          <p:sp>
            <p:nvSpPr>
              <p:cNvPr id="20" name="TextBox 19">
                <a:extLst>
                  <a:ext uri="{FF2B5EF4-FFF2-40B4-BE49-F238E27FC236}">
                    <a16:creationId xmlns:a16="http://schemas.microsoft.com/office/drawing/2014/main" id="{149E79F8-4F15-952E-6A14-49E631D2F9AF}"/>
                  </a:ext>
                </a:extLst>
              </p:cNvPr>
              <p:cNvSpPr txBox="1">
                <a:spLocks noRot="1" noChangeAspect="1" noMove="1" noResize="1" noEditPoints="1" noAdjustHandles="1" noChangeArrowheads="1" noChangeShapeType="1" noTextEdit="1"/>
              </p:cNvSpPr>
              <p:nvPr/>
            </p:nvSpPr>
            <p:spPr>
              <a:xfrm>
                <a:off x="7602992" y="3932647"/>
                <a:ext cx="3973524" cy="276999"/>
              </a:xfrm>
              <a:prstGeom prst="rect">
                <a:avLst/>
              </a:prstGeom>
              <a:blipFill>
                <a:blip r:embed="rId12"/>
                <a:stretch>
                  <a:fillRect l="-460" t="-2174" r="-1074" b="-32609"/>
                </a:stretch>
              </a:blipFill>
            </p:spPr>
            <p:txBody>
              <a:bodyPr/>
              <a:lstStyle/>
              <a:p>
                <a:r>
                  <a:rPr lang="en-SE">
                    <a:noFill/>
                  </a:rPr>
                  <a:t> </a:t>
                </a:r>
              </a:p>
            </p:txBody>
          </p:sp>
        </mc:Fallback>
      </mc:AlternateContent>
      <p:grpSp>
        <p:nvGrpSpPr>
          <p:cNvPr id="21" name="Group 20">
            <a:extLst>
              <a:ext uri="{FF2B5EF4-FFF2-40B4-BE49-F238E27FC236}">
                <a16:creationId xmlns:a16="http://schemas.microsoft.com/office/drawing/2014/main" id="{553A0E19-E62F-620D-5ED8-DCAED2561BE3}"/>
              </a:ext>
            </a:extLst>
          </p:cNvPr>
          <p:cNvGrpSpPr/>
          <p:nvPr/>
        </p:nvGrpSpPr>
        <p:grpSpPr>
          <a:xfrm>
            <a:off x="838200" y="5248387"/>
            <a:ext cx="10515599" cy="946595"/>
            <a:chOff x="775411" y="5230368"/>
            <a:chExt cx="10515599" cy="946595"/>
          </a:xfrm>
        </p:grpSpPr>
        <p:sp>
          <p:nvSpPr>
            <p:cNvPr id="22" name="Rectangle: Rounded Corners 21">
              <a:extLst>
                <a:ext uri="{FF2B5EF4-FFF2-40B4-BE49-F238E27FC236}">
                  <a16:creationId xmlns:a16="http://schemas.microsoft.com/office/drawing/2014/main" id="{708DF15D-E125-5F05-F3FA-BDDF464491FA}"/>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If both </a:t>
              </a:r>
              <a:r>
                <a:rPr lang="en-US" noProof="0" dirty="0">
                  <a:solidFill>
                    <a:srgbClr val="F8766D"/>
                  </a:solidFill>
                </a:rPr>
                <a:t>exposure</a:t>
              </a:r>
              <a:r>
                <a:rPr lang="en-US" noProof="0" dirty="0"/>
                <a:t> and </a:t>
              </a:r>
              <a:r>
                <a:rPr lang="en-US" noProof="0" dirty="0">
                  <a:solidFill>
                    <a:srgbClr val="00BFC4"/>
                  </a:solidFill>
                </a:rPr>
                <a:t>outcome</a:t>
              </a:r>
              <a:r>
                <a:rPr lang="en-US" noProof="0" dirty="0"/>
                <a:t> have a </a:t>
              </a:r>
              <a:r>
                <a:rPr lang="en-US" noProof="0" dirty="0">
                  <a:solidFill>
                    <a:schemeClr val="bg1">
                      <a:lumMod val="95000"/>
                    </a:schemeClr>
                  </a:solidFill>
                </a:rPr>
                <a:t>common cause</a:t>
              </a:r>
              <a:r>
                <a:rPr lang="en-US" noProof="0" dirty="0"/>
                <a:t>, we need to statistically adjust for (i.e., control) the confounder to de-bias the effect of interest.</a:t>
              </a:r>
            </a:p>
          </p:txBody>
        </p:sp>
        <p:pic>
          <p:nvPicPr>
            <p:cNvPr id="23" name="Graphic 22" descr="Open quotation mark with solid fill">
              <a:extLst>
                <a:ext uri="{FF2B5EF4-FFF2-40B4-BE49-F238E27FC236}">
                  <a16:creationId xmlns:a16="http://schemas.microsoft.com/office/drawing/2014/main" id="{5B47B81F-50A0-236B-D83E-A51D8351CDE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180822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anim calcmode="lin" valueType="num">
                                      <p:cBhvr>
                                        <p:cTn id="8" dur="500" fill="hold"/>
                                        <p:tgtEl>
                                          <p:spTgt spid="21"/>
                                        </p:tgtEl>
                                        <p:attrNameLst>
                                          <p:attrName>ppt_x</p:attrName>
                                        </p:attrNameLst>
                                      </p:cBhvr>
                                      <p:tavLst>
                                        <p:tav tm="0">
                                          <p:val>
                                            <p:strVal val="#ppt_x"/>
                                          </p:val>
                                        </p:tav>
                                        <p:tav tm="100000">
                                          <p:val>
                                            <p:strVal val="#ppt_x"/>
                                          </p:val>
                                        </p:tav>
                                      </p:tavLst>
                                    </p:anim>
                                    <p:anim calcmode="lin" valueType="num">
                                      <p:cBhvr>
                                        <p:cTn id="9"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65710-5209-3650-494F-E40FA67071C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D48C2C8-E124-8D8C-23FB-9E8E8DEC57B4}"/>
              </a:ext>
            </a:extLst>
          </p:cNvPr>
          <p:cNvSpPr>
            <a:spLocks noGrp="1"/>
          </p:cNvSpPr>
          <p:nvPr>
            <p:ph type="title"/>
          </p:nvPr>
        </p:nvSpPr>
        <p:spPr/>
        <p:txBody>
          <a:bodyPr/>
          <a:lstStyle/>
          <a:p>
            <a:r>
              <a:rPr lang="en-US" noProof="0" dirty="0"/>
              <a:t>Confounding: Common Causes</a:t>
            </a:r>
          </a:p>
        </p:txBody>
      </p:sp>
      <p:sp>
        <p:nvSpPr>
          <p:cNvPr id="8" name="Content Placeholder 7">
            <a:extLst>
              <a:ext uri="{FF2B5EF4-FFF2-40B4-BE49-F238E27FC236}">
                <a16:creationId xmlns:a16="http://schemas.microsoft.com/office/drawing/2014/main" id="{629D9C0C-77F6-15EC-282E-3B51BAA4115B}"/>
              </a:ext>
            </a:extLst>
          </p:cNvPr>
          <p:cNvSpPr>
            <a:spLocks noGrp="1"/>
          </p:cNvSpPr>
          <p:nvPr>
            <p:ph idx="1"/>
          </p:nvPr>
        </p:nvSpPr>
        <p:spPr>
          <a:xfrm>
            <a:off x="838200" y="1825626"/>
            <a:ext cx="10515600" cy="1089340"/>
          </a:xfrm>
        </p:spPr>
        <p:txBody>
          <a:bodyPr>
            <a:normAutofit/>
          </a:bodyPr>
          <a:lstStyle/>
          <a:p>
            <a:pPr marL="0" indent="0">
              <a:buNone/>
            </a:pPr>
            <a:r>
              <a:rPr lang="en-US" sz="2400" noProof="0" dirty="0"/>
              <a:t>Whenever </a:t>
            </a:r>
            <a:r>
              <a:rPr lang="en-US" sz="2400" noProof="0" dirty="0">
                <a:solidFill>
                  <a:srgbClr val="D0180A"/>
                </a:solidFill>
              </a:rPr>
              <a:t>specification format = 0</a:t>
            </a:r>
            <a:r>
              <a:rPr lang="en-US" sz="2400" noProof="0" dirty="0"/>
              <a:t>, the likelihood that </a:t>
            </a:r>
            <a:r>
              <a:rPr lang="en-US" sz="2400" noProof="0" dirty="0">
                <a:solidFill>
                  <a:schemeClr val="bg1">
                    <a:lumMod val="50000"/>
                  </a:schemeClr>
                </a:solidFill>
              </a:rPr>
              <a:t>pressure = 1 </a:t>
            </a:r>
            <a:r>
              <a:rPr lang="en-US" sz="2400" noProof="0" dirty="0"/>
              <a:t>is much higher which causes a </a:t>
            </a:r>
            <a:r>
              <a:rPr lang="en-US" sz="2400" noProof="0" dirty="0">
                <a:solidFill>
                  <a:srgbClr val="006D70"/>
                </a:solidFill>
              </a:rPr>
              <a:t>lower lead time</a:t>
            </a:r>
            <a:r>
              <a:rPr lang="en-US" sz="2400" noProof="0" dirty="0"/>
              <a:t>.</a:t>
            </a:r>
          </a:p>
        </p:txBody>
      </p:sp>
      <p:sp>
        <p:nvSpPr>
          <p:cNvPr id="4" name="Date Placeholder 3">
            <a:extLst>
              <a:ext uri="{FF2B5EF4-FFF2-40B4-BE49-F238E27FC236}">
                <a16:creationId xmlns:a16="http://schemas.microsoft.com/office/drawing/2014/main" id="{3207E4BE-66D0-C9A0-0786-0675C0F39EB6}"/>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83E6AEB-5155-5447-8E08-24CD922B8A5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857C6ED8-2856-D8C4-324E-C7DE9CABA7FA}"/>
              </a:ext>
            </a:extLst>
          </p:cNvPr>
          <p:cNvSpPr>
            <a:spLocks noGrp="1"/>
          </p:cNvSpPr>
          <p:nvPr>
            <p:ph type="sldNum" sz="quarter" idx="12"/>
          </p:nvPr>
        </p:nvSpPr>
        <p:spPr/>
        <p:txBody>
          <a:bodyPr/>
          <a:lstStyle/>
          <a:p>
            <a:fld id="{0FA2D919-C0DE-4971-A2E9-D4AC0031921B}" type="slidenum">
              <a:rPr lang="en-US" noProof="0" smtClean="0"/>
              <a:t>33</a:t>
            </a:fld>
            <a:endParaRPr lang="en-US" noProof="0" dirty="0"/>
          </a:p>
        </p:txBody>
      </p:sp>
      <p:grpSp>
        <p:nvGrpSpPr>
          <p:cNvPr id="41" name="Group 40">
            <a:extLst>
              <a:ext uri="{FF2B5EF4-FFF2-40B4-BE49-F238E27FC236}">
                <a16:creationId xmlns:a16="http://schemas.microsoft.com/office/drawing/2014/main" id="{5DE64167-2D50-4650-0D3F-B03592653CB2}"/>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1B022A7C-3BFB-6520-2BE1-BCC48D2B4935}"/>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548945C8-2B8C-A88E-5DA9-3817BC20D05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901A9929-686F-4586-45BA-2F63FBE01218}"/>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C82673C9-977C-38C8-6FCA-80920626D77B}"/>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31E0B8D2-A4FE-E297-C3F9-F27C4C77D31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4F7243D8-B7BF-F554-F2D0-02E6BF6B369D}"/>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B44C29FA-8209-664A-2CA2-DEB87EC4C910}"/>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9BD5DA61-67F2-9844-A002-E6AEED45B71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AEE261F4-F3DA-2900-8D2A-1FA80908A84D}"/>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862B561F-1B83-57AB-0597-DAACEE0E6760}"/>
                </a:ext>
              </a:extLst>
            </p:cNvPr>
            <p:cNvSpPr/>
            <p:nvPr/>
          </p:nvSpPr>
          <p:spPr>
            <a:xfrm>
              <a:off x="3313786" y="3686861"/>
              <a:ext cx="1080000" cy="1080000"/>
            </a:xfrm>
            <a:prstGeom prst="ellipse">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E4A5818C-901F-C1A8-FD3C-28CCC9CEF4C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6ECCB414-5E88-8809-1940-C1658A3DD596}"/>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5D1686E0-6059-5136-73BE-D113AD17BFAB}"/>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6A2C913E-0CAB-D514-0398-7ACB84E77BEF}"/>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1EF8999F-119C-1D63-1091-9A471BC7CAAB}"/>
              </a:ext>
            </a:extLst>
          </p:cNvPr>
          <p:cNvSpPr/>
          <p:nvPr/>
        </p:nvSpPr>
        <p:spPr>
          <a:xfrm>
            <a:off x="6915499" y="344224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Oval 2">
            <a:extLst>
              <a:ext uri="{FF2B5EF4-FFF2-40B4-BE49-F238E27FC236}">
                <a16:creationId xmlns:a16="http://schemas.microsoft.com/office/drawing/2014/main" id="{7B49452C-C164-0A0F-1231-D70B23241A92}"/>
              </a:ext>
            </a:extLst>
          </p:cNvPr>
          <p:cNvSpPr/>
          <p:nvPr/>
        </p:nvSpPr>
        <p:spPr>
          <a:xfrm>
            <a:off x="9406879" y="344224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9" name="Straight Arrow Connector 8">
            <a:extLst>
              <a:ext uri="{FF2B5EF4-FFF2-40B4-BE49-F238E27FC236}">
                <a16:creationId xmlns:a16="http://schemas.microsoft.com/office/drawing/2014/main" id="{FE5EF6FD-BBEC-688D-152E-B7391D4AA4FB}"/>
              </a:ext>
            </a:extLst>
          </p:cNvPr>
          <p:cNvCxnSpPr>
            <a:stCxn id="2" idx="6"/>
            <a:endCxn id="3" idx="2"/>
          </p:cNvCxnSpPr>
          <p:nvPr/>
        </p:nvCxnSpPr>
        <p:spPr>
          <a:xfrm>
            <a:off x="7275499" y="362224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D5619E31-46DA-AD4C-F103-8A8A53095256}"/>
              </a:ext>
            </a:extLst>
          </p:cNvPr>
          <p:cNvSpPr txBox="1"/>
          <p:nvPr/>
        </p:nvSpPr>
        <p:spPr>
          <a:xfrm>
            <a:off x="6774913" y="2982910"/>
            <a:ext cx="2183226" cy="369332"/>
          </a:xfrm>
          <a:prstGeom prst="rect">
            <a:avLst/>
          </a:prstGeom>
          <a:noFill/>
        </p:spPr>
        <p:txBody>
          <a:bodyPr wrap="none" rtlCol="0">
            <a:spAutoFit/>
          </a:bodyPr>
          <a:lstStyle/>
          <a:p>
            <a:r>
              <a:rPr lang="en-US" noProof="0" dirty="0">
                <a:solidFill>
                  <a:srgbClr val="D0180A"/>
                </a:solidFill>
              </a:rPr>
              <a:t>specification format</a:t>
            </a:r>
          </a:p>
        </p:txBody>
      </p:sp>
      <p:sp>
        <p:nvSpPr>
          <p:cNvPr id="11" name="TextBox 10">
            <a:extLst>
              <a:ext uri="{FF2B5EF4-FFF2-40B4-BE49-F238E27FC236}">
                <a16:creationId xmlns:a16="http://schemas.microsoft.com/office/drawing/2014/main" id="{CA737959-6C10-5456-D378-8939440B5549}"/>
              </a:ext>
            </a:extLst>
          </p:cNvPr>
          <p:cNvSpPr txBox="1"/>
          <p:nvPr/>
        </p:nvSpPr>
        <p:spPr>
          <a:xfrm>
            <a:off x="9845440" y="3454561"/>
            <a:ext cx="1114408" cy="369332"/>
          </a:xfrm>
          <a:prstGeom prst="rect">
            <a:avLst/>
          </a:prstGeom>
          <a:noFill/>
        </p:spPr>
        <p:txBody>
          <a:bodyPr wrap="none" rtlCol="0">
            <a:spAutoFit/>
          </a:bodyPr>
          <a:lstStyle/>
          <a:p>
            <a:r>
              <a:rPr lang="en-US" noProof="0" dirty="0">
                <a:solidFill>
                  <a:srgbClr val="006D70"/>
                </a:solidFill>
              </a:rPr>
              <a:t>lead time</a:t>
            </a:r>
          </a:p>
        </p:txBody>
      </p:sp>
      <p:sp>
        <p:nvSpPr>
          <p:cNvPr id="12" name="Oval 11">
            <a:extLst>
              <a:ext uri="{FF2B5EF4-FFF2-40B4-BE49-F238E27FC236}">
                <a16:creationId xmlns:a16="http://schemas.microsoft.com/office/drawing/2014/main" id="{971E1FBC-FF0D-9120-17E5-2A3FBD77F4D2}"/>
              </a:ext>
            </a:extLst>
          </p:cNvPr>
          <p:cNvSpPr/>
          <p:nvPr/>
        </p:nvSpPr>
        <p:spPr>
          <a:xfrm>
            <a:off x="8161189" y="461387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Box 12">
            <a:extLst>
              <a:ext uri="{FF2B5EF4-FFF2-40B4-BE49-F238E27FC236}">
                <a16:creationId xmlns:a16="http://schemas.microsoft.com/office/drawing/2014/main" id="{410B4B05-8A6B-B7E8-B148-18EC87C98731}"/>
              </a:ext>
            </a:extLst>
          </p:cNvPr>
          <p:cNvSpPr txBox="1"/>
          <p:nvPr/>
        </p:nvSpPr>
        <p:spPr>
          <a:xfrm>
            <a:off x="8549570" y="4604541"/>
            <a:ext cx="1058431" cy="369332"/>
          </a:xfrm>
          <a:prstGeom prst="rect">
            <a:avLst/>
          </a:prstGeom>
          <a:noFill/>
        </p:spPr>
        <p:txBody>
          <a:bodyPr wrap="none" rtlCol="0">
            <a:spAutoFit/>
          </a:bodyPr>
          <a:lstStyle/>
          <a:p>
            <a:r>
              <a:rPr lang="en-US" noProof="0" dirty="0">
                <a:solidFill>
                  <a:schemeClr val="tx1">
                    <a:lumMod val="65000"/>
                    <a:lumOff val="35000"/>
                  </a:schemeClr>
                </a:solidFill>
              </a:rPr>
              <a:t>pressure</a:t>
            </a:r>
          </a:p>
        </p:txBody>
      </p:sp>
      <p:cxnSp>
        <p:nvCxnSpPr>
          <p:cNvPr id="14" name="Straight Arrow Connector 13">
            <a:extLst>
              <a:ext uri="{FF2B5EF4-FFF2-40B4-BE49-F238E27FC236}">
                <a16:creationId xmlns:a16="http://schemas.microsoft.com/office/drawing/2014/main" id="{32CEC13D-9E29-8E76-493D-2D55C1E32069}"/>
              </a:ext>
            </a:extLst>
          </p:cNvPr>
          <p:cNvCxnSpPr>
            <a:cxnSpLocks/>
            <a:stCxn id="12" idx="7"/>
            <a:endCxn id="3" idx="3"/>
          </p:cNvCxnSpPr>
          <p:nvPr/>
        </p:nvCxnSpPr>
        <p:spPr>
          <a:xfrm flipV="1">
            <a:off x="8468468" y="374952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776B378C-B1FA-365A-9FAC-16A5A1FFC3B2}"/>
              </a:ext>
            </a:extLst>
          </p:cNvPr>
          <p:cNvCxnSpPr>
            <a:cxnSpLocks/>
            <a:stCxn id="12" idx="1"/>
            <a:endCxn id="2" idx="5"/>
          </p:cNvCxnSpPr>
          <p:nvPr/>
        </p:nvCxnSpPr>
        <p:spPr>
          <a:xfrm flipH="1" flipV="1">
            <a:off x="7222778" y="3749521"/>
            <a:ext cx="991132" cy="917073"/>
          </a:xfrm>
          <a:prstGeom prst="straightConnector1">
            <a:avLst/>
          </a:prstGeom>
          <a:ln w="28575">
            <a:solidFill>
              <a:srgbClr val="C00000"/>
            </a:solidFill>
            <a:tailEnd type="triangle"/>
          </a:ln>
        </p:spPr>
        <p:style>
          <a:lnRef idx="2">
            <a:schemeClr val="dk1"/>
          </a:lnRef>
          <a:fillRef idx="0">
            <a:schemeClr val="dk1"/>
          </a:fillRef>
          <a:effectRef idx="1">
            <a:schemeClr val="dk1"/>
          </a:effectRef>
          <a:fontRef idx="minor">
            <a:schemeClr val="tx1"/>
          </a:fontRef>
        </p:style>
      </p:cxnSp>
      <p:grpSp>
        <p:nvGrpSpPr>
          <p:cNvPr id="21" name="Group 20">
            <a:extLst>
              <a:ext uri="{FF2B5EF4-FFF2-40B4-BE49-F238E27FC236}">
                <a16:creationId xmlns:a16="http://schemas.microsoft.com/office/drawing/2014/main" id="{39ECA5C9-35ED-53CA-C827-6BD2EF0EAD69}"/>
              </a:ext>
            </a:extLst>
          </p:cNvPr>
          <p:cNvGrpSpPr/>
          <p:nvPr/>
        </p:nvGrpSpPr>
        <p:grpSpPr>
          <a:xfrm>
            <a:off x="802568" y="3454561"/>
            <a:ext cx="5656535" cy="1156892"/>
            <a:chOff x="775411" y="5230369"/>
            <a:chExt cx="5656535" cy="1156892"/>
          </a:xfrm>
        </p:grpSpPr>
        <p:sp>
          <p:nvSpPr>
            <p:cNvPr id="22" name="Rectangle: Rounded Corners 21">
              <a:extLst>
                <a:ext uri="{FF2B5EF4-FFF2-40B4-BE49-F238E27FC236}">
                  <a16:creationId xmlns:a16="http://schemas.microsoft.com/office/drawing/2014/main" id="{BB675A98-EACB-2EC5-F173-63541C8F6C6D}"/>
                </a:ext>
              </a:extLst>
            </p:cNvPr>
            <p:cNvSpPr/>
            <p:nvPr/>
          </p:nvSpPr>
          <p:spPr>
            <a:xfrm>
              <a:off x="775411" y="5230369"/>
              <a:ext cx="5656535" cy="1156892"/>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“Whenever </a:t>
              </a:r>
              <a:r>
                <a:rPr lang="en-US" noProof="0" dirty="0">
                  <a:solidFill>
                    <a:srgbClr val="D0180A"/>
                  </a:solidFill>
                </a:rPr>
                <a:t>specification format = 0</a:t>
              </a:r>
              <a:r>
                <a:rPr lang="en-US" noProof="0" dirty="0"/>
                <a:t>, the likelihood that </a:t>
              </a:r>
              <a:r>
                <a:rPr lang="en-US" noProof="0" dirty="0">
                  <a:solidFill>
                    <a:schemeClr val="bg1">
                      <a:lumMod val="50000"/>
                    </a:schemeClr>
                  </a:solidFill>
                </a:rPr>
                <a:t>pressure = 1 </a:t>
              </a:r>
              <a:r>
                <a:rPr lang="en-US" noProof="0" dirty="0"/>
                <a:t>is much higher” is an association, but not causal in this direction!</a:t>
              </a:r>
            </a:p>
          </p:txBody>
        </p:sp>
        <p:pic>
          <p:nvPicPr>
            <p:cNvPr id="23" name="Graphic 22" descr="Open quotation mark with solid fill">
              <a:extLst>
                <a:ext uri="{FF2B5EF4-FFF2-40B4-BE49-F238E27FC236}">
                  <a16:creationId xmlns:a16="http://schemas.microsoft.com/office/drawing/2014/main" id="{91256A0D-115A-677A-CCC7-B1C80FB5A3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0800000">
              <a:off x="775412" y="5343665"/>
              <a:ext cx="720000" cy="720000"/>
            </a:xfrm>
            <a:prstGeom prst="rect">
              <a:avLst/>
            </a:prstGeom>
          </p:spPr>
        </p:pic>
      </p:grpSp>
      <p:grpSp>
        <p:nvGrpSpPr>
          <p:cNvPr id="24" name="Group 23">
            <a:extLst>
              <a:ext uri="{FF2B5EF4-FFF2-40B4-BE49-F238E27FC236}">
                <a16:creationId xmlns:a16="http://schemas.microsoft.com/office/drawing/2014/main" id="{D6FF21D4-605B-A616-83D3-A7A1CBFA5B71}"/>
              </a:ext>
            </a:extLst>
          </p:cNvPr>
          <p:cNvGrpSpPr/>
          <p:nvPr/>
        </p:nvGrpSpPr>
        <p:grpSpPr>
          <a:xfrm rot="2700939">
            <a:off x="7344793" y="3839305"/>
            <a:ext cx="720000" cy="720000"/>
            <a:chOff x="5604304" y="3426506"/>
            <a:chExt cx="720000" cy="720000"/>
          </a:xfrm>
        </p:grpSpPr>
        <p:sp>
          <p:nvSpPr>
            <p:cNvPr id="25" name="Oval 24">
              <a:extLst>
                <a:ext uri="{FF2B5EF4-FFF2-40B4-BE49-F238E27FC236}">
                  <a16:creationId xmlns:a16="http://schemas.microsoft.com/office/drawing/2014/main" id="{B64E21AB-35E9-6EDA-57F5-1E8F10418131}"/>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6" name="Graphic 25" descr="Chevron arrows with solid fill">
              <a:extLst>
                <a:ext uri="{FF2B5EF4-FFF2-40B4-BE49-F238E27FC236}">
                  <a16:creationId xmlns:a16="http://schemas.microsoft.com/office/drawing/2014/main" id="{826BB903-1D88-D0B9-ACE4-45535BF20C4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61776" y="3489838"/>
              <a:ext cx="612000" cy="612000"/>
            </a:xfrm>
            <a:prstGeom prst="rect">
              <a:avLst/>
            </a:prstGeom>
          </p:spPr>
        </p:pic>
      </p:grpSp>
      <p:grpSp>
        <p:nvGrpSpPr>
          <p:cNvPr id="28" name="Group 27">
            <a:extLst>
              <a:ext uri="{FF2B5EF4-FFF2-40B4-BE49-F238E27FC236}">
                <a16:creationId xmlns:a16="http://schemas.microsoft.com/office/drawing/2014/main" id="{D17C2D48-C242-F05E-FA7B-D77398748D60}"/>
              </a:ext>
            </a:extLst>
          </p:cNvPr>
          <p:cNvGrpSpPr/>
          <p:nvPr/>
        </p:nvGrpSpPr>
        <p:grpSpPr>
          <a:xfrm rot="18884195">
            <a:off x="8643199" y="3847261"/>
            <a:ext cx="720000" cy="720000"/>
            <a:chOff x="5604304" y="3426506"/>
            <a:chExt cx="720000" cy="720000"/>
          </a:xfrm>
        </p:grpSpPr>
        <p:sp>
          <p:nvSpPr>
            <p:cNvPr id="29" name="Oval 28">
              <a:extLst>
                <a:ext uri="{FF2B5EF4-FFF2-40B4-BE49-F238E27FC236}">
                  <a16:creationId xmlns:a16="http://schemas.microsoft.com/office/drawing/2014/main" id="{745E32CE-8962-F4F4-C26D-84FCB34665E9}"/>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0" name="Graphic 29" descr="Chevron arrows with solid fill">
              <a:extLst>
                <a:ext uri="{FF2B5EF4-FFF2-40B4-BE49-F238E27FC236}">
                  <a16:creationId xmlns:a16="http://schemas.microsoft.com/office/drawing/2014/main" id="{652DBFB8-64C4-4952-7DC2-0671FC0FD68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61776" y="3489838"/>
              <a:ext cx="612000" cy="612000"/>
            </a:xfrm>
            <a:prstGeom prst="rect">
              <a:avLst/>
            </a:prstGeom>
          </p:spPr>
        </p:pic>
      </p:grpSp>
      <p:sp>
        <p:nvSpPr>
          <p:cNvPr id="31" name="Content Placeholder 7">
            <a:extLst>
              <a:ext uri="{FF2B5EF4-FFF2-40B4-BE49-F238E27FC236}">
                <a16:creationId xmlns:a16="http://schemas.microsoft.com/office/drawing/2014/main" id="{032CAB85-F62C-9893-929F-0D8DAB0CEF22}"/>
              </a:ext>
            </a:extLst>
          </p:cNvPr>
          <p:cNvSpPr txBox="1">
            <a:spLocks/>
          </p:cNvSpPr>
          <p:nvPr/>
        </p:nvSpPr>
        <p:spPr>
          <a:xfrm>
            <a:off x="838200" y="5456173"/>
            <a:ext cx="10515600" cy="882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noProof="0" dirty="0"/>
              <a:t>When </a:t>
            </a:r>
            <a:r>
              <a:rPr lang="en-US" sz="2400" i="1" noProof="0" dirty="0"/>
              <a:t>not</a:t>
            </a:r>
            <a:r>
              <a:rPr lang="en-US" sz="2400" noProof="0" dirty="0"/>
              <a:t> controlling the confounder, “information flows” from the cause through the confounder to the effect in a non-causal direction.</a:t>
            </a:r>
          </a:p>
        </p:txBody>
      </p:sp>
      <p:grpSp>
        <p:nvGrpSpPr>
          <p:cNvPr id="16" name="Group 15">
            <a:extLst>
              <a:ext uri="{FF2B5EF4-FFF2-40B4-BE49-F238E27FC236}">
                <a16:creationId xmlns:a16="http://schemas.microsoft.com/office/drawing/2014/main" id="{88ECABD3-C9FD-4EBF-0F00-DB703F5EDFB9}"/>
              </a:ext>
            </a:extLst>
          </p:cNvPr>
          <p:cNvGrpSpPr/>
          <p:nvPr/>
        </p:nvGrpSpPr>
        <p:grpSpPr>
          <a:xfrm>
            <a:off x="970861" y="4708239"/>
            <a:ext cx="4147138" cy="374059"/>
            <a:chOff x="970861" y="4708239"/>
            <a:chExt cx="4147138" cy="374059"/>
          </a:xfrm>
        </p:grpSpPr>
        <p:pic>
          <p:nvPicPr>
            <p:cNvPr id="32" name="Graphic 31" descr="Raised hand with solid fill">
              <a:extLst>
                <a:ext uri="{FF2B5EF4-FFF2-40B4-BE49-F238E27FC236}">
                  <a16:creationId xmlns:a16="http://schemas.microsoft.com/office/drawing/2014/main" id="{C92CFC32-CD5F-58FB-A0D3-EE0CDAB3A37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25862" y="4717843"/>
              <a:ext cx="360000" cy="360000"/>
            </a:xfrm>
            <a:prstGeom prst="rect">
              <a:avLst/>
            </a:prstGeom>
          </p:spPr>
        </p:pic>
        <p:pic>
          <p:nvPicPr>
            <p:cNvPr id="33" name="Graphic 32" descr="Eye with solid fill">
              <a:extLst>
                <a:ext uri="{FF2B5EF4-FFF2-40B4-BE49-F238E27FC236}">
                  <a16:creationId xmlns:a16="http://schemas.microsoft.com/office/drawing/2014/main" id="{85741DE9-1B3A-6937-E19F-38C1441C7AC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60374" y="4708300"/>
              <a:ext cx="360000" cy="360000"/>
            </a:xfrm>
            <a:prstGeom prst="rect">
              <a:avLst/>
            </a:prstGeom>
          </p:spPr>
        </p:pic>
        <p:sp>
          <p:nvSpPr>
            <p:cNvPr id="34" name="TextBox 33">
              <a:extLst>
                <a:ext uri="{FF2B5EF4-FFF2-40B4-BE49-F238E27FC236}">
                  <a16:creationId xmlns:a16="http://schemas.microsoft.com/office/drawing/2014/main" id="{783F0686-8884-5314-268D-983BDD8CE131}"/>
                </a:ext>
              </a:extLst>
            </p:cNvPr>
            <p:cNvSpPr txBox="1"/>
            <p:nvPr/>
          </p:nvSpPr>
          <p:spPr>
            <a:xfrm>
              <a:off x="970861" y="4708300"/>
              <a:ext cx="1402948" cy="369332"/>
            </a:xfrm>
            <a:prstGeom prst="rect">
              <a:avLst/>
            </a:prstGeom>
            <a:noFill/>
          </p:spPr>
          <p:txBody>
            <a:bodyPr wrap="none" rtlCol="0">
              <a:spAutoFit/>
            </a:bodyPr>
            <a:lstStyle/>
            <a:p>
              <a:r>
                <a:rPr lang="en-US" noProof="0" dirty="0"/>
                <a:t>Remember: </a:t>
              </a:r>
            </a:p>
          </p:txBody>
        </p:sp>
        <p:sp>
          <p:nvSpPr>
            <p:cNvPr id="35" name="TextBox 34">
              <a:extLst>
                <a:ext uri="{FF2B5EF4-FFF2-40B4-BE49-F238E27FC236}">
                  <a16:creationId xmlns:a16="http://schemas.microsoft.com/office/drawing/2014/main" id="{337DCC7D-926E-C052-F834-3F4D8370FE57}"/>
                </a:ext>
              </a:extLst>
            </p:cNvPr>
            <p:cNvSpPr txBox="1"/>
            <p:nvPr/>
          </p:nvSpPr>
          <p:spPr>
            <a:xfrm>
              <a:off x="2729910" y="4712966"/>
              <a:ext cx="1323054" cy="369332"/>
            </a:xfrm>
            <a:prstGeom prst="rect">
              <a:avLst/>
            </a:prstGeom>
            <a:noFill/>
          </p:spPr>
          <p:txBody>
            <a:bodyPr wrap="none" rtlCol="0">
              <a:spAutoFit/>
            </a:bodyPr>
            <a:lstStyle/>
            <a:p>
              <a:r>
                <a:rPr lang="en-US" noProof="0" dirty="0"/>
                <a:t>observing ≠</a:t>
              </a:r>
            </a:p>
          </p:txBody>
        </p:sp>
        <p:sp>
          <p:nvSpPr>
            <p:cNvPr id="36" name="TextBox 35">
              <a:extLst>
                <a:ext uri="{FF2B5EF4-FFF2-40B4-BE49-F238E27FC236}">
                  <a16:creationId xmlns:a16="http://schemas.microsoft.com/office/drawing/2014/main" id="{4A3956BE-41F7-81D1-DC29-78A01B0F6BE1}"/>
                </a:ext>
              </a:extLst>
            </p:cNvPr>
            <p:cNvSpPr txBox="1"/>
            <p:nvPr/>
          </p:nvSpPr>
          <p:spPr>
            <a:xfrm>
              <a:off x="4383503" y="4708239"/>
              <a:ext cx="734496" cy="369332"/>
            </a:xfrm>
            <a:prstGeom prst="rect">
              <a:avLst/>
            </a:prstGeom>
            <a:noFill/>
          </p:spPr>
          <p:txBody>
            <a:bodyPr wrap="none" rtlCol="0">
              <a:spAutoFit/>
            </a:bodyPr>
            <a:lstStyle/>
            <a:p>
              <a:r>
                <a:rPr lang="en-US" noProof="0" dirty="0"/>
                <a:t>doing</a:t>
              </a:r>
            </a:p>
          </p:txBody>
        </p:sp>
      </p:grpSp>
    </p:spTree>
    <p:extLst>
      <p:ext uri="{BB962C8B-B14F-4D97-AF65-F5344CB8AC3E}">
        <p14:creationId xmlns:p14="http://schemas.microsoft.com/office/powerpoint/2010/main" val="326521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ECA78-5BE5-5927-163E-D4FAE4902E4F}"/>
              </a:ext>
            </a:extLst>
          </p:cNvPr>
          <p:cNvSpPr>
            <a:spLocks noGrp="1"/>
          </p:cNvSpPr>
          <p:nvPr>
            <p:ph type="title"/>
          </p:nvPr>
        </p:nvSpPr>
        <p:spPr/>
        <p:txBody>
          <a:bodyPr/>
          <a:lstStyle/>
          <a:p>
            <a:r>
              <a:rPr lang="en-US" noProof="0" dirty="0"/>
              <a:t>Practical Example of Confounding</a:t>
            </a:r>
          </a:p>
        </p:txBody>
      </p:sp>
      <p:sp>
        <p:nvSpPr>
          <p:cNvPr id="3" name="Content Placeholder 2">
            <a:extLst>
              <a:ext uri="{FF2B5EF4-FFF2-40B4-BE49-F238E27FC236}">
                <a16:creationId xmlns:a16="http://schemas.microsoft.com/office/drawing/2014/main" id="{F784C985-70BA-5BEA-5B7E-689B16D43FAD}"/>
              </a:ext>
            </a:extLst>
          </p:cNvPr>
          <p:cNvSpPr>
            <a:spLocks noGrp="1"/>
          </p:cNvSpPr>
          <p:nvPr>
            <p:ph idx="1"/>
          </p:nvPr>
        </p:nvSpPr>
        <p:spPr>
          <a:xfrm>
            <a:off x="838200" y="1825625"/>
            <a:ext cx="10515600" cy="601486"/>
          </a:xfrm>
        </p:spPr>
        <p:txBody>
          <a:bodyPr/>
          <a:lstStyle/>
          <a:p>
            <a:pPr marL="0" indent="0">
              <a:buNone/>
            </a:pPr>
            <a:r>
              <a:rPr lang="en-US" noProof="0" dirty="0"/>
              <a:t>“Coverage Is Not Strongly Correlated with Test Suite Effectiveness”</a:t>
            </a:r>
          </a:p>
        </p:txBody>
      </p:sp>
      <p:sp>
        <p:nvSpPr>
          <p:cNvPr id="4" name="Date Placeholder 3">
            <a:extLst>
              <a:ext uri="{FF2B5EF4-FFF2-40B4-BE49-F238E27FC236}">
                <a16:creationId xmlns:a16="http://schemas.microsoft.com/office/drawing/2014/main" id="{9EBF6F4E-627C-DEEF-FED8-900521FD085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729969A0-17E4-8E18-6BF9-E09B6AD6EC2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65D2239F-E810-ECFA-7551-998FA7F3E824}"/>
              </a:ext>
            </a:extLst>
          </p:cNvPr>
          <p:cNvSpPr>
            <a:spLocks noGrp="1"/>
          </p:cNvSpPr>
          <p:nvPr>
            <p:ph type="sldNum" sz="quarter" idx="12"/>
          </p:nvPr>
        </p:nvSpPr>
        <p:spPr/>
        <p:txBody>
          <a:bodyPr/>
          <a:lstStyle/>
          <a:p>
            <a:fld id="{0FA2D919-C0DE-4971-A2E9-D4AC0031921B}" type="slidenum">
              <a:rPr lang="en-US" noProof="0" smtClean="0"/>
              <a:t>34</a:t>
            </a:fld>
            <a:endParaRPr lang="en-US" noProof="0" dirty="0"/>
          </a:p>
        </p:txBody>
      </p:sp>
      <p:sp>
        <p:nvSpPr>
          <p:cNvPr id="8" name="TextBox 7">
            <a:extLst>
              <a:ext uri="{FF2B5EF4-FFF2-40B4-BE49-F238E27FC236}">
                <a16:creationId xmlns:a16="http://schemas.microsoft.com/office/drawing/2014/main" id="{D92AE221-79F2-B1A7-8168-042D9AAF5D18}"/>
              </a:ext>
            </a:extLst>
          </p:cNvPr>
          <p:cNvSpPr txBox="1"/>
          <p:nvPr/>
        </p:nvSpPr>
        <p:spPr>
          <a:xfrm>
            <a:off x="838200" y="5894685"/>
            <a:ext cx="3318933" cy="461665"/>
          </a:xfrm>
          <a:prstGeom prst="rect">
            <a:avLst/>
          </a:prstGeom>
          <a:noFill/>
        </p:spPr>
        <p:txBody>
          <a:bodyPr wrap="square">
            <a:spAutoFit/>
          </a:bodyPr>
          <a:lstStyle/>
          <a:p>
            <a:r>
              <a:rPr lang="en-US" sz="800" noProof="0" dirty="0"/>
              <a:t>Inozemtseva, L., &amp; Holmes, R. (2014, May). Coverage is not strongly correlated with test suite effectiveness. In </a:t>
            </a:r>
            <a:r>
              <a:rPr lang="en-US" sz="800" i="1" noProof="0" dirty="0"/>
              <a:t>Proceedings of the 36th international conference on software engineering</a:t>
            </a:r>
            <a:r>
              <a:rPr lang="en-US" sz="800" noProof="0" dirty="0"/>
              <a:t> (pp. 435-445).</a:t>
            </a:r>
          </a:p>
        </p:txBody>
      </p:sp>
      <p:sp>
        <p:nvSpPr>
          <p:cNvPr id="9" name="Rectangle: Rounded Corners 8">
            <a:extLst>
              <a:ext uri="{FF2B5EF4-FFF2-40B4-BE49-F238E27FC236}">
                <a16:creationId xmlns:a16="http://schemas.microsoft.com/office/drawing/2014/main" id="{29B3ECE9-D9E9-0EC7-354D-12164FED63B4}"/>
              </a:ext>
            </a:extLst>
          </p:cNvPr>
          <p:cNvSpPr/>
          <p:nvPr/>
        </p:nvSpPr>
        <p:spPr>
          <a:xfrm>
            <a:off x="4038600" y="5942954"/>
            <a:ext cx="3318933" cy="365126"/>
          </a:xfrm>
          <a:prstGeom prst="roundRect">
            <a:avLst/>
          </a:prstGeom>
          <a:solidFill>
            <a:schemeClr val="tx2">
              <a:lumMod val="75000"/>
              <a:lumOff val="25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noProof="0" dirty="0"/>
              <a:t>Most Influential Paper at ICSE’24 </a:t>
            </a:r>
          </a:p>
        </p:txBody>
      </p:sp>
      <p:grpSp>
        <p:nvGrpSpPr>
          <p:cNvPr id="28" name="Group 27">
            <a:extLst>
              <a:ext uri="{FF2B5EF4-FFF2-40B4-BE49-F238E27FC236}">
                <a16:creationId xmlns:a16="http://schemas.microsoft.com/office/drawing/2014/main" id="{0652C50D-C271-910F-28B6-5D86F41AEC61}"/>
              </a:ext>
            </a:extLst>
          </p:cNvPr>
          <p:cNvGrpSpPr/>
          <p:nvPr/>
        </p:nvGrpSpPr>
        <p:grpSpPr>
          <a:xfrm>
            <a:off x="1111990" y="3399837"/>
            <a:ext cx="4000313" cy="815468"/>
            <a:chOff x="996244" y="3006817"/>
            <a:chExt cx="4000313" cy="815468"/>
          </a:xfrm>
        </p:grpSpPr>
        <p:sp>
          <p:nvSpPr>
            <p:cNvPr id="10" name="Oval 9">
              <a:extLst>
                <a:ext uri="{FF2B5EF4-FFF2-40B4-BE49-F238E27FC236}">
                  <a16:creationId xmlns:a16="http://schemas.microsoft.com/office/drawing/2014/main" id="{68FF9359-1F85-D2D7-3124-1D856B05B070}"/>
                </a:ext>
              </a:extLst>
            </p:cNvPr>
            <p:cNvSpPr/>
            <p:nvPr/>
          </p:nvSpPr>
          <p:spPr>
            <a:xfrm>
              <a:off x="1309033" y="346228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B2E04F61-3BD8-D6EA-1E19-F54C711C333F}"/>
                </a:ext>
              </a:extLst>
            </p:cNvPr>
            <p:cNvSpPr/>
            <p:nvPr/>
          </p:nvSpPr>
          <p:spPr>
            <a:xfrm>
              <a:off x="3800413" y="3462285"/>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2" name="Straight Arrow Connector 11">
              <a:extLst>
                <a:ext uri="{FF2B5EF4-FFF2-40B4-BE49-F238E27FC236}">
                  <a16:creationId xmlns:a16="http://schemas.microsoft.com/office/drawing/2014/main" id="{4C4DE796-C18C-A04A-A00A-1CF915BF6B9C}"/>
                </a:ext>
              </a:extLst>
            </p:cNvPr>
            <p:cNvCxnSpPr>
              <a:cxnSpLocks/>
              <a:stCxn id="10" idx="6"/>
              <a:endCxn id="11" idx="2"/>
            </p:cNvCxnSpPr>
            <p:nvPr/>
          </p:nvCxnSpPr>
          <p:spPr>
            <a:xfrm>
              <a:off x="1669033" y="3642285"/>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FEE38E90-92E0-535B-5127-2ABCC19365AF}"/>
                </a:ext>
              </a:extLst>
            </p:cNvPr>
            <p:cNvSpPr txBox="1"/>
            <p:nvPr/>
          </p:nvSpPr>
          <p:spPr>
            <a:xfrm>
              <a:off x="996244" y="3006817"/>
              <a:ext cx="2046714" cy="369332"/>
            </a:xfrm>
            <a:prstGeom prst="rect">
              <a:avLst/>
            </a:prstGeom>
            <a:noFill/>
          </p:spPr>
          <p:txBody>
            <a:bodyPr wrap="none" rtlCol="0">
              <a:spAutoFit/>
            </a:bodyPr>
            <a:lstStyle/>
            <a:p>
              <a:r>
                <a:rPr lang="en-US" noProof="0" dirty="0">
                  <a:solidFill>
                    <a:srgbClr val="D0180A"/>
                  </a:solidFill>
                </a:rPr>
                <a:t>test suite coverage</a:t>
              </a:r>
            </a:p>
          </p:txBody>
        </p:sp>
        <p:sp>
          <p:nvSpPr>
            <p:cNvPr id="14" name="TextBox 13">
              <a:extLst>
                <a:ext uri="{FF2B5EF4-FFF2-40B4-BE49-F238E27FC236}">
                  <a16:creationId xmlns:a16="http://schemas.microsoft.com/office/drawing/2014/main" id="{36888D24-7BA9-BE69-AD9A-F2E9B3EBEDDF}"/>
                </a:ext>
              </a:extLst>
            </p:cNvPr>
            <p:cNvSpPr txBox="1"/>
            <p:nvPr/>
          </p:nvSpPr>
          <p:spPr>
            <a:xfrm>
              <a:off x="3304747" y="3036587"/>
              <a:ext cx="1691810" cy="369332"/>
            </a:xfrm>
            <a:prstGeom prst="rect">
              <a:avLst/>
            </a:prstGeom>
            <a:noFill/>
          </p:spPr>
          <p:txBody>
            <a:bodyPr wrap="none" rtlCol="0">
              <a:spAutoFit/>
            </a:bodyPr>
            <a:lstStyle/>
            <a:p>
              <a:r>
                <a:rPr lang="en-US" noProof="0" dirty="0">
                  <a:solidFill>
                    <a:srgbClr val="006D70"/>
                  </a:solidFill>
                </a:rPr>
                <a:t>mutation score</a:t>
              </a:r>
            </a:p>
          </p:txBody>
        </p:sp>
      </p:grpSp>
      <p:grpSp>
        <p:nvGrpSpPr>
          <p:cNvPr id="29" name="Group 28">
            <a:extLst>
              <a:ext uri="{FF2B5EF4-FFF2-40B4-BE49-F238E27FC236}">
                <a16:creationId xmlns:a16="http://schemas.microsoft.com/office/drawing/2014/main" id="{A5076D64-E204-D9F3-B7D3-FA5C848E05C2}"/>
              </a:ext>
            </a:extLst>
          </p:cNvPr>
          <p:cNvGrpSpPr/>
          <p:nvPr/>
        </p:nvGrpSpPr>
        <p:grpSpPr>
          <a:xfrm>
            <a:off x="6592955" y="3399837"/>
            <a:ext cx="4000313" cy="1987099"/>
            <a:chOff x="996244" y="3006817"/>
            <a:chExt cx="4000313" cy="1987099"/>
          </a:xfrm>
        </p:grpSpPr>
        <p:sp>
          <p:nvSpPr>
            <p:cNvPr id="30" name="Oval 29">
              <a:extLst>
                <a:ext uri="{FF2B5EF4-FFF2-40B4-BE49-F238E27FC236}">
                  <a16:creationId xmlns:a16="http://schemas.microsoft.com/office/drawing/2014/main" id="{46B036C7-217D-F11C-F7E0-ED73BFAB7FAB}"/>
                </a:ext>
              </a:extLst>
            </p:cNvPr>
            <p:cNvSpPr/>
            <p:nvPr/>
          </p:nvSpPr>
          <p:spPr>
            <a:xfrm>
              <a:off x="1309033" y="3462285"/>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Oval 30">
              <a:extLst>
                <a:ext uri="{FF2B5EF4-FFF2-40B4-BE49-F238E27FC236}">
                  <a16:creationId xmlns:a16="http://schemas.microsoft.com/office/drawing/2014/main" id="{9CDAA0E0-92FF-5CC1-F0B8-5E4F162A0D2E}"/>
                </a:ext>
              </a:extLst>
            </p:cNvPr>
            <p:cNvSpPr/>
            <p:nvPr/>
          </p:nvSpPr>
          <p:spPr>
            <a:xfrm>
              <a:off x="3800413" y="3462285"/>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2" name="Straight Arrow Connector 31">
              <a:extLst>
                <a:ext uri="{FF2B5EF4-FFF2-40B4-BE49-F238E27FC236}">
                  <a16:creationId xmlns:a16="http://schemas.microsoft.com/office/drawing/2014/main" id="{59C9241E-D0B6-9A35-6E89-B82B2DE4EA71}"/>
                </a:ext>
              </a:extLst>
            </p:cNvPr>
            <p:cNvCxnSpPr>
              <a:stCxn id="30" idx="6"/>
              <a:endCxn id="31" idx="2"/>
            </p:cNvCxnSpPr>
            <p:nvPr/>
          </p:nvCxnSpPr>
          <p:spPr>
            <a:xfrm>
              <a:off x="1669033" y="3642285"/>
              <a:ext cx="2131380" cy="0"/>
            </a:xfrm>
            <a:prstGeom prst="straightConnector1">
              <a:avLst/>
            </a:prstGeom>
            <a:ln>
              <a:prstDash val="dash"/>
              <a:tailEnd type="triangle"/>
            </a:ln>
          </p:spPr>
          <p:style>
            <a:lnRef idx="2">
              <a:schemeClr val="dk1"/>
            </a:lnRef>
            <a:fillRef idx="0">
              <a:schemeClr val="dk1"/>
            </a:fillRef>
            <a:effectRef idx="1">
              <a:schemeClr val="dk1"/>
            </a:effectRef>
            <a:fontRef idx="minor">
              <a:schemeClr val="tx1"/>
            </a:fontRef>
          </p:style>
        </p:cxnSp>
        <p:sp>
          <p:nvSpPr>
            <p:cNvPr id="33" name="TextBox 32">
              <a:extLst>
                <a:ext uri="{FF2B5EF4-FFF2-40B4-BE49-F238E27FC236}">
                  <a16:creationId xmlns:a16="http://schemas.microsoft.com/office/drawing/2014/main" id="{B616017F-97EE-2B94-FFE8-F6CF25745B9E}"/>
                </a:ext>
              </a:extLst>
            </p:cNvPr>
            <p:cNvSpPr txBox="1"/>
            <p:nvPr/>
          </p:nvSpPr>
          <p:spPr>
            <a:xfrm>
              <a:off x="996244" y="3006817"/>
              <a:ext cx="2046714" cy="369332"/>
            </a:xfrm>
            <a:prstGeom prst="rect">
              <a:avLst/>
            </a:prstGeom>
            <a:noFill/>
          </p:spPr>
          <p:txBody>
            <a:bodyPr wrap="none" rtlCol="0">
              <a:spAutoFit/>
            </a:bodyPr>
            <a:lstStyle/>
            <a:p>
              <a:r>
                <a:rPr lang="en-US" noProof="0" dirty="0">
                  <a:solidFill>
                    <a:srgbClr val="D0180A"/>
                  </a:solidFill>
                </a:rPr>
                <a:t>test suite coverage</a:t>
              </a:r>
            </a:p>
          </p:txBody>
        </p:sp>
        <p:sp>
          <p:nvSpPr>
            <p:cNvPr id="34" name="TextBox 33">
              <a:extLst>
                <a:ext uri="{FF2B5EF4-FFF2-40B4-BE49-F238E27FC236}">
                  <a16:creationId xmlns:a16="http://schemas.microsoft.com/office/drawing/2014/main" id="{8BEC4DB7-C842-DAD6-69AF-1950F4CEF476}"/>
                </a:ext>
              </a:extLst>
            </p:cNvPr>
            <p:cNvSpPr txBox="1"/>
            <p:nvPr/>
          </p:nvSpPr>
          <p:spPr>
            <a:xfrm>
              <a:off x="3304747" y="3036587"/>
              <a:ext cx="1691810" cy="369332"/>
            </a:xfrm>
            <a:prstGeom prst="rect">
              <a:avLst/>
            </a:prstGeom>
            <a:noFill/>
          </p:spPr>
          <p:txBody>
            <a:bodyPr wrap="none" rtlCol="0">
              <a:spAutoFit/>
            </a:bodyPr>
            <a:lstStyle/>
            <a:p>
              <a:r>
                <a:rPr lang="en-US" noProof="0">
                  <a:solidFill>
                    <a:srgbClr val="006D70"/>
                  </a:solidFill>
                </a:rPr>
                <a:t>mutation score</a:t>
              </a:r>
            </a:p>
          </p:txBody>
        </p:sp>
        <p:sp>
          <p:nvSpPr>
            <p:cNvPr id="35" name="Oval 34">
              <a:extLst>
                <a:ext uri="{FF2B5EF4-FFF2-40B4-BE49-F238E27FC236}">
                  <a16:creationId xmlns:a16="http://schemas.microsoft.com/office/drawing/2014/main" id="{E3E2AE67-28D2-706E-4D37-BC1A9F4A72FE}"/>
                </a:ext>
              </a:extLst>
            </p:cNvPr>
            <p:cNvSpPr/>
            <p:nvPr/>
          </p:nvSpPr>
          <p:spPr>
            <a:xfrm>
              <a:off x="2554723" y="463391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TextBox 35">
              <a:extLst>
                <a:ext uri="{FF2B5EF4-FFF2-40B4-BE49-F238E27FC236}">
                  <a16:creationId xmlns:a16="http://schemas.microsoft.com/office/drawing/2014/main" id="{9FF61F32-6638-2189-953D-A420F7D7AC4F}"/>
                </a:ext>
              </a:extLst>
            </p:cNvPr>
            <p:cNvSpPr txBox="1"/>
            <p:nvPr/>
          </p:nvSpPr>
          <p:spPr>
            <a:xfrm>
              <a:off x="2943104" y="4624584"/>
              <a:ext cx="1536896" cy="369332"/>
            </a:xfrm>
            <a:prstGeom prst="rect">
              <a:avLst/>
            </a:prstGeom>
            <a:noFill/>
          </p:spPr>
          <p:txBody>
            <a:bodyPr wrap="none" rtlCol="0">
              <a:spAutoFit/>
            </a:bodyPr>
            <a:lstStyle/>
            <a:p>
              <a:r>
                <a:rPr lang="en-US" noProof="0" dirty="0">
                  <a:solidFill>
                    <a:schemeClr val="tx1">
                      <a:lumMod val="65000"/>
                      <a:lumOff val="35000"/>
                    </a:schemeClr>
                  </a:solidFill>
                </a:rPr>
                <a:t>test suite size</a:t>
              </a:r>
            </a:p>
          </p:txBody>
        </p:sp>
        <p:cxnSp>
          <p:nvCxnSpPr>
            <p:cNvPr id="37" name="Straight Arrow Connector 36">
              <a:extLst>
                <a:ext uri="{FF2B5EF4-FFF2-40B4-BE49-F238E27FC236}">
                  <a16:creationId xmlns:a16="http://schemas.microsoft.com/office/drawing/2014/main" id="{9067F5D9-7792-1A99-19AE-35C727DDEFDF}"/>
                </a:ext>
              </a:extLst>
            </p:cNvPr>
            <p:cNvCxnSpPr>
              <a:cxnSpLocks/>
              <a:stCxn id="35" idx="7"/>
              <a:endCxn id="31" idx="3"/>
            </p:cNvCxnSpPr>
            <p:nvPr/>
          </p:nvCxnSpPr>
          <p:spPr>
            <a:xfrm flipV="1">
              <a:off x="2862002" y="3769564"/>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6A05667D-0711-D779-B48E-E5E1CB8E2DFC}"/>
                </a:ext>
              </a:extLst>
            </p:cNvPr>
            <p:cNvCxnSpPr>
              <a:cxnSpLocks/>
              <a:stCxn id="35" idx="1"/>
              <a:endCxn id="30" idx="5"/>
            </p:cNvCxnSpPr>
            <p:nvPr/>
          </p:nvCxnSpPr>
          <p:spPr>
            <a:xfrm flipH="1" flipV="1">
              <a:off x="1616312" y="3769564"/>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9" name="Arrow: Right 38">
            <a:extLst>
              <a:ext uri="{FF2B5EF4-FFF2-40B4-BE49-F238E27FC236}">
                <a16:creationId xmlns:a16="http://schemas.microsoft.com/office/drawing/2014/main" id="{29B3BA29-C8FD-3B09-FE5F-4772EF916AA0}"/>
              </a:ext>
            </a:extLst>
          </p:cNvPr>
          <p:cNvSpPr/>
          <p:nvPr/>
        </p:nvSpPr>
        <p:spPr>
          <a:xfrm>
            <a:off x="5136913" y="3545255"/>
            <a:ext cx="1431431" cy="1579506"/>
          </a:xfrm>
          <a:prstGeom prst="rightArrow">
            <a:avLst/>
          </a:prstGeom>
          <a:gradFill flip="none" rotWithShape="1">
            <a:gsLst>
              <a:gs pos="0">
                <a:schemeClr val="tx2">
                  <a:lumMod val="25000"/>
                  <a:lumOff val="75000"/>
                </a:schemeClr>
              </a:gs>
              <a:gs pos="100000">
                <a:schemeClr val="tx2">
                  <a:lumMod val="75000"/>
                  <a:lumOff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TextBox 40">
            <a:extLst>
              <a:ext uri="{FF2B5EF4-FFF2-40B4-BE49-F238E27FC236}">
                <a16:creationId xmlns:a16="http://schemas.microsoft.com/office/drawing/2014/main" id="{FBDAF65A-592E-7EC6-1308-938A3A9DDD8A}"/>
              </a:ext>
            </a:extLst>
          </p:cNvPr>
          <p:cNvSpPr txBox="1"/>
          <p:nvPr/>
        </p:nvSpPr>
        <p:spPr>
          <a:xfrm>
            <a:off x="838200" y="5443882"/>
            <a:ext cx="6096000" cy="369332"/>
          </a:xfrm>
          <a:prstGeom prst="rect">
            <a:avLst/>
          </a:prstGeom>
          <a:noFill/>
        </p:spPr>
        <p:txBody>
          <a:bodyPr wrap="square">
            <a:spAutoFit/>
          </a:bodyPr>
          <a:lstStyle/>
          <a:p>
            <a:r>
              <a:rPr lang="en-US" noProof="0" dirty="0">
                <a:hlinkClick r:id="rId2"/>
              </a:rPr>
              <a:t>http://dx.doi.org/10.1145/2568225.2568271</a:t>
            </a:r>
            <a:r>
              <a:rPr lang="en-US" noProof="0" dirty="0"/>
              <a:t> </a:t>
            </a:r>
          </a:p>
        </p:txBody>
      </p:sp>
      <p:pic>
        <p:nvPicPr>
          <p:cNvPr id="15" name="Picture 14">
            <a:extLst>
              <a:ext uri="{FF2B5EF4-FFF2-40B4-BE49-F238E27FC236}">
                <a16:creationId xmlns:a16="http://schemas.microsoft.com/office/drawing/2014/main" id="{2F570C11-18C7-A912-49D0-2B256F57D220}"/>
              </a:ext>
            </a:extLst>
          </p:cNvPr>
          <p:cNvPicPr>
            <a:picLocks noChangeAspect="1"/>
          </p:cNvPicPr>
          <p:nvPr/>
        </p:nvPicPr>
        <p:blipFill>
          <a:blip r:embed="rId3"/>
          <a:stretch>
            <a:fillRect/>
          </a:stretch>
        </p:blipFill>
        <p:spPr>
          <a:xfrm>
            <a:off x="3874577" y="2447286"/>
            <a:ext cx="4442845" cy="571550"/>
          </a:xfrm>
          <a:prstGeom prst="rect">
            <a:avLst/>
          </a:prstGeom>
        </p:spPr>
      </p:pic>
    </p:spTree>
    <p:extLst>
      <p:ext uri="{BB962C8B-B14F-4D97-AF65-F5344CB8AC3E}">
        <p14:creationId xmlns:p14="http://schemas.microsoft.com/office/powerpoint/2010/main" val="179346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39" grpId="0" animBg="1"/>
      <p:bldP spid="4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DB2B7-0FC9-2535-E6A5-50A02145F8D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F7E8AF4-BDF0-979E-9259-F73342432ED2}"/>
              </a:ext>
            </a:extLst>
          </p:cNvPr>
          <p:cNvSpPr>
            <a:spLocks noGrp="1"/>
          </p:cNvSpPr>
          <p:nvPr>
            <p:ph type="title"/>
          </p:nvPr>
        </p:nvSpPr>
        <p:spPr/>
        <p:txBody>
          <a:bodyPr/>
          <a:lstStyle/>
          <a:p>
            <a:r>
              <a:rPr lang="en-US" noProof="0" dirty="0"/>
              <a:t>Mediation: Pipes</a:t>
            </a:r>
          </a:p>
        </p:txBody>
      </p:sp>
      <p:sp>
        <p:nvSpPr>
          <p:cNvPr id="8" name="Content Placeholder 7">
            <a:extLst>
              <a:ext uri="{FF2B5EF4-FFF2-40B4-BE49-F238E27FC236}">
                <a16:creationId xmlns:a16="http://schemas.microsoft.com/office/drawing/2014/main" id="{39909A37-5248-E227-E7DC-9E32E0F4C6CD}"/>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tested a new </a:t>
            </a:r>
            <a:r>
              <a:rPr lang="en-US" sz="2400" b="1" noProof="0" dirty="0">
                <a:solidFill>
                  <a:srgbClr val="D0180A"/>
                </a:solidFill>
              </a:rPr>
              <a:t>technique</a:t>
            </a:r>
            <a:r>
              <a:rPr lang="en-US" sz="2400" noProof="0" dirty="0"/>
              <a:t> in their requirements engineering phase that is enabled by a </a:t>
            </a:r>
            <a:r>
              <a:rPr lang="en-US" sz="2400" b="1" noProof="0" dirty="0">
                <a:solidFill>
                  <a:schemeClr val="bg1">
                    <a:lumMod val="50000"/>
                  </a:schemeClr>
                </a:solidFill>
              </a:rPr>
              <a:t>prototype tool</a:t>
            </a:r>
            <a:r>
              <a:rPr lang="en-US" sz="2400" noProof="0" dirty="0"/>
              <a:t>. We investigated whether this technique improved the engineers’ </a:t>
            </a:r>
            <a:r>
              <a:rPr lang="en-US" sz="2400" b="1" noProof="0" dirty="0">
                <a:solidFill>
                  <a:srgbClr val="006D70"/>
                </a:solidFill>
              </a:rPr>
              <a:t>productivity</a:t>
            </a:r>
            <a:r>
              <a:rPr lang="en-US" sz="2400" noProof="0" dirty="0"/>
              <a:t>.”</a:t>
            </a:r>
          </a:p>
        </p:txBody>
      </p:sp>
      <p:sp>
        <p:nvSpPr>
          <p:cNvPr id="4" name="Date Placeholder 3">
            <a:extLst>
              <a:ext uri="{FF2B5EF4-FFF2-40B4-BE49-F238E27FC236}">
                <a16:creationId xmlns:a16="http://schemas.microsoft.com/office/drawing/2014/main" id="{3CE2F02E-F077-39C1-0685-4CC4A8D70EE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55EEBA1-0910-113E-2423-D8AA1D1B7DD1}"/>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B008D60-A68A-E671-BB78-996AAC1D555F}"/>
              </a:ext>
            </a:extLst>
          </p:cNvPr>
          <p:cNvSpPr>
            <a:spLocks noGrp="1"/>
          </p:cNvSpPr>
          <p:nvPr>
            <p:ph type="sldNum" sz="quarter" idx="12"/>
          </p:nvPr>
        </p:nvSpPr>
        <p:spPr/>
        <p:txBody>
          <a:bodyPr/>
          <a:lstStyle/>
          <a:p>
            <a:fld id="{0FA2D919-C0DE-4971-A2E9-D4AC0031921B}" type="slidenum">
              <a:rPr lang="en-US" noProof="0" smtClean="0"/>
              <a:t>35</a:t>
            </a:fld>
            <a:endParaRPr lang="en-US" noProof="0" dirty="0"/>
          </a:p>
        </p:txBody>
      </p:sp>
      <p:grpSp>
        <p:nvGrpSpPr>
          <p:cNvPr id="41" name="Group 40">
            <a:extLst>
              <a:ext uri="{FF2B5EF4-FFF2-40B4-BE49-F238E27FC236}">
                <a16:creationId xmlns:a16="http://schemas.microsoft.com/office/drawing/2014/main" id="{75DD1B6A-345C-E688-CC16-CBDA468ECF17}"/>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4C8C5261-0EA2-237D-4A85-5ABF6884822F}"/>
                </a:ext>
              </a:extLst>
            </p:cNvPr>
            <p:cNvSpPr/>
            <p:nvPr/>
          </p:nvSpPr>
          <p:spPr>
            <a:xfrm>
              <a:off x="3313786" y="3686861"/>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B2564E65-555B-81DC-8C9C-6F4FC2AD90F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C7EA6BEE-334E-7595-9120-32013A504908}"/>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BBBC0F27-DFD6-69AD-E58E-B1E0DA191396}"/>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DFD38B88-0B1B-43B8-2A7F-458C447392C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877485E1-35A1-FE13-0D45-6EDB9ECE4E61}"/>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7C70149E-4223-08A6-E9A3-16130B365213}"/>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9E69808B-6209-4370-2362-4EA77B70C67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600AFABA-D605-583F-C38D-638D66EA1B2D}"/>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ABCBA6CC-CC0D-5BBF-5C03-435EF60679CC}"/>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DA6DAB69-57DD-6459-AF0D-3167FEBAB1D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AE20DFDB-51B9-0F83-D203-22006FC58A13}"/>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236C8ABB-622A-D1CC-44AD-F90DCA837860}"/>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4E24F20B-8319-9058-4041-B264A110AA85}"/>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 name="Straight Arrow Connector 1">
            <a:extLst>
              <a:ext uri="{FF2B5EF4-FFF2-40B4-BE49-F238E27FC236}">
                <a16:creationId xmlns:a16="http://schemas.microsoft.com/office/drawing/2014/main" id="{570B74B8-1A4B-4F34-1EF0-007BB9942692}"/>
              </a:ext>
            </a:extLst>
          </p:cNvPr>
          <p:cNvCxnSpPr>
            <a:cxnSpLocks/>
            <a:stCxn id="11" idx="3"/>
            <a:endCxn id="12" idx="1"/>
          </p:cNvCxnSpPr>
          <p:nvPr/>
        </p:nvCxnSpPr>
        <p:spPr>
          <a:xfrm>
            <a:off x="4491656" y="4106826"/>
            <a:ext cx="3286599" cy="0"/>
          </a:xfrm>
          <a:prstGeom prst="straightConnector1">
            <a:avLst/>
          </a:prstGeom>
          <a:ln w="28575">
            <a:prstDash val="solid"/>
            <a:tailEnd type="triangle"/>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7632C058-AF93-8C55-3DF8-3EABE8ED3353}"/>
              </a:ext>
            </a:extLst>
          </p:cNvPr>
          <p:cNvSpPr txBox="1"/>
          <p:nvPr/>
        </p:nvSpPr>
        <p:spPr>
          <a:xfrm>
            <a:off x="2392335" y="3068414"/>
            <a:ext cx="2988960" cy="646331"/>
          </a:xfrm>
          <a:prstGeom prst="rect">
            <a:avLst/>
          </a:prstGeom>
          <a:noFill/>
        </p:spPr>
        <p:txBody>
          <a:bodyPr wrap="none" rtlCol="0">
            <a:spAutoFit/>
          </a:bodyPr>
          <a:lstStyle/>
          <a:p>
            <a:r>
              <a:rPr lang="en-US" noProof="0" dirty="0">
                <a:solidFill>
                  <a:srgbClr val="D0180A"/>
                </a:solidFill>
              </a:rPr>
              <a:t>technique</a:t>
            </a:r>
          </a:p>
          <a:p>
            <a:r>
              <a:rPr lang="en-US" noProof="0" dirty="0">
                <a:solidFill>
                  <a:srgbClr val="D0180A"/>
                </a:solidFill>
              </a:rPr>
              <a:t>(0 = baseline, 1 = treatment) </a:t>
            </a:r>
          </a:p>
        </p:txBody>
      </p:sp>
      <p:sp>
        <p:nvSpPr>
          <p:cNvPr id="9" name="TextBox 8">
            <a:extLst>
              <a:ext uri="{FF2B5EF4-FFF2-40B4-BE49-F238E27FC236}">
                <a16:creationId xmlns:a16="http://schemas.microsoft.com/office/drawing/2014/main" id="{E98C4EB2-0229-7538-11CC-82753CB503F6}"/>
              </a:ext>
            </a:extLst>
          </p:cNvPr>
          <p:cNvSpPr txBox="1"/>
          <p:nvPr/>
        </p:nvSpPr>
        <p:spPr>
          <a:xfrm>
            <a:off x="7401051" y="3254928"/>
            <a:ext cx="1362937" cy="369332"/>
          </a:xfrm>
          <a:prstGeom prst="rect">
            <a:avLst/>
          </a:prstGeom>
          <a:noFill/>
        </p:spPr>
        <p:txBody>
          <a:bodyPr wrap="none" rtlCol="0">
            <a:spAutoFit/>
          </a:bodyPr>
          <a:lstStyle/>
          <a:p>
            <a:r>
              <a:rPr lang="en-US" noProof="0" dirty="0">
                <a:solidFill>
                  <a:srgbClr val="006D70"/>
                </a:solidFill>
              </a:rPr>
              <a:t>productivity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3BB4C6E-68E6-8D3D-9949-4554C441DBDD}"/>
                  </a:ext>
                </a:extLst>
              </p:cNvPr>
              <p:cNvSpPr txBox="1"/>
              <p:nvPr/>
            </p:nvSpPr>
            <p:spPr>
              <a:xfrm>
                <a:off x="4922098" y="4166628"/>
                <a:ext cx="2425714" cy="523220"/>
              </a:xfrm>
              <a:prstGeom prst="rect">
                <a:avLst/>
              </a:prstGeom>
              <a:noFill/>
              <a:ln>
                <a:noFill/>
                <a:prstDash val="solid"/>
              </a:ln>
            </p:spPr>
            <p:txBody>
              <a:bodyPr wrap="square">
                <a:spAutoFit/>
              </a:bodyPr>
              <a:lstStyle/>
              <a:p>
                <a14:m>
                  <m:oMath xmlns:m="http://schemas.openxmlformats.org/officeDocument/2006/math">
                    <m:r>
                      <a:rPr lang="en-US" sz="1400" b="0" i="1" noProof="0" smtClean="0">
                        <a:latin typeface="Cambria Math" panose="02040503050406030204" pitchFamily="18" charset="0"/>
                      </a:rPr>
                      <m:t>0.5</m:t>
                    </m:r>
                  </m:oMath>
                </a14:m>
                <a:r>
                  <a:rPr lang="en-US" sz="1400" noProof="0" dirty="0"/>
                  <a:t>: the treatment technique slightly improves productivity</a:t>
                </a:r>
              </a:p>
            </p:txBody>
          </p:sp>
        </mc:Choice>
        <mc:Fallback xmlns="">
          <p:sp>
            <p:nvSpPr>
              <p:cNvPr id="10" name="TextBox 9">
                <a:extLst>
                  <a:ext uri="{FF2B5EF4-FFF2-40B4-BE49-F238E27FC236}">
                    <a16:creationId xmlns:a16="http://schemas.microsoft.com/office/drawing/2014/main" id="{03BB4C6E-68E6-8D3D-9949-4554C441DBDD}"/>
                  </a:ext>
                </a:extLst>
              </p:cNvPr>
              <p:cNvSpPr txBox="1">
                <a:spLocks noRot="1" noChangeAspect="1" noMove="1" noResize="1" noEditPoints="1" noAdjustHandles="1" noChangeArrowheads="1" noChangeShapeType="1" noTextEdit="1"/>
              </p:cNvSpPr>
              <p:nvPr/>
            </p:nvSpPr>
            <p:spPr>
              <a:xfrm>
                <a:off x="4922098" y="4166628"/>
                <a:ext cx="2425714" cy="523220"/>
              </a:xfrm>
              <a:prstGeom prst="rect">
                <a:avLst/>
              </a:prstGeom>
              <a:blipFill>
                <a:blip r:embed="rId8"/>
                <a:stretch>
                  <a:fillRect l="-754" t="-2353" b="-11765"/>
                </a:stretch>
              </a:blipFill>
              <a:ln>
                <a:noFill/>
                <a:prstDash val="solid"/>
              </a:ln>
            </p:spPr>
            <p:txBody>
              <a:bodyPr/>
              <a:lstStyle/>
              <a:p>
                <a:r>
                  <a:rPr lang="en-SE">
                    <a:noFill/>
                  </a:rPr>
                  <a:t> </a:t>
                </a:r>
              </a:p>
            </p:txBody>
          </p:sp>
        </mc:Fallback>
      </mc:AlternateContent>
      <p:sp>
        <p:nvSpPr>
          <p:cNvPr id="11" name="Rectangle: Rounded Corners 10">
            <a:extLst>
              <a:ext uri="{FF2B5EF4-FFF2-40B4-BE49-F238E27FC236}">
                <a16:creationId xmlns:a16="http://schemas.microsoft.com/office/drawing/2014/main" id="{E2E9A47B-074C-4652-688E-AF36DBD42C63}"/>
              </a:ext>
            </a:extLst>
          </p:cNvPr>
          <p:cNvSpPr/>
          <p:nvPr/>
        </p:nvSpPr>
        <p:spPr>
          <a:xfrm>
            <a:off x="4131656" y="3926826"/>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Rounded Corners 11">
            <a:extLst>
              <a:ext uri="{FF2B5EF4-FFF2-40B4-BE49-F238E27FC236}">
                <a16:creationId xmlns:a16="http://schemas.microsoft.com/office/drawing/2014/main" id="{33F3D203-FE60-76F0-9924-B2C4A4724416}"/>
              </a:ext>
            </a:extLst>
          </p:cNvPr>
          <p:cNvSpPr/>
          <p:nvPr/>
        </p:nvSpPr>
        <p:spPr>
          <a:xfrm>
            <a:off x="7778255" y="3926826"/>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Rounded Corners 12">
            <a:extLst>
              <a:ext uri="{FF2B5EF4-FFF2-40B4-BE49-F238E27FC236}">
                <a16:creationId xmlns:a16="http://schemas.microsoft.com/office/drawing/2014/main" id="{AF24977B-024F-3206-BC6B-95EC8E2DF704}"/>
              </a:ext>
            </a:extLst>
          </p:cNvPr>
          <p:cNvSpPr/>
          <p:nvPr/>
        </p:nvSpPr>
        <p:spPr>
          <a:xfrm>
            <a:off x="5954955" y="5166166"/>
            <a:ext cx="360000" cy="360000"/>
          </a:xfrm>
          <a:prstGeom prst="round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4" name="Straight Arrow Connector 13">
            <a:extLst>
              <a:ext uri="{FF2B5EF4-FFF2-40B4-BE49-F238E27FC236}">
                <a16:creationId xmlns:a16="http://schemas.microsoft.com/office/drawing/2014/main" id="{228B25C8-D78C-DDE7-0D28-CB0E259ED25C}"/>
              </a:ext>
            </a:extLst>
          </p:cNvPr>
          <p:cNvCxnSpPr>
            <a:cxnSpLocks/>
            <a:stCxn id="11" idx="2"/>
            <a:endCxn id="13" idx="1"/>
          </p:cNvCxnSpPr>
          <p:nvPr/>
        </p:nvCxnSpPr>
        <p:spPr>
          <a:xfrm>
            <a:off x="4311656" y="4286826"/>
            <a:ext cx="1643299"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80CA9C5A-D64E-4E43-6601-6AB1AC9C8072}"/>
              </a:ext>
            </a:extLst>
          </p:cNvPr>
          <p:cNvCxnSpPr>
            <a:cxnSpLocks/>
            <a:stCxn id="13" idx="3"/>
            <a:endCxn id="12" idx="2"/>
          </p:cNvCxnSpPr>
          <p:nvPr/>
        </p:nvCxnSpPr>
        <p:spPr>
          <a:xfrm flipV="1">
            <a:off x="6314955" y="4286826"/>
            <a:ext cx="1643300"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045AADFA-D10C-7CD2-332E-28A267F713DC}"/>
              </a:ext>
            </a:extLst>
          </p:cNvPr>
          <p:cNvSpPr txBox="1"/>
          <p:nvPr/>
        </p:nvSpPr>
        <p:spPr>
          <a:xfrm>
            <a:off x="5594155" y="5600357"/>
            <a:ext cx="1305614" cy="369332"/>
          </a:xfrm>
          <a:prstGeom prst="rect">
            <a:avLst/>
          </a:prstGeom>
          <a:noFill/>
        </p:spPr>
        <p:txBody>
          <a:bodyPr wrap="none" rtlCol="0">
            <a:spAutoFit/>
          </a:bodyPr>
          <a:lstStyle/>
          <a:p>
            <a:r>
              <a:rPr lang="en-US" noProof="0" dirty="0">
                <a:solidFill>
                  <a:schemeClr val="bg1">
                    <a:lumMod val="50000"/>
                  </a:schemeClr>
                </a:solidFill>
              </a:rPr>
              <a:t>tool appeal</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87C241-983E-86D8-571A-B9A12F99425F}"/>
                  </a:ext>
                </a:extLst>
              </p:cNvPr>
              <p:cNvSpPr txBox="1"/>
              <p:nvPr/>
            </p:nvSpPr>
            <p:spPr>
              <a:xfrm>
                <a:off x="935352" y="4622171"/>
                <a:ext cx="3980614" cy="523220"/>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−1</m:t>
                    </m:r>
                  </m:oMath>
                </a14:m>
                <a:r>
                  <a:rPr lang="en-US" sz="1400" noProof="0" dirty="0"/>
                  <a:t>: the prototype implementation of the new technique is not yet appealing</a:t>
                </a:r>
              </a:p>
            </p:txBody>
          </p:sp>
        </mc:Choice>
        <mc:Fallback xmlns="">
          <p:sp>
            <p:nvSpPr>
              <p:cNvPr id="17" name="TextBox 16">
                <a:extLst>
                  <a:ext uri="{FF2B5EF4-FFF2-40B4-BE49-F238E27FC236}">
                    <a16:creationId xmlns:a16="http://schemas.microsoft.com/office/drawing/2014/main" id="{3087C241-983E-86D8-571A-B9A12F99425F}"/>
                  </a:ext>
                </a:extLst>
              </p:cNvPr>
              <p:cNvSpPr txBox="1">
                <a:spLocks noRot="1" noChangeAspect="1" noMove="1" noResize="1" noEditPoints="1" noAdjustHandles="1" noChangeArrowheads="1" noChangeShapeType="1" noTextEdit="1"/>
              </p:cNvSpPr>
              <p:nvPr/>
            </p:nvSpPr>
            <p:spPr>
              <a:xfrm>
                <a:off x="935352" y="4622171"/>
                <a:ext cx="3980614" cy="523220"/>
              </a:xfrm>
              <a:prstGeom prst="rect">
                <a:avLst/>
              </a:prstGeom>
              <a:blipFill>
                <a:blip r:embed="rId9"/>
                <a:stretch>
                  <a:fillRect l="-459" t="-2326" b="-1162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9F84C18-EA4E-C2CD-FFED-5528A0502247}"/>
                  </a:ext>
                </a:extLst>
              </p:cNvPr>
              <p:cNvSpPr txBox="1"/>
              <p:nvPr/>
            </p:nvSpPr>
            <p:spPr>
              <a:xfrm>
                <a:off x="7174128" y="4707496"/>
                <a:ext cx="4013161" cy="523220"/>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2</m:t>
                    </m:r>
                  </m:oMath>
                </a14:m>
                <a:r>
                  <a:rPr lang="en-US" sz="1400" noProof="0" dirty="0"/>
                  <a:t>:  the more appealing the tool, the greater the productivity</a:t>
                </a:r>
              </a:p>
            </p:txBody>
          </p:sp>
        </mc:Choice>
        <mc:Fallback xmlns="">
          <p:sp>
            <p:nvSpPr>
              <p:cNvPr id="18" name="TextBox 17">
                <a:extLst>
                  <a:ext uri="{FF2B5EF4-FFF2-40B4-BE49-F238E27FC236}">
                    <a16:creationId xmlns:a16="http://schemas.microsoft.com/office/drawing/2014/main" id="{99F84C18-EA4E-C2CD-FFED-5528A0502247}"/>
                  </a:ext>
                </a:extLst>
              </p:cNvPr>
              <p:cNvSpPr txBox="1">
                <a:spLocks noRot="1" noChangeAspect="1" noMove="1" noResize="1" noEditPoints="1" noAdjustHandles="1" noChangeArrowheads="1" noChangeShapeType="1" noTextEdit="1"/>
              </p:cNvSpPr>
              <p:nvPr/>
            </p:nvSpPr>
            <p:spPr>
              <a:xfrm>
                <a:off x="7174128" y="4707496"/>
                <a:ext cx="4013161" cy="523220"/>
              </a:xfrm>
              <a:prstGeom prst="rect">
                <a:avLst/>
              </a:prstGeom>
              <a:blipFill>
                <a:blip r:embed="rId10"/>
                <a:stretch>
                  <a:fillRect l="-456" t="-2326" b="-1162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3D656B8-3875-993A-6FFC-08B6B772CA9C}"/>
                  </a:ext>
                </a:extLst>
              </p:cNvPr>
              <p:cNvSpPr txBox="1"/>
              <p:nvPr/>
            </p:nvSpPr>
            <p:spPr>
              <a:xfrm>
                <a:off x="2419935" y="3575535"/>
                <a:ext cx="365884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D0180A"/>
                          </a:solidFill>
                          <a:latin typeface="Cambria Math" panose="02040503050406030204" pitchFamily="18" charset="0"/>
                        </a:rPr>
                        <m:t>~ </m:t>
                      </m:r>
                      <m:r>
                        <a:rPr lang="en-US" b="0" i="1" noProof="0" smtClean="0">
                          <a:solidFill>
                            <a:srgbClr val="D0180A"/>
                          </a:solidFill>
                          <a:latin typeface="Cambria Math" panose="02040503050406030204" pitchFamily="18" charset="0"/>
                        </a:rPr>
                        <m:t>𝑏𝑒𝑟𝑛𝑜𝑢𝑙𝑙𝑖</m:t>
                      </m:r>
                      <m:r>
                        <a:rPr lang="en-US" b="0" i="1" noProof="0" smtClean="0">
                          <a:solidFill>
                            <a:srgbClr val="D0180A"/>
                          </a:solidFill>
                          <a:latin typeface="Cambria Math" panose="02040503050406030204" pitchFamily="18" charset="0"/>
                        </a:rPr>
                        <m:t>(0.5)</m:t>
                      </m:r>
                    </m:oMath>
                  </m:oMathPara>
                </a14:m>
                <a:endParaRPr lang="en-US" noProof="0" dirty="0"/>
              </a:p>
            </p:txBody>
          </p:sp>
        </mc:Choice>
        <mc:Fallback xmlns="">
          <p:sp>
            <p:nvSpPr>
              <p:cNvPr id="19" name="TextBox 18">
                <a:extLst>
                  <a:ext uri="{FF2B5EF4-FFF2-40B4-BE49-F238E27FC236}">
                    <a16:creationId xmlns:a16="http://schemas.microsoft.com/office/drawing/2014/main" id="{03D656B8-3875-993A-6FFC-08B6B772CA9C}"/>
                  </a:ext>
                </a:extLst>
              </p:cNvPr>
              <p:cNvSpPr txBox="1">
                <a:spLocks noRot="1" noChangeAspect="1" noMove="1" noResize="1" noEditPoints="1" noAdjustHandles="1" noChangeArrowheads="1" noChangeShapeType="1" noTextEdit="1"/>
              </p:cNvSpPr>
              <p:nvPr/>
            </p:nvSpPr>
            <p:spPr>
              <a:xfrm>
                <a:off x="2419935" y="3575535"/>
                <a:ext cx="3658844" cy="369332"/>
              </a:xfrm>
              <a:prstGeom prst="rect">
                <a:avLst/>
              </a:prstGeom>
              <a:blipFill>
                <a:blip r:embed="rId11"/>
                <a:stretch>
                  <a:fillRect b="-1333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55CF532-8295-4B8A-705E-5E5BA0281B36}"/>
                  </a:ext>
                </a:extLst>
              </p:cNvPr>
              <p:cNvSpPr txBox="1"/>
              <p:nvPr/>
            </p:nvSpPr>
            <p:spPr>
              <a:xfrm>
                <a:off x="7401051" y="3560542"/>
                <a:ext cx="4342962"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006D70"/>
                          </a:solidFill>
                          <a:latin typeface="Cambria Math" panose="02040503050406030204" pitchFamily="18" charset="0"/>
                        </a:rPr>
                        <m:t>~ </m:t>
                      </m:r>
                      <m:r>
                        <a:rPr lang="en-US" b="0" i="1" noProof="0" smtClean="0">
                          <a:solidFill>
                            <a:srgbClr val="006D70"/>
                          </a:solidFill>
                          <a:latin typeface="Cambria Math" panose="02040503050406030204" pitchFamily="18" charset="0"/>
                        </a:rPr>
                        <m:t>𝑁</m:t>
                      </m:r>
                      <m:r>
                        <a:rPr lang="en-US" b="0" i="1" noProof="0" smtClean="0">
                          <a:solidFill>
                            <a:srgbClr val="006D70"/>
                          </a:solidFill>
                          <a:latin typeface="Cambria Math" panose="02040503050406030204" pitchFamily="18" charset="0"/>
                        </a:rPr>
                        <m:t>(0+0.5∗</m:t>
                      </m:r>
                      <m:r>
                        <a:rPr lang="en-US" b="0" i="1" noProof="0" smtClean="0">
                          <a:solidFill>
                            <a:srgbClr val="D0180A"/>
                          </a:solidFill>
                          <a:latin typeface="Cambria Math" panose="02040503050406030204" pitchFamily="18" charset="0"/>
                        </a:rPr>
                        <m:t>𝑡𝑒𝑐h𝑛𝑖𝑞𝑢𝑒</m:t>
                      </m:r>
                      <m:r>
                        <a:rPr lang="en-US" b="0" i="1" noProof="0" smtClean="0">
                          <a:solidFill>
                            <a:schemeClr val="tx1"/>
                          </a:solidFill>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2∗</m:t>
                      </m:r>
                      <m:r>
                        <a:rPr lang="en-US" b="0" i="1" noProof="0" smtClean="0">
                          <a:solidFill>
                            <a:schemeClr val="bg1">
                              <a:lumMod val="50000"/>
                            </a:schemeClr>
                          </a:solidFill>
                          <a:latin typeface="Cambria Math" panose="02040503050406030204" pitchFamily="18" charset="0"/>
                        </a:rPr>
                        <m:t>𝑎𝑝𝑝𝑒𝑎𝑙</m:t>
                      </m:r>
                      <m:r>
                        <a:rPr lang="en-US" b="0" i="1" noProof="0" smtClean="0">
                          <a:solidFill>
                            <a:srgbClr val="006D70"/>
                          </a:solidFill>
                          <a:latin typeface="Cambria Math" panose="02040503050406030204" pitchFamily="18" charset="0"/>
                        </a:rPr>
                        <m:t>, 1)</m:t>
                      </m:r>
                    </m:oMath>
                  </m:oMathPara>
                </a14:m>
                <a:endParaRPr lang="en-US" noProof="0" dirty="0"/>
              </a:p>
            </p:txBody>
          </p:sp>
        </mc:Choice>
        <mc:Fallback xmlns="">
          <p:sp>
            <p:nvSpPr>
              <p:cNvPr id="20" name="TextBox 19">
                <a:extLst>
                  <a:ext uri="{FF2B5EF4-FFF2-40B4-BE49-F238E27FC236}">
                    <a16:creationId xmlns:a16="http://schemas.microsoft.com/office/drawing/2014/main" id="{B55CF532-8295-4B8A-705E-5E5BA0281B36}"/>
                  </a:ext>
                </a:extLst>
              </p:cNvPr>
              <p:cNvSpPr txBox="1">
                <a:spLocks noRot="1" noChangeAspect="1" noMove="1" noResize="1" noEditPoints="1" noAdjustHandles="1" noChangeArrowheads="1" noChangeShapeType="1" noTextEdit="1"/>
              </p:cNvSpPr>
              <p:nvPr/>
            </p:nvSpPr>
            <p:spPr>
              <a:xfrm>
                <a:off x="7401051" y="3560542"/>
                <a:ext cx="4342962" cy="369332"/>
              </a:xfrm>
              <a:prstGeom prst="rect">
                <a:avLst/>
              </a:prstGeom>
              <a:blipFill>
                <a:blip r:embed="rId12"/>
                <a:stretch>
                  <a:fillRect b="-1311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E633945-4F18-8EFA-E480-674F6A87EA42}"/>
                  </a:ext>
                </a:extLst>
              </p:cNvPr>
              <p:cNvSpPr txBox="1"/>
              <p:nvPr/>
            </p:nvSpPr>
            <p:spPr>
              <a:xfrm>
                <a:off x="5636585" y="5939122"/>
                <a:ext cx="2743199"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0" noProof="0" smtClean="0">
                          <a:solidFill>
                            <a:schemeClr val="bg1">
                              <a:lumMod val="50000"/>
                            </a:schemeClr>
                          </a:solidFill>
                          <a:latin typeface="Cambria Math" panose="02040503050406030204" pitchFamily="18" charset="0"/>
                        </a:rPr>
                        <m:t>~ </m:t>
                      </m:r>
                      <m:r>
                        <a:rPr lang="en-US" b="0" i="1" noProof="0" smtClean="0">
                          <a:solidFill>
                            <a:schemeClr val="bg1">
                              <a:lumMod val="50000"/>
                            </a:schemeClr>
                          </a:solidFill>
                          <a:latin typeface="Cambria Math" panose="02040503050406030204" pitchFamily="18" charset="0"/>
                        </a:rPr>
                        <m:t>𝑁</m:t>
                      </m:r>
                      <m:r>
                        <a:rPr lang="en-US" b="0" i="1" noProof="0" smtClean="0">
                          <a:solidFill>
                            <a:schemeClr val="bg1">
                              <a:lumMod val="50000"/>
                            </a:schemeClr>
                          </a:solidFill>
                          <a:latin typeface="Cambria Math" panose="02040503050406030204" pitchFamily="18" charset="0"/>
                        </a:rPr>
                        <m:t>(0−1∗</m:t>
                      </m:r>
                      <m:r>
                        <a:rPr lang="en-US" b="0" i="1" noProof="0" smtClean="0">
                          <a:solidFill>
                            <a:srgbClr val="D0180A"/>
                          </a:solidFill>
                          <a:latin typeface="Cambria Math" panose="02040503050406030204" pitchFamily="18" charset="0"/>
                        </a:rPr>
                        <m:t>𝑡𝑒𝑐h𝑛𝑖𝑞𝑢𝑒</m:t>
                      </m:r>
                      <m:r>
                        <a:rPr lang="en-US" b="0" i="1" noProof="0" smtClean="0">
                          <a:solidFill>
                            <a:schemeClr val="bg1">
                              <a:lumMod val="50000"/>
                            </a:schemeClr>
                          </a:solidFill>
                          <a:latin typeface="Cambria Math" panose="02040503050406030204" pitchFamily="18" charset="0"/>
                        </a:rPr>
                        <m:t>)</m:t>
                      </m:r>
                    </m:oMath>
                  </m:oMathPara>
                </a14:m>
                <a:endParaRPr lang="en-US" noProof="0" dirty="0"/>
              </a:p>
            </p:txBody>
          </p:sp>
        </mc:Choice>
        <mc:Fallback xmlns="">
          <p:sp>
            <p:nvSpPr>
              <p:cNvPr id="21" name="TextBox 20">
                <a:extLst>
                  <a:ext uri="{FF2B5EF4-FFF2-40B4-BE49-F238E27FC236}">
                    <a16:creationId xmlns:a16="http://schemas.microsoft.com/office/drawing/2014/main" id="{5E633945-4F18-8EFA-E480-674F6A87EA42}"/>
                  </a:ext>
                </a:extLst>
              </p:cNvPr>
              <p:cNvSpPr txBox="1">
                <a:spLocks noRot="1" noChangeAspect="1" noMove="1" noResize="1" noEditPoints="1" noAdjustHandles="1" noChangeArrowheads="1" noChangeShapeType="1" noTextEdit="1"/>
              </p:cNvSpPr>
              <p:nvPr/>
            </p:nvSpPr>
            <p:spPr>
              <a:xfrm>
                <a:off x="5636585" y="5939122"/>
                <a:ext cx="2743199" cy="369332"/>
              </a:xfrm>
              <a:prstGeom prst="rect">
                <a:avLst/>
              </a:prstGeom>
              <a:blipFill>
                <a:blip r:embed="rId13"/>
                <a:stretch>
                  <a:fillRect b="-13115"/>
                </a:stretch>
              </a:blipFill>
            </p:spPr>
            <p:txBody>
              <a:bodyPr/>
              <a:lstStyle/>
              <a:p>
                <a:r>
                  <a:rPr lang="en-SE">
                    <a:noFill/>
                  </a:rPr>
                  <a:t> </a:t>
                </a:r>
              </a:p>
            </p:txBody>
          </p:sp>
        </mc:Fallback>
      </mc:AlternateContent>
    </p:spTree>
    <p:extLst>
      <p:ext uri="{BB962C8B-B14F-4D97-AF65-F5344CB8AC3E}">
        <p14:creationId xmlns:p14="http://schemas.microsoft.com/office/powerpoint/2010/main" val="351565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3" grpId="0"/>
      <p:bldP spid="9" grpId="0"/>
      <p:bldP spid="10" grpId="0"/>
      <p:bldP spid="11" grpId="0" animBg="1"/>
      <p:bldP spid="12" grpId="0" animBg="1"/>
      <p:bldP spid="13" grpId="0" animBg="1"/>
      <p:bldP spid="16" grpId="0"/>
      <p:bldP spid="17" grpId="0"/>
      <p:bldP spid="18" grpId="0"/>
      <p:bldP spid="19" grpId="0"/>
      <p:bldP spid="20"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F855E-AD15-FF19-0476-C734FE1D1DE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668018D-E9E3-8610-AC0B-213CA8D0B1B7}"/>
              </a:ext>
            </a:extLst>
          </p:cNvPr>
          <p:cNvSpPr>
            <a:spLocks noGrp="1"/>
          </p:cNvSpPr>
          <p:nvPr>
            <p:ph type="title"/>
          </p:nvPr>
        </p:nvSpPr>
        <p:spPr/>
        <p:txBody>
          <a:bodyPr/>
          <a:lstStyle/>
          <a:p>
            <a:r>
              <a:rPr lang="en-US" noProof="0" dirty="0"/>
              <a:t>Mediation: Pipes</a:t>
            </a:r>
          </a:p>
        </p:txBody>
      </p:sp>
      <p:sp>
        <p:nvSpPr>
          <p:cNvPr id="8" name="Content Placeholder 7">
            <a:extLst>
              <a:ext uri="{FF2B5EF4-FFF2-40B4-BE49-F238E27FC236}">
                <a16:creationId xmlns:a16="http://schemas.microsoft.com/office/drawing/2014/main" id="{F0C56158-0EC4-3302-D739-7823B4D97BBD}"/>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tested a new </a:t>
            </a:r>
            <a:r>
              <a:rPr lang="en-US" sz="2400" b="1" noProof="0" dirty="0">
                <a:solidFill>
                  <a:srgbClr val="D0180A"/>
                </a:solidFill>
              </a:rPr>
              <a:t>technique</a:t>
            </a:r>
            <a:r>
              <a:rPr lang="en-US" sz="2400" noProof="0" dirty="0"/>
              <a:t> in their requirements engineering phase that is enabled by a </a:t>
            </a:r>
            <a:r>
              <a:rPr lang="en-US" sz="2400" b="1" noProof="0" dirty="0">
                <a:solidFill>
                  <a:schemeClr val="bg1">
                    <a:lumMod val="50000"/>
                  </a:schemeClr>
                </a:solidFill>
              </a:rPr>
              <a:t>prototype tool</a:t>
            </a:r>
            <a:r>
              <a:rPr lang="en-US" sz="2400" noProof="0" dirty="0"/>
              <a:t>. We investigated whether this technique improved the engineers’ </a:t>
            </a:r>
            <a:r>
              <a:rPr lang="en-US" sz="2400" b="1" noProof="0" dirty="0">
                <a:solidFill>
                  <a:srgbClr val="006D70"/>
                </a:solidFill>
              </a:rPr>
              <a:t>productivity</a:t>
            </a:r>
            <a:r>
              <a:rPr lang="en-US" sz="2400" noProof="0" dirty="0"/>
              <a:t>.”</a:t>
            </a:r>
          </a:p>
        </p:txBody>
      </p:sp>
      <p:sp>
        <p:nvSpPr>
          <p:cNvPr id="4" name="Date Placeholder 3">
            <a:extLst>
              <a:ext uri="{FF2B5EF4-FFF2-40B4-BE49-F238E27FC236}">
                <a16:creationId xmlns:a16="http://schemas.microsoft.com/office/drawing/2014/main" id="{C9949C53-9ED0-4D99-1FD3-F03B6E4D1CB8}"/>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99C13F5B-27AA-904C-3D8C-B09D290840C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229CB21-1C4D-E9C8-48A3-38B22BC78428}"/>
              </a:ext>
            </a:extLst>
          </p:cNvPr>
          <p:cNvSpPr>
            <a:spLocks noGrp="1"/>
          </p:cNvSpPr>
          <p:nvPr>
            <p:ph type="sldNum" sz="quarter" idx="12"/>
          </p:nvPr>
        </p:nvSpPr>
        <p:spPr/>
        <p:txBody>
          <a:bodyPr/>
          <a:lstStyle/>
          <a:p>
            <a:fld id="{0FA2D919-C0DE-4971-A2E9-D4AC0031921B}" type="slidenum">
              <a:rPr lang="en-US" noProof="0" smtClean="0"/>
              <a:t>36</a:t>
            </a:fld>
            <a:endParaRPr lang="en-US" noProof="0" dirty="0"/>
          </a:p>
        </p:txBody>
      </p:sp>
      <p:grpSp>
        <p:nvGrpSpPr>
          <p:cNvPr id="41" name="Group 40">
            <a:extLst>
              <a:ext uri="{FF2B5EF4-FFF2-40B4-BE49-F238E27FC236}">
                <a16:creationId xmlns:a16="http://schemas.microsoft.com/office/drawing/2014/main" id="{3ECDF906-762E-78E5-F73C-C6612AB2463E}"/>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2311644E-83C9-6509-2F8B-A9CD60C9BA2F}"/>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AF2F2671-B6E9-6202-81F3-9FB0E3D454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204416AF-E36F-160D-8CF8-987811633DBC}"/>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7614CFE7-310C-C3F3-7A8A-903DEBEAAF5F}"/>
                </a:ext>
              </a:extLst>
            </p:cNvPr>
            <p:cNvSpPr/>
            <p:nvPr/>
          </p:nvSpPr>
          <p:spPr>
            <a:xfrm>
              <a:off x="3313786" y="3686861"/>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1BC762B5-E957-AB87-87CA-0C6FEAF1A6C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FDA41E3B-15C8-5CAD-A3DE-0E38314FAFC9}"/>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060BBB71-D6A5-D93D-55C8-472023F2475F}"/>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78C35452-2107-2764-52E4-93177F77682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259B73E6-AF90-A6CF-F6CA-85A07FF7B643}"/>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F8CB10FD-C3C9-381F-C745-24BBAF0484B2}"/>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0ECD3DCC-CEBC-196E-9E9D-3487AE54F6A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697278C1-0DA9-03C0-70C9-0562889B50C2}"/>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0EE7D4F5-7B18-2BFD-C20A-F858B1D42E34}"/>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6BCBCB55-5928-00F6-9E38-34EF3848F078}"/>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Oval 21">
            <a:extLst>
              <a:ext uri="{FF2B5EF4-FFF2-40B4-BE49-F238E27FC236}">
                <a16:creationId xmlns:a16="http://schemas.microsoft.com/office/drawing/2014/main" id="{CF225059-9D4F-9844-06AF-FF0F5D3F72D4}"/>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03D69AA0-9D7A-ABD4-1F4D-E7AB768C503B}"/>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4" name="Straight Arrow Connector 23">
            <a:extLst>
              <a:ext uri="{FF2B5EF4-FFF2-40B4-BE49-F238E27FC236}">
                <a16:creationId xmlns:a16="http://schemas.microsoft.com/office/drawing/2014/main" id="{5B8D675F-C686-522E-FF81-E55FD36716BC}"/>
              </a:ext>
            </a:extLst>
          </p:cNvPr>
          <p:cNvCxnSpPr>
            <a:stCxn id="22" idx="6"/>
            <a:endCxn id="23"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E712B8FA-EA14-57CA-DAFC-603324E2DE24}"/>
              </a:ext>
            </a:extLst>
          </p:cNvPr>
          <p:cNvSpPr txBox="1"/>
          <p:nvPr/>
        </p:nvSpPr>
        <p:spPr>
          <a:xfrm>
            <a:off x="1016670" y="3429000"/>
            <a:ext cx="1190198" cy="369332"/>
          </a:xfrm>
          <a:prstGeom prst="rect">
            <a:avLst/>
          </a:prstGeom>
          <a:noFill/>
        </p:spPr>
        <p:txBody>
          <a:bodyPr wrap="none" rtlCol="0">
            <a:spAutoFit/>
          </a:bodyPr>
          <a:lstStyle/>
          <a:p>
            <a:r>
              <a:rPr lang="en-US" noProof="0" dirty="0">
                <a:solidFill>
                  <a:srgbClr val="D0180A"/>
                </a:solidFill>
              </a:rPr>
              <a:t>technique</a:t>
            </a:r>
          </a:p>
        </p:txBody>
      </p:sp>
      <p:sp>
        <p:nvSpPr>
          <p:cNvPr id="26" name="TextBox 25">
            <a:extLst>
              <a:ext uri="{FF2B5EF4-FFF2-40B4-BE49-F238E27FC236}">
                <a16:creationId xmlns:a16="http://schemas.microsoft.com/office/drawing/2014/main" id="{B952422B-8917-41BD-E9DB-9E1E915002AF}"/>
              </a:ext>
            </a:extLst>
          </p:cNvPr>
          <p:cNvSpPr txBox="1"/>
          <p:nvPr/>
        </p:nvSpPr>
        <p:spPr>
          <a:xfrm>
            <a:off x="3382935" y="4333666"/>
            <a:ext cx="1362937" cy="369332"/>
          </a:xfrm>
          <a:prstGeom prst="rect">
            <a:avLst/>
          </a:prstGeom>
          <a:noFill/>
        </p:spPr>
        <p:txBody>
          <a:bodyPr wrap="none" rtlCol="0">
            <a:spAutoFit/>
          </a:bodyPr>
          <a:lstStyle/>
          <a:p>
            <a:r>
              <a:rPr lang="en-US" noProof="0" dirty="0">
                <a:solidFill>
                  <a:srgbClr val="006D70"/>
                </a:solidFill>
              </a:rPr>
              <a:t>productivity</a:t>
            </a:r>
          </a:p>
        </p:txBody>
      </p:sp>
      <p:sp>
        <p:nvSpPr>
          <p:cNvPr id="27" name="Oval 26">
            <a:extLst>
              <a:ext uri="{FF2B5EF4-FFF2-40B4-BE49-F238E27FC236}">
                <a16:creationId xmlns:a16="http://schemas.microsoft.com/office/drawing/2014/main" id="{779D6F2C-DA13-FF18-BAE8-2B7CC11C7C8E}"/>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293ED3DA-1D44-FC5A-290F-F9ABF74448CB}"/>
              </a:ext>
            </a:extLst>
          </p:cNvPr>
          <p:cNvSpPr txBox="1"/>
          <p:nvPr/>
        </p:nvSpPr>
        <p:spPr>
          <a:xfrm>
            <a:off x="2791327" y="5050631"/>
            <a:ext cx="1305614" cy="369332"/>
          </a:xfrm>
          <a:prstGeom prst="rect">
            <a:avLst/>
          </a:prstGeom>
          <a:noFill/>
        </p:spPr>
        <p:txBody>
          <a:bodyPr wrap="none" rtlCol="0">
            <a:spAutoFit/>
          </a:bodyPr>
          <a:lstStyle/>
          <a:p>
            <a:r>
              <a:rPr lang="en-US" noProof="0" dirty="0">
                <a:solidFill>
                  <a:schemeClr val="tx1">
                    <a:lumMod val="65000"/>
                    <a:lumOff val="35000"/>
                  </a:schemeClr>
                </a:solidFill>
              </a:rPr>
              <a:t>tool appeal</a:t>
            </a:r>
          </a:p>
        </p:txBody>
      </p:sp>
      <p:cxnSp>
        <p:nvCxnSpPr>
          <p:cNvPr id="29" name="Straight Arrow Connector 28">
            <a:extLst>
              <a:ext uri="{FF2B5EF4-FFF2-40B4-BE49-F238E27FC236}">
                <a16:creationId xmlns:a16="http://schemas.microsoft.com/office/drawing/2014/main" id="{C8A90B4C-6B00-9C94-319E-E7590823D7D5}"/>
              </a:ext>
            </a:extLst>
          </p:cNvPr>
          <p:cNvCxnSpPr>
            <a:cxnSpLocks/>
            <a:stCxn id="27" idx="7"/>
            <a:endCxn id="23" idx="3"/>
          </p:cNvCxnSpPr>
          <p:nvPr/>
        </p:nvCxnSpPr>
        <p:spPr>
          <a:xfrm flipV="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C05D8018-361D-2061-6352-54D29F438DEE}"/>
              </a:ext>
            </a:extLst>
          </p:cNvPr>
          <p:cNvCxnSpPr>
            <a:cxnSpLocks/>
            <a:stCxn id="22" idx="5"/>
            <a:endCxn id="27"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1" name="Group 30">
            <a:extLst>
              <a:ext uri="{FF2B5EF4-FFF2-40B4-BE49-F238E27FC236}">
                <a16:creationId xmlns:a16="http://schemas.microsoft.com/office/drawing/2014/main" id="{18B2458A-4228-1564-ADEF-022EFA43682F}"/>
              </a:ext>
            </a:extLst>
          </p:cNvPr>
          <p:cNvGrpSpPr/>
          <p:nvPr/>
        </p:nvGrpSpPr>
        <p:grpSpPr>
          <a:xfrm>
            <a:off x="4814355" y="4032332"/>
            <a:ext cx="2563289" cy="432000"/>
            <a:chOff x="4604412" y="1893985"/>
            <a:chExt cx="2563289" cy="432000"/>
          </a:xfrm>
        </p:grpSpPr>
        <p:sp>
          <p:nvSpPr>
            <p:cNvPr id="32" name="Arrow: Pentagon 31">
              <a:extLst>
                <a:ext uri="{FF2B5EF4-FFF2-40B4-BE49-F238E27FC236}">
                  <a16:creationId xmlns:a16="http://schemas.microsoft.com/office/drawing/2014/main" id="{84F9E3FD-B973-A8FE-DFAE-047E7E172C96}"/>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33" name="Graphic 32" descr="Connections with solid fill">
              <a:extLst>
                <a:ext uri="{FF2B5EF4-FFF2-40B4-BE49-F238E27FC236}">
                  <a16:creationId xmlns:a16="http://schemas.microsoft.com/office/drawing/2014/main" id="{E1E84CE9-A219-24FC-4B17-93D94139461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0E48FF9-059D-3CA6-6A57-CA16C429A753}"/>
                  </a:ext>
                </a:extLst>
              </p:cNvPr>
              <p:cNvSpPr txBox="1"/>
              <p:nvPr/>
            </p:nvSpPr>
            <p:spPr>
              <a:xfrm>
                <a:off x="7609259" y="3714745"/>
                <a:ext cx="33555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𝑝𝑟𝑜𝑑𝑢𝑐𝑡𝑖𝑣𝑖𝑡𝑦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𝑡𝑒𝑐h𝑛𝑖𝑞𝑢𝑒</m:t>
                      </m:r>
                    </m:oMath>
                  </m:oMathPara>
                </a14:m>
                <a:endParaRPr lang="en-US" noProof="0" dirty="0"/>
              </a:p>
            </p:txBody>
          </p:sp>
        </mc:Choice>
        <mc:Fallback xmlns="">
          <p:sp>
            <p:nvSpPr>
              <p:cNvPr id="34" name="TextBox 33">
                <a:extLst>
                  <a:ext uri="{FF2B5EF4-FFF2-40B4-BE49-F238E27FC236}">
                    <a16:creationId xmlns:a16="http://schemas.microsoft.com/office/drawing/2014/main" id="{F0E48FF9-059D-3CA6-6A57-CA16C429A753}"/>
                  </a:ext>
                </a:extLst>
              </p:cNvPr>
              <p:cNvSpPr txBox="1">
                <a:spLocks noRot="1" noChangeAspect="1" noMove="1" noResize="1" noEditPoints="1" noAdjustHandles="1" noChangeArrowheads="1" noChangeShapeType="1" noTextEdit="1"/>
              </p:cNvSpPr>
              <p:nvPr/>
            </p:nvSpPr>
            <p:spPr>
              <a:xfrm>
                <a:off x="7609259" y="3714745"/>
                <a:ext cx="3355534" cy="276999"/>
              </a:xfrm>
              <a:prstGeom prst="rect">
                <a:avLst/>
              </a:prstGeom>
              <a:blipFill>
                <a:blip r:embed="rId10"/>
                <a:stretch>
                  <a:fillRect l="-726" t="-2174" r="-1996"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AEA19F0-CF07-DDBC-1157-F476AB2D54DF}"/>
                  </a:ext>
                </a:extLst>
              </p:cNvPr>
              <p:cNvSpPr txBox="1"/>
              <p:nvPr/>
            </p:nvSpPr>
            <p:spPr>
              <a:xfrm>
                <a:off x="7609259" y="4286234"/>
                <a:ext cx="43427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𝑝𝑟𝑜𝑑𝑢𝑐𝑡𝑖𝑣𝑖𝑡𝑦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𝑡𝑒𝑐h𝑛𝑖𝑞𝑢𝑒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𝑎𝑝𝑝𝑒𝑎𝑙</m:t>
                      </m:r>
                    </m:oMath>
                  </m:oMathPara>
                </a14:m>
                <a:endParaRPr lang="en-US" noProof="0" dirty="0"/>
              </a:p>
            </p:txBody>
          </p:sp>
        </mc:Choice>
        <mc:Fallback xmlns="">
          <p:sp>
            <p:nvSpPr>
              <p:cNvPr id="35" name="TextBox 34">
                <a:extLst>
                  <a:ext uri="{FF2B5EF4-FFF2-40B4-BE49-F238E27FC236}">
                    <a16:creationId xmlns:a16="http://schemas.microsoft.com/office/drawing/2014/main" id="{BAEA19F0-CF07-DDBC-1157-F476AB2D54DF}"/>
                  </a:ext>
                </a:extLst>
              </p:cNvPr>
              <p:cNvSpPr txBox="1">
                <a:spLocks noRot="1" noChangeAspect="1" noMove="1" noResize="1" noEditPoints="1" noAdjustHandles="1" noChangeArrowheads="1" noChangeShapeType="1" noTextEdit="1"/>
              </p:cNvSpPr>
              <p:nvPr/>
            </p:nvSpPr>
            <p:spPr>
              <a:xfrm>
                <a:off x="7609259" y="4286234"/>
                <a:ext cx="4342792" cy="276999"/>
              </a:xfrm>
              <a:prstGeom prst="rect">
                <a:avLst/>
              </a:prstGeom>
              <a:blipFill>
                <a:blip r:embed="rId11"/>
                <a:stretch>
                  <a:fillRect l="-421" t="-2174" r="-1403" b="-32609"/>
                </a:stretch>
              </a:blipFill>
            </p:spPr>
            <p:txBody>
              <a:bodyPr/>
              <a:lstStyle/>
              <a:p>
                <a:r>
                  <a:rPr lang="en-SE">
                    <a:noFill/>
                  </a:rPr>
                  <a:t> </a:t>
                </a:r>
              </a:p>
            </p:txBody>
          </p:sp>
        </mc:Fallback>
      </mc:AlternateContent>
    </p:spTree>
    <p:extLst>
      <p:ext uri="{BB962C8B-B14F-4D97-AF65-F5344CB8AC3E}">
        <p14:creationId xmlns:p14="http://schemas.microsoft.com/office/powerpoint/2010/main" val="247831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DC0F3-D148-D89C-2A1E-63C056984DF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37B1B07-D8C7-D8F2-787A-8DBC59287E90}"/>
              </a:ext>
            </a:extLst>
          </p:cNvPr>
          <p:cNvSpPr>
            <a:spLocks noGrp="1"/>
          </p:cNvSpPr>
          <p:nvPr>
            <p:ph type="title"/>
          </p:nvPr>
        </p:nvSpPr>
        <p:spPr/>
        <p:txBody>
          <a:bodyPr/>
          <a:lstStyle/>
          <a:p>
            <a:r>
              <a:rPr lang="en-US" noProof="0" dirty="0"/>
              <a:t>Mediation: Pipes</a:t>
            </a:r>
          </a:p>
        </p:txBody>
      </p:sp>
      <p:sp>
        <p:nvSpPr>
          <p:cNvPr id="8" name="Content Placeholder 7">
            <a:extLst>
              <a:ext uri="{FF2B5EF4-FFF2-40B4-BE49-F238E27FC236}">
                <a16:creationId xmlns:a16="http://schemas.microsoft.com/office/drawing/2014/main" id="{CC969EDA-0CF6-0071-D9D0-FCB904BE0C2A}"/>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“The company tested a new </a:t>
            </a:r>
            <a:r>
              <a:rPr lang="en-US" sz="2400" b="1" noProof="0" dirty="0">
                <a:solidFill>
                  <a:srgbClr val="D0180A"/>
                </a:solidFill>
              </a:rPr>
              <a:t>technique</a:t>
            </a:r>
            <a:r>
              <a:rPr lang="en-US" sz="2400" noProof="0" dirty="0"/>
              <a:t> in their requirements engineering phase that is enabled by a </a:t>
            </a:r>
            <a:r>
              <a:rPr lang="en-US" sz="2400" b="1" noProof="0" dirty="0">
                <a:solidFill>
                  <a:schemeClr val="bg1">
                    <a:lumMod val="50000"/>
                  </a:schemeClr>
                </a:solidFill>
              </a:rPr>
              <a:t>prototype tool</a:t>
            </a:r>
            <a:r>
              <a:rPr lang="en-US" sz="2400" noProof="0" dirty="0"/>
              <a:t>. We investigated whether this technique improved the engineers’ </a:t>
            </a:r>
            <a:r>
              <a:rPr lang="en-US" sz="2400" b="1" noProof="0" dirty="0">
                <a:solidFill>
                  <a:srgbClr val="006D70"/>
                </a:solidFill>
              </a:rPr>
              <a:t>productivity</a:t>
            </a:r>
            <a:r>
              <a:rPr lang="en-US" sz="2400" noProof="0" dirty="0"/>
              <a:t>.”</a:t>
            </a:r>
          </a:p>
        </p:txBody>
      </p:sp>
      <p:sp>
        <p:nvSpPr>
          <p:cNvPr id="4" name="Date Placeholder 3">
            <a:extLst>
              <a:ext uri="{FF2B5EF4-FFF2-40B4-BE49-F238E27FC236}">
                <a16:creationId xmlns:a16="http://schemas.microsoft.com/office/drawing/2014/main" id="{B5A1F809-D36A-CC66-DB33-163C3DA1616F}"/>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E3753006-A280-3E9B-6BE6-15EA2247F12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985885C-013E-74E6-FC37-BD28C4FF71CF}"/>
              </a:ext>
            </a:extLst>
          </p:cNvPr>
          <p:cNvSpPr>
            <a:spLocks noGrp="1"/>
          </p:cNvSpPr>
          <p:nvPr>
            <p:ph type="sldNum" sz="quarter" idx="12"/>
          </p:nvPr>
        </p:nvSpPr>
        <p:spPr/>
        <p:txBody>
          <a:bodyPr/>
          <a:lstStyle/>
          <a:p>
            <a:fld id="{0FA2D919-C0DE-4971-A2E9-D4AC0031921B}" type="slidenum">
              <a:rPr lang="en-US" noProof="0" smtClean="0"/>
              <a:t>37</a:t>
            </a:fld>
            <a:endParaRPr lang="en-US" noProof="0" dirty="0"/>
          </a:p>
        </p:txBody>
      </p:sp>
      <p:grpSp>
        <p:nvGrpSpPr>
          <p:cNvPr id="41" name="Group 40">
            <a:extLst>
              <a:ext uri="{FF2B5EF4-FFF2-40B4-BE49-F238E27FC236}">
                <a16:creationId xmlns:a16="http://schemas.microsoft.com/office/drawing/2014/main" id="{F78C5FB3-914E-BA3A-6AEB-7DE40F01F8DC}"/>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87F2D360-6F4E-924A-D8A7-06C5D6A00402}"/>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D300A9DC-A524-D9E5-ED39-12BC02B5649A}"/>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323F69A9-AA99-C4CE-DD26-546A714501DB}"/>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C36C97B9-0F44-48F7-1DE8-0EBCD3BFABC1}"/>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D3291DC0-EA66-1AFB-16B9-53A55828EAA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D1977D29-20B0-647B-0F7F-3AD420CB796E}"/>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4844F60B-E5F5-D157-0305-E8D4854AAE2B}"/>
                </a:ext>
              </a:extLst>
            </p:cNvPr>
            <p:cNvSpPr/>
            <p:nvPr/>
          </p:nvSpPr>
          <p:spPr>
            <a:xfrm>
              <a:off x="3313786" y="3686861"/>
              <a:ext cx="1080000" cy="1080000"/>
            </a:xfrm>
            <a:prstGeom prst="ellipse">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C94F8B81-111F-34A2-4EDB-E111B538D82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3520C825-2FF5-D8A2-3039-A8E5ABCDCFC9}"/>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882B0B30-A6B3-0608-B7D0-4F6D49B71823}"/>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6153C2DD-AB8F-BAB2-8C44-0C3F8E6ADB1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DA6EBD1F-599E-8059-A247-806F70BE5874}"/>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885970DB-D8FB-DDE7-0E78-0CD1832E6385}"/>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4AB29414-8D33-2D0E-B794-C13945B168A3}"/>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88F68488-37E6-174E-B448-9362A5FE258B}"/>
              </a:ext>
            </a:extLst>
          </p:cNvPr>
          <p:cNvPicPr>
            <a:picLocks noChangeAspect="1"/>
          </p:cNvPicPr>
          <p:nvPr/>
        </p:nvPicPr>
        <p:blipFill>
          <a:blip r:embed="rId5"/>
          <a:stretch>
            <a:fillRect/>
          </a:stretch>
        </p:blipFill>
        <p:spPr>
          <a:xfrm>
            <a:off x="838200" y="2959949"/>
            <a:ext cx="6678945" cy="3273841"/>
          </a:xfrm>
          <a:prstGeom prst="rect">
            <a:avLst/>
          </a:prstGeom>
        </p:spPr>
      </p:pic>
      <p:grpSp>
        <p:nvGrpSpPr>
          <p:cNvPr id="32" name="Group 31">
            <a:extLst>
              <a:ext uri="{FF2B5EF4-FFF2-40B4-BE49-F238E27FC236}">
                <a16:creationId xmlns:a16="http://schemas.microsoft.com/office/drawing/2014/main" id="{107E67CA-FA43-D339-0690-C05BF62347F9}"/>
              </a:ext>
            </a:extLst>
          </p:cNvPr>
          <p:cNvGrpSpPr/>
          <p:nvPr/>
        </p:nvGrpSpPr>
        <p:grpSpPr>
          <a:xfrm>
            <a:off x="7517145" y="2828848"/>
            <a:ext cx="4476967" cy="1771794"/>
            <a:chOff x="7558301" y="3437746"/>
            <a:chExt cx="4476967" cy="1771794"/>
          </a:xfrm>
        </p:grpSpPr>
        <p:cxnSp>
          <p:nvCxnSpPr>
            <p:cNvPr id="9" name="Straight Arrow Connector 8">
              <a:extLst>
                <a:ext uri="{FF2B5EF4-FFF2-40B4-BE49-F238E27FC236}">
                  <a16:creationId xmlns:a16="http://schemas.microsoft.com/office/drawing/2014/main" id="{EC1EE62E-5CB3-3EE8-9A58-B0705A033614}"/>
                </a:ext>
              </a:extLst>
            </p:cNvPr>
            <p:cNvCxnSpPr>
              <a:cxnSpLocks/>
              <a:stCxn id="13" idx="3"/>
              <a:endCxn id="14" idx="1"/>
            </p:cNvCxnSpPr>
            <p:nvPr/>
          </p:nvCxnSpPr>
          <p:spPr>
            <a:xfrm>
              <a:off x="8333400" y="4084065"/>
              <a:ext cx="2840400" cy="4825"/>
            </a:xfrm>
            <a:prstGeom prst="straightConnector1">
              <a:avLst/>
            </a:prstGeom>
            <a:ln w="28575">
              <a:prstDash val="solid"/>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E478E53B-25EA-1D8E-C595-A9BCC0DE4A3A}"/>
                </a:ext>
              </a:extLst>
            </p:cNvPr>
            <p:cNvSpPr txBox="1"/>
            <p:nvPr/>
          </p:nvSpPr>
          <p:spPr>
            <a:xfrm>
              <a:off x="7558301" y="3438423"/>
              <a:ext cx="1190198" cy="369332"/>
            </a:xfrm>
            <a:prstGeom prst="rect">
              <a:avLst/>
            </a:prstGeom>
            <a:noFill/>
          </p:spPr>
          <p:txBody>
            <a:bodyPr wrap="none" rtlCol="0">
              <a:spAutoFit/>
            </a:bodyPr>
            <a:lstStyle/>
            <a:p>
              <a:r>
                <a:rPr lang="en-US" noProof="0" dirty="0">
                  <a:solidFill>
                    <a:srgbClr val="D0180A"/>
                  </a:solidFill>
                </a:rPr>
                <a:t>technique</a:t>
              </a:r>
            </a:p>
          </p:txBody>
        </p:sp>
        <p:sp>
          <p:nvSpPr>
            <p:cNvPr id="11" name="TextBox 10">
              <a:extLst>
                <a:ext uri="{FF2B5EF4-FFF2-40B4-BE49-F238E27FC236}">
                  <a16:creationId xmlns:a16="http://schemas.microsoft.com/office/drawing/2014/main" id="{DA387F41-3E31-7D28-1B5C-FEB8AB42E2C1}"/>
                </a:ext>
              </a:extLst>
            </p:cNvPr>
            <p:cNvSpPr txBox="1"/>
            <p:nvPr/>
          </p:nvSpPr>
          <p:spPr>
            <a:xfrm>
              <a:off x="10672331" y="3437746"/>
              <a:ext cx="1362937" cy="369332"/>
            </a:xfrm>
            <a:prstGeom prst="rect">
              <a:avLst/>
            </a:prstGeom>
            <a:noFill/>
          </p:spPr>
          <p:txBody>
            <a:bodyPr wrap="none" rtlCol="0">
              <a:spAutoFit/>
            </a:bodyPr>
            <a:lstStyle/>
            <a:p>
              <a:r>
                <a:rPr lang="en-US" noProof="0" dirty="0">
                  <a:solidFill>
                    <a:srgbClr val="006D70"/>
                  </a:solidFill>
                </a:rPr>
                <a:t>productivity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AC275F0-200A-8CAF-125A-87B952F200F0}"/>
                    </a:ext>
                  </a:extLst>
                </p:cNvPr>
                <p:cNvSpPr txBox="1"/>
                <p:nvPr/>
              </p:nvSpPr>
              <p:spPr>
                <a:xfrm>
                  <a:off x="9417571" y="3776288"/>
                  <a:ext cx="672057" cy="307777"/>
                </a:xfrm>
                <a:prstGeom prst="rect">
                  <a:avLst/>
                </a:prstGeom>
                <a:noFill/>
                <a:ln>
                  <a:noFill/>
                  <a:prstDash val="solid"/>
                </a:ln>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noProof="0" smtClean="0">
                            <a:latin typeface="Cambria Math" panose="02040503050406030204" pitchFamily="18" charset="0"/>
                          </a:rPr>
                          <m:t>0.5</m:t>
                        </m:r>
                      </m:oMath>
                    </m:oMathPara>
                  </a14:m>
                  <a:endParaRPr lang="en-US" sz="1400" noProof="0" dirty="0"/>
                </a:p>
              </p:txBody>
            </p:sp>
          </mc:Choice>
          <mc:Fallback xmlns="">
            <p:sp>
              <p:nvSpPr>
                <p:cNvPr id="12" name="TextBox 11">
                  <a:extLst>
                    <a:ext uri="{FF2B5EF4-FFF2-40B4-BE49-F238E27FC236}">
                      <a16:creationId xmlns:a16="http://schemas.microsoft.com/office/drawing/2014/main" id="{9AC275F0-200A-8CAF-125A-87B952F200F0}"/>
                    </a:ext>
                  </a:extLst>
                </p:cNvPr>
                <p:cNvSpPr txBox="1">
                  <a:spLocks noRot="1" noChangeAspect="1" noMove="1" noResize="1" noEditPoints="1" noAdjustHandles="1" noChangeArrowheads="1" noChangeShapeType="1" noTextEdit="1"/>
                </p:cNvSpPr>
                <p:nvPr/>
              </p:nvSpPr>
              <p:spPr>
                <a:xfrm>
                  <a:off x="9417571" y="3776288"/>
                  <a:ext cx="672057" cy="307777"/>
                </a:xfrm>
                <a:prstGeom prst="rect">
                  <a:avLst/>
                </a:prstGeom>
                <a:blipFill>
                  <a:blip r:embed="rId9"/>
                  <a:stretch>
                    <a:fillRect/>
                  </a:stretch>
                </a:blipFill>
                <a:ln>
                  <a:noFill/>
                  <a:prstDash val="solid"/>
                </a:ln>
              </p:spPr>
              <p:txBody>
                <a:bodyPr/>
                <a:lstStyle/>
                <a:p>
                  <a:r>
                    <a:rPr lang="en-SE">
                      <a:noFill/>
                    </a:rPr>
                    <a:t> </a:t>
                  </a:r>
                </a:p>
              </p:txBody>
            </p:sp>
          </mc:Fallback>
        </mc:AlternateContent>
        <p:sp>
          <p:nvSpPr>
            <p:cNvPr id="13" name="Rectangle: Rounded Corners 12">
              <a:extLst>
                <a:ext uri="{FF2B5EF4-FFF2-40B4-BE49-F238E27FC236}">
                  <a16:creationId xmlns:a16="http://schemas.microsoft.com/office/drawing/2014/main" id="{0E886943-75A3-2FA1-E84C-278B533387CB}"/>
                </a:ext>
              </a:extLst>
            </p:cNvPr>
            <p:cNvSpPr/>
            <p:nvPr/>
          </p:nvSpPr>
          <p:spPr>
            <a:xfrm>
              <a:off x="7973400" y="3904065"/>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Rounded Corners 13">
              <a:extLst>
                <a:ext uri="{FF2B5EF4-FFF2-40B4-BE49-F238E27FC236}">
                  <a16:creationId xmlns:a16="http://schemas.microsoft.com/office/drawing/2014/main" id="{FA175881-E9F2-E862-83C2-6B8A95A547B8}"/>
                </a:ext>
              </a:extLst>
            </p:cNvPr>
            <p:cNvSpPr/>
            <p:nvPr/>
          </p:nvSpPr>
          <p:spPr>
            <a:xfrm>
              <a:off x="11173800" y="3908890"/>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Rounded Corners 14">
              <a:extLst>
                <a:ext uri="{FF2B5EF4-FFF2-40B4-BE49-F238E27FC236}">
                  <a16:creationId xmlns:a16="http://schemas.microsoft.com/office/drawing/2014/main" id="{C3A4BB6C-B15C-5B4A-D119-9C401FBA05E1}"/>
                </a:ext>
              </a:extLst>
            </p:cNvPr>
            <p:cNvSpPr/>
            <p:nvPr/>
          </p:nvSpPr>
          <p:spPr>
            <a:xfrm>
              <a:off x="9562930" y="4402057"/>
              <a:ext cx="360000" cy="360000"/>
            </a:xfrm>
            <a:prstGeom prst="round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C6EEAB00-1A6E-9CC9-B83F-9F5A947FFB7B}"/>
                </a:ext>
              </a:extLst>
            </p:cNvPr>
            <p:cNvCxnSpPr>
              <a:cxnSpLocks/>
              <a:stCxn id="13" idx="2"/>
              <a:endCxn id="15" idx="1"/>
            </p:cNvCxnSpPr>
            <p:nvPr/>
          </p:nvCxnSpPr>
          <p:spPr>
            <a:xfrm>
              <a:off x="8153400" y="4264065"/>
              <a:ext cx="1409530" cy="317992"/>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2DCFE149-AFB2-D4D5-34BF-D2D1484F6C42}"/>
                </a:ext>
              </a:extLst>
            </p:cNvPr>
            <p:cNvCxnSpPr>
              <a:cxnSpLocks/>
              <a:stCxn id="15" idx="3"/>
              <a:endCxn id="14" idx="2"/>
            </p:cNvCxnSpPr>
            <p:nvPr/>
          </p:nvCxnSpPr>
          <p:spPr>
            <a:xfrm flipV="1">
              <a:off x="9922930" y="4268890"/>
              <a:ext cx="1430870" cy="31316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B3D89A55-A2BD-BC6F-7C5C-BC99AA16168E}"/>
                </a:ext>
              </a:extLst>
            </p:cNvPr>
            <p:cNvSpPr txBox="1"/>
            <p:nvPr/>
          </p:nvSpPr>
          <p:spPr>
            <a:xfrm>
              <a:off x="9090123" y="4840208"/>
              <a:ext cx="1305614" cy="369332"/>
            </a:xfrm>
            <a:prstGeom prst="rect">
              <a:avLst/>
            </a:prstGeom>
            <a:noFill/>
          </p:spPr>
          <p:txBody>
            <a:bodyPr wrap="none" rtlCol="0">
              <a:spAutoFit/>
            </a:bodyPr>
            <a:lstStyle/>
            <a:p>
              <a:r>
                <a:rPr lang="en-US" noProof="0" dirty="0">
                  <a:solidFill>
                    <a:schemeClr val="bg1">
                      <a:lumMod val="50000"/>
                    </a:schemeClr>
                  </a:solidFill>
                </a:rPr>
                <a:t>tool appeal</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8CEB188-A06B-D699-52CC-1C59FA8ADE8D}"/>
                    </a:ext>
                  </a:extLst>
                </p:cNvPr>
                <p:cNvSpPr txBox="1"/>
                <p:nvPr/>
              </p:nvSpPr>
              <p:spPr>
                <a:xfrm>
                  <a:off x="8288421" y="4521491"/>
                  <a:ext cx="56974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noProof="0" smtClean="0">
                            <a:latin typeface="Cambria Math" panose="02040503050406030204" pitchFamily="18" charset="0"/>
                          </a:rPr>
                          <m:t>−1</m:t>
                        </m:r>
                      </m:oMath>
                    </m:oMathPara>
                  </a14:m>
                  <a:endParaRPr lang="en-US" sz="1400" noProof="0" dirty="0"/>
                </a:p>
              </p:txBody>
            </p:sp>
          </mc:Choice>
          <mc:Fallback xmlns="">
            <p:sp>
              <p:nvSpPr>
                <p:cNvPr id="19" name="TextBox 18">
                  <a:extLst>
                    <a:ext uri="{FF2B5EF4-FFF2-40B4-BE49-F238E27FC236}">
                      <a16:creationId xmlns:a16="http://schemas.microsoft.com/office/drawing/2014/main" id="{78CEB188-A06B-D699-52CC-1C59FA8ADE8D}"/>
                    </a:ext>
                  </a:extLst>
                </p:cNvPr>
                <p:cNvSpPr txBox="1">
                  <a:spLocks noRot="1" noChangeAspect="1" noMove="1" noResize="1" noEditPoints="1" noAdjustHandles="1" noChangeArrowheads="1" noChangeShapeType="1" noTextEdit="1"/>
                </p:cNvSpPr>
                <p:nvPr/>
              </p:nvSpPr>
              <p:spPr>
                <a:xfrm>
                  <a:off x="8288421" y="4521491"/>
                  <a:ext cx="569744" cy="307777"/>
                </a:xfrm>
                <a:prstGeom prst="rect">
                  <a:avLst/>
                </a:prstGeom>
                <a:blipFill>
                  <a:blip r:embed="rId10"/>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EB811C4-A9D2-0CF3-EF2A-849861CA69C5}"/>
                    </a:ext>
                  </a:extLst>
                </p:cNvPr>
                <p:cNvSpPr txBox="1"/>
                <p:nvPr/>
              </p:nvSpPr>
              <p:spPr>
                <a:xfrm>
                  <a:off x="10650783" y="4521491"/>
                  <a:ext cx="52301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noProof="0" smtClean="0">
                            <a:latin typeface="Cambria Math" panose="02040503050406030204" pitchFamily="18" charset="0"/>
                          </a:rPr>
                          <m:t>2</m:t>
                        </m:r>
                      </m:oMath>
                    </m:oMathPara>
                  </a14:m>
                  <a:endParaRPr lang="en-US" sz="1400" noProof="0" dirty="0"/>
                </a:p>
              </p:txBody>
            </p:sp>
          </mc:Choice>
          <mc:Fallback xmlns="">
            <p:sp>
              <p:nvSpPr>
                <p:cNvPr id="20" name="TextBox 19">
                  <a:extLst>
                    <a:ext uri="{FF2B5EF4-FFF2-40B4-BE49-F238E27FC236}">
                      <a16:creationId xmlns:a16="http://schemas.microsoft.com/office/drawing/2014/main" id="{BEB811C4-A9D2-0CF3-EF2A-849861CA69C5}"/>
                    </a:ext>
                  </a:extLst>
                </p:cNvPr>
                <p:cNvSpPr txBox="1">
                  <a:spLocks noRot="1" noChangeAspect="1" noMove="1" noResize="1" noEditPoints="1" noAdjustHandles="1" noChangeArrowheads="1" noChangeShapeType="1" noTextEdit="1"/>
                </p:cNvSpPr>
                <p:nvPr/>
              </p:nvSpPr>
              <p:spPr>
                <a:xfrm>
                  <a:off x="10650783" y="4521491"/>
                  <a:ext cx="523017" cy="307777"/>
                </a:xfrm>
                <a:prstGeom prst="rect">
                  <a:avLst/>
                </a:prstGeom>
                <a:blipFill>
                  <a:blip r:embed="rId11"/>
                  <a:stretch>
                    <a:fillRect/>
                  </a:stretch>
                </a:blipFill>
              </p:spPr>
              <p:txBody>
                <a:bodyPr/>
                <a:lstStyle/>
                <a:p>
                  <a:r>
                    <a:rPr lang="en-SE">
                      <a:noFill/>
                    </a:rPr>
                    <a:t> </a:t>
                  </a:r>
                </a:p>
              </p:txBody>
            </p:sp>
          </mc:Fallback>
        </mc:AlternateContent>
      </p:gr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8C3775A-E9CB-5E5E-D8D0-B6F65B524EE1}"/>
                  </a:ext>
                </a:extLst>
              </p:cNvPr>
              <p:cNvSpPr txBox="1"/>
              <p:nvPr/>
            </p:nvSpPr>
            <p:spPr>
              <a:xfrm>
                <a:off x="7701847" y="4769210"/>
                <a:ext cx="2929328" cy="923330"/>
              </a:xfrm>
              <a:prstGeom prst="rect">
                <a:avLst/>
              </a:prstGeom>
              <a:noFill/>
            </p:spPr>
            <p:txBody>
              <a:bodyPr wrap="none" rtlCol="0">
                <a:spAutoFit/>
              </a:bodyPr>
              <a:lstStyle/>
              <a:p>
                <a:r>
                  <a:rPr lang="en-US" noProof="0" dirty="0">
                    <a:solidFill>
                      <a:schemeClr val="tx1">
                        <a:lumMod val="65000"/>
                        <a:lumOff val="35000"/>
                      </a:schemeClr>
                    </a:solidFill>
                  </a:rPr>
                  <a:t>Direct effect</a:t>
                </a:r>
                <a:r>
                  <a:rPr lang="en-US" noProof="0" dirty="0"/>
                  <a:t>: </a:t>
                </a:r>
                <a14:m>
                  <m:oMath xmlns:m="http://schemas.openxmlformats.org/officeDocument/2006/math">
                    <m:r>
                      <a:rPr lang="en-US" b="0" i="1" noProof="0" smtClean="0">
                        <a:latin typeface="Cambria Math" panose="02040503050406030204" pitchFamily="18" charset="0"/>
                      </a:rPr>
                      <m:t>0.5</m:t>
                    </m:r>
                  </m:oMath>
                </a14:m>
                <a:endParaRPr lang="en-US" noProof="0" dirty="0"/>
              </a:p>
              <a:p>
                <a:r>
                  <a:rPr lang="en-US" noProof="0" dirty="0">
                    <a:solidFill>
                      <a:schemeClr val="tx1">
                        <a:lumMod val="65000"/>
                        <a:lumOff val="35000"/>
                      </a:schemeClr>
                    </a:solidFill>
                  </a:rPr>
                  <a:t>Indirect effect</a:t>
                </a:r>
                <a:r>
                  <a:rPr lang="en-US" noProof="0" dirty="0"/>
                  <a:t>: </a:t>
                </a:r>
                <a14:m>
                  <m:oMath xmlns:m="http://schemas.openxmlformats.org/officeDocument/2006/math">
                    <m:r>
                      <a:rPr lang="en-US" b="0" i="1" noProof="0" smtClean="0">
                        <a:latin typeface="Cambria Math" panose="02040503050406030204" pitchFamily="18" charset="0"/>
                      </a:rPr>
                      <m:t>−1∗2=−2</m:t>
                    </m:r>
                  </m:oMath>
                </a14:m>
                <a:endParaRPr lang="en-US" b="0" noProof="0" dirty="0"/>
              </a:p>
              <a:p>
                <a:r>
                  <a:rPr lang="en-US" noProof="0" dirty="0">
                    <a:solidFill>
                      <a:srgbClr val="00FFFF"/>
                    </a:solidFill>
                  </a:rPr>
                  <a:t>Total effect</a:t>
                </a:r>
                <a:r>
                  <a:rPr lang="en-US" noProof="0" dirty="0"/>
                  <a:t>: </a:t>
                </a:r>
                <a14:m>
                  <m:oMath xmlns:m="http://schemas.openxmlformats.org/officeDocument/2006/math">
                    <m:r>
                      <a:rPr lang="en-US" b="0" i="1" noProof="0" smtClean="0">
                        <a:latin typeface="Cambria Math" panose="02040503050406030204" pitchFamily="18" charset="0"/>
                      </a:rPr>
                      <m:t>0.5−2=−1.5</m:t>
                    </m:r>
                  </m:oMath>
                </a14:m>
                <a:endParaRPr lang="en-US" noProof="0" dirty="0"/>
              </a:p>
            </p:txBody>
          </p:sp>
        </mc:Choice>
        <mc:Fallback xmlns="">
          <p:sp>
            <p:nvSpPr>
              <p:cNvPr id="33" name="TextBox 32">
                <a:extLst>
                  <a:ext uri="{FF2B5EF4-FFF2-40B4-BE49-F238E27FC236}">
                    <a16:creationId xmlns:a16="http://schemas.microsoft.com/office/drawing/2014/main" id="{68C3775A-E9CB-5E5E-D8D0-B6F65B524EE1}"/>
                  </a:ext>
                </a:extLst>
              </p:cNvPr>
              <p:cNvSpPr txBox="1">
                <a:spLocks noRot="1" noChangeAspect="1" noMove="1" noResize="1" noEditPoints="1" noAdjustHandles="1" noChangeArrowheads="1" noChangeShapeType="1" noTextEdit="1"/>
              </p:cNvSpPr>
              <p:nvPr/>
            </p:nvSpPr>
            <p:spPr>
              <a:xfrm>
                <a:off x="7701847" y="4769210"/>
                <a:ext cx="2929328" cy="923330"/>
              </a:xfrm>
              <a:prstGeom prst="rect">
                <a:avLst/>
              </a:prstGeom>
              <a:blipFill>
                <a:blip r:embed="rId13"/>
                <a:stretch>
                  <a:fillRect l="-1663" t="-2632" b="-9868"/>
                </a:stretch>
              </a:blipFill>
            </p:spPr>
            <p:txBody>
              <a:bodyPr/>
              <a:lstStyle/>
              <a:p>
                <a:r>
                  <a:rPr lang="en-SE">
                    <a:noFill/>
                  </a:rPr>
                  <a:t> </a:t>
                </a:r>
              </a:p>
            </p:txBody>
          </p:sp>
        </mc:Fallback>
      </mc:AlternateContent>
    </p:spTree>
    <p:extLst>
      <p:ext uri="{BB962C8B-B14F-4D97-AF65-F5344CB8AC3E}">
        <p14:creationId xmlns:p14="http://schemas.microsoft.com/office/powerpoint/2010/main" val="153254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77317-AC57-7E20-977D-99B19CE6B07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7E9A974-8BA1-B9C1-630F-44D0B207184A}"/>
              </a:ext>
            </a:extLst>
          </p:cNvPr>
          <p:cNvSpPr>
            <a:spLocks noGrp="1"/>
          </p:cNvSpPr>
          <p:nvPr>
            <p:ph type="title"/>
          </p:nvPr>
        </p:nvSpPr>
        <p:spPr/>
        <p:txBody>
          <a:bodyPr/>
          <a:lstStyle/>
          <a:p>
            <a:r>
              <a:rPr lang="en-US" noProof="0" dirty="0"/>
              <a:t>Mediation: Pipes</a:t>
            </a:r>
          </a:p>
        </p:txBody>
      </p:sp>
      <p:sp>
        <p:nvSpPr>
          <p:cNvPr id="8" name="Content Placeholder 7">
            <a:extLst>
              <a:ext uri="{FF2B5EF4-FFF2-40B4-BE49-F238E27FC236}">
                <a16:creationId xmlns:a16="http://schemas.microsoft.com/office/drawing/2014/main" id="{5DAFA732-7D3C-CCCC-C6A1-53F62769E809}"/>
              </a:ext>
            </a:extLst>
          </p:cNvPr>
          <p:cNvSpPr>
            <a:spLocks noGrp="1"/>
          </p:cNvSpPr>
          <p:nvPr>
            <p:ph idx="1"/>
          </p:nvPr>
        </p:nvSpPr>
        <p:spPr>
          <a:xfrm>
            <a:off x="838200" y="1825626"/>
            <a:ext cx="10515600" cy="1180886"/>
          </a:xfrm>
        </p:spPr>
        <p:txBody>
          <a:bodyPr>
            <a:normAutofit/>
          </a:bodyPr>
          <a:lstStyle/>
          <a:p>
            <a:pPr marL="0" indent="0">
              <a:buNone/>
            </a:pPr>
            <a:r>
              <a:rPr lang="en-US" sz="2400" noProof="0" dirty="0"/>
              <a:t>Both statistical models are causally unbiased. The choice, which of them to prefer depends on whether one is interested in the direct or total effect of the treatment.</a:t>
            </a:r>
          </a:p>
        </p:txBody>
      </p:sp>
      <p:sp>
        <p:nvSpPr>
          <p:cNvPr id="4" name="Date Placeholder 3">
            <a:extLst>
              <a:ext uri="{FF2B5EF4-FFF2-40B4-BE49-F238E27FC236}">
                <a16:creationId xmlns:a16="http://schemas.microsoft.com/office/drawing/2014/main" id="{11CF468E-8C16-D193-187F-B35131AA7C4F}"/>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90B04E1E-57DC-AB37-A641-8D5EF4831F3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B78490B-DC91-1841-D5D2-5DC9DCABEAE1}"/>
              </a:ext>
            </a:extLst>
          </p:cNvPr>
          <p:cNvSpPr>
            <a:spLocks noGrp="1"/>
          </p:cNvSpPr>
          <p:nvPr>
            <p:ph type="sldNum" sz="quarter" idx="12"/>
          </p:nvPr>
        </p:nvSpPr>
        <p:spPr/>
        <p:txBody>
          <a:bodyPr/>
          <a:lstStyle/>
          <a:p>
            <a:fld id="{0FA2D919-C0DE-4971-A2E9-D4AC0031921B}" type="slidenum">
              <a:rPr lang="en-US" noProof="0" smtClean="0"/>
              <a:t>38</a:t>
            </a:fld>
            <a:endParaRPr lang="en-US" noProof="0" dirty="0"/>
          </a:p>
        </p:txBody>
      </p:sp>
      <p:grpSp>
        <p:nvGrpSpPr>
          <p:cNvPr id="41" name="Group 40">
            <a:extLst>
              <a:ext uri="{FF2B5EF4-FFF2-40B4-BE49-F238E27FC236}">
                <a16:creationId xmlns:a16="http://schemas.microsoft.com/office/drawing/2014/main" id="{C2BA7CC6-C382-F8A9-E9B5-92EC7358F091}"/>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8E9469AB-3258-31E7-8A24-F7C91DCE4816}"/>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51462FB7-CF52-14BF-B367-A2A6E5CA76D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CB674C8A-BB84-8D4F-D7FF-900934837006}"/>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5B81A5D2-8D8E-24AE-B8C4-DD4E70CD3248}"/>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7706287B-2938-77D9-DE48-F1AB244F541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1A9FFB2B-A796-061B-C598-8D86FDA5D594}"/>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952AB403-CCAB-7BEC-23D4-06F0AF2035C0}"/>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76FA7EA9-2741-E079-9B99-B8320D8C045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D225E109-98CE-2EE7-10B2-1E01F936FA87}"/>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57B6AB17-EF18-3603-7405-E9710D7C3D9C}"/>
                </a:ext>
              </a:extLst>
            </p:cNvPr>
            <p:cNvSpPr/>
            <p:nvPr/>
          </p:nvSpPr>
          <p:spPr>
            <a:xfrm>
              <a:off x="3313786" y="3686861"/>
              <a:ext cx="1080000" cy="1080000"/>
            </a:xfrm>
            <a:prstGeom prst="ellipse">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5388252B-AE9E-F105-D706-FD1E46DAE64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7337906F-B3DF-446A-3C2F-AD2617DD04F5}"/>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A1047EB5-0D50-4222-30AC-636A44CB0403}"/>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B264560-DF86-AD8E-F9A1-3A2A6E155FF4}"/>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7EC818D6-2C8C-8330-8357-A9C615BDE145}"/>
              </a:ext>
            </a:extLst>
          </p:cNvPr>
          <p:cNvSpPr/>
          <p:nvPr/>
        </p:nvSpPr>
        <p:spPr>
          <a:xfrm>
            <a:off x="1157256" y="346584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Oval 2">
            <a:extLst>
              <a:ext uri="{FF2B5EF4-FFF2-40B4-BE49-F238E27FC236}">
                <a16:creationId xmlns:a16="http://schemas.microsoft.com/office/drawing/2014/main" id="{2C96F8D0-FC22-B38A-5258-4C1F45504ED6}"/>
              </a:ext>
            </a:extLst>
          </p:cNvPr>
          <p:cNvSpPr/>
          <p:nvPr/>
        </p:nvSpPr>
        <p:spPr>
          <a:xfrm>
            <a:off x="3648636" y="3465844"/>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9" name="Straight Arrow Connector 8">
            <a:extLst>
              <a:ext uri="{FF2B5EF4-FFF2-40B4-BE49-F238E27FC236}">
                <a16:creationId xmlns:a16="http://schemas.microsoft.com/office/drawing/2014/main" id="{0E578D5F-E2D9-A19D-E324-F9B46A2B0ECF}"/>
              </a:ext>
            </a:extLst>
          </p:cNvPr>
          <p:cNvCxnSpPr>
            <a:stCxn id="2" idx="6"/>
            <a:endCxn id="3" idx="2"/>
          </p:cNvCxnSpPr>
          <p:nvPr/>
        </p:nvCxnSpPr>
        <p:spPr>
          <a:xfrm>
            <a:off x="1517256" y="3645844"/>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FC6A750D-A636-2396-D85A-6C70592138B8}"/>
              </a:ext>
            </a:extLst>
          </p:cNvPr>
          <p:cNvSpPr txBox="1"/>
          <p:nvPr/>
        </p:nvSpPr>
        <p:spPr>
          <a:xfrm>
            <a:off x="1016670" y="3006512"/>
            <a:ext cx="1190198" cy="369332"/>
          </a:xfrm>
          <a:prstGeom prst="rect">
            <a:avLst/>
          </a:prstGeom>
          <a:noFill/>
        </p:spPr>
        <p:txBody>
          <a:bodyPr wrap="none" rtlCol="0">
            <a:spAutoFit/>
          </a:bodyPr>
          <a:lstStyle/>
          <a:p>
            <a:r>
              <a:rPr lang="en-US" noProof="0" dirty="0">
                <a:solidFill>
                  <a:srgbClr val="D0180A"/>
                </a:solidFill>
              </a:rPr>
              <a:t>technique</a:t>
            </a:r>
          </a:p>
        </p:txBody>
      </p:sp>
      <p:sp>
        <p:nvSpPr>
          <p:cNvPr id="11" name="TextBox 10">
            <a:extLst>
              <a:ext uri="{FF2B5EF4-FFF2-40B4-BE49-F238E27FC236}">
                <a16:creationId xmlns:a16="http://schemas.microsoft.com/office/drawing/2014/main" id="{A9E93AF9-13EF-6F2A-A52C-21834B8A44BA}"/>
              </a:ext>
            </a:extLst>
          </p:cNvPr>
          <p:cNvSpPr txBox="1"/>
          <p:nvPr/>
        </p:nvSpPr>
        <p:spPr>
          <a:xfrm>
            <a:off x="3382935" y="3911178"/>
            <a:ext cx="1362937" cy="369332"/>
          </a:xfrm>
          <a:prstGeom prst="rect">
            <a:avLst/>
          </a:prstGeom>
          <a:noFill/>
        </p:spPr>
        <p:txBody>
          <a:bodyPr wrap="none" rtlCol="0">
            <a:spAutoFit/>
          </a:bodyPr>
          <a:lstStyle/>
          <a:p>
            <a:r>
              <a:rPr lang="en-US" noProof="0" dirty="0">
                <a:solidFill>
                  <a:srgbClr val="006D70"/>
                </a:solidFill>
              </a:rPr>
              <a:t>productivity</a:t>
            </a:r>
          </a:p>
        </p:txBody>
      </p:sp>
      <p:sp>
        <p:nvSpPr>
          <p:cNvPr id="12" name="Oval 11">
            <a:extLst>
              <a:ext uri="{FF2B5EF4-FFF2-40B4-BE49-F238E27FC236}">
                <a16:creationId xmlns:a16="http://schemas.microsoft.com/office/drawing/2014/main" id="{2FCC285E-C050-F080-BA1D-BF5DD02A9BB9}"/>
              </a:ext>
            </a:extLst>
          </p:cNvPr>
          <p:cNvSpPr/>
          <p:nvPr/>
        </p:nvSpPr>
        <p:spPr>
          <a:xfrm>
            <a:off x="2402946" y="4637475"/>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Box 12">
            <a:extLst>
              <a:ext uri="{FF2B5EF4-FFF2-40B4-BE49-F238E27FC236}">
                <a16:creationId xmlns:a16="http://schemas.microsoft.com/office/drawing/2014/main" id="{B0C599C0-CF85-EB74-A5FB-552E98161D1A}"/>
              </a:ext>
            </a:extLst>
          </p:cNvPr>
          <p:cNvSpPr txBox="1"/>
          <p:nvPr/>
        </p:nvSpPr>
        <p:spPr>
          <a:xfrm>
            <a:off x="2791327" y="4628143"/>
            <a:ext cx="1305614" cy="369332"/>
          </a:xfrm>
          <a:prstGeom prst="rect">
            <a:avLst/>
          </a:prstGeom>
          <a:noFill/>
        </p:spPr>
        <p:txBody>
          <a:bodyPr wrap="none" rtlCol="0">
            <a:spAutoFit/>
          </a:bodyPr>
          <a:lstStyle/>
          <a:p>
            <a:r>
              <a:rPr lang="en-US" noProof="0" dirty="0">
                <a:solidFill>
                  <a:schemeClr val="tx1">
                    <a:lumMod val="65000"/>
                    <a:lumOff val="35000"/>
                  </a:schemeClr>
                </a:solidFill>
              </a:rPr>
              <a:t>tool appeal</a:t>
            </a:r>
          </a:p>
        </p:txBody>
      </p:sp>
      <p:cxnSp>
        <p:nvCxnSpPr>
          <p:cNvPr id="14" name="Straight Arrow Connector 13">
            <a:extLst>
              <a:ext uri="{FF2B5EF4-FFF2-40B4-BE49-F238E27FC236}">
                <a16:creationId xmlns:a16="http://schemas.microsoft.com/office/drawing/2014/main" id="{1F691DF7-EBF7-89C7-E89D-4C696917F1C2}"/>
              </a:ext>
            </a:extLst>
          </p:cNvPr>
          <p:cNvCxnSpPr>
            <a:cxnSpLocks/>
            <a:stCxn id="12" idx="7"/>
            <a:endCxn id="3" idx="3"/>
          </p:cNvCxnSpPr>
          <p:nvPr/>
        </p:nvCxnSpPr>
        <p:spPr>
          <a:xfrm flipV="1">
            <a:off x="2710225" y="3773123"/>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F406184D-EACD-0987-031C-6C7F5F7CB11B}"/>
              </a:ext>
            </a:extLst>
          </p:cNvPr>
          <p:cNvCxnSpPr>
            <a:cxnSpLocks/>
            <a:stCxn id="2" idx="5"/>
            <a:endCxn id="12" idx="1"/>
          </p:cNvCxnSpPr>
          <p:nvPr/>
        </p:nvCxnSpPr>
        <p:spPr>
          <a:xfrm>
            <a:off x="1464535" y="3773123"/>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D67848DB-F1FD-FED8-3276-1405E17A09E0}"/>
              </a:ext>
            </a:extLst>
          </p:cNvPr>
          <p:cNvGrpSpPr/>
          <p:nvPr/>
        </p:nvGrpSpPr>
        <p:grpSpPr>
          <a:xfrm>
            <a:off x="4814355" y="3609844"/>
            <a:ext cx="2563289" cy="432000"/>
            <a:chOff x="4604412" y="1893985"/>
            <a:chExt cx="2563289" cy="432000"/>
          </a:xfrm>
        </p:grpSpPr>
        <p:sp>
          <p:nvSpPr>
            <p:cNvPr id="17" name="Arrow: Pentagon 16">
              <a:extLst>
                <a:ext uri="{FF2B5EF4-FFF2-40B4-BE49-F238E27FC236}">
                  <a16:creationId xmlns:a16="http://schemas.microsoft.com/office/drawing/2014/main" id="{9179E3DE-BBD8-40D1-50A6-03F77031D9C5}"/>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8" name="Graphic 17" descr="Connections with solid fill">
              <a:extLst>
                <a:ext uri="{FF2B5EF4-FFF2-40B4-BE49-F238E27FC236}">
                  <a16:creationId xmlns:a16="http://schemas.microsoft.com/office/drawing/2014/main" id="{83B4D00C-E9CB-6E2D-3E99-8CAC6E33ED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E5CE265-C59F-9A40-3726-A40862D0054A}"/>
                  </a:ext>
                </a:extLst>
              </p:cNvPr>
              <p:cNvSpPr txBox="1"/>
              <p:nvPr/>
            </p:nvSpPr>
            <p:spPr>
              <a:xfrm>
                <a:off x="7609259" y="3292257"/>
                <a:ext cx="33555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𝑝𝑟𝑜𝑑𝑢𝑐𝑡𝑖𝑣𝑖𝑡𝑦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𝑡𝑒𝑐h𝑛𝑖𝑞𝑢𝑒</m:t>
                      </m:r>
                    </m:oMath>
                  </m:oMathPara>
                </a14:m>
                <a:endParaRPr lang="en-US" noProof="0" dirty="0"/>
              </a:p>
            </p:txBody>
          </p:sp>
        </mc:Choice>
        <mc:Fallback xmlns="">
          <p:sp>
            <p:nvSpPr>
              <p:cNvPr id="19" name="TextBox 18">
                <a:extLst>
                  <a:ext uri="{FF2B5EF4-FFF2-40B4-BE49-F238E27FC236}">
                    <a16:creationId xmlns:a16="http://schemas.microsoft.com/office/drawing/2014/main" id="{0E5CE265-C59F-9A40-3726-A40862D0054A}"/>
                  </a:ext>
                </a:extLst>
              </p:cNvPr>
              <p:cNvSpPr txBox="1">
                <a:spLocks noRot="1" noChangeAspect="1" noMove="1" noResize="1" noEditPoints="1" noAdjustHandles="1" noChangeArrowheads="1" noChangeShapeType="1" noTextEdit="1"/>
              </p:cNvSpPr>
              <p:nvPr/>
            </p:nvSpPr>
            <p:spPr>
              <a:xfrm>
                <a:off x="7609259" y="3292257"/>
                <a:ext cx="3355534" cy="276999"/>
              </a:xfrm>
              <a:prstGeom prst="rect">
                <a:avLst/>
              </a:prstGeom>
              <a:blipFill>
                <a:blip r:embed="rId10"/>
                <a:stretch>
                  <a:fillRect l="-726" t="-2174" r="-1996"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517BD53-6B8E-A940-CF4B-1FDB381E8647}"/>
                  </a:ext>
                </a:extLst>
              </p:cNvPr>
              <p:cNvSpPr txBox="1"/>
              <p:nvPr/>
            </p:nvSpPr>
            <p:spPr>
              <a:xfrm>
                <a:off x="7609259" y="3863746"/>
                <a:ext cx="43427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𝑝𝑟𝑜𝑑𝑢𝑐𝑡𝑖𝑣𝑖𝑡𝑦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𝑡𝑒𝑐h𝑛𝑖𝑞𝑢𝑒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𝑎𝑝𝑝𝑒𝑎𝑙</m:t>
                      </m:r>
                    </m:oMath>
                  </m:oMathPara>
                </a14:m>
                <a:endParaRPr lang="en-US" noProof="0" dirty="0"/>
              </a:p>
            </p:txBody>
          </p:sp>
        </mc:Choice>
        <mc:Fallback xmlns="">
          <p:sp>
            <p:nvSpPr>
              <p:cNvPr id="20" name="TextBox 19">
                <a:extLst>
                  <a:ext uri="{FF2B5EF4-FFF2-40B4-BE49-F238E27FC236}">
                    <a16:creationId xmlns:a16="http://schemas.microsoft.com/office/drawing/2014/main" id="{8517BD53-6B8E-A940-CF4B-1FDB381E8647}"/>
                  </a:ext>
                </a:extLst>
              </p:cNvPr>
              <p:cNvSpPr txBox="1">
                <a:spLocks noRot="1" noChangeAspect="1" noMove="1" noResize="1" noEditPoints="1" noAdjustHandles="1" noChangeArrowheads="1" noChangeShapeType="1" noTextEdit="1"/>
              </p:cNvSpPr>
              <p:nvPr/>
            </p:nvSpPr>
            <p:spPr>
              <a:xfrm>
                <a:off x="7609259" y="3863746"/>
                <a:ext cx="4342792" cy="276999"/>
              </a:xfrm>
              <a:prstGeom prst="rect">
                <a:avLst/>
              </a:prstGeom>
              <a:blipFill>
                <a:blip r:embed="rId11"/>
                <a:stretch>
                  <a:fillRect l="-421" t="-2222" r="-1403" b="-35556"/>
                </a:stretch>
              </a:blipFill>
            </p:spPr>
            <p:txBody>
              <a:bodyPr/>
              <a:lstStyle/>
              <a:p>
                <a:r>
                  <a:rPr lang="en-SE">
                    <a:noFill/>
                  </a:rPr>
                  <a:t> </a:t>
                </a:r>
              </a:p>
            </p:txBody>
          </p:sp>
        </mc:Fallback>
      </mc:AlternateContent>
      <p:grpSp>
        <p:nvGrpSpPr>
          <p:cNvPr id="21" name="Group 20">
            <a:extLst>
              <a:ext uri="{FF2B5EF4-FFF2-40B4-BE49-F238E27FC236}">
                <a16:creationId xmlns:a16="http://schemas.microsoft.com/office/drawing/2014/main" id="{420A1DDD-4EA7-8E01-B3CA-1CA2C2CD3DD4}"/>
              </a:ext>
            </a:extLst>
          </p:cNvPr>
          <p:cNvGrpSpPr/>
          <p:nvPr/>
        </p:nvGrpSpPr>
        <p:grpSpPr>
          <a:xfrm>
            <a:off x="838200" y="5248387"/>
            <a:ext cx="10515599" cy="946595"/>
            <a:chOff x="775411" y="5230368"/>
            <a:chExt cx="10515599" cy="946595"/>
          </a:xfrm>
        </p:grpSpPr>
        <mc:AlternateContent xmlns:mc="http://schemas.openxmlformats.org/markup-compatibility/2006" xmlns:a14="http://schemas.microsoft.com/office/drawing/2010/main">
          <mc:Choice Requires="a14">
            <p:sp>
              <p:nvSpPr>
                <p:cNvPr id="22" name="Rectangle: Rounded Corners 21">
                  <a:extLst>
                    <a:ext uri="{FF2B5EF4-FFF2-40B4-BE49-F238E27FC236}">
                      <a16:creationId xmlns:a16="http://schemas.microsoft.com/office/drawing/2014/main" id="{1DAA6A79-8100-D554-BE18-DF962B550431}"/>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If the effect of the </a:t>
                  </a:r>
                  <a:r>
                    <a:rPr lang="en-US" b="1" noProof="0" dirty="0">
                      <a:solidFill>
                        <a:srgbClr val="D0180A"/>
                      </a:solidFill>
                    </a:rPr>
                    <a:t>treatment</a:t>
                  </a:r>
                  <a:r>
                    <a:rPr lang="en-US" noProof="0" dirty="0"/>
                    <a:t> on the </a:t>
                  </a:r>
                  <a:r>
                    <a:rPr lang="en-US" b="1" noProof="0" dirty="0">
                      <a:solidFill>
                        <a:schemeClr val="bg1">
                          <a:lumMod val="50000"/>
                        </a:schemeClr>
                      </a:solidFill>
                    </a:rPr>
                    <a:t>mediator</a:t>
                  </a:r>
                  <a:r>
                    <a:rPr lang="en-US" noProof="0" dirty="0"/>
                    <a:t> is unstable, it is advisable to differentiate the direct from the indirect effect (i.e., </a:t>
                  </a: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&gt;</m:t>
                      </m:r>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oMath>
                  </a14:m>
                  <a:r>
                    <a:rPr lang="en-US" noProof="0" dirty="0"/>
                    <a:t>).</a:t>
                  </a:r>
                </a:p>
              </p:txBody>
            </p:sp>
          </mc:Choice>
          <mc:Fallback xmlns="">
            <p:sp>
              <p:nvSpPr>
                <p:cNvPr id="22" name="Rectangle: Rounded Corners 21">
                  <a:extLst>
                    <a:ext uri="{FF2B5EF4-FFF2-40B4-BE49-F238E27FC236}">
                      <a16:creationId xmlns:a16="http://schemas.microsoft.com/office/drawing/2014/main" id="{1DAA6A79-8100-D554-BE18-DF962B550431}"/>
                    </a:ext>
                  </a:extLst>
                </p:cNvPr>
                <p:cNvSpPr>
                  <a:spLocks noRot="1" noChangeAspect="1" noMove="1" noResize="1" noEditPoints="1" noAdjustHandles="1" noChangeArrowheads="1" noChangeShapeType="1" noTextEdit="1"/>
                </p:cNvSpPr>
                <p:nvPr/>
              </p:nvSpPr>
              <p:spPr>
                <a:xfrm>
                  <a:off x="775411" y="5230368"/>
                  <a:ext cx="10515599" cy="946595"/>
                </a:xfrm>
                <a:prstGeom prst="roundRect">
                  <a:avLst/>
                </a:prstGeom>
                <a:blipFill>
                  <a:blip r:embed="rId12"/>
                  <a:stretch>
                    <a:fillRect/>
                  </a:stretch>
                </a:blipFill>
                <a:ln>
                  <a:solidFill>
                    <a:schemeClr val="tx1"/>
                  </a:solidFill>
                </a:ln>
                <a:effectLst>
                  <a:outerShdw blurRad="50800" dist="38100" dir="2700000" algn="tl" rotWithShape="0">
                    <a:prstClr val="black">
                      <a:alpha val="40000"/>
                    </a:prstClr>
                  </a:outerShdw>
                </a:effectLst>
              </p:spPr>
              <p:txBody>
                <a:bodyPr/>
                <a:lstStyle/>
                <a:p>
                  <a:r>
                    <a:rPr lang="en-SE">
                      <a:noFill/>
                    </a:rPr>
                    <a:t> </a:t>
                  </a:r>
                </a:p>
              </p:txBody>
            </p:sp>
          </mc:Fallback>
        </mc:AlternateContent>
        <p:pic>
          <p:nvPicPr>
            <p:cNvPr id="23" name="Graphic 22" descr="Open quotation mark with solid fill">
              <a:extLst>
                <a:ext uri="{FF2B5EF4-FFF2-40B4-BE49-F238E27FC236}">
                  <a16:creationId xmlns:a16="http://schemas.microsoft.com/office/drawing/2014/main" id="{57F11065-B7E2-577E-77DB-75A5574A24F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86722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88881-4A7F-CC9C-8254-6FF409E6D738}"/>
              </a:ext>
            </a:extLst>
          </p:cNvPr>
          <p:cNvSpPr>
            <a:spLocks noGrp="1"/>
          </p:cNvSpPr>
          <p:nvPr>
            <p:ph type="title"/>
          </p:nvPr>
        </p:nvSpPr>
        <p:spPr/>
        <p:txBody>
          <a:bodyPr/>
          <a:lstStyle/>
          <a:p>
            <a:r>
              <a:rPr lang="en-US" noProof="0" dirty="0"/>
              <a:t>Practical Example of Mediation</a:t>
            </a:r>
          </a:p>
        </p:txBody>
      </p:sp>
      <p:sp>
        <p:nvSpPr>
          <p:cNvPr id="4" name="Date Placeholder 3">
            <a:extLst>
              <a:ext uri="{FF2B5EF4-FFF2-40B4-BE49-F238E27FC236}">
                <a16:creationId xmlns:a16="http://schemas.microsoft.com/office/drawing/2014/main" id="{30C8E529-73F6-1A5F-A028-F78611C6618D}"/>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6EA8270-E13F-349D-D324-D26D0164FC7F}"/>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FBFCD1A-2FDB-A3CF-7C96-AB84A3E00004}"/>
              </a:ext>
            </a:extLst>
          </p:cNvPr>
          <p:cNvSpPr>
            <a:spLocks noGrp="1"/>
          </p:cNvSpPr>
          <p:nvPr>
            <p:ph type="sldNum" sz="quarter" idx="12"/>
          </p:nvPr>
        </p:nvSpPr>
        <p:spPr/>
        <p:txBody>
          <a:bodyPr/>
          <a:lstStyle/>
          <a:p>
            <a:fld id="{0FA2D919-C0DE-4971-A2E9-D4AC0031921B}" type="slidenum">
              <a:rPr lang="en-US" noProof="0" smtClean="0"/>
              <a:t>39</a:t>
            </a:fld>
            <a:endParaRPr lang="en-US" noProof="0" dirty="0"/>
          </a:p>
        </p:txBody>
      </p:sp>
      <p:sp>
        <p:nvSpPr>
          <p:cNvPr id="23" name="Arrow: Right 22">
            <a:extLst>
              <a:ext uri="{FF2B5EF4-FFF2-40B4-BE49-F238E27FC236}">
                <a16:creationId xmlns:a16="http://schemas.microsoft.com/office/drawing/2014/main" id="{2894B3F0-3514-ABC2-6CCC-249288B9A32A}"/>
              </a:ext>
            </a:extLst>
          </p:cNvPr>
          <p:cNvSpPr/>
          <p:nvPr/>
        </p:nvSpPr>
        <p:spPr>
          <a:xfrm>
            <a:off x="5471411" y="2174240"/>
            <a:ext cx="1431431" cy="1579506"/>
          </a:xfrm>
          <a:prstGeom prst="rightArrow">
            <a:avLst/>
          </a:prstGeom>
          <a:gradFill flip="none" rotWithShape="1">
            <a:gsLst>
              <a:gs pos="0">
                <a:schemeClr val="tx2">
                  <a:lumMod val="10000"/>
                  <a:lumOff val="90000"/>
                </a:schemeClr>
              </a:gs>
              <a:gs pos="100000">
                <a:schemeClr val="accent5">
                  <a:lumMod val="20000"/>
                  <a:lumOff val="8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5" name="TextBox 54">
            <a:extLst>
              <a:ext uri="{FF2B5EF4-FFF2-40B4-BE49-F238E27FC236}">
                <a16:creationId xmlns:a16="http://schemas.microsoft.com/office/drawing/2014/main" id="{1AF7FB48-2161-3957-F7DC-E17017119E8B}"/>
              </a:ext>
            </a:extLst>
          </p:cNvPr>
          <p:cNvSpPr txBox="1"/>
          <p:nvPr/>
        </p:nvSpPr>
        <p:spPr>
          <a:xfrm>
            <a:off x="806923" y="5967771"/>
            <a:ext cx="4382378" cy="461665"/>
          </a:xfrm>
          <a:prstGeom prst="rect">
            <a:avLst/>
          </a:prstGeom>
          <a:noFill/>
        </p:spPr>
        <p:txBody>
          <a:bodyPr wrap="square">
            <a:spAutoFit/>
          </a:bodyPr>
          <a:lstStyle/>
          <a:p>
            <a:pPr>
              <a:buNone/>
            </a:pPr>
            <a:r>
              <a:rPr lang="en-US" sz="800" noProof="0" dirty="0"/>
              <a:t>Femmer, H., Kučera, J., &amp; </a:t>
            </a:r>
            <a:r>
              <a:rPr lang="en-US" sz="800" noProof="0" dirty="0" err="1"/>
              <a:t>Vetrò</a:t>
            </a:r>
            <a:r>
              <a:rPr lang="en-US" sz="800" noProof="0" dirty="0"/>
              <a:t>, A. (2014, September). On the impact of passive voice requirements on domain modelling. In </a:t>
            </a:r>
            <a:r>
              <a:rPr lang="en-US" sz="800" i="1" noProof="0" dirty="0"/>
              <a:t>Proceedings of the 8th ACM/IEEE international symposium on empirical software engineering and measurement</a:t>
            </a:r>
            <a:r>
              <a:rPr lang="en-US" sz="800" noProof="0" dirty="0"/>
              <a:t> (pp. 1-4).</a:t>
            </a:r>
          </a:p>
        </p:txBody>
      </p:sp>
      <p:sp>
        <p:nvSpPr>
          <p:cNvPr id="57" name="TextBox 56">
            <a:extLst>
              <a:ext uri="{FF2B5EF4-FFF2-40B4-BE49-F238E27FC236}">
                <a16:creationId xmlns:a16="http://schemas.microsoft.com/office/drawing/2014/main" id="{A1E53303-E487-277C-1484-43B6012F1B0C}"/>
              </a:ext>
            </a:extLst>
          </p:cNvPr>
          <p:cNvSpPr txBox="1"/>
          <p:nvPr/>
        </p:nvSpPr>
        <p:spPr>
          <a:xfrm>
            <a:off x="6213060" y="5964728"/>
            <a:ext cx="5140740" cy="461665"/>
          </a:xfrm>
          <a:prstGeom prst="rect">
            <a:avLst/>
          </a:prstGeom>
          <a:noFill/>
        </p:spPr>
        <p:txBody>
          <a:bodyPr wrap="square">
            <a:spAutoFit/>
          </a:bodyPr>
          <a:lstStyle/>
          <a:p>
            <a:pPr>
              <a:buNone/>
            </a:pPr>
            <a:r>
              <a:rPr lang="en-US" sz="800" noProof="0" dirty="0"/>
              <a:t>Frattini, J., Fucci, D., Torkar, R., &amp; Mendez, D. (2024, April). A second look at the impact of passive voice requirements on domain modeling: Bayesian reanalysis of an experiment. In </a:t>
            </a:r>
            <a:r>
              <a:rPr lang="en-US" sz="800" i="1" noProof="0" dirty="0"/>
              <a:t>Proceedings of the 1st IEEE/ACM International Workshop on Methodological Issues with Empirical Studies in Software Engineering</a:t>
            </a:r>
            <a:r>
              <a:rPr lang="en-US" sz="800" noProof="0" dirty="0"/>
              <a:t> (pp. 27-33).</a:t>
            </a:r>
          </a:p>
        </p:txBody>
      </p:sp>
      <p:sp>
        <p:nvSpPr>
          <p:cNvPr id="59" name="TextBox 58">
            <a:extLst>
              <a:ext uri="{FF2B5EF4-FFF2-40B4-BE49-F238E27FC236}">
                <a16:creationId xmlns:a16="http://schemas.microsoft.com/office/drawing/2014/main" id="{10FA3546-9432-77A4-9180-7B16FB73A977}"/>
              </a:ext>
            </a:extLst>
          </p:cNvPr>
          <p:cNvSpPr txBox="1"/>
          <p:nvPr/>
        </p:nvSpPr>
        <p:spPr>
          <a:xfrm>
            <a:off x="806923" y="5698716"/>
            <a:ext cx="4382378" cy="307777"/>
          </a:xfrm>
          <a:prstGeom prst="rect">
            <a:avLst/>
          </a:prstGeom>
          <a:noFill/>
        </p:spPr>
        <p:txBody>
          <a:bodyPr wrap="square">
            <a:spAutoFit/>
          </a:bodyPr>
          <a:lstStyle/>
          <a:p>
            <a:r>
              <a:rPr lang="en-US" sz="1400" noProof="0" dirty="0">
                <a:hlinkClick r:id="rId3"/>
              </a:rPr>
              <a:t>https://doi.org/10.1145/2652524.2652554</a:t>
            </a:r>
            <a:r>
              <a:rPr lang="en-US" sz="1400" noProof="0" dirty="0"/>
              <a:t> </a:t>
            </a:r>
          </a:p>
        </p:txBody>
      </p:sp>
      <p:sp>
        <p:nvSpPr>
          <p:cNvPr id="61" name="TextBox 60">
            <a:extLst>
              <a:ext uri="{FF2B5EF4-FFF2-40B4-BE49-F238E27FC236}">
                <a16:creationId xmlns:a16="http://schemas.microsoft.com/office/drawing/2014/main" id="{BBEA858D-9700-E995-9ED9-04D1BA28A555}"/>
              </a:ext>
            </a:extLst>
          </p:cNvPr>
          <p:cNvSpPr txBox="1"/>
          <p:nvPr/>
        </p:nvSpPr>
        <p:spPr>
          <a:xfrm>
            <a:off x="6204475" y="5650475"/>
            <a:ext cx="4771029" cy="307777"/>
          </a:xfrm>
          <a:prstGeom prst="rect">
            <a:avLst/>
          </a:prstGeom>
          <a:noFill/>
        </p:spPr>
        <p:txBody>
          <a:bodyPr wrap="square">
            <a:spAutoFit/>
          </a:bodyPr>
          <a:lstStyle/>
          <a:p>
            <a:r>
              <a:rPr lang="en-US" sz="1400" noProof="0" dirty="0">
                <a:hlinkClick r:id="rId4"/>
              </a:rPr>
              <a:t>https://doi.org/10.1145/3643664.3648211</a:t>
            </a:r>
            <a:r>
              <a:rPr lang="en-US" sz="1400" noProof="0" dirty="0"/>
              <a:t> </a:t>
            </a:r>
          </a:p>
        </p:txBody>
      </p:sp>
      <p:grpSp>
        <p:nvGrpSpPr>
          <p:cNvPr id="82" name="Group 81">
            <a:extLst>
              <a:ext uri="{FF2B5EF4-FFF2-40B4-BE49-F238E27FC236}">
                <a16:creationId xmlns:a16="http://schemas.microsoft.com/office/drawing/2014/main" id="{CAB94F75-7B0D-59CD-5AE0-559B8E205864}"/>
              </a:ext>
            </a:extLst>
          </p:cNvPr>
          <p:cNvGrpSpPr/>
          <p:nvPr/>
        </p:nvGrpSpPr>
        <p:grpSpPr>
          <a:xfrm>
            <a:off x="6547127" y="2145007"/>
            <a:ext cx="5362372" cy="1596145"/>
            <a:chOff x="6547127" y="2145007"/>
            <a:chExt cx="5362372" cy="1596145"/>
          </a:xfrm>
        </p:grpSpPr>
        <p:sp>
          <p:nvSpPr>
            <p:cNvPr id="14" name="Oval 13">
              <a:extLst>
                <a:ext uri="{FF2B5EF4-FFF2-40B4-BE49-F238E27FC236}">
                  <a16:creationId xmlns:a16="http://schemas.microsoft.com/office/drawing/2014/main" id="{C2348624-BF9E-7A26-9220-668D53126932}"/>
                </a:ext>
              </a:extLst>
            </p:cNvPr>
            <p:cNvSpPr/>
            <p:nvPr/>
          </p:nvSpPr>
          <p:spPr>
            <a:xfrm>
              <a:off x="8131190" y="278022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5381CB25-43E2-4C88-58A8-F7F936DC0B60}"/>
                </a:ext>
              </a:extLst>
            </p:cNvPr>
            <p:cNvSpPr/>
            <p:nvPr/>
          </p:nvSpPr>
          <p:spPr>
            <a:xfrm>
              <a:off x="9281378" y="277585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FFE8E46D-D65B-96B1-2417-ADA616733AD3}"/>
                </a:ext>
              </a:extLst>
            </p:cNvPr>
            <p:cNvCxnSpPr>
              <a:stCxn id="14" idx="6"/>
              <a:endCxn id="15" idx="2"/>
            </p:cNvCxnSpPr>
            <p:nvPr/>
          </p:nvCxnSpPr>
          <p:spPr>
            <a:xfrm flipV="1">
              <a:off x="8491190" y="2955850"/>
              <a:ext cx="790188" cy="4370"/>
            </a:xfrm>
            <a:prstGeom prst="straightConnector1">
              <a:avLst/>
            </a:prstGeom>
            <a:ln>
              <a:solidFill>
                <a:schemeClr val="tx1"/>
              </a:solidFill>
              <a:prstDash val="solid"/>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224AF1FD-344C-E1E5-A0B9-BF7FFEB69356}"/>
                </a:ext>
              </a:extLst>
            </p:cNvPr>
            <p:cNvSpPr txBox="1"/>
            <p:nvPr/>
          </p:nvSpPr>
          <p:spPr>
            <a:xfrm>
              <a:off x="6547127" y="2779327"/>
              <a:ext cx="1513876" cy="369332"/>
            </a:xfrm>
            <a:prstGeom prst="rect">
              <a:avLst/>
            </a:prstGeom>
            <a:noFill/>
          </p:spPr>
          <p:txBody>
            <a:bodyPr wrap="none" rtlCol="0">
              <a:spAutoFit/>
            </a:bodyPr>
            <a:lstStyle/>
            <a:p>
              <a:pPr algn="r"/>
              <a:r>
                <a:rPr lang="en-US" noProof="0" dirty="0">
                  <a:solidFill>
                    <a:srgbClr val="D0180A"/>
                  </a:solidFill>
                </a:rPr>
                <a:t>passive voice</a:t>
              </a:r>
            </a:p>
          </p:txBody>
        </p:sp>
        <p:sp>
          <p:nvSpPr>
            <p:cNvPr id="18" name="TextBox 17">
              <a:extLst>
                <a:ext uri="{FF2B5EF4-FFF2-40B4-BE49-F238E27FC236}">
                  <a16:creationId xmlns:a16="http://schemas.microsoft.com/office/drawing/2014/main" id="{2F213134-FE3F-95A8-0B19-832F0E5C6D6C}"/>
                </a:ext>
              </a:extLst>
            </p:cNvPr>
            <p:cNvSpPr txBox="1"/>
            <p:nvPr/>
          </p:nvSpPr>
          <p:spPr>
            <a:xfrm>
              <a:off x="9641378" y="2771184"/>
              <a:ext cx="2268121" cy="369332"/>
            </a:xfrm>
            <a:prstGeom prst="rect">
              <a:avLst/>
            </a:prstGeom>
            <a:noFill/>
          </p:spPr>
          <p:txBody>
            <a:bodyPr wrap="none" rtlCol="0">
              <a:spAutoFit/>
            </a:bodyPr>
            <a:lstStyle/>
            <a:p>
              <a:pPr algn="ctr"/>
              <a:r>
                <a:rPr lang="en-US" noProof="0" dirty="0">
                  <a:solidFill>
                    <a:srgbClr val="006D70"/>
                  </a:solidFill>
                </a:rPr>
                <a:t>missing associations</a:t>
              </a:r>
            </a:p>
          </p:txBody>
        </p:sp>
        <p:sp>
          <p:nvSpPr>
            <p:cNvPr id="19" name="Oval 18">
              <a:extLst>
                <a:ext uri="{FF2B5EF4-FFF2-40B4-BE49-F238E27FC236}">
                  <a16:creationId xmlns:a16="http://schemas.microsoft.com/office/drawing/2014/main" id="{14DDDBFB-3B6F-496D-EF70-92CA8C983967}"/>
                </a:ext>
              </a:extLst>
            </p:cNvPr>
            <p:cNvSpPr/>
            <p:nvPr/>
          </p:nvSpPr>
          <p:spPr>
            <a:xfrm>
              <a:off x="9281378" y="217054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9A4E72A0-1A27-A4F0-F340-58007DBA10BF}"/>
                </a:ext>
              </a:extLst>
            </p:cNvPr>
            <p:cNvSpPr txBox="1"/>
            <p:nvPr/>
          </p:nvSpPr>
          <p:spPr>
            <a:xfrm>
              <a:off x="9641378" y="2145007"/>
              <a:ext cx="1633589" cy="369332"/>
            </a:xfrm>
            <a:prstGeom prst="rect">
              <a:avLst/>
            </a:prstGeom>
            <a:noFill/>
          </p:spPr>
          <p:txBody>
            <a:bodyPr wrap="none" rtlCol="0">
              <a:spAutoFit/>
            </a:bodyPr>
            <a:lstStyle/>
            <a:p>
              <a:r>
                <a:rPr lang="en-US" noProof="0" dirty="0">
                  <a:solidFill>
                    <a:schemeClr val="tx1">
                      <a:lumMod val="65000"/>
                      <a:lumOff val="35000"/>
                    </a:schemeClr>
                  </a:solidFill>
                </a:rPr>
                <a:t>missing actors</a:t>
              </a:r>
            </a:p>
          </p:txBody>
        </p:sp>
        <p:cxnSp>
          <p:nvCxnSpPr>
            <p:cNvPr id="21" name="Straight Arrow Connector 20">
              <a:extLst>
                <a:ext uri="{FF2B5EF4-FFF2-40B4-BE49-F238E27FC236}">
                  <a16:creationId xmlns:a16="http://schemas.microsoft.com/office/drawing/2014/main" id="{C3656D83-424B-C194-71C8-0AFBDB13514F}"/>
                </a:ext>
              </a:extLst>
            </p:cNvPr>
            <p:cNvCxnSpPr>
              <a:cxnSpLocks/>
              <a:stCxn id="19" idx="4"/>
              <a:endCxn id="15" idx="0"/>
            </p:cNvCxnSpPr>
            <p:nvPr/>
          </p:nvCxnSpPr>
          <p:spPr>
            <a:xfrm>
              <a:off x="9461378" y="2530548"/>
              <a:ext cx="0" cy="245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080C178D-CABB-BC07-03AB-D3399149D416}"/>
                </a:ext>
              </a:extLst>
            </p:cNvPr>
            <p:cNvCxnSpPr>
              <a:cxnSpLocks/>
              <a:stCxn id="14" idx="7"/>
              <a:endCxn id="19" idx="2"/>
            </p:cNvCxnSpPr>
            <p:nvPr/>
          </p:nvCxnSpPr>
          <p:spPr>
            <a:xfrm flipV="1">
              <a:off x="8438469" y="2350548"/>
              <a:ext cx="842909" cy="482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4" name="Oval 73">
              <a:extLst>
                <a:ext uri="{FF2B5EF4-FFF2-40B4-BE49-F238E27FC236}">
                  <a16:creationId xmlns:a16="http://schemas.microsoft.com/office/drawing/2014/main" id="{BC68210F-E2D6-871F-CA5E-7DAB98429DB0}"/>
                </a:ext>
              </a:extLst>
            </p:cNvPr>
            <p:cNvSpPr/>
            <p:nvPr/>
          </p:nvSpPr>
          <p:spPr>
            <a:xfrm>
              <a:off x="9286614" y="3381152"/>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5" name="TextBox 74">
              <a:extLst>
                <a:ext uri="{FF2B5EF4-FFF2-40B4-BE49-F238E27FC236}">
                  <a16:creationId xmlns:a16="http://schemas.microsoft.com/office/drawing/2014/main" id="{CE4CB10E-9019-7731-941C-5A17C08BF46D}"/>
                </a:ext>
              </a:extLst>
            </p:cNvPr>
            <p:cNvSpPr txBox="1"/>
            <p:nvPr/>
          </p:nvSpPr>
          <p:spPr>
            <a:xfrm>
              <a:off x="9641377" y="3371820"/>
              <a:ext cx="1741887" cy="369332"/>
            </a:xfrm>
            <a:prstGeom prst="rect">
              <a:avLst/>
            </a:prstGeom>
            <a:noFill/>
          </p:spPr>
          <p:txBody>
            <a:bodyPr wrap="none" rtlCol="0">
              <a:spAutoFit/>
            </a:bodyPr>
            <a:lstStyle/>
            <a:p>
              <a:r>
                <a:rPr lang="en-US" noProof="0" dirty="0">
                  <a:solidFill>
                    <a:schemeClr val="tx1">
                      <a:lumMod val="65000"/>
                      <a:lumOff val="35000"/>
                    </a:schemeClr>
                  </a:solidFill>
                </a:rPr>
                <a:t>missing objects</a:t>
              </a:r>
            </a:p>
          </p:txBody>
        </p:sp>
        <p:cxnSp>
          <p:nvCxnSpPr>
            <p:cNvPr id="76" name="Straight Arrow Connector 75">
              <a:extLst>
                <a:ext uri="{FF2B5EF4-FFF2-40B4-BE49-F238E27FC236}">
                  <a16:creationId xmlns:a16="http://schemas.microsoft.com/office/drawing/2014/main" id="{25DE5943-BECE-A7E8-2944-B55BD9A81D22}"/>
                </a:ext>
              </a:extLst>
            </p:cNvPr>
            <p:cNvCxnSpPr>
              <a:cxnSpLocks/>
              <a:stCxn id="14" idx="5"/>
              <a:endCxn id="74" idx="2"/>
            </p:cNvCxnSpPr>
            <p:nvPr/>
          </p:nvCxnSpPr>
          <p:spPr>
            <a:xfrm>
              <a:off x="8438469" y="3087499"/>
              <a:ext cx="848145" cy="473653"/>
            </a:xfrm>
            <a:prstGeom prst="straightConnector1">
              <a:avLst/>
            </a:prstGeom>
            <a:ln>
              <a:solidFill>
                <a:schemeClr val="tx1"/>
              </a:solidFill>
              <a:prstDash val="solid"/>
              <a:tailEnd type="triangle"/>
            </a:ln>
          </p:spPr>
          <p:style>
            <a:lnRef idx="2">
              <a:schemeClr val="dk1"/>
            </a:lnRef>
            <a:fillRef idx="0">
              <a:schemeClr val="dk1"/>
            </a:fillRef>
            <a:effectRef idx="1">
              <a:schemeClr val="dk1"/>
            </a:effectRef>
            <a:fontRef idx="minor">
              <a:schemeClr val="tx1"/>
            </a:fontRef>
          </p:style>
        </p:cxnSp>
        <p:cxnSp>
          <p:nvCxnSpPr>
            <p:cNvPr id="79" name="Straight Arrow Connector 78">
              <a:extLst>
                <a:ext uri="{FF2B5EF4-FFF2-40B4-BE49-F238E27FC236}">
                  <a16:creationId xmlns:a16="http://schemas.microsoft.com/office/drawing/2014/main" id="{64C45F99-1457-16E3-FB24-463640AE080B}"/>
                </a:ext>
              </a:extLst>
            </p:cNvPr>
            <p:cNvCxnSpPr>
              <a:cxnSpLocks/>
              <a:stCxn id="74" idx="0"/>
              <a:endCxn id="15" idx="4"/>
            </p:cNvCxnSpPr>
            <p:nvPr/>
          </p:nvCxnSpPr>
          <p:spPr>
            <a:xfrm flipH="1" flipV="1">
              <a:off x="9461378" y="3135850"/>
              <a:ext cx="5236" cy="245302"/>
            </a:xfrm>
            <a:prstGeom prst="straightConnector1">
              <a:avLst/>
            </a:prstGeom>
            <a:ln>
              <a:solidFill>
                <a:schemeClr val="tx1"/>
              </a:solidFill>
              <a:prstDash val="solid"/>
              <a:tailEnd type="triangle"/>
            </a:ln>
          </p:spPr>
          <p:style>
            <a:lnRef idx="2">
              <a:schemeClr val="dk1"/>
            </a:lnRef>
            <a:fillRef idx="0">
              <a:schemeClr val="dk1"/>
            </a:fillRef>
            <a:effectRef idx="1">
              <a:schemeClr val="dk1"/>
            </a:effectRef>
            <a:fontRef idx="minor">
              <a:schemeClr val="tx1"/>
            </a:fontRef>
          </p:style>
        </p:cxnSp>
      </p:grpSp>
      <p:grpSp>
        <p:nvGrpSpPr>
          <p:cNvPr id="83" name="Group 82">
            <a:extLst>
              <a:ext uri="{FF2B5EF4-FFF2-40B4-BE49-F238E27FC236}">
                <a16:creationId xmlns:a16="http://schemas.microsoft.com/office/drawing/2014/main" id="{D0026780-0CF0-C472-4B35-E9DBE3A29B26}"/>
              </a:ext>
            </a:extLst>
          </p:cNvPr>
          <p:cNvGrpSpPr/>
          <p:nvPr/>
        </p:nvGrpSpPr>
        <p:grpSpPr>
          <a:xfrm>
            <a:off x="603331" y="2155434"/>
            <a:ext cx="5362372" cy="1596145"/>
            <a:chOff x="6547127" y="2145007"/>
            <a:chExt cx="5362372" cy="1596145"/>
          </a:xfrm>
        </p:grpSpPr>
        <p:sp>
          <p:nvSpPr>
            <p:cNvPr id="84" name="Oval 83">
              <a:extLst>
                <a:ext uri="{FF2B5EF4-FFF2-40B4-BE49-F238E27FC236}">
                  <a16:creationId xmlns:a16="http://schemas.microsoft.com/office/drawing/2014/main" id="{00DC2391-02D3-18F9-EBE5-3387DA16BC78}"/>
                </a:ext>
              </a:extLst>
            </p:cNvPr>
            <p:cNvSpPr/>
            <p:nvPr/>
          </p:nvSpPr>
          <p:spPr>
            <a:xfrm>
              <a:off x="8131190" y="278022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5" name="Oval 84">
              <a:extLst>
                <a:ext uri="{FF2B5EF4-FFF2-40B4-BE49-F238E27FC236}">
                  <a16:creationId xmlns:a16="http://schemas.microsoft.com/office/drawing/2014/main" id="{3362B100-5430-B81C-9FDB-D371C5164218}"/>
                </a:ext>
              </a:extLst>
            </p:cNvPr>
            <p:cNvSpPr/>
            <p:nvPr/>
          </p:nvSpPr>
          <p:spPr>
            <a:xfrm>
              <a:off x="9281378" y="277585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86" name="Straight Arrow Connector 85">
              <a:extLst>
                <a:ext uri="{FF2B5EF4-FFF2-40B4-BE49-F238E27FC236}">
                  <a16:creationId xmlns:a16="http://schemas.microsoft.com/office/drawing/2014/main" id="{7268F774-F611-B88E-4F04-30F54A8C4A54}"/>
                </a:ext>
              </a:extLst>
            </p:cNvPr>
            <p:cNvCxnSpPr>
              <a:stCxn id="84" idx="6"/>
              <a:endCxn id="85" idx="2"/>
            </p:cNvCxnSpPr>
            <p:nvPr/>
          </p:nvCxnSpPr>
          <p:spPr>
            <a:xfrm flipV="1">
              <a:off x="8491190" y="2955850"/>
              <a:ext cx="790188" cy="4370"/>
            </a:xfrm>
            <a:prstGeom prst="straightConnector1">
              <a:avLst/>
            </a:prstGeom>
            <a:ln>
              <a:solidFill>
                <a:schemeClr val="tx1"/>
              </a:solidFill>
              <a:prstDash val="solid"/>
              <a:tailEnd type="triangle"/>
            </a:ln>
          </p:spPr>
          <p:style>
            <a:lnRef idx="2">
              <a:schemeClr val="dk1"/>
            </a:lnRef>
            <a:fillRef idx="0">
              <a:schemeClr val="dk1"/>
            </a:fillRef>
            <a:effectRef idx="1">
              <a:schemeClr val="dk1"/>
            </a:effectRef>
            <a:fontRef idx="minor">
              <a:schemeClr val="tx1"/>
            </a:fontRef>
          </p:style>
        </p:cxnSp>
        <p:sp>
          <p:nvSpPr>
            <p:cNvPr id="87" name="TextBox 86">
              <a:extLst>
                <a:ext uri="{FF2B5EF4-FFF2-40B4-BE49-F238E27FC236}">
                  <a16:creationId xmlns:a16="http://schemas.microsoft.com/office/drawing/2014/main" id="{CE299278-617B-3513-4ADB-8539CCAC4951}"/>
                </a:ext>
              </a:extLst>
            </p:cNvPr>
            <p:cNvSpPr txBox="1"/>
            <p:nvPr/>
          </p:nvSpPr>
          <p:spPr>
            <a:xfrm>
              <a:off x="6547127" y="2779327"/>
              <a:ext cx="1513876" cy="369332"/>
            </a:xfrm>
            <a:prstGeom prst="rect">
              <a:avLst/>
            </a:prstGeom>
            <a:noFill/>
          </p:spPr>
          <p:txBody>
            <a:bodyPr wrap="none" rtlCol="0">
              <a:spAutoFit/>
            </a:bodyPr>
            <a:lstStyle/>
            <a:p>
              <a:pPr algn="r"/>
              <a:r>
                <a:rPr lang="en-US" noProof="0" dirty="0">
                  <a:solidFill>
                    <a:srgbClr val="D0180A"/>
                  </a:solidFill>
                </a:rPr>
                <a:t>passive voice</a:t>
              </a:r>
            </a:p>
          </p:txBody>
        </p:sp>
        <p:sp>
          <p:nvSpPr>
            <p:cNvPr id="88" name="TextBox 87">
              <a:extLst>
                <a:ext uri="{FF2B5EF4-FFF2-40B4-BE49-F238E27FC236}">
                  <a16:creationId xmlns:a16="http://schemas.microsoft.com/office/drawing/2014/main" id="{C6A3E64E-90BF-9952-59DE-10031A110966}"/>
                </a:ext>
              </a:extLst>
            </p:cNvPr>
            <p:cNvSpPr txBox="1"/>
            <p:nvPr/>
          </p:nvSpPr>
          <p:spPr>
            <a:xfrm>
              <a:off x="9641378" y="2771184"/>
              <a:ext cx="2268121" cy="369332"/>
            </a:xfrm>
            <a:prstGeom prst="rect">
              <a:avLst/>
            </a:prstGeom>
            <a:noFill/>
          </p:spPr>
          <p:txBody>
            <a:bodyPr wrap="none" rtlCol="0">
              <a:spAutoFit/>
            </a:bodyPr>
            <a:lstStyle/>
            <a:p>
              <a:pPr algn="ctr"/>
              <a:r>
                <a:rPr lang="en-US" noProof="0" dirty="0">
                  <a:solidFill>
                    <a:srgbClr val="006D70"/>
                  </a:solidFill>
                </a:rPr>
                <a:t>missing associations</a:t>
              </a:r>
            </a:p>
          </p:txBody>
        </p:sp>
        <p:sp>
          <p:nvSpPr>
            <p:cNvPr id="89" name="Oval 88">
              <a:extLst>
                <a:ext uri="{FF2B5EF4-FFF2-40B4-BE49-F238E27FC236}">
                  <a16:creationId xmlns:a16="http://schemas.microsoft.com/office/drawing/2014/main" id="{4A2D507B-5704-DE97-44A7-4BB9E400C81A}"/>
                </a:ext>
              </a:extLst>
            </p:cNvPr>
            <p:cNvSpPr/>
            <p:nvPr/>
          </p:nvSpPr>
          <p:spPr>
            <a:xfrm>
              <a:off x="9281378" y="217054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0" name="TextBox 89">
              <a:extLst>
                <a:ext uri="{FF2B5EF4-FFF2-40B4-BE49-F238E27FC236}">
                  <a16:creationId xmlns:a16="http://schemas.microsoft.com/office/drawing/2014/main" id="{723E71BC-97C7-5D7B-0A79-6DF49B76DD5C}"/>
                </a:ext>
              </a:extLst>
            </p:cNvPr>
            <p:cNvSpPr txBox="1"/>
            <p:nvPr/>
          </p:nvSpPr>
          <p:spPr>
            <a:xfrm>
              <a:off x="9641378" y="2145007"/>
              <a:ext cx="1633589" cy="369332"/>
            </a:xfrm>
            <a:prstGeom prst="rect">
              <a:avLst/>
            </a:prstGeom>
            <a:noFill/>
          </p:spPr>
          <p:txBody>
            <a:bodyPr wrap="none" rtlCol="0">
              <a:spAutoFit/>
            </a:bodyPr>
            <a:lstStyle/>
            <a:p>
              <a:r>
                <a:rPr lang="en-US" noProof="0" dirty="0">
                  <a:solidFill>
                    <a:schemeClr val="tx1">
                      <a:lumMod val="65000"/>
                      <a:lumOff val="35000"/>
                    </a:schemeClr>
                  </a:solidFill>
                </a:rPr>
                <a:t>missing actors</a:t>
              </a:r>
            </a:p>
          </p:txBody>
        </p:sp>
        <p:cxnSp>
          <p:nvCxnSpPr>
            <p:cNvPr id="92" name="Straight Arrow Connector 91">
              <a:extLst>
                <a:ext uri="{FF2B5EF4-FFF2-40B4-BE49-F238E27FC236}">
                  <a16:creationId xmlns:a16="http://schemas.microsoft.com/office/drawing/2014/main" id="{033D36BA-B5DF-147F-F5B9-22C22E7764B0}"/>
                </a:ext>
              </a:extLst>
            </p:cNvPr>
            <p:cNvCxnSpPr>
              <a:cxnSpLocks/>
              <a:stCxn id="84" idx="7"/>
              <a:endCxn id="89" idx="2"/>
            </p:cNvCxnSpPr>
            <p:nvPr/>
          </p:nvCxnSpPr>
          <p:spPr>
            <a:xfrm flipV="1">
              <a:off x="8438469" y="2350548"/>
              <a:ext cx="842909" cy="482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3" name="Oval 92">
              <a:extLst>
                <a:ext uri="{FF2B5EF4-FFF2-40B4-BE49-F238E27FC236}">
                  <a16:creationId xmlns:a16="http://schemas.microsoft.com/office/drawing/2014/main" id="{2E07867A-DC23-2816-9490-B08584C54207}"/>
                </a:ext>
              </a:extLst>
            </p:cNvPr>
            <p:cNvSpPr/>
            <p:nvPr/>
          </p:nvSpPr>
          <p:spPr>
            <a:xfrm>
              <a:off x="9286614" y="3381152"/>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4" name="TextBox 93">
              <a:extLst>
                <a:ext uri="{FF2B5EF4-FFF2-40B4-BE49-F238E27FC236}">
                  <a16:creationId xmlns:a16="http://schemas.microsoft.com/office/drawing/2014/main" id="{F91B551E-6205-6A3B-14BB-E9A79F23B882}"/>
                </a:ext>
              </a:extLst>
            </p:cNvPr>
            <p:cNvSpPr txBox="1"/>
            <p:nvPr/>
          </p:nvSpPr>
          <p:spPr>
            <a:xfrm>
              <a:off x="9641377" y="3371820"/>
              <a:ext cx="1741887" cy="369332"/>
            </a:xfrm>
            <a:prstGeom prst="rect">
              <a:avLst/>
            </a:prstGeom>
            <a:noFill/>
          </p:spPr>
          <p:txBody>
            <a:bodyPr wrap="none" rtlCol="0">
              <a:spAutoFit/>
            </a:bodyPr>
            <a:lstStyle/>
            <a:p>
              <a:r>
                <a:rPr lang="en-US" noProof="0" dirty="0">
                  <a:solidFill>
                    <a:schemeClr val="tx1">
                      <a:lumMod val="65000"/>
                      <a:lumOff val="35000"/>
                    </a:schemeClr>
                  </a:solidFill>
                </a:rPr>
                <a:t>missing objects</a:t>
              </a:r>
            </a:p>
          </p:txBody>
        </p:sp>
        <p:cxnSp>
          <p:nvCxnSpPr>
            <p:cNvPr id="95" name="Straight Arrow Connector 94">
              <a:extLst>
                <a:ext uri="{FF2B5EF4-FFF2-40B4-BE49-F238E27FC236}">
                  <a16:creationId xmlns:a16="http://schemas.microsoft.com/office/drawing/2014/main" id="{4165EECE-8654-C18E-233A-139F344CA37D}"/>
                </a:ext>
              </a:extLst>
            </p:cNvPr>
            <p:cNvCxnSpPr>
              <a:cxnSpLocks/>
              <a:stCxn id="84" idx="5"/>
              <a:endCxn id="93" idx="2"/>
            </p:cNvCxnSpPr>
            <p:nvPr/>
          </p:nvCxnSpPr>
          <p:spPr>
            <a:xfrm>
              <a:off x="8438469" y="3087499"/>
              <a:ext cx="848145" cy="473653"/>
            </a:xfrm>
            <a:prstGeom prst="straightConnector1">
              <a:avLst/>
            </a:prstGeom>
            <a:ln>
              <a:solidFill>
                <a:schemeClr val="tx1"/>
              </a:solidFill>
              <a:prstDash val="solid"/>
              <a:tailEnd type="triangle"/>
            </a:ln>
          </p:spPr>
          <p:style>
            <a:lnRef idx="2">
              <a:schemeClr val="dk1"/>
            </a:lnRef>
            <a:fillRef idx="0">
              <a:schemeClr val="dk1"/>
            </a:fillRef>
            <a:effectRef idx="1">
              <a:schemeClr val="dk1"/>
            </a:effectRef>
            <a:fontRef idx="minor">
              <a:schemeClr val="tx1"/>
            </a:fontRef>
          </p:style>
        </p:cxnSp>
      </p:grpSp>
      <p:pic>
        <p:nvPicPr>
          <p:cNvPr id="98" name="Picture 97">
            <a:extLst>
              <a:ext uri="{FF2B5EF4-FFF2-40B4-BE49-F238E27FC236}">
                <a16:creationId xmlns:a16="http://schemas.microsoft.com/office/drawing/2014/main" id="{D2DE99FD-1762-C0AA-8459-1498DF2CF58A}"/>
              </a:ext>
            </a:extLst>
          </p:cNvPr>
          <p:cNvPicPr>
            <a:picLocks noChangeAspect="1"/>
          </p:cNvPicPr>
          <p:nvPr/>
        </p:nvPicPr>
        <p:blipFill>
          <a:blip r:embed="rId5"/>
          <a:stretch>
            <a:fillRect/>
          </a:stretch>
        </p:blipFill>
        <p:spPr>
          <a:xfrm>
            <a:off x="5069133" y="3854900"/>
            <a:ext cx="3833192" cy="1790855"/>
          </a:xfrm>
          <a:prstGeom prst="rect">
            <a:avLst/>
          </a:prstGeom>
        </p:spPr>
      </p:pic>
      <p:pic>
        <p:nvPicPr>
          <p:cNvPr id="100" name="Picture 99">
            <a:extLst>
              <a:ext uri="{FF2B5EF4-FFF2-40B4-BE49-F238E27FC236}">
                <a16:creationId xmlns:a16="http://schemas.microsoft.com/office/drawing/2014/main" id="{137AF01C-D726-AAB4-A90D-D3016565D0B7}"/>
              </a:ext>
            </a:extLst>
          </p:cNvPr>
          <p:cNvPicPr>
            <a:picLocks noChangeAspect="1"/>
          </p:cNvPicPr>
          <p:nvPr/>
        </p:nvPicPr>
        <p:blipFill>
          <a:blip r:embed="rId6"/>
          <a:stretch>
            <a:fillRect/>
          </a:stretch>
        </p:blipFill>
        <p:spPr>
          <a:xfrm>
            <a:off x="8783429" y="3861376"/>
            <a:ext cx="3327417" cy="1837340"/>
          </a:xfrm>
          <a:prstGeom prst="rect">
            <a:avLst/>
          </a:prstGeom>
        </p:spPr>
      </p:pic>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08CCF7E3-9BF9-D019-B80B-20A129149FB8}"/>
                  </a:ext>
                </a:extLst>
              </p:cNvPr>
              <p:cNvSpPr txBox="1"/>
              <p:nvPr/>
            </p:nvSpPr>
            <p:spPr>
              <a:xfrm>
                <a:off x="806923" y="4154311"/>
                <a:ext cx="3823611" cy="923330"/>
              </a:xfrm>
              <a:prstGeom prst="rect">
                <a:avLst/>
              </a:prstGeom>
              <a:noFill/>
            </p:spPr>
            <p:txBody>
              <a:bodyPr wrap="none" rtlCol="0">
                <a:spAutoFit/>
              </a:bodyPr>
              <a:lstStyle/>
              <a:p>
                <a:r>
                  <a:rPr lang="en-US" noProof="0" dirty="0"/>
                  <a:t>Mann-Whitney test:</a:t>
                </a:r>
              </a:p>
              <a:p>
                <a:r>
                  <a:rPr lang="en-US" noProof="0" dirty="0">
                    <a:solidFill>
                      <a:srgbClr val="D0180A"/>
                    </a:solidFill>
                  </a:rPr>
                  <a:t>passive voice </a:t>
                </a:r>
                <a:r>
                  <a:rPr lang="en-US" noProof="0" dirty="0"/>
                  <a:t>→ </a:t>
                </a:r>
                <a:r>
                  <a:rPr lang="en-US" noProof="0" dirty="0">
                    <a:solidFill>
                      <a:srgbClr val="006D70"/>
                    </a:solidFill>
                  </a:rPr>
                  <a:t>missing associations</a:t>
                </a:r>
              </a:p>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𝑝</m:t>
                      </m:r>
                      <m:r>
                        <a:rPr lang="en-US" i="1" noProof="0" smtClean="0">
                          <a:latin typeface="Cambria Math" panose="02040503050406030204" pitchFamily="18" charset="0"/>
                        </a:rPr>
                        <m:t> = 0.03 &lt;</m:t>
                      </m:r>
                      <m:r>
                        <a:rPr lang="en-US" b="0" i="1" noProof="0" smtClean="0">
                          <a:latin typeface="Cambria Math" panose="02040503050406030204" pitchFamily="18" charset="0"/>
                        </a:rPr>
                        <m:t>0.05=</m:t>
                      </m:r>
                      <m:r>
                        <a:rPr lang="en-US" b="0" i="1" noProof="0" smtClean="0">
                          <a:latin typeface="Cambria Math" panose="02040503050406030204" pitchFamily="18" charset="0"/>
                        </a:rPr>
                        <m:t>𝛼</m:t>
                      </m:r>
                    </m:oMath>
                  </m:oMathPara>
                </a14:m>
                <a:endParaRPr lang="en-US" noProof="0" dirty="0"/>
              </a:p>
            </p:txBody>
          </p:sp>
        </mc:Choice>
        <mc:Fallback xmlns="">
          <p:sp>
            <p:nvSpPr>
              <p:cNvPr id="101" name="TextBox 100">
                <a:extLst>
                  <a:ext uri="{FF2B5EF4-FFF2-40B4-BE49-F238E27FC236}">
                    <a16:creationId xmlns:a16="http://schemas.microsoft.com/office/drawing/2014/main" id="{08CCF7E3-9BF9-D019-B80B-20A129149FB8}"/>
                  </a:ext>
                </a:extLst>
              </p:cNvPr>
              <p:cNvSpPr txBox="1">
                <a:spLocks noRot="1" noChangeAspect="1" noMove="1" noResize="1" noEditPoints="1" noAdjustHandles="1" noChangeArrowheads="1" noChangeShapeType="1" noTextEdit="1"/>
              </p:cNvSpPr>
              <p:nvPr/>
            </p:nvSpPr>
            <p:spPr>
              <a:xfrm>
                <a:off x="806923" y="4154311"/>
                <a:ext cx="3823611" cy="923330"/>
              </a:xfrm>
              <a:prstGeom prst="rect">
                <a:avLst/>
              </a:prstGeom>
              <a:blipFill>
                <a:blip r:embed="rId7"/>
                <a:stretch>
                  <a:fillRect l="-1274" t="-2632" r="-637" b="-1974"/>
                </a:stretch>
              </a:blipFill>
            </p:spPr>
            <p:txBody>
              <a:bodyPr/>
              <a:lstStyle/>
              <a:p>
                <a:r>
                  <a:rPr lang="en-SE">
                    <a:noFill/>
                  </a:rPr>
                  <a:t> </a:t>
                </a:r>
              </a:p>
            </p:txBody>
          </p:sp>
        </mc:Fallback>
      </mc:AlternateContent>
    </p:spTree>
    <p:extLst>
      <p:ext uri="{BB962C8B-B14F-4D97-AF65-F5344CB8AC3E}">
        <p14:creationId xmlns:p14="http://schemas.microsoft.com/office/powerpoint/2010/main" val="347339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55" grpId="0"/>
      <p:bldP spid="57" grpId="0"/>
      <p:bldP spid="59" grpId="0"/>
      <p:bldP spid="61" grpId="0"/>
      <p:bldP spid="10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11C01-89BD-E7B9-75D5-5B06431841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523C338-DA81-BDEE-F4A4-9EFDD1FADD00}"/>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0CDE1F96-C813-C2D0-1BB6-18F629A4EE7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FF830CB6-0EE4-6848-1FEB-88BE6262BC6D}"/>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53FBD1F6-3707-7533-3CF8-00EFB73EB26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AD39BF5-066E-F2C2-4973-BDEA1DB88B68}"/>
              </a:ext>
            </a:extLst>
          </p:cNvPr>
          <p:cNvSpPr>
            <a:spLocks noGrp="1"/>
          </p:cNvSpPr>
          <p:nvPr>
            <p:ph type="sldNum" sz="quarter" idx="12"/>
          </p:nvPr>
        </p:nvSpPr>
        <p:spPr/>
        <p:txBody>
          <a:bodyPr/>
          <a:lstStyle/>
          <a:p>
            <a:fld id="{0FA2D919-C0DE-4971-A2E9-D4AC0031921B}" type="slidenum">
              <a:rPr lang="en-US" noProof="0" smtClean="0"/>
              <a:t>40</a:t>
            </a:fld>
            <a:endParaRPr lang="en-US" noProof="0" dirty="0"/>
          </a:p>
        </p:txBody>
      </p:sp>
      <p:grpSp>
        <p:nvGrpSpPr>
          <p:cNvPr id="41" name="Group 40">
            <a:extLst>
              <a:ext uri="{FF2B5EF4-FFF2-40B4-BE49-F238E27FC236}">
                <a16:creationId xmlns:a16="http://schemas.microsoft.com/office/drawing/2014/main" id="{05D28B90-C261-2082-7568-0B4621FB0A78}"/>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5942AB1B-89DD-5C5D-C7AB-67580ACB627F}"/>
                </a:ext>
              </a:extLst>
            </p:cNvPr>
            <p:cNvSpPr/>
            <p:nvPr/>
          </p:nvSpPr>
          <p:spPr>
            <a:xfrm>
              <a:off x="3313786" y="3686861"/>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03A78939-2184-598E-EE37-578875DFF3F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C630FAEF-9468-1B0B-9A91-D8570D00177B}"/>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F33F07F0-7EDD-D3C5-6408-43591C20CC5E}"/>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3ACA5F9D-5BF3-C32D-4F24-B66C7C6682D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0CE5B8F8-80CB-4175-DE8D-DBF32F6AC287}"/>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0AD9F68D-6EBC-323B-F00F-A91DEAC2BE00}"/>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E6A4972B-385A-3A2C-ADCF-E88C0C4F940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42FB560A-70EF-46F4-0149-22C0CE5D789B}"/>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5329F5C5-5860-EB57-88F3-AC83D3F78F3D}"/>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0F0E3FB7-2BC2-03CE-38BE-8C7F339FE8D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D7BE40BA-EAB4-A687-74AC-FFADD42885B1}"/>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B130708B-9DD0-31F1-65DF-196F4B50A17E}"/>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BE13B18A-4D91-FD9B-764C-92A0DACC1FF9}"/>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119C8D2D-444F-C2BA-B329-A0E4C98B4516}"/>
              </a:ext>
            </a:extLst>
          </p:cNvPr>
          <p:cNvCxnSpPr>
            <a:cxnSpLocks/>
            <a:stCxn id="17" idx="3"/>
            <a:endCxn id="18" idx="1"/>
          </p:cNvCxnSpPr>
          <p:nvPr/>
        </p:nvCxnSpPr>
        <p:spPr>
          <a:xfrm>
            <a:off x="4491656" y="4106826"/>
            <a:ext cx="3286599" cy="0"/>
          </a:xfrm>
          <a:prstGeom prst="straightConnector1">
            <a:avLst/>
          </a:prstGeom>
          <a:ln w="28575">
            <a:prstDash val="sysDash"/>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7D1F7776-1A18-C88D-8A55-1719A04B19CA}"/>
              </a:ext>
            </a:extLst>
          </p:cNvPr>
          <p:cNvSpPr txBox="1"/>
          <p:nvPr/>
        </p:nvSpPr>
        <p:spPr>
          <a:xfrm>
            <a:off x="3660712" y="3168412"/>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15" name="TextBox 14">
            <a:extLst>
              <a:ext uri="{FF2B5EF4-FFF2-40B4-BE49-F238E27FC236}">
                <a16:creationId xmlns:a16="http://schemas.microsoft.com/office/drawing/2014/main" id="{A92DE9DF-2336-7932-E334-AA2D93C83D42}"/>
              </a:ext>
            </a:extLst>
          </p:cNvPr>
          <p:cNvSpPr txBox="1"/>
          <p:nvPr/>
        </p:nvSpPr>
        <p:spPr>
          <a:xfrm>
            <a:off x="7401051" y="3162735"/>
            <a:ext cx="2194640" cy="369332"/>
          </a:xfrm>
          <a:prstGeom prst="rect">
            <a:avLst/>
          </a:prstGeom>
          <a:noFill/>
        </p:spPr>
        <p:txBody>
          <a:bodyPr wrap="none" rtlCol="0">
            <a:spAutoFit/>
          </a:bodyPr>
          <a:lstStyle/>
          <a:p>
            <a:r>
              <a:rPr lang="en-US" noProof="0" dirty="0">
                <a:solidFill>
                  <a:srgbClr val="006D70"/>
                </a:solidFill>
              </a:rPr>
              <a:t>specification quality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74FDD8F-DD4D-1FDD-1173-E8B983E59665}"/>
                  </a:ext>
                </a:extLst>
              </p:cNvPr>
              <p:cNvSpPr txBox="1"/>
              <p:nvPr/>
            </p:nvSpPr>
            <p:spPr>
              <a:xfrm>
                <a:off x="4922098" y="4166628"/>
                <a:ext cx="2425714" cy="523220"/>
              </a:xfrm>
              <a:prstGeom prst="rect">
                <a:avLst/>
              </a:prstGeom>
              <a:noFill/>
            </p:spPr>
            <p:txBody>
              <a:bodyPr wrap="square">
                <a:spAutoFit/>
              </a:bodyPr>
              <a:lstStyle/>
              <a:p>
                <a14:m>
                  <m:oMath xmlns:m="http://schemas.openxmlformats.org/officeDocument/2006/math">
                    <m:r>
                      <a:rPr lang="en-US" sz="1400" b="0" i="1" noProof="0" smtClean="0">
                        <a:latin typeface="Cambria Math" panose="02040503050406030204" pitchFamily="18" charset="0"/>
                      </a:rPr>
                      <m:t>0</m:t>
                    </m:r>
                  </m:oMath>
                </a14:m>
                <a:r>
                  <a:rPr lang="en-US" sz="1400" noProof="0" dirty="0"/>
                  <a:t>: the specification size does not affect its quality</a:t>
                </a:r>
              </a:p>
            </p:txBody>
          </p:sp>
        </mc:Choice>
        <mc:Fallback xmlns="">
          <p:sp>
            <p:nvSpPr>
              <p:cNvPr id="16" name="TextBox 15">
                <a:extLst>
                  <a:ext uri="{FF2B5EF4-FFF2-40B4-BE49-F238E27FC236}">
                    <a16:creationId xmlns:a16="http://schemas.microsoft.com/office/drawing/2014/main" id="{874FDD8F-DD4D-1FDD-1173-E8B983E59665}"/>
                  </a:ext>
                </a:extLst>
              </p:cNvPr>
              <p:cNvSpPr txBox="1">
                <a:spLocks noRot="1" noChangeAspect="1" noMove="1" noResize="1" noEditPoints="1" noAdjustHandles="1" noChangeArrowheads="1" noChangeShapeType="1" noTextEdit="1"/>
              </p:cNvSpPr>
              <p:nvPr/>
            </p:nvSpPr>
            <p:spPr>
              <a:xfrm>
                <a:off x="4922098" y="4166628"/>
                <a:ext cx="2425714" cy="523220"/>
              </a:xfrm>
              <a:prstGeom prst="rect">
                <a:avLst/>
              </a:prstGeom>
              <a:blipFill>
                <a:blip r:embed="rId8"/>
                <a:stretch>
                  <a:fillRect l="-754" t="-2353" r="-1005" b="-11765"/>
                </a:stretch>
              </a:blipFill>
            </p:spPr>
            <p:txBody>
              <a:bodyPr/>
              <a:lstStyle/>
              <a:p>
                <a:r>
                  <a:rPr lang="en-SE">
                    <a:noFill/>
                  </a:rPr>
                  <a:t> </a:t>
                </a:r>
              </a:p>
            </p:txBody>
          </p:sp>
        </mc:Fallback>
      </mc:AlternateContent>
      <p:sp>
        <p:nvSpPr>
          <p:cNvPr id="17" name="Rectangle: Rounded Corners 16">
            <a:extLst>
              <a:ext uri="{FF2B5EF4-FFF2-40B4-BE49-F238E27FC236}">
                <a16:creationId xmlns:a16="http://schemas.microsoft.com/office/drawing/2014/main" id="{E6C50474-6BB3-E3EE-349B-B3ABF6F13F9E}"/>
              </a:ext>
            </a:extLst>
          </p:cNvPr>
          <p:cNvSpPr/>
          <p:nvPr/>
        </p:nvSpPr>
        <p:spPr>
          <a:xfrm>
            <a:off x="4131656" y="3926826"/>
            <a:ext cx="360000" cy="360000"/>
          </a:xfrm>
          <a:prstGeom prst="roundRect">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Rounded Corners 17">
            <a:extLst>
              <a:ext uri="{FF2B5EF4-FFF2-40B4-BE49-F238E27FC236}">
                <a16:creationId xmlns:a16="http://schemas.microsoft.com/office/drawing/2014/main" id="{FD2C2B6F-81E5-F7FB-5E5A-30EFB2ADBCF5}"/>
              </a:ext>
            </a:extLst>
          </p:cNvPr>
          <p:cNvSpPr/>
          <p:nvPr/>
        </p:nvSpPr>
        <p:spPr>
          <a:xfrm>
            <a:off x="7778255" y="3926826"/>
            <a:ext cx="360000" cy="360000"/>
          </a:xfrm>
          <a:prstGeom prst="roundRect">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Rectangle: Rounded Corners 62">
            <a:extLst>
              <a:ext uri="{FF2B5EF4-FFF2-40B4-BE49-F238E27FC236}">
                <a16:creationId xmlns:a16="http://schemas.microsoft.com/office/drawing/2014/main" id="{92F703E1-F5B7-38A3-9F2E-D1A1A32A9B60}"/>
              </a:ext>
            </a:extLst>
          </p:cNvPr>
          <p:cNvSpPr/>
          <p:nvPr/>
        </p:nvSpPr>
        <p:spPr>
          <a:xfrm>
            <a:off x="5954955" y="5166166"/>
            <a:ext cx="360000" cy="360000"/>
          </a:xfrm>
          <a:prstGeom prst="round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4" name="Straight Arrow Connector 63">
            <a:extLst>
              <a:ext uri="{FF2B5EF4-FFF2-40B4-BE49-F238E27FC236}">
                <a16:creationId xmlns:a16="http://schemas.microsoft.com/office/drawing/2014/main" id="{C96DDE53-818B-5E9A-5A0D-2041712831E9}"/>
              </a:ext>
            </a:extLst>
          </p:cNvPr>
          <p:cNvCxnSpPr>
            <a:cxnSpLocks/>
            <a:stCxn id="17" idx="2"/>
            <a:endCxn id="63" idx="1"/>
          </p:cNvCxnSpPr>
          <p:nvPr/>
        </p:nvCxnSpPr>
        <p:spPr>
          <a:xfrm>
            <a:off x="4311656" y="4286826"/>
            <a:ext cx="1643299"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B32D83B3-6883-2DBC-D14D-0E5F9BF66474}"/>
              </a:ext>
            </a:extLst>
          </p:cNvPr>
          <p:cNvCxnSpPr>
            <a:cxnSpLocks/>
            <a:stCxn id="18" idx="2"/>
            <a:endCxn id="63" idx="3"/>
          </p:cNvCxnSpPr>
          <p:nvPr/>
        </p:nvCxnSpPr>
        <p:spPr>
          <a:xfrm flipH="1">
            <a:off x="6314955" y="4286826"/>
            <a:ext cx="1643300" cy="105934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72" name="TextBox 71">
            <a:extLst>
              <a:ext uri="{FF2B5EF4-FFF2-40B4-BE49-F238E27FC236}">
                <a16:creationId xmlns:a16="http://schemas.microsoft.com/office/drawing/2014/main" id="{B785E1F2-5AD3-114B-2B59-E759796E56BC}"/>
              </a:ext>
            </a:extLst>
          </p:cNvPr>
          <p:cNvSpPr txBox="1"/>
          <p:nvPr/>
        </p:nvSpPr>
        <p:spPr>
          <a:xfrm>
            <a:off x="5594155" y="5600357"/>
            <a:ext cx="4497513" cy="369332"/>
          </a:xfrm>
          <a:prstGeom prst="rect">
            <a:avLst/>
          </a:prstGeom>
          <a:noFill/>
        </p:spPr>
        <p:txBody>
          <a:bodyPr wrap="none" rtlCol="0">
            <a:spAutoFit/>
          </a:bodyPr>
          <a:lstStyle/>
          <a:p>
            <a:r>
              <a:rPr lang="en-US" noProof="0" dirty="0">
                <a:solidFill>
                  <a:schemeClr val="bg1">
                    <a:lumMod val="50000"/>
                  </a:schemeClr>
                </a:solidFill>
              </a:rPr>
              <a:t>feature success (0 = rejected, 1 = approved)</a:t>
            </a:r>
          </a:p>
        </p:txBody>
      </p:sp>
      <p:sp>
        <p:nvSpPr>
          <p:cNvPr id="73" name="TextBox 72">
            <a:extLst>
              <a:ext uri="{FF2B5EF4-FFF2-40B4-BE49-F238E27FC236}">
                <a16:creationId xmlns:a16="http://schemas.microsoft.com/office/drawing/2014/main" id="{5BCA5CCB-4062-671E-F56C-EEBE5A9EE677}"/>
              </a:ext>
            </a:extLst>
          </p:cNvPr>
          <p:cNvSpPr txBox="1"/>
          <p:nvPr/>
        </p:nvSpPr>
        <p:spPr>
          <a:xfrm>
            <a:off x="2172764" y="4622171"/>
            <a:ext cx="2743201" cy="523220"/>
          </a:xfrm>
          <a:prstGeom prst="rect">
            <a:avLst/>
          </a:prstGeom>
          <a:noFill/>
        </p:spPr>
        <p:txBody>
          <a:bodyPr wrap="square">
            <a:spAutoFit/>
          </a:bodyPr>
          <a:lstStyle/>
          <a:p>
            <a:r>
              <a:rPr lang="en-US" sz="1400" noProof="0" dirty="0"/>
              <a:t>A feature is successful if it is very elaborately described ...</a:t>
            </a:r>
          </a:p>
        </p:txBody>
      </p:sp>
      <p:sp>
        <p:nvSpPr>
          <p:cNvPr id="74" name="TextBox 73">
            <a:extLst>
              <a:ext uri="{FF2B5EF4-FFF2-40B4-BE49-F238E27FC236}">
                <a16:creationId xmlns:a16="http://schemas.microsoft.com/office/drawing/2014/main" id="{03BAB81F-3B2D-F565-7A5C-48172ACD3682}"/>
              </a:ext>
            </a:extLst>
          </p:cNvPr>
          <p:cNvSpPr txBox="1"/>
          <p:nvPr/>
        </p:nvSpPr>
        <p:spPr>
          <a:xfrm>
            <a:off x="7333701" y="4617782"/>
            <a:ext cx="1936005" cy="523220"/>
          </a:xfrm>
          <a:prstGeom prst="rect">
            <a:avLst/>
          </a:prstGeom>
          <a:noFill/>
        </p:spPr>
        <p:txBody>
          <a:bodyPr wrap="square">
            <a:spAutoFit/>
          </a:bodyPr>
          <a:lstStyle/>
          <a:p>
            <a:r>
              <a:rPr lang="en-US" sz="1400" noProof="0" dirty="0"/>
              <a:t>... or its description is high-quality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2A7BB0-3F7D-A4C4-886D-0E3B146E6B3B}"/>
                  </a:ext>
                </a:extLst>
              </p:cNvPr>
              <p:cNvSpPr txBox="1"/>
              <p:nvPr/>
            </p:nvSpPr>
            <p:spPr>
              <a:xfrm>
                <a:off x="3688312" y="3489019"/>
                <a:ext cx="1905843"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D0180A"/>
                          </a:solidFill>
                          <a:latin typeface="Cambria Math" panose="02040503050406030204" pitchFamily="18" charset="0"/>
                        </a:rPr>
                        <m:t>~ </m:t>
                      </m:r>
                      <m:r>
                        <a:rPr lang="en-US" b="0" i="1" noProof="0" smtClean="0">
                          <a:solidFill>
                            <a:srgbClr val="D0180A"/>
                          </a:solidFill>
                          <a:latin typeface="Cambria Math" panose="02040503050406030204" pitchFamily="18" charset="0"/>
                        </a:rPr>
                        <m:t>𝑁</m:t>
                      </m:r>
                      <m:r>
                        <a:rPr lang="en-US" b="0" i="1" noProof="0" smtClean="0">
                          <a:solidFill>
                            <a:srgbClr val="D0180A"/>
                          </a:solidFill>
                          <a:latin typeface="Cambria Math" panose="02040503050406030204" pitchFamily="18" charset="0"/>
                        </a:rPr>
                        <m:t>(0, 1)</m:t>
                      </m:r>
                    </m:oMath>
                  </m:oMathPara>
                </a14:m>
                <a:endParaRPr lang="en-US" noProof="0" dirty="0"/>
              </a:p>
            </p:txBody>
          </p:sp>
        </mc:Choice>
        <mc:Fallback xmlns="">
          <p:sp>
            <p:nvSpPr>
              <p:cNvPr id="3" name="TextBox 2">
                <a:extLst>
                  <a:ext uri="{FF2B5EF4-FFF2-40B4-BE49-F238E27FC236}">
                    <a16:creationId xmlns:a16="http://schemas.microsoft.com/office/drawing/2014/main" id="{482A7BB0-3F7D-A4C4-886D-0E3B146E6B3B}"/>
                  </a:ext>
                </a:extLst>
              </p:cNvPr>
              <p:cNvSpPr txBox="1">
                <a:spLocks noRot="1" noChangeAspect="1" noMove="1" noResize="1" noEditPoints="1" noAdjustHandles="1" noChangeArrowheads="1" noChangeShapeType="1" noTextEdit="1"/>
              </p:cNvSpPr>
              <p:nvPr/>
            </p:nvSpPr>
            <p:spPr>
              <a:xfrm>
                <a:off x="3688312" y="3489019"/>
                <a:ext cx="1905843" cy="369332"/>
              </a:xfrm>
              <a:prstGeom prst="rect">
                <a:avLst/>
              </a:prstGeom>
              <a:blipFill>
                <a:blip r:embed="rId9"/>
                <a:stretch>
                  <a:fillRect b="-1311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FFAD873-6739-DD65-7458-AA44E46B8330}"/>
                  </a:ext>
                </a:extLst>
              </p:cNvPr>
              <p:cNvSpPr txBox="1"/>
              <p:nvPr/>
            </p:nvSpPr>
            <p:spPr>
              <a:xfrm>
                <a:off x="7373451" y="3492729"/>
                <a:ext cx="1359127"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noProof="0" smtClean="0">
                          <a:solidFill>
                            <a:srgbClr val="006D70"/>
                          </a:solidFill>
                          <a:latin typeface="Cambria Math" panose="02040503050406030204" pitchFamily="18" charset="0"/>
                        </a:rPr>
                        <m:t>~ </m:t>
                      </m:r>
                      <m:r>
                        <a:rPr lang="en-US" b="0" i="1" noProof="0" smtClean="0">
                          <a:solidFill>
                            <a:srgbClr val="006D70"/>
                          </a:solidFill>
                          <a:latin typeface="Cambria Math" panose="02040503050406030204" pitchFamily="18" charset="0"/>
                        </a:rPr>
                        <m:t>𝑁</m:t>
                      </m:r>
                      <m:r>
                        <a:rPr lang="en-US" b="0" i="1" noProof="0" smtClean="0">
                          <a:solidFill>
                            <a:srgbClr val="006D70"/>
                          </a:solidFill>
                          <a:latin typeface="Cambria Math" panose="02040503050406030204" pitchFamily="18" charset="0"/>
                        </a:rPr>
                        <m:t>(0, 1)</m:t>
                      </m:r>
                    </m:oMath>
                  </m:oMathPara>
                </a14:m>
                <a:endParaRPr lang="en-US" noProof="0" dirty="0"/>
              </a:p>
            </p:txBody>
          </p:sp>
        </mc:Choice>
        <mc:Fallback xmlns="">
          <p:sp>
            <p:nvSpPr>
              <p:cNvPr id="10" name="TextBox 9">
                <a:extLst>
                  <a:ext uri="{FF2B5EF4-FFF2-40B4-BE49-F238E27FC236}">
                    <a16:creationId xmlns:a16="http://schemas.microsoft.com/office/drawing/2014/main" id="{CFFAD873-6739-DD65-7458-AA44E46B8330}"/>
                  </a:ext>
                </a:extLst>
              </p:cNvPr>
              <p:cNvSpPr txBox="1">
                <a:spLocks noRot="1" noChangeAspect="1" noMove="1" noResize="1" noEditPoints="1" noAdjustHandles="1" noChangeArrowheads="1" noChangeShapeType="1" noTextEdit="1"/>
              </p:cNvSpPr>
              <p:nvPr/>
            </p:nvSpPr>
            <p:spPr>
              <a:xfrm>
                <a:off x="7373451" y="3492729"/>
                <a:ext cx="1359127" cy="369332"/>
              </a:xfrm>
              <a:prstGeom prst="rect">
                <a:avLst/>
              </a:prstGeom>
              <a:blipFill>
                <a:blip r:embed="rId10"/>
                <a:stretch>
                  <a:fillRect b="-1147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3AF9D8-9CDD-587B-62F5-77004DFD46EB}"/>
                  </a:ext>
                </a:extLst>
              </p:cNvPr>
              <p:cNvSpPr txBox="1"/>
              <p:nvPr/>
            </p:nvSpPr>
            <p:spPr>
              <a:xfrm>
                <a:off x="5636586" y="5939122"/>
                <a:ext cx="297401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0" noProof="0" smtClean="0">
                          <a:solidFill>
                            <a:schemeClr val="bg1">
                              <a:lumMod val="50000"/>
                            </a:schemeClr>
                          </a:solidFill>
                          <a:latin typeface="Cambria Math" panose="02040503050406030204" pitchFamily="18" charset="0"/>
                        </a:rPr>
                        <m:t>~ </m:t>
                      </m:r>
                      <m:d>
                        <m:dPr>
                          <m:ctrlPr>
                            <a:rPr lang="en-US" b="0" i="1" noProof="0" smtClean="0">
                              <a:solidFill>
                                <a:schemeClr val="bg1">
                                  <a:lumMod val="50000"/>
                                </a:schemeClr>
                              </a:solidFill>
                              <a:latin typeface="Cambria Math" panose="02040503050406030204" pitchFamily="18" charset="0"/>
                            </a:rPr>
                          </m:ctrlPr>
                        </m:dPr>
                        <m:e>
                          <m:r>
                            <a:rPr lang="en-US" b="0" i="1" noProof="0" smtClean="0">
                              <a:solidFill>
                                <a:srgbClr val="C00000"/>
                              </a:solidFill>
                              <a:latin typeface="Cambria Math" panose="02040503050406030204" pitchFamily="18" charset="0"/>
                            </a:rPr>
                            <m:t>𝑠𝑖𝑧𝑒</m:t>
                          </m:r>
                          <m:r>
                            <a:rPr lang="en-US" b="0" i="1" noProof="0" smtClean="0">
                              <a:solidFill>
                                <a:schemeClr val="bg1">
                                  <a:lumMod val="50000"/>
                                </a:schemeClr>
                              </a:solidFill>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solidFill>
                                <a:schemeClr val="bg1">
                                  <a:lumMod val="50000"/>
                                </a:schemeClr>
                              </a:solidFill>
                              <a:latin typeface="Cambria Math" panose="02040503050406030204" pitchFamily="18" charset="0"/>
                            </a:rPr>
                            <m:t>&gt;0.7</m:t>
                          </m:r>
                        </m:e>
                      </m:d>
                    </m:oMath>
                  </m:oMathPara>
                </a14:m>
                <a:endParaRPr lang="en-US" noProof="0" dirty="0"/>
              </a:p>
            </p:txBody>
          </p:sp>
        </mc:Choice>
        <mc:Fallback xmlns="">
          <p:sp>
            <p:nvSpPr>
              <p:cNvPr id="12" name="TextBox 11">
                <a:extLst>
                  <a:ext uri="{FF2B5EF4-FFF2-40B4-BE49-F238E27FC236}">
                    <a16:creationId xmlns:a16="http://schemas.microsoft.com/office/drawing/2014/main" id="{EB3AF9D8-9CDD-587B-62F5-77004DFD46EB}"/>
                  </a:ext>
                </a:extLst>
              </p:cNvPr>
              <p:cNvSpPr txBox="1">
                <a:spLocks noRot="1" noChangeAspect="1" noMove="1" noResize="1" noEditPoints="1" noAdjustHandles="1" noChangeArrowheads="1" noChangeShapeType="1" noTextEdit="1"/>
              </p:cNvSpPr>
              <p:nvPr/>
            </p:nvSpPr>
            <p:spPr>
              <a:xfrm>
                <a:off x="5636586" y="5939122"/>
                <a:ext cx="2974014" cy="369332"/>
              </a:xfrm>
              <a:prstGeom prst="rect">
                <a:avLst/>
              </a:prstGeom>
              <a:blipFill>
                <a:blip r:embed="rId11"/>
                <a:stretch>
                  <a:fillRect b="-13115"/>
                </a:stretch>
              </a:blipFill>
            </p:spPr>
            <p:txBody>
              <a:bodyPr/>
              <a:lstStyle/>
              <a:p>
                <a:r>
                  <a:rPr lang="en-SE">
                    <a:noFill/>
                  </a:rPr>
                  <a:t> </a:t>
                </a:r>
              </a:p>
            </p:txBody>
          </p:sp>
        </mc:Fallback>
      </mc:AlternateContent>
    </p:spTree>
    <p:extLst>
      <p:ext uri="{BB962C8B-B14F-4D97-AF65-F5344CB8AC3E}">
        <p14:creationId xmlns:p14="http://schemas.microsoft.com/office/powerpoint/2010/main" val="266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4" grpId="0"/>
      <p:bldP spid="15" grpId="0"/>
      <p:bldP spid="16" grpId="0"/>
      <p:bldP spid="17" grpId="0" animBg="1"/>
      <p:bldP spid="18" grpId="0" animBg="1"/>
      <p:bldP spid="63" grpId="0" animBg="1"/>
      <p:bldP spid="72" grpId="0"/>
      <p:bldP spid="73" grpId="0"/>
      <p:bldP spid="74" grpId="0"/>
      <p:bldP spid="3" grpId="0"/>
      <p:bldP spid="10" grpId="0"/>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58F9F-19B4-4DAB-7784-EB5BAB827F6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4900A-94DF-DCB0-C66E-5AC62E5FA2CC}"/>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E1A08D7F-BD29-22EF-40A1-6B8A7B407220}"/>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1B957326-8650-DD99-6D98-CF3EEA730776}"/>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0AB56ACE-8815-9C4E-5FC4-7721FDB22A3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FC87614-970F-DD6A-05B2-9C1D148127E9}"/>
              </a:ext>
            </a:extLst>
          </p:cNvPr>
          <p:cNvSpPr>
            <a:spLocks noGrp="1"/>
          </p:cNvSpPr>
          <p:nvPr>
            <p:ph type="sldNum" sz="quarter" idx="12"/>
          </p:nvPr>
        </p:nvSpPr>
        <p:spPr/>
        <p:txBody>
          <a:bodyPr/>
          <a:lstStyle/>
          <a:p>
            <a:fld id="{0FA2D919-C0DE-4971-A2E9-D4AC0031921B}" type="slidenum">
              <a:rPr lang="en-US" noProof="0" smtClean="0"/>
              <a:t>41</a:t>
            </a:fld>
            <a:endParaRPr lang="en-US" noProof="0" dirty="0"/>
          </a:p>
        </p:txBody>
      </p:sp>
      <p:grpSp>
        <p:nvGrpSpPr>
          <p:cNvPr id="41" name="Group 40">
            <a:extLst>
              <a:ext uri="{FF2B5EF4-FFF2-40B4-BE49-F238E27FC236}">
                <a16:creationId xmlns:a16="http://schemas.microsoft.com/office/drawing/2014/main" id="{EC7A4A33-A554-119D-74A4-010E0668B931}"/>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49527D08-93C0-EA34-63D2-FA9443BA7DDD}"/>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B7441091-0CC3-D582-6D6B-C4FC2A150A9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504C4D0E-4518-7E54-5236-8306CAC52394}"/>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FE71AD5F-868A-1878-3DB3-8D242EDD08A7}"/>
                </a:ext>
              </a:extLst>
            </p:cNvPr>
            <p:cNvSpPr/>
            <p:nvPr/>
          </p:nvSpPr>
          <p:spPr>
            <a:xfrm>
              <a:off x="3313786" y="3686861"/>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DD57D0DE-487A-B813-31E7-34BA461866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A7F1D505-C369-E01E-6219-1B37A2AD684F}"/>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3CCD37E0-919E-F31D-14FD-A39CD77EB0B2}"/>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F37B5471-5EDF-D658-7D7A-5DFD3DC41C3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5E88E864-319C-904A-D60D-D67F09B07C74}"/>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CC6BC49C-940F-D229-C8CE-092FB830EEC3}"/>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98E3314F-F00E-19C0-4FF3-20D1501970F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477012B8-D13D-EEB4-5C8B-FA1925DDA434}"/>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690C21B5-C95E-08DF-8DF5-705F8E46AA5C}"/>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DCDDA4BA-6561-FAA8-776E-07BAF30A982F}"/>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366691D1-B5E4-852E-3992-6D3A6CD6D91F}"/>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5A690D11-2CEB-7030-1E04-EE7A8AB30800}"/>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1" name="Straight Arrow Connector 10">
            <a:extLst>
              <a:ext uri="{FF2B5EF4-FFF2-40B4-BE49-F238E27FC236}">
                <a16:creationId xmlns:a16="http://schemas.microsoft.com/office/drawing/2014/main" id="{659540DB-7094-9D47-8C6B-4E1CAFAB713E}"/>
              </a:ext>
            </a:extLst>
          </p:cNvPr>
          <p:cNvCxnSpPr>
            <a:stCxn id="2" idx="6"/>
            <a:endCxn id="9"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50168ED8-AD89-33B7-3E4A-F0860C87B859}"/>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20" name="TextBox 19">
            <a:extLst>
              <a:ext uri="{FF2B5EF4-FFF2-40B4-BE49-F238E27FC236}">
                <a16:creationId xmlns:a16="http://schemas.microsoft.com/office/drawing/2014/main" id="{4C9D27AD-39C8-F7EE-2A24-C132157A9796}"/>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21" name="Oval 20">
            <a:extLst>
              <a:ext uri="{FF2B5EF4-FFF2-40B4-BE49-F238E27FC236}">
                <a16:creationId xmlns:a16="http://schemas.microsoft.com/office/drawing/2014/main" id="{72853731-6FBD-2AA6-5450-DFCC9568E5AE}"/>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TextBox 21">
            <a:extLst>
              <a:ext uri="{FF2B5EF4-FFF2-40B4-BE49-F238E27FC236}">
                <a16:creationId xmlns:a16="http://schemas.microsoft.com/office/drawing/2014/main" id="{810179F5-2278-09D4-72AD-D08267175F4F}"/>
              </a:ext>
            </a:extLst>
          </p:cNvPr>
          <p:cNvSpPr txBox="1"/>
          <p:nvPr/>
        </p:nvSpPr>
        <p:spPr>
          <a:xfrm>
            <a:off x="2791327" y="5050631"/>
            <a:ext cx="1769908"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23" name="Straight Arrow Connector 22">
            <a:extLst>
              <a:ext uri="{FF2B5EF4-FFF2-40B4-BE49-F238E27FC236}">
                <a16:creationId xmlns:a16="http://schemas.microsoft.com/office/drawing/2014/main" id="{C877FAFC-74AB-36BC-665C-A4C26F5CA47F}"/>
              </a:ext>
            </a:extLst>
          </p:cNvPr>
          <p:cNvCxnSpPr>
            <a:cxnSpLocks/>
            <a:stCxn id="9" idx="3"/>
            <a:endCxn id="21"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F8E67E6-1E4F-31E2-4C3D-015B813300F6}"/>
              </a:ext>
            </a:extLst>
          </p:cNvPr>
          <p:cNvCxnSpPr>
            <a:cxnSpLocks/>
            <a:stCxn id="2" idx="5"/>
            <a:endCxn id="21"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7" name="Group 26">
            <a:extLst>
              <a:ext uri="{FF2B5EF4-FFF2-40B4-BE49-F238E27FC236}">
                <a16:creationId xmlns:a16="http://schemas.microsoft.com/office/drawing/2014/main" id="{249A6B0B-63C3-3A46-B706-642E4D35301B}"/>
              </a:ext>
            </a:extLst>
          </p:cNvPr>
          <p:cNvGrpSpPr/>
          <p:nvPr/>
        </p:nvGrpSpPr>
        <p:grpSpPr>
          <a:xfrm>
            <a:off x="4814355" y="4032332"/>
            <a:ext cx="2563289" cy="432000"/>
            <a:chOff x="4604412" y="1893985"/>
            <a:chExt cx="2563289" cy="432000"/>
          </a:xfrm>
        </p:grpSpPr>
        <p:sp>
          <p:nvSpPr>
            <p:cNvPr id="28" name="Arrow: Pentagon 27">
              <a:extLst>
                <a:ext uri="{FF2B5EF4-FFF2-40B4-BE49-F238E27FC236}">
                  <a16:creationId xmlns:a16="http://schemas.microsoft.com/office/drawing/2014/main" id="{A34E88B4-CB83-68A0-1AA5-31F9329A8005}"/>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29" name="Graphic 28" descr="Connections with solid fill">
              <a:extLst>
                <a:ext uri="{FF2B5EF4-FFF2-40B4-BE49-F238E27FC236}">
                  <a16:creationId xmlns:a16="http://schemas.microsoft.com/office/drawing/2014/main" id="{1EFBDB66-82F9-3F9C-31B4-5AFA469658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269DDD8-42D2-CE2D-225A-B4EA5078763A}"/>
                  </a:ext>
                </a:extLst>
              </p:cNvPr>
              <p:cNvSpPr txBox="1"/>
              <p:nvPr/>
            </p:nvSpPr>
            <p:spPr>
              <a:xfrm>
                <a:off x="7480486" y="4344783"/>
                <a:ext cx="2180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30" name="TextBox 29">
                <a:extLst>
                  <a:ext uri="{FF2B5EF4-FFF2-40B4-BE49-F238E27FC236}">
                    <a16:creationId xmlns:a16="http://schemas.microsoft.com/office/drawing/2014/main" id="{6269DDD8-42D2-CE2D-225A-B4EA5078763A}"/>
                  </a:ext>
                </a:extLst>
              </p:cNvPr>
              <p:cNvSpPr txBox="1">
                <a:spLocks noRot="1" noChangeAspect="1" noMove="1" noResize="1" noEditPoints="1" noAdjustHandles="1" noChangeArrowheads="1" noChangeShapeType="1" noTextEdit="1"/>
              </p:cNvSpPr>
              <p:nvPr/>
            </p:nvSpPr>
            <p:spPr>
              <a:xfrm>
                <a:off x="7480486" y="4344783"/>
                <a:ext cx="2180533" cy="276999"/>
              </a:xfrm>
              <a:prstGeom prst="rect">
                <a:avLst/>
              </a:prstGeom>
              <a:blipFill>
                <a:blip r:embed="rId11"/>
                <a:stretch>
                  <a:fillRect l="-1397" t="-4444" r="-2514"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E1EC060-1B20-B0E6-7437-3852085C2B5B}"/>
                  </a:ext>
                </a:extLst>
              </p:cNvPr>
              <p:cNvSpPr txBox="1"/>
              <p:nvPr/>
            </p:nvSpPr>
            <p:spPr>
              <a:xfrm>
                <a:off x="7480486" y="3846626"/>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31" name="TextBox 30">
                <a:extLst>
                  <a:ext uri="{FF2B5EF4-FFF2-40B4-BE49-F238E27FC236}">
                    <a16:creationId xmlns:a16="http://schemas.microsoft.com/office/drawing/2014/main" id="{0E1EC060-1B20-B0E6-7437-3852085C2B5B}"/>
                  </a:ext>
                </a:extLst>
              </p:cNvPr>
              <p:cNvSpPr txBox="1">
                <a:spLocks noRot="1" noChangeAspect="1" noMove="1" noResize="1" noEditPoints="1" noAdjustHandles="1" noChangeArrowheads="1" noChangeShapeType="1" noTextEdit="1"/>
              </p:cNvSpPr>
              <p:nvPr/>
            </p:nvSpPr>
            <p:spPr>
              <a:xfrm>
                <a:off x="7480486" y="3846626"/>
                <a:ext cx="3246979" cy="276999"/>
              </a:xfrm>
              <a:prstGeom prst="rect">
                <a:avLst/>
              </a:prstGeom>
              <a:blipFill>
                <a:blip r:embed="rId12"/>
                <a:stretch>
                  <a:fillRect l="-563" t="-2222" r="-563" b="-35556"/>
                </a:stretch>
              </a:blipFill>
            </p:spPr>
            <p:txBody>
              <a:bodyPr/>
              <a:lstStyle/>
              <a:p>
                <a:r>
                  <a:rPr lang="en-SE">
                    <a:noFill/>
                  </a:rPr>
                  <a:t> </a:t>
                </a:r>
              </a:p>
            </p:txBody>
          </p:sp>
        </mc:Fallback>
      </mc:AlternateContent>
      <p:pic>
        <p:nvPicPr>
          <p:cNvPr id="10" name="Picture 9">
            <a:extLst>
              <a:ext uri="{FF2B5EF4-FFF2-40B4-BE49-F238E27FC236}">
                <a16:creationId xmlns:a16="http://schemas.microsoft.com/office/drawing/2014/main" id="{826BBC42-5AA5-5B6D-6E1E-51BD4F70AD94}"/>
              </a:ext>
            </a:extLst>
          </p:cNvPr>
          <p:cNvPicPr>
            <a:picLocks noChangeAspect="1"/>
          </p:cNvPicPr>
          <p:nvPr/>
        </p:nvPicPr>
        <p:blipFill>
          <a:blip r:embed="rId13"/>
          <a:stretch>
            <a:fillRect/>
          </a:stretch>
        </p:blipFill>
        <p:spPr>
          <a:xfrm>
            <a:off x="7860683" y="4702397"/>
            <a:ext cx="3493117" cy="2105386"/>
          </a:xfrm>
          <a:prstGeom prst="rect">
            <a:avLst/>
          </a:prstGeom>
        </p:spPr>
      </p:pic>
    </p:spTree>
    <p:extLst>
      <p:ext uri="{BB962C8B-B14F-4D97-AF65-F5344CB8AC3E}">
        <p14:creationId xmlns:p14="http://schemas.microsoft.com/office/powerpoint/2010/main" val="1102399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172D-3CAE-8671-D842-9334E227402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828711C-1F3E-B19D-E5AC-112CD7222EE5}"/>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69BE27F1-83E2-1955-05D7-057F7E598A8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3324F0B3-D651-79AA-F449-D99E2EF9D9C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4D3EF88-8A84-9866-EA2F-68FB3BC461D3}"/>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750B3EB-315F-6964-EEA2-738629B344D0}"/>
              </a:ext>
            </a:extLst>
          </p:cNvPr>
          <p:cNvSpPr>
            <a:spLocks noGrp="1"/>
          </p:cNvSpPr>
          <p:nvPr>
            <p:ph type="sldNum" sz="quarter" idx="12"/>
          </p:nvPr>
        </p:nvSpPr>
        <p:spPr/>
        <p:txBody>
          <a:bodyPr/>
          <a:lstStyle/>
          <a:p>
            <a:fld id="{0FA2D919-C0DE-4971-A2E9-D4AC0031921B}" type="slidenum">
              <a:rPr lang="en-US" noProof="0" smtClean="0"/>
              <a:t>42</a:t>
            </a:fld>
            <a:endParaRPr lang="en-US" noProof="0" dirty="0"/>
          </a:p>
        </p:txBody>
      </p:sp>
      <p:grpSp>
        <p:nvGrpSpPr>
          <p:cNvPr id="41" name="Group 40">
            <a:extLst>
              <a:ext uri="{FF2B5EF4-FFF2-40B4-BE49-F238E27FC236}">
                <a16:creationId xmlns:a16="http://schemas.microsoft.com/office/drawing/2014/main" id="{36CCE279-2F39-11F9-B877-ABA751ED71D4}"/>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0C9C0106-99B3-DDF9-B4CF-D4C2C033F60D}"/>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2EC34A61-4823-879D-D0E3-F5AA6726D10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BEEDE140-73A0-B497-3E1A-47586A978B9A}"/>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81B11B47-7613-C6DB-607D-F898333C3397}"/>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14BA1554-8B76-F568-621F-A229B407E54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0CA9740E-A1AC-FAD0-2965-5FC894C466D7}"/>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F95EE267-6FA0-B129-E14A-3D44C00D1C56}"/>
                </a:ext>
              </a:extLst>
            </p:cNvPr>
            <p:cNvSpPr/>
            <p:nvPr/>
          </p:nvSpPr>
          <p:spPr>
            <a:xfrm>
              <a:off x="3313786" y="3686861"/>
              <a:ext cx="1080000" cy="1080000"/>
            </a:xfrm>
            <a:prstGeom prst="ellipse">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F74ADCEF-6AA9-9A20-DA0E-3D8E72C3534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0EAB0F8D-9079-1954-709E-D83D94CB0E3F}"/>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4F5962AC-9463-F45F-C9C2-0C37F8088E10}"/>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900E4B6F-C1C7-8714-71A7-6DC3F8090DD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DCFB5783-4570-B737-C8F9-E725C7D2CB5D}"/>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B35EE517-8515-607E-47CB-995E1B8BD6C1}"/>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54E135D0-0E87-B028-3CEE-D77CCD0C10E0}"/>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E91955AF-555A-1890-D047-D0AC701E1476}"/>
              </a:ext>
            </a:extLst>
          </p:cNvPr>
          <p:cNvPicPr>
            <a:picLocks noChangeAspect="1"/>
          </p:cNvPicPr>
          <p:nvPr/>
        </p:nvPicPr>
        <p:blipFill>
          <a:blip r:embed="rId6"/>
          <a:srcRect l="2765" b="54810"/>
          <a:stretch>
            <a:fillRect/>
          </a:stretch>
        </p:blipFill>
        <p:spPr>
          <a:xfrm>
            <a:off x="1885244" y="3143256"/>
            <a:ext cx="7634974" cy="1317631"/>
          </a:xfrm>
          <a:prstGeom prst="rect">
            <a:avLst/>
          </a:prstGeom>
        </p:spPr>
      </p:pic>
      <p:pic>
        <p:nvPicPr>
          <p:cNvPr id="2" name="Picture 1">
            <a:extLst>
              <a:ext uri="{FF2B5EF4-FFF2-40B4-BE49-F238E27FC236}">
                <a16:creationId xmlns:a16="http://schemas.microsoft.com/office/drawing/2014/main" id="{0C5E3445-BA89-FAAB-E907-F13C5816A448}"/>
              </a:ext>
            </a:extLst>
          </p:cNvPr>
          <p:cNvPicPr>
            <a:picLocks noChangeAspect="1"/>
          </p:cNvPicPr>
          <p:nvPr/>
        </p:nvPicPr>
        <p:blipFill>
          <a:blip r:embed="rId6"/>
          <a:srcRect l="13907" t="86437" b="-301"/>
          <a:stretch>
            <a:fillRect/>
          </a:stretch>
        </p:blipFill>
        <p:spPr>
          <a:xfrm>
            <a:off x="2760133" y="4404279"/>
            <a:ext cx="6760085" cy="404213"/>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2B1FD6-5569-AA0F-6227-3A730D711B89}"/>
                  </a:ext>
                </a:extLst>
              </p:cNvPr>
              <p:cNvSpPr txBox="1"/>
              <p:nvPr/>
            </p:nvSpPr>
            <p:spPr>
              <a:xfrm>
                <a:off x="4472510" y="2795651"/>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9" name="TextBox 8">
                <a:extLst>
                  <a:ext uri="{FF2B5EF4-FFF2-40B4-BE49-F238E27FC236}">
                    <a16:creationId xmlns:a16="http://schemas.microsoft.com/office/drawing/2014/main" id="{272B1FD6-5569-AA0F-6227-3A730D711B89}"/>
                  </a:ext>
                </a:extLst>
              </p:cNvPr>
              <p:cNvSpPr txBox="1">
                <a:spLocks noRot="1" noChangeAspect="1" noMove="1" noResize="1" noEditPoints="1" noAdjustHandles="1" noChangeArrowheads="1" noChangeShapeType="1" noTextEdit="1"/>
              </p:cNvSpPr>
              <p:nvPr/>
            </p:nvSpPr>
            <p:spPr>
              <a:xfrm>
                <a:off x="4472510" y="2795651"/>
                <a:ext cx="3246979" cy="276999"/>
              </a:xfrm>
              <a:prstGeom prst="rect">
                <a:avLst/>
              </a:prstGeom>
              <a:blipFill>
                <a:blip r:embed="rId10"/>
                <a:stretch>
                  <a:fillRect l="-564" t="-4444" r="-752" b="-35556"/>
                </a:stretch>
              </a:blipFill>
            </p:spPr>
            <p:txBody>
              <a:bodyPr/>
              <a:lstStyle/>
              <a:p>
                <a:r>
                  <a:rPr lang="en-SE">
                    <a:noFill/>
                  </a:rPr>
                  <a:t> </a:t>
                </a:r>
              </a:p>
            </p:txBody>
          </p:sp>
        </mc:Fallback>
      </mc:AlternateContent>
    </p:spTree>
    <p:extLst>
      <p:ext uri="{BB962C8B-B14F-4D97-AF65-F5344CB8AC3E}">
        <p14:creationId xmlns:p14="http://schemas.microsoft.com/office/powerpoint/2010/main" val="3875211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861CE-0EBB-24FF-8FCF-1E9E8CFCDA9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9BF91DE-8E78-9FA3-BB8D-65BAB62F1D0D}"/>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CA0E45FC-B484-8CAA-D7F3-64C2C685A90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F52B0266-E5A1-7463-3A68-A2EAB26B5E75}"/>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6F6B24E-73D5-9983-79B5-CA591D303F2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058DBB4-878C-4B93-679C-2B04C8DFD99D}"/>
              </a:ext>
            </a:extLst>
          </p:cNvPr>
          <p:cNvSpPr>
            <a:spLocks noGrp="1"/>
          </p:cNvSpPr>
          <p:nvPr>
            <p:ph type="sldNum" sz="quarter" idx="12"/>
          </p:nvPr>
        </p:nvSpPr>
        <p:spPr/>
        <p:txBody>
          <a:bodyPr/>
          <a:lstStyle/>
          <a:p>
            <a:fld id="{0FA2D919-C0DE-4971-A2E9-D4AC0031921B}" type="slidenum">
              <a:rPr lang="en-US" noProof="0" smtClean="0"/>
              <a:t>43</a:t>
            </a:fld>
            <a:endParaRPr lang="en-US" noProof="0" dirty="0"/>
          </a:p>
        </p:txBody>
      </p:sp>
      <p:grpSp>
        <p:nvGrpSpPr>
          <p:cNvPr id="41" name="Group 40">
            <a:extLst>
              <a:ext uri="{FF2B5EF4-FFF2-40B4-BE49-F238E27FC236}">
                <a16:creationId xmlns:a16="http://schemas.microsoft.com/office/drawing/2014/main" id="{ACF5D39F-728F-4DC5-F84F-BBB3B926E53F}"/>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9EE9B94E-62CA-1935-0FC6-CD68C288F064}"/>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01024B29-5FEA-F612-BB75-4602D5C7E85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F89DAD17-9FFB-5393-B748-A2FD0A2B0B6B}"/>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0F81332E-8529-97B6-00A7-7C442314AF4C}"/>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91B3CA35-2281-2D7B-4147-1A18A31DDDD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E30AADEC-0C86-527C-5403-64615BED757F}"/>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87FB238A-91FC-01D3-776B-DC89A1179110}"/>
                </a:ext>
              </a:extLst>
            </p:cNvPr>
            <p:cNvSpPr/>
            <p:nvPr/>
          </p:nvSpPr>
          <p:spPr>
            <a:xfrm>
              <a:off x="3313786" y="3686861"/>
              <a:ext cx="1080000" cy="1080000"/>
            </a:xfrm>
            <a:prstGeom prst="ellipse">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888CECD6-78BF-D39F-C7D6-F03E6B26521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B9575A76-556D-C211-9A5A-F92A92B48FDB}"/>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4CAB8F8D-7AF3-5348-A375-CBB7D10FB9E6}"/>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4F1B2F16-DA03-0E66-B995-0B0546237B9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6F018D56-21C5-334B-634D-A98A9F9C40C2}"/>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6A1D41A4-F44A-683F-22B5-09820BB18F7E}"/>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70B8107B-CB79-503E-3CC9-EE8381DAD596}"/>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9" name="Picture 8">
            <a:extLst>
              <a:ext uri="{FF2B5EF4-FFF2-40B4-BE49-F238E27FC236}">
                <a16:creationId xmlns:a16="http://schemas.microsoft.com/office/drawing/2014/main" id="{D549F156-9CBF-0267-A912-FE93DE675A3D}"/>
              </a:ext>
            </a:extLst>
          </p:cNvPr>
          <p:cNvPicPr>
            <a:picLocks noChangeAspect="1"/>
          </p:cNvPicPr>
          <p:nvPr/>
        </p:nvPicPr>
        <p:blipFill>
          <a:blip r:embed="rId6"/>
          <a:stretch>
            <a:fillRect/>
          </a:stretch>
        </p:blipFill>
        <p:spPr>
          <a:xfrm>
            <a:off x="768640" y="2898100"/>
            <a:ext cx="5210497" cy="3131024"/>
          </a:xfrm>
          <a:prstGeom prst="rect">
            <a:avLst/>
          </a:prstGeom>
        </p:spPr>
      </p:pic>
      <p:pic>
        <p:nvPicPr>
          <p:cNvPr id="11" name="Picture 10">
            <a:extLst>
              <a:ext uri="{FF2B5EF4-FFF2-40B4-BE49-F238E27FC236}">
                <a16:creationId xmlns:a16="http://schemas.microsoft.com/office/drawing/2014/main" id="{6874E0F7-1058-B69F-D551-0BFC9ECA72C6}"/>
              </a:ext>
            </a:extLst>
          </p:cNvPr>
          <p:cNvPicPr>
            <a:picLocks noChangeAspect="1"/>
          </p:cNvPicPr>
          <p:nvPr/>
        </p:nvPicPr>
        <p:blipFill>
          <a:blip r:embed="rId7"/>
          <a:stretch>
            <a:fillRect/>
          </a:stretch>
        </p:blipFill>
        <p:spPr>
          <a:xfrm>
            <a:off x="6347743" y="2898100"/>
            <a:ext cx="5075616" cy="3131024"/>
          </a:xfrm>
          <a:prstGeom prst="rect">
            <a:avLst/>
          </a:prstGeom>
        </p:spPr>
      </p:pic>
    </p:spTree>
    <p:extLst>
      <p:ext uri="{BB962C8B-B14F-4D97-AF65-F5344CB8AC3E}">
        <p14:creationId xmlns:p14="http://schemas.microsoft.com/office/powerpoint/2010/main" val="20445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68E83-B85E-4198-5F12-CF31E7E16FC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8C3B3A8-BEFB-869A-7797-FF776155F4C2}"/>
              </a:ext>
            </a:extLst>
          </p:cNvPr>
          <p:cNvPicPr>
            <a:picLocks noChangeAspect="1"/>
          </p:cNvPicPr>
          <p:nvPr/>
        </p:nvPicPr>
        <p:blipFill>
          <a:blip r:embed="rId2"/>
          <a:stretch>
            <a:fillRect/>
          </a:stretch>
        </p:blipFill>
        <p:spPr>
          <a:xfrm>
            <a:off x="838200" y="2662182"/>
            <a:ext cx="5786120" cy="3569316"/>
          </a:xfrm>
          <a:prstGeom prst="rect">
            <a:avLst/>
          </a:prstGeom>
        </p:spPr>
      </p:pic>
      <p:sp>
        <p:nvSpPr>
          <p:cNvPr id="7" name="Title 6">
            <a:extLst>
              <a:ext uri="{FF2B5EF4-FFF2-40B4-BE49-F238E27FC236}">
                <a16:creationId xmlns:a16="http://schemas.microsoft.com/office/drawing/2014/main" id="{904F73A1-F684-723A-2BB5-4905394EA455}"/>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5E4FE536-B71B-8410-4908-21925AC06257}"/>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D16B08CD-68BF-7550-B950-51043BF1B5E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07758D4-FEBB-FBA9-26FE-1A836DCD6F70}"/>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C31C984-9DD1-6F69-52D6-EC6CEC8FEB8C}"/>
              </a:ext>
            </a:extLst>
          </p:cNvPr>
          <p:cNvSpPr>
            <a:spLocks noGrp="1"/>
          </p:cNvSpPr>
          <p:nvPr>
            <p:ph type="sldNum" sz="quarter" idx="12"/>
          </p:nvPr>
        </p:nvSpPr>
        <p:spPr/>
        <p:txBody>
          <a:bodyPr/>
          <a:lstStyle/>
          <a:p>
            <a:fld id="{0FA2D919-C0DE-4971-A2E9-D4AC0031921B}" type="slidenum">
              <a:rPr lang="en-US" noProof="0" smtClean="0"/>
              <a:t>44</a:t>
            </a:fld>
            <a:endParaRPr lang="en-US" noProof="0" dirty="0"/>
          </a:p>
        </p:txBody>
      </p:sp>
      <p:grpSp>
        <p:nvGrpSpPr>
          <p:cNvPr id="41" name="Group 40">
            <a:extLst>
              <a:ext uri="{FF2B5EF4-FFF2-40B4-BE49-F238E27FC236}">
                <a16:creationId xmlns:a16="http://schemas.microsoft.com/office/drawing/2014/main" id="{997B5B32-A46C-F5D9-3500-3FA0EE58E14C}"/>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3ACACA6D-C6D2-9DA0-090B-F1C091D08590}"/>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42579B93-DDEA-FA54-5524-2C679C4396E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5282B5ED-EAD5-5DFE-2E80-223E1D4E37AE}"/>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C460D090-EDBD-CF2D-E7A1-ED891AC5B1DC}"/>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4A346789-D2E2-7003-FBB3-7BE9435468E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63D7A816-3E22-DBEC-1E6B-0074997B0A9E}"/>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952BABC9-46A3-68CB-720E-81CA4A96D91C}"/>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8116B511-4921-1E53-EA07-E72CFFA5529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C3CCEBBA-9F7F-464D-EDC7-DBF33F00882B}"/>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3811B20F-1C76-9C88-E7D0-F1AC43535725}"/>
                </a:ext>
              </a:extLst>
            </p:cNvPr>
            <p:cNvSpPr/>
            <p:nvPr/>
          </p:nvSpPr>
          <p:spPr>
            <a:xfrm>
              <a:off x="3313786" y="3686861"/>
              <a:ext cx="1080000" cy="1080000"/>
            </a:xfrm>
            <a:prstGeom prst="ellipse">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05E65D3E-B0F5-D5C8-A7F3-FF468CC94E7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7D18ADFC-1D63-ED58-5C95-FD3FCE96E888}"/>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15C0CC2F-E612-CCF6-CE8B-7CFE7883FF85}"/>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CA79FB00-F6A3-7477-71B9-3DAFAE08542B}"/>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10">
            <a:extLst>
              <a:ext uri="{FF2B5EF4-FFF2-40B4-BE49-F238E27FC236}">
                <a16:creationId xmlns:a16="http://schemas.microsoft.com/office/drawing/2014/main" id="{104B2E89-4D37-BB4D-3C00-34CC469529EE}"/>
              </a:ext>
            </a:extLst>
          </p:cNvPr>
          <p:cNvSpPr/>
          <p:nvPr/>
        </p:nvSpPr>
        <p:spPr>
          <a:xfrm>
            <a:off x="1037507" y="3248614"/>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4C4618BE-F218-ADBD-F510-3D3E6747A3BF}"/>
              </a:ext>
            </a:extLst>
          </p:cNvPr>
          <p:cNvSpPr/>
          <p:nvPr/>
        </p:nvSpPr>
        <p:spPr>
          <a:xfrm>
            <a:off x="1011061" y="5077183"/>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D13728C6-BE00-6026-B4F8-549268B8B81F}"/>
              </a:ext>
            </a:extLst>
          </p:cNvPr>
          <p:cNvSpPr txBox="1"/>
          <p:nvPr/>
        </p:nvSpPr>
        <p:spPr>
          <a:xfrm>
            <a:off x="5719768" y="3133728"/>
            <a:ext cx="6096000" cy="646331"/>
          </a:xfrm>
          <a:prstGeom prst="rect">
            <a:avLst/>
          </a:prstGeom>
          <a:noFill/>
        </p:spPr>
        <p:txBody>
          <a:bodyPr wrap="square">
            <a:spAutoFit/>
          </a:bodyPr>
          <a:lstStyle/>
          <a:p>
            <a:r>
              <a:rPr lang="en-US" noProof="0" dirty="0"/>
              <a:t>For any high </a:t>
            </a:r>
            <a:r>
              <a:rPr lang="en-US" noProof="0" dirty="0">
                <a:solidFill>
                  <a:srgbClr val="006D70"/>
                </a:solidFill>
              </a:rPr>
              <a:t>quality</a:t>
            </a:r>
            <a:r>
              <a:rPr lang="en-US" noProof="0" dirty="0"/>
              <a:t> value, if </a:t>
            </a:r>
            <a:r>
              <a:rPr lang="en-US" noProof="0" dirty="0">
                <a:solidFill>
                  <a:schemeClr val="accent4"/>
                </a:solidFill>
              </a:rPr>
              <a:t>feature success </a:t>
            </a:r>
            <a:r>
              <a:rPr lang="en-US" noProof="0" dirty="0"/>
              <a:t>is </a:t>
            </a:r>
            <a:r>
              <a:rPr lang="en-US" i="1" noProof="0" dirty="0"/>
              <a:t>false</a:t>
            </a:r>
            <a:r>
              <a:rPr lang="en-US" noProof="0" dirty="0"/>
              <a:t>, then it is more likely that the </a:t>
            </a:r>
            <a:r>
              <a:rPr lang="en-US" noProof="0" dirty="0">
                <a:solidFill>
                  <a:srgbClr val="D0180A"/>
                </a:solidFill>
              </a:rPr>
              <a:t>specification size </a:t>
            </a:r>
            <a:r>
              <a:rPr lang="en-US" noProof="0" dirty="0"/>
              <a:t>was small.</a:t>
            </a:r>
          </a:p>
        </p:txBody>
      </p:sp>
      <p:sp>
        <p:nvSpPr>
          <p:cNvPr id="26" name="TextBox 25">
            <a:extLst>
              <a:ext uri="{FF2B5EF4-FFF2-40B4-BE49-F238E27FC236}">
                <a16:creationId xmlns:a16="http://schemas.microsoft.com/office/drawing/2014/main" id="{5AAB7AC1-A161-59A4-BD00-A9594A0967F1}"/>
              </a:ext>
            </a:extLst>
          </p:cNvPr>
          <p:cNvSpPr txBox="1"/>
          <p:nvPr/>
        </p:nvSpPr>
        <p:spPr>
          <a:xfrm>
            <a:off x="5719768" y="4962297"/>
            <a:ext cx="6096000" cy="646331"/>
          </a:xfrm>
          <a:prstGeom prst="rect">
            <a:avLst/>
          </a:prstGeom>
          <a:noFill/>
        </p:spPr>
        <p:txBody>
          <a:bodyPr wrap="square">
            <a:spAutoFit/>
          </a:bodyPr>
          <a:lstStyle/>
          <a:p>
            <a:r>
              <a:rPr lang="en-US" noProof="0" dirty="0"/>
              <a:t>For any low </a:t>
            </a:r>
            <a:r>
              <a:rPr lang="en-US" noProof="0" dirty="0">
                <a:solidFill>
                  <a:srgbClr val="006D70"/>
                </a:solidFill>
              </a:rPr>
              <a:t>quality</a:t>
            </a:r>
            <a:r>
              <a:rPr lang="en-US" noProof="0" dirty="0"/>
              <a:t> value, if </a:t>
            </a:r>
            <a:r>
              <a:rPr lang="en-US" noProof="0" dirty="0">
                <a:solidFill>
                  <a:schemeClr val="accent4"/>
                </a:solidFill>
              </a:rPr>
              <a:t>feature success </a:t>
            </a:r>
            <a:r>
              <a:rPr lang="en-US" noProof="0" dirty="0"/>
              <a:t>is </a:t>
            </a:r>
            <a:r>
              <a:rPr lang="en-US" i="1" noProof="0" dirty="0"/>
              <a:t>true</a:t>
            </a:r>
            <a:r>
              <a:rPr lang="en-US" noProof="0" dirty="0"/>
              <a:t>, then it is more likely that the </a:t>
            </a:r>
            <a:r>
              <a:rPr lang="en-US" noProof="0" dirty="0">
                <a:solidFill>
                  <a:srgbClr val="D0180A"/>
                </a:solidFill>
              </a:rPr>
              <a:t>specification size </a:t>
            </a:r>
            <a:r>
              <a:rPr lang="en-US" noProof="0" dirty="0"/>
              <a:t>was large.</a:t>
            </a:r>
          </a:p>
        </p:txBody>
      </p:sp>
    </p:spTree>
    <p:extLst>
      <p:ext uri="{BB962C8B-B14F-4D97-AF65-F5344CB8AC3E}">
        <p14:creationId xmlns:p14="http://schemas.microsoft.com/office/powerpoint/2010/main" val="88367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5" grpId="0"/>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C4EA-647C-2598-1568-ADAECD47457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D4E3AD4-3A22-4105-AFA6-3CBB35A1080F}"/>
              </a:ext>
            </a:extLst>
          </p:cNvPr>
          <p:cNvPicPr>
            <a:picLocks noChangeAspect="1"/>
          </p:cNvPicPr>
          <p:nvPr/>
        </p:nvPicPr>
        <p:blipFill>
          <a:blip r:embed="rId2"/>
          <a:stretch>
            <a:fillRect/>
          </a:stretch>
        </p:blipFill>
        <p:spPr>
          <a:xfrm>
            <a:off x="838200" y="2662182"/>
            <a:ext cx="5786120" cy="3569316"/>
          </a:xfrm>
          <a:prstGeom prst="rect">
            <a:avLst/>
          </a:prstGeom>
        </p:spPr>
      </p:pic>
      <p:sp>
        <p:nvSpPr>
          <p:cNvPr id="7" name="Title 6">
            <a:extLst>
              <a:ext uri="{FF2B5EF4-FFF2-40B4-BE49-F238E27FC236}">
                <a16:creationId xmlns:a16="http://schemas.microsoft.com/office/drawing/2014/main" id="{BA3F1740-886A-B4F9-54A2-321F320873AD}"/>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36193F7B-A825-D4C9-1972-55A209BBFA4D}"/>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3AD670EE-361F-3DDA-2996-0D2787130078}"/>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ACDA021-56E4-0182-50F6-15FBDE4AA2F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ABE81024-F1E6-D25C-E90C-1449DE0DB13D}"/>
              </a:ext>
            </a:extLst>
          </p:cNvPr>
          <p:cNvSpPr>
            <a:spLocks noGrp="1"/>
          </p:cNvSpPr>
          <p:nvPr>
            <p:ph type="sldNum" sz="quarter" idx="12"/>
          </p:nvPr>
        </p:nvSpPr>
        <p:spPr/>
        <p:txBody>
          <a:bodyPr/>
          <a:lstStyle/>
          <a:p>
            <a:fld id="{0FA2D919-C0DE-4971-A2E9-D4AC0031921B}" type="slidenum">
              <a:rPr lang="en-US" noProof="0" smtClean="0"/>
              <a:t>45</a:t>
            </a:fld>
            <a:endParaRPr lang="en-US" noProof="0" dirty="0"/>
          </a:p>
        </p:txBody>
      </p:sp>
      <p:grpSp>
        <p:nvGrpSpPr>
          <p:cNvPr id="41" name="Group 40">
            <a:extLst>
              <a:ext uri="{FF2B5EF4-FFF2-40B4-BE49-F238E27FC236}">
                <a16:creationId xmlns:a16="http://schemas.microsoft.com/office/drawing/2014/main" id="{6149570C-5A9D-70CB-B332-38F96A185D76}"/>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0B7AB29B-CE6D-2D2C-578F-9C72F84A8B45}"/>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DBA37C90-8C32-1638-FFDD-C00FAD23682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C0957AEB-50B5-92B8-49C9-8FB762021EEE}"/>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6676D5D7-64D4-590B-AA91-138E91E55626}"/>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04CE9509-5EC8-F430-5D1F-0961E208337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B7B0154B-C0C1-C941-8F0B-F9DD119B774D}"/>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59F1E8C4-8736-0AA4-A1A5-8E87417844B4}"/>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72B19982-E4C7-480D-F7A3-21CEC344168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0EE81F86-E3E9-D8AC-16BC-7E254059508A}"/>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5016533B-3DB2-D439-8172-F2980E02D3DF}"/>
                </a:ext>
              </a:extLst>
            </p:cNvPr>
            <p:cNvSpPr/>
            <p:nvPr/>
          </p:nvSpPr>
          <p:spPr>
            <a:xfrm>
              <a:off x="3313786" y="3686861"/>
              <a:ext cx="1080000" cy="1080000"/>
            </a:xfrm>
            <a:prstGeom prst="ellipse">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F31D8B57-36FB-2B91-829D-E8D3B70A685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4E811FF9-2457-C646-97F6-6361E285B469}"/>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D033B415-2E8F-E682-6C7E-52F1C7512CD2}"/>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C896CF21-52AB-B8CA-1070-156925A16598}"/>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10">
            <a:extLst>
              <a:ext uri="{FF2B5EF4-FFF2-40B4-BE49-F238E27FC236}">
                <a16:creationId xmlns:a16="http://schemas.microsoft.com/office/drawing/2014/main" id="{984322C2-BEB0-FB83-6B15-38D4EDAE3A84}"/>
              </a:ext>
            </a:extLst>
          </p:cNvPr>
          <p:cNvSpPr/>
          <p:nvPr/>
        </p:nvSpPr>
        <p:spPr>
          <a:xfrm>
            <a:off x="1037507" y="3248614"/>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289213B8-1157-5C24-847D-E275B8535823}"/>
              </a:ext>
            </a:extLst>
          </p:cNvPr>
          <p:cNvSpPr/>
          <p:nvPr/>
        </p:nvSpPr>
        <p:spPr>
          <a:xfrm>
            <a:off x="1011061" y="5077183"/>
            <a:ext cx="4482954" cy="416560"/>
          </a:xfrm>
          <a:prstGeom prst="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3" name="Group 12">
            <a:extLst>
              <a:ext uri="{FF2B5EF4-FFF2-40B4-BE49-F238E27FC236}">
                <a16:creationId xmlns:a16="http://schemas.microsoft.com/office/drawing/2014/main" id="{0ABC0337-A870-C75D-5BDA-8BC8A815E2EC}"/>
              </a:ext>
            </a:extLst>
          </p:cNvPr>
          <p:cNvGrpSpPr/>
          <p:nvPr/>
        </p:nvGrpSpPr>
        <p:grpSpPr>
          <a:xfrm>
            <a:off x="5826761" y="5171477"/>
            <a:ext cx="6111240" cy="946595"/>
            <a:chOff x="775412" y="5230368"/>
            <a:chExt cx="6111240" cy="946595"/>
          </a:xfrm>
        </p:grpSpPr>
        <p:sp>
          <p:nvSpPr>
            <p:cNvPr id="14" name="Rectangle: Rounded Corners 13">
              <a:extLst>
                <a:ext uri="{FF2B5EF4-FFF2-40B4-BE49-F238E27FC236}">
                  <a16:creationId xmlns:a16="http://schemas.microsoft.com/office/drawing/2014/main" id="{02E1905C-6EE6-B516-6BF2-A964C97A95B9}"/>
                </a:ext>
              </a:extLst>
            </p:cNvPr>
            <p:cNvSpPr/>
            <p:nvPr/>
          </p:nvSpPr>
          <p:spPr>
            <a:xfrm>
              <a:off x="775412" y="5230368"/>
              <a:ext cx="6111240"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The non-causal association suggests a negative relationship between the cause and effect (</a:t>
              </a:r>
              <a:r>
                <a:rPr lang="en-US" b="1" noProof="0" dirty="0"/>
                <a:t>Berkson’s paradox/fallacy</a:t>
              </a:r>
              <a:r>
                <a:rPr lang="en-US" noProof="0" dirty="0"/>
                <a:t>).</a:t>
              </a:r>
            </a:p>
          </p:txBody>
        </p:sp>
        <p:pic>
          <p:nvPicPr>
            <p:cNvPr id="15" name="Graphic 14" descr="Open quotation mark with solid fill">
              <a:extLst>
                <a:ext uri="{FF2B5EF4-FFF2-40B4-BE49-F238E27FC236}">
                  <a16:creationId xmlns:a16="http://schemas.microsoft.com/office/drawing/2014/main" id="{40AEB187-6D35-C8E2-28B1-EF2206164AB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0800000">
              <a:off x="775412" y="5343665"/>
              <a:ext cx="720000" cy="720000"/>
            </a:xfrm>
            <a:prstGeom prst="rect">
              <a:avLst/>
            </a:prstGeom>
          </p:spPr>
        </p:pic>
      </p:grpSp>
      <p:grpSp>
        <p:nvGrpSpPr>
          <p:cNvPr id="2" name="Group 1">
            <a:extLst>
              <a:ext uri="{FF2B5EF4-FFF2-40B4-BE49-F238E27FC236}">
                <a16:creationId xmlns:a16="http://schemas.microsoft.com/office/drawing/2014/main" id="{4BC14CA7-3359-0551-704A-88D9E7DB1799}"/>
              </a:ext>
            </a:extLst>
          </p:cNvPr>
          <p:cNvGrpSpPr/>
          <p:nvPr/>
        </p:nvGrpSpPr>
        <p:grpSpPr>
          <a:xfrm>
            <a:off x="6624320" y="2662182"/>
            <a:ext cx="4319475" cy="1990963"/>
            <a:chOff x="666492" y="3429000"/>
            <a:chExt cx="4319475" cy="1990963"/>
          </a:xfrm>
        </p:grpSpPr>
        <p:sp>
          <p:nvSpPr>
            <p:cNvPr id="3" name="Oval 2">
              <a:extLst>
                <a:ext uri="{FF2B5EF4-FFF2-40B4-BE49-F238E27FC236}">
                  <a16:creationId xmlns:a16="http://schemas.microsoft.com/office/drawing/2014/main" id="{752EFA76-06DA-C1FD-4125-EBBBF612199B}"/>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1626A664-3107-9402-67CB-2D879737C325}"/>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Arrow Connector 15">
              <a:extLst>
                <a:ext uri="{FF2B5EF4-FFF2-40B4-BE49-F238E27FC236}">
                  <a16:creationId xmlns:a16="http://schemas.microsoft.com/office/drawing/2014/main" id="{9FC35A53-E954-7963-E811-E693131001E2}"/>
                </a:ext>
              </a:extLst>
            </p:cNvPr>
            <p:cNvCxnSpPr>
              <a:stCxn id="3" idx="6"/>
              <a:endCxn id="9"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3DC8D3B6-CEB9-F910-8F13-7CF73259C41D}"/>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18" name="TextBox 17">
              <a:extLst>
                <a:ext uri="{FF2B5EF4-FFF2-40B4-BE49-F238E27FC236}">
                  <a16:creationId xmlns:a16="http://schemas.microsoft.com/office/drawing/2014/main" id="{264E2A05-C4ED-B28D-EA17-45D039575D0A}"/>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19" name="Oval 18">
              <a:extLst>
                <a:ext uri="{FF2B5EF4-FFF2-40B4-BE49-F238E27FC236}">
                  <a16:creationId xmlns:a16="http://schemas.microsoft.com/office/drawing/2014/main" id="{438EB28F-9581-AC6C-8234-0DBD32E4739B}"/>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A26C19A1-307F-BB02-7057-5DE2A592E300}"/>
                </a:ext>
              </a:extLst>
            </p:cNvPr>
            <p:cNvSpPr txBox="1"/>
            <p:nvPr/>
          </p:nvSpPr>
          <p:spPr>
            <a:xfrm>
              <a:off x="2791327" y="5050631"/>
              <a:ext cx="1822807"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24" name="Straight Arrow Connector 23">
              <a:extLst>
                <a:ext uri="{FF2B5EF4-FFF2-40B4-BE49-F238E27FC236}">
                  <a16:creationId xmlns:a16="http://schemas.microsoft.com/office/drawing/2014/main" id="{9C8253A7-1923-E811-18BF-E5A9F5C5F1F9}"/>
                </a:ext>
              </a:extLst>
            </p:cNvPr>
            <p:cNvCxnSpPr>
              <a:cxnSpLocks/>
              <a:stCxn id="9" idx="3"/>
              <a:endCxn id="19"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5E5AF028-DE3A-DB18-BB29-077E07E2E17E}"/>
                </a:ext>
              </a:extLst>
            </p:cNvPr>
            <p:cNvCxnSpPr>
              <a:cxnSpLocks/>
              <a:stCxn id="3" idx="5"/>
              <a:endCxn id="19"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1" name="Group 30">
            <a:extLst>
              <a:ext uri="{FF2B5EF4-FFF2-40B4-BE49-F238E27FC236}">
                <a16:creationId xmlns:a16="http://schemas.microsoft.com/office/drawing/2014/main" id="{50229754-D947-FBE8-4342-922C81D19F40}"/>
              </a:ext>
            </a:extLst>
          </p:cNvPr>
          <p:cNvGrpSpPr/>
          <p:nvPr/>
        </p:nvGrpSpPr>
        <p:grpSpPr>
          <a:xfrm>
            <a:off x="8170163" y="3481514"/>
            <a:ext cx="720000" cy="720000"/>
            <a:chOff x="5604304" y="3426506"/>
            <a:chExt cx="720000" cy="720000"/>
          </a:xfrm>
        </p:grpSpPr>
        <p:sp>
          <p:nvSpPr>
            <p:cNvPr id="32" name="Oval 31">
              <a:extLst>
                <a:ext uri="{FF2B5EF4-FFF2-40B4-BE49-F238E27FC236}">
                  <a16:creationId xmlns:a16="http://schemas.microsoft.com/office/drawing/2014/main" id="{8EF7C19E-76CB-DD14-3E18-D88B26EF0663}"/>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3" name="Graphic 32" descr="No sign with solid fill">
              <a:extLst>
                <a:ext uri="{FF2B5EF4-FFF2-40B4-BE49-F238E27FC236}">
                  <a16:creationId xmlns:a16="http://schemas.microsoft.com/office/drawing/2014/main" id="{597DAEE0-92B2-AB07-65A8-20C30F05A0C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661776" y="3489838"/>
              <a:ext cx="612000" cy="612000"/>
            </a:xfrm>
            <a:prstGeom prst="rect">
              <a:avLst/>
            </a:prstGeom>
          </p:spPr>
        </p:pic>
      </p:grpSp>
    </p:spTree>
    <p:extLst>
      <p:ext uri="{BB962C8B-B14F-4D97-AF65-F5344CB8AC3E}">
        <p14:creationId xmlns:p14="http://schemas.microsoft.com/office/powerpoint/2010/main" val="1131516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9008A-EBF9-5D72-2B31-6D0E448E4F6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E16DBE5-3F62-21C6-511D-F8A3C2A33AE4}"/>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819C1A48-45A7-DC74-9CE8-576D5F04174F}"/>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0C22A3BD-F0B4-116D-125A-C77CB598A55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780966F1-121D-BBCE-B7AD-155CE42B998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4243766-CAB9-D1FA-B0FF-0628C670A1E3}"/>
              </a:ext>
            </a:extLst>
          </p:cNvPr>
          <p:cNvSpPr>
            <a:spLocks noGrp="1"/>
          </p:cNvSpPr>
          <p:nvPr>
            <p:ph type="sldNum" sz="quarter" idx="12"/>
          </p:nvPr>
        </p:nvSpPr>
        <p:spPr/>
        <p:txBody>
          <a:bodyPr/>
          <a:lstStyle/>
          <a:p>
            <a:fld id="{0FA2D919-C0DE-4971-A2E9-D4AC0031921B}" type="slidenum">
              <a:rPr lang="en-US" noProof="0" smtClean="0"/>
              <a:t>46</a:t>
            </a:fld>
            <a:endParaRPr lang="en-US" noProof="0" dirty="0"/>
          </a:p>
        </p:txBody>
      </p:sp>
      <p:grpSp>
        <p:nvGrpSpPr>
          <p:cNvPr id="41" name="Group 40">
            <a:extLst>
              <a:ext uri="{FF2B5EF4-FFF2-40B4-BE49-F238E27FC236}">
                <a16:creationId xmlns:a16="http://schemas.microsoft.com/office/drawing/2014/main" id="{1C9B6A95-A375-8D55-92A5-1F9C3E10FFCF}"/>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320223F4-5642-FAA5-C17E-5275C19547AB}"/>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20FE9CF4-BF5D-2D79-BF34-1761B7B43A2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2EFC14BF-9BA9-99FF-F605-EFCC44DBE8FA}"/>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D78CCD21-270F-36B3-A210-D668E8388B05}"/>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04CF1931-8DB1-5937-B5EE-10B456CC296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F39866D3-45AC-A1C7-58E7-E140E4C2BC2C}"/>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D9581539-34A2-2445-FF4A-FA9D9071B744}"/>
                </a:ext>
              </a:extLst>
            </p:cNvPr>
            <p:cNvSpPr/>
            <p:nvPr/>
          </p:nvSpPr>
          <p:spPr>
            <a:xfrm>
              <a:off x="3313786" y="3686861"/>
              <a:ext cx="1080000" cy="1080000"/>
            </a:xfrm>
            <a:prstGeom prst="ellipse">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61CFDD57-158E-9DAB-60CC-AB8CB409DD9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F829CB45-105E-02A3-D870-E8FFE02AC209}"/>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DE1D84E2-0311-4F73-412F-17D0DEC6A142}"/>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1F743787-0070-9D61-1281-E921DE11387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5D167587-BC41-4DC3-8756-B191FA0FEBCF}"/>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2EB56E66-5AC5-F936-E372-93A9E1502D3C}"/>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BDF0E7DC-3360-8821-0D24-0494A5640BB0}"/>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1E856A0E-E604-9F15-B3BA-FEE30EA3F686}"/>
              </a:ext>
            </a:extLst>
          </p:cNvPr>
          <p:cNvPicPr>
            <a:picLocks noChangeAspect="1"/>
          </p:cNvPicPr>
          <p:nvPr/>
        </p:nvPicPr>
        <p:blipFill>
          <a:blip r:embed="rId5"/>
          <a:srcRect b="1"/>
          <a:stretch>
            <a:fillRect/>
          </a:stretch>
        </p:blipFill>
        <p:spPr>
          <a:xfrm>
            <a:off x="993286" y="3143256"/>
            <a:ext cx="7852126" cy="291567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86B7385-6A9A-FD62-79C3-23D98EEC5519}"/>
                  </a:ext>
                </a:extLst>
              </p:cNvPr>
              <p:cNvSpPr txBox="1"/>
              <p:nvPr/>
            </p:nvSpPr>
            <p:spPr>
              <a:xfrm>
                <a:off x="8891933" y="4462594"/>
                <a:ext cx="2180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2" name="TextBox 1">
                <a:extLst>
                  <a:ext uri="{FF2B5EF4-FFF2-40B4-BE49-F238E27FC236}">
                    <a16:creationId xmlns:a16="http://schemas.microsoft.com/office/drawing/2014/main" id="{286B7385-6A9A-FD62-79C3-23D98EEC5519}"/>
                  </a:ext>
                </a:extLst>
              </p:cNvPr>
              <p:cNvSpPr txBox="1">
                <a:spLocks noRot="1" noChangeAspect="1" noMove="1" noResize="1" noEditPoints="1" noAdjustHandles="1" noChangeArrowheads="1" noChangeShapeType="1" noTextEdit="1"/>
              </p:cNvSpPr>
              <p:nvPr/>
            </p:nvSpPr>
            <p:spPr>
              <a:xfrm>
                <a:off x="8891933" y="4462594"/>
                <a:ext cx="2180533" cy="276999"/>
              </a:xfrm>
              <a:prstGeom prst="rect">
                <a:avLst/>
              </a:prstGeom>
              <a:blipFill>
                <a:blip r:embed="rId9"/>
                <a:stretch>
                  <a:fillRect l="-1401" t="-2222" r="-2801"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C36C5A-FF1D-7CA3-354A-ABF4162B3DE1}"/>
                  </a:ext>
                </a:extLst>
              </p:cNvPr>
              <p:cNvSpPr txBox="1"/>
              <p:nvPr/>
            </p:nvSpPr>
            <p:spPr>
              <a:xfrm>
                <a:off x="8845412" y="3163674"/>
                <a:ext cx="32469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1</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r>
                        <a:rPr lang="en-US" b="0" i="1" noProof="0" smtClean="0">
                          <a:latin typeface="Cambria Math" panose="02040503050406030204" pitchFamily="18" charset="0"/>
                        </a:rPr>
                        <m:t>+</m:t>
                      </m:r>
                      <m:r>
                        <a:rPr lang="en-US" b="0" i="1" noProof="0" smtClean="0">
                          <a:solidFill>
                            <a:schemeClr val="bg1">
                              <a:lumMod val="50000"/>
                            </a:schemeClr>
                          </a:solidFill>
                          <a:latin typeface="Cambria Math" panose="02040503050406030204" pitchFamily="18" charset="0"/>
                        </a:rPr>
                        <m:t>𝑠𝑢𝑐𝑐𝑒𝑠𝑠</m:t>
                      </m:r>
                    </m:oMath>
                  </m:oMathPara>
                </a14:m>
                <a:endParaRPr lang="en-US" noProof="0" dirty="0"/>
              </a:p>
            </p:txBody>
          </p:sp>
        </mc:Choice>
        <mc:Fallback xmlns="">
          <p:sp>
            <p:nvSpPr>
              <p:cNvPr id="9" name="TextBox 8">
                <a:extLst>
                  <a:ext uri="{FF2B5EF4-FFF2-40B4-BE49-F238E27FC236}">
                    <a16:creationId xmlns:a16="http://schemas.microsoft.com/office/drawing/2014/main" id="{4DC36C5A-FF1D-7CA3-354A-ABF4162B3DE1}"/>
                  </a:ext>
                </a:extLst>
              </p:cNvPr>
              <p:cNvSpPr txBox="1">
                <a:spLocks noRot="1" noChangeAspect="1" noMove="1" noResize="1" noEditPoints="1" noAdjustHandles="1" noChangeArrowheads="1" noChangeShapeType="1" noTextEdit="1"/>
              </p:cNvSpPr>
              <p:nvPr/>
            </p:nvSpPr>
            <p:spPr>
              <a:xfrm>
                <a:off x="8845412" y="3163674"/>
                <a:ext cx="3246979" cy="276999"/>
              </a:xfrm>
              <a:prstGeom prst="rect">
                <a:avLst/>
              </a:prstGeom>
              <a:blipFill>
                <a:blip r:embed="rId10"/>
                <a:stretch>
                  <a:fillRect l="-563" t="-2222" r="-563" b="-35556"/>
                </a:stretch>
              </a:blipFill>
            </p:spPr>
            <p:txBody>
              <a:bodyPr/>
              <a:lstStyle/>
              <a:p>
                <a:r>
                  <a:rPr lang="en-SE">
                    <a:noFill/>
                  </a:rPr>
                  <a:t> </a:t>
                </a:r>
              </a:p>
            </p:txBody>
          </p:sp>
        </mc:Fallback>
      </mc:AlternateContent>
    </p:spTree>
    <p:extLst>
      <p:ext uri="{BB962C8B-B14F-4D97-AF65-F5344CB8AC3E}">
        <p14:creationId xmlns:p14="http://schemas.microsoft.com/office/powerpoint/2010/main" val="11509397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3AC6D-FD56-99BB-45EF-7D395D7A69E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C3289E8-418C-AD07-A144-82F4A346F486}"/>
              </a:ext>
            </a:extLst>
          </p:cNvPr>
          <p:cNvSpPr>
            <a:spLocks noGrp="1"/>
          </p:cNvSpPr>
          <p:nvPr>
            <p:ph type="title"/>
          </p:nvPr>
        </p:nvSpPr>
        <p:spPr/>
        <p:txBody>
          <a:bodyPr/>
          <a:lstStyle/>
          <a:p>
            <a:r>
              <a:rPr lang="en-US" noProof="0" dirty="0"/>
              <a:t>Colliding: Common Effects</a:t>
            </a:r>
          </a:p>
        </p:txBody>
      </p:sp>
      <p:sp>
        <p:nvSpPr>
          <p:cNvPr id="8" name="Content Placeholder 7">
            <a:extLst>
              <a:ext uri="{FF2B5EF4-FFF2-40B4-BE49-F238E27FC236}">
                <a16:creationId xmlns:a16="http://schemas.microsoft.com/office/drawing/2014/main" id="{F7116176-4D08-11D7-6CA1-D543E2F9D8D6}"/>
              </a:ext>
            </a:extLst>
          </p:cNvPr>
          <p:cNvSpPr>
            <a:spLocks noGrp="1"/>
          </p:cNvSpPr>
          <p:nvPr>
            <p:ph idx="1"/>
          </p:nvPr>
        </p:nvSpPr>
        <p:spPr>
          <a:xfrm>
            <a:off x="838200" y="1825625"/>
            <a:ext cx="10515600" cy="1317631"/>
          </a:xfrm>
        </p:spPr>
        <p:txBody>
          <a:bodyPr>
            <a:normAutofit/>
          </a:bodyPr>
          <a:lstStyle/>
          <a:p>
            <a:pPr marL="0" indent="0">
              <a:buNone/>
            </a:pPr>
            <a:r>
              <a:rPr lang="en-US" sz="2400" noProof="0" dirty="0"/>
              <a:t>“Does the </a:t>
            </a:r>
            <a:r>
              <a:rPr lang="en-US" sz="2400" noProof="0" dirty="0">
                <a:solidFill>
                  <a:srgbClr val="D0180A"/>
                </a:solidFill>
              </a:rPr>
              <a:t>length of a requirements specification </a:t>
            </a:r>
            <a:r>
              <a:rPr lang="en-US" sz="2400" noProof="0" dirty="0"/>
              <a:t>affect its </a:t>
            </a:r>
            <a:r>
              <a:rPr lang="en-US" sz="2400" noProof="0" dirty="0">
                <a:solidFill>
                  <a:srgbClr val="006D70"/>
                </a:solidFill>
              </a:rPr>
              <a:t>quality</a:t>
            </a:r>
            <a:r>
              <a:rPr lang="en-US" sz="2400" noProof="0" dirty="0"/>
              <a:t>? Both factors do affect whether the specified feature is </a:t>
            </a:r>
            <a:r>
              <a:rPr lang="en-US" sz="2400" noProof="0" dirty="0">
                <a:solidFill>
                  <a:schemeClr val="bg1">
                    <a:lumMod val="50000"/>
                  </a:schemeClr>
                </a:solidFill>
              </a:rPr>
              <a:t>implemented successfully</a:t>
            </a:r>
            <a:r>
              <a:rPr lang="en-US" sz="2400" noProof="0" dirty="0"/>
              <a:t>.”</a:t>
            </a:r>
          </a:p>
        </p:txBody>
      </p:sp>
      <p:sp>
        <p:nvSpPr>
          <p:cNvPr id="4" name="Date Placeholder 3">
            <a:extLst>
              <a:ext uri="{FF2B5EF4-FFF2-40B4-BE49-F238E27FC236}">
                <a16:creationId xmlns:a16="http://schemas.microsoft.com/office/drawing/2014/main" id="{EA71E1AE-5B71-5FCC-0DDF-D27DCEFB04B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6175B06-CB77-7998-2CB3-0056E88EF001}"/>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59EBABA-373C-E437-135F-B503957FAEBD}"/>
              </a:ext>
            </a:extLst>
          </p:cNvPr>
          <p:cNvSpPr>
            <a:spLocks noGrp="1"/>
          </p:cNvSpPr>
          <p:nvPr>
            <p:ph type="sldNum" sz="quarter" idx="12"/>
          </p:nvPr>
        </p:nvSpPr>
        <p:spPr/>
        <p:txBody>
          <a:bodyPr/>
          <a:lstStyle/>
          <a:p>
            <a:fld id="{0FA2D919-C0DE-4971-A2E9-D4AC0031921B}" type="slidenum">
              <a:rPr lang="en-US" noProof="0" smtClean="0"/>
              <a:t>47</a:t>
            </a:fld>
            <a:endParaRPr lang="en-US" noProof="0" dirty="0"/>
          </a:p>
        </p:txBody>
      </p:sp>
      <p:grpSp>
        <p:nvGrpSpPr>
          <p:cNvPr id="41" name="Group 40">
            <a:extLst>
              <a:ext uri="{FF2B5EF4-FFF2-40B4-BE49-F238E27FC236}">
                <a16:creationId xmlns:a16="http://schemas.microsoft.com/office/drawing/2014/main" id="{62204BDC-C904-A79B-3F59-96F3B05F1FF8}"/>
              </a:ext>
            </a:extLst>
          </p:cNvPr>
          <p:cNvGrpSpPr/>
          <p:nvPr/>
        </p:nvGrpSpPr>
        <p:grpSpPr>
          <a:xfrm>
            <a:off x="965686" y="1392537"/>
            <a:ext cx="360000" cy="360000"/>
            <a:chOff x="3313786" y="3686861"/>
            <a:chExt cx="1080000" cy="1080000"/>
          </a:xfrm>
        </p:grpSpPr>
        <p:sp>
          <p:nvSpPr>
            <p:cNvPr id="43" name="Oval 42">
              <a:extLst>
                <a:ext uri="{FF2B5EF4-FFF2-40B4-BE49-F238E27FC236}">
                  <a16:creationId xmlns:a16="http://schemas.microsoft.com/office/drawing/2014/main" id="{78823E87-DD3B-D654-62B5-4D5C99A1730F}"/>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Influencer with solid fill">
              <a:extLst>
                <a:ext uri="{FF2B5EF4-FFF2-40B4-BE49-F238E27FC236}">
                  <a16:creationId xmlns:a16="http://schemas.microsoft.com/office/drawing/2014/main" id="{6C602296-E2D0-B000-FD5E-219D13BB3D7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grpSp>
        <p:nvGrpSpPr>
          <p:cNvPr id="46" name="Group 45">
            <a:extLst>
              <a:ext uri="{FF2B5EF4-FFF2-40B4-BE49-F238E27FC236}">
                <a16:creationId xmlns:a16="http://schemas.microsoft.com/office/drawing/2014/main" id="{FA6C31B9-C4FA-5D91-CB21-DC57FCD180FE}"/>
              </a:ext>
            </a:extLst>
          </p:cNvPr>
          <p:cNvGrpSpPr/>
          <p:nvPr/>
        </p:nvGrpSpPr>
        <p:grpSpPr>
          <a:xfrm>
            <a:off x="1672335" y="1392537"/>
            <a:ext cx="360000" cy="360000"/>
            <a:chOff x="3313786" y="3686861"/>
            <a:chExt cx="1080000" cy="1080000"/>
          </a:xfrm>
        </p:grpSpPr>
        <p:sp>
          <p:nvSpPr>
            <p:cNvPr id="48" name="Oval 47">
              <a:extLst>
                <a:ext uri="{FF2B5EF4-FFF2-40B4-BE49-F238E27FC236}">
                  <a16:creationId xmlns:a16="http://schemas.microsoft.com/office/drawing/2014/main" id="{5DB2BDA9-7548-E589-A6A0-1F905B035D04}"/>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9" name="Graphic 48" descr="Single gear with solid fill">
              <a:extLst>
                <a:ext uri="{FF2B5EF4-FFF2-40B4-BE49-F238E27FC236}">
                  <a16:creationId xmlns:a16="http://schemas.microsoft.com/office/drawing/2014/main" id="{D4C5F1D7-C9FE-17C4-C51E-E88C9ADAB8D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grpSp>
        <p:nvGrpSpPr>
          <p:cNvPr id="51" name="Group 50">
            <a:extLst>
              <a:ext uri="{FF2B5EF4-FFF2-40B4-BE49-F238E27FC236}">
                <a16:creationId xmlns:a16="http://schemas.microsoft.com/office/drawing/2014/main" id="{718B2F05-0140-F7D1-0205-13A9B8B331FB}"/>
              </a:ext>
            </a:extLst>
          </p:cNvPr>
          <p:cNvGrpSpPr/>
          <p:nvPr/>
        </p:nvGrpSpPr>
        <p:grpSpPr>
          <a:xfrm>
            <a:off x="2392335" y="1392537"/>
            <a:ext cx="360000" cy="360000"/>
            <a:chOff x="3313786" y="3686861"/>
            <a:chExt cx="1080000" cy="1080000"/>
          </a:xfrm>
        </p:grpSpPr>
        <p:sp>
          <p:nvSpPr>
            <p:cNvPr id="53" name="Oval 52">
              <a:extLst>
                <a:ext uri="{FF2B5EF4-FFF2-40B4-BE49-F238E27FC236}">
                  <a16:creationId xmlns:a16="http://schemas.microsoft.com/office/drawing/2014/main" id="{461771D1-9CF3-9ABE-06F2-B3044096EE1B}"/>
                </a:ext>
              </a:extLst>
            </p:cNvPr>
            <p:cNvSpPr/>
            <p:nvPr/>
          </p:nvSpPr>
          <p:spPr>
            <a:xfrm>
              <a:off x="3313786" y="3686861"/>
              <a:ext cx="1080000" cy="1080000"/>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4" name="Graphic 53" descr="Normal Distribution with solid fill">
              <a:extLst>
                <a:ext uri="{FF2B5EF4-FFF2-40B4-BE49-F238E27FC236}">
                  <a16:creationId xmlns:a16="http://schemas.microsoft.com/office/drawing/2014/main" id="{D6F988DE-4B36-08CE-711C-6959F6CAE53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grpSp>
        <p:nvGrpSpPr>
          <p:cNvPr id="56" name="Group 55">
            <a:extLst>
              <a:ext uri="{FF2B5EF4-FFF2-40B4-BE49-F238E27FC236}">
                <a16:creationId xmlns:a16="http://schemas.microsoft.com/office/drawing/2014/main" id="{69C41548-9BE8-2D75-D64D-B62F30BEA047}"/>
              </a:ext>
            </a:extLst>
          </p:cNvPr>
          <p:cNvGrpSpPr/>
          <p:nvPr/>
        </p:nvGrpSpPr>
        <p:grpSpPr>
          <a:xfrm>
            <a:off x="3098984" y="1392537"/>
            <a:ext cx="360000" cy="360000"/>
            <a:chOff x="3313786" y="3686861"/>
            <a:chExt cx="1080000" cy="1080000"/>
          </a:xfrm>
        </p:grpSpPr>
        <p:sp>
          <p:nvSpPr>
            <p:cNvPr id="58" name="Oval 57">
              <a:extLst>
                <a:ext uri="{FF2B5EF4-FFF2-40B4-BE49-F238E27FC236}">
                  <a16:creationId xmlns:a16="http://schemas.microsoft.com/office/drawing/2014/main" id="{36F32947-1844-D493-A05F-6582A0E0DAD7}"/>
                </a:ext>
              </a:extLst>
            </p:cNvPr>
            <p:cNvSpPr/>
            <p:nvPr/>
          </p:nvSpPr>
          <p:spPr>
            <a:xfrm>
              <a:off x="3313786" y="3686861"/>
              <a:ext cx="1080000" cy="1080000"/>
            </a:xfrm>
            <a:prstGeom prst="ellipse">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Influencer with solid fill">
              <a:extLst>
                <a:ext uri="{FF2B5EF4-FFF2-40B4-BE49-F238E27FC236}">
                  <a16:creationId xmlns:a16="http://schemas.microsoft.com/office/drawing/2014/main" id="{AE4083D3-7AC6-C6B1-81C1-3BAC5A1802C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96586" y="3769661"/>
              <a:ext cx="914400" cy="914400"/>
            </a:xfrm>
            <a:prstGeom prst="rect">
              <a:avLst/>
            </a:prstGeom>
          </p:spPr>
        </p:pic>
      </p:grpSp>
      <p:cxnSp>
        <p:nvCxnSpPr>
          <p:cNvPr id="60" name="Straight Arrow Connector 59">
            <a:extLst>
              <a:ext uri="{FF2B5EF4-FFF2-40B4-BE49-F238E27FC236}">
                <a16:creationId xmlns:a16="http://schemas.microsoft.com/office/drawing/2014/main" id="{AC739A8D-8ACB-D771-E17B-0CB24300B533}"/>
              </a:ext>
            </a:extLst>
          </p:cNvPr>
          <p:cNvCxnSpPr>
            <a:stCxn id="43" idx="6"/>
            <a:endCxn id="48" idx="2"/>
          </p:cNvCxnSpPr>
          <p:nvPr/>
        </p:nvCxnSpPr>
        <p:spPr>
          <a:xfrm>
            <a:off x="1325686"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7DF9C0D7-45B8-D0BE-A065-5FA98615F3E9}"/>
              </a:ext>
            </a:extLst>
          </p:cNvPr>
          <p:cNvCxnSpPr>
            <a:cxnSpLocks/>
            <a:stCxn id="48" idx="6"/>
            <a:endCxn id="53" idx="2"/>
          </p:cNvCxnSpPr>
          <p:nvPr/>
        </p:nvCxnSpPr>
        <p:spPr>
          <a:xfrm>
            <a:off x="2032335" y="1572537"/>
            <a:ext cx="36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4F5CC98A-8B8C-21F7-E904-47D2E0367B6C}"/>
              </a:ext>
            </a:extLst>
          </p:cNvPr>
          <p:cNvCxnSpPr>
            <a:cxnSpLocks/>
            <a:stCxn id="53" idx="6"/>
            <a:endCxn id="58" idx="2"/>
          </p:cNvCxnSpPr>
          <p:nvPr/>
        </p:nvCxnSpPr>
        <p:spPr>
          <a:xfrm>
            <a:off x="2752335" y="1572537"/>
            <a:ext cx="34664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C8D4E8BA-FDA5-8BEF-C09E-F3A2F146E3B7}"/>
              </a:ext>
            </a:extLst>
          </p:cNvPr>
          <p:cNvGrpSpPr/>
          <p:nvPr/>
        </p:nvGrpSpPr>
        <p:grpSpPr>
          <a:xfrm>
            <a:off x="4808088" y="3678745"/>
            <a:ext cx="2563289" cy="432000"/>
            <a:chOff x="4604412" y="1893985"/>
            <a:chExt cx="2563289" cy="432000"/>
          </a:xfrm>
        </p:grpSpPr>
        <p:sp>
          <p:nvSpPr>
            <p:cNvPr id="17" name="Arrow: Pentagon 16">
              <a:extLst>
                <a:ext uri="{FF2B5EF4-FFF2-40B4-BE49-F238E27FC236}">
                  <a16:creationId xmlns:a16="http://schemas.microsoft.com/office/drawing/2014/main" id="{D08446F8-3D19-B1DA-9814-EE377BBA673B}"/>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8" name="Graphic 17" descr="Connections with solid fill">
              <a:extLst>
                <a:ext uri="{FF2B5EF4-FFF2-40B4-BE49-F238E27FC236}">
                  <a16:creationId xmlns:a16="http://schemas.microsoft.com/office/drawing/2014/main" id="{30B44D3A-1B46-FB1F-D56E-2487A70510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8A88B5C-38D1-13E9-4ABB-59A7232D28C5}"/>
                  </a:ext>
                </a:extLst>
              </p:cNvPr>
              <p:cNvSpPr txBox="1"/>
              <p:nvPr/>
            </p:nvSpPr>
            <p:spPr>
              <a:xfrm>
                <a:off x="7602992" y="3361158"/>
                <a:ext cx="32416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trike="sngStrike" noProof="0" smtClean="0">
                              <a:solidFill>
                                <a:schemeClr val="bg1">
                                  <a:lumMod val="85000"/>
                                </a:schemeClr>
                              </a:solidFill>
                              <a:latin typeface="Cambria Math" panose="02040503050406030204" pitchFamily="18" charset="0"/>
                            </a:rPr>
                          </m:ctrlPr>
                        </m:sSubPr>
                        <m:e>
                          <m:r>
                            <a:rPr lang="en-US" b="0" i="1" strike="sngStrike" noProof="0" smtClean="0">
                              <a:solidFill>
                                <a:schemeClr val="bg1">
                                  <a:lumMod val="85000"/>
                                </a:schemeClr>
                              </a:solidFill>
                              <a:latin typeface="Cambria Math" panose="02040503050406030204" pitchFamily="18" charset="0"/>
                            </a:rPr>
                            <m:t>𝑚</m:t>
                          </m:r>
                        </m:e>
                        <m:sub>
                          <m:r>
                            <a:rPr lang="en-US" b="0" i="1" strike="sngStrike" noProof="0" smtClean="0">
                              <a:solidFill>
                                <a:schemeClr val="bg1">
                                  <a:lumMod val="85000"/>
                                </a:schemeClr>
                              </a:solidFill>
                              <a:latin typeface="Cambria Math" panose="02040503050406030204" pitchFamily="18" charset="0"/>
                            </a:rPr>
                            <m:t>1</m:t>
                          </m:r>
                        </m:sub>
                      </m:sSub>
                      <m:r>
                        <a:rPr lang="en-US" b="0" i="1" strike="sngStrike" noProof="0" smtClean="0">
                          <a:solidFill>
                            <a:schemeClr val="bg1">
                              <a:lumMod val="85000"/>
                            </a:schemeClr>
                          </a:solidFill>
                          <a:latin typeface="Cambria Math" panose="02040503050406030204" pitchFamily="18" charset="0"/>
                        </a:rPr>
                        <m:t>:</m:t>
                      </m:r>
                      <m:r>
                        <a:rPr lang="en-US" b="0" i="1" strike="sngStrike" noProof="0" smtClean="0">
                          <a:solidFill>
                            <a:srgbClr val="00BFC4"/>
                          </a:solidFill>
                          <a:latin typeface="Cambria Math" panose="02040503050406030204" pitchFamily="18" charset="0"/>
                        </a:rPr>
                        <m:t>𝑞𝑢𝑎𝑙𝑖𝑡𝑦</m:t>
                      </m:r>
                      <m:r>
                        <a:rPr lang="en-US" b="0" i="1" strike="sngStrike" noProof="0" smtClean="0">
                          <a:solidFill>
                            <a:schemeClr val="bg1">
                              <a:lumMod val="85000"/>
                            </a:schemeClr>
                          </a:solidFill>
                          <a:latin typeface="Cambria Math" panose="02040503050406030204" pitchFamily="18" charset="0"/>
                        </a:rPr>
                        <m:t>~1+</m:t>
                      </m:r>
                      <m:r>
                        <a:rPr lang="en-US" b="0" i="1" strike="sngStrike" noProof="0" smtClean="0">
                          <a:solidFill>
                            <a:srgbClr val="F8766D"/>
                          </a:solidFill>
                          <a:latin typeface="Cambria Math" panose="02040503050406030204" pitchFamily="18" charset="0"/>
                        </a:rPr>
                        <m:t>𝑠𝑖𝑧𝑒</m:t>
                      </m:r>
                      <m:r>
                        <a:rPr lang="en-US" i="1" strike="sngStrike" noProof="0" smtClean="0">
                          <a:solidFill>
                            <a:schemeClr val="bg1">
                              <a:lumMod val="85000"/>
                            </a:schemeClr>
                          </a:solidFill>
                          <a:latin typeface="Cambria Math" panose="02040503050406030204" pitchFamily="18" charset="0"/>
                        </a:rPr>
                        <m:t>+</m:t>
                      </m:r>
                      <m:r>
                        <a:rPr lang="en-US" b="0" i="1" strike="sngStrike" noProof="0" smtClean="0">
                          <a:solidFill>
                            <a:schemeClr val="bg1">
                              <a:lumMod val="50000"/>
                            </a:schemeClr>
                          </a:solidFill>
                          <a:latin typeface="Cambria Math" panose="02040503050406030204" pitchFamily="18" charset="0"/>
                        </a:rPr>
                        <m:t>𝑠𝑢𝑐𝑐𝑒𝑠𝑠</m:t>
                      </m:r>
                    </m:oMath>
                  </m:oMathPara>
                </a14:m>
                <a:endParaRPr lang="en-US" strike="sngStrike" noProof="0" dirty="0"/>
              </a:p>
            </p:txBody>
          </p:sp>
        </mc:Choice>
        <mc:Fallback xmlns="">
          <p:sp>
            <p:nvSpPr>
              <p:cNvPr id="19" name="TextBox 18">
                <a:extLst>
                  <a:ext uri="{FF2B5EF4-FFF2-40B4-BE49-F238E27FC236}">
                    <a16:creationId xmlns:a16="http://schemas.microsoft.com/office/drawing/2014/main" id="{C8A88B5C-38D1-13E9-4ABB-59A7232D28C5}"/>
                  </a:ext>
                </a:extLst>
              </p:cNvPr>
              <p:cNvSpPr txBox="1">
                <a:spLocks noRot="1" noChangeAspect="1" noMove="1" noResize="1" noEditPoints="1" noAdjustHandles="1" noChangeArrowheads="1" noChangeShapeType="1" noTextEdit="1"/>
              </p:cNvSpPr>
              <p:nvPr/>
            </p:nvSpPr>
            <p:spPr>
              <a:xfrm>
                <a:off x="7602992" y="3361158"/>
                <a:ext cx="3241657" cy="276999"/>
              </a:xfrm>
              <a:prstGeom prst="rect">
                <a:avLst/>
              </a:prstGeom>
              <a:blipFill>
                <a:blip r:embed="rId10"/>
                <a:stretch>
                  <a:fillRect l="-752" t="-2174" r="-752"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477CFBB-21B7-199F-D6B8-C88A2CFA1939}"/>
                  </a:ext>
                </a:extLst>
              </p:cNvPr>
              <p:cNvSpPr txBox="1"/>
              <p:nvPr/>
            </p:nvSpPr>
            <p:spPr>
              <a:xfrm>
                <a:off x="7602992" y="3932647"/>
                <a:ext cx="21858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2</m:t>
                          </m:r>
                        </m:sub>
                      </m:sSub>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𝑞𝑢𝑎𝑙𝑖𝑡𝑦</m:t>
                      </m:r>
                      <m:r>
                        <a:rPr lang="en-US" b="0" i="1" noProof="0" smtClean="0">
                          <a:latin typeface="Cambria Math" panose="02040503050406030204" pitchFamily="18" charset="0"/>
                        </a:rPr>
                        <m:t>~1+</m:t>
                      </m:r>
                      <m:r>
                        <a:rPr lang="en-US" b="0" i="1" noProof="0" smtClean="0">
                          <a:solidFill>
                            <a:srgbClr val="D0180A"/>
                          </a:solidFill>
                          <a:latin typeface="Cambria Math" panose="02040503050406030204" pitchFamily="18" charset="0"/>
                        </a:rPr>
                        <m:t>𝑠𝑖𝑧𝑒</m:t>
                      </m:r>
                    </m:oMath>
                  </m:oMathPara>
                </a14:m>
                <a:endParaRPr lang="en-US" noProof="0" dirty="0"/>
              </a:p>
            </p:txBody>
          </p:sp>
        </mc:Choice>
        <mc:Fallback xmlns="">
          <p:sp>
            <p:nvSpPr>
              <p:cNvPr id="20" name="TextBox 19">
                <a:extLst>
                  <a:ext uri="{FF2B5EF4-FFF2-40B4-BE49-F238E27FC236}">
                    <a16:creationId xmlns:a16="http://schemas.microsoft.com/office/drawing/2014/main" id="{3477CFBB-21B7-199F-D6B8-C88A2CFA1939}"/>
                  </a:ext>
                </a:extLst>
              </p:cNvPr>
              <p:cNvSpPr txBox="1">
                <a:spLocks noRot="1" noChangeAspect="1" noMove="1" noResize="1" noEditPoints="1" noAdjustHandles="1" noChangeArrowheads="1" noChangeShapeType="1" noTextEdit="1"/>
              </p:cNvSpPr>
              <p:nvPr/>
            </p:nvSpPr>
            <p:spPr>
              <a:xfrm>
                <a:off x="7602992" y="3932647"/>
                <a:ext cx="2185855" cy="276999"/>
              </a:xfrm>
              <a:prstGeom prst="rect">
                <a:avLst/>
              </a:prstGeom>
              <a:blipFill>
                <a:blip r:embed="rId11"/>
                <a:stretch>
                  <a:fillRect l="-1393" t="-2174" r="-2228" b="-32609"/>
                </a:stretch>
              </a:blipFill>
            </p:spPr>
            <p:txBody>
              <a:bodyPr/>
              <a:lstStyle/>
              <a:p>
                <a:r>
                  <a:rPr lang="en-SE">
                    <a:noFill/>
                  </a:rPr>
                  <a:t> </a:t>
                </a:r>
              </a:p>
            </p:txBody>
          </p:sp>
        </mc:Fallback>
      </mc:AlternateContent>
      <p:grpSp>
        <p:nvGrpSpPr>
          <p:cNvPr id="21" name="Group 20">
            <a:extLst>
              <a:ext uri="{FF2B5EF4-FFF2-40B4-BE49-F238E27FC236}">
                <a16:creationId xmlns:a16="http://schemas.microsoft.com/office/drawing/2014/main" id="{10D81A56-66A1-94BD-DB44-647454877D26}"/>
              </a:ext>
            </a:extLst>
          </p:cNvPr>
          <p:cNvGrpSpPr/>
          <p:nvPr/>
        </p:nvGrpSpPr>
        <p:grpSpPr>
          <a:xfrm>
            <a:off x="838200" y="5248387"/>
            <a:ext cx="10515599" cy="946595"/>
            <a:chOff x="775411" y="5230368"/>
            <a:chExt cx="10515599" cy="946595"/>
          </a:xfrm>
        </p:grpSpPr>
        <p:sp>
          <p:nvSpPr>
            <p:cNvPr id="22" name="Rectangle: Rounded Corners 21">
              <a:extLst>
                <a:ext uri="{FF2B5EF4-FFF2-40B4-BE49-F238E27FC236}">
                  <a16:creationId xmlns:a16="http://schemas.microsoft.com/office/drawing/2014/main" id="{DB7A3BA9-62A9-C722-FF83-B7D0BA1B35E9}"/>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If both </a:t>
              </a:r>
              <a:r>
                <a:rPr lang="en-US" noProof="0" dirty="0">
                  <a:solidFill>
                    <a:srgbClr val="F8766D"/>
                  </a:solidFill>
                </a:rPr>
                <a:t>treatment</a:t>
              </a:r>
              <a:r>
                <a:rPr lang="en-US" noProof="0" dirty="0"/>
                <a:t> and </a:t>
              </a:r>
              <a:r>
                <a:rPr lang="en-US" noProof="0" dirty="0">
                  <a:solidFill>
                    <a:srgbClr val="00BFC4"/>
                  </a:solidFill>
                </a:rPr>
                <a:t>outcome</a:t>
              </a:r>
              <a:r>
                <a:rPr lang="en-US" noProof="0" dirty="0"/>
                <a:t> have a </a:t>
              </a:r>
              <a:r>
                <a:rPr lang="en-US" noProof="0" dirty="0">
                  <a:solidFill>
                    <a:schemeClr val="bg1">
                      <a:lumMod val="85000"/>
                    </a:schemeClr>
                  </a:solidFill>
                </a:rPr>
                <a:t>common effect</a:t>
              </a:r>
              <a:r>
                <a:rPr lang="en-US" noProof="0" dirty="0"/>
                <a:t>, we must not condition on this common effect. Consequently, we cannot simply add </a:t>
              </a:r>
              <a:r>
                <a:rPr lang="en-US" i="1" noProof="0" dirty="0"/>
                <a:t>all</a:t>
              </a:r>
              <a:r>
                <a:rPr lang="en-US" noProof="0" dirty="0"/>
                <a:t> relevant variables as predictors.</a:t>
              </a:r>
            </a:p>
          </p:txBody>
        </p:sp>
        <p:pic>
          <p:nvPicPr>
            <p:cNvPr id="23" name="Graphic 22" descr="Open quotation mark with solid fill">
              <a:extLst>
                <a:ext uri="{FF2B5EF4-FFF2-40B4-BE49-F238E27FC236}">
                  <a16:creationId xmlns:a16="http://schemas.microsoft.com/office/drawing/2014/main" id="{0BC65A9F-7394-B909-5E8D-CD23F976309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0800000">
              <a:off x="775412" y="5343665"/>
              <a:ext cx="720000" cy="720000"/>
            </a:xfrm>
            <a:prstGeom prst="rect">
              <a:avLst/>
            </a:prstGeom>
          </p:spPr>
        </p:pic>
      </p:grpSp>
      <p:grpSp>
        <p:nvGrpSpPr>
          <p:cNvPr id="38" name="Group 37">
            <a:extLst>
              <a:ext uri="{FF2B5EF4-FFF2-40B4-BE49-F238E27FC236}">
                <a16:creationId xmlns:a16="http://schemas.microsoft.com/office/drawing/2014/main" id="{6B3BE524-9911-794C-0975-E5D06C6AF7D9}"/>
              </a:ext>
            </a:extLst>
          </p:cNvPr>
          <p:cNvGrpSpPr/>
          <p:nvPr/>
        </p:nvGrpSpPr>
        <p:grpSpPr>
          <a:xfrm>
            <a:off x="728502" y="2899263"/>
            <a:ext cx="4319475" cy="1990963"/>
            <a:chOff x="666492" y="3429000"/>
            <a:chExt cx="4319475" cy="1990963"/>
          </a:xfrm>
        </p:grpSpPr>
        <p:sp>
          <p:nvSpPr>
            <p:cNvPr id="29" name="Oval 28">
              <a:extLst>
                <a:ext uri="{FF2B5EF4-FFF2-40B4-BE49-F238E27FC236}">
                  <a16:creationId xmlns:a16="http://schemas.microsoft.com/office/drawing/2014/main" id="{81931A43-BA82-2FDE-BFDC-74E868F39802}"/>
                </a:ext>
              </a:extLst>
            </p:cNvPr>
            <p:cNvSpPr/>
            <p:nvPr/>
          </p:nvSpPr>
          <p:spPr>
            <a:xfrm>
              <a:off x="1157256" y="38883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28DCB918-5FAF-EC86-956D-F2D84919E23A}"/>
                </a:ext>
              </a:extLst>
            </p:cNvPr>
            <p:cNvSpPr/>
            <p:nvPr/>
          </p:nvSpPr>
          <p:spPr>
            <a:xfrm>
              <a:off x="3648636" y="38883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1" name="Straight Arrow Connector 30">
              <a:extLst>
                <a:ext uri="{FF2B5EF4-FFF2-40B4-BE49-F238E27FC236}">
                  <a16:creationId xmlns:a16="http://schemas.microsoft.com/office/drawing/2014/main" id="{37A14433-7377-3425-E3E0-2B3D969AC668}"/>
                </a:ext>
              </a:extLst>
            </p:cNvPr>
            <p:cNvCxnSpPr>
              <a:stCxn id="29" idx="6"/>
              <a:endCxn id="30" idx="2"/>
            </p:cNvCxnSpPr>
            <p:nvPr/>
          </p:nvCxnSpPr>
          <p:spPr>
            <a:xfrm>
              <a:off x="1517256" y="406833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07A56669-0FB4-11A5-5F6C-ED3BA497DCF6}"/>
                </a:ext>
              </a:extLst>
            </p:cNvPr>
            <p:cNvSpPr txBox="1"/>
            <p:nvPr/>
          </p:nvSpPr>
          <p:spPr>
            <a:xfrm>
              <a:off x="666492" y="3429000"/>
              <a:ext cx="1905843" cy="369332"/>
            </a:xfrm>
            <a:prstGeom prst="rect">
              <a:avLst/>
            </a:prstGeom>
            <a:noFill/>
          </p:spPr>
          <p:txBody>
            <a:bodyPr wrap="none" rtlCol="0">
              <a:spAutoFit/>
            </a:bodyPr>
            <a:lstStyle/>
            <a:p>
              <a:r>
                <a:rPr lang="en-US" noProof="0" dirty="0">
                  <a:solidFill>
                    <a:srgbClr val="D0180A"/>
                  </a:solidFill>
                </a:rPr>
                <a:t>specification size</a:t>
              </a:r>
            </a:p>
          </p:txBody>
        </p:sp>
        <p:sp>
          <p:nvSpPr>
            <p:cNvPr id="33" name="TextBox 32">
              <a:extLst>
                <a:ext uri="{FF2B5EF4-FFF2-40B4-BE49-F238E27FC236}">
                  <a16:creationId xmlns:a16="http://schemas.microsoft.com/office/drawing/2014/main" id="{D25B75A1-1C1A-6454-DF7B-B31FFEE90C9E}"/>
                </a:ext>
              </a:extLst>
            </p:cNvPr>
            <p:cNvSpPr txBox="1"/>
            <p:nvPr/>
          </p:nvSpPr>
          <p:spPr>
            <a:xfrm>
              <a:off x="2791327" y="3432289"/>
              <a:ext cx="2194640" cy="369332"/>
            </a:xfrm>
            <a:prstGeom prst="rect">
              <a:avLst/>
            </a:prstGeom>
            <a:noFill/>
          </p:spPr>
          <p:txBody>
            <a:bodyPr wrap="none" rtlCol="0">
              <a:spAutoFit/>
            </a:bodyPr>
            <a:lstStyle/>
            <a:p>
              <a:r>
                <a:rPr lang="en-US" noProof="0" dirty="0">
                  <a:solidFill>
                    <a:srgbClr val="006D70"/>
                  </a:solidFill>
                </a:rPr>
                <a:t>specification quality</a:t>
              </a:r>
            </a:p>
          </p:txBody>
        </p:sp>
        <p:sp>
          <p:nvSpPr>
            <p:cNvPr id="34" name="Oval 33">
              <a:extLst>
                <a:ext uri="{FF2B5EF4-FFF2-40B4-BE49-F238E27FC236}">
                  <a16:creationId xmlns:a16="http://schemas.microsoft.com/office/drawing/2014/main" id="{DD757184-5752-D2B0-DBB3-71731AEB966C}"/>
                </a:ext>
              </a:extLst>
            </p:cNvPr>
            <p:cNvSpPr/>
            <p:nvPr/>
          </p:nvSpPr>
          <p:spPr>
            <a:xfrm>
              <a:off x="2402946" y="505996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TextBox 34">
              <a:extLst>
                <a:ext uri="{FF2B5EF4-FFF2-40B4-BE49-F238E27FC236}">
                  <a16:creationId xmlns:a16="http://schemas.microsoft.com/office/drawing/2014/main" id="{5BF220C6-9E3F-720B-4EDC-7596F4B422A7}"/>
                </a:ext>
              </a:extLst>
            </p:cNvPr>
            <p:cNvSpPr txBox="1"/>
            <p:nvPr/>
          </p:nvSpPr>
          <p:spPr>
            <a:xfrm>
              <a:off x="2791327" y="5050631"/>
              <a:ext cx="1822807" cy="369332"/>
            </a:xfrm>
            <a:prstGeom prst="rect">
              <a:avLst/>
            </a:prstGeom>
            <a:noFill/>
          </p:spPr>
          <p:txBody>
            <a:bodyPr wrap="none" rtlCol="0">
              <a:spAutoFit/>
            </a:bodyPr>
            <a:lstStyle/>
            <a:p>
              <a:r>
                <a:rPr lang="en-US" noProof="0" dirty="0">
                  <a:solidFill>
                    <a:schemeClr val="tx1">
                      <a:lumMod val="65000"/>
                      <a:lumOff val="35000"/>
                    </a:schemeClr>
                  </a:solidFill>
                </a:rPr>
                <a:t>feature success</a:t>
              </a:r>
            </a:p>
          </p:txBody>
        </p:sp>
        <p:cxnSp>
          <p:nvCxnSpPr>
            <p:cNvPr id="36" name="Straight Arrow Connector 35">
              <a:extLst>
                <a:ext uri="{FF2B5EF4-FFF2-40B4-BE49-F238E27FC236}">
                  <a16:creationId xmlns:a16="http://schemas.microsoft.com/office/drawing/2014/main" id="{09C5C728-AA05-110A-BC93-97260B3DCB39}"/>
                </a:ext>
              </a:extLst>
            </p:cNvPr>
            <p:cNvCxnSpPr>
              <a:cxnSpLocks/>
              <a:stCxn id="30" idx="3"/>
              <a:endCxn id="34" idx="7"/>
            </p:cNvCxnSpPr>
            <p:nvPr/>
          </p:nvCxnSpPr>
          <p:spPr>
            <a:xfrm flipH="1">
              <a:off x="271022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6C54813C-E9EB-905A-95EF-6F247C054184}"/>
                </a:ext>
              </a:extLst>
            </p:cNvPr>
            <p:cNvCxnSpPr>
              <a:cxnSpLocks/>
              <a:stCxn id="29" idx="5"/>
              <a:endCxn id="34" idx="1"/>
            </p:cNvCxnSpPr>
            <p:nvPr/>
          </p:nvCxnSpPr>
          <p:spPr>
            <a:xfrm>
              <a:off x="1464535" y="4195611"/>
              <a:ext cx="991132" cy="9170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121522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anim calcmode="lin" valueType="num">
                                      <p:cBhvr>
                                        <p:cTn id="8" dur="500" fill="hold"/>
                                        <p:tgtEl>
                                          <p:spTgt spid="21"/>
                                        </p:tgtEl>
                                        <p:attrNameLst>
                                          <p:attrName>ppt_x</p:attrName>
                                        </p:attrNameLst>
                                      </p:cBhvr>
                                      <p:tavLst>
                                        <p:tav tm="0">
                                          <p:val>
                                            <p:strVal val="#ppt_x"/>
                                          </p:val>
                                        </p:tav>
                                        <p:tav tm="100000">
                                          <p:val>
                                            <p:strVal val="#ppt_x"/>
                                          </p:val>
                                        </p:tav>
                                      </p:tavLst>
                                    </p:anim>
                                    <p:anim calcmode="lin" valueType="num">
                                      <p:cBhvr>
                                        <p:cTn id="9"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F78FC-3CC7-BC3A-F7A4-A4F55DE33978}"/>
              </a:ext>
            </a:extLst>
          </p:cNvPr>
          <p:cNvSpPr>
            <a:spLocks noGrp="1"/>
          </p:cNvSpPr>
          <p:nvPr>
            <p:ph type="title"/>
          </p:nvPr>
        </p:nvSpPr>
        <p:spPr/>
        <p:txBody>
          <a:bodyPr/>
          <a:lstStyle/>
          <a:p>
            <a:r>
              <a:rPr lang="en-US" noProof="0" dirty="0"/>
              <a:t>Basic Types of Association</a:t>
            </a:r>
          </a:p>
        </p:txBody>
      </p:sp>
      <p:sp>
        <p:nvSpPr>
          <p:cNvPr id="3" name="Content Placeholder 2">
            <a:extLst>
              <a:ext uri="{FF2B5EF4-FFF2-40B4-BE49-F238E27FC236}">
                <a16:creationId xmlns:a16="http://schemas.microsoft.com/office/drawing/2014/main" id="{0DC1F0E8-F995-CEE9-0701-5FAB4336E20E}"/>
              </a:ext>
            </a:extLst>
          </p:cNvPr>
          <p:cNvSpPr>
            <a:spLocks noGrp="1"/>
          </p:cNvSpPr>
          <p:nvPr>
            <p:ph idx="1"/>
          </p:nvPr>
        </p:nvSpPr>
        <p:spPr>
          <a:xfrm>
            <a:off x="838200" y="1825625"/>
            <a:ext cx="10515600" cy="785495"/>
          </a:xfrm>
        </p:spPr>
        <p:txBody>
          <a:bodyPr/>
          <a:lstStyle/>
          <a:p>
            <a:pPr marL="0" indent="0">
              <a:buNone/>
            </a:pPr>
            <a:r>
              <a:rPr lang="en-US" noProof="0" dirty="0"/>
              <a:t>There are three basic types of association</a:t>
            </a:r>
          </a:p>
        </p:txBody>
      </p:sp>
      <p:sp>
        <p:nvSpPr>
          <p:cNvPr id="4" name="Date Placeholder 3">
            <a:extLst>
              <a:ext uri="{FF2B5EF4-FFF2-40B4-BE49-F238E27FC236}">
                <a16:creationId xmlns:a16="http://schemas.microsoft.com/office/drawing/2014/main" id="{BA317C87-F1E5-83F5-7A17-FEF5E044822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970F16E-DEB5-CD64-3B67-DBDFB55507C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15F8A4A-64DB-81A6-5725-DE9026D3DBC9}"/>
              </a:ext>
            </a:extLst>
          </p:cNvPr>
          <p:cNvSpPr>
            <a:spLocks noGrp="1"/>
          </p:cNvSpPr>
          <p:nvPr>
            <p:ph type="sldNum" sz="quarter" idx="12"/>
          </p:nvPr>
        </p:nvSpPr>
        <p:spPr/>
        <p:txBody>
          <a:bodyPr/>
          <a:lstStyle/>
          <a:p>
            <a:fld id="{0FA2D919-C0DE-4971-A2E9-D4AC0031921B}" type="slidenum">
              <a:rPr lang="en-US" noProof="0" smtClean="0"/>
              <a:t>48</a:t>
            </a:fld>
            <a:endParaRPr lang="en-US" noProof="0" dirty="0"/>
          </a:p>
        </p:txBody>
      </p:sp>
      <p:grpSp>
        <p:nvGrpSpPr>
          <p:cNvPr id="7" name="Group 6">
            <a:extLst>
              <a:ext uri="{FF2B5EF4-FFF2-40B4-BE49-F238E27FC236}">
                <a16:creationId xmlns:a16="http://schemas.microsoft.com/office/drawing/2014/main" id="{BE445FD8-69C7-3822-A44C-7F67DEB3A51F}"/>
              </a:ext>
            </a:extLst>
          </p:cNvPr>
          <p:cNvGrpSpPr/>
          <p:nvPr/>
        </p:nvGrpSpPr>
        <p:grpSpPr>
          <a:xfrm>
            <a:off x="2139515" y="2971029"/>
            <a:ext cx="1441885" cy="2004259"/>
            <a:chOff x="2207915" y="3756524"/>
            <a:chExt cx="1441885" cy="2004259"/>
          </a:xfrm>
        </p:grpSpPr>
        <p:grpSp>
          <p:nvGrpSpPr>
            <p:cNvPr id="8" name="Group 7">
              <a:extLst>
                <a:ext uri="{FF2B5EF4-FFF2-40B4-BE49-F238E27FC236}">
                  <a16:creationId xmlns:a16="http://schemas.microsoft.com/office/drawing/2014/main" id="{0D167C0E-174C-A68E-A267-6B2CE06F9E2D}"/>
                </a:ext>
              </a:extLst>
            </p:cNvPr>
            <p:cNvGrpSpPr/>
            <p:nvPr/>
          </p:nvGrpSpPr>
          <p:grpSpPr>
            <a:xfrm>
              <a:off x="2209800" y="3756524"/>
              <a:ext cx="1440000" cy="1440000"/>
              <a:chOff x="1665515" y="3935094"/>
              <a:chExt cx="1440000" cy="1440000"/>
            </a:xfrm>
          </p:grpSpPr>
          <p:sp>
            <p:nvSpPr>
              <p:cNvPr id="10" name="Oval 9">
                <a:extLst>
                  <a:ext uri="{FF2B5EF4-FFF2-40B4-BE49-F238E27FC236}">
                    <a16:creationId xmlns:a16="http://schemas.microsoft.com/office/drawing/2014/main" id="{86ADB02A-7748-968A-E57D-97ECE9239EB2}"/>
                  </a:ext>
                </a:extLst>
              </p:cNvPr>
              <p:cNvSpPr/>
              <p:nvPr/>
            </p:nvSpPr>
            <p:spPr>
              <a:xfrm>
                <a:off x="1665515" y="3935094"/>
                <a:ext cx="1440000" cy="144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0F5B7DCD-D427-C018-8B8D-B4DA8D6BBF66}"/>
                  </a:ext>
                </a:extLst>
              </p:cNvPr>
              <p:cNvSpPr/>
              <p:nvPr/>
            </p:nvSpPr>
            <p:spPr>
              <a:xfrm>
                <a:off x="1767840" y="451109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2B886EEF-92A6-4E5F-229F-3EB8C125AA1E}"/>
                  </a:ext>
                </a:extLst>
              </p:cNvPr>
              <p:cNvSpPr/>
              <p:nvPr/>
            </p:nvSpPr>
            <p:spPr>
              <a:xfrm>
                <a:off x="2241515" y="4510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Oval 12">
                <a:extLst>
                  <a:ext uri="{FF2B5EF4-FFF2-40B4-BE49-F238E27FC236}">
                    <a16:creationId xmlns:a16="http://schemas.microsoft.com/office/drawing/2014/main" id="{2103767B-9517-3343-4F76-D9A9A83871FF}"/>
                  </a:ext>
                </a:extLst>
              </p:cNvPr>
              <p:cNvSpPr/>
              <p:nvPr/>
            </p:nvSpPr>
            <p:spPr>
              <a:xfrm>
                <a:off x="2715190" y="4510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4" name="Straight Arrow Connector 13">
                <a:extLst>
                  <a:ext uri="{FF2B5EF4-FFF2-40B4-BE49-F238E27FC236}">
                    <a16:creationId xmlns:a16="http://schemas.microsoft.com/office/drawing/2014/main" id="{C6403836-DEAF-1763-8E2F-0CD4F00F479C}"/>
                  </a:ext>
                </a:extLst>
              </p:cNvPr>
              <p:cNvCxnSpPr>
                <a:stCxn id="11" idx="6"/>
                <a:endCxn id="12" idx="2"/>
              </p:cNvCxnSpPr>
              <p:nvPr/>
            </p:nvCxnSpPr>
            <p:spPr>
              <a:xfrm flipV="1">
                <a:off x="2055840" y="4654876"/>
                <a:ext cx="185675" cy="218"/>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50BB502-DFAF-4C15-1C5B-16A97C596058}"/>
                  </a:ext>
                </a:extLst>
              </p:cNvPr>
              <p:cNvCxnSpPr>
                <a:cxnSpLocks/>
                <a:stCxn id="12" idx="6"/>
                <a:endCxn id="13" idx="2"/>
              </p:cNvCxnSpPr>
              <p:nvPr/>
            </p:nvCxnSpPr>
            <p:spPr>
              <a:xfrm>
                <a:off x="2529515" y="4654876"/>
                <a:ext cx="18567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9" name="TextBox 8">
              <a:extLst>
                <a:ext uri="{FF2B5EF4-FFF2-40B4-BE49-F238E27FC236}">
                  <a16:creationId xmlns:a16="http://schemas.microsoft.com/office/drawing/2014/main" id="{8CCECF38-3E70-DA20-AF6E-1799C43573A7}"/>
                </a:ext>
              </a:extLst>
            </p:cNvPr>
            <p:cNvSpPr txBox="1"/>
            <p:nvPr/>
          </p:nvSpPr>
          <p:spPr>
            <a:xfrm>
              <a:off x="2207915" y="5299118"/>
              <a:ext cx="1438022" cy="461665"/>
            </a:xfrm>
            <a:prstGeom prst="rect">
              <a:avLst/>
            </a:prstGeom>
            <a:noFill/>
          </p:spPr>
          <p:txBody>
            <a:bodyPr wrap="none" rtlCol="0">
              <a:spAutoFit/>
            </a:bodyPr>
            <a:lstStyle/>
            <a:p>
              <a:pPr algn="ctr"/>
              <a:r>
                <a:rPr lang="en-US" sz="2400" b="1" noProof="0" dirty="0"/>
                <a:t>Mediator</a:t>
              </a:r>
            </a:p>
          </p:txBody>
        </p:sp>
      </p:grpSp>
      <p:grpSp>
        <p:nvGrpSpPr>
          <p:cNvPr id="16" name="Group 15">
            <a:extLst>
              <a:ext uri="{FF2B5EF4-FFF2-40B4-BE49-F238E27FC236}">
                <a16:creationId xmlns:a16="http://schemas.microsoft.com/office/drawing/2014/main" id="{E2627AD0-C4B8-37EE-BB39-F89D543036BC}"/>
              </a:ext>
            </a:extLst>
          </p:cNvPr>
          <p:cNvGrpSpPr/>
          <p:nvPr/>
        </p:nvGrpSpPr>
        <p:grpSpPr>
          <a:xfrm>
            <a:off x="5018411" y="2971029"/>
            <a:ext cx="2018377" cy="2003433"/>
            <a:chOff x="5086811" y="3756524"/>
            <a:chExt cx="2018377" cy="2003433"/>
          </a:xfrm>
        </p:grpSpPr>
        <p:grpSp>
          <p:nvGrpSpPr>
            <p:cNvPr id="17" name="Group 16">
              <a:extLst>
                <a:ext uri="{FF2B5EF4-FFF2-40B4-BE49-F238E27FC236}">
                  <a16:creationId xmlns:a16="http://schemas.microsoft.com/office/drawing/2014/main" id="{8EF5B837-7466-1624-21F2-CB1E140045C1}"/>
                </a:ext>
              </a:extLst>
            </p:cNvPr>
            <p:cNvGrpSpPr/>
            <p:nvPr/>
          </p:nvGrpSpPr>
          <p:grpSpPr>
            <a:xfrm>
              <a:off x="5376000" y="3756524"/>
              <a:ext cx="1440000" cy="1440000"/>
              <a:chOff x="1665515" y="3935094"/>
              <a:chExt cx="1440000" cy="1440000"/>
            </a:xfrm>
          </p:grpSpPr>
          <p:sp>
            <p:nvSpPr>
              <p:cNvPr id="19" name="Oval 18">
                <a:extLst>
                  <a:ext uri="{FF2B5EF4-FFF2-40B4-BE49-F238E27FC236}">
                    <a16:creationId xmlns:a16="http://schemas.microsoft.com/office/drawing/2014/main" id="{D7315C23-B3C7-F8AA-B63B-FB1DDC08813C}"/>
                  </a:ext>
                </a:extLst>
              </p:cNvPr>
              <p:cNvSpPr/>
              <p:nvPr/>
            </p:nvSpPr>
            <p:spPr>
              <a:xfrm>
                <a:off x="1665515" y="3935094"/>
                <a:ext cx="1440000" cy="144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D75A1E31-1E34-9166-90A3-9AC9C1B979E7}"/>
                  </a:ext>
                </a:extLst>
              </p:cNvPr>
              <p:cNvSpPr/>
              <p:nvPr/>
            </p:nvSpPr>
            <p:spPr>
              <a:xfrm>
                <a:off x="1767840" y="46813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BFEC00C7-7E13-2FE4-1DD1-6B733A205C37}"/>
                  </a:ext>
                </a:extLst>
              </p:cNvPr>
              <p:cNvSpPr/>
              <p:nvPr/>
            </p:nvSpPr>
            <p:spPr>
              <a:xfrm>
                <a:off x="2220833" y="4222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4117B456-7334-A543-4BF0-0FC5392788B0}"/>
                  </a:ext>
                </a:extLst>
              </p:cNvPr>
              <p:cNvSpPr/>
              <p:nvPr/>
            </p:nvSpPr>
            <p:spPr>
              <a:xfrm>
                <a:off x="2686696" y="46895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Arrow Connector 22">
                <a:extLst>
                  <a:ext uri="{FF2B5EF4-FFF2-40B4-BE49-F238E27FC236}">
                    <a16:creationId xmlns:a16="http://schemas.microsoft.com/office/drawing/2014/main" id="{F165B4F2-A253-F60F-AB17-7A4751306002}"/>
                  </a:ext>
                </a:extLst>
              </p:cNvPr>
              <p:cNvCxnSpPr>
                <a:cxnSpLocks/>
                <a:stCxn id="21" idx="3"/>
                <a:endCxn id="20" idx="7"/>
              </p:cNvCxnSpPr>
              <p:nvPr/>
            </p:nvCxnSpPr>
            <p:spPr>
              <a:xfrm flipH="1">
                <a:off x="2013663" y="4468699"/>
                <a:ext cx="249347" cy="2548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9832CB6-640D-ED08-074B-EEC2F3186364}"/>
                  </a:ext>
                </a:extLst>
              </p:cNvPr>
              <p:cNvCxnSpPr>
                <a:cxnSpLocks/>
                <a:stCxn id="21" idx="5"/>
                <a:endCxn id="22" idx="1"/>
              </p:cNvCxnSpPr>
              <p:nvPr/>
            </p:nvCxnSpPr>
            <p:spPr>
              <a:xfrm>
                <a:off x="2466656" y="4468699"/>
                <a:ext cx="262217" cy="2630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18" name="TextBox 17">
              <a:extLst>
                <a:ext uri="{FF2B5EF4-FFF2-40B4-BE49-F238E27FC236}">
                  <a16:creationId xmlns:a16="http://schemas.microsoft.com/office/drawing/2014/main" id="{16BC5666-77C1-2384-089B-A86A21392682}"/>
                </a:ext>
              </a:extLst>
            </p:cNvPr>
            <p:cNvSpPr txBox="1"/>
            <p:nvPr/>
          </p:nvSpPr>
          <p:spPr>
            <a:xfrm>
              <a:off x="5086811" y="5298292"/>
              <a:ext cx="2018377" cy="461665"/>
            </a:xfrm>
            <a:prstGeom prst="rect">
              <a:avLst/>
            </a:prstGeom>
            <a:noFill/>
          </p:spPr>
          <p:txBody>
            <a:bodyPr wrap="square" rtlCol="0">
              <a:spAutoFit/>
            </a:bodyPr>
            <a:lstStyle/>
            <a:p>
              <a:pPr algn="ctr"/>
              <a:r>
                <a:rPr lang="en-US" sz="2400" b="1" noProof="0" dirty="0"/>
                <a:t>Fork</a:t>
              </a:r>
            </a:p>
          </p:txBody>
        </p:sp>
      </p:grpSp>
      <p:grpSp>
        <p:nvGrpSpPr>
          <p:cNvPr id="25" name="Group 24">
            <a:extLst>
              <a:ext uri="{FF2B5EF4-FFF2-40B4-BE49-F238E27FC236}">
                <a16:creationId xmlns:a16="http://schemas.microsoft.com/office/drawing/2014/main" id="{8C5BF85D-51D7-69A0-9B7D-9538399EB780}"/>
              </a:ext>
            </a:extLst>
          </p:cNvPr>
          <p:cNvGrpSpPr/>
          <p:nvPr/>
        </p:nvGrpSpPr>
        <p:grpSpPr>
          <a:xfrm>
            <a:off x="8184611" y="2971029"/>
            <a:ext cx="2018377" cy="2003433"/>
            <a:chOff x="8253011" y="3756524"/>
            <a:chExt cx="2018377" cy="2003433"/>
          </a:xfrm>
        </p:grpSpPr>
        <p:grpSp>
          <p:nvGrpSpPr>
            <p:cNvPr id="26" name="Group 25">
              <a:extLst>
                <a:ext uri="{FF2B5EF4-FFF2-40B4-BE49-F238E27FC236}">
                  <a16:creationId xmlns:a16="http://schemas.microsoft.com/office/drawing/2014/main" id="{4F8BF9C0-36F3-899A-B67A-60A09BD39EB5}"/>
                </a:ext>
              </a:extLst>
            </p:cNvPr>
            <p:cNvGrpSpPr/>
            <p:nvPr/>
          </p:nvGrpSpPr>
          <p:grpSpPr>
            <a:xfrm>
              <a:off x="8542200" y="3756524"/>
              <a:ext cx="1440000" cy="1440000"/>
              <a:chOff x="1665515" y="3935094"/>
              <a:chExt cx="1440000" cy="1440000"/>
            </a:xfrm>
          </p:grpSpPr>
          <p:sp>
            <p:nvSpPr>
              <p:cNvPr id="28" name="Oval 27">
                <a:extLst>
                  <a:ext uri="{FF2B5EF4-FFF2-40B4-BE49-F238E27FC236}">
                    <a16:creationId xmlns:a16="http://schemas.microsoft.com/office/drawing/2014/main" id="{7E339AD8-BD95-0760-2437-95D4E99638BE}"/>
                  </a:ext>
                </a:extLst>
              </p:cNvPr>
              <p:cNvSpPr/>
              <p:nvPr/>
            </p:nvSpPr>
            <p:spPr>
              <a:xfrm>
                <a:off x="1665515" y="3935094"/>
                <a:ext cx="1440000" cy="144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Oval 28">
                <a:extLst>
                  <a:ext uri="{FF2B5EF4-FFF2-40B4-BE49-F238E27FC236}">
                    <a16:creationId xmlns:a16="http://schemas.microsoft.com/office/drawing/2014/main" id="{7820B945-7DCE-25EF-5CFF-153B700A0763}"/>
                  </a:ext>
                </a:extLst>
              </p:cNvPr>
              <p:cNvSpPr/>
              <p:nvPr/>
            </p:nvSpPr>
            <p:spPr>
              <a:xfrm>
                <a:off x="1767840" y="46813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9C26EE2B-5B40-9AED-8C92-5882459F9C29}"/>
                  </a:ext>
                </a:extLst>
              </p:cNvPr>
              <p:cNvSpPr/>
              <p:nvPr/>
            </p:nvSpPr>
            <p:spPr>
              <a:xfrm>
                <a:off x="2220833" y="4222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Oval 30">
                <a:extLst>
                  <a:ext uri="{FF2B5EF4-FFF2-40B4-BE49-F238E27FC236}">
                    <a16:creationId xmlns:a16="http://schemas.microsoft.com/office/drawing/2014/main" id="{7D804767-69E7-3D16-E66B-506DFA5E123F}"/>
                  </a:ext>
                </a:extLst>
              </p:cNvPr>
              <p:cNvSpPr/>
              <p:nvPr/>
            </p:nvSpPr>
            <p:spPr>
              <a:xfrm>
                <a:off x="2686696" y="46895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2" name="Straight Arrow Connector 31">
                <a:extLst>
                  <a:ext uri="{FF2B5EF4-FFF2-40B4-BE49-F238E27FC236}">
                    <a16:creationId xmlns:a16="http://schemas.microsoft.com/office/drawing/2014/main" id="{2AF6762B-48B4-E026-3EDD-6FA43B602674}"/>
                  </a:ext>
                </a:extLst>
              </p:cNvPr>
              <p:cNvCxnSpPr>
                <a:cxnSpLocks/>
                <a:stCxn id="29" idx="7"/>
                <a:endCxn id="30" idx="3"/>
              </p:cNvCxnSpPr>
              <p:nvPr/>
            </p:nvCxnSpPr>
            <p:spPr>
              <a:xfrm flipV="1">
                <a:off x="2013663" y="4468699"/>
                <a:ext cx="249347" cy="2548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6AC8B911-422C-E6D2-8320-0E9CC5FCCD1B}"/>
                  </a:ext>
                </a:extLst>
              </p:cNvPr>
              <p:cNvCxnSpPr>
                <a:cxnSpLocks/>
                <a:stCxn id="31" idx="1"/>
                <a:endCxn id="30" idx="5"/>
              </p:cNvCxnSpPr>
              <p:nvPr/>
            </p:nvCxnSpPr>
            <p:spPr>
              <a:xfrm flipH="1" flipV="1">
                <a:off x="2466656" y="4468699"/>
                <a:ext cx="262217" cy="2630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27" name="TextBox 26">
              <a:extLst>
                <a:ext uri="{FF2B5EF4-FFF2-40B4-BE49-F238E27FC236}">
                  <a16:creationId xmlns:a16="http://schemas.microsoft.com/office/drawing/2014/main" id="{A022AD05-2EA5-68C7-CEF4-E95C7EC29E76}"/>
                </a:ext>
              </a:extLst>
            </p:cNvPr>
            <p:cNvSpPr txBox="1"/>
            <p:nvPr/>
          </p:nvSpPr>
          <p:spPr>
            <a:xfrm>
              <a:off x="8253011" y="5298292"/>
              <a:ext cx="2018377" cy="461665"/>
            </a:xfrm>
            <a:prstGeom prst="rect">
              <a:avLst/>
            </a:prstGeom>
            <a:noFill/>
          </p:spPr>
          <p:txBody>
            <a:bodyPr wrap="square" rtlCol="0">
              <a:spAutoFit/>
            </a:bodyPr>
            <a:lstStyle/>
            <a:p>
              <a:pPr algn="ctr"/>
              <a:r>
                <a:rPr lang="en-US" sz="2400" b="1" noProof="0" dirty="0"/>
                <a:t>Collider</a:t>
              </a:r>
            </a:p>
          </p:txBody>
        </p:sp>
      </p:grpSp>
    </p:spTree>
    <p:extLst>
      <p:ext uri="{BB962C8B-B14F-4D97-AF65-F5344CB8AC3E}">
        <p14:creationId xmlns:p14="http://schemas.microsoft.com/office/powerpoint/2010/main" val="89842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D984-D518-32C9-4EF5-CA5E0B845B8F}"/>
              </a:ext>
            </a:extLst>
          </p:cNvPr>
          <p:cNvSpPr>
            <a:spLocks noGrp="1"/>
          </p:cNvSpPr>
          <p:nvPr>
            <p:ph type="title"/>
          </p:nvPr>
        </p:nvSpPr>
        <p:spPr/>
        <p:txBody>
          <a:bodyPr/>
          <a:lstStyle/>
          <a:p>
            <a:r>
              <a:rPr lang="en-US" noProof="0" dirty="0"/>
              <a:t>Basic Types of Association</a:t>
            </a:r>
          </a:p>
        </p:txBody>
      </p:sp>
      <p:sp>
        <p:nvSpPr>
          <p:cNvPr id="3" name="Content Placeholder 2">
            <a:extLst>
              <a:ext uri="{FF2B5EF4-FFF2-40B4-BE49-F238E27FC236}">
                <a16:creationId xmlns:a16="http://schemas.microsoft.com/office/drawing/2014/main" id="{DF62D629-A6BE-16A9-EF3B-B8F19B1A3515}"/>
              </a:ext>
            </a:extLst>
          </p:cNvPr>
          <p:cNvSpPr>
            <a:spLocks noGrp="1"/>
          </p:cNvSpPr>
          <p:nvPr>
            <p:ph idx="1"/>
          </p:nvPr>
        </p:nvSpPr>
        <p:spPr>
          <a:xfrm>
            <a:off x="838200" y="1756428"/>
            <a:ext cx="10515600" cy="1055998"/>
          </a:xfrm>
        </p:spPr>
        <p:txBody>
          <a:bodyPr/>
          <a:lstStyle/>
          <a:p>
            <a:pPr marL="0" indent="0">
              <a:buNone/>
            </a:pPr>
            <a:r>
              <a:rPr lang="en-US" noProof="0" dirty="0"/>
              <a:t>The three basic types of association behave differently when statistically controlling for the third variable:</a:t>
            </a:r>
          </a:p>
        </p:txBody>
      </p:sp>
      <p:sp>
        <p:nvSpPr>
          <p:cNvPr id="4" name="Date Placeholder 3">
            <a:extLst>
              <a:ext uri="{FF2B5EF4-FFF2-40B4-BE49-F238E27FC236}">
                <a16:creationId xmlns:a16="http://schemas.microsoft.com/office/drawing/2014/main" id="{DC513192-8CE3-79D8-EAB3-35D97F68A10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4EF2C75-983A-4A7A-D815-E2C4157A7F1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CD2B199-179A-2733-1C79-5F06954B8A01}"/>
              </a:ext>
            </a:extLst>
          </p:cNvPr>
          <p:cNvSpPr>
            <a:spLocks noGrp="1"/>
          </p:cNvSpPr>
          <p:nvPr>
            <p:ph type="sldNum" sz="quarter" idx="12"/>
          </p:nvPr>
        </p:nvSpPr>
        <p:spPr/>
        <p:txBody>
          <a:bodyPr/>
          <a:lstStyle/>
          <a:p>
            <a:fld id="{0FA2D919-C0DE-4971-A2E9-D4AC0031921B}" type="slidenum">
              <a:rPr lang="en-US" noProof="0" smtClean="0"/>
              <a:t>49</a:t>
            </a:fld>
            <a:endParaRPr lang="en-US" noProof="0" dirty="0"/>
          </a:p>
        </p:txBody>
      </p:sp>
      <p:grpSp>
        <p:nvGrpSpPr>
          <p:cNvPr id="7" name="Group 6">
            <a:extLst>
              <a:ext uri="{FF2B5EF4-FFF2-40B4-BE49-F238E27FC236}">
                <a16:creationId xmlns:a16="http://schemas.microsoft.com/office/drawing/2014/main" id="{1417CB35-192E-4836-4EA1-01566C1B79AF}"/>
              </a:ext>
            </a:extLst>
          </p:cNvPr>
          <p:cNvGrpSpPr/>
          <p:nvPr/>
        </p:nvGrpSpPr>
        <p:grpSpPr>
          <a:xfrm>
            <a:off x="1104536" y="3332345"/>
            <a:ext cx="3027383" cy="976286"/>
            <a:chOff x="1104536" y="3332345"/>
            <a:chExt cx="3027383" cy="976286"/>
          </a:xfrm>
        </p:grpSpPr>
        <p:grpSp>
          <p:nvGrpSpPr>
            <p:cNvPr id="8" name="Group 7">
              <a:extLst>
                <a:ext uri="{FF2B5EF4-FFF2-40B4-BE49-F238E27FC236}">
                  <a16:creationId xmlns:a16="http://schemas.microsoft.com/office/drawing/2014/main" id="{24D69E2B-B322-7571-AAAB-6A0FE6218E70}"/>
                </a:ext>
              </a:extLst>
            </p:cNvPr>
            <p:cNvGrpSpPr/>
            <p:nvPr/>
          </p:nvGrpSpPr>
          <p:grpSpPr>
            <a:xfrm>
              <a:off x="1104536" y="3332345"/>
              <a:ext cx="1770943" cy="976286"/>
              <a:chOff x="1023258" y="2884714"/>
              <a:chExt cx="1770943" cy="976286"/>
            </a:xfrm>
          </p:grpSpPr>
          <p:sp>
            <p:nvSpPr>
              <p:cNvPr id="10" name="Oval 9">
                <a:extLst>
                  <a:ext uri="{FF2B5EF4-FFF2-40B4-BE49-F238E27FC236}">
                    <a16:creationId xmlns:a16="http://schemas.microsoft.com/office/drawing/2014/main" id="{DFDD9DE8-5D0C-50C5-6969-341E7A74E543}"/>
                  </a:ext>
                </a:extLst>
              </p:cNvPr>
              <p:cNvSpPr/>
              <p:nvPr/>
            </p:nvSpPr>
            <p:spPr>
              <a:xfrm>
                <a:off x="1023258"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x</a:t>
                </a:r>
              </a:p>
            </p:txBody>
          </p:sp>
          <p:sp>
            <p:nvSpPr>
              <p:cNvPr id="11" name="Oval 10">
                <a:extLst>
                  <a:ext uri="{FF2B5EF4-FFF2-40B4-BE49-F238E27FC236}">
                    <a16:creationId xmlns:a16="http://schemas.microsoft.com/office/drawing/2014/main" id="{445B7CEA-6BDB-91C1-957A-C63B1EA7C8A7}"/>
                  </a:ext>
                </a:extLst>
              </p:cNvPr>
              <p:cNvSpPr/>
              <p:nvPr/>
            </p:nvSpPr>
            <p:spPr>
              <a:xfrm>
                <a:off x="2362201"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y</a:t>
                </a:r>
              </a:p>
            </p:txBody>
          </p:sp>
          <p:sp>
            <p:nvSpPr>
              <p:cNvPr id="12" name="Oval 11">
                <a:extLst>
                  <a:ext uri="{FF2B5EF4-FFF2-40B4-BE49-F238E27FC236}">
                    <a16:creationId xmlns:a16="http://schemas.microsoft.com/office/drawing/2014/main" id="{D45484AE-A60F-229C-7975-BD2E1378366C}"/>
                  </a:ext>
                </a:extLst>
              </p:cNvPr>
              <p:cNvSpPr/>
              <p:nvPr/>
            </p:nvSpPr>
            <p:spPr>
              <a:xfrm>
                <a:off x="1692729" y="2884714"/>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z</a:t>
                </a:r>
              </a:p>
            </p:txBody>
          </p:sp>
          <p:cxnSp>
            <p:nvCxnSpPr>
              <p:cNvPr id="13" name="Straight Arrow Connector 12">
                <a:extLst>
                  <a:ext uri="{FF2B5EF4-FFF2-40B4-BE49-F238E27FC236}">
                    <a16:creationId xmlns:a16="http://schemas.microsoft.com/office/drawing/2014/main" id="{26D17BA5-4FA1-BD56-558C-DCBFB7E311D6}"/>
                  </a:ext>
                </a:extLst>
              </p:cNvPr>
              <p:cNvCxnSpPr>
                <a:cxnSpLocks/>
                <a:stCxn id="10" idx="6"/>
                <a:endCxn id="11" idx="2"/>
              </p:cNvCxnSpPr>
              <p:nvPr/>
            </p:nvCxnSpPr>
            <p:spPr>
              <a:xfrm>
                <a:off x="1455258" y="3645000"/>
                <a:ext cx="90694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508754A-BEC0-644D-D501-191D5A563A5E}"/>
                  </a:ext>
                </a:extLst>
              </p:cNvPr>
              <p:cNvCxnSpPr>
                <a:cxnSpLocks/>
                <a:stCxn id="10" idx="7"/>
                <a:endCxn id="12" idx="3"/>
              </p:cNvCxnSpPr>
              <p:nvPr/>
            </p:nvCxnSpPr>
            <p:spPr>
              <a:xfrm flipV="1">
                <a:off x="1391993" y="3253449"/>
                <a:ext cx="364001"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401AB95-2FDD-A670-2039-6D21C9E6C9C5}"/>
                  </a:ext>
                </a:extLst>
              </p:cNvPr>
              <p:cNvCxnSpPr>
                <a:cxnSpLocks/>
                <a:stCxn id="12" idx="5"/>
                <a:endCxn id="11" idx="1"/>
              </p:cNvCxnSpPr>
              <p:nvPr/>
            </p:nvCxnSpPr>
            <p:spPr>
              <a:xfrm>
                <a:off x="2061464" y="3253449"/>
                <a:ext cx="364002"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 name="TextBox 8">
              <a:extLst>
                <a:ext uri="{FF2B5EF4-FFF2-40B4-BE49-F238E27FC236}">
                  <a16:creationId xmlns:a16="http://schemas.microsoft.com/office/drawing/2014/main" id="{B2EDF7C6-A4C4-F3AA-4488-16AACBC8C01D}"/>
                </a:ext>
              </a:extLst>
            </p:cNvPr>
            <p:cNvSpPr txBox="1"/>
            <p:nvPr/>
          </p:nvSpPr>
          <p:spPr>
            <a:xfrm>
              <a:off x="3008919" y="3631518"/>
              <a:ext cx="1123000" cy="369332"/>
            </a:xfrm>
            <a:prstGeom prst="rect">
              <a:avLst/>
            </a:prstGeom>
            <a:noFill/>
          </p:spPr>
          <p:txBody>
            <a:bodyPr wrap="none" rtlCol="0">
              <a:spAutoFit/>
            </a:bodyPr>
            <a:lstStyle/>
            <a:p>
              <a:r>
                <a:rPr lang="en-US" b="1" noProof="0" dirty="0"/>
                <a:t>Mediator</a:t>
              </a:r>
            </a:p>
          </p:txBody>
        </p:sp>
      </p:grpSp>
      <p:grpSp>
        <p:nvGrpSpPr>
          <p:cNvPr id="16" name="Group 15">
            <a:extLst>
              <a:ext uri="{FF2B5EF4-FFF2-40B4-BE49-F238E27FC236}">
                <a16:creationId xmlns:a16="http://schemas.microsoft.com/office/drawing/2014/main" id="{E481E357-EF1E-6D48-9938-8D1F56D3F4CE}"/>
              </a:ext>
            </a:extLst>
          </p:cNvPr>
          <p:cNvGrpSpPr/>
          <p:nvPr/>
        </p:nvGrpSpPr>
        <p:grpSpPr>
          <a:xfrm>
            <a:off x="1104537" y="4314965"/>
            <a:ext cx="2555538" cy="976286"/>
            <a:chOff x="1104537" y="4314965"/>
            <a:chExt cx="2555538" cy="976286"/>
          </a:xfrm>
        </p:grpSpPr>
        <p:grpSp>
          <p:nvGrpSpPr>
            <p:cNvPr id="17" name="Group 16">
              <a:extLst>
                <a:ext uri="{FF2B5EF4-FFF2-40B4-BE49-F238E27FC236}">
                  <a16:creationId xmlns:a16="http://schemas.microsoft.com/office/drawing/2014/main" id="{E0558A09-C0EA-9D1B-95EB-7A833A9D9D21}"/>
                </a:ext>
              </a:extLst>
            </p:cNvPr>
            <p:cNvGrpSpPr/>
            <p:nvPr/>
          </p:nvGrpSpPr>
          <p:grpSpPr>
            <a:xfrm>
              <a:off x="1104537" y="4314965"/>
              <a:ext cx="1770943" cy="976286"/>
              <a:chOff x="1023258" y="2884714"/>
              <a:chExt cx="1770943" cy="976286"/>
            </a:xfrm>
          </p:grpSpPr>
          <p:sp>
            <p:nvSpPr>
              <p:cNvPr id="19" name="Oval 18">
                <a:extLst>
                  <a:ext uri="{FF2B5EF4-FFF2-40B4-BE49-F238E27FC236}">
                    <a16:creationId xmlns:a16="http://schemas.microsoft.com/office/drawing/2014/main" id="{BD2B9F67-1314-06B9-DE5E-886859C456E0}"/>
                  </a:ext>
                </a:extLst>
              </p:cNvPr>
              <p:cNvSpPr/>
              <p:nvPr/>
            </p:nvSpPr>
            <p:spPr>
              <a:xfrm>
                <a:off x="1023258"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x</a:t>
                </a:r>
              </a:p>
            </p:txBody>
          </p:sp>
          <p:sp>
            <p:nvSpPr>
              <p:cNvPr id="20" name="Oval 19">
                <a:extLst>
                  <a:ext uri="{FF2B5EF4-FFF2-40B4-BE49-F238E27FC236}">
                    <a16:creationId xmlns:a16="http://schemas.microsoft.com/office/drawing/2014/main" id="{6DAF60C9-5849-F34B-D863-106572FA3F24}"/>
                  </a:ext>
                </a:extLst>
              </p:cNvPr>
              <p:cNvSpPr/>
              <p:nvPr/>
            </p:nvSpPr>
            <p:spPr>
              <a:xfrm>
                <a:off x="2362201"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y</a:t>
                </a:r>
              </a:p>
            </p:txBody>
          </p:sp>
          <p:sp>
            <p:nvSpPr>
              <p:cNvPr id="21" name="Oval 20">
                <a:extLst>
                  <a:ext uri="{FF2B5EF4-FFF2-40B4-BE49-F238E27FC236}">
                    <a16:creationId xmlns:a16="http://schemas.microsoft.com/office/drawing/2014/main" id="{1B65FF9C-310F-DED3-BDDA-4DBA1C1B5FA0}"/>
                  </a:ext>
                </a:extLst>
              </p:cNvPr>
              <p:cNvSpPr/>
              <p:nvPr/>
            </p:nvSpPr>
            <p:spPr>
              <a:xfrm>
                <a:off x="1692729" y="2884714"/>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z</a:t>
                </a:r>
              </a:p>
            </p:txBody>
          </p:sp>
          <p:cxnSp>
            <p:nvCxnSpPr>
              <p:cNvPr id="22" name="Straight Arrow Connector 21">
                <a:extLst>
                  <a:ext uri="{FF2B5EF4-FFF2-40B4-BE49-F238E27FC236}">
                    <a16:creationId xmlns:a16="http://schemas.microsoft.com/office/drawing/2014/main" id="{31BAF1C5-4383-1BC2-4B98-CD9F2DF185E5}"/>
                  </a:ext>
                </a:extLst>
              </p:cNvPr>
              <p:cNvCxnSpPr>
                <a:cxnSpLocks/>
                <a:stCxn id="19" idx="6"/>
                <a:endCxn id="20" idx="2"/>
              </p:cNvCxnSpPr>
              <p:nvPr/>
            </p:nvCxnSpPr>
            <p:spPr>
              <a:xfrm>
                <a:off x="1455258" y="3645000"/>
                <a:ext cx="90694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D6EB176-B921-E19A-1123-9906CD657357}"/>
                  </a:ext>
                </a:extLst>
              </p:cNvPr>
              <p:cNvCxnSpPr>
                <a:cxnSpLocks/>
                <a:stCxn id="21" idx="3"/>
                <a:endCxn id="19" idx="7"/>
              </p:cNvCxnSpPr>
              <p:nvPr/>
            </p:nvCxnSpPr>
            <p:spPr>
              <a:xfrm flipH="1">
                <a:off x="1391993" y="3253449"/>
                <a:ext cx="364001"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1D31575-0467-7007-F185-06C193AC3C7C}"/>
                  </a:ext>
                </a:extLst>
              </p:cNvPr>
              <p:cNvCxnSpPr>
                <a:cxnSpLocks/>
                <a:stCxn id="21" idx="5"/>
                <a:endCxn id="20" idx="1"/>
              </p:cNvCxnSpPr>
              <p:nvPr/>
            </p:nvCxnSpPr>
            <p:spPr>
              <a:xfrm>
                <a:off x="2061464" y="3253449"/>
                <a:ext cx="364002"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8" name="TextBox 17">
              <a:extLst>
                <a:ext uri="{FF2B5EF4-FFF2-40B4-BE49-F238E27FC236}">
                  <a16:creationId xmlns:a16="http://schemas.microsoft.com/office/drawing/2014/main" id="{DC201E99-68B0-D44B-5AB2-7C5AF6CCD470}"/>
                </a:ext>
              </a:extLst>
            </p:cNvPr>
            <p:cNvSpPr txBox="1"/>
            <p:nvPr/>
          </p:nvSpPr>
          <p:spPr>
            <a:xfrm>
              <a:off x="3012334" y="4674585"/>
              <a:ext cx="647741" cy="369332"/>
            </a:xfrm>
            <a:prstGeom prst="rect">
              <a:avLst/>
            </a:prstGeom>
            <a:noFill/>
          </p:spPr>
          <p:txBody>
            <a:bodyPr wrap="none" rtlCol="0">
              <a:spAutoFit/>
            </a:bodyPr>
            <a:lstStyle/>
            <a:p>
              <a:r>
                <a:rPr lang="en-US" b="1" noProof="0" dirty="0"/>
                <a:t>Fork</a:t>
              </a:r>
            </a:p>
          </p:txBody>
        </p:sp>
      </p:grpSp>
      <p:grpSp>
        <p:nvGrpSpPr>
          <p:cNvPr id="25" name="Group 24">
            <a:extLst>
              <a:ext uri="{FF2B5EF4-FFF2-40B4-BE49-F238E27FC236}">
                <a16:creationId xmlns:a16="http://schemas.microsoft.com/office/drawing/2014/main" id="{6CA45210-E39B-54B9-1BBA-BF3888520B10}"/>
              </a:ext>
            </a:extLst>
          </p:cNvPr>
          <p:cNvGrpSpPr/>
          <p:nvPr/>
        </p:nvGrpSpPr>
        <p:grpSpPr>
          <a:xfrm>
            <a:off x="1104538" y="5314724"/>
            <a:ext cx="2933830" cy="976286"/>
            <a:chOff x="1104538" y="5314724"/>
            <a:chExt cx="2933830" cy="976286"/>
          </a:xfrm>
        </p:grpSpPr>
        <p:grpSp>
          <p:nvGrpSpPr>
            <p:cNvPr id="26" name="Group 25">
              <a:extLst>
                <a:ext uri="{FF2B5EF4-FFF2-40B4-BE49-F238E27FC236}">
                  <a16:creationId xmlns:a16="http://schemas.microsoft.com/office/drawing/2014/main" id="{49581697-491B-524B-1C35-01CFED3750D1}"/>
                </a:ext>
              </a:extLst>
            </p:cNvPr>
            <p:cNvGrpSpPr/>
            <p:nvPr/>
          </p:nvGrpSpPr>
          <p:grpSpPr>
            <a:xfrm>
              <a:off x="1104538" y="5314724"/>
              <a:ext cx="1770943" cy="976286"/>
              <a:chOff x="1023258" y="2884714"/>
              <a:chExt cx="1770943" cy="976286"/>
            </a:xfrm>
          </p:grpSpPr>
          <p:sp>
            <p:nvSpPr>
              <p:cNvPr id="28" name="Oval 27">
                <a:extLst>
                  <a:ext uri="{FF2B5EF4-FFF2-40B4-BE49-F238E27FC236}">
                    <a16:creationId xmlns:a16="http://schemas.microsoft.com/office/drawing/2014/main" id="{1805995F-61CB-9AC2-72A0-6E6CD61D6D3C}"/>
                  </a:ext>
                </a:extLst>
              </p:cNvPr>
              <p:cNvSpPr/>
              <p:nvPr/>
            </p:nvSpPr>
            <p:spPr>
              <a:xfrm>
                <a:off x="1023258"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x</a:t>
                </a:r>
              </a:p>
            </p:txBody>
          </p:sp>
          <p:sp>
            <p:nvSpPr>
              <p:cNvPr id="29" name="Oval 28">
                <a:extLst>
                  <a:ext uri="{FF2B5EF4-FFF2-40B4-BE49-F238E27FC236}">
                    <a16:creationId xmlns:a16="http://schemas.microsoft.com/office/drawing/2014/main" id="{187BD371-BC09-14A0-A80F-24F4E77A1AB4}"/>
                  </a:ext>
                </a:extLst>
              </p:cNvPr>
              <p:cNvSpPr/>
              <p:nvPr/>
            </p:nvSpPr>
            <p:spPr>
              <a:xfrm>
                <a:off x="2362201"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y</a:t>
                </a:r>
              </a:p>
            </p:txBody>
          </p:sp>
          <p:sp>
            <p:nvSpPr>
              <p:cNvPr id="30" name="Oval 29">
                <a:extLst>
                  <a:ext uri="{FF2B5EF4-FFF2-40B4-BE49-F238E27FC236}">
                    <a16:creationId xmlns:a16="http://schemas.microsoft.com/office/drawing/2014/main" id="{4EBF4D65-6BBC-BD26-6943-4ACB1FF65824}"/>
                  </a:ext>
                </a:extLst>
              </p:cNvPr>
              <p:cNvSpPr/>
              <p:nvPr/>
            </p:nvSpPr>
            <p:spPr>
              <a:xfrm>
                <a:off x="1692729" y="2884714"/>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z</a:t>
                </a:r>
              </a:p>
            </p:txBody>
          </p:sp>
          <p:cxnSp>
            <p:nvCxnSpPr>
              <p:cNvPr id="31" name="Straight Arrow Connector 30">
                <a:extLst>
                  <a:ext uri="{FF2B5EF4-FFF2-40B4-BE49-F238E27FC236}">
                    <a16:creationId xmlns:a16="http://schemas.microsoft.com/office/drawing/2014/main" id="{7BF4F98D-B475-5525-D923-AA9DBEC5BD7E}"/>
                  </a:ext>
                </a:extLst>
              </p:cNvPr>
              <p:cNvCxnSpPr>
                <a:cxnSpLocks/>
                <a:stCxn id="28" idx="6"/>
                <a:endCxn id="29" idx="2"/>
              </p:cNvCxnSpPr>
              <p:nvPr/>
            </p:nvCxnSpPr>
            <p:spPr>
              <a:xfrm>
                <a:off x="1455258" y="3645000"/>
                <a:ext cx="90694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D93F6B5-B958-31F1-C884-31B1FBA79F8F}"/>
                  </a:ext>
                </a:extLst>
              </p:cNvPr>
              <p:cNvCxnSpPr>
                <a:cxnSpLocks/>
                <a:stCxn id="28" idx="7"/>
                <a:endCxn id="30" idx="3"/>
              </p:cNvCxnSpPr>
              <p:nvPr/>
            </p:nvCxnSpPr>
            <p:spPr>
              <a:xfrm flipV="1">
                <a:off x="1391993" y="3253449"/>
                <a:ext cx="364001"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F47C9A5-6744-7984-23D4-A875BA83F64A}"/>
                  </a:ext>
                </a:extLst>
              </p:cNvPr>
              <p:cNvCxnSpPr>
                <a:cxnSpLocks/>
                <a:stCxn id="29" idx="1"/>
                <a:endCxn id="30" idx="5"/>
              </p:cNvCxnSpPr>
              <p:nvPr/>
            </p:nvCxnSpPr>
            <p:spPr>
              <a:xfrm flipH="1" flipV="1">
                <a:off x="2061464" y="3253449"/>
                <a:ext cx="364002"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7" name="TextBox 26">
              <a:extLst>
                <a:ext uri="{FF2B5EF4-FFF2-40B4-BE49-F238E27FC236}">
                  <a16:creationId xmlns:a16="http://schemas.microsoft.com/office/drawing/2014/main" id="{73104E06-C75B-B58B-ABC6-AB4C5C46ED73}"/>
                </a:ext>
              </a:extLst>
            </p:cNvPr>
            <p:cNvSpPr txBox="1"/>
            <p:nvPr/>
          </p:nvSpPr>
          <p:spPr>
            <a:xfrm>
              <a:off x="3008919" y="5717350"/>
              <a:ext cx="1029449" cy="369332"/>
            </a:xfrm>
            <a:prstGeom prst="rect">
              <a:avLst/>
            </a:prstGeom>
            <a:noFill/>
          </p:spPr>
          <p:txBody>
            <a:bodyPr wrap="none" rtlCol="0">
              <a:spAutoFit/>
            </a:bodyPr>
            <a:lstStyle/>
            <a:p>
              <a:r>
                <a:rPr lang="en-US" b="1" noProof="0" dirty="0"/>
                <a:t>Collider</a:t>
              </a:r>
            </a:p>
          </p:txBody>
        </p:sp>
      </p:grpSp>
      <p:sp>
        <p:nvSpPr>
          <p:cNvPr id="34" name="TextBox 33">
            <a:extLst>
              <a:ext uri="{FF2B5EF4-FFF2-40B4-BE49-F238E27FC236}">
                <a16:creationId xmlns:a16="http://schemas.microsoft.com/office/drawing/2014/main" id="{3E3D294D-263D-5018-1DB1-75BC4764DAD7}"/>
              </a:ext>
            </a:extLst>
          </p:cNvPr>
          <p:cNvSpPr txBox="1"/>
          <p:nvPr/>
        </p:nvSpPr>
        <p:spPr>
          <a:xfrm>
            <a:off x="3852576" y="3041816"/>
            <a:ext cx="1908536" cy="369332"/>
          </a:xfrm>
          <a:prstGeom prst="rect">
            <a:avLst/>
          </a:prstGeom>
          <a:noFill/>
        </p:spPr>
        <p:txBody>
          <a:bodyPr wrap="none" rtlCol="0">
            <a:spAutoFit/>
          </a:bodyPr>
          <a:lstStyle/>
          <a:p>
            <a:pPr algn="ctr"/>
            <a:r>
              <a:rPr lang="en-US" b="1" noProof="0" dirty="0"/>
              <a:t>Not controlling z</a:t>
            </a:r>
          </a:p>
        </p:txBody>
      </p:sp>
      <p:sp>
        <p:nvSpPr>
          <p:cNvPr id="35" name="TextBox 34">
            <a:extLst>
              <a:ext uri="{FF2B5EF4-FFF2-40B4-BE49-F238E27FC236}">
                <a16:creationId xmlns:a16="http://schemas.microsoft.com/office/drawing/2014/main" id="{DB7C6E84-3433-E6BF-F599-8F6C1FACB2DB}"/>
              </a:ext>
            </a:extLst>
          </p:cNvPr>
          <p:cNvSpPr txBox="1"/>
          <p:nvPr/>
        </p:nvSpPr>
        <p:spPr>
          <a:xfrm>
            <a:off x="6181714" y="3041816"/>
            <a:ext cx="1517403" cy="369332"/>
          </a:xfrm>
          <a:prstGeom prst="rect">
            <a:avLst/>
          </a:prstGeom>
          <a:noFill/>
        </p:spPr>
        <p:txBody>
          <a:bodyPr wrap="none" rtlCol="0">
            <a:spAutoFit/>
          </a:bodyPr>
          <a:lstStyle/>
          <a:p>
            <a:pPr algn="ctr"/>
            <a:r>
              <a:rPr lang="en-US" b="1" noProof="0" dirty="0"/>
              <a:t>Controlling z</a:t>
            </a:r>
          </a:p>
        </p:txBody>
      </p:sp>
      <p:grpSp>
        <p:nvGrpSpPr>
          <p:cNvPr id="36" name="Group 35">
            <a:extLst>
              <a:ext uri="{FF2B5EF4-FFF2-40B4-BE49-F238E27FC236}">
                <a16:creationId xmlns:a16="http://schemas.microsoft.com/office/drawing/2014/main" id="{DAF4B801-AD07-4682-C7BA-33EBBB453611}"/>
              </a:ext>
            </a:extLst>
          </p:cNvPr>
          <p:cNvGrpSpPr/>
          <p:nvPr/>
        </p:nvGrpSpPr>
        <p:grpSpPr>
          <a:xfrm>
            <a:off x="4464843" y="3424708"/>
            <a:ext cx="720000" cy="720000"/>
            <a:chOff x="5604304" y="3426506"/>
            <a:chExt cx="720000" cy="720000"/>
          </a:xfrm>
        </p:grpSpPr>
        <p:sp>
          <p:nvSpPr>
            <p:cNvPr id="37" name="Oval 36">
              <a:extLst>
                <a:ext uri="{FF2B5EF4-FFF2-40B4-BE49-F238E27FC236}">
                  <a16:creationId xmlns:a16="http://schemas.microsoft.com/office/drawing/2014/main" id="{4F1607F8-422C-22E4-922B-B0A380C13131}"/>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Chevron arrows with solid fill">
              <a:extLst>
                <a:ext uri="{FF2B5EF4-FFF2-40B4-BE49-F238E27FC236}">
                  <a16:creationId xmlns:a16="http://schemas.microsoft.com/office/drawing/2014/main" id="{D48D4820-F7E6-36B3-5A24-250B45E95E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39" name="Group 38">
            <a:extLst>
              <a:ext uri="{FF2B5EF4-FFF2-40B4-BE49-F238E27FC236}">
                <a16:creationId xmlns:a16="http://schemas.microsoft.com/office/drawing/2014/main" id="{0D86205B-BC4C-A808-3B25-E5075F2388F0}"/>
              </a:ext>
            </a:extLst>
          </p:cNvPr>
          <p:cNvGrpSpPr/>
          <p:nvPr/>
        </p:nvGrpSpPr>
        <p:grpSpPr>
          <a:xfrm>
            <a:off x="4464843" y="4483893"/>
            <a:ext cx="720000" cy="720000"/>
            <a:chOff x="5604304" y="3426506"/>
            <a:chExt cx="720000" cy="720000"/>
          </a:xfrm>
        </p:grpSpPr>
        <p:sp>
          <p:nvSpPr>
            <p:cNvPr id="40" name="Oval 39">
              <a:extLst>
                <a:ext uri="{FF2B5EF4-FFF2-40B4-BE49-F238E27FC236}">
                  <a16:creationId xmlns:a16="http://schemas.microsoft.com/office/drawing/2014/main" id="{2DD835DD-8023-2EE8-38EC-47634FBBEC9B}"/>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Chevron arrows with solid fill">
              <a:extLst>
                <a:ext uri="{FF2B5EF4-FFF2-40B4-BE49-F238E27FC236}">
                  <a16:creationId xmlns:a16="http://schemas.microsoft.com/office/drawing/2014/main" id="{B8B819D7-77E1-46BA-F441-60968DB5A43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42" name="Group 41">
            <a:extLst>
              <a:ext uri="{FF2B5EF4-FFF2-40B4-BE49-F238E27FC236}">
                <a16:creationId xmlns:a16="http://schemas.microsoft.com/office/drawing/2014/main" id="{D3609DA1-2243-BA05-956B-ACF8CD64F697}"/>
              </a:ext>
            </a:extLst>
          </p:cNvPr>
          <p:cNvGrpSpPr/>
          <p:nvPr/>
        </p:nvGrpSpPr>
        <p:grpSpPr>
          <a:xfrm>
            <a:off x="4464843" y="5548495"/>
            <a:ext cx="720000" cy="720000"/>
            <a:chOff x="5604304" y="3426506"/>
            <a:chExt cx="720000" cy="720000"/>
          </a:xfrm>
        </p:grpSpPr>
        <p:sp>
          <p:nvSpPr>
            <p:cNvPr id="43" name="Oval 42">
              <a:extLst>
                <a:ext uri="{FF2B5EF4-FFF2-40B4-BE49-F238E27FC236}">
                  <a16:creationId xmlns:a16="http://schemas.microsoft.com/office/drawing/2014/main" id="{5EF3478B-D1AD-9D3C-2C25-47B22AFE5216}"/>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4" name="Graphic 43" descr="No sign with solid fill">
              <a:extLst>
                <a:ext uri="{FF2B5EF4-FFF2-40B4-BE49-F238E27FC236}">
                  <a16:creationId xmlns:a16="http://schemas.microsoft.com/office/drawing/2014/main" id="{40D49ECC-C26B-AAE1-35CA-D3CC773826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grpSp>
        <p:nvGrpSpPr>
          <p:cNvPr id="45" name="Group 44">
            <a:extLst>
              <a:ext uri="{FF2B5EF4-FFF2-40B4-BE49-F238E27FC236}">
                <a16:creationId xmlns:a16="http://schemas.microsoft.com/office/drawing/2014/main" id="{062147FE-1C1F-15E5-3F50-1CCEB16C617D}"/>
              </a:ext>
            </a:extLst>
          </p:cNvPr>
          <p:cNvGrpSpPr/>
          <p:nvPr/>
        </p:nvGrpSpPr>
        <p:grpSpPr>
          <a:xfrm>
            <a:off x="6638910" y="3416544"/>
            <a:ext cx="720000" cy="720000"/>
            <a:chOff x="5604304" y="3426506"/>
            <a:chExt cx="720000" cy="720000"/>
          </a:xfrm>
        </p:grpSpPr>
        <p:sp>
          <p:nvSpPr>
            <p:cNvPr id="46" name="Oval 45">
              <a:extLst>
                <a:ext uri="{FF2B5EF4-FFF2-40B4-BE49-F238E27FC236}">
                  <a16:creationId xmlns:a16="http://schemas.microsoft.com/office/drawing/2014/main" id="{1E6C3C14-66AB-EF33-D17B-2B4E8B90DD38}"/>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7" name="Graphic 46" descr="No sign with solid fill">
              <a:extLst>
                <a:ext uri="{FF2B5EF4-FFF2-40B4-BE49-F238E27FC236}">
                  <a16:creationId xmlns:a16="http://schemas.microsoft.com/office/drawing/2014/main" id="{E7C9A13F-94D2-7CB0-9B27-332B3EBA393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grpSp>
        <p:nvGrpSpPr>
          <p:cNvPr id="48" name="Group 47">
            <a:extLst>
              <a:ext uri="{FF2B5EF4-FFF2-40B4-BE49-F238E27FC236}">
                <a16:creationId xmlns:a16="http://schemas.microsoft.com/office/drawing/2014/main" id="{88525EAB-26DB-A836-F1B7-A65653A2A89D}"/>
              </a:ext>
            </a:extLst>
          </p:cNvPr>
          <p:cNvGrpSpPr/>
          <p:nvPr/>
        </p:nvGrpSpPr>
        <p:grpSpPr>
          <a:xfrm>
            <a:off x="6638910" y="4475729"/>
            <a:ext cx="720000" cy="720000"/>
            <a:chOff x="5604304" y="3426506"/>
            <a:chExt cx="720000" cy="720000"/>
          </a:xfrm>
        </p:grpSpPr>
        <p:sp>
          <p:nvSpPr>
            <p:cNvPr id="49" name="Oval 48">
              <a:extLst>
                <a:ext uri="{FF2B5EF4-FFF2-40B4-BE49-F238E27FC236}">
                  <a16:creationId xmlns:a16="http://schemas.microsoft.com/office/drawing/2014/main" id="{B829F0AA-3627-9316-4BFF-DD5A8D935E26}"/>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0" name="Graphic 49" descr="No sign with solid fill">
              <a:extLst>
                <a:ext uri="{FF2B5EF4-FFF2-40B4-BE49-F238E27FC236}">
                  <a16:creationId xmlns:a16="http://schemas.microsoft.com/office/drawing/2014/main" id="{604450CB-D9F1-BED9-25E9-EA440DDCDF3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grpSp>
        <p:nvGrpSpPr>
          <p:cNvPr id="51" name="Group 50">
            <a:extLst>
              <a:ext uri="{FF2B5EF4-FFF2-40B4-BE49-F238E27FC236}">
                <a16:creationId xmlns:a16="http://schemas.microsoft.com/office/drawing/2014/main" id="{112FF957-309B-9308-EE53-C05C026184BF}"/>
              </a:ext>
            </a:extLst>
          </p:cNvPr>
          <p:cNvGrpSpPr/>
          <p:nvPr/>
        </p:nvGrpSpPr>
        <p:grpSpPr>
          <a:xfrm>
            <a:off x="6638910" y="5540331"/>
            <a:ext cx="720000" cy="720000"/>
            <a:chOff x="5604304" y="3426506"/>
            <a:chExt cx="720000" cy="720000"/>
          </a:xfrm>
        </p:grpSpPr>
        <p:sp>
          <p:nvSpPr>
            <p:cNvPr id="52" name="Oval 51">
              <a:extLst>
                <a:ext uri="{FF2B5EF4-FFF2-40B4-BE49-F238E27FC236}">
                  <a16:creationId xmlns:a16="http://schemas.microsoft.com/office/drawing/2014/main" id="{EA289122-D661-CDFE-C9B5-405BA1A4FC4E}"/>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3" name="Graphic 52" descr="Chevron arrows with solid fill">
              <a:extLst>
                <a:ext uri="{FF2B5EF4-FFF2-40B4-BE49-F238E27FC236}">
                  <a16:creationId xmlns:a16="http://schemas.microsoft.com/office/drawing/2014/main" id="{186FE68B-F044-DDF7-5DDC-4F2D925B0C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57" name="Group 56">
            <a:extLst>
              <a:ext uri="{FF2B5EF4-FFF2-40B4-BE49-F238E27FC236}">
                <a16:creationId xmlns:a16="http://schemas.microsoft.com/office/drawing/2014/main" id="{4F41440B-F756-661A-49CF-535BCABB4F78}"/>
              </a:ext>
            </a:extLst>
          </p:cNvPr>
          <p:cNvGrpSpPr/>
          <p:nvPr/>
        </p:nvGrpSpPr>
        <p:grpSpPr>
          <a:xfrm>
            <a:off x="8610600" y="5301125"/>
            <a:ext cx="360000" cy="360000"/>
            <a:chOff x="5604304" y="3426506"/>
            <a:chExt cx="720000" cy="720000"/>
          </a:xfrm>
        </p:grpSpPr>
        <p:sp>
          <p:nvSpPr>
            <p:cNvPr id="58" name="Oval 57">
              <a:extLst>
                <a:ext uri="{FF2B5EF4-FFF2-40B4-BE49-F238E27FC236}">
                  <a16:creationId xmlns:a16="http://schemas.microsoft.com/office/drawing/2014/main" id="{FBF0585F-F17A-677D-6A53-B7CE5772F633}"/>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9" name="Graphic 58" descr="Chevron arrows with solid fill">
              <a:extLst>
                <a:ext uri="{FF2B5EF4-FFF2-40B4-BE49-F238E27FC236}">
                  <a16:creationId xmlns:a16="http://schemas.microsoft.com/office/drawing/2014/main" id="{543D3AC4-44DE-75C7-D66C-5D403663EC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61776" y="3489838"/>
              <a:ext cx="612000" cy="612000"/>
            </a:xfrm>
            <a:prstGeom prst="rect">
              <a:avLst/>
            </a:prstGeom>
          </p:spPr>
        </p:pic>
      </p:grpSp>
      <p:grpSp>
        <p:nvGrpSpPr>
          <p:cNvPr id="60" name="Group 59">
            <a:extLst>
              <a:ext uri="{FF2B5EF4-FFF2-40B4-BE49-F238E27FC236}">
                <a16:creationId xmlns:a16="http://schemas.microsoft.com/office/drawing/2014/main" id="{05A7504B-F8EE-E951-4638-B04D074E1BFF}"/>
              </a:ext>
            </a:extLst>
          </p:cNvPr>
          <p:cNvGrpSpPr/>
          <p:nvPr/>
        </p:nvGrpSpPr>
        <p:grpSpPr>
          <a:xfrm>
            <a:off x="8610600" y="5753909"/>
            <a:ext cx="360000" cy="360000"/>
            <a:chOff x="5604304" y="3426506"/>
            <a:chExt cx="720000" cy="720000"/>
          </a:xfrm>
        </p:grpSpPr>
        <p:sp>
          <p:nvSpPr>
            <p:cNvPr id="61" name="Oval 60">
              <a:extLst>
                <a:ext uri="{FF2B5EF4-FFF2-40B4-BE49-F238E27FC236}">
                  <a16:creationId xmlns:a16="http://schemas.microsoft.com/office/drawing/2014/main" id="{AA03F63D-6313-0C25-7F53-A0C15696A547}"/>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2" name="Graphic 61" descr="No sign with solid fill">
              <a:extLst>
                <a:ext uri="{FF2B5EF4-FFF2-40B4-BE49-F238E27FC236}">
                  <a16:creationId xmlns:a16="http://schemas.microsoft.com/office/drawing/2014/main" id="{BF6F2B07-189B-4EB1-C233-C2F5C77EE27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61776" y="3489838"/>
              <a:ext cx="612000" cy="612000"/>
            </a:xfrm>
            <a:prstGeom prst="rect">
              <a:avLst/>
            </a:prstGeom>
          </p:spPr>
        </p:pic>
      </p:grpSp>
      <p:sp>
        <p:nvSpPr>
          <p:cNvPr id="63" name="TextBox 62">
            <a:extLst>
              <a:ext uri="{FF2B5EF4-FFF2-40B4-BE49-F238E27FC236}">
                <a16:creationId xmlns:a16="http://schemas.microsoft.com/office/drawing/2014/main" id="{21B1B150-BF6B-6067-8F71-2EC9561ADD2B}"/>
              </a:ext>
            </a:extLst>
          </p:cNvPr>
          <p:cNvSpPr txBox="1"/>
          <p:nvPr/>
        </p:nvSpPr>
        <p:spPr>
          <a:xfrm>
            <a:off x="8970600" y="5323675"/>
            <a:ext cx="2680286" cy="338554"/>
          </a:xfrm>
          <a:prstGeom prst="rect">
            <a:avLst/>
          </a:prstGeom>
          <a:noFill/>
        </p:spPr>
        <p:txBody>
          <a:bodyPr wrap="none" rtlCol="0">
            <a:spAutoFit/>
          </a:bodyPr>
          <a:lstStyle/>
          <a:p>
            <a:r>
              <a:rPr lang="en-US" sz="1600" noProof="0" dirty="0"/>
              <a:t>Information flows from x to y</a:t>
            </a:r>
          </a:p>
        </p:txBody>
      </p:sp>
      <p:sp>
        <p:nvSpPr>
          <p:cNvPr id="64" name="TextBox 63">
            <a:extLst>
              <a:ext uri="{FF2B5EF4-FFF2-40B4-BE49-F238E27FC236}">
                <a16:creationId xmlns:a16="http://schemas.microsoft.com/office/drawing/2014/main" id="{D34FBAF2-3980-CFF9-1A05-71CC3A28478B}"/>
              </a:ext>
            </a:extLst>
          </p:cNvPr>
          <p:cNvSpPr txBox="1"/>
          <p:nvPr/>
        </p:nvSpPr>
        <p:spPr>
          <a:xfrm>
            <a:off x="8970600" y="5639052"/>
            <a:ext cx="2448106" cy="584775"/>
          </a:xfrm>
          <a:prstGeom prst="rect">
            <a:avLst/>
          </a:prstGeom>
          <a:noFill/>
        </p:spPr>
        <p:txBody>
          <a:bodyPr wrap="none" rtlCol="0">
            <a:spAutoFit/>
          </a:bodyPr>
          <a:lstStyle/>
          <a:p>
            <a:r>
              <a:rPr lang="en-US" sz="1600" noProof="0" dirty="0"/>
              <a:t>Information does not flow</a:t>
            </a:r>
          </a:p>
          <a:p>
            <a:r>
              <a:rPr lang="en-US" sz="1600" noProof="0" dirty="0"/>
              <a:t> from x to y</a:t>
            </a:r>
          </a:p>
        </p:txBody>
      </p:sp>
    </p:spTree>
    <p:extLst>
      <p:ext uri="{BB962C8B-B14F-4D97-AF65-F5344CB8AC3E}">
        <p14:creationId xmlns:p14="http://schemas.microsoft.com/office/powerpoint/2010/main" val="334611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63" grpId="0"/>
      <p:bldP spid="6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C0E5F3-1434-A0BB-F719-7E54E897FD41}"/>
              </a:ext>
            </a:extLst>
          </p:cNvPr>
          <p:cNvSpPr>
            <a:spLocks noGrp="1"/>
          </p:cNvSpPr>
          <p:nvPr>
            <p:ph type="title"/>
          </p:nvPr>
        </p:nvSpPr>
        <p:spPr/>
        <p:txBody>
          <a:bodyPr/>
          <a:lstStyle/>
          <a:p>
            <a:r>
              <a:rPr lang="en-US" noProof="0" dirty="0"/>
              <a:t>Causal Modelling</a:t>
            </a:r>
          </a:p>
        </p:txBody>
      </p:sp>
      <p:sp>
        <p:nvSpPr>
          <p:cNvPr id="8" name="Content Placeholder 7">
            <a:extLst>
              <a:ext uri="{FF2B5EF4-FFF2-40B4-BE49-F238E27FC236}">
                <a16:creationId xmlns:a16="http://schemas.microsoft.com/office/drawing/2014/main" id="{90F14BF1-14C1-ED23-8F41-E2E8744B1B72}"/>
              </a:ext>
            </a:extLst>
          </p:cNvPr>
          <p:cNvSpPr>
            <a:spLocks noGrp="1"/>
          </p:cNvSpPr>
          <p:nvPr>
            <p:ph idx="1"/>
          </p:nvPr>
        </p:nvSpPr>
        <p:spPr>
          <a:xfrm>
            <a:off x="838200" y="1825625"/>
            <a:ext cx="10515600" cy="998598"/>
          </a:xfrm>
        </p:spPr>
        <p:txBody>
          <a:bodyPr/>
          <a:lstStyle/>
          <a:p>
            <a:pPr marL="0" indent="0">
              <a:buNone/>
            </a:pPr>
            <a:r>
              <a:rPr lang="en-US" noProof="0" dirty="0"/>
              <a:t>Causal modelling is imperative for drawing the correct conclusions when conducting statistical causal inference.</a:t>
            </a:r>
          </a:p>
        </p:txBody>
      </p:sp>
      <p:sp>
        <p:nvSpPr>
          <p:cNvPr id="4" name="Date Placeholder 3">
            <a:extLst>
              <a:ext uri="{FF2B5EF4-FFF2-40B4-BE49-F238E27FC236}">
                <a16:creationId xmlns:a16="http://schemas.microsoft.com/office/drawing/2014/main" id="{71E4394E-C715-860E-859D-88B4EB4BEC9A}"/>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F02D87C-0308-54F5-4785-4FC183BB15F3}"/>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5A1C807-BF18-7BA8-6017-25B076E61F26}"/>
              </a:ext>
            </a:extLst>
          </p:cNvPr>
          <p:cNvSpPr>
            <a:spLocks noGrp="1"/>
          </p:cNvSpPr>
          <p:nvPr>
            <p:ph type="sldNum" sz="quarter" idx="12"/>
          </p:nvPr>
        </p:nvSpPr>
        <p:spPr/>
        <p:txBody>
          <a:bodyPr/>
          <a:lstStyle/>
          <a:p>
            <a:fld id="{0FA2D919-C0DE-4971-A2E9-D4AC0031921B}" type="slidenum">
              <a:rPr lang="en-US" noProof="0" smtClean="0"/>
              <a:t>50</a:t>
            </a:fld>
            <a:endParaRPr lang="en-US" noProof="0" dirty="0"/>
          </a:p>
        </p:txBody>
      </p:sp>
      <p:grpSp>
        <p:nvGrpSpPr>
          <p:cNvPr id="2" name="Group 1">
            <a:extLst>
              <a:ext uri="{FF2B5EF4-FFF2-40B4-BE49-F238E27FC236}">
                <a16:creationId xmlns:a16="http://schemas.microsoft.com/office/drawing/2014/main" id="{08E73EDA-95C5-F606-373C-E2B55BF081ED}"/>
              </a:ext>
            </a:extLst>
          </p:cNvPr>
          <p:cNvGrpSpPr/>
          <p:nvPr/>
        </p:nvGrpSpPr>
        <p:grpSpPr>
          <a:xfrm>
            <a:off x="838199" y="2824224"/>
            <a:ext cx="10515600" cy="720000"/>
            <a:chOff x="775410" y="5230369"/>
            <a:chExt cx="10515600" cy="720000"/>
          </a:xfrm>
        </p:grpSpPr>
        <p:sp>
          <p:nvSpPr>
            <p:cNvPr id="3" name="Rectangle: Rounded Corners 2">
              <a:extLst>
                <a:ext uri="{FF2B5EF4-FFF2-40B4-BE49-F238E27FC236}">
                  <a16:creationId xmlns:a16="http://schemas.microsoft.com/office/drawing/2014/main" id="{02EFA6A1-7B2C-AB9C-6BFA-1A26F46D21AB}"/>
                </a:ext>
              </a:extLst>
            </p:cNvPr>
            <p:cNvSpPr/>
            <p:nvPr/>
          </p:nvSpPr>
          <p:spPr>
            <a:xfrm>
              <a:off x="775411" y="5230369"/>
              <a:ext cx="10515599" cy="720000"/>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We cannot infer causality from data alone – we must also know the process that created that data.</a:t>
              </a:r>
              <a:endParaRPr lang="en-US" baseline="30000" noProof="0" dirty="0"/>
            </a:p>
          </p:txBody>
        </p:sp>
        <p:pic>
          <p:nvPicPr>
            <p:cNvPr id="9" name="Graphic 8" descr="Open quotation mark with solid fill">
              <a:extLst>
                <a:ext uri="{FF2B5EF4-FFF2-40B4-BE49-F238E27FC236}">
                  <a16:creationId xmlns:a16="http://schemas.microsoft.com/office/drawing/2014/main" id="{6C4DD067-0E21-728D-F96F-92D022465F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775410" y="5230369"/>
              <a:ext cx="720000" cy="720000"/>
            </a:xfrm>
            <a:prstGeom prst="rect">
              <a:avLst/>
            </a:prstGeom>
          </p:spPr>
        </p:pic>
      </p:grpSp>
      <p:grpSp>
        <p:nvGrpSpPr>
          <p:cNvPr id="10" name="Group 9">
            <a:extLst>
              <a:ext uri="{FF2B5EF4-FFF2-40B4-BE49-F238E27FC236}">
                <a16:creationId xmlns:a16="http://schemas.microsoft.com/office/drawing/2014/main" id="{75CDDC5D-D33E-5422-A711-70802F9AAA48}"/>
              </a:ext>
            </a:extLst>
          </p:cNvPr>
          <p:cNvGrpSpPr/>
          <p:nvPr/>
        </p:nvGrpSpPr>
        <p:grpSpPr>
          <a:xfrm>
            <a:off x="1606614" y="4212852"/>
            <a:ext cx="2555538" cy="976286"/>
            <a:chOff x="1104537" y="4314965"/>
            <a:chExt cx="2555538" cy="976286"/>
          </a:xfrm>
        </p:grpSpPr>
        <p:grpSp>
          <p:nvGrpSpPr>
            <p:cNvPr id="11" name="Group 10">
              <a:extLst>
                <a:ext uri="{FF2B5EF4-FFF2-40B4-BE49-F238E27FC236}">
                  <a16:creationId xmlns:a16="http://schemas.microsoft.com/office/drawing/2014/main" id="{E8CCD775-BE58-AEA0-48AE-3F327BD2A0BA}"/>
                </a:ext>
              </a:extLst>
            </p:cNvPr>
            <p:cNvGrpSpPr/>
            <p:nvPr/>
          </p:nvGrpSpPr>
          <p:grpSpPr>
            <a:xfrm>
              <a:off x="1104537" y="4314965"/>
              <a:ext cx="1770943" cy="976286"/>
              <a:chOff x="1023258" y="2884714"/>
              <a:chExt cx="1770943" cy="976286"/>
            </a:xfrm>
          </p:grpSpPr>
          <p:sp>
            <p:nvSpPr>
              <p:cNvPr id="13" name="Oval 12">
                <a:extLst>
                  <a:ext uri="{FF2B5EF4-FFF2-40B4-BE49-F238E27FC236}">
                    <a16:creationId xmlns:a16="http://schemas.microsoft.com/office/drawing/2014/main" id="{1CB8C3E1-7601-10D9-AAD2-F176432086D0}"/>
                  </a:ext>
                </a:extLst>
              </p:cNvPr>
              <p:cNvSpPr/>
              <p:nvPr/>
            </p:nvSpPr>
            <p:spPr>
              <a:xfrm>
                <a:off x="1023258"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x</a:t>
                </a:r>
              </a:p>
            </p:txBody>
          </p:sp>
          <p:sp>
            <p:nvSpPr>
              <p:cNvPr id="14" name="Oval 13">
                <a:extLst>
                  <a:ext uri="{FF2B5EF4-FFF2-40B4-BE49-F238E27FC236}">
                    <a16:creationId xmlns:a16="http://schemas.microsoft.com/office/drawing/2014/main" id="{98DDF50B-DEE0-C2E6-8516-A5F56A7F3058}"/>
                  </a:ext>
                </a:extLst>
              </p:cNvPr>
              <p:cNvSpPr/>
              <p:nvPr/>
            </p:nvSpPr>
            <p:spPr>
              <a:xfrm>
                <a:off x="2362201"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y</a:t>
                </a:r>
              </a:p>
            </p:txBody>
          </p:sp>
          <p:sp>
            <p:nvSpPr>
              <p:cNvPr id="15" name="Oval 14">
                <a:extLst>
                  <a:ext uri="{FF2B5EF4-FFF2-40B4-BE49-F238E27FC236}">
                    <a16:creationId xmlns:a16="http://schemas.microsoft.com/office/drawing/2014/main" id="{D252B916-FC20-393A-D6B9-E012560A0033}"/>
                  </a:ext>
                </a:extLst>
              </p:cNvPr>
              <p:cNvSpPr/>
              <p:nvPr/>
            </p:nvSpPr>
            <p:spPr>
              <a:xfrm>
                <a:off x="1692729" y="2884714"/>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z</a:t>
                </a:r>
              </a:p>
            </p:txBody>
          </p:sp>
          <p:cxnSp>
            <p:nvCxnSpPr>
              <p:cNvPr id="16" name="Straight Arrow Connector 15">
                <a:extLst>
                  <a:ext uri="{FF2B5EF4-FFF2-40B4-BE49-F238E27FC236}">
                    <a16:creationId xmlns:a16="http://schemas.microsoft.com/office/drawing/2014/main" id="{4AC97C50-8459-86C0-07D0-DCEC20ED6731}"/>
                  </a:ext>
                </a:extLst>
              </p:cNvPr>
              <p:cNvCxnSpPr>
                <a:cxnSpLocks/>
                <a:stCxn id="13" idx="6"/>
                <a:endCxn id="14" idx="2"/>
              </p:cNvCxnSpPr>
              <p:nvPr/>
            </p:nvCxnSpPr>
            <p:spPr>
              <a:xfrm>
                <a:off x="1455258" y="3645000"/>
                <a:ext cx="90694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87A052B-B47D-A20F-E53B-1F51BE4EB700}"/>
                  </a:ext>
                </a:extLst>
              </p:cNvPr>
              <p:cNvCxnSpPr>
                <a:cxnSpLocks/>
                <a:stCxn id="15" idx="3"/>
                <a:endCxn id="13" idx="7"/>
              </p:cNvCxnSpPr>
              <p:nvPr/>
            </p:nvCxnSpPr>
            <p:spPr>
              <a:xfrm flipH="1">
                <a:off x="1391993" y="3253449"/>
                <a:ext cx="364001"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CD1B74E-C697-EE89-F8F6-702F68BCC602}"/>
                  </a:ext>
                </a:extLst>
              </p:cNvPr>
              <p:cNvCxnSpPr>
                <a:cxnSpLocks/>
                <a:stCxn id="15" idx="5"/>
                <a:endCxn id="14" idx="1"/>
              </p:cNvCxnSpPr>
              <p:nvPr/>
            </p:nvCxnSpPr>
            <p:spPr>
              <a:xfrm>
                <a:off x="2061464" y="3253449"/>
                <a:ext cx="364002"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 name="TextBox 11">
              <a:extLst>
                <a:ext uri="{FF2B5EF4-FFF2-40B4-BE49-F238E27FC236}">
                  <a16:creationId xmlns:a16="http://schemas.microsoft.com/office/drawing/2014/main" id="{128A4E52-3C1F-B053-3037-7E923819187D}"/>
                </a:ext>
              </a:extLst>
            </p:cNvPr>
            <p:cNvSpPr txBox="1"/>
            <p:nvPr/>
          </p:nvSpPr>
          <p:spPr>
            <a:xfrm>
              <a:off x="3012334" y="4674585"/>
              <a:ext cx="647741" cy="369332"/>
            </a:xfrm>
            <a:prstGeom prst="rect">
              <a:avLst/>
            </a:prstGeom>
            <a:noFill/>
          </p:spPr>
          <p:txBody>
            <a:bodyPr wrap="none" rtlCol="0">
              <a:spAutoFit/>
            </a:bodyPr>
            <a:lstStyle/>
            <a:p>
              <a:r>
                <a:rPr lang="en-US" b="1" noProof="0" dirty="0"/>
                <a:t>Fork</a:t>
              </a:r>
            </a:p>
          </p:txBody>
        </p:sp>
      </p:grpSp>
      <p:grpSp>
        <p:nvGrpSpPr>
          <p:cNvPr id="19" name="Group 18">
            <a:extLst>
              <a:ext uri="{FF2B5EF4-FFF2-40B4-BE49-F238E27FC236}">
                <a16:creationId xmlns:a16="http://schemas.microsoft.com/office/drawing/2014/main" id="{FE352BC1-D8FD-917D-41F7-2AF464C99F43}"/>
              </a:ext>
            </a:extLst>
          </p:cNvPr>
          <p:cNvGrpSpPr/>
          <p:nvPr/>
        </p:nvGrpSpPr>
        <p:grpSpPr>
          <a:xfrm>
            <a:off x="1606615" y="5212611"/>
            <a:ext cx="2933830" cy="976286"/>
            <a:chOff x="1104538" y="5314724"/>
            <a:chExt cx="2933830" cy="976286"/>
          </a:xfrm>
        </p:grpSpPr>
        <p:grpSp>
          <p:nvGrpSpPr>
            <p:cNvPr id="20" name="Group 19">
              <a:extLst>
                <a:ext uri="{FF2B5EF4-FFF2-40B4-BE49-F238E27FC236}">
                  <a16:creationId xmlns:a16="http://schemas.microsoft.com/office/drawing/2014/main" id="{5CEBE17F-BFBF-92E3-53EE-87C590B16BD7}"/>
                </a:ext>
              </a:extLst>
            </p:cNvPr>
            <p:cNvGrpSpPr/>
            <p:nvPr/>
          </p:nvGrpSpPr>
          <p:grpSpPr>
            <a:xfrm>
              <a:off x="1104538" y="5314724"/>
              <a:ext cx="1770943" cy="976286"/>
              <a:chOff x="1023258" y="2884714"/>
              <a:chExt cx="1770943" cy="976286"/>
            </a:xfrm>
          </p:grpSpPr>
          <p:sp>
            <p:nvSpPr>
              <p:cNvPr id="22" name="Oval 21">
                <a:extLst>
                  <a:ext uri="{FF2B5EF4-FFF2-40B4-BE49-F238E27FC236}">
                    <a16:creationId xmlns:a16="http://schemas.microsoft.com/office/drawing/2014/main" id="{112D3284-444C-07B9-3C0E-331692B1F2F9}"/>
                  </a:ext>
                </a:extLst>
              </p:cNvPr>
              <p:cNvSpPr/>
              <p:nvPr/>
            </p:nvSpPr>
            <p:spPr>
              <a:xfrm>
                <a:off x="1023258"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x</a:t>
                </a:r>
              </a:p>
            </p:txBody>
          </p:sp>
          <p:sp>
            <p:nvSpPr>
              <p:cNvPr id="23" name="Oval 22">
                <a:extLst>
                  <a:ext uri="{FF2B5EF4-FFF2-40B4-BE49-F238E27FC236}">
                    <a16:creationId xmlns:a16="http://schemas.microsoft.com/office/drawing/2014/main" id="{F586A5C4-3094-D364-ACC3-61FE4E23BEF9}"/>
                  </a:ext>
                </a:extLst>
              </p:cNvPr>
              <p:cNvSpPr/>
              <p:nvPr/>
            </p:nvSpPr>
            <p:spPr>
              <a:xfrm>
                <a:off x="2362201" y="3429000"/>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y</a:t>
                </a:r>
              </a:p>
            </p:txBody>
          </p:sp>
          <p:sp>
            <p:nvSpPr>
              <p:cNvPr id="24" name="Oval 23">
                <a:extLst>
                  <a:ext uri="{FF2B5EF4-FFF2-40B4-BE49-F238E27FC236}">
                    <a16:creationId xmlns:a16="http://schemas.microsoft.com/office/drawing/2014/main" id="{EAA9A8F7-3516-30C5-CD7B-0666AA2FDF4A}"/>
                  </a:ext>
                </a:extLst>
              </p:cNvPr>
              <p:cNvSpPr/>
              <p:nvPr/>
            </p:nvSpPr>
            <p:spPr>
              <a:xfrm>
                <a:off x="1692729" y="2884714"/>
                <a:ext cx="432000" cy="4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z</a:t>
                </a:r>
              </a:p>
            </p:txBody>
          </p:sp>
          <p:cxnSp>
            <p:nvCxnSpPr>
              <p:cNvPr id="25" name="Straight Arrow Connector 24">
                <a:extLst>
                  <a:ext uri="{FF2B5EF4-FFF2-40B4-BE49-F238E27FC236}">
                    <a16:creationId xmlns:a16="http://schemas.microsoft.com/office/drawing/2014/main" id="{AC6EBDBD-F09C-BBFF-D4CD-DC844601F937}"/>
                  </a:ext>
                </a:extLst>
              </p:cNvPr>
              <p:cNvCxnSpPr>
                <a:cxnSpLocks/>
                <a:stCxn id="22" idx="6"/>
                <a:endCxn id="23" idx="2"/>
              </p:cNvCxnSpPr>
              <p:nvPr/>
            </p:nvCxnSpPr>
            <p:spPr>
              <a:xfrm>
                <a:off x="1455258" y="3645000"/>
                <a:ext cx="90694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8FD6557-A7A7-005B-14B4-4E759C45A3C3}"/>
                  </a:ext>
                </a:extLst>
              </p:cNvPr>
              <p:cNvCxnSpPr>
                <a:cxnSpLocks/>
                <a:stCxn id="22" idx="7"/>
                <a:endCxn id="24" idx="3"/>
              </p:cNvCxnSpPr>
              <p:nvPr/>
            </p:nvCxnSpPr>
            <p:spPr>
              <a:xfrm flipV="1">
                <a:off x="1391993" y="3253449"/>
                <a:ext cx="364001"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1A4C639-3997-D3BE-123A-59B2636E2C8E}"/>
                  </a:ext>
                </a:extLst>
              </p:cNvPr>
              <p:cNvCxnSpPr>
                <a:cxnSpLocks/>
                <a:stCxn id="23" idx="1"/>
                <a:endCxn id="24" idx="5"/>
              </p:cNvCxnSpPr>
              <p:nvPr/>
            </p:nvCxnSpPr>
            <p:spPr>
              <a:xfrm flipH="1" flipV="1">
                <a:off x="2061464" y="3253449"/>
                <a:ext cx="364002" cy="2388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E100A93D-049A-B683-3BD8-107DB2733CEC}"/>
                </a:ext>
              </a:extLst>
            </p:cNvPr>
            <p:cNvSpPr txBox="1"/>
            <p:nvPr/>
          </p:nvSpPr>
          <p:spPr>
            <a:xfrm>
              <a:off x="3008919" y="5717350"/>
              <a:ext cx="1029449" cy="369332"/>
            </a:xfrm>
            <a:prstGeom prst="rect">
              <a:avLst/>
            </a:prstGeom>
            <a:noFill/>
          </p:spPr>
          <p:txBody>
            <a:bodyPr wrap="none" rtlCol="0">
              <a:spAutoFit/>
            </a:bodyPr>
            <a:lstStyle/>
            <a:p>
              <a:r>
                <a:rPr lang="en-US" b="1" noProof="0" dirty="0"/>
                <a:t>Collider</a:t>
              </a:r>
            </a:p>
          </p:txBody>
        </p:sp>
      </p:grpSp>
      <p:graphicFrame>
        <p:nvGraphicFramePr>
          <p:cNvPr id="28" name="Table 27">
            <a:extLst>
              <a:ext uri="{FF2B5EF4-FFF2-40B4-BE49-F238E27FC236}">
                <a16:creationId xmlns:a16="http://schemas.microsoft.com/office/drawing/2014/main" id="{7CA1C78A-6925-263D-53C4-8EED15293F2A}"/>
              </a:ext>
            </a:extLst>
          </p:cNvPr>
          <p:cNvGraphicFramePr>
            <a:graphicFrameLocks noGrp="1"/>
          </p:cNvGraphicFramePr>
          <p:nvPr>
            <p:extLst>
              <p:ext uri="{D42A27DB-BD31-4B8C-83A1-F6EECF244321}">
                <p14:modId xmlns:p14="http://schemas.microsoft.com/office/powerpoint/2010/main" val="1032074522"/>
              </p:ext>
            </p:extLst>
          </p:nvPr>
        </p:nvGraphicFramePr>
        <p:xfrm>
          <a:off x="4968478" y="4457618"/>
          <a:ext cx="2061282" cy="1463040"/>
        </p:xfrm>
        <a:graphic>
          <a:graphicData uri="http://schemas.openxmlformats.org/drawingml/2006/table">
            <a:tbl>
              <a:tblPr firstRow="1" bandRow="1">
                <a:tableStyleId>{00A15C55-8517-42AA-B614-E9B94910E393}</a:tableStyleId>
              </a:tblPr>
              <a:tblGrid>
                <a:gridCol w="687094">
                  <a:extLst>
                    <a:ext uri="{9D8B030D-6E8A-4147-A177-3AD203B41FA5}">
                      <a16:colId xmlns:a16="http://schemas.microsoft.com/office/drawing/2014/main" val="387832966"/>
                    </a:ext>
                  </a:extLst>
                </a:gridCol>
                <a:gridCol w="687094">
                  <a:extLst>
                    <a:ext uri="{9D8B030D-6E8A-4147-A177-3AD203B41FA5}">
                      <a16:colId xmlns:a16="http://schemas.microsoft.com/office/drawing/2014/main" val="1017373230"/>
                    </a:ext>
                  </a:extLst>
                </a:gridCol>
                <a:gridCol w="687094">
                  <a:extLst>
                    <a:ext uri="{9D8B030D-6E8A-4147-A177-3AD203B41FA5}">
                      <a16:colId xmlns:a16="http://schemas.microsoft.com/office/drawing/2014/main" val="3720615436"/>
                    </a:ext>
                  </a:extLst>
                </a:gridCol>
              </a:tblGrid>
              <a:tr h="173815">
                <a:tc>
                  <a:txBody>
                    <a:bodyPr/>
                    <a:lstStyle/>
                    <a:p>
                      <a:pPr algn="ctr"/>
                      <a:r>
                        <a:rPr lang="en-US" noProof="0" dirty="0"/>
                        <a:t>x</a:t>
                      </a:r>
                    </a:p>
                  </a:txBody>
                  <a:tcPr/>
                </a:tc>
                <a:tc>
                  <a:txBody>
                    <a:bodyPr/>
                    <a:lstStyle/>
                    <a:p>
                      <a:pPr algn="ctr"/>
                      <a:r>
                        <a:rPr lang="en-US" noProof="0" dirty="0"/>
                        <a:t>y</a:t>
                      </a:r>
                    </a:p>
                  </a:txBody>
                  <a:tcPr/>
                </a:tc>
                <a:tc>
                  <a:txBody>
                    <a:bodyPr/>
                    <a:lstStyle/>
                    <a:p>
                      <a:pPr algn="ctr"/>
                      <a:r>
                        <a:rPr lang="en-US" noProof="0" dirty="0"/>
                        <a:t>z</a:t>
                      </a:r>
                    </a:p>
                  </a:txBody>
                  <a:tcPr/>
                </a:tc>
                <a:extLst>
                  <a:ext uri="{0D108BD9-81ED-4DB2-BD59-A6C34878D82A}">
                    <a16:rowId xmlns:a16="http://schemas.microsoft.com/office/drawing/2014/main" val="3610736646"/>
                  </a:ext>
                </a:extLst>
              </a:tr>
              <a:tr h="173815">
                <a:tc>
                  <a:txBody>
                    <a:bodyPr/>
                    <a:lstStyle/>
                    <a:p>
                      <a:endParaRPr lang="en-US" noProof="0" dirty="0"/>
                    </a:p>
                  </a:txBody>
                  <a:tcPr/>
                </a:tc>
                <a:tc>
                  <a:txBody>
                    <a:bodyPr/>
                    <a:lstStyle/>
                    <a:p>
                      <a:endParaRPr lang="en-US" noProof="0" dirty="0"/>
                    </a:p>
                  </a:txBody>
                  <a:tcPr/>
                </a:tc>
                <a:tc>
                  <a:txBody>
                    <a:bodyPr/>
                    <a:lstStyle/>
                    <a:p>
                      <a:endParaRPr lang="en-US" noProof="0" dirty="0"/>
                    </a:p>
                  </a:txBody>
                  <a:tcPr/>
                </a:tc>
                <a:extLst>
                  <a:ext uri="{0D108BD9-81ED-4DB2-BD59-A6C34878D82A}">
                    <a16:rowId xmlns:a16="http://schemas.microsoft.com/office/drawing/2014/main" val="1009981136"/>
                  </a:ext>
                </a:extLst>
              </a:tr>
              <a:tr h="173815">
                <a:tc>
                  <a:txBody>
                    <a:bodyPr/>
                    <a:lstStyle/>
                    <a:p>
                      <a:endParaRPr lang="en-US" noProof="0" dirty="0"/>
                    </a:p>
                  </a:txBody>
                  <a:tcPr/>
                </a:tc>
                <a:tc>
                  <a:txBody>
                    <a:bodyPr/>
                    <a:lstStyle/>
                    <a:p>
                      <a:endParaRPr lang="en-US" noProof="0" dirty="0"/>
                    </a:p>
                  </a:txBody>
                  <a:tcPr/>
                </a:tc>
                <a:tc>
                  <a:txBody>
                    <a:bodyPr/>
                    <a:lstStyle/>
                    <a:p>
                      <a:endParaRPr lang="en-US" noProof="0" dirty="0"/>
                    </a:p>
                  </a:txBody>
                  <a:tcPr/>
                </a:tc>
                <a:extLst>
                  <a:ext uri="{0D108BD9-81ED-4DB2-BD59-A6C34878D82A}">
                    <a16:rowId xmlns:a16="http://schemas.microsoft.com/office/drawing/2014/main" val="2120759260"/>
                  </a:ext>
                </a:extLst>
              </a:tr>
              <a:tr h="173815">
                <a:tc>
                  <a:txBody>
                    <a:bodyPr/>
                    <a:lstStyle/>
                    <a:p>
                      <a:endParaRPr lang="en-US" noProof="0" dirty="0"/>
                    </a:p>
                  </a:txBody>
                  <a:tcPr/>
                </a:tc>
                <a:tc>
                  <a:txBody>
                    <a:bodyPr/>
                    <a:lstStyle/>
                    <a:p>
                      <a:endParaRPr lang="en-US" noProof="0" dirty="0"/>
                    </a:p>
                  </a:txBody>
                  <a:tcPr/>
                </a:tc>
                <a:tc>
                  <a:txBody>
                    <a:bodyPr/>
                    <a:lstStyle/>
                    <a:p>
                      <a:endParaRPr lang="en-US" noProof="0" dirty="0"/>
                    </a:p>
                  </a:txBody>
                  <a:tcPr/>
                </a:tc>
                <a:extLst>
                  <a:ext uri="{0D108BD9-81ED-4DB2-BD59-A6C34878D82A}">
                    <a16:rowId xmlns:a16="http://schemas.microsoft.com/office/drawing/2014/main" val="3790559321"/>
                  </a:ext>
                </a:extLst>
              </a:tr>
            </a:tbl>
          </a:graphicData>
        </a:graphic>
      </p:graphicFrame>
      <p:grpSp>
        <p:nvGrpSpPr>
          <p:cNvPr id="29" name="Group 28">
            <a:extLst>
              <a:ext uri="{FF2B5EF4-FFF2-40B4-BE49-F238E27FC236}">
                <a16:creationId xmlns:a16="http://schemas.microsoft.com/office/drawing/2014/main" id="{AC69A018-8975-5A75-1738-FB2BEBCA09C2}"/>
              </a:ext>
            </a:extLst>
          </p:cNvPr>
          <p:cNvGrpSpPr/>
          <p:nvPr/>
        </p:nvGrpSpPr>
        <p:grpSpPr>
          <a:xfrm>
            <a:off x="4814355" y="3711676"/>
            <a:ext cx="2563289" cy="432000"/>
            <a:chOff x="4604412" y="1893985"/>
            <a:chExt cx="2563289" cy="432000"/>
          </a:xfrm>
        </p:grpSpPr>
        <p:sp>
          <p:nvSpPr>
            <p:cNvPr id="30" name="Arrow: Pentagon 29">
              <a:extLst>
                <a:ext uri="{FF2B5EF4-FFF2-40B4-BE49-F238E27FC236}">
                  <a16:creationId xmlns:a16="http://schemas.microsoft.com/office/drawing/2014/main" id="{F37B6E8D-C29F-578A-FE29-63A735315D20}"/>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31" name="Graphic 30" descr="Connections with solid fill">
              <a:extLst>
                <a:ext uri="{FF2B5EF4-FFF2-40B4-BE49-F238E27FC236}">
                  <a16:creationId xmlns:a16="http://schemas.microsoft.com/office/drawing/2014/main" id="{A3F1FFEC-29A2-C923-B550-011DCF9640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E3BA610-57E8-35B9-B09A-67FC4265AD17}"/>
                  </a:ext>
                </a:extLst>
              </p:cNvPr>
              <p:cNvSpPr txBox="1"/>
              <p:nvPr/>
            </p:nvSpPr>
            <p:spPr>
              <a:xfrm>
                <a:off x="8077927" y="4526848"/>
                <a:ext cx="11650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latin typeface="Cambria Math" panose="02040503050406030204" pitchFamily="18" charset="0"/>
                        </a:rPr>
                        <m:t>𝑦</m:t>
                      </m:r>
                      <m:r>
                        <a:rPr lang="en-US" b="0" i="1" noProof="0" smtClean="0">
                          <a:latin typeface="Cambria Math" panose="02040503050406030204" pitchFamily="18" charset="0"/>
                        </a:rPr>
                        <m:t>~</m:t>
                      </m:r>
                      <m:r>
                        <a:rPr lang="en-US" b="0" i="1" noProof="0" smtClean="0">
                          <a:latin typeface="Cambria Math" panose="02040503050406030204" pitchFamily="18" charset="0"/>
                        </a:rPr>
                        <m:t>𝑥</m:t>
                      </m:r>
                      <m:r>
                        <a:rPr lang="en-US" b="0" i="1" noProof="0" smtClean="0">
                          <a:latin typeface="Cambria Math" panose="02040503050406030204" pitchFamily="18" charset="0"/>
                        </a:rPr>
                        <m:t>+</m:t>
                      </m:r>
                      <m:r>
                        <a:rPr lang="en-US" b="0" i="1" noProof="0" smtClean="0">
                          <a:latin typeface="Cambria Math" panose="02040503050406030204" pitchFamily="18" charset="0"/>
                        </a:rPr>
                        <m:t>𝑧</m:t>
                      </m:r>
                    </m:oMath>
                  </m:oMathPara>
                </a14:m>
                <a:endParaRPr lang="en-US" noProof="0" dirty="0"/>
              </a:p>
            </p:txBody>
          </p:sp>
        </mc:Choice>
        <mc:Fallback xmlns="">
          <p:sp>
            <p:nvSpPr>
              <p:cNvPr id="32" name="TextBox 31">
                <a:extLst>
                  <a:ext uri="{FF2B5EF4-FFF2-40B4-BE49-F238E27FC236}">
                    <a16:creationId xmlns:a16="http://schemas.microsoft.com/office/drawing/2014/main" id="{5E3BA610-57E8-35B9-B09A-67FC4265AD17}"/>
                  </a:ext>
                </a:extLst>
              </p:cNvPr>
              <p:cNvSpPr txBox="1">
                <a:spLocks noRot="1" noChangeAspect="1" noMove="1" noResize="1" noEditPoints="1" noAdjustHandles="1" noChangeArrowheads="1" noChangeShapeType="1" noTextEdit="1"/>
              </p:cNvSpPr>
              <p:nvPr/>
            </p:nvSpPr>
            <p:spPr>
              <a:xfrm>
                <a:off x="8077927" y="4526848"/>
                <a:ext cx="1165063" cy="276999"/>
              </a:xfrm>
              <a:prstGeom prst="rect">
                <a:avLst/>
              </a:prstGeom>
              <a:blipFill>
                <a:blip r:embed="rId7"/>
                <a:stretch>
                  <a:fillRect l="-2618" r="-2094" b="-26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3D38A11-2571-9FA3-7232-D4FC53846DBF}"/>
                  </a:ext>
                </a:extLst>
              </p:cNvPr>
              <p:cNvSpPr txBox="1"/>
              <p:nvPr/>
            </p:nvSpPr>
            <p:spPr>
              <a:xfrm>
                <a:off x="8077927" y="5508438"/>
                <a:ext cx="7731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latin typeface="Cambria Math" panose="02040503050406030204" pitchFamily="18" charset="0"/>
                        </a:rPr>
                        <m:t>𝑦</m:t>
                      </m:r>
                      <m:r>
                        <a:rPr lang="en-US" b="0" i="1" noProof="0" smtClean="0">
                          <a:latin typeface="Cambria Math" panose="02040503050406030204" pitchFamily="18" charset="0"/>
                        </a:rPr>
                        <m:t>~</m:t>
                      </m:r>
                      <m:r>
                        <a:rPr lang="en-US" b="0" i="1" noProof="0" smtClean="0">
                          <a:latin typeface="Cambria Math" panose="02040503050406030204" pitchFamily="18" charset="0"/>
                        </a:rPr>
                        <m:t>𝑥</m:t>
                      </m:r>
                    </m:oMath>
                  </m:oMathPara>
                </a14:m>
                <a:endParaRPr lang="en-US" noProof="0" dirty="0"/>
              </a:p>
            </p:txBody>
          </p:sp>
        </mc:Choice>
        <mc:Fallback xmlns="">
          <p:sp>
            <p:nvSpPr>
              <p:cNvPr id="33" name="TextBox 32">
                <a:extLst>
                  <a:ext uri="{FF2B5EF4-FFF2-40B4-BE49-F238E27FC236}">
                    <a16:creationId xmlns:a16="http://schemas.microsoft.com/office/drawing/2014/main" id="{73D38A11-2571-9FA3-7232-D4FC53846DBF}"/>
                  </a:ext>
                </a:extLst>
              </p:cNvPr>
              <p:cNvSpPr txBox="1">
                <a:spLocks noRot="1" noChangeAspect="1" noMove="1" noResize="1" noEditPoints="1" noAdjustHandles="1" noChangeArrowheads="1" noChangeShapeType="1" noTextEdit="1"/>
              </p:cNvSpPr>
              <p:nvPr/>
            </p:nvSpPr>
            <p:spPr>
              <a:xfrm>
                <a:off x="8077927" y="5508438"/>
                <a:ext cx="773160" cy="276999"/>
              </a:xfrm>
              <a:prstGeom prst="rect">
                <a:avLst/>
              </a:prstGeom>
              <a:blipFill>
                <a:blip r:embed="rId8"/>
                <a:stretch>
                  <a:fillRect l="-4724" r="-3150" b="-26667"/>
                </a:stretch>
              </a:blipFill>
            </p:spPr>
            <p:txBody>
              <a:bodyPr/>
              <a:lstStyle/>
              <a:p>
                <a:r>
                  <a:rPr lang="en-SE">
                    <a:noFill/>
                  </a:rPr>
                  <a:t> </a:t>
                </a:r>
              </a:p>
            </p:txBody>
          </p:sp>
        </mc:Fallback>
      </mc:AlternateContent>
      <p:sp>
        <p:nvSpPr>
          <p:cNvPr id="34" name="TextBox 33">
            <a:extLst>
              <a:ext uri="{FF2B5EF4-FFF2-40B4-BE49-F238E27FC236}">
                <a16:creationId xmlns:a16="http://schemas.microsoft.com/office/drawing/2014/main" id="{2B656ACA-D4A6-8393-E4E0-D50F02045229}"/>
              </a:ext>
            </a:extLst>
          </p:cNvPr>
          <p:cNvSpPr txBox="1"/>
          <p:nvPr/>
        </p:nvSpPr>
        <p:spPr>
          <a:xfrm>
            <a:off x="1680003" y="3743010"/>
            <a:ext cx="1624163" cy="369332"/>
          </a:xfrm>
          <a:prstGeom prst="rect">
            <a:avLst/>
          </a:prstGeom>
          <a:noFill/>
        </p:spPr>
        <p:txBody>
          <a:bodyPr wrap="none" rtlCol="0">
            <a:spAutoFit/>
          </a:bodyPr>
          <a:lstStyle/>
          <a:p>
            <a:pPr algn="ctr"/>
            <a:r>
              <a:rPr lang="en-US" b="1" noProof="0" dirty="0"/>
              <a:t>Causal Model</a:t>
            </a:r>
          </a:p>
        </p:txBody>
      </p:sp>
      <p:sp>
        <p:nvSpPr>
          <p:cNvPr id="35" name="TextBox 34">
            <a:extLst>
              <a:ext uri="{FF2B5EF4-FFF2-40B4-BE49-F238E27FC236}">
                <a16:creationId xmlns:a16="http://schemas.microsoft.com/office/drawing/2014/main" id="{7F4C79D9-C777-7D6F-9E26-50BCD040BF45}"/>
              </a:ext>
            </a:extLst>
          </p:cNvPr>
          <p:cNvSpPr txBox="1"/>
          <p:nvPr/>
        </p:nvSpPr>
        <p:spPr>
          <a:xfrm>
            <a:off x="7682885" y="3744815"/>
            <a:ext cx="1955151" cy="369332"/>
          </a:xfrm>
          <a:prstGeom prst="rect">
            <a:avLst/>
          </a:prstGeom>
          <a:noFill/>
        </p:spPr>
        <p:txBody>
          <a:bodyPr wrap="none" rtlCol="0">
            <a:spAutoFit/>
          </a:bodyPr>
          <a:lstStyle/>
          <a:p>
            <a:pPr algn="ctr"/>
            <a:r>
              <a:rPr lang="en-US" b="1" noProof="0" dirty="0"/>
              <a:t>Statistical Model</a:t>
            </a:r>
          </a:p>
        </p:txBody>
      </p:sp>
      <p:grpSp>
        <p:nvGrpSpPr>
          <p:cNvPr id="36" name="Group 35">
            <a:extLst>
              <a:ext uri="{FF2B5EF4-FFF2-40B4-BE49-F238E27FC236}">
                <a16:creationId xmlns:a16="http://schemas.microsoft.com/office/drawing/2014/main" id="{69B369BD-B345-D401-180E-2A5822BBBC4A}"/>
              </a:ext>
            </a:extLst>
          </p:cNvPr>
          <p:cNvGrpSpPr/>
          <p:nvPr/>
        </p:nvGrpSpPr>
        <p:grpSpPr>
          <a:xfrm>
            <a:off x="7713565" y="6001475"/>
            <a:ext cx="4537270" cy="720000"/>
            <a:chOff x="775410" y="5230369"/>
            <a:chExt cx="4537270" cy="720000"/>
          </a:xfrm>
        </p:grpSpPr>
        <p:sp>
          <p:nvSpPr>
            <p:cNvPr id="37" name="Rectangle: Rounded Corners 36">
              <a:extLst>
                <a:ext uri="{FF2B5EF4-FFF2-40B4-BE49-F238E27FC236}">
                  <a16:creationId xmlns:a16="http://schemas.microsoft.com/office/drawing/2014/main" id="{7E4B76FC-2D48-1236-8F1A-B5657134E553}"/>
                </a:ext>
              </a:extLst>
            </p:cNvPr>
            <p:cNvSpPr/>
            <p:nvPr/>
          </p:nvSpPr>
          <p:spPr>
            <a:xfrm>
              <a:off x="775412" y="5230369"/>
              <a:ext cx="4537268" cy="720000"/>
            </a:xfrm>
            <a:prstGeom prst="round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But how does this approach scale beyond three variables?</a:t>
              </a:r>
              <a:endParaRPr lang="en-US" baseline="30000" noProof="0" dirty="0"/>
            </a:p>
          </p:txBody>
        </p:sp>
        <p:pic>
          <p:nvPicPr>
            <p:cNvPr id="38" name="Graphic 37" descr="Question Mark with solid fill">
              <a:extLst>
                <a:ext uri="{FF2B5EF4-FFF2-40B4-BE49-F238E27FC236}">
                  <a16:creationId xmlns:a16="http://schemas.microsoft.com/office/drawing/2014/main" id="{42106B07-FE5F-4E64-BA08-E9408FB633A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775410" y="5230369"/>
              <a:ext cx="720000" cy="720000"/>
            </a:xfrm>
            <a:prstGeom prst="rect">
              <a:avLst/>
            </a:prstGeom>
          </p:spPr>
        </p:pic>
      </p:grpSp>
    </p:spTree>
    <p:extLst>
      <p:ext uri="{BB962C8B-B14F-4D97-AF65-F5344CB8AC3E}">
        <p14:creationId xmlns:p14="http://schemas.microsoft.com/office/powerpoint/2010/main" val="254840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CC9E51-CEB9-6B04-407E-D622EB7EB20A}"/>
              </a:ext>
            </a:extLst>
          </p:cNvPr>
          <p:cNvSpPr>
            <a:spLocks noGrp="1"/>
          </p:cNvSpPr>
          <p:nvPr>
            <p:ph type="title"/>
          </p:nvPr>
        </p:nvSpPr>
        <p:spPr/>
        <p:txBody>
          <a:bodyPr/>
          <a:lstStyle/>
          <a:p>
            <a:r>
              <a:rPr lang="en-SE" dirty="0"/>
              <a:t>d-Separation</a:t>
            </a:r>
          </a:p>
        </p:txBody>
      </p:sp>
      <p:sp>
        <p:nvSpPr>
          <p:cNvPr id="8" name="Text Placeholder 7">
            <a:extLst>
              <a:ext uri="{FF2B5EF4-FFF2-40B4-BE49-F238E27FC236}">
                <a16:creationId xmlns:a16="http://schemas.microsoft.com/office/drawing/2014/main" id="{3A927F4D-E06D-E14F-9CAA-5EF046829971}"/>
              </a:ext>
            </a:extLst>
          </p:cNvPr>
          <p:cNvSpPr>
            <a:spLocks noGrp="1"/>
          </p:cNvSpPr>
          <p:nvPr>
            <p:ph type="body" idx="1"/>
          </p:nvPr>
        </p:nvSpPr>
        <p:spPr/>
        <p:txBody>
          <a:bodyPr/>
          <a:lstStyle/>
          <a:p>
            <a:r>
              <a:rPr lang="en-SE" dirty="0"/>
              <a:t>Statistical Control for Reducing Bias</a:t>
            </a:r>
          </a:p>
        </p:txBody>
      </p:sp>
      <p:sp>
        <p:nvSpPr>
          <p:cNvPr id="4" name="Date Placeholder 3">
            <a:extLst>
              <a:ext uri="{FF2B5EF4-FFF2-40B4-BE49-F238E27FC236}">
                <a16:creationId xmlns:a16="http://schemas.microsoft.com/office/drawing/2014/main" id="{49AC3374-B8D5-63E6-8349-963F4DF19F93}"/>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ECAEF21B-64DF-795B-F54F-A5A39BA8D80B}"/>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C254921B-6D45-9A9D-EE4F-E2446A56D332}"/>
              </a:ext>
            </a:extLst>
          </p:cNvPr>
          <p:cNvSpPr>
            <a:spLocks noGrp="1"/>
          </p:cNvSpPr>
          <p:nvPr>
            <p:ph type="sldNum" sz="quarter" idx="12"/>
          </p:nvPr>
        </p:nvSpPr>
        <p:spPr/>
        <p:txBody>
          <a:bodyPr/>
          <a:lstStyle/>
          <a:p>
            <a:fld id="{0FA2D919-C0DE-4971-A2E9-D4AC0031921B}" type="slidenum">
              <a:rPr lang="en-US" smtClean="0"/>
              <a:t>51</a:t>
            </a:fld>
            <a:endParaRPr lang="en-US"/>
          </a:p>
        </p:txBody>
      </p:sp>
    </p:spTree>
    <p:extLst>
      <p:ext uri="{BB962C8B-B14F-4D97-AF65-F5344CB8AC3E}">
        <p14:creationId xmlns:p14="http://schemas.microsoft.com/office/powerpoint/2010/main" val="20590409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DCDE7-1223-9778-1325-9BD7ECAA9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AE039-0BAF-21F4-43C6-11E7267ED940}"/>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CD9677A1-CAF1-C80D-A9C8-5DEB632CF4D1}"/>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7CA4F1FC-8DF7-9A95-7AF1-A702A44682FC}"/>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F6EDA96-D8DE-F120-25A8-D7DF9F7DA2E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7F91CF4-3AFF-E562-FDA5-EE850B868700}"/>
              </a:ext>
            </a:extLst>
          </p:cNvPr>
          <p:cNvSpPr>
            <a:spLocks noGrp="1"/>
          </p:cNvSpPr>
          <p:nvPr>
            <p:ph type="sldNum" sz="quarter" idx="12"/>
          </p:nvPr>
        </p:nvSpPr>
        <p:spPr/>
        <p:txBody>
          <a:bodyPr/>
          <a:lstStyle/>
          <a:p>
            <a:fld id="{0FA2D919-C0DE-4971-A2E9-D4AC0031921B}" type="slidenum">
              <a:rPr lang="en-US" noProof="0" smtClean="0"/>
              <a:t>52</a:t>
            </a:fld>
            <a:endParaRPr lang="en-US" noProof="0" dirty="0"/>
          </a:p>
        </p:txBody>
      </p:sp>
      <p:sp>
        <p:nvSpPr>
          <p:cNvPr id="8" name="TextBox 7">
            <a:extLst>
              <a:ext uri="{FF2B5EF4-FFF2-40B4-BE49-F238E27FC236}">
                <a16:creationId xmlns:a16="http://schemas.microsoft.com/office/drawing/2014/main" id="{45DFD197-A361-BDA0-0AE1-EBB49FA91E6F}"/>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Tree>
    <p:extLst>
      <p:ext uri="{BB962C8B-B14F-4D97-AF65-F5344CB8AC3E}">
        <p14:creationId xmlns:p14="http://schemas.microsoft.com/office/powerpoint/2010/main" val="16150703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A66E-ACFF-1268-CDA5-18AC5C848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56EFA-FB6F-EA4D-7A66-1AAE04EC7E89}"/>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8DA10461-5544-791C-36EA-5F7830BB5441}"/>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644DF340-E5BB-4C8A-26F3-A75AA749227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300754B9-6194-75F6-FD55-44F99A285D55}"/>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58287CD-A3D9-D6F2-2DAD-937B67C91E0B}"/>
              </a:ext>
            </a:extLst>
          </p:cNvPr>
          <p:cNvSpPr>
            <a:spLocks noGrp="1"/>
          </p:cNvSpPr>
          <p:nvPr>
            <p:ph type="sldNum" sz="quarter" idx="12"/>
          </p:nvPr>
        </p:nvSpPr>
        <p:spPr/>
        <p:txBody>
          <a:bodyPr/>
          <a:lstStyle/>
          <a:p>
            <a:fld id="{0FA2D919-C0DE-4971-A2E9-D4AC0031921B}" type="slidenum">
              <a:rPr lang="en-US" noProof="0" smtClean="0"/>
              <a:t>53</a:t>
            </a:fld>
            <a:endParaRPr lang="en-US" noProof="0" dirty="0"/>
          </a:p>
        </p:txBody>
      </p:sp>
      <p:sp>
        <p:nvSpPr>
          <p:cNvPr id="8" name="TextBox 7">
            <a:extLst>
              <a:ext uri="{FF2B5EF4-FFF2-40B4-BE49-F238E27FC236}">
                <a16:creationId xmlns:a16="http://schemas.microsoft.com/office/drawing/2014/main" id="{85E5C05E-890A-85C3-746A-68D3691EFC1C}"/>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
        <p:nvSpPr>
          <p:cNvPr id="11" name="Oval 10">
            <a:extLst>
              <a:ext uri="{FF2B5EF4-FFF2-40B4-BE49-F238E27FC236}">
                <a16:creationId xmlns:a16="http://schemas.microsoft.com/office/drawing/2014/main" id="{AAEE7681-F563-0162-5D6E-13B8797B989B}"/>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CD9BB880-B857-43FD-5C44-050598F8ECD2}"/>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31628A8E-B656-3DBE-64A7-287580785766}"/>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635496F8-682B-93C7-04C7-FE12C0D55C7C}"/>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22C317EE-C832-0C92-F95E-28C6AEDAD01A}"/>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C7EB212-8EA8-1217-9094-BE082E0788FB}"/>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C5BD7D2C-3CFF-CEB3-2074-3DD65931219E}"/>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09839CD6-8FB8-88C1-12A4-FD4B8E7691A4}"/>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FFC0513E-92A3-E8C3-7CDE-670E13813BE4}"/>
              </a:ext>
            </a:extLst>
          </p:cNvPr>
          <p:cNvCxnSpPr>
            <a:cxnSpLocks/>
            <a:stCxn id="23" idx="4"/>
            <a:endCxn id="11" idx="0"/>
          </p:cNvCxnSpPr>
          <p:nvPr/>
        </p:nvCxnSpPr>
        <p:spPr>
          <a:xfrm flipH="1">
            <a:off x="1508964" y="3916278"/>
            <a:ext cx="1294" cy="47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B6C3CF87-8090-3130-EC04-45E9A05B29CA}"/>
              </a:ext>
            </a:extLst>
          </p:cNvPr>
          <p:cNvCxnSpPr>
            <a:cxnSpLocks/>
            <a:stCxn id="23" idx="6"/>
            <a:endCxn id="24" idx="2"/>
          </p:cNvCxnSpPr>
          <p:nvPr/>
        </p:nvCxnSpPr>
        <p:spPr>
          <a:xfrm flipV="1">
            <a:off x="1690258" y="3731713"/>
            <a:ext cx="884396" cy="4565"/>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61D4BF4C-56D2-FFE6-53ED-F00543734C3D}"/>
              </a:ext>
            </a:extLst>
          </p:cNvPr>
          <p:cNvCxnSpPr>
            <a:cxnSpLocks/>
            <a:stCxn id="12" idx="1"/>
            <a:endCxn id="24" idx="5"/>
          </p:cNvCxnSpPr>
          <p:nvPr/>
        </p:nvCxnSpPr>
        <p:spPr>
          <a:xfrm flipH="1" flipV="1">
            <a:off x="2881933" y="3858992"/>
            <a:ext cx="991132" cy="588156"/>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6F2EB214-29DF-7F9B-D114-9A7C523FB416}"/>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071C02B5-4BAE-B196-4A9B-66025C81659C}"/>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890230D3-BCCE-D220-18FC-AD8204217065}"/>
              </a:ext>
            </a:extLst>
          </p:cNvPr>
          <p:cNvCxnSpPr>
            <a:cxnSpLocks/>
            <a:stCxn id="54" idx="0"/>
            <a:endCxn id="11" idx="4"/>
          </p:cNvCxnSpPr>
          <p:nvPr/>
        </p:nvCxnSpPr>
        <p:spPr>
          <a:xfrm flipV="1">
            <a:off x="1508964" y="4754427"/>
            <a:ext cx="0" cy="83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D724D3C6-1542-35A3-4F4E-57DA07CF6998}"/>
              </a:ext>
            </a:extLst>
          </p:cNvPr>
          <p:cNvCxnSpPr>
            <a:cxnSpLocks/>
            <a:stCxn id="54" idx="6"/>
            <a:endCxn id="55" idx="2"/>
          </p:cNvCxnSpPr>
          <p:nvPr/>
        </p:nvCxnSpPr>
        <p:spPr>
          <a:xfrm>
            <a:off x="1688964" y="5772576"/>
            <a:ext cx="2131380" cy="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3207E108-9D92-DBC9-C7BD-85801EE87899}"/>
              </a:ext>
            </a:extLst>
          </p:cNvPr>
          <p:cNvCxnSpPr>
            <a:cxnSpLocks/>
            <a:stCxn id="55" idx="0"/>
            <a:endCxn id="12" idx="4"/>
          </p:cNvCxnSpPr>
          <p:nvPr/>
        </p:nvCxnSpPr>
        <p:spPr>
          <a:xfrm flipV="1">
            <a:off x="4000344" y="4754427"/>
            <a:ext cx="0" cy="838149"/>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nvGrpSpPr>
          <p:cNvPr id="69" name="Group 68">
            <a:extLst>
              <a:ext uri="{FF2B5EF4-FFF2-40B4-BE49-F238E27FC236}">
                <a16:creationId xmlns:a16="http://schemas.microsoft.com/office/drawing/2014/main" id="{860D6E7E-47A1-684A-1423-8DBB4A488B04}"/>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84C6A342-7F7C-4480-2DAB-71497AEC56DE}"/>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555999C7-8281-83DB-E452-6172B3AAE8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15F26C48-155A-FE75-0B25-B4866D71255B}"/>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15F26C48-155A-FE75-0B25-B4866D71255B}"/>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6"/>
                <a:stretch>
                  <a:fillRect l="-4724" r="-3937" b="-8889"/>
                </a:stretch>
              </a:blipFill>
            </p:spPr>
            <p:txBody>
              <a:bodyPr/>
              <a:lstStyle/>
              <a:p>
                <a:r>
                  <a:rPr lang="en-SE">
                    <a:noFill/>
                  </a:rPr>
                  <a:t> </a:t>
                </a:r>
              </a:p>
            </p:txBody>
          </p:sp>
        </mc:Fallback>
      </mc:AlternateContent>
    </p:spTree>
    <p:extLst>
      <p:ext uri="{BB962C8B-B14F-4D97-AF65-F5344CB8AC3E}">
        <p14:creationId xmlns:p14="http://schemas.microsoft.com/office/powerpoint/2010/main" val="18813245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1E925-04CC-8A66-E145-BCE170F41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F556D-FD7E-CA3B-8A8F-4886E9F1BD8E}"/>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A46E0AE1-3DEF-DAAD-55EE-685F8AE89158}"/>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8136881D-9E55-10D7-AD5A-63988AEFEE9C}"/>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B61CD6CB-4F6B-EEAE-F2FC-C009C03BD7F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E2FA418-7807-4889-72A9-2309957B34DD}"/>
              </a:ext>
            </a:extLst>
          </p:cNvPr>
          <p:cNvSpPr>
            <a:spLocks noGrp="1"/>
          </p:cNvSpPr>
          <p:nvPr>
            <p:ph type="sldNum" sz="quarter" idx="12"/>
          </p:nvPr>
        </p:nvSpPr>
        <p:spPr/>
        <p:txBody>
          <a:bodyPr/>
          <a:lstStyle/>
          <a:p>
            <a:fld id="{0FA2D919-C0DE-4971-A2E9-D4AC0031921B}" type="slidenum">
              <a:rPr lang="en-US" noProof="0" smtClean="0"/>
              <a:t>54</a:t>
            </a:fld>
            <a:endParaRPr lang="en-US" noProof="0" dirty="0"/>
          </a:p>
        </p:txBody>
      </p:sp>
      <p:sp>
        <p:nvSpPr>
          <p:cNvPr id="8" name="TextBox 7">
            <a:extLst>
              <a:ext uri="{FF2B5EF4-FFF2-40B4-BE49-F238E27FC236}">
                <a16:creationId xmlns:a16="http://schemas.microsoft.com/office/drawing/2014/main" id="{9CC66470-CB10-B468-9560-0A79A5D104DB}"/>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3"/>
              </a:rPr>
              <a:t>https://bayes.cs.ucla.edu/BOOK-2K/d-sep.html</a:t>
            </a:r>
            <a:r>
              <a:rPr lang="en-US" noProof="0" dirty="0"/>
              <a:t> </a:t>
            </a:r>
          </a:p>
        </p:txBody>
      </p:sp>
      <p:sp>
        <p:nvSpPr>
          <p:cNvPr id="11" name="Oval 10">
            <a:extLst>
              <a:ext uri="{FF2B5EF4-FFF2-40B4-BE49-F238E27FC236}">
                <a16:creationId xmlns:a16="http://schemas.microsoft.com/office/drawing/2014/main" id="{2816B623-6EAB-F025-6800-4CA4730FD53A}"/>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47B1B23C-97B8-5894-1AA3-84BD08F73004}"/>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2AC58CF2-D667-4A36-8656-B274A06E73AA}"/>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C62E228D-6D24-3DE0-E119-986B7ECFA131}"/>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26C6988E-7659-A50D-24E1-891879658818}"/>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9C88A5D-8B24-C6BB-C12E-C99D6330AC98}"/>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14002446-6E48-6C52-6760-514530EEC84A}"/>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2D2626C0-C962-33DB-4992-6B21C56E084F}"/>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13A462E5-6973-C535-4007-0E46636A42A4}"/>
              </a:ext>
            </a:extLst>
          </p:cNvPr>
          <p:cNvCxnSpPr>
            <a:cxnSpLocks/>
            <a:stCxn id="23" idx="4"/>
            <a:endCxn id="11"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959CAD51-13D5-C7DD-0426-D634DD83342A}"/>
              </a:ext>
            </a:extLst>
          </p:cNvPr>
          <p:cNvCxnSpPr>
            <a:cxnSpLocks/>
            <a:stCxn id="23" idx="6"/>
            <a:endCxn id="24"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0CD89038-C556-5F4B-53A9-4E34BDBFE607}"/>
              </a:ext>
            </a:extLst>
          </p:cNvPr>
          <p:cNvCxnSpPr>
            <a:cxnSpLocks/>
            <a:stCxn id="12" idx="1"/>
            <a:endCxn id="24"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FC9D6E6E-1E4B-4419-ADAB-B8CBC675EAA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09B928AC-111F-9EB0-FCE9-A082C5A0FD39}"/>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513B3E57-C7C4-207D-6985-340CA69A2978}"/>
              </a:ext>
            </a:extLst>
          </p:cNvPr>
          <p:cNvCxnSpPr>
            <a:cxnSpLocks/>
            <a:stCxn id="54" idx="0"/>
            <a:endCxn id="11"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0D2DA356-22E1-0574-024E-DA05B5406EC0}"/>
              </a:ext>
            </a:extLst>
          </p:cNvPr>
          <p:cNvCxnSpPr>
            <a:cxnSpLocks/>
            <a:stCxn id="54" idx="6"/>
            <a:endCxn id="5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88D59CFE-4887-8CB6-B0A0-D097D882BEF2}"/>
              </a:ext>
            </a:extLst>
          </p:cNvPr>
          <p:cNvCxnSpPr>
            <a:cxnSpLocks/>
            <a:stCxn id="55" idx="0"/>
            <a:endCxn id="12"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F2B9F061-BFA7-E6CE-2949-D99D496428C8}"/>
              </a:ext>
            </a:extLst>
          </p:cNvPr>
          <p:cNvSpPr txBox="1"/>
          <p:nvPr/>
        </p:nvSpPr>
        <p:spPr>
          <a:xfrm>
            <a:off x="4564594" y="4232692"/>
            <a:ext cx="7254125" cy="369332"/>
          </a:xfrm>
          <a:prstGeom prst="rect">
            <a:avLst/>
          </a:prstGeom>
          <a:noFill/>
        </p:spPr>
        <p:txBody>
          <a:bodyPr wrap="square" rtlCol="0">
            <a:spAutoFit/>
          </a:bodyPr>
          <a:lstStyle/>
          <a:p>
            <a:pPr marL="342900" indent="-342900">
              <a:buFont typeface="+mj-lt"/>
              <a:buAutoNum type="arabicPeriod"/>
            </a:pPr>
            <a:r>
              <a:rPr lang="en-US" noProof="0" dirty="0"/>
              <a:t>Identify every </a:t>
            </a:r>
            <a:r>
              <a:rPr lang="en-US" b="1" noProof="0" dirty="0"/>
              <a:t>backdoor path</a:t>
            </a:r>
            <a:r>
              <a:rPr lang="en-US" i="1" noProof="0" dirty="0"/>
              <a:t>.</a:t>
            </a:r>
            <a:endParaRPr lang="en-US" noProof="0" dirty="0"/>
          </a:p>
        </p:txBody>
      </p:sp>
      <p:grpSp>
        <p:nvGrpSpPr>
          <p:cNvPr id="69" name="Group 68">
            <a:extLst>
              <a:ext uri="{FF2B5EF4-FFF2-40B4-BE49-F238E27FC236}">
                <a16:creationId xmlns:a16="http://schemas.microsoft.com/office/drawing/2014/main" id="{B8E8643C-3A89-2DE5-1B8E-ABFB0C4F9E7F}"/>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42252693-6B02-15AB-8A4A-E2580DF2C570}"/>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49271CE2-A685-A000-EB07-13F5C029A1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38930368-5507-D9A8-D65F-C0CC098D4B82}"/>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38930368-5507-D9A8-D65F-C0CC098D4B82}"/>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6"/>
                <a:stretch>
                  <a:fillRect l="-4724" r="-3937" b="-8889"/>
                </a:stretch>
              </a:blipFill>
            </p:spPr>
            <p:txBody>
              <a:bodyPr/>
              <a:lstStyle/>
              <a:p>
                <a:r>
                  <a:rPr lang="en-SE">
                    <a:noFill/>
                  </a:rPr>
                  <a:t> </a:t>
                </a:r>
              </a:p>
            </p:txBody>
          </p:sp>
        </mc:Fallback>
      </mc:AlternateContent>
    </p:spTree>
    <p:extLst>
      <p:ext uri="{BB962C8B-B14F-4D97-AF65-F5344CB8AC3E}">
        <p14:creationId xmlns:p14="http://schemas.microsoft.com/office/powerpoint/2010/main" val="33731463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CB685-E138-A5B6-F802-EFAA34361A4C}"/>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EFB16A0E-D5B6-B943-CA50-9C3C086B7798}"/>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9254DF0C-883F-EF08-C47B-748D4F15265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3A587E4-C813-16A5-A723-B84D42C31CB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801C69C6-658E-795A-B968-D882D3E1456C}"/>
              </a:ext>
            </a:extLst>
          </p:cNvPr>
          <p:cNvSpPr>
            <a:spLocks noGrp="1"/>
          </p:cNvSpPr>
          <p:nvPr>
            <p:ph type="sldNum" sz="quarter" idx="12"/>
          </p:nvPr>
        </p:nvSpPr>
        <p:spPr/>
        <p:txBody>
          <a:bodyPr/>
          <a:lstStyle/>
          <a:p>
            <a:fld id="{0FA2D919-C0DE-4971-A2E9-D4AC0031921B}" type="slidenum">
              <a:rPr lang="en-US" noProof="0" smtClean="0"/>
              <a:t>55</a:t>
            </a:fld>
            <a:endParaRPr lang="en-US" noProof="0" dirty="0"/>
          </a:p>
        </p:txBody>
      </p:sp>
      <p:sp>
        <p:nvSpPr>
          <p:cNvPr id="8" name="TextBox 7">
            <a:extLst>
              <a:ext uri="{FF2B5EF4-FFF2-40B4-BE49-F238E27FC236}">
                <a16:creationId xmlns:a16="http://schemas.microsoft.com/office/drawing/2014/main" id="{26F53804-34C1-6FF8-E0DC-73F846EF02F4}"/>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68" name="TextBox 67">
            <a:extLst>
              <a:ext uri="{FF2B5EF4-FFF2-40B4-BE49-F238E27FC236}">
                <a16:creationId xmlns:a16="http://schemas.microsoft.com/office/drawing/2014/main" id="{6D5868F1-5011-6AA7-6FA7-3C2640A364B4}"/>
              </a:ext>
            </a:extLst>
          </p:cNvPr>
          <p:cNvSpPr txBox="1"/>
          <p:nvPr/>
        </p:nvSpPr>
        <p:spPr>
          <a:xfrm>
            <a:off x="4564594" y="4232692"/>
            <a:ext cx="7254125" cy="923330"/>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a:t>
            </a:r>
            <a:r>
              <a:rPr lang="en-US" b="1" noProof="0" dirty="0">
                <a:solidFill>
                  <a:schemeClr val="bg2">
                    <a:lumMod val="75000"/>
                  </a:schemeClr>
                </a:solidFill>
              </a:rPr>
              <a:t>collider</a:t>
            </a:r>
            <a:r>
              <a:rPr lang="en-US" noProof="0" dirty="0"/>
              <a:t> between the cause and effect of interest.</a:t>
            </a:r>
          </a:p>
          <a:p>
            <a:pPr marL="800100" lvl="1" indent="-342900">
              <a:buFont typeface="+mj-lt"/>
              <a:buAutoNum type="arabicPeriod"/>
            </a:pPr>
            <a:r>
              <a:rPr lang="en-US" noProof="0" dirty="0"/>
              <a:t>If yes, do not condition on any of the variables on this path.</a:t>
            </a:r>
          </a:p>
        </p:txBody>
      </p:sp>
      <p:grpSp>
        <p:nvGrpSpPr>
          <p:cNvPr id="69" name="Group 68">
            <a:extLst>
              <a:ext uri="{FF2B5EF4-FFF2-40B4-BE49-F238E27FC236}">
                <a16:creationId xmlns:a16="http://schemas.microsoft.com/office/drawing/2014/main" id="{892F82F6-5C06-7A19-A9AA-4081360BC9FB}"/>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706CAA29-7C42-41AF-8F7E-81D25A568C4A}"/>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766D0D84-C177-6635-D9B1-3CF076BD9D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FEAD5DDA-B7CF-C07B-F9C9-62056900083E}"/>
                  </a:ext>
                </a:extLst>
              </p:cNvPr>
              <p:cNvSpPr txBox="1"/>
              <p:nvPr/>
            </p:nvSpPr>
            <p:spPr>
              <a:xfrm>
                <a:off x="7320769" y="3601512"/>
                <a:ext cx="7729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oMath>
                  </m:oMathPara>
                </a14:m>
                <a:endParaRPr lang="en-US" noProof="0" dirty="0"/>
              </a:p>
            </p:txBody>
          </p:sp>
        </mc:Choice>
        <mc:Fallback xmlns="">
          <p:sp>
            <p:nvSpPr>
              <p:cNvPr id="72" name="TextBox 71">
                <a:extLst>
                  <a:ext uri="{FF2B5EF4-FFF2-40B4-BE49-F238E27FC236}">
                    <a16:creationId xmlns:a16="http://schemas.microsoft.com/office/drawing/2014/main" id="{FEAD5DDA-B7CF-C07B-F9C9-62056900083E}"/>
                  </a:ext>
                </a:extLst>
              </p:cNvPr>
              <p:cNvSpPr txBox="1">
                <a:spLocks noRot="1" noChangeAspect="1" noMove="1" noResize="1" noEditPoints="1" noAdjustHandles="1" noChangeArrowheads="1" noChangeShapeType="1" noTextEdit="1"/>
              </p:cNvSpPr>
              <p:nvPr/>
            </p:nvSpPr>
            <p:spPr>
              <a:xfrm>
                <a:off x="7320769" y="3601512"/>
                <a:ext cx="772904" cy="276999"/>
              </a:xfrm>
              <a:prstGeom prst="rect">
                <a:avLst/>
              </a:prstGeom>
              <a:blipFill>
                <a:blip r:embed="rId5"/>
                <a:stretch>
                  <a:fillRect l="-4724" r="-3937" b="-8889"/>
                </a:stretch>
              </a:blipFill>
            </p:spPr>
            <p:txBody>
              <a:bodyPr/>
              <a:lstStyle/>
              <a:p>
                <a:r>
                  <a:rPr lang="en-SE">
                    <a:noFill/>
                  </a:rPr>
                  <a:t> </a:t>
                </a:r>
              </a:p>
            </p:txBody>
          </p:sp>
        </mc:Fallback>
      </mc:AlternateContent>
      <p:sp>
        <p:nvSpPr>
          <p:cNvPr id="73" name="Oval 72">
            <a:extLst>
              <a:ext uri="{FF2B5EF4-FFF2-40B4-BE49-F238E27FC236}">
                <a16:creationId xmlns:a16="http://schemas.microsoft.com/office/drawing/2014/main" id="{07B4066A-549A-1302-27A5-39E495A03B3B}"/>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74" name="Oval 73">
            <a:extLst>
              <a:ext uri="{FF2B5EF4-FFF2-40B4-BE49-F238E27FC236}">
                <a16:creationId xmlns:a16="http://schemas.microsoft.com/office/drawing/2014/main" id="{1C879866-19E7-8E5E-7D9D-FBB628FBE65D}"/>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75" name="Straight Arrow Connector 74">
            <a:extLst>
              <a:ext uri="{FF2B5EF4-FFF2-40B4-BE49-F238E27FC236}">
                <a16:creationId xmlns:a16="http://schemas.microsoft.com/office/drawing/2014/main" id="{172E67BB-96B3-95D8-857A-366C72D5E6BF}"/>
              </a:ext>
            </a:extLst>
          </p:cNvPr>
          <p:cNvCxnSpPr>
            <a:stCxn id="73" idx="6"/>
            <a:endCxn id="74"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6" name="Oval 75">
            <a:extLst>
              <a:ext uri="{FF2B5EF4-FFF2-40B4-BE49-F238E27FC236}">
                <a16:creationId xmlns:a16="http://schemas.microsoft.com/office/drawing/2014/main" id="{A590A7B2-66C6-2BBD-4049-C9DB161BDAD6}"/>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77" name="Straight Arrow Connector 76">
            <a:extLst>
              <a:ext uri="{FF2B5EF4-FFF2-40B4-BE49-F238E27FC236}">
                <a16:creationId xmlns:a16="http://schemas.microsoft.com/office/drawing/2014/main" id="{4ABBB32A-30A7-CAFE-DB19-B2D844659865}"/>
              </a:ext>
            </a:extLst>
          </p:cNvPr>
          <p:cNvCxnSpPr>
            <a:cxnSpLocks/>
            <a:stCxn id="76" idx="6"/>
            <a:endCxn id="74"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8783E7FF-2DAA-775B-B2C4-5C7F301DD2C7}"/>
              </a:ext>
            </a:extLst>
          </p:cNvPr>
          <p:cNvCxnSpPr>
            <a:cxnSpLocks/>
            <a:stCxn id="73" idx="5"/>
            <a:endCxn id="7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Oval 78">
            <a:extLst>
              <a:ext uri="{FF2B5EF4-FFF2-40B4-BE49-F238E27FC236}">
                <a16:creationId xmlns:a16="http://schemas.microsoft.com/office/drawing/2014/main" id="{D7B07AFD-5AB2-1201-994F-73A92E4295AA}"/>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80" name="Oval 79">
            <a:extLst>
              <a:ext uri="{FF2B5EF4-FFF2-40B4-BE49-F238E27FC236}">
                <a16:creationId xmlns:a16="http://schemas.microsoft.com/office/drawing/2014/main" id="{C24C6894-E548-EAA4-CB55-E250321FD45E}"/>
              </a:ext>
            </a:extLst>
          </p:cNvPr>
          <p:cNvSpPr/>
          <p:nvPr/>
        </p:nvSpPr>
        <p:spPr>
          <a:xfrm>
            <a:off x="2574654" y="3551713"/>
            <a:ext cx="360000" cy="360000"/>
          </a:xfrm>
          <a:prstGeom prst="ellipse">
            <a:avLst/>
          </a:prstGeom>
          <a:solidFill>
            <a:srgbClr val="FFC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81" name="Straight Arrow Connector 80">
            <a:extLst>
              <a:ext uri="{FF2B5EF4-FFF2-40B4-BE49-F238E27FC236}">
                <a16:creationId xmlns:a16="http://schemas.microsoft.com/office/drawing/2014/main" id="{9A535583-DF23-435B-8BF2-38456ADC5A92}"/>
              </a:ext>
            </a:extLst>
          </p:cNvPr>
          <p:cNvCxnSpPr>
            <a:cxnSpLocks/>
            <a:stCxn id="79" idx="4"/>
            <a:endCxn id="73"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E8417A89-8C5D-51EE-8211-5502543D9FF2}"/>
              </a:ext>
            </a:extLst>
          </p:cNvPr>
          <p:cNvCxnSpPr>
            <a:cxnSpLocks/>
            <a:stCxn id="79" idx="6"/>
            <a:endCxn id="80"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6B350669-1929-669D-9CAC-5DF0C233CF42}"/>
              </a:ext>
            </a:extLst>
          </p:cNvPr>
          <p:cNvCxnSpPr>
            <a:cxnSpLocks/>
            <a:stCxn id="74" idx="1"/>
            <a:endCxn id="80"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8DC4373E-0BA6-1F4E-E746-A6F049D39974}"/>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85" name="Oval 84">
            <a:extLst>
              <a:ext uri="{FF2B5EF4-FFF2-40B4-BE49-F238E27FC236}">
                <a16:creationId xmlns:a16="http://schemas.microsoft.com/office/drawing/2014/main" id="{321D2E0F-C80E-E756-D12B-2F1AE15EA0EE}"/>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86" name="Straight Arrow Connector 85">
            <a:extLst>
              <a:ext uri="{FF2B5EF4-FFF2-40B4-BE49-F238E27FC236}">
                <a16:creationId xmlns:a16="http://schemas.microsoft.com/office/drawing/2014/main" id="{A11F05EC-A40D-4B42-A6E8-0D245E999CEC}"/>
              </a:ext>
            </a:extLst>
          </p:cNvPr>
          <p:cNvCxnSpPr>
            <a:cxnSpLocks/>
            <a:stCxn id="84" idx="0"/>
            <a:endCxn id="73"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5D9774B0-22B5-25EE-7651-E21CC584505D}"/>
              </a:ext>
            </a:extLst>
          </p:cNvPr>
          <p:cNvCxnSpPr>
            <a:cxnSpLocks/>
            <a:stCxn id="84" idx="6"/>
            <a:endCxn id="8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84C19F3C-D130-F153-CF01-EF46CF4FF1C0}"/>
              </a:ext>
            </a:extLst>
          </p:cNvPr>
          <p:cNvCxnSpPr>
            <a:cxnSpLocks/>
            <a:stCxn id="85" idx="0"/>
            <a:endCxn id="74"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064816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BDD02-9E2D-3246-79E8-D4DA8BA0E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05777-79EE-E32E-C089-B9DAA594FCA1}"/>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AA2903D0-C641-4B89-868E-DB782D3E0762}"/>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5BB669A3-E574-F8F7-32DD-184599C6FAD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F5546B6-5DA8-3F64-FDC1-52B4B265244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D492D98-8172-2817-EA16-8C4449378EE4}"/>
              </a:ext>
            </a:extLst>
          </p:cNvPr>
          <p:cNvSpPr>
            <a:spLocks noGrp="1"/>
          </p:cNvSpPr>
          <p:nvPr>
            <p:ph type="sldNum" sz="quarter" idx="12"/>
          </p:nvPr>
        </p:nvSpPr>
        <p:spPr/>
        <p:txBody>
          <a:bodyPr/>
          <a:lstStyle/>
          <a:p>
            <a:fld id="{0FA2D919-C0DE-4971-A2E9-D4AC0031921B}" type="slidenum">
              <a:rPr lang="en-US" noProof="0" smtClean="0"/>
              <a:t>56</a:t>
            </a:fld>
            <a:endParaRPr lang="en-US" noProof="0" dirty="0"/>
          </a:p>
        </p:txBody>
      </p:sp>
      <p:sp>
        <p:nvSpPr>
          <p:cNvPr id="8" name="TextBox 7">
            <a:extLst>
              <a:ext uri="{FF2B5EF4-FFF2-40B4-BE49-F238E27FC236}">
                <a16:creationId xmlns:a16="http://schemas.microsoft.com/office/drawing/2014/main" id="{687BA49A-EDF0-9034-DFE7-3034AE3A355B}"/>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68" name="TextBox 67">
            <a:extLst>
              <a:ext uri="{FF2B5EF4-FFF2-40B4-BE49-F238E27FC236}">
                <a16:creationId xmlns:a16="http://schemas.microsoft.com/office/drawing/2014/main" id="{EA551C66-4DFD-EBD0-CF84-0493AD21CBCD}"/>
              </a:ext>
            </a:extLst>
          </p:cNvPr>
          <p:cNvSpPr txBox="1"/>
          <p:nvPr/>
        </p:nvSpPr>
        <p:spPr>
          <a:xfrm>
            <a:off x="4564594" y="4232692"/>
            <a:ext cx="7254125" cy="1477328"/>
          </a:xfrm>
          <a:prstGeom prst="rect">
            <a:avLst/>
          </a:prstGeom>
          <a:noFill/>
        </p:spPr>
        <p:txBody>
          <a:bodyPr wrap="square" rtlCol="0">
            <a:spAutoFit/>
          </a:bodyPr>
          <a:lstStyle/>
          <a:p>
            <a:pPr marL="342900" indent="-342900">
              <a:buFont typeface="+mj-lt"/>
              <a:buAutoNum type="arabicPeriod"/>
            </a:pPr>
            <a:r>
              <a:rPr lang="en-US" noProof="0" dirty="0"/>
              <a:t>Identify every backdoor</a:t>
            </a:r>
            <a:r>
              <a:rPr lang="en-US" i="1" noProof="0" dirty="0"/>
              <a:t> </a:t>
            </a:r>
            <a:r>
              <a:rPr lang="en-US" noProof="0" dirty="0"/>
              <a:t>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t>
            </a:r>
            <a:r>
              <a:rPr lang="en-US" b="1" noProof="0" dirty="0">
                <a:solidFill>
                  <a:schemeClr val="accent1">
                    <a:lumMod val="75000"/>
                  </a:schemeClr>
                </a:solidFill>
              </a:rPr>
              <a:t>any of the variables </a:t>
            </a:r>
            <a:r>
              <a:rPr lang="en-US" noProof="0" dirty="0"/>
              <a:t>on this path to “close” the backdoor path.</a:t>
            </a:r>
          </a:p>
        </p:txBody>
      </p:sp>
      <p:grpSp>
        <p:nvGrpSpPr>
          <p:cNvPr id="69" name="Group 68">
            <a:extLst>
              <a:ext uri="{FF2B5EF4-FFF2-40B4-BE49-F238E27FC236}">
                <a16:creationId xmlns:a16="http://schemas.microsoft.com/office/drawing/2014/main" id="{95238822-1B79-5A25-AAF9-693D26075F99}"/>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9B506046-EB78-768D-DADF-8E435D33909C}"/>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7155CCD0-EA21-30DF-C7E5-9165F25929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29F024D-78E5-275B-C59D-6C649B07EE31}"/>
                  </a:ext>
                </a:extLst>
              </p:cNvPr>
              <p:cNvSpPr txBox="1"/>
              <p:nvPr/>
            </p:nvSpPr>
            <p:spPr>
              <a:xfrm>
                <a:off x="7343347" y="3413213"/>
                <a:ext cx="11819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oMath>
                  </m:oMathPara>
                </a14:m>
                <a:endParaRPr lang="en-US" noProof="0" dirty="0"/>
              </a:p>
            </p:txBody>
          </p:sp>
        </mc:Choice>
        <mc:Fallback xmlns="">
          <p:sp>
            <p:nvSpPr>
              <p:cNvPr id="72" name="TextBox 71">
                <a:extLst>
                  <a:ext uri="{FF2B5EF4-FFF2-40B4-BE49-F238E27FC236}">
                    <a16:creationId xmlns:a16="http://schemas.microsoft.com/office/drawing/2014/main" id="{E29F024D-78E5-275B-C59D-6C649B07EE31}"/>
                  </a:ext>
                </a:extLst>
              </p:cNvPr>
              <p:cNvSpPr txBox="1">
                <a:spLocks noRot="1" noChangeAspect="1" noMove="1" noResize="1" noEditPoints="1" noAdjustHandles="1" noChangeArrowheads="1" noChangeShapeType="1" noTextEdit="1"/>
              </p:cNvSpPr>
              <p:nvPr/>
            </p:nvSpPr>
            <p:spPr>
              <a:xfrm>
                <a:off x="7343347" y="3413213"/>
                <a:ext cx="1181990" cy="276999"/>
              </a:xfrm>
              <a:prstGeom prst="rect">
                <a:avLst/>
              </a:prstGeom>
              <a:blipFill>
                <a:blip r:embed="rId5"/>
                <a:stretch>
                  <a:fillRect l="-2577" t="-2222" r="-6186" b="-35556"/>
                </a:stretch>
              </a:blipFill>
            </p:spPr>
            <p:txBody>
              <a:bodyPr/>
              <a:lstStyle/>
              <a:p>
                <a:r>
                  <a:rPr lang="en-SE">
                    <a:noFill/>
                  </a:rPr>
                  <a:t> </a:t>
                </a:r>
              </a:p>
            </p:txBody>
          </p:sp>
        </mc:Fallback>
      </mc:AlternateContent>
      <p:sp>
        <p:nvSpPr>
          <p:cNvPr id="73" name="Oval 72">
            <a:extLst>
              <a:ext uri="{FF2B5EF4-FFF2-40B4-BE49-F238E27FC236}">
                <a16:creationId xmlns:a16="http://schemas.microsoft.com/office/drawing/2014/main" id="{D153B058-98B5-D8B7-7612-3D4FE437ADA0}"/>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74" name="Oval 73">
            <a:extLst>
              <a:ext uri="{FF2B5EF4-FFF2-40B4-BE49-F238E27FC236}">
                <a16:creationId xmlns:a16="http://schemas.microsoft.com/office/drawing/2014/main" id="{296D6679-FEC9-A27A-A200-A1024155CC7C}"/>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75" name="Straight Arrow Connector 74">
            <a:extLst>
              <a:ext uri="{FF2B5EF4-FFF2-40B4-BE49-F238E27FC236}">
                <a16:creationId xmlns:a16="http://schemas.microsoft.com/office/drawing/2014/main" id="{8CE91BB8-8229-DD96-D5EE-64C468F0A8FC}"/>
              </a:ext>
            </a:extLst>
          </p:cNvPr>
          <p:cNvCxnSpPr>
            <a:stCxn id="73" idx="6"/>
            <a:endCxn id="74"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6" name="Oval 75">
            <a:extLst>
              <a:ext uri="{FF2B5EF4-FFF2-40B4-BE49-F238E27FC236}">
                <a16:creationId xmlns:a16="http://schemas.microsoft.com/office/drawing/2014/main" id="{20B8A9CE-C67B-967E-020C-C2C667DC64EB}"/>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77" name="Straight Arrow Connector 76">
            <a:extLst>
              <a:ext uri="{FF2B5EF4-FFF2-40B4-BE49-F238E27FC236}">
                <a16:creationId xmlns:a16="http://schemas.microsoft.com/office/drawing/2014/main" id="{B61010B2-B72C-EE5D-B9AE-962163B986AA}"/>
              </a:ext>
            </a:extLst>
          </p:cNvPr>
          <p:cNvCxnSpPr>
            <a:cxnSpLocks/>
            <a:stCxn id="76" idx="6"/>
            <a:endCxn id="74"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C4CBF350-C383-B199-3080-9A556D7CF853}"/>
              </a:ext>
            </a:extLst>
          </p:cNvPr>
          <p:cNvCxnSpPr>
            <a:cxnSpLocks/>
            <a:stCxn id="73" idx="5"/>
            <a:endCxn id="7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Oval 78">
            <a:extLst>
              <a:ext uri="{FF2B5EF4-FFF2-40B4-BE49-F238E27FC236}">
                <a16:creationId xmlns:a16="http://schemas.microsoft.com/office/drawing/2014/main" id="{D7F555ED-40DE-ABC8-8CF6-606BEB3A2A98}"/>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80" name="Oval 79">
            <a:extLst>
              <a:ext uri="{FF2B5EF4-FFF2-40B4-BE49-F238E27FC236}">
                <a16:creationId xmlns:a16="http://schemas.microsoft.com/office/drawing/2014/main" id="{447BB812-015A-9441-8984-A04235DB6508}"/>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81" name="Straight Arrow Connector 80">
            <a:extLst>
              <a:ext uri="{FF2B5EF4-FFF2-40B4-BE49-F238E27FC236}">
                <a16:creationId xmlns:a16="http://schemas.microsoft.com/office/drawing/2014/main" id="{F3BE1D9E-C963-7AE7-C604-F5A7173DD911}"/>
              </a:ext>
            </a:extLst>
          </p:cNvPr>
          <p:cNvCxnSpPr>
            <a:cxnSpLocks/>
            <a:stCxn id="79" idx="4"/>
            <a:endCxn id="73" idx="0"/>
          </p:cNvCxnSpPr>
          <p:nvPr/>
        </p:nvCxnSpPr>
        <p:spPr>
          <a:xfrm flipH="1">
            <a:off x="1508964" y="3916278"/>
            <a:ext cx="1294" cy="47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C94A1A0E-7A6E-20E9-7416-1C8E2DF53CF3}"/>
              </a:ext>
            </a:extLst>
          </p:cNvPr>
          <p:cNvCxnSpPr>
            <a:cxnSpLocks/>
            <a:stCxn id="79" idx="6"/>
            <a:endCxn id="80" idx="2"/>
          </p:cNvCxnSpPr>
          <p:nvPr/>
        </p:nvCxnSpPr>
        <p:spPr>
          <a:xfrm flipV="1">
            <a:off x="1690258" y="3731713"/>
            <a:ext cx="88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BE1F8288-59A4-7B48-52CC-A29AAC01A815}"/>
              </a:ext>
            </a:extLst>
          </p:cNvPr>
          <p:cNvCxnSpPr>
            <a:cxnSpLocks/>
            <a:stCxn id="74" idx="1"/>
            <a:endCxn id="80" idx="5"/>
          </p:cNvCxnSpPr>
          <p:nvPr/>
        </p:nvCxnSpPr>
        <p:spPr>
          <a:xfrm flipH="1" flipV="1">
            <a:off x="2881933" y="3858992"/>
            <a:ext cx="991132" cy="58815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8DD842D9-A7CB-F96B-CD41-3557FE36FE49}"/>
              </a:ext>
            </a:extLst>
          </p:cNvPr>
          <p:cNvSpPr/>
          <p:nvPr/>
        </p:nvSpPr>
        <p:spPr>
          <a:xfrm>
            <a:off x="1328964" y="5592576"/>
            <a:ext cx="360000" cy="36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85" name="Oval 84">
            <a:extLst>
              <a:ext uri="{FF2B5EF4-FFF2-40B4-BE49-F238E27FC236}">
                <a16:creationId xmlns:a16="http://schemas.microsoft.com/office/drawing/2014/main" id="{1EF99C20-288F-08B1-FFCA-F41C7D6C2C1D}"/>
              </a:ext>
            </a:extLst>
          </p:cNvPr>
          <p:cNvSpPr/>
          <p:nvPr/>
        </p:nvSpPr>
        <p:spPr>
          <a:xfrm>
            <a:off x="3820344" y="5592576"/>
            <a:ext cx="360000" cy="36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86" name="Straight Arrow Connector 85">
            <a:extLst>
              <a:ext uri="{FF2B5EF4-FFF2-40B4-BE49-F238E27FC236}">
                <a16:creationId xmlns:a16="http://schemas.microsoft.com/office/drawing/2014/main" id="{FE061B77-0A79-288A-169A-8602367E0EF9}"/>
              </a:ext>
            </a:extLst>
          </p:cNvPr>
          <p:cNvCxnSpPr>
            <a:cxnSpLocks/>
            <a:stCxn id="84" idx="0"/>
            <a:endCxn id="73" idx="4"/>
          </p:cNvCxnSpPr>
          <p:nvPr/>
        </p:nvCxnSpPr>
        <p:spPr>
          <a:xfrm flipV="1">
            <a:off x="150896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7" name="Straight Arrow Connector 86">
            <a:extLst>
              <a:ext uri="{FF2B5EF4-FFF2-40B4-BE49-F238E27FC236}">
                <a16:creationId xmlns:a16="http://schemas.microsoft.com/office/drawing/2014/main" id="{7984948F-1F6E-68DA-DB9C-85674604CE7F}"/>
              </a:ext>
            </a:extLst>
          </p:cNvPr>
          <p:cNvCxnSpPr>
            <a:cxnSpLocks/>
            <a:stCxn id="84" idx="6"/>
            <a:endCxn id="85" idx="2"/>
          </p:cNvCxnSpPr>
          <p:nvPr/>
        </p:nvCxnSpPr>
        <p:spPr>
          <a:xfrm>
            <a:off x="1688964" y="5772576"/>
            <a:ext cx="2131380"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BA1F7EC4-72AF-7ED9-4B02-8889BF83E9AF}"/>
              </a:ext>
            </a:extLst>
          </p:cNvPr>
          <p:cNvCxnSpPr>
            <a:cxnSpLocks/>
            <a:stCxn id="85" idx="0"/>
            <a:endCxn id="74" idx="4"/>
          </p:cNvCxnSpPr>
          <p:nvPr/>
        </p:nvCxnSpPr>
        <p:spPr>
          <a:xfrm flipV="1">
            <a:off x="4000344" y="4754427"/>
            <a:ext cx="0" cy="8381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D8E65E-4D31-EFA4-D4CC-0CB0D9599883}"/>
                  </a:ext>
                </a:extLst>
              </p:cNvPr>
              <p:cNvSpPr txBox="1"/>
              <p:nvPr/>
            </p:nvSpPr>
            <p:spPr>
              <a:xfrm>
                <a:off x="7343347" y="3798331"/>
                <a:ext cx="11936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oMath>
                  </m:oMathPara>
                </a14:m>
                <a:endParaRPr lang="en-US" noProof="0" dirty="0"/>
              </a:p>
            </p:txBody>
          </p:sp>
        </mc:Choice>
        <mc:Fallback xmlns="">
          <p:sp>
            <p:nvSpPr>
              <p:cNvPr id="7" name="TextBox 6">
                <a:extLst>
                  <a:ext uri="{FF2B5EF4-FFF2-40B4-BE49-F238E27FC236}">
                    <a16:creationId xmlns:a16="http://schemas.microsoft.com/office/drawing/2014/main" id="{04D8E65E-4D31-EFA4-D4CC-0CB0D9599883}"/>
                  </a:ext>
                </a:extLst>
              </p:cNvPr>
              <p:cNvSpPr txBox="1">
                <a:spLocks noRot="1" noChangeAspect="1" noMove="1" noResize="1" noEditPoints="1" noAdjustHandles="1" noChangeArrowheads="1" noChangeShapeType="1" noTextEdit="1"/>
              </p:cNvSpPr>
              <p:nvPr/>
            </p:nvSpPr>
            <p:spPr>
              <a:xfrm>
                <a:off x="7343347" y="3798331"/>
                <a:ext cx="1193660" cy="276999"/>
              </a:xfrm>
              <a:prstGeom prst="rect">
                <a:avLst/>
              </a:prstGeom>
              <a:blipFill>
                <a:blip r:embed="rId6"/>
                <a:stretch>
                  <a:fillRect l="-2564" r="-4615" b="-23913"/>
                </a:stretch>
              </a:blipFill>
            </p:spPr>
            <p:txBody>
              <a:bodyPr/>
              <a:lstStyle/>
              <a:p>
                <a:r>
                  <a:rPr lang="en-SE">
                    <a:noFill/>
                  </a:rPr>
                  <a:t> </a:t>
                </a:r>
              </a:p>
            </p:txBody>
          </p:sp>
        </mc:Fallback>
      </mc:AlternateContent>
    </p:spTree>
    <p:extLst>
      <p:ext uri="{BB962C8B-B14F-4D97-AF65-F5344CB8AC3E}">
        <p14:creationId xmlns:p14="http://schemas.microsoft.com/office/powerpoint/2010/main" val="10289570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202F2-F79B-D05C-21ED-3D7568CA7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6046C-17A3-C09A-DAD2-CC44EAF25750}"/>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6DDFAA80-628C-C223-5468-C86EABCF6D40}"/>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7878A1D1-EC29-96A0-B3FD-CF782623596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942BBAD-0A64-1030-1ABD-14006A7CA27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F803046-05B0-1820-1E85-95E4F3DD999E}"/>
              </a:ext>
            </a:extLst>
          </p:cNvPr>
          <p:cNvSpPr>
            <a:spLocks noGrp="1"/>
          </p:cNvSpPr>
          <p:nvPr>
            <p:ph type="sldNum" sz="quarter" idx="12"/>
          </p:nvPr>
        </p:nvSpPr>
        <p:spPr/>
        <p:txBody>
          <a:bodyPr/>
          <a:lstStyle/>
          <a:p>
            <a:fld id="{0FA2D919-C0DE-4971-A2E9-D4AC0031921B}" type="slidenum">
              <a:rPr lang="en-US" noProof="0" smtClean="0"/>
              <a:t>57</a:t>
            </a:fld>
            <a:endParaRPr lang="en-US" noProof="0" dirty="0"/>
          </a:p>
        </p:txBody>
      </p:sp>
      <p:sp>
        <p:nvSpPr>
          <p:cNvPr id="8" name="TextBox 7">
            <a:extLst>
              <a:ext uri="{FF2B5EF4-FFF2-40B4-BE49-F238E27FC236}">
                <a16:creationId xmlns:a16="http://schemas.microsoft.com/office/drawing/2014/main" id="{A7D374A2-A4B5-A689-3334-2F4BB14EC52D}"/>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11" name="Oval 10">
            <a:extLst>
              <a:ext uri="{FF2B5EF4-FFF2-40B4-BE49-F238E27FC236}">
                <a16:creationId xmlns:a16="http://schemas.microsoft.com/office/drawing/2014/main" id="{B731331E-6910-B223-2594-9DF25C4A3471}"/>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7601A7D7-58A6-301A-488D-E3F11069C124}"/>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3EB309B2-EDF8-15DB-6FC3-C9989C5849E1}"/>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1D58E774-65F4-2B64-F8EB-F40DC9FF0730}"/>
              </a:ext>
            </a:extLst>
          </p:cNvPr>
          <p:cNvSpPr/>
          <p:nvPr/>
        </p:nvSpPr>
        <p:spPr>
          <a:xfrm>
            <a:off x="2574654" y="5052577"/>
            <a:ext cx="360000" cy="360000"/>
          </a:xfrm>
          <a:prstGeom prst="ellipse">
            <a:avLst/>
          </a:prstGeom>
          <a:solidFill>
            <a:schemeClr val="accent2">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59DE0A00-8737-6D41-24DE-F2BC9A713E31}"/>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14A2C3E-7D09-B2B3-0FDD-B33649F3E055}"/>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FCD33DFC-09A5-9519-669E-986739A7096D}"/>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77FB51FE-94BE-37C1-115B-B8412A97641F}"/>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93CB89C6-003B-5BE8-205F-07BCC5A89D61}"/>
              </a:ext>
            </a:extLst>
          </p:cNvPr>
          <p:cNvCxnSpPr>
            <a:cxnSpLocks/>
            <a:stCxn id="23" idx="4"/>
            <a:endCxn id="11" idx="0"/>
          </p:cNvCxnSpPr>
          <p:nvPr/>
        </p:nvCxnSpPr>
        <p:spPr>
          <a:xfrm flipH="1">
            <a:off x="1508964" y="3916278"/>
            <a:ext cx="1294" cy="47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953E3A3B-F93C-4667-E0A7-C792F580D779}"/>
              </a:ext>
            </a:extLst>
          </p:cNvPr>
          <p:cNvCxnSpPr>
            <a:cxnSpLocks/>
            <a:stCxn id="23" idx="6"/>
            <a:endCxn id="24" idx="2"/>
          </p:cNvCxnSpPr>
          <p:nvPr/>
        </p:nvCxnSpPr>
        <p:spPr>
          <a:xfrm flipV="1">
            <a:off x="1690258" y="3731713"/>
            <a:ext cx="884396" cy="45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06CB4104-082E-D629-5D93-C0B8D501CC2D}"/>
              </a:ext>
            </a:extLst>
          </p:cNvPr>
          <p:cNvCxnSpPr>
            <a:cxnSpLocks/>
            <a:stCxn id="12" idx="1"/>
            <a:endCxn id="24" idx="5"/>
          </p:cNvCxnSpPr>
          <p:nvPr/>
        </p:nvCxnSpPr>
        <p:spPr>
          <a:xfrm flipH="1" flipV="1">
            <a:off x="2881933" y="3858992"/>
            <a:ext cx="991132" cy="5881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1C3D8ECF-BB55-3E41-2DB3-6E640C17BB5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1C1F852A-B19E-C838-BF80-54803AE24BC4}"/>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1D3B0D4F-B8A8-78D2-D309-A727425CCABF}"/>
              </a:ext>
            </a:extLst>
          </p:cNvPr>
          <p:cNvCxnSpPr>
            <a:cxnSpLocks/>
            <a:stCxn id="54" idx="0"/>
            <a:endCxn id="11" idx="4"/>
          </p:cNvCxnSpPr>
          <p:nvPr/>
        </p:nvCxnSpPr>
        <p:spPr>
          <a:xfrm flipV="1">
            <a:off x="150896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D40C9C76-F3B5-5313-E0CE-011DB241FD9F}"/>
              </a:ext>
            </a:extLst>
          </p:cNvPr>
          <p:cNvCxnSpPr>
            <a:cxnSpLocks/>
            <a:stCxn id="54" idx="6"/>
            <a:endCxn id="55" idx="2"/>
          </p:cNvCxnSpPr>
          <p:nvPr/>
        </p:nvCxnSpPr>
        <p:spPr>
          <a:xfrm>
            <a:off x="1688964" y="577257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6E2DC36-0140-3B07-FFFD-2B24DD93B22A}"/>
              </a:ext>
            </a:extLst>
          </p:cNvPr>
          <p:cNvCxnSpPr>
            <a:cxnSpLocks/>
            <a:stCxn id="55" idx="0"/>
            <a:endCxn id="12" idx="4"/>
          </p:cNvCxnSpPr>
          <p:nvPr/>
        </p:nvCxnSpPr>
        <p:spPr>
          <a:xfrm flipV="1">
            <a:off x="400034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1136C5DF-F561-18A9-3887-E00AD5E27C16}"/>
              </a:ext>
            </a:extLst>
          </p:cNvPr>
          <p:cNvSpPr txBox="1"/>
          <p:nvPr/>
        </p:nvSpPr>
        <p:spPr>
          <a:xfrm>
            <a:off x="4564594" y="4232692"/>
            <a:ext cx="7254125" cy="1754326"/>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any of the variables on this path to “close” the backdoor path.</a:t>
            </a:r>
          </a:p>
          <a:p>
            <a:pPr marL="342900" indent="-342900">
              <a:buFont typeface="+mj-lt"/>
              <a:buAutoNum type="arabicPeriod"/>
            </a:pPr>
            <a:r>
              <a:rPr lang="en-US" noProof="0" dirty="0"/>
              <a:t>Optionally, condition on </a:t>
            </a:r>
            <a:r>
              <a:rPr lang="en-US" b="1" noProof="0" dirty="0">
                <a:solidFill>
                  <a:schemeClr val="accent2"/>
                </a:solidFill>
              </a:rPr>
              <a:t>mediators</a:t>
            </a:r>
            <a:r>
              <a:rPr lang="en-US" noProof="0" dirty="0"/>
              <a:t> to discern the direct effect.</a:t>
            </a:r>
          </a:p>
        </p:txBody>
      </p:sp>
      <p:grpSp>
        <p:nvGrpSpPr>
          <p:cNvPr id="69" name="Group 68">
            <a:extLst>
              <a:ext uri="{FF2B5EF4-FFF2-40B4-BE49-F238E27FC236}">
                <a16:creationId xmlns:a16="http://schemas.microsoft.com/office/drawing/2014/main" id="{1DDFBBE8-FA1A-F588-524A-A1BF1B296339}"/>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6449C24C-C5CB-ECB3-FB01-883F15FAEE74}"/>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ABF714F2-A00F-1CD0-4A16-ED0D1B5952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481A5DB-C159-DD21-6688-25DD68F25627}"/>
                  </a:ext>
                </a:extLst>
              </p:cNvPr>
              <p:cNvSpPr txBox="1"/>
              <p:nvPr/>
            </p:nvSpPr>
            <p:spPr>
              <a:xfrm>
                <a:off x="7343347" y="3413213"/>
                <a:ext cx="16663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r>
                        <a:rPr lang="en-US" b="0" i="1" noProof="0" smtClean="0">
                          <a:solidFill>
                            <a:schemeClr val="tx1"/>
                          </a:solidFill>
                          <a:latin typeface="Cambria Math" panose="02040503050406030204" pitchFamily="18" charset="0"/>
                        </a:rPr>
                        <m:t>(+</m:t>
                      </m:r>
                      <m:r>
                        <a:rPr lang="en-US" b="0" i="1" noProof="0" smtClean="0">
                          <a:solidFill>
                            <a:schemeClr val="accent2"/>
                          </a:solidFill>
                          <a:latin typeface="Cambria Math" panose="02040503050406030204" pitchFamily="18" charset="0"/>
                        </a:rPr>
                        <m:t>𝑒</m:t>
                      </m:r>
                      <m:r>
                        <a:rPr lang="en-US" b="0" i="1" noProof="0" smtClean="0">
                          <a:solidFill>
                            <a:schemeClr val="tx1"/>
                          </a:solidFill>
                          <a:latin typeface="Cambria Math" panose="02040503050406030204" pitchFamily="18" charset="0"/>
                        </a:rPr>
                        <m:t>)</m:t>
                      </m:r>
                    </m:oMath>
                  </m:oMathPara>
                </a14:m>
                <a:endParaRPr lang="en-US" noProof="0" dirty="0"/>
              </a:p>
            </p:txBody>
          </p:sp>
        </mc:Choice>
        <mc:Fallback xmlns="">
          <p:sp>
            <p:nvSpPr>
              <p:cNvPr id="7" name="TextBox 6">
                <a:extLst>
                  <a:ext uri="{FF2B5EF4-FFF2-40B4-BE49-F238E27FC236}">
                    <a16:creationId xmlns:a16="http://schemas.microsoft.com/office/drawing/2014/main" id="{4481A5DB-C159-DD21-6688-25DD68F25627}"/>
                  </a:ext>
                </a:extLst>
              </p:cNvPr>
              <p:cNvSpPr txBox="1">
                <a:spLocks noRot="1" noChangeAspect="1" noMove="1" noResize="1" noEditPoints="1" noAdjustHandles="1" noChangeArrowheads="1" noChangeShapeType="1" noTextEdit="1"/>
              </p:cNvSpPr>
              <p:nvPr/>
            </p:nvSpPr>
            <p:spPr>
              <a:xfrm>
                <a:off x="7343347" y="3413213"/>
                <a:ext cx="1666354" cy="276999"/>
              </a:xfrm>
              <a:prstGeom prst="rect">
                <a:avLst/>
              </a:prstGeom>
              <a:blipFill>
                <a:blip r:embed="rId5"/>
                <a:stretch>
                  <a:fillRect l="-1832" t="-2222" r="-512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5FD7F4A-CF27-4B23-3CE1-FA0270C38BC3}"/>
                  </a:ext>
                </a:extLst>
              </p:cNvPr>
              <p:cNvSpPr txBox="1"/>
              <p:nvPr/>
            </p:nvSpPr>
            <p:spPr>
              <a:xfrm>
                <a:off x="7343347" y="3798331"/>
                <a:ext cx="1678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r>
                        <a:rPr lang="en-US" i="1" noProof="0" smtClean="0">
                          <a:latin typeface="Cambria Math" panose="02040503050406030204" pitchFamily="18" charset="0"/>
                        </a:rPr>
                        <m:t>(+</m:t>
                      </m:r>
                      <m:r>
                        <a:rPr lang="en-US" i="1" noProof="0" smtClean="0">
                          <a:solidFill>
                            <a:schemeClr val="accent2"/>
                          </a:solidFill>
                          <a:latin typeface="Cambria Math" panose="02040503050406030204" pitchFamily="18" charset="0"/>
                        </a:rPr>
                        <m:t>𝑒</m:t>
                      </m:r>
                      <m:r>
                        <a:rPr lang="en-US" i="1" noProof="0" smtClean="0">
                          <a:latin typeface="Cambria Math" panose="02040503050406030204" pitchFamily="18" charset="0"/>
                        </a:rPr>
                        <m:t>)</m:t>
                      </m:r>
                    </m:oMath>
                  </m:oMathPara>
                </a14:m>
                <a:endParaRPr lang="en-US" noProof="0" dirty="0"/>
              </a:p>
            </p:txBody>
          </p:sp>
        </mc:Choice>
        <mc:Fallback xmlns="">
          <p:sp>
            <p:nvSpPr>
              <p:cNvPr id="9" name="TextBox 8">
                <a:extLst>
                  <a:ext uri="{FF2B5EF4-FFF2-40B4-BE49-F238E27FC236}">
                    <a16:creationId xmlns:a16="http://schemas.microsoft.com/office/drawing/2014/main" id="{95FD7F4A-CF27-4B23-3CE1-FA0270C38BC3}"/>
                  </a:ext>
                </a:extLst>
              </p:cNvPr>
              <p:cNvSpPr txBox="1">
                <a:spLocks noRot="1" noChangeAspect="1" noMove="1" noResize="1" noEditPoints="1" noAdjustHandles="1" noChangeArrowheads="1" noChangeShapeType="1" noTextEdit="1"/>
              </p:cNvSpPr>
              <p:nvPr/>
            </p:nvSpPr>
            <p:spPr>
              <a:xfrm>
                <a:off x="7343347" y="3798331"/>
                <a:ext cx="1678023" cy="276999"/>
              </a:xfrm>
              <a:prstGeom prst="rect">
                <a:avLst/>
              </a:prstGeom>
              <a:blipFill>
                <a:blip r:embed="rId6"/>
                <a:stretch>
                  <a:fillRect l="-1818" t="-2174" r="-5091" b="-32609"/>
                </a:stretch>
              </a:blipFill>
            </p:spPr>
            <p:txBody>
              <a:bodyPr/>
              <a:lstStyle/>
              <a:p>
                <a:r>
                  <a:rPr lang="en-SE">
                    <a:noFill/>
                  </a:rPr>
                  <a:t> </a:t>
                </a:r>
              </a:p>
            </p:txBody>
          </p:sp>
        </mc:Fallback>
      </mc:AlternateContent>
    </p:spTree>
    <p:extLst>
      <p:ext uri="{BB962C8B-B14F-4D97-AF65-F5344CB8AC3E}">
        <p14:creationId xmlns:p14="http://schemas.microsoft.com/office/powerpoint/2010/main" val="4478782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B4EB-CD83-7F10-A23F-0B210B0F1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CB8C2-F5B4-3F87-CE12-8C64D293A419}"/>
              </a:ext>
            </a:extLst>
          </p:cNvPr>
          <p:cNvSpPr>
            <a:spLocks noGrp="1"/>
          </p:cNvSpPr>
          <p:nvPr>
            <p:ph type="title"/>
          </p:nvPr>
        </p:nvSpPr>
        <p:spPr/>
        <p:txBody>
          <a:bodyPr/>
          <a:lstStyle/>
          <a:p>
            <a:r>
              <a:rPr lang="en-US" noProof="0" dirty="0"/>
              <a:t>Deriving a statistical Model from a causal Model: d-separation</a:t>
            </a:r>
          </a:p>
        </p:txBody>
      </p:sp>
      <p:sp>
        <p:nvSpPr>
          <p:cNvPr id="3" name="Content Placeholder 2">
            <a:extLst>
              <a:ext uri="{FF2B5EF4-FFF2-40B4-BE49-F238E27FC236}">
                <a16:creationId xmlns:a16="http://schemas.microsoft.com/office/drawing/2014/main" id="{C23B5A46-BA94-D6A8-11A7-27AA1740FB9D}"/>
              </a:ext>
            </a:extLst>
          </p:cNvPr>
          <p:cNvSpPr>
            <a:spLocks noGrp="1"/>
          </p:cNvSpPr>
          <p:nvPr>
            <p:ph idx="1"/>
          </p:nvPr>
        </p:nvSpPr>
        <p:spPr>
          <a:xfrm>
            <a:off x="838200" y="1825625"/>
            <a:ext cx="10515600" cy="1603375"/>
          </a:xfrm>
        </p:spPr>
        <p:txBody>
          <a:bodyPr>
            <a:normAutofit/>
          </a:bodyPr>
          <a:lstStyle/>
          <a:p>
            <a:pPr marL="0" indent="0">
              <a:buNone/>
            </a:pPr>
            <a:r>
              <a:rPr lang="en-US" sz="2400" noProof="0" dirty="0"/>
              <a:t>A general framework to derive statistical models from causal models uses </a:t>
            </a:r>
            <a:r>
              <a:rPr lang="en-US" sz="2400" b="1" noProof="0" dirty="0"/>
              <a:t>d-separation</a:t>
            </a:r>
            <a:r>
              <a:rPr lang="en-US" sz="2400" noProof="0" dirty="0"/>
              <a:t>. It produces an </a:t>
            </a:r>
            <a:r>
              <a:rPr lang="en-US" sz="2400" b="1" noProof="0" dirty="0"/>
              <a:t>adjustment set</a:t>
            </a:r>
            <a:r>
              <a:rPr lang="en-US" sz="2400" noProof="0" dirty="0"/>
              <a:t>, i.e., the set of variables to control statistically in order to de-confound the causal effect between the exposure and the outcome.</a:t>
            </a:r>
          </a:p>
        </p:txBody>
      </p:sp>
      <p:sp>
        <p:nvSpPr>
          <p:cNvPr id="4" name="Date Placeholder 3">
            <a:extLst>
              <a:ext uri="{FF2B5EF4-FFF2-40B4-BE49-F238E27FC236}">
                <a16:creationId xmlns:a16="http://schemas.microsoft.com/office/drawing/2014/main" id="{601D9834-2F95-B93F-D9F5-5AB5BC2B489A}"/>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F0EC682D-1E4F-4EBC-CE1D-9244BB07891F}"/>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4AC1162-C451-0965-1469-5990C8C44EAF}"/>
              </a:ext>
            </a:extLst>
          </p:cNvPr>
          <p:cNvSpPr>
            <a:spLocks noGrp="1"/>
          </p:cNvSpPr>
          <p:nvPr>
            <p:ph type="sldNum" sz="quarter" idx="12"/>
          </p:nvPr>
        </p:nvSpPr>
        <p:spPr/>
        <p:txBody>
          <a:bodyPr/>
          <a:lstStyle/>
          <a:p>
            <a:fld id="{0FA2D919-C0DE-4971-A2E9-D4AC0031921B}" type="slidenum">
              <a:rPr lang="en-US" noProof="0" smtClean="0"/>
              <a:t>58</a:t>
            </a:fld>
            <a:endParaRPr lang="en-US" noProof="0" dirty="0"/>
          </a:p>
        </p:txBody>
      </p:sp>
      <p:sp>
        <p:nvSpPr>
          <p:cNvPr id="8" name="TextBox 7">
            <a:extLst>
              <a:ext uri="{FF2B5EF4-FFF2-40B4-BE49-F238E27FC236}">
                <a16:creationId xmlns:a16="http://schemas.microsoft.com/office/drawing/2014/main" id="{B790E4ED-10C8-92E0-DDC4-4C6ADA754EA0}"/>
              </a:ext>
            </a:extLst>
          </p:cNvPr>
          <p:cNvSpPr txBox="1"/>
          <p:nvPr/>
        </p:nvSpPr>
        <p:spPr>
          <a:xfrm>
            <a:off x="838200" y="5987018"/>
            <a:ext cx="6096000" cy="369332"/>
          </a:xfrm>
          <a:prstGeom prst="rect">
            <a:avLst/>
          </a:prstGeom>
          <a:noFill/>
        </p:spPr>
        <p:txBody>
          <a:bodyPr wrap="square">
            <a:spAutoFit/>
          </a:bodyPr>
          <a:lstStyle/>
          <a:p>
            <a:pPr marL="0" indent="0">
              <a:buNone/>
            </a:pPr>
            <a:r>
              <a:rPr lang="en-US" noProof="0" dirty="0">
                <a:hlinkClick r:id="rId2"/>
              </a:rPr>
              <a:t>https://bayes.cs.ucla.edu/BOOK-2K/d-sep.html</a:t>
            </a:r>
            <a:r>
              <a:rPr lang="en-US" noProof="0" dirty="0"/>
              <a:t> </a:t>
            </a:r>
          </a:p>
        </p:txBody>
      </p:sp>
      <p:sp>
        <p:nvSpPr>
          <p:cNvPr id="11" name="Oval 10">
            <a:extLst>
              <a:ext uri="{FF2B5EF4-FFF2-40B4-BE49-F238E27FC236}">
                <a16:creationId xmlns:a16="http://schemas.microsoft.com/office/drawing/2014/main" id="{CFFF73C8-0B22-142B-0DF5-0D1364F33D80}"/>
              </a:ext>
            </a:extLst>
          </p:cNvPr>
          <p:cNvSpPr/>
          <p:nvPr/>
        </p:nvSpPr>
        <p:spPr>
          <a:xfrm>
            <a:off x="1328964" y="439442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a:t>
            </a:r>
          </a:p>
        </p:txBody>
      </p:sp>
      <p:sp>
        <p:nvSpPr>
          <p:cNvPr id="12" name="Oval 11">
            <a:extLst>
              <a:ext uri="{FF2B5EF4-FFF2-40B4-BE49-F238E27FC236}">
                <a16:creationId xmlns:a16="http://schemas.microsoft.com/office/drawing/2014/main" id="{63F30886-0664-6CCE-3C9E-CDA150E7731E}"/>
              </a:ext>
            </a:extLst>
          </p:cNvPr>
          <p:cNvSpPr/>
          <p:nvPr/>
        </p:nvSpPr>
        <p:spPr>
          <a:xfrm>
            <a:off x="3820344" y="439442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b</a:t>
            </a:r>
          </a:p>
        </p:txBody>
      </p:sp>
      <p:cxnSp>
        <p:nvCxnSpPr>
          <p:cNvPr id="13" name="Straight Arrow Connector 12">
            <a:extLst>
              <a:ext uri="{FF2B5EF4-FFF2-40B4-BE49-F238E27FC236}">
                <a16:creationId xmlns:a16="http://schemas.microsoft.com/office/drawing/2014/main" id="{BEFA903B-56D0-2B5F-BFA6-620190088DEB}"/>
              </a:ext>
            </a:extLst>
          </p:cNvPr>
          <p:cNvCxnSpPr>
            <a:stCxn id="11" idx="6"/>
            <a:endCxn id="12" idx="2"/>
          </p:cNvCxnSpPr>
          <p:nvPr/>
        </p:nvCxnSpPr>
        <p:spPr>
          <a:xfrm>
            <a:off x="1688964" y="457442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FB2A9811-A725-B996-58B4-CBED74D293AE}"/>
              </a:ext>
            </a:extLst>
          </p:cNvPr>
          <p:cNvSpPr/>
          <p:nvPr/>
        </p:nvSpPr>
        <p:spPr>
          <a:xfrm>
            <a:off x="2574654" y="5052577"/>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a:t>
            </a:r>
          </a:p>
        </p:txBody>
      </p:sp>
      <p:cxnSp>
        <p:nvCxnSpPr>
          <p:cNvPr id="18" name="Straight Arrow Connector 17">
            <a:extLst>
              <a:ext uri="{FF2B5EF4-FFF2-40B4-BE49-F238E27FC236}">
                <a16:creationId xmlns:a16="http://schemas.microsoft.com/office/drawing/2014/main" id="{0D000759-2D0B-7F6C-4A0C-B96EF8FFB40F}"/>
              </a:ext>
            </a:extLst>
          </p:cNvPr>
          <p:cNvCxnSpPr>
            <a:cxnSpLocks/>
            <a:stCxn id="16" idx="6"/>
            <a:endCxn id="12" idx="3"/>
          </p:cNvCxnSpPr>
          <p:nvPr/>
        </p:nvCxnSpPr>
        <p:spPr>
          <a:xfrm flipV="1">
            <a:off x="2934654"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9982B517-5C5F-9975-EC69-2FA4AF5237F1}"/>
              </a:ext>
            </a:extLst>
          </p:cNvPr>
          <p:cNvCxnSpPr>
            <a:cxnSpLocks/>
            <a:stCxn id="11" idx="5"/>
            <a:endCxn id="16" idx="2"/>
          </p:cNvCxnSpPr>
          <p:nvPr/>
        </p:nvCxnSpPr>
        <p:spPr>
          <a:xfrm>
            <a:off x="1636243" y="4701706"/>
            <a:ext cx="938411" cy="530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1231C93E-2141-3AFB-AA7A-03DCDA93B680}"/>
              </a:ext>
            </a:extLst>
          </p:cNvPr>
          <p:cNvSpPr/>
          <p:nvPr/>
        </p:nvSpPr>
        <p:spPr>
          <a:xfrm>
            <a:off x="1330258" y="35562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c</a:t>
            </a:r>
          </a:p>
        </p:txBody>
      </p:sp>
      <p:sp>
        <p:nvSpPr>
          <p:cNvPr id="24" name="Oval 23">
            <a:extLst>
              <a:ext uri="{FF2B5EF4-FFF2-40B4-BE49-F238E27FC236}">
                <a16:creationId xmlns:a16="http://schemas.microsoft.com/office/drawing/2014/main" id="{D7EE3AA2-4E0C-66A5-16AD-9AB5C61FB5BD}"/>
              </a:ext>
            </a:extLst>
          </p:cNvPr>
          <p:cNvSpPr/>
          <p:nvPr/>
        </p:nvSpPr>
        <p:spPr>
          <a:xfrm>
            <a:off x="2574654" y="3551713"/>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
            </a:r>
          </a:p>
        </p:txBody>
      </p:sp>
      <p:cxnSp>
        <p:nvCxnSpPr>
          <p:cNvPr id="25" name="Straight Arrow Connector 24">
            <a:extLst>
              <a:ext uri="{FF2B5EF4-FFF2-40B4-BE49-F238E27FC236}">
                <a16:creationId xmlns:a16="http://schemas.microsoft.com/office/drawing/2014/main" id="{E84D6396-A4E0-086B-4841-BD3EDE6BF8A7}"/>
              </a:ext>
            </a:extLst>
          </p:cNvPr>
          <p:cNvCxnSpPr>
            <a:cxnSpLocks/>
            <a:stCxn id="23" idx="4"/>
            <a:endCxn id="11" idx="0"/>
          </p:cNvCxnSpPr>
          <p:nvPr/>
        </p:nvCxnSpPr>
        <p:spPr>
          <a:xfrm flipH="1">
            <a:off x="1508964" y="3916278"/>
            <a:ext cx="1294" cy="47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561249AD-AD75-F6FF-FF9D-50A557BFDD36}"/>
              </a:ext>
            </a:extLst>
          </p:cNvPr>
          <p:cNvCxnSpPr>
            <a:cxnSpLocks/>
            <a:stCxn id="23" idx="6"/>
            <a:endCxn id="24" idx="2"/>
          </p:cNvCxnSpPr>
          <p:nvPr/>
        </p:nvCxnSpPr>
        <p:spPr>
          <a:xfrm flipV="1">
            <a:off x="1690258" y="3731713"/>
            <a:ext cx="884396" cy="45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E8D793B5-D618-C576-11C9-585E4E0B7C37}"/>
              </a:ext>
            </a:extLst>
          </p:cNvPr>
          <p:cNvCxnSpPr>
            <a:cxnSpLocks/>
            <a:stCxn id="12" idx="1"/>
            <a:endCxn id="24" idx="5"/>
          </p:cNvCxnSpPr>
          <p:nvPr/>
        </p:nvCxnSpPr>
        <p:spPr>
          <a:xfrm flipH="1" flipV="1">
            <a:off x="2881933" y="3858992"/>
            <a:ext cx="991132" cy="5881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AD2B4D6B-552D-12F7-2529-D6105ABF0E45}"/>
              </a:ext>
            </a:extLst>
          </p:cNvPr>
          <p:cNvSpPr/>
          <p:nvPr/>
        </p:nvSpPr>
        <p:spPr>
          <a:xfrm>
            <a:off x="132896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f</a:t>
            </a:r>
          </a:p>
        </p:txBody>
      </p:sp>
      <p:sp>
        <p:nvSpPr>
          <p:cNvPr id="55" name="Oval 54">
            <a:extLst>
              <a:ext uri="{FF2B5EF4-FFF2-40B4-BE49-F238E27FC236}">
                <a16:creationId xmlns:a16="http://schemas.microsoft.com/office/drawing/2014/main" id="{DD58EE99-327E-5333-0C62-AD3CBB038A28}"/>
              </a:ext>
            </a:extLst>
          </p:cNvPr>
          <p:cNvSpPr/>
          <p:nvPr/>
        </p:nvSpPr>
        <p:spPr>
          <a:xfrm>
            <a:off x="3820344" y="5592576"/>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g</a:t>
            </a:r>
          </a:p>
        </p:txBody>
      </p:sp>
      <p:cxnSp>
        <p:nvCxnSpPr>
          <p:cNvPr id="56" name="Straight Arrow Connector 55">
            <a:extLst>
              <a:ext uri="{FF2B5EF4-FFF2-40B4-BE49-F238E27FC236}">
                <a16:creationId xmlns:a16="http://schemas.microsoft.com/office/drawing/2014/main" id="{3DFC211B-D8DA-7EDD-AE65-37E7AAC20D56}"/>
              </a:ext>
            </a:extLst>
          </p:cNvPr>
          <p:cNvCxnSpPr>
            <a:cxnSpLocks/>
            <a:stCxn id="54" idx="0"/>
            <a:endCxn id="11" idx="4"/>
          </p:cNvCxnSpPr>
          <p:nvPr/>
        </p:nvCxnSpPr>
        <p:spPr>
          <a:xfrm flipV="1">
            <a:off x="150896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3D5B6D3C-62F8-CC63-38EE-0423DA2914E8}"/>
              </a:ext>
            </a:extLst>
          </p:cNvPr>
          <p:cNvCxnSpPr>
            <a:cxnSpLocks/>
            <a:stCxn id="54" idx="6"/>
            <a:endCxn id="55" idx="2"/>
          </p:cNvCxnSpPr>
          <p:nvPr/>
        </p:nvCxnSpPr>
        <p:spPr>
          <a:xfrm>
            <a:off x="1688964" y="5772576"/>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79901BB4-A080-D52D-F777-E453748F7044}"/>
              </a:ext>
            </a:extLst>
          </p:cNvPr>
          <p:cNvCxnSpPr>
            <a:cxnSpLocks/>
            <a:stCxn id="55" idx="0"/>
            <a:endCxn id="12" idx="4"/>
          </p:cNvCxnSpPr>
          <p:nvPr/>
        </p:nvCxnSpPr>
        <p:spPr>
          <a:xfrm flipV="1">
            <a:off x="4000344" y="4754427"/>
            <a:ext cx="0" cy="8381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F1122550-BD3F-92A9-F1AC-B9842CDC08E2}"/>
              </a:ext>
            </a:extLst>
          </p:cNvPr>
          <p:cNvSpPr txBox="1"/>
          <p:nvPr/>
        </p:nvSpPr>
        <p:spPr>
          <a:xfrm>
            <a:off x="4564594" y="4232692"/>
            <a:ext cx="7254125" cy="1754326"/>
          </a:xfrm>
          <a:prstGeom prst="rect">
            <a:avLst/>
          </a:prstGeom>
          <a:noFill/>
        </p:spPr>
        <p:txBody>
          <a:bodyPr wrap="square" rtlCol="0">
            <a:spAutoFit/>
          </a:bodyPr>
          <a:lstStyle/>
          <a:p>
            <a:pPr marL="342900" indent="-342900">
              <a:buFont typeface="+mj-lt"/>
              <a:buAutoNum type="arabicPeriod"/>
            </a:pPr>
            <a:r>
              <a:rPr lang="en-US" noProof="0" dirty="0"/>
              <a:t>Identify every backdoor path</a:t>
            </a:r>
            <a:r>
              <a:rPr lang="en-US" i="1" noProof="0" dirty="0"/>
              <a:t>.</a:t>
            </a:r>
            <a:endParaRPr lang="en-US" noProof="0" dirty="0"/>
          </a:p>
          <a:p>
            <a:pPr marL="342900" indent="-342900">
              <a:buFont typeface="+mj-lt"/>
              <a:buAutoNum type="arabicPeriod"/>
            </a:pPr>
            <a:r>
              <a:rPr lang="en-US" noProof="0" dirty="0"/>
              <a:t>Check if there is a collider between the cause and effect of interest.</a:t>
            </a:r>
          </a:p>
          <a:p>
            <a:pPr marL="800100" lvl="1" indent="-342900">
              <a:buFont typeface="+mj-lt"/>
              <a:buAutoNum type="arabicPeriod"/>
            </a:pPr>
            <a:r>
              <a:rPr lang="en-US" noProof="0" dirty="0"/>
              <a:t>If yes, do not condition on any of the variables on this path.</a:t>
            </a:r>
          </a:p>
          <a:p>
            <a:pPr marL="800100" lvl="1" indent="-342900">
              <a:buFont typeface="+mj-lt"/>
              <a:buAutoNum type="arabicPeriod"/>
            </a:pPr>
            <a:r>
              <a:rPr lang="en-US" noProof="0" dirty="0"/>
              <a:t>If not, condition on any of the variables on this path to “close” the backdoor path.</a:t>
            </a:r>
          </a:p>
          <a:p>
            <a:pPr marL="342900" indent="-342900">
              <a:buFont typeface="+mj-lt"/>
              <a:buAutoNum type="arabicPeriod"/>
            </a:pPr>
            <a:r>
              <a:rPr lang="en-US" noProof="0" dirty="0"/>
              <a:t>Optionally, condition on mediators to discern the direct effect.</a:t>
            </a:r>
          </a:p>
        </p:txBody>
      </p:sp>
      <p:grpSp>
        <p:nvGrpSpPr>
          <p:cNvPr id="69" name="Group 68">
            <a:extLst>
              <a:ext uri="{FF2B5EF4-FFF2-40B4-BE49-F238E27FC236}">
                <a16:creationId xmlns:a16="http://schemas.microsoft.com/office/drawing/2014/main" id="{EFD97713-6117-501C-2C1D-CDB6B9517732}"/>
              </a:ext>
            </a:extLst>
          </p:cNvPr>
          <p:cNvGrpSpPr/>
          <p:nvPr/>
        </p:nvGrpSpPr>
        <p:grpSpPr>
          <a:xfrm>
            <a:off x="4564594" y="3582332"/>
            <a:ext cx="2563289" cy="432000"/>
            <a:chOff x="4604412" y="1893985"/>
            <a:chExt cx="2563289" cy="432000"/>
          </a:xfrm>
        </p:grpSpPr>
        <p:sp>
          <p:nvSpPr>
            <p:cNvPr id="70" name="Arrow: Pentagon 69">
              <a:extLst>
                <a:ext uri="{FF2B5EF4-FFF2-40B4-BE49-F238E27FC236}">
                  <a16:creationId xmlns:a16="http://schemas.microsoft.com/office/drawing/2014/main" id="{84B7D666-21D5-4E3C-41D4-7EFC19FB4500}"/>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71" name="Graphic 70" descr="Connections with solid fill">
              <a:extLst>
                <a:ext uri="{FF2B5EF4-FFF2-40B4-BE49-F238E27FC236}">
                  <a16:creationId xmlns:a16="http://schemas.microsoft.com/office/drawing/2014/main" id="{CABB0A44-8A36-B53B-89D8-C1FE178D07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4301" y="1929985"/>
              <a:ext cx="360000" cy="360000"/>
            </a:xfrm>
            <a:prstGeom prst="rect">
              <a:avLst/>
            </a:prstGeom>
          </p:spPr>
        </p:pic>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5338462-B37F-7148-C56E-FBC16D963310}"/>
                  </a:ext>
                </a:extLst>
              </p:cNvPr>
              <p:cNvSpPr txBox="1"/>
              <p:nvPr/>
            </p:nvSpPr>
            <p:spPr>
              <a:xfrm>
                <a:off x="7343347" y="3413213"/>
                <a:ext cx="16663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𝑓</m:t>
                      </m:r>
                      <m:r>
                        <a:rPr lang="en-US" b="0" i="1" noProof="0" smtClean="0">
                          <a:solidFill>
                            <a:schemeClr val="tx1"/>
                          </a:solidFill>
                          <a:latin typeface="Cambria Math" panose="02040503050406030204" pitchFamily="18" charset="0"/>
                        </a:rPr>
                        <m:t>(+</m:t>
                      </m:r>
                      <m:r>
                        <a:rPr lang="en-US" b="0" i="1" noProof="0" smtClean="0">
                          <a:solidFill>
                            <a:schemeClr val="accent2"/>
                          </a:solidFill>
                          <a:latin typeface="Cambria Math" panose="02040503050406030204" pitchFamily="18" charset="0"/>
                        </a:rPr>
                        <m:t>𝑒</m:t>
                      </m:r>
                      <m:r>
                        <a:rPr lang="en-US" b="0" i="1" noProof="0" smtClean="0">
                          <a:solidFill>
                            <a:schemeClr val="tx1"/>
                          </a:solidFill>
                          <a:latin typeface="Cambria Math" panose="02040503050406030204" pitchFamily="18" charset="0"/>
                        </a:rPr>
                        <m:t>)</m:t>
                      </m:r>
                    </m:oMath>
                  </m:oMathPara>
                </a14:m>
                <a:endParaRPr lang="en-US" noProof="0" dirty="0"/>
              </a:p>
            </p:txBody>
          </p:sp>
        </mc:Choice>
        <mc:Fallback xmlns="">
          <p:sp>
            <p:nvSpPr>
              <p:cNvPr id="7" name="TextBox 6">
                <a:extLst>
                  <a:ext uri="{FF2B5EF4-FFF2-40B4-BE49-F238E27FC236}">
                    <a16:creationId xmlns:a16="http://schemas.microsoft.com/office/drawing/2014/main" id="{F5338462-B37F-7148-C56E-FBC16D963310}"/>
                  </a:ext>
                </a:extLst>
              </p:cNvPr>
              <p:cNvSpPr txBox="1">
                <a:spLocks noRot="1" noChangeAspect="1" noMove="1" noResize="1" noEditPoints="1" noAdjustHandles="1" noChangeArrowheads="1" noChangeShapeType="1" noTextEdit="1"/>
              </p:cNvSpPr>
              <p:nvPr/>
            </p:nvSpPr>
            <p:spPr>
              <a:xfrm>
                <a:off x="7343347" y="3413213"/>
                <a:ext cx="1666354" cy="276999"/>
              </a:xfrm>
              <a:prstGeom prst="rect">
                <a:avLst/>
              </a:prstGeom>
              <a:blipFill>
                <a:blip r:embed="rId5"/>
                <a:stretch>
                  <a:fillRect l="-1832" t="-2222" r="-512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699206-B808-3192-91F3-C1677150B653}"/>
                  </a:ext>
                </a:extLst>
              </p:cNvPr>
              <p:cNvSpPr txBox="1"/>
              <p:nvPr/>
            </p:nvSpPr>
            <p:spPr>
              <a:xfrm>
                <a:off x="7343347" y="3798331"/>
                <a:ext cx="1678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r>
                        <a:rPr lang="en-US" b="0" i="1" noProof="0" smtClean="0">
                          <a:latin typeface="Cambria Math" panose="02040503050406030204" pitchFamily="18" charset="0"/>
                        </a:rPr>
                        <m:t>:</m:t>
                      </m:r>
                      <m:r>
                        <a:rPr lang="en-US" b="0" i="1" noProof="0" smtClean="0">
                          <a:solidFill>
                            <a:srgbClr val="006D70"/>
                          </a:solidFill>
                          <a:latin typeface="Cambria Math" panose="02040503050406030204" pitchFamily="18" charset="0"/>
                        </a:rPr>
                        <m:t>𝑏</m:t>
                      </m:r>
                      <m:r>
                        <a:rPr lang="en-US" b="0" i="1" noProof="0" smtClean="0">
                          <a:latin typeface="Cambria Math" panose="02040503050406030204" pitchFamily="18" charset="0"/>
                        </a:rPr>
                        <m:t>~</m:t>
                      </m:r>
                      <m:r>
                        <a:rPr lang="en-US" b="0" i="1" noProof="0" smtClean="0">
                          <a:solidFill>
                            <a:srgbClr val="D0180A"/>
                          </a:solidFill>
                          <a:latin typeface="Cambria Math" panose="02040503050406030204" pitchFamily="18" charset="0"/>
                        </a:rPr>
                        <m:t>𝑎</m:t>
                      </m:r>
                      <m:r>
                        <a:rPr lang="en-US" b="0" i="1" noProof="0" smtClean="0">
                          <a:solidFill>
                            <a:schemeClr val="tx1"/>
                          </a:solidFill>
                          <a:latin typeface="Cambria Math" panose="02040503050406030204" pitchFamily="18" charset="0"/>
                        </a:rPr>
                        <m:t>+</m:t>
                      </m:r>
                      <m:r>
                        <a:rPr lang="en-US" b="0" i="1" noProof="0" smtClean="0">
                          <a:solidFill>
                            <a:schemeClr val="accent1">
                              <a:lumMod val="75000"/>
                            </a:schemeClr>
                          </a:solidFill>
                          <a:latin typeface="Cambria Math" panose="02040503050406030204" pitchFamily="18" charset="0"/>
                        </a:rPr>
                        <m:t>𝑔</m:t>
                      </m:r>
                      <m:r>
                        <a:rPr lang="en-US" i="1" noProof="0" smtClean="0">
                          <a:latin typeface="Cambria Math" panose="02040503050406030204" pitchFamily="18" charset="0"/>
                        </a:rPr>
                        <m:t>(+</m:t>
                      </m:r>
                      <m:r>
                        <a:rPr lang="en-US" i="1" noProof="0" smtClean="0">
                          <a:solidFill>
                            <a:schemeClr val="accent2"/>
                          </a:solidFill>
                          <a:latin typeface="Cambria Math" panose="02040503050406030204" pitchFamily="18" charset="0"/>
                        </a:rPr>
                        <m:t>𝑒</m:t>
                      </m:r>
                      <m:r>
                        <a:rPr lang="en-US" i="1" noProof="0" smtClean="0">
                          <a:latin typeface="Cambria Math" panose="02040503050406030204" pitchFamily="18" charset="0"/>
                        </a:rPr>
                        <m:t>)</m:t>
                      </m:r>
                    </m:oMath>
                  </m:oMathPara>
                </a14:m>
                <a:endParaRPr lang="en-US" noProof="0" dirty="0"/>
              </a:p>
            </p:txBody>
          </p:sp>
        </mc:Choice>
        <mc:Fallback xmlns="">
          <p:sp>
            <p:nvSpPr>
              <p:cNvPr id="9" name="TextBox 8">
                <a:extLst>
                  <a:ext uri="{FF2B5EF4-FFF2-40B4-BE49-F238E27FC236}">
                    <a16:creationId xmlns:a16="http://schemas.microsoft.com/office/drawing/2014/main" id="{A2699206-B808-3192-91F3-C1677150B653}"/>
                  </a:ext>
                </a:extLst>
              </p:cNvPr>
              <p:cNvSpPr txBox="1">
                <a:spLocks noRot="1" noChangeAspect="1" noMove="1" noResize="1" noEditPoints="1" noAdjustHandles="1" noChangeArrowheads="1" noChangeShapeType="1" noTextEdit="1"/>
              </p:cNvSpPr>
              <p:nvPr/>
            </p:nvSpPr>
            <p:spPr>
              <a:xfrm>
                <a:off x="7343347" y="3798331"/>
                <a:ext cx="1678023" cy="276999"/>
              </a:xfrm>
              <a:prstGeom prst="rect">
                <a:avLst/>
              </a:prstGeom>
              <a:blipFill>
                <a:blip r:embed="rId6"/>
                <a:stretch>
                  <a:fillRect l="-1818" t="-2174" r="-5091" b="-32609"/>
                </a:stretch>
              </a:blipFill>
            </p:spPr>
            <p:txBody>
              <a:bodyPr/>
              <a:lstStyle/>
              <a:p>
                <a:r>
                  <a:rPr lang="en-SE">
                    <a:noFill/>
                  </a:rPr>
                  <a:t> </a:t>
                </a:r>
              </a:p>
            </p:txBody>
          </p:sp>
        </mc:Fallback>
      </mc:AlternateContent>
    </p:spTree>
    <p:extLst>
      <p:ext uri="{BB962C8B-B14F-4D97-AF65-F5344CB8AC3E}">
        <p14:creationId xmlns:p14="http://schemas.microsoft.com/office/powerpoint/2010/main" val="25220819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311B4-7994-C422-582A-A0C655791F65}"/>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6A9F43D3-DE29-5FC3-0D6E-D876DED2A5D2}"/>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CBFB09EB-5EB2-C850-AD3B-0326572DA261}"/>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616949B-6B95-49E4-C467-E55A5BDE908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2398F953-2F86-BDE6-F755-6AA85D7CEB2E}"/>
              </a:ext>
            </a:extLst>
          </p:cNvPr>
          <p:cNvSpPr>
            <a:spLocks noGrp="1"/>
          </p:cNvSpPr>
          <p:nvPr>
            <p:ph type="sldNum" sz="quarter" idx="12"/>
          </p:nvPr>
        </p:nvSpPr>
        <p:spPr/>
        <p:txBody>
          <a:bodyPr/>
          <a:lstStyle/>
          <a:p>
            <a:fld id="{0FA2D919-C0DE-4971-A2E9-D4AC0031921B}" type="slidenum">
              <a:rPr lang="en-US" noProof="0" smtClean="0"/>
              <a:t>59</a:t>
            </a:fld>
            <a:endParaRPr lang="en-US" noProof="0" dirty="0"/>
          </a:p>
        </p:txBody>
      </p:sp>
      <p:cxnSp>
        <p:nvCxnSpPr>
          <p:cNvPr id="9" name="Straight Arrow Connector 8">
            <a:extLst>
              <a:ext uri="{FF2B5EF4-FFF2-40B4-BE49-F238E27FC236}">
                <a16:creationId xmlns:a16="http://schemas.microsoft.com/office/drawing/2014/main" id="{5F149A54-8CB3-C5AC-1C51-A4E18019E2D1}"/>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C6C594A1-6FE1-C539-1B8E-4C937CE7FCBB}"/>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936F7CBB-1551-E58D-0665-50C4C46A3FB5}"/>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015D402D-8EDE-B2A7-F9DE-17B7104FB077}"/>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17132629-54BD-1BBD-9780-87787ACDCBBF}"/>
              </a:ext>
            </a:extLst>
          </p:cNvPr>
          <p:cNvSpPr/>
          <p:nvPr/>
        </p:nvSpPr>
        <p:spPr>
          <a:xfrm>
            <a:off x="5826000" y="3208955"/>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F961F598-07E0-B771-9F16-40BE31D805A9}"/>
              </a:ext>
            </a:extLst>
          </p:cNvPr>
          <p:cNvCxnSpPr>
            <a:cxnSpLocks/>
            <a:stCxn id="10" idx="6"/>
            <a:endCxn id="11" idx="2"/>
          </p:cNvCxnSpPr>
          <p:nvPr/>
        </p:nvCxnSpPr>
        <p:spPr>
          <a:xfrm flipV="1">
            <a:off x="5121604" y="3478955"/>
            <a:ext cx="704396" cy="4565"/>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E6648A4B-D269-C636-BA19-A8515B4C7AC6}"/>
              </a:ext>
            </a:extLst>
          </p:cNvPr>
          <p:cNvCxnSpPr>
            <a:cxnSpLocks/>
            <a:stCxn id="11" idx="5"/>
            <a:endCxn id="8" idx="1"/>
          </p:cNvCxnSpPr>
          <p:nvPr/>
        </p:nvCxnSpPr>
        <p:spPr>
          <a:xfrm>
            <a:off x="6286919" y="3669874"/>
            <a:ext cx="863852" cy="919577"/>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104FD7F-20C1-2449-2BD4-6039195DAF4F}"/>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812002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3232-4782-4E6A-AAF4-8A08E8B75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040A6-D6BC-F293-4F2E-A9516D6FF384}"/>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0A689463-30DE-E4C7-1F4D-196C886058E5}"/>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DED72C93-9A6E-2F8A-B870-5513850629A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7B8A84F-A8FA-38CC-9957-868EFD7C343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96F1E63-298A-7C22-1556-374DA1E16AED}"/>
              </a:ext>
            </a:extLst>
          </p:cNvPr>
          <p:cNvSpPr>
            <a:spLocks noGrp="1"/>
          </p:cNvSpPr>
          <p:nvPr>
            <p:ph type="sldNum" sz="quarter" idx="12"/>
          </p:nvPr>
        </p:nvSpPr>
        <p:spPr/>
        <p:txBody>
          <a:bodyPr/>
          <a:lstStyle/>
          <a:p>
            <a:fld id="{0FA2D919-C0DE-4971-A2E9-D4AC0031921B}" type="slidenum">
              <a:rPr lang="en-US" noProof="0" smtClean="0"/>
              <a:t>60</a:t>
            </a:fld>
            <a:endParaRPr lang="en-US" noProof="0" dirty="0"/>
          </a:p>
        </p:txBody>
      </p:sp>
      <p:grpSp>
        <p:nvGrpSpPr>
          <p:cNvPr id="16" name="Group 15">
            <a:extLst>
              <a:ext uri="{FF2B5EF4-FFF2-40B4-BE49-F238E27FC236}">
                <a16:creationId xmlns:a16="http://schemas.microsoft.com/office/drawing/2014/main" id="{E81B7DD4-6BD7-C251-84A6-B9A97D417EA0}"/>
              </a:ext>
            </a:extLst>
          </p:cNvPr>
          <p:cNvGrpSpPr/>
          <p:nvPr/>
        </p:nvGrpSpPr>
        <p:grpSpPr>
          <a:xfrm>
            <a:off x="1464577" y="3089804"/>
            <a:ext cx="3031380" cy="1841415"/>
            <a:chOff x="4580310" y="3208955"/>
            <a:chExt cx="3031380" cy="1841415"/>
          </a:xfrm>
        </p:grpSpPr>
        <p:cxnSp>
          <p:nvCxnSpPr>
            <p:cNvPr id="9" name="Straight Arrow Connector 8">
              <a:extLst>
                <a:ext uri="{FF2B5EF4-FFF2-40B4-BE49-F238E27FC236}">
                  <a16:creationId xmlns:a16="http://schemas.microsoft.com/office/drawing/2014/main" id="{CC7A1DD2-BAE6-3884-B8A4-801E6E61CD5C}"/>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114EEF6-9894-A8B2-3B64-C7B0DBCED83C}"/>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B3280ADB-707F-DA0A-D554-A0161C3B18A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96E7A474-BCA0-628A-475D-6C9DFB201FCC}"/>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5E59E8A5-F09B-9F0F-70DE-EACF52891AC6}"/>
                </a:ext>
              </a:extLst>
            </p:cNvPr>
            <p:cNvSpPr/>
            <p:nvPr/>
          </p:nvSpPr>
          <p:spPr>
            <a:xfrm>
              <a:off x="5826000" y="3208955"/>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2" name="Straight Arrow Connector 11">
              <a:extLst>
                <a:ext uri="{FF2B5EF4-FFF2-40B4-BE49-F238E27FC236}">
                  <a16:creationId xmlns:a16="http://schemas.microsoft.com/office/drawing/2014/main" id="{23F884DD-5BC6-F197-CE57-FAA6E0CA0554}"/>
                </a:ext>
              </a:extLst>
            </p:cNvPr>
            <p:cNvCxnSpPr>
              <a:cxnSpLocks/>
              <a:stCxn id="10" idx="4"/>
              <a:endCxn id="7" idx="0"/>
            </p:cNvCxnSpPr>
            <p:nvPr/>
          </p:nvCxnSpPr>
          <p:spPr>
            <a:xfrm flipH="1">
              <a:off x="4850310" y="3753520"/>
              <a:ext cx="1294" cy="75685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5DD9995D-8290-6827-9F0E-D90C8908946B}"/>
                </a:ext>
              </a:extLst>
            </p:cNvPr>
            <p:cNvCxnSpPr>
              <a:cxnSpLocks/>
              <a:stCxn id="10" idx="6"/>
              <a:endCxn id="11" idx="2"/>
            </p:cNvCxnSpPr>
            <p:nvPr/>
          </p:nvCxnSpPr>
          <p:spPr>
            <a:xfrm flipV="1">
              <a:off x="5121604" y="3478955"/>
              <a:ext cx="70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07FD872C-1360-BAB3-A32E-6EB5D137C601}"/>
                </a:ext>
              </a:extLst>
            </p:cNvPr>
            <p:cNvCxnSpPr>
              <a:cxnSpLocks/>
              <a:stCxn id="11" idx="5"/>
              <a:endCxn id="8" idx="1"/>
            </p:cNvCxnSpPr>
            <p:nvPr/>
          </p:nvCxnSpPr>
          <p:spPr>
            <a:xfrm>
              <a:off x="6286919" y="3669874"/>
              <a:ext cx="863852" cy="91957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pSp>
      <p:sp>
        <p:nvSpPr>
          <p:cNvPr id="26" name="TextBox 25">
            <a:extLst>
              <a:ext uri="{FF2B5EF4-FFF2-40B4-BE49-F238E27FC236}">
                <a16:creationId xmlns:a16="http://schemas.microsoft.com/office/drawing/2014/main" id="{BE3F88E9-BF0A-2FE6-E260-2ED5F6D6B89A}"/>
              </a:ext>
            </a:extLst>
          </p:cNvPr>
          <p:cNvSpPr txBox="1"/>
          <p:nvPr/>
        </p:nvSpPr>
        <p:spPr>
          <a:xfrm>
            <a:off x="838200" y="5560519"/>
            <a:ext cx="3285964" cy="523220"/>
          </a:xfrm>
          <a:prstGeom prst="rect">
            <a:avLst/>
          </a:prstGeom>
          <a:noFill/>
        </p:spPr>
        <p:txBody>
          <a:bodyPr wrap="none" rtlCol="0">
            <a:spAutoFit/>
          </a:bodyPr>
          <a:lstStyle/>
          <a:p>
            <a:r>
              <a:rPr lang="en-US" sz="2800" noProof="0" dirty="0"/>
              <a:t>Adjustment set = {d}</a:t>
            </a:r>
          </a:p>
        </p:txBody>
      </p:sp>
      <p:grpSp>
        <p:nvGrpSpPr>
          <p:cNvPr id="17" name="Group 16">
            <a:extLst>
              <a:ext uri="{FF2B5EF4-FFF2-40B4-BE49-F238E27FC236}">
                <a16:creationId xmlns:a16="http://schemas.microsoft.com/office/drawing/2014/main" id="{0FC0142D-EC76-FA7A-0D41-5C6A668A46EA}"/>
              </a:ext>
            </a:extLst>
          </p:cNvPr>
          <p:cNvGrpSpPr/>
          <p:nvPr/>
        </p:nvGrpSpPr>
        <p:grpSpPr>
          <a:xfrm>
            <a:off x="7426045" y="3089803"/>
            <a:ext cx="3031380" cy="1841415"/>
            <a:chOff x="4580310" y="3208955"/>
            <a:chExt cx="3031380" cy="1841415"/>
          </a:xfrm>
        </p:grpSpPr>
        <p:cxnSp>
          <p:nvCxnSpPr>
            <p:cNvPr id="18" name="Straight Arrow Connector 17">
              <a:extLst>
                <a:ext uri="{FF2B5EF4-FFF2-40B4-BE49-F238E27FC236}">
                  <a16:creationId xmlns:a16="http://schemas.microsoft.com/office/drawing/2014/main" id="{75A092F3-703E-23FE-9DB2-6F23C527837C}"/>
                </a:ext>
              </a:extLst>
            </p:cNvPr>
            <p:cNvCxnSpPr>
              <a:stCxn id="19" idx="6"/>
              <a:endCxn id="21"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E600C439-1B57-1C80-16E2-3C76339331B6}"/>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21" name="Oval 20">
              <a:extLst>
                <a:ext uri="{FF2B5EF4-FFF2-40B4-BE49-F238E27FC236}">
                  <a16:creationId xmlns:a16="http://schemas.microsoft.com/office/drawing/2014/main" id="{1D88D6FF-2402-7DF5-70D0-6E88C820B718}"/>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22" name="Oval 21">
              <a:extLst>
                <a:ext uri="{FF2B5EF4-FFF2-40B4-BE49-F238E27FC236}">
                  <a16:creationId xmlns:a16="http://schemas.microsoft.com/office/drawing/2014/main" id="{F3EDE4AF-B3C3-4950-2D9D-47333ACFA6CC}"/>
                </a:ext>
              </a:extLst>
            </p:cNvPr>
            <p:cNvSpPr/>
            <p:nvPr/>
          </p:nvSpPr>
          <p:spPr>
            <a:xfrm>
              <a:off x="4581604"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24" name="Oval 23">
              <a:extLst>
                <a:ext uri="{FF2B5EF4-FFF2-40B4-BE49-F238E27FC236}">
                  <a16:creationId xmlns:a16="http://schemas.microsoft.com/office/drawing/2014/main" id="{C48AA794-093D-7B35-4DFF-901618B959D4}"/>
                </a:ext>
              </a:extLst>
            </p:cNvPr>
            <p:cNvSpPr/>
            <p:nvPr/>
          </p:nvSpPr>
          <p:spPr>
            <a:xfrm>
              <a:off x="5826000" y="3208955"/>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25" name="Straight Arrow Connector 24">
              <a:extLst>
                <a:ext uri="{FF2B5EF4-FFF2-40B4-BE49-F238E27FC236}">
                  <a16:creationId xmlns:a16="http://schemas.microsoft.com/office/drawing/2014/main" id="{D7041801-0823-5CA4-CC42-B50A8D124210}"/>
                </a:ext>
              </a:extLst>
            </p:cNvPr>
            <p:cNvCxnSpPr>
              <a:cxnSpLocks/>
              <a:stCxn id="22" idx="4"/>
              <a:endCxn id="19" idx="0"/>
            </p:cNvCxnSpPr>
            <p:nvPr/>
          </p:nvCxnSpPr>
          <p:spPr>
            <a:xfrm flipH="1">
              <a:off x="4850310" y="3753520"/>
              <a:ext cx="1294" cy="75685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D86A5268-35E9-71AD-F05D-82DEEB2B4616}"/>
                </a:ext>
              </a:extLst>
            </p:cNvPr>
            <p:cNvCxnSpPr>
              <a:cxnSpLocks/>
              <a:stCxn id="22" idx="6"/>
              <a:endCxn id="24" idx="2"/>
            </p:cNvCxnSpPr>
            <p:nvPr/>
          </p:nvCxnSpPr>
          <p:spPr>
            <a:xfrm flipV="1">
              <a:off x="5121604" y="3478955"/>
              <a:ext cx="704396" cy="4565"/>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8B34773C-CC77-D7A3-BC7E-92229B6D6549}"/>
                </a:ext>
              </a:extLst>
            </p:cNvPr>
            <p:cNvCxnSpPr>
              <a:cxnSpLocks/>
              <a:stCxn id="24" idx="5"/>
              <a:endCxn id="21" idx="1"/>
            </p:cNvCxnSpPr>
            <p:nvPr/>
          </p:nvCxnSpPr>
          <p:spPr>
            <a:xfrm>
              <a:off x="6286919" y="3669874"/>
              <a:ext cx="863852" cy="91957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pSp>
      <p:sp>
        <p:nvSpPr>
          <p:cNvPr id="29" name="TextBox 28">
            <a:extLst>
              <a:ext uri="{FF2B5EF4-FFF2-40B4-BE49-F238E27FC236}">
                <a16:creationId xmlns:a16="http://schemas.microsoft.com/office/drawing/2014/main" id="{4696D951-3D30-A57E-CA07-7D37247BE82E}"/>
              </a:ext>
            </a:extLst>
          </p:cNvPr>
          <p:cNvSpPr txBox="1"/>
          <p:nvPr/>
        </p:nvSpPr>
        <p:spPr>
          <a:xfrm>
            <a:off x="6872440" y="5563137"/>
            <a:ext cx="3273140" cy="523220"/>
          </a:xfrm>
          <a:prstGeom prst="rect">
            <a:avLst/>
          </a:prstGeom>
          <a:noFill/>
        </p:spPr>
        <p:txBody>
          <a:bodyPr wrap="none" rtlCol="0">
            <a:spAutoFit/>
          </a:bodyPr>
          <a:lstStyle/>
          <a:p>
            <a:r>
              <a:rPr lang="en-US" sz="2800" noProof="0" dirty="0"/>
              <a:t>Adjustment set = {c}</a:t>
            </a:r>
          </a:p>
        </p:txBody>
      </p:sp>
    </p:spTree>
    <p:extLst>
      <p:ext uri="{BB962C8B-B14F-4D97-AF65-F5344CB8AC3E}">
        <p14:creationId xmlns:p14="http://schemas.microsoft.com/office/powerpoint/2010/main" val="4752998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ED900-85B1-B8DC-89BA-8E62C6E84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97DB4-FE5B-F859-03A3-0056F3F4C6AA}"/>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28F3EAD8-B743-88C5-75A7-68AB49C4B664}"/>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2B67325E-CC0E-C1F8-562F-D0DB5EEA9C0B}"/>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5898B4F4-1B4A-4862-8729-80D55F7943C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D12F75DB-1ADF-8368-D6EE-B3FAC5DEC32D}"/>
              </a:ext>
            </a:extLst>
          </p:cNvPr>
          <p:cNvSpPr>
            <a:spLocks noGrp="1"/>
          </p:cNvSpPr>
          <p:nvPr>
            <p:ph type="sldNum" sz="quarter" idx="12"/>
          </p:nvPr>
        </p:nvSpPr>
        <p:spPr/>
        <p:txBody>
          <a:bodyPr/>
          <a:lstStyle/>
          <a:p>
            <a:fld id="{0FA2D919-C0DE-4971-A2E9-D4AC0031921B}" type="slidenum">
              <a:rPr lang="en-US" noProof="0" smtClean="0"/>
              <a:t>61</a:t>
            </a:fld>
            <a:endParaRPr lang="en-US" noProof="0" dirty="0"/>
          </a:p>
        </p:txBody>
      </p:sp>
      <p:cxnSp>
        <p:nvCxnSpPr>
          <p:cNvPr id="9" name="Straight Arrow Connector 8">
            <a:extLst>
              <a:ext uri="{FF2B5EF4-FFF2-40B4-BE49-F238E27FC236}">
                <a16:creationId xmlns:a16="http://schemas.microsoft.com/office/drawing/2014/main" id="{A241440D-E3BD-02BF-1BED-F38461B4BB36}"/>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B52E9A57-0F1C-5DA2-062E-5861854DE0D6}"/>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DF52679C-A397-E428-6EF6-1B0D0E4A15A2}"/>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793CF13F-B1C9-D60C-9C36-72AB77AE0246}"/>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0A9C3CB1-903C-6B14-4AFF-2713713089BC}"/>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7E73DB78-4B04-E385-4709-587A695F405D}"/>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CD5D9EFC-AA07-B201-6FA6-1C1E31DA6895}"/>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2250740-41F1-CA88-3564-DF388E11822E}"/>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89142A50-F358-EDFD-3D3C-799FA59F5FE6}"/>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BE6F43F-5C08-BF1B-7011-1347F9D2D509}"/>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298304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369E4-1C4F-C5CB-B714-FAEFE962A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0DEF-44E3-013B-70D7-87AF14330EB6}"/>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77832429-55EF-E10E-75D8-DF3133D9556E}"/>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C734B9EE-2E5D-527B-6249-329D0891512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38C4841-90BD-5C51-239C-49FB1C14C12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A744EC9-4CBD-6EF4-0884-6737E4B4DC55}"/>
              </a:ext>
            </a:extLst>
          </p:cNvPr>
          <p:cNvSpPr>
            <a:spLocks noGrp="1"/>
          </p:cNvSpPr>
          <p:nvPr>
            <p:ph type="sldNum" sz="quarter" idx="12"/>
          </p:nvPr>
        </p:nvSpPr>
        <p:spPr/>
        <p:txBody>
          <a:bodyPr/>
          <a:lstStyle/>
          <a:p>
            <a:fld id="{0FA2D919-C0DE-4971-A2E9-D4AC0031921B}" type="slidenum">
              <a:rPr lang="en-US" noProof="0" smtClean="0"/>
              <a:t>62</a:t>
            </a:fld>
            <a:endParaRPr lang="en-US" noProof="0" dirty="0"/>
          </a:p>
        </p:txBody>
      </p:sp>
      <p:cxnSp>
        <p:nvCxnSpPr>
          <p:cNvPr id="9" name="Straight Arrow Connector 8">
            <a:extLst>
              <a:ext uri="{FF2B5EF4-FFF2-40B4-BE49-F238E27FC236}">
                <a16:creationId xmlns:a16="http://schemas.microsoft.com/office/drawing/2014/main" id="{470723E8-2DBC-76FA-5869-F34A9EC955D5}"/>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4AF4F974-3ED0-0529-7FF5-79E25A6CB251}"/>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46AB46CA-1340-9A5A-F488-AE83FE9A7A9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5933F246-8C62-D4D8-3002-B9D25AB15349}"/>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ACA57904-5370-499A-E32C-AAE967884E90}"/>
              </a:ext>
            </a:extLst>
          </p:cNvPr>
          <p:cNvSpPr/>
          <p:nvPr/>
        </p:nvSpPr>
        <p:spPr>
          <a:xfrm>
            <a:off x="5826000" y="3630312"/>
            <a:ext cx="540000" cy="540000"/>
          </a:xfrm>
          <a:prstGeom prst="ellipse">
            <a:avLst/>
          </a:prstGeom>
          <a:solidFill>
            <a:srgbClr val="FFC00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47D71EA4-9CC2-C737-A1EA-2CAE1C476D0C}"/>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9780E22-B47A-F019-EDA3-414E026A8BDA}"/>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ACB082A6-E359-7946-2854-21BA49D2B5B6}"/>
              </a:ext>
            </a:extLst>
          </p:cNvPr>
          <p:cNvSpPr txBox="1"/>
          <p:nvPr/>
        </p:nvSpPr>
        <p:spPr>
          <a:xfrm>
            <a:off x="838200" y="5560519"/>
            <a:ext cx="3083986" cy="523220"/>
          </a:xfrm>
          <a:prstGeom prst="rect">
            <a:avLst/>
          </a:prstGeom>
          <a:noFill/>
        </p:spPr>
        <p:txBody>
          <a:bodyPr wrap="none" rtlCol="0">
            <a:spAutoFit/>
          </a:bodyPr>
          <a:lstStyle/>
          <a:p>
            <a:r>
              <a:rPr lang="en-US" sz="2800" noProof="0" dirty="0"/>
              <a:t>Adjustment set = {}</a:t>
            </a:r>
          </a:p>
        </p:txBody>
      </p:sp>
      <p:sp>
        <p:nvSpPr>
          <p:cNvPr id="18" name="Oval 17">
            <a:extLst>
              <a:ext uri="{FF2B5EF4-FFF2-40B4-BE49-F238E27FC236}">
                <a16:creationId xmlns:a16="http://schemas.microsoft.com/office/drawing/2014/main" id="{23AA91B9-F463-4C21-13A0-C102C66BDDA8}"/>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59C07A8B-41F3-4223-A55E-967391017509}"/>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58AE4355-406D-817C-C5C3-65A0D5F0D94D}"/>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08206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AA278-CFE6-FCDF-5F63-FB3C06CBB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D69A6-7BAB-7B76-AE53-290501E42717}"/>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849BF4AB-ADD5-20E5-AE3D-B38C6928DB1F}"/>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5B8DF799-E556-BDC2-A9D9-4C1EF2AB2279}"/>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D2D62BE-77AB-4F66-54FE-E8F5539B9DF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0D629A2D-E10A-0CE3-CAA1-5DA6A81BDA31}"/>
              </a:ext>
            </a:extLst>
          </p:cNvPr>
          <p:cNvSpPr>
            <a:spLocks noGrp="1"/>
          </p:cNvSpPr>
          <p:nvPr>
            <p:ph type="sldNum" sz="quarter" idx="12"/>
          </p:nvPr>
        </p:nvSpPr>
        <p:spPr/>
        <p:txBody>
          <a:bodyPr/>
          <a:lstStyle/>
          <a:p>
            <a:fld id="{0FA2D919-C0DE-4971-A2E9-D4AC0031921B}" type="slidenum">
              <a:rPr lang="en-US" noProof="0" smtClean="0"/>
              <a:t>63</a:t>
            </a:fld>
            <a:endParaRPr lang="en-US" noProof="0" dirty="0"/>
          </a:p>
        </p:txBody>
      </p:sp>
      <p:cxnSp>
        <p:nvCxnSpPr>
          <p:cNvPr id="9" name="Straight Arrow Connector 8">
            <a:extLst>
              <a:ext uri="{FF2B5EF4-FFF2-40B4-BE49-F238E27FC236}">
                <a16:creationId xmlns:a16="http://schemas.microsoft.com/office/drawing/2014/main" id="{1911EA5A-9CAB-DD8C-DCCF-5A255F1B7B61}"/>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C6ADDC1-38D5-9CFF-2CBC-08DEE0912721}"/>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DDB00622-91C8-1D09-A1E3-00313C0673D8}"/>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3C570943-CB0A-5E74-33A8-6E3FB435B7FA}"/>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EEEBE441-1FE7-6AD2-DC65-05EEAE9202D1}"/>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2A7094A1-117E-59E8-331C-7CBAB0AC91C1}"/>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8F1F6AAB-FD5B-E658-76E9-BC780B6EA647}"/>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0E23A043-B944-3073-012C-328EE872D5DB}"/>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B5B4B0D3-FD83-557C-4AA9-B7A23DC4DD02}"/>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3DB5F601-5A2C-834A-CDAF-877BB4F2C9E5}"/>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B87E3672-224A-FEE8-ED3D-6A6EF9125BE4}"/>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600456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60E63-3BA5-BC71-B4C5-836FA1198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BA513-B5B7-27CF-658B-E4B273A9F47C}"/>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6ED44FBA-AFDE-BFA9-5BB3-DCA485F1E69D}"/>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6D7CD522-94D0-8966-D0DC-1220FB6ACFB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ADA0E48-04AE-3A72-94A2-65FFA5F7C13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F442C8A-FD9B-953B-9208-2A5BF00357EF}"/>
              </a:ext>
            </a:extLst>
          </p:cNvPr>
          <p:cNvSpPr>
            <a:spLocks noGrp="1"/>
          </p:cNvSpPr>
          <p:nvPr>
            <p:ph type="sldNum" sz="quarter" idx="12"/>
          </p:nvPr>
        </p:nvSpPr>
        <p:spPr/>
        <p:txBody>
          <a:bodyPr/>
          <a:lstStyle/>
          <a:p>
            <a:fld id="{0FA2D919-C0DE-4971-A2E9-D4AC0031921B}" type="slidenum">
              <a:rPr lang="en-US" noProof="0" smtClean="0"/>
              <a:t>64</a:t>
            </a:fld>
            <a:endParaRPr lang="en-US" noProof="0" dirty="0"/>
          </a:p>
        </p:txBody>
      </p:sp>
      <p:cxnSp>
        <p:nvCxnSpPr>
          <p:cNvPr id="9" name="Straight Arrow Connector 8">
            <a:extLst>
              <a:ext uri="{FF2B5EF4-FFF2-40B4-BE49-F238E27FC236}">
                <a16:creationId xmlns:a16="http://schemas.microsoft.com/office/drawing/2014/main" id="{5A20D218-6D45-FB1B-7C52-FB7B4251EC45}"/>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19581589-3FDE-BEFE-6DFE-EB7CD4051A8A}"/>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820AE815-C136-7610-5A5B-24E24F204A86}"/>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42465E7F-0A37-C79C-8056-415524EA46A6}"/>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35B9F72B-CA49-FB06-3540-9E5AA5A9A848}"/>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CAD1EE67-0624-7578-42D9-2EA0D443BE82}"/>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D33DE82B-5543-B3C5-961D-E652D29AF249}"/>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8CC58ABE-F07F-4E1D-382A-52CBAD3BCAFA}"/>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8D9A5DBB-9B04-A114-F717-B5BECB14E084}"/>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ADEE7863-2833-A36B-ABC3-1F572B8CC9A9}"/>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0B6FEE8A-D999-A647-B1A1-37BD82DAB51A}"/>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7AB4711B-50F8-7CE3-C12B-5BB32AFA9A3C}"/>
              </a:ext>
            </a:extLst>
          </p:cNvPr>
          <p:cNvSpPr txBox="1"/>
          <p:nvPr/>
        </p:nvSpPr>
        <p:spPr>
          <a:xfrm>
            <a:off x="838200" y="5245939"/>
            <a:ext cx="5314917" cy="1200329"/>
          </a:xfrm>
          <a:prstGeom prst="rect">
            <a:avLst/>
          </a:prstGeom>
          <a:noFill/>
        </p:spPr>
        <p:txBody>
          <a:bodyPr wrap="none" rtlCol="0">
            <a:spAutoFit/>
          </a:bodyPr>
          <a:lstStyle/>
          <a:p>
            <a:r>
              <a:rPr lang="en-US" sz="2400" noProof="0" dirty="0"/>
              <a:t>The DAG contains two backdoor paths:</a:t>
            </a:r>
          </a:p>
          <a:p>
            <a:pPr marL="514350" indent="-514350">
              <a:buFont typeface="+mj-lt"/>
              <a:buAutoNum type="arabicPeriod"/>
            </a:pPr>
            <a:r>
              <a:rPr lang="en-US" sz="2400" noProof="0" dirty="0"/>
              <a:t> </a:t>
            </a:r>
            <a:r>
              <a:rPr lang="en-US" sz="2400" noProof="0" dirty="0">
                <a:solidFill>
                  <a:srgbClr val="D0180A"/>
                </a:solidFill>
              </a:rPr>
              <a:t>a</a:t>
            </a:r>
            <a:r>
              <a:rPr lang="en-US" sz="2400" noProof="0" dirty="0"/>
              <a:t> ← c → d ← e → </a:t>
            </a:r>
            <a:r>
              <a:rPr lang="en-US" sz="2400" noProof="0" dirty="0">
                <a:solidFill>
                  <a:srgbClr val="006D70"/>
                </a:solidFill>
              </a:rPr>
              <a:t>b</a:t>
            </a:r>
          </a:p>
          <a:p>
            <a:pPr marL="514350" indent="-514350">
              <a:buFont typeface="+mj-lt"/>
              <a:buAutoNum type="arabicPeriod"/>
            </a:pPr>
            <a:r>
              <a:rPr lang="en-US" sz="2400" noProof="0" dirty="0"/>
              <a:t> </a:t>
            </a:r>
            <a:r>
              <a:rPr lang="en-US" sz="2400" noProof="0" dirty="0">
                <a:solidFill>
                  <a:srgbClr val="D0180A"/>
                </a:solidFill>
              </a:rPr>
              <a:t>a</a:t>
            </a:r>
            <a:r>
              <a:rPr lang="en-US" sz="2400" noProof="0" dirty="0"/>
              <a:t> ← d ← e → </a:t>
            </a:r>
            <a:r>
              <a:rPr lang="en-US" sz="2400" noProof="0" dirty="0">
                <a:solidFill>
                  <a:srgbClr val="006D70"/>
                </a:solidFill>
              </a:rPr>
              <a:t>b</a:t>
            </a:r>
          </a:p>
        </p:txBody>
      </p:sp>
    </p:spTree>
    <p:extLst>
      <p:ext uri="{BB962C8B-B14F-4D97-AF65-F5344CB8AC3E}">
        <p14:creationId xmlns:p14="http://schemas.microsoft.com/office/powerpoint/2010/main" val="17932982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7A14E-2B4F-2F7D-4891-1C534F8E6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86E21-648E-5972-1B4B-88444130BF52}"/>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EEC49AE9-D056-281E-1070-81A6AFC73072}"/>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40FC55FB-2C1D-9094-8265-26C6D42C169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21E3EAE-BFD3-C12C-8C03-0E08C047F09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66AE2A54-660C-D8D9-1731-188CB18AE127}"/>
              </a:ext>
            </a:extLst>
          </p:cNvPr>
          <p:cNvSpPr>
            <a:spLocks noGrp="1"/>
          </p:cNvSpPr>
          <p:nvPr>
            <p:ph type="sldNum" sz="quarter" idx="12"/>
          </p:nvPr>
        </p:nvSpPr>
        <p:spPr/>
        <p:txBody>
          <a:bodyPr/>
          <a:lstStyle/>
          <a:p>
            <a:fld id="{0FA2D919-C0DE-4971-A2E9-D4AC0031921B}" type="slidenum">
              <a:rPr lang="en-US" noProof="0" smtClean="0"/>
              <a:t>65</a:t>
            </a:fld>
            <a:endParaRPr lang="en-US" noProof="0" dirty="0"/>
          </a:p>
        </p:txBody>
      </p:sp>
      <p:grpSp>
        <p:nvGrpSpPr>
          <p:cNvPr id="14" name="Group 13">
            <a:extLst>
              <a:ext uri="{FF2B5EF4-FFF2-40B4-BE49-F238E27FC236}">
                <a16:creationId xmlns:a16="http://schemas.microsoft.com/office/drawing/2014/main" id="{6079B753-6C6B-0A26-ED61-5E82D7D398D5}"/>
              </a:ext>
            </a:extLst>
          </p:cNvPr>
          <p:cNvGrpSpPr/>
          <p:nvPr/>
        </p:nvGrpSpPr>
        <p:grpSpPr>
          <a:xfrm>
            <a:off x="2065710" y="2895854"/>
            <a:ext cx="3031380" cy="1836850"/>
            <a:chOff x="4580310" y="3213520"/>
            <a:chExt cx="3031380" cy="1836850"/>
          </a:xfrm>
        </p:grpSpPr>
        <p:cxnSp>
          <p:nvCxnSpPr>
            <p:cNvPr id="9" name="Straight Arrow Connector 8">
              <a:extLst>
                <a:ext uri="{FF2B5EF4-FFF2-40B4-BE49-F238E27FC236}">
                  <a16:creationId xmlns:a16="http://schemas.microsoft.com/office/drawing/2014/main" id="{1A3473F2-FB37-9A13-0E37-DBB2ABA53D06}"/>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A1D7C59E-1088-D794-28EB-1B8DC12CCDC7}"/>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488DB945-0988-90CA-3C6D-9A625B4C2521}"/>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26AF79C9-2107-E098-D49F-EE6BA9E4C042}"/>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30F63CA6-0897-3DBC-6516-D1026B2C8B31}"/>
                </a:ext>
              </a:extLst>
            </p:cNvPr>
            <p:cNvSpPr/>
            <p:nvPr/>
          </p:nvSpPr>
          <p:spPr>
            <a:xfrm>
              <a:off x="5826000" y="3630312"/>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7F03E491-A49B-5896-6051-927DA8DD766A}"/>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4EB5224E-C686-DF5B-1458-BF6AD8D094E5}"/>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C5D5B228-3F04-8B18-E9BB-26A2F180D9D9}"/>
                </a:ext>
              </a:extLst>
            </p:cNvPr>
            <p:cNvSpPr/>
            <p:nvPr/>
          </p:nvSpPr>
          <p:spPr>
            <a:xfrm>
              <a:off x="7071690"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9DBD06CB-2F87-A1B2-547E-249E825B375B}"/>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5551FB4E-B472-7A22-D3CA-B668F3D36B02}"/>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5A530650-2895-8137-562D-6A6EC9964618}"/>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grpSp>
        <p:nvGrpSpPr>
          <p:cNvPr id="15" name="Group 14">
            <a:extLst>
              <a:ext uri="{FF2B5EF4-FFF2-40B4-BE49-F238E27FC236}">
                <a16:creationId xmlns:a16="http://schemas.microsoft.com/office/drawing/2014/main" id="{353325C8-65DD-23D0-6C72-4381EC715AA9}"/>
              </a:ext>
            </a:extLst>
          </p:cNvPr>
          <p:cNvGrpSpPr/>
          <p:nvPr/>
        </p:nvGrpSpPr>
        <p:grpSpPr>
          <a:xfrm>
            <a:off x="7364911" y="2895854"/>
            <a:ext cx="3031380" cy="1836850"/>
            <a:chOff x="4580310" y="3213520"/>
            <a:chExt cx="3031380" cy="1836850"/>
          </a:xfrm>
        </p:grpSpPr>
        <p:cxnSp>
          <p:nvCxnSpPr>
            <p:cNvPr id="16" name="Straight Arrow Connector 15">
              <a:extLst>
                <a:ext uri="{FF2B5EF4-FFF2-40B4-BE49-F238E27FC236}">
                  <a16:creationId xmlns:a16="http://schemas.microsoft.com/office/drawing/2014/main" id="{27D45DF3-DA1A-9781-6EF4-56448AC7A73B}"/>
                </a:ext>
              </a:extLst>
            </p:cNvPr>
            <p:cNvCxnSpPr>
              <a:stCxn id="17" idx="6"/>
              <a:endCxn id="19"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Oval 16">
              <a:extLst>
                <a:ext uri="{FF2B5EF4-FFF2-40B4-BE49-F238E27FC236}">
                  <a16:creationId xmlns:a16="http://schemas.microsoft.com/office/drawing/2014/main" id="{A4CA7CFF-54FF-D1F0-7145-E64F396D2127}"/>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19" name="Oval 18">
              <a:extLst>
                <a:ext uri="{FF2B5EF4-FFF2-40B4-BE49-F238E27FC236}">
                  <a16:creationId xmlns:a16="http://schemas.microsoft.com/office/drawing/2014/main" id="{C6065B33-B5E5-8437-4061-BFE22E2EE0B4}"/>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20" name="Oval 19">
              <a:extLst>
                <a:ext uri="{FF2B5EF4-FFF2-40B4-BE49-F238E27FC236}">
                  <a16:creationId xmlns:a16="http://schemas.microsoft.com/office/drawing/2014/main" id="{8B7427FA-1AD3-BD6A-FA9B-C7557B36C599}"/>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22" name="Oval 21">
              <a:extLst>
                <a:ext uri="{FF2B5EF4-FFF2-40B4-BE49-F238E27FC236}">
                  <a16:creationId xmlns:a16="http://schemas.microsoft.com/office/drawing/2014/main" id="{16374387-9DEA-1CF9-8AC1-9FD816BBB8CF}"/>
                </a:ext>
              </a:extLst>
            </p:cNvPr>
            <p:cNvSpPr/>
            <p:nvPr/>
          </p:nvSpPr>
          <p:spPr>
            <a:xfrm>
              <a:off x="5826000" y="3630312"/>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24" name="Straight Arrow Connector 23">
              <a:extLst>
                <a:ext uri="{FF2B5EF4-FFF2-40B4-BE49-F238E27FC236}">
                  <a16:creationId xmlns:a16="http://schemas.microsoft.com/office/drawing/2014/main" id="{174F6C52-F9D0-917E-D54D-19D10F6B6B11}"/>
                </a:ext>
              </a:extLst>
            </p:cNvPr>
            <p:cNvCxnSpPr>
              <a:cxnSpLocks/>
              <a:stCxn id="20" idx="6"/>
              <a:endCxn id="22"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95E4A6AC-353F-2802-CF6A-4D5FFEB1628D}"/>
                </a:ext>
              </a:extLst>
            </p:cNvPr>
            <p:cNvCxnSpPr>
              <a:cxnSpLocks/>
              <a:stCxn id="20" idx="4"/>
              <a:endCxn id="1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26" name="Oval 25">
              <a:extLst>
                <a:ext uri="{FF2B5EF4-FFF2-40B4-BE49-F238E27FC236}">
                  <a16:creationId xmlns:a16="http://schemas.microsoft.com/office/drawing/2014/main" id="{F134EF1B-B3EA-C956-DEF1-BD43E3C2EB38}"/>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8" name="Straight Arrow Connector 27">
              <a:extLst>
                <a:ext uri="{FF2B5EF4-FFF2-40B4-BE49-F238E27FC236}">
                  <a16:creationId xmlns:a16="http://schemas.microsoft.com/office/drawing/2014/main" id="{C5EE0A84-0FF1-B3F7-0E07-063FFFD92CD8}"/>
                </a:ext>
              </a:extLst>
            </p:cNvPr>
            <p:cNvCxnSpPr>
              <a:cxnSpLocks/>
              <a:stCxn id="26" idx="2"/>
              <a:endCxn id="22"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0F8D9FFD-62F7-7717-ABC8-26014DB64FDD}"/>
                </a:ext>
              </a:extLst>
            </p:cNvPr>
            <p:cNvCxnSpPr>
              <a:cxnSpLocks/>
              <a:stCxn id="26" idx="4"/>
              <a:endCxn id="19"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3F035C7-AE28-8AF5-4FCC-B293EF2662F4}"/>
                </a:ext>
              </a:extLst>
            </p:cNvPr>
            <p:cNvCxnSpPr>
              <a:cxnSpLocks/>
              <a:stCxn id="22" idx="3"/>
              <a:endCxn id="1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sp>
        <p:nvSpPr>
          <p:cNvPr id="43" name="TextBox 42">
            <a:extLst>
              <a:ext uri="{FF2B5EF4-FFF2-40B4-BE49-F238E27FC236}">
                <a16:creationId xmlns:a16="http://schemas.microsoft.com/office/drawing/2014/main" id="{E335E23C-52D1-69C7-6928-5B3C4E2632D2}"/>
              </a:ext>
            </a:extLst>
          </p:cNvPr>
          <p:cNvSpPr txBox="1"/>
          <p:nvPr/>
        </p:nvSpPr>
        <p:spPr>
          <a:xfrm>
            <a:off x="838200" y="4935480"/>
            <a:ext cx="3273140" cy="523220"/>
          </a:xfrm>
          <a:prstGeom prst="rect">
            <a:avLst/>
          </a:prstGeom>
          <a:noFill/>
        </p:spPr>
        <p:txBody>
          <a:bodyPr wrap="none" rtlCol="0">
            <a:spAutoFit/>
          </a:bodyPr>
          <a:lstStyle/>
          <a:p>
            <a:r>
              <a:rPr lang="en-US" sz="2800" noProof="0" dirty="0"/>
              <a:t>Adjustment set = {e}</a:t>
            </a:r>
          </a:p>
        </p:txBody>
      </p:sp>
      <p:sp>
        <p:nvSpPr>
          <p:cNvPr id="44" name="TextBox 43">
            <a:extLst>
              <a:ext uri="{FF2B5EF4-FFF2-40B4-BE49-F238E27FC236}">
                <a16:creationId xmlns:a16="http://schemas.microsoft.com/office/drawing/2014/main" id="{2279BC9C-B9C0-5FF3-ED0A-24C506F6F99E}"/>
              </a:ext>
            </a:extLst>
          </p:cNvPr>
          <p:cNvSpPr txBox="1"/>
          <p:nvPr/>
        </p:nvSpPr>
        <p:spPr>
          <a:xfrm>
            <a:off x="6116180" y="4914495"/>
            <a:ext cx="3640548" cy="523220"/>
          </a:xfrm>
          <a:prstGeom prst="rect">
            <a:avLst/>
          </a:prstGeom>
          <a:noFill/>
        </p:spPr>
        <p:txBody>
          <a:bodyPr wrap="none" rtlCol="0">
            <a:spAutoFit/>
          </a:bodyPr>
          <a:lstStyle/>
          <a:p>
            <a:r>
              <a:rPr lang="en-US" sz="2800" noProof="0" dirty="0"/>
              <a:t>Adjustment set = {c, d}</a:t>
            </a:r>
          </a:p>
        </p:txBody>
      </p:sp>
      <p:grpSp>
        <p:nvGrpSpPr>
          <p:cNvPr id="45" name="Group 44">
            <a:extLst>
              <a:ext uri="{FF2B5EF4-FFF2-40B4-BE49-F238E27FC236}">
                <a16:creationId xmlns:a16="http://schemas.microsoft.com/office/drawing/2014/main" id="{1E4AFBE7-67D7-BB84-3DC3-6854C317A8D0}"/>
              </a:ext>
            </a:extLst>
          </p:cNvPr>
          <p:cNvGrpSpPr/>
          <p:nvPr/>
        </p:nvGrpSpPr>
        <p:grpSpPr>
          <a:xfrm>
            <a:off x="6601049" y="5458700"/>
            <a:ext cx="4559103" cy="946595"/>
            <a:chOff x="775412" y="5230368"/>
            <a:chExt cx="4559103" cy="946595"/>
          </a:xfrm>
        </p:grpSpPr>
        <p:sp>
          <p:nvSpPr>
            <p:cNvPr id="46" name="Rectangle: Rounded Corners 45">
              <a:extLst>
                <a:ext uri="{FF2B5EF4-FFF2-40B4-BE49-F238E27FC236}">
                  <a16:creationId xmlns:a16="http://schemas.microsoft.com/office/drawing/2014/main" id="{9E67F73F-8800-25B8-B05D-375B21C190DE}"/>
                </a:ext>
              </a:extLst>
            </p:cNvPr>
            <p:cNvSpPr/>
            <p:nvPr/>
          </p:nvSpPr>
          <p:spPr>
            <a:xfrm>
              <a:off x="775412" y="5230368"/>
              <a:ext cx="4559103"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sz="1400" noProof="0" dirty="0">
                  <a:solidFill>
                    <a:schemeClr val="bg1"/>
                  </a:solidFill>
                </a:rPr>
                <a:t>Conditioning on </a:t>
              </a:r>
              <a:r>
                <a:rPr lang="en-US" sz="1400" noProof="0" dirty="0">
                  <a:solidFill>
                    <a:schemeClr val="accent1">
                      <a:lumMod val="40000"/>
                      <a:lumOff val="60000"/>
                    </a:schemeClr>
                  </a:solidFill>
                </a:rPr>
                <a:t>d</a:t>
              </a:r>
              <a:r>
                <a:rPr lang="en-US" sz="1400" noProof="0" dirty="0">
                  <a:solidFill>
                    <a:schemeClr val="bg1"/>
                  </a:solidFill>
                </a:rPr>
                <a:t> opens the backdoor-path </a:t>
              </a:r>
              <a:r>
                <a:rPr lang="en-US" sz="1400" noProof="0" dirty="0">
                  <a:solidFill>
                    <a:srgbClr val="D0180A"/>
                  </a:solidFill>
                </a:rPr>
                <a:t>a</a:t>
              </a:r>
              <a:r>
                <a:rPr lang="en-US" sz="1400" noProof="0" dirty="0"/>
                <a:t> ← c → d ← e → </a:t>
              </a:r>
              <a:r>
                <a:rPr lang="en-US" sz="1400" noProof="0" dirty="0">
                  <a:solidFill>
                    <a:srgbClr val="006D70"/>
                  </a:solidFill>
                </a:rPr>
                <a:t>b</a:t>
              </a:r>
              <a:r>
                <a:rPr lang="en-US" sz="1400" noProof="0" dirty="0">
                  <a:solidFill>
                    <a:schemeClr val="bg1"/>
                  </a:solidFill>
                </a:rPr>
                <a:t> which then has to be closed by additionally conditioning on </a:t>
              </a:r>
              <a:r>
                <a:rPr lang="en-US" sz="1400" noProof="0" dirty="0">
                  <a:solidFill>
                    <a:schemeClr val="accent1">
                      <a:lumMod val="40000"/>
                      <a:lumOff val="60000"/>
                    </a:schemeClr>
                  </a:solidFill>
                </a:rPr>
                <a:t>c</a:t>
              </a:r>
              <a:r>
                <a:rPr lang="en-US" sz="1400" noProof="0" dirty="0">
                  <a:solidFill>
                    <a:schemeClr val="bg1"/>
                  </a:solidFill>
                </a:rPr>
                <a:t>.</a:t>
              </a:r>
              <a:endParaRPr lang="en-US" sz="1400" noProof="0" dirty="0">
                <a:solidFill>
                  <a:srgbClr val="006D70"/>
                </a:solidFill>
              </a:endParaRPr>
            </a:p>
          </p:txBody>
        </p:sp>
        <p:pic>
          <p:nvPicPr>
            <p:cNvPr id="47" name="Graphic 46" descr="Open quotation mark with solid fill">
              <a:extLst>
                <a:ext uri="{FF2B5EF4-FFF2-40B4-BE49-F238E27FC236}">
                  <a16:creationId xmlns:a16="http://schemas.microsoft.com/office/drawing/2014/main" id="{CACD80F4-1C6A-15CA-AB3D-6B67409F5F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775412" y="5343665"/>
              <a:ext cx="720000" cy="720000"/>
            </a:xfrm>
            <a:prstGeom prst="rect">
              <a:avLst/>
            </a:prstGeom>
          </p:spPr>
        </p:pic>
      </p:grpSp>
      <p:sp>
        <p:nvSpPr>
          <p:cNvPr id="31" name="Oval 30">
            <a:extLst>
              <a:ext uri="{FF2B5EF4-FFF2-40B4-BE49-F238E27FC236}">
                <a16:creationId xmlns:a16="http://schemas.microsoft.com/office/drawing/2014/main" id="{C1630F94-6BD9-2D48-3A73-0270772BD318}"/>
              </a:ext>
            </a:extLst>
          </p:cNvPr>
          <p:cNvSpPr/>
          <p:nvPr/>
        </p:nvSpPr>
        <p:spPr>
          <a:xfrm>
            <a:off x="7364911" y="2894727"/>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Tree>
    <p:extLst>
      <p:ext uri="{BB962C8B-B14F-4D97-AF65-F5344CB8AC3E}">
        <p14:creationId xmlns:p14="http://schemas.microsoft.com/office/powerpoint/2010/main" val="326785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3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93D0-3DEB-8D66-EF39-33BA9D502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3A7A4-2E1B-6BA2-5198-0250B2983139}"/>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7DC8B2A9-2867-C965-D32D-604D008B58F0}"/>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2A7423C3-AD85-77A9-8F34-2B9B687CA814}"/>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E3CFB47-BB8D-9115-3FDD-837F4E41A662}"/>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94C03ED5-D29A-D2A2-94A6-4BC427146E3D}"/>
              </a:ext>
            </a:extLst>
          </p:cNvPr>
          <p:cNvSpPr>
            <a:spLocks noGrp="1"/>
          </p:cNvSpPr>
          <p:nvPr>
            <p:ph type="sldNum" sz="quarter" idx="12"/>
          </p:nvPr>
        </p:nvSpPr>
        <p:spPr/>
        <p:txBody>
          <a:bodyPr/>
          <a:lstStyle/>
          <a:p>
            <a:fld id="{0FA2D919-C0DE-4971-A2E9-D4AC0031921B}" type="slidenum">
              <a:rPr lang="en-US" noProof="0" smtClean="0"/>
              <a:t>66</a:t>
            </a:fld>
            <a:endParaRPr lang="en-US" noProof="0" dirty="0"/>
          </a:p>
        </p:txBody>
      </p:sp>
      <p:cxnSp>
        <p:nvCxnSpPr>
          <p:cNvPr id="9" name="Straight Arrow Connector 8">
            <a:extLst>
              <a:ext uri="{FF2B5EF4-FFF2-40B4-BE49-F238E27FC236}">
                <a16:creationId xmlns:a16="http://schemas.microsoft.com/office/drawing/2014/main" id="{87C1995E-5727-995D-E2F5-3ACE47DE1B4D}"/>
              </a:ext>
            </a:extLst>
          </p:cNvPr>
          <p:cNvCxnSpPr>
            <a:stCxn id="7" idx="6"/>
            <a:endCxn id="8"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6EFE541A-1232-0C26-DF44-FDCD6E11F0B8}"/>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8" name="Oval 7">
            <a:extLst>
              <a:ext uri="{FF2B5EF4-FFF2-40B4-BE49-F238E27FC236}">
                <a16:creationId xmlns:a16="http://schemas.microsoft.com/office/drawing/2014/main" id="{2FFCB15B-423A-2709-DEED-B94BBF8A6237}"/>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A759F4D2-C7A2-F70C-420C-D9759876F755}"/>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A98C5993-7687-EBD0-AB27-81EAC9B605D1}"/>
              </a:ext>
            </a:extLst>
          </p:cNvPr>
          <p:cNvSpPr/>
          <p:nvPr/>
        </p:nvSpPr>
        <p:spPr>
          <a:xfrm>
            <a:off x="5826000" y="3630312"/>
            <a:ext cx="540000" cy="540000"/>
          </a:xfrm>
          <a:prstGeom prst="ellipse">
            <a:avLst/>
          </a:prstGeom>
          <a:solidFill>
            <a:schemeClr val="bg1">
              <a:lumMod val="65000"/>
            </a:schemeClr>
          </a:solidFill>
          <a:ln>
            <a:solidFill>
              <a:schemeClr val="tx1">
                <a:lumMod val="85000"/>
                <a:lumOff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3" name="Straight Arrow Connector 12">
            <a:extLst>
              <a:ext uri="{FF2B5EF4-FFF2-40B4-BE49-F238E27FC236}">
                <a16:creationId xmlns:a16="http://schemas.microsoft.com/office/drawing/2014/main" id="{28AD559F-79FF-1609-551B-22DB87E29987}"/>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15205C4A-4398-781F-2D1B-5959D55525E8}"/>
              </a:ext>
            </a:extLst>
          </p:cNvPr>
          <p:cNvCxnSpPr>
            <a:cxnSpLocks/>
            <a:stCxn id="10" idx="4"/>
            <a:endCxn id="7"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63E611F9-D4D3-6B64-5E56-ED4DEE952FE7}"/>
              </a:ext>
            </a:extLst>
          </p:cNvPr>
          <p:cNvSpPr/>
          <p:nvPr/>
        </p:nvSpPr>
        <p:spPr>
          <a:xfrm>
            <a:off x="7071690"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21" name="Straight Arrow Connector 20">
            <a:extLst>
              <a:ext uri="{FF2B5EF4-FFF2-40B4-BE49-F238E27FC236}">
                <a16:creationId xmlns:a16="http://schemas.microsoft.com/office/drawing/2014/main" id="{CA79F451-538D-A2B2-947B-FC04314CCA0C}"/>
              </a:ext>
            </a:extLst>
          </p:cNvPr>
          <p:cNvCxnSpPr>
            <a:cxnSpLocks/>
            <a:stCxn id="18"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6B676DC8-3493-DDEB-BC14-C1CB56B1EF0D}"/>
              </a:ext>
            </a:extLst>
          </p:cNvPr>
          <p:cNvCxnSpPr>
            <a:cxnSpLocks/>
            <a:stCxn id="18" idx="4"/>
            <a:endCxn id="8"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9FE11636-2FA9-E62F-053E-2E241C7DFF3B}"/>
              </a:ext>
            </a:extLst>
          </p:cNvPr>
          <p:cNvCxnSpPr>
            <a:cxnSpLocks/>
            <a:stCxn id="11" idx="3"/>
            <a:endCxn id="7"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739CFA24-C021-723E-1A46-6CCA4DBC4D31}"/>
              </a:ext>
            </a:extLst>
          </p:cNvPr>
          <p:cNvSpPr txBox="1"/>
          <p:nvPr/>
        </p:nvSpPr>
        <p:spPr>
          <a:xfrm rot="367986">
            <a:off x="7611690" y="2707920"/>
            <a:ext cx="2170985" cy="646331"/>
          </a:xfrm>
          <a:prstGeom prst="rect">
            <a:avLst/>
          </a:prstGeom>
          <a:noFill/>
        </p:spPr>
        <p:txBody>
          <a:bodyPr wrap="square" rtlCol="0">
            <a:spAutoFit/>
          </a:bodyPr>
          <a:lstStyle/>
          <a:p>
            <a:r>
              <a:rPr lang="en-US" noProof="0" dirty="0">
                <a:solidFill>
                  <a:schemeClr val="tx2">
                    <a:lumMod val="75000"/>
                    <a:lumOff val="25000"/>
                  </a:schemeClr>
                </a:solidFill>
              </a:rPr>
              <a:t>unobservable variable</a:t>
            </a:r>
          </a:p>
        </p:txBody>
      </p:sp>
      <p:cxnSp>
        <p:nvCxnSpPr>
          <p:cNvPr id="17" name="Connector: Curved 16">
            <a:extLst>
              <a:ext uri="{FF2B5EF4-FFF2-40B4-BE49-F238E27FC236}">
                <a16:creationId xmlns:a16="http://schemas.microsoft.com/office/drawing/2014/main" id="{A7B43C43-4FE2-A121-A94D-D852C4413529}"/>
              </a:ext>
            </a:extLst>
          </p:cNvPr>
          <p:cNvCxnSpPr>
            <a:cxnSpLocks/>
            <a:stCxn id="16" idx="1"/>
            <a:endCxn id="11" idx="0"/>
          </p:cNvCxnSpPr>
          <p:nvPr/>
        </p:nvCxnSpPr>
        <p:spPr>
          <a:xfrm rot="10800000" flipV="1">
            <a:off x="6096001" y="2915114"/>
            <a:ext cx="1521903" cy="71519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24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FC9F-31F2-9A09-3181-D4693A6BC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34722-FF76-4BA2-6DD4-082EE2797DE0}"/>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A2F0110C-154E-8BE7-5244-0C0FC24576FF}"/>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5A362326-EE1A-DDCF-C6FA-266D38716C0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0B9C4E8-F0C9-14D6-9935-E3DC3B4136AD}"/>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20C1028-F5D5-419F-259D-F26481BEADAA}"/>
              </a:ext>
            </a:extLst>
          </p:cNvPr>
          <p:cNvSpPr>
            <a:spLocks noGrp="1"/>
          </p:cNvSpPr>
          <p:nvPr>
            <p:ph type="sldNum" sz="quarter" idx="12"/>
          </p:nvPr>
        </p:nvSpPr>
        <p:spPr/>
        <p:txBody>
          <a:bodyPr/>
          <a:lstStyle/>
          <a:p>
            <a:fld id="{0FA2D919-C0DE-4971-A2E9-D4AC0031921B}" type="slidenum">
              <a:rPr lang="en-US" noProof="0" smtClean="0"/>
              <a:t>67</a:t>
            </a:fld>
            <a:endParaRPr lang="en-US" noProof="0" dirty="0"/>
          </a:p>
        </p:txBody>
      </p:sp>
      <p:sp>
        <p:nvSpPr>
          <p:cNvPr id="43" name="TextBox 42">
            <a:extLst>
              <a:ext uri="{FF2B5EF4-FFF2-40B4-BE49-F238E27FC236}">
                <a16:creationId xmlns:a16="http://schemas.microsoft.com/office/drawing/2014/main" id="{437E2232-154A-1ADC-E1AE-99309EEDD494}"/>
              </a:ext>
            </a:extLst>
          </p:cNvPr>
          <p:cNvSpPr txBox="1"/>
          <p:nvPr/>
        </p:nvSpPr>
        <p:spPr>
          <a:xfrm>
            <a:off x="838200" y="4935480"/>
            <a:ext cx="3273140" cy="523220"/>
          </a:xfrm>
          <a:prstGeom prst="rect">
            <a:avLst/>
          </a:prstGeom>
          <a:noFill/>
        </p:spPr>
        <p:txBody>
          <a:bodyPr wrap="none" rtlCol="0">
            <a:spAutoFit/>
          </a:bodyPr>
          <a:lstStyle/>
          <a:p>
            <a:r>
              <a:rPr lang="en-US" sz="2800" noProof="0" dirty="0"/>
              <a:t>Adjustment set = {e}</a:t>
            </a:r>
          </a:p>
        </p:txBody>
      </p:sp>
      <p:cxnSp>
        <p:nvCxnSpPr>
          <p:cNvPr id="32" name="Straight Arrow Connector 31">
            <a:extLst>
              <a:ext uri="{FF2B5EF4-FFF2-40B4-BE49-F238E27FC236}">
                <a16:creationId xmlns:a16="http://schemas.microsoft.com/office/drawing/2014/main" id="{61A7213E-DDCD-5E11-E76E-8C525DDD1596}"/>
              </a:ext>
            </a:extLst>
          </p:cNvPr>
          <p:cNvCxnSpPr>
            <a:stCxn id="33" idx="6"/>
            <a:endCxn id="34"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Oval 32">
            <a:extLst>
              <a:ext uri="{FF2B5EF4-FFF2-40B4-BE49-F238E27FC236}">
                <a16:creationId xmlns:a16="http://schemas.microsoft.com/office/drawing/2014/main" id="{9FB15397-C630-AC5D-4089-85E631A4B189}"/>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34" name="Oval 33">
            <a:extLst>
              <a:ext uri="{FF2B5EF4-FFF2-40B4-BE49-F238E27FC236}">
                <a16:creationId xmlns:a16="http://schemas.microsoft.com/office/drawing/2014/main" id="{4CF67CE9-C3AB-2F0D-552E-DEBF6EBFA220}"/>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35" name="Oval 34">
            <a:extLst>
              <a:ext uri="{FF2B5EF4-FFF2-40B4-BE49-F238E27FC236}">
                <a16:creationId xmlns:a16="http://schemas.microsoft.com/office/drawing/2014/main" id="{9A6B98CA-C5D3-EC3B-652F-BD2554428790}"/>
              </a:ext>
            </a:extLst>
          </p:cNvPr>
          <p:cNvSpPr/>
          <p:nvPr/>
        </p:nvSpPr>
        <p:spPr>
          <a:xfrm>
            <a:off x="4581604" y="3213520"/>
            <a:ext cx="540000" cy="54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36" name="Oval 35">
            <a:extLst>
              <a:ext uri="{FF2B5EF4-FFF2-40B4-BE49-F238E27FC236}">
                <a16:creationId xmlns:a16="http://schemas.microsoft.com/office/drawing/2014/main" id="{0CC8E379-5615-DDF6-2F76-BB56C946CC08}"/>
              </a:ext>
            </a:extLst>
          </p:cNvPr>
          <p:cNvSpPr/>
          <p:nvPr/>
        </p:nvSpPr>
        <p:spPr>
          <a:xfrm>
            <a:off x="5826000" y="3630312"/>
            <a:ext cx="540000" cy="540000"/>
          </a:xfrm>
          <a:prstGeom prst="ellipse">
            <a:avLst/>
          </a:prstGeom>
          <a:solidFill>
            <a:schemeClr val="bg1">
              <a:lumMod val="65000"/>
            </a:schemeClr>
          </a:solidFill>
          <a:ln>
            <a:solidFill>
              <a:schemeClr val="tx1">
                <a:lumMod val="85000"/>
                <a:lumOff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37" name="Straight Arrow Connector 36">
            <a:extLst>
              <a:ext uri="{FF2B5EF4-FFF2-40B4-BE49-F238E27FC236}">
                <a16:creationId xmlns:a16="http://schemas.microsoft.com/office/drawing/2014/main" id="{8A9AF39D-3E5F-46DF-4006-5B051EA402E8}"/>
              </a:ext>
            </a:extLst>
          </p:cNvPr>
          <p:cNvCxnSpPr>
            <a:cxnSpLocks/>
            <a:stCxn id="35" idx="6"/>
            <a:endCxn id="36"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266B53D7-0B07-8D2C-7192-70B9C41A7643}"/>
              </a:ext>
            </a:extLst>
          </p:cNvPr>
          <p:cNvCxnSpPr>
            <a:cxnSpLocks/>
            <a:stCxn id="35" idx="4"/>
            <a:endCxn id="33"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39" name="Oval 38">
            <a:extLst>
              <a:ext uri="{FF2B5EF4-FFF2-40B4-BE49-F238E27FC236}">
                <a16:creationId xmlns:a16="http://schemas.microsoft.com/office/drawing/2014/main" id="{641D88E2-E6A7-4B40-5FF7-682C65C175CB}"/>
              </a:ext>
            </a:extLst>
          </p:cNvPr>
          <p:cNvSpPr/>
          <p:nvPr/>
        </p:nvSpPr>
        <p:spPr>
          <a:xfrm>
            <a:off x="7071690" y="3213520"/>
            <a:ext cx="540000" cy="540000"/>
          </a:xfrm>
          <a:prstGeom prst="ellipse">
            <a:avLst/>
          </a:prstGeom>
          <a:solidFill>
            <a:schemeClr val="accent1">
              <a:lumMod val="60000"/>
              <a:lumOff val="4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40" name="Straight Arrow Connector 39">
            <a:extLst>
              <a:ext uri="{FF2B5EF4-FFF2-40B4-BE49-F238E27FC236}">
                <a16:creationId xmlns:a16="http://schemas.microsoft.com/office/drawing/2014/main" id="{1C85B7DB-F4B9-4EFF-7B3A-AE73CC9E05A1}"/>
              </a:ext>
            </a:extLst>
          </p:cNvPr>
          <p:cNvCxnSpPr>
            <a:cxnSpLocks/>
            <a:stCxn id="39" idx="2"/>
            <a:endCxn id="36"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D8E81561-67B4-8FF2-2265-C467E47FA3E9}"/>
              </a:ext>
            </a:extLst>
          </p:cNvPr>
          <p:cNvCxnSpPr>
            <a:cxnSpLocks/>
            <a:stCxn id="39" idx="4"/>
            <a:endCxn id="34"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28CA2ACF-A651-B7B9-D54B-9B9507EFA3CA}"/>
              </a:ext>
            </a:extLst>
          </p:cNvPr>
          <p:cNvCxnSpPr>
            <a:cxnSpLocks/>
            <a:stCxn id="36" idx="3"/>
            <a:endCxn id="33"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350751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CF34-4589-03E6-5023-0E380149B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CBD58-475A-2AD0-ACA2-85D56126FC17}"/>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ED961BC6-1ACE-0198-22FB-011140FD2BD1}"/>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A852B7D4-0C39-4D49-3DC6-0A2CD3BC07F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6F38D140-F525-C1D9-5032-CC53FC299BE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10F2E49-4898-F107-DC3E-FB2025B538F6}"/>
              </a:ext>
            </a:extLst>
          </p:cNvPr>
          <p:cNvSpPr>
            <a:spLocks noGrp="1"/>
          </p:cNvSpPr>
          <p:nvPr>
            <p:ph type="sldNum" sz="quarter" idx="12"/>
          </p:nvPr>
        </p:nvSpPr>
        <p:spPr/>
        <p:txBody>
          <a:bodyPr/>
          <a:lstStyle/>
          <a:p>
            <a:fld id="{0FA2D919-C0DE-4971-A2E9-D4AC0031921B}" type="slidenum">
              <a:rPr lang="en-US" noProof="0" smtClean="0"/>
              <a:t>68</a:t>
            </a:fld>
            <a:endParaRPr lang="en-US" noProof="0" dirty="0"/>
          </a:p>
        </p:txBody>
      </p:sp>
      <p:cxnSp>
        <p:nvCxnSpPr>
          <p:cNvPr id="44" name="Straight Arrow Connector 43">
            <a:extLst>
              <a:ext uri="{FF2B5EF4-FFF2-40B4-BE49-F238E27FC236}">
                <a16:creationId xmlns:a16="http://schemas.microsoft.com/office/drawing/2014/main" id="{6E749E40-8CA3-6BDE-8CAF-E3B718AAABB9}"/>
              </a:ext>
            </a:extLst>
          </p:cNvPr>
          <p:cNvCxnSpPr>
            <a:stCxn id="45" idx="6"/>
            <a:endCxn id="46"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 name="Oval 44">
            <a:extLst>
              <a:ext uri="{FF2B5EF4-FFF2-40B4-BE49-F238E27FC236}">
                <a16:creationId xmlns:a16="http://schemas.microsoft.com/office/drawing/2014/main" id="{6E1F1A3C-9C1F-7EA5-F0A3-E34B245A48EB}"/>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46" name="Oval 45">
            <a:extLst>
              <a:ext uri="{FF2B5EF4-FFF2-40B4-BE49-F238E27FC236}">
                <a16:creationId xmlns:a16="http://schemas.microsoft.com/office/drawing/2014/main" id="{7E8C63B7-B4BB-178B-FB54-C20574540CC7}"/>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47" name="Oval 46">
            <a:extLst>
              <a:ext uri="{FF2B5EF4-FFF2-40B4-BE49-F238E27FC236}">
                <a16:creationId xmlns:a16="http://schemas.microsoft.com/office/drawing/2014/main" id="{D66C3459-FCAB-6AA8-F599-C50877E36E13}"/>
              </a:ext>
            </a:extLst>
          </p:cNvPr>
          <p:cNvSpPr/>
          <p:nvPr/>
        </p:nvSpPr>
        <p:spPr>
          <a:xfrm>
            <a:off x="4581604"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48" name="Oval 47">
            <a:extLst>
              <a:ext uri="{FF2B5EF4-FFF2-40B4-BE49-F238E27FC236}">
                <a16:creationId xmlns:a16="http://schemas.microsoft.com/office/drawing/2014/main" id="{F584DD6B-BC75-7D72-D561-C84C90864DAC}"/>
              </a:ext>
            </a:extLst>
          </p:cNvPr>
          <p:cNvSpPr/>
          <p:nvPr/>
        </p:nvSpPr>
        <p:spPr>
          <a:xfrm>
            <a:off x="5826000" y="3630312"/>
            <a:ext cx="540000" cy="540000"/>
          </a:xfrm>
          <a:prstGeom prst="ellipse">
            <a:avLst/>
          </a:prstGeom>
          <a:solidFill>
            <a:schemeClr val="bg1">
              <a:lumMod val="8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49" name="Straight Arrow Connector 48">
            <a:extLst>
              <a:ext uri="{FF2B5EF4-FFF2-40B4-BE49-F238E27FC236}">
                <a16:creationId xmlns:a16="http://schemas.microsoft.com/office/drawing/2014/main" id="{A96D7D9A-7CB9-4786-727A-20B7637985BC}"/>
              </a:ext>
            </a:extLst>
          </p:cNvPr>
          <p:cNvCxnSpPr>
            <a:cxnSpLocks/>
            <a:stCxn id="47" idx="6"/>
            <a:endCxn id="48"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3D203DC9-FFC1-BA4B-07EC-69B860FEA851}"/>
              </a:ext>
            </a:extLst>
          </p:cNvPr>
          <p:cNvCxnSpPr>
            <a:cxnSpLocks/>
            <a:stCxn id="47" idx="4"/>
            <a:endCxn id="45"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51" name="Oval 50">
            <a:extLst>
              <a:ext uri="{FF2B5EF4-FFF2-40B4-BE49-F238E27FC236}">
                <a16:creationId xmlns:a16="http://schemas.microsoft.com/office/drawing/2014/main" id="{F757A87F-FA61-A107-FCA7-1557BE854ACB}"/>
              </a:ext>
            </a:extLst>
          </p:cNvPr>
          <p:cNvSpPr/>
          <p:nvPr/>
        </p:nvSpPr>
        <p:spPr>
          <a:xfrm>
            <a:off x="7071690"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52" name="Straight Arrow Connector 51">
            <a:extLst>
              <a:ext uri="{FF2B5EF4-FFF2-40B4-BE49-F238E27FC236}">
                <a16:creationId xmlns:a16="http://schemas.microsoft.com/office/drawing/2014/main" id="{673D70CD-DB0D-9B1D-05D7-3AB2ABC5A112}"/>
              </a:ext>
            </a:extLst>
          </p:cNvPr>
          <p:cNvCxnSpPr>
            <a:cxnSpLocks/>
            <a:stCxn id="51" idx="2"/>
            <a:endCxn id="48"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7C53BE1B-C1CC-5AC1-A820-2D6B03D00D8A}"/>
              </a:ext>
            </a:extLst>
          </p:cNvPr>
          <p:cNvCxnSpPr>
            <a:cxnSpLocks/>
            <a:stCxn id="51" idx="4"/>
            <a:endCxn id="46"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EBA88B61-CD57-C237-AD38-370118D38056}"/>
              </a:ext>
            </a:extLst>
          </p:cNvPr>
          <p:cNvCxnSpPr>
            <a:cxnSpLocks/>
            <a:stCxn id="48" idx="3"/>
            <a:endCxn id="45"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708075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7A26C-21DC-C2C4-E16A-E5D8FD132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9DE1E-249E-1022-7D5A-F5EA8AEE0074}"/>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D5CDBA9C-718B-BDF5-D5CF-CF999AD69197}"/>
              </a:ext>
            </a:extLst>
          </p:cNvPr>
          <p:cNvSpPr>
            <a:spLocks noGrp="1"/>
          </p:cNvSpPr>
          <p:nvPr>
            <p:ph idx="1"/>
          </p:nvPr>
        </p:nvSpPr>
        <p:spPr>
          <a:xfrm>
            <a:off x="838200" y="1825625"/>
            <a:ext cx="10515600" cy="1132064"/>
          </a:xfrm>
        </p:spPr>
        <p:txBody>
          <a:bodyPr/>
          <a:lstStyle/>
          <a:p>
            <a:pPr marL="0" indent="0">
              <a:buNone/>
            </a:pPr>
            <a:r>
              <a:rPr lang="en-US" noProof="0" dirty="0"/>
              <a:t>Determine the </a:t>
            </a:r>
            <a:r>
              <a:rPr lang="en-US" b="1" noProof="0" dirty="0"/>
              <a:t>adjustment set</a:t>
            </a:r>
            <a:r>
              <a:rPr lang="en-US" noProof="0" dirty="0"/>
              <a:t> of variables to de-confound the estimation of the effect of the phenomenon </a:t>
            </a:r>
            <a:r>
              <a:rPr lang="en-US" noProof="0" dirty="0">
                <a:solidFill>
                  <a:srgbClr val="C00000"/>
                </a:solidFill>
              </a:rPr>
              <a:t>a </a:t>
            </a:r>
            <a:r>
              <a:rPr lang="en-US" noProof="0" dirty="0"/>
              <a:t>→ </a:t>
            </a:r>
            <a:r>
              <a:rPr lang="en-US" noProof="0" dirty="0">
                <a:solidFill>
                  <a:srgbClr val="006D70"/>
                </a:solidFill>
              </a:rPr>
              <a:t>b</a:t>
            </a:r>
            <a:r>
              <a:rPr lang="en-US" noProof="0" dirty="0"/>
              <a:t> via d-separation.</a:t>
            </a:r>
          </a:p>
        </p:txBody>
      </p:sp>
      <p:sp>
        <p:nvSpPr>
          <p:cNvPr id="4" name="Date Placeholder 3">
            <a:extLst>
              <a:ext uri="{FF2B5EF4-FFF2-40B4-BE49-F238E27FC236}">
                <a16:creationId xmlns:a16="http://schemas.microsoft.com/office/drawing/2014/main" id="{D9F274E1-20B4-D162-644D-54AF2B39DFE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A71DC1F9-8535-7221-7AEC-64C80C39C55B}"/>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41F77A66-6C84-64E5-0D1F-86361F5DB96B}"/>
              </a:ext>
            </a:extLst>
          </p:cNvPr>
          <p:cNvSpPr>
            <a:spLocks noGrp="1"/>
          </p:cNvSpPr>
          <p:nvPr>
            <p:ph type="sldNum" sz="quarter" idx="12"/>
          </p:nvPr>
        </p:nvSpPr>
        <p:spPr/>
        <p:txBody>
          <a:bodyPr/>
          <a:lstStyle/>
          <a:p>
            <a:fld id="{0FA2D919-C0DE-4971-A2E9-D4AC0031921B}" type="slidenum">
              <a:rPr lang="en-US" noProof="0" smtClean="0"/>
              <a:t>69</a:t>
            </a:fld>
            <a:endParaRPr lang="en-US" noProof="0" dirty="0"/>
          </a:p>
        </p:txBody>
      </p:sp>
      <p:grpSp>
        <p:nvGrpSpPr>
          <p:cNvPr id="29" name="Group 28">
            <a:extLst>
              <a:ext uri="{FF2B5EF4-FFF2-40B4-BE49-F238E27FC236}">
                <a16:creationId xmlns:a16="http://schemas.microsoft.com/office/drawing/2014/main" id="{E7F28A5B-77B3-213C-6475-ECBB147AAB4A}"/>
              </a:ext>
            </a:extLst>
          </p:cNvPr>
          <p:cNvGrpSpPr/>
          <p:nvPr/>
        </p:nvGrpSpPr>
        <p:grpSpPr>
          <a:xfrm>
            <a:off x="5594155" y="5241289"/>
            <a:ext cx="6154149" cy="946595"/>
            <a:chOff x="775412" y="5230368"/>
            <a:chExt cx="6154149" cy="946595"/>
          </a:xfrm>
        </p:grpSpPr>
        <p:sp>
          <p:nvSpPr>
            <p:cNvPr id="30" name="Rectangle: Rounded Corners 29">
              <a:extLst>
                <a:ext uri="{FF2B5EF4-FFF2-40B4-BE49-F238E27FC236}">
                  <a16:creationId xmlns:a16="http://schemas.microsoft.com/office/drawing/2014/main" id="{C36E4619-CB58-83B2-947C-26715AFAE881}"/>
                </a:ext>
              </a:extLst>
            </p:cNvPr>
            <p:cNvSpPr/>
            <p:nvPr/>
          </p:nvSpPr>
          <p:spPr>
            <a:xfrm>
              <a:off x="775412" y="5230368"/>
              <a:ext cx="615414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solidFill>
                    <a:schemeClr val="bg1"/>
                  </a:solidFill>
                </a:rPr>
                <a:t>For some DAGs, it is impossible to find an adjustment set that </a:t>
              </a:r>
              <a:r>
                <a:rPr lang="en-US" noProof="0" dirty="0" err="1">
                  <a:solidFill>
                    <a:schemeClr val="bg1"/>
                  </a:solidFill>
                </a:rPr>
                <a:t>deconfounds</a:t>
              </a:r>
              <a:r>
                <a:rPr lang="en-US" noProof="0" dirty="0">
                  <a:solidFill>
                    <a:schemeClr val="bg1"/>
                  </a:solidFill>
                </a:rPr>
                <a:t> the effect of interest.</a:t>
              </a:r>
              <a:endParaRPr lang="en-US" noProof="0" dirty="0">
                <a:solidFill>
                  <a:srgbClr val="006D70"/>
                </a:solidFill>
              </a:endParaRPr>
            </a:p>
          </p:txBody>
        </p:sp>
        <p:pic>
          <p:nvPicPr>
            <p:cNvPr id="31" name="Graphic 30" descr="Open quotation mark with solid fill">
              <a:extLst>
                <a:ext uri="{FF2B5EF4-FFF2-40B4-BE49-F238E27FC236}">
                  <a16:creationId xmlns:a16="http://schemas.microsoft.com/office/drawing/2014/main" id="{81390112-F08C-DFCD-87C2-A2FD629DAB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775412" y="5343665"/>
              <a:ext cx="720000" cy="720000"/>
            </a:xfrm>
            <a:prstGeom prst="rect">
              <a:avLst/>
            </a:prstGeom>
          </p:spPr>
        </p:pic>
      </p:grpSp>
      <p:cxnSp>
        <p:nvCxnSpPr>
          <p:cNvPr id="7" name="Straight Arrow Connector 6">
            <a:extLst>
              <a:ext uri="{FF2B5EF4-FFF2-40B4-BE49-F238E27FC236}">
                <a16:creationId xmlns:a16="http://schemas.microsoft.com/office/drawing/2014/main" id="{36D55121-5959-2BFF-35C5-93528002A086}"/>
              </a:ext>
            </a:extLst>
          </p:cNvPr>
          <p:cNvCxnSpPr>
            <a:stCxn id="8" idx="6"/>
            <a:endCxn id="9" idx="2"/>
          </p:cNvCxnSpPr>
          <p:nvPr/>
        </p:nvCxnSpPr>
        <p:spPr>
          <a:xfrm>
            <a:off x="5120310" y="4780370"/>
            <a:ext cx="195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Oval 7">
            <a:extLst>
              <a:ext uri="{FF2B5EF4-FFF2-40B4-BE49-F238E27FC236}">
                <a16:creationId xmlns:a16="http://schemas.microsoft.com/office/drawing/2014/main" id="{7A6EA974-708D-9B0F-4E33-D688B29430FA}"/>
              </a:ext>
            </a:extLst>
          </p:cNvPr>
          <p:cNvSpPr/>
          <p:nvPr/>
        </p:nvSpPr>
        <p:spPr>
          <a:xfrm>
            <a:off x="4580310" y="4510370"/>
            <a:ext cx="540000" cy="54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a</a:t>
            </a:r>
          </a:p>
        </p:txBody>
      </p:sp>
      <p:sp>
        <p:nvSpPr>
          <p:cNvPr id="9" name="Oval 8">
            <a:extLst>
              <a:ext uri="{FF2B5EF4-FFF2-40B4-BE49-F238E27FC236}">
                <a16:creationId xmlns:a16="http://schemas.microsoft.com/office/drawing/2014/main" id="{993FF2C0-050A-C2A8-A38A-92513E756A9B}"/>
              </a:ext>
            </a:extLst>
          </p:cNvPr>
          <p:cNvSpPr/>
          <p:nvPr/>
        </p:nvSpPr>
        <p:spPr>
          <a:xfrm>
            <a:off x="7071690" y="4510370"/>
            <a:ext cx="540000" cy="54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b</a:t>
            </a:r>
          </a:p>
        </p:txBody>
      </p:sp>
      <p:sp>
        <p:nvSpPr>
          <p:cNvPr id="10" name="Oval 9">
            <a:extLst>
              <a:ext uri="{FF2B5EF4-FFF2-40B4-BE49-F238E27FC236}">
                <a16:creationId xmlns:a16="http://schemas.microsoft.com/office/drawing/2014/main" id="{FA848C4A-402E-4AE7-56A9-E5C2D304D179}"/>
              </a:ext>
            </a:extLst>
          </p:cNvPr>
          <p:cNvSpPr/>
          <p:nvPr/>
        </p:nvSpPr>
        <p:spPr>
          <a:xfrm>
            <a:off x="4581604"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c</a:t>
            </a:r>
          </a:p>
        </p:txBody>
      </p:sp>
      <p:sp>
        <p:nvSpPr>
          <p:cNvPr id="11" name="Oval 10">
            <a:extLst>
              <a:ext uri="{FF2B5EF4-FFF2-40B4-BE49-F238E27FC236}">
                <a16:creationId xmlns:a16="http://schemas.microsoft.com/office/drawing/2014/main" id="{62B277E9-0C49-72F3-3F6F-65ECAB6AFC08}"/>
              </a:ext>
            </a:extLst>
          </p:cNvPr>
          <p:cNvSpPr/>
          <p:nvPr/>
        </p:nvSpPr>
        <p:spPr>
          <a:xfrm>
            <a:off x="5826000" y="3630312"/>
            <a:ext cx="540000" cy="540000"/>
          </a:xfrm>
          <a:prstGeom prst="ellipse">
            <a:avLst/>
          </a:prstGeom>
          <a:solidFill>
            <a:schemeClr val="bg1">
              <a:lumMod val="8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d</a:t>
            </a:r>
          </a:p>
        </p:txBody>
      </p:sp>
      <p:cxnSp>
        <p:nvCxnSpPr>
          <p:cNvPr id="12" name="Straight Arrow Connector 11">
            <a:extLst>
              <a:ext uri="{FF2B5EF4-FFF2-40B4-BE49-F238E27FC236}">
                <a16:creationId xmlns:a16="http://schemas.microsoft.com/office/drawing/2014/main" id="{19545329-5902-5061-AD0C-36876F07C449}"/>
              </a:ext>
            </a:extLst>
          </p:cNvPr>
          <p:cNvCxnSpPr>
            <a:cxnSpLocks/>
            <a:stCxn id="10" idx="6"/>
            <a:endCxn id="11" idx="2"/>
          </p:cNvCxnSpPr>
          <p:nvPr/>
        </p:nvCxnSpPr>
        <p:spPr>
          <a:xfrm>
            <a:off x="5121604" y="3483520"/>
            <a:ext cx="704396"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18AA39AC-2F58-7E97-6E61-9918ACB936B3}"/>
              </a:ext>
            </a:extLst>
          </p:cNvPr>
          <p:cNvCxnSpPr>
            <a:cxnSpLocks/>
            <a:stCxn id="10" idx="4"/>
            <a:endCxn id="8" idx="0"/>
          </p:cNvCxnSpPr>
          <p:nvPr/>
        </p:nvCxnSpPr>
        <p:spPr>
          <a:xfrm flipH="1">
            <a:off x="4850310" y="3753520"/>
            <a:ext cx="1294"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14" name="Oval 13">
            <a:extLst>
              <a:ext uri="{FF2B5EF4-FFF2-40B4-BE49-F238E27FC236}">
                <a16:creationId xmlns:a16="http://schemas.microsoft.com/office/drawing/2014/main" id="{F7C23D02-6E20-B1CB-1D48-6A5AF812A25D}"/>
              </a:ext>
            </a:extLst>
          </p:cNvPr>
          <p:cNvSpPr/>
          <p:nvPr/>
        </p:nvSpPr>
        <p:spPr>
          <a:xfrm>
            <a:off x="7071690" y="3213520"/>
            <a:ext cx="540000" cy="540000"/>
          </a:xfrm>
          <a:prstGeom prst="ellipse">
            <a:avLst/>
          </a:prstGeom>
          <a:solidFill>
            <a:schemeClr val="bg1">
              <a:lumMod val="65000"/>
            </a:schemeClr>
          </a:solidFill>
          <a:ln>
            <a:solidFill>
              <a:schemeClr val="tx1">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dirty="0">
                <a:solidFill>
                  <a:schemeClr val="tx1"/>
                </a:solidFill>
              </a:rPr>
              <a:t>e</a:t>
            </a:r>
          </a:p>
        </p:txBody>
      </p:sp>
      <p:cxnSp>
        <p:nvCxnSpPr>
          <p:cNvPr id="15" name="Straight Arrow Connector 14">
            <a:extLst>
              <a:ext uri="{FF2B5EF4-FFF2-40B4-BE49-F238E27FC236}">
                <a16:creationId xmlns:a16="http://schemas.microsoft.com/office/drawing/2014/main" id="{E8B3DD38-7B5A-1F87-C41A-BAE0B6F6CF02}"/>
              </a:ext>
            </a:extLst>
          </p:cNvPr>
          <p:cNvCxnSpPr>
            <a:cxnSpLocks/>
            <a:stCxn id="14" idx="2"/>
            <a:endCxn id="11" idx="6"/>
          </p:cNvCxnSpPr>
          <p:nvPr/>
        </p:nvCxnSpPr>
        <p:spPr>
          <a:xfrm flipH="1">
            <a:off x="6366000" y="3483520"/>
            <a:ext cx="705690" cy="416792"/>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382C2505-7261-A5D3-3617-DB4518BC51F1}"/>
              </a:ext>
            </a:extLst>
          </p:cNvPr>
          <p:cNvCxnSpPr>
            <a:cxnSpLocks/>
            <a:stCxn id="14" idx="4"/>
            <a:endCxn id="9" idx="0"/>
          </p:cNvCxnSpPr>
          <p:nvPr/>
        </p:nvCxnSpPr>
        <p:spPr>
          <a:xfrm>
            <a:off x="7341690" y="3753520"/>
            <a:ext cx="0" cy="75685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5E9EB85-9798-A5C7-A564-590F3C71AF01}"/>
              </a:ext>
            </a:extLst>
          </p:cNvPr>
          <p:cNvCxnSpPr>
            <a:cxnSpLocks/>
            <a:stCxn id="11" idx="3"/>
            <a:endCxn id="8" idx="7"/>
          </p:cNvCxnSpPr>
          <p:nvPr/>
        </p:nvCxnSpPr>
        <p:spPr>
          <a:xfrm flipH="1">
            <a:off x="5041229" y="4091231"/>
            <a:ext cx="863852" cy="49822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27885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61425-41D5-A26D-781A-36BE6E7DA85F}"/>
              </a:ext>
            </a:extLst>
          </p:cNvPr>
          <p:cNvSpPr>
            <a:spLocks noGrp="1"/>
          </p:cNvSpPr>
          <p:nvPr>
            <p:ph type="title"/>
          </p:nvPr>
        </p:nvSpPr>
        <p:spPr/>
        <p:txBody>
          <a:bodyPr/>
          <a:lstStyle/>
          <a:p>
            <a:r>
              <a:rPr lang="en-SE" noProof="0" dirty="0"/>
              <a:t>Causal Workflow</a:t>
            </a:r>
            <a:endParaRPr lang="en-US" noProof="0" dirty="0"/>
          </a:p>
        </p:txBody>
      </p:sp>
      <p:sp>
        <p:nvSpPr>
          <p:cNvPr id="3" name="Text Placeholder 2">
            <a:extLst>
              <a:ext uri="{FF2B5EF4-FFF2-40B4-BE49-F238E27FC236}">
                <a16:creationId xmlns:a16="http://schemas.microsoft.com/office/drawing/2014/main" id="{1EDF2E0A-B307-EEBF-2CAF-19986907D463}"/>
              </a:ext>
            </a:extLst>
          </p:cNvPr>
          <p:cNvSpPr>
            <a:spLocks noGrp="1"/>
          </p:cNvSpPr>
          <p:nvPr>
            <p:ph type="body" idx="1"/>
          </p:nvPr>
        </p:nvSpPr>
        <p:spPr/>
        <p:txBody>
          <a:bodyPr/>
          <a:lstStyle/>
          <a:p>
            <a:r>
              <a:rPr lang="en-SE" noProof="0" dirty="0"/>
              <a:t>Applying Statistical Causal Inference in Research and Practice</a:t>
            </a:r>
            <a:endParaRPr lang="en-US" noProof="0" dirty="0"/>
          </a:p>
        </p:txBody>
      </p:sp>
      <p:sp>
        <p:nvSpPr>
          <p:cNvPr id="4" name="Date Placeholder 3">
            <a:extLst>
              <a:ext uri="{FF2B5EF4-FFF2-40B4-BE49-F238E27FC236}">
                <a16:creationId xmlns:a16="http://schemas.microsoft.com/office/drawing/2014/main" id="{C6FFC31C-6365-972D-7899-BA4C903714AE}"/>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5AE49F3B-9E1F-366E-1CC5-FBD09FD01728}"/>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EAAB1B5D-0DC8-B246-2DC1-9EA9462A48F9}"/>
              </a:ext>
            </a:extLst>
          </p:cNvPr>
          <p:cNvSpPr>
            <a:spLocks noGrp="1"/>
          </p:cNvSpPr>
          <p:nvPr>
            <p:ph type="sldNum" sz="quarter" idx="12"/>
          </p:nvPr>
        </p:nvSpPr>
        <p:spPr/>
        <p:txBody>
          <a:bodyPr/>
          <a:lstStyle/>
          <a:p>
            <a:fld id="{0FA2D919-C0DE-4971-A2E9-D4AC0031921B}" type="slidenum">
              <a:rPr lang="en-US" noProof="0" smtClean="0"/>
              <a:t>70</a:t>
            </a:fld>
            <a:endParaRPr lang="en-US" noProof="0" dirty="0"/>
          </a:p>
        </p:txBody>
      </p:sp>
    </p:spTree>
    <p:extLst>
      <p:ext uri="{BB962C8B-B14F-4D97-AF65-F5344CB8AC3E}">
        <p14:creationId xmlns:p14="http://schemas.microsoft.com/office/powerpoint/2010/main" val="2581821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720BF-FA17-A541-2D0C-B78B10B02D6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207948A-44E1-C648-1FFF-A839E089E95B}"/>
              </a:ext>
            </a:extLst>
          </p:cNvPr>
          <p:cNvSpPr>
            <a:spLocks noGrp="1"/>
          </p:cNvSpPr>
          <p:nvPr>
            <p:ph type="title"/>
          </p:nvPr>
        </p:nvSpPr>
        <p:spPr/>
        <p:txBody>
          <a:bodyPr/>
          <a:lstStyle/>
          <a:p>
            <a:r>
              <a:rPr lang="en-US" noProof="0" dirty="0"/>
              <a:t>Workflow for Statistical Causal Inference</a:t>
            </a:r>
          </a:p>
        </p:txBody>
      </p:sp>
      <p:sp>
        <p:nvSpPr>
          <p:cNvPr id="4" name="Date Placeholder 3">
            <a:extLst>
              <a:ext uri="{FF2B5EF4-FFF2-40B4-BE49-F238E27FC236}">
                <a16:creationId xmlns:a16="http://schemas.microsoft.com/office/drawing/2014/main" id="{E434F649-204E-D5C4-7EF1-D83DDAA46DB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CC6E14B-EF21-D0E0-9997-92E238101D7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F1C58BFD-4F67-6768-D701-9FBEC5DB87A9}"/>
              </a:ext>
            </a:extLst>
          </p:cNvPr>
          <p:cNvSpPr>
            <a:spLocks noGrp="1"/>
          </p:cNvSpPr>
          <p:nvPr>
            <p:ph type="sldNum" sz="quarter" idx="12"/>
          </p:nvPr>
        </p:nvSpPr>
        <p:spPr/>
        <p:txBody>
          <a:bodyPr/>
          <a:lstStyle/>
          <a:p>
            <a:fld id="{0FA2D919-C0DE-4971-A2E9-D4AC0031921B}" type="slidenum">
              <a:rPr lang="en-US" noProof="0" smtClean="0"/>
              <a:t>71</a:t>
            </a:fld>
            <a:endParaRPr lang="en-US" noProof="0" dirty="0"/>
          </a:p>
        </p:txBody>
      </p:sp>
      <p:grpSp>
        <p:nvGrpSpPr>
          <p:cNvPr id="14" name="Group 13">
            <a:extLst>
              <a:ext uri="{FF2B5EF4-FFF2-40B4-BE49-F238E27FC236}">
                <a16:creationId xmlns:a16="http://schemas.microsoft.com/office/drawing/2014/main" id="{CC65A5C1-AD8B-8361-9287-658B75E3093D}"/>
              </a:ext>
            </a:extLst>
          </p:cNvPr>
          <p:cNvGrpSpPr/>
          <p:nvPr/>
        </p:nvGrpSpPr>
        <p:grpSpPr>
          <a:xfrm>
            <a:off x="838200" y="1905000"/>
            <a:ext cx="1080000" cy="1080000"/>
            <a:chOff x="838200" y="1905000"/>
            <a:chExt cx="1080000" cy="1080000"/>
          </a:xfrm>
        </p:grpSpPr>
        <p:sp>
          <p:nvSpPr>
            <p:cNvPr id="9" name="Oval 8">
              <a:extLst>
                <a:ext uri="{FF2B5EF4-FFF2-40B4-BE49-F238E27FC236}">
                  <a16:creationId xmlns:a16="http://schemas.microsoft.com/office/drawing/2014/main" id="{12CB1253-6F4A-DE48-AD52-652ED3F2A6ED}"/>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phic 12" descr="Influencer with solid fill">
              <a:extLst>
                <a:ext uri="{FF2B5EF4-FFF2-40B4-BE49-F238E27FC236}">
                  <a16:creationId xmlns:a16="http://schemas.microsoft.com/office/drawing/2014/main" id="{C0CF110D-A430-E306-8C84-38475EC7A3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sp>
        <p:nvSpPr>
          <p:cNvPr id="26" name="TextBox 25">
            <a:extLst>
              <a:ext uri="{FF2B5EF4-FFF2-40B4-BE49-F238E27FC236}">
                <a16:creationId xmlns:a16="http://schemas.microsoft.com/office/drawing/2014/main" id="{7401B5E4-8F60-B78B-B95F-F1238E8AAE9A}"/>
              </a:ext>
            </a:extLst>
          </p:cNvPr>
          <p:cNvSpPr txBox="1"/>
          <p:nvPr/>
        </p:nvSpPr>
        <p:spPr>
          <a:xfrm>
            <a:off x="2001000" y="2075668"/>
            <a:ext cx="4964692" cy="738664"/>
          </a:xfrm>
          <a:prstGeom prst="rect">
            <a:avLst/>
          </a:prstGeom>
          <a:noFill/>
        </p:spPr>
        <p:txBody>
          <a:bodyPr wrap="none" rtlCol="0">
            <a:spAutoFit/>
          </a:bodyPr>
          <a:lstStyle/>
          <a:p>
            <a:r>
              <a:rPr lang="en-US" sz="2400" b="1" noProof="0" dirty="0"/>
              <a:t>1) Modelling</a:t>
            </a:r>
          </a:p>
          <a:p>
            <a:r>
              <a:rPr lang="en-US" noProof="0" dirty="0"/>
              <a:t>Creating a DAG of assumed causal relationships</a:t>
            </a:r>
          </a:p>
        </p:txBody>
      </p:sp>
      <p:grpSp>
        <p:nvGrpSpPr>
          <p:cNvPr id="30" name="Group 29">
            <a:extLst>
              <a:ext uri="{FF2B5EF4-FFF2-40B4-BE49-F238E27FC236}">
                <a16:creationId xmlns:a16="http://schemas.microsoft.com/office/drawing/2014/main" id="{654B00B8-BEB6-CC10-174C-1CA6991AF43D}"/>
              </a:ext>
            </a:extLst>
          </p:cNvPr>
          <p:cNvGrpSpPr/>
          <p:nvPr/>
        </p:nvGrpSpPr>
        <p:grpSpPr>
          <a:xfrm>
            <a:off x="8785503" y="2222888"/>
            <a:ext cx="1127414" cy="640099"/>
            <a:chOff x="4267273" y="3180368"/>
            <a:chExt cx="1127414" cy="640099"/>
          </a:xfrm>
        </p:grpSpPr>
        <p:sp>
          <p:nvSpPr>
            <p:cNvPr id="32" name="Oval 31">
              <a:extLst>
                <a:ext uri="{FF2B5EF4-FFF2-40B4-BE49-F238E27FC236}">
                  <a16:creationId xmlns:a16="http://schemas.microsoft.com/office/drawing/2014/main" id="{F819EF44-9830-B396-3FD5-354515991723}"/>
                </a:ext>
              </a:extLst>
            </p:cNvPr>
            <p:cNvSpPr/>
            <p:nvPr/>
          </p:nvSpPr>
          <p:spPr>
            <a:xfrm>
              <a:off x="4267273" y="3180368"/>
              <a:ext cx="252000" cy="252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D0180A"/>
                  </a:solidFill>
                </a:rPr>
                <a:t>x</a:t>
              </a:r>
            </a:p>
          </p:txBody>
        </p:sp>
        <p:sp>
          <p:nvSpPr>
            <p:cNvPr id="33" name="Oval 32">
              <a:extLst>
                <a:ext uri="{FF2B5EF4-FFF2-40B4-BE49-F238E27FC236}">
                  <a16:creationId xmlns:a16="http://schemas.microsoft.com/office/drawing/2014/main" id="{FC0D858A-5134-BCB5-648E-E7AC70CBFD5E}"/>
                </a:ext>
              </a:extLst>
            </p:cNvPr>
            <p:cNvSpPr/>
            <p:nvPr/>
          </p:nvSpPr>
          <p:spPr>
            <a:xfrm>
              <a:off x="5142687" y="3180368"/>
              <a:ext cx="252000" cy="252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006D70"/>
                  </a:solidFill>
                </a:rPr>
                <a:t>y</a:t>
              </a:r>
            </a:p>
          </p:txBody>
        </p:sp>
        <p:cxnSp>
          <p:nvCxnSpPr>
            <p:cNvPr id="34" name="Straight Arrow Connector 33">
              <a:extLst>
                <a:ext uri="{FF2B5EF4-FFF2-40B4-BE49-F238E27FC236}">
                  <a16:creationId xmlns:a16="http://schemas.microsoft.com/office/drawing/2014/main" id="{05CA63DB-7249-0AE7-C670-CD9ADAF6B9E5}"/>
                </a:ext>
              </a:extLst>
            </p:cNvPr>
            <p:cNvCxnSpPr>
              <a:cxnSpLocks/>
              <a:stCxn id="32" idx="6"/>
              <a:endCxn id="33" idx="2"/>
            </p:cNvCxnSpPr>
            <p:nvPr/>
          </p:nvCxnSpPr>
          <p:spPr>
            <a:xfrm>
              <a:off x="4519273" y="3306368"/>
              <a:ext cx="6234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Oval 34">
              <a:extLst>
                <a:ext uri="{FF2B5EF4-FFF2-40B4-BE49-F238E27FC236}">
                  <a16:creationId xmlns:a16="http://schemas.microsoft.com/office/drawing/2014/main" id="{6D464648-32A9-F17B-A1D6-E622DE15C49F}"/>
                </a:ext>
              </a:extLst>
            </p:cNvPr>
            <p:cNvSpPr/>
            <p:nvPr/>
          </p:nvSpPr>
          <p:spPr>
            <a:xfrm>
              <a:off x="4704980" y="3568467"/>
              <a:ext cx="252000" cy="252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lumMod val="50000"/>
                      <a:lumOff val="50000"/>
                    </a:schemeClr>
                  </a:solidFill>
                </a:rPr>
                <a:t>z</a:t>
              </a:r>
            </a:p>
          </p:txBody>
        </p:sp>
        <p:cxnSp>
          <p:nvCxnSpPr>
            <p:cNvPr id="36" name="Straight Arrow Connector 35">
              <a:extLst>
                <a:ext uri="{FF2B5EF4-FFF2-40B4-BE49-F238E27FC236}">
                  <a16:creationId xmlns:a16="http://schemas.microsoft.com/office/drawing/2014/main" id="{796EA802-00D6-2424-2B31-95B0C54C250D}"/>
                </a:ext>
              </a:extLst>
            </p:cNvPr>
            <p:cNvCxnSpPr>
              <a:cxnSpLocks/>
              <a:stCxn id="35" idx="7"/>
              <a:endCxn id="33" idx="3"/>
            </p:cNvCxnSpPr>
            <p:nvPr/>
          </p:nvCxnSpPr>
          <p:spPr>
            <a:xfrm flipV="1">
              <a:off x="4920075"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DE628415-8FA6-C78E-EB19-42EE5A3FA3F3}"/>
                </a:ext>
              </a:extLst>
            </p:cNvPr>
            <p:cNvCxnSpPr>
              <a:cxnSpLocks/>
              <a:stCxn id="35" idx="1"/>
              <a:endCxn id="32" idx="5"/>
            </p:cNvCxnSpPr>
            <p:nvPr/>
          </p:nvCxnSpPr>
          <p:spPr>
            <a:xfrm flipH="1" flipV="1">
              <a:off x="4482368"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10133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D181A2F-78DA-C928-AB92-182CDA96BB59}"/>
              </a:ext>
            </a:extLst>
          </p:cNvPr>
          <p:cNvSpPr>
            <a:spLocks noGrp="1"/>
          </p:cNvSpPr>
          <p:nvPr>
            <p:ph type="title"/>
          </p:nvPr>
        </p:nvSpPr>
        <p:spPr/>
        <p:txBody>
          <a:bodyPr/>
          <a:lstStyle/>
          <a:p>
            <a:r>
              <a:rPr lang="en-US" noProof="0" dirty="0"/>
              <a:t>Workflow for Statistical Causal Inference</a:t>
            </a:r>
          </a:p>
        </p:txBody>
      </p:sp>
      <p:sp>
        <p:nvSpPr>
          <p:cNvPr id="4" name="Date Placeholder 3">
            <a:extLst>
              <a:ext uri="{FF2B5EF4-FFF2-40B4-BE49-F238E27FC236}">
                <a16:creationId xmlns:a16="http://schemas.microsoft.com/office/drawing/2014/main" id="{ACD504CB-94CA-8247-959D-F38A1B926B57}"/>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5F5E643-9603-D133-F61C-F2E80BAAAFA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6879301-DBC3-CC0D-BAFD-9B903BD3DD0D}"/>
              </a:ext>
            </a:extLst>
          </p:cNvPr>
          <p:cNvSpPr>
            <a:spLocks noGrp="1"/>
          </p:cNvSpPr>
          <p:nvPr>
            <p:ph type="sldNum" sz="quarter" idx="12"/>
          </p:nvPr>
        </p:nvSpPr>
        <p:spPr/>
        <p:txBody>
          <a:bodyPr/>
          <a:lstStyle/>
          <a:p>
            <a:fld id="{0FA2D919-C0DE-4971-A2E9-D4AC0031921B}" type="slidenum">
              <a:rPr lang="en-US" noProof="0" smtClean="0"/>
              <a:t>72</a:t>
            </a:fld>
            <a:endParaRPr lang="en-US" noProof="0" dirty="0"/>
          </a:p>
        </p:txBody>
      </p:sp>
      <p:sp>
        <p:nvSpPr>
          <p:cNvPr id="3" name="TextBox 2">
            <a:extLst>
              <a:ext uri="{FF2B5EF4-FFF2-40B4-BE49-F238E27FC236}">
                <a16:creationId xmlns:a16="http://schemas.microsoft.com/office/drawing/2014/main" id="{0D5C9EA1-3B5A-AF1D-EA3B-CAA745DF9159}"/>
              </a:ext>
            </a:extLst>
          </p:cNvPr>
          <p:cNvSpPr txBox="1"/>
          <p:nvPr/>
        </p:nvSpPr>
        <p:spPr>
          <a:xfrm>
            <a:off x="838200" y="5987018"/>
            <a:ext cx="4206240" cy="369332"/>
          </a:xfrm>
          <a:prstGeom prst="rect">
            <a:avLst/>
          </a:prstGeom>
          <a:noFill/>
        </p:spPr>
        <p:txBody>
          <a:bodyPr wrap="square">
            <a:spAutoFit/>
          </a:bodyPr>
          <a:lstStyle/>
          <a:p>
            <a:r>
              <a:rPr lang="en-US" sz="900" b="1" noProof="0" dirty="0"/>
              <a:t>Siebert</a:t>
            </a:r>
            <a:r>
              <a:rPr lang="en-US" sz="900" noProof="0" dirty="0"/>
              <a:t>, J. (2023). Applications of statistical causal inference in software engineering. </a:t>
            </a:r>
            <a:r>
              <a:rPr lang="en-US" sz="900" i="1" noProof="0" dirty="0"/>
              <a:t>Information and Software Technology</a:t>
            </a:r>
            <a:r>
              <a:rPr lang="en-US" sz="900" noProof="0" dirty="0"/>
              <a:t>, </a:t>
            </a:r>
            <a:r>
              <a:rPr lang="en-US" sz="900" i="1" noProof="0" dirty="0"/>
              <a:t>159</a:t>
            </a:r>
            <a:r>
              <a:rPr lang="en-US" sz="900" noProof="0" dirty="0"/>
              <a:t>, 107198.</a:t>
            </a:r>
          </a:p>
        </p:txBody>
      </p:sp>
      <p:grpSp>
        <p:nvGrpSpPr>
          <p:cNvPr id="14" name="Group 13">
            <a:extLst>
              <a:ext uri="{FF2B5EF4-FFF2-40B4-BE49-F238E27FC236}">
                <a16:creationId xmlns:a16="http://schemas.microsoft.com/office/drawing/2014/main" id="{40E62E30-F2ED-32D2-AC19-684CBB42655C}"/>
              </a:ext>
            </a:extLst>
          </p:cNvPr>
          <p:cNvGrpSpPr/>
          <p:nvPr/>
        </p:nvGrpSpPr>
        <p:grpSpPr>
          <a:xfrm>
            <a:off x="838200" y="1905000"/>
            <a:ext cx="1080000" cy="1080000"/>
            <a:chOff x="838200" y="1905000"/>
            <a:chExt cx="1080000" cy="1080000"/>
          </a:xfrm>
        </p:grpSpPr>
        <p:sp>
          <p:nvSpPr>
            <p:cNvPr id="9" name="Oval 8">
              <a:extLst>
                <a:ext uri="{FF2B5EF4-FFF2-40B4-BE49-F238E27FC236}">
                  <a16:creationId xmlns:a16="http://schemas.microsoft.com/office/drawing/2014/main" id="{D2DF88DC-BE77-B1C6-0B70-540CD83622D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phic 12" descr="Influencer with solid fill">
              <a:extLst>
                <a:ext uri="{FF2B5EF4-FFF2-40B4-BE49-F238E27FC236}">
                  <a16:creationId xmlns:a16="http://schemas.microsoft.com/office/drawing/2014/main" id="{68FCE6AE-3789-A30E-748E-F8D7398BB6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15" name="Group 14">
            <a:extLst>
              <a:ext uri="{FF2B5EF4-FFF2-40B4-BE49-F238E27FC236}">
                <a16:creationId xmlns:a16="http://schemas.microsoft.com/office/drawing/2014/main" id="{1CAF5FAF-DD18-23F4-1039-18B838D8B726}"/>
              </a:ext>
            </a:extLst>
          </p:cNvPr>
          <p:cNvGrpSpPr/>
          <p:nvPr/>
        </p:nvGrpSpPr>
        <p:grpSpPr>
          <a:xfrm>
            <a:off x="838200" y="3343897"/>
            <a:ext cx="1080000" cy="1080000"/>
            <a:chOff x="838200" y="1905000"/>
            <a:chExt cx="1080000" cy="1080000"/>
          </a:xfrm>
        </p:grpSpPr>
        <p:sp>
          <p:nvSpPr>
            <p:cNvPr id="16" name="Oval 15">
              <a:extLst>
                <a:ext uri="{FF2B5EF4-FFF2-40B4-BE49-F238E27FC236}">
                  <a16:creationId xmlns:a16="http://schemas.microsoft.com/office/drawing/2014/main" id="{272C8FE5-B791-4EB1-5650-4EE886A249CE}"/>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7" name="Graphic 16" descr="Magnifying glass with solid fill">
              <a:extLst>
                <a:ext uri="{FF2B5EF4-FFF2-40B4-BE49-F238E27FC236}">
                  <a16:creationId xmlns:a16="http://schemas.microsoft.com/office/drawing/2014/main" id="{0981D9A0-8BD7-BA5E-CC6C-1F527C02C51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18" name="Group 17">
            <a:extLst>
              <a:ext uri="{FF2B5EF4-FFF2-40B4-BE49-F238E27FC236}">
                <a16:creationId xmlns:a16="http://schemas.microsoft.com/office/drawing/2014/main" id="{14EAB15A-EF99-FE4C-6EF6-BD6402267625}"/>
              </a:ext>
            </a:extLst>
          </p:cNvPr>
          <p:cNvGrpSpPr/>
          <p:nvPr/>
        </p:nvGrpSpPr>
        <p:grpSpPr>
          <a:xfrm>
            <a:off x="838200" y="4779416"/>
            <a:ext cx="1080000" cy="1080000"/>
            <a:chOff x="838200" y="1905000"/>
            <a:chExt cx="1080000" cy="1080000"/>
          </a:xfrm>
        </p:grpSpPr>
        <p:sp>
          <p:nvSpPr>
            <p:cNvPr id="19" name="Oval 18">
              <a:extLst>
                <a:ext uri="{FF2B5EF4-FFF2-40B4-BE49-F238E27FC236}">
                  <a16:creationId xmlns:a16="http://schemas.microsoft.com/office/drawing/2014/main" id="{855E9A09-9FD2-FAC0-4400-E7E953055E43}"/>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0" name="Graphic 19" descr="Normal Distribution with solid fill">
              <a:extLst>
                <a:ext uri="{FF2B5EF4-FFF2-40B4-BE49-F238E27FC236}">
                  <a16:creationId xmlns:a16="http://schemas.microsoft.com/office/drawing/2014/main" id="{9C7E0F61-6F3E-C982-D162-B9B819B08F1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22" name="Straight Arrow Connector 21">
            <a:extLst>
              <a:ext uri="{FF2B5EF4-FFF2-40B4-BE49-F238E27FC236}">
                <a16:creationId xmlns:a16="http://schemas.microsoft.com/office/drawing/2014/main" id="{C55A203C-240A-E1AF-598E-68A4B54FB7C1}"/>
              </a:ext>
            </a:extLst>
          </p:cNvPr>
          <p:cNvCxnSpPr>
            <a:stCxn id="9" idx="4"/>
            <a:endCxn id="16" idx="0"/>
          </p:cNvCxnSpPr>
          <p:nvPr/>
        </p:nvCxnSpPr>
        <p:spPr>
          <a:xfrm>
            <a:off x="1378200" y="2985000"/>
            <a:ext cx="0" cy="3588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087B968-AB36-AC69-2267-1853B97815B7}"/>
              </a:ext>
            </a:extLst>
          </p:cNvPr>
          <p:cNvCxnSpPr>
            <a:cxnSpLocks/>
            <a:stCxn id="16" idx="4"/>
            <a:endCxn id="19" idx="0"/>
          </p:cNvCxnSpPr>
          <p:nvPr/>
        </p:nvCxnSpPr>
        <p:spPr>
          <a:xfrm>
            <a:off x="1378200" y="4423897"/>
            <a:ext cx="0" cy="3555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E445826-783E-D4DF-09E4-01D8287037BE}"/>
              </a:ext>
            </a:extLst>
          </p:cNvPr>
          <p:cNvSpPr txBox="1"/>
          <p:nvPr/>
        </p:nvSpPr>
        <p:spPr>
          <a:xfrm>
            <a:off x="2001000" y="2075668"/>
            <a:ext cx="4964692" cy="738664"/>
          </a:xfrm>
          <a:prstGeom prst="rect">
            <a:avLst/>
          </a:prstGeom>
          <a:noFill/>
        </p:spPr>
        <p:txBody>
          <a:bodyPr wrap="none" rtlCol="0">
            <a:spAutoFit/>
          </a:bodyPr>
          <a:lstStyle/>
          <a:p>
            <a:r>
              <a:rPr lang="en-US" sz="2400" b="1" noProof="0" dirty="0"/>
              <a:t>1) Modelling</a:t>
            </a:r>
          </a:p>
          <a:p>
            <a:r>
              <a:rPr lang="en-US" noProof="0" dirty="0"/>
              <a:t>Creating a DAG of assumed causal relationships</a:t>
            </a:r>
          </a:p>
        </p:txBody>
      </p:sp>
      <p:sp>
        <p:nvSpPr>
          <p:cNvPr id="27" name="TextBox 26">
            <a:extLst>
              <a:ext uri="{FF2B5EF4-FFF2-40B4-BE49-F238E27FC236}">
                <a16:creationId xmlns:a16="http://schemas.microsoft.com/office/drawing/2014/main" id="{A6E146A4-57B9-1F16-7572-C518F645291D}"/>
              </a:ext>
            </a:extLst>
          </p:cNvPr>
          <p:cNvSpPr txBox="1"/>
          <p:nvPr/>
        </p:nvSpPr>
        <p:spPr>
          <a:xfrm>
            <a:off x="2001000" y="3376065"/>
            <a:ext cx="6355922" cy="738664"/>
          </a:xfrm>
          <a:prstGeom prst="rect">
            <a:avLst/>
          </a:prstGeom>
          <a:noFill/>
        </p:spPr>
        <p:txBody>
          <a:bodyPr wrap="square" rtlCol="0">
            <a:spAutoFit/>
          </a:bodyPr>
          <a:lstStyle/>
          <a:p>
            <a:r>
              <a:rPr lang="en-US" sz="2400" b="1" noProof="0" dirty="0"/>
              <a:t>2) Identification</a:t>
            </a:r>
          </a:p>
          <a:p>
            <a:r>
              <a:rPr lang="en-US" noProof="0" dirty="0"/>
              <a:t>Deriving a statistical from the causal model</a:t>
            </a:r>
          </a:p>
        </p:txBody>
      </p:sp>
      <p:sp>
        <p:nvSpPr>
          <p:cNvPr id="28" name="TextBox 27">
            <a:extLst>
              <a:ext uri="{FF2B5EF4-FFF2-40B4-BE49-F238E27FC236}">
                <a16:creationId xmlns:a16="http://schemas.microsoft.com/office/drawing/2014/main" id="{B2B6186A-2F54-4402-424F-76B203E44BBD}"/>
              </a:ext>
            </a:extLst>
          </p:cNvPr>
          <p:cNvSpPr txBox="1"/>
          <p:nvPr/>
        </p:nvSpPr>
        <p:spPr>
          <a:xfrm>
            <a:off x="2001000" y="4811584"/>
            <a:ext cx="4727460" cy="1015663"/>
          </a:xfrm>
          <a:prstGeom prst="rect">
            <a:avLst/>
          </a:prstGeom>
          <a:noFill/>
        </p:spPr>
        <p:txBody>
          <a:bodyPr wrap="square" rtlCol="0">
            <a:spAutoFit/>
          </a:bodyPr>
          <a:lstStyle/>
          <a:p>
            <a:r>
              <a:rPr lang="en-US" sz="2400" b="1" noProof="0" dirty="0"/>
              <a:t>3) Estimation</a:t>
            </a:r>
          </a:p>
          <a:p>
            <a:r>
              <a:rPr lang="en-US" noProof="0" dirty="0"/>
              <a:t>Training a statistical model with the observed data and evaluating the results</a:t>
            </a:r>
          </a:p>
        </p:txBody>
      </p:sp>
      <p:grpSp>
        <p:nvGrpSpPr>
          <p:cNvPr id="30" name="Group 29">
            <a:extLst>
              <a:ext uri="{FF2B5EF4-FFF2-40B4-BE49-F238E27FC236}">
                <a16:creationId xmlns:a16="http://schemas.microsoft.com/office/drawing/2014/main" id="{95E5F68D-C4F0-5D48-FFE5-AE43D2D24578}"/>
              </a:ext>
            </a:extLst>
          </p:cNvPr>
          <p:cNvGrpSpPr/>
          <p:nvPr/>
        </p:nvGrpSpPr>
        <p:grpSpPr>
          <a:xfrm>
            <a:off x="8785503" y="2222888"/>
            <a:ext cx="1127414" cy="640099"/>
            <a:chOff x="4267273" y="3180368"/>
            <a:chExt cx="1127414" cy="640099"/>
          </a:xfrm>
        </p:grpSpPr>
        <p:sp>
          <p:nvSpPr>
            <p:cNvPr id="32" name="Oval 31">
              <a:extLst>
                <a:ext uri="{FF2B5EF4-FFF2-40B4-BE49-F238E27FC236}">
                  <a16:creationId xmlns:a16="http://schemas.microsoft.com/office/drawing/2014/main" id="{5075ECF1-84E9-0984-C438-816600E6FA8D}"/>
                </a:ext>
              </a:extLst>
            </p:cNvPr>
            <p:cNvSpPr/>
            <p:nvPr/>
          </p:nvSpPr>
          <p:spPr>
            <a:xfrm>
              <a:off x="4267273" y="3180368"/>
              <a:ext cx="252000" cy="252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D0180A"/>
                  </a:solidFill>
                </a:rPr>
                <a:t>x</a:t>
              </a:r>
            </a:p>
          </p:txBody>
        </p:sp>
        <p:sp>
          <p:nvSpPr>
            <p:cNvPr id="33" name="Oval 32">
              <a:extLst>
                <a:ext uri="{FF2B5EF4-FFF2-40B4-BE49-F238E27FC236}">
                  <a16:creationId xmlns:a16="http://schemas.microsoft.com/office/drawing/2014/main" id="{BB525688-D454-1DF4-B66F-256ECE7A4727}"/>
                </a:ext>
              </a:extLst>
            </p:cNvPr>
            <p:cNvSpPr/>
            <p:nvPr/>
          </p:nvSpPr>
          <p:spPr>
            <a:xfrm>
              <a:off x="5142687" y="3180368"/>
              <a:ext cx="252000" cy="252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rgbClr val="006D70"/>
                  </a:solidFill>
                </a:rPr>
                <a:t>y</a:t>
              </a:r>
            </a:p>
          </p:txBody>
        </p:sp>
        <p:cxnSp>
          <p:nvCxnSpPr>
            <p:cNvPr id="34" name="Straight Arrow Connector 33">
              <a:extLst>
                <a:ext uri="{FF2B5EF4-FFF2-40B4-BE49-F238E27FC236}">
                  <a16:creationId xmlns:a16="http://schemas.microsoft.com/office/drawing/2014/main" id="{DE2F8BEB-6EA8-7A42-50AF-C204A3DE9B43}"/>
                </a:ext>
              </a:extLst>
            </p:cNvPr>
            <p:cNvCxnSpPr>
              <a:cxnSpLocks/>
              <a:stCxn id="32" idx="6"/>
              <a:endCxn id="33" idx="2"/>
            </p:cNvCxnSpPr>
            <p:nvPr/>
          </p:nvCxnSpPr>
          <p:spPr>
            <a:xfrm>
              <a:off x="4519273" y="3306368"/>
              <a:ext cx="6234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Oval 34">
              <a:extLst>
                <a:ext uri="{FF2B5EF4-FFF2-40B4-BE49-F238E27FC236}">
                  <a16:creationId xmlns:a16="http://schemas.microsoft.com/office/drawing/2014/main" id="{81F0DF9B-F5B5-CE6C-CB19-69FEF11690CA}"/>
                </a:ext>
              </a:extLst>
            </p:cNvPr>
            <p:cNvSpPr/>
            <p:nvPr/>
          </p:nvSpPr>
          <p:spPr>
            <a:xfrm>
              <a:off x="4704980" y="3568467"/>
              <a:ext cx="252000" cy="252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lumMod val="50000"/>
                      <a:lumOff val="50000"/>
                    </a:schemeClr>
                  </a:solidFill>
                </a:rPr>
                <a:t>z</a:t>
              </a:r>
            </a:p>
          </p:txBody>
        </p:sp>
        <p:cxnSp>
          <p:nvCxnSpPr>
            <p:cNvPr id="36" name="Straight Arrow Connector 35">
              <a:extLst>
                <a:ext uri="{FF2B5EF4-FFF2-40B4-BE49-F238E27FC236}">
                  <a16:creationId xmlns:a16="http://schemas.microsoft.com/office/drawing/2014/main" id="{C6554BA8-E244-3D3D-8F30-C20BDD0F9CE0}"/>
                </a:ext>
              </a:extLst>
            </p:cNvPr>
            <p:cNvCxnSpPr>
              <a:cxnSpLocks/>
              <a:stCxn id="35" idx="7"/>
              <a:endCxn id="33" idx="3"/>
            </p:cNvCxnSpPr>
            <p:nvPr/>
          </p:nvCxnSpPr>
          <p:spPr>
            <a:xfrm flipV="1">
              <a:off x="4920075"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DBB933CE-FF6C-0632-028B-C846E95DFF32}"/>
                </a:ext>
              </a:extLst>
            </p:cNvPr>
            <p:cNvCxnSpPr>
              <a:cxnSpLocks/>
              <a:stCxn id="35" idx="1"/>
              <a:endCxn id="32" idx="5"/>
            </p:cNvCxnSpPr>
            <p:nvPr/>
          </p:nvCxnSpPr>
          <p:spPr>
            <a:xfrm flipH="1" flipV="1">
              <a:off x="4482368" y="3395463"/>
              <a:ext cx="259517" cy="2099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DCE0E8E-61AB-E629-20AC-9C15C95C29B5}"/>
                  </a:ext>
                </a:extLst>
              </p:cNvPr>
              <p:cNvSpPr txBox="1"/>
              <p:nvPr/>
            </p:nvSpPr>
            <p:spPr>
              <a:xfrm>
                <a:off x="8919179" y="3700353"/>
                <a:ext cx="8677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𝑦</m:t>
                      </m:r>
                      <m:r>
                        <a:rPr lang="en-US" b="0" i="1" noProof="0" smtClean="0">
                          <a:latin typeface="Cambria Math" panose="02040503050406030204" pitchFamily="18" charset="0"/>
                        </a:rPr>
                        <m:t>~</m:t>
                      </m:r>
                      <m:r>
                        <a:rPr lang="en-US" b="0" i="1" noProof="0" smtClean="0">
                          <a:latin typeface="Cambria Math" panose="02040503050406030204" pitchFamily="18" charset="0"/>
                        </a:rPr>
                        <m:t>𝑥</m:t>
                      </m:r>
                      <m:r>
                        <a:rPr lang="en-US" b="0" i="1" noProof="0" smtClean="0">
                          <a:latin typeface="Cambria Math" panose="02040503050406030204" pitchFamily="18" charset="0"/>
                        </a:rPr>
                        <m:t>+</m:t>
                      </m:r>
                      <m:r>
                        <a:rPr lang="en-US" b="0" i="1" noProof="0" smtClean="0">
                          <a:latin typeface="Cambria Math" panose="02040503050406030204" pitchFamily="18" charset="0"/>
                        </a:rPr>
                        <m:t>𝑧</m:t>
                      </m:r>
                    </m:oMath>
                  </m:oMathPara>
                </a14:m>
                <a:endParaRPr lang="en-US" noProof="0" dirty="0"/>
              </a:p>
            </p:txBody>
          </p:sp>
        </mc:Choice>
        <mc:Fallback xmlns="">
          <p:sp>
            <p:nvSpPr>
              <p:cNvPr id="31" name="TextBox 30">
                <a:extLst>
                  <a:ext uri="{FF2B5EF4-FFF2-40B4-BE49-F238E27FC236}">
                    <a16:creationId xmlns:a16="http://schemas.microsoft.com/office/drawing/2014/main" id="{6DCE0E8E-61AB-E629-20AC-9C15C95C29B5}"/>
                  </a:ext>
                </a:extLst>
              </p:cNvPr>
              <p:cNvSpPr txBox="1">
                <a:spLocks noRot="1" noChangeAspect="1" noMove="1" noResize="1" noEditPoints="1" noAdjustHandles="1" noChangeArrowheads="1" noChangeShapeType="1" noTextEdit="1"/>
              </p:cNvSpPr>
              <p:nvPr/>
            </p:nvSpPr>
            <p:spPr>
              <a:xfrm>
                <a:off x="8919179" y="3700353"/>
                <a:ext cx="867738" cy="276999"/>
              </a:xfrm>
              <a:prstGeom prst="rect">
                <a:avLst/>
              </a:prstGeom>
              <a:blipFill>
                <a:blip r:embed="rId9"/>
                <a:stretch>
                  <a:fillRect l="-7042" r="-3521" b="-26667"/>
                </a:stretch>
              </a:blipFill>
            </p:spPr>
            <p:txBody>
              <a:bodyPr/>
              <a:lstStyle/>
              <a:p>
                <a:r>
                  <a:rPr lang="en-SE">
                    <a:noFill/>
                  </a:rPr>
                  <a:t> </a:t>
                </a:r>
              </a:p>
            </p:txBody>
          </p:sp>
        </mc:Fallback>
      </mc:AlternateContent>
      <p:pic>
        <p:nvPicPr>
          <p:cNvPr id="38" name="Picture 37" descr="A graph of a graph&#10;&#10;AI-generated content may be incorrect.">
            <a:extLst>
              <a:ext uri="{FF2B5EF4-FFF2-40B4-BE49-F238E27FC236}">
                <a16:creationId xmlns:a16="http://schemas.microsoft.com/office/drawing/2014/main" id="{14BBB085-08A3-BC03-D8A0-A45DC74541E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94222" y="4649510"/>
            <a:ext cx="2509975" cy="1755495"/>
          </a:xfrm>
          <a:prstGeom prst="rect">
            <a:avLst/>
          </a:prstGeom>
        </p:spPr>
      </p:pic>
      <p:grpSp>
        <p:nvGrpSpPr>
          <p:cNvPr id="2" name="Group 1">
            <a:extLst>
              <a:ext uri="{FF2B5EF4-FFF2-40B4-BE49-F238E27FC236}">
                <a16:creationId xmlns:a16="http://schemas.microsoft.com/office/drawing/2014/main" id="{E830FAEC-21EF-3ED3-33A0-664E78D53B2F}"/>
              </a:ext>
            </a:extLst>
          </p:cNvPr>
          <p:cNvGrpSpPr/>
          <p:nvPr/>
        </p:nvGrpSpPr>
        <p:grpSpPr>
          <a:xfrm>
            <a:off x="2001000" y="4115033"/>
            <a:ext cx="2563289" cy="432000"/>
            <a:chOff x="4604412" y="1893985"/>
            <a:chExt cx="2563289" cy="432000"/>
          </a:xfrm>
        </p:grpSpPr>
        <p:sp>
          <p:nvSpPr>
            <p:cNvPr id="8" name="Arrow: Pentagon 7">
              <a:extLst>
                <a:ext uri="{FF2B5EF4-FFF2-40B4-BE49-F238E27FC236}">
                  <a16:creationId xmlns:a16="http://schemas.microsoft.com/office/drawing/2014/main" id="{10605B65-60D1-89A6-D875-B99924AA1781}"/>
                </a:ext>
              </a:extLst>
            </p:cNvPr>
            <p:cNvSpPr/>
            <p:nvPr/>
          </p:nvSpPr>
          <p:spPr>
            <a:xfrm>
              <a:off x="4604412" y="1893985"/>
              <a:ext cx="2563289" cy="432000"/>
            </a:xfrm>
            <a:prstGeom prst="homePlate">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r>
                <a:rPr lang="en-US" noProof="0" dirty="0"/>
                <a:t>Model Derivation</a:t>
              </a:r>
            </a:p>
          </p:txBody>
        </p:sp>
        <p:pic>
          <p:nvPicPr>
            <p:cNvPr id="10" name="Graphic 9" descr="Connections with solid fill">
              <a:extLst>
                <a:ext uri="{FF2B5EF4-FFF2-40B4-BE49-F238E27FC236}">
                  <a16:creationId xmlns:a16="http://schemas.microsoft.com/office/drawing/2014/main" id="{78D7CE72-87B3-2F97-1D23-25A8038D61C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64301" y="1929985"/>
              <a:ext cx="360000" cy="360000"/>
            </a:xfrm>
            <a:prstGeom prst="rect">
              <a:avLst/>
            </a:prstGeom>
          </p:spPr>
        </p:pic>
      </p:grpSp>
    </p:spTree>
    <p:extLst>
      <p:ext uri="{BB962C8B-B14F-4D97-AF65-F5344CB8AC3E}">
        <p14:creationId xmlns:p14="http://schemas.microsoft.com/office/powerpoint/2010/main" val="328853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6A21-8FB7-329F-0F45-E980AA584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55D26-0366-9854-039A-922AC27812DD}"/>
              </a:ext>
            </a:extLst>
          </p:cNvPr>
          <p:cNvSpPr>
            <a:spLocks noGrp="1"/>
          </p:cNvSpPr>
          <p:nvPr>
            <p:ph type="title"/>
          </p:nvPr>
        </p:nvSpPr>
        <p:spPr/>
        <p:txBody>
          <a:bodyPr/>
          <a:lstStyle/>
          <a:p>
            <a:r>
              <a:rPr lang="en-US" noProof="0" dirty="0"/>
              <a:t>Scientific Workflow: Traditional</a:t>
            </a:r>
          </a:p>
        </p:txBody>
      </p:sp>
      <p:sp>
        <p:nvSpPr>
          <p:cNvPr id="56" name="Content Placeholder 55">
            <a:extLst>
              <a:ext uri="{FF2B5EF4-FFF2-40B4-BE49-F238E27FC236}">
                <a16:creationId xmlns:a16="http://schemas.microsoft.com/office/drawing/2014/main" id="{F0CC5C2C-C2B1-39FC-8F7C-311F74790999}"/>
              </a:ext>
            </a:extLst>
          </p:cNvPr>
          <p:cNvSpPr>
            <a:spLocks noGrp="1"/>
          </p:cNvSpPr>
          <p:nvPr>
            <p:ph idx="1"/>
          </p:nvPr>
        </p:nvSpPr>
        <p:spPr>
          <a:xfrm>
            <a:off x="838200" y="4787559"/>
            <a:ext cx="10515600" cy="1389404"/>
          </a:xfrm>
        </p:spPr>
        <p:txBody>
          <a:bodyPr/>
          <a:lstStyle/>
          <a:p>
            <a:pPr marL="0" indent="0">
              <a:buNone/>
            </a:pPr>
            <a:r>
              <a:rPr lang="en-US" noProof="0" dirty="0"/>
              <a:t>Too often, we derive hypotheses from the data available to us.</a:t>
            </a:r>
          </a:p>
        </p:txBody>
      </p:sp>
      <p:sp>
        <p:nvSpPr>
          <p:cNvPr id="4" name="Date Placeholder 3">
            <a:extLst>
              <a:ext uri="{FF2B5EF4-FFF2-40B4-BE49-F238E27FC236}">
                <a16:creationId xmlns:a16="http://schemas.microsoft.com/office/drawing/2014/main" id="{61ACCA0F-FFA0-284E-994F-7DB9073DEAE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2AAE6BEA-C09C-0A6D-6EFE-9EF788AA217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776B480C-BAB7-5A41-B374-C1D7E6554556}"/>
              </a:ext>
            </a:extLst>
          </p:cNvPr>
          <p:cNvSpPr>
            <a:spLocks noGrp="1"/>
          </p:cNvSpPr>
          <p:nvPr>
            <p:ph type="sldNum" sz="quarter" idx="12"/>
          </p:nvPr>
        </p:nvSpPr>
        <p:spPr/>
        <p:txBody>
          <a:bodyPr/>
          <a:lstStyle/>
          <a:p>
            <a:fld id="{0FA2D919-C0DE-4971-A2E9-D4AC0031921B}" type="slidenum">
              <a:rPr lang="en-US" noProof="0" smtClean="0"/>
              <a:t>73</a:t>
            </a:fld>
            <a:endParaRPr lang="en-US" noProof="0" dirty="0"/>
          </a:p>
        </p:txBody>
      </p:sp>
      <p:grpSp>
        <p:nvGrpSpPr>
          <p:cNvPr id="33" name="Group 32">
            <a:extLst>
              <a:ext uri="{FF2B5EF4-FFF2-40B4-BE49-F238E27FC236}">
                <a16:creationId xmlns:a16="http://schemas.microsoft.com/office/drawing/2014/main" id="{ABA7C6A9-19C8-7282-C6FF-DD4152B96D9D}"/>
              </a:ext>
            </a:extLst>
          </p:cNvPr>
          <p:cNvGrpSpPr/>
          <p:nvPr/>
        </p:nvGrpSpPr>
        <p:grpSpPr>
          <a:xfrm>
            <a:off x="844469" y="2409728"/>
            <a:ext cx="540000" cy="540000"/>
            <a:chOff x="838200" y="1905000"/>
            <a:chExt cx="1080000" cy="1080000"/>
          </a:xfrm>
        </p:grpSpPr>
        <p:sp>
          <p:nvSpPr>
            <p:cNvPr id="34" name="Oval 33">
              <a:extLst>
                <a:ext uri="{FF2B5EF4-FFF2-40B4-BE49-F238E27FC236}">
                  <a16:creationId xmlns:a16="http://schemas.microsoft.com/office/drawing/2014/main" id="{0B471997-81DC-89B6-4545-3F6AD43F2B55}"/>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97DC8785-B324-1F16-EE17-6C4D370F6D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CCF4013E-2DCA-AA18-904F-3B92FBD0041C}"/>
              </a:ext>
            </a:extLst>
          </p:cNvPr>
          <p:cNvGrpSpPr/>
          <p:nvPr/>
        </p:nvGrpSpPr>
        <p:grpSpPr>
          <a:xfrm>
            <a:off x="844469" y="3131382"/>
            <a:ext cx="540000" cy="540000"/>
            <a:chOff x="838200" y="1905000"/>
            <a:chExt cx="1080000" cy="1080000"/>
          </a:xfrm>
        </p:grpSpPr>
        <p:sp>
          <p:nvSpPr>
            <p:cNvPr id="37" name="Oval 36">
              <a:extLst>
                <a:ext uri="{FF2B5EF4-FFF2-40B4-BE49-F238E27FC236}">
                  <a16:creationId xmlns:a16="http://schemas.microsoft.com/office/drawing/2014/main" id="{E4EFC1A4-0C41-8749-4330-E16CA75AD877}"/>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2E21A9D2-1EAE-793C-FF1C-62C7777A8D9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4C529F51-08AA-0464-1D07-BE7BA2B6AE9E}"/>
              </a:ext>
            </a:extLst>
          </p:cNvPr>
          <p:cNvGrpSpPr/>
          <p:nvPr/>
        </p:nvGrpSpPr>
        <p:grpSpPr>
          <a:xfrm>
            <a:off x="838200" y="3843059"/>
            <a:ext cx="540000" cy="540000"/>
            <a:chOff x="838200" y="1905000"/>
            <a:chExt cx="1080000" cy="1080000"/>
          </a:xfrm>
        </p:grpSpPr>
        <p:sp>
          <p:nvSpPr>
            <p:cNvPr id="40" name="Oval 39">
              <a:extLst>
                <a:ext uri="{FF2B5EF4-FFF2-40B4-BE49-F238E27FC236}">
                  <a16:creationId xmlns:a16="http://schemas.microsoft.com/office/drawing/2014/main" id="{E91F2583-5A61-5F1F-21B9-D5FADAEAAD66}"/>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A0067B6C-AB59-EEAD-7ADE-3CE08DD5493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D51C900F-433F-788E-B10E-436E366E1236}"/>
              </a:ext>
            </a:extLst>
          </p:cNvPr>
          <p:cNvCxnSpPr>
            <a:stCxn id="34" idx="4"/>
            <a:endCxn id="37" idx="0"/>
          </p:cNvCxnSpPr>
          <p:nvPr/>
        </p:nvCxnSpPr>
        <p:spPr>
          <a:xfrm>
            <a:off x="1114469" y="2949728"/>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074A63FB-3309-7791-0439-C44D0E8740D7}"/>
              </a:ext>
            </a:extLst>
          </p:cNvPr>
          <p:cNvCxnSpPr>
            <a:cxnSpLocks/>
            <a:stCxn id="37" idx="4"/>
            <a:endCxn id="40" idx="0"/>
          </p:cNvCxnSpPr>
          <p:nvPr/>
        </p:nvCxnSpPr>
        <p:spPr>
          <a:xfrm flipH="1">
            <a:off x="1108200" y="3671382"/>
            <a:ext cx="6269" cy="1716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7DBF0791-553F-307D-34E6-C95A315A0AE6}"/>
              </a:ext>
            </a:extLst>
          </p:cNvPr>
          <p:cNvGrpSpPr/>
          <p:nvPr/>
        </p:nvGrpSpPr>
        <p:grpSpPr>
          <a:xfrm>
            <a:off x="844469" y="1692045"/>
            <a:ext cx="540000" cy="540000"/>
            <a:chOff x="838200" y="1905000"/>
            <a:chExt cx="1080000" cy="1080000"/>
          </a:xfrm>
        </p:grpSpPr>
        <p:sp>
          <p:nvSpPr>
            <p:cNvPr id="45" name="Oval 44">
              <a:extLst>
                <a:ext uri="{FF2B5EF4-FFF2-40B4-BE49-F238E27FC236}">
                  <a16:creationId xmlns:a16="http://schemas.microsoft.com/office/drawing/2014/main" id="{B5AF7B60-9D35-6AD4-35D7-D6A57C4E0B5A}"/>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0A6630BE-E20F-D135-2F16-22BD768C799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AEA510EF-0DAA-ADA2-BD98-DD87EEA216B1}"/>
              </a:ext>
            </a:extLst>
          </p:cNvPr>
          <p:cNvCxnSpPr>
            <a:cxnSpLocks/>
            <a:stCxn id="45" idx="4"/>
            <a:endCxn id="34" idx="0"/>
          </p:cNvCxnSpPr>
          <p:nvPr/>
        </p:nvCxnSpPr>
        <p:spPr>
          <a:xfrm>
            <a:off x="1114469" y="2232045"/>
            <a:ext cx="0" cy="1776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F7BE868-28F2-DF06-8678-A014E0E7AB01}"/>
              </a:ext>
            </a:extLst>
          </p:cNvPr>
          <p:cNvSpPr txBox="1"/>
          <p:nvPr/>
        </p:nvSpPr>
        <p:spPr>
          <a:xfrm>
            <a:off x="1432842" y="2451128"/>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0F8A8FA9-EC40-78BD-69B9-D63990AEC07E}"/>
              </a:ext>
            </a:extLst>
          </p:cNvPr>
          <p:cNvSpPr txBox="1"/>
          <p:nvPr/>
        </p:nvSpPr>
        <p:spPr>
          <a:xfrm>
            <a:off x="1439923" y="3170549"/>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9CF416BC-E98C-1843-1532-B6C70A40D672}"/>
              </a:ext>
            </a:extLst>
          </p:cNvPr>
          <p:cNvSpPr txBox="1"/>
          <p:nvPr/>
        </p:nvSpPr>
        <p:spPr>
          <a:xfrm>
            <a:off x="1439923" y="3878762"/>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052BF937-6BA6-DDFC-EAC9-EE859AFE3ADD}"/>
              </a:ext>
            </a:extLst>
          </p:cNvPr>
          <p:cNvSpPr txBox="1"/>
          <p:nvPr/>
        </p:nvSpPr>
        <p:spPr>
          <a:xfrm>
            <a:off x="1439923" y="172155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17" name="Oval 16">
            <a:extLst>
              <a:ext uri="{FF2B5EF4-FFF2-40B4-BE49-F238E27FC236}">
                <a16:creationId xmlns:a16="http://schemas.microsoft.com/office/drawing/2014/main" id="{755EB22E-876B-3BCF-0DF1-D0787B5DBD77}"/>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0" name="Oval 19">
            <a:extLst>
              <a:ext uri="{FF2B5EF4-FFF2-40B4-BE49-F238E27FC236}">
                <a16:creationId xmlns:a16="http://schemas.microsoft.com/office/drawing/2014/main" id="{C2D4E3AD-340C-F387-6574-57431268A5DB}"/>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1" name="Straight Arrow Connector 20">
            <a:extLst>
              <a:ext uri="{FF2B5EF4-FFF2-40B4-BE49-F238E27FC236}">
                <a16:creationId xmlns:a16="http://schemas.microsoft.com/office/drawing/2014/main" id="{0EDA9761-9E80-8040-3483-56FD175FE4FF}"/>
              </a:ext>
            </a:extLst>
          </p:cNvPr>
          <p:cNvCxnSpPr>
            <a:stCxn id="17" idx="6"/>
            <a:endCxn id="20"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49" name="Table 48">
            <a:extLst>
              <a:ext uri="{FF2B5EF4-FFF2-40B4-BE49-F238E27FC236}">
                <a16:creationId xmlns:a16="http://schemas.microsoft.com/office/drawing/2014/main" id="{7E6F0DF1-AFD6-19C9-9E92-0A4B8E485618}"/>
              </a:ext>
            </a:extLst>
          </p:cNvPr>
          <p:cNvGraphicFramePr>
            <a:graphicFrameLocks noGrp="1"/>
          </p:cNvGraphicFramePr>
          <p:nvPr>
            <p:extLst>
              <p:ext uri="{D42A27DB-BD31-4B8C-83A1-F6EECF244321}">
                <p14:modId xmlns:p14="http://schemas.microsoft.com/office/powerpoint/2010/main" val="3503680966"/>
              </p:ext>
            </p:extLst>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sp>
        <p:nvSpPr>
          <p:cNvPr id="54" name="TextBox 53">
            <a:extLst>
              <a:ext uri="{FF2B5EF4-FFF2-40B4-BE49-F238E27FC236}">
                <a16:creationId xmlns:a16="http://schemas.microsoft.com/office/drawing/2014/main" id="{BD88F371-6ED2-DE9A-10BF-91214773B1B1}"/>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55" name="TextBox 54">
            <a:extLst>
              <a:ext uri="{FF2B5EF4-FFF2-40B4-BE49-F238E27FC236}">
                <a16:creationId xmlns:a16="http://schemas.microsoft.com/office/drawing/2014/main" id="{15D46008-754B-DBBE-710A-EDCB69FF3AEC}"/>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Tree>
    <p:extLst>
      <p:ext uri="{BB962C8B-B14F-4D97-AF65-F5344CB8AC3E}">
        <p14:creationId xmlns:p14="http://schemas.microsoft.com/office/powerpoint/2010/main" val="195510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P spid="53" grpId="0"/>
      <p:bldP spid="17" grpId="0" animBg="1"/>
      <p:bldP spid="20" grpId="0" animBg="1"/>
      <p:bldP spid="54" grpId="0"/>
      <p:bldP spid="5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26055-3BE4-B054-88CD-25384E83A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B423E-8187-0A59-57CF-795C580765B5}"/>
              </a:ext>
            </a:extLst>
          </p:cNvPr>
          <p:cNvSpPr>
            <a:spLocks noGrp="1"/>
          </p:cNvSpPr>
          <p:nvPr>
            <p:ph type="title"/>
          </p:nvPr>
        </p:nvSpPr>
        <p:spPr/>
        <p:txBody>
          <a:bodyPr/>
          <a:lstStyle/>
          <a:p>
            <a:r>
              <a:rPr lang="en-US" noProof="0" dirty="0"/>
              <a:t>Scientific Workflow: Traditional</a:t>
            </a:r>
          </a:p>
        </p:txBody>
      </p:sp>
      <p:sp>
        <p:nvSpPr>
          <p:cNvPr id="4" name="Date Placeholder 3">
            <a:extLst>
              <a:ext uri="{FF2B5EF4-FFF2-40B4-BE49-F238E27FC236}">
                <a16:creationId xmlns:a16="http://schemas.microsoft.com/office/drawing/2014/main" id="{CCB7B1A1-9921-23E5-0276-1644FA456F1F}"/>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8820CEAB-63D6-33BE-4E0F-467B4D0B386E}"/>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0A0FB60-0576-373A-B0A4-9CD4A3B09623}"/>
              </a:ext>
            </a:extLst>
          </p:cNvPr>
          <p:cNvSpPr>
            <a:spLocks noGrp="1"/>
          </p:cNvSpPr>
          <p:nvPr>
            <p:ph type="sldNum" sz="quarter" idx="12"/>
          </p:nvPr>
        </p:nvSpPr>
        <p:spPr/>
        <p:txBody>
          <a:bodyPr/>
          <a:lstStyle/>
          <a:p>
            <a:fld id="{0FA2D919-C0DE-4971-A2E9-D4AC0031921B}" type="slidenum">
              <a:rPr lang="en-US" noProof="0" smtClean="0"/>
              <a:t>74</a:t>
            </a:fld>
            <a:endParaRPr lang="en-US" noProof="0" dirty="0"/>
          </a:p>
        </p:txBody>
      </p:sp>
      <p:grpSp>
        <p:nvGrpSpPr>
          <p:cNvPr id="33" name="Group 32">
            <a:extLst>
              <a:ext uri="{FF2B5EF4-FFF2-40B4-BE49-F238E27FC236}">
                <a16:creationId xmlns:a16="http://schemas.microsoft.com/office/drawing/2014/main" id="{DD5D0A07-F8FA-B15F-DC6B-80AB2CC8EC76}"/>
              </a:ext>
            </a:extLst>
          </p:cNvPr>
          <p:cNvGrpSpPr/>
          <p:nvPr/>
        </p:nvGrpSpPr>
        <p:grpSpPr>
          <a:xfrm>
            <a:off x="844469" y="2409728"/>
            <a:ext cx="540000" cy="540000"/>
            <a:chOff x="838200" y="1905000"/>
            <a:chExt cx="1080000" cy="1080000"/>
          </a:xfrm>
        </p:grpSpPr>
        <p:sp>
          <p:nvSpPr>
            <p:cNvPr id="34" name="Oval 33">
              <a:extLst>
                <a:ext uri="{FF2B5EF4-FFF2-40B4-BE49-F238E27FC236}">
                  <a16:creationId xmlns:a16="http://schemas.microsoft.com/office/drawing/2014/main" id="{03440D40-1419-AE0C-D708-43D956DB0D9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6CA808BD-431B-7A91-9EB5-EB997EAFD4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79CE7D86-24F0-C16F-F25D-46604BF51FCD}"/>
              </a:ext>
            </a:extLst>
          </p:cNvPr>
          <p:cNvGrpSpPr/>
          <p:nvPr/>
        </p:nvGrpSpPr>
        <p:grpSpPr>
          <a:xfrm>
            <a:off x="844469" y="3131382"/>
            <a:ext cx="540000" cy="540000"/>
            <a:chOff x="838200" y="1905000"/>
            <a:chExt cx="1080000" cy="1080000"/>
          </a:xfrm>
        </p:grpSpPr>
        <p:sp>
          <p:nvSpPr>
            <p:cNvPr id="37" name="Oval 36">
              <a:extLst>
                <a:ext uri="{FF2B5EF4-FFF2-40B4-BE49-F238E27FC236}">
                  <a16:creationId xmlns:a16="http://schemas.microsoft.com/office/drawing/2014/main" id="{A453F834-E6A4-4E7F-58EE-7FF59B96FFF0}"/>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E37D6469-4982-2224-8CAD-5ABD1E6185F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69DCDBAE-48D7-6D70-A6B2-6A20BBF5C511}"/>
              </a:ext>
            </a:extLst>
          </p:cNvPr>
          <p:cNvGrpSpPr/>
          <p:nvPr/>
        </p:nvGrpSpPr>
        <p:grpSpPr>
          <a:xfrm>
            <a:off x="838200" y="3843059"/>
            <a:ext cx="540000" cy="540000"/>
            <a:chOff x="838200" y="1905000"/>
            <a:chExt cx="1080000" cy="1080000"/>
          </a:xfrm>
        </p:grpSpPr>
        <p:sp>
          <p:nvSpPr>
            <p:cNvPr id="40" name="Oval 39">
              <a:extLst>
                <a:ext uri="{FF2B5EF4-FFF2-40B4-BE49-F238E27FC236}">
                  <a16:creationId xmlns:a16="http://schemas.microsoft.com/office/drawing/2014/main" id="{7D84967D-9457-E53C-E8F7-2A8F37FD9E3F}"/>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A86B7CD5-87E1-C950-79EC-EEA601EA0F4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A80AF428-F404-ECBC-CE55-8037CDD53DB7}"/>
              </a:ext>
            </a:extLst>
          </p:cNvPr>
          <p:cNvCxnSpPr>
            <a:stCxn id="34" idx="4"/>
            <a:endCxn id="37" idx="0"/>
          </p:cNvCxnSpPr>
          <p:nvPr/>
        </p:nvCxnSpPr>
        <p:spPr>
          <a:xfrm>
            <a:off x="1114469" y="2949728"/>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8516152A-9ACA-B8F9-6406-58EF2B4C4B37}"/>
              </a:ext>
            </a:extLst>
          </p:cNvPr>
          <p:cNvCxnSpPr>
            <a:cxnSpLocks/>
            <a:stCxn id="37" idx="4"/>
            <a:endCxn id="40" idx="0"/>
          </p:cNvCxnSpPr>
          <p:nvPr/>
        </p:nvCxnSpPr>
        <p:spPr>
          <a:xfrm flipH="1">
            <a:off x="1108200" y="3671382"/>
            <a:ext cx="6269" cy="1716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839FBD59-C66C-C235-123B-80BCC78A49E6}"/>
              </a:ext>
            </a:extLst>
          </p:cNvPr>
          <p:cNvGrpSpPr/>
          <p:nvPr/>
        </p:nvGrpSpPr>
        <p:grpSpPr>
          <a:xfrm>
            <a:off x="844469" y="1692045"/>
            <a:ext cx="540000" cy="540000"/>
            <a:chOff x="838200" y="1905000"/>
            <a:chExt cx="1080000" cy="1080000"/>
          </a:xfrm>
        </p:grpSpPr>
        <p:sp>
          <p:nvSpPr>
            <p:cNvPr id="45" name="Oval 44">
              <a:extLst>
                <a:ext uri="{FF2B5EF4-FFF2-40B4-BE49-F238E27FC236}">
                  <a16:creationId xmlns:a16="http://schemas.microsoft.com/office/drawing/2014/main" id="{C121099D-F83A-7A49-D1E0-6F0126AD0AF2}"/>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071DFB55-0C69-8394-80B7-E2ADF93A251B}"/>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D34A0723-1802-111A-9BD9-3732EA035BBC}"/>
              </a:ext>
            </a:extLst>
          </p:cNvPr>
          <p:cNvCxnSpPr>
            <a:cxnSpLocks/>
            <a:stCxn id="45" idx="4"/>
            <a:endCxn id="34" idx="0"/>
          </p:cNvCxnSpPr>
          <p:nvPr/>
        </p:nvCxnSpPr>
        <p:spPr>
          <a:xfrm>
            <a:off x="1114469" y="2232045"/>
            <a:ext cx="0" cy="1776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E313C3D-42D2-3A74-DA12-FFF0E2931DDA}"/>
              </a:ext>
            </a:extLst>
          </p:cNvPr>
          <p:cNvSpPr txBox="1"/>
          <p:nvPr/>
        </p:nvSpPr>
        <p:spPr>
          <a:xfrm>
            <a:off x="1432842" y="2451128"/>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FB92D0BE-EEF8-85F7-9E44-C3804BFDC758}"/>
              </a:ext>
            </a:extLst>
          </p:cNvPr>
          <p:cNvSpPr txBox="1"/>
          <p:nvPr/>
        </p:nvSpPr>
        <p:spPr>
          <a:xfrm>
            <a:off x="1439923" y="3170549"/>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6BE574E6-B710-0F84-05D0-DE0ABB86A1FC}"/>
              </a:ext>
            </a:extLst>
          </p:cNvPr>
          <p:cNvSpPr txBox="1"/>
          <p:nvPr/>
        </p:nvSpPr>
        <p:spPr>
          <a:xfrm>
            <a:off x="1439923" y="3878762"/>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2C2347F3-D97F-4606-70C3-6F7F7674B52B}"/>
              </a:ext>
            </a:extLst>
          </p:cNvPr>
          <p:cNvSpPr txBox="1"/>
          <p:nvPr/>
        </p:nvSpPr>
        <p:spPr>
          <a:xfrm>
            <a:off x="1439923" y="172155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54" name="TextBox 53">
            <a:extLst>
              <a:ext uri="{FF2B5EF4-FFF2-40B4-BE49-F238E27FC236}">
                <a16:creationId xmlns:a16="http://schemas.microsoft.com/office/drawing/2014/main" id="{7BFA7E5B-58D7-992A-D7A1-1F41282E1F65}"/>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55" name="TextBox 54">
            <a:extLst>
              <a:ext uri="{FF2B5EF4-FFF2-40B4-BE49-F238E27FC236}">
                <a16:creationId xmlns:a16="http://schemas.microsoft.com/office/drawing/2014/main" id="{E824AB6B-3D18-B91A-71D8-88058B1D5A6F}"/>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
        <p:nvSpPr>
          <p:cNvPr id="3" name="Oval 2">
            <a:extLst>
              <a:ext uri="{FF2B5EF4-FFF2-40B4-BE49-F238E27FC236}">
                <a16:creationId xmlns:a16="http://schemas.microsoft.com/office/drawing/2014/main" id="{57FCFBE1-7AE7-0F36-744A-DCC5530ED53E}"/>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7" name="Oval 6">
            <a:extLst>
              <a:ext uri="{FF2B5EF4-FFF2-40B4-BE49-F238E27FC236}">
                <a16:creationId xmlns:a16="http://schemas.microsoft.com/office/drawing/2014/main" id="{1FC08E0F-80C8-ED9B-6419-CCC5605BD6A1}"/>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8" name="Straight Arrow Connector 7">
            <a:extLst>
              <a:ext uri="{FF2B5EF4-FFF2-40B4-BE49-F238E27FC236}">
                <a16:creationId xmlns:a16="http://schemas.microsoft.com/office/drawing/2014/main" id="{2B97687B-09C8-7361-31F0-DC2DF0E0603E}"/>
              </a:ext>
            </a:extLst>
          </p:cNvPr>
          <p:cNvCxnSpPr>
            <a:stCxn id="3" idx="6"/>
            <a:endCxn id="7"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Oval 8">
            <a:extLst>
              <a:ext uri="{FF2B5EF4-FFF2-40B4-BE49-F238E27FC236}">
                <a16:creationId xmlns:a16="http://schemas.microsoft.com/office/drawing/2014/main" id="{97F52CAA-ADD1-30F3-D5AB-474DB7A90E52}"/>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0" name="Straight Arrow Connector 9">
            <a:extLst>
              <a:ext uri="{FF2B5EF4-FFF2-40B4-BE49-F238E27FC236}">
                <a16:creationId xmlns:a16="http://schemas.microsoft.com/office/drawing/2014/main" id="{08139E90-C010-AB01-378D-8CABFF6628F5}"/>
              </a:ext>
            </a:extLst>
          </p:cNvPr>
          <p:cNvCxnSpPr>
            <a:cxnSpLocks/>
            <a:stCxn id="9" idx="3"/>
            <a:endCxn id="3"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4755DBA0-756D-98A0-6A9D-BFAE5DDBF0DC}"/>
              </a:ext>
            </a:extLst>
          </p:cNvPr>
          <p:cNvCxnSpPr>
            <a:cxnSpLocks/>
            <a:stCxn id="9" idx="5"/>
            <a:endCxn id="7"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E35C3A2B-6B4C-3FAD-D115-E5AED7F60992}"/>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graphicFrame>
        <p:nvGraphicFramePr>
          <p:cNvPr id="14" name="Table 13">
            <a:extLst>
              <a:ext uri="{FF2B5EF4-FFF2-40B4-BE49-F238E27FC236}">
                <a16:creationId xmlns:a16="http://schemas.microsoft.com/office/drawing/2014/main" id="{49BEDFDC-DE5A-2C20-4A98-A5586DFFCD3B}"/>
              </a:ext>
            </a:extLst>
          </p:cNvPr>
          <p:cNvGraphicFramePr>
            <a:graphicFrameLocks noGrp="1"/>
          </p:cNvGraphicFramePr>
          <p:nvPr>
            <p:extLst>
              <p:ext uri="{D42A27DB-BD31-4B8C-83A1-F6EECF244321}">
                <p14:modId xmlns:p14="http://schemas.microsoft.com/office/powerpoint/2010/main" val="1400070567"/>
              </p:ext>
            </p:extLst>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grpSp>
        <p:nvGrpSpPr>
          <p:cNvPr id="18" name="Group 17">
            <a:extLst>
              <a:ext uri="{FF2B5EF4-FFF2-40B4-BE49-F238E27FC236}">
                <a16:creationId xmlns:a16="http://schemas.microsoft.com/office/drawing/2014/main" id="{7D9B8F8A-34BB-E282-83EF-B5960C399467}"/>
              </a:ext>
            </a:extLst>
          </p:cNvPr>
          <p:cNvGrpSpPr/>
          <p:nvPr/>
        </p:nvGrpSpPr>
        <p:grpSpPr>
          <a:xfrm>
            <a:off x="5594155" y="4966741"/>
            <a:ext cx="6154149" cy="946595"/>
            <a:chOff x="775412" y="5230368"/>
            <a:chExt cx="6154149" cy="946595"/>
          </a:xfrm>
        </p:grpSpPr>
        <p:sp>
          <p:nvSpPr>
            <p:cNvPr id="19" name="Rectangle: Rounded Corners 18">
              <a:extLst>
                <a:ext uri="{FF2B5EF4-FFF2-40B4-BE49-F238E27FC236}">
                  <a16:creationId xmlns:a16="http://schemas.microsoft.com/office/drawing/2014/main" id="{F576B073-B86E-852E-CB2F-7A6F8620EB69}"/>
                </a:ext>
              </a:extLst>
            </p:cNvPr>
            <p:cNvSpPr/>
            <p:nvPr/>
          </p:nvSpPr>
          <p:spPr>
            <a:xfrm>
              <a:off x="775412" y="5230368"/>
              <a:ext cx="615414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SE" noProof="0" dirty="0">
                  <a:solidFill>
                    <a:schemeClr val="bg1"/>
                  </a:solidFill>
                </a:rPr>
                <a:t>Not collecting data about a confounder will threaten the internal validity of your result</a:t>
              </a:r>
              <a:endParaRPr lang="en-US" noProof="0" dirty="0">
                <a:solidFill>
                  <a:srgbClr val="006D70"/>
                </a:solidFill>
              </a:endParaRPr>
            </a:p>
          </p:txBody>
        </p:sp>
        <p:pic>
          <p:nvPicPr>
            <p:cNvPr id="22" name="Graphic 21" descr="Open quotation mark with solid fill">
              <a:extLst>
                <a:ext uri="{FF2B5EF4-FFF2-40B4-BE49-F238E27FC236}">
                  <a16:creationId xmlns:a16="http://schemas.microsoft.com/office/drawing/2014/main" id="{2ACB02D8-97B7-A2F9-3927-C5BE1DE6EC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2539505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B67A6-1EB5-1F8C-24F5-406F203DB75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FB8FB47-E37E-3187-277B-30FFE1AD73C1}"/>
              </a:ext>
            </a:extLst>
          </p:cNvPr>
          <p:cNvGraphicFramePr>
            <a:graphicFrameLocks noGrp="1"/>
          </p:cNvGraphicFramePr>
          <p:nvPr>
            <p:extLst>
              <p:ext uri="{D42A27DB-BD31-4B8C-83A1-F6EECF244321}">
                <p14:modId xmlns:p14="http://schemas.microsoft.com/office/powerpoint/2010/main" val="775161026"/>
              </p:ext>
            </p:extLst>
          </p:nvPr>
        </p:nvGraphicFramePr>
        <p:xfrm>
          <a:off x="9138812" y="2614326"/>
          <a:ext cx="10033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extLst>
                  <a:ext uri="{0D108BD9-81ED-4DB2-BD59-A6C34878D82A}">
                    <a16:rowId xmlns:a16="http://schemas.microsoft.com/office/drawing/2014/main" val="143162048"/>
                  </a:ext>
                </a:extLst>
              </a:tr>
            </a:tbl>
          </a:graphicData>
        </a:graphic>
      </p:graphicFrame>
      <p:sp>
        <p:nvSpPr>
          <p:cNvPr id="2" name="Title 1">
            <a:extLst>
              <a:ext uri="{FF2B5EF4-FFF2-40B4-BE49-F238E27FC236}">
                <a16:creationId xmlns:a16="http://schemas.microsoft.com/office/drawing/2014/main" id="{DB73D9A2-39FA-C689-C166-FA4773F5E936}"/>
              </a:ext>
            </a:extLst>
          </p:cNvPr>
          <p:cNvSpPr>
            <a:spLocks noGrp="1"/>
          </p:cNvSpPr>
          <p:nvPr>
            <p:ph type="title"/>
          </p:nvPr>
        </p:nvSpPr>
        <p:spPr/>
        <p:txBody>
          <a:bodyPr/>
          <a:lstStyle/>
          <a:p>
            <a:r>
              <a:rPr lang="en-US" noProof="0" dirty="0"/>
              <a:t>Scientific Workflow: Better</a:t>
            </a:r>
          </a:p>
        </p:txBody>
      </p:sp>
      <p:sp>
        <p:nvSpPr>
          <p:cNvPr id="4" name="Date Placeholder 3">
            <a:extLst>
              <a:ext uri="{FF2B5EF4-FFF2-40B4-BE49-F238E27FC236}">
                <a16:creationId xmlns:a16="http://schemas.microsoft.com/office/drawing/2014/main" id="{9B1230E7-B377-78FF-B9D1-DC26E8D70E22}"/>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C403FBA6-7408-A2AE-DED3-904673DE5DA4}"/>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1513FC76-6AA8-691B-903E-4F915739E612}"/>
              </a:ext>
            </a:extLst>
          </p:cNvPr>
          <p:cNvSpPr>
            <a:spLocks noGrp="1"/>
          </p:cNvSpPr>
          <p:nvPr>
            <p:ph type="sldNum" sz="quarter" idx="12"/>
          </p:nvPr>
        </p:nvSpPr>
        <p:spPr/>
        <p:txBody>
          <a:bodyPr/>
          <a:lstStyle/>
          <a:p>
            <a:fld id="{0FA2D919-C0DE-4971-A2E9-D4AC0031921B}" type="slidenum">
              <a:rPr lang="en-US" noProof="0" smtClean="0"/>
              <a:t>75</a:t>
            </a:fld>
            <a:endParaRPr lang="en-US" noProof="0" dirty="0"/>
          </a:p>
        </p:txBody>
      </p:sp>
      <p:grpSp>
        <p:nvGrpSpPr>
          <p:cNvPr id="33" name="Group 32">
            <a:extLst>
              <a:ext uri="{FF2B5EF4-FFF2-40B4-BE49-F238E27FC236}">
                <a16:creationId xmlns:a16="http://schemas.microsoft.com/office/drawing/2014/main" id="{118D6BCF-A77F-B779-7864-20F46CC3EC23}"/>
              </a:ext>
            </a:extLst>
          </p:cNvPr>
          <p:cNvGrpSpPr/>
          <p:nvPr/>
        </p:nvGrpSpPr>
        <p:grpSpPr>
          <a:xfrm>
            <a:off x="844469" y="1692900"/>
            <a:ext cx="540000" cy="540000"/>
            <a:chOff x="838200" y="1905000"/>
            <a:chExt cx="1080000" cy="1080000"/>
          </a:xfrm>
        </p:grpSpPr>
        <p:sp>
          <p:nvSpPr>
            <p:cNvPr id="34" name="Oval 33">
              <a:extLst>
                <a:ext uri="{FF2B5EF4-FFF2-40B4-BE49-F238E27FC236}">
                  <a16:creationId xmlns:a16="http://schemas.microsoft.com/office/drawing/2014/main" id="{681CE8E9-C326-F8CF-91D3-0947C6AB28DC}"/>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5" name="Graphic 34" descr="Influencer with solid fill">
              <a:extLst>
                <a:ext uri="{FF2B5EF4-FFF2-40B4-BE49-F238E27FC236}">
                  <a16:creationId xmlns:a16="http://schemas.microsoft.com/office/drawing/2014/main" id="{E9970666-9C54-9156-0873-C2D003CB75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36" name="Group 35">
            <a:extLst>
              <a:ext uri="{FF2B5EF4-FFF2-40B4-BE49-F238E27FC236}">
                <a16:creationId xmlns:a16="http://schemas.microsoft.com/office/drawing/2014/main" id="{65AA9DB3-3FBA-0321-297F-D8C4F27F4F40}"/>
              </a:ext>
            </a:extLst>
          </p:cNvPr>
          <p:cNvGrpSpPr/>
          <p:nvPr/>
        </p:nvGrpSpPr>
        <p:grpSpPr>
          <a:xfrm>
            <a:off x="844469" y="2414554"/>
            <a:ext cx="540000" cy="540000"/>
            <a:chOff x="838200" y="1905000"/>
            <a:chExt cx="1080000" cy="1080000"/>
          </a:xfrm>
        </p:grpSpPr>
        <p:sp>
          <p:nvSpPr>
            <p:cNvPr id="37" name="Oval 36">
              <a:extLst>
                <a:ext uri="{FF2B5EF4-FFF2-40B4-BE49-F238E27FC236}">
                  <a16:creationId xmlns:a16="http://schemas.microsoft.com/office/drawing/2014/main" id="{AC213989-8BF5-E37B-7858-0656A005B59F}"/>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c 37" descr="Magnifying glass with solid fill">
              <a:extLst>
                <a:ext uri="{FF2B5EF4-FFF2-40B4-BE49-F238E27FC236}">
                  <a16:creationId xmlns:a16="http://schemas.microsoft.com/office/drawing/2014/main" id="{02537067-5798-CB16-FE54-E447305BD70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grpSp>
        <p:nvGrpSpPr>
          <p:cNvPr id="39" name="Group 38">
            <a:extLst>
              <a:ext uri="{FF2B5EF4-FFF2-40B4-BE49-F238E27FC236}">
                <a16:creationId xmlns:a16="http://schemas.microsoft.com/office/drawing/2014/main" id="{8FD8BF5D-4A48-8C5B-86AB-C27DC7299019}"/>
              </a:ext>
            </a:extLst>
          </p:cNvPr>
          <p:cNvGrpSpPr/>
          <p:nvPr/>
        </p:nvGrpSpPr>
        <p:grpSpPr>
          <a:xfrm>
            <a:off x="838200" y="3850827"/>
            <a:ext cx="540000" cy="540000"/>
            <a:chOff x="838200" y="1905000"/>
            <a:chExt cx="1080000" cy="1080000"/>
          </a:xfrm>
        </p:grpSpPr>
        <p:sp>
          <p:nvSpPr>
            <p:cNvPr id="40" name="Oval 39">
              <a:extLst>
                <a:ext uri="{FF2B5EF4-FFF2-40B4-BE49-F238E27FC236}">
                  <a16:creationId xmlns:a16="http://schemas.microsoft.com/office/drawing/2014/main" id="{E928EABB-820B-748C-976C-553660D0A1E1}"/>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1" name="Graphic 40" descr="Normal Distribution with solid fill">
              <a:extLst>
                <a:ext uri="{FF2B5EF4-FFF2-40B4-BE49-F238E27FC236}">
                  <a16:creationId xmlns:a16="http://schemas.microsoft.com/office/drawing/2014/main" id="{5F05D5BA-81B3-713E-5D83-6D6F880BFD1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2" name="Straight Arrow Connector 41">
            <a:extLst>
              <a:ext uri="{FF2B5EF4-FFF2-40B4-BE49-F238E27FC236}">
                <a16:creationId xmlns:a16="http://schemas.microsoft.com/office/drawing/2014/main" id="{F82552B0-4A86-8593-12AF-5A903D07DF7F}"/>
              </a:ext>
            </a:extLst>
          </p:cNvPr>
          <p:cNvCxnSpPr>
            <a:stCxn id="34" idx="4"/>
            <a:endCxn id="37" idx="0"/>
          </p:cNvCxnSpPr>
          <p:nvPr/>
        </p:nvCxnSpPr>
        <p:spPr>
          <a:xfrm>
            <a:off x="1114469" y="2232900"/>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B583DB3-7E16-FFA2-DACF-DB5077AA59D4}"/>
              </a:ext>
            </a:extLst>
          </p:cNvPr>
          <p:cNvCxnSpPr>
            <a:cxnSpLocks/>
            <a:stCxn id="37" idx="4"/>
            <a:endCxn id="45" idx="0"/>
          </p:cNvCxnSpPr>
          <p:nvPr/>
        </p:nvCxnSpPr>
        <p:spPr>
          <a:xfrm flipH="1">
            <a:off x="1111762" y="2954554"/>
            <a:ext cx="2707" cy="1760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A75810D6-6BE8-EDD9-208B-1191F28CC5BC}"/>
              </a:ext>
            </a:extLst>
          </p:cNvPr>
          <p:cNvGrpSpPr/>
          <p:nvPr/>
        </p:nvGrpSpPr>
        <p:grpSpPr>
          <a:xfrm>
            <a:off x="841762" y="3130555"/>
            <a:ext cx="540000" cy="540000"/>
            <a:chOff x="838200" y="1905000"/>
            <a:chExt cx="1080000" cy="1080000"/>
          </a:xfrm>
        </p:grpSpPr>
        <p:sp>
          <p:nvSpPr>
            <p:cNvPr id="45" name="Oval 44">
              <a:extLst>
                <a:ext uri="{FF2B5EF4-FFF2-40B4-BE49-F238E27FC236}">
                  <a16:creationId xmlns:a16="http://schemas.microsoft.com/office/drawing/2014/main" id="{B774EFB2-C2EB-0D34-F92C-165789BB5D45}"/>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c 45" descr="Database with solid fill">
              <a:extLst>
                <a:ext uri="{FF2B5EF4-FFF2-40B4-BE49-F238E27FC236}">
                  <a16:creationId xmlns:a16="http://schemas.microsoft.com/office/drawing/2014/main" id="{232B01EB-1108-3F76-B015-55629E6F920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cxnSp>
        <p:nvCxnSpPr>
          <p:cNvPr id="47" name="Straight Arrow Connector 46">
            <a:extLst>
              <a:ext uri="{FF2B5EF4-FFF2-40B4-BE49-F238E27FC236}">
                <a16:creationId xmlns:a16="http://schemas.microsoft.com/office/drawing/2014/main" id="{D4D62CAE-22A3-B541-83A7-69BB754D5E7C}"/>
              </a:ext>
            </a:extLst>
          </p:cNvPr>
          <p:cNvCxnSpPr>
            <a:cxnSpLocks/>
            <a:stCxn id="45" idx="4"/>
            <a:endCxn id="40" idx="0"/>
          </p:cNvCxnSpPr>
          <p:nvPr/>
        </p:nvCxnSpPr>
        <p:spPr>
          <a:xfrm flipH="1">
            <a:off x="1108200" y="3670555"/>
            <a:ext cx="3562" cy="1802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98E1EBC3-D461-BF52-4FDD-84BDDCC3DA3F}"/>
              </a:ext>
            </a:extLst>
          </p:cNvPr>
          <p:cNvSpPr txBox="1"/>
          <p:nvPr/>
        </p:nvSpPr>
        <p:spPr>
          <a:xfrm>
            <a:off x="1432842" y="1734300"/>
            <a:ext cx="1486304" cy="461665"/>
          </a:xfrm>
          <a:prstGeom prst="rect">
            <a:avLst/>
          </a:prstGeom>
          <a:noFill/>
        </p:spPr>
        <p:txBody>
          <a:bodyPr wrap="none" rtlCol="0">
            <a:spAutoFit/>
          </a:bodyPr>
          <a:lstStyle/>
          <a:p>
            <a:r>
              <a:rPr lang="en-US" sz="2400" noProof="0" dirty="0"/>
              <a:t>Modelling</a:t>
            </a:r>
            <a:endParaRPr lang="en-US" noProof="0" dirty="0"/>
          </a:p>
        </p:txBody>
      </p:sp>
      <p:sp>
        <p:nvSpPr>
          <p:cNvPr id="51" name="TextBox 50">
            <a:extLst>
              <a:ext uri="{FF2B5EF4-FFF2-40B4-BE49-F238E27FC236}">
                <a16:creationId xmlns:a16="http://schemas.microsoft.com/office/drawing/2014/main" id="{7B18B30A-3438-0138-0BA4-C213EEC13FAC}"/>
              </a:ext>
            </a:extLst>
          </p:cNvPr>
          <p:cNvSpPr txBox="1"/>
          <p:nvPr/>
        </p:nvSpPr>
        <p:spPr>
          <a:xfrm>
            <a:off x="1439923" y="2453721"/>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2" name="TextBox 51">
            <a:extLst>
              <a:ext uri="{FF2B5EF4-FFF2-40B4-BE49-F238E27FC236}">
                <a16:creationId xmlns:a16="http://schemas.microsoft.com/office/drawing/2014/main" id="{050E7470-4CFA-0757-7F86-D80B5AC310EE}"/>
              </a:ext>
            </a:extLst>
          </p:cNvPr>
          <p:cNvSpPr txBox="1"/>
          <p:nvPr/>
        </p:nvSpPr>
        <p:spPr>
          <a:xfrm>
            <a:off x="1439923" y="3886530"/>
            <a:ext cx="1613262" cy="461665"/>
          </a:xfrm>
          <a:prstGeom prst="rect">
            <a:avLst/>
          </a:prstGeom>
          <a:noFill/>
        </p:spPr>
        <p:txBody>
          <a:bodyPr wrap="none" rtlCol="0">
            <a:spAutoFit/>
          </a:bodyPr>
          <a:lstStyle/>
          <a:p>
            <a:r>
              <a:rPr lang="en-US" sz="2400" noProof="0" dirty="0"/>
              <a:t>Estimation</a:t>
            </a:r>
            <a:endParaRPr lang="en-US" noProof="0" dirty="0"/>
          </a:p>
        </p:txBody>
      </p:sp>
      <p:sp>
        <p:nvSpPr>
          <p:cNvPr id="53" name="TextBox 52">
            <a:extLst>
              <a:ext uri="{FF2B5EF4-FFF2-40B4-BE49-F238E27FC236}">
                <a16:creationId xmlns:a16="http://schemas.microsoft.com/office/drawing/2014/main" id="{9A1D03E8-264F-255C-691D-4C695FF0D912}"/>
              </a:ext>
            </a:extLst>
          </p:cNvPr>
          <p:cNvSpPr txBox="1"/>
          <p:nvPr/>
        </p:nvSpPr>
        <p:spPr>
          <a:xfrm>
            <a:off x="1437216" y="3160064"/>
            <a:ext cx="2261132" cy="461665"/>
          </a:xfrm>
          <a:prstGeom prst="rect">
            <a:avLst/>
          </a:prstGeom>
          <a:noFill/>
        </p:spPr>
        <p:txBody>
          <a:bodyPr wrap="none" rtlCol="0">
            <a:spAutoFit/>
          </a:bodyPr>
          <a:lstStyle/>
          <a:p>
            <a:r>
              <a:rPr lang="en-US" sz="2400" noProof="0" dirty="0"/>
              <a:t>Data Collection</a:t>
            </a:r>
            <a:endParaRPr lang="en-US" noProof="0" dirty="0"/>
          </a:p>
        </p:txBody>
      </p:sp>
      <p:sp>
        <p:nvSpPr>
          <p:cNvPr id="25" name="Oval 24">
            <a:extLst>
              <a:ext uri="{FF2B5EF4-FFF2-40B4-BE49-F238E27FC236}">
                <a16:creationId xmlns:a16="http://schemas.microsoft.com/office/drawing/2014/main" id="{A0A8F6DC-AB13-D577-C8EF-E78AF6374E18}"/>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28" name="Oval 27">
            <a:extLst>
              <a:ext uri="{FF2B5EF4-FFF2-40B4-BE49-F238E27FC236}">
                <a16:creationId xmlns:a16="http://schemas.microsoft.com/office/drawing/2014/main" id="{6631B0BE-4FE4-C9F7-8496-28128BE0EBEA}"/>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29" name="Straight Arrow Connector 28">
            <a:extLst>
              <a:ext uri="{FF2B5EF4-FFF2-40B4-BE49-F238E27FC236}">
                <a16:creationId xmlns:a16="http://schemas.microsoft.com/office/drawing/2014/main" id="{E4904916-B9A6-506D-C836-6B68D41C44B4}"/>
              </a:ext>
            </a:extLst>
          </p:cNvPr>
          <p:cNvCxnSpPr>
            <a:stCxn id="25" idx="6"/>
            <a:endCxn id="28"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Oval 30">
            <a:extLst>
              <a:ext uri="{FF2B5EF4-FFF2-40B4-BE49-F238E27FC236}">
                <a16:creationId xmlns:a16="http://schemas.microsoft.com/office/drawing/2014/main" id="{372F5A25-7489-93BD-DBD3-8C09AF811B31}"/>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32" name="Straight Arrow Connector 31">
            <a:extLst>
              <a:ext uri="{FF2B5EF4-FFF2-40B4-BE49-F238E27FC236}">
                <a16:creationId xmlns:a16="http://schemas.microsoft.com/office/drawing/2014/main" id="{64719ACE-3156-368D-AC81-7AE815CDCD73}"/>
              </a:ext>
            </a:extLst>
          </p:cNvPr>
          <p:cNvCxnSpPr>
            <a:cxnSpLocks/>
            <a:stCxn id="31" idx="3"/>
            <a:endCxn id="25"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630CC391-D3A2-F969-996B-C79F73AC1BE9}"/>
              </a:ext>
            </a:extLst>
          </p:cNvPr>
          <p:cNvCxnSpPr>
            <a:cxnSpLocks/>
            <a:stCxn id="31" idx="5"/>
            <a:endCxn id="28"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DF933D17-4A84-1321-E180-FC73E507ADBC}"/>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graphicFrame>
        <p:nvGraphicFramePr>
          <p:cNvPr id="60" name="Table 59">
            <a:extLst>
              <a:ext uri="{FF2B5EF4-FFF2-40B4-BE49-F238E27FC236}">
                <a16:creationId xmlns:a16="http://schemas.microsoft.com/office/drawing/2014/main" id="{3B4E4FFB-5BE0-0094-1402-CEB6C54A87F7}"/>
              </a:ext>
            </a:extLst>
          </p:cNvPr>
          <p:cNvGraphicFramePr>
            <a:graphicFrameLocks noGrp="1"/>
          </p:cNvGraphicFramePr>
          <p:nvPr>
            <p:extLst>
              <p:ext uri="{D42A27DB-BD31-4B8C-83A1-F6EECF244321}">
                <p14:modId xmlns:p14="http://schemas.microsoft.com/office/powerpoint/2010/main" val="495783393"/>
              </p:ext>
            </p:extLst>
          </p:nvPr>
        </p:nvGraphicFramePr>
        <p:xfrm>
          <a:off x="9138812" y="2614326"/>
          <a:ext cx="150495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gridCol w="501650">
                  <a:extLst>
                    <a:ext uri="{9D8B030D-6E8A-4147-A177-3AD203B41FA5}">
                      <a16:colId xmlns:a16="http://schemas.microsoft.com/office/drawing/2014/main" val="515357490"/>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tc>
                  <a:txBody>
                    <a:bodyPr/>
                    <a:lstStyle/>
                    <a:p>
                      <a:r>
                        <a:rPr lang="en-US" noProof="0" dirty="0">
                          <a:solidFill>
                            <a:schemeClr val="tx1"/>
                          </a:solidFill>
                        </a:rPr>
                        <a:t>z</a:t>
                      </a:r>
                    </a:p>
                  </a:txBody>
                  <a:tcPr>
                    <a:solidFill>
                      <a:schemeClr val="bg1">
                        <a:lumMod val="85000"/>
                      </a:schemeClr>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extLst>
                  <a:ext uri="{0D108BD9-81ED-4DB2-BD59-A6C34878D82A}">
                    <a16:rowId xmlns:a16="http://schemas.microsoft.com/office/drawing/2014/main" val="143162048"/>
                  </a:ext>
                </a:extLst>
              </a:tr>
            </a:tbl>
          </a:graphicData>
        </a:graphic>
      </p:graphicFrame>
      <p:sp>
        <p:nvSpPr>
          <p:cNvPr id="61" name="TextBox 60">
            <a:extLst>
              <a:ext uri="{FF2B5EF4-FFF2-40B4-BE49-F238E27FC236}">
                <a16:creationId xmlns:a16="http://schemas.microsoft.com/office/drawing/2014/main" id="{55329C02-3C0B-96AA-E2F4-CBD2B574443A}"/>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62" name="TextBox 61">
            <a:extLst>
              <a:ext uri="{FF2B5EF4-FFF2-40B4-BE49-F238E27FC236}">
                <a16:creationId xmlns:a16="http://schemas.microsoft.com/office/drawing/2014/main" id="{A8C493A9-C56F-3EBF-B329-CF24AC2B1C09}"/>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grpSp>
        <p:nvGrpSpPr>
          <p:cNvPr id="64" name="Group 63">
            <a:extLst>
              <a:ext uri="{FF2B5EF4-FFF2-40B4-BE49-F238E27FC236}">
                <a16:creationId xmlns:a16="http://schemas.microsoft.com/office/drawing/2014/main" id="{193598F5-951A-56F3-BBEF-61C1856BE23B}"/>
              </a:ext>
            </a:extLst>
          </p:cNvPr>
          <p:cNvGrpSpPr/>
          <p:nvPr/>
        </p:nvGrpSpPr>
        <p:grpSpPr>
          <a:xfrm>
            <a:off x="838200" y="4908923"/>
            <a:ext cx="10515599" cy="946595"/>
            <a:chOff x="775411" y="5230368"/>
            <a:chExt cx="10515599" cy="946595"/>
          </a:xfrm>
        </p:grpSpPr>
        <p:sp>
          <p:nvSpPr>
            <p:cNvPr id="65" name="Rectangle: Rounded Corners 64">
              <a:extLst>
                <a:ext uri="{FF2B5EF4-FFF2-40B4-BE49-F238E27FC236}">
                  <a16:creationId xmlns:a16="http://schemas.microsoft.com/office/drawing/2014/main" id="{6DE7F9E6-E4E8-1C2B-B20A-4B7D281BBAD6}"/>
                </a:ext>
              </a:extLst>
            </p:cNvPr>
            <p:cNvSpPr/>
            <p:nvPr/>
          </p:nvSpPr>
          <p:spPr>
            <a:xfrm>
              <a:off x="775411" y="5230368"/>
              <a:ext cx="10515599" cy="946595"/>
            </a:xfrm>
            <a:prstGeom prst="roundRect">
              <a:avLst/>
            </a:prstGeom>
            <a:solidFill>
              <a:schemeClr val="tx2"/>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12000" rtlCol="0" anchor="ctr"/>
            <a:lstStyle/>
            <a:p>
              <a:r>
                <a:rPr lang="en-US" noProof="0" dirty="0"/>
                <a:t>Determine the variables about which you need to collect data in order to estimate an unbiased effect of interest </a:t>
              </a:r>
              <a:r>
                <a:rPr lang="en-US" i="1" noProof="0" dirty="0"/>
                <a:t>before </a:t>
              </a:r>
              <a:r>
                <a:rPr lang="en-US" noProof="0" dirty="0"/>
                <a:t>collecting that data.</a:t>
              </a:r>
            </a:p>
          </p:txBody>
        </p:sp>
        <p:pic>
          <p:nvPicPr>
            <p:cNvPr id="66" name="Graphic 65" descr="Open quotation mark with solid fill">
              <a:extLst>
                <a:ext uri="{FF2B5EF4-FFF2-40B4-BE49-F238E27FC236}">
                  <a16:creationId xmlns:a16="http://schemas.microsoft.com/office/drawing/2014/main" id="{E4B5AC4F-E187-1562-511D-443BD5D23F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775412" y="5343665"/>
              <a:ext cx="720000" cy="720000"/>
            </a:xfrm>
            <a:prstGeom prst="rect">
              <a:avLst/>
            </a:prstGeom>
          </p:spPr>
        </p:pic>
      </p:grpSp>
    </p:spTree>
    <p:extLst>
      <p:ext uri="{BB962C8B-B14F-4D97-AF65-F5344CB8AC3E}">
        <p14:creationId xmlns:p14="http://schemas.microsoft.com/office/powerpoint/2010/main" val="1574930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fade">
                                      <p:cBhvr>
                                        <p:cTn id="11" dur="500"/>
                                        <p:tgtEl>
                                          <p:spTgt spid="64"/>
                                        </p:tgtEl>
                                      </p:cBhvr>
                                    </p:animEffect>
                                    <p:anim calcmode="lin" valueType="num">
                                      <p:cBhvr>
                                        <p:cTn id="12" dur="500" fill="hold"/>
                                        <p:tgtEl>
                                          <p:spTgt spid="64"/>
                                        </p:tgtEl>
                                        <p:attrNameLst>
                                          <p:attrName>ppt_x</p:attrName>
                                        </p:attrNameLst>
                                      </p:cBhvr>
                                      <p:tavLst>
                                        <p:tav tm="0">
                                          <p:val>
                                            <p:strVal val="#ppt_x"/>
                                          </p:val>
                                        </p:tav>
                                        <p:tav tm="100000">
                                          <p:val>
                                            <p:strVal val="#ppt_x"/>
                                          </p:val>
                                        </p:tav>
                                      </p:tavLst>
                                    </p:anim>
                                    <p:anim calcmode="lin" valueType="num">
                                      <p:cBhvr>
                                        <p:cTn id="13" dur="5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9DD39-8B59-5D8C-09E9-AD8E40577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0B64E-8BC6-E2FE-ED99-91C802DEA58E}"/>
              </a:ext>
            </a:extLst>
          </p:cNvPr>
          <p:cNvSpPr>
            <a:spLocks noGrp="1"/>
          </p:cNvSpPr>
          <p:nvPr>
            <p:ph type="title"/>
          </p:nvPr>
        </p:nvSpPr>
        <p:spPr/>
        <p:txBody>
          <a:bodyPr/>
          <a:lstStyle/>
          <a:p>
            <a:r>
              <a:rPr lang="en-US" noProof="0" dirty="0"/>
              <a:t>Scientific Workflow: Best</a:t>
            </a:r>
          </a:p>
        </p:txBody>
      </p:sp>
      <p:sp>
        <p:nvSpPr>
          <p:cNvPr id="4" name="Date Placeholder 3">
            <a:extLst>
              <a:ext uri="{FF2B5EF4-FFF2-40B4-BE49-F238E27FC236}">
                <a16:creationId xmlns:a16="http://schemas.microsoft.com/office/drawing/2014/main" id="{95A91F56-9AAA-679F-8857-C6BA69F29280}"/>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8F42585-0E0B-FF6B-5755-28DAE2AC3B99}"/>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32535A42-47D3-638D-384E-C2D18C0DD390}"/>
              </a:ext>
            </a:extLst>
          </p:cNvPr>
          <p:cNvSpPr>
            <a:spLocks noGrp="1"/>
          </p:cNvSpPr>
          <p:nvPr>
            <p:ph type="sldNum" sz="quarter" idx="12"/>
          </p:nvPr>
        </p:nvSpPr>
        <p:spPr/>
        <p:txBody>
          <a:bodyPr/>
          <a:lstStyle/>
          <a:p>
            <a:fld id="{0FA2D919-C0DE-4971-A2E9-D4AC0031921B}" type="slidenum">
              <a:rPr lang="en-US" noProof="0" smtClean="0"/>
              <a:t>76</a:t>
            </a:fld>
            <a:endParaRPr lang="en-US" noProof="0" dirty="0"/>
          </a:p>
        </p:txBody>
      </p:sp>
      <p:sp>
        <p:nvSpPr>
          <p:cNvPr id="14" name="Oval 13">
            <a:extLst>
              <a:ext uri="{FF2B5EF4-FFF2-40B4-BE49-F238E27FC236}">
                <a16:creationId xmlns:a16="http://schemas.microsoft.com/office/drawing/2014/main" id="{BC331DDF-CB3E-904B-15EE-A67C71456020}"/>
              </a:ext>
            </a:extLst>
          </p:cNvPr>
          <p:cNvSpPr/>
          <p:nvPr/>
        </p:nvSpPr>
        <p:spPr>
          <a:xfrm>
            <a:off x="6458873" y="3479501"/>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x</a:t>
            </a:r>
          </a:p>
        </p:txBody>
      </p:sp>
      <p:sp>
        <p:nvSpPr>
          <p:cNvPr id="15" name="Oval 14">
            <a:extLst>
              <a:ext uri="{FF2B5EF4-FFF2-40B4-BE49-F238E27FC236}">
                <a16:creationId xmlns:a16="http://schemas.microsoft.com/office/drawing/2014/main" id="{3A75D904-EEA8-9B0A-A8DC-8D20264148A5}"/>
              </a:ext>
            </a:extLst>
          </p:cNvPr>
          <p:cNvSpPr/>
          <p:nvPr/>
        </p:nvSpPr>
        <p:spPr>
          <a:xfrm>
            <a:off x="7892286" y="3479501"/>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t>y</a:t>
            </a:r>
          </a:p>
        </p:txBody>
      </p:sp>
      <p:cxnSp>
        <p:nvCxnSpPr>
          <p:cNvPr id="16" name="Straight Arrow Connector 15">
            <a:extLst>
              <a:ext uri="{FF2B5EF4-FFF2-40B4-BE49-F238E27FC236}">
                <a16:creationId xmlns:a16="http://schemas.microsoft.com/office/drawing/2014/main" id="{A8A0A128-6EB9-C94F-41DD-3907C1461644}"/>
              </a:ext>
            </a:extLst>
          </p:cNvPr>
          <p:cNvCxnSpPr>
            <a:stCxn id="14" idx="6"/>
            <a:endCxn id="15" idx="2"/>
          </p:cNvCxnSpPr>
          <p:nvPr/>
        </p:nvCxnSpPr>
        <p:spPr>
          <a:xfrm>
            <a:off x="6818873" y="3659501"/>
            <a:ext cx="107341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2A88E45B-1F0F-0AB7-B354-FCD5A965618C}"/>
              </a:ext>
            </a:extLst>
          </p:cNvPr>
          <p:cNvSpPr/>
          <p:nvPr/>
        </p:nvSpPr>
        <p:spPr>
          <a:xfrm>
            <a:off x="7175578" y="2830463"/>
            <a:ext cx="360000" cy="36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z</a:t>
            </a:r>
          </a:p>
        </p:txBody>
      </p:sp>
      <p:cxnSp>
        <p:nvCxnSpPr>
          <p:cNvPr id="19" name="Straight Arrow Connector 18">
            <a:extLst>
              <a:ext uri="{FF2B5EF4-FFF2-40B4-BE49-F238E27FC236}">
                <a16:creationId xmlns:a16="http://schemas.microsoft.com/office/drawing/2014/main" id="{873CCAF2-7360-F88B-D789-132901BB1BDD}"/>
              </a:ext>
            </a:extLst>
          </p:cNvPr>
          <p:cNvCxnSpPr>
            <a:cxnSpLocks/>
            <a:stCxn id="18" idx="3"/>
            <a:endCxn id="14" idx="7"/>
          </p:cNvCxnSpPr>
          <p:nvPr/>
        </p:nvCxnSpPr>
        <p:spPr>
          <a:xfrm flipH="1">
            <a:off x="6766152" y="3137742"/>
            <a:ext cx="462147"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9F6BE72C-1F3B-C825-92A9-11708F24D109}"/>
              </a:ext>
            </a:extLst>
          </p:cNvPr>
          <p:cNvCxnSpPr>
            <a:cxnSpLocks/>
            <a:stCxn id="18" idx="5"/>
            <a:endCxn id="15" idx="1"/>
          </p:cNvCxnSpPr>
          <p:nvPr/>
        </p:nvCxnSpPr>
        <p:spPr>
          <a:xfrm>
            <a:off x="7482857" y="3137742"/>
            <a:ext cx="462150" cy="394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Oval 25">
            <a:extLst>
              <a:ext uri="{FF2B5EF4-FFF2-40B4-BE49-F238E27FC236}">
                <a16:creationId xmlns:a16="http://schemas.microsoft.com/office/drawing/2014/main" id="{5777570C-9AD2-9320-5DBB-022CC1B6D5EB}"/>
              </a:ext>
            </a:extLst>
          </p:cNvPr>
          <p:cNvSpPr/>
          <p:nvPr/>
        </p:nvSpPr>
        <p:spPr>
          <a:xfrm>
            <a:off x="7175578" y="4135645"/>
            <a:ext cx="360000" cy="360000"/>
          </a:xfrm>
          <a:prstGeom prst="ellipse">
            <a:avLst/>
          </a:prstGeom>
          <a:solidFill>
            <a:schemeClr val="bg1">
              <a:lumMod val="65000"/>
            </a:schemeClr>
          </a:solidFill>
          <a:ln>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rPr>
              <a:t>a</a:t>
            </a:r>
          </a:p>
        </p:txBody>
      </p:sp>
      <p:cxnSp>
        <p:nvCxnSpPr>
          <p:cNvPr id="27" name="Straight Arrow Connector 26">
            <a:extLst>
              <a:ext uri="{FF2B5EF4-FFF2-40B4-BE49-F238E27FC236}">
                <a16:creationId xmlns:a16="http://schemas.microsoft.com/office/drawing/2014/main" id="{B452CAC9-387F-DCFD-CD6D-86CB7DAFBAE3}"/>
              </a:ext>
            </a:extLst>
          </p:cNvPr>
          <p:cNvCxnSpPr>
            <a:cxnSpLocks/>
            <a:stCxn id="26" idx="7"/>
            <a:endCxn id="15" idx="3"/>
          </p:cNvCxnSpPr>
          <p:nvPr/>
        </p:nvCxnSpPr>
        <p:spPr>
          <a:xfrm flipV="1">
            <a:off x="7482857" y="3786780"/>
            <a:ext cx="462150"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663BD1A-242B-5871-C21B-AC3941A7170D}"/>
              </a:ext>
            </a:extLst>
          </p:cNvPr>
          <p:cNvCxnSpPr>
            <a:cxnSpLocks/>
            <a:stCxn id="26" idx="1"/>
            <a:endCxn id="14" idx="5"/>
          </p:cNvCxnSpPr>
          <p:nvPr/>
        </p:nvCxnSpPr>
        <p:spPr>
          <a:xfrm flipH="1" flipV="1">
            <a:off x="6766152" y="3786780"/>
            <a:ext cx="462147" cy="401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7" name="TextBox 56">
            <a:extLst>
              <a:ext uri="{FF2B5EF4-FFF2-40B4-BE49-F238E27FC236}">
                <a16:creationId xmlns:a16="http://schemas.microsoft.com/office/drawing/2014/main" id="{7486070D-16BB-3177-DCDB-14D9AA5BAA5E}"/>
              </a:ext>
            </a:extLst>
          </p:cNvPr>
          <p:cNvSpPr txBox="1"/>
          <p:nvPr/>
        </p:nvSpPr>
        <p:spPr>
          <a:xfrm>
            <a:off x="6394929" y="2091388"/>
            <a:ext cx="1921295" cy="646331"/>
          </a:xfrm>
          <a:prstGeom prst="rect">
            <a:avLst/>
          </a:prstGeom>
          <a:noFill/>
        </p:spPr>
        <p:txBody>
          <a:bodyPr wrap="none" rtlCol="0">
            <a:spAutoFit/>
          </a:bodyPr>
          <a:lstStyle/>
          <a:p>
            <a:pPr algn="ctr"/>
            <a:r>
              <a:rPr lang="en-US" noProof="0" dirty="0"/>
              <a:t>hard-to-measure </a:t>
            </a:r>
          </a:p>
          <a:p>
            <a:pPr algn="ctr"/>
            <a:r>
              <a:rPr lang="en-US" noProof="0" dirty="0"/>
              <a:t>confounder</a:t>
            </a:r>
          </a:p>
        </p:txBody>
      </p:sp>
      <p:sp>
        <p:nvSpPr>
          <p:cNvPr id="58" name="TextBox 57">
            <a:extLst>
              <a:ext uri="{FF2B5EF4-FFF2-40B4-BE49-F238E27FC236}">
                <a16:creationId xmlns:a16="http://schemas.microsoft.com/office/drawing/2014/main" id="{3EB52FC4-5315-19CF-37A0-35B296CEBD64}"/>
              </a:ext>
            </a:extLst>
          </p:cNvPr>
          <p:cNvSpPr txBox="1"/>
          <p:nvPr/>
        </p:nvSpPr>
        <p:spPr>
          <a:xfrm>
            <a:off x="6581421" y="4618660"/>
            <a:ext cx="1548309" cy="646331"/>
          </a:xfrm>
          <a:prstGeom prst="rect">
            <a:avLst/>
          </a:prstGeom>
          <a:noFill/>
        </p:spPr>
        <p:txBody>
          <a:bodyPr wrap="none" rtlCol="0">
            <a:spAutoFit/>
          </a:bodyPr>
          <a:lstStyle/>
          <a:p>
            <a:pPr algn="ctr"/>
            <a:r>
              <a:rPr lang="en-US" noProof="0" dirty="0"/>
              <a:t>unobservable</a:t>
            </a:r>
          </a:p>
          <a:p>
            <a:pPr algn="ctr"/>
            <a:r>
              <a:rPr lang="en-US" noProof="0" dirty="0"/>
              <a:t>confounder</a:t>
            </a:r>
          </a:p>
        </p:txBody>
      </p:sp>
      <p:graphicFrame>
        <p:nvGraphicFramePr>
          <p:cNvPr id="13" name="Table 12">
            <a:extLst>
              <a:ext uri="{FF2B5EF4-FFF2-40B4-BE49-F238E27FC236}">
                <a16:creationId xmlns:a16="http://schemas.microsoft.com/office/drawing/2014/main" id="{6401610E-1C53-2A26-F353-FC2E526CBA09}"/>
              </a:ext>
            </a:extLst>
          </p:cNvPr>
          <p:cNvGraphicFramePr>
            <a:graphicFrameLocks noGrp="1"/>
          </p:cNvGraphicFramePr>
          <p:nvPr>
            <p:extLst>
              <p:ext uri="{D42A27DB-BD31-4B8C-83A1-F6EECF244321}">
                <p14:modId xmlns:p14="http://schemas.microsoft.com/office/powerpoint/2010/main" val="2975754596"/>
              </p:ext>
            </p:extLst>
          </p:nvPr>
        </p:nvGraphicFramePr>
        <p:xfrm>
          <a:off x="9138812" y="2614326"/>
          <a:ext cx="2006600" cy="1828800"/>
        </p:xfrm>
        <a:graphic>
          <a:graphicData uri="http://schemas.openxmlformats.org/drawingml/2006/table">
            <a:tbl>
              <a:tblPr firstRow="1" bandRow="1">
                <a:tableStyleId>{5C22544A-7EE6-4342-B048-85BDC9FD1C3A}</a:tableStyleId>
              </a:tblPr>
              <a:tblGrid>
                <a:gridCol w="501650">
                  <a:extLst>
                    <a:ext uri="{9D8B030D-6E8A-4147-A177-3AD203B41FA5}">
                      <a16:colId xmlns:a16="http://schemas.microsoft.com/office/drawing/2014/main" val="421997289"/>
                    </a:ext>
                  </a:extLst>
                </a:gridCol>
                <a:gridCol w="501650">
                  <a:extLst>
                    <a:ext uri="{9D8B030D-6E8A-4147-A177-3AD203B41FA5}">
                      <a16:colId xmlns:a16="http://schemas.microsoft.com/office/drawing/2014/main" val="794981153"/>
                    </a:ext>
                  </a:extLst>
                </a:gridCol>
                <a:gridCol w="501650">
                  <a:extLst>
                    <a:ext uri="{9D8B030D-6E8A-4147-A177-3AD203B41FA5}">
                      <a16:colId xmlns:a16="http://schemas.microsoft.com/office/drawing/2014/main" val="515357490"/>
                    </a:ext>
                  </a:extLst>
                </a:gridCol>
                <a:gridCol w="501650">
                  <a:extLst>
                    <a:ext uri="{9D8B030D-6E8A-4147-A177-3AD203B41FA5}">
                      <a16:colId xmlns:a16="http://schemas.microsoft.com/office/drawing/2014/main" val="25261979"/>
                    </a:ext>
                  </a:extLst>
                </a:gridCol>
              </a:tblGrid>
              <a:tr h="0">
                <a:tc>
                  <a:txBody>
                    <a:bodyPr/>
                    <a:lstStyle/>
                    <a:p>
                      <a:r>
                        <a:rPr lang="en-US" noProof="0" dirty="0"/>
                        <a:t>x</a:t>
                      </a:r>
                    </a:p>
                  </a:txBody>
                  <a:tcPr>
                    <a:solidFill>
                      <a:srgbClr val="F8766D"/>
                    </a:solidFill>
                  </a:tcPr>
                </a:tc>
                <a:tc>
                  <a:txBody>
                    <a:bodyPr/>
                    <a:lstStyle/>
                    <a:p>
                      <a:r>
                        <a:rPr lang="en-US" noProof="0" dirty="0"/>
                        <a:t>y</a:t>
                      </a:r>
                    </a:p>
                  </a:txBody>
                  <a:tcPr>
                    <a:solidFill>
                      <a:srgbClr val="00BFC4"/>
                    </a:solidFill>
                  </a:tcPr>
                </a:tc>
                <a:tc>
                  <a:txBody>
                    <a:bodyPr/>
                    <a:lstStyle/>
                    <a:p>
                      <a:r>
                        <a:rPr lang="en-US" noProof="0" dirty="0">
                          <a:solidFill>
                            <a:schemeClr val="tx1"/>
                          </a:solidFill>
                        </a:rPr>
                        <a:t>z</a:t>
                      </a:r>
                    </a:p>
                  </a:txBody>
                  <a:tcPr>
                    <a:solidFill>
                      <a:schemeClr val="bg1">
                        <a:lumMod val="85000"/>
                      </a:schemeClr>
                    </a:solidFill>
                  </a:tcPr>
                </a:tc>
                <a:tc>
                  <a:txBody>
                    <a:bodyPr/>
                    <a:lstStyle/>
                    <a:p>
                      <a:r>
                        <a:rPr lang="en-US" noProof="0" dirty="0">
                          <a:solidFill>
                            <a:schemeClr val="tx1"/>
                          </a:solidFill>
                        </a:rPr>
                        <a:t>a</a:t>
                      </a:r>
                    </a:p>
                  </a:txBody>
                  <a:tcPr>
                    <a:solidFill>
                      <a:schemeClr val="bg1">
                        <a:lumMod val="65000"/>
                      </a:schemeClr>
                    </a:solidFill>
                  </a:tcPr>
                </a:tc>
                <a:extLst>
                  <a:ext uri="{0D108BD9-81ED-4DB2-BD59-A6C34878D82A}">
                    <a16:rowId xmlns:a16="http://schemas.microsoft.com/office/drawing/2014/main" val="1542626891"/>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tc>
                  <a:txBody>
                    <a:bodyPr/>
                    <a:lstStyle/>
                    <a:p>
                      <a:pPr algn="ctr"/>
                      <a:r>
                        <a:rPr lang="en-US" noProof="0" dirty="0">
                          <a:solidFill>
                            <a:srgbClr val="C00000"/>
                          </a:solidFill>
                        </a:rPr>
                        <a:t>x</a:t>
                      </a:r>
                    </a:p>
                  </a:txBody>
                  <a:tcPr>
                    <a:solidFill>
                      <a:schemeClr val="bg1">
                        <a:lumMod val="75000"/>
                      </a:schemeClr>
                    </a:solidFill>
                  </a:tcPr>
                </a:tc>
                <a:extLst>
                  <a:ext uri="{0D108BD9-81ED-4DB2-BD59-A6C34878D82A}">
                    <a16:rowId xmlns:a16="http://schemas.microsoft.com/office/drawing/2014/main" val="853162634"/>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tc>
                  <a:txBody>
                    <a:bodyPr/>
                    <a:lstStyle/>
                    <a:p>
                      <a:pPr algn="ctr"/>
                      <a:r>
                        <a:rPr lang="en-US" noProof="0" dirty="0">
                          <a:solidFill>
                            <a:srgbClr val="C00000"/>
                          </a:solidFill>
                        </a:rPr>
                        <a:t>x</a:t>
                      </a:r>
                    </a:p>
                  </a:txBody>
                  <a:tcPr>
                    <a:solidFill>
                      <a:schemeClr val="bg1">
                        <a:lumMod val="85000"/>
                      </a:schemeClr>
                    </a:solidFill>
                  </a:tcPr>
                </a:tc>
                <a:extLst>
                  <a:ext uri="{0D108BD9-81ED-4DB2-BD59-A6C34878D82A}">
                    <a16:rowId xmlns:a16="http://schemas.microsoft.com/office/drawing/2014/main" val="3084250803"/>
                  </a:ext>
                </a:extLst>
              </a:tr>
              <a:tr h="0">
                <a:tc>
                  <a:txBody>
                    <a:bodyPr/>
                    <a:lstStyle/>
                    <a:p>
                      <a:endParaRPr lang="en-US" noProof="0" dirty="0"/>
                    </a:p>
                  </a:txBody>
                  <a:tcPr/>
                </a:tc>
                <a:tc>
                  <a:txBody>
                    <a:bodyPr/>
                    <a:lstStyle/>
                    <a:p>
                      <a:endParaRPr lang="en-US" noProof="0" dirty="0"/>
                    </a:p>
                  </a:txBody>
                  <a:tcPr>
                    <a:solidFill>
                      <a:schemeClr val="accent3">
                        <a:lumMod val="40000"/>
                        <a:lumOff val="60000"/>
                      </a:schemeClr>
                    </a:solidFill>
                  </a:tcPr>
                </a:tc>
                <a:tc>
                  <a:txBody>
                    <a:bodyPr/>
                    <a:lstStyle/>
                    <a:p>
                      <a:endParaRPr lang="en-US" noProof="0" dirty="0"/>
                    </a:p>
                  </a:txBody>
                  <a:tcPr>
                    <a:solidFill>
                      <a:schemeClr val="bg1">
                        <a:lumMod val="95000"/>
                      </a:schemeClr>
                    </a:solidFill>
                  </a:tcPr>
                </a:tc>
                <a:tc>
                  <a:txBody>
                    <a:bodyPr/>
                    <a:lstStyle/>
                    <a:p>
                      <a:pPr algn="ctr"/>
                      <a:r>
                        <a:rPr lang="en-US" noProof="0" dirty="0">
                          <a:solidFill>
                            <a:srgbClr val="C00000"/>
                          </a:solidFill>
                        </a:rPr>
                        <a:t>x</a:t>
                      </a:r>
                    </a:p>
                  </a:txBody>
                  <a:tcPr>
                    <a:solidFill>
                      <a:schemeClr val="bg1">
                        <a:lumMod val="75000"/>
                      </a:schemeClr>
                    </a:solidFill>
                  </a:tcPr>
                </a:tc>
                <a:extLst>
                  <a:ext uri="{0D108BD9-81ED-4DB2-BD59-A6C34878D82A}">
                    <a16:rowId xmlns:a16="http://schemas.microsoft.com/office/drawing/2014/main" val="3356807227"/>
                  </a:ext>
                </a:extLst>
              </a:tr>
              <a:tr h="0">
                <a:tc>
                  <a:txBody>
                    <a:bodyPr/>
                    <a:lstStyle/>
                    <a:p>
                      <a:endParaRPr lang="en-US" noProof="0" dirty="0"/>
                    </a:p>
                  </a:txBody>
                  <a:tcPr/>
                </a:tc>
                <a:tc>
                  <a:txBody>
                    <a:bodyPr/>
                    <a:lstStyle/>
                    <a:p>
                      <a:endParaRPr lang="en-US" noProof="0" dirty="0"/>
                    </a:p>
                  </a:txBody>
                  <a:tcPr>
                    <a:solidFill>
                      <a:schemeClr val="accent3">
                        <a:lumMod val="20000"/>
                        <a:lumOff val="80000"/>
                      </a:schemeClr>
                    </a:solidFill>
                  </a:tcPr>
                </a:tc>
                <a:tc>
                  <a:txBody>
                    <a:bodyPr/>
                    <a:lstStyle/>
                    <a:p>
                      <a:endParaRPr lang="en-US" noProof="0" dirty="0"/>
                    </a:p>
                  </a:txBody>
                  <a:tcPr>
                    <a:solidFill>
                      <a:schemeClr val="bg1"/>
                    </a:solidFill>
                  </a:tcPr>
                </a:tc>
                <a:tc>
                  <a:txBody>
                    <a:bodyPr/>
                    <a:lstStyle/>
                    <a:p>
                      <a:pPr algn="ctr"/>
                      <a:r>
                        <a:rPr lang="en-US" noProof="0" dirty="0">
                          <a:solidFill>
                            <a:srgbClr val="C00000"/>
                          </a:solidFill>
                        </a:rPr>
                        <a:t>x</a:t>
                      </a:r>
                    </a:p>
                  </a:txBody>
                  <a:tcPr>
                    <a:solidFill>
                      <a:schemeClr val="bg1">
                        <a:lumMod val="85000"/>
                      </a:schemeClr>
                    </a:solidFill>
                  </a:tcPr>
                </a:tc>
                <a:extLst>
                  <a:ext uri="{0D108BD9-81ED-4DB2-BD59-A6C34878D82A}">
                    <a16:rowId xmlns:a16="http://schemas.microsoft.com/office/drawing/2014/main" val="143162048"/>
                  </a:ext>
                </a:extLst>
              </a:tr>
            </a:tbl>
          </a:graphicData>
        </a:graphic>
      </p:graphicFrame>
      <p:grpSp>
        <p:nvGrpSpPr>
          <p:cNvPr id="3" name="Group 2">
            <a:extLst>
              <a:ext uri="{FF2B5EF4-FFF2-40B4-BE49-F238E27FC236}">
                <a16:creationId xmlns:a16="http://schemas.microsoft.com/office/drawing/2014/main" id="{B315F2FB-EE3E-8E50-D5A5-5A276D7C295D}"/>
              </a:ext>
            </a:extLst>
          </p:cNvPr>
          <p:cNvGrpSpPr/>
          <p:nvPr/>
        </p:nvGrpSpPr>
        <p:grpSpPr>
          <a:xfrm>
            <a:off x="844469" y="1692900"/>
            <a:ext cx="540000" cy="540000"/>
            <a:chOff x="838200" y="1905000"/>
            <a:chExt cx="1080000" cy="1080000"/>
          </a:xfrm>
        </p:grpSpPr>
        <p:sp>
          <p:nvSpPr>
            <p:cNvPr id="10" name="Oval 9">
              <a:extLst>
                <a:ext uri="{FF2B5EF4-FFF2-40B4-BE49-F238E27FC236}">
                  <a16:creationId xmlns:a16="http://schemas.microsoft.com/office/drawing/2014/main" id="{436F8EEE-6F49-429D-884A-82BFBCB43D53}"/>
                </a:ext>
              </a:extLst>
            </p:cNvPr>
            <p:cNvSpPr/>
            <p:nvPr/>
          </p:nvSpPr>
          <p:spPr>
            <a:xfrm>
              <a:off x="838200" y="1905000"/>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with solid fill">
              <a:extLst>
                <a:ext uri="{FF2B5EF4-FFF2-40B4-BE49-F238E27FC236}">
                  <a16:creationId xmlns:a16="http://schemas.microsoft.com/office/drawing/2014/main" id="{509F22D0-B8F5-1B50-177C-025DEE3837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000" y="1987800"/>
              <a:ext cx="914400" cy="914400"/>
            </a:xfrm>
            <a:prstGeom prst="rect">
              <a:avLst/>
            </a:prstGeom>
          </p:spPr>
        </p:pic>
      </p:grpSp>
      <p:grpSp>
        <p:nvGrpSpPr>
          <p:cNvPr id="12" name="Group 11">
            <a:extLst>
              <a:ext uri="{FF2B5EF4-FFF2-40B4-BE49-F238E27FC236}">
                <a16:creationId xmlns:a16="http://schemas.microsoft.com/office/drawing/2014/main" id="{359F0EDA-DB96-A51F-971D-D63F2FDA7986}"/>
              </a:ext>
            </a:extLst>
          </p:cNvPr>
          <p:cNvGrpSpPr/>
          <p:nvPr/>
        </p:nvGrpSpPr>
        <p:grpSpPr>
          <a:xfrm>
            <a:off x="844469" y="2414554"/>
            <a:ext cx="540000" cy="540000"/>
            <a:chOff x="838200" y="1905000"/>
            <a:chExt cx="1080000" cy="1080000"/>
          </a:xfrm>
        </p:grpSpPr>
        <p:sp>
          <p:nvSpPr>
            <p:cNvPr id="17" name="Oval 16">
              <a:extLst>
                <a:ext uri="{FF2B5EF4-FFF2-40B4-BE49-F238E27FC236}">
                  <a16:creationId xmlns:a16="http://schemas.microsoft.com/office/drawing/2014/main" id="{572E1A1B-AFA7-3C01-0E14-C62C356B7508}"/>
                </a:ext>
              </a:extLst>
            </p:cNvPr>
            <p:cNvSpPr/>
            <p:nvPr/>
          </p:nvSpPr>
          <p:spPr>
            <a:xfrm>
              <a:off x="838200" y="1905000"/>
              <a:ext cx="1080000" cy="1080000"/>
            </a:xfrm>
            <a:prstGeom prst="ellipse">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0" name="Graphic 19" descr="Magnifying glass with solid fill">
              <a:extLst>
                <a:ext uri="{FF2B5EF4-FFF2-40B4-BE49-F238E27FC236}">
                  <a16:creationId xmlns:a16="http://schemas.microsoft.com/office/drawing/2014/main" id="{57F1DC1B-F82F-5608-1FAC-C5B5785CBA1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1000" y="1987800"/>
              <a:ext cx="914400" cy="914400"/>
            </a:xfrm>
            <a:prstGeom prst="rect">
              <a:avLst/>
            </a:prstGeom>
          </p:spPr>
        </p:pic>
      </p:grpSp>
      <p:cxnSp>
        <p:nvCxnSpPr>
          <p:cNvPr id="25" name="Straight Arrow Connector 24">
            <a:extLst>
              <a:ext uri="{FF2B5EF4-FFF2-40B4-BE49-F238E27FC236}">
                <a16:creationId xmlns:a16="http://schemas.microsoft.com/office/drawing/2014/main" id="{26EC8667-FF56-223D-B022-EAD26BF45B57}"/>
              </a:ext>
            </a:extLst>
          </p:cNvPr>
          <p:cNvCxnSpPr>
            <a:stCxn id="10" idx="4"/>
            <a:endCxn id="17" idx="0"/>
          </p:cNvCxnSpPr>
          <p:nvPr/>
        </p:nvCxnSpPr>
        <p:spPr>
          <a:xfrm>
            <a:off x="1114469" y="2232900"/>
            <a:ext cx="0" cy="181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E78A1F7F-A38E-890C-D50B-BE1FF59BE5C2}"/>
              </a:ext>
            </a:extLst>
          </p:cNvPr>
          <p:cNvCxnSpPr>
            <a:cxnSpLocks/>
            <a:stCxn id="17" idx="4"/>
            <a:endCxn id="31" idx="0"/>
          </p:cNvCxnSpPr>
          <p:nvPr/>
        </p:nvCxnSpPr>
        <p:spPr>
          <a:xfrm flipH="1">
            <a:off x="1111762" y="2954554"/>
            <a:ext cx="2707" cy="1760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9" name="Group 28">
            <a:extLst>
              <a:ext uri="{FF2B5EF4-FFF2-40B4-BE49-F238E27FC236}">
                <a16:creationId xmlns:a16="http://schemas.microsoft.com/office/drawing/2014/main" id="{A890EE12-78D9-E1CA-B737-0868A64432F7}"/>
              </a:ext>
            </a:extLst>
          </p:cNvPr>
          <p:cNvGrpSpPr/>
          <p:nvPr/>
        </p:nvGrpSpPr>
        <p:grpSpPr>
          <a:xfrm>
            <a:off x="841762" y="3130555"/>
            <a:ext cx="540000" cy="540000"/>
            <a:chOff x="838200" y="1905000"/>
            <a:chExt cx="1080000" cy="1080000"/>
          </a:xfrm>
        </p:grpSpPr>
        <p:sp>
          <p:nvSpPr>
            <p:cNvPr id="31" name="Oval 30">
              <a:extLst>
                <a:ext uri="{FF2B5EF4-FFF2-40B4-BE49-F238E27FC236}">
                  <a16:creationId xmlns:a16="http://schemas.microsoft.com/office/drawing/2014/main" id="{5F20F3FC-439A-B4A0-E15C-E8274F1942E7}"/>
                </a:ext>
              </a:extLst>
            </p:cNvPr>
            <p:cNvSpPr/>
            <p:nvPr/>
          </p:nvSpPr>
          <p:spPr>
            <a:xfrm>
              <a:off x="838200" y="1905000"/>
              <a:ext cx="1080000" cy="1080000"/>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 name="Graphic 31" descr="Database with solid fill">
              <a:extLst>
                <a:ext uri="{FF2B5EF4-FFF2-40B4-BE49-F238E27FC236}">
                  <a16:creationId xmlns:a16="http://schemas.microsoft.com/office/drawing/2014/main" id="{D7DA8D5A-C742-294D-92B8-697622A716D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21000" y="1987800"/>
              <a:ext cx="914400" cy="914400"/>
            </a:xfrm>
            <a:prstGeom prst="rect">
              <a:avLst/>
            </a:prstGeom>
          </p:spPr>
        </p:pic>
      </p:grpSp>
      <p:cxnSp>
        <p:nvCxnSpPr>
          <p:cNvPr id="48" name="Straight Arrow Connector 47">
            <a:extLst>
              <a:ext uri="{FF2B5EF4-FFF2-40B4-BE49-F238E27FC236}">
                <a16:creationId xmlns:a16="http://schemas.microsoft.com/office/drawing/2014/main" id="{098ECC9A-8FEE-CE54-520E-0E38F73C9844}"/>
              </a:ext>
            </a:extLst>
          </p:cNvPr>
          <p:cNvCxnSpPr>
            <a:cxnSpLocks/>
            <a:stCxn id="31" idx="4"/>
            <a:endCxn id="62" idx="0"/>
          </p:cNvCxnSpPr>
          <p:nvPr/>
        </p:nvCxnSpPr>
        <p:spPr>
          <a:xfrm flipH="1">
            <a:off x="1108482" y="3670555"/>
            <a:ext cx="3280" cy="1615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1F5D39D6-5482-B6A9-6BF0-82615438E601}"/>
              </a:ext>
            </a:extLst>
          </p:cNvPr>
          <p:cNvSpPr txBox="1"/>
          <p:nvPr/>
        </p:nvSpPr>
        <p:spPr>
          <a:xfrm>
            <a:off x="1432842" y="1734300"/>
            <a:ext cx="1486304" cy="461665"/>
          </a:xfrm>
          <a:prstGeom prst="rect">
            <a:avLst/>
          </a:prstGeom>
          <a:noFill/>
        </p:spPr>
        <p:txBody>
          <a:bodyPr wrap="none" rtlCol="0">
            <a:spAutoFit/>
          </a:bodyPr>
          <a:lstStyle/>
          <a:p>
            <a:r>
              <a:rPr lang="en-US" sz="2400" noProof="0" dirty="0"/>
              <a:t>Modelling</a:t>
            </a:r>
            <a:endParaRPr lang="en-US" noProof="0" dirty="0"/>
          </a:p>
        </p:txBody>
      </p:sp>
      <p:sp>
        <p:nvSpPr>
          <p:cNvPr id="54" name="TextBox 53">
            <a:extLst>
              <a:ext uri="{FF2B5EF4-FFF2-40B4-BE49-F238E27FC236}">
                <a16:creationId xmlns:a16="http://schemas.microsoft.com/office/drawing/2014/main" id="{837C96C1-95E4-8731-2D87-A9D9D1D205E5}"/>
              </a:ext>
            </a:extLst>
          </p:cNvPr>
          <p:cNvSpPr txBox="1"/>
          <p:nvPr/>
        </p:nvSpPr>
        <p:spPr>
          <a:xfrm>
            <a:off x="1439923" y="2453721"/>
            <a:ext cx="1943481" cy="461665"/>
          </a:xfrm>
          <a:prstGeom prst="rect">
            <a:avLst/>
          </a:prstGeom>
          <a:noFill/>
        </p:spPr>
        <p:txBody>
          <a:bodyPr wrap="none" rtlCol="0">
            <a:spAutoFit/>
          </a:bodyPr>
          <a:lstStyle/>
          <a:p>
            <a:r>
              <a:rPr lang="en-US" sz="2400" noProof="0" dirty="0"/>
              <a:t>Identification</a:t>
            </a:r>
            <a:endParaRPr lang="en-US" noProof="0" dirty="0"/>
          </a:p>
        </p:txBody>
      </p:sp>
      <p:sp>
        <p:nvSpPr>
          <p:cNvPr id="55" name="TextBox 54">
            <a:extLst>
              <a:ext uri="{FF2B5EF4-FFF2-40B4-BE49-F238E27FC236}">
                <a16:creationId xmlns:a16="http://schemas.microsoft.com/office/drawing/2014/main" id="{7E12E393-1856-DEE4-16FB-8E923C7DAA3B}"/>
              </a:ext>
            </a:extLst>
          </p:cNvPr>
          <p:cNvSpPr txBox="1"/>
          <p:nvPr/>
        </p:nvSpPr>
        <p:spPr>
          <a:xfrm>
            <a:off x="1439923" y="4608176"/>
            <a:ext cx="1613262" cy="461665"/>
          </a:xfrm>
          <a:prstGeom prst="rect">
            <a:avLst/>
          </a:prstGeom>
          <a:noFill/>
        </p:spPr>
        <p:txBody>
          <a:bodyPr wrap="none" rtlCol="0">
            <a:spAutoFit/>
          </a:bodyPr>
          <a:lstStyle/>
          <a:p>
            <a:r>
              <a:rPr lang="en-US" sz="2400" noProof="0" dirty="0"/>
              <a:t>Estimation</a:t>
            </a:r>
            <a:endParaRPr lang="en-US" noProof="0" dirty="0"/>
          </a:p>
        </p:txBody>
      </p:sp>
      <p:sp>
        <p:nvSpPr>
          <p:cNvPr id="56" name="TextBox 55">
            <a:extLst>
              <a:ext uri="{FF2B5EF4-FFF2-40B4-BE49-F238E27FC236}">
                <a16:creationId xmlns:a16="http://schemas.microsoft.com/office/drawing/2014/main" id="{A210F866-44A1-2F42-EA02-803695F172FB}"/>
              </a:ext>
            </a:extLst>
          </p:cNvPr>
          <p:cNvSpPr txBox="1"/>
          <p:nvPr/>
        </p:nvSpPr>
        <p:spPr>
          <a:xfrm>
            <a:off x="1437216" y="3160064"/>
            <a:ext cx="2261132" cy="461665"/>
          </a:xfrm>
          <a:prstGeom prst="rect">
            <a:avLst/>
          </a:prstGeom>
          <a:noFill/>
        </p:spPr>
        <p:txBody>
          <a:bodyPr wrap="none" rtlCol="0">
            <a:spAutoFit/>
          </a:bodyPr>
          <a:lstStyle/>
          <a:p>
            <a:r>
              <a:rPr lang="en-US" sz="2400" noProof="0" dirty="0"/>
              <a:t>Data Collection</a:t>
            </a:r>
            <a:endParaRPr lang="en-US" noProof="0" dirty="0"/>
          </a:p>
        </p:txBody>
      </p:sp>
      <p:grpSp>
        <p:nvGrpSpPr>
          <p:cNvPr id="59" name="Group 58">
            <a:extLst>
              <a:ext uri="{FF2B5EF4-FFF2-40B4-BE49-F238E27FC236}">
                <a16:creationId xmlns:a16="http://schemas.microsoft.com/office/drawing/2014/main" id="{5152F7CF-21D3-9448-5EFD-BC41AAB12C68}"/>
              </a:ext>
            </a:extLst>
          </p:cNvPr>
          <p:cNvGrpSpPr/>
          <p:nvPr/>
        </p:nvGrpSpPr>
        <p:grpSpPr>
          <a:xfrm>
            <a:off x="838482" y="4570422"/>
            <a:ext cx="540000" cy="540000"/>
            <a:chOff x="838200" y="1905000"/>
            <a:chExt cx="1080000" cy="1080000"/>
          </a:xfrm>
        </p:grpSpPr>
        <p:sp>
          <p:nvSpPr>
            <p:cNvPr id="60" name="Oval 59">
              <a:extLst>
                <a:ext uri="{FF2B5EF4-FFF2-40B4-BE49-F238E27FC236}">
                  <a16:creationId xmlns:a16="http://schemas.microsoft.com/office/drawing/2014/main" id="{00998065-2F37-CC50-2A18-D9E25FAB5EBC}"/>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1" name="Graphic 60" descr="Normal Distribution with solid fill">
              <a:extLst>
                <a:ext uri="{FF2B5EF4-FFF2-40B4-BE49-F238E27FC236}">
                  <a16:creationId xmlns:a16="http://schemas.microsoft.com/office/drawing/2014/main" id="{4C9876FA-EB5E-58FB-C283-54B1F556664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21000" y="1987800"/>
              <a:ext cx="914400" cy="914400"/>
            </a:xfrm>
            <a:prstGeom prst="rect">
              <a:avLst/>
            </a:prstGeom>
          </p:spPr>
        </p:pic>
      </p:grpSp>
      <p:sp>
        <p:nvSpPr>
          <p:cNvPr id="62" name="Diamond 61">
            <a:extLst>
              <a:ext uri="{FF2B5EF4-FFF2-40B4-BE49-F238E27FC236}">
                <a16:creationId xmlns:a16="http://schemas.microsoft.com/office/drawing/2014/main" id="{757938F9-930E-500C-B0AD-BF7AF1316C56}"/>
              </a:ext>
            </a:extLst>
          </p:cNvPr>
          <p:cNvSpPr/>
          <p:nvPr/>
        </p:nvSpPr>
        <p:spPr>
          <a:xfrm>
            <a:off x="802482" y="3832132"/>
            <a:ext cx="612000" cy="576000"/>
          </a:xfrm>
          <a:prstGeom prst="diamond">
            <a:avLst/>
          </a:prstGeom>
          <a:solidFill>
            <a:schemeClr val="accent1">
              <a:lumMod val="60000"/>
              <a:lumOff val="4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6" name="Straight Arrow Connector 65">
            <a:extLst>
              <a:ext uri="{FF2B5EF4-FFF2-40B4-BE49-F238E27FC236}">
                <a16:creationId xmlns:a16="http://schemas.microsoft.com/office/drawing/2014/main" id="{41CE632B-25C8-8F4C-77C7-2CD9277B3DCD}"/>
              </a:ext>
            </a:extLst>
          </p:cNvPr>
          <p:cNvCxnSpPr>
            <a:cxnSpLocks/>
            <a:stCxn id="62" idx="2"/>
            <a:endCxn id="60" idx="0"/>
          </p:cNvCxnSpPr>
          <p:nvPr/>
        </p:nvCxnSpPr>
        <p:spPr>
          <a:xfrm>
            <a:off x="1108482" y="4408132"/>
            <a:ext cx="0" cy="16229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4F58E637-7C94-1F07-EBDF-67A697F9A567}"/>
              </a:ext>
            </a:extLst>
          </p:cNvPr>
          <p:cNvSpPr txBox="1"/>
          <p:nvPr/>
        </p:nvSpPr>
        <p:spPr>
          <a:xfrm>
            <a:off x="3817642" y="4418946"/>
            <a:ext cx="1398909" cy="830997"/>
          </a:xfrm>
          <a:prstGeom prst="rect">
            <a:avLst/>
          </a:prstGeom>
          <a:noFill/>
        </p:spPr>
        <p:txBody>
          <a:bodyPr wrap="none" rtlCol="0">
            <a:spAutoFit/>
          </a:bodyPr>
          <a:lstStyle/>
          <a:p>
            <a:r>
              <a:rPr lang="en-US" sz="2400" noProof="0" dirty="0"/>
              <a:t>Alternate</a:t>
            </a:r>
            <a:br>
              <a:rPr lang="en-US" sz="2400" noProof="0" dirty="0"/>
            </a:br>
            <a:r>
              <a:rPr lang="en-US" sz="2400" noProof="0" dirty="0"/>
              <a:t>Strategy</a:t>
            </a:r>
            <a:endParaRPr lang="en-US" noProof="0" dirty="0"/>
          </a:p>
        </p:txBody>
      </p:sp>
      <p:grpSp>
        <p:nvGrpSpPr>
          <p:cNvPr id="75" name="Group 74">
            <a:extLst>
              <a:ext uri="{FF2B5EF4-FFF2-40B4-BE49-F238E27FC236}">
                <a16:creationId xmlns:a16="http://schemas.microsoft.com/office/drawing/2014/main" id="{E856FDCC-A23F-701F-63C5-13A32AA4E37C}"/>
              </a:ext>
            </a:extLst>
          </p:cNvPr>
          <p:cNvGrpSpPr/>
          <p:nvPr/>
        </p:nvGrpSpPr>
        <p:grpSpPr>
          <a:xfrm>
            <a:off x="3236242" y="4564445"/>
            <a:ext cx="540000" cy="540000"/>
            <a:chOff x="838200" y="1905000"/>
            <a:chExt cx="1080000" cy="1080000"/>
          </a:xfrm>
        </p:grpSpPr>
        <p:sp>
          <p:nvSpPr>
            <p:cNvPr id="76" name="Oval 75">
              <a:extLst>
                <a:ext uri="{FF2B5EF4-FFF2-40B4-BE49-F238E27FC236}">
                  <a16:creationId xmlns:a16="http://schemas.microsoft.com/office/drawing/2014/main" id="{2D2E0E10-C370-0DAE-09B9-AE21A4EC6F3B}"/>
                </a:ext>
              </a:extLst>
            </p:cNvPr>
            <p:cNvSpPr/>
            <p:nvPr/>
          </p:nvSpPr>
          <p:spPr>
            <a:xfrm>
              <a:off x="838200" y="1905000"/>
              <a:ext cx="1080000" cy="1080000"/>
            </a:xfrm>
            <a:prstGeom prst="ellipse">
              <a:avLst/>
            </a:prstGeom>
            <a:solidFill>
              <a:schemeClr val="tx2">
                <a:lumMod val="75000"/>
                <a:lumOff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7" name="Graphic 76" descr="Flask with solid fill">
              <a:extLst>
                <a:ext uri="{FF2B5EF4-FFF2-40B4-BE49-F238E27FC236}">
                  <a16:creationId xmlns:a16="http://schemas.microsoft.com/office/drawing/2014/main" id="{1E00C2E0-4E20-2D4B-B02F-4024083FEAF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21000" y="1987800"/>
              <a:ext cx="914400" cy="914400"/>
            </a:xfrm>
            <a:prstGeom prst="rect">
              <a:avLst/>
            </a:prstGeom>
          </p:spPr>
        </p:pic>
      </p:grpSp>
      <p:cxnSp>
        <p:nvCxnSpPr>
          <p:cNvPr id="78" name="Straight Arrow Connector 77">
            <a:extLst>
              <a:ext uri="{FF2B5EF4-FFF2-40B4-BE49-F238E27FC236}">
                <a16:creationId xmlns:a16="http://schemas.microsoft.com/office/drawing/2014/main" id="{87E30BCE-D489-2016-AD56-33FA719E9ACA}"/>
              </a:ext>
            </a:extLst>
          </p:cNvPr>
          <p:cNvCxnSpPr>
            <a:cxnSpLocks/>
            <a:stCxn id="62" idx="3"/>
            <a:endCxn id="76" idx="0"/>
          </p:cNvCxnSpPr>
          <p:nvPr/>
        </p:nvCxnSpPr>
        <p:spPr>
          <a:xfrm>
            <a:off x="1414482" y="4120132"/>
            <a:ext cx="2091760" cy="444313"/>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6DE9BCDD-E61D-C8E1-FE86-EA65067BDD23}"/>
              </a:ext>
            </a:extLst>
          </p:cNvPr>
          <p:cNvSpPr txBox="1"/>
          <p:nvPr/>
        </p:nvSpPr>
        <p:spPr>
          <a:xfrm>
            <a:off x="1333036" y="3735371"/>
            <a:ext cx="981744" cy="338554"/>
          </a:xfrm>
          <a:prstGeom prst="rect">
            <a:avLst/>
          </a:prstGeom>
          <a:noFill/>
        </p:spPr>
        <p:txBody>
          <a:bodyPr wrap="none" rtlCol="0">
            <a:spAutoFit/>
          </a:bodyPr>
          <a:lstStyle/>
          <a:p>
            <a:r>
              <a:rPr lang="en-US" sz="1600" noProof="0" dirty="0"/>
              <a:t>feasible?</a:t>
            </a:r>
            <a:endParaRPr lang="en-US" sz="1200" noProof="0" dirty="0"/>
          </a:p>
        </p:txBody>
      </p:sp>
      <p:sp>
        <p:nvSpPr>
          <p:cNvPr id="82" name="TextBox 81">
            <a:extLst>
              <a:ext uri="{FF2B5EF4-FFF2-40B4-BE49-F238E27FC236}">
                <a16:creationId xmlns:a16="http://schemas.microsoft.com/office/drawing/2014/main" id="{DCEE8BD7-0279-48AF-5A4D-BD22D0D343C8}"/>
              </a:ext>
            </a:extLst>
          </p:cNvPr>
          <p:cNvSpPr txBox="1"/>
          <p:nvPr/>
        </p:nvSpPr>
        <p:spPr>
          <a:xfrm>
            <a:off x="6430963" y="1690601"/>
            <a:ext cx="1849224" cy="400110"/>
          </a:xfrm>
          <a:prstGeom prst="rect">
            <a:avLst/>
          </a:prstGeom>
          <a:noFill/>
        </p:spPr>
        <p:txBody>
          <a:bodyPr wrap="none" rtlCol="0">
            <a:spAutoFit/>
          </a:bodyPr>
          <a:lstStyle/>
          <a:p>
            <a:r>
              <a:rPr lang="en-US" sz="2000" b="1" noProof="0" dirty="0"/>
              <a:t>Assumed DAG</a:t>
            </a:r>
          </a:p>
        </p:txBody>
      </p:sp>
      <p:sp>
        <p:nvSpPr>
          <p:cNvPr id="83" name="TextBox 82">
            <a:extLst>
              <a:ext uri="{FF2B5EF4-FFF2-40B4-BE49-F238E27FC236}">
                <a16:creationId xmlns:a16="http://schemas.microsoft.com/office/drawing/2014/main" id="{1531202F-3E4B-FB3B-13AF-084259E1C76C}"/>
              </a:ext>
            </a:extLst>
          </p:cNvPr>
          <p:cNvSpPr txBox="1"/>
          <p:nvPr/>
        </p:nvSpPr>
        <p:spPr>
          <a:xfrm>
            <a:off x="9174219" y="1690601"/>
            <a:ext cx="1935786" cy="400110"/>
          </a:xfrm>
          <a:prstGeom prst="rect">
            <a:avLst/>
          </a:prstGeom>
          <a:noFill/>
        </p:spPr>
        <p:txBody>
          <a:bodyPr wrap="none" rtlCol="0">
            <a:spAutoFit/>
          </a:bodyPr>
          <a:lstStyle/>
          <a:p>
            <a:r>
              <a:rPr lang="en-US" sz="2000" b="1" noProof="0" dirty="0"/>
              <a:t>Collected Data</a:t>
            </a:r>
          </a:p>
        </p:txBody>
      </p:sp>
      <p:sp>
        <p:nvSpPr>
          <p:cNvPr id="84" name="Content Placeholder 62">
            <a:extLst>
              <a:ext uri="{FF2B5EF4-FFF2-40B4-BE49-F238E27FC236}">
                <a16:creationId xmlns:a16="http://schemas.microsoft.com/office/drawing/2014/main" id="{3338044F-C686-EDF5-1394-F5C5DD4188D1}"/>
              </a:ext>
            </a:extLst>
          </p:cNvPr>
          <p:cNvSpPr>
            <a:spLocks noGrp="1"/>
          </p:cNvSpPr>
          <p:nvPr>
            <p:ph idx="1"/>
          </p:nvPr>
        </p:nvSpPr>
        <p:spPr>
          <a:xfrm>
            <a:off x="838200" y="5293674"/>
            <a:ext cx="10515600" cy="883288"/>
          </a:xfrm>
        </p:spPr>
        <p:txBody>
          <a:bodyPr>
            <a:normAutofit/>
          </a:bodyPr>
          <a:lstStyle/>
          <a:p>
            <a:pPr marL="0" indent="0">
              <a:buNone/>
            </a:pPr>
            <a:r>
              <a:rPr lang="en-US" noProof="0" dirty="0"/>
              <a:t>Unobservable confounders require (a) acknowledgement in the </a:t>
            </a:r>
            <a:r>
              <a:rPr lang="en-US" b="1" noProof="0" dirty="0"/>
              <a:t>threats to (internal) validity </a:t>
            </a:r>
            <a:r>
              <a:rPr lang="en-US" noProof="0" dirty="0"/>
              <a:t>and (b) </a:t>
            </a:r>
            <a:r>
              <a:rPr lang="en-US" b="1" noProof="0" dirty="0"/>
              <a:t>different research strategies</a:t>
            </a:r>
            <a:r>
              <a:rPr lang="en-US" noProof="0" dirty="0"/>
              <a:t>.</a:t>
            </a:r>
          </a:p>
        </p:txBody>
      </p:sp>
    </p:spTree>
    <p:extLst>
      <p:ext uri="{BB962C8B-B14F-4D97-AF65-F5344CB8AC3E}">
        <p14:creationId xmlns:p14="http://schemas.microsoft.com/office/powerpoint/2010/main" val="333050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8" grpId="0"/>
      <p:bldP spid="84"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0391665-C762-1338-85A3-9DD51190767A}"/>
              </a:ext>
            </a:extLst>
          </p:cNvPr>
          <p:cNvSpPr>
            <a:spLocks noGrp="1"/>
          </p:cNvSpPr>
          <p:nvPr>
            <p:ph type="title"/>
          </p:nvPr>
        </p:nvSpPr>
        <p:spPr/>
        <p:txBody>
          <a:bodyPr/>
          <a:lstStyle/>
          <a:p>
            <a:r>
              <a:rPr lang="en-SE" dirty="0"/>
              <a:t>Recommendations</a:t>
            </a:r>
          </a:p>
        </p:txBody>
      </p:sp>
      <p:sp>
        <p:nvSpPr>
          <p:cNvPr id="4" name="Date Placeholder 3">
            <a:extLst>
              <a:ext uri="{FF2B5EF4-FFF2-40B4-BE49-F238E27FC236}">
                <a16:creationId xmlns:a16="http://schemas.microsoft.com/office/drawing/2014/main" id="{2AF07D6B-4155-1B97-D9D4-D8DADE7B30E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72855C0A-DBBF-4A2A-13A6-A39DE9CB82B3}"/>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77A6DFFB-334F-9546-F666-3CFA82C54C3F}"/>
              </a:ext>
            </a:extLst>
          </p:cNvPr>
          <p:cNvSpPr>
            <a:spLocks noGrp="1"/>
          </p:cNvSpPr>
          <p:nvPr>
            <p:ph type="sldNum" sz="quarter" idx="12"/>
          </p:nvPr>
        </p:nvSpPr>
        <p:spPr/>
        <p:txBody>
          <a:bodyPr/>
          <a:lstStyle/>
          <a:p>
            <a:fld id="{0FA2D919-C0DE-4971-A2E9-D4AC0031921B}" type="slidenum">
              <a:rPr lang="en-US" smtClean="0"/>
              <a:t>77</a:t>
            </a:fld>
            <a:endParaRPr lang="en-US"/>
          </a:p>
        </p:txBody>
      </p:sp>
      <p:grpSp>
        <p:nvGrpSpPr>
          <p:cNvPr id="2" name="Group 1">
            <a:extLst>
              <a:ext uri="{FF2B5EF4-FFF2-40B4-BE49-F238E27FC236}">
                <a16:creationId xmlns:a16="http://schemas.microsoft.com/office/drawing/2014/main" id="{A46E3643-C496-1823-A9F6-AE2CF5A223DC}"/>
              </a:ext>
            </a:extLst>
          </p:cNvPr>
          <p:cNvGrpSpPr/>
          <p:nvPr/>
        </p:nvGrpSpPr>
        <p:grpSpPr>
          <a:xfrm>
            <a:off x="4607662" y="2516999"/>
            <a:ext cx="2976676" cy="2311682"/>
            <a:chOff x="4607662" y="3429000"/>
            <a:chExt cx="2976676" cy="2311682"/>
          </a:xfrm>
        </p:grpSpPr>
        <p:grpSp>
          <p:nvGrpSpPr>
            <p:cNvPr id="3" name="Group 2">
              <a:extLst>
                <a:ext uri="{FF2B5EF4-FFF2-40B4-BE49-F238E27FC236}">
                  <a16:creationId xmlns:a16="http://schemas.microsoft.com/office/drawing/2014/main" id="{D1907353-5E1C-250F-E6FB-0A7ADDD81B97}"/>
                </a:ext>
              </a:extLst>
            </p:cNvPr>
            <p:cNvGrpSpPr/>
            <p:nvPr/>
          </p:nvGrpSpPr>
          <p:grpSpPr>
            <a:xfrm>
              <a:off x="5556000" y="3429000"/>
              <a:ext cx="1080000" cy="1080000"/>
              <a:chOff x="3313786" y="3686861"/>
              <a:chExt cx="1080000" cy="1080000"/>
            </a:xfrm>
          </p:grpSpPr>
          <p:sp>
            <p:nvSpPr>
              <p:cNvPr id="8" name="Oval 7">
                <a:extLst>
                  <a:ext uri="{FF2B5EF4-FFF2-40B4-BE49-F238E27FC236}">
                    <a16:creationId xmlns:a16="http://schemas.microsoft.com/office/drawing/2014/main" id="{D719FF11-B579-C884-D216-88F161F6CDA2}"/>
                  </a:ext>
                </a:extLst>
              </p:cNvPr>
              <p:cNvSpPr/>
              <p:nvPr/>
            </p:nvSpPr>
            <p:spPr>
              <a:xfrm>
                <a:off x="3313786" y="3686861"/>
                <a:ext cx="1080000" cy="1080000"/>
              </a:xfrm>
              <a:prstGeom prst="ellipse">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phic 10" descr="Influencer with solid fill">
                <a:extLst>
                  <a:ext uri="{FF2B5EF4-FFF2-40B4-BE49-F238E27FC236}">
                    <a16:creationId xmlns:a16="http://schemas.microsoft.com/office/drawing/2014/main" id="{0463340E-B731-446D-756D-2BC3149984E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96586" y="3769661"/>
                <a:ext cx="914400" cy="914400"/>
              </a:xfrm>
              <a:prstGeom prst="rect">
                <a:avLst/>
              </a:prstGeom>
            </p:spPr>
          </p:pic>
        </p:grpSp>
        <p:sp>
          <p:nvSpPr>
            <p:cNvPr id="7" name="TextBox 6">
              <a:extLst>
                <a:ext uri="{FF2B5EF4-FFF2-40B4-BE49-F238E27FC236}">
                  <a16:creationId xmlns:a16="http://schemas.microsoft.com/office/drawing/2014/main" id="{9E8B3CAF-0117-33E7-1F4F-D4E36B8DAA69}"/>
                </a:ext>
              </a:extLst>
            </p:cNvPr>
            <p:cNvSpPr txBox="1"/>
            <p:nvPr/>
          </p:nvSpPr>
          <p:spPr>
            <a:xfrm>
              <a:off x="4607662" y="4663464"/>
              <a:ext cx="2976676" cy="1077218"/>
            </a:xfrm>
            <a:prstGeom prst="rect">
              <a:avLst/>
            </a:prstGeom>
            <a:noFill/>
          </p:spPr>
          <p:txBody>
            <a:bodyPr wrap="square" rtlCol="0">
              <a:spAutoFit/>
            </a:bodyPr>
            <a:lstStyle/>
            <a:p>
              <a:pPr algn="ctr"/>
              <a:r>
                <a:rPr lang="en-SE" sz="2400" b="1" noProof="0" dirty="0"/>
                <a:t>Draw a DAG</a:t>
              </a:r>
              <a:endParaRPr lang="en-US" sz="2400" b="1" noProof="0" dirty="0"/>
            </a:p>
            <a:p>
              <a:pPr algn="ctr"/>
              <a:r>
                <a:rPr lang="en-SE" sz="2000" dirty="0"/>
                <a:t>representing your causal assumptions</a:t>
              </a:r>
              <a:endParaRPr lang="en-US" sz="2000" noProof="0" dirty="0"/>
            </a:p>
          </p:txBody>
        </p:sp>
      </p:grpSp>
      <p:grpSp>
        <p:nvGrpSpPr>
          <p:cNvPr id="23" name="Group 22">
            <a:extLst>
              <a:ext uri="{FF2B5EF4-FFF2-40B4-BE49-F238E27FC236}">
                <a16:creationId xmlns:a16="http://schemas.microsoft.com/office/drawing/2014/main" id="{6842CE93-51B9-FF17-7CD0-68BB130E1CA3}"/>
              </a:ext>
            </a:extLst>
          </p:cNvPr>
          <p:cNvGrpSpPr/>
          <p:nvPr/>
        </p:nvGrpSpPr>
        <p:grpSpPr>
          <a:xfrm>
            <a:off x="8338004" y="2516999"/>
            <a:ext cx="2976676" cy="2927235"/>
            <a:chOff x="4607662" y="3429000"/>
            <a:chExt cx="2976676" cy="2927235"/>
          </a:xfrm>
        </p:grpSpPr>
        <p:grpSp>
          <p:nvGrpSpPr>
            <p:cNvPr id="24" name="Group 23">
              <a:extLst>
                <a:ext uri="{FF2B5EF4-FFF2-40B4-BE49-F238E27FC236}">
                  <a16:creationId xmlns:a16="http://schemas.microsoft.com/office/drawing/2014/main" id="{458593F8-A0F8-CBA8-B643-2C0802AEAD65}"/>
                </a:ext>
              </a:extLst>
            </p:cNvPr>
            <p:cNvGrpSpPr/>
            <p:nvPr/>
          </p:nvGrpSpPr>
          <p:grpSpPr>
            <a:xfrm>
              <a:off x="5556000" y="3429000"/>
              <a:ext cx="1080000" cy="1080000"/>
              <a:chOff x="3313786" y="3686861"/>
              <a:chExt cx="1080000" cy="1080000"/>
            </a:xfrm>
          </p:grpSpPr>
          <p:sp>
            <p:nvSpPr>
              <p:cNvPr id="26" name="Oval 25">
                <a:extLst>
                  <a:ext uri="{FF2B5EF4-FFF2-40B4-BE49-F238E27FC236}">
                    <a16:creationId xmlns:a16="http://schemas.microsoft.com/office/drawing/2014/main" id="{974E6D5F-B7C1-F6E4-7EE8-EA6AC79D76A4}"/>
                  </a:ext>
                </a:extLst>
              </p:cNvPr>
              <p:cNvSpPr/>
              <p:nvPr/>
            </p:nvSpPr>
            <p:spPr>
              <a:xfrm>
                <a:off x="3313786" y="3686861"/>
                <a:ext cx="1080000" cy="1080000"/>
              </a:xfrm>
              <a:prstGeom prst="ellipse">
                <a:avLst/>
              </a:prstGeom>
              <a:solidFill>
                <a:schemeClr val="accent5">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7" name="Graphic 26" descr="Cut with solid fill">
                <a:extLst>
                  <a:ext uri="{FF2B5EF4-FFF2-40B4-BE49-F238E27FC236}">
                    <a16:creationId xmlns:a16="http://schemas.microsoft.com/office/drawing/2014/main" id="{2E7833DF-234D-B16F-109F-78F27DB290C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96586" y="3769661"/>
                <a:ext cx="914400" cy="914400"/>
              </a:xfrm>
              <a:prstGeom prst="rect">
                <a:avLst/>
              </a:prstGeom>
            </p:spPr>
          </p:pic>
        </p:grpSp>
        <p:sp>
          <p:nvSpPr>
            <p:cNvPr id="25" name="TextBox 24">
              <a:extLst>
                <a:ext uri="{FF2B5EF4-FFF2-40B4-BE49-F238E27FC236}">
                  <a16:creationId xmlns:a16="http://schemas.microsoft.com/office/drawing/2014/main" id="{49817355-900F-1ED8-0EE3-4E441B130463}"/>
                </a:ext>
              </a:extLst>
            </p:cNvPr>
            <p:cNvSpPr txBox="1"/>
            <p:nvPr/>
          </p:nvSpPr>
          <p:spPr>
            <a:xfrm>
              <a:off x="4607662" y="4663464"/>
              <a:ext cx="2976676" cy="1692771"/>
            </a:xfrm>
            <a:prstGeom prst="rect">
              <a:avLst/>
            </a:prstGeom>
            <a:noFill/>
          </p:spPr>
          <p:txBody>
            <a:bodyPr wrap="square" rtlCol="0">
              <a:spAutoFit/>
            </a:bodyPr>
            <a:lstStyle/>
            <a:p>
              <a:pPr algn="ctr"/>
              <a:r>
                <a:rPr lang="en-SE" sz="2400" b="1" noProof="0" dirty="0"/>
                <a:t>Use d-separation</a:t>
              </a:r>
              <a:endParaRPr lang="en-US" sz="2400" b="1" noProof="0" dirty="0"/>
            </a:p>
            <a:p>
              <a:pPr algn="ctr"/>
              <a:r>
                <a:rPr lang="en-SE" sz="2000" noProof="0" dirty="0"/>
                <a:t>to figure out (1) if you can conduct your study and (2) what data you need to collect</a:t>
              </a:r>
              <a:endParaRPr lang="en-US" sz="2000" noProof="0" dirty="0"/>
            </a:p>
          </p:txBody>
        </p:sp>
      </p:grpSp>
      <p:grpSp>
        <p:nvGrpSpPr>
          <p:cNvPr id="28" name="Group 27">
            <a:extLst>
              <a:ext uri="{FF2B5EF4-FFF2-40B4-BE49-F238E27FC236}">
                <a16:creationId xmlns:a16="http://schemas.microsoft.com/office/drawing/2014/main" id="{C4D0138C-8CD4-55A1-1873-CAF1E4040D9C}"/>
              </a:ext>
            </a:extLst>
          </p:cNvPr>
          <p:cNvGrpSpPr/>
          <p:nvPr/>
        </p:nvGrpSpPr>
        <p:grpSpPr>
          <a:xfrm>
            <a:off x="877320" y="2516999"/>
            <a:ext cx="2976676" cy="2311682"/>
            <a:chOff x="4607662" y="3429000"/>
            <a:chExt cx="2976676" cy="2311682"/>
          </a:xfrm>
        </p:grpSpPr>
        <p:grpSp>
          <p:nvGrpSpPr>
            <p:cNvPr id="29" name="Group 28">
              <a:extLst>
                <a:ext uri="{FF2B5EF4-FFF2-40B4-BE49-F238E27FC236}">
                  <a16:creationId xmlns:a16="http://schemas.microsoft.com/office/drawing/2014/main" id="{E5638539-66BF-4BAB-D7B2-E3C36D759EF0}"/>
                </a:ext>
              </a:extLst>
            </p:cNvPr>
            <p:cNvGrpSpPr/>
            <p:nvPr/>
          </p:nvGrpSpPr>
          <p:grpSpPr>
            <a:xfrm>
              <a:off x="5556000" y="3429000"/>
              <a:ext cx="1080000" cy="1080000"/>
              <a:chOff x="3313786" y="3686861"/>
              <a:chExt cx="1080000" cy="1080000"/>
            </a:xfrm>
          </p:grpSpPr>
          <p:sp>
            <p:nvSpPr>
              <p:cNvPr id="31" name="Oval 30">
                <a:extLst>
                  <a:ext uri="{FF2B5EF4-FFF2-40B4-BE49-F238E27FC236}">
                    <a16:creationId xmlns:a16="http://schemas.microsoft.com/office/drawing/2014/main" id="{AFD49403-2702-3533-50E3-6855270AE729}"/>
                  </a:ext>
                </a:extLst>
              </p:cNvPr>
              <p:cNvSpPr/>
              <p:nvPr/>
            </p:nvSpPr>
            <p:spPr>
              <a:xfrm>
                <a:off x="3313786" y="3686861"/>
                <a:ext cx="1080000" cy="1080000"/>
              </a:xfrm>
              <a:prstGeom prst="ellipse">
                <a:avLst/>
              </a:prstGeom>
              <a:solidFill>
                <a:schemeClr val="accent5">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 name="Graphic 31" descr="Disk with solid fill">
                <a:extLst>
                  <a:ext uri="{FF2B5EF4-FFF2-40B4-BE49-F238E27FC236}">
                    <a16:creationId xmlns:a16="http://schemas.microsoft.com/office/drawing/2014/main" id="{420DD21F-7275-DAE0-63A9-90C45310323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396586" y="3769661"/>
                <a:ext cx="914400" cy="914400"/>
              </a:xfrm>
              <a:prstGeom prst="rect">
                <a:avLst/>
              </a:prstGeom>
            </p:spPr>
          </p:pic>
        </p:grpSp>
        <p:sp>
          <p:nvSpPr>
            <p:cNvPr id="30" name="TextBox 29">
              <a:extLst>
                <a:ext uri="{FF2B5EF4-FFF2-40B4-BE49-F238E27FC236}">
                  <a16:creationId xmlns:a16="http://schemas.microsoft.com/office/drawing/2014/main" id="{12345CC3-BE03-20DB-E34C-EE5D84364A09}"/>
                </a:ext>
              </a:extLst>
            </p:cNvPr>
            <p:cNvSpPr txBox="1"/>
            <p:nvPr/>
          </p:nvSpPr>
          <p:spPr>
            <a:xfrm>
              <a:off x="4607662" y="4663464"/>
              <a:ext cx="2976676" cy="1077218"/>
            </a:xfrm>
            <a:prstGeom prst="rect">
              <a:avLst/>
            </a:prstGeom>
            <a:noFill/>
          </p:spPr>
          <p:txBody>
            <a:bodyPr wrap="square" rtlCol="0">
              <a:spAutoFit/>
            </a:bodyPr>
            <a:lstStyle/>
            <a:p>
              <a:pPr algn="ctr"/>
              <a:r>
                <a:rPr lang="en-SE" sz="2400" b="1" noProof="0" dirty="0"/>
                <a:t>Data Collection</a:t>
              </a:r>
              <a:endParaRPr lang="en-US" sz="2400" b="1" noProof="0" dirty="0"/>
            </a:p>
            <a:p>
              <a:pPr algn="ctr"/>
              <a:r>
                <a:rPr lang="en-SE" sz="2000" noProof="0" dirty="0"/>
                <a:t>Is a part of data analysis, not its precursor</a:t>
              </a:r>
              <a:endParaRPr lang="en-US" sz="2000" noProof="0" dirty="0"/>
            </a:p>
          </p:txBody>
        </p:sp>
      </p:grpSp>
    </p:spTree>
    <p:extLst>
      <p:ext uri="{BB962C8B-B14F-4D97-AF65-F5344CB8AC3E}">
        <p14:creationId xmlns:p14="http://schemas.microsoft.com/office/powerpoint/2010/main" val="168209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1D306-394C-D90B-E46B-8766697F91E3}"/>
              </a:ext>
            </a:extLst>
          </p:cNvPr>
          <p:cNvSpPr>
            <a:spLocks noGrp="1"/>
          </p:cNvSpPr>
          <p:nvPr>
            <p:ph type="title"/>
          </p:nvPr>
        </p:nvSpPr>
        <p:spPr/>
        <p:txBody>
          <a:bodyPr/>
          <a:lstStyle/>
          <a:p>
            <a:r>
              <a:rPr lang="en-SE" noProof="0" dirty="0"/>
              <a:t>Conclusion</a:t>
            </a:r>
            <a:endParaRPr lang="en-US" noProof="0" dirty="0"/>
          </a:p>
        </p:txBody>
      </p:sp>
      <p:sp>
        <p:nvSpPr>
          <p:cNvPr id="3" name="Text Placeholder 2">
            <a:extLst>
              <a:ext uri="{FF2B5EF4-FFF2-40B4-BE49-F238E27FC236}">
                <a16:creationId xmlns:a16="http://schemas.microsoft.com/office/drawing/2014/main" id="{705CC634-B326-28D2-1E1B-1335D2E6F34A}"/>
              </a:ext>
            </a:extLst>
          </p:cNvPr>
          <p:cNvSpPr>
            <a:spLocks noGrp="1"/>
          </p:cNvSpPr>
          <p:nvPr>
            <p:ph type="body" idx="1"/>
          </p:nvPr>
        </p:nvSpPr>
        <p:spPr/>
        <p:txBody>
          <a:bodyPr/>
          <a:lstStyle/>
          <a:p>
            <a:r>
              <a:rPr lang="en-US" noProof="0" dirty="0"/>
              <a:t>Final Remarks</a:t>
            </a:r>
          </a:p>
        </p:txBody>
      </p:sp>
      <p:sp>
        <p:nvSpPr>
          <p:cNvPr id="4" name="Date Placeholder 3">
            <a:extLst>
              <a:ext uri="{FF2B5EF4-FFF2-40B4-BE49-F238E27FC236}">
                <a16:creationId xmlns:a16="http://schemas.microsoft.com/office/drawing/2014/main" id="{B75457D0-EAB0-CA67-1503-C17A741D9495}"/>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D1744D75-142B-E740-59FA-F85F4F098056}"/>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C825405C-2108-A843-CD1A-1AECD6BF7A70}"/>
              </a:ext>
            </a:extLst>
          </p:cNvPr>
          <p:cNvSpPr>
            <a:spLocks noGrp="1"/>
          </p:cNvSpPr>
          <p:nvPr>
            <p:ph type="sldNum" sz="quarter" idx="12"/>
          </p:nvPr>
        </p:nvSpPr>
        <p:spPr/>
        <p:txBody>
          <a:bodyPr/>
          <a:lstStyle/>
          <a:p>
            <a:fld id="{0FA2D919-C0DE-4971-A2E9-D4AC0031921B}" type="slidenum">
              <a:rPr lang="en-US" noProof="0" smtClean="0"/>
              <a:t>78</a:t>
            </a:fld>
            <a:endParaRPr lang="en-US" noProof="0" dirty="0"/>
          </a:p>
        </p:txBody>
      </p:sp>
    </p:spTree>
    <p:extLst>
      <p:ext uri="{BB962C8B-B14F-4D97-AF65-F5344CB8AC3E}">
        <p14:creationId xmlns:p14="http://schemas.microsoft.com/office/powerpoint/2010/main" val="37609471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Down 31">
            <a:extLst>
              <a:ext uri="{FF2B5EF4-FFF2-40B4-BE49-F238E27FC236}">
                <a16:creationId xmlns:a16="http://schemas.microsoft.com/office/drawing/2014/main" id="{87C1E37E-253D-0769-F2C9-F557922C8489}"/>
              </a:ext>
            </a:extLst>
          </p:cNvPr>
          <p:cNvSpPr/>
          <p:nvPr/>
        </p:nvSpPr>
        <p:spPr>
          <a:xfrm>
            <a:off x="928599" y="1607914"/>
            <a:ext cx="539201" cy="4802187"/>
          </a:xfrm>
          <a:prstGeom prst="downArrow">
            <a:avLst/>
          </a:prstGeom>
          <a:gradFill>
            <a:gsLst>
              <a:gs pos="0">
                <a:schemeClr val="tx2">
                  <a:lumMod val="25000"/>
                  <a:lumOff val="75000"/>
                </a:schemeClr>
              </a:gs>
              <a:gs pos="100000">
                <a:schemeClr val="tx2">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B43DD2-8524-4E89-FB5F-5C9CE16B2239}"/>
              </a:ext>
            </a:extLst>
          </p:cNvPr>
          <p:cNvSpPr>
            <a:spLocks noGrp="1"/>
          </p:cNvSpPr>
          <p:nvPr>
            <p:ph type="title"/>
          </p:nvPr>
        </p:nvSpPr>
        <p:spPr/>
        <p:txBody>
          <a:bodyPr/>
          <a:lstStyle/>
          <a:p>
            <a:r>
              <a:rPr lang="en-US" noProof="0" dirty="0"/>
              <a:t>Reading list</a:t>
            </a:r>
          </a:p>
        </p:txBody>
      </p:sp>
      <p:sp>
        <p:nvSpPr>
          <p:cNvPr id="4" name="Date Placeholder 3">
            <a:extLst>
              <a:ext uri="{FF2B5EF4-FFF2-40B4-BE49-F238E27FC236}">
                <a16:creationId xmlns:a16="http://schemas.microsoft.com/office/drawing/2014/main" id="{A5943B1C-7C6D-4D18-F124-A07D96017683}"/>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ED1FB4FE-E999-0789-94F4-EF2E9D4C541C}"/>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D2AD559-4D79-BCCD-2F9F-DF2219D51487}"/>
              </a:ext>
            </a:extLst>
          </p:cNvPr>
          <p:cNvSpPr>
            <a:spLocks noGrp="1"/>
          </p:cNvSpPr>
          <p:nvPr>
            <p:ph type="sldNum" sz="quarter" idx="12"/>
          </p:nvPr>
        </p:nvSpPr>
        <p:spPr/>
        <p:txBody>
          <a:bodyPr/>
          <a:lstStyle/>
          <a:p>
            <a:fld id="{0FA2D919-C0DE-4971-A2E9-D4AC0031921B}" type="slidenum">
              <a:rPr lang="en-US" noProof="0" smtClean="0"/>
              <a:t>79</a:t>
            </a:fld>
            <a:endParaRPr lang="en-US" noProof="0" dirty="0"/>
          </a:p>
        </p:txBody>
      </p:sp>
      <p:grpSp>
        <p:nvGrpSpPr>
          <p:cNvPr id="13" name="Group 12">
            <a:extLst>
              <a:ext uri="{FF2B5EF4-FFF2-40B4-BE49-F238E27FC236}">
                <a16:creationId xmlns:a16="http://schemas.microsoft.com/office/drawing/2014/main" id="{A77D9DE9-91E9-F431-2EB7-641721D62C89}"/>
              </a:ext>
            </a:extLst>
          </p:cNvPr>
          <p:cNvGrpSpPr/>
          <p:nvPr/>
        </p:nvGrpSpPr>
        <p:grpSpPr>
          <a:xfrm>
            <a:off x="838200" y="1571080"/>
            <a:ext cx="6898500" cy="720000"/>
            <a:chOff x="838200" y="1571080"/>
            <a:chExt cx="6898500" cy="720000"/>
          </a:xfrm>
        </p:grpSpPr>
        <p:pic>
          <p:nvPicPr>
            <p:cNvPr id="10" name="Graphic 9" descr="Closed book with solid fill">
              <a:extLst>
                <a:ext uri="{FF2B5EF4-FFF2-40B4-BE49-F238E27FC236}">
                  <a16:creationId xmlns:a16="http://schemas.microsoft.com/office/drawing/2014/main" id="{33625F26-55F6-D59A-1BDB-955FEC2E7C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200" y="1571080"/>
              <a:ext cx="720000" cy="720000"/>
            </a:xfrm>
            <a:prstGeom prst="rect">
              <a:avLst/>
            </a:prstGeom>
          </p:spPr>
        </p:pic>
        <p:sp>
          <p:nvSpPr>
            <p:cNvPr id="12" name="TextBox 11">
              <a:extLst>
                <a:ext uri="{FF2B5EF4-FFF2-40B4-BE49-F238E27FC236}">
                  <a16:creationId xmlns:a16="http://schemas.microsoft.com/office/drawing/2014/main" id="{3DF2D159-13D7-AC63-5688-5AFFB25A40E9}"/>
                </a:ext>
              </a:extLst>
            </p:cNvPr>
            <p:cNvSpPr txBox="1"/>
            <p:nvPr/>
          </p:nvSpPr>
          <p:spPr>
            <a:xfrm>
              <a:off x="1638796" y="1607914"/>
              <a:ext cx="6097904" cy="646331"/>
            </a:xfrm>
            <a:prstGeom prst="rect">
              <a:avLst/>
            </a:prstGeom>
            <a:noFill/>
          </p:spPr>
          <p:txBody>
            <a:bodyPr wrap="square">
              <a:spAutoFit/>
            </a:bodyPr>
            <a:lstStyle/>
            <a:p>
              <a:r>
                <a:rPr lang="en-US" b="1" noProof="0" dirty="0"/>
                <a:t>Pearl</a:t>
              </a:r>
              <a:r>
                <a:rPr lang="en-US" noProof="0" dirty="0"/>
                <a:t>, J., &amp; Mackenzie, D. (2018). </a:t>
              </a:r>
              <a:r>
                <a:rPr lang="en-US" i="1" noProof="0" dirty="0"/>
                <a:t>The book of why: the new science of cause and effect</a:t>
              </a:r>
              <a:r>
                <a:rPr lang="en-US" noProof="0" dirty="0"/>
                <a:t>. Basic books.</a:t>
              </a:r>
            </a:p>
          </p:txBody>
        </p:sp>
      </p:grpSp>
      <p:grpSp>
        <p:nvGrpSpPr>
          <p:cNvPr id="14" name="Group 13">
            <a:extLst>
              <a:ext uri="{FF2B5EF4-FFF2-40B4-BE49-F238E27FC236}">
                <a16:creationId xmlns:a16="http://schemas.microsoft.com/office/drawing/2014/main" id="{71673E6E-76FC-5A35-E8F8-7017703193A6}"/>
              </a:ext>
            </a:extLst>
          </p:cNvPr>
          <p:cNvGrpSpPr/>
          <p:nvPr/>
        </p:nvGrpSpPr>
        <p:grpSpPr>
          <a:xfrm>
            <a:off x="838200" y="2332310"/>
            <a:ext cx="9654540" cy="720000"/>
            <a:chOff x="838200" y="1571080"/>
            <a:chExt cx="9654540" cy="720000"/>
          </a:xfrm>
        </p:grpSpPr>
        <p:pic>
          <p:nvPicPr>
            <p:cNvPr id="15" name="Graphic 14" descr="Closed book with solid fill">
              <a:extLst>
                <a:ext uri="{FF2B5EF4-FFF2-40B4-BE49-F238E27FC236}">
                  <a16:creationId xmlns:a16="http://schemas.microsoft.com/office/drawing/2014/main" id="{C1E5DAED-E988-F0E8-ED3A-9638FFA22A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200" y="1571080"/>
              <a:ext cx="720000" cy="720000"/>
            </a:xfrm>
            <a:prstGeom prst="rect">
              <a:avLst/>
            </a:prstGeom>
          </p:spPr>
        </p:pic>
        <p:sp>
          <p:nvSpPr>
            <p:cNvPr id="16" name="TextBox 15">
              <a:extLst>
                <a:ext uri="{FF2B5EF4-FFF2-40B4-BE49-F238E27FC236}">
                  <a16:creationId xmlns:a16="http://schemas.microsoft.com/office/drawing/2014/main" id="{1662FBD9-FA1F-FD46-F3AA-6F20EFB282B5}"/>
                </a:ext>
              </a:extLst>
            </p:cNvPr>
            <p:cNvSpPr txBox="1"/>
            <p:nvPr/>
          </p:nvSpPr>
          <p:spPr>
            <a:xfrm>
              <a:off x="1638796" y="1607914"/>
              <a:ext cx="8853944" cy="646331"/>
            </a:xfrm>
            <a:prstGeom prst="rect">
              <a:avLst/>
            </a:prstGeom>
            <a:noFill/>
          </p:spPr>
          <p:txBody>
            <a:bodyPr wrap="square">
              <a:spAutoFit/>
            </a:bodyPr>
            <a:lstStyle/>
            <a:p>
              <a:r>
                <a:rPr lang="en-US" b="1" noProof="0" dirty="0"/>
                <a:t>McElreath</a:t>
              </a:r>
              <a:r>
                <a:rPr lang="en-US" noProof="0" dirty="0"/>
                <a:t>, R. (2018). </a:t>
              </a:r>
              <a:r>
                <a:rPr lang="en-US" i="1" noProof="0" dirty="0"/>
                <a:t>Statistical rethinking: A Bayesian course with examples in R and Stan</a:t>
              </a:r>
              <a:r>
                <a:rPr lang="en-US" noProof="0" dirty="0"/>
                <a:t>. Chapman and Hall/CRC.</a:t>
              </a:r>
            </a:p>
          </p:txBody>
        </p:sp>
      </p:grpSp>
      <p:grpSp>
        <p:nvGrpSpPr>
          <p:cNvPr id="17" name="Group 16">
            <a:extLst>
              <a:ext uri="{FF2B5EF4-FFF2-40B4-BE49-F238E27FC236}">
                <a16:creationId xmlns:a16="http://schemas.microsoft.com/office/drawing/2014/main" id="{C7982DE3-2754-4D9A-4977-E72A6DD14831}"/>
              </a:ext>
            </a:extLst>
          </p:cNvPr>
          <p:cNvGrpSpPr/>
          <p:nvPr/>
        </p:nvGrpSpPr>
        <p:grpSpPr>
          <a:xfrm>
            <a:off x="838200" y="3125980"/>
            <a:ext cx="9654540" cy="720000"/>
            <a:chOff x="838200" y="1571080"/>
            <a:chExt cx="9654540" cy="720000"/>
          </a:xfrm>
        </p:grpSpPr>
        <p:pic>
          <p:nvPicPr>
            <p:cNvPr id="18" name="Graphic 17" descr="Document with solid fill">
              <a:extLst>
                <a:ext uri="{FF2B5EF4-FFF2-40B4-BE49-F238E27FC236}">
                  <a16:creationId xmlns:a16="http://schemas.microsoft.com/office/drawing/2014/main" id="{1C4DABFE-76D2-8D07-962D-7725E97BCD2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19" name="TextBox 18">
              <a:extLst>
                <a:ext uri="{FF2B5EF4-FFF2-40B4-BE49-F238E27FC236}">
                  <a16:creationId xmlns:a16="http://schemas.microsoft.com/office/drawing/2014/main" id="{A95F3D12-1F91-57FE-91D7-7FE88BD75F1D}"/>
                </a:ext>
              </a:extLst>
            </p:cNvPr>
            <p:cNvSpPr txBox="1"/>
            <p:nvPr/>
          </p:nvSpPr>
          <p:spPr>
            <a:xfrm>
              <a:off x="1638796" y="1607914"/>
              <a:ext cx="8853944" cy="646331"/>
            </a:xfrm>
            <a:prstGeom prst="rect">
              <a:avLst/>
            </a:prstGeom>
            <a:noFill/>
          </p:spPr>
          <p:txBody>
            <a:bodyPr wrap="square">
              <a:spAutoFit/>
            </a:bodyPr>
            <a:lstStyle/>
            <a:p>
              <a:r>
                <a:rPr lang="en-US" b="1" noProof="0" dirty="0"/>
                <a:t>Cinelli</a:t>
              </a:r>
              <a:r>
                <a:rPr lang="en-US" noProof="0" dirty="0"/>
                <a:t>, C., </a:t>
              </a:r>
              <a:r>
                <a:rPr lang="en-US" b="1" noProof="0" dirty="0"/>
                <a:t>Forney</a:t>
              </a:r>
              <a:r>
                <a:rPr lang="en-US" noProof="0" dirty="0"/>
                <a:t>, A., &amp; </a:t>
              </a:r>
              <a:r>
                <a:rPr lang="en-US" b="1" noProof="0" dirty="0"/>
                <a:t>Pearl</a:t>
              </a:r>
              <a:r>
                <a:rPr lang="en-US" noProof="0" dirty="0"/>
                <a:t>, J. (2024). A crash course in good and bad controls. </a:t>
              </a:r>
              <a:r>
                <a:rPr lang="en-US" i="1" noProof="0" dirty="0"/>
                <a:t>Sociological Methods &amp; Research</a:t>
              </a:r>
              <a:r>
                <a:rPr lang="en-US" noProof="0" dirty="0"/>
                <a:t>, </a:t>
              </a:r>
              <a:r>
                <a:rPr lang="en-US" i="1" noProof="0" dirty="0"/>
                <a:t>53</a:t>
              </a:r>
              <a:r>
                <a:rPr lang="en-US" noProof="0" dirty="0"/>
                <a:t>(3), 1071-1104.</a:t>
              </a:r>
            </a:p>
          </p:txBody>
        </p:sp>
      </p:grpSp>
      <p:grpSp>
        <p:nvGrpSpPr>
          <p:cNvPr id="20" name="Group 19">
            <a:extLst>
              <a:ext uri="{FF2B5EF4-FFF2-40B4-BE49-F238E27FC236}">
                <a16:creationId xmlns:a16="http://schemas.microsoft.com/office/drawing/2014/main" id="{5671D1D3-72E6-8909-8354-A0C7CB84AAF6}"/>
              </a:ext>
            </a:extLst>
          </p:cNvPr>
          <p:cNvGrpSpPr/>
          <p:nvPr/>
        </p:nvGrpSpPr>
        <p:grpSpPr>
          <a:xfrm>
            <a:off x="838200" y="3931346"/>
            <a:ext cx="9654540" cy="720000"/>
            <a:chOff x="838200" y="1571080"/>
            <a:chExt cx="9654540" cy="720000"/>
          </a:xfrm>
        </p:grpSpPr>
        <p:pic>
          <p:nvPicPr>
            <p:cNvPr id="21" name="Graphic 20" descr="Document with solid fill">
              <a:extLst>
                <a:ext uri="{FF2B5EF4-FFF2-40B4-BE49-F238E27FC236}">
                  <a16:creationId xmlns:a16="http://schemas.microsoft.com/office/drawing/2014/main" id="{AD0CEB0A-C325-6826-1AF1-2288D5B12A1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22" name="TextBox 21">
              <a:extLst>
                <a:ext uri="{FF2B5EF4-FFF2-40B4-BE49-F238E27FC236}">
                  <a16:creationId xmlns:a16="http://schemas.microsoft.com/office/drawing/2014/main" id="{7E18A9FF-ACBE-EFF1-0E9B-C4E004A53A0E}"/>
                </a:ext>
              </a:extLst>
            </p:cNvPr>
            <p:cNvSpPr txBox="1"/>
            <p:nvPr/>
          </p:nvSpPr>
          <p:spPr>
            <a:xfrm>
              <a:off x="1638796" y="1607914"/>
              <a:ext cx="8853944" cy="646331"/>
            </a:xfrm>
            <a:prstGeom prst="rect">
              <a:avLst/>
            </a:prstGeom>
            <a:noFill/>
          </p:spPr>
          <p:txBody>
            <a:bodyPr wrap="square">
              <a:spAutoFit/>
            </a:bodyPr>
            <a:lstStyle/>
            <a:p>
              <a:r>
                <a:rPr lang="en-US" b="1" noProof="0" dirty="0"/>
                <a:t>Siebert</a:t>
              </a:r>
              <a:r>
                <a:rPr lang="en-US" noProof="0" dirty="0"/>
                <a:t>, J. (2023). Applications of statistical causal inference in software engineering. </a:t>
              </a:r>
              <a:r>
                <a:rPr lang="en-US" i="1" noProof="0" dirty="0"/>
                <a:t>Information and Software Technology</a:t>
              </a:r>
              <a:r>
                <a:rPr lang="en-US" noProof="0" dirty="0"/>
                <a:t>, </a:t>
              </a:r>
              <a:r>
                <a:rPr lang="en-US" i="1" noProof="0" dirty="0"/>
                <a:t>159</a:t>
              </a:r>
              <a:r>
                <a:rPr lang="en-US" noProof="0" dirty="0"/>
                <a:t>, 107198.</a:t>
              </a:r>
            </a:p>
          </p:txBody>
        </p:sp>
      </p:grpSp>
      <p:grpSp>
        <p:nvGrpSpPr>
          <p:cNvPr id="23" name="Group 22">
            <a:extLst>
              <a:ext uri="{FF2B5EF4-FFF2-40B4-BE49-F238E27FC236}">
                <a16:creationId xmlns:a16="http://schemas.microsoft.com/office/drawing/2014/main" id="{F1244D0E-B91A-B2C0-F339-1ED3695628FA}"/>
              </a:ext>
            </a:extLst>
          </p:cNvPr>
          <p:cNvGrpSpPr/>
          <p:nvPr/>
        </p:nvGrpSpPr>
        <p:grpSpPr>
          <a:xfrm>
            <a:off x="838200" y="5482193"/>
            <a:ext cx="9845233" cy="923330"/>
            <a:chOff x="838200" y="1475037"/>
            <a:chExt cx="9845233" cy="923330"/>
          </a:xfrm>
        </p:grpSpPr>
        <p:pic>
          <p:nvPicPr>
            <p:cNvPr id="24" name="Graphic 23" descr="Document with solid fill">
              <a:extLst>
                <a:ext uri="{FF2B5EF4-FFF2-40B4-BE49-F238E27FC236}">
                  <a16:creationId xmlns:a16="http://schemas.microsoft.com/office/drawing/2014/main" id="{6B7C006B-21AE-F331-1F0D-37157C3404C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25" name="TextBox 24">
              <a:extLst>
                <a:ext uri="{FF2B5EF4-FFF2-40B4-BE49-F238E27FC236}">
                  <a16:creationId xmlns:a16="http://schemas.microsoft.com/office/drawing/2014/main" id="{57C4B8F0-6852-2072-E257-EBD05D95F91A}"/>
                </a:ext>
              </a:extLst>
            </p:cNvPr>
            <p:cNvSpPr txBox="1"/>
            <p:nvPr/>
          </p:nvSpPr>
          <p:spPr>
            <a:xfrm>
              <a:off x="1638796" y="1475037"/>
              <a:ext cx="9044637" cy="923330"/>
            </a:xfrm>
            <a:prstGeom prst="rect">
              <a:avLst/>
            </a:prstGeom>
            <a:noFill/>
          </p:spPr>
          <p:txBody>
            <a:bodyPr wrap="square">
              <a:spAutoFit/>
            </a:bodyPr>
            <a:lstStyle/>
            <a:p>
              <a:r>
                <a:rPr lang="en-US" b="1" noProof="0" dirty="0"/>
                <a:t>Furia</a:t>
              </a:r>
              <a:r>
                <a:rPr lang="en-US" noProof="0" dirty="0"/>
                <a:t>, C. A., </a:t>
              </a:r>
              <a:r>
                <a:rPr lang="en-US" b="1" noProof="0" dirty="0"/>
                <a:t>Torkar</a:t>
              </a:r>
              <a:r>
                <a:rPr lang="en-US" noProof="0" dirty="0"/>
                <a:t>, R., &amp; </a:t>
              </a:r>
              <a:r>
                <a:rPr lang="en-US" b="1" noProof="0" dirty="0"/>
                <a:t>Feldt</a:t>
              </a:r>
              <a:r>
                <a:rPr lang="en-US" noProof="0" dirty="0"/>
                <a:t>, R. (2022). Applying Bayesian analysis guidelines to empirical software engineering data: The case of programming languages and code quality. </a:t>
              </a:r>
              <a:r>
                <a:rPr lang="en-US" i="1" noProof="0" dirty="0"/>
                <a:t>ACM Transactions on Software Engineering and Methodology (TOSEM)</a:t>
              </a:r>
              <a:r>
                <a:rPr lang="en-US" noProof="0" dirty="0"/>
                <a:t>, </a:t>
              </a:r>
              <a:r>
                <a:rPr lang="en-US" i="1" noProof="0" dirty="0"/>
                <a:t>31</a:t>
              </a:r>
              <a:r>
                <a:rPr lang="en-US" noProof="0" dirty="0"/>
                <a:t>(3), 1-38.</a:t>
              </a:r>
            </a:p>
          </p:txBody>
        </p:sp>
      </p:grpSp>
      <p:grpSp>
        <p:nvGrpSpPr>
          <p:cNvPr id="29" name="Group 28">
            <a:extLst>
              <a:ext uri="{FF2B5EF4-FFF2-40B4-BE49-F238E27FC236}">
                <a16:creationId xmlns:a16="http://schemas.microsoft.com/office/drawing/2014/main" id="{EDAA5DB2-1C2B-A86A-062D-3C0BEE6F5C90}"/>
              </a:ext>
            </a:extLst>
          </p:cNvPr>
          <p:cNvGrpSpPr/>
          <p:nvPr/>
        </p:nvGrpSpPr>
        <p:grpSpPr>
          <a:xfrm>
            <a:off x="838200" y="4722748"/>
            <a:ext cx="9654540" cy="720000"/>
            <a:chOff x="838200" y="1571080"/>
            <a:chExt cx="9654540" cy="720000"/>
          </a:xfrm>
        </p:grpSpPr>
        <p:pic>
          <p:nvPicPr>
            <p:cNvPr id="30" name="Graphic 29" descr="Document with solid fill">
              <a:extLst>
                <a:ext uri="{FF2B5EF4-FFF2-40B4-BE49-F238E27FC236}">
                  <a16:creationId xmlns:a16="http://schemas.microsoft.com/office/drawing/2014/main" id="{10EFB38E-8CC5-DA03-D2DB-84532085D68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38200" y="1571080"/>
              <a:ext cx="720000" cy="720000"/>
            </a:xfrm>
            <a:prstGeom prst="rect">
              <a:avLst/>
            </a:prstGeom>
          </p:spPr>
        </p:pic>
        <p:sp>
          <p:nvSpPr>
            <p:cNvPr id="31" name="TextBox 30">
              <a:extLst>
                <a:ext uri="{FF2B5EF4-FFF2-40B4-BE49-F238E27FC236}">
                  <a16:creationId xmlns:a16="http://schemas.microsoft.com/office/drawing/2014/main" id="{1A1F88B4-628A-99E5-8A49-958877EA6266}"/>
                </a:ext>
              </a:extLst>
            </p:cNvPr>
            <p:cNvSpPr txBox="1"/>
            <p:nvPr/>
          </p:nvSpPr>
          <p:spPr>
            <a:xfrm>
              <a:off x="1638796" y="1607914"/>
              <a:ext cx="8853944" cy="646331"/>
            </a:xfrm>
            <a:prstGeom prst="rect">
              <a:avLst/>
            </a:prstGeom>
            <a:noFill/>
          </p:spPr>
          <p:txBody>
            <a:bodyPr wrap="square">
              <a:spAutoFit/>
            </a:bodyPr>
            <a:lstStyle/>
            <a:p>
              <a:r>
                <a:rPr lang="en-US" b="1" noProof="0" dirty="0"/>
                <a:t>Furia</a:t>
              </a:r>
              <a:r>
                <a:rPr lang="en-US" noProof="0" dirty="0"/>
                <a:t>, C. A., </a:t>
              </a:r>
              <a:r>
                <a:rPr lang="en-US" b="1" noProof="0" dirty="0"/>
                <a:t>Feldt</a:t>
              </a:r>
              <a:r>
                <a:rPr lang="en-US" noProof="0" dirty="0"/>
                <a:t>, R., &amp; </a:t>
              </a:r>
              <a:r>
                <a:rPr lang="en-US" b="1" noProof="0" dirty="0"/>
                <a:t>Torkar</a:t>
              </a:r>
              <a:r>
                <a:rPr lang="en-US" noProof="0" dirty="0"/>
                <a:t>, R. (2019). Bayesian data analysis in empirical software engineering research. </a:t>
              </a:r>
              <a:r>
                <a:rPr lang="en-US" i="1" noProof="0" dirty="0"/>
                <a:t>IEEE Transactions on Software Engineering</a:t>
              </a:r>
              <a:r>
                <a:rPr lang="en-US" noProof="0" dirty="0"/>
                <a:t>, </a:t>
              </a:r>
              <a:r>
                <a:rPr lang="en-US" i="1" noProof="0" dirty="0"/>
                <a:t>47</a:t>
              </a:r>
              <a:r>
                <a:rPr lang="en-US" noProof="0" dirty="0"/>
                <a:t>(9), 1786-1810.</a:t>
              </a:r>
            </a:p>
          </p:txBody>
        </p:sp>
      </p:grpSp>
    </p:spTree>
    <p:extLst>
      <p:ext uri="{BB962C8B-B14F-4D97-AF65-F5344CB8AC3E}">
        <p14:creationId xmlns:p14="http://schemas.microsoft.com/office/powerpoint/2010/main" val="574461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577528-D62A-74DF-7D57-3726B1BBE424}"/>
              </a:ext>
            </a:extLst>
          </p:cNvPr>
          <p:cNvSpPr>
            <a:spLocks noGrp="1"/>
          </p:cNvSpPr>
          <p:nvPr>
            <p:ph type="title"/>
          </p:nvPr>
        </p:nvSpPr>
        <p:spPr/>
        <p:txBody>
          <a:bodyPr/>
          <a:lstStyle/>
          <a:p>
            <a:r>
              <a:rPr lang="en-US" noProof="0" dirty="0"/>
              <a:t>Material</a:t>
            </a:r>
          </a:p>
        </p:txBody>
      </p:sp>
      <p:sp>
        <p:nvSpPr>
          <p:cNvPr id="15" name="Content Placeholder 14">
            <a:extLst>
              <a:ext uri="{FF2B5EF4-FFF2-40B4-BE49-F238E27FC236}">
                <a16:creationId xmlns:a16="http://schemas.microsoft.com/office/drawing/2014/main" id="{4522CE99-32AE-5F3B-70EF-2392B11C254F}"/>
              </a:ext>
            </a:extLst>
          </p:cNvPr>
          <p:cNvSpPr>
            <a:spLocks noGrp="1"/>
          </p:cNvSpPr>
          <p:nvPr>
            <p:ph idx="1"/>
          </p:nvPr>
        </p:nvSpPr>
        <p:spPr>
          <a:xfrm>
            <a:off x="838200" y="1690688"/>
            <a:ext cx="3200400" cy="4486275"/>
          </a:xfrm>
        </p:spPr>
        <p:txBody>
          <a:bodyPr>
            <a:normAutofit/>
          </a:bodyPr>
          <a:lstStyle/>
          <a:p>
            <a:pPr marL="0" indent="0">
              <a:buNone/>
            </a:pPr>
            <a:r>
              <a:rPr lang="en-US" sz="2000" noProof="0" dirty="0"/>
              <a:t>All material is public and open-source on GitHub. Feel free to clone, fork, and share the study material.</a:t>
            </a:r>
          </a:p>
          <a:p>
            <a:pPr marL="0" indent="0">
              <a:buNone/>
            </a:pPr>
            <a:r>
              <a:rPr lang="en-US" sz="2000" noProof="0" dirty="0"/>
              <a:t>Comments, requests, and additions are welcome.</a:t>
            </a:r>
          </a:p>
        </p:txBody>
      </p:sp>
      <p:sp>
        <p:nvSpPr>
          <p:cNvPr id="4" name="Date Placeholder 3">
            <a:extLst>
              <a:ext uri="{FF2B5EF4-FFF2-40B4-BE49-F238E27FC236}">
                <a16:creationId xmlns:a16="http://schemas.microsoft.com/office/drawing/2014/main" id="{FD694583-67E3-567A-CE99-BF15A055B5B1}"/>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4B16ED83-2453-0BBC-0605-02E22ADEB2D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60453BF-A770-D155-739E-B37782C6D32E}"/>
              </a:ext>
            </a:extLst>
          </p:cNvPr>
          <p:cNvSpPr>
            <a:spLocks noGrp="1"/>
          </p:cNvSpPr>
          <p:nvPr>
            <p:ph type="sldNum" sz="quarter" idx="12"/>
          </p:nvPr>
        </p:nvSpPr>
        <p:spPr/>
        <p:txBody>
          <a:bodyPr/>
          <a:lstStyle/>
          <a:p>
            <a:fld id="{0FA2D919-C0DE-4971-A2E9-D4AC0031921B}" type="slidenum">
              <a:rPr lang="en-US" noProof="0" smtClean="0"/>
              <a:t>80</a:t>
            </a:fld>
            <a:endParaRPr lang="en-US" noProof="0" dirty="0"/>
          </a:p>
        </p:txBody>
      </p:sp>
      <p:pic>
        <p:nvPicPr>
          <p:cNvPr id="3" name="Picture 2">
            <a:extLst>
              <a:ext uri="{FF2B5EF4-FFF2-40B4-BE49-F238E27FC236}">
                <a16:creationId xmlns:a16="http://schemas.microsoft.com/office/drawing/2014/main" id="{7451425A-B0C9-56D1-7977-43B281D7878B}"/>
              </a:ext>
            </a:extLst>
          </p:cNvPr>
          <p:cNvPicPr>
            <a:picLocks noChangeAspect="1"/>
          </p:cNvPicPr>
          <p:nvPr/>
        </p:nvPicPr>
        <p:blipFill>
          <a:blip r:embed="rId2"/>
          <a:stretch>
            <a:fillRect/>
          </a:stretch>
        </p:blipFill>
        <p:spPr>
          <a:xfrm>
            <a:off x="4109272" y="1449386"/>
            <a:ext cx="7589979" cy="5512786"/>
          </a:xfrm>
          <a:prstGeom prst="rect">
            <a:avLst/>
          </a:prstGeom>
        </p:spPr>
      </p:pic>
      <p:grpSp>
        <p:nvGrpSpPr>
          <p:cNvPr id="9" name="Group 8">
            <a:extLst>
              <a:ext uri="{FF2B5EF4-FFF2-40B4-BE49-F238E27FC236}">
                <a16:creationId xmlns:a16="http://schemas.microsoft.com/office/drawing/2014/main" id="{84672EC6-4633-C444-1A14-50638EB6FE96}"/>
              </a:ext>
            </a:extLst>
          </p:cNvPr>
          <p:cNvGrpSpPr/>
          <p:nvPr/>
        </p:nvGrpSpPr>
        <p:grpSpPr>
          <a:xfrm>
            <a:off x="4109272" y="805773"/>
            <a:ext cx="3533766" cy="444265"/>
            <a:chOff x="7967672" y="5336710"/>
            <a:chExt cx="3533766" cy="444265"/>
          </a:xfrm>
        </p:grpSpPr>
        <p:grpSp>
          <p:nvGrpSpPr>
            <p:cNvPr id="10" name="Group 9">
              <a:extLst>
                <a:ext uri="{FF2B5EF4-FFF2-40B4-BE49-F238E27FC236}">
                  <a16:creationId xmlns:a16="http://schemas.microsoft.com/office/drawing/2014/main" id="{B4AF4A47-136E-BDD9-71CB-159BFC621559}"/>
                </a:ext>
              </a:extLst>
            </p:cNvPr>
            <p:cNvGrpSpPr/>
            <p:nvPr/>
          </p:nvGrpSpPr>
          <p:grpSpPr>
            <a:xfrm>
              <a:off x="7967672" y="5370114"/>
              <a:ext cx="3508652" cy="369332"/>
              <a:chOff x="7896235" y="5406529"/>
              <a:chExt cx="3508652" cy="369332"/>
            </a:xfrm>
          </p:grpSpPr>
          <p:pic>
            <p:nvPicPr>
              <p:cNvPr id="12" name="Picture 11" descr="A black background with a black square&#10;&#10;Description automatically generated with medium confidence">
                <a:extLst>
                  <a:ext uri="{FF2B5EF4-FFF2-40B4-BE49-F238E27FC236}">
                    <a16:creationId xmlns:a16="http://schemas.microsoft.com/office/drawing/2014/main" id="{2C95E0FF-5A30-C392-C8C8-B358288E1D40}"/>
                  </a:ext>
                </a:extLst>
              </p:cNvPr>
              <p:cNvPicPr>
                <a:picLocks noChangeAspect="1"/>
              </p:cNvPicPr>
              <p:nvPr/>
            </p:nvPicPr>
            <p:blipFill>
              <a:blip r:embed="rId3"/>
              <a:stretch>
                <a:fillRect/>
              </a:stretch>
            </p:blipFill>
            <p:spPr>
              <a:xfrm>
                <a:off x="7896235" y="5422888"/>
                <a:ext cx="344101" cy="344101"/>
              </a:xfrm>
              <a:prstGeom prst="rect">
                <a:avLst/>
              </a:prstGeom>
            </p:spPr>
          </p:pic>
          <p:sp>
            <p:nvSpPr>
              <p:cNvPr id="13" name="TextBox 12">
                <a:extLst>
                  <a:ext uri="{FF2B5EF4-FFF2-40B4-BE49-F238E27FC236}">
                    <a16:creationId xmlns:a16="http://schemas.microsoft.com/office/drawing/2014/main" id="{BAFDA95D-BE2D-670E-8C1C-CF6478220BBE}"/>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4" name="Rectangle: Rounded Corners 13">
                <a:extLst>
                  <a:ext uri="{FF2B5EF4-FFF2-40B4-BE49-F238E27FC236}">
                    <a16:creationId xmlns:a16="http://schemas.microsoft.com/office/drawing/2014/main" id="{60084D76-615F-26F4-6432-95BC0FFC9596}"/>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11" name="Rectangle 10">
              <a:hlinkClick r:id="rId4"/>
              <a:extLst>
                <a:ext uri="{FF2B5EF4-FFF2-40B4-BE49-F238E27FC236}">
                  <a16:creationId xmlns:a16="http://schemas.microsoft.com/office/drawing/2014/main" id="{D9DFC362-D44D-E0E5-9415-DDE38D90B68B}"/>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5403101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22A07-772A-13D8-AA1E-C42DA24A7374}"/>
              </a:ext>
            </a:extLst>
          </p:cNvPr>
          <p:cNvSpPr>
            <a:spLocks noGrp="1"/>
          </p:cNvSpPr>
          <p:nvPr>
            <p:ph type="title"/>
          </p:nvPr>
        </p:nvSpPr>
        <p:spPr/>
        <p:txBody>
          <a:bodyPr/>
          <a:lstStyle/>
          <a:p>
            <a:r>
              <a:rPr lang="en-US" noProof="0" dirty="0"/>
              <a:t>Limitations</a:t>
            </a:r>
          </a:p>
        </p:txBody>
      </p:sp>
      <p:sp>
        <p:nvSpPr>
          <p:cNvPr id="3" name="Content Placeholder 2">
            <a:extLst>
              <a:ext uri="{FF2B5EF4-FFF2-40B4-BE49-F238E27FC236}">
                <a16:creationId xmlns:a16="http://schemas.microsoft.com/office/drawing/2014/main" id="{066F4B6A-5598-1768-2F14-3AFB2FED1E6D}"/>
              </a:ext>
            </a:extLst>
          </p:cNvPr>
          <p:cNvSpPr>
            <a:spLocks noGrp="1"/>
          </p:cNvSpPr>
          <p:nvPr>
            <p:ph idx="1"/>
          </p:nvPr>
        </p:nvSpPr>
        <p:spPr/>
        <p:txBody>
          <a:bodyPr>
            <a:normAutofit fontScale="92500" lnSpcReduction="10000"/>
          </a:bodyPr>
          <a:lstStyle/>
          <a:p>
            <a:pPr marL="0" indent="0">
              <a:buNone/>
            </a:pPr>
            <a:r>
              <a:rPr lang="en-US" noProof="0" dirty="0"/>
              <a:t>This was but a gentle introduction. The topic of statistical causal inference contains many more elements, like</a:t>
            </a:r>
          </a:p>
          <a:p>
            <a:r>
              <a:rPr lang="en-US" b="1" noProof="0" dirty="0"/>
              <a:t>Ancestors</a:t>
            </a:r>
            <a:r>
              <a:rPr lang="en-US" noProof="0" dirty="0"/>
              <a:t>: parent-child relationships in DAGs</a:t>
            </a:r>
          </a:p>
          <a:p>
            <a:r>
              <a:rPr lang="en-US" b="1" noProof="0" dirty="0"/>
              <a:t>Interaction</a:t>
            </a:r>
            <a:r>
              <a:rPr lang="en-US" noProof="0" dirty="0"/>
              <a:t>: moderated inter-relationship between two or more variables and an outcome</a:t>
            </a:r>
          </a:p>
          <a:p>
            <a:r>
              <a:rPr lang="en-US" b="1" noProof="0" dirty="0"/>
              <a:t>Hierarchical model</a:t>
            </a:r>
            <a:r>
              <a:rPr lang="en-US" noProof="0" dirty="0"/>
              <a:t>: partial pooling </a:t>
            </a:r>
          </a:p>
          <a:p>
            <a:r>
              <a:rPr lang="en-US" b="1" noProof="0" dirty="0"/>
              <a:t>Different types of regression</a:t>
            </a:r>
            <a:r>
              <a:rPr lang="en-US" noProof="0" dirty="0"/>
              <a:t>: regression models for different outcome variable distributions</a:t>
            </a:r>
          </a:p>
          <a:p>
            <a:r>
              <a:rPr lang="en-US" b="1" noProof="0" dirty="0"/>
              <a:t>Bayesian data analysis</a:t>
            </a:r>
            <a:r>
              <a:rPr lang="en-US" noProof="0" dirty="0"/>
              <a:t>: advanced estimation technique</a:t>
            </a:r>
          </a:p>
          <a:p>
            <a:pPr marL="0" indent="0">
              <a:buNone/>
            </a:pPr>
            <a:r>
              <a:rPr lang="en-US" noProof="0" dirty="0"/>
              <a:t>And many more …</a:t>
            </a:r>
          </a:p>
        </p:txBody>
      </p:sp>
      <p:sp>
        <p:nvSpPr>
          <p:cNvPr id="4" name="Date Placeholder 3">
            <a:extLst>
              <a:ext uri="{FF2B5EF4-FFF2-40B4-BE49-F238E27FC236}">
                <a16:creationId xmlns:a16="http://schemas.microsoft.com/office/drawing/2014/main" id="{D31B1CB5-47E0-3ACB-71F3-B13F1FFC5AC8}"/>
              </a:ext>
            </a:extLst>
          </p:cNvPr>
          <p:cNvSpPr>
            <a:spLocks noGrp="1"/>
          </p:cNvSpPr>
          <p:nvPr>
            <p:ph type="dt" sz="half" idx="10"/>
          </p:nvPr>
        </p:nvSpPr>
        <p:spPr/>
        <p:txBody>
          <a:bodyPr/>
          <a:lstStyle/>
          <a:p>
            <a:r>
              <a:rPr lang="de-DE" noProof="0"/>
              <a:t>20.01.2026</a:t>
            </a:r>
            <a:endParaRPr lang="en-US" noProof="0" dirty="0"/>
          </a:p>
        </p:txBody>
      </p:sp>
      <p:sp>
        <p:nvSpPr>
          <p:cNvPr id="5" name="Footer Placeholder 4">
            <a:extLst>
              <a:ext uri="{FF2B5EF4-FFF2-40B4-BE49-F238E27FC236}">
                <a16:creationId xmlns:a16="http://schemas.microsoft.com/office/drawing/2014/main" id="{17AC9131-48C0-1AA4-C34F-73198A048427}"/>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526A7149-BADC-F2F2-C29D-4B183D844183}"/>
              </a:ext>
            </a:extLst>
          </p:cNvPr>
          <p:cNvSpPr>
            <a:spLocks noGrp="1"/>
          </p:cNvSpPr>
          <p:nvPr>
            <p:ph type="sldNum" sz="quarter" idx="12"/>
          </p:nvPr>
        </p:nvSpPr>
        <p:spPr/>
        <p:txBody>
          <a:bodyPr/>
          <a:lstStyle/>
          <a:p>
            <a:fld id="{0FA2D919-C0DE-4971-A2E9-D4AC0031921B}" type="slidenum">
              <a:rPr lang="en-US" noProof="0" smtClean="0"/>
              <a:t>81</a:t>
            </a:fld>
            <a:endParaRPr lang="en-US" noProof="0" dirty="0"/>
          </a:p>
        </p:txBody>
      </p:sp>
    </p:spTree>
    <p:extLst>
      <p:ext uri="{BB962C8B-B14F-4D97-AF65-F5344CB8AC3E}">
        <p14:creationId xmlns:p14="http://schemas.microsoft.com/office/powerpoint/2010/main" val="2323366489"/>
      </p:ext>
    </p:extLst>
  </p:cSld>
  <p:clrMapOvr>
    <a:masterClrMapping/>
  </p:clrMapOvr>
</p:sld>
</file>

<file path=ppt/theme/theme1.xml><?xml version="1.0" encoding="utf-8"?>
<a:theme xmlns:a="http://schemas.openxmlformats.org/drawingml/2006/main" name="Office Theme">
  <a:themeElements>
    <a:clrScheme name="Chalmers">
      <a:dk1>
        <a:sysClr val="windowText" lastClr="000000"/>
      </a:dk1>
      <a:lt1>
        <a:srgbClr val="FFFFFF"/>
      </a:lt1>
      <a:dk2>
        <a:srgbClr val="003050"/>
      </a:dk2>
      <a:lt2>
        <a:srgbClr val="FFCB05"/>
      </a:lt2>
      <a:accent1>
        <a:srgbClr val="F15A22"/>
      </a:accent1>
      <a:accent2>
        <a:srgbClr val="7FB539"/>
      </a:accent2>
      <a:accent3>
        <a:srgbClr val="006C5C"/>
      </a:accent3>
      <a:accent4>
        <a:srgbClr val="5D6F7A"/>
      </a:accent4>
      <a:accent5>
        <a:srgbClr val="58B0E3"/>
      </a:accent5>
      <a:accent6>
        <a:srgbClr val="270089"/>
      </a:accent6>
      <a:hlink>
        <a:srgbClr val="00A99D"/>
      </a:hlink>
      <a:folHlink>
        <a:srgbClr val="48372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2117</TotalTime>
  <Words>6842</Words>
  <Application>Microsoft Office PowerPoint</Application>
  <PresentationFormat>Widescreen</PresentationFormat>
  <Paragraphs>1093</Paragraphs>
  <Slides>81</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81</vt:i4>
      </vt:variant>
    </vt:vector>
  </HeadingPairs>
  <TitlesOfParts>
    <vt:vector size="86" baseType="lpstr">
      <vt:lpstr>Aptos</vt:lpstr>
      <vt:lpstr>Aptos Display</vt:lpstr>
      <vt:lpstr>Arial</vt:lpstr>
      <vt:lpstr>Cambria Math</vt:lpstr>
      <vt:lpstr>Office Theme</vt:lpstr>
      <vt:lpstr>Statistical Causal Inference</vt:lpstr>
      <vt:lpstr>Julian Frattini // about me</vt:lpstr>
      <vt:lpstr>Julian Frattini // about my research</vt:lpstr>
      <vt:lpstr>Motivation</vt:lpstr>
      <vt:lpstr>The Point of Science</vt:lpstr>
      <vt:lpstr>Types of Scientific Studies</vt:lpstr>
      <vt:lpstr>Types of Scientific Evidence</vt:lpstr>
      <vt:lpstr>Correlation versus Causality</vt:lpstr>
      <vt:lpstr>Limitations of Experiments</vt:lpstr>
      <vt:lpstr>Goals of this Lecture</vt:lpstr>
      <vt:lpstr>Learning Outcomes</vt:lpstr>
      <vt:lpstr>Causal Modelling</vt:lpstr>
      <vt:lpstr>Basic Terminology</vt:lpstr>
      <vt:lpstr>Causal Modeling</vt:lpstr>
      <vt:lpstr>Causal Modeling</vt:lpstr>
      <vt:lpstr>Exercise: Formulating a DAG</vt:lpstr>
      <vt:lpstr>Solution: Formulating a DAG</vt:lpstr>
      <vt:lpstr>Solution: Formulating a DAG</vt:lpstr>
      <vt:lpstr>Solution: Formulating a DAG</vt:lpstr>
      <vt:lpstr>Solution: Formulating a DAG</vt:lpstr>
      <vt:lpstr>Fundamentals &amp; Notation </vt:lpstr>
      <vt:lpstr>Simulations</vt:lpstr>
      <vt:lpstr>Causal Modeling and Simulations</vt:lpstr>
      <vt:lpstr>Data Analysis Tool: (Linear) Modeling</vt:lpstr>
      <vt:lpstr>From causal to statistical Models</vt:lpstr>
      <vt:lpstr>Pedagogy of this Tutorial</vt:lpstr>
      <vt:lpstr>Statistical Causal Inference</vt:lpstr>
      <vt:lpstr>Confounding: Common Causes</vt:lpstr>
      <vt:lpstr>Confounding: Common Causes</vt:lpstr>
      <vt:lpstr>Confounding: Common Causes</vt:lpstr>
      <vt:lpstr>Confounding: Common Causes</vt:lpstr>
      <vt:lpstr>Confounding: Common Causes</vt:lpstr>
      <vt:lpstr>Confounding: Common Causes</vt:lpstr>
      <vt:lpstr>Practical Example of Confounding</vt:lpstr>
      <vt:lpstr>Mediation: Pipes</vt:lpstr>
      <vt:lpstr>Mediation: Pipes</vt:lpstr>
      <vt:lpstr>Mediation: Pipes</vt:lpstr>
      <vt:lpstr>Mediation: Pipes</vt:lpstr>
      <vt:lpstr>Practical Example of Mediation</vt:lpstr>
      <vt:lpstr>Colliding: Common Effects</vt:lpstr>
      <vt:lpstr>Colliding: Common Effects</vt:lpstr>
      <vt:lpstr>Colliding: Common Effects</vt:lpstr>
      <vt:lpstr>Colliding: Common Effects</vt:lpstr>
      <vt:lpstr>Colliding: Common Effects</vt:lpstr>
      <vt:lpstr>Colliding: Common Effects</vt:lpstr>
      <vt:lpstr>Colliding: Common Effects</vt:lpstr>
      <vt:lpstr>Colliding: Common Effects</vt:lpstr>
      <vt:lpstr>Basic Types of Association</vt:lpstr>
      <vt:lpstr>Basic Types of Association</vt:lpstr>
      <vt:lpstr>Causal Modelling</vt:lpstr>
      <vt:lpstr>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Deriving a statistical Model from a causal Model: d-separation</vt:lpstr>
      <vt:lpstr>Exercises</vt:lpstr>
      <vt:lpstr>Exercises</vt:lpstr>
      <vt:lpstr>Exercises</vt:lpstr>
      <vt:lpstr>Exercises</vt:lpstr>
      <vt:lpstr>Exercises</vt:lpstr>
      <vt:lpstr>Exercises</vt:lpstr>
      <vt:lpstr>Exercises</vt:lpstr>
      <vt:lpstr>Exercises</vt:lpstr>
      <vt:lpstr>Exercises</vt:lpstr>
      <vt:lpstr>Exercises</vt:lpstr>
      <vt:lpstr>Exercises</vt:lpstr>
      <vt:lpstr>Causal Workflow</vt:lpstr>
      <vt:lpstr>Workflow for Statistical Causal Inference</vt:lpstr>
      <vt:lpstr>Workflow for Statistical Causal Inference</vt:lpstr>
      <vt:lpstr>Scientific Workflow: Traditional</vt:lpstr>
      <vt:lpstr>Scientific Workflow: Traditional</vt:lpstr>
      <vt:lpstr>Scientific Workflow: Better</vt:lpstr>
      <vt:lpstr>Scientific Workflow: Best</vt:lpstr>
      <vt:lpstr>Recommendations</vt:lpstr>
      <vt:lpstr>Conclusion</vt:lpstr>
      <vt:lpstr>Reading list</vt:lpstr>
      <vt:lpstr>Material</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120</cp:revision>
  <dcterms:created xsi:type="dcterms:W3CDTF">2025-04-03T06:42:22Z</dcterms:created>
  <dcterms:modified xsi:type="dcterms:W3CDTF">2026-06-17T13:52:56Z</dcterms:modified>
</cp:coreProperties>
</file>