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5"/>
  </p:notesMasterIdLst>
  <p:sldIdLst>
    <p:sldId id="256" r:id="rId2"/>
    <p:sldId id="350" r:id="rId3"/>
    <p:sldId id="386" r:id="rId4"/>
    <p:sldId id="394" r:id="rId5"/>
    <p:sldId id="387" r:id="rId6"/>
    <p:sldId id="502" r:id="rId7"/>
    <p:sldId id="457" r:id="rId8"/>
    <p:sldId id="503" r:id="rId9"/>
    <p:sldId id="504" r:id="rId10"/>
    <p:sldId id="388" r:id="rId11"/>
    <p:sldId id="433" r:id="rId12"/>
    <p:sldId id="518" r:id="rId13"/>
    <p:sldId id="519" r:id="rId14"/>
    <p:sldId id="506" r:id="rId15"/>
    <p:sldId id="507" r:id="rId16"/>
    <p:sldId id="437" r:id="rId17"/>
    <p:sldId id="449" r:id="rId18"/>
    <p:sldId id="434" r:id="rId19"/>
    <p:sldId id="520" r:id="rId20"/>
    <p:sldId id="486" r:id="rId21"/>
    <p:sldId id="435" r:id="rId22"/>
    <p:sldId id="397" r:id="rId23"/>
    <p:sldId id="521" r:id="rId24"/>
    <p:sldId id="398" r:id="rId25"/>
    <p:sldId id="399" r:id="rId26"/>
    <p:sldId id="467" r:id="rId27"/>
    <p:sldId id="464" r:id="rId28"/>
    <p:sldId id="466" r:id="rId29"/>
    <p:sldId id="465" r:id="rId30"/>
    <p:sldId id="400" r:id="rId31"/>
    <p:sldId id="401" r:id="rId32"/>
    <p:sldId id="402" r:id="rId33"/>
    <p:sldId id="403" r:id="rId34"/>
    <p:sldId id="404" r:id="rId35"/>
    <p:sldId id="405" r:id="rId36"/>
    <p:sldId id="406" r:id="rId37"/>
    <p:sldId id="407" r:id="rId38"/>
    <p:sldId id="390" r:id="rId39"/>
    <p:sldId id="395" r:id="rId40"/>
    <p:sldId id="475" r:id="rId41"/>
    <p:sldId id="468" r:id="rId42"/>
    <p:sldId id="471" r:id="rId43"/>
    <p:sldId id="508" r:id="rId44"/>
    <p:sldId id="510" r:id="rId45"/>
    <p:sldId id="472" r:id="rId46"/>
    <p:sldId id="509" r:id="rId47"/>
    <p:sldId id="511" r:id="rId48"/>
    <p:sldId id="473" r:id="rId49"/>
    <p:sldId id="512" r:id="rId50"/>
    <p:sldId id="513" r:id="rId51"/>
    <p:sldId id="474" r:id="rId52"/>
    <p:sldId id="477" r:id="rId53"/>
    <p:sldId id="478" r:id="rId54"/>
    <p:sldId id="479" r:id="rId55"/>
    <p:sldId id="514" r:id="rId56"/>
    <p:sldId id="480" r:id="rId57"/>
    <p:sldId id="515" r:id="rId58"/>
    <p:sldId id="481" r:id="rId59"/>
    <p:sldId id="482" r:id="rId60"/>
    <p:sldId id="483" r:id="rId61"/>
    <p:sldId id="516" r:id="rId62"/>
    <p:sldId id="484" r:id="rId63"/>
    <p:sldId id="485" r:id="rId64"/>
    <p:sldId id="517" r:id="rId65"/>
    <p:sldId id="476" r:id="rId66"/>
    <p:sldId id="460" r:id="rId67"/>
    <p:sldId id="469" r:id="rId68"/>
    <p:sldId id="487" r:id="rId69"/>
    <p:sldId id="527" r:id="rId70"/>
    <p:sldId id="528" r:id="rId71"/>
    <p:sldId id="529" r:id="rId72"/>
    <p:sldId id="488" r:id="rId73"/>
    <p:sldId id="489" r:id="rId74"/>
    <p:sldId id="491" r:id="rId75"/>
    <p:sldId id="490" r:id="rId76"/>
    <p:sldId id="492" r:id="rId77"/>
    <p:sldId id="493" r:id="rId78"/>
    <p:sldId id="494" r:id="rId79"/>
    <p:sldId id="495" r:id="rId80"/>
    <p:sldId id="497" r:id="rId81"/>
    <p:sldId id="498" r:id="rId82"/>
    <p:sldId id="499" r:id="rId83"/>
    <p:sldId id="500" r:id="rId84"/>
    <p:sldId id="530" r:id="rId85"/>
    <p:sldId id="470" r:id="rId86"/>
    <p:sldId id="391" r:id="rId87"/>
    <p:sldId id="522" r:id="rId88"/>
    <p:sldId id="523" r:id="rId89"/>
    <p:sldId id="524" r:id="rId90"/>
    <p:sldId id="462" r:id="rId91"/>
    <p:sldId id="525" r:id="rId92"/>
    <p:sldId id="393" r:id="rId93"/>
    <p:sldId id="526" r:id="rId94"/>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CC29449-0C4D-440C-A898-37D5FC755553}">
          <p14:sldIdLst>
            <p14:sldId id="256"/>
            <p14:sldId id="350"/>
            <p14:sldId id="386"/>
            <p14:sldId id="394"/>
          </p14:sldIdLst>
        </p14:section>
        <p14:section name="Motivation" id="{34986FCE-9F3C-4183-BDE2-138525CAECD9}">
          <p14:sldIdLst>
            <p14:sldId id="387"/>
            <p14:sldId id="502"/>
            <p14:sldId id="457"/>
            <p14:sldId id="503"/>
            <p14:sldId id="504"/>
          </p14:sldIdLst>
        </p14:section>
        <p14:section name="Issues with Frequentism" id="{6D84A925-A44D-4C15-9218-E466C68C8781}">
          <p14:sldIdLst>
            <p14:sldId id="388"/>
            <p14:sldId id="433"/>
            <p14:sldId id="518"/>
            <p14:sldId id="519"/>
            <p14:sldId id="506"/>
            <p14:sldId id="507"/>
            <p14:sldId id="437"/>
            <p14:sldId id="449"/>
            <p14:sldId id="434"/>
            <p14:sldId id="520"/>
            <p14:sldId id="486"/>
            <p14:sldId id="435"/>
          </p14:sldIdLst>
        </p14:section>
        <p14:section name="The Bayesian Paradigm" id="{4AFC7822-3206-455D-BBFF-48707FC7FD46}">
          <p14:sldIdLst>
            <p14:sldId id="397"/>
            <p14:sldId id="521"/>
            <p14:sldId id="398"/>
            <p14:sldId id="399"/>
            <p14:sldId id="467"/>
            <p14:sldId id="464"/>
            <p14:sldId id="466"/>
            <p14:sldId id="465"/>
            <p14:sldId id="400"/>
            <p14:sldId id="401"/>
            <p14:sldId id="402"/>
            <p14:sldId id="403"/>
            <p14:sldId id="404"/>
            <p14:sldId id="405"/>
            <p14:sldId id="406"/>
            <p14:sldId id="407"/>
          </p14:sldIdLst>
        </p14:section>
        <p14:section name="BDA Workflow I" id="{CFBB5A7D-BA39-4837-BFD5-9D594E80F3B8}">
          <p14:sldIdLst>
            <p14:sldId id="390"/>
            <p14:sldId id="395"/>
            <p14:sldId id="475"/>
            <p14:sldId id="468"/>
            <p14:sldId id="471"/>
            <p14:sldId id="508"/>
            <p14:sldId id="510"/>
            <p14:sldId id="472"/>
            <p14:sldId id="509"/>
            <p14:sldId id="511"/>
            <p14:sldId id="473"/>
            <p14:sldId id="512"/>
            <p14:sldId id="513"/>
            <p14:sldId id="474"/>
            <p14:sldId id="477"/>
            <p14:sldId id="478"/>
            <p14:sldId id="479"/>
            <p14:sldId id="514"/>
            <p14:sldId id="480"/>
            <p14:sldId id="515"/>
            <p14:sldId id="481"/>
            <p14:sldId id="482"/>
            <p14:sldId id="483"/>
            <p14:sldId id="516"/>
            <p14:sldId id="484"/>
            <p14:sldId id="485"/>
            <p14:sldId id="517"/>
            <p14:sldId id="476"/>
          </p14:sldIdLst>
        </p14:section>
        <p14:section name="BDA Workflow II" id="{7087B3EA-11E2-41D1-8BE9-0A9245BAE2FC}">
          <p14:sldIdLst>
            <p14:sldId id="460"/>
            <p14:sldId id="469"/>
            <p14:sldId id="487"/>
            <p14:sldId id="527"/>
            <p14:sldId id="528"/>
            <p14:sldId id="529"/>
            <p14:sldId id="488"/>
            <p14:sldId id="489"/>
            <p14:sldId id="491"/>
            <p14:sldId id="490"/>
            <p14:sldId id="492"/>
            <p14:sldId id="493"/>
            <p14:sldId id="494"/>
            <p14:sldId id="495"/>
            <p14:sldId id="497"/>
            <p14:sldId id="498"/>
            <p14:sldId id="499"/>
            <p14:sldId id="500"/>
            <p14:sldId id="530"/>
            <p14:sldId id="470"/>
          </p14:sldIdLst>
        </p14:section>
        <p14:section name="Path" id="{8D1EECA8-B8A5-4D13-BCBD-6ACD01349181}">
          <p14:sldIdLst>
            <p14:sldId id="391"/>
            <p14:sldId id="522"/>
            <p14:sldId id="523"/>
            <p14:sldId id="524"/>
            <p14:sldId id="462"/>
            <p14:sldId id="525"/>
          </p14:sldIdLst>
        </p14:section>
        <p14:section name="Conclusion" id="{879C7E9E-8A99-43E5-8558-7F1D3037B43E}">
          <p14:sldIdLst>
            <p14:sldId id="393"/>
            <p14:sldId id="5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D70"/>
    <a:srgbClr val="663300"/>
    <a:srgbClr val="D0180A"/>
    <a:srgbClr val="4300EA"/>
    <a:srgbClr val="4900FE"/>
    <a:srgbClr val="AB8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3" autoAdjust="0"/>
    <p:restoredTop sz="78519" autoAdjust="0"/>
  </p:normalViewPr>
  <p:slideViewPr>
    <p:cSldViewPr snapToGrid="0">
      <p:cViewPr varScale="1">
        <p:scale>
          <a:sx n="90" d="100"/>
          <a:sy n="90" d="100"/>
        </p:scale>
        <p:origin x="90" y="8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28809-A3C0-435B-AC12-B9138744A337}" type="datetimeFigureOut">
              <a:rPr lang="en-SE" smtClean="0"/>
              <a:t>2026-08-12</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EE9047-6757-432F-B3C4-B9B79F30218C}" type="slidenum">
              <a:rPr lang="en-SE" smtClean="0"/>
              <a:t>‹#›</a:t>
            </a:fld>
            <a:endParaRPr lang="en-SE"/>
          </a:p>
        </p:txBody>
      </p:sp>
    </p:spTree>
    <p:extLst>
      <p:ext uri="{BB962C8B-B14F-4D97-AF65-F5344CB8AC3E}">
        <p14:creationId xmlns:p14="http://schemas.microsoft.com/office/powerpoint/2010/main" val="3165615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a:p>
        </p:txBody>
      </p:sp>
      <p:sp>
        <p:nvSpPr>
          <p:cNvPr id="4" name="Slide Number Placeholder 3"/>
          <p:cNvSpPr>
            <a:spLocks noGrp="1"/>
          </p:cNvSpPr>
          <p:nvPr>
            <p:ph type="sldNum" sz="quarter" idx="5"/>
          </p:nvPr>
        </p:nvSpPr>
        <p:spPr/>
        <p:txBody>
          <a:bodyPr/>
          <a:lstStyle/>
          <a:p>
            <a:fld id="{ACC9BBD8-1C1E-4CFA-8C12-0AE7F3A91C3D}" type="slidenum">
              <a:rPr lang="en-US" smtClean="0"/>
              <a:t>2</a:t>
            </a:fld>
            <a:endParaRPr lang="en-US"/>
          </a:p>
        </p:txBody>
      </p:sp>
    </p:spTree>
    <p:extLst>
      <p:ext uri="{BB962C8B-B14F-4D97-AF65-F5344CB8AC3E}">
        <p14:creationId xmlns:p14="http://schemas.microsoft.com/office/powerpoint/2010/main" val="4038752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FBEE9047-6757-432F-B3C4-B9B79F30218C}" type="slidenum">
              <a:rPr lang="en-SE" smtClean="0"/>
              <a:t>4</a:t>
            </a:fld>
            <a:endParaRPr lang="en-SE"/>
          </a:p>
        </p:txBody>
      </p:sp>
    </p:spTree>
    <p:extLst>
      <p:ext uri="{BB962C8B-B14F-4D97-AF65-F5344CB8AC3E}">
        <p14:creationId xmlns:p14="http://schemas.microsoft.com/office/powerpoint/2010/main" val="4090952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NH + data + appropriate test = p-value</a:t>
            </a:r>
          </a:p>
          <a:p>
            <a:endParaRPr lang="en-SE" dirty="0"/>
          </a:p>
        </p:txBody>
      </p:sp>
      <p:sp>
        <p:nvSpPr>
          <p:cNvPr id="4" name="Slide Number Placeholder 3"/>
          <p:cNvSpPr>
            <a:spLocks noGrp="1"/>
          </p:cNvSpPr>
          <p:nvPr>
            <p:ph type="sldNum" sz="quarter" idx="5"/>
          </p:nvPr>
        </p:nvSpPr>
        <p:spPr/>
        <p:txBody>
          <a:bodyPr/>
          <a:lstStyle/>
          <a:p>
            <a:fld id="{FBEE9047-6757-432F-B3C4-B9B79F30218C}" type="slidenum">
              <a:rPr lang="en-SE" smtClean="0"/>
              <a:t>11</a:t>
            </a:fld>
            <a:endParaRPr lang="en-SE"/>
          </a:p>
        </p:txBody>
      </p:sp>
    </p:spTree>
    <p:extLst>
      <p:ext uri="{BB962C8B-B14F-4D97-AF65-F5344CB8AC3E}">
        <p14:creationId xmlns:p14="http://schemas.microsoft.com/office/powerpoint/2010/main" val="954248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2988F-6464-AACD-037D-54B3B784B5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B5C2C-6603-450B-C97A-B5E2338093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2522D7-AD9B-EF7B-B099-799B0E10A00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NH + data + appropriate test = p-value</a:t>
            </a:r>
          </a:p>
          <a:p>
            <a:endParaRPr lang="en-SE" dirty="0"/>
          </a:p>
        </p:txBody>
      </p:sp>
      <p:sp>
        <p:nvSpPr>
          <p:cNvPr id="4" name="Slide Number Placeholder 3">
            <a:extLst>
              <a:ext uri="{FF2B5EF4-FFF2-40B4-BE49-F238E27FC236}">
                <a16:creationId xmlns:a16="http://schemas.microsoft.com/office/drawing/2014/main" id="{F73617F9-9B52-5B99-1E59-C6FB0C35D59F}"/>
              </a:ext>
            </a:extLst>
          </p:cNvPr>
          <p:cNvSpPr>
            <a:spLocks noGrp="1"/>
          </p:cNvSpPr>
          <p:nvPr>
            <p:ph type="sldNum" sz="quarter" idx="5"/>
          </p:nvPr>
        </p:nvSpPr>
        <p:spPr/>
        <p:txBody>
          <a:bodyPr/>
          <a:lstStyle/>
          <a:p>
            <a:fld id="{FBEE9047-6757-432F-B3C4-B9B79F30218C}" type="slidenum">
              <a:rPr lang="en-SE" smtClean="0"/>
              <a:t>12</a:t>
            </a:fld>
            <a:endParaRPr lang="en-SE"/>
          </a:p>
        </p:txBody>
      </p:sp>
    </p:spTree>
    <p:extLst>
      <p:ext uri="{BB962C8B-B14F-4D97-AF65-F5344CB8AC3E}">
        <p14:creationId xmlns:p14="http://schemas.microsoft.com/office/powerpoint/2010/main" val="3649425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C2EFB-E03F-D16C-CAA3-BB67B8AA3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7ED3B-E4C1-EF53-16B5-C9ECA32F83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64ED0-B7C9-9441-F91A-3243E6EE3ED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NH + data + appropriate test = p-value</a:t>
            </a:r>
          </a:p>
          <a:p>
            <a:endParaRPr lang="en-SE" dirty="0"/>
          </a:p>
        </p:txBody>
      </p:sp>
      <p:sp>
        <p:nvSpPr>
          <p:cNvPr id="4" name="Slide Number Placeholder 3">
            <a:extLst>
              <a:ext uri="{FF2B5EF4-FFF2-40B4-BE49-F238E27FC236}">
                <a16:creationId xmlns:a16="http://schemas.microsoft.com/office/drawing/2014/main" id="{38718B48-B291-6093-435F-E2055D0F6D3C}"/>
              </a:ext>
            </a:extLst>
          </p:cNvPr>
          <p:cNvSpPr>
            <a:spLocks noGrp="1"/>
          </p:cNvSpPr>
          <p:nvPr>
            <p:ph type="sldNum" sz="quarter" idx="5"/>
          </p:nvPr>
        </p:nvSpPr>
        <p:spPr/>
        <p:txBody>
          <a:bodyPr/>
          <a:lstStyle/>
          <a:p>
            <a:fld id="{FBEE9047-6757-432F-B3C4-B9B79F30218C}" type="slidenum">
              <a:rPr lang="en-SE" smtClean="0"/>
              <a:t>13</a:t>
            </a:fld>
            <a:endParaRPr lang="en-SE"/>
          </a:p>
        </p:txBody>
      </p:sp>
    </p:spTree>
    <p:extLst>
      <p:ext uri="{BB962C8B-B14F-4D97-AF65-F5344CB8AC3E}">
        <p14:creationId xmlns:p14="http://schemas.microsoft.com/office/powerpoint/2010/main" val="3404146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24957-0468-9457-BC4E-73731F564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7DB4BC-4855-8539-5990-6DE197F7CD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D39CF5-123F-26CF-D5BB-7DF7A6C3EC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NH + data + appropriate test = p-value</a:t>
            </a:r>
          </a:p>
          <a:p>
            <a:endParaRPr lang="en-SE" dirty="0"/>
          </a:p>
        </p:txBody>
      </p:sp>
      <p:sp>
        <p:nvSpPr>
          <p:cNvPr id="4" name="Slide Number Placeholder 3">
            <a:extLst>
              <a:ext uri="{FF2B5EF4-FFF2-40B4-BE49-F238E27FC236}">
                <a16:creationId xmlns:a16="http://schemas.microsoft.com/office/drawing/2014/main" id="{87CCC264-7CF0-F91D-D279-28C8A8D9987D}"/>
              </a:ext>
            </a:extLst>
          </p:cNvPr>
          <p:cNvSpPr>
            <a:spLocks noGrp="1"/>
          </p:cNvSpPr>
          <p:nvPr>
            <p:ph type="sldNum" sz="quarter" idx="5"/>
          </p:nvPr>
        </p:nvSpPr>
        <p:spPr/>
        <p:txBody>
          <a:bodyPr/>
          <a:lstStyle/>
          <a:p>
            <a:fld id="{FBEE9047-6757-432F-B3C4-B9B79F30218C}" type="slidenum">
              <a:rPr lang="en-SE" smtClean="0"/>
              <a:t>14</a:t>
            </a:fld>
            <a:endParaRPr lang="en-SE"/>
          </a:p>
        </p:txBody>
      </p:sp>
    </p:spTree>
    <p:extLst>
      <p:ext uri="{BB962C8B-B14F-4D97-AF65-F5344CB8AC3E}">
        <p14:creationId xmlns:p14="http://schemas.microsoft.com/office/powerpoint/2010/main" val="4171572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Font typeface="+mj-lt"/>
              <a:buAutoNum type="arabicPeriod"/>
            </a:pPr>
            <a:r>
              <a:rPr lang="en-US" noProof="0" dirty="0"/>
              <a:t>(defining a regression formula)</a:t>
            </a:r>
          </a:p>
          <a:p>
            <a:pPr marL="514350" indent="-514350">
              <a:buFont typeface="+mj-lt"/>
              <a:buAutoNum type="arabicPeriod"/>
            </a:pPr>
            <a:r>
              <a:rPr lang="en-US" b="1" noProof="0" dirty="0"/>
              <a:t>Do </a:t>
            </a:r>
            <a:r>
              <a:rPr lang="en-US" noProof="0" dirty="0"/>
              <a:t>select and assess priors: specifying priors, performing and evaluating a prior predictive check</a:t>
            </a:r>
          </a:p>
          <a:p>
            <a:pPr marL="514350" indent="-514350">
              <a:buFont typeface="+mj-lt"/>
              <a:buAutoNum type="arabicPeriod"/>
            </a:pPr>
            <a:r>
              <a:rPr lang="en-US" b="1" noProof="0" dirty="0"/>
              <a:t>Understand</a:t>
            </a:r>
            <a:r>
              <a:rPr lang="en-US" noProof="0" dirty="0"/>
              <a:t> Markov chain Monte Carlo sampling</a:t>
            </a:r>
          </a:p>
          <a:p>
            <a:pPr marL="514350" indent="-514350">
              <a:buFont typeface="+mj-lt"/>
              <a:buAutoNum type="arabicPeriod"/>
            </a:pPr>
            <a:r>
              <a:rPr lang="en-US" b="1" noProof="0" dirty="0"/>
              <a:t>Do </a:t>
            </a:r>
            <a:r>
              <a:rPr lang="en-US" noProof="0" dirty="0"/>
              <a:t>assess model fit: test various diagnostics</a:t>
            </a:r>
          </a:p>
          <a:p>
            <a:pPr marL="514350" indent="-514350">
              <a:buFont typeface="+mj-lt"/>
              <a:buAutoNum type="arabicPeriod"/>
            </a:pPr>
            <a:r>
              <a:rPr lang="en-US" b="1" noProof="0" dirty="0"/>
              <a:t>Do </a:t>
            </a:r>
            <a:r>
              <a:rPr lang="en-US" noProof="0" dirty="0"/>
              <a:t>evaluate models: interpret posteriors</a:t>
            </a:r>
            <a:endParaRPr lang="en-US" b="1" noProof="0" dirty="0"/>
          </a:p>
          <a:p>
            <a:endParaRPr lang="en-SE" dirty="0"/>
          </a:p>
        </p:txBody>
      </p:sp>
      <p:sp>
        <p:nvSpPr>
          <p:cNvPr id="4" name="Slide Number Placeholder 3"/>
          <p:cNvSpPr>
            <a:spLocks noGrp="1"/>
          </p:cNvSpPr>
          <p:nvPr>
            <p:ph type="sldNum" sz="quarter" idx="5"/>
          </p:nvPr>
        </p:nvSpPr>
        <p:spPr/>
        <p:txBody>
          <a:bodyPr/>
          <a:lstStyle/>
          <a:p>
            <a:fld id="{FBEE9047-6757-432F-B3C4-B9B79F30218C}" type="slidenum">
              <a:rPr lang="en-SE" smtClean="0"/>
              <a:t>39</a:t>
            </a:fld>
            <a:endParaRPr lang="en-SE"/>
          </a:p>
        </p:txBody>
      </p:sp>
    </p:spTree>
    <p:extLst>
      <p:ext uri="{BB962C8B-B14F-4D97-AF65-F5344CB8AC3E}">
        <p14:creationId xmlns:p14="http://schemas.microsoft.com/office/powerpoint/2010/main" val="881729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FBEE9047-6757-432F-B3C4-B9B79F30218C}" type="slidenum">
              <a:rPr lang="en-SE" smtClean="0"/>
              <a:t>58</a:t>
            </a:fld>
            <a:endParaRPr lang="en-SE"/>
          </a:p>
        </p:txBody>
      </p:sp>
    </p:spTree>
    <p:extLst>
      <p:ext uri="{BB962C8B-B14F-4D97-AF65-F5344CB8AC3E}">
        <p14:creationId xmlns:p14="http://schemas.microsoft.com/office/powerpoint/2010/main" val="1397977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SE" dirty="0"/>
                  <a:t>Posterior predictive check</a:t>
                </a:r>
              </a:p>
              <a:p>
                <a:r>
                  <a:rPr lang="en-SE" dirty="0"/>
                  <a:t>Gelman-Rubin Convergence Statistics </a:t>
                </a:r>
                <a14:m>
                  <m:oMath xmlns:m="http://schemas.openxmlformats.org/officeDocument/2006/math">
                    <m:acc>
                      <m:accPr>
                        <m:chr m:val="̂"/>
                        <m:ctrlPr>
                          <a:rPr lang="en-SE" b="0" i="1" smtClean="0">
                            <a:latin typeface="Cambria Math" panose="02040503050406030204" pitchFamily="18" charset="0"/>
                          </a:rPr>
                        </m:ctrlPr>
                      </m:accPr>
                      <m:e>
                        <m:r>
                          <a:rPr lang="en-SE" b="0" i="1" smtClean="0">
                            <a:latin typeface="Cambria Math" panose="02040503050406030204" pitchFamily="18" charset="0"/>
                          </a:rPr>
                          <m:t>𝑅</m:t>
                        </m:r>
                      </m:e>
                    </m:acc>
                  </m:oMath>
                </a14:m>
                <a:endParaRPr lang="en-SE" dirty="0"/>
              </a:p>
              <a:p>
                <a:r>
                  <a:rPr lang="en-SE" dirty="0"/>
                  <a:t>Effective sample sizes</a:t>
                </a:r>
              </a:p>
              <a:p>
                <a:r>
                  <a:rPr lang="en-SE" dirty="0"/>
                  <a:t>Visual assessment (“hairy caterpillar ocular inspection test”)</a:t>
                </a:r>
              </a:p>
              <a:p>
                <a:endParaRPr lang="en-SE" dirty="0"/>
              </a:p>
            </p:txBody>
          </p:sp>
        </mc:Choice>
        <mc:Fallback xmlns="">
          <p:sp>
            <p:nvSpPr>
              <p:cNvPr id="3" name="Notes Placeholder 2"/>
              <p:cNvSpPr>
                <a:spLocks noGrp="1"/>
              </p:cNvSpPr>
              <p:nvPr>
                <p:ph type="body" idx="1"/>
              </p:nvPr>
            </p:nvSpPr>
            <p:spPr/>
            <p:txBody>
              <a:bodyPr/>
              <a:lstStyle/>
              <a:p>
                <a:r>
                  <a:rPr lang="en-SE" dirty="0"/>
                  <a:t>Posterior predictive check</a:t>
                </a:r>
              </a:p>
              <a:p>
                <a:r>
                  <a:rPr lang="en-SE" dirty="0"/>
                  <a:t>Gelman-Rubin Convergence Statistics </a:t>
                </a:r>
                <a:r>
                  <a:rPr lang="en-SE" b="0" i="0">
                    <a:latin typeface="Cambria Math" panose="02040503050406030204" pitchFamily="18" charset="0"/>
                  </a:rPr>
                  <a:t>𝑅 ̂</a:t>
                </a:r>
                <a:endParaRPr lang="en-SE" dirty="0"/>
              </a:p>
              <a:p>
                <a:r>
                  <a:rPr lang="en-SE" dirty="0"/>
                  <a:t>Effective sample sizes</a:t>
                </a:r>
              </a:p>
              <a:p>
                <a:r>
                  <a:rPr lang="en-SE" dirty="0"/>
                  <a:t>Visual assessment (“hairy caterpillar ocular inspection test”)</a:t>
                </a:r>
              </a:p>
              <a:p>
                <a:endParaRPr lang="en-SE" dirty="0"/>
              </a:p>
            </p:txBody>
          </p:sp>
        </mc:Fallback>
      </mc:AlternateContent>
      <p:sp>
        <p:nvSpPr>
          <p:cNvPr id="4" name="Slide Number Placeholder 3"/>
          <p:cNvSpPr>
            <a:spLocks noGrp="1"/>
          </p:cNvSpPr>
          <p:nvPr>
            <p:ph type="sldNum" sz="quarter" idx="5"/>
          </p:nvPr>
        </p:nvSpPr>
        <p:spPr/>
        <p:txBody>
          <a:bodyPr/>
          <a:lstStyle/>
          <a:p>
            <a:fld id="{FBEE9047-6757-432F-B3C4-B9B79F30218C}" type="slidenum">
              <a:rPr lang="en-SE" smtClean="0"/>
              <a:t>60</a:t>
            </a:fld>
            <a:endParaRPr lang="en-SE"/>
          </a:p>
        </p:txBody>
      </p:sp>
    </p:spTree>
    <p:extLst>
      <p:ext uri="{BB962C8B-B14F-4D97-AF65-F5344CB8AC3E}">
        <p14:creationId xmlns:p14="http://schemas.microsoft.com/office/powerpoint/2010/main" val="1102889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C936A-2CA4-675B-59E7-8EFA081DC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112A3-DDC2-8D7B-2D70-DE15D1AAA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5F4CB6-226F-F743-0ED9-670FBEC4FE02}"/>
              </a:ext>
            </a:extLst>
          </p:cNvPr>
          <p:cNvSpPr>
            <a:spLocks noGrp="1"/>
          </p:cNvSpPr>
          <p:nvPr>
            <p:ph type="body" idx="1"/>
          </p:nvPr>
        </p:nvSpPr>
        <p:spPr/>
        <p:txBody>
          <a:bodyPr/>
          <a:lstStyle/>
          <a:p>
            <a:pPr marL="514350" indent="-514350">
              <a:buFont typeface="+mj-lt"/>
              <a:buAutoNum type="arabicPeriod"/>
            </a:pPr>
            <a:r>
              <a:rPr lang="en-US" noProof="0" dirty="0"/>
              <a:t>(defining a regression formula)</a:t>
            </a:r>
          </a:p>
          <a:p>
            <a:pPr marL="514350" indent="-514350">
              <a:buFont typeface="+mj-lt"/>
              <a:buAutoNum type="arabicPeriod"/>
            </a:pPr>
            <a:r>
              <a:rPr lang="en-US" b="1" noProof="0" dirty="0"/>
              <a:t>Do </a:t>
            </a:r>
            <a:r>
              <a:rPr lang="en-US" noProof="0" dirty="0"/>
              <a:t>select and assess priors: specifying priors, performing and evaluating a prior predictive check</a:t>
            </a:r>
          </a:p>
          <a:p>
            <a:pPr marL="514350" indent="-514350">
              <a:buFont typeface="+mj-lt"/>
              <a:buAutoNum type="arabicPeriod"/>
            </a:pPr>
            <a:r>
              <a:rPr lang="en-US" b="1" noProof="0" dirty="0"/>
              <a:t>Understand</a:t>
            </a:r>
            <a:r>
              <a:rPr lang="en-US" noProof="0" dirty="0"/>
              <a:t> Markov chain Monte Carlo sampling</a:t>
            </a:r>
          </a:p>
          <a:p>
            <a:pPr marL="514350" indent="-514350">
              <a:buFont typeface="+mj-lt"/>
              <a:buAutoNum type="arabicPeriod"/>
            </a:pPr>
            <a:r>
              <a:rPr lang="en-US" b="1" noProof="0" dirty="0"/>
              <a:t>Do </a:t>
            </a:r>
            <a:r>
              <a:rPr lang="en-US" noProof="0" dirty="0"/>
              <a:t>assess model fit: test various diagnostics</a:t>
            </a:r>
          </a:p>
          <a:p>
            <a:pPr marL="514350" indent="-514350">
              <a:buFont typeface="+mj-lt"/>
              <a:buAutoNum type="arabicPeriod"/>
            </a:pPr>
            <a:r>
              <a:rPr lang="en-US" b="1" noProof="0" dirty="0"/>
              <a:t>Do </a:t>
            </a:r>
            <a:r>
              <a:rPr lang="en-US" noProof="0" dirty="0"/>
              <a:t>evaluate models: interpret posteriors</a:t>
            </a:r>
            <a:endParaRPr lang="en-US" b="1" noProof="0" dirty="0"/>
          </a:p>
          <a:p>
            <a:endParaRPr lang="en-SE" dirty="0"/>
          </a:p>
        </p:txBody>
      </p:sp>
      <p:sp>
        <p:nvSpPr>
          <p:cNvPr id="4" name="Slide Number Placeholder 3">
            <a:extLst>
              <a:ext uri="{FF2B5EF4-FFF2-40B4-BE49-F238E27FC236}">
                <a16:creationId xmlns:a16="http://schemas.microsoft.com/office/drawing/2014/main" id="{16A1FC37-BA25-BF20-0008-92BA67052CC1}"/>
              </a:ext>
            </a:extLst>
          </p:cNvPr>
          <p:cNvSpPr>
            <a:spLocks noGrp="1"/>
          </p:cNvSpPr>
          <p:nvPr>
            <p:ph type="sldNum" sz="quarter" idx="5"/>
          </p:nvPr>
        </p:nvSpPr>
        <p:spPr/>
        <p:txBody>
          <a:bodyPr/>
          <a:lstStyle/>
          <a:p>
            <a:fld id="{FBEE9047-6757-432F-B3C4-B9B79F30218C}" type="slidenum">
              <a:rPr lang="en-SE" smtClean="0"/>
              <a:t>67</a:t>
            </a:fld>
            <a:endParaRPr lang="en-SE"/>
          </a:p>
        </p:txBody>
      </p:sp>
    </p:spTree>
    <p:extLst>
      <p:ext uri="{BB962C8B-B14F-4D97-AF65-F5344CB8AC3E}">
        <p14:creationId xmlns:p14="http://schemas.microsoft.com/office/powerpoint/2010/main" val="1009327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DCFAE-1CD6-8D6E-B63F-5022F3413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5218A-B8C4-32E3-5536-325F9C2762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56FAF6-D8F3-96D5-9162-6CFBAD49D0E2}"/>
              </a:ext>
            </a:extLst>
          </p:cNvPr>
          <p:cNvSpPr>
            <a:spLocks noGrp="1"/>
          </p:cNvSpPr>
          <p:nvPr>
            <p:ph type="body" idx="1"/>
          </p:nvPr>
        </p:nvSpPr>
        <p:spPr/>
        <p:txBody>
          <a:bodyPr/>
          <a:lstStyle/>
          <a:p>
            <a:pPr marL="514350" indent="-514350">
              <a:buFont typeface="+mj-lt"/>
              <a:buAutoNum type="arabicPeriod"/>
            </a:pPr>
            <a:r>
              <a:rPr lang="en-US" noProof="0" dirty="0"/>
              <a:t>(defining a regression formula)</a:t>
            </a:r>
          </a:p>
          <a:p>
            <a:pPr marL="514350" indent="-514350">
              <a:buFont typeface="+mj-lt"/>
              <a:buAutoNum type="arabicPeriod"/>
            </a:pPr>
            <a:r>
              <a:rPr lang="en-US" b="1" noProof="0" dirty="0"/>
              <a:t>Do </a:t>
            </a:r>
            <a:r>
              <a:rPr lang="en-US" noProof="0" dirty="0"/>
              <a:t>select and assess priors: specifying priors, performing and evaluating a prior predictive check</a:t>
            </a:r>
          </a:p>
          <a:p>
            <a:pPr marL="514350" indent="-514350">
              <a:buFont typeface="+mj-lt"/>
              <a:buAutoNum type="arabicPeriod"/>
            </a:pPr>
            <a:r>
              <a:rPr lang="en-US" b="1" noProof="0" dirty="0"/>
              <a:t>Understand</a:t>
            </a:r>
            <a:r>
              <a:rPr lang="en-US" noProof="0" dirty="0"/>
              <a:t> Markov chain Monte Carlo sampling</a:t>
            </a:r>
          </a:p>
          <a:p>
            <a:pPr marL="514350" indent="-514350">
              <a:buFont typeface="+mj-lt"/>
              <a:buAutoNum type="arabicPeriod"/>
            </a:pPr>
            <a:r>
              <a:rPr lang="en-US" b="1" noProof="0" dirty="0"/>
              <a:t>Do </a:t>
            </a:r>
            <a:r>
              <a:rPr lang="en-US" noProof="0" dirty="0"/>
              <a:t>assess model fit: test various diagnostics</a:t>
            </a:r>
          </a:p>
          <a:p>
            <a:pPr marL="514350" indent="-514350">
              <a:buFont typeface="+mj-lt"/>
              <a:buAutoNum type="arabicPeriod"/>
            </a:pPr>
            <a:r>
              <a:rPr lang="en-US" b="1" noProof="0" dirty="0"/>
              <a:t>Do </a:t>
            </a:r>
            <a:r>
              <a:rPr lang="en-US" noProof="0" dirty="0"/>
              <a:t>evaluate models: interpret posteriors</a:t>
            </a:r>
            <a:endParaRPr lang="en-US" b="1" noProof="0" dirty="0"/>
          </a:p>
          <a:p>
            <a:endParaRPr lang="en-SE" dirty="0"/>
          </a:p>
        </p:txBody>
      </p:sp>
      <p:sp>
        <p:nvSpPr>
          <p:cNvPr id="4" name="Slide Number Placeholder 3">
            <a:extLst>
              <a:ext uri="{FF2B5EF4-FFF2-40B4-BE49-F238E27FC236}">
                <a16:creationId xmlns:a16="http://schemas.microsoft.com/office/drawing/2014/main" id="{602E0866-910A-C6DC-E75B-443F69AC831B}"/>
              </a:ext>
            </a:extLst>
          </p:cNvPr>
          <p:cNvSpPr>
            <a:spLocks noGrp="1"/>
          </p:cNvSpPr>
          <p:nvPr>
            <p:ph type="sldNum" sz="quarter" idx="5"/>
          </p:nvPr>
        </p:nvSpPr>
        <p:spPr/>
        <p:txBody>
          <a:bodyPr/>
          <a:lstStyle/>
          <a:p>
            <a:fld id="{FBEE9047-6757-432F-B3C4-B9B79F30218C}" type="slidenum">
              <a:rPr lang="en-SE" smtClean="0"/>
              <a:t>85</a:t>
            </a:fld>
            <a:endParaRPr lang="en-SE"/>
          </a:p>
        </p:txBody>
      </p:sp>
    </p:spTree>
    <p:extLst>
      <p:ext uri="{BB962C8B-B14F-4D97-AF65-F5344CB8AC3E}">
        <p14:creationId xmlns:p14="http://schemas.microsoft.com/office/powerpoint/2010/main" val="30760961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7ECFB-CC92-FB7D-062B-5F840C7CDEF9}"/>
              </a:ext>
            </a:extLst>
          </p:cNvPr>
          <p:cNvSpPr>
            <a:spLocks noGrp="1"/>
          </p:cNvSpPr>
          <p:nvPr>
            <p:ph type="ctrTitle"/>
          </p:nvPr>
        </p:nvSpPr>
        <p:spPr>
          <a:xfrm>
            <a:off x="1524000" y="1600199"/>
            <a:ext cx="9144000" cy="1909763"/>
          </a:xfrm>
        </p:spPr>
        <p:txBody>
          <a:bodyPr anchor="b"/>
          <a:lstStyle>
            <a:lvl1pPr algn="ctr">
              <a:defRPr sz="6000"/>
            </a:lvl1pPr>
          </a:lstStyle>
          <a:p>
            <a:r>
              <a:rPr lang="en-US"/>
              <a:t>Click to edit Master title style</a:t>
            </a:r>
            <a:endParaRPr lang="en-SE"/>
          </a:p>
        </p:txBody>
      </p:sp>
      <p:sp>
        <p:nvSpPr>
          <p:cNvPr id="3" name="Subtitle 2">
            <a:extLst>
              <a:ext uri="{FF2B5EF4-FFF2-40B4-BE49-F238E27FC236}">
                <a16:creationId xmlns:a16="http://schemas.microsoft.com/office/drawing/2014/main" id="{D17DB82B-6165-1C54-C51D-F5D58F23CB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E"/>
          </a:p>
        </p:txBody>
      </p:sp>
      <p:sp>
        <p:nvSpPr>
          <p:cNvPr id="4" name="Date Placeholder 3">
            <a:extLst>
              <a:ext uri="{FF2B5EF4-FFF2-40B4-BE49-F238E27FC236}">
                <a16:creationId xmlns:a16="http://schemas.microsoft.com/office/drawing/2014/main" id="{B37955BD-5E43-FC47-D766-386274FE3FE6}"/>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DAC345E8-8305-94BE-CD1F-E34E302160C0}"/>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159FBD3E-ECCB-B12E-8504-AE90BAE0F46A}"/>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14" name="Picture 13">
            <a:extLst>
              <a:ext uri="{FF2B5EF4-FFF2-40B4-BE49-F238E27FC236}">
                <a16:creationId xmlns:a16="http://schemas.microsoft.com/office/drawing/2014/main" id="{E6BA91CF-13DA-2A0F-EA36-67531A1083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1902" y="0"/>
            <a:ext cx="7600298" cy="1909762"/>
          </a:xfrm>
          <a:prstGeom prst="rect">
            <a:avLst/>
          </a:prstGeom>
        </p:spPr>
      </p:pic>
    </p:spTree>
    <p:extLst>
      <p:ext uri="{BB962C8B-B14F-4D97-AF65-F5344CB8AC3E}">
        <p14:creationId xmlns:p14="http://schemas.microsoft.com/office/powerpoint/2010/main" val="2410244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46C5-11CD-4C87-4B7F-F0A008414468}"/>
              </a:ext>
            </a:extLst>
          </p:cNvPr>
          <p:cNvSpPr>
            <a:spLocks noGrp="1"/>
          </p:cNvSpPr>
          <p:nvPr>
            <p:ph type="title"/>
          </p:nvPr>
        </p:nvSpPr>
        <p:spPr>
          <a:xfrm>
            <a:off x="838198" y="365125"/>
            <a:ext cx="9380975" cy="1325563"/>
          </a:xfrm>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72567B5C-1FB8-DA82-8443-4DACD45F0C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96DB50CE-E3D9-6C15-6C1B-8A30001A38E3}"/>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82E106B3-8DD0-55B3-08A0-DD0591C9848C}"/>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49C494B0-86B7-2B02-AF74-37DFCA78F384}"/>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9" name="Picture 8">
            <a:extLst>
              <a:ext uri="{FF2B5EF4-FFF2-40B4-BE49-F238E27FC236}">
                <a16:creationId xmlns:a16="http://schemas.microsoft.com/office/drawing/2014/main" id="{DD60DCA4-DA14-3BC0-98BC-FCE479BF44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69840" y="365125"/>
            <a:ext cx="1152135" cy="1281113"/>
          </a:xfrm>
          <a:prstGeom prst="rect">
            <a:avLst/>
          </a:prstGeom>
        </p:spPr>
      </p:pic>
    </p:spTree>
    <p:extLst>
      <p:ext uri="{BB962C8B-B14F-4D97-AF65-F5344CB8AC3E}">
        <p14:creationId xmlns:p14="http://schemas.microsoft.com/office/powerpoint/2010/main" val="2811871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A3C64-99A3-C45B-FC04-CD6D7DF0E0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E"/>
          </a:p>
        </p:txBody>
      </p:sp>
      <p:sp>
        <p:nvSpPr>
          <p:cNvPr id="3" name="Text Placeholder 2">
            <a:extLst>
              <a:ext uri="{FF2B5EF4-FFF2-40B4-BE49-F238E27FC236}">
                <a16:creationId xmlns:a16="http://schemas.microsoft.com/office/drawing/2014/main" id="{183CEB3B-F9F7-57EA-A865-FA89E9BE90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1EA0C2-17AA-E8FA-AF35-325A5B6C18D4}"/>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EDC95503-4D40-A4E1-4A17-B8F476149189}"/>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CF6C0937-6335-D00A-B738-E03007DFA8B8}"/>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8" name="Picture 7">
            <a:extLst>
              <a:ext uri="{FF2B5EF4-FFF2-40B4-BE49-F238E27FC236}">
                <a16:creationId xmlns:a16="http://schemas.microsoft.com/office/drawing/2014/main" id="{CDA396C0-5271-1D3B-5DE7-8082FB398E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77313" y="-91082"/>
            <a:ext cx="5224673" cy="1312828"/>
          </a:xfrm>
          <a:prstGeom prst="rect">
            <a:avLst/>
          </a:prstGeom>
        </p:spPr>
      </p:pic>
    </p:spTree>
    <p:extLst>
      <p:ext uri="{BB962C8B-B14F-4D97-AF65-F5344CB8AC3E}">
        <p14:creationId xmlns:p14="http://schemas.microsoft.com/office/powerpoint/2010/main" val="1551676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472EB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9F13EB-D1B4-1E48-DDC2-70804C0848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69840" y="365125"/>
            <a:ext cx="1152135" cy="1281113"/>
          </a:xfrm>
          <a:prstGeom prst="rect">
            <a:avLst/>
          </a:prstGeom>
        </p:spPr>
      </p:pic>
    </p:spTree>
    <p:extLst>
      <p:ext uri="{BB962C8B-B14F-4D97-AF65-F5344CB8AC3E}">
        <p14:creationId xmlns:p14="http://schemas.microsoft.com/office/powerpoint/2010/main" val="3894613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B84F10-67C5-38A9-9573-9D83950EE145}"/>
              </a:ext>
            </a:extLst>
          </p:cNvPr>
          <p:cNvSpPr>
            <a:spLocks noGrp="1"/>
          </p:cNvSpPr>
          <p:nvPr>
            <p:ph type="title"/>
          </p:nvPr>
        </p:nvSpPr>
        <p:spPr>
          <a:xfrm>
            <a:off x="838199" y="365125"/>
            <a:ext cx="10515600" cy="1325563"/>
          </a:xfrm>
          <a:prstGeom prst="rect">
            <a:avLst/>
          </a:prstGeom>
        </p:spPr>
        <p:txBody>
          <a:bodyPr vert="horz" lIns="91440" tIns="45720" rIns="91440" bIns="45720" rtlCol="0" anchor="ctr">
            <a:normAutofit/>
          </a:bodyPr>
          <a:lstStyle/>
          <a:p>
            <a:r>
              <a:rPr lang="en-US"/>
              <a:t>Click to edit Master title style</a:t>
            </a:r>
            <a:endParaRPr lang="en-SE"/>
          </a:p>
        </p:txBody>
      </p:sp>
      <p:sp>
        <p:nvSpPr>
          <p:cNvPr id="3" name="Text Placeholder 2">
            <a:extLst>
              <a:ext uri="{FF2B5EF4-FFF2-40B4-BE49-F238E27FC236}">
                <a16:creationId xmlns:a16="http://schemas.microsoft.com/office/drawing/2014/main" id="{F94813B2-F0B2-78B0-2431-5AE1C5DC3D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6BCA28DA-366D-4CD9-E1EB-113EAA959D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SE"/>
              <a:t>2026-08-17</a:t>
            </a:r>
          </a:p>
        </p:txBody>
      </p:sp>
      <p:sp>
        <p:nvSpPr>
          <p:cNvPr id="5" name="Footer Placeholder 4">
            <a:extLst>
              <a:ext uri="{FF2B5EF4-FFF2-40B4-BE49-F238E27FC236}">
                <a16:creationId xmlns:a16="http://schemas.microsoft.com/office/drawing/2014/main" id="{9F6E68D1-9044-00B4-ABE4-8F49530ABD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0F136186-4B45-9116-C243-AC06504DFF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1ECC92-9CDE-4EB3-B1C5-F46B9E1FA3C1}" type="slidenum">
              <a:rPr lang="en-SE" smtClean="0"/>
              <a:t>‹#›</a:t>
            </a:fld>
            <a:endParaRPr lang="en-SE"/>
          </a:p>
        </p:txBody>
      </p:sp>
    </p:spTree>
    <p:extLst>
      <p:ext uri="{BB962C8B-B14F-4D97-AF65-F5344CB8AC3E}">
        <p14:creationId xmlns:p14="http://schemas.microsoft.com/office/powerpoint/2010/main" val="3271141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7" Type="http://schemas.openxmlformats.org/officeDocument/2006/relationships/hyperlink" Target="https://github.com/JulianFrattini/bda4sci" TargetMode="External"/><Relationship Id="rId2" Type="http://schemas.openxmlformats.org/officeDocument/2006/relationships/hyperlink" Target="https://choosealicense.com/licenses/mit/" TargetMode="Externa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hyperlink" Target="https://julianfrattini.github.io/"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martinheyn.github.io/" TargetMode="External"/><Relationship Id="rId3" Type="http://schemas.openxmlformats.org/officeDocument/2006/relationships/image" Target="../media/image8.jpeg"/><Relationship Id="rId7" Type="http://schemas.openxmlformats.org/officeDocument/2006/relationships/hyperlink" Target="http://www.robertfeldt.net/" TargetMode="External"/><Relationship Id="rId2" Type="http://schemas.openxmlformats.org/officeDocument/2006/relationships/image" Target="../media/image7.jpg"/><Relationship Id="rId1" Type="http://schemas.openxmlformats.org/officeDocument/2006/relationships/slideLayout" Target="../slideLayouts/slideLayout2.xml"/><Relationship Id="rId6" Type="http://schemas.openxmlformats.org/officeDocument/2006/relationships/hyperlink" Target="https://torkar.github.io/" TargetMode="External"/><Relationship Id="rId5" Type="http://schemas.openxmlformats.org/officeDocument/2006/relationships/image" Target="../media/image4.jpg"/><Relationship Id="rId4" Type="http://schemas.openxmlformats.org/officeDocument/2006/relationships/image" Target="../media/image9.jpeg"/><Relationship Id="rId9" Type="http://schemas.openxmlformats.org/officeDocument/2006/relationships/hyperlink" Target="https://julianfrattini.github.io/"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5.svg"/><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5.svg"/><Relationship Id="rId4" Type="http://schemas.openxmlformats.org/officeDocument/2006/relationships/image" Target="../media/image1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4.svg"/><Relationship Id="rId4" Type="http://schemas.openxmlformats.org/officeDocument/2006/relationships/image" Target="../media/image23.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25.sv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4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2.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41.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42.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47.svg"/><Relationship Id="rId3" Type="http://schemas.openxmlformats.org/officeDocument/2006/relationships/image" Target="../media/image44.png"/><Relationship Id="rId7" Type="http://schemas.openxmlformats.org/officeDocument/2006/relationships/image" Target="../media/image39.svg"/><Relationship Id="rId12"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38.svg"/><Relationship Id="rId11" Type="http://schemas.openxmlformats.org/officeDocument/2006/relationships/image" Target="../media/image450.png"/><Relationship Id="rId5" Type="http://schemas.openxmlformats.org/officeDocument/2006/relationships/image" Target="../media/image37.svg"/><Relationship Id="rId10" Type="http://schemas.openxmlformats.org/officeDocument/2006/relationships/image" Target="../media/image440.png"/><Relationship Id="rId4" Type="http://schemas.openxmlformats.org/officeDocument/2006/relationships/image" Target="../media/image45.png"/><Relationship Id="rId9" Type="http://schemas.openxmlformats.org/officeDocument/2006/relationships/image" Target="../media/image41.svg"/></Relationships>
</file>

<file path=ppt/slides/_rels/slide43.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52.svg"/><Relationship Id="rId3" Type="http://schemas.openxmlformats.org/officeDocument/2006/relationships/image" Target="../media/image48.png"/><Relationship Id="rId7" Type="http://schemas.openxmlformats.org/officeDocument/2006/relationships/image" Target="../media/image40.svg"/><Relationship Id="rId12" Type="http://schemas.openxmlformats.org/officeDocument/2006/relationships/image" Target="../media/image51.svg"/><Relationship Id="rId17" Type="http://schemas.openxmlformats.org/officeDocument/2006/relationships/image" Target="../media/image54.svg"/><Relationship Id="rId2" Type="http://schemas.openxmlformats.org/officeDocument/2006/relationships/image" Target="../media/image43.png"/><Relationship Id="rId16"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39.svg"/><Relationship Id="rId11" Type="http://schemas.openxmlformats.org/officeDocument/2006/relationships/image" Target="../media/image52.png"/><Relationship Id="rId5" Type="http://schemas.openxmlformats.org/officeDocument/2006/relationships/image" Target="../media/image38.svg"/><Relationship Id="rId15" Type="http://schemas.openxmlformats.org/officeDocument/2006/relationships/image" Target="../media/image53.svg"/><Relationship Id="rId10" Type="http://schemas.openxmlformats.org/officeDocument/2006/relationships/image" Target="../media/image50.svg"/><Relationship Id="rId4" Type="http://schemas.openxmlformats.org/officeDocument/2006/relationships/image" Target="../media/image37.svg"/><Relationship Id="rId9" Type="http://schemas.openxmlformats.org/officeDocument/2006/relationships/image" Target="../media/image49.png"/><Relationship Id="rId14" Type="http://schemas.openxmlformats.org/officeDocument/2006/relationships/image" Target="../media/image55.png"/></Relationships>
</file>

<file path=ppt/slides/_rels/slide44.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1.sv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56.png"/><Relationship Id="rId2" Type="http://schemas.openxmlformats.org/officeDocument/2006/relationships/image" Target="../media/image480.png"/><Relationship Id="rId1" Type="http://schemas.openxmlformats.org/officeDocument/2006/relationships/slideLayout" Target="../slideLayouts/slideLayout2.xml"/><Relationship Id="rId6" Type="http://schemas.openxmlformats.org/officeDocument/2006/relationships/image" Target="../media/image40.svg"/><Relationship Id="rId11" Type="http://schemas.openxmlformats.org/officeDocument/2006/relationships/image" Target="../media/image59.png"/><Relationship Id="rId5" Type="http://schemas.openxmlformats.org/officeDocument/2006/relationships/image" Target="../media/image39.svg"/><Relationship Id="rId10" Type="http://schemas.openxmlformats.org/officeDocument/2006/relationships/image" Target="../media/image53.svg"/><Relationship Id="rId4" Type="http://schemas.openxmlformats.org/officeDocument/2006/relationships/image" Target="../media/image38.svg"/><Relationship Id="rId9" Type="http://schemas.openxmlformats.org/officeDocument/2006/relationships/image" Target="../media/image52.svg"/><Relationship Id="rId14" Type="http://schemas.openxmlformats.org/officeDocument/2006/relationships/image" Target="../media/image47.svg"/></Relationships>
</file>

<file path=ppt/slides/_rels/slide4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38.svg"/><Relationship Id="rId7" Type="http://schemas.openxmlformats.org/officeDocument/2006/relationships/image" Target="../media/image61.png"/><Relationship Id="rId2" Type="http://schemas.openxmlformats.org/officeDocument/2006/relationships/image" Target="../media/image37.svg"/><Relationship Id="rId1" Type="http://schemas.openxmlformats.org/officeDocument/2006/relationships/slideLayout" Target="../slideLayouts/slideLayout2.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 Id="rId9" Type="http://schemas.openxmlformats.org/officeDocument/2006/relationships/image" Target="../media/image47.svg"/></Relationships>
</file>

<file path=ppt/slides/_rels/slide46.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41.svg"/><Relationship Id="rId3" Type="http://schemas.openxmlformats.org/officeDocument/2006/relationships/image" Target="../media/image64.png"/><Relationship Id="rId7" Type="http://schemas.openxmlformats.org/officeDocument/2006/relationships/image" Target="../media/image65.png"/><Relationship Id="rId12" Type="http://schemas.openxmlformats.org/officeDocument/2006/relationships/image" Target="../media/image40.svg"/><Relationship Id="rId2" Type="http://schemas.openxmlformats.org/officeDocument/2006/relationships/image" Target="../media/image60.png"/><Relationship Id="rId16" Type="http://schemas.openxmlformats.org/officeDocument/2006/relationships/image" Target="../media/image47.svg"/><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39.svg"/><Relationship Id="rId5" Type="http://schemas.openxmlformats.org/officeDocument/2006/relationships/image" Target="../media/image66.png"/><Relationship Id="rId15" Type="http://schemas.openxmlformats.org/officeDocument/2006/relationships/image" Target="../media/image71.png"/><Relationship Id="rId10" Type="http://schemas.openxmlformats.org/officeDocument/2006/relationships/image" Target="../media/image38.svg"/><Relationship Id="rId4" Type="http://schemas.openxmlformats.org/officeDocument/2006/relationships/image" Target="../media/image62.png"/><Relationship Id="rId9" Type="http://schemas.openxmlformats.org/officeDocument/2006/relationships/image" Target="../media/image37.svg"/><Relationship Id="rId14" Type="http://schemas.openxmlformats.org/officeDocument/2006/relationships/image" Target="../media/image70.png"/></Relationships>
</file>

<file path=ppt/slides/_rels/slide47.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7.svg"/><Relationship Id="rId3" Type="http://schemas.openxmlformats.org/officeDocument/2006/relationships/image" Target="../media/image68.png"/><Relationship Id="rId7" Type="http://schemas.openxmlformats.org/officeDocument/2006/relationships/image" Target="../media/image74.png"/><Relationship Id="rId12" Type="http://schemas.openxmlformats.org/officeDocument/2006/relationships/image" Target="../media/image41.sv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40.svg"/><Relationship Id="rId5" Type="http://schemas.openxmlformats.org/officeDocument/2006/relationships/image" Target="../media/image69.png"/><Relationship Id="rId10" Type="http://schemas.openxmlformats.org/officeDocument/2006/relationships/image" Target="../media/image39.svg"/><Relationship Id="rId4" Type="http://schemas.openxmlformats.org/officeDocument/2006/relationships/image" Target="../media/image53.png"/><Relationship Id="rId9" Type="http://schemas.openxmlformats.org/officeDocument/2006/relationships/image" Target="../media/image38.svg"/></Relationships>
</file>

<file path=ppt/slides/_rels/slide48.xml.rels><?xml version="1.0" encoding="UTF-8" standalone="yes"?>
<Relationships xmlns="http://schemas.openxmlformats.org/package/2006/relationships"><Relationship Id="rId8" Type="http://schemas.openxmlformats.org/officeDocument/2006/relationships/image" Target="../media/image47.svg"/><Relationship Id="rId13" Type="http://schemas.openxmlformats.org/officeDocument/2006/relationships/image" Target="../media/image76.pn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750.png"/><Relationship Id="rId2" Type="http://schemas.openxmlformats.org/officeDocument/2006/relationships/image" Target="../media/image12.svg"/><Relationship Id="rId16"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40.svg"/><Relationship Id="rId11" Type="http://schemas.openxmlformats.org/officeDocument/2006/relationships/image" Target="../media/image75.png"/><Relationship Id="rId5" Type="http://schemas.openxmlformats.org/officeDocument/2006/relationships/image" Target="../media/image39.svg"/><Relationship Id="rId15" Type="http://schemas.openxmlformats.org/officeDocument/2006/relationships/image" Target="../media/image78.png"/><Relationship Id="rId10" Type="http://schemas.openxmlformats.org/officeDocument/2006/relationships/image" Target="../media/image630.png"/><Relationship Id="rId4" Type="http://schemas.openxmlformats.org/officeDocument/2006/relationships/image" Target="../media/image38.svg"/><Relationship Id="rId9" Type="http://schemas.openxmlformats.org/officeDocument/2006/relationships/image" Target="../media/image25.svg"/><Relationship Id="rId14" Type="http://schemas.openxmlformats.org/officeDocument/2006/relationships/image" Target="../media/image77.png"/></Relationships>
</file>

<file path=ppt/slides/_rels/slide49.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2.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50.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38.svg"/><Relationship Id="rId7" Type="http://schemas.openxmlformats.org/officeDocument/2006/relationships/image" Target="../media/image79.png"/><Relationship Id="rId2" Type="http://schemas.openxmlformats.org/officeDocument/2006/relationships/image" Target="../media/image37.svg"/><Relationship Id="rId1" Type="http://schemas.openxmlformats.org/officeDocument/2006/relationships/slideLayout" Target="../slideLayouts/slideLayout2.xml"/><Relationship Id="rId6" Type="http://schemas.openxmlformats.org/officeDocument/2006/relationships/image" Target="../media/image41.svg"/><Relationship Id="rId5" Type="http://schemas.openxmlformats.org/officeDocument/2006/relationships/image" Target="../media/image40.svg"/><Relationship Id="rId10" Type="http://schemas.openxmlformats.org/officeDocument/2006/relationships/image" Target="../media/image82.png"/><Relationship Id="rId4" Type="http://schemas.openxmlformats.org/officeDocument/2006/relationships/image" Target="../media/image39.svg"/><Relationship Id="rId9" Type="http://schemas.openxmlformats.org/officeDocument/2006/relationships/image" Target="../media/image81.svg"/></Relationships>
</file>

<file path=ppt/slides/_rels/slide5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10" Type="http://schemas.openxmlformats.org/officeDocument/2006/relationships/image" Target="../media/image12.svg"/><Relationship Id="rId4" Type="http://schemas.openxmlformats.org/officeDocument/2006/relationships/image" Target="../media/image38.svg"/><Relationship Id="rId9" Type="http://schemas.openxmlformats.org/officeDocument/2006/relationships/image" Target="../media/image25.svg"/></Relationships>
</file>

<file path=ppt/slides/_rels/slide52.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13.svg"/><Relationship Id="rId7" Type="http://schemas.openxmlformats.org/officeDocument/2006/relationships/image" Target="../media/image37.sv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53.svg"/><Relationship Id="rId11" Type="http://schemas.openxmlformats.org/officeDocument/2006/relationships/image" Target="../media/image41.svg"/><Relationship Id="rId5" Type="http://schemas.openxmlformats.org/officeDocument/2006/relationships/image" Target="../media/image84.svg"/><Relationship Id="rId10" Type="http://schemas.openxmlformats.org/officeDocument/2006/relationships/image" Target="../media/image40.svg"/><Relationship Id="rId4" Type="http://schemas.openxmlformats.org/officeDocument/2006/relationships/image" Target="../media/image83.svg"/><Relationship Id="rId9" Type="http://schemas.openxmlformats.org/officeDocument/2006/relationships/image" Target="../media/image39.svg"/></Relationships>
</file>

<file path=ppt/slides/_rels/slide53.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87.png"/><Relationship Id="rId7" Type="http://schemas.openxmlformats.org/officeDocument/2006/relationships/image" Target="../media/image40.sv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_rels/slide54.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90.png"/><Relationship Id="rId7" Type="http://schemas.openxmlformats.org/officeDocument/2006/relationships/image" Target="../media/image40.svg"/><Relationship Id="rId2" Type="http://schemas.openxmlformats.org/officeDocument/2006/relationships/image" Target="../media/image620.png"/><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38.svg"/><Relationship Id="rId10" Type="http://schemas.openxmlformats.org/officeDocument/2006/relationships/image" Target="../media/image92.png"/><Relationship Id="rId4" Type="http://schemas.openxmlformats.org/officeDocument/2006/relationships/image" Target="../media/image37.svg"/><Relationship Id="rId9" Type="http://schemas.openxmlformats.org/officeDocument/2006/relationships/image" Target="../media/image91.png"/></Relationships>
</file>

<file path=ppt/slides/_rels/slide55.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93.pn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56.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2.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57.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png"/><Relationship Id="rId3" Type="http://schemas.openxmlformats.org/officeDocument/2006/relationships/image" Target="../media/image38.svg"/><Relationship Id="rId7" Type="http://schemas.openxmlformats.org/officeDocument/2006/relationships/image" Target="../media/image95.png"/><Relationship Id="rId12" Type="http://schemas.openxmlformats.org/officeDocument/2006/relationships/image" Target="../media/image100.png"/><Relationship Id="rId17" Type="http://schemas.openxmlformats.org/officeDocument/2006/relationships/image" Target="../media/image105.png"/><Relationship Id="rId2" Type="http://schemas.openxmlformats.org/officeDocument/2006/relationships/image" Target="../media/image37.svg"/><Relationship Id="rId16"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41.svg"/><Relationship Id="rId11" Type="http://schemas.openxmlformats.org/officeDocument/2006/relationships/image" Target="../media/image99.png"/><Relationship Id="rId5" Type="http://schemas.openxmlformats.org/officeDocument/2006/relationships/image" Target="../media/image40.svg"/><Relationship Id="rId15" Type="http://schemas.openxmlformats.org/officeDocument/2006/relationships/image" Target="../media/image103.png"/><Relationship Id="rId10" Type="http://schemas.openxmlformats.org/officeDocument/2006/relationships/image" Target="../media/image98.png"/><Relationship Id="rId4" Type="http://schemas.openxmlformats.org/officeDocument/2006/relationships/image" Target="../media/image39.svg"/><Relationship Id="rId9" Type="http://schemas.openxmlformats.org/officeDocument/2006/relationships/image" Target="../media/image97.png"/><Relationship Id="rId14" Type="http://schemas.openxmlformats.org/officeDocument/2006/relationships/image" Target="../media/image102.png"/></Relationships>
</file>

<file path=ppt/slides/_rels/slide58.xml.rels><?xml version="1.0" encoding="UTF-8" standalone="yes"?>
<Relationships xmlns="http://schemas.openxmlformats.org/package/2006/relationships"><Relationship Id="rId8" Type="http://schemas.openxmlformats.org/officeDocument/2006/relationships/hyperlink" Target="https://chi-feng.github.io/mcmc-demo/app.html" TargetMode="External"/><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 Id="rId9" Type="http://schemas.openxmlformats.org/officeDocument/2006/relationships/image" Target="../media/image88.svg"/></Relationships>
</file>

<file path=ppt/slides/_rels/slide59.xml.rels><?xml version="1.0" encoding="UTF-8" standalone="yes"?>
<Relationships xmlns="http://schemas.openxmlformats.org/package/2006/relationships"><Relationship Id="rId3" Type="http://schemas.openxmlformats.org/officeDocument/2006/relationships/image" Target="../media/image38.svg"/><Relationship Id="rId7" Type="http://schemas.openxmlformats.org/officeDocument/2006/relationships/image" Target="../media/image89.png"/><Relationship Id="rId2" Type="http://schemas.openxmlformats.org/officeDocument/2006/relationships/image" Target="../media/image37.svg"/><Relationship Id="rId1" Type="http://schemas.openxmlformats.org/officeDocument/2006/relationships/slideLayout" Target="../slideLayouts/slideLayout2.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60.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0.svg"/><Relationship Id="rId11" Type="http://schemas.openxmlformats.org/officeDocument/2006/relationships/image" Target="../media/image81.svg"/><Relationship Id="rId5" Type="http://schemas.openxmlformats.org/officeDocument/2006/relationships/image" Target="../media/image39.svg"/><Relationship Id="rId10" Type="http://schemas.openxmlformats.org/officeDocument/2006/relationships/image" Target="../media/image80.svg"/><Relationship Id="rId4" Type="http://schemas.openxmlformats.org/officeDocument/2006/relationships/image" Target="../media/image38.svg"/><Relationship Id="rId9" Type="http://schemas.openxmlformats.org/officeDocument/2006/relationships/image" Target="../media/image107.png"/></Relationships>
</file>

<file path=ppt/slides/_rels/slide61.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62.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10" Type="http://schemas.openxmlformats.org/officeDocument/2006/relationships/image" Target="../media/image115.png"/><Relationship Id="rId4" Type="http://schemas.openxmlformats.org/officeDocument/2006/relationships/image" Target="../media/image38.svg"/><Relationship Id="rId9" Type="http://schemas.openxmlformats.org/officeDocument/2006/relationships/image" Target="../media/image112.png"/></Relationships>
</file>

<file path=ppt/slides/_rels/slide63.xml.rels><?xml version="1.0" encoding="UTF-8" standalone="yes"?>
<Relationships xmlns="http://schemas.openxmlformats.org/package/2006/relationships"><Relationship Id="rId3" Type="http://schemas.openxmlformats.org/officeDocument/2006/relationships/image" Target="../media/image38.svg"/><Relationship Id="rId7" Type="http://schemas.openxmlformats.org/officeDocument/2006/relationships/image" Target="../media/image113.png"/><Relationship Id="rId2" Type="http://schemas.openxmlformats.org/officeDocument/2006/relationships/image" Target="../media/image37.svg"/><Relationship Id="rId1" Type="http://schemas.openxmlformats.org/officeDocument/2006/relationships/slideLayout" Target="../slideLayouts/slideLayout2.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6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2.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6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2.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25.svg"/><Relationship Id="rId7" Type="http://schemas.openxmlformats.org/officeDocument/2006/relationships/image" Target="../media/image40.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_rels/slide68.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 Id="rId9" Type="http://schemas.openxmlformats.org/officeDocument/2006/relationships/hyperlink" Target="https://www.math.wm.edu/~leemis/chart/UDR/UDR.html"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74.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 Id="rId9" Type="http://schemas.openxmlformats.org/officeDocument/2006/relationships/image" Target="../media/image117.png"/></Relationships>
</file>

<file path=ppt/slides/_rels/slide7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76.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7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25.svg"/><Relationship Id="rId7" Type="http://schemas.openxmlformats.org/officeDocument/2006/relationships/image" Target="../media/image40.svg"/><Relationship Id="rId2" Type="http://schemas.openxmlformats.org/officeDocument/2006/relationships/image" Target="../media/image118.png"/><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 Id="rId9" Type="http://schemas.openxmlformats.org/officeDocument/2006/relationships/image" Target="../media/image119.png"/></Relationships>
</file>

<file path=ppt/slides/_rels/slide78.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47.sv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124.png"/><Relationship Id="rId2"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image" Target="../media/image40.svg"/><Relationship Id="rId11" Type="http://schemas.openxmlformats.org/officeDocument/2006/relationships/image" Target="../media/image123.png"/><Relationship Id="rId5" Type="http://schemas.openxmlformats.org/officeDocument/2006/relationships/image" Target="../media/image39.svg"/><Relationship Id="rId10" Type="http://schemas.openxmlformats.org/officeDocument/2006/relationships/image" Target="../media/image122.png"/><Relationship Id="rId4" Type="http://schemas.openxmlformats.org/officeDocument/2006/relationships/image" Target="../media/image38.svg"/><Relationship Id="rId9" Type="http://schemas.openxmlformats.org/officeDocument/2006/relationships/image" Target="../media/image121.png"/></Relationships>
</file>

<file path=ppt/slides/_rels/slide79.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126.png"/><Relationship Id="rId7" Type="http://schemas.openxmlformats.org/officeDocument/2006/relationships/image" Target="../media/image25.svg"/><Relationship Id="rId12" Type="http://schemas.openxmlformats.org/officeDocument/2006/relationships/image" Target="../media/image41.svg"/><Relationship Id="rId2" Type="http://schemas.openxmlformats.org/officeDocument/2006/relationships/image" Target="../media/image125.png"/><Relationship Id="rId1" Type="http://schemas.openxmlformats.org/officeDocument/2006/relationships/slideLayout" Target="../slideLayouts/slideLayout2.xml"/><Relationship Id="rId6" Type="http://schemas.openxmlformats.org/officeDocument/2006/relationships/image" Target="../media/image129.png"/><Relationship Id="rId11" Type="http://schemas.openxmlformats.org/officeDocument/2006/relationships/image" Target="../media/image40.svg"/><Relationship Id="rId5" Type="http://schemas.openxmlformats.org/officeDocument/2006/relationships/image" Target="../media/image128.png"/><Relationship Id="rId10" Type="http://schemas.openxmlformats.org/officeDocument/2006/relationships/image" Target="../media/image39.svg"/><Relationship Id="rId4" Type="http://schemas.openxmlformats.org/officeDocument/2006/relationships/image" Target="../media/image127.png"/><Relationship Id="rId9" Type="http://schemas.openxmlformats.org/officeDocument/2006/relationships/image" Target="../media/image38.svg"/></Relationships>
</file>

<file path=ppt/slides/_rels/slide80.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47.sv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134.png"/><Relationship Id="rId2"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image" Target="../media/image40.svg"/><Relationship Id="rId11" Type="http://schemas.openxmlformats.org/officeDocument/2006/relationships/image" Target="../media/image133.png"/><Relationship Id="rId5" Type="http://schemas.openxmlformats.org/officeDocument/2006/relationships/image" Target="../media/image39.svg"/><Relationship Id="rId10" Type="http://schemas.openxmlformats.org/officeDocument/2006/relationships/image" Target="../media/image132.png"/><Relationship Id="rId4" Type="http://schemas.openxmlformats.org/officeDocument/2006/relationships/image" Target="../media/image38.svg"/><Relationship Id="rId9" Type="http://schemas.openxmlformats.org/officeDocument/2006/relationships/image" Target="../media/image131.png"/></Relationships>
</file>

<file path=ppt/slides/_rels/slide81.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137.png"/><Relationship Id="rId2"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image" Target="../media/image40.svg"/><Relationship Id="rId11" Type="http://schemas.openxmlformats.org/officeDocument/2006/relationships/image" Target="../media/image81.svg"/><Relationship Id="rId5" Type="http://schemas.openxmlformats.org/officeDocument/2006/relationships/image" Target="../media/image39.svg"/><Relationship Id="rId10" Type="http://schemas.openxmlformats.org/officeDocument/2006/relationships/image" Target="../media/image80.svg"/><Relationship Id="rId4" Type="http://schemas.openxmlformats.org/officeDocument/2006/relationships/image" Target="../media/image38.svg"/><Relationship Id="rId9" Type="http://schemas.openxmlformats.org/officeDocument/2006/relationships/image" Target="../media/image136.png"/></Relationships>
</file>

<file path=ppt/slides/_rels/slide82.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142.png"/><Relationship Id="rId2"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image" Target="../media/image40.svg"/><Relationship Id="rId11" Type="http://schemas.openxmlformats.org/officeDocument/2006/relationships/image" Target="../media/image141.png"/><Relationship Id="rId5" Type="http://schemas.openxmlformats.org/officeDocument/2006/relationships/image" Target="../media/image39.svg"/><Relationship Id="rId10" Type="http://schemas.openxmlformats.org/officeDocument/2006/relationships/image" Target="../media/image140.png"/><Relationship Id="rId4" Type="http://schemas.openxmlformats.org/officeDocument/2006/relationships/image" Target="../media/image38.svg"/><Relationship Id="rId9" Type="http://schemas.openxmlformats.org/officeDocument/2006/relationships/image" Target="../media/image139.png"/><Relationship Id="rId14" Type="http://schemas.openxmlformats.org/officeDocument/2006/relationships/image" Target="../media/image47.svg"/></Relationships>
</file>

<file path=ppt/slides/_rels/slide83.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25.svg"/><Relationship Id="rId7" Type="http://schemas.openxmlformats.org/officeDocument/2006/relationships/image" Target="../media/image40.svg"/><Relationship Id="rId2" Type="http://schemas.openxmlformats.org/officeDocument/2006/relationships/image" Target="../media/image144.png"/><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_rels/slide84.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85.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25.svg"/><Relationship Id="rId7" Type="http://schemas.openxmlformats.org/officeDocument/2006/relationships/image" Target="../media/image40.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146.sv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hyperlink" Target="https://mc-stan.org/"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90.xml.rels><?xml version="1.0" encoding="UTF-8" standalone="yes"?>
<Relationships xmlns="http://schemas.openxmlformats.org/package/2006/relationships"><Relationship Id="rId3" Type="http://schemas.openxmlformats.org/officeDocument/2006/relationships/hyperlink" Target="https://solomonkurz.netlify.app/blog/" TargetMode="External"/><Relationship Id="rId2" Type="http://schemas.openxmlformats.org/officeDocument/2006/relationships/hyperlink" Target="https://www.andrewheiss.com/blog/" TargetMode="Externa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E8D0B-776C-E8F7-4D2E-37BA60724F3A}"/>
              </a:ext>
            </a:extLst>
          </p:cNvPr>
          <p:cNvSpPr>
            <a:spLocks noGrp="1"/>
          </p:cNvSpPr>
          <p:nvPr>
            <p:ph type="ctrTitle"/>
          </p:nvPr>
        </p:nvSpPr>
        <p:spPr/>
        <p:txBody>
          <a:bodyPr>
            <a:normAutofit/>
          </a:bodyPr>
          <a:lstStyle/>
          <a:p>
            <a:r>
              <a:rPr lang="en-US" sz="5400" noProof="0" dirty="0"/>
              <a:t>Applied Bayesian Data Analysis</a:t>
            </a:r>
          </a:p>
        </p:txBody>
      </p:sp>
      <p:sp>
        <p:nvSpPr>
          <p:cNvPr id="3" name="Subtitle 2">
            <a:extLst>
              <a:ext uri="{FF2B5EF4-FFF2-40B4-BE49-F238E27FC236}">
                <a16:creationId xmlns:a16="http://schemas.microsoft.com/office/drawing/2014/main" id="{DAECA751-926C-8553-9E48-80B7DF1A9306}"/>
              </a:ext>
            </a:extLst>
          </p:cNvPr>
          <p:cNvSpPr>
            <a:spLocks noGrp="1"/>
          </p:cNvSpPr>
          <p:nvPr>
            <p:ph type="subTitle" idx="1"/>
          </p:nvPr>
        </p:nvSpPr>
        <p:spPr/>
        <p:txBody>
          <a:bodyPr>
            <a:normAutofit/>
          </a:bodyPr>
          <a:lstStyle/>
          <a:p>
            <a:r>
              <a:rPr lang="en-US" sz="4000" noProof="0" dirty="0"/>
              <a:t>In Requirements Engineering</a:t>
            </a:r>
          </a:p>
        </p:txBody>
      </p:sp>
      <p:sp>
        <p:nvSpPr>
          <p:cNvPr id="4" name="TextBox 3">
            <a:extLst>
              <a:ext uri="{FF2B5EF4-FFF2-40B4-BE49-F238E27FC236}">
                <a16:creationId xmlns:a16="http://schemas.microsoft.com/office/drawing/2014/main" id="{AD75591A-FA02-7123-DF74-EDB9D33C0122}"/>
              </a:ext>
            </a:extLst>
          </p:cNvPr>
          <p:cNvSpPr txBox="1"/>
          <p:nvPr/>
        </p:nvSpPr>
        <p:spPr>
          <a:xfrm>
            <a:off x="7198849" y="5859885"/>
            <a:ext cx="4302589" cy="738664"/>
          </a:xfrm>
          <a:prstGeom prst="rect">
            <a:avLst/>
          </a:prstGeom>
          <a:noFill/>
        </p:spPr>
        <p:txBody>
          <a:bodyPr wrap="none" rtlCol="0">
            <a:spAutoFit/>
          </a:bodyPr>
          <a:lstStyle/>
          <a:p>
            <a:pPr algn="r"/>
            <a:r>
              <a:rPr lang="en-US" sz="1400" noProof="0" dirty="0"/>
              <a:t>Copyright © 2026 Julian Frattini. </a:t>
            </a:r>
          </a:p>
          <a:p>
            <a:pPr algn="r"/>
            <a:r>
              <a:rPr lang="en-US" sz="1400" noProof="0" dirty="0"/>
              <a:t>The source code is licensed under the </a:t>
            </a:r>
            <a:r>
              <a:rPr lang="en-US" sz="1400" noProof="0" dirty="0">
                <a:hlinkClick r:id="rId2"/>
              </a:rPr>
              <a:t>MIT license</a:t>
            </a:r>
            <a:r>
              <a:rPr lang="en-US" sz="1400" noProof="0" dirty="0"/>
              <a:t>.</a:t>
            </a:r>
          </a:p>
          <a:p>
            <a:pPr algn="r"/>
            <a:r>
              <a:rPr lang="en-US" sz="1400" noProof="0" dirty="0"/>
              <a:t>This presentation is licensed under </a:t>
            </a:r>
            <a:r>
              <a:rPr lang="en-US" sz="1400" noProof="0" dirty="0">
                <a:hlinkClick r:id="rId3"/>
              </a:rPr>
              <a:t>CC BY-NC-SA 4.0</a:t>
            </a:r>
            <a:r>
              <a:rPr lang="en-US" sz="1400" noProof="0" dirty="0"/>
              <a:t>.</a:t>
            </a:r>
          </a:p>
        </p:txBody>
      </p:sp>
      <p:sp>
        <p:nvSpPr>
          <p:cNvPr id="11" name="TextBox 10">
            <a:extLst>
              <a:ext uri="{FF2B5EF4-FFF2-40B4-BE49-F238E27FC236}">
                <a16:creationId xmlns:a16="http://schemas.microsoft.com/office/drawing/2014/main" id="{6B4FEC08-B055-2789-C209-ABB868E097B3}"/>
              </a:ext>
            </a:extLst>
          </p:cNvPr>
          <p:cNvSpPr txBox="1"/>
          <p:nvPr/>
        </p:nvSpPr>
        <p:spPr>
          <a:xfrm>
            <a:off x="1866348" y="5398220"/>
            <a:ext cx="4488986" cy="923330"/>
          </a:xfrm>
          <a:prstGeom prst="rect">
            <a:avLst/>
          </a:prstGeom>
          <a:noFill/>
        </p:spPr>
        <p:txBody>
          <a:bodyPr wrap="none" rtlCol="0">
            <a:spAutoFit/>
          </a:bodyPr>
          <a:lstStyle/>
          <a:p>
            <a:r>
              <a:rPr lang="en-US" noProof="0" dirty="0"/>
              <a:t>Julian </a:t>
            </a:r>
            <a:r>
              <a:rPr lang="en-US" b="1" noProof="0" dirty="0"/>
              <a:t>Frattini</a:t>
            </a:r>
            <a:r>
              <a:rPr lang="en-US" noProof="0" dirty="0"/>
              <a:t>, Ph.D.</a:t>
            </a:r>
          </a:p>
          <a:p>
            <a:r>
              <a:rPr lang="en-US" noProof="0" dirty="0">
                <a:solidFill>
                  <a:schemeClr val="tx1">
                    <a:lumMod val="50000"/>
                    <a:lumOff val="50000"/>
                  </a:schemeClr>
                </a:solidFill>
              </a:rPr>
              <a:t>Chalmers University of Technology, Sweden</a:t>
            </a:r>
          </a:p>
          <a:p>
            <a:r>
              <a:rPr lang="en-US" noProof="0" dirty="0">
                <a:hlinkClick r:id="rId4"/>
              </a:rPr>
              <a:t>https://julianfrattini.github.io/</a:t>
            </a:r>
            <a:r>
              <a:rPr lang="en-US" noProof="0" dirty="0"/>
              <a:t> </a:t>
            </a:r>
          </a:p>
        </p:txBody>
      </p:sp>
      <p:sp>
        <p:nvSpPr>
          <p:cNvPr id="12" name="Oval 11">
            <a:extLst>
              <a:ext uri="{FF2B5EF4-FFF2-40B4-BE49-F238E27FC236}">
                <a16:creationId xmlns:a16="http://schemas.microsoft.com/office/drawing/2014/main" id="{492E9483-BEDA-C731-B7BE-ABF0A5518387}"/>
              </a:ext>
            </a:extLst>
          </p:cNvPr>
          <p:cNvSpPr/>
          <p:nvPr/>
        </p:nvSpPr>
        <p:spPr>
          <a:xfrm>
            <a:off x="715676" y="5303105"/>
            <a:ext cx="1080000" cy="1080000"/>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5" name="Group 4">
            <a:extLst>
              <a:ext uri="{FF2B5EF4-FFF2-40B4-BE49-F238E27FC236}">
                <a16:creationId xmlns:a16="http://schemas.microsoft.com/office/drawing/2014/main" id="{579BBCC2-696B-4EE1-4FE4-2E4411C0F251}"/>
              </a:ext>
            </a:extLst>
          </p:cNvPr>
          <p:cNvGrpSpPr/>
          <p:nvPr/>
        </p:nvGrpSpPr>
        <p:grpSpPr>
          <a:xfrm>
            <a:off x="7967672" y="5336710"/>
            <a:ext cx="3533766" cy="444265"/>
            <a:chOff x="7967672" y="5336710"/>
            <a:chExt cx="3533766" cy="444265"/>
          </a:xfrm>
        </p:grpSpPr>
        <p:grpSp>
          <p:nvGrpSpPr>
            <p:cNvPr id="6" name="Group 5">
              <a:extLst>
                <a:ext uri="{FF2B5EF4-FFF2-40B4-BE49-F238E27FC236}">
                  <a16:creationId xmlns:a16="http://schemas.microsoft.com/office/drawing/2014/main" id="{ACCE08EC-E9A8-C79D-4C75-8B6A9708A3FB}"/>
                </a:ext>
              </a:extLst>
            </p:cNvPr>
            <p:cNvGrpSpPr/>
            <p:nvPr/>
          </p:nvGrpSpPr>
          <p:grpSpPr>
            <a:xfrm>
              <a:off x="7967672" y="5370114"/>
              <a:ext cx="3508652" cy="369332"/>
              <a:chOff x="7896235" y="5406529"/>
              <a:chExt cx="3508652" cy="369332"/>
            </a:xfrm>
          </p:grpSpPr>
          <p:pic>
            <p:nvPicPr>
              <p:cNvPr id="8" name="Picture 7" descr="A black background with a black square&#10;&#10;Description automatically generated with medium confidence">
                <a:extLst>
                  <a:ext uri="{FF2B5EF4-FFF2-40B4-BE49-F238E27FC236}">
                    <a16:creationId xmlns:a16="http://schemas.microsoft.com/office/drawing/2014/main" id="{865BDC89-0957-2AB2-5308-DA5566DFCF2B}"/>
                  </a:ext>
                </a:extLst>
              </p:cNvPr>
              <p:cNvPicPr>
                <a:picLocks noChangeAspect="1"/>
              </p:cNvPicPr>
              <p:nvPr/>
            </p:nvPicPr>
            <p:blipFill>
              <a:blip r:embed="rId6"/>
              <a:stretch>
                <a:fillRect/>
              </a:stretch>
            </p:blipFill>
            <p:spPr>
              <a:xfrm>
                <a:off x="7896235" y="5422888"/>
                <a:ext cx="344101" cy="344101"/>
              </a:xfrm>
              <a:prstGeom prst="rect">
                <a:avLst/>
              </a:prstGeom>
            </p:spPr>
          </p:pic>
          <p:sp>
            <p:nvSpPr>
              <p:cNvPr id="9" name="TextBox 8">
                <a:extLst>
                  <a:ext uri="{FF2B5EF4-FFF2-40B4-BE49-F238E27FC236}">
                    <a16:creationId xmlns:a16="http://schemas.microsoft.com/office/drawing/2014/main" id="{045BE95E-49F9-842E-7B93-BDF91E09C7D3}"/>
                  </a:ext>
                </a:extLst>
              </p:cNvPr>
              <p:cNvSpPr txBox="1"/>
              <p:nvPr/>
            </p:nvSpPr>
            <p:spPr>
              <a:xfrm>
                <a:off x="8240336" y="5406529"/>
                <a:ext cx="2356992" cy="369332"/>
              </a:xfrm>
              <a:prstGeom prst="rect">
                <a:avLst/>
              </a:prstGeom>
              <a:noFill/>
            </p:spPr>
            <p:txBody>
              <a:bodyPr wrap="none" rtlCol="0">
                <a:spAutoFit/>
              </a:bodyPr>
              <a:lstStyle/>
              <a:p>
                <a:r>
                  <a:rPr lang="en-US" noProof="0" dirty="0" err="1"/>
                  <a:t>JulianFrattini</a:t>
                </a:r>
                <a:r>
                  <a:rPr lang="en-US" noProof="0" dirty="0"/>
                  <a:t>/</a:t>
                </a:r>
                <a:r>
                  <a:rPr lang="en-US" b="1" noProof="0" dirty="0"/>
                  <a:t>bda4sci</a:t>
                </a:r>
              </a:p>
            </p:txBody>
          </p:sp>
          <p:sp>
            <p:nvSpPr>
              <p:cNvPr id="10" name="Rectangle: Rounded Corners 9">
                <a:extLst>
                  <a:ext uri="{FF2B5EF4-FFF2-40B4-BE49-F238E27FC236}">
                    <a16:creationId xmlns:a16="http://schemas.microsoft.com/office/drawing/2014/main" id="{1E137170-F20B-D8DB-3856-32092459914B}"/>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lumMod val="65000"/>
                        <a:lumOff val="35000"/>
                      </a:schemeClr>
                    </a:solidFill>
                  </a:rPr>
                  <a:t>Public</a:t>
                </a:r>
              </a:p>
            </p:txBody>
          </p:sp>
        </p:grpSp>
        <p:sp>
          <p:nvSpPr>
            <p:cNvPr id="7" name="Rectangle 6">
              <a:hlinkClick r:id="rId7"/>
              <a:extLst>
                <a:ext uri="{FF2B5EF4-FFF2-40B4-BE49-F238E27FC236}">
                  <a16:creationId xmlns:a16="http://schemas.microsoft.com/office/drawing/2014/main" id="{1523D628-A64F-768E-A385-ECA75D071607}"/>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42198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734AB-DF0D-F3E4-1566-30DEFCEAF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A68562-32EF-FB9D-C67A-13418AC60DB5}"/>
              </a:ext>
            </a:extLst>
          </p:cNvPr>
          <p:cNvSpPr>
            <a:spLocks noGrp="1"/>
          </p:cNvSpPr>
          <p:nvPr>
            <p:ph type="ctrTitle"/>
          </p:nvPr>
        </p:nvSpPr>
        <p:spPr>
          <a:xfrm>
            <a:off x="1524000" y="1505527"/>
            <a:ext cx="9144000" cy="1835984"/>
          </a:xfrm>
        </p:spPr>
        <p:txBody>
          <a:bodyPr>
            <a:noAutofit/>
          </a:bodyPr>
          <a:lstStyle/>
          <a:p>
            <a:r>
              <a:rPr lang="en-US" sz="4800" noProof="0" dirty="0"/>
              <a:t>Applied Bayesian Data Analysis </a:t>
            </a:r>
            <a:br>
              <a:rPr lang="en-US" sz="4800" noProof="0" dirty="0"/>
            </a:br>
            <a:r>
              <a:rPr lang="en-US" sz="4800" noProof="0" dirty="0"/>
              <a:t>in Requirements Engineering</a:t>
            </a:r>
          </a:p>
        </p:txBody>
      </p:sp>
      <p:sp>
        <p:nvSpPr>
          <p:cNvPr id="3" name="Subtitle 2">
            <a:extLst>
              <a:ext uri="{FF2B5EF4-FFF2-40B4-BE49-F238E27FC236}">
                <a16:creationId xmlns:a16="http://schemas.microsoft.com/office/drawing/2014/main" id="{6CD973BE-BEFF-36BD-36E5-85FA97D52675}"/>
              </a:ext>
            </a:extLst>
          </p:cNvPr>
          <p:cNvSpPr>
            <a:spLocks noGrp="1"/>
          </p:cNvSpPr>
          <p:nvPr>
            <p:ph type="subTitle" idx="1"/>
          </p:nvPr>
        </p:nvSpPr>
        <p:spPr>
          <a:xfrm>
            <a:off x="1524000" y="3431076"/>
            <a:ext cx="9144000" cy="1655762"/>
          </a:xfrm>
        </p:spPr>
        <p:txBody>
          <a:bodyPr/>
          <a:lstStyle/>
          <a:p>
            <a:r>
              <a:rPr lang="en-US" noProof="0" dirty="0"/>
              <a:t>A Gentle Introduction to the Analysis of Quantitative Data within a Bayesian Framework</a:t>
            </a:r>
          </a:p>
        </p:txBody>
      </p:sp>
      <p:sp>
        <p:nvSpPr>
          <p:cNvPr id="5" name="TextBox 4">
            <a:extLst>
              <a:ext uri="{FF2B5EF4-FFF2-40B4-BE49-F238E27FC236}">
                <a16:creationId xmlns:a16="http://schemas.microsoft.com/office/drawing/2014/main" id="{FA84E25B-C3EB-646A-85E7-7BEDA819BF38}"/>
              </a:ext>
            </a:extLst>
          </p:cNvPr>
          <p:cNvSpPr txBox="1"/>
          <p:nvPr/>
        </p:nvSpPr>
        <p:spPr>
          <a:xfrm>
            <a:off x="3393436" y="6378223"/>
            <a:ext cx="5405134" cy="369332"/>
          </a:xfrm>
          <a:prstGeom prst="rect">
            <a:avLst/>
          </a:prstGeom>
          <a:noFill/>
        </p:spPr>
        <p:txBody>
          <a:bodyPr wrap="none" rtlCol="0">
            <a:spAutoFit/>
          </a:bodyPr>
          <a:lstStyle/>
          <a:p>
            <a:pPr algn="ctr"/>
            <a:r>
              <a:rPr lang="en-US" noProof="0" dirty="0"/>
              <a:t>Monday, 17th of August, 13:45-17:15 in Room E-2021</a:t>
            </a:r>
          </a:p>
        </p:txBody>
      </p:sp>
      <p:pic>
        <p:nvPicPr>
          <p:cNvPr id="6" name="Picture 5">
            <a:extLst>
              <a:ext uri="{FF2B5EF4-FFF2-40B4-BE49-F238E27FC236}">
                <a16:creationId xmlns:a16="http://schemas.microsoft.com/office/drawing/2014/main" id="{8ADFC832-2E06-5C1E-05A3-D37E825007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0641" y="4632896"/>
            <a:ext cx="1780036" cy="1868428"/>
          </a:xfrm>
          <a:prstGeom prst="rect">
            <a:avLst/>
          </a:prstGeom>
        </p:spPr>
      </p:pic>
      <p:sp>
        <p:nvSpPr>
          <p:cNvPr id="8" name="TextBox 7">
            <a:extLst>
              <a:ext uri="{FF2B5EF4-FFF2-40B4-BE49-F238E27FC236}">
                <a16:creationId xmlns:a16="http://schemas.microsoft.com/office/drawing/2014/main" id="{3F58CC1C-9956-7882-2057-E8CDDD817810}"/>
              </a:ext>
            </a:extLst>
          </p:cNvPr>
          <p:cNvSpPr txBox="1"/>
          <p:nvPr/>
        </p:nvSpPr>
        <p:spPr>
          <a:xfrm>
            <a:off x="5396815" y="5069427"/>
            <a:ext cx="2509020" cy="707886"/>
          </a:xfrm>
          <a:prstGeom prst="rect">
            <a:avLst/>
          </a:prstGeom>
          <a:noFill/>
        </p:spPr>
        <p:txBody>
          <a:bodyPr wrap="none" rtlCol="0">
            <a:spAutoFit/>
          </a:bodyPr>
          <a:lstStyle/>
          <a:p>
            <a:r>
              <a:rPr lang="en-US" sz="2000" noProof="0" dirty="0">
                <a:latin typeface="Segoe UI Black" panose="020B0A02040204020203" pitchFamily="34" charset="0"/>
                <a:ea typeface="Segoe UI Black" panose="020B0A02040204020203" pitchFamily="34" charset="0"/>
              </a:rPr>
              <a:t>17-21 August 2026</a:t>
            </a:r>
          </a:p>
          <a:p>
            <a:r>
              <a:rPr lang="en-US" sz="2000" noProof="0" dirty="0">
                <a:latin typeface="Segoe UI Black" panose="020B0A02040204020203" pitchFamily="34" charset="0"/>
                <a:ea typeface="Segoe UI Black" panose="020B0A02040204020203" pitchFamily="34" charset="0"/>
              </a:rPr>
              <a:t>Montreal, Canada</a:t>
            </a:r>
          </a:p>
        </p:txBody>
      </p:sp>
    </p:spTree>
    <p:extLst>
      <p:ext uri="{BB962C8B-B14F-4D97-AF65-F5344CB8AC3E}">
        <p14:creationId xmlns:p14="http://schemas.microsoft.com/office/powerpoint/2010/main" val="6859279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Object"/>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C94EE-E4B6-7C4C-9506-4586D0C1979B}"/>
              </a:ext>
            </a:extLst>
          </p:cNvPr>
          <p:cNvSpPr>
            <a:spLocks noGrp="1"/>
          </p:cNvSpPr>
          <p:nvPr>
            <p:ph type="title"/>
          </p:nvPr>
        </p:nvSpPr>
        <p:spPr/>
        <p:txBody>
          <a:bodyPr/>
          <a:lstStyle/>
          <a:p>
            <a:r>
              <a:rPr lang="en-US" noProof="0" dirty="0"/>
              <a:t>Meet your Instructors</a:t>
            </a:r>
          </a:p>
        </p:txBody>
      </p:sp>
      <p:sp>
        <p:nvSpPr>
          <p:cNvPr id="4" name="Date Placeholder 3">
            <a:extLst>
              <a:ext uri="{FF2B5EF4-FFF2-40B4-BE49-F238E27FC236}">
                <a16:creationId xmlns:a16="http://schemas.microsoft.com/office/drawing/2014/main" id="{7B201E64-8B2C-FE3C-D4FA-D7EDA4F868D4}"/>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B1F7C18D-24D3-40D4-55A4-FC28DF632D1E}"/>
              </a:ext>
            </a:extLst>
          </p:cNvPr>
          <p:cNvSpPr>
            <a:spLocks noGrp="1"/>
          </p:cNvSpPr>
          <p:nvPr>
            <p:ph type="sldNum" sz="quarter" idx="12"/>
          </p:nvPr>
        </p:nvSpPr>
        <p:spPr/>
        <p:txBody>
          <a:bodyPr/>
          <a:lstStyle/>
          <a:p>
            <a:fld id="{271ECC92-9CDE-4EB3-B1C5-F46B9E1FA3C1}" type="slidenum">
              <a:rPr lang="en-US" noProof="0" smtClean="0"/>
              <a:t>3</a:t>
            </a:fld>
            <a:endParaRPr lang="en-US" noProof="0" dirty="0"/>
          </a:p>
        </p:txBody>
      </p:sp>
      <p:sp>
        <p:nvSpPr>
          <p:cNvPr id="6" name="Oval 5">
            <a:extLst>
              <a:ext uri="{FF2B5EF4-FFF2-40B4-BE49-F238E27FC236}">
                <a16:creationId xmlns:a16="http://schemas.microsoft.com/office/drawing/2014/main" id="{9D835F5B-AF82-8C4A-C086-58D1AAD55F10}"/>
              </a:ext>
            </a:extLst>
          </p:cNvPr>
          <p:cNvSpPr/>
          <p:nvPr/>
        </p:nvSpPr>
        <p:spPr>
          <a:xfrm>
            <a:off x="1081200" y="2223519"/>
            <a:ext cx="1800000" cy="1800000"/>
          </a:xfrm>
          <a:prstGeom prst="ellipse">
            <a:avLst/>
          </a:prstGeom>
          <a:blipFill>
            <a:blip r:embed="rId2"/>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1D129F51-811C-A4C5-7240-E386951C5F4D}"/>
              </a:ext>
            </a:extLst>
          </p:cNvPr>
          <p:cNvSpPr/>
          <p:nvPr/>
        </p:nvSpPr>
        <p:spPr>
          <a:xfrm>
            <a:off x="3824400" y="2223519"/>
            <a:ext cx="1800000" cy="1800000"/>
          </a:xfrm>
          <a:prstGeom prst="ellipse">
            <a:avLst/>
          </a:prstGeom>
          <a:blipFill>
            <a:blip r:embed="rId3"/>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Oval 7">
            <a:extLst>
              <a:ext uri="{FF2B5EF4-FFF2-40B4-BE49-F238E27FC236}">
                <a16:creationId xmlns:a16="http://schemas.microsoft.com/office/drawing/2014/main" id="{B4C5E671-26F0-3812-73C5-0045F0375258}"/>
              </a:ext>
            </a:extLst>
          </p:cNvPr>
          <p:cNvSpPr/>
          <p:nvPr/>
        </p:nvSpPr>
        <p:spPr>
          <a:xfrm>
            <a:off x="6567600" y="2223519"/>
            <a:ext cx="1800000" cy="1800000"/>
          </a:xfrm>
          <a:prstGeom prst="ellipse">
            <a:avLst/>
          </a:prstGeom>
          <a:blipFill>
            <a:blip r:embed="rId4"/>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656BB3A9-917A-075F-BEA0-4FD6436B31C1}"/>
              </a:ext>
            </a:extLst>
          </p:cNvPr>
          <p:cNvSpPr/>
          <p:nvPr/>
        </p:nvSpPr>
        <p:spPr>
          <a:xfrm>
            <a:off x="9310800" y="2223519"/>
            <a:ext cx="1800000" cy="1800000"/>
          </a:xfrm>
          <a:prstGeom prst="ellipse">
            <a:avLst/>
          </a:prstGeom>
          <a:blipFill>
            <a:blip r:embed="rId5"/>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A3EEE203-EE40-F0A6-26E3-74E9ABACEFB9}"/>
              </a:ext>
            </a:extLst>
          </p:cNvPr>
          <p:cNvSpPr txBox="1"/>
          <p:nvPr/>
        </p:nvSpPr>
        <p:spPr>
          <a:xfrm>
            <a:off x="703713" y="4260733"/>
            <a:ext cx="2554973" cy="830997"/>
          </a:xfrm>
          <a:prstGeom prst="rect">
            <a:avLst/>
          </a:prstGeom>
          <a:noFill/>
        </p:spPr>
        <p:txBody>
          <a:bodyPr wrap="square" rtlCol="0">
            <a:spAutoFit/>
          </a:bodyPr>
          <a:lstStyle/>
          <a:p>
            <a:pPr algn="ctr"/>
            <a:r>
              <a:rPr lang="en-US" noProof="0" dirty="0"/>
              <a:t>Richard </a:t>
            </a:r>
            <a:r>
              <a:rPr lang="en-US" b="1" noProof="0" dirty="0"/>
              <a:t>Torkar</a:t>
            </a:r>
            <a:endParaRPr lang="en-US" noProof="0" dirty="0"/>
          </a:p>
          <a:p>
            <a:pPr algn="ctr"/>
            <a:r>
              <a:rPr lang="en-US" sz="1600" noProof="0" dirty="0">
                <a:solidFill>
                  <a:schemeClr val="tx1">
                    <a:lumMod val="50000"/>
                    <a:lumOff val="50000"/>
                  </a:schemeClr>
                </a:solidFill>
              </a:rPr>
              <a:t>Full Professor</a:t>
            </a:r>
          </a:p>
          <a:p>
            <a:pPr algn="ctr"/>
            <a:r>
              <a:rPr lang="en-US" sz="1400" noProof="0" dirty="0">
                <a:hlinkClick r:id="rId6"/>
              </a:rPr>
              <a:t>https://torkar.github.io/</a:t>
            </a:r>
            <a:r>
              <a:rPr lang="en-US" sz="1400" noProof="0" dirty="0"/>
              <a:t> </a:t>
            </a:r>
          </a:p>
        </p:txBody>
      </p:sp>
      <p:sp>
        <p:nvSpPr>
          <p:cNvPr id="11" name="TextBox 10">
            <a:extLst>
              <a:ext uri="{FF2B5EF4-FFF2-40B4-BE49-F238E27FC236}">
                <a16:creationId xmlns:a16="http://schemas.microsoft.com/office/drawing/2014/main" id="{442CD4D6-7F6B-F090-4A72-C922BCFC3D7D}"/>
              </a:ext>
            </a:extLst>
          </p:cNvPr>
          <p:cNvSpPr txBox="1"/>
          <p:nvPr/>
        </p:nvSpPr>
        <p:spPr>
          <a:xfrm>
            <a:off x="3446913" y="4260733"/>
            <a:ext cx="2554973" cy="861774"/>
          </a:xfrm>
          <a:prstGeom prst="rect">
            <a:avLst/>
          </a:prstGeom>
          <a:noFill/>
        </p:spPr>
        <p:txBody>
          <a:bodyPr wrap="square" rtlCol="0">
            <a:spAutoFit/>
          </a:bodyPr>
          <a:lstStyle/>
          <a:p>
            <a:pPr algn="ctr"/>
            <a:r>
              <a:rPr lang="en-US" noProof="0" dirty="0"/>
              <a:t>Robert </a:t>
            </a:r>
            <a:r>
              <a:rPr lang="en-US" b="1" noProof="0" dirty="0"/>
              <a:t>Feldt</a:t>
            </a:r>
            <a:endParaRPr lang="en-US" noProof="0" dirty="0"/>
          </a:p>
          <a:p>
            <a:pPr algn="ctr"/>
            <a:r>
              <a:rPr lang="en-US" sz="1600" noProof="0" dirty="0">
                <a:solidFill>
                  <a:schemeClr val="tx1">
                    <a:lumMod val="50000"/>
                    <a:lumOff val="50000"/>
                  </a:schemeClr>
                </a:solidFill>
              </a:rPr>
              <a:t>Full Professor</a:t>
            </a:r>
          </a:p>
          <a:p>
            <a:pPr algn="ctr"/>
            <a:r>
              <a:rPr lang="en-US" sz="1400" noProof="0" dirty="0">
                <a:hlinkClick r:id="rId7"/>
              </a:rPr>
              <a:t>http://www.robertfeldt.net/</a:t>
            </a:r>
            <a:r>
              <a:rPr lang="en-US" sz="1400" noProof="0" dirty="0"/>
              <a:t> </a:t>
            </a:r>
          </a:p>
        </p:txBody>
      </p:sp>
      <p:sp>
        <p:nvSpPr>
          <p:cNvPr id="12" name="TextBox 11">
            <a:extLst>
              <a:ext uri="{FF2B5EF4-FFF2-40B4-BE49-F238E27FC236}">
                <a16:creationId xmlns:a16="http://schemas.microsoft.com/office/drawing/2014/main" id="{2CD43FD4-EEDA-8F30-C74F-0EB66DBDF8B0}"/>
              </a:ext>
            </a:extLst>
          </p:cNvPr>
          <p:cNvSpPr txBox="1"/>
          <p:nvPr/>
        </p:nvSpPr>
        <p:spPr>
          <a:xfrm>
            <a:off x="6190113" y="4260733"/>
            <a:ext cx="2554973" cy="830997"/>
          </a:xfrm>
          <a:prstGeom prst="rect">
            <a:avLst/>
          </a:prstGeom>
          <a:noFill/>
        </p:spPr>
        <p:txBody>
          <a:bodyPr wrap="square" rtlCol="0">
            <a:spAutoFit/>
          </a:bodyPr>
          <a:lstStyle/>
          <a:p>
            <a:pPr algn="ctr"/>
            <a:r>
              <a:rPr lang="en-US" noProof="0" dirty="0"/>
              <a:t>Hans-Martin </a:t>
            </a:r>
            <a:r>
              <a:rPr lang="en-US" b="1" noProof="0" dirty="0"/>
              <a:t>Heyn</a:t>
            </a:r>
            <a:endParaRPr lang="en-US" noProof="0" dirty="0"/>
          </a:p>
          <a:p>
            <a:pPr algn="ctr"/>
            <a:r>
              <a:rPr lang="en-US" sz="1600" noProof="0" dirty="0">
                <a:solidFill>
                  <a:schemeClr val="tx1">
                    <a:lumMod val="50000"/>
                    <a:lumOff val="50000"/>
                  </a:schemeClr>
                </a:solidFill>
              </a:rPr>
              <a:t>Senior Lecturer</a:t>
            </a:r>
          </a:p>
          <a:p>
            <a:pPr algn="ctr"/>
            <a:r>
              <a:rPr lang="en-US" sz="1400" noProof="0" dirty="0">
                <a:hlinkClick r:id="rId8"/>
              </a:rPr>
              <a:t>https://martinheyn.github.io/</a:t>
            </a:r>
            <a:r>
              <a:rPr lang="en-US" sz="1400" noProof="0" dirty="0"/>
              <a:t> </a:t>
            </a:r>
          </a:p>
        </p:txBody>
      </p:sp>
      <p:sp>
        <p:nvSpPr>
          <p:cNvPr id="13" name="TextBox 12">
            <a:extLst>
              <a:ext uri="{FF2B5EF4-FFF2-40B4-BE49-F238E27FC236}">
                <a16:creationId xmlns:a16="http://schemas.microsoft.com/office/drawing/2014/main" id="{F8E926FC-E5BC-D3F1-F977-47F0E8D8AED9}"/>
              </a:ext>
            </a:extLst>
          </p:cNvPr>
          <p:cNvSpPr txBox="1"/>
          <p:nvPr/>
        </p:nvSpPr>
        <p:spPr>
          <a:xfrm>
            <a:off x="8933314" y="4260733"/>
            <a:ext cx="2554973" cy="830997"/>
          </a:xfrm>
          <a:prstGeom prst="rect">
            <a:avLst/>
          </a:prstGeom>
          <a:noFill/>
        </p:spPr>
        <p:txBody>
          <a:bodyPr wrap="square" rtlCol="0">
            <a:spAutoFit/>
          </a:bodyPr>
          <a:lstStyle/>
          <a:p>
            <a:pPr algn="ctr"/>
            <a:r>
              <a:rPr lang="en-US" noProof="0" dirty="0"/>
              <a:t>Julian </a:t>
            </a:r>
            <a:r>
              <a:rPr lang="en-US" b="1" noProof="0" dirty="0"/>
              <a:t>Frattini</a:t>
            </a:r>
          </a:p>
          <a:p>
            <a:pPr algn="ctr"/>
            <a:r>
              <a:rPr lang="en-US" sz="1600" noProof="0" dirty="0">
                <a:solidFill>
                  <a:schemeClr val="tx1">
                    <a:lumMod val="50000"/>
                    <a:lumOff val="50000"/>
                  </a:schemeClr>
                </a:solidFill>
              </a:rPr>
              <a:t>Postdoctoral Researcher</a:t>
            </a:r>
          </a:p>
          <a:p>
            <a:pPr algn="ctr"/>
            <a:r>
              <a:rPr lang="en-US" sz="1400" noProof="0" dirty="0">
                <a:hlinkClick r:id="rId9"/>
              </a:rPr>
              <a:t>https://julianfrattini.github.io/</a:t>
            </a:r>
            <a:r>
              <a:rPr lang="en-US" sz="1400" noProof="0" dirty="0"/>
              <a:t> </a:t>
            </a:r>
          </a:p>
        </p:txBody>
      </p:sp>
      <p:sp>
        <p:nvSpPr>
          <p:cNvPr id="3" name="Footer Placeholder 2">
            <a:extLst>
              <a:ext uri="{FF2B5EF4-FFF2-40B4-BE49-F238E27FC236}">
                <a16:creationId xmlns:a16="http://schemas.microsoft.com/office/drawing/2014/main" id="{A0420817-522D-0DB7-FA3C-9A4FE1C1D82D}"/>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178706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2C1E2-5915-C65F-3740-A65DC3AAD29D}"/>
              </a:ext>
            </a:extLst>
          </p:cNvPr>
          <p:cNvSpPr>
            <a:spLocks noGrp="1"/>
          </p:cNvSpPr>
          <p:nvPr>
            <p:ph type="title"/>
          </p:nvPr>
        </p:nvSpPr>
        <p:spPr/>
        <p:txBody>
          <a:bodyPr/>
          <a:lstStyle/>
          <a:p>
            <a:r>
              <a:rPr lang="en-US" noProof="0" dirty="0"/>
              <a:t>Schedule</a:t>
            </a:r>
          </a:p>
        </p:txBody>
      </p:sp>
      <p:sp>
        <p:nvSpPr>
          <p:cNvPr id="4" name="Date Placeholder 3">
            <a:extLst>
              <a:ext uri="{FF2B5EF4-FFF2-40B4-BE49-F238E27FC236}">
                <a16:creationId xmlns:a16="http://schemas.microsoft.com/office/drawing/2014/main" id="{3B5D4768-0529-433F-5EA2-F46E762C2BB7}"/>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82C0E875-E247-1E7C-6D48-16299C7FD746}"/>
              </a:ext>
            </a:extLst>
          </p:cNvPr>
          <p:cNvSpPr>
            <a:spLocks noGrp="1"/>
          </p:cNvSpPr>
          <p:nvPr>
            <p:ph type="sldNum" sz="quarter" idx="12"/>
          </p:nvPr>
        </p:nvSpPr>
        <p:spPr/>
        <p:txBody>
          <a:bodyPr/>
          <a:lstStyle/>
          <a:p>
            <a:fld id="{271ECC92-9CDE-4EB3-B1C5-F46B9E1FA3C1}" type="slidenum">
              <a:rPr lang="en-US" noProof="0" smtClean="0"/>
              <a:t>4</a:t>
            </a:fld>
            <a:endParaRPr lang="en-US" noProof="0" dirty="0"/>
          </a:p>
        </p:txBody>
      </p:sp>
      <p:graphicFrame>
        <p:nvGraphicFramePr>
          <p:cNvPr id="7" name="Table 6">
            <a:extLst>
              <a:ext uri="{FF2B5EF4-FFF2-40B4-BE49-F238E27FC236}">
                <a16:creationId xmlns:a16="http://schemas.microsoft.com/office/drawing/2014/main" id="{D09C9E24-D13D-C699-FA23-B3A60A1F2155}"/>
              </a:ext>
            </a:extLst>
          </p:cNvPr>
          <p:cNvGraphicFramePr>
            <a:graphicFrameLocks noGrp="1"/>
          </p:cNvGraphicFramePr>
          <p:nvPr>
            <p:extLst>
              <p:ext uri="{D42A27DB-BD31-4B8C-83A1-F6EECF244321}">
                <p14:modId xmlns:p14="http://schemas.microsoft.com/office/powerpoint/2010/main" val="2314114168"/>
              </p:ext>
            </p:extLst>
          </p:nvPr>
        </p:nvGraphicFramePr>
        <p:xfrm>
          <a:off x="1510506" y="1970088"/>
          <a:ext cx="9170988" cy="3606800"/>
        </p:xfrm>
        <a:graphic>
          <a:graphicData uri="http://schemas.openxmlformats.org/drawingml/2006/table">
            <a:tbl>
              <a:tblPr firstRow="1" bandRow="1">
                <a:tableStyleId>{073A0DAA-6AF3-43AB-8588-CEC1D06C72B9}</a:tableStyleId>
              </a:tblPr>
              <a:tblGrid>
                <a:gridCol w="2316331">
                  <a:extLst>
                    <a:ext uri="{9D8B030D-6E8A-4147-A177-3AD203B41FA5}">
                      <a16:colId xmlns:a16="http://schemas.microsoft.com/office/drawing/2014/main" val="4060947080"/>
                    </a:ext>
                  </a:extLst>
                </a:gridCol>
                <a:gridCol w="1572169">
                  <a:extLst>
                    <a:ext uri="{9D8B030D-6E8A-4147-A177-3AD203B41FA5}">
                      <a16:colId xmlns:a16="http://schemas.microsoft.com/office/drawing/2014/main" val="1711192878"/>
                    </a:ext>
                  </a:extLst>
                </a:gridCol>
                <a:gridCol w="5282488">
                  <a:extLst>
                    <a:ext uri="{9D8B030D-6E8A-4147-A177-3AD203B41FA5}">
                      <a16:colId xmlns:a16="http://schemas.microsoft.com/office/drawing/2014/main" val="2617493845"/>
                    </a:ext>
                  </a:extLst>
                </a:gridCol>
              </a:tblGrid>
              <a:tr h="370840">
                <a:tc>
                  <a:txBody>
                    <a:bodyPr/>
                    <a:lstStyle/>
                    <a:p>
                      <a:r>
                        <a:rPr lang="en-US" noProof="0" dirty="0"/>
                        <a:t>Session</a:t>
                      </a:r>
                    </a:p>
                  </a:txBody>
                  <a:tcPr/>
                </a:tc>
                <a:tc>
                  <a:txBody>
                    <a:bodyPr/>
                    <a:lstStyle/>
                    <a:p>
                      <a:r>
                        <a:rPr lang="en-US" noProof="0" dirty="0"/>
                        <a:t>Time</a:t>
                      </a:r>
                    </a:p>
                  </a:txBody>
                  <a:tcPr/>
                </a:tc>
                <a:tc>
                  <a:txBody>
                    <a:bodyPr/>
                    <a:lstStyle/>
                    <a:p>
                      <a:r>
                        <a:rPr lang="en-US" noProof="0" dirty="0"/>
                        <a:t>Content</a:t>
                      </a:r>
                    </a:p>
                  </a:txBody>
                  <a:tcPr/>
                </a:tc>
                <a:extLst>
                  <a:ext uri="{0D108BD9-81ED-4DB2-BD59-A6C34878D82A}">
                    <a16:rowId xmlns:a16="http://schemas.microsoft.com/office/drawing/2014/main" val="3236769831"/>
                  </a:ext>
                </a:extLst>
              </a:tr>
              <a:tr h="370840">
                <a:tc>
                  <a:txBody>
                    <a:bodyPr/>
                    <a:lstStyle/>
                    <a:p>
                      <a:r>
                        <a:rPr lang="en-SE" noProof="0" dirty="0"/>
                        <a:t>Motivation</a:t>
                      </a:r>
                      <a:endParaRPr lang="en-US" noProof="0" dirty="0"/>
                    </a:p>
                  </a:txBody>
                  <a:tcPr/>
                </a:tc>
                <a:tc>
                  <a:txBody>
                    <a:bodyPr/>
                    <a:lstStyle/>
                    <a:p>
                      <a:r>
                        <a:rPr lang="en-US" noProof="0" dirty="0"/>
                        <a:t>1</a:t>
                      </a:r>
                      <a:r>
                        <a:rPr lang="en-SE" noProof="0" dirty="0"/>
                        <a:t>3</a:t>
                      </a:r>
                      <a:r>
                        <a:rPr lang="en-US" noProof="0" dirty="0"/>
                        <a:t>:00-1</a:t>
                      </a:r>
                      <a:r>
                        <a:rPr lang="en-SE" noProof="0" dirty="0"/>
                        <a:t>3</a:t>
                      </a:r>
                      <a:r>
                        <a:rPr lang="en-US" noProof="0" dirty="0"/>
                        <a:t>:15</a:t>
                      </a:r>
                    </a:p>
                  </a:txBody>
                  <a:tcPr/>
                </a:tc>
                <a:tc>
                  <a:txBody>
                    <a:bodyPr/>
                    <a:lstStyle/>
                    <a:p>
                      <a:r>
                        <a:rPr lang="en-SE" noProof="0" dirty="0"/>
                        <a:t>Motivation</a:t>
                      </a:r>
                      <a:r>
                        <a:rPr lang="en-US" noProof="0" dirty="0"/>
                        <a:t> and </a:t>
                      </a:r>
                      <a:r>
                        <a:rPr lang="en-SE" noProof="0" dirty="0"/>
                        <a:t>learning </a:t>
                      </a:r>
                      <a:r>
                        <a:rPr lang="en-US" noProof="0" dirty="0"/>
                        <a:t>goals</a:t>
                      </a:r>
                    </a:p>
                  </a:txBody>
                  <a:tcPr/>
                </a:tc>
                <a:extLst>
                  <a:ext uri="{0D108BD9-81ED-4DB2-BD59-A6C34878D82A}">
                    <a16:rowId xmlns:a16="http://schemas.microsoft.com/office/drawing/2014/main" val="2924862747"/>
                  </a:ext>
                </a:extLst>
              </a:tr>
              <a:tr h="370840">
                <a:tc>
                  <a:txBody>
                    <a:bodyPr/>
                    <a:lstStyle/>
                    <a:p>
                      <a:r>
                        <a:rPr lang="en-SE" noProof="0" dirty="0"/>
                        <a:t>State-of-Practice</a:t>
                      </a:r>
                      <a:endParaRPr lang="en-US" noProof="0" dirty="0"/>
                    </a:p>
                  </a:txBody>
                  <a:tcPr/>
                </a:tc>
                <a:tc>
                  <a:txBody>
                    <a:bodyPr/>
                    <a:lstStyle/>
                    <a:p>
                      <a:r>
                        <a:rPr lang="en-US" noProof="0" dirty="0"/>
                        <a:t>1</a:t>
                      </a:r>
                      <a:r>
                        <a:rPr lang="en-SE" noProof="0" dirty="0"/>
                        <a:t>3</a:t>
                      </a:r>
                      <a:r>
                        <a:rPr lang="en-US" noProof="0" dirty="0"/>
                        <a:t>:15-1</a:t>
                      </a:r>
                      <a:r>
                        <a:rPr lang="en-SE" noProof="0" dirty="0"/>
                        <a:t>3</a:t>
                      </a:r>
                      <a:r>
                        <a:rPr lang="en-US" noProof="0" dirty="0"/>
                        <a:t>:45</a:t>
                      </a:r>
                    </a:p>
                  </a:txBody>
                  <a:tcPr/>
                </a:tc>
                <a:tc>
                  <a:txBody>
                    <a:bodyPr/>
                    <a:lstStyle/>
                    <a:p>
                      <a:r>
                        <a:rPr lang="en-SE" noProof="0" dirty="0"/>
                        <a:t>Frequentism and its issues</a:t>
                      </a:r>
                      <a:endParaRPr lang="en-US" noProof="0" dirty="0"/>
                    </a:p>
                  </a:txBody>
                  <a:tcPr/>
                </a:tc>
                <a:extLst>
                  <a:ext uri="{0D108BD9-81ED-4DB2-BD59-A6C34878D82A}">
                    <a16:rowId xmlns:a16="http://schemas.microsoft.com/office/drawing/2014/main" val="1795015782"/>
                  </a:ext>
                </a:extLst>
              </a:tr>
              <a:tr h="370840">
                <a:tc>
                  <a:txBody>
                    <a:bodyPr/>
                    <a:lstStyle/>
                    <a:p>
                      <a:r>
                        <a:rPr lang="en-SE" noProof="0" dirty="0"/>
                        <a:t>Bayes’ Theorem</a:t>
                      </a:r>
                      <a:endParaRPr lang="en-US" noProof="0" dirty="0"/>
                    </a:p>
                  </a:txBody>
                  <a:tcPr/>
                </a:tc>
                <a:tc>
                  <a:txBody>
                    <a:bodyPr/>
                    <a:lstStyle/>
                    <a:p>
                      <a:r>
                        <a:rPr lang="en-US" noProof="0" dirty="0"/>
                        <a:t>1</a:t>
                      </a:r>
                      <a:r>
                        <a:rPr lang="en-SE" noProof="0" dirty="0"/>
                        <a:t>3</a:t>
                      </a:r>
                      <a:r>
                        <a:rPr lang="en-US" noProof="0" dirty="0"/>
                        <a:t>:45-1</a:t>
                      </a:r>
                      <a:r>
                        <a:rPr lang="en-SE" noProof="0" dirty="0"/>
                        <a:t>4</a:t>
                      </a:r>
                      <a:r>
                        <a:rPr lang="en-US" noProof="0" dirty="0"/>
                        <a:t>:30</a:t>
                      </a:r>
                    </a:p>
                  </a:txBody>
                  <a:tcPr/>
                </a:tc>
                <a:tc>
                  <a:txBody>
                    <a:bodyPr/>
                    <a:lstStyle/>
                    <a:p>
                      <a:r>
                        <a:rPr lang="en-SE" noProof="0" dirty="0"/>
                        <a:t>Fundamentals of Bayes’ theorem</a:t>
                      </a:r>
                      <a:endParaRPr lang="en-US" noProof="0" dirty="0"/>
                    </a:p>
                  </a:txBody>
                  <a:tcPr/>
                </a:tc>
                <a:extLst>
                  <a:ext uri="{0D108BD9-81ED-4DB2-BD59-A6C34878D82A}">
                    <a16:rowId xmlns:a16="http://schemas.microsoft.com/office/drawing/2014/main" val="1718220225"/>
                  </a:ext>
                </a:extLst>
              </a:tr>
              <a:tr h="370840">
                <a:tc>
                  <a:txBody>
                    <a:bodyPr/>
                    <a:lstStyle/>
                    <a:p>
                      <a:r>
                        <a:rPr lang="en-US" noProof="0" dirty="0">
                          <a:solidFill>
                            <a:schemeClr val="bg1"/>
                          </a:solidFill>
                        </a:rPr>
                        <a:t>Break</a:t>
                      </a:r>
                    </a:p>
                  </a:txBody>
                  <a:tcPr>
                    <a:solidFill>
                      <a:schemeClr val="bg1">
                        <a:lumMod val="50000"/>
                      </a:schemeClr>
                    </a:solidFill>
                  </a:tcPr>
                </a:tc>
                <a:tc>
                  <a:txBody>
                    <a:bodyPr/>
                    <a:lstStyle/>
                    <a:p>
                      <a:r>
                        <a:rPr lang="en-US" noProof="0" dirty="0">
                          <a:solidFill>
                            <a:schemeClr val="bg1"/>
                          </a:solidFill>
                        </a:rPr>
                        <a:t>1</a:t>
                      </a:r>
                      <a:r>
                        <a:rPr lang="en-SE" noProof="0" dirty="0">
                          <a:solidFill>
                            <a:schemeClr val="bg1"/>
                          </a:solidFill>
                        </a:rPr>
                        <a:t>4</a:t>
                      </a:r>
                      <a:r>
                        <a:rPr lang="en-US" noProof="0" dirty="0">
                          <a:solidFill>
                            <a:schemeClr val="bg1"/>
                          </a:solidFill>
                        </a:rPr>
                        <a:t>:30-1</a:t>
                      </a:r>
                      <a:r>
                        <a:rPr lang="en-SE" noProof="0" dirty="0">
                          <a:solidFill>
                            <a:schemeClr val="bg1"/>
                          </a:solidFill>
                        </a:rPr>
                        <a:t>4</a:t>
                      </a:r>
                      <a:r>
                        <a:rPr lang="en-US" noProof="0" dirty="0">
                          <a:solidFill>
                            <a:schemeClr val="bg1"/>
                          </a:solidFill>
                        </a:rPr>
                        <a:t>:</a:t>
                      </a:r>
                      <a:r>
                        <a:rPr lang="en-SE" noProof="0" dirty="0">
                          <a:solidFill>
                            <a:schemeClr val="bg1"/>
                          </a:solidFill>
                        </a:rPr>
                        <a:t>3</a:t>
                      </a:r>
                      <a:r>
                        <a:rPr lang="en-US" noProof="0" dirty="0">
                          <a:solidFill>
                            <a:schemeClr val="bg1"/>
                          </a:solidFill>
                        </a:rPr>
                        <a:t>0</a:t>
                      </a:r>
                    </a:p>
                  </a:txBody>
                  <a:tcPr>
                    <a:solidFill>
                      <a:schemeClr val="bg1">
                        <a:lumMod val="50000"/>
                      </a:schemeClr>
                    </a:solidFill>
                  </a:tcPr>
                </a:tc>
                <a:tc>
                  <a:txBody>
                    <a:bodyPr/>
                    <a:lstStyle/>
                    <a:p>
                      <a:endParaRPr lang="en-US" noProof="0" dirty="0">
                        <a:solidFill>
                          <a:schemeClr val="bg1"/>
                        </a:solidFill>
                      </a:endParaRPr>
                    </a:p>
                  </a:txBody>
                  <a:tcPr>
                    <a:solidFill>
                      <a:schemeClr val="bg1">
                        <a:lumMod val="50000"/>
                      </a:schemeClr>
                    </a:solidFill>
                  </a:tcPr>
                </a:tc>
                <a:extLst>
                  <a:ext uri="{0D108BD9-81ED-4DB2-BD59-A6C34878D82A}">
                    <a16:rowId xmlns:a16="http://schemas.microsoft.com/office/drawing/2014/main" val="2834851480"/>
                  </a:ext>
                </a:extLst>
              </a:tr>
              <a:tr h="370840">
                <a:tc>
                  <a:txBody>
                    <a:bodyPr/>
                    <a:lstStyle/>
                    <a:p>
                      <a:r>
                        <a:rPr lang="en-SE" noProof="0" dirty="0"/>
                        <a:t>Bayesian Workflow I</a:t>
                      </a:r>
                      <a:endParaRPr lang="en-US" noProof="0" dirty="0"/>
                    </a:p>
                  </a:txBody>
                  <a:tcPr/>
                </a:tc>
                <a:tc>
                  <a:txBody>
                    <a:bodyPr/>
                    <a:lstStyle/>
                    <a:p>
                      <a:r>
                        <a:rPr lang="en-US" noProof="0" dirty="0"/>
                        <a:t>1</a:t>
                      </a:r>
                      <a:r>
                        <a:rPr lang="en-SE" noProof="0" dirty="0"/>
                        <a:t>4</a:t>
                      </a:r>
                      <a:r>
                        <a:rPr lang="en-US" noProof="0" dirty="0"/>
                        <a:t>:</a:t>
                      </a:r>
                      <a:r>
                        <a:rPr lang="en-SE" noProof="0" dirty="0"/>
                        <a:t>3</a:t>
                      </a:r>
                      <a:r>
                        <a:rPr lang="en-US" noProof="0" dirty="0"/>
                        <a:t>0-1</a:t>
                      </a:r>
                      <a:r>
                        <a:rPr lang="en-SE" noProof="0" dirty="0"/>
                        <a:t>5:15</a:t>
                      </a:r>
                      <a:endParaRPr lang="en-US" noProof="0" dirty="0"/>
                    </a:p>
                  </a:txBody>
                  <a:tcPr/>
                </a:tc>
                <a:tc>
                  <a:txBody>
                    <a:bodyPr/>
                    <a:lstStyle/>
                    <a:p>
                      <a:r>
                        <a:rPr lang="en-SE" noProof="0" dirty="0"/>
                        <a:t>Fundamental Bayesian workflow with simple normal data</a:t>
                      </a:r>
                      <a:endParaRPr lang="en-US" noProof="0" dirty="0"/>
                    </a:p>
                  </a:txBody>
                  <a:tcPr/>
                </a:tc>
                <a:extLst>
                  <a:ext uri="{0D108BD9-81ED-4DB2-BD59-A6C34878D82A}">
                    <a16:rowId xmlns:a16="http://schemas.microsoft.com/office/drawing/2014/main" val="266909002"/>
                  </a:ext>
                </a:extLst>
              </a:tr>
              <a:tr h="370840">
                <a:tc>
                  <a:txBody>
                    <a:bodyPr/>
                    <a:lstStyle/>
                    <a:p>
                      <a:r>
                        <a:rPr lang="en-SE" noProof="0" dirty="0"/>
                        <a:t>Bayesian W</a:t>
                      </a:r>
                      <a:r>
                        <a:rPr lang="de-DE" noProof="0" dirty="0"/>
                        <a:t>o</a:t>
                      </a:r>
                      <a:r>
                        <a:rPr lang="en-SE" noProof="0" dirty="0" err="1"/>
                        <a:t>rkflow</a:t>
                      </a:r>
                      <a:r>
                        <a:rPr lang="en-SE" noProof="0" dirty="0"/>
                        <a:t> II</a:t>
                      </a:r>
                      <a:endParaRPr lang="en-US" noProof="0" dirty="0"/>
                    </a:p>
                  </a:txBody>
                  <a:tcPr/>
                </a:tc>
                <a:tc>
                  <a:txBody>
                    <a:bodyPr/>
                    <a:lstStyle/>
                    <a:p>
                      <a:r>
                        <a:rPr lang="en-SE" noProof="0" dirty="0"/>
                        <a:t>15:15-15:45</a:t>
                      </a:r>
                      <a:endParaRPr lang="en-US" noProof="0" dirty="0"/>
                    </a:p>
                  </a:txBody>
                  <a:tcPr/>
                </a:tc>
                <a:tc>
                  <a:txBody>
                    <a:bodyPr/>
                    <a:lstStyle/>
                    <a:p>
                      <a:r>
                        <a:rPr lang="en-SE" noProof="0" dirty="0"/>
                        <a:t>Advanced Bayesian workflow with non-normal data</a:t>
                      </a:r>
                      <a:endParaRPr lang="en-US" noProof="0" dirty="0"/>
                    </a:p>
                  </a:txBody>
                  <a:tcPr/>
                </a:tc>
                <a:extLst>
                  <a:ext uri="{0D108BD9-81ED-4DB2-BD59-A6C34878D82A}">
                    <a16:rowId xmlns:a16="http://schemas.microsoft.com/office/drawing/2014/main" val="2627496988"/>
                  </a:ext>
                </a:extLst>
              </a:tr>
              <a:tr h="370840">
                <a:tc>
                  <a:txBody>
                    <a:bodyPr/>
                    <a:lstStyle/>
                    <a:p>
                      <a:r>
                        <a:rPr lang="en-SE" noProof="0" dirty="0"/>
                        <a:t>Learning Path</a:t>
                      </a:r>
                      <a:endParaRPr lang="en-US" noProof="0" dirty="0"/>
                    </a:p>
                  </a:txBody>
                  <a:tcPr/>
                </a:tc>
                <a:tc>
                  <a:txBody>
                    <a:bodyPr/>
                    <a:lstStyle/>
                    <a:p>
                      <a:r>
                        <a:rPr lang="en-SE" noProof="0" dirty="0"/>
                        <a:t>15:45-16:00</a:t>
                      </a:r>
                      <a:endParaRPr lang="en-US" noProof="0" dirty="0"/>
                    </a:p>
                  </a:txBody>
                  <a:tcPr/>
                </a:tc>
                <a:tc>
                  <a:txBody>
                    <a:bodyPr/>
                    <a:lstStyle/>
                    <a:p>
                      <a:r>
                        <a:rPr lang="en-SE" noProof="0" dirty="0"/>
                        <a:t>Advice for the Bayesian journey</a:t>
                      </a:r>
                      <a:endParaRPr lang="en-US" noProof="0" dirty="0"/>
                    </a:p>
                  </a:txBody>
                  <a:tcPr/>
                </a:tc>
                <a:extLst>
                  <a:ext uri="{0D108BD9-81ED-4DB2-BD59-A6C34878D82A}">
                    <a16:rowId xmlns:a16="http://schemas.microsoft.com/office/drawing/2014/main" val="540603620"/>
                  </a:ext>
                </a:extLst>
              </a:tr>
              <a:tr h="370840">
                <a:tc>
                  <a:txBody>
                    <a:bodyPr/>
                    <a:lstStyle/>
                    <a:p>
                      <a:r>
                        <a:rPr lang="en-US" noProof="0" dirty="0"/>
                        <a:t>Feedback</a:t>
                      </a:r>
                    </a:p>
                  </a:txBody>
                  <a:tcPr/>
                </a:tc>
                <a:tc>
                  <a:txBody>
                    <a:bodyPr/>
                    <a:lstStyle/>
                    <a:p>
                      <a:r>
                        <a:rPr lang="en-SE" noProof="0" dirty="0"/>
                        <a:t>16:00-16:30</a:t>
                      </a:r>
                      <a:endParaRPr lang="en-US" noProof="0" dirty="0"/>
                    </a:p>
                  </a:txBody>
                  <a:tcPr/>
                </a:tc>
                <a:tc>
                  <a:txBody>
                    <a:bodyPr/>
                    <a:lstStyle/>
                    <a:p>
                      <a:r>
                        <a:rPr lang="en-US" noProof="0" dirty="0"/>
                        <a:t>Reflection, discussion, and closing</a:t>
                      </a:r>
                    </a:p>
                  </a:txBody>
                  <a:tcPr/>
                </a:tc>
                <a:extLst>
                  <a:ext uri="{0D108BD9-81ED-4DB2-BD59-A6C34878D82A}">
                    <a16:rowId xmlns:a16="http://schemas.microsoft.com/office/drawing/2014/main" val="1514719542"/>
                  </a:ext>
                </a:extLst>
              </a:tr>
            </a:tbl>
          </a:graphicData>
        </a:graphic>
      </p:graphicFrame>
      <p:sp>
        <p:nvSpPr>
          <p:cNvPr id="3" name="Footer Placeholder 2">
            <a:extLst>
              <a:ext uri="{FF2B5EF4-FFF2-40B4-BE49-F238E27FC236}">
                <a16:creationId xmlns:a16="http://schemas.microsoft.com/office/drawing/2014/main" id="{03E14DDC-4ADD-F72E-5ED8-92E2E3DEE1E2}"/>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2512392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81E41D2-7DD9-A35A-103D-D755D6BC983A}"/>
              </a:ext>
            </a:extLst>
          </p:cNvPr>
          <p:cNvSpPr>
            <a:spLocks noGrp="1"/>
          </p:cNvSpPr>
          <p:nvPr>
            <p:ph type="title"/>
          </p:nvPr>
        </p:nvSpPr>
        <p:spPr/>
        <p:txBody>
          <a:bodyPr/>
          <a:lstStyle/>
          <a:p>
            <a:r>
              <a:rPr lang="en-US" noProof="0" dirty="0"/>
              <a:t>Motivation and Goals</a:t>
            </a:r>
          </a:p>
        </p:txBody>
      </p:sp>
      <p:sp>
        <p:nvSpPr>
          <p:cNvPr id="7" name="Text Placeholder 6">
            <a:extLst>
              <a:ext uri="{FF2B5EF4-FFF2-40B4-BE49-F238E27FC236}">
                <a16:creationId xmlns:a16="http://schemas.microsoft.com/office/drawing/2014/main" id="{7E592BEB-4EBB-0AEE-E913-1A16DB477841}"/>
              </a:ext>
            </a:extLst>
          </p:cNvPr>
          <p:cNvSpPr>
            <a:spLocks noGrp="1"/>
          </p:cNvSpPr>
          <p:nvPr>
            <p:ph type="body" idx="1"/>
          </p:nvPr>
        </p:nvSpPr>
        <p:spPr/>
        <p:txBody>
          <a:bodyPr/>
          <a:lstStyle/>
          <a:p>
            <a:endParaRPr lang="en-US" noProof="0" dirty="0"/>
          </a:p>
        </p:txBody>
      </p:sp>
      <p:sp>
        <p:nvSpPr>
          <p:cNvPr id="4" name="Date Placeholder 3">
            <a:extLst>
              <a:ext uri="{FF2B5EF4-FFF2-40B4-BE49-F238E27FC236}">
                <a16:creationId xmlns:a16="http://schemas.microsoft.com/office/drawing/2014/main" id="{F1657F16-3540-9271-6BE1-31E0E2568053}"/>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C58CFE71-C488-8416-BAE1-0CC7A06FB2B8}"/>
              </a:ext>
            </a:extLst>
          </p:cNvPr>
          <p:cNvSpPr>
            <a:spLocks noGrp="1"/>
          </p:cNvSpPr>
          <p:nvPr>
            <p:ph type="sldNum" sz="quarter" idx="12"/>
          </p:nvPr>
        </p:nvSpPr>
        <p:spPr/>
        <p:txBody>
          <a:bodyPr/>
          <a:lstStyle/>
          <a:p>
            <a:fld id="{271ECC92-9CDE-4EB3-B1C5-F46B9E1FA3C1}" type="slidenum">
              <a:rPr lang="en-US" noProof="0" smtClean="0"/>
              <a:t>5</a:t>
            </a:fld>
            <a:endParaRPr lang="en-US" noProof="0" dirty="0"/>
          </a:p>
        </p:txBody>
      </p:sp>
      <p:sp>
        <p:nvSpPr>
          <p:cNvPr id="2" name="Footer Placeholder 1">
            <a:extLst>
              <a:ext uri="{FF2B5EF4-FFF2-40B4-BE49-F238E27FC236}">
                <a16:creationId xmlns:a16="http://schemas.microsoft.com/office/drawing/2014/main" id="{875DF5DE-7FCB-7B3D-7B42-7AF575E676E9}"/>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2912893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C3F94BC3-E658-C168-9952-C7F8F3A84850}"/>
              </a:ext>
            </a:extLst>
          </p:cNvPr>
          <p:cNvCxnSpPr/>
          <p:nvPr/>
        </p:nvCxnSpPr>
        <p:spPr>
          <a:xfrm>
            <a:off x="1502979" y="4581197"/>
            <a:ext cx="9186041" cy="0"/>
          </a:xfrm>
          <a:prstGeom prst="line">
            <a:avLst/>
          </a:prstGeom>
          <a:ln>
            <a:solidFill>
              <a:schemeClr val="bg1">
                <a:lumMod val="75000"/>
              </a:schemeClr>
            </a:solidFill>
            <a:prstDash val="sysDash"/>
          </a:ln>
        </p:spPr>
        <p:style>
          <a:lnRef idx="2">
            <a:schemeClr val="accent1"/>
          </a:lnRef>
          <a:fillRef idx="0">
            <a:schemeClr val="accent1"/>
          </a:fillRef>
          <a:effectRef idx="1">
            <a:schemeClr val="accent1"/>
          </a:effectRef>
          <a:fontRef idx="minor">
            <a:schemeClr val="tx1"/>
          </a:fontRef>
        </p:style>
      </p:cxnSp>
      <p:sp>
        <p:nvSpPr>
          <p:cNvPr id="7" name="Title 6">
            <a:extLst>
              <a:ext uri="{FF2B5EF4-FFF2-40B4-BE49-F238E27FC236}">
                <a16:creationId xmlns:a16="http://schemas.microsoft.com/office/drawing/2014/main" id="{631C72A9-EAE2-62D8-DA2C-4F3AA1F72709}"/>
              </a:ext>
            </a:extLst>
          </p:cNvPr>
          <p:cNvSpPr>
            <a:spLocks noGrp="1"/>
          </p:cNvSpPr>
          <p:nvPr>
            <p:ph type="title"/>
          </p:nvPr>
        </p:nvSpPr>
        <p:spPr/>
        <p:txBody>
          <a:bodyPr/>
          <a:lstStyle/>
          <a:p>
            <a:r>
              <a:rPr lang="en-SE" dirty="0"/>
              <a:t>Good Science</a:t>
            </a:r>
          </a:p>
        </p:txBody>
      </p:sp>
      <p:sp>
        <p:nvSpPr>
          <p:cNvPr id="8" name="Content Placeholder 7">
            <a:extLst>
              <a:ext uri="{FF2B5EF4-FFF2-40B4-BE49-F238E27FC236}">
                <a16:creationId xmlns:a16="http://schemas.microsoft.com/office/drawing/2014/main" id="{28A46E9A-A36A-C529-4CFC-3E470683245A}"/>
              </a:ext>
            </a:extLst>
          </p:cNvPr>
          <p:cNvSpPr>
            <a:spLocks noGrp="1"/>
          </p:cNvSpPr>
          <p:nvPr>
            <p:ph idx="1"/>
          </p:nvPr>
        </p:nvSpPr>
        <p:spPr>
          <a:xfrm>
            <a:off x="838200" y="1825625"/>
            <a:ext cx="10515600" cy="1325563"/>
          </a:xfrm>
        </p:spPr>
        <p:txBody>
          <a:bodyPr/>
          <a:lstStyle/>
          <a:p>
            <a:pPr marL="0" indent="0">
              <a:buNone/>
            </a:pPr>
            <a:r>
              <a:rPr lang="en-SE" dirty="0"/>
              <a:t>If we strive to </a:t>
            </a:r>
            <a:r>
              <a:rPr lang="en-SE" i="1" dirty="0"/>
              <a:t>do good science</a:t>
            </a:r>
            <a:r>
              <a:rPr lang="en-SE" dirty="0"/>
              <a:t>, we aim for </a:t>
            </a:r>
            <a:r>
              <a:rPr lang="en-SE" b="1" dirty="0"/>
              <a:t>rigorous </a:t>
            </a:r>
            <a:r>
              <a:rPr lang="en-SE" dirty="0"/>
              <a:t>and </a:t>
            </a:r>
            <a:r>
              <a:rPr lang="en-SE" b="1" dirty="0"/>
              <a:t>relevant</a:t>
            </a:r>
            <a:r>
              <a:rPr lang="en-SE" dirty="0"/>
              <a:t> empirical research contributions, where a rigorous contribution is a </a:t>
            </a:r>
            <a:r>
              <a:rPr lang="en-SE" b="1" dirty="0"/>
              <a:t>valid </a:t>
            </a:r>
            <a:r>
              <a:rPr lang="en-SE" dirty="0"/>
              <a:t>contribution.</a:t>
            </a:r>
          </a:p>
        </p:txBody>
      </p:sp>
      <p:sp>
        <p:nvSpPr>
          <p:cNvPr id="4" name="Date Placeholder 3">
            <a:extLst>
              <a:ext uri="{FF2B5EF4-FFF2-40B4-BE49-F238E27FC236}">
                <a16:creationId xmlns:a16="http://schemas.microsoft.com/office/drawing/2014/main" id="{6BE051C5-BC9A-28F8-2650-CD434FB66F36}"/>
              </a:ext>
            </a:extLst>
          </p:cNvPr>
          <p:cNvSpPr>
            <a:spLocks noGrp="1"/>
          </p:cNvSpPr>
          <p:nvPr>
            <p:ph type="dt" sz="half" idx="10"/>
          </p:nvPr>
        </p:nvSpPr>
        <p:spPr/>
        <p:txBody>
          <a:bodyPr/>
          <a:lstStyle/>
          <a:p>
            <a:r>
              <a:rPr lang="en-SE"/>
              <a:t>2026-08-17</a:t>
            </a:r>
            <a:endParaRPr lang="en-SE" dirty="0"/>
          </a:p>
        </p:txBody>
      </p:sp>
      <p:sp>
        <p:nvSpPr>
          <p:cNvPr id="5" name="Footer Placeholder 4">
            <a:extLst>
              <a:ext uri="{FF2B5EF4-FFF2-40B4-BE49-F238E27FC236}">
                <a16:creationId xmlns:a16="http://schemas.microsoft.com/office/drawing/2014/main" id="{91D229EE-70A4-C7FB-F6A5-E1D526562ADB}"/>
              </a:ext>
            </a:extLst>
          </p:cNvPr>
          <p:cNvSpPr>
            <a:spLocks noGrp="1"/>
          </p:cNvSpPr>
          <p:nvPr>
            <p:ph type="ftr" sz="quarter" idx="11"/>
          </p:nvPr>
        </p:nvSpPr>
        <p:spPr/>
        <p:txBody>
          <a:bodyPr/>
          <a:lstStyle/>
          <a:p>
            <a:r>
              <a:rPr lang="de-DE"/>
              <a:t>Bayesian Data Analysis Tutorial</a:t>
            </a:r>
            <a:endParaRPr lang="en-SE" dirty="0"/>
          </a:p>
        </p:txBody>
      </p:sp>
      <p:sp>
        <p:nvSpPr>
          <p:cNvPr id="6" name="Slide Number Placeholder 5">
            <a:extLst>
              <a:ext uri="{FF2B5EF4-FFF2-40B4-BE49-F238E27FC236}">
                <a16:creationId xmlns:a16="http://schemas.microsoft.com/office/drawing/2014/main" id="{56BBCFFC-4D57-BBD0-BC44-3E7C11AADB70}"/>
              </a:ext>
            </a:extLst>
          </p:cNvPr>
          <p:cNvSpPr>
            <a:spLocks noGrp="1"/>
          </p:cNvSpPr>
          <p:nvPr>
            <p:ph type="sldNum" sz="quarter" idx="12"/>
          </p:nvPr>
        </p:nvSpPr>
        <p:spPr/>
        <p:txBody>
          <a:bodyPr/>
          <a:lstStyle/>
          <a:p>
            <a:fld id="{271ECC92-9CDE-4EB3-B1C5-F46B9E1FA3C1}" type="slidenum">
              <a:rPr lang="en-SE" smtClean="0"/>
              <a:t>6</a:t>
            </a:fld>
            <a:endParaRPr lang="en-SE"/>
          </a:p>
        </p:txBody>
      </p:sp>
      <p:sp>
        <p:nvSpPr>
          <p:cNvPr id="9" name="Rectangle 8">
            <a:extLst>
              <a:ext uri="{FF2B5EF4-FFF2-40B4-BE49-F238E27FC236}">
                <a16:creationId xmlns:a16="http://schemas.microsoft.com/office/drawing/2014/main" id="{C685D351-6DFB-4B4D-290E-25934C7EB0AD}"/>
              </a:ext>
            </a:extLst>
          </p:cNvPr>
          <p:cNvSpPr/>
          <p:nvPr/>
        </p:nvSpPr>
        <p:spPr>
          <a:xfrm>
            <a:off x="3192517" y="3326196"/>
            <a:ext cx="1692166" cy="56493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t>Cause Construct</a:t>
            </a:r>
          </a:p>
        </p:txBody>
      </p:sp>
      <p:sp>
        <p:nvSpPr>
          <p:cNvPr id="11" name="Rectangle 10">
            <a:extLst>
              <a:ext uri="{FF2B5EF4-FFF2-40B4-BE49-F238E27FC236}">
                <a16:creationId xmlns:a16="http://schemas.microsoft.com/office/drawing/2014/main" id="{C8535DF8-A560-184A-BD9B-4AA617695672}"/>
              </a:ext>
            </a:extLst>
          </p:cNvPr>
          <p:cNvSpPr/>
          <p:nvPr/>
        </p:nvSpPr>
        <p:spPr>
          <a:xfrm>
            <a:off x="3192517" y="5322778"/>
            <a:ext cx="1692166" cy="564931"/>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t>Cause Indicator</a:t>
            </a:r>
          </a:p>
        </p:txBody>
      </p:sp>
      <p:sp>
        <p:nvSpPr>
          <p:cNvPr id="13" name="Rectangle 12">
            <a:extLst>
              <a:ext uri="{FF2B5EF4-FFF2-40B4-BE49-F238E27FC236}">
                <a16:creationId xmlns:a16="http://schemas.microsoft.com/office/drawing/2014/main" id="{A33A03C2-4686-149D-2017-08DC5C09ACB7}"/>
              </a:ext>
            </a:extLst>
          </p:cNvPr>
          <p:cNvSpPr/>
          <p:nvPr/>
        </p:nvSpPr>
        <p:spPr>
          <a:xfrm>
            <a:off x="7065580" y="3326195"/>
            <a:ext cx="1692166" cy="564931"/>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t>Effect Construct</a:t>
            </a:r>
          </a:p>
        </p:txBody>
      </p:sp>
      <p:sp>
        <p:nvSpPr>
          <p:cNvPr id="15" name="Rectangle 14">
            <a:extLst>
              <a:ext uri="{FF2B5EF4-FFF2-40B4-BE49-F238E27FC236}">
                <a16:creationId xmlns:a16="http://schemas.microsoft.com/office/drawing/2014/main" id="{EE8478F5-C048-E3FE-8F90-BDC600BBFC55}"/>
              </a:ext>
            </a:extLst>
          </p:cNvPr>
          <p:cNvSpPr/>
          <p:nvPr/>
        </p:nvSpPr>
        <p:spPr>
          <a:xfrm>
            <a:off x="7065580" y="5322778"/>
            <a:ext cx="1692166" cy="564931"/>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t>Effect Indicator</a:t>
            </a:r>
          </a:p>
        </p:txBody>
      </p:sp>
      <p:cxnSp>
        <p:nvCxnSpPr>
          <p:cNvPr id="17" name="Straight Arrow Connector 16">
            <a:extLst>
              <a:ext uri="{FF2B5EF4-FFF2-40B4-BE49-F238E27FC236}">
                <a16:creationId xmlns:a16="http://schemas.microsoft.com/office/drawing/2014/main" id="{586A57E4-CBFE-F52F-9A7D-E1C1D653286E}"/>
              </a:ext>
            </a:extLst>
          </p:cNvPr>
          <p:cNvCxnSpPr>
            <a:stCxn id="9" idx="2"/>
            <a:endCxn id="11" idx="0"/>
          </p:cNvCxnSpPr>
          <p:nvPr/>
        </p:nvCxnSpPr>
        <p:spPr>
          <a:xfrm>
            <a:off x="4038600" y="3891127"/>
            <a:ext cx="0" cy="1431651"/>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28F97EA-0F22-2FD9-4807-582D54E7EA0F}"/>
              </a:ext>
            </a:extLst>
          </p:cNvPr>
          <p:cNvCxnSpPr>
            <a:cxnSpLocks/>
            <a:stCxn id="13" idx="2"/>
            <a:endCxn id="15" idx="0"/>
          </p:cNvCxnSpPr>
          <p:nvPr/>
        </p:nvCxnSpPr>
        <p:spPr>
          <a:xfrm>
            <a:off x="7911663" y="3891126"/>
            <a:ext cx="0" cy="1431652"/>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26BECACD-D6C2-C8C6-0DF4-5DC799666602}"/>
              </a:ext>
            </a:extLst>
          </p:cNvPr>
          <p:cNvSpPr txBox="1"/>
          <p:nvPr/>
        </p:nvSpPr>
        <p:spPr>
          <a:xfrm rot="16200000">
            <a:off x="3196927" y="4481100"/>
            <a:ext cx="1406350" cy="276999"/>
          </a:xfrm>
          <a:prstGeom prst="rect">
            <a:avLst/>
          </a:prstGeom>
          <a:noFill/>
        </p:spPr>
        <p:txBody>
          <a:bodyPr wrap="square" rtlCol="0">
            <a:spAutoFit/>
          </a:bodyPr>
          <a:lstStyle/>
          <a:p>
            <a:pPr algn="ctr"/>
            <a:r>
              <a:rPr lang="de-DE" sz="1200" dirty="0" err="1"/>
              <a:t>operationalized</a:t>
            </a:r>
            <a:r>
              <a:rPr lang="en-SE" sz="1200" dirty="0"/>
              <a:t> as</a:t>
            </a:r>
          </a:p>
        </p:txBody>
      </p:sp>
      <p:sp>
        <p:nvSpPr>
          <p:cNvPr id="25" name="TextBox 24">
            <a:extLst>
              <a:ext uri="{FF2B5EF4-FFF2-40B4-BE49-F238E27FC236}">
                <a16:creationId xmlns:a16="http://schemas.microsoft.com/office/drawing/2014/main" id="{C43FB5A7-12DE-58C2-560A-E27E8694B370}"/>
              </a:ext>
            </a:extLst>
          </p:cNvPr>
          <p:cNvSpPr txBox="1"/>
          <p:nvPr/>
        </p:nvSpPr>
        <p:spPr>
          <a:xfrm rot="16200000">
            <a:off x="7057340" y="4468451"/>
            <a:ext cx="1431650" cy="276999"/>
          </a:xfrm>
          <a:prstGeom prst="rect">
            <a:avLst/>
          </a:prstGeom>
          <a:noFill/>
        </p:spPr>
        <p:txBody>
          <a:bodyPr wrap="square" rtlCol="0">
            <a:spAutoFit/>
          </a:bodyPr>
          <a:lstStyle/>
          <a:p>
            <a:pPr algn="ctr"/>
            <a:r>
              <a:rPr lang="de-DE" sz="1200" dirty="0" err="1"/>
              <a:t>operationalized</a:t>
            </a:r>
            <a:r>
              <a:rPr lang="en-SE" sz="1200" dirty="0"/>
              <a:t> as</a:t>
            </a:r>
          </a:p>
        </p:txBody>
      </p:sp>
      <p:cxnSp>
        <p:nvCxnSpPr>
          <p:cNvPr id="29" name="Straight Arrow Connector 28">
            <a:extLst>
              <a:ext uri="{FF2B5EF4-FFF2-40B4-BE49-F238E27FC236}">
                <a16:creationId xmlns:a16="http://schemas.microsoft.com/office/drawing/2014/main" id="{4B68B51C-D904-D60D-9405-AD086ECB152E}"/>
              </a:ext>
            </a:extLst>
          </p:cNvPr>
          <p:cNvCxnSpPr>
            <a:stCxn id="9" idx="3"/>
            <a:endCxn id="13" idx="1"/>
          </p:cNvCxnSpPr>
          <p:nvPr/>
        </p:nvCxnSpPr>
        <p:spPr>
          <a:xfrm flipV="1">
            <a:off x="4884683" y="3608661"/>
            <a:ext cx="2180897"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0" name="TextBox 29">
            <a:extLst>
              <a:ext uri="{FF2B5EF4-FFF2-40B4-BE49-F238E27FC236}">
                <a16:creationId xmlns:a16="http://schemas.microsoft.com/office/drawing/2014/main" id="{E247F8B6-B633-C39E-AA0A-690EB1AEB62F}"/>
              </a:ext>
            </a:extLst>
          </p:cNvPr>
          <p:cNvSpPr txBox="1"/>
          <p:nvPr/>
        </p:nvSpPr>
        <p:spPr>
          <a:xfrm>
            <a:off x="5566558" y="3276098"/>
            <a:ext cx="817147" cy="307777"/>
          </a:xfrm>
          <a:prstGeom prst="rect">
            <a:avLst/>
          </a:prstGeom>
          <a:noFill/>
        </p:spPr>
        <p:txBody>
          <a:bodyPr wrap="none" rtlCol="0">
            <a:spAutoFit/>
          </a:bodyPr>
          <a:lstStyle/>
          <a:p>
            <a:pPr algn="ctr"/>
            <a:r>
              <a:rPr lang="en-SE" sz="1400" dirty="0"/>
              <a:t>impacts</a:t>
            </a:r>
          </a:p>
        </p:txBody>
      </p:sp>
      <p:cxnSp>
        <p:nvCxnSpPr>
          <p:cNvPr id="31" name="Straight Arrow Connector 30">
            <a:extLst>
              <a:ext uri="{FF2B5EF4-FFF2-40B4-BE49-F238E27FC236}">
                <a16:creationId xmlns:a16="http://schemas.microsoft.com/office/drawing/2014/main" id="{76335762-B581-C412-041B-A408F7DD5561}"/>
              </a:ext>
            </a:extLst>
          </p:cNvPr>
          <p:cNvCxnSpPr>
            <a:cxnSpLocks/>
            <a:stCxn id="11" idx="3"/>
            <a:endCxn id="15" idx="1"/>
          </p:cNvCxnSpPr>
          <p:nvPr/>
        </p:nvCxnSpPr>
        <p:spPr>
          <a:xfrm>
            <a:off x="4884683" y="5605244"/>
            <a:ext cx="218089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73F4B2B4-F234-ECE7-0312-9BB50C0817DB}"/>
              </a:ext>
            </a:extLst>
          </p:cNvPr>
          <p:cNvSpPr txBox="1"/>
          <p:nvPr/>
        </p:nvSpPr>
        <p:spPr>
          <a:xfrm>
            <a:off x="5566558" y="5273664"/>
            <a:ext cx="817147" cy="307777"/>
          </a:xfrm>
          <a:prstGeom prst="rect">
            <a:avLst/>
          </a:prstGeom>
          <a:noFill/>
        </p:spPr>
        <p:txBody>
          <a:bodyPr wrap="none" rtlCol="0">
            <a:spAutoFit/>
          </a:bodyPr>
          <a:lstStyle/>
          <a:p>
            <a:pPr algn="ctr"/>
            <a:r>
              <a:rPr lang="en-SE" sz="1400" dirty="0"/>
              <a:t>impacts</a:t>
            </a:r>
          </a:p>
        </p:txBody>
      </p:sp>
      <p:sp>
        <p:nvSpPr>
          <p:cNvPr id="37" name="TextBox 36">
            <a:extLst>
              <a:ext uri="{FF2B5EF4-FFF2-40B4-BE49-F238E27FC236}">
                <a16:creationId xmlns:a16="http://schemas.microsoft.com/office/drawing/2014/main" id="{27441FF2-BE80-85FE-D189-3285497353E3}"/>
              </a:ext>
            </a:extLst>
          </p:cNvPr>
          <p:cNvSpPr txBox="1"/>
          <p:nvPr/>
        </p:nvSpPr>
        <p:spPr>
          <a:xfrm>
            <a:off x="838198" y="6012722"/>
            <a:ext cx="3930869" cy="338554"/>
          </a:xfrm>
          <a:prstGeom prst="rect">
            <a:avLst/>
          </a:prstGeom>
          <a:noFill/>
        </p:spPr>
        <p:txBody>
          <a:bodyPr wrap="square">
            <a:spAutoFit/>
          </a:bodyPr>
          <a:lstStyle/>
          <a:p>
            <a:pPr>
              <a:buNone/>
            </a:pPr>
            <a:r>
              <a:rPr lang="en-SE" sz="800" dirty="0" err="1"/>
              <a:t>Wohlin</a:t>
            </a:r>
            <a:r>
              <a:rPr lang="en-SE" sz="800" dirty="0"/>
              <a:t>, C., Runeson, P., </a:t>
            </a:r>
            <a:r>
              <a:rPr lang="en-SE" sz="800" dirty="0" err="1"/>
              <a:t>Höst</a:t>
            </a:r>
            <a:r>
              <a:rPr lang="en-SE" sz="800" dirty="0"/>
              <a:t>, M., Ohlsson, M. C., Regnell, B., &amp; </a:t>
            </a:r>
            <a:r>
              <a:rPr lang="en-SE" sz="800" dirty="0" err="1"/>
              <a:t>Wesslén</a:t>
            </a:r>
            <a:r>
              <a:rPr lang="en-SE" sz="800" dirty="0"/>
              <a:t>, A. (2012). Experimentation in software engineering (Vol. 236, p. P3). Berlin: Springer.</a:t>
            </a:r>
          </a:p>
        </p:txBody>
      </p:sp>
      <p:sp>
        <p:nvSpPr>
          <p:cNvPr id="39" name="TextBox 38">
            <a:extLst>
              <a:ext uri="{FF2B5EF4-FFF2-40B4-BE49-F238E27FC236}">
                <a16:creationId xmlns:a16="http://schemas.microsoft.com/office/drawing/2014/main" id="{9C85429A-77A9-8D85-7AAA-1A1C635E988B}"/>
              </a:ext>
            </a:extLst>
          </p:cNvPr>
          <p:cNvSpPr txBox="1"/>
          <p:nvPr/>
        </p:nvSpPr>
        <p:spPr>
          <a:xfrm>
            <a:off x="1502979" y="4218973"/>
            <a:ext cx="782458" cy="338554"/>
          </a:xfrm>
          <a:prstGeom prst="rect">
            <a:avLst/>
          </a:prstGeom>
          <a:noFill/>
        </p:spPr>
        <p:txBody>
          <a:bodyPr wrap="none" rtlCol="0">
            <a:spAutoFit/>
          </a:bodyPr>
          <a:lstStyle/>
          <a:p>
            <a:r>
              <a:rPr lang="en-SE" sz="1600" dirty="0">
                <a:solidFill>
                  <a:schemeClr val="tx1">
                    <a:lumMod val="50000"/>
                    <a:lumOff val="50000"/>
                  </a:schemeClr>
                </a:solidFill>
              </a:rPr>
              <a:t>Theory</a:t>
            </a:r>
          </a:p>
        </p:txBody>
      </p:sp>
      <p:sp>
        <p:nvSpPr>
          <p:cNvPr id="41" name="TextBox 40">
            <a:extLst>
              <a:ext uri="{FF2B5EF4-FFF2-40B4-BE49-F238E27FC236}">
                <a16:creationId xmlns:a16="http://schemas.microsoft.com/office/drawing/2014/main" id="{2F939EB3-0AB8-E283-95D1-1586B886896B}"/>
              </a:ext>
            </a:extLst>
          </p:cNvPr>
          <p:cNvSpPr txBox="1"/>
          <p:nvPr/>
        </p:nvSpPr>
        <p:spPr>
          <a:xfrm>
            <a:off x="1502979" y="4557527"/>
            <a:ext cx="1272080" cy="338554"/>
          </a:xfrm>
          <a:prstGeom prst="rect">
            <a:avLst/>
          </a:prstGeom>
          <a:noFill/>
        </p:spPr>
        <p:txBody>
          <a:bodyPr wrap="none" rtlCol="0">
            <a:spAutoFit/>
          </a:bodyPr>
          <a:lstStyle/>
          <a:p>
            <a:r>
              <a:rPr lang="en-SE" sz="1600" dirty="0">
                <a:solidFill>
                  <a:schemeClr val="tx1">
                    <a:lumMod val="50000"/>
                    <a:lumOff val="50000"/>
                  </a:schemeClr>
                </a:solidFill>
              </a:rPr>
              <a:t>Observation</a:t>
            </a:r>
          </a:p>
        </p:txBody>
      </p:sp>
      <p:sp>
        <p:nvSpPr>
          <p:cNvPr id="3" name="Rectangle 2">
            <a:extLst>
              <a:ext uri="{FF2B5EF4-FFF2-40B4-BE49-F238E27FC236}">
                <a16:creationId xmlns:a16="http://schemas.microsoft.com/office/drawing/2014/main" id="{04F895C2-ADC4-97D8-E600-15D4A01D4CEE}"/>
              </a:ext>
            </a:extLst>
          </p:cNvPr>
          <p:cNvSpPr/>
          <p:nvPr/>
        </p:nvSpPr>
        <p:spPr>
          <a:xfrm>
            <a:off x="5123782" y="3948934"/>
            <a:ext cx="1692166" cy="56493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t>Moderator</a:t>
            </a:r>
          </a:p>
        </p:txBody>
      </p:sp>
      <p:cxnSp>
        <p:nvCxnSpPr>
          <p:cNvPr id="10" name="Straight Arrow Connector 9">
            <a:extLst>
              <a:ext uri="{FF2B5EF4-FFF2-40B4-BE49-F238E27FC236}">
                <a16:creationId xmlns:a16="http://schemas.microsoft.com/office/drawing/2014/main" id="{94C73575-CD53-446A-04CF-8ADF0B0F0C38}"/>
              </a:ext>
            </a:extLst>
          </p:cNvPr>
          <p:cNvCxnSpPr>
            <a:cxnSpLocks/>
            <a:stCxn id="3" idx="0"/>
          </p:cNvCxnSpPr>
          <p:nvPr/>
        </p:nvCxnSpPr>
        <p:spPr>
          <a:xfrm flipH="1" flipV="1">
            <a:off x="5969863" y="3628715"/>
            <a:ext cx="2" cy="3202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0BD57880-385F-4056-850E-FA3FF42C1DF7}"/>
              </a:ext>
            </a:extLst>
          </p:cNvPr>
          <p:cNvSpPr txBox="1"/>
          <p:nvPr/>
        </p:nvSpPr>
        <p:spPr>
          <a:xfrm>
            <a:off x="5958587" y="3646231"/>
            <a:ext cx="817147" cy="307777"/>
          </a:xfrm>
          <a:prstGeom prst="rect">
            <a:avLst/>
          </a:prstGeom>
          <a:noFill/>
        </p:spPr>
        <p:txBody>
          <a:bodyPr wrap="none" rtlCol="0">
            <a:spAutoFit/>
          </a:bodyPr>
          <a:lstStyle/>
          <a:p>
            <a:r>
              <a:rPr lang="en-SE" sz="1400" dirty="0"/>
              <a:t>impacts</a:t>
            </a:r>
          </a:p>
        </p:txBody>
      </p:sp>
      <p:sp>
        <p:nvSpPr>
          <p:cNvPr id="42" name="Speech Bubble: Rectangle 41">
            <a:extLst>
              <a:ext uri="{FF2B5EF4-FFF2-40B4-BE49-F238E27FC236}">
                <a16:creationId xmlns:a16="http://schemas.microsoft.com/office/drawing/2014/main" id="{444D2C7A-2DEF-77C3-DEA6-2D66D4CFAD56}"/>
              </a:ext>
            </a:extLst>
          </p:cNvPr>
          <p:cNvSpPr/>
          <p:nvPr/>
        </p:nvSpPr>
        <p:spPr>
          <a:xfrm>
            <a:off x="1572928" y="3627164"/>
            <a:ext cx="1579375" cy="607775"/>
          </a:xfrm>
          <a:prstGeom prst="wedgeRectCallout">
            <a:avLst>
              <a:gd name="adj1" fmla="val 88505"/>
              <a:gd name="adj2" fmla="val 50292"/>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t>Construct Validity</a:t>
            </a:r>
          </a:p>
        </p:txBody>
      </p:sp>
      <p:sp>
        <p:nvSpPr>
          <p:cNvPr id="44" name="Speech Bubble: Rectangle 43">
            <a:extLst>
              <a:ext uri="{FF2B5EF4-FFF2-40B4-BE49-F238E27FC236}">
                <a16:creationId xmlns:a16="http://schemas.microsoft.com/office/drawing/2014/main" id="{1E777681-D89E-5D1A-7342-35903ACD21D0}"/>
              </a:ext>
            </a:extLst>
          </p:cNvPr>
          <p:cNvSpPr/>
          <p:nvPr/>
        </p:nvSpPr>
        <p:spPr>
          <a:xfrm>
            <a:off x="4769067" y="2829034"/>
            <a:ext cx="2522929" cy="429667"/>
          </a:xfrm>
          <a:prstGeom prst="wedgeRectCallout">
            <a:avLst>
              <a:gd name="adj1" fmla="val -29900"/>
              <a:gd name="adj2" fmla="val 112077"/>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t>Internal Validity</a:t>
            </a:r>
          </a:p>
        </p:txBody>
      </p:sp>
      <p:sp>
        <p:nvSpPr>
          <p:cNvPr id="46" name="Speech Bubble: Rectangle 45">
            <a:extLst>
              <a:ext uri="{FF2B5EF4-FFF2-40B4-BE49-F238E27FC236}">
                <a16:creationId xmlns:a16="http://schemas.microsoft.com/office/drawing/2014/main" id="{62A6A436-8061-833A-9097-E4C812C9C563}"/>
              </a:ext>
            </a:extLst>
          </p:cNvPr>
          <p:cNvSpPr/>
          <p:nvPr/>
        </p:nvSpPr>
        <p:spPr>
          <a:xfrm>
            <a:off x="4769067" y="5956891"/>
            <a:ext cx="2522929" cy="480430"/>
          </a:xfrm>
          <a:prstGeom prst="wedgeRectCallout">
            <a:avLst>
              <a:gd name="adj1" fmla="val -7363"/>
              <a:gd name="adj2" fmla="val -106870"/>
            </a:avLst>
          </a:prstGeom>
          <a:solidFill>
            <a:schemeClr val="bg2">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t>Conclusion Validity</a:t>
            </a:r>
          </a:p>
        </p:txBody>
      </p:sp>
      <p:sp>
        <p:nvSpPr>
          <p:cNvPr id="23" name="Speech Bubble: Rectangle 22">
            <a:extLst>
              <a:ext uri="{FF2B5EF4-FFF2-40B4-BE49-F238E27FC236}">
                <a16:creationId xmlns:a16="http://schemas.microsoft.com/office/drawing/2014/main" id="{68BD6D2F-8144-A006-5616-D72635D38D94}"/>
              </a:ext>
            </a:extLst>
          </p:cNvPr>
          <p:cNvSpPr/>
          <p:nvPr/>
        </p:nvSpPr>
        <p:spPr>
          <a:xfrm>
            <a:off x="4107844" y="4604423"/>
            <a:ext cx="1579375" cy="659280"/>
          </a:xfrm>
          <a:prstGeom prst="wedgeRectCallout">
            <a:avLst>
              <a:gd name="adj1" fmla="val 30005"/>
              <a:gd name="adj2" fmla="val -95629"/>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t>External Validity</a:t>
            </a:r>
          </a:p>
        </p:txBody>
      </p:sp>
    </p:spTree>
    <p:extLst>
      <p:ext uri="{BB962C8B-B14F-4D97-AF65-F5344CB8AC3E}">
        <p14:creationId xmlns:p14="http://schemas.microsoft.com/office/powerpoint/2010/main" val="1061730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21" grpId="0"/>
      <p:bldP spid="25" grpId="0"/>
      <p:bldP spid="30" grpId="0"/>
      <p:bldP spid="35" grpId="0"/>
      <p:bldP spid="39" grpId="0"/>
      <p:bldP spid="41" grpId="0"/>
      <p:bldP spid="3" grpId="0" animBg="1"/>
      <p:bldP spid="20" grpId="0"/>
      <p:bldP spid="42" grpId="0" animBg="1"/>
      <p:bldP spid="44" grpId="0" animBg="1"/>
      <p:bldP spid="46"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80809-90CD-498E-EF04-9530D44B4DB0}"/>
              </a:ext>
            </a:extLst>
          </p:cNvPr>
          <p:cNvSpPr>
            <a:spLocks noGrp="1"/>
          </p:cNvSpPr>
          <p:nvPr>
            <p:ph type="title"/>
          </p:nvPr>
        </p:nvSpPr>
        <p:spPr/>
        <p:txBody>
          <a:bodyPr/>
          <a:lstStyle/>
          <a:p>
            <a:r>
              <a:rPr lang="en-US" noProof="0" dirty="0"/>
              <a:t>Conclusion Validity</a:t>
            </a:r>
          </a:p>
        </p:txBody>
      </p:sp>
      <p:sp>
        <p:nvSpPr>
          <p:cNvPr id="3" name="Content Placeholder 2">
            <a:extLst>
              <a:ext uri="{FF2B5EF4-FFF2-40B4-BE49-F238E27FC236}">
                <a16:creationId xmlns:a16="http://schemas.microsoft.com/office/drawing/2014/main" id="{0693E3E5-C4BD-85DE-B981-2C6E3D7B3716}"/>
              </a:ext>
            </a:extLst>
          </p:cNvPr>
          <p:cNvSpPr>
            <a:spLocks noGrp="1"/>
          </p:cNvSpPr>
          <p:nvPr>
            <p:ph idx="1"/>
          </p:nvPr>
        </p:nvSpPr>
        <p:spPr>
          <a:xfrm>
            <a:off x="838200" y="1825625"/>
            <a:ext cx="10515600" cy="1500899"/>
          </a:xfrm>
        </p:spPr>
        <p:txBody>
          <a:bodyPr/>
          <a:lstStyle/>
          <a:p>
            <a:pPr marL="0" indent="0">
              <a:buNone/>
            </a:pPr>
            <a:r>
              <a:rPr lang="en-US" noProof="0" dirty="0"/>
              <a:t>Even if we have ensured the internal, external, and construct validity of our study in the </a:t>
            </a:r>
            <a:r>
              <a:rPr lang="en-US" i="1" noProof="0" dirty="0"/>
              <a:t>data collection phase</a:t>
            </a:r>
            <a:r>
              <a:rPr lang="en-US" noProof="0" dirty="0"/>
              <a:t>, we might still draw the wrong conclusions from it.</a:t>
            </a:r>
          </a:p>
        </p:txBody>
      </p:sp>
      <p:sp>
        <p:nvSpPr>
          <p:cNvPr id="4" name="Date Placeholder 3">
            <a:extLst>
              <a:ext uri="{FF2B5EF4-FFF2-40B4-BE49-F238E27FC236}">
                <a16:creationId xmlns:a16="http://schemas.microsoft.com/office/drawing/2014/main" id="{FF9D5E88-D62E-6473-6556-9644BCB6C447}"/>
              </a:ext>
            </a:extLst>
          </p:cNvPr>
          <p:cNvSpPr>
            <a:spLocks noGrp="1"/>
          </p:cNvSpPr>
          <p:nvPr>
            <p:ph type="dt" sz="half" idx="10"/>
          </p:nvPr>
        </p:nvSpPr>
        <p:spPr/>
        <p:txBody>
          <a:bodyPr/>
          <a:lstStyle/>
          <a:p>
            <a:r>
              <a:rPr lang="en-SE" noProof="0"/>
              <a:t>2026-08-17</a:t>
            </a:r>
            <a:endParaRPr lang="en-US" noProof="0" dirty="0"/>
          </a:p>
        </p:txBody>
      </p:sp>
      <p:sp>
        <p:nvSpPr>
          <p:cNvPr id="5" name="Footer Placeholder 4">
            <a:extLst>
              <a:ext uri="{FF2B5EF4-FFF2-40B4-BE49-F238E27FC236}">
                <a16:creationId xmlns:a16="http://schemas.microsoft.com/office/drawing/2014/main" id="{1B028F14-F213-1D32-6629-59DBB281852F}"/>
              </a:ext>
            </a:extLst>
          </p:cNvPr>
          <p:cNvSpPr>
            <a:spLocks noGrp="1"/>
          </p:cNvSpPr>
          <p:nvPr>
            <p:ph type="ftr" sz="quarter" idx="11"/>
          </p:nvPr>
        </p:nvSpPr>
        <p:spPr/>
        <p:txBody>
          <a:bodyPr/>
          <a:lstStyle/>
          <a:p>
            <a:r>
              <a:rPr lang="en-US" noProof="0"/>
              <a:t>Bayesian Data Analysis Tutorial</a:t>
            </a:r>
            <a:endParaRPr lang="en-US" noProof="0" dirty="0"/>
          </a:p>
        </p:txBody>
      </p:sp>
      <p:sp>
        <p:nvSpPr>
          <p:cNvPr id="6" name="Slide Number Placeholder 5">
            <a:extLst>
              <a:ext uri="{FF2B5EF4-FFF2-40B4-BE49-F238E27FC236}">
                <a16:creationId xmlns:a16="http://schemas.microsoft.com/office/drawing/2014/main" id="{E6144B5E-7A42-A214-C4E3-6746C1A00035}"/>
              </a:ext>
            </a:extLst>
          </p:cNvPr>
          <p:cNvSpPr>
            <a:spLocks noGrp="1"/>
          </p:cNvSpPr>
          <p:nvPr>
            <p:ph type="sldNum" sz="quarter" idx="12"/>
          </p:nvPr>
        </p:nvSpPr>
        <p:spPr/>
        <p:txBody>
          <a:bodyPr/>
          <a:lstStyle/>
          <a:p>
            <a:fld id="{271ECC92-9CDE-4EB3-B1C5-F46B9E1FA3C1}" type="slidenum">
              <a:rPr lang="en-US" noProof="0" smtClean="0"/>
              <a:t>7</a:t>
            </a:fld>
            <a:endParaRPr lang="en-US" noProof="0" dirty="0"/>
          </a:p>
        </p:txBody>
      </p:sp>
      <p:grpSp>
        <p:nvGrpSpPr>
          <p:cNvPr id="7" name="Group 6">
            <a:extLst>
              <a:ext uri="{FF2B5EF4-FFF2-40B4-BE49-F238E27FC236}">
                <a16:creationId xmlns:a16="http://schemas.microsoft.com/office/drawing/2014/main" id="{0816C3A9-4AF2-13FE-1341-3B97FB2A8680}"/>
              </a:ext>
            </a:extLst>
          </p:cNvPr>
          <p:cNvGrpSpPr/>
          <p:nvPr/>
        </p:nvGrpSpPr>
        <p:grpSpPr>
          <a:xfrm>
            <a:off x="1984711" y="3197106"/>
            <a:ext cx="8222578" cy="1958218"/>
            <a:chOff x="3108960" y="4454433"/>
            <a:chExt cx="8222578" cy="1958218"/>
          </a:xfrm>
        </p:grpSpPr>
        <p:sp>
          <p:nvSpPr>
            <p:cNvPr id="8" name="Rectangle: Rounded Corners 7">
              <a:extLst>
                <a:ext uri="{FF2B5EF4-FFF2-40B4-BE49-F238E27FC236}">
                  <a16:creationId xmlns:a16="http://schemas.microsoft.com/office/drawing/2014/main" id="{EF2B764D-8701-4CBC-F39F-CC0995A5E571}"/>
                </a:ext>
              </a:extLst>
            </p:cNvPr>
            <p:cNvSpPr/>
            <p:nvPr/>
          </p:nvSpPr>
          <p:spPr>
            <a:xfrm>
              <a:off x="3108960" y="4454433"/>
              <a:ext cx="8222578" cy="1958218"/>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2400" noProof="0" dirty="0">
                  <a:solidFill>
                    <a:schemeClr val="bg1"/>
                  </a:solidFill>
                </a:rPr>
                <a:t>Conclusion validity affects our “ability to draw the correct conclusion about relations between the treatment and the outcome of an experiment.”</a:t>
              </a:r>
              <a:endParaRPr lang="en-US" sz="2400" noProof="0" dirty="0"/>
            </a:p>
          </p:txBody>
        </p:sp>
        <p:pic>
          <p:nvPicPr>
            <p:cNvPr id="9" name="Graphic 8" descr="Open quotation mark with solid fill">
              <a:extLst>
                <a:ext uri="{FF2B5EF4-FFF2-40B4-BE49-F238E27FC236}">
                  <a16:creationId xmlns:a16="http://schemas.microsoft.com/office/drawing/2014/main" id="{AB403DCE-6BCC-76E6-3520-54815CDBB44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3124200" y="4454434"/>
              <a:ext cx="720000" cy="720000"/>
            </a:xfrm>
            <a:prstGeom prst="rect">
              <a:avLst/>
            </a:prstGeom>
          </p:spPr>
        </p:pic>
        <p:sp>
          <p:nvSpPr>
            <p:cNvPr id="10" name="TextBox 9">
              <a:extLst>
                <a:ext uri="{FF2B5EF4-FFF2-40B4-BE49-F238E27FC236}">
                  <a16:creationId xmlns:a16="http://schemas.microsoft.com/office/drawing/2014/main" id="{BA958910-ADD1-64FF-8923-D9CB55AF56F5}"/>
                </a:ext>
              </a:extLst>
            </p:cNvPr>
            <p:cNvSpPr txBox="1"/>
            <p:nvPr/>
          </p:nvSpPr>
          <p:spPr>
            <a:xfrm>
              <a:off x="3859440" y="4598333"/>
              <a:ext cx="7070049" cy="461665"/>
            </a:xfrm>
            <a:prstGeom prst="rect">
              <a:avLst/>
            </a:prstGeom>
            <a:noFill/>
          </p:spPr>
          <p:txBody>
            <a:bodyPr wrap="square">
              <a:spAutoFit/>
            </a:bodyPr>
            <a:lstStyle/>
            <a:p>
              <a:r>
                <a:rPr lang="en-US" sz="1200" noProof="0" dirty="0" err="1">
                  <a:solidFill>
                    <a:schemeClr val="bg1"/>
                  </a:solidFill>
                </a:rPr>
                <a:t>Wohlin</a:t>
              </a:r>
              <a:r>
                <a:rPr lang="en-US" sz="1200" noProof="0" dirty="0">
                  <a:solidFill>
                    <a:schemeClr val="bg1"/>
                  </a:solidFill>
                </a:rPr>
                <a:t>, C., Runeson, P., </a:t>
              </a:r>
              <a:r>
                <a:rPr lang="en-US" sz="1200" noProof="0" dirty="0" err="1">
                  <a:solidFill>
                    <a:schemeClr val="bg1"/>
                  </a:solidFill>
                </a:rPr>
                <a:t>Höst</a:t>
              </a:r>
              <a:r>
                <a:rPr lang="en-US" sz="1200" noProof="0" dirty="0">
                  <a:solidFill>
                    <a:schemeClr val="bg1"/>
                  </a:solidFill>
                </a:rPr>
                <a:t>, M., Ohlsson, M. C., Regnell, B., &amp; </a:t>
              </a:r>
              <a:r>
                <a:rPr lang="en-US" sz="1200" noProof="0" dirty="0" err="1">
                  <a:solidFill>
                    <a:schemeClr val="bg1"/>
                  </a:solidFill>
                </a:rPr>
                <a:t>Wesslén</a:t>
              </a:r>
              <a:r>
                <a:rPr lang="en-US" sz="1200" noProof="0" dirty="0">
                  <a:solidFill>
                    <a:schemeClr val="bg1"/>
                  </a:solidFill>
                </a:rPr>
                <a:t>, A. (2012). Experimentation in software engineering (Vol. 236, p. P3). Berlin: Springer.</a:t>
              </a:r>
            </a:p>
          </p:txBody>
        </p:sp>
      </p:grpSp>
    </p:spTree>
    <p:extLst>
      <p:ext uri="{BB962C8B-B14F-4D97-AF65-F5344CB8AC3E}">
        <p14:creationId xmlns:p14="http://schemas.microsoft.com/office/powerpoint/2010/main" val="14415912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67FB3-EC5A-8FE4-A0D7-77BCF9F29DEB}"/>
              </a:ext>
            </a:extLst>
          </p:cNvPr>
          <p:cNvSpPr>
            <a:spLocks noGrp="1"/>
          </p:cNvSpPr>
          <p:nvPr>
            <p:ph type="title"/>
          </p:nvPr>
        </p:nvSpPr>
        <p:spPr/>
        <p:txBody>
          <a:bodyPr/>
          <a:lstStyle/>
          <a:p>
            <a:r>
              <a:rPr lang="en-SE" dirty="0"/>
              <a:t>Conclusion Validity</a:t>
            </a:r>
          </a:p>
        </p:txBody>
      </p:sp>
      <p:sp>
        <p:nvSpPr>
          <p:cNvPr id="3" name="Content Placeholder 2">
            <a:extLst>
              <a:ext uri="{FF2B5EF4-FFF2-40B4-BE49-F238E27FC236}">
                <a16:creationId xmlns:a16="http://schemas.microsoft.com/office/drawing/2014/main" id="{64A57711-6BB1-7DA3-49CC-AD2C9FCBF8A9}"/>
              </a:ext>
            </a:extLst>
          </p:cNvPr>
          <p:cNvSpPr>
            <a:spLocks noGrp="1"/>
          </p:cNvSpPr>
          <p:nvPr>
            <p:ph idx="1"/>
          </p:nvPr>
        </p:nvSpPr>
        <p:spPr>
          <a:xfrm>
            <a:off x="838200" y="1825625"/>
            <a:ext cx="10515600" cy="1222375"/>
          </a:xfrm>
        </p:spPr>
        <p:txBody>
          <a:bodyPr/>
          <a:lstStyle/>
          <a:p>
            <a:pPr marL="0" indent="0">
              <a:buNone/>
            </a:pPr>
            <a:r>
              <a:rPr lang="en-SE" dirty="0"/>
              <a:t>The conclusion validity is determined by the </a:t>
            </a:r>
            <a:r>
              <a:rPr lang="en-SE" b="1" dirty="0"/>
              <a:t>statistical methods </a:t>
            </a:r>
            <a:r>
              <a:rPr lang="en-SE" dirty="0"/>
              <a:t>researchers apply to derive conclusions from our data.</a:t>
            </a:r>
          </a:p>
        </p:txBody>
      </p:sp>
      <p:sp>
        <p:nvSpPr>
          <p:cNvPr id="4" name="Date Placeholder 3">
            <a:extLst>
              <a:ext uri="{FF2B5EF4-FFF2-40B4-BE49-F238E27FC236}">
                <a16:creationId xmlns:a16="http://schemas.microsoft.com/office/drawing/2014/main" id="{969CD3A2-E662-3AFD-BD38-2CD8851AA941}"/>
              </a:ext>
            </a:extLst>
          </p:cNvPr>
          <p:cNvSpPr>
            <a:spLocks noGrp="1"/>
          </p:cNvSpPr>
          <p:nvPr>
            <p:ph type="dt" sz="half" idx="10"/>
          </p:nvPr>
        </p:nvSpPr>
        <p:spPr/>
        <p:txBody>
          <a:bodyPr/>
          <a:lstStyle/>
          <a:p>
            <a:r>
              <a:rPr lang="en-SE" dirty="0"/>
              <a:t>2026-08-17</a:t>
            </a:r>
          </a:p>
        </p:txBody>
      </p:sp>
      <p:sp>
        <p:nvSpPr>
          <p:cNvPr id="5" name="Footer Placeholder 4">
            <a:extLst>
              <a:ext uri="{FF2B5EF4-FFF2-40B4-BE49-F238E27FC236}">
                <a16:creationId xmlns:a16="http://schemas.microsoft.com/office/drawing/2014/main" id="{802E941E-3848-B7FA-7390-70B1990809B0}"/>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8FBDC076-E597-7605-CBB0-09B3EEF25ED7}"/>
              </a:ext>
            </a:extLst>
          </p:cNvPr>
          <p:cNvSpPr>
            <a:spLocks noGrp="1"/>
          </p:cNvSpPr>
          <p:nvPr>
            <p:ph type="sldNum" sz="quarter" idx="12"/>
          </p:nvPr>
        </p:nvSpPr>
        <p:spPr/>
        <p:txBody>
          <a:bodyPr/>
          <a:lstStyle/>
          <a:p>
            <a:fld id="{271ECC92-9CDE-4EB3-B1C5-F46B9E1FA3C1}" type="slidenum">
              <a:rPr lang="en-SE" smtClean="0"/>
              <a:t>8</a:t>
            </a:fld>
            <a:endParaRPr lang="en-SE"/>
          </a:p>
        </p:txBody>
      </p:sp>
      <p:sp>
        <p:nvSpPr>
          <p:cNvPr id="7" name="Rectangle 6">
            <a:extLst>
              <a:ext uri="{FF2B5EF4-FFF2-40B4-BE49-F238E27FC236}">
                <a16:creationId xmlns:a16="http://schemas.microsoft.com/office/drawing/2014/main" id="{09E1E715-E4CB-8DF6-BC45-6CAF74183657}"/>
              </a:ext>
            </a:extLst>
          </p:cNvPr>
          <p:cNvSpPr/>
          <p:nvPr/>
        </p:nvSpPr>
        <p:spPr>
          <a:xfrm>
            <a:off x="4002164" y="4589990"/>
            <a:ext cx="4114800" cy="1721909"/>
          </a:xfrm>
          <a:prstGeom prst="rect">
            <a:avLst/>
          </a:prstGeom>
          <a:solidFill>
            <a:schemeClr val="bg1"/>
          </a:solidFill>
          <a:ln>
            <a:solidFill>
              <a:schemeClr val="tx1">
                <a:lumMod val="50000"/>
                <a:lumOff val="50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SE" b="1" dirty="0">
                <a:solidFill>
                  <a:schemeClr val="tx1"/>
                </a:solidFill>
              </a:rPr>
              <a:t>Toolbox of s</a:t>
            </a:r>
            <a:r>
              <a:rPr lang="de-DE" b="1" dirty="0">
                <a:solidFill>
                  <a:schemeClr val="tx1"/>
                </a:solidFill>
              </a:rPr>
              <a:t>t</a:t>
            </a:r>
            <a:r>
              <a:rPr lang="en-SE" b="1" dirty="0" err="1">
                <a:solidFill>
                  <a:schemeClr val="tx1"/>
                </a:solidFill>
              </a:rPr>
              <a:t>atistical</a:t>
            </a:r>
            <a:r>
              <a:rPr lang="en-SE" b="1" dirty="0">
                <a:solidFill>
                  <a:schemeClr val="tx1"/>
                </a:solidFill>
              </a:rPr>
              <a:t> methods</a:t>
            </a:r>
          </a:p>
        </p:txBody>
      </p:sp>
      <p:pic>
        <p:nvPicPr>
          <p:cNvPr id="9" name="Graphic 8" descr="Statistics with solid fill">
            <a:extLst>
              <a:ext uri="{FF2B5EF4-FFF2-40B4-BE49-F238E27FC236}">
                <a16:creationId xmlns:a16="http://schemas.microsoft.com/office/drawing/2014/main" id="{2083AFB7-78FA-FC0B-BE7F-27F6400C896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99237" y="2999847"/>
            <a:ext cx="914400" cy="914400"/>
          </a:xfrm>
          <a:prstGeom prst="rect">
            <a:avLst/>
          </a:prstGeom>
        </p:spPr>
      </p:pic>
      <p:pic>
        <p:nvPicPr>
          <p:cNvPr id="11" name="Graphic 10" descr="Database with solid fill">
            <a:extLst>
              <a:ext uri="{FF2B5EF4-FFF2-40B4-BE49-F238E27FC236}">
                <a16:creationId xmlns:a16="http://schemas.microsoft.com/office/drawing/2014/main" id="{8A8AC43A-6C0C-90D0-0659-CFC6C18F8D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5491" y="2999847"/>
            <a:ext cx="914400" cy="914400"/>
          </a:xfrm>
          <a:prstGeom prst="rect">
            <a:avLst/>
          </a:prstGeom>
        </p:spPr>
      </p:pic>
      <p:pic>
        <p:nvPicPr>
          <p:cNvPr id="13" name="Graphic 12" descr="Single gear with solid fill">
            <a:extLst>
              <a:ext uri="{FF2B5EF4-FFF2-40B4-BE49-F238E27FC236}">
                <a16:creationId xmlns:a16="http://schemas.microsoft.com/office/drawing/2014/main" id="{04AE438B-905E-08F2-71A6-4D7A4A8144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02364" y="2999847"/>
            <a:ext cx="914400" cy="914400"/>
          </a:xfrm>
          <a:prstGeom prst="rect">
            <a:avLst/>
          </a:prstGeom>
        </p:spPr>
      </p:pic>
      <p:sp>
        <p:nvSpPr>
          <p:cNvPr id="14" name="TextBox 13">
            <a:extLst>
              <a:ext uri="{FF2B5EF4-FFF2-40B4-BE49-F238E27FC236}">
                <a16:creationId xmlns:a16="http://schemas.microsoft.com/office/drawing/2014/main" id="{EC322EE1-BBB0-EEA0-FE44-B78C303E07FC}"/>
              </a:ext>
            </a:extLst>
          </p:cNvPr>
          <p:cNvSpPr txBox="1"/>
          <p:nvPr/>
        </p:nvSpPr>
        <p:spPr>
          <a:xfrm>
            <a:off x="1795311" y="3899719"/>
            <a:ext cx="1934760" cy="369332"/>
          </a:xfrm>
          <a:prstGeom prst="rect">
            <a:avLst/>
          </a:prstGeom>
          <a:noFill/>
        </p:spPr>
        <p:txBody>
          <a:bodyPr wrap="none" rtlCol="0">
            <a:spAutoFit/>
          </a:bodyPr>
          <a:lstStyle/>
          <a:p>
            <a:r>
              <a:rPr lang="en-SE" dirty="0"/>
              <a:t>Quantitative Data</a:t>
            </a:r>
          </a:p>
        </p:txBody>
      </p:sp>
      <p:sp>
        <p:nvSpPr>
          <p:cNvPr id="16" name="TextBox 15">
            <a:extLst>
              <a:ext uri="{FF2B5EF4-FFF2-40B4-BE49-F238E27FC236}">
                <a16:creationId xmlns:a16="http://schemas.microsoft.com/office/drawing/2014/main" id="{9142ABD3-53AE-85CB-9289-68D5ED73A220}"/>
              </a:ext>
            </a:extLst>
          </p:cNvPr>
          <p:cNvSpPr txBox="1"/>
          <p:nvPr/>
        </p:nvSpPr>
        <p:spPr>
          <a:xfrm>
            <a:off x="5062752" y="3899719"/>
            <a:ext cx="1993623" cy="369332"/>
          </a:xfrm>
          <a:prstGeom prst="rect">
            <a:avLst/>
          </a:prstGeom>
          <a:noFill/>
        </p:spPr>
        <p:txBody>
          <a:bodyPr wrap="none" rtlCol="0">
            <a:spAutoFit/>
          </a:bodyPr>
          <a:lstStyle/>
          <a:p>
            <a:pPr algn="ctr"/>
            <a:r>
              <a:rPr lang="en-SE" dirty="0"/>
              <a:t>Statistical Method</a:t>
            </a:r>
          </a:p>
        </p:txBody>
      </p:sp>
      <p:sp>
        <p:nvSpPr>
          <p:cNvPr id="18" name="TextBox 17">
            <a:extLst>
              <a:ext uri="{FF2B5EF4-FFF2-40B4-BE49-F238E27FC236}">
                <a16:creationId xmlns:a16="http://schemas.microsoft.com/office/drawing/2014/main" id="{E067525B-6FF1-90D7-F396-37DF143B31A2}"/>
              </a:ext>
            </a:extLst>
          </p:cNvPr>
          <p:cNvSpPr txBox="1"/>
          <p:nvPr/>
        </p:nvSpPr>
        <p:spPr>
          <a:xfrm>
            <a:off x="8636530" y="3899719"/>
            <a:ext cx="1439818" cy="369332"/>
          </a:xfrm>
          <a:prstGeom prst="rect">
            <a:avLst/>
          </a:prstGeom>
          <a:noFill/>
        </p:spPr>
        <p:txBody>
          <a:bodyPr wrap="none" rtlCol="0">
            <a:spAutoFit/>
          </a:bodyPr>
          <a:lstStyle/>
          <a:p>
            <a:pPr algn="ctr"/>
            <a:r>
              <a:rPr lang="en-SE" dirty="0"/>
              <a:t>Conclusions</a:t>
            </a:r>
          </a:p>
        </p:txBody>
      </p:sp>
      <p:cxnSp>
        <p:nvCxnSpPr>
          <p:cNvPr id="20" name="Straight Arrow Connector 19">
            <a:extLst>
              <a:ext uri="{FF2B5EF4-FFF2-40B4-BE49-F238E27FC236}">
                <a16:creationId xmlns:a16="http://schemas.microsoft.com/office/drawing/2014/main" id="{740CB096-FE14-AB94-0F8A-CC90AF8AECEF}"/>
              </a:ext>
            </a:extLst>
          </p:cNvPr>
          <p:cNvCxnSpPr>
            <a:cxnSpLocks/>
            <a:stCxn id="11" idx="3"/>
            <a:endCxn id="13" idx="1"/>
          </p:cNvCxnSpPr>
          <p:nvPr/>
        </p:nvCxnSpPr>
        <p:spPr>
          <a:xfrm>
            <a:off x="3219891" y="3457047"/>
            <a:ext cx="238247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B195F4BF-1B0B-ACA4-8CDF-24E427D288B6}"/>
              </a:ext>
            </a:extLst>
          </p:cNvPr>
          <p:cNvCxnSpPr>
            <a:cxnSpLocks/>
            <a:stCxn id="13" idx="3"/>
            <a:endCxn id="9" idx="1"/>
          </p:cNvCxnSpPr>
          <p:nvPr/>
        </p:nvCxnSpPr>
        <p:spPr>
          <a:xfrm>
            <a:off x="6516764" y="3457047"/>
            <a:ext cx="238247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9" name="Group 28">
            <a:extLst>
              <a:ext uri="{FF2B5EF4-FFF2-40B4-BE49-F238E27FC236}">
                <a16:creationId xmlns:a16="http://schemas.microsoft.com/office/drawing/2014/main" id="{70ED6B27-643D-07B2-F920-EB6E2A95386A}"/>
              </a:ext>
            </a:extLst>
          </p:cNvPr>
          <p:cNvGrpSpPr/>
          <p:nvPr/>
        </p:nvGrpSpPr>
        <p:grpSpPr>
          <a:xfrm>
            <a:off x="4151999" y="5032661"/>
            <a:ext cx="2585732" cy="369332"/>
            <a:chOff x="4231127" y="5091113"/>
            <a:chExt cx="2585732" cy="369332"/>
          </a:xfrm>
        </p:grpSpPr>
        <p:pic>
          <p:nvPicPr>
            <p:cNvPr id="26" name="Graphic 25" descr="Single gear with solid fill">
              <a:extLst>
                <a:ext uri="{FF2B5EF4-FFF2-40B4-BE49-F238E27FC236}">
                  <a16:creationId xmlns:a16="http://schemas.microsoft.com/office/drawing/2014/main" id="{720DF741-1133-AFD5-CA88-D7F0C42363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31127" y="5091113"/>
              <a:ext cx="360000" cy="360000"/>
            </a:xfrm>
            <a:prstGeom prst="rect">
              <a:avLst/>
            </a:prstGeom>
          </p:spPr>
        </p:pic>
        <p:sp>
          <p:nvSpPr>
            <p:cNvPr id="28" name="TextBox 27">
              <a:extLst>
                <a:ext uri="{FF2B5EF4-FFF2-40B4-BE49-F238E27FC236}">
                  <a16:creationId xmlns:a16="http://schemas.microsoft.com/office/drawing/2014/main" id="{B4768A05-D557-093D-3E16-E7F4540C2C33}"/>
                </a:ext>
              </a:extLst>
            </p:cNvPr>
            <p:cNvSpPr txBox="1"/>
            <p:nvPr/>
          </p:nvSpPr>
          <p:spPr>
            <a:xfrm>
              <a:off x="4544955" y="5091113"/>
              <a:ext cx="2271904" cy="369332"/>
            </a:xfrm>
            <a:prstGeom prst="rect">
              <a:avLst/>
            </a:prstGeom>
            <a:noFill/>
          </p:spPr>
          <p:txBody>
            <a:bodyPr wrap="none" rtlCol="0">
              <a:spAutoFit/>
            </a:bodyPr>
            <a:lstStyle/>
            <a:p>
              <a:r>
                <a:rPr lang="en-SE" dirty="0"/>
                <a:t>Descriptive statistics</a:t>
              </a:r>
            </a:p>
          </p:txBody>
        </p:sp>
      </p:grpSp>
      <p:grpSp>
        <p:nvGrpSpPr>
          <p:cNvPr id="30" name="Group 29">
            <a:extLst>
              <a:ext uri="{FF2B5EF4-FFF2-40B4-BE49-F238E27FC236}">
                <a16:creationId xmlns:a16="http://schemas.microsoft.com/office/drawing/2014/main" id="{8DB3E1FB-84F8-BC14-F041-DBD2D1BC0AE3}"/>
              </a:ext>
            </a:extLst>
          </p:cNvPr>
          <p:cNvGrpSpPr/>
          <p:nvPr/>
        </p:nvGrpSpPr>
        <p:grpSpPr>
          <a:xfrm>
            <a:off x="4151999" y="5392661"/>
            <a:ext cx="3644548" cy="369332"/>
            <a:chOff x="4231127" y="5091113"/>
            <a:chExt cx="3644548" cy="369332"/>
          </a:xfrm>
        </p:grpSpPr>
        <p:pic>
          <p:nvPicPr>
            <p:cNvPr id="31" name="Graphic 30" descr="Single gear with solid fill">
              <a:extLst>
                <a:ext uri="{FF2B5EF4-FFF2-40B4-BE49-F238E27FC236}">
                  <a16:creationId xmlns:a16="http://schemas.microsoft.com/office/drawing/2014/main" id="{23149351-29E8-2245-4921-661E71C6DC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31127" y="5091113"/>
              <a:ext cx="360000" cy="360000"/>
            </a:xfrm>
            <a:prstGeom prst="rect">
              <a:avLst/>
            </a:prstGeom>
          </p:spPr>
        </p:pic>
        <p:sp>
          <p:nvSpPr>
            <p:cNvPr id="32" name="TextBox 31">
              <a:extLst>
                <a:ext uri="{FF2B5EF4-FFF2-40B4-BE49-F238E27FC236}">
                  <a16:creationId xmlns:a16="http://schemas.microsoft.com/office/drawing/2014/main" id="{007064E4-69CF-B470-EB94-4960A9F56392}"/>
                </a:ext>
              </a:extLst>
            </p:cNvPr>
            <p:cNvSpPr txBox="1"/>
            <p:nvPr/>
          </p:nvSpPr>
          <p:spPr>
            <a:xfrm>
              <a:off x="4544955" y="5091113"/>
              <a:ext cx="3330720" cy="369332"/>
            </a:xfrm>
            <a:prstGeom prst="rect">
              <a:avLst/>
            </a:prstGeom>
            <a:noFill/>
          </p:spPr>
          <p:txBody>
            <a:bodyPr wrap="none" rtlCol="0">
              <a:spAutoFit/>
            </a:bodyPr>
            <a:lstStyle/>
            <a:p>
              <a:r>
                <a:rPr lang="en-SE" dirty="0"/>
                <a:t>Frequentist inferential statistics</a:t>
              </a:r>
            </a:p>
          </p:txBody>
        </p:sp>
      </p:grpSp>
      <p:grpSp>
        <p:nvGrpSpPr>
          <p:cNvPr id="33" name="Group 32">
            <a:extLst>
              <a:ext uri="{FF2B5EF4-FFF2-40B4-BE49-F238E27FC236}">
                <a16:creationId xmlns:a16="http://schemas.microsoft.com/office/drawing/2014/main" id="{48584CF5-11E4-E02E-6C76-F7FD789A3942}"/>
              </a:ext>
            </a:extLst>
          </p:cNvPr>
          <p:cNvGrpSpPr/>
          <p:nvPr/>
        </p:nvGrpSpPr>
        <p:grpSpPr>
          <a:xfrm>
            <a:off x="4151999" y="5752661"/>
            <a:ext cx="3409740" cy="369332"/>
            <a:chOff x="4231127" y="5091113"/>
            <a:chExt cx="3409740" cy="369332"/>
          </a:xfrm>
        </p:grpSpPr>
        <p:pic>
          <p:nvPicPr>
            <p:cNvPr id="34" name="Graphic 33" descr="Single gear with solid fill">
              <a:extLst>
                <a:ext uri="{FF2B5EF4-FFF2-40B4-BE49-F238E27FC236}">
                  <a16:creationId xmlns:a16="http://schemas.microsoft.com/office/drawing/2014/main" id="{DDC852FE-289E-2338-C8FB-2D0EFB76A4E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31127" y="5091113"/>
              <a:ext cx="360000" cy="360000"/>
            </a:xfrm>
            <a:prstGeom prst="rect">
              <a:avLst/>
            </a:prstGeom>
          </p:spPr>
        </p:pic>
        <p:sp>
          <p:nvSpPr>
            <p:cNvPr id="35" name="TextBox 34">
              <a:extLst>
                <a:ext uri="{FF2B5EF4-FFF2-40B4-BE49-F238E27FC236}">
                  <a16:creationId xmlns:a16="http://schemas.microsoft.com/office/drawing/2014/main" id="{0BA4E73C-884E-AC73-0D7E-9C17F47EF09D}"/>
                </a:ext>
              </a:extLst>
            </p:cNvPr>
            <p:cNvSpPr txBox="1"/>
            <p:nvPr/>
          </p:nvSpPr>
          <p:spPr>
            <a:xfrm>
              <a:off x="4544955" y="5091113"/>
              <a:ext cx="3095912" cy="369332"/>
            </a:xfrm>
            <a:prstGeom prst="rect">
              <a:avLst/>
            </a:prstGeom>
            <a:noFill/>
          </p:spPr>
          <p:txBody>
            <a:bodyPr wrap="none" rtlCol="0">
              <a:spAutoFit/>
            </a:bodyPr>
            <a:lstStyle/>
            <a:p>
              <a:r>
                <a:rPr lang="en-SE" dirty="0">
                  <a:solidFill>
                    <a:schemeClr val="accent2"/>
                  </a:solidFill>
                </a:rPr>
                <a:t>Bayesian inferential statistics</a:t>
              </a:r>
            </a:p>
          </p:txBody>
        </p:sp>
      </p:grpSp>
      <p:cxnSp>
        <p:nvCxnSpPr>
          <p:cNvPr id="36" name="Straight Arrow Connector 35">
            <a:extLst>
              <a:ext uri="{FF2B5EF4-FFF2-40B4-BE49-F238E27FC236}">
                <a16:creationId xmlns:a16="http://schemas.microsoft.com/office/drawing/2014/main" id="{DCC6116B-A7F8-8161-B266-000B49382CA3}"/>
              </a:ext>
            </a:extLst>
          </p:cNvPr>
          <p:cNvCxnSpPr>
            <a:cxnSpLocks/>
            <a:stCxn id="7" idx="0"/>
            <a:endCxn id="16" idx="2"/>
          </p:cNvCxnSpPr>
          <p:nvPr/>
        </p:nvCxnSpPr>
        <p:spPr>
          <a:xfrm flipV="1">
            <a:off x="6059564" y="4269051"/>
            <a:ext cx="0" cy="3209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870544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B797-A969-A686-EEC1-514536B66EF6}"/>
              </a:ext>
            </a:extLst>
          </p:cNvPr>
          <p:cNvSpPr>
            <a:spLocks noGrp="1"/>
          </p:cNvSpPr>
          <p:nvPr>
            <p:ph type="title"/>
          </p:nvPr>
        </p:nvSpPr>
        <p:spPr/>
        <p:txBody>
          <a:bodyPr/>
          <a:lstStyle/>
          <a:p>
            <a:r>
              <a:rPr lang="en-SE" dirty="0"/>
              <a:t>Learning Outcomes</a:t>
            </a:r>
          </a:p>
        </p:txBody>
      </p:sp>
      <p:sp>
        <p:nvSpPr>
          <p:cNvPr id="3" name="Content Placeholder 2">
            <a:extLst>
              <a:ext uri="{FF2B5EF4-FFF2-40B4-BE49-F238E27FC236}">
                <a16:creationId xmlns:a16="http://schemas.microsoft.com/office/drawing/2014/main" id="{0D3FB009-7BC8-BAE7-C7E2-B535EA56EACD}"/>
              </a:ext>
            </a:extLst>
          </p:cNvPr>
          <p:cNvSpPr>
            <a:spLocks noGrp="1"/>
          </p:cNvSpPr>
          <p:nvPr>
            <p:ph idx="1"/>
          </p:nvPr>
        </p:nvSpPr>
        <p:spPr/>
        <p:txBody>
          <a:bodyPr/>
          <a:lstStyle/>
          <a:p>
            <a:pPr marL="0" indent="0">
              <a:buNone/>
            </a:pPr>
            <a:r>
              <a:rPr lang="en-SE" dirty="0"/>
              <a:t>After this tutorial, you will be able to</a:t>
            </a:r>
          </a:p>
          <a:p>
            <a:pPr marL="514350" indent="-514350">
              <a:buFont typeface="+mj-lt"/>
              <a:buAutoNum type="arabicPeriod"/>
            </a:pPr>
            <a:r>
              <a:rPr lang="en-SE" dirty="0"/>
              <a:t>Better understand the current state-of-practice in data analysis and its problems,</a:t>
            </a:r>
          </a:p>
          <a:p>
            <a:pPr marL="514350" indent="-514350">
              <a:buFont typeface="+mj-lt"/>
              <a:buAutoNum type="arabicPeriod"/>
            </a:pPr>
            <a:r>
              <a:rPr lang="en-SE" dirty="0"/>
              <a:t>Understand Bayes’ theorem and the Bayesian perspective on probability, and</a:t>
            </a:r>
          </a:p>
          <a:p>
            <a:pPr marL="514350" indent="-514350">
              <a:buFont typeface="+mj-lt"/>
              <a:buAutoNum type="arabicPeriod"/>
            </a:pPr>
            <a:r>
              <a:rPr lang="en-SE" dirty="0"/>
              <a:t>Apply a systematic Bayesian data analysis process.</a:t>
            </a:r>
          </a:p>
        </p:txBody>
      </p:sp>
      <p:sp>
        <p:nvSpPr>
          <p:cNvPr id="4" name="Date Placeholder 3">
            <a:extLst>
              <a:ext uri="{FF2B5EF4-FFF2-40B4-BE49-F238E27FC236}">
                <a16:creationId xmlns:a16="http://schemas.microsoft.com/office/drawing/2014/main" id="{636C6AB1-6DC9-AFE8-CAE3-475728C831EA}"/>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9070FA38-D529-C8E2-0EE1-346E42C3923B}"/>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8D4643FF-ED2F-FE83-FA3B-68D7168C76A3}"/>
              </a:ext>
            </a:extLst>
          </p:cNvPr>
          <p:cNvSpPr>
            <a:spLocks noGrp="1"/>
          </p:cNvSpPr>
          <p:nvPr>
            <p:ph type="sldNum" sz="quarter" idx="12"/>
          </p:nvPr>
        </p:nvSpPr>
        <p:spPr/>
        <p:txBody>
          <a:bodyPr/>
          <a:lstStyle/>
          <a:p>
            <a:fld id="{271ECC92-9CDE-4EB3-B1C5-F46B9E1FA3C1}" type="slidenum">
              <a:rPr lang="en-SE" smtClean="0"/>
              <a:t>9</a:t>
            </a:fld>
            <a:endParaRPr lang="en-SE"/>
          </a:p>
        </p:txBody>
      </p:sp>
    </p:spTree>
    <p:extLst>
      <p:ext uri="{BB962C8B-B14F-4D97-AF65-F5344CB8AC3E}">
        <p14:creationId xmlns:p14="http://schemas.microsoft.com/office/powerpoint/2010/main" val="34507316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A6E8241-0276-7FFC-AD51-169D5D656695}"/>
              </a:ext>
            </a:extLst>
          </p:cNvPr>
          <p:cNvSpPr>
            <a:spLocks noGrp="1"/>
          </p:cNvSpPr>
          <p:nvPr>
            <p:ph type="title"/>
          </p:nvPr>
        </p:nvSpPr>
        <p:spPr/>
        <p:txBody>
          <a:bodyPr/>
          <a:lstStyle/>
          <a:p>
            <a:r>
              <a:rPr lang="en-SE" noProof="0" dirty="0"/>
              <a:t>State of Practice</a:t>
            </a:r>
            <a:endParaRPr lang="en-US" noProof="0" dirty="0"/>
          </a:p>
        </p:txBody>
      </p:sp>
      <p:sp>
        <p:nvSpPr>
          <p:cNvPr id="7" name="Text Placeholder 6">
            <a:extLst>
              <a:ext uri="{FF2B5EF4-FFF2-40B4-BE49-F238E27FC236}">
                <a16:creationId xmlns:a16="http://schemas.microsoft.com/office/drawing/2014/main" id="{E7F0FF69-7B8D-5135-26FC-7A309B3CC617}"/>
              </a:ext>
            </a:extLst>
          </p:cNvPr>
          <p:cNvSpPr>
            <a:spLocks noGrp="1"/>
          </p:cNvSpPr>
          <p:nvPr>
            <p:ph type="body" idx="1"/>
          </p:nvPr>
        </p:nvSpPr>
        <p:spPr/>
        <p:txBody>
          <a:bodyPr/>
          <a:lstStyle/>
          <a:p>
            <a:r>
              <a:rPr lang="en-US" noProof="0" dirty="0"/>
              <a:t>Review of frequentist methods and their threats to conclusion validity</a:t>
            </a:r>
          </a:p>
        </p:txBody>
      </p:sp>
      <p:sp>
        <p:nvSpPr>
          <p:cNvPr id="4" name="Date Placeholder 3">
            <a:extLst>
              <a:ext uri="{FF2B5EF4-FFF2-40B4-BE49-F238E27FC236}">
                <a16:creationId xmlns:a16="http://schemas.microsoft.com/office/drawing/2014/main" id="{B3D71684-06D1-6CB6-867A-A1838CBEB764}"/>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5819D041-FAE4-5C7C-3A4E-1B35DAC7233A}"/>
              </a:ext>
            </a:extLst>
          </p:cNvPr>
          <p:cNvSpPr>
            <a:spLocks noGrp="1"/>
          </p:cNvSpPr>
          <p:nvPr>
            <p:ph type="sldNum" sz="quarter" idx="12"/>
          </p:nvPr>
        </p:nvSpPr>
        <p:spPr/>
        <p:txBody>
          <a:bodyPr/>
          <a:lstStyle/>
          <a:p>
            <a:fld id="{271ECC92-9CDE-4EB3-B1C5-F46B9E1FA3C1}" type="slidenum">
              <a:rPr lang="en-US" noProof="0" smtClean="0"/>
              <a:t>10</a:t>
            </a:fld>
            <a:endParaRPr lang="en-US" noProof="0" dirty="0"/>
          </a:p>
        </p:txBody>
      </p:sp>
      <p:sp>
        <p:nvSpPr>
          <p:cNvPr id="2" name="Footer Placeholder 1">
            <a:extLst>
              <a:ext uri="{FF2B5EF4-FFF2-40B4-BE49-F238E27FC236}">
                <a16:creationId xmlns:a16="http://schemas.microsoft.com/office/drawing/2014/main" id="{9D3C6995-A15F-FE73-1C68-4A13E2C40469}"/>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22764865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4A3F2-AD59-E058-DDA2-3F17C5465CBB}"/>
              </a:ext>
            </a:extLst>
          </p:cNvPr>
          <p:cNvSpPr>
            <a:spLocks noGrp="1"/>
          </p:cNvSpPr>
          <p:nvPr>
            <p:ph type="title"/>
          </p:nvPr>
        </p:nvSpPr>
        <p:spPr/>
        <p:txBody>
          <a:bodyPr/>
          <a:lstStyle/>
          <a:p>
            <a:r>
              <a:rPr lang="en-US" noProof="0" dirty="0"/>
              <a:t>Null-Hypothesis Significance Tests</a:t>
            </a:r>
          </a:p>
        </p:txBody>
      </p:sp>
      <p:sp>
        <p:nvSpPr>
          <p:cNvPr id="3" name="Content Placeholder 2">
            <a:extLst>
              <a:ext uri="{FF2B5EF4-FFF2-40B4-BE49-F238E27FC236}">
                <a16:creationId xmlns:a16="http://schemas.microsoft.com/office/drawing/2014/main" id="{5ABB2115-C6ED-85E7-2A96-49181659FCD3}"/>
              </a:ext>
            </a:extLst>
          </p:cNvPr>
          <p:cNvSpPr>
            <a:spLocks noGrp="1"/>
          </p:cNvSpPr>
          <p:nvPr>
            <p:ph idx="1"/>
          </p:nvPr>
        </p:nvSpPr>
        <p:spPr>
          <a:xfrm>
            <a:off x="838200" y="1825625"/>
            <a:ext cx="10515600" cy="1332400"/>
          </a:xfrm>
        </p:spPr>
        <p:txBody>
          <a:bodyPr>
            <a:normAutofit/>
          </a:bodyPr>
          <a:lstStyle/>
          <a:p>
            <a:pPr marL="0" indent="0">
              <a:buNone/>
            </a:pPr>
            <a:r>
              <a:rPr lang="en-SE" noProof="0" dirty="0"/>
              <a:t>The state-of-practice for </a:t>
            </a:r>
            <a:r>
              <a:rPr lang="en-SE" noProof="0" dirty="0" err="1"/>
              <a:t>analyzing</a:t>
            </a:r>
            <a:r>
              <a:rPr lang="en-SE" noProof="0" dirty="0"/>
              <a:t> quantitative data in SE research focuses on Null-Hypothesis Significance Testing (NHST) commonly consisting of three components.</a:t>
            </a:r>
            <a:endParaRPr lang="en-US" noProof="0" dirty="0"/>
          </a:p>
        </p:txBody>
      </p:sp>
      <p:sp>
        <p:nvSpPr>
          <p:cNvPr id="4" name="Date Placeholder 3">
            <a:extLst>
              <a:ext uri="{FF2B5EF4-FFF2-40B4-BE49-F238E27FC236}">
                <a16:creationId xmlns:a16="http://schemas.microsoft.com/office/drawing/2014/main" id="{65896BF4-02BA-681C-EC08-A34CED70DA7E}"/>
              </a:ext>
            </a:extLst>
          </p:cNvPr>
          <p:cNvSpPr>
            <a:spLocks noGrp="1"/>
          </p:cNvSpPr>
          <p:nvPr>
            <p:ph type="dt" sz="half" idx="10"/>
          </p:nvPr>
        </p:nvSpPr>
        <p:spPr/>
        <p:txBody>
          <a:bodyPr/>
          <a:lstStyle/>
          <a:p>
            <a:r>
              <a:rPr lang="en-SE" noProof="0"/>
              <a:t>2026-08-17</a:t>
            </a:r>
            <a:endParaRPr lang="en-US" noProof="0" dirty="0"/>
          </a:p>
        </p:txBody>
      </p:sp>
      <p:sp>
        <p:nvSpPr>
          <p:cNvPr id="5" name="Footer Placeholder 4">
            <a:extLst>
              <a:ext uri="{FF2B5EF4-FFF2-40B4-BE49-F238E27FC236}">
                <a16:creationId xmlns:a16="http://schemas.microsoft.com/office/drawing/2014/main" id="{4A78666F-30A0-CB44-1FBB-7BF79C10197D}"/>
              </a:ext>
            </a:extLst>
          </p:cNvPr>
          <p:cNvSpPr>
            <a:spLocks noGrp="1"/>
          </p:cNvSpPr>
          <p:nvPr>
            <p:ph type="ftr" sz="quarter" idx="11"/>
          </p:nvPr>
        </p:nvSpPr>
        <p:spPr/>
        <p:txBody>
          <a:bodyPr/>
          <a:lstStyle/>
          <a:p>
            <a:r>
              <a:rPr lang="en-US" noProof="0"/>
              <a:t>Bayesian Data Analysis Tutorial</a:t>
            </a:r>
            <a:endParaRPr lang="en-US" noProof="0" dirty="0"/>
          </a:p>
        </p:txBody>
      </p:sp>
      <p:sp>
        <p:nvSpPr>
          <p:cNvPr id="6" name="Slide Number Placeholder 5">
            <a:extLst>
              <a:ext uri="{FF2B5EF4-FFF2-40B4-BE49-F238E27FC236}">
                <a16:creationId xmlns:a16="http://schemas.microsoft.com/office/drawing/2014/main" id="{6F41D8F5-4C9F-38C6-4765-8ADCD93F1D34}"/>
              </a:ext>
            </a:extLst>
          </p:cNvPr>
          <p:cNvSpPr>
            <a:spLocks noGrp="1"/>
          </p:cNvSpPr>
          <p:nvPr>
            <p:ph type="sldNum" sz="quarter" idx="12"/>
          </p:nvPr>
        </p:nvSpPr>
        <p:spPr/>
        <p:txBody>
          <a:bodyPr/>
          <a:lstStyle/>
          <a:p>
            <a:fld id="{271ECC92-9CDE-4EB3-B1C5-F46B9E1FA3C1}" type="slidenum">
              <a:rPr lang="en-US" noProof="0" smtClean="0"/>
              <a:t>11</a:t>
            </a:fld>
            <a:endParaRPr lang="en-US" noProof="0" dirty="0"/>
          </a:p>
        </p:txBody>
      </p:sp>
      <p:pic>
        <p:nvPicPr>
          <p:cNvPr id="14" name="Graphic 13" descr="Question Mark with solid fill">
            <a:extLst>
              <a:ext uri="{FF2B5EF4-FFF2-40B4-BE49-F238E27FC236}">
                <a16:creationId xmlns:a16="http://schemas.microsoft.com/office/drawing/2014/main" id="{1AF5C7E3-6AA2-1422-F764-9500747D9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07865" y="3210684"/>
            <a:ext cx="720000" cy="720000"/>
          </a:xfrm>
          <a:prstGeom prst="rect">
            <a:avLst/>
          </a:prstGeom>
        </p:spPr>
      </p:pic>
      <p:sp>
        <p:nvSpPr>
          <p:cNvPr id="15" name="TextBox 14">
            <a:extLst>
              <a:ext uri="{FF2B5EF4-FFF2-40B4-BE49-F238E27FC236}">
                <a16:creationId xmlns:a16="http://schemas.microsoft.com/office/drawing/2014/main" id="{89DC6593-9B6F-B133-3B69-82158D4E0499}"/>
              </a:ext>
            </a:extLst>
          </p:cNvPr>
          <p:cNvSpPr txBox="1"/>
          <p:nvPr/>
        </p:nvSpPr>
        <p:spPr>
          <a:xfrm>
            <a:off x="2586053" y="4074012"/>
            <a:ext cx="1763624" cy="369332"/>
          </a:xfrm>
          <a:prstGeom prst="rect">
            <a:avLst/>
          </a:prstGeom>
          <a:noFill/>
        </p:spPr>
        <p:txBody>
          <a:bodyPr wrap="none" rtlCol="0">
            <a:spAutoFit/>
          </a:bodyPr>
          <a:lstStyle/>
          <a:p>
            <a:pPr algn="r"/>
            <a:r>
              <a:rPr lang="en-US" noProof="0" dirty="0"/>
              <a:t>Null-hypothesis</a:t>
            </a:r>
          </a:p>
        </p:txBody>
      </p:sp>
      <p:sp>
        <p:nvSpPr>
          <p:cNvPr id="11" name="TextBox 10">
            <a:extLst>
              <a:ext uri="{FF2B5EF4-FFF2-40B4-BE49-F238E27FC236}">
                <a16:creationId xmlns:a16="http://schemas.microsoft.com/office/drawing/2014/main" id="{406B7EE4-E994-2069-7905-395B6A6C51F9}"/>
              </a:ext>
            </a:extLst>
          </p:cNvPr>
          <p:cNvSpPr txBox="1"/>
          <p:nvPr/>
        </p:nvSpPr>
        <p:spPr>
          <a:xfrm>
            <a:off x="838198" y="6106266"/>
            <a:ext cx="6096000" cy="338554"/>
          </a:xfrm>
          <a:prstGeom prst="rect">
            <a:avLst/>
          </a:prstGeom>
          <a:noFill/>
        </p:spPr>
        <p:txBody>
          <a:bodyPr wrap="square">
            <a:spAutoFit/>
          </a:bodyPr>
          <a:lstStyle/>
          <a:p>
            <a:r>
              <a:rPr lang="en-SE" sz="800" dirty="0"/>
              <a:t>de Oliveira Neto, F. G., Torkar, R., Feldt, R., Gren, L., Furia, C. A., &amp; Huang, Z. (2019). Evolution of statistical analysis in empirical software engineering research: Current state and steps forward. </a:t>
            </a:r>
            <a:r>
              <a:rPr lang="en-SE" sz="800" i="1" dirty="0"/>
              <a:t>Journal of Systems and Software</a:t>
            </a:r>
            <a:r>
              <a:rPr lang="en-SE" sz="800" dirty="0"/>
              <a:t>, </a:t>
            </a:r>
            <a:r>
              <a:rPr lang="en-SE" sz="800" i="1" dirty="0"/>
              <a:t>156</a:t>
            </a:r>
            <a:r>
              <a:rPr lang="en-SE" sz="800" dirty="0"/>
              <a:t>, 246-267.</a:t>
            </a:r>
          </a:p>
        </p:txBody>
      </p:sp>
      <mc:AlternateContent xmlns:mc="http://schemas.openxmlformats.org/markup-compatibility/2006">
        <mc:Choice xmlns:a14="http://schemas.microsoft.com/office/drawing/2010/main" Requires="a14">
          <p:sp>
            <p:nvSpPr>
              <p:cNvPr id="13" name="Content Placeholder 2">
                <a:extLst>
                  <a:ext uri="{FF2B5EF4-FFF2-40B4-BE49-F238E27FC236}">
                    <a16:creationId xmlns:a16="http://schemas.microsoft.com/office/drawing/2014/main" id="{680B7492-268A-2B35-D1D3-0A69F6F5093C}"/>
                  </a:ext>
                </a:extLst>
              </p:cNvPr>
              <p:cNvSpPr txBox="1">
                <a:spLocks/>
              </p:cNvSpPr>
              <p:nvPr/>
            </p:nvSpPr>
            <p:spPr>
              <a:xfrm>
                <a:off x="838200" y="4586672"/>
                <a:ext cx="10515600" cy="1332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Null-hypotheses are usually formulated such that they encode </a:t>
                </a:r>
                <a:r>
                  <a:rPr lang="en-US" i="1" dirty="0"/>
                  <a:t>no effect</a:t>
                </a:r>
                <a:r>
                  <a:rPr lang="en-US" dirty="0"/>
                  <a:t>, e.g.,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The use of GenAI does not affect a developer’s productivity.”</a:t>
                </a:r>
              </a:p>
              <a:p>
                <a:pPr marL="0" indent="0">
                  <a:buFont typeface="Arial" panose="020B0604020202020204" pitchFamily="34" charset="0"/>
                  <a:buNone/>
                </a:pPr>
                <a:endParaRPr lang="en-SE" dirty="0"/>
              </a:p>
            </p:txBody>
          </p:sp>
        </mc:Choice>
        <mc:Fallback>
          <p:sp>
            <p:nvSpPr>
              <p:cNvPr id="13" name="Content Placeholder 2">
                <a:extLst>
                  <a:ext uri="{FF2B5EF4-FFF2-40B4-BE49-F238E27FC236}">
                    <a16:creationId xmlns:a16="http://schemas.microsoft.com/office/drawing/2014/main" id="{680B7492-268A-2B35-D1D3-0A69F6F5093C}"/>
                  </a:ext>
                </a:extLst>
              </p:cNvPr>
              <p:cNvSpPr txBox="1">
                <a:spLocks noRot="1" noChangeAspect="1" noMove="1" noResize="1" noEditPoints="1" noAdjustHandles="1" noChangeArrowheads="1" noChangeShapeType="1" noTextEdit="1"/>
              </p:cNvSpPr>
              <p:nvPr/>
            </p:nvSpPr>
            <p:spPr>
              <a:xfrm>
                <a:off x="838200" y="4586672"/>
                <a:ext cx="10515600" cy="1332400"/>
              </a:xfrm>
              <a:prstGeom prst="rect">
                <a:avLst/>
              </a:prstGeom>
              <a:blipFill>
                <a:blip r:embed="rId4"/>
                <a:stretch>
                  <a:fillRect l="-1217" t="-7763" b="-5936"/>
                </a:stretch>
              </a:blipFill>
            </p:spPr>
            <p:txBody>
              <a:bodyPr/>
              <a:lstStyle/>
              <a:p>
                <a:r>
                  <a:rPr lang="en-SE">
                    <a:noFill/>
                  </a:rPr>
                  <a:t> </a:t>
                </a:r>
              </a:p>
            </p:txBody>
          </p:sp>
        </mc:Fallback>
      </mc:AlternateContent>
    </p:spTree>
    <p:extLst>
      <p:ext uri="{BB962C8B-B14F-4D97-AF65-F5344CB8AC3E}">
        <p14:creationId xmlns:p14="http://schemas.microsoft.com/office/powerpoint/2010/main" val="21755624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CF130-B1AA-5FBD-8276-C98C14B754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301830-7FCF-2334-AE36-BC6914236A77}"/>
              </a:ext>
            </a:extLst>
          </p:cNvPr>
          <p:cNvSpPr>
            <a:spLocks noGrp="1"/>
          </p:cNvSpPr>
          <p:nvPr>
            <p:ph type="title"/>
          </p:nvPr>
        </p:nvSpPr>
        <p:spPr/>
        <p:txBody>
          <a:bodyPr/>
          <a:lstStyle/>
          <a:p>
            <a:r>
              <a:rPr lang="en-US" noProof="0" dirty="0"/>
              <a:t>Null-Hypothesis Significance Tests</a:t>
            </a:r>
          </a:p>
        </p:txBody>
      </p:sp>
      <p:sp>
        <p:nvSpPr>
          <p:cNvPr id="3" name="Content Placeholder 2">
            <a:extLst>
              <a:ext uri="{FF2B5EF4-FFF2-40B4-BE49-F238E27FC236}">
                <a16:creationId xmlns:a16="http://schemas.microsoft.com/office/drawing/2014/main" id="{328A578C-5BDB-8902-AE37-F307053259ED}"/>
              </a:ext>
            </a:extLst>
          </p:cNvPr>
          <p:cNvSpPr>
            <a:spLocks noGrp="1"/>
          </p:cNvSpPr>
          <p:nvPr>
            <p:ph idx="1"/>
          </p:nvPr>
        </p:nvSpPr>
        <p:spPr>
          <a:xfrm>
            <a:off x="838200" y="1825625"/>
            <a:ext cx="10515600" cy="1332400"/>
          </a:xfrm>
        </p:spPr>
        <p:txBody>
          <a:bodyPr>
            <a:normAutofit/>
          </a:bodyPr>
          <a:lstStyle/>
          <a:p>
            <a:pPr marL="0" indent="0">
              <a:buNone/>
            </a:pPr>
            <a:r>
              <a:rPr lang="en-SE" noProof="0" dirty="0"/>
              <a:t>The state-of-practice for </a:t>
            </a:r>
            <a:r>
              <a:rPr lang="en-SE" noProof="0" dirty="0" err="1"/>
              <a:t>analyzing</a:t>
            </a:r>
            <a:r>
              <a:rPr lang="en-SE" noProof="0" dirty="0"/>
              <a:t> quantitative data in SE research focuses on Null-Hypothesis Significance Testing (NHST) commonly consisting of three components.</a:t>
            </a:r>
            <a:endParaRPr lang="en-US" noProof="0" dirty="0"/>
          </a:p>
        </p:txBody>
      </p:sp>
      <p:sp>
        <p:nvSpPr>
          <p:cNvPr id="4" name="Date Placeholder 3">
            <a:extLst>
              <a:ext uri="{FF2B5EF4-FFF2-40B4-BE49-F238E27FC236}">
                <a16:creationId xmlns:a16="http://schemas.microsoft.com/office/drawing/2014/main" id="{EC1D621D-58DB-4F10-E363-E0C9E472FC2B}"/>
              </a:ext>
            </a:extLst>
          </p:cNvPr>
          <p:cNvSpPr>
            <a:spLocks noGrp="1"/>
          </p:cNvSpPr>
          <p:nvPr>
            <p:ph type="dt" sz="half" idx="10"/>
          </p:nvPr>
        </p:nvSpPr>
        <p:spPr/>
        <p:txBody>
          <a:bodyPr/>
          <a:lstStyle/>
          <a:p>
            <a:r>
              <a:rPr lang="en-SE" noProof="0"/>
              <a:t>2026-08-17</a:t>
            </a:r>
            <a:endParaRPr lang="en-US" noProof="0" dirty="0"/>
          </a:p>
        </p:txBody>
      </p:sp>
      <p:sp>
        <p:nvSpPr>
          <p:cNvPr id="5" name="Footer Placeholder 4">
            <a:extLst>
              <a:ext uri="{FF2B5EF4-FFF2-40B4-BE49-F238E27FC236}">
                <a16:creationId xmlns:a16="http://schemas.microsoft.com/office/drawing/2014/main" id="{BE327D28-8958-5E80-DD79-8204165ACF89}"/>
              </a:ext>
            </a:extLst>
          </p:cNvPr>
          <p:cNvSpPr>
            <a:spLocks noGrp="1"/>
          </p:cNvSpPr>
          <p:nvPr>
            <p:ph type="ftr" sz="quarter" idx="11"/>
          </p:nvPr>
        </p:nvSpPr>
        <p:spPr/>
        <p:txBody>
          <a:bodyPr/>
          <a:lstStyle/>
          <a:p>
            <a:r>
              <a:rPr lang="en-US" noProof="0"/>
              <a:t>Bayesian Data Analysis Tutorial</a:t>
            </a:r>
            <a:endParaRPr lang="en-US" noProof="0" dirty="0"/>
          </a:p>
        </p:txBody>
      </p:sp>
      <p:sp>
        <p:nvSpPr>
          <p:cNvPr id="6" name="Slide Number Placeholder 5">
            <a:extLst>
              <a:ext uri="{FF2B5EF4-FFF2-40B4-BE49-F238E27FC236}">
                <a16:creationId xmlns:a16="http://schemas.microsoft.com/office/drawing/2014/main" id="{20281ED9-98E0-A3F6-CE45-AD95424CFF7A}"/>
              </a:ext>
            </a:extLst>
          </p:cNvPr>
          <p:cNvSpPr>
            <a:spLocks noGrp="1"/>
          </p:cNvSpPr>
          <p:nvPr>
            <p:ph type="sldNum" sz="quarter" idx="12"/>
          </p:nvPr>
        </p:nvSpPr>
        <p:spPr/>
        <p:txBody>
          <a:bodyPr/>
          <a:lstStyle/>
          <a:p>
            <a:fld id="{271ECC92-9CDE-4EB3-B1C5-F46B9E1FA3C1}" type="slidenum">
              <a:rPr lang="en-US" noProof="0" smtClean="0"/>
              <a:t>12</a:t>
            </a:fld>
            <a:endParaRPr lang="en-US" noProof="0" dirty="0"/>
          </a:p>
        </p:txBody>
      </p:sp>
      <p:pic>
        <p:nvPicPr>
          <p:cNvPr id="12" name="Graphic 11" descr="Database with solid fill">
            <a:extLst>
              <a:ext uri="{FF2B5EF4-FFF2-40B4-BE49-F238E27FC236}">
                <a16:creationId xmlns:a16="http://schemas.microsoft.com/office/drawing/2014/main" id="{1029A473-9A13-77EE-620D-3FBE7935E4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36000" y="3210684"/>
            <a:ext cx="720000" cy="720000"/>
          </a:xfrm>
          <a:prstGeom prst="rect">
            <a:avLst/>
          </a:prstGeom>
        </p:spPr>
      </p:pic>
      <p:pic>
        <p:nvPicPr>
          <p:cNvPr id="14" name="Graphic 13" descr="Question Mark with solid fill">
            <a:extLst>
              <a:ext uri="{FF2B5EF4-FFF2-40B4-BE49-F238E27FC236}">
                <a16:creationId xmlns:a16="http://schemas.microsoft.com/office/drawing/2014/main" id="{C522A53E-86D1-3D24-472E-6640AF4241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07865" y="3210684"/>
            <a:ext cx="720000" cy="720000"/>
          </a:xfrm>
          <a:prstGeom prst="rect">
            <a:avLst/>
          </a:prstGeom>
        </p:spPr>
      </p:pic>
      <p:sp>
        <p:nvSpPr>
          <p:cNvPr id="15" name="TextBox 14">
            <a:extLst>
              <a:ext uri="{FF2B5EF4-FFF2-40B4-BE49-F238E27FC236}">
                <a16:creationId xmlns:a16="http://schemas.microsoft.com/office/drawing/2014/main" id="{BBD2E2B5-4476-D98E-415E-E76CAF5EC3ED}"/>
              </a:ext>
            </a:extLst>
          </p:cNvPr>
          <p:cNvSpPr txBox="1"/>
          <p:nvPr/>
        </p:nvSpPr>
        <p:spPr>
          <a:xfrm>
            <a:off x="2586053" y="4074012"/>
            <a:ext cx="1763624" cy="369332"/>
          </a:xfrm>
          <a:prstGeom prst="rect">
            <a:avLst/>
          </a:prstGeom>
          <a:noFill/>
        </p:spPr>
        <p:txBody>
          <a:bodyPr wrap="none" rtlCol="0">
            <a:spAutoFit/>
          </a:bodyPr>
          <a:lstStyle/>
          <a:p>
            <a:pPr algn="r"/>
            <a:r>
              <a:rPr lang="en-US" noProof="0" dirty="0"/>
              <a:t>Null-hypothesis</a:t>
            </a:r>
          </a:p>
        </p:txBody>
      </p:sp>
      <p:sp>
        <p:nvSpPr>
          <p:cNvPr id="16" name="TextBox 15">
            <a:extLst>
              <a:ext uri="{FF2B5EF4-FFF2-40B4-BE49-F238E27FC236}">
                <a16:creationId xmlns:a16="http://schemas.microsoft.com/office/drawing/2014/main" id="{2744B8D2-141E-5FA9-FCC1-50AFFBCD1AF6}"/>
              </a:ext>
            </a:extLst>
          </p:cNvPr>
          <p:cNvSpPr txBox="1"/>
          <p:nvPr/>
        </p:nvSpPr>
        <p:spPr>
          <a:xfrm>
            <a:off x="5764819" y="4067751"/>
            <a:ext cx="662361" cy="369332"/>
          </a:xfrm>
          <a:prstGeom prst="rect">
            <a:avLst/>
          </a:prstGeom>
          <a:noFill/>
        </p:spPr>
        <p:txBody>
          <a:bodyPr wrap="none" rtlCol="0">
            <a:spAutoFit/>
          </a:bodyPr>
          <a:lstStyle/>
          <a:p>
            <a:pPr algn="r"/>
            <a:r>
              <a:rPr lang="en-US" noProof="0" dirty="0"/>
              <a:t>Data</a:t>
            </a:r>
          </a:p>
        </p:txBody>
      </p:sp>
    </p:spTree>
    <p:extLst>
      <p:ext uri="{BB962C8B-B14F-4D97-AF65-F5344CB8AC3E}">
        <p14:creationId xmlns:p14="http://schemas.microsoft.com/office/powerpoint/2010/main" val="2457999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58822-22A5-1607-7691-453668364C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7CEF7D-AF14-B802-44D6-53571F02985E}"/>
              </a:ext>
            </a:extLst>
          </p:cNvPr>
          <p:cNvSpPr>
            <a:spLocks noGrp="1"/>
          </p:cNvSpPr>
          <p:nvPr>
            <p:ph type="title"/>
          </p:nvPr>
        </p:nvSpPr>
        <p:spPr/>
        <p:txBody>
          <a:bodyPr/>
          <a:lstStyle/>
          <a:p>
            <a:r>
              <a:rPr lang="en-US" noProof="0" dirty="0"/>
              <a:t>Null-Hypothesis Significance Tests</a:t>
            </a:r>
          </a:p>
        </p:txBody>
      </p:sp>
      <p:sp>
        <p:nvSpPr>
          <p:cNvPr id="3" name="Content Placeholder 2">
            <a:extLst>
              <a:ext uri="{FF2B5EF4-FFF2-40B4-BE49-F238E27FC236}">
                <a16:creationId xmlns:a16="http://schemas.microsoft.com/office/drawing/2014/main" id="{865BB3A0-64FA-B762-D127-155C61CF52BB}"/>
              </a:ext>
            </a:extLst>
          </p:cNvPr>
          <p:cNvSpPr>
            <a:spLocks noGrp="1"/>
          </p:cNvSpPr>
          <p:nvPr>
            <p:ph idx="1"/>
          </p:nvPr>
        </p:nvSpPr>
        <p:spPr>
          <a:xfrm>
            <a:off x="838200" y="1825625"/>
            <a:ext cx="10515600" cy="1332400"/>
          </a:xfrm>
        </p:spPr>
        <p:txBody>
          <a:bodyPr>
            <a:normAutofit/>
          </a:bodyPr>
          <a:lstStyle/>
          <a:p>
            <a:pPr marL="0" indent="0">
              <a:buNone/>
            </a:pPr>
            <a:r>
              <a:rPr lang="en-SE" noProof="0" dirty="0"/>
              <a:t>The state-of-practice for </a:t>
            </a:r>
            <a:r>
              <a:rPr lang="en-SE" noProof="0" dirty="0" err="1"/>
              <a:t>analyzing</a:t>
            </a:r>
            <a:r>
              <a:rPr lang="en-SE" noProof="0" dirty="0"/>
              <a:t> quantitative data in SE research focuses on Null-Hypothesis Significance Testing (NHST) commonly consisting of three components.</a:t>
            </a:r>
            <a:endParaRPr lang="en-US" noProof="0" dirty="0"/>
          </a:p>
        </p:txBody>
      </p:sp>
      <p:sp>
        <p:nvSpPr>
          <p:cNvPr id="4" name="Date Placeholder 3">
            <a:extLst>
              <a:ext uri="{FF2B5EF4-FFF2-40B4-BE49-F238E27FC236}">
                <a16:creationId xmlns:a16="http://schemas.microsoft.com/office/drawing/2014/main" id="{0671D86B-A144-3DFB-A2F9-8BF08D2703C5}"/>
              </a:ext>
            </a:extLst>
          </p:cNvPr>
          <p:cNvSpPr>
            <a:spLocks noGrp="1"/>
          </p:cNvSpPr>
          <p:nvPr>
            <p:ph type="dt" sz="half" idx="10"/>
          </p:nvPr>
        </p:nvSpPr>
        <p:spPr/>
        <p:txBody>
          <a:bodyPr/>
          <a:lstStyle/>
          <a:p>
            <a:r>
              <a:rPr lang="en-SE" noProof="0"/>
              <a:t>2026-08-17</a:t>
            </a:r>
            <a:endParaRPr lang="en-US" noProof="0" dirty="0"/>
          </a:p>
        </p:txBody>
      </p:sp>
      <p:sp>
        <p:nvSpPr>
          <p:cNvPr id="5" name="Footer Placeholder 4">
            <a:extLst>
              <a:ext uri="{FF2B5EF4-FFF2-40B4-BE49-F238E27FC236}">
                <a16:creationId xmlns:a16="http://schemas.microsoft.com/office/drawing/2014/main" id="{C1B9ECB5-92FE-5755-4E7A-6B9B18D3798B}"/>
              </a:ext>
            </a:extLst>
          </p:cNvPr>
          <p:cNvSpPr>
            <a:spLocks noGrp="1"/>
          </p:cNvSpPr>
          <p:nvPr>
            <p:ph type="ftr" sz="quarter" idx="11"/>
          </p:nvPr>
        </p:nvSpPr>
        <p:spPr/>
        <p:txBody>
          <a:bodyPr/>
          <a:lstStyle/>
          <a:p>
            <a:r>
              <a:rPr lang="en-US" noProof="0"/>
              <a:t>Bayesian Data Analysis Tutorial</a:t>
            </a:r>
            <a:endParaRPr lang="en-US" noProof="0" dirty="0"/>
          </a:p>
        </p:txBody>
      </p:sp>
      <p:sp>
        <p:nvSpPr>
          <p:cNvPr id="6" name="Slide Number Placeholder 5">
            <a:extLst>
              <a:ext uri="{FF2B5EF4-FFF2-40B4-BE49-F238E27FC236}">
                <a16:creationId xmlns:a16="http://schemas.microsoft.com/office/drawing/2014/main" id="{C7AF9D63-1EEC-D07C-BBCD-9F0FEA994979}"/>
              </a:ext>
            </a:extLst>
          </p:cNvPr>
          <p:cNvSpPr>
            <a:spLocks noGrp="1"/>
          </p:cNvSpPr>
          <p:nvPr>
            <p:ph type="sldNum" sz="quarter" idx="12"/>
          </p:nvPr>
        </p:nvSpPr>
        <p:spPr/>
        <p:txBody>
          <a:bodyPr/>
          <a:lstStyle/>
          <a:p>
            <a:fld id="{271ECC92-9CDE-4EB3-B1C5-F46B9E1FA3C1}" type="slidenum">
              <a:rPr lang="en-US" noProof="0" smtClean="0"/>
              <a:t>13</a:t>
            </a:fld>
            <a:endParaRPr lang="en-US" noProof="0" dirty="0"/>
          </a:p>
        </p:txBody>
      </p:sp>
      <p:pic>
        <p:nvPicPr>
          <p:cNvPr id="10" name="Graphic 9" descr="Normal Distribution with solid fill">
            <a:extLst>
              <a:ext uri="{FF2B5EF4-FFF2-40B4-BE49-F238E27FC236}">
                <a16:creationId xmlns:a16="http://schemas.microsoft.com/office/drawing/2014/main" id="{70453230-4802-CB5F-8DCD-E68F06E136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65665" y="3210684"/>
            <a:ext cx="720000" cy="720000"/>
          </a:xfrm>
          <a:prstGeom prst="rect">
            <a:avLst/>
          </a:prstGeom>
        </p:spPr>
      </p:pic>
      <p:pic>
        <p:nvPicPr>
          <p:cNvPr id="12" name="Graphic 11" descr="Database with solid fill">
            <a:extLst>
              <a:ext uri="{FF2B5EF4-FFF2-40B4-BE49-F238E27FC236}">
                <a16:creationId xmlns:a16="http://schemas.microsoft.com/office/drawing/2014/main" id="{C9E8643C-C077-2D25-1976-ADA92FD67C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36000" y="3210684"/>
            <a:ext cx="720000" cy="720000"/>
          </a:xfrm>
          <a:prstGeom prst="rect">
            <a:avLst/>
          </a:prstGeom>
        </p:spPr>
      </p:pic>
      <p:pic>
        <p:nvPicPr>
          <p:cNvPr id="14" name="Graphic 13" descr="Question Mark with solid fill">
            <a:extLst>
              <a:ext uri="{FF2B5EF4-FFF2-40B4-BE49-F238E27FC236}">
                <a16:creationId xmlns:a16="http://schemas.microsoft.com/office/drawing/2014/main" id="{BF99C5F2-13A4-5575-DB4B-5CE61BAF7F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07865" y="3210684"/>
            <a:ext cx="720000" cy="720000"/>
          </a:xfrm>
          <a:prstGeom prst="rect">
            <a:avLst/>
          </a:prstGeom>
        </p:spPr>
      </p:pic>
      <p:sp>
        <p:nvSpPr>
          <p:cNvPr id="15" name="TextBox 14">
            <a:extLst>
              <a:ext uri="{FF2B5EF4-FFF2-40B4-BE49-F238E27FC236}">
                <a16:creationId xmlns:a16="http://schemas.microsoft.com/office/drawing/2014/main" id="{C37F551B-639D-D4C7-200F-C651E34E5621}"/>
              </a:ext>
            </a:extLst>
          </p:cNvPr>
          <p:cNvSpPr txBox="1"/>
          <p:nvPr/>
        </p:nvSpPr>
        <p:spPr>
          <a:xfrm>
            <a:off x="2586053" y="4074012"/>
            <a:ext cx="1763624" cy="369332"/>
          </a:xfrm>
          <a:prstGeom prst="rect">
            <a:avLst/>
          </a:prstGeom>
          <a:noFill/>
        </p:spPr>
        <p:txBody>
          <a:bodyPr wrap="none" rtlCol="0">
            <a:spAutoFit/>
          </a:bodyPr>
          <a:lstStyle/>
          <a:p>
            <a:pPr algn="r"/>
            <a:r>
              <a:rPr lang="en-US" noProof="0" dirty="0"/>
              <a:t>Null-hypothesis</a:t>
            </a:r>
          </a:p>
        </p:txBody>
      </p:sp>
      <p:sp>
        <p:nvSpPr>
          <p:cNvPr id="16" name="TextBox 15">
            <a:extLst>
              <a:ext uri="{FF2B5EF4-FFF2-40B4-BE49-F238E27FC236}">
                <a16:creationId xmlns:a16="http://schemas.microsoft.com/office/drawing/2014/main" id="{4D7C876E-731A-AD1D-4194-02C8659AE6D7}"/>
              </a:ext>
            </a:extLst>
          </p:cNvPr>
          <p:cNvSpPr txBox="1"/>
          <p:nvPr/>
        </p:nvSpPr>
        <p:spPr>
          <a:xfrm>
            <a:off x="5764819" y="4067751"/>
            <a:ext cx="662361" cy="369332"/>
          </a:xfrm>
          <a:prstGeom prst="rect">
            <a:avLst/>
          </a:prstGeom>
          <a:noFill/>
        </p:spPr>
        <p:txBody>
          <a:bodyPr wrap="none" rtlCol="0">
            <a:spAutoFit/>
          </a:bodyPr>
          <a:lstStyle/>
          <a:p>
            <a:pPr algn="r"/>
            <a:r>
              <a:rPr lang="en-US" noProof="0" dirty="0"/>
              <a:t>Data</a:t>
            </a:r>
          </a:p>
        </p:txBody>
      </p:sp>
      <p:sp>
        <p:nvSpPr>
          <p:cNvPr id="17" name="TextBox 16">
            <a:extLst>
              <a:ext uri="{FF2B5EF4-FFF2-40B4-BE49-F238E27FC236}">
                <a16:creationId xmlns:a16="http://schemas.microsoft.com/office/drawing/2014/main" id="{C1850CF3-8BDD-490F-FD6B-A8F3C97F7ACD}"/>
              </a:ext>
            </a:extLst>
          </p:cNvPr>
          <p:cNvSpPr txBox="1"/>
          <p:nvPr/>
        </p:nvSpPr>
        <p:spPr>
          <a:xfrm>
            <a:off x="7831446" y="4075096"/>
            <a:ext cx="1788438" cy="369332"/>
          </a:xfrm>
          <a:prstGeom prst="rect">
            <a:avLst/>
          </a:prstGeom>
          <a:noFill/>
        </p:spPr>
        <p:txBody>
          <a:bodyPr wrap="none" rtlCol="0">
            <a:spAutoFit/>
          </a:bodyPr>
          <a:lstStyle/>
          <a:p>
            <a:pPr algn="r"/>
            <a:r>
              <a:rPr lang="en-US" noProof="0" dirty="0"/>
              <a:t>Appropriate test</a:t>
            </a:r>
          </a:p>
        </p:txBody>
      </p:sp>
      <p:pic>
        <p:nvPicPr>
          <p:cNvPr id="8" name="Picture 7">
            <a:extLst>
              <a:ext uri="{FF2B5EF4-FFF2-40B4-BE49-F238E27FC236}">
                <a16:creationId xmlns:a16="http://schemas.microsoft.com/office/drawing/2014/main" id="{6C805856-E146-354F-2EF1-9B4A7FDD443F}"/>
              </a:ext>
            </a:extLst>
          </p:cNvPr>
          <p:cNvPicPr>
            <a:picLocks noChangeAspect="1"/>
          </p:cNvPicPr>
          <p:nvPr/>
        </p:nvPicPr>
        <p:blipFill>
          <a:blip r:embed="rId6"/>
          <a:stretch>
            <a:fillRect/>
          </a:stretch>
        </p:blipFill>
        <p:spPr>
          <a:xfrm>
            <a:off x="7363831" y="4599280"/>
            <a:ext cx="4093738" cy="3334753"/>
          </a:xfrm>
          <a:prstGeom prst="rect">
            <a:avLst/>
          </a:prstGeom>
        </p:spPr>
      </p:pic>
      <p:sp>
        <p:nvSpPr>
          <p:cNvPr id="13" name="TextBox 12">
            <a:extLst>
              <a:ext uri="{FF2B5EF4-FFF2-40B4-BE49-F238E27FC236}">
                <a16:creationId xmlns:a16="http://schemas.microsoft.com/office/drawing/2014/main" id="{B8E48C4E-4166-C325-375A-8CDB57B69BC2}"/>
              </a:ext>
            </a:extLst>
          </p:cNvPr>
          <p:cNvSpPr txBox="1"/>
          <p:nvPr/>
        </p:nvSpPr>
        <p:spPr>
          <a:xfrm>
            <a:off x="838198" y="5928103"/>
            <a:ext cx="3425911" cy="338554"/>
          </a:xfrm>
          <a:prstGeom prst="rect">
            <a:avLst/>
          </a:prstGeom>
          <a:noFill/>
        </p:spPr>
        <p:txBody>
          <a:bodyPr wrap="square">
            <a:spAutoFit/>
          </a:bodyPr>
          <a:lstStyle/>
          <a:p>
            <a:r>
              <a:rPr lang="en-US" sz="800" noProof="0" dirty="0"/>
              <a:t>McElreath, Richard. </a:t>
            </a:r>
            <a:r>
              <a:rPr lang="en-US" sz="800" i="1" noProof="0" dirty="0"/>
              <a:t>Statistical rethinking: A Bayesian course with examples in R and Stan</a:t>
            </a:r>
            <a:r>
              <a:rPr lang="en-US" sz="800" noProof="0" dirty="0"/>
              <a:t>. Chapman and Hall/CRC, 2018.</a:t>
            </a:r>
          </a:p>
        </p:txBody>
      </p:sp>
    </p:spTree>
    <p:extLst>
      <p:ext uri="{BB962C8B-B14F-4D97-AF65-F5344CB8AC3E}">
        <p14:creationId xmlns:p14="http://schemas.microsoft.com/office/powerpoint/2010/main" val="2678042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3B01E-92D7-23E6-A8E5-F1B9282CB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CE67FA-23EE-72DB-0418-87DD9181588D}"/>
              </a:ext>
            </a:extLst>
          </p:cNvPr>
          <p:cNvSpPr>
            <a:spLocks noGrp="1"/>
          </p:cNvSpPr>
          <p:nvPr>
            <p:ph type="title"/>
          </p:nvPr>
        </p:nvSpPr>
        <p:spPr/>
        <p:txBody>
          <a:bodyPr/>
          <a:lstStyle/>
          <a:p>
            <a:r>
              <a:rPr lang="en-US" noProof="0" dirty="0"/>
              <a:t>Null-Hypothesis Significance Tests</a:t>
            </a:r>
          </a:p>
        </p:txBody>
      </p:sp>
      <p:sp>
        <p:nvSpPr>
          <p:cNvPr id="3" name="Content Placeholder 2">
            <a:extLst>
              <a:ext uri="{FF2B5EF4-FFF2-40B4-BE49-F238E27FC236}">
                <a16:creationId xmlns:a16="http://schemas.microsoft.com/office/drawing/2014/main" id="{D3FEFB9D-8358-A617-2A99-7AE47D5B2A31}"/>
              </a:ext>
            </a:extLst>
          </p:cNvPr>
          <p:cNvSpPr>
            <a:spLocks noGrp="1"/>
          </p:cNvSpPr>
          <p:nvPr>
            <p:ph idx="1"/>
          </p:nvPr>
        </p:nvSpPr>
        <p:spPr>
          <a:xfrm>
            <a:off x="838200" y="1825625"/>
            <a:ext cx="10515600" cy="679847"/>
          </a:xfrm>
        </p:spPr>
        <p:txBody>
          <a:bodyPr/>
          <a:lstStyle/>
          <a:p>
            <a:pPr marL="0" indent="0">
              <a:buNone/>
            </a:pPr>
            <a:r>
              <a:rPr lang="en-US" noProof="0" dirty="0"/>
              <a:t>Null-hypothesis significance tests (NHSTs) work roughly as follows:</a:t>
            </a:r>
          </a:p>
        </p:txBody>
      </p:sp>
      <p:sp>
        <p:nvSpPr>
          <p:cNvPr id="4" name="Date Placeholder 3">
            <a:extLst>
              <a:ext uri="{FF2B5EF4-FFF2-40B4-BE49-F238E27FC236}">
                <a16:creationId xmlns:a16="http://schemas.microsoft.com/office/drawing/2014/main" id="{53F4B604-FE93-B436-8D3F-F76980D4C6CF}"/>
              </a:ext>
            </a:extLst>
          </p:cNvPr>
          <p:cNvSpPr>
            <a:spLocks noGrp="1"/>
          </p:cNvSpPr>
          <p:nvPr>
            <p:ph type="dt" sz="half" idx="10"/>
          </p:nvPr>
        </p:nvSpPr>
        <p:spPr/>
        <p:txBody>
          <a:bodyPr/>
          <a:lstStyle/>
          <a:p>
            <a:r>
              <a:rPr lang="en-SE" noProof="0"/>
              <a:t>2026-08-17</a:t>
            </a:r>
            <a:endParaRPr lang="en-US" noProof="0" dirty="0"/>
          </a:p>
        </p:txBody>
      </p:sp>
      <p:sp>
        <p:nvSpPr>
          <p:cNvPr id="5" name="Footer Placeholder 4">
            <a:extLst>
              <a:ext uri="{FF2B5EF4-FFF2-40B4-BE49-F238E27FC236}">
                <a16:creationId xmlns:a16="http://schemas.microsoft.com/office/drawing/2014/main" id="{711B9FDA-48E5-E2EB-C3BC-D2E474A0AABC}"/>
              </a:ext>
            </a:extLst>
          </p:cNvPr>
          <p:cNvSpPr>
            <a:spLocks noGrp="1"/>
          </p:cNvSpPr>
          <p:nvPr>
            <p:ph type="ftr" sz="quarter" idx="11"/>
          </p:nvPr>
        </p:nvSpPr>
        <p:spPr/>
        <p:txBody>
          <a:bodyPr/>
          <a:lstStyle/>
          <a:p>
            <a:r>
              <a:rPr lang="en-US" noProof="0"/>
              <a:t>Bayesian Data Analysis Tutorial</a:t>
            </a:r>
            <a:endParaRPr lang="en-US" noProof="0" dirty="0"/>
          </a:p>
        </p:txBody>
      </p:sp>
      <p:sp>
        <p:nvSpPr>
          <p:cNvPr id="6" name="Slide Number Placeholder 5">
            <a:extLst>
              <a:ext uri="{FF2B5EF4-FFF2-40B4-BE49-F238E27FC236}">
                <a16:creationId xmlns:a16="http://schemas.microsoft.com/office/drawing/2014/main" id="{712CEB0B-C1EA-4360-2819-C726C232C0DF}"/>
              </a:ext>
            </a:extLst>
          </p:cNvPr>
          <p:cNvSpPr>
            <a:spLocks noGrp="1"/>
          </p:cNvSpPr>
          <p:nvPr>
            <p:ph type="sldNum" sz="quarter" idx="12"/>
          </p:nvPr>
        </p:nvSpPr>
        <p:spPr/>
        <p:txBody>
          <a:bodyPr/>
          <a:lstStyle/>
          <a:p>
            <a:fld id="{271ECC92-9CDE-4EB3-B1C5-F46B9E1FA3C1}" type="slidenum">
              <a:rPr lang="en-US" noProof="0" smtClean="0"/>
              <a:t>14</a:t>
            </a:fld>
            <a:endParaRPr lang="en-US" noProof="0" dirty="0"/>
          </a:p>
        </p:txBody>
      </p:sp>
      <p:sp>
        <p:nvSpPr>
          <p:cNvPr id="7" name="Arrow: Pentagon 6">
            <a:extLst>
              <a:ext uri="{FF2B5EF4-FFF2-40B4-BE49-F238E27FC236}">
                <a16:creationId xmlns:a16="http://schemas.microsoft.com/office/drawing/2014/main" id="{1147A4D0-E28F-BD7E-13C0-19EBCBC6CF13}"/>
              </a:ext>
            </a:extLst>
          </p:cNvPr>
          <p:cNvSpPr/>
          <p:nvPr/>
        </p:nvSpPr>
        <p:spPr>
          <a:xfrm>
            <a:off x="5066133" y="3300025"/>
            <a:ext cx="2071487" cy="984504"/>
          </a:xfrm>
          <a:prstGeom prst="homePlate">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t>NHST</a:t>
            </a:r>
            <a:endParaRPr lang="en-US" b="1" noProof="0" dirty="0"/>
          </a:p>
        </p:txBody>
      </p:sp>
      <p:sp>
        <p:nvSpPr>
          <p:cNvPr id="8" name="Right Brace 7">
            <a:extLst>
              <a:ext uri="{FF2B5EF4-FFF2-40B4-BE49-F238E27FC236}">
                <a16:creationId xmlns:a16="http://schemas.microsoft.com/office/drawing/2014/main" id="{562619EE-83A4-5009-0B14-0E067DD232B4}"/>
              </a:ext>
            </a:extLst>
          </p:cNvPr>
          <p:cNvSpPr/>
          <p:nvPr/>
        </p:nvSpPr>
        <p:spPr>
          <a:xfrm>
            <a:off x="4695568" y="2539464"/>
            <a:ext cx="364688" cy="2505627"/>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noProof="0" dirty="0"/>
          </a:p>
        </p:txBody>
      </p:sp>
      <p:pic>
        <p:nvPicPr>
          <p:cNvPr id="10" name="Graphic 9" descr="Normal Distribution with solid fill">
            <a:extLst>
              <a:ext uri="{FF2B5EF4-FFF2-40B4-BE49-F238E27FC236}">
                <a16:creationId xmlns:a16="http://schemas.microsoft.com/office/drawing/2014/main" id="{D2617C1D-D939-D0A6-7263-BDD3BBA3FE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49096" y="4358344"/>
            <a:ext cx="720000" cy="720000"/>
          </a:xfrm>
          <a:prstGeom prst="rect">
            <a:avLst/>
          </a:prstGeom>
        </p:spPr>
      </p:pic>
      <p:pic>
        <p:nvPicPr>
          <p:cNvPr id="12" name="Graphic 11" descr="Database with solid fill">
            <a:extLst>
              <a:ext uri="{FF2B5EF4-FFF2-40B4-BE49-F238E27FC236}">
                <a16:creationId xmlns:a16="http://schemas.microsoft.com/office/drawing/2014/main" id="{940AEF2A-B072-5D8B-D542-22208AFA15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49096" y="3434816"/>
            <a:ext cx="720000" cy="720000"/>
          </a:xfrm>
          <a:prstGeom prst="rect">
            <a:avLst/>
          </a:prstGeom>
        </p:spPr>
      </p:pic>
      <p:pic>
        <p:nvPicPr>
          <p:cNvPr id="14" name="Graphic 13" descr="Question Mark with solid fill">
            <a:extLst>
              <a:ext uri="{FF2B5EF4-FFF2-40B4-BE49-F238E27FC236}">
                <a16:creationId xmlns:a16="http://schemas.microsoft.com/office/drawing/2014/main" id="{E8CA4FC5-811F-D1B6-2B57-F66EF5B1A3C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49096" y="2511288"/>
            <a:ext cx="720000" cy="720000"/>
          </a:xfrm>
          <a:prstGeom prst="rect">
            <a:avLst/>
          </a:prstGeom>
        </p:spPr>
      </p:pic>
      <p:sp>
        <p:nvSpPr>
          <p:cNvPr id="15" name="TextBox 14">
            <a:extLst>
              <a:ext uri="{FF2B5EF4-FFF2-40B4-BE49-F238E27FC236}">
                <a16:creationId xmlns:a16="http://schemas.microsoft.com/office/drawing/2014/main" id="{0F309B5C-C234-8D08-28A9-3B18905AE623}"/>
              </a:ext>
            </a:extLst>
          </p:cNvPr>
          <p:cNvSpPr txBox="1"/>
          <p:nvPr/>
        </p:nvSpPr>
        <p:spPr>
          <a:xfrm>
            <a:off x="2159000" y="2686622"/>
            <a:ext cx="1763624" cy="369332"/>
          </a:xfrm>
          <a:prstGeom prst="rect">
            <a:avLst/>
          </a:prstGeom>
          <a:noFill/>
        </p:spPr>
        <p:txBody>
          <a:bodyPr wrap="none" rtlCol="0">
            <a:spAutoFit/>
          </a:bodyPr>
          <a:lstStyle/>
          <a:p>
            <a:pPr algn="r"/>
            <a:r>
              <a:rPr lang="en-US" noProof="0" dirty="0"/>
              <a:t>Null-hypothesis</a:t>
            </a:r>
          </a:p>
        </p:txBody>
      </p:sp>
      <p:sp>
        <p:nvSpPr>
          <p:cNvPr id="16" name="TextBox 15">
            <a:extLst>
              <a:ext uri="{FF2B5EF4-FFF2-40B4-BE49-F238E27FC236}">
                <a16:creationId xmlns:a16="http://schemas.microsoft.com/office/drawing/2014/main" id="{B3EA3721-26D5-A4A0-D895-0E6F5443BD66}"/>
              </a:ext>
            </a:extLst>
          </p:cNvPr>
          <p:cNvSpPr txBox="1"/>
          <p:nvPr/>
        </p:nvSpPr>
        <p:spPr>
          <a:xfrm>
            <a:off x="3260263" y="3607611"/>
            <a:ext cx="662361" cy="369332"/>
          </a:xfrm>
          <a:prstGeom prst="rect">
            <a:avLst/>
          </a:prstGeom>
          <a:noFill/>
        </p:spPr>
        <p:txBody>
          <a:bodyPr wrap="none" rtlCol="0">
            <a:spAutoFit/>
          </a:bodyPr>
          <a:lstStyle/>
          <a:p>
            <a:pPr algn="r"/>
            <a:r>
              <a:rPr lang="en-US" noProof="0" dirty="0"/>
              <a:t>Data</a:t>
            </a:r>
          </a:p>
        </p:txBody>
      </p:sp>
      <p:sp>
        <p:nvSpPr>
          <p:cNvPr id="17" name="TextBox 16">
            <a:extLst>
              <a:ext uri="{FF2B5EF4-FFF2-40B4-BE49-F238E27FC236}">
                <a16:creationId xmlns:a16="http://schemas.microsoft.com/office/drawing/2014/main" id="{83986EED-6F24-5067-D0BC-0EDD4D7D2415}"/>
              </a:ext>
            </a:extLst>
          </p:cNvPr>
          <p:cNvSpPr txBox="1"/>
          <p:nvPr/>
        </p:nvSpPr>
        <p:spPr>
          <a:xfrm>
            <a:off x="2124142" y="4533678"/>
            <a:ext cx="1788438" cy="369332"/>
          </a:xfrm>
          <a:prstGeom prst="rect">
            <a:avLst/>
          </a:prstGeom>
          <a:noFill/>
        </p:spPr>
        <p:txBody>
          <a:bodyPr wrap="none" rtlCol="0">
            <a:spAutoFit/>
          </a:bodyPr>
          <a:lstStyle/>
          <a:p>
            <a:pPr algn="r"/>
            <a:r>
              <a:rPr lang="en-US" noProof="0" dirty="0"/>
              <a:t>Appropriate test</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754450F-0AB7-81C0-5EFC-449EF2D1D590}"/>
                  </a:ext>
                </a:extLst>
              </p:cNvPr>
              <p:cNvSpPr txBox="1"/>
              <p:nvPr/>
            </p:nvSpPr>
            <p:spPr>
              <a:xfrm>
                <a:off x="7224107" y="3607611"/>
                <a:ext cx="1882695" cy="369332"/>
              </a:xfrm>
              <a:prstGeom prst="rect">
                <a:avLst/>
              </a:prstGeom>
              <a:noFill/>
            </p:spPr>
            <p:txBody>
              <a:bodyPr wrap="none" rtlCol="0">
                <a:spAutoFit/>
              </a:bodyPr>
              <a:lstStyle/>
              <a:p>
                <a:r>
                  <a:rPr lang="en-US" noProof="0" dirty="0"/>
                  <a:t>p-value </a:t>
                </a:r>
                <a14:m>
                  <m:oMath xmlns:m="http://schemas.openxmlformats.org/officeDocument/2006/math">
                    <m:r>
                      <a:rPr lang="en-US" b="0" i="1" noProof="0" smtClean="0">
                        <a:latin typeface="Cambria Math" panose="02040503050406030204" pitchFamily="18" charset="0"/>
                      </a:rPr>
                      <m:t>𝑝</m:t>
                    </m:r>
                    <m:r>
                      <a:rPr lang="en-US" b="0" i="1" noProof="0" smtClean="0">
                        <a:latin typeface="Cambria Math" panose="02040503050406030204" pitchFamily="18" charset="0"/>
                      </a:rPr>
                      <m:t>∈[0, 1]</m:t>
                    </m:r>
                  </m:oMath>
                </a14:m>
                <a:endParaRPr lang="en-US" noProof="0" dirty="0"/>
              </a:p>
            </p:txBody>
          </p:sp>
        </mc:Choice>
        <mc:Fallback xmlns="">
          <p:sp>
            <p:nvSpPr>
              <p:cNvPr id="18" name="TextBox 17">
                <a:extLst>
                  <a:ext uri="{FF2B5EF4-FFF2-40B4-BE49-F238E27FC236}">
                    <a16:creationId xmlns:a16="http://schemas.microsoft.com/office/drawing/2014/main" id="{85C5F4FF-A27C-91C4-C79A-03074F8C5F3A}"/>
                  </a:ext>
                </a:extLst>
              </p:cNvPr>
              <p:cNvSpPr txBox="1">
                <a:spLocks noRot="1" noChangeAspect="1" noMove="1" noResize="1" noEditPoints="1" noAdjustHandles="1" noChangeArrowheads="1" noChangeShapeType="1" noTextEdit="1"/>
              </p:cNvSpPr>
              <p:nvPr/>
            </p:nvSpPr>
            <p:spPr>
              <a:xfrm>
                <a:off x="7224107" y="3607611"/>
                <a:ext cx="1882695" cy="369332"/>
              </a:xfrm>
              <a:prstGeom prst="rect">
                <a:avLst/>
              </a:prstGeom>
              <a:blipFill>
                <a:blip r:embed="rId6"/>
                <a:stretch>
                  <a:fillRect l="-2589" t="-8333" r="-324" b="-28333"/>
                </a:stretch>
              </a:blipFill>
            </p:spPr>
            <p:txBody>
              <a:bodyPr/>
              <a:lstStyle/>
              <a:p>
                <a:r>
                  <a:rPr lang="en-SE">
                    <a:noFill/>
                  </a:rPr>
                  <a:t> </a:t>
                </a:r>
              </a:p>
            </p:txBody>
          </p:sp>
        </mc:Fallback>
      </mc:AlternateContent>
    </p:spTree>
    <p:extLst>
      <p:ext uri="{BB962C8B-B14F-4D97-AF65-F5344CB8AC3E}">
        <p14:creationId xmlns:p14="http://schemas.microsoft.com/office/powerpoint/2010/main" val="1634849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0555044-302A-FCB2-7CE7-6E269F0082CF}"/>
              </a:ext>
            </a:extLst>
          </p:cNvPr>
          <p:cNvSpPr txBox="1"/>
          <p:nvPr/>
        </p:nvSpPr>
        <p:spPr>
          <a:xfrm>
            <a:off x="872246" y="2933544"/>
            <a:ext cx="4606389" cy="492443"/>
          </a:xfrm>
          <a:prstGeom prst="rect">
            <a:avLst/>
          </a:prstGeom>
          <a:noFill/>
        </p:spPr>
        <p:txBody>
          <a:bodyPr wrap="none" rtlCol="0">
            <a:spAutoFit/>
          </a:bodyPr>
          <a:lstStyle/>
          <a:p>
            <a:r>
              <a:rPr lang="en-SE" sz="2600" dirty="0">
                <a:solidFill>
                  <a:schemeClr val="bg1"/>
                </a:solidFill>
              </a:rPr>
              <a:t>What exactly is this mysterious</a:t>
            </a:r>
          </a:p>
        </p:txBody>
      </p:sp>
      <p:sp>
        <p:nvSpPr>
          <p:cNvPr id="9" name="TextBox 8">
            <a:extLst>
              <a:ext uri="{FF2B5EF4-FFF2-40B4-BE49-F238E27FC236}">
                <a16:creationId xmlns:a16="http://schemas.microsoft.com/office/drawing/2014/main" id="{A2AB7E8F-11FD-0530-CF76-A0BD43FCC265}"/>
              </a:ext>
            </a:extLst>
          </p:cNvPr>
          <p:cNvSpPr txBox="1"/>
          <p:nvPr/>
        </p:nvSpPr>
        <p:spPr>
          <a:xfrm>
            <a:off x="872246" y="3302876"/>
            <a:ext cx="4734951" cy="1569660"/>
          </a:xfrm>
          <a:prstGeom prst="rect">
            <a:avLst/>
          </a:prstGeom>
          <a:noFill/>
        </p:spPr>
        <p:txBody>
          <a:bodyPr wrap="none" rtlCol="0">
            <a:spAutoFit/>
          </a:bodyPr>
          <a:lstStyle/>
          <a:p>
            <a:r>
              <a:rPr lang="en-SE" sz="9600" dirty="0">
                <a:solidFill>
                  <a:schemeClr val="bg1"/>
                </a:solidFill>
              </a:rPr>
              <a:t>p-value?</a:t>
            </a:r>
          </a:p>
        </p:txBody>
      </p:sp>
    </p:spTree>
    <p:extLst>
      <p:ext uri="{BB962C8B-B14F-4D97-AF65-F5344CB8AC3E}">
        <p14:creationId xmlns:p14="http://schemas.microsoft.com/office/powerpoint/2010/main" val="1285613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07253-D9D0-39A5-A7B9-3E7A15E93EAC}"/>
              </a:ext>
            </a:extLst>
          </p:cNvPr>
          <p:cNvSpPr>
            <a:spLocks noGrp="1"/>
          </p:cNvSpPr>
          <p:nvPr>
            <p:ph type="title"/>
          </p:nvPr>
        </p:nvSpPr>
        <p:spPr/>
        <p:txBody>
          <a:bodyPr/>
          <a:lstStyle/>
          <a:p>
            <a:r>
              <a:rPr lang="en-US" noProof="0" dirty="0"/>
              <a:t>Null-Hypothesis Significance Tests</a:t>
            </a:r>
          </a:p>
        </p:txBody>
      </p:sp>
      <p:sp>
        <p:nvSpPr>
          <p:cNvPr id="3" name="Content Placeholder 2">
            <a:extLst>
              <a:ext uri="{FF2B5EF4-FFF2-40B4-BE49-F238E27FC236}">
                <a16:creationId xmlns:a16="http://schemas.microsoft.com/office/drawing/2014/main" id="{BE735D05-408F-900C-B77A-4E150D040A7E}"/>
              </a:ext>
            </a:extLst>
          </p:cNvPr>
          <p:cNvSpPr>
            <a:spLocks noGrp="1"/>
          </p:cNvSpPr>
          <p:nvPr>
            <p:ph idx="1"/>
          </p:nvPr>
        </p:nvSpPr>
        <p:spPr>
          <a:xfrm>
            <a:off x="838200" y="1825625"/>
            <a:ext cx="10515600" cy="607824"/>
          </a:xfrm>
        </p:spPr>
        <p:txBody>
          <a:bodyPr/>
          <a:lstStyle/>
          <a:p>
            <a:pPr marL="0" indent="0">
              <a:buNone/>
            </a:pPr>
            <a:r>
              <a:rPr lang="en-US" noProof="0" dirty="0"/>
              <a:t>A p-value is a statement about the observed data.  </a:t>
            </a:r>
          </a:p>
        </p:txBody>
      </p:sp>
      <p:sp>
        <p:nvSpPr>
          <p:cNvPr id="4" name="Date Placeholder 3">
            <a:extLst>
              <a:ext uri="{FF2B5EF4-FFF2-40B4-BE49-F238E27FC236}">
                <a16:creationId xmlns:a16="http://schemas.microsoft.com/office/drawing/2014/main" id="{775D0AA2-1D29-42B8-1725-509FEEC2BD6E}"/>
              </a:ext>
            </a:extLst>
          </p:cNvPr>
          <p:cNvSpPr>
            <a:spLocks noGrp="1"/>
          </p:cNvSpPr>
          <p:nvPr>
            <p:ph type="dt" sz="half" idx="10"/>
          </p:nvPr>
        </p:nvSpPr>
        <p:spPr/>
        <p:txBody>
          <a:bodyPr/>
          <a:lstStyle/>
          <a:p>
            <a:r>
              <a:rPr lang="en-SE" noProof="0"/>
              <a:t>2026-08-17</a:t>
            </a:r>
            <a:endParaRPr lang="en-US" noProof="0" dirty="0"/>
          </a:p>
        </p:txBody>
      </p:sp>
      <p:sp>
        <p:nvSpPr>
          <p:cNvPr id="5" name="Footer Placeholder 4">
            <a:extLst>
              <a:ext uri="{FF2B5EF4-FFF2-40B4-BE49-F238E27FC236}">
                <a16:creationId xmlns:a16="http://schemas.microsoft.com/office/drawing/2014/main" id="{5DD4E414-BCF9-CDCF-8F6B-9101A0485695}"/>
              </a:ext>
            </a:extLst>
          </p:cNvPr>
          <p:cNvSpPr>
            <a:spLocks noGrp="1"/>
          </p:cNvSpPr>
          <p:nvPr>
            <p:ph type="ftr" sz="quarter" idx="11"/>
          </p:nvPr>
        </p:nvSpPr>
        <p:spPr/>
        <p:txBody>
          <a:bodyPr/>
          <a:lstStyle/>
          <a:p>
            <a:r>
              <a:rPr lang="en-US" noProof="0"/>
              <a:t>Bayesian Data Analysis Tutorial</a:t>
            </a:r>
            <a:endParaRPr lang="en-US" noProof="0" dirty="0"/>
          </a:p>
        </p:txBody>
      </p:sp>
      <p:sp>
        <p:nvSpPr>
          <p:cNvPr id="6" name="Slide Number Placeholder 5">
            <a:extLst>
              <a:ext uri="{FF2B5EF4-FFF2-40B4-BE49-F238E27FC236}">
                <a16:creationId xmlns:a16="http://schemas.microsoft.com/office/drawing/2014/main" id="{9D877388-2517-A1F8-2E33-73C97FF16D95}"/>
              </a:ext>
            </a:extLst>
          </p:cNvPr>
          <p:cNvSpPr>
            <a:spLocks noGrp="1"/>
          </p:cNvSpPr>
          <p:nvPr>
            <p:ph type="sldNum" sz="quarter" idx="12"/>
          </p:nvPr>
        </p:nvSpPr>
        <p:spPr/>
        <p:txBody>
          <a:bodyPr/>
          <a:lstStyle/>
          <a:p>
            <a:fld id="{271ECC92-9CDE-4EB3-B1C5-F46B9E1FA3C1}" type="slidenum">
              <a:rPr lang="en-US" noProof="0" smtClean="0"/>
              <a:t>16</a:t>
            </a:fld>
            <a:endParaRPr lang="en-US" noProof="0" dirty="0"/>
          </a:p>
        </p:txBody>
      </p:sp>
      <p:grpSp>
        <p:nvGrpSpPr>
          <p:cNvPr id="7" name="Group 6">
            <a:extLst>
              <a:ext uri="{FF2B5EF4-FFF2-40B4-BE49-F238E27FC236}">
                <a16:creationId xmlns:a16="http://schemas.microsoft.com/office/drawing/2014/main" id="{9DB51363-D305-37BA-5252-7F557A7B3263}"/>
              </a:ext>
            </a:extLst>
          </p:cNvPr>
          <p:cNvGrpSpPr/>
          <p:nvPr/>
        </p:nvGrpSpPr>
        <p:grpSpPr>
          <a:xfrm>
            <a:off x="2056539" y="2573945"/>
            <a:ext cx="8078921" cy="903701"/>
            <a:chOff x="3108960" y="4454434"/>
            <a:chExt cx="8078921" cy="903701"/>
          </a:xfrm>
        </p:grpSpPr>
        <p:sp>
          <p:nvSpPr>
            <p:cNvPr id="8" name="Rectangle: Rounded Corners 7">
              <a:extLst>
                <a:ext uri="{FF2B5EF4-FFF2-40B4-BE49-F238E27FC236}">
                  <a16:creationId xmlns:a16="http://schemas.microsoft.com/office/drawing/2014/main" id="{69CDCB1A-7BD9-5733-9730-EE65A7D96537}"/>
                </a:ext>
              </a:extLst>
            </p:cNvPr>
            <p:cNvSpPr/>
            <p:nvPr/>
          </p:nvSpPr>
          <p:spPr>
            <a:xfrm>
              <a:off x="3108960" y="4454434"/>
              <a:ext cx="8078921" cy="903701"/>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0" rtlCol="0" anchor="ctr"/>
            <a:lstStyle/>
            <a:p>
              <a:r>
                <a:rPr lang="en-US" sz="2000" noProof="0" dirty="0">
                  <a:solidFill>
                    <a:schemeClr val="bg1"/>
                  </a:solidFill>
                </a:rPr>
                <a:t>A p-value is </a:t>
              </a:r>
              <a:r>
                <a:rPr lang="en-US" sz="2000" noProof="0" dirty="0"/>
                <a:t>the probability of observing data </a:t>
              </a:r>
              <a:r>
                <a:rPr lang="en-US" sz="2000" b="1" noProof="0" dirty="0"/>
                <a:t>at least as extreme as what you actually got</a:t>
              </a:r>
              <a:r>
                <a:rPr lang="en-US" sz="2000" noProof="0" dirty="0"/>
                <a:t>, </a:t>
              </a:r>
              <a:r>
                <a:rPr lang="en-US" sz="2000" i="1" noProof="0" dirty="0"/>
                <a:t>assuming the null hypothesis is true</a:t>
              </a:r>
              <a:r>
                <a:rPr lang="en-US" sz="2000" noProof="0" dirty="0"/>
                <a:t>.</a:t>
              </a:r>
              <a:endParaRPr lang="en-US" sz="2000" noProof="0" dirty="0">
                <a:solidFill>
                  <a:schemeClr val="bg1"/>
                </a:solidFill>
              </a:endParaRPr>
            </a:p>
          </p:txBody>
        </p:sp>
        <p:pic>
          <p:nvPicPr>
            <p:cNvPr id="9" name="Graphic 8" descr="Open quotation mark with solid fill">
              <a:extLst>
                <a:ext uri="{FF2B5EF4-FFF2-40B4-BE49-F238E27FC236}">
                  <a16:creationId xmlns:a16="http://schemas.microsoft.com/office/drawing/2014/main" id="{D642FF49-49D8-22D8-3282-C12D9661C05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3109536" y="4546284"/>
              <a:ext cx="720000" cy="720000"/>
            </a:xfrm>
            <a:prstGeom prst="rect">
              <a:avLst/>
            </a:prstGeom>
          </p:spPr>
        </p:pic>
      </p:grpSp>
      <p:sp>
        <p:nvSpPr>
          <p:cNvPr id="10" name="Content Placeholder 2">
            <a:extLst>
              <a:ext uri="{FF2B5EF4-FFF2-40B4-BE49-F238E27FC236}">
                <a16:creationId xmlns:a16="http://schemas.microsoft.com/office/drawing/2014/main" id="{79E0819C-6750-7174-DAEE-E640340B4A13}"/>
              </a:ext>
            </a:extLst>
          </p:cNvPr>
          <p:cNvSpPr txBox="1">
            <a:spLocks/>
          </p:cNvSpPr>
          <p:nvPr/>
        </p:nvSpPr>
        <p:spPr>
          <a:xfrm>
            <a:off x="838200" y="3899759"/>
            <a:ext cx="10515600" cy="189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noProof="0" dirty="0"/>
              <a:t>In other words:</a:t>
            </a:r>
            <a:r>
              <a:rPr lang="en-US" b="1" noProof="0" dirty="0"/>
              <a:t> </a:t>
            </a:r>
            <a:r>
              <a:rPr lang="en-US" noProof="0" dirty="0"/>
              <a:t>A null-hypothesis (describing “no effect”) receiving a p-value of 4% on observed data implies that – if that null-hypothesis were true and there is indeed no effect – there is a 4% chance we would observe the collected data.</a:t>
            </a:r>
          </a:p>
        </p:txBody>
      </p:sp>
    </p:spTree>
    <p:extLst>
      <p:ext uri="{BB962C8B-B14F-4D97-AF65-F5344CB8AC3E}">
        <p14:creationId xmlns:p14="http://schemas.microsoft.com/office/powerpoint/2010/main" val="5637864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AFE1-F11D-7833-A637-E9226048D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C8048-9672-9DFF-BBA4-63840B275CF4}"/>
              </a:ext>
            </a:extLst>
          </p:cNvPr>
          <p:cNvSpPr>
            <a:spLocks noGrp="1"/>
          </p:cNvSpPr>
          <p:nvPr>
            <p:ph type="title"/>
          </p:nvPr>
        </p:nvSpPr>
        <p:spPr/>
        <p:txBody>
          <a:bodyPr/>
          <a:lstStyle/>
          <a:p>
            <a:r>
              <a:rPr lang="en-US" noProof="0" dirty="0"/>
              <a:t>Null-Hypothesis Significance Tests</a:t>
            </a:r>
          </a:p>
        </p:txBody>
      </p:sp>
      <p:sp>
        <p:nvSpPr>
          <p:cNvPr id="3" name="Content Placeholder 2">
            <a:extLst>
              <a:ext uri="{FF2B5EF4-FFF2-40B4-BE49-F238E27FC236}">
                <a16:creationId xmlns:a16="http://schemas.microsoft.com/office/drawing/2014/main" id="{A5B1A5AA-F0D1-2BB5-FD1C-1220CF0BD566}"/>
              </a:ext>
            </a:extLst>
          </p:cNvPr>
          <p:cNvSpPr>
            <a:spLocks noGrp="1"/>
          </p:cNvSpPr>
          <p:nvPr>
            <p:ph idx="1"/>
          </p:nvPr>
        </p:nvSpPr>
        <p:spPr>
          <a:xfrm>
            <a:off x="838200" y="1825625"/>
            <a:ext cx="10515600" cy="607824"/>
          </a:xfrm>
        </p:spPr>
        <p:txBody>
          <a:bodyPr/>
          <a:lstStyle/>
          <a:p>
            <a:pPr marL="0" indent="0">
              <a:buNone/>
            </a:pPr>
            <a:r>
              <a:rPr lang="en-US" noProof="0" dirty="0"/>
              <a:t>A p-value is a </a:t>
            </a:r>
            <a:r>
              <a:rPr lang="en-US" b="1" noProof="0" dirty="0"/>
              <a:t>not</a:t>
            </a:r>
            <a:r>
              <a:rPr lang="en-US" noProof="0" dirty="0"/>
              <a:t> statement about the formulated hypothesis.  </a:t>
            </a:r>
          </a:p>
        </p:txBody>
      </p:sp>
      <p:sp>
        <p:nvSpPr>
          <p:cNvPr id="4" name="Date Placeholder 3">
            <a:extLst>
              <a:ext uri="{FF2B5EF4-FFF2-40B4-BE49-F238E27FC236}">
                <a16:creationId xmlns:a16="http://schemas.microsoft.com/office/drawing/2014/main" id="{CF206C35-E420-DD1F-D2BB-9166621CC967}"/>
              </a:ext>
            </a:extLst>
          </p:cNvPr>
          <p:cNvSpPr>
            <a:spLocks noGrp="1"/>
          </p:cNvSpPr>
          <p:nvPr>
            <p:ph type="dt" sz="half" idx="10"/>
          </p:nvPr>
        </p:nvSpPr>
        <p:spPr/>
        <p:txBody>
          <a:bodyPr/>
          <a:lstStyle/>
          <a:p>
            <a:r>
              <a:rPr lang="en-SE" noProof="0"/>
              <a:t>2026-08-17</a:t>
            </a:r>
            <a:endParaRPr lang="en-US" noProof="0" dirty="0"/>
          </a:p>
        </p:txBody>
      </p:sp>
      <p:sp>
        <p:nvSpPr>
          <p:cNvPr id="5" name="Footer Placeholder 4">
            <a:extLst>
              <a:ext uri="{FF2B5EF4-FFF2-40B4-BE49-F238E27FC236}">
                <a16:creationId xmlns:a16="http://schemas.microsoft.com/office/drawing/2014/main" id="{A41DE533-2D02-F19A-5FDB-429D7BA83D07}"/>
              </a:ext>
            </a:extLst>
          </p:cNvPr>
          <p:cNvSpPr>
            <a:spLocks noGrp="1"/>
          </p:cNvSpPr>
          <p:nvPr>
            <p:ph type="ftr" sz="quarter" idx="11"/>
          </p:nvPr>
        </p:nvSpPr>
        <p:spPr/>
        <p:txBody>
          <a:bodyPr/>
          <a:lstStyle/>
          <a:p>
            <a:r>
              <a:rPr lang="en-US" noProof="0"/>
              <a:t>Bayesian Data Analysis Tutorial</a:t>
            </a:r>
            <a:endParaRPr lang="en-US" noProof="0" dirty="0"/>
          </a:p>
        </p:txBody>
      </p:sp>
      <p:sp>
        <p:nvSpPr>
          <p:cNvPr id="6" name="Slide Number Placeholder 5">
            <a:extLst>
              <a:ext uri="{FF2B5EF4-FFF2-40B4-BE49-F238E27FC236}">
                <a16:creationId xmlns:a16="http://schemas.microsoft.com/office/drawing/2014/main" id="{AB23A006-434C-1784-F251-DA17EBD3A2F2}"/>
              </a:ext>
            </a:extLst>
          </p:cNvPr>
          <p:cNvSpPr>
            <a:spLocks noGrp="1"/>
          </p:cNvSpPr>
          <p:nvPr>
            <p:ph type="sldNum" sz="quarter" idx="12"/>
          </p:nvPr>
        </p:nvSpPr>
        <p:spPr/>
        <p:txBody>
          <a:bodyPr/>
          <a:lstStyle/>
          <a:p>
            <a:fld id="{271ECC92-9CDE-4EB3-B1C5-F46B9E1FA3C1}" type="slidenum">
              <a:rPr lang="en-US" noProof="0" smtClean="0"/>
              <a:t>17</a:t>
            </a:fld>
            <a:endParaRPr lang="en-US" noProof="0" dirty="0"/>
          </a:p>
        </p:txBody>
      </p:sp>
      <p:grpSp>
        <p:nvGrpSpPr>
          <p:cNvPr id="7" name="Group 6">
            <a:extLst>
              <a:ext uri="{FF2B5EF4-FFF2-40B4-BE49-F238E27FC236}">
                <a16:creationId xmlns:a16="http://schemas.microsoft.com/office/drawing/2014/main" id="{E9CA851A-6F79-F76D-E52C-DBCD1C4BCAE4}"/>
              </a:ext>
            </a:extLst>
          </p:cNvPr>
          <p:cNvGrpSpPr/>
          <p:nvPr/>
        </p:nvGrpSpPr>
        <p:grpSpPr>
          <a:xfrm>
            <a:off x="2056539" y="2568284"/>
            <a:ext cx="8078921" cy="903701"/>
            <a:chOff x="3108960" y="4454434"/>
            <a:chExt cx="8078921" cy="903701"/>
          </a:xfrm>
        </p:grpSpPr>
        <p:sp>
          <p:nvSpPr>
            <p:cNvPr id="8" name="Rectangle: Rounded Corners 7">
              <a:extLst>
                <a:ext uri="{FF2B5EF4-FFF2-40B4-BE49-F238E27FC236}">
                  <a16:creationId xmlns:a16="http://schemas.microsoft.com/office/drawing/2014/main" id="{5BBE872A-1DA6-FC64-8244-5B7ABC53F0EC}"/>
                </a:ext>
              </a:extLst>
            </p:cNvPr>
            <p:cNvSpPr/>
            <p:nvPr/>
          </p:nvSpPr>
          <p:spPr>
            <a:xfrm>
              <a:off x="3108960" y="4454434"/>
              <a:ext cx="8078921" cy="903701"/>
            </a:xfrm>
            <a:prstGeom prst="roundRect">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0" rtlCol="0" anchor="ctr"/>
            <a:lstStyle/>
            <a:p>
              <a:r>
                <a:rPr lang="en-US" sz="2000" noProof="0" dirty="0">
                  <a:solidFill>
                    <a:schemeClr val="bg1"/>
                  </a:solidFill>
                </a:rPr>
                <a:t>A p-value is</a:t>
              </a:r>
              <a:r>
                <a:rPr lang="en-US" sz="2000" b="1" noProof="0" dirty="0">
                  <a:solidFill>
                    <a:schemeClr val="bg1"/>
                  </a:solidFill>
                </a:rPr>
                <a:t> not </a:t>
              </a:r>
              <a:r>
                <a:rPr lang="en-US" sz="2000" noProof="0" dirty="0"/>
                <a:t>the probability that the null hypothesis is correct, given what they observed.</a:t>
              </a:r>
              <a:endParaRPr lang="en-US" sz="2000" noProof="0" dirty="0">
                <a:solidFill>
                  <a:schemeClr val="bg1"/>
                </a:solidFill>
              </a:endParaRPr>
            </a:p>
          </p:txBody>
        </p:sp>
        <p:pic>
          <p:nvPicPr>
            <p:cNvPr id="9" name="Graphic 8" descr="Open quotation mark with solid fill">
              <a:extLst>
                <a:ext uri="{FF2B5EF4-FFF2-40B4-BE49-F238E27FC236}">
                  <a16:creationId xmlns:a16="http://schemas.microsoft.com/office/drawing/2014/main" id="{BF85F609-F705-1AC9-D34C-EDDB6CA6DEA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3109536" y="4546284"/>
              <a:ext cx="720000" cy="720000"/>
            </a:xfrm>
            <a:prstGeom prst="rect">
              <a:avLst/>
            </a:prstGeom>
          </p:spPr>
        </p:pic>
      </p:grpSp>
      <p:sp>
        <p:nvSpPr>
          <p:cNvPr id="10" name="Content Placeholder 2">
            <a:extLst>
              <a:ext uri="{FF2B5EF4-FFF2-40B4-BE49-F238E27FC236}">
                <a16:creationId xmlns:a16="http://schemas.microsoft.com/office/drawing/2014/main" id="{28BB8CD6-E990-C2C9-DD2D-F9B70688C624}"/>
              </a:ext>
            </a:extLst>
          </p:cNvPr>
          <p:cNvSpPr txBox="1">
            <a:spLocks/>
          </p:cNvSpPr>
          <p:nvPr/>
        </p:nvSpPr>
        <p:spPr>
          <a:xfrm>
            <a:off x="838200" y="3762896"/>
            <a:ext cx="10515600" cy="189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noProof="0" dirty="0"/>
              <a:t>However, this is usually the question of interest: how likely is there no/an effect of one variable on another? </a:t>
            </a:r>
            <a:r>
              <a:rPr lang="en-US" b="1" noProof="0" dirty="0"/>
              <a:t>NHSTs do not answer this question.</a:t>
            </a:r>
          </a:p>
        </p:txBody>
      </p:sp>
    </p:spTree>
    <p:extLst>
      <p:ext uri="{BB962C8B-B14F-4D97-AF65-F5344CB8AC3E}">
        <p14:creationId xmlns:p14="http://schemas.microsoft.com/office/powerpoint/2010/main" val="34217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32553-30C1-8B93-01AF-9662FD7A8622}"/>
              </a:ext>
            </a:extLst>
          </p:cNvPr>
          <p:cNvSpPr>
            <a:spLocks noGrp="1"/>
          </p:cNvSpPr>
          <p:nvPr>
            <p:ph type="title"/>
          </p:nvPr>
        </p:nvSpPr>
        <p:spPr/>
        <p:txBody>
          <a:bodyPr/>
          <a:lstStyle/>
          <a:p>
            <a:r>
              <a:rPr lang="en-US" noProof="0" dirty="0"/>
              <a:t>Null-Hypothesis Significance Tests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C1F8FB-CAC1-1F89-EB2D-C2E3F527446F}"/>
                  </a:ext>
                </a:extLst>
              </p:cNvPr>
              <p:cNvSpPr>
                <a:spLocks noGrp="1"/>
              </p:cNvSpPr>
              <p:nvPr>
                <p:ph idx="1"/>
              </p:nvPr>
            </p:nvSpPr>
            <p:spPr>
              <a:xfrm>
                <a:off x="838200" y="1825624"/>
                <a:ext cx="10515600" cy="2177965"/>
              </a:xfrm>
            </p:spPr>
            <p:txBody>
              <a:bodyPr/>
              <a:lstStyle/>
              <a:p>
                <a:pPr marL="0" indent="0">
                  <a:buNone/>
                </a:pPr>
                <a:r>
                  <a:rPr lang="en-US" noProof="0" dirty="0"/>
                  <a:t>To make a decision based on an NHST, the resulting p-value is compared with a significance level </a:t>
                </a:r>
                <a14:m>
                  <m:oMath xmlns:m="http://schemas.openxmlformats.org/officeDocument/2006/math">
                    <m:r>
                      <a:rPr lang="en-US" b="0" i="1" noProof="0" smtClean="0">
                        <a:latin typeface="Cambria Math" panose="02040503050406030204" pitchFamily="18" charset="0"/>
                      </a:rPr>
                      <m:t>𝛼</m:t>
                    </m:r>
                  </m:oMath>
                </a14:m>
                <a:r>
                  <a:rPr lang="en-US" noProof="0" dirty="0"/>
                  <a:t>:</a:t>
                </a:r>
              </a:p>
              <a:p>
                <a14:m>
                  <m:oMath xmlns:m="http://schemas.openxmlformats.org/officeDocument/2006/math">
                    <m:r>
                      <a:rPr lang="en-US" b="0" i="1" noProof="0" smtClean="0">
                        <a:latin typeface="Cambria Math" panose="02040503050406030204" pitchFamily="18" charset="0"/>
                      </a:rPr>
                      <m:t>𝑝</m:t>
                    </m:r>
                    <m:r>
                      <a:rPr lang="en-US" b="0" i="1" noProof="0" smtClean="0">
                        <a:latin typeface="Cambria Math" panose="02040503050406030204" pitchFamily="18" charset="0"/>
                      </a:rPr>
                      <m:t>&lt;</m:t>
                    </m:r>
                    <m:r>
                      <a:rPr lang="en-US" b="0" i="1" noProof="0" smtClean="0">
                        <a:latin typeface="Cambria Math" panose="02040503050406030204" pitchFamily="18" charset="0"/>
                      </a:rPr>
                      <m:t>𝛼</m:t>
                    </m:r>
                  </m:oMath>
                </a14:m>
                <a:r>
                  <a:rPr lang="en-US" noProof="0" dirty="0"/>
                  <a:t> represents a </a:t>
                </a:r>
                <a:r>
                  <a:rPr lang="en-US" i="1" noProof="0" dirty="0"/>
                  <a:t>statistically significant</a:t>
                </a:r>
                <a:r>
                  <a:rPr lang="en-US" noProof="0" dirty="0"/>
                  <a:t> result</a:t>
                </a:r>
              </a:p>
              <a:p>
                <a14:m>
                  <m:oMath xmlns:m="http://schemas.openxmlformats.org/officeDocument/2006/math">
                    <m:r>
                      <a:rPr lang="en-US" b="0" i="1" noProof="0" smtClean="0">
                        <a:latin typeface="Cambria Math" panose="02040503050406030204" pitchFamily="18" charset="0"/>
                      </a:rPr>
                      <m:t>𝑝</m:t>
                    </m:r>
                    <m:r>
                      <a:rPr lang="en-US" b="0" i="1" noProof="0" smtClean="0">
                        <a:latin typeface="Cambria Math" panose="02040503050406030204" pitchFamily="18" charset="0"/>
                      </a:rPr>
                      <m:t>≥</m:t>
                    </m:r>
                    <m:r>
                      <a:rPr lang="en-US" b="0" i="1" noProof="0" smtClean="0">
                        <a:latin typeface="Cambria Math" panose="02040503050406030204" pitchFamily="18" charset="0"/>
                      </a:rPr>
                      <m:t>𝛼</m:t>
                    </m:r>
                  </m:oMath>
                </a14:m>
                <a:r>
                  <a:rPr lang="en-US" noProof="0" dirty="0"/>
                  <a:t> represents </a:t>
                </a:r>
                <a:r>
                  <a:rPr lang="en-US" i="1" noProof="0" dirty="0"/>
                  <a:t>no </a:t>
                </a:r>
                <a:r>
                  <a:rPr lang="en-US" noProof="0" dirty="0"/>
                  <a:t>statistically significant result</a:t>
                </a:r>
              </a:p>
            </p:txBody>
          </p:sp>
        </mc:Choice>
        <mc:Fallback xmlns="">
          <p:sp>
            <p:nvSpPr>
              <p:cNvPr id="3" name="Content Placeholder 2">
                <a:extLst>
                  <a:ext uri="{FF2B5EF4-FFF2-40B4-BE49-F238E27FC236}">
                    <a16:creationId xmlns:a16="http://schemas.microsoft.com/office/drawing/2014/main" id="{DBC1F8FB-CAC1-1F89-EB2D-C2E3F527446F}"/>
                  </a:ext>
                </a:extLst>
              </p:cNvPr>
              <p:cNvSpPr>
                <a:spLocks noGrp="1" noRot="1" noChangeAspect="1" noMove="1" noResize="1" noEditPoints="1" noAdjustHandles="1" noChangeArrowheads="1" noChangeShapeType="1" noTextEdit="1"/>
              </p:cNvSpPr>
              <p:nvPr>
                <p:ph idx="1"/>
              </p:nvPr>
            </p:nvSpPr>
            <p:spPr>
              <a:xfrm>
                <a:off x="838200" y="1825624"/>
                <a:ext cx="10515600" cy="2177965"/>
              </a:xfrm>
              <a:blipFill>
                <a:blip r:embed="rId2"/>
                <a:stretch>
                  <a:fillRect l="-1217" t="-4749"/>
                </a:stretch>
              </a:blipFill>
            </p:spPr>
            <p:txBody>
              <a:bodyPr/>
              <a:lstStyle/>
              <a:p>
                <a:r>
                  <a:rPr lang="en-SE">
                    <a:noFill/>
                  </a:rPr>
                  <a:t> </a:t>
                </a:r>
              </a:p>
            </p:txBody>
          </p:sp>
        </mc:Fallback>
      </mc:AlternateContent>
      <p:sp>
        <p:nvSpPr>
          <p:cNvPr id="4" name="Date Placeholder 3">
            <a:extLst>
              <a:ext uri="{FF2B5EF4-FFF2-40B4-BE49-F238E27FC236}">
                <a16:creationId xmlns:a16="http://schemas.microsoft.com/office/drawing/2014/main" id="{841F60D9-32C5-7993-ECFC-6B33ABE8A195}"/>
              </a:ext>
            </a:extLst>
          </p:cNvPr>
          <p:cNvSpPr>
            <a:spLocks noGrp="1"/>
          </p:cNvSpPr>
          <p:nvPr>
            <p:ph type="dt" sz="half" idx="10"/>
          </p:nvPr>
        </p:nvSpPr>
        <p:spPr/>
        <p:txBody>
          <a:bodyPr/>
          <a:lstStyle/>
          <a:p>
            <a:r>
              <a:rPr lang="en-SE" noProof="0"/>
              <a:t>2026-08-17</a:t>
            </a:r>
            <a:endParaRPr lang="en-US" noProof="0" dirty="0"/>
          </a:p>
        </p:txBody>
      </p:sp>
      <p:sp>
        <p:nvSpPr>
          <p:cNvPr id="5" name="Footer Placeholder 4">
            <a:extLst>
              <a:ext uri="{FF2B5EF4-FFF2-40B4-BE49-F238E27FC236}">
                <a16:creationId xmlns:a16="http://schemas.microsoft.com/office/drawing/2014/main" id="{A64D5F1E-77CF-9637-D092-272BC912A88B}"/>
              </a:ext>
            </a:extLst>
          </p:cNvPr>
          <p:cNvSpPr>
            <a:spLocks noGrp="1"/>
          </p:cNvSpPr>
          <p:nvPr>
            <p:ph type="ftr" sz="quarter" idx="11"/>
          </p:nvPr>
        </p:nvSpPr>
        <p:spPr/>
        <p:txBody>
          <a:bodyPr/>
          <a:lstStyle/>
          <a:p>
            <a:r>
              <a:rPr lang="en-US" noProof="0"/>
              <a:t>Bayesian Data Analysis Tutorial</a:t>
            </a:r>
            <a:endParaRPr lang="en-US" noProof="0" dirty="0"/>
          </a:p>
        </p:txBody>
      </p:sp>
      <p:sp>
        <p:nvSpPr>
          <p:cNvPr id="6" name="Slide Number Placeholder 5">
            <a:extLst>
              <a:ext uri="{FF2B5EF4-FFF2-40B4-BE49-F238E27FC236}">
                <a16:creationId xmlns:a16="http://schemas.microsoft.com/office/drawing/2014/main" id="{89F84418-E541-373D-6927-3242F6CB51D6}"/>
              </a:ext>
            </a:extLst>
          </p:cNvPr>
          <p:cNvSpPr>
            <a:spLocks noGrp="1"/>
          </p:cNvSpPr>
          <p:nvPr>
            <p:ph type="sldNum" sz="quarter" idx="12"/>
          </p:nvPr>
        </p:nvSpPr>
        <p:spPr/>
        <p:txBody>
          <a:bodyPr/>
          <a:lstStyle/>
          <a:p>
            <a:fld id="{271ECC92-9CDE-4EB3-B1C5-F46B9E1FA3C1}" type="slidenum">
              <a:rPr lang="en-US" noProof="0" smtClean="0"/>
              <a:t>18</a:t>
            </a:fld>
            <a:endParaRPr lang="en-US" noProof="0" dirty="0"/>
          </a:p>
        </p:txBody>
      </p:sp>
      <p:sp>
        <p:nvSpPr>
          <p:cNvPr id="7" name="Content Placeholder 2">
            <a:extLst>
              <a:ext uri="{FF2B5EF4-FFF2-40B4-BE49-F238E27FC236}">
                <a16:creationId xmlns:a16="http://schemas.microsoft.com/office/drawing/2014/main" id="{2DD2335A-E435-5E00-EDC6-5250B0A10B2B}"/>
              </a:ext>
            </a:extLst>
          </p:cNvPr>
          <p:cNvSpPr txBox="1">
            <a:spLocks/>
          </p:cNvSpPr>
          <p:nvPr/>
        </p:nvSpPr>
        <p:spPr>
          <a:xfrm>
            <a:off x="838198" y="4003589"/>
            <a:ext cx="10515600" cy="21779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noProof="0" dirty="0"/>
              <a:t>Statistically significant results imply that two distributions are </a:t>
            </a:r>
            <a:r>
              <a:rPr lang="en-US" b="1" noProof="0" dirty="0"/>
              <a:t>statistically unlikely </a:t>
            </a:r>
            <a:r>
              <a:rPr lang="en-US" noProof="0" dirty="0"/>
              <a:t>to have come from the same population.</a:t>
            </a:r>
          </a:p>
        </p:txBody>
      </p:sp>
    </p:spTree>
    <p:extLst>
      <p:ext uri="{BB962C8B-B14F-4D97-AF65-F5344CB8AC3E}">
        <p14:creationId xmlns:p14="http://schemas.microsoft.com/office/powerpoint/2010/main" val="689315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51279-F247-118E-658A-D8CF0B5DF015}"/>
              </a:ext>
            </a:extLst>
          </p:cNvPr>
          <p:cNvSpPr>
            <a:spLocks noGrp="1"/>
          </p:cNvSpPr>
          <p:nvPr>
            <p:ph type="title"/>
          </p:nvPr>
        </p:nvSpPr>
        <p:spPr/>
        <p:txBody>
          <a:bodyPr/>
          <a:lstStyle/>
          <a:p>
            <a:r>
              <a:rPr lang="en-SE" dirty="0"/>
              <a:t>Origin of the NHST</a:t>
            </a:r>
          </a:p>
        </p:txBody>
      </p:sp>
      <p:sp>
        <p:nvSpPr>
          <p:cNvPr id="3" name="Content Placeholder 2">
            <a:extLst>
              <a:ext uri="{FF2B5EF4-FFF2-40B4-BE49-F238E27FC236}">
                <a16:creationId xmlns:a16="http://schemas.microsoft.com/office/drawing/2014/main" id="{E172D0D0-1267-D69B-A157-1ED160EAAEBC}"/>
              </a:ext>
            </a:extLst>
          </p:cNvPr>
          <p:cNvSpPr>
            <a:spLocks noGrp="1"/>
          </p:cNvSpPr>
          <p:nvPr>
            <p:ph idx="1"/>
          </p:nvPr>
        </p:nvSpPr>
        <p:spPr>
          <a:xfrm>
            <a:off x="838200" y="1825625"/>
            <a:ext cx="10515600" cy="1031875"/>
          </a:xfrm>
        </p:spPr>
        <p:txBody>
          <a:bodyPr/>
          <a:lstStyle/>
          <a:p>
            <a:pPr marL="0" indent="0">
              <a:buNone/>
            </a:pPr>
            <a:r>
              <a:rPr lang="en-SE" dirty="0"/>
              <a:t>The Null-Hypothesis Significance Test is actually an improper hybrid of two separate techniques:</a:t>
            </a:r>
          </a:p>
        </p:txBody>
      </p:sp>
      <p:sp>
        <p:nvSpPr>
          <p:cNvPr id="4" name="Date Placeholder 3">
            <a:extLst>
              <a:ext uri="{FF2B5EF4-FFF2-40B4-BE49-F238E27FC236}">
                <a16:creationId xmlns:a16="http://schemas.microsoft.com/office/drawing/2014/main" id="{2A51A9E0-16E2-ED48-94FF-CAEBF2E1F635}"/>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13A08F06-ED11-9387-3DAB-B03735DF2FE1}"/>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4C4C2B19-1095-24AC-A7C6-3070FD58AAFD}"/>
              </a:ext>
            </a:extLst>
          </p:cNvPr>
          <p:cNvSpPr>
            <a:spLocks noGrp="1"/>
          </p:cNvSpPr>
          <p:nvPr>
            <p:ph type="sldNum" sz="quarter" idx="12"/>
          </p:nvPr>
        </p:nvSpPr>
        <p:spPr/>
        <p:txBody>
          <a:bodyPr/>
          <a:lstStyle/>
          <a:p>
            <a:fld id="{271ECC92-9CDE-4EB3-B1C5-F46B9E1FA3C1}" type="slidenum">
              <a:rPr lang="en-SE" smtClean="0"/>
              <a:t>19</a:t>
            </a:fld>
            <a:endParaRPr lang="en-SE"/>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CA2A34B-E850-8213-257E-CAE0E70B381B}"/>
                  </a:ext>
                </a:extLst>
              </p:cNvPr>
              <p:cNvSpPr txBox="1"/>
              <p:nvPr/>
            </p:nvSpPr>
            <p:spPr>
              <a:xfrm>
                <a:off x="838198" y="3158213"/>
                <a:ext cx="5156202" cy="2031325"/>
              </a:xfrm>
              <a:prstGeom prst="rect">
                <a:avLst/>
              </a:prstGeom>
              <a:noFill/>
            </p:spPr>
            <p:txBody>
              <a:bodyPr wrap="square" rtlCol="0">
                <a:spAutoFit/>
              </a:bodyPr>
              <a:lstStyle/>
              <a:p>
                <a:r>
                  <a:rPr lang="en-SE" b="1" dirty="0"/>
                  <a:t>Significance Tests </a:t>
                </a:r>
                <a:r>
                  <a:rPr lang="en-SE" dirty="0"/>
                  <a:t>(by R. A. Fischer)</a:t>
                </a:r>
              </a:p>
              <a:p>
                <a:pPr marL="285750" indent="-285750">
                  <a:buFont typeface="Arial" panose="020B0604020202020204" pitchFamily="34" charset="0"/>
                  <a:buChar char="•"/>
                </a:pPr>
                <a:r>
                  <a:rPr lang="en-SE" dirty="0"/>
                  <a:t>Tests a single null hypothesis </a:t>
                </a:r>
                <a14:m>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h</m:t>
                        </m:r>
                      </m:e>
                      <m:sub>
                        <m:r>
                          <a:rPr lang="en-SE" b="0" i="1" smtClean="0">
                            <a:latin typeface="Cambria Math" panose="02040503050406030204" pitchFamily="18" charset="0"/>
                          </a:rPr>
                          <m:t>0</m:t>
                        </m:r>
                      </m:sub>
                    </m:sSub>
                  </m:oMath>
                </a14:m>
                <a:r>
                  <a:rPr lang="en-SE" dirty="0"/>
                  <a:t> against no alternative</a:t>
                </a:r>
              </a:p>
              <a:p>
                <a:pPr marL="285750" indent="-285750">
                  <a:buFont typeface="Arial" panose="020B0604020202020204" pitchFamily="34" charset="0"/>
                  <a:buChar char="•"/>
                </a:pPr>
                <a:r>
                  <a:rPr lang="en-SE" dirty="0"/>
                  <a:t>Produces a p-value</a:t>
                </a:r>
              </a:p>
              <a:p>
                <a:pPr marL="285750" indent="-285750">
                  <a:buFont typeface="Arial" panose="020B0604020202020204" pitchFamily="34" charset="0"/>
                  <a:buChar char="•"/>
                </a:pPr>
                <a:r>
                  <a:rPr lang="en-SE" dirty="0"/>
                  <a:t>Aims to quantify evidence </a:t>
                </a:r>
                <a:r>
                  <a:rPr lang="en-SE" i="1" dirty="0"/>
                  <a:t>against </a:t>
                </a:r>
                <a14:m>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h</m:t>
                        </m:r>
                      </m:e>
                      <m:sub>
                        <m:r>
                          <a:rPr lang="en-SE" b="0" i="1" smtClean="0">
                            <a:latin typeface="Cambria Math" panose="02040503050406030204" pitchFamily="18" charset="0"/>
                          </a:rPr>
                          <m:t>0</m:t>
                        </m:r>
                      </m:sub>
                    </m:sSub>
                  </m:oMath>
                </a14:m>
                <a:endParaRPr lang="en-SE" dirty="0"/>
              </a:p>
              <a:p>
                <a:pPr marL="285750" indent="-285750">
                  <a:buFont typeface="Arial" panose="020B0604020202020204" pitchFamily="34" charset="0"/>
                  <a:buChar char="•"/>
                </a:pPr>
                <a:r>
                  <a:rPr lang="en-SE" dirty="0"/>
                  <a:t>There is no fixed decision threshold (p-values are treated continuously)</a:t>
                </a:r>
              </a:p>
            </p:txBody>
          </p:sp>
        </mc:Choice>
        <mc:Fallback>
          <p:sp>
            <p:nvSpPr>
              <p:cNvPr id="7" name="TextBox 6">
                <a:extLst>
                  <a:ext uri="{FF2B5EF4-FFF2-40B4-BE49-F238E27FC236}">
                    <a16:creationId xmlns:a16="http://schemas.microsoft.com/office/drawing/2014/main" id="{ECA2A34B-E850-8213-257E-CAE0E70B381B}"/>
                  </a:ext>
                </a:extLst>
              </p:cNvPr>
              <p:cNvSpPr txBox="1">
                <a:spLocks noRot="1" noChangeAspect="1" noMove="1" noResize="1" noEditPoints="1" noAdjustHandles="1" noChangeArrowheads="1" noChangeShapeType="1" noTextEdit="1"/>
              </p:cNvSpPr>
              <p:nvPr/>
            </p:nvSpPr>
            <p:spPr>
              <a:xfrm>
                <a:off x="838198" y="3158213"/>
                <a:ext cx="5156202" cy="2031325"/>
              </a:xfrm>
              <a:prstGeom prst="rect">
                <a:avLst/>
              </a:prstGeom>
              <a:blipFill>
                <a:blip r:embed="rId2"/>
                <a:stretch>
                  <a:fillRect l="-946" t="-1201" b="-4204"/>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ABA45B8B-C8FD-79A0-3FEA-5DF93BB03385}"/>
                  </a:ext>
                </a:extLst>
              </p:cNvPr>
              <p:cNvSpPr txBox="1"/>
              <p:nvPr/>
            </p:nvSpPr>
            <p:spPr>
              <a:xfrm>
                <a:off x="6096000" y="3158213"/>
                <a:ext cx="5156202" cy="2031325"/>
              </a:xfrm>
              <a:prstGeom prst="rect">
                <a:avLst/>
              </a:prstGeom>
              <a:noFill/>
            </p:spPr>
            <p:txBody>
              <a:bodyPr wrap="square" rtlCol="0">
                <a:spAutoFit/>
              </a:bodyPr>
              <a:lstStyle/>
              <a:p>
                <a:r>
                  <a:rPr lang="en-SE" b="1" dirty="0"/>
                  <a:t>Hypothesis Test </a:t>
                </a:r>
                <a:r>
                  <a:rPr lang="en-SE" dirty="0"/>
                  <a:t>(by Neyman and Pearson)</a:t>
                </a:r>
              </a:p>
              <a:p>
                <a:pPr marL="285750" indent="-285750">
                  <a:buFont typeface="Arial" panose="020B0604020202020204" pitchFamily="34" charset="0"/>
                  <a:buChar char="•"/>
                </a:pPr>
                <a:r>
                  <a:rPr lang="en-SE" dirty="0"/>
                  <a:t>Tests null hypothesis </a:t>
                </a:r>
                <a14:m>
                  <m:oMath xmlns:m="http://schemas.openxmlformats.org/officeDocument/2006/math">
                    <m:sSub>
                      <m:sSubPr>
                        <m:ctrlPr>
                          <a:rPr lang="en-SE" i="1">
                            <a:latin typeface="Cambria Math" panose="02040503050406030204" pitchFamily="18" charset="0"/>
                          </a:rPr>
                        </m:ctrlPr>
                      </m:sSubPr>
                      <m:e>
                        <m:r>
                          <a:rPr lang="en-SE" i="1">
                            <a:latin typeface="Cambria Math" panose="02040503050406030204" pitchFamily="18" charset="0"/>
                          </a:rPr>
                          <m:t>h</m:t>
                        </m:r>
                      </m:e>
                      <m:sub>
                        <m:r>
                          <a:rPr lang="en-SE" i="1">
                            <a:latin typeface="Cambria Math" panose="02040503050406030204" pitchFamily="18" charset="0"/>
                          </a:rPr>
                          <m:t>0</m:t>
                        </m:r>
                      </m:sub>
                    </m:sSub>
                  </m:oMath>
                </a14:m>
                <a:r>
                  <a:rPr lang="en-SE" dirty="0"/>
                  <a:t> against an alternative hypothesis </a:t>
                </a:r>
                <a14:m>
                  <m:oMath xmlns:m="http://schemas.openxmlformats.org/officeDocument/2006/math">
                    <m:sSub>
                      <m:sSubPr>
                        <m:ctrlPr>
                          <a:rPr lang="en-SE" i="1">
                            <a:latin typeface="Cambria Math" panose="02040503050406030204" pitchFamily="18" charset="0"/>
                          </a:rPr>
                        </m:ctrlPr>
                      </m:sSubPr>
                      <m:e>
                        <m:r>
                          <a:rPr lang="en-SE" i="1">
                            <a:latin typeface="Cambria Math" panose="02040503050406030204" pitchFamily="18" charset="0"/>
                          </a:rPr>
                          <m:t>h</m:t>
                        </m:r>
                      </m:e>
                      <m:sub>
                        <m:r>
                          <a:rPr lang="en-SE" b="0" i="1" smtClean="0">
                            <a:latin typeface="Cambria Math" panose="02040503050406030204" pitchFamily="18" charset="0"/>
                          </a:rPr>
                          <m:t>1</m:t>
                        </m:r>
                      </m:sub>
                    </m:sSub>
                  </m:oMath>
                </a14:m>
                <a:endParaRPr lang="en-SE" dirty="0"/>
              </a:p>
              <a:p>
                <a:pPr marL="285750" indent="-285750">
                  <a:buFont typeface="Arial" panose="020B0604020202020204" pitchFamily="34" charset="0"/>
                  <a:buChar char="•"/>
                </a:pPr>
                <a:r>
                  <a:rPr lang="en-SE" dirty="0"/>
                  <a:t>Defines a decision rule in advance to reject </a:t>
                </a:r>
                <a14:m>
                  <m:oMath xmlns:m="http://schemas.openxmlformats.org/officeDocument/2006/math">
                    <m:sSub>
                      <m:sSubPr>
                        <m:ctrlPr>
                          <a:rPr lang="en-SE" i="1">
                            <a:latin typeface="Cambria Math" panose="02040503050406030204" pitchFamily="18" charset="0"/>
                          </a:rPr>
                        </m:ctrlPr>
                      </m:sSubPr>
                      <m:e>
                        <m:r>
                          <a:rPr lang="en-SE" i="1">
                            <a:latin typeface="Cambria Math" panose="02040503050406030204" pitchFamily="18" charset="0"/>
                          </a:rPr>
                          <m:t>h</m:t>
                        </m:r>
                      </m:e>
                      <m:sub>
                        <m:r>
                          <a:rPr lang="en-SE" i="1">
                            <a:latin typeface="Cambria Math" panose="02040503050406030204" pitchFamily="18" charset="0"/>
                          </a:rPr>
                          <m:t>0</m:t>
                        </m:r>
                      </m:sub>
                    </m:sSub>
                  </m:oMath>
                </a14:m>
                <a:r>
                  <a:rPr lang="en-SE" dirty="0"/>
                  <a:t> based on a significance level </a:t>
                </a:r>
                <a14:m>
                  <m:oMath xmlns:m="http://schemas.openxmlformats.org/officeDocument/2006/math">
                    <m:r>
                      <a:rPr lang="en-SE" b="0" i="1" smtClean="0">
                        <a:latin typeface="Cambria Math" panose="02040503050406030204" pitchFamily="18" charset="0"/>
                      </a:rPr>
                      <m:t>𝛼</m:t>
                    </m:r>
                  </m:oMath>
                </a14:m>
                <a:r>
                  <a:rPr lang="en-SE" dirty="0"/>
                  <a:t> and a power </a:t>
                </a:r>
                <a14:m>
                  <m:oMath xmlns:m="http://schemas.openxmlformats.org/officeDocument/2006/math">
                    <m:r>
                      <a:rPr lang="en-SE" b="0" i="1" smtClean="0">
                        <a:latin typeface="Cambria Math" panose="02040503050406030204" pitchFamily="18" charset="0"/>
                      </a:rPr>
                      <m:t>𝛽</m:t>
                    </m:r>
                  </m:oMath>
                </a14:m>
                <a:endParaRPr lang="en-SE" dirty="0"/>
              </a:p>
              <a:p>
                <a:pPr marL="285750" indent="-285750">
                  <a:buFont typeface="Arial" panose="020B0604020202020204" pitchFamily="34" charset="0"/>
                  <a:buChar char="•"/>
                </a:pPr>
                <a:r>
                  <a:rPr lang="en-SE" dirty="0"/>
                  <a:t>Aims to control errors in the long run across repeated decisions </a:t>
                </a:r>
              </a:p>
            </p:txBody>
          </p:sp>
        </mc:Choice>
        <mc:Fallback>
          <p:sp>
            <p:nvSpPr>
              <p:cNvPr id="9" name="TextBox 8">
                <a:extLst>
                  <a:ext uri="{FF2B5EF4-FFF2-40B4-BE49-F238E27FC236}">
                    <a16:creationId xmlns:a16="http://schemas.microsoft.com/office/drawing/2014/main" id="{ABA45B8B-C8FD-79A0-3FEA-5DF93BB03385}"/>
                  </a:ext>
                </a:extLst>
              </p:cNvPr>
              <p:cNvSpPr txBox="1">
                <a:spLocks noRot="1" noChangeAspect="1" noMove="1" noResize="1" noEditPoints="1" noAdjustHandles="1" noChangeArrowheads="1" noChangeShapeType="1" noTextEdit="1"/>
              </p:cNvSpPr>
              <p:nvPr/>
            </p:nvSpPr>
            <p:spPr>
              <a:xfrm>
                <a:off x="6096000" y="3158213"/>
                <a:ext cx="5156202" cy="2031325"/>
              </a:xfrm>
              <a:prstGeom prst="rect">
                <a:avLst/>
              </a:prstGeom>
              <a:blipFill>
                <a:blip r:embed="rId3"/>
                <a:stretch>
                  <a:fillRect l="-946" t="-1201" b="-4204"/>
                </a:stretch>
              </a:blipFill>
            </p:spPr>
            <p:txBody>
              <a:bodyPr/>
              <a:lstStyle/>
              <a:p>
                <a:r>
                  <a:rPr lang="en-SE">
                    <a:noFill/>
                  </a:rPr>
                  <a:t> </a:t>
                </a:r>
              </a:p>
            </p:txBody>
          </p:sp>
        </mc:Fallback>
      </mc:AlternateContent>
    </p:spTree>
    <p:extLst>
      <p:ext uri="{BB962C8B-B14F-4D97-AF65-F5344CB8AC3E}">
        <p14:creationId xmlns:p14="http://schemas.microsoft.com/office/powerpoint/2010/main" val="23957628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C2EAB-C576-7018-B715-B522ECDFD9B6}"/>
              </a:ext>
            </a:extLst>
          </p:cNvPr>
          <p:cNvSpPr>
            <a:spLocks noGrp="1"/>
          </p:cNvSpPr>
          <p:nvPr>
            <p:ph type="title"/>
          </p:nvPr>
        </p:nvSpPr>
        <p:spPr/>
        <p:txBody>
          <a:bodyPr/>
          <a:lstStyle/>
          <a:p>
            <a:r>
              <a:rPr lang="en-SE" dirty="0"/>
              <a:t>Confidence Intervals</a:t>
            </a:r>
          </a:p>
        </p:txBody>
      </p:sp>
      <p:sp>
        <p:nvSpPr>
          <p:cNvPr id="3" name="Content Placeholder 2">
            <a:extLst>
              <a:ext uri="{FF2B5EF4-FFF2-40B4-BE49-F238E27FC236}">
                <a16:creationId xmlns:a16="http://schemas.microsoft.com/office/drawing/2014/main" id="{FA4F287A-C9EC-0217-1DE1-7A8B25CEC2B8}"/>
              </a:ext>
            </a:extLst>
          </p:cNvPr>
          <p:cNvSpPr>
            <a:spLocks noGrp="1"/>
          </p:cNvSpPr>
          <p:nvPr>
            <p:ph idx="1"/>
          </p:nvPr>
        </p:nvSpPr>
        <p:spPr/>
        <p:txBody>
          <a:bodyPr/>
          <a:lstStyle/>
          <a:p>
            <a:pPr marL="0" indent="0">
              <a:buNone/>
            </a:pPr>
            <a:r>
              <a:rPr lang="en-SE" dirty="0"/>
              <a:t>Interpretation: even more unnatural</a:t>
            </a:r>
          </a:p>
        </p:txBody>
      </p:sp>
      <p:sp>
        <p:nvSpPr>
          <p:cNvPr id="4" name="Date Placeholder 3">
            <a:extLst>
              <a:ext uri="{FF2B5EF4-FFF2-40B4-BE49-F238E27FC236}">
                <a16:creationId xmlns:a16="http://schemas.microsoft.com/office/drawing/2014/main" id="{7D704F57-2F8D-4B46-A8AB-69DD2C99D2A0}"/>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8C34F820-B886-CEFD-17F7-896CD823D415}"/>
              </a:ext>
            </a:extLst>
          </p:cNvPr>
          <p:cNvSpPr>
            <a:spLocks noGrp="1"/>
          </p:cNvSpPr>
          <p:nvPr>
            <p:ph type="sldNum" sz="quarter" idx="12"/>
          </p:nvPr>
        </p:nvSpPr>
        <p:spPr/>
        <p:txBody>
          <a:bodyPr/>
          <a:lstStyle/>
          <a:p>
            <a:fld id="{271ECC92-9CDE-4EB3-B1C5-F46B9E1FA3C1}" type="slidenum">
              <a:rPr lang="en-SE" smtClean="0"/>
              <a:t>20</a:t>
            </a:fld>
            <a:endParaRPr lang="en-SE"/>
          </a:p>
        </p:txBody>
      </p:sp>
      <p:sp>
        <p:nvSpPr>
          <p:cNvPr id="6" name="Footer Placeholder 5">
            <a:extLst>
              <a:ext uri="{FF2B5EF4-FFF2-40B4-BE49-F238E27FC236}">
                <a16:creationId xmlns:a16="http://schemas.microsoft.com/office/drawing/2014/main" id="{8155B5F7-0023-0242-A4BE-DBA1F02D04EB}"/>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38132462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Object"/>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4074D-788A-11AE-5209-D113768C74D9}"/>
              </a:ext>
            </a:extLst>
          </p:cNvPr>
          <p:cNvSpPr>
            <a:spLocks noGrp="1"/>
          </p:cNvSpPr>
          <p:nvPr>
            <p:ph type="title"/>
          </p:nvPr>
        </p:nvSpPr>
        <p:spPr/>
        <p:txBody>
          <a:bodyPr/>
          <a:lstStyle/>
          <a:p>
            <a:r>
              <a:rPr lang="en-US" noProof="0" dirty="0"/>
              <a:t>Null-Hypothesis Significance Tests</a:t>
            </a:r>
          </a:p>
        </p:txBody>
      </p:sp>
      <p:sp>
        <p:nvSpPr>
          <p:cNvPr id="3" name="Content Placeholder 2">
            <a:extLst>
              <a:ext uri="{FF2B5EF4-FFF2-40B4-BE49-F238E27FC236}">
                <a16:creationId xmlns:a16="http://schemas.microsoft.com/office/drawing/2014/main" id="{1EF6E790-1F2A-DA3C-D43A-4014B5386A7C}"/>
              </a:ext>
            </a:extLst>
          </p:cNvPr>
          <p:cNvSpPr>
            <a:spLocks noGrp="1"/>
          </p:cNvSpPr>
          <p:nvPr>
            <p:ph idx="1"/>
          </p:nvPr>
        </p:nvSpPr>
        <p:spPr>
          <a:xfrm>
            <a:off x="838200" y="1825625"/>
            <a:ext cx="10515600" cy="707510"/>
          </a:xfrm>
        </p:spPr>
        <p:txBody>
          <a:bodyPr/>
          <a:lstStyle/>
          <a:p>
            <a:pPr marL="0" indent="0">
              <a:buNone/>
            </a:pPr>
            <a:r>
              <a:rPr lang="en-US" noProof="0" dirty="0"/>
              <a:t>Analyzing data using only NHSTs has several issues:</a:t>
            </a:r>
          </a:p>
        </p:txBody>
      </p:sp>
      <p:sp>
        <p:nvSpPr>
          <p:cNvPr id="4" name="Date Placeholder 3">
            <a:extLst>
              <a:ext uri="{FF2B5EF4-FFF2-40B4-BE49-F238E27FC236}">
                <a16:creationId xmlns:a16="http://schemas.microsoft.com/office/drawing/2014/main" id="{E49521C9-3453-F504-4DEF-955A156B78CE}"/>
              </a:ext>
            </a:extLst>
          </p:cNvPr>
          <p:cNvSpPr>
            <a:spLocks noGrp="1"/>
          </p:cNvSpPr>
          <p:nvPr>
            <p:ph type="dt" sz="half" idx="10"/>
          </p:nvPr>
        </p:nvSpPr>
        <p:spPr/>
        <p:txBody>
          <a:bodyPr/>
          <a:lstStyle/>
          <a:p>
            <a:r>
              <a:rPr lang="en-SE" noProof="0"/>
              <a:t>2026-08-17</a:t>
            </a:r>
            <a:endParaRPr lang="en-US" noProof="0" dirty="0"/>
          </a:p>
        </p:txBody>
      </p:sp>
      <p:sp>
        <p:nvSpPr>
          <p:cNvPr id="5" name="Footer Placeholder 4">
            <a:extLst>
              <a:ext uri="{FF2B5EF4-FFF2-40B4-BE49-F238E27FC236}">
                <a16:creationId xmlns:a16="http://schemas.microsoft.com/office/drawing/2014/main" id="{1733C060-4693-0DC5-D6DD-0E4E6980F40A}"/>
              </a:ext>
            </a:extLst>
          </p:cNvPr>
          <p:cNvSpPr>
            <a:spLocks noGrp="1"/>
          </p:cNvSpPr>
          <p:nvPr>
            <p:ph type="ftr" sz="quarter" idx="11"/>
          </p:nvPr>
        </p:nvSpPr>
        <p:spPr/>
        <p:txBody>
          <a:bodyPr/>
          <a:lstStyle/>
          <a:p>
            <a:r>
              <a:rPr lang="en-US" noProof="0"/>
              <a:t>Bayesian Data Analysis Tutorial</a:t>
            </a:r>
            <a:endParaRPr lang="en-US" noProof="0" dirty="0"/>
          </a:p>
        </p:txBody>
      </p:sp>
      <p:sp>
        <p:nvSpPr>
          <p:cNvPr id="6" name="Slide Number Placeholder 5">
            <a:extLst>
              <a:ext uri="{FF2B5EF4-FFF2-40B4-BE49-F238E27FC236}">
                <a16:creationId xmlns:a16="http://schemas.microsoft.com/office/drawing/2014/main" id="{00043433-7682-FEDC-A0E8-6889BC9340B1}"/>
              </a:ext>
            </a:extLst>
          </p:cNvPr>
          <p:cNvSpPr>
            <a:spLocks noGrp="1"/>
          </p:cNvSpPr>
          <p:nvPr>
            <p:ph type="sldNum" sz="quarter" idx="12"/>
          </p:nvPr>
        </p:nvSpPr>
        <p:spPr/>
        <p:txBody>
          <a:bodyPr/>
          <a:lstStyle/>
          <a:p>
            <a:fld id="{271ECC92-9CDE-4EB3-B1C5-F46B9E1FA3C1}" type="slidenum">
              <a:rPr lang="en-US" noProof="0" smtClean="0"/>
              <a:t>21</a:t>
            </a:fld>
            <a:endParaRPr lang="en-US" noProof="0" dirty="0"/>
          </a:p>
        </p:txBody>
      </p:sp>
      <p:grpSp>
        <p:nvGrpSpPr>
          <p:cNvPr id="7" name="Group 6">
            <a:extLst>
              <a:ext uri="{FF2B5EF4-FFF2-40B4-BE49-F238E27FC236}">
                <a16:creationId xmlns:a16="http://schemas.microsoft.com/office/drawing/2014/main" id="{B3547F4A-C973-120E-5CC3-541264B39361}"/>
              </a:ext>
            </a:extLst>
          </p:cNvPr>
          <p:cNvGrpSpPr/>
          <p:nvPr/>
        </p:nvGrpSpPr>
        <p:grpSpPr>
          <a:xfrm>
            <a:off x="955244" y="2922370"/>
            <a:ext cx="2403652" cy="2348074"/>
            <a:chOff x="4894174" y="3429000"/>
            <a:chExt cx="2403652" cy="2348074"/>
          </a:xfrm>
        </p:grpSpPr>
        <p:grpSp>
          <p:nvGrpSpPr>
            <p:cNvPr id="8" name="Group 7">
              <a:extLst>
                <a:ext uri="{FF2B5EF4-FFF2-40B4-BE49-F238E27FC236}">
                  <a16:creationId xmlns:a16="http://schemas.microsoft.com/office/drawing/2014/main" id="{52880667-FAC8-0E79-3FDB-23D597F6A11B}"/>
                </a:ext>
              </a:extLst>
            </p:cNvPr>
            <p:cNvGrpSpPr/>
            <p:nvPr/>
          </p:nvGrpSpPr>
          <p:grpSpPr>
            <a:xfrm>
              <a:off x="5556000" y="3429000"/>
              <a:ext cx="1080000" cy="1080000"/>
              <a:chOff x="3313786" y="3686861"/>
              <a:chExt cx="1080000" cy="1080000"/>
            </a:xfrm>
          </p:grpSpPr>
          <p:sp>
            <p:nvSpPr>
              <p:cNvPr id="10" name="Oval 9">
                <a:extLst>
                  <a:ext uri="{FF2B5EF4-FFF2-40B4-BE49-F238E27FC236}">
                    <a16:creationId xmlns:a16="http://schemas.microsoft.com/office/drawing/2014/main" id="{8CCF56FA-2920-C687-DA5B-617920F36039}"/>
                  </a:ext>
                </a:extLst>
              </p:cNvPr>
              <p:cNvSpPr/>
              <p:nvPr/>
            </p:nvSpPr>
            <p:spPr>
              <a:xfrm>
                <a:off x="3313786" y="3686861"/>
                <a:ext cx="1080000" cy="1080000"/>
              </a:xfrm>
              <a:prstGeom prst="ellipse">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Graphic 10" descr="Flying Money with solid fill">
                <a:extLst>
                  <a:ext uri="{FF2B5EF4-FFF2-40B4-BE49-F238E27FC236}">
                    <a16:creationId xmlns:a16="http://schemas.microsoft.com/office/drawing/2014/main" id="{32E9DB73-AE27-F4B0-5CF0-6C8B31E22AA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396586" y="3769661"/>
                <a:ext cx="914400" cy="914400"/>
              </a:xfrm>
              <a:prstGeom prst="rect">
                <a:avLst/>
              </a:prstGeom>
            </p:spPr>
          </p:pic>
        </p:grpSp>
        <p:sp>
          <p:nvSpPr>
            <p:cNvPr id="9" name="TextBox 8">
              <a:extLst>
                <a:ext uri="{FF2B5EF4-FFF2-40B4-BE49-F238E27FC236}">
                  <a16:creationId xmlns:a16="http://schemas.microsoft.com/office/drawing/2014/main" id="{FA3358EE-5CA2-53AF-A525-390D339A8994}"/>
                </a:ext>
              </a:extLst>
            </p:cNvPr>
            <p:cNvSpPr txBox="1"/>
            <p:nvPr/>
          </p:nvSpPr>
          <p:spPr>
            <a:xfrm>
              <a:off x="4894174" y="4669078"/>
              <a:ext cx="2403652" cy="1107996"/>
            </a:xfrm>
            <a:prstGeom prst="rect">
              <a:avLst/>
            </a:prstGeom>
            <a:noFill/>
          </p:spPr>
          <p:txBody>
            <a:bodyPr wrap="square" rtlCol="0">
              <a:spAutoFit/>
            </a:bodyPr>
            <a:lstStyle/>
            <a:p>
              <a:pPr algn="ctr"/>
              <a:r>
                <a:rPr lang="en-US" b="1" noProof="0" dirty="0"/>
                <a:t>Binary</a:t>
              </a:r>
            </a:p>
            <a:p>
              <a:pPr algn="ctr"/>
              <a:r>
                <a:rPr lang="en-US" sz="1600" noProof="0" dirty="0"/>
                <a:t>NHSTs reduce complex data to binary, seemingly certain results</a:t>
              </a:r>
            </a:p>
          </p:txBody>
        </p:sp>
      </p:grpSp>
      <p:grpSp>
        <p:nvGrpSpPr>
          <p:cNvPr id="12" name="Group 11">
            <a:extLst>
              <a:ext uri="{FF2B5EF4-FFF2-40B4-BE49-F238E27FC236}">
                <a16:creationId xmlns:a16="http://schemas.microsoft.com/office/drawing/2014/main" id="{D00BB230-55AB-56D7-D5F7-54B489048C1F}"/>
              </a:ext>
            </a:extLst>
          </p:cNvPr>
          <p:cNvGrpSpPr/>
          <p:nvPr/>
        </p:nvGrpSpPr>
        <p:grpSpPr>
          <a:xfrm>
            <a:off x="3492902" y="2922370"/>
            <a:ext cx="2403652" cy="2348074"/>
            <a:chOff x="4894174" y="3429000"/>
            <a:chExt cx="2403652" cy="2348074"/>
          </a:xfrm>
        </p:grpSpPr>
        <p:grpSp>
          <p:nvGrpSpPr>
            <p:cNvPr id="13" name="Group 12">
              <a:extLst>
                <a:ext uri="{FF2B5EF4-FFF2-40B4-BE49-F238E27FC236}">
                  <a16:creationId xmlns:a16="http://schemas.microsoft.com/office/drawing/2014/main" id="{BF0DCEBD-1D66-4187-2804-3FB53B657B15}"/>
                </a:ext>
              </a:extLst>
            </p:cNvPr>
            <p:cNvGrpSpPr/>
            <p:nvPr/>
          </p:nvGrpSpPr>
          <p:grpSpPr>
            <a:xfrm>
              <a:off x="5556000" y="3429000"/>
              <a:ext cx="1080000" cy="1080000"/>
              <a:chOff x="3313786" y="3686861"/>
              <a:chExt cx="1080000" cy="1080000"/>
            </a:xfrm>
          </p:grpSpPr>
          <p:sp>
            <p:nvSpPr>
              <p:cNvPr id="15" name="Oval 14">
                <a:extLst>
                  <a:ext uri="{FF2B5EF4-FFF2-40B4-BE49-F238E27FC236}">
                    <a16:creationId xmlns:a16="http://schemas.microsoft.com/office/drawing/2014/main" id="{CD7543E5-CAB0-81DE-A603-2BA51A2622E0}"/>
                  </a:ext>
                </a:extLst>
              </p:cNvPr>
              <p:cNvSpPr/>
              <p:nvPr/>
            </p:nvSpPr>
            <p:spPr>
              <a:xfrm>
                <a:off x="3313786" y="3686861"/>
                <a:ext cx="1080000" cy="1080000"/>
              </a:xfrm>
              <a:prstGeom prst="ellipse">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6" name="Graphic 15" descr="Forest scene with solid fill">
                <a:extLst>
                  <a:ext uri="{FF2B5EF4-FFF2-40B4-BE49-F238E27FC236}">
                    <a16:creationId xmlns:a16="http://schemas.microsoft.com/office/drawing/2014/main" id="{EFA39AE7-7FC7-B483-B527-20D6B8212C3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sp>
          <p:nvSpPr>
            <p:cNvPr id="14" name="TextBox 13">
              <a:extLst>
                <a:ext uri="{FF2B5EF4-FFF2-40B4-BE49-F238E27FC236}">
                  <a16:creationId xmlns:a16="http://schemas.microsoft.com/office/drawing/2014/main" id="{40241AB0-5511-DCCE-394A-35E108837DE5}"/>
                </a:ext>
              </a:extLst>
            </p:cNvPr>
            <p:cNvSpPr txBox="1"/>
            <p:nvPr/>
          </p:nvSpPr>
          <p:spPr>
            <a:xfrm>
              <a:off x="4894174" y="4669078"/>
              <a:ext cx="2403652" cy="1107996"/>
            </a:xfrm>
            <a:prstGeom prst="rect">
              <a:avLst/>
            </a:prstGeom>
            <a:noFill/>
          </p:spPr>
          <p:txBody>
            <a:bodyPr wrap="square" rtlCol="0">
              <a:spAutoFit/>
            </a:bodyPr>
            <a:lstStyle/>
            <a:p>
              <a:pPr algn="ctr"/>
              <a:r>
                <a:rPr lang="en-US" b="1" noProof="0" dirty="0"/>
                <a:t>Normal</a:t>
              </a:r>
            </a:p>
            <a:p>
              <a:pPr algn="ctr"/>
              <a:r>
                <a:rPr lang="en-US" sz="1600" noProof="0" dirty="0"/>
                <a:t>NHSTs distinguish only normal from non-normal data</a:t>
              </a:r>
            </a:p>
          </p:txBody>
        </p:sp>
      </p:grpSp>
      <p:grpSp>
        <p:nvGrpSpPr>
          <p:cNvPr id="17" name="Group 16">
            <a:extLst>
              <a:ext uri="{FF2B5EF4-FFF2-40B4-BE49-F238E27FC236}">
                <a16:creationId xmlns:a16="http://schemas.microsoft.com/office/drawing/2014/main" id="{1B17E48D-5070-A206-C0CA-D0B7E8B9EAC7}"/>
              </a:ext>
            </a:extLst>
          </p:cNvPr>
          <p:cNvGrpSpPr/>
          <p:nvPr/>
        </p:nvGrpSpPr>
        <p:grpSpPr>
          <a:xfrm>
            <a:off x="6030560" y="2922370"/>
            <a:ext cx="2403652" cy="2101852"/>
            <a:chOff x="4894174" y="3429000"/>
            <a:chExt cx="2403652" cy="2101852"/>
          </a:xfrm>
        </p:grpSpPr>
        <p:grpSp>
          <p:nvGrpSpPr>
            <p:cNvPr id="18" name="Group 17">
              <a:extLst>
                <a:ext uri="{FF2B5EF4-FFF2-40B4-BE49-F238E27FC236}">
                  <a16:creationId xmlns:a16="http://schemas.microsoft.com/office/drawing/2014/main" id="{B8630516-7C27-457D-2009-5C7D6AE48C0B}"/>
                </a:ext>
              </a:extLst>
            </p:cNvPr>
            <p:cNvGrpSpPr/>
            <p:nvPr/>
          </p:nvGrpSpPr>
          <p:grpSpPr>
            <a:xfrm>
              <a:off x="5556000" y="3429000"/>
              <a:ext cx="1080000" cy="1080000"/>
              <a:chOff x="3313786" y="3686861"/>
              <a:chExt cx="1080000" cy="1080000"/>
            </a:xfrm>
          </p:grpSpPr>
          <p:sp>
            <p:nvSpPr>
              <p:cNvPr id="20" name="Oval 19">
                <a:extLst>
                  <a:ext uri="{FF2B5EF4-FFF2-40B4-BE49-F238E27FC236}">
                    <a16:creationId xmlns:a16="http://schemas.microsoft.com/office/drawing/2014/main" id="{4D36847A-0DF9-7120-8006-47C00EE89031}"/>
                  </a:ext>
                </a:extLst>
              </p:cNvPr>
              <p:cNvSpPr/>
              <p:nvPr/>
            </p:nvSpPr>
            <p:spPr>
              <a:xfrm>
                <a:off x="3313786" y="3686861"/>
                <a:ext cx="1080000" cy="1080000"/>
              </a:xfrm>
              <a:prstGeom prst="ellipse">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1" name="Graphic 20" descr="Right Brain with solid fill">
                <a:extLst>
                  <a:ext uri="{FF2B5EF4-FFF2-40B4-BE49-F238E27FC236}">
                    <a16:creationId xmlns:a16="http://schemas.microsoft.com/office/drawing/2014/main" id="{770848BA-F466-B5B3-8DF8-D35C570C805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sp>
          <p:nvSpPr>
            <p:cNvPr id="19" name="TextBox 18">
              <a:extLst>
                <a:ext uri="{FF2B5EF4-FFF2-40B4-BE49-F238E27FC236}">
                  <a16:creationId xmlns:a16="http://schemas.microsoft.com/office/drawing/2014/main" id="{928CE341-A53E-78F6-7146-C80E2FBF9348}"/>
                </a:ext>
              </a:extLst>
            </p:cNvPr>
            <p:cNvSpPr txBox="1"/>
            <p:nvPr/>
          </p:nvSpPr>
          <p:spPr>
            <a:xfrm>
              <a:off x="4894174" y="4669078"/>
              <a:ext cx="2403652" cy="861774"/>
            </a:xfrm>
            <a:prstGeom prst="rect">
              <a:avLst/>
            </a:prstGeom>
            <a:noFill/>
          </p:spPr>
          <p:txBody>
            <a:bodyPr wrap="square" rtlCol="0">
              <a:spAutoFit/>
            </a:bodyPr>
            <a:lstStyle/>
            <a:p>
              <a:pPr algn="ctr"/>
              <a:r>
                <a:rPr lang="en-US" b="1" noProof="0" dirty="0"/>
                <a:t>Interpretability</a:t>
              </a:r>
            </a:p>
            <a:p>
              <a:pPr algn="ctr"/>
              <a:r>
                <a:rPr lang="en-US" sz="1600" noProof="0" dirty="0"/>
                <a:t>The p-value is often misinterpreted</a:t>
              </a:r>
            </a:p>
          </p:txBody>
        </p:sp>
      </p:grpSp>
      <p:grpSp>
        <p:nvGrpSpPr>
          <p:cNvPr id="22" name="Group 21">
            <a:extLst>
              <a:ext uri="{FF2B5EF4-FFF2-40B4-BE49-F238E27FC236}">
                <a16:creationId xmlns:a16="http://schemas.microsoft.com/office/drawing/2014/main" id="{C8972C38-66FE-8381-EDC7-CA07D1397655}"/>
              </a:ext>
            </a:extLst>
          </p:cNvPr>
          <p:cNvGrpSpPr/>
          <p:nvPr/>
        </p:nvGrpSpPr>
        <p:grpSpPr>
          <a:xfrm>
            <a:off x="8568218" y="2922370"/>
            <a:ext cx="2403652" cy="2348074"/>
            <a:chOff x="4894174" y="3429000"/>
            <a:chExt cx="2403652" cy="2348074"/>
          </a:xfrm>
        </p:grpSpPr>
        <p:grpSp>
          <p:nvGrpSpPr>
            <p:cNvPr id="23" name="Group 22">
              <a:extLst>
                <a:ext uri="{FF2B5EF4-FFF2-40B4-BE49-F238E27FC236}">
                  <a16:creationId xmlns:a16="http://schemas.microsoft.com/office/drawing/2014/main" id="{2D5038C8-1F56-BEF5-DE33-A8D8FD785380}"/>
                </a:ext>
              </a:extLst>
            </p:cNvPr>
            <p:cNvGrpSpPr/>
            <p:nvPr/>
          </p:nvGrpSpPr>
          <p:grpSpPr>
            <a:xfrm>
              <a:off x="5556000" y="3429000"/>
              <a:ext cx="1080000" cy="1080000"/>
              <a:chOff x="3313786" y="3686861"/>
              <a:chExt cx="1080000" cy="1080000"/>
            </a:xfrm>
          </p:grpSpPr>
          <p:sp>
            <p:nvSpPr>
              <p:cNvPr id="25" name="Oval 24">
                <a:extLst>
                  <a:ext uri="{FF2B5EF4-FFF2-40B4-BE49-F238E27FC236}">
                    <a16:creationId xmlns:a16="http://schemas.microsoft.com/office/drawing/2014/main" id="{CF88B521-1567-DA41-9A0F-3334ED78113E}"/>
                  </a:ext>
                </a:extLst>
              </p:cNvPr>
              <p:cNvSpPr/>
              <p:nvPr/>
            </p:nvSpPr>
            <p:spPr>
              <a:xfrm>
                <a:off x="3313786" y="3686861"/>
                <a:ext cx="1080000" cy="1080000"/>
              </a:xfrm>
              <a:prstGeom prst="ellipse">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6" name="Graphic 25" descr="Bar chart with solid fill">
                <a:extLst>
                  <a:ext uri="{FF2B5EF4-FFF2-40B4-BE49-F238E27FC236}">
                    <a16:creationId xmlns:a16="http://schemas.microsoft.com/office/drawing/2014/main" id="{939228E3-1635-8390-62E1-7FB106A5B7F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A6034A0-BF97-FC9C-25D9-7454EEB81C0D}"/>
                    </a:ext>
                  </a:extLst>
                </p:cNvPr>
                <p:cNvSpPr txBox="1"/>
                <p:nvPr/>
              </p:nvSpPr>
              <p:spPr>
                <a:xfrm>
                  <a:off x="4894174" y="4669078"/>
                  <a:ext cx="2403652" cy="1107996"/>
                </a:xfrm>
                <a:prstGeom prst="rect">
                  <a:avLst/>
                </a:prstGeom>
                <a:noFill/>
              </p:spPr>
              <p:txBody>
                <a:bodyPr wrap="square" rtlCol="0">
                  <a:spAutoFit/>
                </a:bodyPr>
                <a:lstStyle/>
                <a:p>
                  <a:pPr algn="ctr"/>
                  <a:r>
                    <a:rPr lang="en-US" b="1" noProof="0" dirty="0"/>
                    <a:t>Arbitrary</a:t>
                  </a:r>
                </a:p>
                <a:p>
                  <a:pPr algn="ctr"/>
                  <a:r>
                    <a:rPr lang="en-US" sz="1600" noProof="0" dirty="0"/>
                    <a:t>There is nothing special about the significance level </a:t>
                  </a:r>
                  <a14:m>
                    <m:oMath xmlns:m="http://schemas.openxmlformats.org/officeDocument/2006/math">
                      <m:r>
                        <a:rPr lang="en-US" sz="1600" b="0" i="1" noProof="0" smtClean="0">
                          <a:latin typeface="Cambria Math" panose="02040503050406030204" pitchFamily="18" charset="0"/>
                        </a:rPr>
                        <m:t>𝛼</m:t>
                      </m:r>
                      <m:r>
                        <a:rPr lang="en-US" sz="1600" b="0" i="1" noProof="0" smtClean="0">
                          <a:latin typeface="Cambria Math" panose="02040503050406030204" pitchFamily="18" charset="0"/>
                        </a:rPr>
                        <m:t>=5%</m:t>
                      </m:r>
                    </m:oMath>
                  </a14:m>
                  <a:endParaRPr lang="en-US" sz="1600" noProof="0" dirty="0"/>
                </a:p>
              </p:txBody>
            </p:sp>
          </mc:Choice>
          <mc:Fallback xmlns="">
            <p:sp>
              <p:nvSpPr>
                <p:cNvPr id="24" name="TextBox 23">
                  <a:extLst>
                    <a:ext uri="{FF2B5EF4-FFF2-40B4-BE49-F238E27FC236}">
                      <a16:creationId xmlns:a16="http://schemas.microsoft.com/office/drawing/2014/main" id="{2A6034A0-BF97-FC9C-25D9-7454EEB81C0D}"/>
                    </a:ext>
                  </a:extLst>
                </p:cNvPr>
                <p:cNvSpPr txBox="1">
                  <a:spLocks noRot="1" noChangeAspect="1" noMove="1" noResize="1" noEditPoints="1" noAdjustHandles="1" noChangeArrowheads="1" noChangeShapeType="1" noTextEdit="1"/>
                </p:cNvSpPr>
                <p:nvPr/>
              </p:nvSpPr>
              <p:spPr>
                <a:xfrm>
                  <a:off x="4894174" y="4669078"/>
                  <a:ext cx="2403652" cy="1107996"/>
                </a:xfrm>
                <a:prstGeom prst="rect">
                  <a:avLst/>
                </a:prstGeom>
                <a:blipFill>
                  <a:blip r:embed="rId6"/>
                  <a:stretch>
                    <a:fillRect t="-2747" b="-6044"/>
                  </a:stretch>
                </a:blipFill>
              </p:spPr>
              <p:txBody>
                <a:bodyPr/>
                <a:lstStyle/>
                <a:p>
                  <a:r>
                    <a:rPr lang="en-SE">
                      <a:noFill/>
                    </a:rPr>
                    <a:t> </a:t>
                  </a:r>
                </a:p>
              </p:txBody>
            </p:sp>
          </mc:Fallback>
        </mc:AlternateContent>
      </p:grpSp>
    </p:spTree>
    <p:extLst>
      <p:ext uri="{BB962C8B-B14F-4D97-AF65-F5344CB8AC3E}">
        <p14:creationId xmlns:p14="http://schemas.microsoft.com/office/powerpoint/2010/main" val="579865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5D6EA02-FA7F-0B21-3F0C-A63AD8309AA3}"/>
              </a:ext>
            </a:extLst>
          </p:cNvPr>
          <p:cNvSpPr>
            <a:spLocks noGrp="1"/>
          </p:cNvSpPr>
          <p:nvPr>
            <p:ph type="title"/>
          </p:nvPr>
        </p:nvSpPr>
        <p:spPr/>
        <p:txBody>
          <a:bodyPr/>
          <a:lstStyle/>
          <a:p>
            <a:r>
              <a:rPr lang="en-US" noProof="0" dirty="0"/>
              <a:t>The Bayesian Paradigm</a:t>
            </a:r>
          </a:p>
        </p:txBody>
      </p:sp>
      <p:sp>
        <p:nvSpPr>
          <p:cNvPr id="7" name="Text Placeholder 6">
            <a:extLst>
              <a:ext uri="{FF2B5EF4-FFF2-40B4-BE49-F238E27FC236}">
                <a16:creationId xmlns:a16="http://schemas.microsoft.com/office/drawing/2014/main" id="{3AC3EA37-D7D0-2274-48DD-A9364DF80A25}"/>
              </a:ext>
            </a:extLst>
          </p:cNvPr>
          <p:cNvSpPr>
            <a:spLocks noGrp="1"/>
          </p:cNvSpPr>
          <p:nvPr>
            <p:ph type="body" idx="1"/>
          </p:nvPr>
        </p:nvSpPr>
        <p:spPr/>
        <p:txBody>
          <a:bodyPr/>
          <a:lstStyle/>
          <a:p>
            <a:endParaRPr lang="en-US" noProof="0" dirty="0"/>
          </a:p>
        </p:txBody>
      </p:sp>
      <p:sp>
        <p:nvSpPr>
          <p:cNvPr id="4" name="Date Placeholder 3">
            <a:extLst>
              <a:ext uri="{FF2B5EF4-FFF2-40B4-BE49-F238E27FC236}">
                <a16:creationId xmlns:a16="http://schemas.microsoft.com/office/drawing/2014/main" id="{1883BBCE-FA0F-1071-4848-F8195279C0CD}"/>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53546F33-75E1-43C7-3840-0A6F389428C0}"/>
              </a:ext>
            </a:extLst>
          </p:cNvPr>
          <p:cNvSpPr>
            <a:spLocks noGrp="1"/>
          </p:cNvSpPr>
          <p:nvPr>
            <p:ph type="sldNum" sz="quarter" idx="12"/>
          </p:nvPr>
        </p:nvSpPr>
        <p:spPr/>
        <p:txBody>
          <a:bodyPr/>
          <a:lstStyle/>
          <a:p>
            <a:fld id="{271ECC92-9CDE-4EB3-B1C5-F46B9E1FA3C1}" type="slidenum">
              <a:rPr lang="en-US" noProof="0" smtClean="0"/>
              <a:t>22</a:t>
            </a:fld>
            <a:endParaRPr lang="en-US" noProof="0" dirty="0"/>
          </a:p>
        </p:txBody>
      </p:sp>
      <p:sp>
        <p:nvSpPr>
          <p:cNvPr id="2" name="Footer Placeholder 1">
            <a:extLst>
              <a:ext uri="{FF2B5EF4-FFF2-40B4-BE49-F238E27FC236}">
                <a16:creationId xmlns:a16="http://schemas.microsoft.com/office/drawing/2014/main" id="{7825D41C-54A4-8F8D-3CA8-D2EB934EC979}"/>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235165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C69AD-5471-08C9-8D54-AD5E5E9F07EC}"/>
              </a:ext>
            </a:extLst>
          </p:cNvPr>
          <p:cNvSpPr>
            <a:spLocks noGrp="1"/>
          </p:cNvSpPr>
          <p:nvPr>
            <p:ph type="title"/>
          </p:nvPr>
        </p:nvSpPr>
        <p:spPr/>
        <p:txBody>
          <a:bodyPr/>
          <a:lstStyle/>
          <a:p>
            <a:r>
              <a:rPr lang="en-SE" dirty="0"/>
              <a:t>Paradigm of Probability</a:t>
            </a:r>
          </a:p>
        </p:txBody>
      </p:sp>
      <p:sp>
        <p:nvSpPr>
          <p:cNvPr id="3" name="Content Placeholder 2">
            <a:extLst>
              <a:ext uri="{FF2B5EF4-FFF2-40B4-BE49-F238E27FC236}">
                <a16:creationId xmlns:a16="http://schemas.microsoft.com/office/drawing/2014/main" id="{5E4F23DB-DC6B-A6A8-186B-715F63D4E288}"/>
              </a:ext>
            </a:extLst>
          </p:cNvPr>
          <p:cNvSpPr>
            <a:spLocks noGrp="1"/>
          </p:cNvSpPr>
          <p:nvPr>
            <p:ph idx="1"/>
          </p:nvPr>
        </p:nvSpPr>
        <p:spPr>
          <a:xfrm>
            <a:off x="838200" y="1825625"/>
            <a:ext cx="10515600" cy="1022975"/>
          </a:xfrm>
        </p:spPr>
        <p:txBody>
          <a:bodyPr/>
          <a:lstStyle/>
          <a:p>
            <a:pPr marL="0" indent="0">
              <a:buNone/>
            </a:pPr>
            <a:r>
              <a:rPr lang="en-US" dirty="0"/>
              <a:t>Next to the </a:t>
            </a:r>
            <a:r>
              <a:rPr lang="en-US" b="1" dirty="0"/>
              <a:t>frequentist </a:t>
            </a:r>
            <a:r>
              <a:rPr lang="en-US" dirty="0"/>
              <a:t>paradigm, the </a:t>
            </a:r>
            <a:r>
              <a:rPr lang="en-US" b="1" dirty="0"/>
              <a:t>Bayesian </a:t>
            </a:r>
            <a:r>
              <a:rPr lang="en-US" dirty="0"/>
              <a:t>paradigm of statistics assigns a different meaning to </a:t>
            </a:r>
            <a:r>
              <a:rPr lang="en-US" i="1" dirty="0"/>
              <a:t>probability</a:t>
            </a:r>
            <a:r>
              <a:rPr lang="en-US" dirty="0"/>
              <a:t>:</a:t>
            </a:r>
          </a:p>
        </p:txBody>
      </p:sp>
      <p:sp>
        <p:nvSpPr>
          <p:cNvPr id="4" name="Date Placeholder 3">
            <a:extLst>
              <a:ext uri="{FF2B5EF4-FFF2-40B4-BE49-F238E27FC236}">
                <a16:creationId xmlns:a16="http://schemas.microsoft.com/office/drawing/2014/main" id="{B6DE6AC4-96F0-079E-C4F3-3D1B68C09821}"/>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556FD01E-CAE2-160E-BC01-0B2636C8DCFD}"/>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5ECC4C87-F9F9-0CB9-741A-5C4F5091FEFF}"/>
              </a:ext>
            </a:extLst>
          </p:cNvPr>
          <p:cNvSpPr>
            <a:spLocks noGrp="1"/>
          </p:cNvSpPr>
          <p:nvPr>
            <p:ph type="sldNum" sz="quarter" idx="12"/>
          </p:nvPr>
        </p:nvSpPr>
        <p:spPr/>
        <p:txBody>
          <a:bodyPr/>
          <a:lstStyle/>
          <a:p>
            <a:fld id="{271ECC92-9CDE-4EB3-B1C5-F46B9E1FA3C1}" type="slidenum">
              <a:rPr lang="en-SE" smtClean="0"/>
              <a:t>23</a:t>
            </a:fld>
            <a:endParaRPr lang="en-SE"/>
          </a:p>
        </p:txBody>
      </p:sp>
      <p:grpSp>
        <p:nvGrpSpPr>
          <p:cNvPr id="24" name="Group 23">
            <a:extLst>
              <a:ext uri="{FF2B5EF4-FFF2-40B4-BE49-F238E27FC236}">
                <a16:creationId xmlns:a16="http://schemas.microsoft.com/office/drawing/2014/main" id="{E228000E-7B28-EA53-403C-017BFC9651BA}"/>
              </a:ext>
            </a:extLst>
          </p:cNvPr>
          <p:cNvGrpSpPr/>
          <p:nvPr/>
        </p:nvGrpSpPr>
        <p:grpSpPr>
          <a:xfrm>
            <a:off x="939800" y="3035300"/>
            <a:ext cx="4762500" cy="2514600"/>
            <a:chOff x="939800" y="3429000"/>
            <a:chExt cx="4762500" cy="2514600"/>
          </a:xfrm>
        </p:grpSpPr>
        <p:sp>
          <p:nvSpPr>
            <p:cNvPr id="7" name="Rectangle: Rounded Corners 6">
              <a:extLst>
                <a:ext uri="{FF2B5EF4-FFF2-40B4-BE49-F238E27FC236}">
                  <a16:creationId xmlns:a16="http://schemas.microsoft.com/office/drawing/2014/main" id="{6715050D-E2AE-ED7C-8ABE-69838F62B174}"/>
                </a:ext>
              </a:extLst>
            </p:cNvPr>
            <p:cNvSpPr/>
            <p:nvPr/>
          </p:nvSpPr>
          <p:spPr>
            <a:xfrm>
              <a:off x="939800" y="3429000"/>
              <a:ext cx="4762500" cy="2514600"/>
            </a:xfrm>
            <a:prstGeom prst="roundRect">
              <a:avLst/>
            </a:prstGeom>
            <a:solidFill>
              <a:schemeClr val="accent4">
                <a:lumMod val="20000"/>
                <a:lumOff val="8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8" name="TextBox 7">
              <a:extLst>
                <a:ext uri="{FF2B5EF4-FFF2-40B4-BE49-F238E27FC236}">
                  <a16:creationId xmlns:a16="http://schemas.microsoft.com/office/drawing/2014/main" id="{56B757EF-A316-F03B-754B-56E0BFB2CBFB}"/>
                </a:ext>
              </a:extLst>
            </p:cNvPr>
            <p:cNvSpPr txBox="1"/>
            <p:nvPr/>
          </p:nvSpPr>
          <p:spPr>
            <a:xfrm>
              <a:off x="1632927" y="3561853"/>
              <a:ext cx="3376245" cy="461665"/>
            </a:xfrm>
            <a:prstGeom prst="rect">
              <a:avLst/>
            </a:prstGeom>
            <a:noFill/>
          </p:spPr>
          <p:txBody>
            <a:bodyPr wrap="none" rtlCol="0">
              <a:spAutoFit/>
            </a:bodyPr>
            <a:lstStyle/>
            <a:p>
              <a:r>
                <a:rPr lang="en-SE" sz="2400" b="1" dirty="0"/>
                <a:t>Frequentist Probability</a:t>
              </a:r>
            </a:p>
          </p:txBody>
        </p:sp>
        <p:pic>
          <p:nvPicPr>
            <p:cNvPr id="12" name="Graphic 11" descr="Bar chart with solid fill">
              <a:extLst>
                <a:ext uri="{FF2B5EF4-FFF2-40B4-BE49-F238E27FC236}">
                  <a16:creationId xmlns:a16="http://schemas.microsoft.com/office/drawing/2014/main" id="{CC309B4F-E915-82C2-393E-EF95F8F6A5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56427" y="3522685"/>
              <a:ext cx="540000" cy="540000"/>
            </a:xfrm>
            <a:prstGeom prst="rect">
              <a:avLst/>
            </a:prstGeom>
          </p:spPr>
        </p:pic>
        <p:sp>
          <p:nvSpPr>
            <p:cNvPr id="15" name="TextBox 14">
              <a:extLst>
                <a:ext uri="{FF2B5EF4-FFF2-40B4-BE49-F238E27FC236}">
                  <a16:creationId xmlns:a16="http://schemas.microsoft.com/office/drawing/2014/main" id="{E26B780C-28E9-9509-D7AD-D7A7FC2635E5}"/>
                </a:ext>
              </a:extLst>
            </p:cNvPr>
            <p:cNvSpPr txBox="1"/>
            <p:nvPr/>
          </p:nvSpPr>
          <p:spPr>
            <a:xfrm>
              <a:off x="1156427" y="4146718"/>
              <a:ext cx="4368073" cy="1631216"/>
            </a:xfrm>
            <a:prstGeom prst="rect">
              <a:avLst/>
            </a:prstGeom>
            <a:noFill/>
          </p:spPr>
          <p:txBody>
            <a:bodyPr wrap="square">
              <a:spAutoFit/>
            </a:bodyPr>
            <a:lstStyle/>
            <a:p>
              <a:r>
                <a:rPr lang="en-SE" sz="2000" noProof="0" dirty="0"/>
                <a:t>T</a:t>
              </a:r>
              <a:r>
                <a:rPr lang="en-US" sz="2000" noProof="0" dirty="0"/>
                <a:t>he proportion of times it would occur if you repeated the experiment an infinite number of times under identical conditions</a:t>
              </a:r>
              <a:r>
                <a:rPr lang="en-SE" sz="2000" noProof="0" dirty="0"/>
                <a:t>.</a:t>
              </a:r>
            </a:p>
            <a:p>
              <a:r>
                <a:rPr lang="en-SE" sz="2000" dirty="0"/>
                <a:t>→ Probability applies to </a:t>
              </a:r>
              <a:r>
                <a:rPr lang="en-SE" sz="2000" b="1" dirty="0"/>
                <a:t>events</a:t>
              </a:r>
              <a:endParaRPr lang="en-SE" sz="2000" dirty="0"/>
            </a:p>
          </p:txBody>
        </p:sp>
      </p:grpSp>
      <p:grpSp>
        <p:nvGrpSpPr>
          <p:cNvPr id="25" name="Group 24">
            <a:extLst>
              <a:ext uri="{FF2B5EF4-FFF2-40B4-BE49-F238E27FC236}">
                <a16:creationId xmlns:a16="http://schemas.microsoft.com/office/drawing/2014/main" id="{422803A3-D87D-7137-1A12-3FE45075CEC0}"/>
              </a:ext>
            </a:extLst>
          </p:cNvPr>
          <p:cNvGrpSpPr/>
          <p:nvPr/>
        </p:nvGrpSpPr>
        <p:grpSpPr>
          <a:xfrm>
            <a:off x="6489702" y="3035300"/>
            <a:ext cx="4762500" cy="2806700"/>
            <a:chOff x="6489702" y="3429000"/>
            <a:chExt cx="4762500" cy="2806700"/>
          </a:xfrm>
        </p:grpSpPr>
        <p:sp>
          <p:nvSpPr>
            <p:cNvPr id="17" name="Rectangle: Rounded Corners 16">
              <a:extLst>
                <a:ext uri="{FF2B5EF4-FFF2-40B4-BE49-F238E27FC236}">
                  <a16:creationId xmlns:a16="http://schemas.microsoft.com/office/drawing/2014/main" id="{CB6C2CF3-C9C0-2D73-1EFE-7CCE7AD72708}"/>
                </a:ext>
              </a:extLst>
            </p:cNvPr>
            <p:cNvSpPr/>
            <p:nvPr/>
          </p:nvSpPr>
          <p:spPr>
            <a:xfrm>
              <a:off x="6489702" y="3429000"/>
              <a:ext cx="4762500" cy="2806700"/>
            </a:xfrm>
            <a:prstGeom prst="roundRect">
              <a:avLst/>
            </a:prstGeom>
            <a:solidFill>
              <a:schemeClr val="accent4">
                <a:lumMod val="20000"/>
                <a:lumOff val="8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9" name="TextBox 18">
              <a:extLst>
                <a:ext uri="{FF2B5EF4-FFF2-40B4-BE49-F238E27FC236}">
                  <a16:creationId xmlns:a16="http://schemas.microsoft.com/office/drawing/2014/main" id="{7E26E147-77C9-A336-CC0F-1FD386695E90}"/>
                </a:ext>
              </a:extLst>
            </p:cNvPr>
            <p:cNvSpPr txBox="1"/>
            <p:nvPr/>
          </p:nvSpPr>
          <p:spPr>
            <a:xfrm>
              <a:off x="7182829" y="3561853"/>
              <a:ext cx="3033907" cy="461665"/>
            </a:xfrm>
            <a:prstGeom prst="rect">
              <a:avLst/>
            </a:prstGeom>
            <a:noFill/>
          </p:spPr>
          <p:txBody>
            <a:bodyPr wrap="none" rtlCol="0">
              <a:spAutoFit/>
            </a:bodyPr>
            <a:lstStyle/>
            <a:p>
              <a:r>
                <a:rPr lang="en-SE" sz="2400" b="1" dirty="0"/>
                <a:t>Bayesian Probability</a:t>
              </a:r>
            </a:p>
          </p:txBody>
        </p:sp>
        <p:pic>
          <p:nvPicPr>
            <p:cNvPr id="21" name="Graphic 20">
              <a:extLst>
                <a:ext uri="{FF2B5EF4-FFF2-40B4-BE49-F238E27FC236}">
                  <a16:creationId xmlns:a16="http://schemas.microsoft.com/office/drawing/2014/main" id="{D02DDCF6-E06A-55B3-19D4-05210BC2EA5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706329" y="3522685"/>
              <a:ext cx="540000" cy="540000"/>
            </a:xfrm>
            <a:prstGeom prst="rect">
              <a:avLst/>
            </a:prstGeom>
          </p:spPr>
        </p:pic>
        <p:sp>
          <p:nvSpPr>
            <p:cNvPr id="23" name="TextBox 22">
              <a:extLst>
                <a:ext uri="{FF2B5EF4-FFF2-40B4-BE49-F238E27FC236}">
                  <a16:creationId xmlns:a16="http://schemas.microsoft.com/office/drawing/2014/main" id="{3FCDD058-DE98-B95E-1E07-C8F7719BF0E6}"/>
                </a:ext>
              </a:extLst>
            </p:cNvPr>
            <p:cNvSpPr txBox="1"/>
            <p:nvPr/>
          </p:nvSpPr>
          <p:spPr>
            <a:xfrm>
              <a:off x="6706329" y="4146718"/>
              <a:ext cx="4368073" cy="1938992"/>
            </a:xfrm>
            <a:prstGeom prst="rect">
              <a:avLst/>
            </a:prstGeom>
            <a:noFill/>
          </p:spPr>
          <p:txBody>
            <a:bodyPr wrap="square">
              <a:spAutoFit/>
            </a:bodyPr>
            <a:lstStyle/>
            <a:p>
              <a:r>
                <a:rPr lang="en-SE" sz="2000" dirty="0"/>
                <a:t>A</a:t>
              </a:r>
              <a:r>
                <a:rPr lang="en-US" sz="2000" dirty="0"/>
                <a:t> statement about </a:t>
              </a:r>
              <a:r>
                <a:rPr lang="en-US" sz="2000" i="1" dirty="0"/>
                <a:t>the state of knowledge of an observer </a:t>
              </a:r>
              <a:r>
                <a:rPr lang="en-SE" sz="2000" i="1" dirty="0"/>
                <a:t>that </a:t>
              </a:r>
              <a:r>
                <a:rPr lang="en-US" sz="2000" dirty="0"/>
                <a:t>quantifies how confident a rational agent is that something is true, given their current information</a:t>
              </a:r>
              <a:r>
                <a:rPr lang="en-SE" sz="2000" dirty="0"/>
                <a:t>.</a:t>
              </a:r>
              <a:endParaRPr lang="en-SE" sz="2000" i="1" dirty="0"/>
            </a:p>
            <a:p>
              <a:r>
                <a:rPr lang="en-SE" sz="2000" dirty="0"/>
                <a:t>→ Probability applies to </a:t>
              </a:r>
              <a:r>
                <a:rPr lang="en-SE" sz="2000" b="1" dirty="0"/>
                <a:t>hypotheses</a:t>
              </a:r>
              <a:endParaRPr lang="en-SE" sz="2000" dirty="0"/>
            </a:p>
          </p:txBody>
        </p:sp>
      </p:grpSp>
    </p:spTree>
    <p:extLst>
      <p:ext uri="{BB962C8B-B14F-4D97-AF65-F5344CB8AC3E}">
        <p14:creationId xmlns:p14="http://schemas.microsoft.com/office/powerpoint/2010/main" val="2378854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1F2CA-9F24-EAB7-0296-A0BD30EC1B6F}"/>
              </a:ext>
            </a:extLst>
          </p:cNvPr>
          <p:cNvSpPr>
            <a:spLocks noGrp="1"/>
          </p:cNvSpPr>
          <p:nvPr>
            <p:ph type="title"/>
          </p:nvPr>
        </p:nvSpPr>
        <p:spPr/>
        <p:txBody>
          <a:bodyPr/>
          <a:lstStyle/>
          <a:p>
            <a:r>
              <a:rPr lang="en-US" noProof="0" dirty="0"/>
              <a:t>Paradigm of Probability</a:t>
            </a:r>
          </a:p>
        </p:txBody>
      </p:sp>
      <p:sp>
        <p:nvSpPr>
          <p:cNvPr id="7" name="Content Placeholder 6">
            <a:extLst>
              <a:ext uri="{FF2B5EF4-FFF2-40B4-BE49-F238E27FC236}">
                <a16:creationId xmlns:a16="http://schemas.microsoft.com/office/drawing/2014/main" id="{FE277A17-8ABA-93CB-97E1-61DFA5915655}"/>
              </a:ext>
            </a:extLst>
          </p:cNvPr>
          <p:cNvSpPr>
            <a:spLocks noGrp="1"/>
          </p:cNvSpPr>
          <p:nvPr>
            <p:ph idx="1"/>
          </p:nvPr>
        </p:nvSpPr>
        <p:spPr/>
        <p:txBody>
          <a:bodyPr>
            <a:normAutofit fontScale="92500" lnSpcReduction="10000"/>
          </a:bodyPr>
          <a:lstStyle/>
          <a:p>
            <a:pPr marL="0" indent="0">
              <a:buNone/>
            </a:pPr>
            <a:r>
              <a:rPr lang="en-US" noProof="0" dirty="0"/>
              <a:t>Next to the </a:t>
            </a:r>
            <a:r>
              <a:rPr lang="en-US" b="1" noProof="0" dirty="0"/>
              <a:t>frequentist </a:t>
            </a:r>
            <a:r>
              <a:rPr lang="en-US" noProof="0" dirty="0"/>
              <a:t>paradigm, the </a:t>
            </a:r>
            <a:r>
              <a:rPr lang="en-US" b="1" noProof="0" dirty="0"/>
              <a:t>Bayesian </a:t>
            </a:r>
            <a:r>
              <a:rPr lang="en-US" noProof="0" dirty="0"/>
              <a:t>paradigm of statistics assigns a different meaning to </a:t>
            </a:r>
            <a:r>
              <a:rPr lang="en-US" i="1" noProof="0" dirty="0"/>
              <a:t>probability</a:t>
            </a:r>
            <a:r>
              <a:rPr lang="en-US" noProof="0" dirty="0"/>
              <a:t>:</a:t>
            </a:r>
          </a:p>
          <a:p>
            <a:r>
              <a:rPr lang="en-US" noProof="0" dirty="0"/>
              <a:t>In the </a:t>
            </a:r>
            <a:r>
              <a:rPr lang="en-US" b="1" noProof="0" dirty="0"/>
              <a:t>frequentist </a:t>
            </a:r>
            <a:r>
              <a:rPr lang="en-US" noProof="0" dirty="0"/>
              <a:t>paradigm, probability is a property of a repeatable random process. The probability of an event is the proportion of times it would occur if you repeated the experiment an infinite number of times under identical conditions. </a:t>
            </a:r>
            <a:r>
              <a:rPr lang="en-US" b="1" noProof="0" dirty="0"/>
              <a:t>Probability only assigns to random events, not hypotheses.</a:t>
            </a:r>
            <a:endParaRPr lang="en-US" noProof="0" dirty="0"/>
          </a:p>
          <a:p>
            <a:r>
              <a:rPr lang="en-US" noProof="0" dirty="0"/>
              <a:t>In the </a:t>
            </a:r>
            <a:r>
              <a:rPr lang="en-US" b="1" noProof="0" dirty="0"/>
              <a:t>Bayesian </a:t>
            </a:r>
            <a:r>
              <a:rPr lang="en-US" noProof="0" dirty="0"/>
              <a:t>paradigm, probability is a statement about </a:t>
            </a:r>
            <a:r>
              <a:rPr lang="en-US" i="1" noProof="0" dirty="0"/>
              <a:t>the state of knowledge of an observer</a:t>
            </a:r>
            <a:r>
              <a:rPr lang="en-US" noProof="0" dirty="0"/>
              <a:t>, not about physical processes in the world. A probability quantifies how confident a rational agent is that something is true, given their current information. </a:t>
            </a:r>
            <a:r>
              <a:rPr lang="en-US" b="1" noProof="0" dirty="0"/>
              <a:t>Probability assigns to belief, not to events </a:t>
            </a:r>
            <a:r>
              <a:rPr lang="en-US" noProof="0" dirty="0"/>
              <a:t>(as these are factual).</a:t>
            </a:r>
          </a:p>
        </p:txBody>
      </p:sp>
      <p:sp>
        <p:nvSpPr>
          <p:cNvPr id="4" name="Date Placeholder 3">
            <a:extLst>
              <a:ext uri="{FF2B5EF4-FFF2-40B4-BE49-F238E27FC236}">
                <a16:creationId xmlns:a16="http://schemas.microsoft.com/office/drawing/2014/main" id="{50499087-2F29-DE0E-7290-F1629E081BBF}"/>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BE68915C-4FD9-8001-532A-E07462A367F2}"/>
              </a:ext>
            </a:extLst>
          </p:cNvPr>
          <p:cNvSpPr>
            <a:spLocks noGrp="1"/>
          </p:cNvSpPr>
          <p:nvPr>
            <p:ph type="sldNum" sz="quarter" idx="12"/>
          </p:nvPr>
        </p:nvSpPr>
        <p:spPr/>
        <p:txBody>
          <a:bodyPr/>
          <a:lstStyle/>
          <a:p>
            <a:fld id="{271ECC92-9CDE-4EB3-B1C5-F46B9E1FA3C1}" type="slidenum">
              <a:rPr lang="en-US" noProof="0" smtClean="0"/>
              <a:t>24</a:t>
            </a:fld>
            <a:endParaRPr lang="en-US" noProof="0" dirty="0"/>
          </a:p>
        </p:txBody>
      </p:sp>
      <p:sp>
        <p:nvSpPr>
          <p:cNvPr id="2" name="Footer Placeholder 1">
            <a:extLst>
              <a:ext uri="{FF2B5EF4-FFF2-40B4-BE49-F238E27FC236}">
                <a16:creationId xmlns:a16="http://schemas.microsoft.com/office/drawing/2014/main" id="{06371B51-F56E-4DAB-5281-8E342CD9A8EA}"/>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26627531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Object"/>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FA25E-475B-9D1C-A6CA-EE6428896571}"/>
              </a:ext>
            </a:extLst>
          </p:cNvPr>
          <p:cNvSpPr>
            <a:spLocks noGrp="1"/>
          </p:cNvSpPr>
          <p:nvPr>
            <p:ph type="title"/>
          </p:nvPr>
        </p:nvSpPr>
        <p:spPr/>
        <p:txBody>
          <a:bodyPr/>
          <a:lstStyle/>
          <a:p>
            <a:r>
              <a:rPr lang="en-US" noProof="0" dirty="0"/>
              <a:t>Bayes’ Theorem</a:t>
            </a:r>
          </a:p>
        </p:txBody>
      </p:sp>
      <p:sp>
        <p:nvSpPr>
          <p:cNvPr id="3" name="Content Placeholder 2">
            <a:extLst>
              <a:ext uri="{FF2B5EF4-FFF2-40B4-BE49-F238E27FC236}">
                <a16:creationId xmlns:a16="http://schemas.microsoft.com/office/drawing/2014/main" id="{684C1CC0-B44D-87D6-513F-85795DA7CB4D}"/>
              </a:ext>
            </a:extLst>
          </p:cNvPr>
          <p:cNvSpPr>
            <a:spLocks noGrp="1"/>
          </p:cNvSpPr>
          <p:nvPr>
            <p:ph idx="1"/>
          </p:nvPr>
        </p:nvSpPr>
        <p:spPr>
          <a:xfrm>
            <a:off x="838200" y="1825625"/>
            <a:ext cx="10515600" cy="829085"/>
          </a:xfrm>
        </p:spPr>
        <p:txBody>
          <a:bodyPr/>
          <a:lstStyle/>
          <a:p>
            <a:pPr marL="0" indent="0">
              <a:buNone/>
            </a:pPr>
            <a:r>
              <a:rPr lang="en-US" noProof="0" dirty="0"/>
              <a:t>The Bayesian paradigm is based on </a:t>
            </a:r>
            <a:r>
              <a:rPr lang="en-US" b="1" noProof="0" dirty="0"/>
              <a:t>Bayes’ Theorem:</a:t>
            </a:r>
          </a:p>
        </p:txBody>
      </p:sp>
      <p:sp>
        <p:nvSpPr>
          <p:cNvPr id="4" name="Date Placeholder 3">
            <a:extLst>
              <a:ext uri="{FF2B5EF4-FFF2-40B4-BE49-F238E27FC236}">
                <a16:creationId xmlns:a16="http://schemas.microsoft.com/office/drawing/2014/main" id="{A9D297EA-C27B-1D41-9615-17CB59F8F01D}"/>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4C4F9D08-A2F3-6320-DAC4-6A83A4D2D3AA}"/>
              </a:ext>
            </a:extLst>
          </p:cNvPr>
          <p:cNvSpPr>
            <a:spLocks noGrp="1"/>
          </p:cNvSpPr>
          <p:nvPr>
            <p:ph type="sldNum" sz="quarter" idx="12"/>
          </p:nvPr>
        </p:nvSpPr>
        <p:spPr/>
        <p:txBody>
          <a:bodyPr/>
          <a:lstStyle/>
          <a:p>
            <a:fld id="{271ECC92-9CDE-4EB3-B1C5-F46B9E1FA3C1}" type="slidenum">
              <a:rPr lang="en-US" noProof="0" smtClean="0"/>
              <a:t>25</a:t>
            </a:fld>
            <a:endParaRPr lang="en-US" noProof="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B1F217EE-FB34-CDB4-DE93-8C133EB5BF2A}"/>
                  </a:ext>
                </a:extLst>
              </p:cNvPr>
              <p:cNvSpPr txBox="1">
                <a:spLocks/>
              </p:cNvSpPr>
              <p:nvPr/>
            </p:nvSpPr>
            <p:spPr>
              <a:xfrm>
                <a:off x="3963428" y="3760455"/>
                <a:ext cx="4265143" cy="994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𝑃</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h</m:t>
                          </m:r>
                        </m:e>
                        <m:e>
                          <m:r>
                            <a:rPr lang="en-US" b="0" i="1" noProof="0" smtClean="0">
                              <a:latin typeface="Cambria Math" panose="02040503050406030204" pitchFamily="18" charset="0"/>
                            </a:rPr>
                            <m:t>𝑑</m:t>
                          </m:r>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𝑃</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𝑑</m:t>
                              </m:r>
                            </m:e>
                            <m:e>
                              <m:r>
                                <a:rPr lang="en-US" b="0" i="1" noProof="0" smtClean="0">
                                  <a:latin typeface="Cambria Math" panose="02040503050406030204" pitchFamily="18" charset="0"/>
                                </a:rPr>
                                <m:t>h</m:t>
                              </m:r>
                            </m:e>
                          </m:d>
                          <m:r>
                            <a:rPr lang="en-US" b="0" i="1" noProof="0" smtClean="0">
                              <a:latin typeface="Cambria Math" panose="02040503050406030204" pitchFamily="18" charset="0"/>
                            </a:rPr>
                            <m:t>⋅</m:t>
                          </m:r>
                          <m:r>
                            <a:rPr lang="en-US" b="0" i="1" noProof="0" smtClean="0">
                              <a:latin typeface="Cambria Math" panose="02040503050406030204" pitchFamily="18" charset="0"/>
                            </a:rPr>
                            <m:t>𝑃</m:t>
                          </m:r>
                          <m:r>
                            <a:rPr lang="en-US" b="0" i="1" noProof="0" smtClean="0">
                              <a:latin typeface="Cambria Math" panose="02040503050406030204" pitchFamily="18" charset="0"/>
                            </a:rPr>
                            <m:t>(</m:t>
                          </m:r>
                          <m:r>
                            <a:rPr lang="en-US" b="0" i="1" noProof="0" smtClean="0">
                              <a:latin typeface="Cambria Math" panose="02040503050406030204" pitchFamily="18" charset="0"/>
                            </a:rPr>
                            <m:t>h</m:t>
                          </m:r>
                          <m:r>
                            <a:rPr lang="en-US" b="0" i="1" noProof="0" smtClean="0">
                              <a:latin typeface="Cambria Math" panose="02040503050406030204" pitchFamily="18" charset="0"/>
                            </a:rPr>
                            <m:t>)</m:t>
                          </m:r>
                        </m:num>
                        <m:den>
                          <m:r>
                            <a:rPr lang="en-US" b="0" i="1" noProof="0" smtClean="0">
                              <a:latin typeface="Cambria Math" panose="02040503050406030204" pitchFamily="18" charset="0"/>
                            </a:rPr>
                            <m:t>𝑃</m:t>
                          </m:r>
                          <m:r>
                            <a:rPr lang="en-US" b="0" i="1" noProof="0" smtClean="0">
                              <a:latin typeface="Cambria Math" panose="02040503050406030204" pitchFamily="18" charset="0"/>
                            </a:rPr>
                            <m:t>(</m:t>
                          </m:r>
                          <m:r>
                            <a:rPr lang="en-US" b="0" i="1" noProof="0" smtClean="0">
                              <a:latin typeface="Cambria Math" panose="02040503050406030204" pitchFamily="18" charset="0"/>
                            </a:rPr>
                            <m:t>𝑑</m:t>
                          </m:r>
                          <m:r>
                            <a:rPr lang="en-US" b="0" i="1" noProof="0" smtClean="0">
                              <a:latin typeface="Cambria Math" panose="02040503050406030204" pitchFamily="18" charset="0"/>
                            </a:rPr>
                            <m:t>)</m:t>
                          </m:r>
                        </m:den>
                      </m:f>
                    </m:oMath>
                  </m:oMathPara>
                </a14:m>
                <a:endParaRPr lang="en-US" noProof="0" dirty="0"/>
              </a:p>
            </p:txBody>
          </p:sp>
        </mc:Choice>
        <mc:Fallback xmlns="">
          <p:sp>
            <p:nvSpPr>
              <p:cNvPr id="6" name="Content Placeholder 2">
                <a:extLst>
                  <a:ext uri="{FF2B5EF4-FFF2-40B4-BE49-F238E27FC236}">
                    <a16:creationId xmlns:a16="http://schemas.microsoft.com/office/drawing/2014/main" id="{B1F217EE-FB34-CDB4-DE93-8C133EB5BF2A}"/>
                  </a:ext>
                </a:extLst>
              </p:cNvPr>
              <p:cNvSpPr txBox="1">
                <a:spLocks noRot="1" noChangeAspect="1" noMove="1" noResize="1" noEditPoints="1" noAdjustHandles="1" noChangeArrowheads="1" noChangeShapeType="1" noTextEdit="1"/>
              </p:cNvSpPr>
              <p:nvPr/>
            </p:nvSpPr>
            <p:spPr>
              <a:xfrm>
                <a:off x="3963428" y="3760455"/>
                <a:ext cx="4265143" cy="994097"/>
              </a:xfrm>
              <a:prstGeom prst="rect">
                <a:avLst/>
              </a:prstGeom>
              <a:blipFill>
                <a:blip r:embed="rId2"/>
                <a:stretch>
                  <a:fillRect/>
                </a:stretch>
              </a:blipFill>
            </p:spPr>
            <p:txBody>
              <a:bodyPr/>
              <a:lstStyle/>
              <a:p>
                <a:r>
                  <a:rPr lang="en-SE">
                    <a:noFill/>
                  </a:rPr>
                  <a:t> </a:t>
                </a:r>
              </a:p>
            </p:txBody>
          </p:sp>
        </mc:Fallback>
      </mc:AlternateContent>
      <p:sp>
        <p:nvSpPr>
          <p:cNvPr id="7" name="Footer Placeholder 6">
            <a:extLst>
              <a:ext uri="{FF2B5EF4-FFF2-40B4-BE49-F238E27FC236}">
                <a16:creationId xmlns:a16="http://schemas.microsoft.com/office/drawing/2014/main" id="{708D0F64-D267-6C85-310F-512A70CE63E6}"/>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1713859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ABE4C-5507-34E5-0E06-DD0186CE5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CC920A-5FC6-4F62-B3E4-461ABD59D9BB}"/>
              </a:ext>
            </a:extLst>
          </p:cNvPr>
          <p:cNvSpPr>
            <a:spLocks noGrp="1"/>
          </p:cNvSpPr>
          <p:nvPr>
            <p:ph type="title"/>
          </p:nvPr>
        </p:nvSpPr>
        <p:spPr/>
        <p:txBody>
          <a:bodyPr/>
          <a:lstStyle/>
          <a:p>
            <a:r>
              <a:rPr lang="en-US" noProof="0" dirty="0"/>
              <a:t>Bayes’ Theorem</a:t>
            </a:r>
          </a:p>
        </p:txBody>
      </p:sp>
      <p:sp>
        <p:nvSpPr>
          <p:cNvPr id="3" name="Content Placeholder 2">
            <a:extLst>
              <a:ext uri="{FF2B5EF4-FFF2-40B4-BE49-F238E27FC236}">
                <a16:creationId xmlns:a16="http://schemas.microsoft.com/office/drawing/2014/main" id="{678DB5CC-4AF0-9005-0B54-7D62E5011859}"/>
              </a:ext>
            </a:extLst>
          </p:cNvPr>
          <p:cNvSpPr>
            <a:spLocks noGrp="1"/>
          </p:cNvSpPr>
          <p:nvPr>
            <p:ph idx="1"/>
          </p:nvPr>
        </p:nvSpPr>
        <p:spPr>
          <a:xfrm>
            <a:off x="838200" y="1825625"/>
            <a:ext cx="10515600" cy="829085"/>
          </a:xfrm>
        </p:spPr>
        <p:txBody>
          <a:bodyPr/>
          <a:lstStyle/>
          <a:p>
            <a:pPr marL="0" indent="0">
              <a:buNone/>
            </a:pPr>
            <a:r>
              <a:rPr lang="en-US" noProof="0" dirty="0"/>
              <a:t>The Bayesian paradigm is based on </a:t>
            </a:r>
            <a:r>
              <a:rPr lang="en-US" b="1" noProof="0" dirty="0"/>
              <a:t>Bayes’ Theorem:</a:t>
            </a:r>
          </a:p>
        </p:txBody>
      </p:sp>
      <p:sp>
        <p:nvSpPr>
          <p:cNvPr id="4" name="Date Placeholder 3">
            <a:extLst>
              <a:ext uri="{FF2B5EF4-FFF2-40B4-BE49-F238E27FC236}">
                <a16:creationId xmlns:a16="http://schemas.microsoft.com/office/drawing/2014/main" id="{5F46D5F3-5ACF-2093-0954-E99CF9AB3E81}"/>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BB0530F7-9C4B-C875-ECC7-FC9652B0BE6A}"/>
              </a:ext>
            </a:extLst>
          </p:cNvPr>
          <p:cNvSpPr>
            <a:spLocks noGrp="1"/>
          </p:cNvSpPr>
          <p:nvPr>
            <p:ph type="sldNum" sz="quarter" idx="12"/>
          </p:nvPr>
        </p:nvSpPr>
        <p:spPr/>
        <p:txBody>
          <a:bodyPr/>
          <a:lstStyle/>
          <a:p>
            <a:fld id="{271ECC92-9CDE-4EB3-B1C5-F46B9E1FA3C1}" type="slidenum">
              <a:rPr lang="en-US" noProof="0" smtClean="0"/>
              <a:t>26</a:t>
            </a:fld>
            <a:endParaRPr lang="en-US" noProof="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4AC37F01-10A7-2729-1DB1-CDF6DF9CEEE4}"/>
                  </a:ext>
                </a:extLst>
              </p:cNvPr>
              <p:cNvSpPr txBox="1">
                <a:spLocks/>
              </p:cNvSpPr>
              <p:nvPr/>
            </p:nvSpPr>
            <p:spPr>
              <a:xfrm>
                <a:off x="3963428" y="3760455"/>
                <a:ext cx="4265143" cy="994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noProof="0" smtClean="0">
                          <a:solidFill>
                            <a:schemeClr val="bg2">
                              <a:lumMod val="50000"/>
                            </a:schemeClr>
                          </a:solidFill>
                          <a:latin typeface="Cambria Math" panose="02040503050406030204" pitchFamily="18" charset="0"/>
                        </a:rPr>
                        <m:t>𝑃</m:t>
                      </m:r>
                      <m:d>
                        <m:dPr>
                          <m:ctrlPr>
                            <a:rPr lang="en-US" b="0" i="1" noProof="0" smtClean="0">
                              <a:solidFill>
                                <a:schemeClr val="bg2">
                                  <a:lumMod val="50000"/>
                                </a:schemeClr>
                              </a:solidFill>
                              <a:latin typeface="Cambria Math" panose="02040503050406030204" pitchFamily="18" charset="0"/>
                            </a:rPr>
                          </m:ctrlPr>
                        </m:dPr>
                        <m:e>
                          <m:r>
                            <a:rPr lang="en-US" b="0" i="1" noProof="0" smtClean="0">
                              <a:solidFill>
                                <a:schemeClr val="bg2">
                                  <a:lumMod val="50000"/>
                                </a:schemeClr>
                              </a:solidFill>
                              <a:latin typeface="Cambria Math" panose="02040503050406030204" pitchFamily="18" charset="0"/>
                            </a:rPr>
                            <m:t>h</m:t>
                          </m:r>
                        </m:e>
                        <m:e>
                          <m:r>
                            <a:rPr lang="en-US" b="0" i="1" noProof="0" smtClean="0">
                              <a:solidFill>
                                <a:schemeClr val="bg2">
                                  <a:lumMod val="50000"/>
                                </a:schemeClr>
                              </a:solidFill>
                              <a:latin typeface="Cambria Math" panose="02040503050406030204" pitchFamily="18" charset="0"/>
                            </a:rPr>
                            <m:t>𝑑</m:t>
                          </m:r>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solidFill>
                                <a:schemeClr val="tx1"/>
                              </a:solidFill>
                              <a:latin typeface="Cambria Math" panose="02040503050406030204" pitchFamily="18" charset="0"/>
                            </a:rPr>
                            <m:t>𝑃</m:t>
                          </m:r>
                          <m:d>
                            <m:dPr>
                              <m:ctrlPr>
                                <a:rPr lang="en-US" b="0" i="1" noProof="0" smtClean="0">
                                  <a:solidFill>
                                    <a:schemeClr val="tx1"/>
                                  </a:solidFill>
                                  <a:latin typeface="Cambria Math" panose="02040503050406030204" pitchFamily="18" charset="0"/>
                                </a:rPr>
                              </m:ctrlPr>
                            </m:dPr>
                            <m:e>
                              <m:r>
                                <a:rPr lang="en-US" b="0" i="1" noProof="0" smtClean="0">
                                  <a:solidFill>
                                    <a:schemeClr val="tx1"/>
                                  </a:solidFill>
                                  <a:latin typeface="Cambria Math" panose="02040503050406030204" pitchFamily="18" charset="0"/>
                                </a:rPr>
                                <m:t>𝑑</m:t>
                              </m:r>
                            </m:e>
                            <m:e>
                              <m:r>
                                <a:rPr lang="en-US" b="0" i="1" noProof="0" smtClean="0">
                                  <a:solidFill>
                                    <a:schemeClr val="tx1"/>
                                  </a:solidFill>
                                  <a:latin typeface="Cambria Math" panose="02040503050406030204" pitchFamily="18" charset="0"/>
                                </a:rPr>
                                <m:t>h</m:t>
                              </m:r>
                            </m:e>
                          </m:d>
                          <m:r>
                            <a:rPr lang="en-US" b="0" i="1" noProof="0" smtClean="0">
                              <a:latin typeface="Cambria Math" panose="02040503050406030204" pitchFamily="18" charset="0"/>
                            </a:rPr>
                            <m:t>⋅</m:t>
                          </m:r>
                          <m:r>
                            <a:rPr lang="en-US" b="0" i="1" noProof="0" smtClean="0">
                              <a:solidFill>
                                <a:schemeClr val="tx1"/>
                              </a:solidFill>
                              <a:latin typeface="Cambria Math" panose="02040503050406030204" pitchFamily="18" charset="0"/>
                            </a:rPr>
                            <m:t>𝑃</m:t>
                          </m:r>
                          <m:r>
                            <a:rPr lang="en-US" b="0" i="1" noProof="0" smtClean="0">
                              <a:solidFill>
                                <a:schemeClr val="tx1"/>
                              </a:solidFill>
                              <a:latin typeface="Cambria Math" panose="02040503050406030204" pitchFamily="18" charset="0"/>
                            </a:rPr>
                            <m:t>(</m:t>
                          </m:r>
                          <m:r>
                            <a:rPr lang="en-US" b="0" i="1" noProof="0" smtClean="0">
                              <a:solidFill>
                                <a:schemeClr val="tx1"/>
                              </a:solidFill>
                              <a:latin typeface="Cambria Math" panose="02040503050406030204" pitchFamily="18" charset="0"/>
                            </a:rPr>
                            <m:t>h</m:t>
                          </m:r>
                          <m:r>
                            <a:rPr lang="en-US" b="0" i="1" noProof="0" smtClean="0">
                              <a:solidFill>
                                <a:schemeClr val="tx1"/>
                              </a:solidFill>
                              <a:latin typeface="Cambria Math" panose="02040503050406030204" pitchFamily="18" charset="0"/>
                            </a:rPr>
                            <m:t>)</m:t>
                          </m:r>
                        </m:num>
                        <m:den>
                          <m:r>
                            <a:rPr lang="en-US" b="0" i="1" noProof="0" smtClean="0">
                              <a:solidFill>
                                <a:schemeClr val="tx1"/>
                              </a:solidFill>
                              <a:latin typeface="Cambria Math" panose="02040503050406030204" pitchFamily="18" charset="0"/>
                            </a:rPr>
                            <m:t>𝑃</m:t>
                          </m:r>
                          <m:r>
                            <a:rPr lang="en-US" b="0" i="1" noProof="0" smtClean="0">
                              <a:solidFill>
                                <a:schemeClr val="tx1"/>
                              </a:solidFill>
                              <a:latin typeface="Cambria Math" panose="02040503050406030204" pitchFamily="18" charset="0"/>
                            </a:rPr>
                            <m:t>(</m:t>
                          </m:r>
                          <m:r>
                            <a:rPr lang="en-US" b="0" i="1" noProof="0" smtClean="0">
                              <a:solidFill>
                                <a:schemeClr val="tx1"/>
                              </a:solidFill>
                              <a:latin typeface="Cambria Math" panose="02040503050406030204" pitchFamily="18" charset="0"/>
                            </a:rPr>
                            <m:t>𝑑</m:t>
                          </m:r>
                          <m:r>
                            <a:rPr lang="en-US" b="0" i="1" noProof="0" smtClean="0">
                              <a:solidFill>
                                <a:schemeClr val="tx1"/>
                              </a:solidFill>
                              <a:latin typeface="Cambria Math" panose="02040503050406030204" pitchFamily="18" charset="0"/>
                            </a:rPr>
                            <m:t>)</m:t>
                          </m:r>
                        </m:den>
                      </m:f>
                    </m:oMath>
                  </m:oMathPara>
                </a14:m>
                <a:endParaRPr lang="en-US" noProof="0" dirty="0"/>
              </a:p>
            </p:txBody>
          </p:sp>
        </mc:Choice>
        <mc:Fallback xmlns="">
          <p:sp>
            <p:nvSpPr>
              <p:cNvPr id="6" name="Content Placeholder 2">
                <a:extLst>
                  <a:ext uri="{FF2B5EF4-FFF2-40B4-BE49-F238E27FC236}">
                    <a16:creationId xmlns:a16="http://schemas.microsoft.com/office/drawing/2014/main" id="{4AC37F01-10A7-2729-1DB1-CDF6DF9CEEE4}"/>
                  </a:ext>
                </a:extLst>
              </p:cNvPr>
              <p:cNvSpPr txBox="1">
                <a:spLocks noRot="1" noChangeAspect="1" noMove="1" noResize="1" noEditPoints="1" noAdjustHandles="1" noChangeArrowheads="1" noChangeShapeType="1" noTextEdit="1"/>
              </p:cNvSpPr>
              <p:nvPr/>
            </p:nvSpPr>
            <p:spPr>
              <a:xfrm>
                <a:off x="3963428" y="3760455"/>
                <a:ext cx="4265143" cy="994097"/>
              </a:xfrm>
              <a:prstGeom prst="rect">
                <a:avLst/>
              </a:prstGeom>
              <a:blipFill>
                <a:blip r:embed="rId2"/>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8B7A2A5-EDB8-61EF-A133-97D4CCFE1C25}"/>
                  </a:ext>
                </a:extLst>
              </p:cNvPr>
              <p:cNvSpPr txBox="1"/>
              <p:nvPr/>
            </p:nvSpPr>
            <p:spPr>
              <a:xfrm>
                <a:off x="1027188" y="3614038"/>
                <a:ext cx="2936240" cy="1200329"/>
              </a:xfrm>
              <a:prstGeom prst="rect">
                <a:avLst/>
              </a:prstGeom>
              <a:noFill/>
            </p:spPr>
            <p:txBody>
              <a:bodyPr wrap="square" rtlCol="0">
                <a:spAutoFit/>
              </a:bodyPr>
              <a:lstStyle/>
              <a:p>
                <a:pPr algn="r"/>
                <a:r>
                  <a:rPr lang="en-US" b="1" noProof="0" dirty="0">
                    <a:solidFill>
                      <a:schemeClr val="bg2">
                        <a:lumMod val="50000"/>
                      </a:schemeClr>
                    </a:solidFill>
                  </a:rPr>
                  <a:t>Posterior</a:t>
                </a:r>
              </a:p>
              <a:p>
                <a:pPr algn="r"/>
                <a:r>
                  <a:rPr lang="en-US" noProof="0" dirty="0"/>
                  <a:t>Probability that the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the observed data </a:t>
                </a:r>
                <a14:m>
                  <m:oMath xmlns:m="http://schemas.openxmlformats.org/officeDocument/2006/math">
                    <m:r>
                      <a:rPr lang="en-US" b="0" i="1" noProof="0" smtClean="0">
                        <a:latin typeface="Cambria Math" panose="02040503050406030204" pitchFamily="18" charset="0"/>
                      </a:rPr>
                      <m:t>𝑑</m:t>
                    </m:r>
                  </m:oMath>
                </a14:m>
                <a:endParaRPr lang="en-US" noProof="0" dirty="0"/>
              </a:p>
            </p:txBody>
          </p:sp>
        </mc:Choice>
        <mc:Fallback xmlns="">
          <p:sp>
            <p:nvSpPr>
              <p:cNvPr id="8" name="TextBox 7">
                <a:extLst>
                  <a:ext uri="{FF2B5EF4-FFF2-40B4-BE49-F238E27FC236}">
                    <a16:creationId xmlns:a16="http://schemas.microsoft.com/office/drawing/2014/main" id="{9A8A87C2-E91D-7CEB-650C-5CF8FBDFE9D4}"/>
                  </a:ext>
                </a:extLst>
              </p:cNvPr>
              <p:cNvSpPr txBox="1">
                <a:spLocks noRot="1" noChangeAspect="1" noMove="1" noResize="1" noEditPoints="1" noAdjustHandles="1" noChangeArrowheads="1" noChangeShapeType="1" noTextEdit="1"/>
              </p:cNvSpPr>
              <p:nvPr/>
            </p:nvSpPr>
            <p:spPr>
              <a:xfrm>
                <a:off x="1027188" y="3614038"/>
                <a:ext cx="2936240" cy="1200329"/>
              </a:xfrm>
              <a:prstGeom prst="rect">
                <a:avLst/>
              </a:prstGeom>
              <a:blipFill>
                <a:blip r:embed="rId3"/>
                <a:stretch>
                  <a:fillRect t="-2538" r="-3534" b="-7614"/>
                </a:stretch>
              </a:blipFill>
            </p:spPr>
            <p:txBody>
              <a:bodyPr/>
              <a:lstStyle/>
              <a:p>
                <a:r>
                  <a:rPr lang="en-SE">
                    <a:noFill/>
                  </a:rPr>
                  <a:t> </a:t>
                </a:r>
              </a:p>
            </p:txBody>
          </p:sp>
        </mc:Fallback>
      </mc:AlternateContent>
      <p:sp>
        <p:nvSpPr>
          <p:cNvPr id="7" name="Footer Placeholder 6">
            <a:extLst>
              <a:ext uri="{FF2B5EF4-FFF2-40B4-BE49-F238E27FC236}">
                <a16:creationId xmlns:a16="http://schemas.microsoft.com/office/drawing/2014/main" id="{546F5601-058D-9052-2B4F-2AEF06E61838}"/>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3908466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4E4D3-C91B-0834-A3AD-8910CD2CA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AA1AA-7A15-9885-E296-7CAF72D36D57}"/>
              </a:ext>
            </a:extLst>
          </p:cNvPr>
          <p:cNvSpPr>
            <a:spLocks noGrp="1"/>
          </p:cNvSpPr>
          <p:nvPr>
            <p:ph type="title"/>
          </p:nvPr>
        </p:nvSpPr>
        <p:spPr/>
        <p:txBody>
          <a:bodyPr/>
          <a:lstStyle/>
          <a:p>
            <a:r>
              <a:rPr lang="en-US" noProof="0" dirty="0"/>
              <a:t>Bayes’ Theorem</a:t>
            </a:r>
          </a:p>
        </p:txBody>
      </p:sp>
      <p:sp>
        <p:nvSpPr>
          <p:cNvPr id="3" name="Content Placeholder 2">
            <a:extLst>
              <a:ext uri="{FF2B5EF4-FFF2-40B4-BE49-F238E27FC236}">
                <a16:creationId xmlns:a16="http://schemas.microsoft.com/office/drawing/2014/main" id="{0B2E5C48-8EBD-0787-36CD-29EA1F6043D7}"/>
              </a:ext>
            </a:extLst>
          </p:cNvPr>
          <p:cNvSpPr>
            <a:spLocks noGrp="1"/>
          </p:cNvSpPr>
          <p:nvPr>
            <p:ph idx="1"/>
          </p:nvPr>
        </p:nvSpPr>
        <p:spPr>
          <a:xfrm>
            <a:off x="838200" y="1825625"/>
            <a:ext cx="10515600" cy="829085"/>
          </a:xfrm>
        </p:spPr>
        <p:txBody>
          <a:bodyPr/>
          <a:lstStyle/>
          <a:p>
            <a:pPr marL="0" indent="0">
              <a:buNone/>
            </a:pPr>
            <a:r>
              <a:rPr lang="en-US" noProof="0" dirty="0"/>
              <a:t>The Bayesian paradigm is based on </a:t>
            </a:r>
            <a:r>
              <a:rPr lang="en-US" b="1" noProof="0" dirty="0"/>
              <a:t>Bayes’ Theorem:</a:t>
            </a:r>
          </a:p>
        </p:txBody>
      </p:sp>
      <p:sp>
        <p:nvSpPr>
          <p:cNvPr id="4" name="Date Placeholder 3">
            <a:extLst>
              <a:ext uri="{FF2B5EF4-FFF2-40B4-BE49-F238E27FC236}">
                <a16:creationId xmlns:a16="http://schemas.microsoft.com/office/drawing/2014/main" id="{753EA0C2-A6EF-FD97-101F-AA591DAD7289}"/>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BA0E8BA8-14C7-BFA7-C213-C80C9FAD55B2}"/>
              </a:ext>
            </a:extLst>
          </p:cNvPr>
          <p:cNvSpPr>
            <a:spLocks noGrp="1"/>
          </p:cNvSpPr>
          <p:nvPr>
            <p:ph type="sldNum" sz="quarter" idx="12"/>
          </p:nvPr>
        </p:nvSpPr>
        <p:spPr/>
        <p:txBody>
          <a:bodyPr/>
          <a:lstStyle/>
          <a:p>
            <a:fld id="{271ECC92-9CDE-4EB3-B1C5-F46B9E1FA3C1}" type="slidenum">
              <a:rPr lang="en-US" noProof="0" smtClean="0"/>
              <a:t>27</a:t>
            </a:fld>
            <a:endParaRPr lang="en-US" noProof="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9154FF78-2756-3341-7386-A09CF2C06E3D}"/>
                  </a:ext>
                </a:extLst>
              </p:cNvPr>
              <p:cNvSpPr txBox="1">
                <a:spLocks/>
              </p:cNvSpPr>
              <p:nvPr/>
            </p:nvSpPr>
            <p:spPr>
              <a:xfrm>
                <a:off x="3963428" y="3760455"/>
                <a:ext cx="4265143" cy="994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noProof="0" smtClean="0">
                          <a:solidFill>
                            <a:schemeClr val="bg2">
                              <a:lumMod val="50000"/>
                            </a:schemeClr>
                          </a:solidFill>
                          <a:latin typeface="Cambria Math" panose="02040503050406030204" pitchFamily="18" charset="0"/>
                        </a:rPr>
                        <m:t>𝑃</m:t>
                      </m:r>
                      <m:d>
                        <m:dPr>
                          <m:ctrlPr>
                            <a:rPr lang="en-US" b="0" i="1" noProof="0" smtClean="0">
                              <a:solidFill>
                                <a:schemeClr val="bg2">
                                  <a:lumMod val="50000"/>
                                </a:schemeClr>
                              </a:solidFill>
                              <a:latin typeface="Cambria Math" panose="02040503050406030204" pitchFamily="18" charset="0"/>
                            </a:rPr>
                          </m:ctrlPr>
                        </m:dPr>
                        <m:e>
                          <m:r>
                            <a:rPr lang="en-US" b="0" i="1" noProof="0" smtClean="0">
                              <a:solidFill>
                                <a:schemeClr val="bg2">
                                  <a:lumMod val="50000"/>
                                </a:schemeClr>
                              </a:solidFill>
                              <a:latin typeface="Cambria Math" panose="02040503050406030204" pitchFamily="18" charset="0"/>
                            </a:rPr>
                            <m:t>h</m:t>
                          </m:r>
                        </m:e>
                        <m:e>
                          <m:r>
                            <a:rPr lang="en-US" b="0" i="1" noProof="0" smtClean="0">
                              <a:solidFill>
                                <a:schemeClr val="bg2">
                                  <a:lumMod val="50000"/>
                                </a:schemeClr>
                              </a:solidFill>
                              <a:latin typeface="Cambria Math" panose="02040503050406030204" pitchFamily="18" charset="0"/>
                            </a:rPr>
                            <m:t>𝑑</m:t>
                          </m:r>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solidFill>
                                <a:schemeClr val="accent1">
                                  <a:lumMod val="50000"/>
                                </a:schemeClr>
                              </a:solidFill>
                              <a:latin typeface="Cambria Math" panose="02040503050406030204" pitchFamily="18" charset="0"/>
                            </a:rPr>
                            <m:t>𝑃</m:t>
                          </m:r>
                          <m:d>
                            <m:dPr>
                              <m:ctrlPr>
                                <a:rPr lang="en-US" b="0" i="1" noProof="0" smtClean="0">
                                  <a:solidFill>
                                    <a:schemeClr val="accent1">
                                      <a:lumMod val="50000"/>
                                    </a:schemeClr>
                                  </a:solidFill>
                                  <a:latin typeface="Cambria Math" panose="02040503050406030204" pitchFamily="18" charset="0"/>
                                </a:rPr>
                              </m:ctrlPr>
                            </m:dPr>
                            <m:e>
                              <m:r>
                                <a:rPr lang="en-US" b="0" i="1" noProof="0" smtClean="0">
                                  <a:solidFill>
                                    <a:schemeClr val="accent1">
                                      <a:lumMod val="50000"/>
                                    </a:schemeClr>
                                  </a:solidFill>
                                  <a:latin typeface="Cambria Math" panose="02040503050406030204" pitchFamily="18" charset="0"/>
                                </a:rPr>
                                <m:t>𝑑</m:t>
                              </m:r>
                            </m:e>
                            <m:e>
                              <m:r>
                                <a:rPr lang="en-US" b="0" i="1" noProof="0" smtClean="0">
                                  <a:solidFill>
                                    <a:schemeClr val="accent1">
                                      <a:lumMod val="50000"/>
                                    </a:schemeClr>
                                  </a:solidFill>
                                  <a:latin typeface="Cambria Math" panose="02040503050406030204" pitchFamily="18" charset="0"/>
                                </a:rPr>
                                <m:t>h</m:t>
                              </m:r>
                            </m:e>
                          </m:d>
                          <m:r>
                            <a:rPr lang="en-US" b="0" i="1" noProof="0" smtClean="0">
                              <a:latin typeface="Cambria Math" panose="02040503050406030204" pitchFamily="18" charset="0"/>
                            </a:rPr>
                            <m:t>⋅</m:t>
                          </m:r>
                          <m:r>
                            <a:rPr lang="en-US" b="0" i="1" noProof="0" smtClean="0">
                              <a:solidFill>
                                <a:schemeClr val="tx1"/>
                              </a:solidFill>
                              <a:latin typeface="Cambria Math" panose="02040503050406030204" pitchFamily="18" charset="0"/>
                            </a:rPr>
                            <m:t>𝑃</m:t>
                          </m:r>
                          <m:r>
                            <a:rPr lang="en-US" b="0" i="1" noProof="0" smtClean="0">
                              <a:solidFill>
                                <a:schemeClr val="tx1"/>
                              </a:solidFill>
                              <a:latin typeface="Cambria Math" panose="02040503050406030204" pitchFamily="18" charset="0"/>
                            </a:rPr>
                            <m:t>(</m:t>
                          </m:r>
                          <m:r>
                            <a:rPr lang="en-US" b="0" i="1" noProof="0" smtClean="0">
                              <a:solidFill>
                                <a:schemeClr val="tx1"/>
                              </a:solidFill>
                              <a:latin typeface="Cambria Math" panose="02040503050406030204" pitchFamily="18" charset="0"/>
                            </a:rPr>
                            <m:t>h</m:t>
                          </m:r>
                          <m:r>
                            <a:rPr lang="en-US" b="0" i="1" noProof="0" smtClean="0">
                              <a:solidFill>
                                <a:schemeClr val="tx1"/>
                              </a:solidFill>
                              <a:latin typeface="Cambria Math" panose="02040503050406030204" pitchFamily="18" charset="0"/>
                            </a:rPr>
                            <m:t>)</m:t>
                          </m:r>
                        </m:num>
                        <m:den>
                          <m:r>
                            <a:rPr lang="en-US" b="0" i="1" noProof="0" smtClean="0">
                              <a:solidFill>
                                <a:schemeClr val="tx1"/>
                              </a:solidFill>
                              <a:latin typeface="Cambria Math" panose="02040503050406030204" pitchFamily="18" charset="0"/>
                            </a:rPr>
                            <m:t>𝑃</m:t>
                          </m:r>
                          <m:r>
                            <a:rPr lang="en-US" b="0" i="1" noProof="0" smtClean="0">
                              <a:solidFill>
                                <a:schemeClr val="tx1"/>
                              </a:solidFill>
                              <a:latin typeface="Cambria Math" panose="02040503050406030204" pitchFamily="18" charset="0"/>
                            </a:rPr>
                            <m:t>(</m:t>
                          </m:r>
                          <m:r>
                            <a:rPr lang="en-US" b="0" i="1" noProof="0" smtClean="0">
                              <a:solidFill>
                                <a:schemeClr val="tx1"/>
                              </a:solidFill>
                              <a:latin typeface="Cambria Math" panose="02040503050406030204" pitchFamily="18" charset="0"/>
                            </a:rPr>
                            <m:t>𝑑</m:t>
                          </m:r>
                          <m:r>
                            <a:rPr lang="en-US" b="0" i="1" noProof="0" smtClean="0">
                              <a:solidFill>
                                <a:schemeClr val="tx1"/>
                              </a:solidFill>
                              <a:latin typeface="Cambria Math" panose="02040503050406030204" pitchFamily="18" charset="0"/>
                            </a:rPr>
                            <m:t>)</m:t>
                          </m:r>
                        </m:den>
                      </m:f>
                    </m:oMath>
                  </m:oMathPara>
                </a14:m>
                <a:endParaRPr lang="en-US" noProof="0" dirty="0"/>
              </a:p>
            </p:txBody>
          </p:sp>
        </mc:Choice>
        <mc:Fallback xmlns="">
          <p:sp>
            <p:nvSpPr>
              <p:cNvPr id="6" name="Content Placeholder 2">
                <a:extLst>
                  <a:ext uri="{FF2B5EF4-FFF2-40B4-BE49-F238E27FC236}">
                    <a16:creationId xmlns:a16="http://schemas.microsoft.com/office/drawing/2014/main" id="{9154FF78-2756-3341-7386-A09CF2C06E3D}"/>
                  </a:ext>
                </a:extLst>
              </p:cNvPr>
              <p:cNvSpPr txBox="1">
                <a:spLocks noRot="1" noChangeAspect="1" noMove="1" noResize="1" noEditPoints="1" noAdjustHandles="1" noChangeArrowheads="1" noChangeShapeType="1" noTextEdit="1"/>
              </p:cNvSpPr>
              <p:nvPr/>
            </p:nvSpPr>
            <p:spPr>
              <a:xfrm>
                <a:off x="3963428" y="3760455"/>
                <a:ext cx="4265143" cy="994097"/>
              </a:xfrm>
              <a:prstGeom prst="rect">
                <a:avLst/>
              </a:prstGeom>
              <a:blipFill>
                <a:blip r:embed="rId2"/>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248079E-FA42-B10A-BCAD-A17FB040E01A}"/>
                  </a:ext>
                </a:extLst>
              </p:cNvPr>
              <p:cNvSpPr txBox="1"/>
              <p:nvPr/>
            </p:nvSpPr>
            <p:spPr>
              <a:xfrm>
                <a:off x="1027188" y="3614038"/>
                <a:ext cx="2936240" cy="1200329"/>
              </a:xfrm>
              <a:prstGeom prst="rect">
                <a:avLst/>
              </a:prstGeom>
              <a:noFill/>
            </p:spPr>
            <p:txBody>
              <a:bodyPr wrap="square" rtlCol="0">
                <a:spAutoFit/>
              </a:bodyPr>
              <a:lstStyle/>
              <a:p>
                <a:pPr algn="r"/>
                <a:r>
                  <a:rPr lang="en-US" b="1" noProof="0" dirty="0">
                    <a:solidFill>
                      <a:schemeClr val="bg2">
                        <a:lumMod val="50000"/>
                      </a:schemeClr>
                    </a:solidFill>
                  </a:rPr>
                  <a:t>Posterior</a:t>
                </a:r>
              </a:p>
              <a:p>
                <a:pPr algn="r"/>
                <a:r>
                  <a:rPr lang="en-US" noProof="0" dirty="0"/>
                  <a:t>Probability that the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the observed data </a:t>
                </a:r>
                <a14:m>
                  <m:oMath xmlns:m="http://schemas.openxmlformats.org/officeDocument/2006/math">
                    <m:r>
                      <a:rPr lang="en-US" b="0" i="1" noProof="0" smtClean="0">
                        <a:latin typeface="Cambria Math" panose="02040503050406030204" pitchFamily="18" charset="0"/>
                      </a:rPr>
                      <m:t>𝑑</m:t>
                    </m:r>
                  </m:oMath>
                </a14:m>
                <a:endParaRPr lang="en-US" noProof="0" dirty="0"/>
              </a:p>
            </p:txBody>
          </p:sp>
        </mc:Choice>
        <mc:Fallback xmlns="">
          <p:sp>
            <p:nvSpPr>
              <p:cNvPr id="8" name="TextBox 7">
                <a:extLst>
                  <a:ext uri="{FF2B5EF4-FFF2-40B4-BE49-F238E27FC236}">
                    <a16:creationId xmlns:a16="http://schemas.microsoft.com/office/drawing/2014/main" id="{9A8A87C2-E91D-7CEB-650C-5CF8FBDFE9D4}"/>
                  </a:ext>
                </a:extLst>
              </p:cNvPr>
              <p:cNvSpPr txBox="1">
                <a:spLocks noRot="1" noChangeAspect="1" noMove="1" noResize="1" noEditPoints="1" noAdjustHandles="1" noChangeArrowheads="1" noChangeShapeType="1" noTextEdit="1"/>
              </p:cNvSpPr>
              <p:nvPr/>
            </p:nvSpPr>
            <p:spPr>
              <a:xfrm>
                <a:off x="1027188" y="3614038"/>
                <a:ext cx="2936240" cy="1200329"/>
              </a:xfrm>
              <a:prstGeom prst="rect">
                <a:avLst/>
              </a:prstGeom>
              <a:blipFill>
                <a:blip r:embed="rId3"/>
                <a:stretch>
                  <a:fillRect t="-2538" r="-3534" b="-7614"/>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BAA115D-CCDF-E7F9-8A61-0F1FDF8CA73A}"/>
                  </a:ext>
                </a:extLst>
              </p:cNvPr>
              <p:cNvSpPr txBox="1"/>
              <p:nvPr/>
            </p:nvSpPr>
            <p:spPr>
              <a:xfrm>
                <a:off x="4038600" y="2600497"/>
                <a:ext cx="2936240" cy="923330"/>
              </a:xfrm>
              <a:prstGeom prst="rect">
                <a:avLst/>
              </a:prstGeom>
              <a:noFill/>
            </p:spPr>
            <p:txBody>
              <a:bodyPr wrap="square" rtlCol="0">
                <a:spAutoFit/>
              </a:bodyPr>
              <a:lstStyle/>
              <a:p>
                <a:pPr algn="r"/>
                <a:r>
                  <a:rPr lang="en-US" b="1" noProof="0" dirty="0">
                    <a:solidFill>
                      <a:schemeClr val="accent1">
                        <a:lumMod val="50000"/>
                      </a:schemeClr>
                    </a:solidFill>
                  </a:rPr>
                  <a:t>Likelihood</a:t>
                </a:r>
              </a:p>
              <a:p>
                <a:pPr algn="r"/>
                <a:r>
                  <a:rPr lang="en-US" noProof="0" dirty="0"/>
                  <a:t>of observing data </a:t>
                </a:r>
                <a14:m>
                  <m:oMath xmlns:m="http://schemas.openxmlformats.org/officeDocument/2006/math">
                    <m:r>
                      <a:rPr lang="en-US" b="0" i="1" noProof="0" smtClean="0">
                        <a:latin typeface="Cambria Math" panose="02040503050406030204" pitchFamily="18" charset="0"/>
                      </a:rPr>
                      <m:t>𝑑</m:t>
                    </m:r>
                  </m:oMath>
                </a14:m>
                <a:r>
                  <a:rPr lang="en-US" noProof="0" dirty="0"/>
                  <a:t> if the hypothesis </a:t>
                </a:r>
                <a14:m>
                  <m:oMath xmlns:m="http://schemas.openxmlformats.org/officeDocument/2006/math">
                    <m:r>
                      <a:rPr lang="en-US" i="1" noProof="0" smtClean="0">
                        <a:latin typeface="Cambria Math" panose="02040503050406030204" pitchFamily="18" charset="0"/>
                      </a:rPr>
                      <m:t>h</m:t>
                    </m:r>
                  </m:oMath>
                </a14:m>
                <a:r>
                  <a:rPr lang="en-US" noProof="0" dirty="0"/>
                  <a:t> were true</a:t>
                </a:r>
              </a:p>
            </p:txBody>
          </p:sp>
        </mc:Choice>
        <mc:Fallback xmlns="">
          <p:sp>
            <p:nvSpPr>
              <p:cNvPr id="10" name="TextBox 9">
                <a:extLst>
                  <a:ext uri="{FF2B5EF4-FFF2-40B4-BE49-F238E27FC236}">
                    <a16:creationId xmlns:a16="http://schemas.microsoft.com/office/drawing/2014/main" id="{7094E750-F12A-8CE9-EEF7-519010B03271}"/>
                  </a:ext>
                </a:extLst>
              </p:cNvPr>
              <p:cNvSpPr txBox="1">
                <a:spLocks noRot="1" noChangeAspect="1" noMove="1" noResize="1" noEditPoints="1" noAdjustHandles="1" noChangeArrowheads="1" noChangeShapeType="1" noTextEdit="1"/>
              </p:cNvSpPr>
              <p:nvPr/>
            </p:nvSpPr>
            <p:spPr>
              <a:xfrm>
                <a:off x="4038600" y="2600497"/>
                <a:ext cx="2936240" cy="923330"/>
              </a:xfrm>
              <a:prstGeom prst="rect">
                <a:avLst/>
              </a:prstGeom>
              <a:blipFill>
                <a:blip r:embed="rId4"/>
                <a:stretch>
                  <a:fillRect t="-3311" r="-3326" b="-10596"/>
                </a:stretch>
              </a:blipFill>
            </p:spPr>
            <p:txBody>
              <a:bodyPr/>
              <a:lstStyle/>
              <a:p>
                <a:r>
                  <a:rPr lang="en-SE">
                    <a:noFill/>
                  </a:rPr>
                  <a:t> </a:t>
                </a:r>
              </a:p>
            </p:txBody>
          </p:sp>
        </mc:Fallback>
      </mc:AlternateContent>
      <p:sp>
        <p:nvSpPr>
          <p:cNvPr id="7" name="Footer Placeholder 6">
            <a:extLst>
              <a:ext uri="{FF2B5EF4-FFF2-40B4-BE49-F238E27FC236}">
                <a16:creationId xmlns:a16="http://schemas.microsoft.com/office/drawing/2014/main" id="{BAC325D4-45D5-E7B6-A800-8668A0FCF87D}"/>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127886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04032-F7EA-01A6-C597-E5819A9F2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C7ECA-32DF-EC5C-B97B-1A06F0DCBE7B}"/>
              </a:ext>
            </a:extLst>
          </p:cNvPr>
          <p:cNvSpPr>
            <a:spLocks noGrp="1"/>
          </p:cNvSpPr>
          <p:nvPr>
            <p:ph type="title"/>
          </p:nvPr>
        </p:nvSpPr>
        <p:spPr/>
        <p:txBody>
          <a:bodyPr/>
          <a:lstStyle/>
          <a:p>
            <a:r>
              <a:rPr lang="en-US" noProof="0" dirty="0"/>
              <a:t>Bayes’ Theorem</a:t>
            </a:r>
          </a:p>
        </p:txBody>
      </p:sp>
      <p:sp>
        <p:nvSpPr>
          <p:cNvPr id="3" name="Content Placeholder 2">
            <a:extLst>
              <a:ext uri="{FF2B5EF4-FFF2-40B4-BE49-F238E27FC236}">
                <a16:creationId xmlns:a16="http://schemas.microsoft.com/office/drawing/2014/main" id="{0411B139-4205-EABD-6AAC-3175A5242966}"/>
              </a:ext>
            </a:extLst>
          </p:cNvPr>
          <p:cNvSpPr>
            <a:spLocks noGrp="1"/>
          </p:cNvSpPr>
          <p:nvPr>
            <p:ph idx="1"/>
          </p:nvPr>
        </p:nvSpPr>
        <p:spPr>
          <a:xfrm>
            <a:off x="838200" y="1825625"/>
            <a:ext cx="10515600" cy="829085"/>
          </a:xfrm>
        </p:spPr>
        <p:txBody>
          <a:bodyPr/>
          <a:lstStyle/>
          <a:p>
            <a:pPr marL="0" indent="0">
              <a:buNone/>
            </a:pPr>
            <a:r>
              <a:rPr lang="en-US" noProof="0" dirty="0"/>
              <a:t>The Bayesian paradigm is based on </a:t>
            </a:r>
            <a:r>
              <a:rPr lang="en-US" b="1" noProof="0" dirty="0"/>
              <a:t>Bayes’ Theorem:</a:t>
            </a:r>
          </a:p>
        </p:txBody>
      </p:sp>
      <p:sp>
        <p:nvSpPr>
          <p:cNvPr id="4" name="Date Placeholder 3">
            <a:extLst>
              <a:ext uri="{FF2B5EF4-FFF2-40B4-BE49-F238E27FC236}">
                <a16:creationId xmlns:a16="http://schemas.microsoft.com/office/drawing/2014/main" id="{2143B8FD-3074-07F3-D7C9-C98276F48EFC}"/>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812F2CC6-56A1-0F94-94DC-45AE1E0D1444}"/>
              </a:ext>
            </a:extLst>
          </p:cNvPr>
          <p:cNvSpPr>
            <a:spLocks noGrp="1"/>
          </p:cNvSpPr>
          <p:nvPr>
            <p:ph type="sldNum" sz="quarter" idx="12"/>
          </p:nvPr>
        </p:nvSpPr>
        <p:spPr/>
        <p:txBody>
          <a:bodyPr/>
          <a:lstStyle/>
          <a:p>
            <a:fld id="{271ECC92-9CDE-4EB3-B1C5-F46B9E1FA3C1}" type="slidenum">
              <a:rPr lang="en-US" noProof="0" smtClean="0"/>
              <a:t>28</a:t>
            </a:fld>
            <a:endParaRPr lang="en-US" noProof="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309DBA7A-C81A-1E34-2F99-58681D3C0054}"/>
                  </a:ext>
                </a:extLst>
              </p:cNvPr>
              <p:cNvSpPr txBox="1">
                <a:spLocks/>
              </p:cNvSpPr>
              <p:nvPr/>
            </p:nvSpPr>
            <p:spPr>
              <a:xfrm>
                <a:off x="3963428" y="3760455"/>
                <a:ext cx="4265143" cy="994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noProof="0" smtClean="0">
                          <a:solidFill>
                            <a:schemeClr val="bg2">
                              <a:lumMod val="50000"/>
                            </a:schemeClr>
                          </a:solidFill>
                          <a:latin typeface="Cambria Math" panose="02040503050406030204" pitchFamily="18" charset="0"/>
                        </a:rPr>
                        <m:t>𝑃</m:t>
                      </m:r>
                      <m:d>
                        <m:dPr>
                          <m:ctrlPr>
                            <a:rPr lang="en-US" b="0" i="1" noProof="0" smtClean="0">
                              <a:solidFill>
                                <a:schemeClr val="bg2">
                                  <a:lumMod val="50000"/>
                                </a:schemeClr>
                              </a:solidFill>
                              <a:latin typeface="Cambria Math" panose="02040503050406030204" pitchFamily="18" charset="0"/>
                            </a:rPr>
                          </m:ctrlPr>
                        </m:dPr>
                        <m:e>
                          <m:r>
                            <a:rPr lang="en-US" b="0" i="1" noProof="0" smtClean="0">
                              <a:solidFill>
                                <a:schemeClr val="bg2">
                                  <a:lumMod val="50000"/>
                                </a:schemeClr>
                              </a:solidFill>
                              <a:latin typeface="Cambria Math" panose="02040503050406030204" pitchFamily="18" charset="0"/>
                            </a:rPr>
                            <m:t>h</m:t>
                          </m:r>
                        </m:e>
                        <m:e>
                          <m:r>
                            <a:rPr lang="en-US" b="0" i="1" noProof="0" smtClean="0">
                              <a:solidFill>
                                <a:schemeClr val="bg2">
                                  <a:lumMod val="50000"/>
                                </a:schemeClr>
                              </a:solidFill>
                              <a:latin typeface="Cambria Math" panose="02040503050406030204" pitchFamily="18" charset="0"/>
                            </a:rPr>
                            <m:t>𝑑</m:t>
                          </m:r>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solidFill>
                                <a:schemeClr val="accent1">
                                  <a:lumMod val="50000"/>
                                </a:schemeClr>
                              </a:solidFill>
                              <a:latin typeface="Cambria Math" panose="02040503050406030204" pitchFamily="18" charset="0"/>
                            </a:rPr>
                            <m:t>𝑃</m:t>
                          </m:r>
                          <m:d>
                            <m:dPr>
                              <m:ctrlPr>
                                <a:rPr lang="en-US" b="0" i="1" noProof="0" smtClean="0">
                                  <a:solidFill>
                                    <a:schemeClr val="accent1">
                                      <a:lumMod val="50000"/>
                                    </a:schemeClr>
                                  </a:solidFill>
                                  <a:latin typeface="Cambria Math" panose="02040503050406030204" pitchFamily="18" charset="0"/>
                                </a:rPr>
                              </m:ctrlPr>
                            </m:dPr>
                            <m:e>
                              <m:r>
                                <a:rPr lang="en-US" b="0" i="1" noProof="0" smtClean="0">
                                  <a:solidFill>
                                    <a:schemeClr val="accent1">
                                      <a:lumMod val="50000"/>
                                    </a:schemeClr>
                                  </a:solidFill>
                                  <a:latin typeface="Cambria Math" panose="02040503050406030204" pitchFamily="18" charset="0"/>
                                </a:rPr>
                                <m:t>𝑑</m:t>
                              </m:r>
                            </m:e>
                            <m:e>
                              <m:r>
                                <a:rPr lang="en-US" b="0" i="1" noProof="0" smtClean="0">
                                  <a:solidFill>
                                    <a:schemeClr val="accent1">
                                      <a:lumMod val="50000"/>
                                    </a:schemeClr>
                                  </a:solidFill>
                                  <a:latin typeface="Cambria Math" panose="02040503050406030204" pitchFamily="18" charset="0"/>
                                </a:rPr>
                                <m:t>h</m:t>
                              </m:r>
                            </m:e>
                          </m:d>
                          <m:r>
                            <a:rPr lang="en-US" b="0" i="1" noProof="0" smtClean="0">
                              <a:latin typeface="Cambria Math" panose="02040503050406030204" pitchFamily="18" charset="0"/>
                            </a:rPr>
                            <m:t>⋅</m:t>
                          </m:r>
                          <m:r>
                            <a:rPr lang="en-US" b="0" i="1" noProof="0" smtClean="0">
                              <a:solidFill>
                                <a:schemeClr val="accent2">
                                  <a:lumMod val="50000"/>
                                </a:schemeClr>
                              </a:solidFill>
                              <a:latin typeface="Cambria Math" panose="02040503050406030204" pitchFamily="18" charset="0"/>
                            </a:rPr>
                            <m:t>𝑃</m:t>
                          </m:r>
                          <m:r>
                            <a:rPr lang="en-US" b="0" i="1" noProof="0" smtClean="0">
                              <a:solidFill>
                                <a:schemeClr val="accent2">
                                  <a:lumMod val="50000"/>
                                </a:schemeClr>
                              </a:solidFill>
                              <a:latin typeface="Cambria Math" panose="02040503050406030204" pitchFamily="18" charset="0"/>
                            </a:rPr>
                            <m:t>(</m:t>
                          </m:r>
                          <m:r>
                            <a:rPr lang="en-US" b="0" i="1" noProof="0" smtClean="0">
                              <a:solidFill>
                                <a:schemeClr val="accent2">
                                  <a:lumMod val="50000"/>
                                </a:schemeClr>
                              </a:solidFill>
                              <a:latin typeface="Cambria Math" panose="02040503050406030204" pitchFamily="18" charset="0"/>
                            </a:rPr>
                            <m:t>h</m:t>
                          </m:r>
                          <m:r>
                            <a:rPr lang="en-US" b="0" i="1" noProof="0" smtClean="0">
                              <a:solidFill>
                                <a:schemeClr val="accent2">
                                  <a:lumMod val="50000"/>
                                </a:schemeClr>
                              </a:solidFill>
                              <a:latin typeface="Cambria Math" panose="02040503050406030204" pitchFamily="18" charset="0"/>
                            </a:rPr>
                            <m:t>)</m:t>
                          </m:r>
                        </m:num>
                        <m:den>
                          <m:r>
                            <a:rPr lang="en-US" b="0" i="1" noProof="0" smtClean="0">
                              <a:solidFill>
                                <a:schemeClr val="tx1"/>
                              </a:solidFill>
                              <a:latin typeface="Cambria Math" panose="02040503050406030204" pitchFamily="18" charset="0"/>
                            </a:rPr>
                            <m:t>𝑃</m:t>
                          </m:r>
                          <m:r>
                            <a:rPr lang="en-US" b="0" i="1" noProof="0" smtClean="0">
                              <a:solidFill>
                                <a:schemeClr val="tx1"/>
                              </a:solidFill>
                              <a:latin typeface="Cambria Math" panose="02040503050406030204" pitchFamily="18" charset="0"/>
                            </a:rPr>
                            <m:t>(</m:t>
                          </m:r>
                          <m:r>
                            <a:rPr lang="en-US" b="0" i="1" noProof="0" smtClean="0">
                              <a:solidFill>
                                <a:schemeClr val="tx1"/>
                              </a:solidFill>
                              <a:latin typeface="Cambria Math" panose="02040503050406030204" pitchFamily="18" charset="0"/>
                            </a:rPr>
                            <m:t>𝑑</m:t>
                          </m:r>
                          <m:r>
                            <a:rPr lang="en-US" b="0" i="1" noProof="0" smtClean="0">
                              <a:solidFill>
                                <a:schemeClr val="tx1"/>
                              </a:solidFill>
                              <a:latin typeface="Cambria Math" panose="02040503050406030204" pitchFamily="18" charset="0"/>
                            </a:rPr>
                            <m:t>)</m:t>
                          </m:r>
                        </m:den>
                      </m:f>
                    </m:oMath>
                  </m:oMathPara>
                </a14:m>
                <a:endParaRPr lang="en-US" noProof="0" dirty="0"/>
              </a:p>
            </p:txBody>
          </p:sp>
        </mc:Choice>
        <mc:Fallback xmlns="">
          <p:sp>
            <p:nvSpPr>
              <p:cNvPr id="6" name="Content Placeholder 2">
                <a:extLst>
                  <a:ext uri="{FF2B5EF4-FFF2-40B4-BE49-F238E27FC236}">
                    <a16:creationId xmlns:a16="http://schemas.microsoft.com/office/drawing/2014/main" id="{309DBA7A-C81A-1E34-2F99-58681D3C0054}"/>
                  </a:ext>
                </a:extLst>
              </p:cNvPr>
              <p:cNvSpPr txBox="1">
                <a:spLocks noRot="1" noChangeAspect="1" noMove="1" noResize="1" noEditPoints="1" noAdjustHandles="1" noChangeArrowheads="1" noChangeShapeType="1" noTextEdit="1"/>
              </p:cNvSpPr>
              <p:nvPr/>
            </p:nvSpPr>
            <p:spPr>
              <a:xfrm>
                <a:off x="3963428" y="3760455"/>
                <a:ext cx="4265143" cy="994097"/>
              </a:xfrm>
              <a:prstGeom prst="rect">
                <a:avLst/>
              </a:prstGeom>
              <a:blipFill>
                <a:blip r:embed="rId2"/>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20BA324-9DA7-E0B9-1000-60F9A1BD2905}"/>
                  </a:ext>
                </a:extLst>
              </p:cNvPr>
              <p:cNvSpPr txBox="1"/>
              <p:nvPr/>
            </p:nvSpPr>
            <p:spPr>
              <a:xfrm>
                <a:off x="1027188" y="3614038"/>
                <a:ext cx="2936240" cy="1200329"/>
              </a:xfrm>
              <a:prstGeom prst="rect">
                <a:avLst/>
              </a:prstGeom>
              <a:noFill/>
            </p:spPr>
            <p:txBody>
              <a:bodyPr wrap="square" rtlCol="0">
                <a:spAutoFit/>
              </a:bodyPr>
              <a:lstStyle/>
              <a:p>
                <a:pPr algn="r"/>
                <a:r>
                  <a:rPr lang="en-US" b="1" noProof="0" dirty="0">
                    <a:solidFill>
                      <a:schemeClr val="bg2">
                        <a:lumMod val="50000"/>
                      </a:schemeClr>
                    </a:solidFill>
                  </a:rPr>
                  <a:t>Posterior</a:t>
                </a:r>
              </a:p>
              <a:p>
                <a:pPr algn="r"/>
                <a:r>
                  <a:rPr lang="en-US" noProof="0" dirty="0"/>
                  <a:t>Probability that the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the observed data </a:t>
                </a:r>
                <a14:m>
                  <m:oMath xmlns:m="http://schemas.openxmlformats.org/officeDocument/2006/math">
                    <m:r>
                      <a:rPr lang="en-US" b="0" i="1" noProof="0" smtClean="0">
                        <a:latin typeface="Cambria Math" panose="02040503050406030204" pitchFamily="18" charset="0"/>
                      </a:rPr>
                      <m:t>𝑑</m:t>
                    </m:r>
                  </m:oMath>
                </a14:m>
                <a:endParaRPr lang="en-US" noProof="0" dirty="0"/>
              </a:p>
            </p:txBody>
          </p:sp>
        </mc:Choice>
        <mc:Fallback xmlns="">
          <p:sp>
            <p:nvSpPr>
              <p:cNvPr id="8" name="TextBox 7">
                <a:extLst>
                  <a:ext uri="{FF2B5EF4-FFF2-40B4-BE49-F238E27FC236}">
                    <a16:creationId xmlns:a16="http://schemas.microsoft.com/office/drawing/2014/main" id="{9A8A87C2-E91D-7CEB-650C-5CF8FBDFE9D4}"/>
                  </a:ext>
                </a:extLst>
              </p:cNvPr>
              <p:cNvSpPr txBox="1">
                <a:spLocks noRot="1" noChangeAspect="1" noMove="1" noResize="1" noEditPoints="1" noAdjustHandles="1" noChangeArrowheads="1" noChangeShapeType="1" noTextEdit="1"/>
              </p:cNvSpPr>
              <p:nvPr/>
            </p:nvSpPr>
            <p:spPr>
              <a:xfrm>
                <a:off x="1027188" y="3614038"/>
                <a:ext cx="2936240" cy="1200329"/>
              </a:xfrm>
              <a:prstGeom prst="rect">
                <a:avLst/>
              </a:prstGeom>
              <a:blipFill>
                <a:blip r:embed="rId3"/>
                <a:stretch>
                  <a:fillRect t="-2538" r="-3534" b="-7614"/>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C2C66F1-2E6D-2C9B-8B8A-A2BFFB8B1D25}"/>
                  </a:ext>
                </a:extLst>
              </p:cNvPr>
              <p:cNvSpPr txBox="1"/>
              <p:nvPr/>
            </p:nvSpPr>
            <p:spPr>
              <a:xfrm>
                <a:off x="4038600" y="2600497"/>
                <a:ext cx="2936240" cy="923330"/>
              </a:xfrm>
              <a:prstGeom prst="rect">
                <a:avLst/>
              </a:prstGeom>
              <a:noFill/>
            </p:spPr>
            <p:txBody>
              <a:bodyPr wrap="square" rtlCol="0">
                <a:spAutoFit/>
              </a:bodyPr>
              <a:lstStyle/>
              <a:p>
                <a:pPr algn="r"/>
                <a:r>
                  <a:rPr lang="en-US" b="1" noProof="0" dirty="0">
                    <a:solidFill>
                      <a:schemeClr val="accent1">
                        <a:lumMod val="50000"/>
                      </a:schemeClr>
                    </a:solidFill>
                  </a:rPr>
                  <a:t>Likelihood</a:t>
                </a:r>
              </a:p>
              <a:p>
                <a:pPr algn="r"/>
                <a:r>
                  <a:rPr lang="en-US" noProof="0" dirty="0"/>
                  <a:t>of observing data </a:t>
                </a:r>
                <a14:m>
                  <m:oMath xmlns:m="http://schemas.openxmlformats.org/officeDocument/2006/math">
                    <m:r>
                      <a:rPr lang="en-US" b="0" i="1" noProof="0" smtClean="0">
                        <a:latin typeface="Cambria Math" panose="02040503050406030204" pitchFamily="18" charset="0"/>
                      </a:rPr>
                      <m:t>𝑑</m:t>
                    </m:r>
                  </m:oMath>
                </a14:m>
                <a:r>
                  <a:rPr lang="en-US" noProof="0" dirty="0"/>
                  <a:t> if the hypothesis </a:t>
                </a:r>
                <a14:m>
                  <m:oMath xmlns:m="http://schemas.openxmlformats.org/officeDocument/2006/math">
                    <m:r>
                      <a:rPr lang="en-US" i="1" noProof="0" smtClean="0">
                        <a:latin typeface="Cambria Math" panose="02040503050406030204" pitchFamily="18" charset="0"/>
                      </a:rPr>
                      <m:t>h</m:t>
                    </m:r>
                  </m:oMath>
                </a14:m>
                <a:r>
                  <a:rPr lang="en-US" noProof="0" dirty="0"/>
                  <a:t> were true</a:t>
                </a:r>
              </a:p>
            </p:txBody>
          </p:sp>
        </mc:Choice>
        <mc:Fallback xmlns="">
          <p:sp>
            <p:nvSpPr>
              <p:cNvPr id="10" name="TextBox 9">
                <a:extLst>
                  <a:ext uri="{FF2B5EF4-FFF2-40B4-BE49-F238E27FC236}">
                    <a16:creationId xmlns:a16="http://schemas.microsoft.com/office/drawing/2014/main" id="{7094E750-F12A-8CE9-EEF7-519010B03271}"/>
                  </a:ext>
                </a:extLst>
              </p:cNvPr>
              <p:cNvSpPr txBox="1">
                <a:spLocks noRot="1" noChangeAspect="1" noMove="1" noResize="1" noEditPoints="1" noAdjustHandles="1" noChangeArrowheads="1" noChangeShapeType="1" noTextEdit="1"/>
              </p:cNvSpPr>
              <p:nvPr/>
            </p:nvSpPr>
            <p:spPr>
              <a:xfrm>
                <a:off x="4038600" y="2600497"/>
                <a:ext cx="2936240" cy="923330"/>
              </a:xfrm>
              <a:prstGeom prst="rect">
                <a:avLst/>
              </a:prstGeom>
              <a:blipFill>
                <a:blip r:embed="rId4"/>
                <a:stretch>
                  <a:fillRect t="-3311" r="-3326" b="-1059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69F7D82-789E-8360-5800-CB47A965F3AC}"/>
                  </a:ext>
                </a:extLst>
              </p:cNvPr>
              <p:cNvSpPr txBox="1"/>
              <p:nvPr/>
            </p:nvSpPr>
            <p:spPr>
              <a:xfrm>
                <a:off x="7045960" y="2593998"/>
                <a:ext cx="3129280" cy="923330"/>
              </a:xfrm>
              <a:prstGeom prst="rect">
                <a:avLst/>
              </a:prstGeom>
              <a:noFill/>
            </p:spPr>
            <p:txBody>
              <a:bodyPr wrap="square" rtlCol="0">
                <a:spAutoFit/>
              </a:bodyPr>
              <a:lstStyle/>
              <a:p>
                <a:r>
                  <a:rPr lang="en-US" b="1" noProof="0" dirty="0">
                    <a:solidFill>
                      <a:schemeClr val="accent2">
                        <a:lumMod val="50000"/>
                      </a:schemeClr>
                    </a:solidFill>
                  </a:rPr>
                  <a:t>Prior</a:t>
                </a:r>
              </a:p>
              <a:p>
                <a:r>
                  <a:rPr lang="en-US" noProof="0" dirty="0"/>
                  <a:t>probability that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no information</a:t>
                </a:r>
              </a:p>
            </p:txBody>
          </p:sp>
        </mc:Choice>
        <mc:Fallback xmlns="">
          <p:sp>
            <p:nvSpPr>
              <p:cNvPr id="12" name="TextBox 11">
                <a:extLst>
                  <a:ext uri="{FF2B5EF4-FFF2-40B4-BE49-F238E27FC236}">
                    <a16:creationId xmlns:a16="http://schemas.microsoft.com/office/drawing/2014/main" id="{9AFE48FF-FDDA-C5D8-0E0A-DBF451536203}"/>
                  </a:ext>
                </a:extLst>
              </p:cNvPr>
              <p:cNvSpPr txBox="1">
                <a:spLocks noRot="1" noChangeAspect="1" noMove="1" noResize="1" noEditPoints="1" noAdjustHandles="1" noChangeArrowheads="1" noChangeShapeType="1" noTextEdit="1"/>
              </p:cNvSpPr>
              <p:nvPr/>
            </p:nvSpPr>
            <p:spPr>
              <a:xfrm>
                <a:off x="7045960" y="2593998"/>
                <a:ext cx="3129280" cy="923330"/>
              </a:xfrm>
              <a:prstGeom prst="rect">
                <a:avLst/>
              </a:prstGeom>
              <a:blipFill>
                <a:blip r:embed="rId5"/>
                <a:stretch>
                  <a:fillRect l="-1754" t="-3311" b="-10596"/>
                </a:stretch>
              </a:blipFill>
            </p:spPr>
            <p:txBody>
              <a:bodyPr/>
              <a:lstStyle/>
              <a:p>
                <a:r>
                  <a:rPr lang="en-SE">
                    <a:noFill/>
                  </a:rPr>
                  <a:t> </a:t>
                </a:r>
              </a:p>
            </p:txBody>
          </p:sp>
        </mc:Fallback>
      </mc:AlternateContent>
      <p:sp>
        <p:nvSpPr>
          <p:cNvPr id="7" name="Footer Placeholder 6">
            <a:extLst>
              <a:ext uri="{FF2B5EF4-FFF2-40B4-BE49-F238E27FC236}">
                <a16:creationId xmlns:a16="http://schemas.microsoft.com/office/drawing/2014/main" id="{70E74950-9A78-D7F0-C9FF-7AE343A8514B}"/>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3616898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B4E19-A0BB-B705-3E43-17C7C8A647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11910-FA9D-1082-E2F5-FD689B6AF264}"/>
              </a:ext>
            </a:extLst>
          </p:cNvPr>
          <p:cNvSpPr>
            <a:spLocks noGrp="1"/>
          </p:cNvSpPr>
          <p:nvPr>
            <p:ph type="title"/>
          </p:nvPr>
        </p:nvSpPr>
        <p:spPr/>
        <p:txBody>
          <a:bodyPr/>
          <a:lstStyle/>
          <a:p>
            <a:r>
              <a:rPr lang="en-US" noProof="0" dirty="0"/>
              <a:t>Bayes’ Theorem</a:t>
            </a:r>
          </a:p>
        </p:txBody>
      </p:sp>
      <p:sp>
        <p:nvSpPr>
          <p:cNvPr id="3" name="Content Placeholder 2">
            <a:extLst>
              <a:ext uri="{FF2B5EF4-FFF2-40B4-BE49-F238E27FC236}">
                <a16:creationId xmlns:a16="http://schemas.microsoft.com/office/drawing/2014/main" id="{29E2C1F1-3C0F-D4BF-00A6-2F55D7FC0176}"/>
              </a:ext>
            </a:extLst>
          </p:cNvPr>
          <p:cNvSpPr>
            <a:spLocks noGrp="1"/>
          </p:cNvSpPr>
          <p:nvPr>
            <p:ph idx="1"/>
          </p:nvPr>
        </p:nvSpPr>
        <p:spPr>
          <a:xfrm>
            <a:off x="838200" y="1825625"/>
            <a:ext cx="10515600" cy="829085"/>
          </a:xfrm>
        </p:spPr>
        <p:txBody>
          <a:bodyPr/>
          <a:lstStyle/>
          <a:p>
            <a:pPr marL="0" indent="0">
              <a:buNone/>
            </a:pPr>
            <a:r>
              <a:rPr lang="en-US" noProof="0" dirty="0"/>
              <a:t>The Bayesian paradigm is based on </a:t>
            </a:r>
            <a:r>
              <a:rPr lang="en-US" b="1" noProof="0" dirty="0"/>
              <a:t>Bayes’ Theorem:</a:t>
            </a:r>
          </a:p>
        </p:txBody>
      </p:sp>
      <p:sp>
        <p:nvSpPr>
          <p:cNvPr id="4" name="Date Placeholder 3">
            <a:extLst>
              <a:ext uri="{FF2B5EF4-FFF2-40B4-BE49-F238E27FC236}">
                <a16:creationId xmlns:a16="http://schemas.microsoft.com/office/drawing/2014/main" id="{391794DC-9999-2AB8-BEA9-04E89BECDC99}"/>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4CAEE13E-D44C-C03A-AC51-E4983554F25E}"/>
              </a:ext>
            </a:extLst>
          </p:cNvPr>
          <p:cNvSpPr>
            <a:spLocks noGrp="1"/>
          </p:cNvSpPr>
          <p:nvPr>
            <p:ph type="sldNum" sz="quarter" idx="12"/>
          </p:nvPr>
        </p:nvSpPr>
        <p:spPr/>
        <p:txBody>
          <a:bodyPr/>
          <a:lstStyle/>
          <a:p>
            <a:fld id="{271ECC92-9CDE-4EB3-B1C5-F46B9E1FA3C1}" type="slidenum">
              <a:rPr lang="en-US" noProof="0" smtClean="0"/>
              <a:t>29</a:t>
            </a:fld>
            <a:endParaRPr lang="en-US" noProof="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3D08A6EE-5A08-C2EE-97E3-CD31D369CF7D}"/>
                  </a:ext>
                </a:extLst>
              </p:cNvPr>
              <p:cNvSpPr txBox="1">
                <a:spLocks/>
              </p:cNvSpPr>
              <p:nvPr/>
            </p:nvSpPr>
            <p:spPr>
              <a:xfrm>
                <a:off x="3963428" y="3760455"/>
                <a:ext cx="4265143" cy="994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noProof="0" smtClean="0">
                          <a:solidFill>
                            <a:schemeClr val="bg2">
                              <a:lumMod val="50000"/>
                            </a:schemeClr>
                          </a:solidFill>
                          <a:latin typeface="Cambria Math" panose="02040503050406030204" pitchFamily="18" charset="0"/>
                        </a:rPr>
                        <m:t>𝑃</m:t>
                      </m:r>
                      <m:d>
                        <m:dPr>
                          <m:ctrlPr>
                            <a:rPr lang="en-US" b="0" i="1" noProof="0" smtClean="0">
                              <a:solidFill>
                                <a:schemeClr val="bg2">
                                  <a:lumMod val="50000"/>
                                </a:schemeClr>
                              </a:solidFill>
                              <a:latin typeface="Cambria Math" panose="02040503050406030204" pitchFamily="18" charset="0"/>
                            </a:rPr>
                          </m:ctrlPr>
                        </m:dPr>
                        <m:e>
                          <m:r>
                            <a:rPr lang="en-US" b="0" i="1" noProof="0" smtClean="0">
                              <a:solidFill>
                                <a:schemeClr val="bg2">
                                  <a:lumMod val="50000"/>
                                </a:schemeClr>
                              </a:solidFill>
                              <a:latin typeface="Cambria Math" panose="02040503050406030204" pitchFamily="18" charset="0"/>
                            </a:rPr>
                            <m:t>h</m:t>
                          </m:r>
                        </m:e>
                        <m:e>
                          <m:r>
                            <a:rPr lang="en-US" b="0" i="1" noProof="0" smtClean="0">
                              <a:solidFill>
                                <a:schemeClr val="bg2">
                                  <a:lumMod val="50000"/>
                                </a:schemeClr>
                              </a:solidFill>
                              <a:latin typeface="Cambria Math" panose="02040503050406030204" pitchFamily="18" charset="0"/>
                            </a:rPr>
                            <m:t>𝑑</m:t>
                          </m:r>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solidFill>
                                <a:schemeClr val="accent1">
                                  <a:lumMod val="50000"/>
                                </a:schemeClr>
                              </a:solidFill>
                              <a:latin typeface="Cambria Math" panose="02040503050406030204" pitchFamily="18" charset="0"/>
                            </a:rPr>
                            <m:t>𝑃</m:t>
                          </m:r>
                          <m:d>
                            <m:dPr>
                              <m:ctrlPr>
                                <a:rPr lang="en-US" b="0" i="1" noProof="0" smtClean="0">
                                  <a:solidFill>
                                    <a:schemeClr val="accent1">
                                      <a:lumMod val="50000"/>
                                    </a:schemeClr>
                                  </a:solidFill>
                                  <a:latin typeface="Cambria Math" panose="02040503050406030204" pitchFamily="18" charset="0"/>
                                </a:rPr>
                              </m:ctrlPr>
                            </m:dPr>
                            <m:e>
                              <m:r>
                                <a:rPr lang="en-US" b="0" i="1" noProof="0" smtClean="0">
                                  <a:solidFill>
                                    <a:schemeClr val="accent1">
                                      <a:lumMod val="50000"/>
                                    </a:schemeClr>
                                  </a:solidFill>
                                  <a:latin typeface="Cambria Math" panose="02040503050406030204" pitchFamily="18" charset="0"/>
                                </a:rPr>
                                <m:t>𝑑</m:t>
                              </m:r>
                            </m:e>
                            <m:e>
                              <m:r>
                                <a:rPr lang="en-US" b="0" i="1" noProof="0" smtClean="0">
                                  <a:solidFill>
                                    <a:schemeClr val="accent1">
                                      <a:lumMod val="50000"/>
                                    </a:schemeClr>
                                  </a:solidFill>
                                  <a:latin typeface="Cambria Math" panose="02040503050406030204" pitchFamily="18" charset="0"/>
                                </a:rPr>
                                <m:t>h</m:t>
                              </m:r>
                            </m:e>
                          </m:d>
                          <m:r>
                            <a:rPr lang="en-US" b="0" i="1" noProof="0" smtClean="0">
                              <a:latin typeface="Cambria Math" panose="02040503050406030204" pitchFamily="18" charset="0"/>
                            </a:rPr>
                            <m:t>⋅</m:t>
                          </m:r>
                          <m:r>
                            <a:rPr lang="en-US" b="0" i="1" noProof="0" smtClean="0">
                              <a:solidFill>
                                <a:schemeClr val="accent2">
                                  <a:lumMod val="50000"/>
                                </a:schemeClr>
                              </a:solidFill>
                              <a:latin typeface="Cambria Math" panose="02040503050406030204" pitchFamily="18" charset="0"/>
                            </a:rPr>
                            <m:t>𝑃</m:t>
                          </m:r>
                          <m:r>
                            <a:rPr lang="en-US" b="0" i="1" noProof="0" smtClean="0">
                              <a:solidFill>
                                <a:schemeClr val="accent2">
                                  <a:lumMod val="50000"/>
                                </a:schemeClr>
                              </a:solidFill>
                              <a:latin typeface="Cambria Math" panose="02040503050406030204" pitchFamily="18" charset="0"/>
                            </a:rPr>
                            <m:t>(</m:t>
                          </m:r>
                          <m:r>
                            <a:rPr lang="en-US" b="0" i="1" noProof="0" smtClean="0">
                              <a:solidFill>
                                <a:schemeClr val="accent2">
                                  <a:lumMod val="50000"/>
                                </a:schemeClr>
                              </a:solidFill>
                              <a:latin typeface="Cambria Math" panose="02040503050406030204" pitchFamily="18" charset="0"/>
                            </a:rPr>
                            <m:t>h</m:t>
                          </m:r>
                          <m:r>
                            <a:rPr lang="en-US" b="0" i="1" noProof="0" smtClean="0">
                              <a:solidFill>
                                <a:schemeClr val="accent2">
                                  <a:lumMod val="50000"/>
                                </a:schemeClr>
                              </a:solidFill>
                              <a:latin typeface="Cambria Math" panose="02040503050406030204" pitchFamily="18" charset="0"/>
                            </a:rPr>
                            <m:t>)</m:t>
                          </m:r>
                        </m:num>
                        <m:den>
                          <m:r>
                            <a:rPr lang="en-US" b="0" i="1" noProof="0" smtClean="0">
                              <a:solidFill>
                                <a:schemeClr val="accent6">
                                  <a:lumMod val="50000"/>
                                </a:schemeClr>
                              </a:solidFill>
                              <a:latin typeface="Cambria Math" panose="02040503050406030204" pitchFamily="18" charset="0"/>
                            </a:rPr>
                            <m:t>𝑃</m:t>
                          </m:r>
                          <m:r>
                            <a:rPr lang="en-US" b="0" i="1" noProof="0" smtClean="0">
                              <a:solidFill>
                                <a:schemeClr val="accent6">
                                  <a:lumMod val="50000"/>
                                </a:schemeClr>
                              </a:solidFill>
                              <a:latin typeface="Cambria Math" panose="02040503050406030204" pitchFamily="18" charset="0"/>
                            </a:rPr>
                            <m:t>(</m:t>
                          </m:r>
                          <m:r>
                            <a:rPr lang="en-US" b="0" i="1" noProof="0" smtClean="0">
                              <a:solidFill>
                                <a:schemeClr val="accent6">
                                  <a:lumMod val="50000"/>
                                </a:schemeClr>
                              </a:solidFill>
                              <a:latin typeface="Cambria Math" panose="02040503050406030204" pitchFamily="18" charset="0"/>
                            </a:rPr>
                            <m:t>𝑑</m:t>
                          </m:r>
                          <m:r>
                            <a:rPr lang="en-US" b="0" i="1" noProof="0" smtClean="0">
                              <a:solidFill>
                                <a:schemeClr val="accent6">
                                  <a:lumMod val="50000"/>
                                </a:schemeClr>
                              </a:solidFill>
                              <a:latin typeface="Cambria Math" panose="02040503050406030204" pitchFamily="18" charset="0"/>
                            </a:rPr>
                            <m:t>)</m:t>
                          </m:r>
                        </m:den>
                      </m:f>
                    </m:oMath>
                  </m:oMathPara>
                </a14:m>
                <a:endParaRPr lang="en-US" noProof="0" dirty="0"/>
              </a:p>
            </p:txBody>
          </p:sp>
        </mc:Choice>
        <mc:Fallback xmlns="">
          <p:sp>
            <p:nvSpPr>
              <p:cNvPr id="6" name="Content Placeholder 2">
                <a:extLst>
                  <a:ext uri="{FF2B5EF4-FFF2-40B4-BE49-F238E27FC236}">
                    <a16:creationId xmlns:a16="http://schemas.microsoft.com/office/drawing/2014/main" id="{3D08A6EE-5A08-C2EE-97E3-CD31D369CF7D}"/>
                  </a:ext>
                </a:extLst>
              </p:cNvPr>
              <p:cNvSpPr txBox="1">
                <a:spLocks noRot="1" noChangeAspect="1" noMove="1" noResize="1" noEditPoints="1" noAdjustHandles="1" noChangeArrowheads="1" noChangeShapeType="1" noTextEdit="1"/>
              </p:cNvSpPr>
              <p:nvPr/>
            </p:nvSpPr>
            <p:spPr>
              <a:xfrm>
                <a:off x="3963428" y="3760455"/>
                <a:ext cx="4265143" cy="994097"/>
              </a:xfrm>
              <a:prstGeom prst="rect">
                <a:avLst/>
              </a:prstGeom>
              <a:blipFill>
                <a:blip r:embed="rId2"/>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828DE2D-9523-21FC-7BEC-46A398004B33}"/>
                  </a:ext>
                </a:extLst>
              </p:cNvPr>
              <p:cNvSpPr txBox="1"/>
              <p:nvPr/>
            </p:nvSpPr>
            <p:spPr>
              <a:xfrm>
                <a:off x="1027188" y="3614038"/>
                <a:ext cx="2936240" cy="1200329"/>
              </a:xfrm>
              <a:prstGeom prst="rect">
                <a:avLst/>
              </a:prstGeom>
              <a:noFill/>
            </p:spPr>
            <p:txBody>
              <a:bodyPr wrap="square" rtlCol="0">
                <a:spAutoFit/>
              </a:bodyPr>
              <a:lstStyle/>
              <a:p>
                <a:pPr algn="r"/>
                <a:r>
                  <a:rPr lang="en-US" b="1" noProof="0" dirty="0">
                    <a:solidFill>
                      <a:schemeClr val="bg2">
                        <a:lumMod val="50000"/>
                      </a:schemeClr>
                    </a:solidFill>
                  </a:rPr>
                  <a:t>Posterior</a:t>
                </a:r>
              </a:p>
              <a:p>
                <a:pPr algn="r"/>
                <a:r>
                  <a:rPr lang="en-US" noProof="0" dirty="0"/>
                  <a:t>Probability that the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the observed data </a:t>
                </a:r>
                <a14:m>
                  <m:oMath xmlns:m="http://schemas.openxmlformats.org/officeDocument/2006/math">
                    <m:r>
                      <a:rPr lang="en-US" b="0" i="1" noProof="0" smtClean="0">
                        <a:latin typeface="Cambria Math" panose="02040503050406030204" pitchFamily="18" charset="0"/>
                      </a:rPr>
                      <m:t>𝑑</m:t>
                    </m:r>
                  </m:oMath>
                </a14:m>
                <a:endParaRPr lang="en-US" noProof="0" dirty="0"/>
              </a:p>
            </p:txBody>
          </p:sp>
        </mc:Choice>
        <mc:Fallback xmlns="">
          <p:sp>
            <p:nvSpPr>
              <p:cNvPr id="8" name="TextBox 7">
                <a:extLst>
                  <a:ext uri="{FF2B5EF4-FFF2-40B4-BE49-F238E27FC236}">
                    <a16:creationId xmlns:a16="http://schemas.microsoft.com/office/drawing/2014/main" id="{9A8A87C2-E91D-7CEB-650C-5CF8FBDFE9D4}"/>
                  </a:ext>
                </a:extLst>
              </p:cNvPr>
              <p:cNvSpPr txBox="1">
                <a:spLocks noRot="1" noChangeAspect="1" noMove="1" noResize="1" noEditPoints="1" noAdjustHandles="1" noChangeArrowheads="1" noChangeShapeType="1" noTextEdit="1"/>
              </p:cNvSpPr>
              <p:nvPr/>
            </p:nvSpPr>
            <p:spPr>
              <a:xfrm>
                <a:off x="1027188" y="3614038"/>
                <a:ext cx="2936240" cy="1200329"/>
              </a:xfrm>
              <a:prstGeom prst="rect">
                <a:avLst/>
              </a:prstGeom>
              <a:blipFill>
                <a:blip r:embed="rId3"/>
                <a:stretch>
                  <a:fillRect t="-2538" r="-3534" b="-7614"/>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FF0A5A8-03F8-442E-41D5-2D2960FFFEB2}"/>
                  </a:ext>
                </a:extLst>
              </p:cNvPr>
              <p:cNvSpPr txBox="1"/>
              <p:nvPr/>
            </p:nvSpPr>
            <p:spPr>
              <a:xfrm>
                <a:off x="4038600" y="2600497"/>
                <a:ext cx="2936240" cy="923330"/>
              </a:xfrm>
              <a:prstGeom prst="rect">
                <a:avLst/>
              </a:prstGeom>
              <a:noFill/>
            </p:spPr>
            <p:txBody>
              <a:bodyPr wrap="square" rtlCol="0">
                <a:spAutoFit/>
              </a:bodyPr>
              <a:lstStyle/>
              <a:p>
                <a:pPr algn="r"/>
                <a:r>
                  <a:rPr lang="en-US" b="1" noProof="0" dirty="0">
                    <a:solidFill>
                      <a:schemeClr val="accent1">
                        <a:lumMod val="50000"/>
                      </a:schemeClr>
                    </a:solidFill>
                  </a:rPr>
                  <a:t>Likelihood</a:t>
                </a:r>
              </a:p>
              <a:p>
                <a:pPr algn="r"/>
                <a:r>
                  <a:rPr lang="en-US" noProof="0" dirty="0"/>
                  <a:t>of observing data </a:t>
                </a:r>
                <a14:m>
                  <m:oMath xmlns:m="http://schemas.openxmlformats.org/officeDocument/2006/math">
                    <m:r>
                      <a:rPr lang="en-US" b="0" i="1" noProof="0" smtClean="0">
                        <a:latin typeface="Cambria Math" panose="02040503050406030204" pitchFamily="18" charset="0"/>
                      </a:rPr>
                      <m:t>𝑑</m:t>
                    </m:r>
                  </m:oMath>
                </a14:m>
                <a:r>
                  <a:rPr lang="en-US" noProof="0" dirty="0"/>
                  <a:t> if the hypothesis </a:t>
                </a:r>
                <a14:m>
                  <m:oMath xmlns:m="http://schemas.openxmlformats.org/officeDocument/2006/math">
                    <m:r>
                      <a:rPr lang="en-US" i="1" noProof="0" smtClean="0">
                        <a:latin typeface="Cambria Math" panose="02040503050406030204" pitchFamily="18" charset="0"/>
                      </a:rPr>
                      <m:t>h</m:t>
                    </m:r>
                  </m:oMath>
                </a14:m>
                <a:r>
                  <a:rPr lang="en-US" noProof="0" dirty="0"/>
                  <a:t> were true</a:t>
                </a:r>
              </a:p>
            </p:txBody>
          </p:sp>
        </mc:Choice>
        <mc:Fallback xmlns="">
          <p:sp>
            <p:nvSpPr>
              <p:cNvPr id="10" name="TextBox 9">
                <a:extLst>
                  <a:ext uri="{FF2B5EF4-FFF2-40B4-BE49-F238E27FC236}">
                    <a16:creationId xmlns:a16="http://schemas.microsoft.com/office/drawing/2014/main" id="{7094E750-F12A-8CE9-EEF7-519010B03271}"/>
                  </a:ext>
                </a:extLst>
              </p:cNvPr>
              <p:cNvSpPr txBox="1">
                <a:spLocks noRot="1" noChangeAspect="1" noMove="1" noResize="1" noEditPoints="1" noAdjustHandles="1" noChangeArrowheads="1" noChangeShapeType="1" noTextEdit="1"/>
              </p:cNvSpPr>
              <p:nvPr/>
            </p:nvSpPr>
            <p:spPr>
              <a:xfrm>
                <a:off x="4038600" y="2600497"/>
                <a:ext cx="2936240" cy="923330"/>
              </a:xfrm>
              <a:prstGeom prst="rect">
                <a:avLst/>
              </a:prstGeom>
              <a:blipFill>
                <a:blip r:embed="rId4"/>
                <a:stretch>
                  <a:fillRect t="-3311" r="-3326" b="-1059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FAE754D-5895-8B3F-A7C3-47F239554C2C}"/>
                  </a:ext>
                </a:extLst>
              </p:cNvPr>
              <p:cNvSpPr txBox="1"/>
              <p:nvPr/>
            </p:nvSpPr>
            <p:spPr>
              <a:xfrm>
                <a:off x="7045960" y="2593998"/>
                <a:ext cx="3129280" cy="923330"/>
              </a:xfrm>
              <a:prstGeom prst="rect">
                <a:avLst/>
              </a:prstGeom>
              <a:noFill/>
            </p:spPr>
            <p:txBody>
              <a:bodyPr wrap="square" rtlCol="0">
                <a:spAutoFit/>
              </a:bodyPr>
              <a:lstStyle/>
              <a:p>
                <a:r>
                  <a:rPr lang="en-US" b="1" noProof="0" dirty="0">
                    <a:solidFill>
                      <a:schemeClr val="accent2">
                        <a:lumMod val="50000"/>
                      </a:schemeClr>
                    </a:solidFill>
                  </a:rPr>
                  <a:t>Prior</a:t>
                </a:r>
              </a:p>
              <a:p>
                <a:r>
                  <a:rPr lang="en-US" noProof="0" dirty="0"/>
                  <a:t>probability that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no information</a:t>
                </a:r>
              </a:p>
            </p:txBody>
          </p:sp>
        </mc:Choice>
        <mc:Fallback xmlns="">
          <p:sp>
            <p:nvSpPr>
              <p:cNvPr id="12" name="TextBox 11">
                <a:extLst>
                  <a:ext uri="{FF2B5EF4-FFF2-40B4-BE49-F238E27FC236}">
                    <a16:creationId xmlns:a16="http://schemas.microsoft.com/office/drawing/2014/main" id="{9AFE48FF-FDDA-C5D8-0E0A-DBF451536203}"/>
                  </a:ext>
                </a:extLst>
              </p:cNvPr>
              <p:cNvSpPr txBox="1">
                <a:spLocks noRot="1" noChangeAspect="1" noMove="1" noResize="1" noEditPoints="1" noAdjustHandles="1" noChangeArrowheads="1" noChangeShapeType="1" noTextEdit="1"/>
              </p:cNvSpPr>
              <p:nvPr/>
            </p:nvSpPr>
            <p:spPr>
              <a:xfrm>
                <a:off x="7045960" y="2593998"/>
                <a:ext cx="3129280" cy="923330"/>
              </a:xfrm>
              <a:prstGeom prst="rect">
                <a:avLst/>
              </a:prstGeom>
              <a:blipFill>
                <a:blip r:embed="rId5"/>
                <a:stretch>
                  <a:fillRect l="-1754" t="-3311" b="-1059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38774A4-D2F9-BE79-7398-C2C550433C05}"/>
                  </a:ext>
                </a:extLst>
              </p:cNvPr>
              <p:cNvSpPr txBox="1"/>
              <p:nvPr/>
            </p:nvSpPr>
            <p:spPr>
              <a:xfrm>
                <a:off x="6370320" y="4770871"/>
                <a:ext cx="3129280" cy="1200329"/>
              </a:xfrm>
              <a:prstGeom prst="rect">
                <a:avLst/>
              </a:prstGeom>
              <a:noFill/>
            </p:spPr>
            <p:txBody>
              <a:bodyPr wrap="square" rtlCol="0">
                <a:spAutoFit/>
              </a:bodyPr>
              <a:lstStyle/>
              <a:p>
                <a:r>
                  <a:rPr lang="en-US" b="1" noProof="0" dirty="0">
                    <a:solidFill>
                      <a:schemeClr val="accent6">
                        <a:lumMod val="50000"/>
                      </a:schemeClr>
                    </a:solidFill>
                  </a:rPr>
                  <a:t>Marginal likelihood</a:t>
                </a:r>
              </a:p>
              <a:p>
                <a:r>
                  <a:rPr lang="en-US" noProof="0" dirty="0"/>
                  <a:t>i.e., the probability to observe the data </a:t>
                </a:r>
                <a14:m>
                  <m:oMath xmlns:m="http://schemas.openxmlformats.org/officeDocument/2006/math">
                    <m:r>
                      <a:rPr lang="en-US" b="0" i="1" noProof="0" smtClean="0">
                        <a:latin typeface="Cambria Math" panose="02040503050406030204" pitchFamily="18" charset="0"/>
                      </a:rPr>
                      <m:t>𝑑</m:t>
                    </m:r>
                  </m:oMath>
                </a14:m>
                <a:r>
                  <a:rPr lang="en-US" noProof="0" dirty="0"/>
                  <a:t> under all possible hypotheses</a:t>
                </a:r>
              </a:p>
            </p:txBody>
          </p:sp>
        </mc:Choice>
        <mc:Fallback xmlns="">
          <p:sp>
            <p:nvSpPr>
              <p:cNvPr id="14" name="TextBox 13">
                <a:extLst>
                  <a:ext uri="{FF2B5EF4-FFF2-40B4-BE49-F238E27FC236}">
                    <a16:creationId xmlns:a16="http://schemas.microsoft.com/office/drawing/2014/main" id="{2DE8A9FC-E340-E9E8-1D59-FD96051A7E00}"/>
                  </a:ext>
                </a:extLst>
              </p:cNvPr>
              <p:cNvSpPr txBox="1">
                <a:spLocks noRot="1" noChangeAspect="1" noMove="1" noResize="1" noEditPoints="1" noAdjustHandles="1" noChangeArrowheads="1" noChangeShapeType="1" noTextEdit="1"/>
              </p:cNvSpPr>
              <p:nvPr/>
            </p:nvSpPr>
            <p:spPr>
              <a:xfrm>
                <a:off x="6370320" y="4770871"/>
                <a:ext cx="3129280" cy="1200329"/>
              </a:xfrm>
              <a:prstGeom prst="rect">
                <a:avLst/>
              </a:prstGeom>
              <a:blipFill>
                <a:blip r:embed="rId6"/>
                <a:stretch>
                  <a:fillRect l="-1559" t="-2538" r="-1559" b="-7614"/>
                </a:stretch>
              </a:blipFill>
            </p:spPr>
            <p:txBody>
              <a:bodyPr/>
              <a:lstStyle/>
              <a:p>
                <a:r>
                  <a:rPr lang="en-SE">
                    <a:noFill/>
                  </a:rPr>
                  <a:t> </a:t>
                </a:r>
              </a:p>
            </p:txBody>
          </p:sp>
        </mc:Fallback>
      </mc:AlternateContent>
      <p:sp>
        <p:nvSpPr>
          <p:cNvPr id="7" name="Footer Placeholder 6">
            <a:extLst>
              <a:ext uri="{FF2B5EF4-FFF2-40B4-BE49-F238E27FC236}">
                <a16:creationId xmlns:a16="http://schemas.microsoft.com/office/drawing/2014/main" id="{F20ECC44-F439-107D-9092-2CE4725437D3}"/>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3540241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3F8C9-132D-8AC9-52DB-5F2C57DE4A1F}"/>
              </a:ext>
            </a:extLst>
          </p:cNvPr>
          <p:cNvSpPr>
            <a:spLocks noGrp="1"/>
          </p:cNvSpPr>
          <p:nvPr>
            <p:ph type="title"/>
          </p:nvPr>
        </p:nvSpPr>
        <p:spPr/>
        <p:txBody>
          <a:bodyPr/>
          <a:lstStyle/>
          <a:p>
            <a:r>
              <a:rPr lang="en-US" noProof="0" dirty="0"/>
              <a:t>Example</a:t>
            </a:r>
          </a:p>
        </p:txBody>
      </p:sp>
      <p:sp>
        <p:nvSpPr>
          <p:cNvPr id="3" name="Content Placeholder 2">
            <a:extLst>
              <a:ext uri="{FF2B5EF4-FFF2-40B4-BE49-F238E27FC236}">
                <a16:creationId xmlns:a16="http://schemas.microsoft.com/office/drawing/2014/main" id="{B4988406-637F-7F3F-D74A-ECC07C11B951}"/>
              </a:ext>
            </a:extLst>
          </p:cNvPr>
          <p:cNvSpPr>
            <a:spLocks noGrp="1"/>
          </p:cNvSpPr>
          <p:nvPr>
            <p:ph idx="1"/>
          </p:nvPr>
        </p:nvSpPr>
        <p:spPr/>
        <p:txBody>
          <a:bodyPr/>
          <a:lstStyle/>
          <a:p>
            <a:pPr marL="0" indent="0">
              <a:buNone/>
            </a:pPr>
            <a:r>
              <a:rPr lang="en-US" noProof="0" dirty="0"/>
              <a:t>We are investigating a static code analysis tool. The tool has 90% sensitivity and 10% false positive rate. Only 5% of files actually have bugs. </a:t>
            </a:r>
            <a:r>
              <a:rPr lang="en-US" i="1" noProof="0" dirty="0"/>
              <a:t>What's the probability that a flagged file is buggy?</a:t>
            </a:r>
          </a:p>
          <a:p>
            <a:pPr marL="0" indent="0">
              <a:buNone/>
            </a:pPr>
            <a:endParaRPr lang="en-US" noProof="0" dirty="0"/>
          </a:p>
        </p:txBody>
      </p:sp>
      <p:sp>
        <p:nvSpPr>
          <p:cNvPr id="4" name="Date Placeholder 3">
            <a:extLst>
              <a:ext uri="{FF2B5EF4-FFF2-40B4-BE49-F238E27FC236}">
                <a16:creationId xmlns:a16="http://schemas.microsoft.com/office/drawing/2014/main" id="{F86F8A52-03A6-EAA2-E82A-DBEB7CB178B1}"/>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E5391887-1A00-B45E-BBC9-2CF0EACA0136}"/>
              </a:ext>
            </a:extLst>
          </p:cNvPr>
          <p:cNvSpPr>
            <a:spLocks noGrp="1"/>
          </p:cNvSpPr>
          <p:nvPr>
            <p:ph type="sldNum" sz="quarter" idx="12"/>
          </p:nvPr>
        </p:nvSpPr>
        <p:spPr/>
        <p:txBody>
          <a:bodyPr/>
          <a:lstStyle/>
          <a:p>
            <a:fld id="{271ECC92-9CDE-4EB3-B1C5-F46B9E1FA3C1}" type="slidenum">
              <a:rPr lang="en-US" noProof="0" smtClean="0"/>
              <a:t>30</a:t>
            </a:fld>
            <a:endParaRPr lang="en-US" noProof="0" dirty="0"/>
          </a:p>
        </p:txBody>
      </p:sp>
      <p:sp>
        <p:nvSpPr>
          <p:cNvPr id="6" name="Footer Placeholder 5">
            <a:extLst>
              <a:ext uri="{FF2B5EF4-FFF2-40B4-BE49-F238E27FC236}">
                <a16:creationId xmlns:a16="http://schemas.microsoft.com/office/drawing/2014/main" id="{3BC830DE-FB98-5175-8C70-CBC549727EF5}"/>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3065639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27997-8130-F5AD-F13C-C2CAC5A9A542}"/>
              </a:ext>
            </a:extLst>
          </p:cNvPr>
          <p:cNvSpPr>
            <a:spLocks noGrp="1"/>
          </p:cNvSpPr>
          <p:nvPr>
            <p:ph type="title"/>
          </p:nvPr>
        </p:nvSpPr>
        <p:spPr/>
        <p:txBody>
          <a:bodyPr/>
          <a:lstStyle/>
          <a:p>
            <a:r>
              <a:rPr lang="en-US" noProof="0" dirty="0"/>
              <a:t>Example</a:t>
            </a:r>
          </a:p>
        </p:txBody>
      </p:sp>
      <p:sp>
        <p:nvSpPr>
          <p:cNvPr id="3" name="Content Placeholder 2">
            <a:extLst>
              <a:ext uri="{FF2B5EF4-FFF2-40B4-BE49-F238E27FC236}">
                <a16:creationId xmlns:a16="http://schemas.microsoft.com/office/drawing/2014/main" id="{5A4CDFBB-AE0D-0C60-33C5-0B4840335F63}"/>
              </a:ext>
            </a:extLst>
          </p:cNvPr>
          <p:cNvSpPr>
            <a:spLocks noGrp="1"/>
          </p:cNvSpPr>
          <p:nvPr>
            <p:ph idx="1"/>
          </p:nvPr>
        </p:nvSpPr>
        <p:spPr>
          <a:xfrm>
            <a:off x="838200" y="1825625"/>
            <a:ext cx="10515600" cy="1448517"/>
          </a:xfrm>
        </p:spPr>
        <p:txBody>
          <a:bodyPr/>
          <a:lstStyle/>
          <a:p>
            <a:pPr marL="0" indent="0">
              <a:buNone/>
            </a:pPr>
            <a:r>
              <a:rPr lang="en-US" noProof="0" dirty="0"/>
              <a:t>We are investigating a static code analysis tool. The tool has 90% sensitivity and 10% false positive rate. Only 5% of files actually have bugs. </a:t>
            </a:r>
            <a:r>
              <a:rPr lang="en-US" i="1" noProof="0" dirty="0"/>
              <a:t>What's the probability that a flagged file is buggy?</a:t>
            </a:r>
          </a:p>
          <a:p>
            <a:pPr marL="0" indent="0">
              <a:buNone/>
            </a:pPr>
            <a:endParaRPr lang="en-US" noProof="0" dirty="0"/>
          </a:p>
        </p:txBody>
      </p:sp>
      <p:sp>
        <p:nvSpPr>
          <p:cNvPr id="4" name="Date Placeholder 3">
            <a:extLst>
              <a:ext uri="{FF2B5EF4-FFF2-40B4-BE49-F238E27FC236}">
                <a16:creationId xmlns:a16="http://schemas.microsoft.com/office/drawing/2014/main" id="{7C3C7BDD-2CBC-3618-B830-969AD960C1C7}"/>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A19DD116-A88B-CB6A-DBEB-0DF944D51720}"/>
              </a:ext>
            </a:extLst>
          </p:cNvPr>
          <p:cNvSpPr>
            <a:spLocks noGrp="1"/>
          </p:cNvSpPr>
          <p:nvPr>
            <p:ph type="sldNum" sz="quarter" idx="12"/>
          </p:nvPr>
        </p:nvSpPr>
        <p:spPr/>
        <p:txBody>
          <a:bodyPr/>
          <a:lstStyle/>
          <a:p>
            <a:fld id="{271ECC92-9CDE-4EB3-B1C5-F46B9E1FA3C1}" type="slidenum">
              <a:rPr lang="en-US" noProof="0" smtClean="0"/>
              <a:t>31</a:t>
            </a:fld>
            <a:endParaRPr lang="en-US" noProof="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2533FD6-BBD4-0063-1BA0-427558CD0C33}"/>
                  </a:ext>
                </a:extLst>
              </p:cNvPr>
              <p:cNvSpPr txBox="1"/>
              <p:nvPr/>
            </p:nvSpPr>
            <p:spPr>
              <a:xfrm>
                <a:off x="1719182" y="3429000"/>
                <a:ext cx="2319418" cy="400110"/>
              </a:xfrm>
              <a:prstGeom prst="rect">
                <a:avLst/>
              </a:prstGeom>
              <a:noFill/>
            </p:spPr>
            <p:txBody>
              <a:bodyPr wrap="none" rtlCol="0">
                <a:spAutoFit/>
              </a:bodyPr>
              <a:lstStyle/>
              <a:p>
                <a14:m>
                  <m:oMath xmlns:m="http://schemas.openxmlformats.org/officeDocument/2006/math">
                    <m:r>
                      <a:rPr lang="en-US" sz="2000" b="0" i="1" noProof="0" smtClean="0">
                        <a:latin typeface="Cambria Math" panose="02040503050406030204" pitchFamily="18" charset="0"/>
                      </a:rPr>
                      <m:t>h</m:t>
                    </m:r>
                  </m:oMath>
                </a14:m>
                <a:r>
                  <a:rPr lang="en-US" sz="2000" noProof="0" dirty="0"/>
                  <a:t>: the file has a bug</a:t>
                </a:r>
              </a:p>
            </p:txBody>
          </p:sp>
        </mc:Choice>
        <mc:Fallback xmlns="">
          <p:sp>
            <p:nvSpPr>
              <p:cNvPr id="6" name="TextBox 5">
                <a:extLst>
                  <a:ext uri="{FF2B5EF4-FFF2-40B4-BE49-F238E27FC236}">
                    <a16:creationId xmlns:a16="http://schemas.microsoft.com/office/drawing/2014/main" id="{F2533FD6-BBD4-0063-1BA0-427558CD0C33}"/>
                  </a:ext>
                </a:extLst>
              </p:cNvPr>
              <p:cNvSpPr txBox="1">
                <a:spLocks noRot="1" noChangeAspect="1" noMove="1" noResize="1" noEditPoints="1" noAdjustHandles="1" noChangeArrowheads="1" noChangeShapeType="1" noTextEdit="1"/>
              </p:cNvSpPr>
              <p:nvPr/>
            </p:nvSpPr>
            <p:spPr>
              <a:xfrm>
                <a:off x="1719182" y="3429000"/>
                <a:ext cx="2319418" cy="400110"/>
              </a:xfrm>
              <a:prstGeom prst="rect">
                <a:avLst/>
              </a:prstGeom>
              <a:blipFill>
                <a:blip r:embed="rId2"/>
                <a:stretch>
                  <a:fillRect t="-7692" r="-1837" b="-2769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DBE8491-4E69-5252-D070-29D51B3D0C70}"/>
                  </a:ext>
                </a:extLst>
              </p:cNvPr>
              <p:cNvSpPr txBox="1"/>
              <p:nvPr/>
            </p:nvSpPr>
            <p:spPr>
              <a:xfrm>
                <a:off x="1719182" y="3904366"/>
                <a:ext cx="3722237" cy="400110"/>
              </a:xfrm>
              <a:prstGeom prst="rect">
                <a:avLst/>
              </a:prstGeom>
              <a:noFill/>
            </p:spPr>
            <p:txBody>
              <a:bodyPr wrap="none" rtlCol="0">
                <a:spAutoFit/>
              </a:bodyPr>
              <a:lstStyle/>
              <a:p>
                <a14:m>
                  <m:oMath xmlns:m="http://schemas.openxmlformats.org/officeDocument/2006/math">
                    <m:r>
                      <a:rPr lang="en-US" sz="2000" b="0" i="1" noProof="0" smtClean="0">
                        <a:latin typeface="Cambria Math" panose="02040503050406030204" pitchFamily="18" charset="0"/>
                      </a:rPr>
                      <m:t>𝑑</m:t>
                    </m:r>
                  </m:oMath>
                </a14:m>
                <a:r>
                  <a:rPr lang="en-US" sz="2000" noProof="0" dirty="0"/>
                  <a:t>: the tool flags the file as buggy</a:t>
                </a:r>
              </a:p>
            </p:txBody>
          </p:sp>
        </mc:Choice>
        <mc:Fallback xmlns="">
          <p:sp>
            <p:nvSpPr>
              <p:cNvPr id="7" name="TextBox 6">
                <a:extLst>
                  <a:ext uri="{FF2B5EF4-FFF2-40B4-BE49-F238E27FC236}">
                    <a16:creationId xmlns:a16="http://schemas.microsoft.com/office/drawing/2014/main" id="{8DBE8491-4E69-5252-D070-29D51B3D0C70}"/>
                  </a:ext>
                </a:extLst>
              </p:cNvPr>
              <p:cNvSpPr txBox="1">
                <a:spLocks noRot="1" noChangeAspect="1" noMove="1" noResize="1" noEditPoints="1" noAdjustHandles="1" noChangeArrowheads="1" noChangeShapeType="1" noTextEdit="1"/>
              </p:cNvSpPr>
              <p:nvPr/>
            </p:nvSpPr>
            <p:spPr>
              <a:xfrm>
                <a:off x="1719182" y="3904366"/>
                <a:ext cx="3722237" cy="400110"/>
              </a:xfrm>
              <a:prstGeom prst="rect">
                <a:avLst/>
              </a:prstGeom>
              <a:blipFill>
                <a:blip r:embed="rId3"/>
                <a:stretch>
                  <a:fillRect t="-6061" r="-818" b="-27273"/>
                </a:stretch>
              </a:blipFill>
            </p:spPr>
            <p:txBody>
              <a:bodyPr/>
              <a:lstStyle/>
              <a:p>
                <a:r>
                  <a:rPr lang="en-SE">
                    <a:noFill/>
                  </a:rPr>
                  <a:t> </a:t>
                </a:r>
              </a:p>
            </p:txBody>
          </p:sp>
        </mc:Fallback>
      </mc:AlternateContent>
      <p:sp>
        <p:nvSpPr>
          <p:cNvPr id="8" name="Footer Placeholder 7">
            <a:extLst>
              <a:ext uri="{FF2B5EF4-FFF2-40B4-BE49-F238E27FC236}">
                <a16:creationId xmlns:a16="http://schemas.microsoft.com/office/drawing/2014/main" id="{CF8AFB32-25F9-1A42-7CCA-3366A73588F7}"/>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2184403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841DF-591F-63A3-FA29-EC4B5578F068}"/>
              </a:ext>
            </a:extLst>
          </p:cNvPr>
          <p:cNvSpPr>
            <a:spLocks noGrp="1"/>
          </p:cNvSpPr>
          <p:nvPr>
            <p:ph type="title"/>
          </p:nvPr>
        </p:nvSpPr>
        <p:spPr/>
        <p:txBody>
          <a:bodyPr/>
          <a:lstStyle/>
          <a:p>
            <a:r>
              <a:rPr lang="en-US" noProof="0" dirty="0"/>
              <a:t>Example</a:t>
            </a:r>
          </a:p>
        </p:txBody>
      </p:sp>
      <p:sp>
        <p:nvSpPr>
          <p:cNvPr id="3" name="Content Placeholder 2">
            <a:extLst>
              <a:ext uri="{FF2B5EF4-FFF2-40B4-BE49-F238E27FC236}">
                <a16:creationId xmlns:a16="http://schemas.microsoft.com/office/drawing/2014/main" id="{C76A5CFD-8EA2-2172-73FD-607639BBB12C}"/>
              </a:ext>
            </a:extLst>
          </p:cNvPr>
          <p:cNvSpPr>
            <a:spLocks noGrp="1"/>
          </p:cNvSpPr>
          <p:nvPr>
            <p:ph idx="1"/>
          </p:nvPr>
        </p:nvSpPr>
        <p:spPr>
          <a:xfrm>
            <a:off x="838200" y="1825625"/>
            <a:ext cx="10515600" cy="1325563"/>
          </a:xfrm>
        </p:spPr>
        <p:txBody>
          <a:bodyPr/>
          <a:lstStyle/>
          <a:p>
            <a:pPr marL="0" indent="0">
              <a:buNone/>
            </a:pPr>
            <a:r>
              <a:rPr lang="en-US" noProof="0" dirty="0"/>
              <a:t>We are investigating a static code analysis tool. The tool has </a:t>
            </a:r>
            <a:r>
              <a:rPr lang="en-US" b="1" noProof="0" dirty="0">
                <a:solidFill>
                  <a:schemeClr val="accent1">
                    <a:lumMod val="50000"/>
                  </a:schemeClr>
                </a:solidFill>
              </a:rPr>
              <a:t>90% sensitivity and 10% false positive rate</a:t>
            </a:r>
            <a:r>
              <a:rPr lang="en-US" noProof="0" dirty="0"/>
              <a:t>. Only 5% of files actually have bugs. </a:t>
            </a:r>
            <a:r>
              <a:rPr lang="en-US" i="1" noProof="0" dirty="0"/>
              <a:t>What's the probability that a flagged file is buggy?</a:t>
            </a:r>
          </a:p>
          <a:p>
            <a:pPr marL="0" indent="0">
              <a:buNone/>
            </a:pPr>
            <a:endParaRPr lang="en-US" noProof="0" dirty="0"/>
          </a:p>
        </p:txBody>
      </p:sp>
      <p:sp>
        <p:nvSpPr>
          <p:cNvPr id="4" name="Date Placeholder 3">
            <a:extLst>
              <a:ext uri="{FF2B5EF4-FFF2-40B4-BE49-F238E27FC236}">
                <a16:creationId xmlns:a16="http://schemas.microsoft.com/office/drawing/2014/main" id="{6F3F9F50-F322-EE4B-AFB0-321A53A9D5CC}"/>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371762D8-5202-3676-552B-75054FFC86F2}"/>
              </a:ext>
            </a:extLst>
          </p:cNvPr>
          <p:cNvSpPr>
            <a:spLocks noGrp="1"/>
          </p:cNvSpPr>
          <p:nvPr>
            <p:ph type="sldNum" sz="quarter" idx="12"/>
          </p:nvPr>
        </p:nvSpPr>
        <p:spPr/>
        <p:txBody>
          <a:bodyPr/>
          <a:lstStyle/>
          <a:p>
            <a:fld id="{271ECC92-9CDE-4EB3-B1C5-F46B9E1FA3C1}" type="slidenum">
              <a:rPr lang="en-US" noProof="0" smtClean="0"/>
              <a:t>32</a:t>
            </a:fld>
            <a:endParaRPr lang="en-US" noProof="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09E194BA-5445-C49A-D352-10E9C99C8693}"/>
                  </a:ext>
                </a:extLst>
              </p:cNvPr>
              <p:cNvSpPr txBox="1">
                <a:spLocks/>
              </p:cNvSpPr>
              <p:nvPr/>
            </p:nvSpPr>
            <p:spPr>
              <a:xfrm>
                <a:off x="3963428" y="4422604"/>
                <a:ext cx="4265143" cy="994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r>
                        <a:rPr lang="en-US" i="1">
                          <a:solidFill>
                            <a:schemeClr val="bg2">
                              <a:lumMod val="50000"/>
                            </a:schemeClr>
                          </a:solidFill>
                          <a:latin typeface="Cambria Math" panose="02040503050406030204" pitchFamily="18" charset="0"/>
                        </a:rPr>
                        <m:t>𝑃</m:t>
                      </m:r>
                      <m:d>
                        <m:dPr>
                          <m:ctrlPr>
                            <a:rPr lang="en-US" i="1">
                              <a:solidFill>
                                <a:schemeClr val="bg2">
                                  <a:lumMod val="50000"/>
                                </a:schemeClr>
                              </a:solidFill>
                              <a:latin typeface="Cambria Math" panose="02040503050406030204" pitchFamily="18" charset="0"/>
                            </a:rPr>
                          </m:ctrlPr>
                        </m:dPr>
                        <m:e>
                          <m:r>
                            <a:rPr lang="en-US" i="1">
                              <a:solidFill>
                                <a:schemeClr val="bg2">
                                  <a:lumMod val="50000"/>
                                </a:schemeClr>
                              </a:solidFill>
                              <a:latin typeface="Cambria Math" panose="02040503050406030204" pitchFamily="18" charset="0"/>
                            </a:rPr>
                            <m:t>h</m:t>
                          </m:r>
                        </m:e>
                        <m:e>
                          <m:r>
                            <a:rPr lang="en-US" i="1">
                              <a:solidFill>
                                <a:schemeClr val="bg2">
                                  <a:lumMod val="50000"/>
                                </a:schemeClr>
                              </a:solidFill>
                              <a:latin typeface="Cambria Math" panose="02040503050406030204" pitchFamily="18" charset="0"/>
                            </a:rPr>
                            <m:t>𝑑</m:t>
                          </m:r>
                        </m:e>
                      </m:d>
                      <m:r>
                        <a:rPr lang="en-US" i="1">
                          <a:latin typeface="Cambria Math" panose="02040503050406030204" pitchFamily="18" charset="0"/>
                        </a:rPr>
                        <m:t>=</m:t>
                      </m:r>
                      <m:f>
                        <m:fPr>
                          <m:ctrlPr>
                            <a:rPr lang="en-US" i="1">
                              <a:latin typeface="Cambria Math" panose="02040503050406030204" pitchFamily="18" charset="0"/>
                            </a:rPr>
                          </m:ctrlPr>
                        </m:fPr>
                        <m:num>
                          <m:r>
                            <a:rPr lang="en-US" i="1">
                              <a:solidFill>
                                <a:schemeClr val="accent1">
                                  <a:lumMod val="50000"/>
                                </a:schemeClr>
                              </a:solidFill>
                              <a:latin typeface="Cambria Math" panose="02040503050406030204" pitchFamily="18" charset="0"/>
                            </a:rPr>
                            <m:t>𝑃</m:t>
                          </m:r>
                          <m:d>
                            <m:dPr>
                              <m:ctrlPr>
                                <a:rPr lang="en-US" i="1">
                                  <a:solidFill>
                                    <a:schemeClr val="accent1">
                                      <a:lumMod val="50000"/>
                                    </a:schemeClr>
                                  </a:solidFill>
                                  <a:latin typeface="Cambria Math" panose="02040503050406030204" pitchFamily="18" charset="0"/>
                                </a:rPr>
                              </m:ctrlPr>
                            </m:dPr>
                            <m:e>
                              <m:r>
                                <a:rPr lang="en-US" i="1">
                                  <a:solidFill>
                                    <a:schemeClr val="accent1">
                                      <a:lumMod val="50000"/>
                                    </a:schemeClr>
                                  </a:solidFill>
                                  <a:latin typeface="Cambria Math" panose="02040503050406030204" pitchFamily="18" charset="0"/>
                                </a:rPr>
                                <m:t>𝑑</m:t>
                              </m:r>
                            </m:e>
                            <m:e>
                              <m:r>
                                <a:rPr lang="en-US" i="1">
                                  <a:solidFill>
                                    <a:schemeClr val="accent1">
                                      <a:lumMod val="50000"/>
                                    </a:schemeClr>
                                  </a:solidFill>
                                  <a:latin typeface="Cambria Math" panose="02040503050406030204" pitchFamily="18" charset="0"/>
                                </a:rPr>
                                <m:t>h</m:t>
                              </m:r>
                            </m:e>
                          </m:d>
                          <m:r>
                            <a:rPr lang="en-US" i="1">
                              <a:latin typeface="Cambria Math" panose="02040503050406030204" pitchFamily="18" charset="0"/>
                            </a:rPr>
                            <m:t>⋅</m:t>
                          </m:r>
                          <m:r>
                            <a:rPr lang="en-US" i="1">
                              <a:solidFill>
                                <a:schemeClr val="accent2">
                                  <a:lumMod val="50000"/>
                                </a:schemeClr>
                              </a:solidFill>
                              <a:latin typeface="Cambria Math" panose="02040503050406030204" pitchFamily="18" charset="0"/>
                            </a:rPr>
                            <m:t>𝑃</m:t>
                          </m:r>
                          <m:r>
                            <a:rPr lang="en-US" i="1">
                              <a:solidFill>
                                <a:schemeClr val="accent2">
                                  <a:lumMod val="50000"/>
                                </a:schemeClr>
                              </a:solidFill>
                              <a:latin typeface="Cambria Math" panose="02040503050406030204" pitchFamily="18" charset="0"/>
                            </a:rPr>
                            <m:t>(</m:t>
                          </m:r>
                          <m:r>
                            <a:rPr lang="en-US" i="1">
                              <a:solidFill>
                                <a:schemeClr val="accent2">
                                  <a:lumMod val="50000"/>
                                </a:schemeClr>
                              </a:solidFill>
                              <a:latin typeface="Cambria Math" panose="02040503050406030204" pitchFamily="18" charset="0"/>
                            </a:rPr>
                            <m:t>h</m:t>
                          </m:r>
                          <m:r>
                            <a:rPr lang="en-US" i="1">
                              <a:solidFill>
                                <a:schemeClr val="accent2">
                                  <a:lumMod val="50000"/>
                                </a:schemeClr>
                              </a:solidFill>
                              <a:latin typeface="Cambria Math" panose="02040503050406030204" pitchFamily="18" charset="0"/>
                            </a:rPr>
                            <m:t>)</m:t>
                          </m:r>
                        </m:num>
                        <m:den>
                          <m:r>
                            <a:rPr lang="en-US" i="1">
                              <a:solidFill>
                                <a:schemeClr val="accent6">
                                  <a:lumMod val="50000"/>
                                </a:schemeClr>
                              </a:solidFill>
                              <a:latin typeface="Cambria Math" panose="02040503050406030204" pitchFamily="18" charset="0"/>
                            </a:rPr>
                            <m:t>𝑃</m:t>
                          </m:r>
                          <m:r>
                            <a:rPr lang="en-US" i="1">
                              <a:solidFill>
                                <a:schemeClr val="accent6">
                                  <a:lumMod val="50000"/>
                                </a:schemeClr>
                              </a:solidFill>
                              <a:latin typeface="Cambria Math" panose="02040503050406030204" pitchFamily="18" charset="0"/>
                            </a:rPr>
                            <m:t>(</m:t>
                          </m:r>
                          <m:r>
                            <a:rPr lang="en-US" i="1">
                              <a:solidFill>
                                <a:schemeClr val="accent6">
                                  <a:lumMod val="50000"/>
                                </a:schemeClr>
                              </a:solidFill>
                              <a:latin typeface="Cambria Math" panose="02040503050406030204" pitchFamily="18" charset="0"/>
                            </a:rPr>
                            <m:t>𝑑</m:t>
                          </m:r>
                          <m:r>
                            <a:rPr lang="en-US" i="1">
                              <a:solidFill>
                                <a:schemeClr val="accent6">
                                  <a:lumMod val="50000"/>
                                </a:schemeClr>
                              </a:solidFill>
                              <a:latin typeface="Cambria Math" panose="02040503050406030204" pitchFamily="18" charset="0"/>
                            </a:rPr>
                            <m:t>)</m:t>
                          </m:r>
                        </m:den>
                      </m:f>
                    </m:oMath>
                  </m:oMathPara>
                </a14:m>
                <a:endParaRPr lang="en-US" dirty="0"/>
              </a:p>
            </p:txBody>
          </p:sp>
        </mc:Choice>
        <mc:Fallback xmlns="">
          <p:sp>
            <p:nvSpPr>
              <p:cNvPr id="6" name="Content Placeholder 2">
                <a:extLst>
                  <a:ext uri="{FF2B5EF4-FFF2-40B4-BE49-F238E27FC236}">
                    <a16:creationId xmlns:a16="http://schemas.microsoft.com/office/drawing/2014/main" id="{09E194BA-5445-C49A-D352-10E9C99C8693}"/>
                  </a:ext>
                </a:extLst>
              </p:cNvPr>
              <p:cNvSpPr txBox="1">
                <a:spLocks noRot="1" noChangeAspect="1" noMove="1" noResize="1" noEditPoints="1" noAdjustHandles="1" noChangeArrowheads="1" noChangeShapeType="1" noTextEdit="1"/>
              </p:cNvSpPr>
              <p:nvPr/>
            </p:nvSpPr>
            <p:spPr>
              <a:xfrm>
                <a:off x="3963428" y="4422604"/>
                <a:ext cx="4265143" cy="994097"/>
              </a:xfrm>
              <a:prstGeom prst="rect">
                <a:avLst/>
              </a:prstGeom>
              <a:blipFill>
                <a:blip r:embed="rId2"/>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AFD8AA8-BDFE-AC34-6641-62C855D6AFFA}"/>
                  </a:ext>
                </a:extLst>
              </p:cNvPr>
              <p:cNvSpPr txBox="1"/>
              <p:nvPr/>
            </p:nvSpPr>
            <p:spPr>
              <a:xfrm>
                <a:off x="1027188" y="4276187"/>
                <a:ext cx="2936240" cy="1200329"/>
              </a:xfrm>
              <a:prstGeom prst="rect">
                <a:avLst/>
              </a:prstGeom>
              <a:noFill/>
            </p:spPr>
            <p:txBody>
              <a:bodyPr wrap="square" rtlCol="0">
                <a:spAutoFit/>
              </a:bodyPr>
              <a:lstStyle/>
              <a:p>
                <a:pPr algn="r"/>
                <a:r>
                  <a:rPr lang="en-US" b="1" noProof="0" dirty="0">
                    <a:solidFill>
                      <a:schemeClr val="bg2">
                        <a:lumMod val="50000"/>
                      </a:schemeClr>
                    </a:solidFill>
                  </a:rPr>
                  <a:t>Posterior</a:t>
                </a:r>
              </a:p>
              <a:p>
                <a:pPr algn="r"/>
                <a:r>
                  <a:rPr lang="en-US" noProof="0" dirty="0"/>
                  <a:t>Probability that the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the observed data </a:t>
                </a:r>
                <a14:m>
                  <m:oMath xmlns:m="http://schemas.openxmlformats.org/officeDocument/2006/math">
                    <m:r>
                      <a:rPr lang="en-US" b="0" i="1" noProof="0" smtClean="0">
                        <a:latin typeface="Cambria Math" panose="02040503050406030204" pitchFamily="18" charset="0"/>
                      </a:rPr>
                      <m:t>𝑑</m:t>
                    </m:r>
                  </m:oMath>
                </a14:m>
                <a:endParaRPr lang="en-US" noProof="0" dirty="0"/>
              </a:p>
            </p:txBody>
          </p:sp>
        </mc:Choice>
        <mc:Fallback xmlns="">
          <p:sp>
            <p:nvSpPr>
              <p:cNvPr id="8" name="TextBox 7">
                <a:extLst>
                  <a:ext uri="{FF2B5EF4-FFF2-40B4-BE49-F238E27FC236}">
                    <a16:creationId xmlns:a16="http://schemas.microsoft.com/office/drawing/2014/main" id="{1AFD8AA8-BDFE-AC34-6641-62C855D6AFFA}"/>
                  </a:ext>
                </a:extLst>
              </p:cNvPr>
              <p:cNvSpPr txBox="1">
                <a:spLocks noRot="1" noChangeAspect="1" noMove="1" noResize="1" noEditPoints="1" noAdjustHandles="1" noChangeArrowheads="1" noChangeShapeType="1" noTextEdit="1"/>
              </p:cNvSpPr>
              <p:nvPr/>
            </p:nvSpPr>
            <p:spPr>
              <a:xfrm>
                <a:off x="1027188" y="4276187"/>
                <a:ext cx="2936240" cy="1200329"/>
              </a:xfrm>
              <a:prstGeom prst="rect">
                <a:avLst/>
              </a:prstGeom>
              <a:blipFill>
                <a:blip r:embed="rId3"/>
                <a:stretch>
                  <a:fillRect t="-2030" r="-3534" b="-7614"/>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04EA54-6B17-D76E-9498-333028333B67}"/>
                  </a:ext>
                </a:extLst>
              </p:cNvPr>
              <p:cNvSpPr txBox="1"/>
              <p:nvPr/>
            </p:nvSpPr>
            <p:spPr>
              <a:xfrm>
                <a:off x="4038600" y="3262646"/>
                <a:ext cx="2936240" cy="923330"/>
              </a:xfrm>
              <a:prstGeom prst="rect">
                <a:avLst/>
              </a:prstGeom>
              <a:noFill/>
            </p:spPr>
            <p:txBody>
              <a:bodyPr wrap="square" rtlCol="0">
                <a:spAutoFit/>
              </a:bodyPr>
              <a:lstStyle/>
              <a:p>
                <a:pPr algn="r"/>
                <a:r>
                  <a:rPr lang="en-US" b="1" noProof="0" dirty="0">
                    <a:solidFill>
                      <a:schemeClr val="accent1">
                        <a:lumMod val="50000"/>
                      </a:schemeClr>
                    </a:solidFill>
                  </a:rPr>
                  <a:t>Likelihood</a:t>
                </a:r>
              </a:p>
              <a:p>
                <a:pPr algn="r"/>
                <a:r>
                  <a:rPr lang="en-US" noProof="0" dirty="0"/>
                  <a:t>of observing data </a:t>
                </a:r>
                <a14:m>
                  <m:oMath xmlns:m="http://schemas.openxmlformats.org/officeDocument/2006/math">
                    <m:r>
                      <a:rPr lang="en-US" b="0" i="1" noProof="0" smtClean="0">
                        <a:latin typeface="Cambria Math" panose="02040503050406030204" pitchFamily="18" charset="0"/>
                      </a:rPr>
                      <m:t>𝑑</m:t>
                    </m:r>
                  </m:oMath>
                </a14:m>
                <a:r>
                  <a:rPr lang="en-US" noProof="0" dirty="0"/>
                  <a:t> if the hypothesis </a:t>
                </a:r>
                <a14:m>
                  <m:oMath xmlns:m="http://schemas.openxmlformats.org/officeDocument/2006/math">
                    <m:r>
                      <a:rPr lang="en-US" i="1" noProof="0" smtClean="0">
                        <a:latin typeface="Cambria Math" panose="02040503050406030204" pitchFamily="18" charset="0"/>
                      </a:rPr>
                      <m:t>h</m:t>
                    </m:r>
                  </m:oMath>
                </a14:m>
                <a:r>
                  <a:rPr lang="en-US" noProof="0" dirty="0"/>
                  <a:t> were true</a:t>
                </a:r>
              </a:p>
            </p:txBody>
          </p:sp>
        </mc:Choice>
        <mc:Fallback xmlns="">
          <p:sp>
            <p:nvSpPr>
              <p:cNvPr id="10" name="TextBox 9">
                <a:extLst>
                  <a:ext uri="{FF2B5EF4-FFF2-40B4-BE49-F238E27FC236}">
                    <a16:creationId xmlns:a16="http://schemas.microsoft.com/office/drawing/2014/main" id="{8404EA54-6B17-D76E-9498-333028333B67}"/>
                  </a:ext>
                </a:extLst>
              </p:cNvPr>
              <p:cNvSpPr txBox="1">
                <a:spLocks noRot="1" noChangeAspect="1" noMove="1" noResize="1" noEditPoints="1" noAdjustHandles="1" noChangeArrowheads="1" noChangeShapeType="1" noTextEdit="1"/>
              </p:cNvSpPr>
              <p:nvPr/>
            </p:nvSpPr>
            <p:spPr>
              <a:xfrm>
                <a:off x="4038600" y="3262646"/>
                <a:ext cx="2936240" cy="923330"/>
              </a:xfrm>
              <a:prstGeom prst="rect">
                <a:avLst/>
              </a:prstGeom>
              <a:blipFill>
                <a:blip r:embed="rId4"/>
                <a:stretch>
                  <a:fillRect t="-2632" r="-3326" b="-986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D8366B6-53E0-4077-91DD-409930929855}"/>
                  </a:ext>
                </a:extLst>
              </p:cNvPr>
              <p:cNvSpPr txBox="1"/>
              <p:nvPr/>
            </p:nvSpPr>
            <p:spPr>
              <a:xfrm>
                <a:off x="7045960" y="3256147"/>
                <a:ext cx="3129280" cy="923330"/>
              </a:xfrm>
              <a:prstGeom prst="rect">
                <a:avLst/>
              </a:prstGeom>
              <a:noFill/>
            </p:spPr>
            <p:txBody>
              <a:bodyPr wrap="square" rtlCol="0">
                <a:spAutoFit/>
              </a:bodyPr>
              <a:lstStyle/>
              <a:p>
                <a:r>
                  <a:rPr lang="en-US" b="1" noProof="0" dirty="0">
                    <a:solidFill>
                      <a:schemeClr val="accent2">
                        <a:lumMod val="50000"/>
                      </a:schemeClr>
                    </a:solidFill>
                  </a:rPr>
                  <a:t>Prior</a:t>
                </a:r>
              </a:p>
              <a:p>
                <a:r>
                  <a:rPr lang="en-US" noProof="0" dirty="0"/>
                  <a:t>probability that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no information</a:t>
                </a:r>
              </a:p>
            </p:txBody>
          </p:sp>
        </mc:Choice>
        <mc:Fallback xmlns="">
          <p:sp>
            <p:nvSpPr>
              <p:cNvPr id="12" name="TextBox 11">
                <a:extLst>
                  <a:ext uri="{FF2B5EF4-FFF2-40B4-BE49-F238E27FC236}">
                    <a16:creationId xmlns:a16="http://schemas.microsoft.com/office/drawing/2014/main" id="{5D8366B6-53E0-4077-91DD-409930929855}"/>
                  </a:ext>
                </a:extLst>
              </p:cNvPr>
              <p:cNvSpPr txBox="1">
                <a:spLocks noRot="1" noChangeAspect="1" noMove="1" noResize="1" noEditPoints="1" noAdjustHandles="1" noChangeArrowheads="1" noChangeShapeType="1" noTextEdit="1"/>
              </p:cNvSpPr>
              <p:nvPr/>
            </p:nvSpPr>
            <p:spPr>
              <a:xfrm>
                <a:off x="7045960" y="3256147"/>
                <a:ext cx="3129280" cy="923330"/>
              </a:xfrm>
              <a:prstGeom prst="rect">
                <a:avLst/>
              </a:prstGeom>
              <a:blipFill>
                <a:blip r:embed="rId5"/>
                <a:stretch>
                  <a:fillRect l="-1754" t="-2632" b="-986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8B31A80-120F-1947-6A24-80053F065F08}"/>
                  </a:ext>
                </a:extLst>
              </p:cNvPr>
              <p:cNvSpPr txBox="1"/>
              <p:nvPr/>
            </p:nvSpPr>
            <p:spPr>
              <a:xfrm>
                <a:off x="6370320" y="5433020"/>
                <a:ext cx="3989022" cy="923330"/>
              </a:xfrm>
              <a:prstGeom prst="rect">
                <a:avLst/>
              </a:prstGeom>
              <a:noFill/>
            </p:spPr>
            <p:txBody>
              <a:bodyPr wrap="square" rtlCol="0">
                <a:spAutoFit/>
              </a:bodyPr>
              <a:lstStyle/>
              <a:p>
                <a:r>
                  <a:rPr lang="en-US" b="1" noProof="0" dirty="0">
                    <a:solidFill>
                      <a:schemeClr val="accent6">
                        <a:lumMod val="50000"/>
                      </a:schemeClr>
                    </a:solidFill>
                  </a:rPr>
                  <a:t>Marginal likelihood</a:t>
                </a:r>
              </a:p>
              <a:p>
                <a:r>
                  <a:rPr lang="en-US" noProof="0" dirty="0"/>
                  <a:t>i.e., the probability to observe the data </a:t>
                </a:r>
                <a14:m>
                  <m:oMath xmlns:m="http://schemas.openxmlformats.org/officeDocument/2006/math">
                    <m:r>
                      <a:rPr lang="en-US" b="0" i="1" noProof="0" smtClean="0">
                        <a:latin typeface="Cambria Math" panose="02040503050406030204" pitchFamily="18" charset="0"/>
                      </a:rPr>
                      <m:t>𝑑</m:t>
                    </m:r>
                  </m:oMath>
                </a14:m>
                <a:r>
                  <a:rPr lang="en-US" noProof="0" dirty="0"/>
                  <a:t> under all possible hypotheses</a:t>
                </a:r>
              </a:p>
            </p:txBody>
          </p:sp>
        </mc:Choice>
        <mc:Fallback xmlns="">
          <p:sp>
            <p:nvSpPr>
              <p:cNvPr id="14" name="TextBox 13">
                <a:extLst>
                  <a:ext uri="{FF2B5EF4-FFF2-40B4-BE49-F238E27FC236}">
                    <a16:creationId xmlns:a16="http://schemas.microsoft.com/office/drawing/2014/main" id="{28B31A80-120F-1947-6A24-80053F065F08}"/>
                  </a:ext>
                </a:extLst>
              </p:cNvPr>
              <p:cNvSpPr txBox="1">
                <a:spLocks noRot="1" noChangeAspect="1" noMove="1" noResize="1" noEditPoints="1" noAdjustHandles="1" noChangeArrowheads="1" noChangeShapeType="1" noTextEdit="1"/>
              </p:cNvSpPr>
              <p:nvPr/>
            </p:nvSpPr>
            <p:spPr>
              <a:xfrm>
                <a:off x="6370320" y="5433020"/>
                <a:ext cx="3989022" cy="923330"/>
              </a:xfrm>
              <a:prstGeom prst="rect">
                <a:avLst/>
              </a:prstGeom>
              <a:blipFill>
                <a:blip r:embed="rId6"/>
                <a:stretch>
                  <a:fillRect l="-1223" t="-2632" r="-1223" b="-9868"/>
                </a:stretch>
              </a:blipFill>
            </p:spPr>
            <p:txBody>
              <a:bodyPr/>
              <a:lstStyle/>
              <a:p>
                <a:r>
                  <a:rPr lang="en-SE">
                    <a:noFill/>
                  </a:rPr>
                  <a:t> </a:t>
                </a:r>
              </a:p>
            </p:txBody>
          </p:sp>
        </mc:Fallback>
      </mc:AlternateContent>
      <p:sp>
        <p:nvSpPr>
          <p:cNvPr id="7" name="Footer Placeholder 6">
            <a:extLst>
              <a:ext uri="{FF2B5EF4-FFF2-40B4-BE49-F238E27FC236}">
                <a16:creationId xmlns:a16="http://schemas.microsoft.com/office/drawing/2014/main" id="{798E8092-9917-1A4A-CB9A-68BE7FB979C2}"/>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3992055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2D09F-3827-51F0-989B-E854C9B10F0F}"/>
              </a:ext>
            </a:extLst>
          </p:cNvPr>
          <p:cNvSpPr>
            <a:spLocks noGrp="1"/>
          </p:cNvSpPr>
          <p:nvPr>
            <p:ph type="title"/>
          </p:nvPr>
        </p:nvSpPr>
        <p:spPr/>
        <p:txBody>
          <a:bodyPr/>
          <a:lstStyle/>
          <a:p>
            <a:r>
              <a:rPr lang="en-US" noProof="0" dirty="0"/>
              <a:t>Example</a:t>
            </a:r>
          </a:p>
        </p:txBody>
      </p:sp>
      <p:sp>
        <p:nvSpPr>
          <p:cNvPr id="3" name="Content Placeholder 2">
            <a:extLst>
              <a:ext uri="{FF2B5EF4-FFF2-40B4-BE49-F238E27FC236}">
                <a16:creationId xmlns:a16="http://schemas.microsoft.com/office/drawing/2014/main" id="{2CC8C239-A31C-45E4-55E7-30433280E4C6}"/>
              </a:ext>
            </a:extLst>
          </p:cNvPr>
          <p:cNvSpPr>
            <a:spLocks noGrp="1"/>
          </p:cNvSpPr>
          <p:nvPr>
            <p:ph idx="1"/>
          </p:nvPr>
        </p:nvSpPr>
        <p:spPr>
          <a:xfrm>
            <a:off x="838200" y="1825625"/>
            <a:ext cx="10515600" cy="1419020"/>
          </a:xfrm>
        </p:spPr>
        <p:txBody>
          <a:bodyPr/>
          <a:lstStyle/>
          <a:p>
            <a:pPr marL="0" indent="0">
              <a:buNone/>
            </a:pPr>
            <a:r>
              <a:rPr lang="en-US" noProof="0" dirty="0"/>
              <a:t>We are investigating a static code analysis tool. The tool has </a:t>
            </a:r>
            <a:r>
              <a:rPr lang="en-US" b="1" noProof="0" dirty="0">
                <a:solidFill>
                  <a:schemeClr val="accent1">
                    <a:lumMod val="50000"/>
                  </a:schemeClr>
                </a:solidFill>
              </a:rPr>
              <a:t>90% sensitivity and 10% false positive rate</a:t>
            </a:r>
            <a:r>
              <a:rPr lang="en-US" noProof="0" dirty="0"/>
              <a:t>. Only </a:t>
            </a:r>
            <a:r>
              <a:rPr lang="en-US" b="1" noProof="0" dirty="0">
                <a:solidFill>
                  <a:schemeClr val="accent2">
                    <a:lumMod val="75000"/>
                  </a:schemeClr>
                </a:solidFill>
              </a:rPr>
              <a:t>5% of files actually have bugs</a:t>
            </a:r>
            <a:r>
              <a:rPr lang="en-US" noProof="0" dirty="0"/>
              <a:t>. </a:t>
            </a:r>
            <a:r>
              <a:rPr lang="en-US" i="1" noProof="0" dirty="0"/>
              <a:t>What's the probability that a flagged file is buggy?</a:t>
            </a:r>
          </a:p>
        </p:txBody>
      </p:sp>
      <p:sp>
        <p:nvSpPr>
          <p:cNvPr id="4" name="Date Placeholder 3">
            <a:extLst>
              <a:ext uri="{FF2B5EF4-FFF2-40B4-BE49-F238E27FC236}">
                <a16:creationId xmlns:a16="http://schemas.microsoft.com/office/drawing/2014/main" id="{50BECF0B-94D7-E885-22B3-A735C4B53FCF}"/>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BCBE637F-BD17-D045-93E6-4CB47FC7A61B}"/>
              </a:ext>
            </a:extLst>
          </p:cNvPr>
          <p:cNvSpPr>
            <a:spLocks noGrp="1"/>
          </p:cNvSpPr>
          <p:nvPr>
            <p:ph type="sldNum" sz="quarter" idx="12"/>
          </p:nvPr>
        </p:nvSpPr>
        <p:spPr/>
        <p:txBody>
          <a:bodyPr/>
          <a:lstStyle/>
          <a:p>
            <a:fld id="{271ECC92-9CDE-4EB3-B1C5-F46B9E1FA3C1}" type="slidenum">
              <a:rPr lang="en-US" noProof="0" smtClean="0"/>
              <a:t>33</a:t>
            </a:fld>
            <a:endParaRPr lang="en-US" noProof="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BF3908B4-E90F-CB44-31EE-A10DDE40DE8F}"/>
                  </a:ext>
                </a:extLst>
              </p:cNvPr>
              <p:cNvSpPr txBox="1">
                <a:spLocks/>
              </p:cNvSpPr>
              <p:nvPr/>
            </p:nvSpPr>
            <p:spPr>
              <a:xfrm>
                <a:off x="3963428" y="4422604"/>
                <a:ext cx="4265143" cy="994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r>
                        <a:rPr lang="en-US" i="1">
                          <a:solidFill>
                            <a:schemeClr val="bg2">
                              <a:lumMod val="50000"/>
                            </a:schemeClr>
                          </a:solidFill>
                          <a:latin typeface="Cambria Math" panose="02040503050406030204" pitchFamily="18" charset="0"/>
                        </a:rPr>
                        <m:t>𝑃</m:t>
                      </m:r>
                      <m:d>
                        <m:dPr>
                          <m:ctrlPr>
                            <a:rPr lang="en-US" i="1">
                              <a:solidFill>
                                <a:schemeClr val="bg2">
                                  <a:lumMod val="50000"/>
                                </a:schemeClr>
                              </a:solidFill>
                              <a:latin typeface="Cambria Math" panose="02040503050406030204" pitchFamily="18" charset="0"/>
                            </a:rPr>
                          </m:ctrlPr>
                        </m:dPr>
                        <m:e>
                          <m:r>
                            <a:rPr lang="en-US" i="1">
                              <a:solidFill>
                                <a:schemeClr val="bg2">
                                  <a:lumMod val="50000"/>
                                </a:schemeClr>
                              </a:solidFill>
                              <a:latin typeface="Cambria Math" panose="02040503050406030204" pitchFamily="18" charset="0"/>
                            </a:rPr>
                            <m:t>h</m:t>
                          </m:r>
                        </m:e>
                        <m:e>
                          <m:r>
                            <a:rPr lang="en-US" i="1">
                              <a:solidFill>
                                <a:schemeClr val="bg2">
                                  <a:lumMod val="50000"/>
                                </a:schemeClr>
                              </a:solidFill>
                              <a:latin typeface="Cambria Math" panose="02040503050406030204" pitchFamily="18" charset="0"/>
                            </a:rPr>
                            <m:t>𝑑</m:t>
                          </m:r>
                        </m:e>
                      </m:d>
                      <m:r>
                        <a:rPr lang="en-US" i="1">
                          <a:latin typeface="Cambria Math" panose="02040503050406030204" pitchFamily="18" charset="0"/>
                        </a:rPr>
                        <m:t>=</m:t>
                      </m:r>
                      <m:f>
                        <m:fPr>
                          <m:ctrlPr>
                            <a:rPr lang="en-US" i="1">
                              <a:latin typeface="Cambria Math" panose="02040503050406030204" pitchFamily="18" charset="0"/>
                            </a:rPr>
                          </m:ctrlPr>
                        </m:fPr>
                        <m:num>
                          <m:r>
                            <a:rPr lang="en-US" i="1">
                              <a:solidFill>
                                <a:schemeClr val="accent1">
                                  <a:lumMod val="50000"/>
                                </a:schemeClr>
                              </a:solidFill>
                              <a:latin typeface="Cambria Math" panose="02040503050406030204" pitchFamily="18" charset="0"/>
                            </a:rPr>
                            <m:t>𝑃</m:t>
                          </m:r>
                          <m:d>
                            <m:dPr>
                              <m:ctrlPr>
                                <a:rPr lang="en-US" i="1">
                                  <a:solidFill>
                                    <a:schemeClr val="accent1">
                                      <a:lumMod val="50000"/>
                                    </a:schemeClr>
                                  </a:solidFill>
                                  <a:latin typeface="Cambria Math" panose="02040503050406030204" pitchFamily="18" charset="0"/>
                                </a:rPr>
                              </m:ctrlPr>
                            </m:dPr>
                            <m:e>
                              <m:r>
                                <a:rPr lang="en-US" i="1">
                                  <a:solidFill>
                                    <a:schemeClr val="accent1">
                                      <a:lumMod val="50000"/>
                                    </a:schemeClr>
                                  </a:solidFill>
                                  <a:latin typeface="Cambria Math" panose="02040503050406030204" pitchFamily="18" charset="0"/>
                                </a:rPr>
                                <m:t>𝑑</m:t>
                              </m:r>
                            </m:e>
                            <m:e>
                              <m:r>
                                <a:rPr lang="en-US" i="1">
                                  <a:solidFill>
                                    <a:schemeClr val="accent1">
                                      <a:lumMod val="50000"/>
                                    </a:schemeClr>
                                  </a:solidFill>
                                  <a:latin typeface="Cambria Math" panose="02040503050406030204" pitchFamily="18" charset="0"/>
                                </a:rPr>
                                <m:t>h</m:t>
                              </m:r>
                            </m:e>
                          </m:d>
                          <m:r>
                            <a:rPr lang="en-US" i="1">
                              <a:latin typeface="Cambria Math" panose="02040503050406030204" pitchFamily="18" charset="0"/>
                            </a:rPr>
                            <m:t>⋅</m:t>
                          </m:r>
                          <m:r>
                            <a:rPr lang="en-US" i="1">
                              <a:solidFill>
                                <a:schemeClr val="accent2">
                                  <a:lumMod val="50000"/>
                                </a:schemeClr>
                              </a:solidFill>
                              <a:latin typeface="Cambria Math" panose="02040503050406030204" pitchFamily="18" charset="0"/>
                            </a:rPr>
                            <m:t>𝑃</m:t>
                          </m:r>
                          <m:r>
                            <a:rPr lang="en-US" i="1">
                              <a:solidFill>
                                <a:schemeClr val="accent2">
                                  <a:lumMod val="50000"/>
                                </a:schemeClr>
                              </a:solidFill>
                              <a:latin typeface="Cambria Math" panose="02040503050406030204" pitchFamily="18" charset="0"/>
                            </a:rPr>
                            <m:t>(</m:t>
                          </m:r>
                          <m:r>
                            <a:rPr lang="en-US" i="1">
                              <a:solidFill>
                                <a:schemeClr val="accent2">
                                  <a:lumMod val="50000"/>
                                </a:schemeClr>
                              </a:solidFill>
                              <a:latin typeface="Cambria Math" panose="02040503050406030204" pitchFamily="18" charset="0"/>
                            </a:rPr>
                            <m:t>h</m:t>
                          </m:r>
                          <m:r>
                            <a:rPr lang="en-US" i="1">
                              <a:solidFill>
                                <a:schemeClr val="accent2">
                                  <a:lumMod val="50000"/>
                                </a:schemeClr>
                              </a:solidFill>
                              <a:latin typeface="Cambria Math" panose="02040503050406030204" pitchFamily="18" charset="0"/>
                            </a:rPr>
                            <m:t>)</m:t>
                          </m:r>
                        </m:num>
                        <m:den>
                          <m:r>
                            <a:rPr lang="en-US" i="1">
                              <a:solidFill>
                                <a:schemeClr val="accent6">
                                  <a:lumMod val="50000"/>
                                </a:schemeClr>
                              </a:solidFill>
                              <a:latin typeface="Cambria Math" panose="02040503050406030204" pitchFamily="18" charset="0"/>
                            </a:rPr>
                            <m:t>𝑃</m:t>
                          </m:r>
                          <m:r>
                            <a:rPr lang="en-US" i="1">
                              <a:solidFill>
                                <a:schemeClr val="accent6">
                                  <a:lumMod val="50000"/>
                                </a:schemeClr>
                              </a:solidFill>
                              <a:latin typeface="Cambria Math" panose="02040503050406030204" pitchFamily="18" charset="0"/>
                            </a:rPr>
                            <m:t>(</m:t>
                          </m:r>
                          <m:r>
                            <a:rPr lang="en-US" i="1">
                              <a:solidFill>
                                <a:schemeClr val="accent6">
                                  <a:lumMod val="50000"/>
                                </a:schemeClr>
                              </a:solidFill>
                              <a:latin typeface="Cambria Math" panose="02040503050406030204" pitchFamily="18" charset="0"/>
                            </a:rPr>
                            <m:t>𝑑</m:t>
                          </m:r>
                          <m:r>
                            <a:rPr lang="en-US" i="1">
                              <a:solidFill>
                                <a:schemeClr val="accent6">
                                  <a:lumMod val="50000"/>
                                </a:schemeClr>
                              </a:solidFill>
                              <a:latin typeface="Cambria Math" panose="02040503050406030204" pitchFamily="18" charset="0"/>
                            </a:rPr>
                            <m:t>)</m:t>
                          </m:r>
                        </m:den>
                      </m:f>
                    </m:oMath>
                  </m:oMathPara>
                </a14:m>
                <a:endParaRPr lang="en-US" dirty="0"/>
              </a:p>
            </p:txBody>
          </p:sp>
        </mc:Choice>
        <mc:Fallback xmlns="">
          <p:sp>
            <p:nvSpPr>
              <p:cNvPr id="6" name="Content Placeholder 2">
                <a:extLst>
                  <a:ext uri="{FF2B5EF4-FFF2-40B4-BE49-F238E27FC236}">
                    <a16:creationId xmlns:a16="http://schemas.microsoft.com/office/drawing/2014/main" id="{BF3908B4-E90F-CB44-31EE-A10DDE40DE8F}"/>
                  </a:ext>
                </a:extLst>
              </p:cNvPr>
              <p:cNvSpPr txBox="1">
                <a:spLocks noRot="1" noChangeAspect="1" noMove="1" noResize="1" noEditPoints="1" noAdjustHandles="1" noChangeArrowheads="1" noChangeShapeType="1" noTextEdit="1"/>
              </p:cNvSpPr>
              <p:nvPr/>
            </p:nvSpPr>
            <p:spPr>
              <a:xfrm>
                <a:off x="3963428" y="4422604"/>
                <a:ext cx="4265143" cy="994097"/>
              </a:xfrm>
              <a:prstGeom prst="rect">
                <a:avLst/>
              </a:prstGeom>
              <a:blipFill>
                <a:blip r:embed="rId2"/>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05B9BE2-F518-C92F-486C-545A33037166}"/>
                  </a:ext>
                </a:extLst>
              </p:cNvPr>
              <p:cNvSpPr txBox="1"/>
              <p:nvPr/>
            </p:nvSpPr>
            <p:spPr>
              <a:xfrm>
                <a:off x="1027188" y="4276187"/>
                <a:ext cx="2936240" cy="1200329"/>
              </a:xfrm>
              <a:prstGeom prst="rect">
                <a:avLst/>
              </a:prstGeom>
              <a:noFill/>
            </p:spPr>
            <p:txBody>
              <a:bodyPr wrap="square" rtlCol="0">
                <a:spAutoFit/>
              </a:bodyPr>
              <a:lstStyle/>
              <a:p>
                <a:pPr algn="r"/>
                <a:r>
                  <a:rPr lang="en-US" b="1" noProof="0" dirty="0">
                    <a:solidFill>
                      <a:schemeClr val="bg2">
                        <a:lumMod val="50000"/>
                      </a:schemeClr>
                    </a:solidFill>
                  </a:rPr>
                  <a:t>Posterior</a:t>
                </a:r>
              </a:p>
              <a:p>
                <a:pPr algn="r"/>
                <a:r>
                  <a:rPr lang="en-US" noProof="0" dirty="0"/>
                  <a:t>Probability that the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the observed data </a:t>
                </a:r>
                <a14:m>
                  <m:oMath xmlns:m="http://schemas.openxmlformats.org/officeDocument/2006/math">
                    <m:r>
                      <a:rPr lang="en-US" b="0" i="1" noProof="0" smtClean="0">
                        <a:latin typeface="Cambria Math" panose="02040503050406030204" pitchFamily="18" charset="0"/>
                      </a:rPr>
                      <m:t>𝑑</m:t>
                    </m:r>
                  </m:oMath>
                </a14:m>
                <a:endParaRPr lang="en-US" noProof="0" dirty="0"/>
              </a:p>
            </p:txBody>
          </p:sp>
        </mc:Choice>
        <mc:Fallback xmlns="">
          <p:sp>
            <p:nvSpPr>
              <p:cNvPr id="8" name="TextBox 7">
                <a:extLst>
                  <a:ext uri="{FF2B5EF4-FFF2-40B4-BE49-F238E27FC236}">
                    <a16:creationId xmlns:a16="http://schemas.microsoft.com/office/drawing/2014/main" id="{F05B9BE2-F518-C92F-486C-545A33037166}"/>
                  </a:ext>
                </a:extLst>
              </p:cNvPr>
              <p:cNvSpPr txBox="1">
                <a:spLocks noRot="1" noChangeAspect="1" noMove="1" noResize="1" noEditPoints="1" noAdjustHandles="1" noChangeArrowheads="1" noChangeShapeType="1" noTextEdit="1"/>
              </p:cNvSpPr>
              <p:nvPr/>
            </p:nvSpPr>
            <p:spPr>
              <a:xfrm>
                <a:off x="1027188" y="4276187"/>
                <a:ext cx="2936240" cy="1200329"/>
              </a:xfrm>
              <a:prstGeom prst="rect">
                <a:avLst/>
              </a:prstGeom>
              <a:blipFill>
                <a:blip r:embed="rId3"/>
                <a:stretch>
                  <a:fillRect t="-2030" r="-3534" b="-7614"/>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E4AFB1D-824C-7DF1-A969-2ACE8587E1CA}"/>
                  </a:ext>
                </a:extLst>
              </p:cNvPr>
              <p:cNvSpPr txBox="1"/>
              <p:nvPr/>
            </p:nvSpPr>
            <p:spPr>
              <a:xfrm>
                <a:off x="4038600" y="3262646"/>
                <a:ext cx="2936240" cy="923330"/>
              </a:xfrm>
              <a:prstGeom prst="rect">
                <a:avLst/>
              </a:prstGeom>
              <a:noFill/>
            </p:spPr>
            <p:txBody>
              <a:bodyPr wrap="square" rtlCol="0">
                <a:spAutoFit/>
              </a:bodyPr>
              <a:lstStyle/>
              <a:p>
                <a:pPr algn="r"/>
                <a:r>
                  <a:rPr lang="en-US" b="1" noProof="0" dirty="0">
                    <a:solidFill>
                      <a:schemeClr val="accent1">
                        <a:lumMod val="50000"/>
                      </a:schemeClr>
                    </a:solidFill>
                  </a:rPr>
                  <a:t>Likelihood</a:t>
                </a:r>
              </a:p>
              <a:p>
                <a:pPr algn="r"/>
                <a:r>
                  <a:rPr lang="en-US" noProof="0" dirty="0"/>
                  <a:t>of observing data </a:t>
                </a:r>
                <a14:m>
                  <m:oMath xmlns:m="http://schemas.openxmlformats.org/officeDocument/2006/math">
                    <m:r>
                      <a:rPr lang="en-US" b="0" i="1" noProof="0" smtClean="0">
                        <a:latin typeface="Cambria Math" panose="02040503050406030204" pitchFamily="18" charset="0"/>
                      </a:rPr>
                      <m:t>𝑑</m:t>
                    </m:r>
                  </m:oMath>
                </a14:m>
                <a:r>
                  <a:rPr lang="en-US" noProof="0" dirty="0"/>
                  <a:t> if the hypothesis </a:t>
                </a:r>
                <a14:m>
                  <m:oMath xmlns:m="http://schemas.openxmlformats.org/officeDocument/2006/math">
                    <m:r>
                      <a:rPr lang="en-US" i="1" noProof="0" smtClean="0">
                        <a:latin typeface="Cambria Math" panose="02040503050406030204" pitchFamily="18" charset="0"/>
                      </a:rPr>
                      <m:t>h</m:t>
                    </m:r>
                  </m:oMath>
                </a14:m>
                <a:r>
                  <a:rPr lang="en-US" noProof="0" dirty="0"/>
                  <a:t> were true</a:t>
                </a:r>
              </a:p>
            </p:txBody>
          </p:sp>
        </mc:Choice>
        <mc:Fallback xmlns="">
          <p:sp>
            <p:nvSpPr>
              <p:cNvPr id="10" name="TextBox 9">
                <a:extLst>
                  <a:ext uri="{FF2B5EF4-FFF2-40B4-BE49-F238E27FC236}">
                    <a16:creationId xmlns:a16="http://schemas.microsoft.com/office/drawing/2014/main" id="{0E4AFB1D-824C-7DF1-A969-2ACE8587E1CA}"/>
                  </a:ext>
                </a:extLst>
              </p:cNvPr>
              <p:cNvSpPr txBox="1">
                <a:spLocks noRot="1" noChangeAspect="1" noMove="1" noResize="1" noEditPoints="1" noAdjustHandles="1" noChangeArrowheads="1" noChangeShapeType="1" noTextEdit="1"/>
              </p:cNvSpPr>
              <p:nvPr/>
            </p:nvSpPr>
            <p:spPr>
              <a:xfrm>
                <a:off x="4038600" y="3262646"/>
                <a:ext cx="2936240" cy="923330"/>
              </a:xfrm>
              <a:prstGeom prst="rect">
                <a:avLst/>
              </a:prstGeom>
              <a:blipFill>
                <a:blip r:embed="rId4"/>
                <a:stretch>
                  <a:fillRect t="-2632" r="-3326" b="-986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9A22237-B17C-3945-BA5C-5FC278BA4A32}"/>
                  </a:ext>
                </a:extLst>
              </p:cNvPr>
              <p:cNvSpPr txBox="1"/>
              <p:nvPr/>
            </p:nvSpPr>
            <p:spPr>
              <a:xfrm>
                <a:off x="7045960" y="3256147"/>
                <a:ext cx="3129280" cy="923330"/>
              </a:xfrm>
              <a:prstGeom prst="rect">
                <a:avLst/>
              </a:prstGeom>
              <a:noFill/>
            </p:spPr>
            <p:txBody>
              <a:bodyPr wrap="square" rtlCol="0">
                <a:spAutoFit/>
              </a:bodyPr>
              <a:lstStyle/>
              <a:p>
                <a:r>
                  <a:rPr lang="en-US" b="1" noProof="0" dirty="0">
                    <a:solidFill>
                      <a:schemeClr val="accent2">
                        <a:lumMod val="50000"/>
                      </a:schemeClr>
                    </a:solidFill>
                  </a:rPr>
                  <a:t>Prior</a:t>
                </a:r>
              </a:p>
              <a:p>
                <a:r>
                  <a:rPr lang="en-US" noProof="0" dirty="0"/>
                  <a:t>probability that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no information</a:t>
                </a:r>
              </a:p>
            </p:txBody>
          </p:sp>
        </mc:Choice>
        <mc:Fallback xmlns="">
          <p:sp>
            <p:nvSpPr>
              <p:cNvPr id="12" name="TextBox 11">
                <a:extLst>
                  <a:ext uri="{FF2B5EF4-FFF2-40B4-BE49-F238E27FC236}">
                    <a16:creationId xmlns:a16="http://schemas.microsoft.com/office/drawing/2014/main" id="{D9A22237-B17C-3945-BA5C-5FC278BA4A32}"/>
                  </a:ext>
                </a:extLst>
              </p:cNvPr>
              <p:cNvSpPr txBox="1">
                <a:spLocks noRot="1" noChangeAspect="1" noMove="1" noResize="1" noEditPoints="1" noAdjustHandles="1" noChangeArrowheads="1" noChangeShapeType="1" noTextEdit="1"/>
              </p:cNvSpPr>
              <p:nvPr/>
            </p:nvSpPr>
            <p:spPr>
              <a:xfrm>
                <a:off x="7045960" y="3256147"/>
                <a:ext cx="3129280" cy="923330"/>
              </a:xfrm>
              <a:prstGeom prst="rect">
                <a:avLst/>
              </a:prstGeom>
              <a:blipFill>
                <a:blip r:embed="rId5"/>
                <a:stretch>
                  <a:fillRect l="-1754" t="-2632" b="-986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B76B3C8-862F-CFAD-6D5B-1A952ECE6DFC}"/>
                  </a:ext>
                </a:extLst>
              </p:cNvPr>
              <p:cNvSpPr txBox="1"/>
              <p:nvPr/>
            </p:nvSpPr>
            <p:spPr>
              <a:xfrm>
                <a:off x="6370320" y="5433020"/>
                <a:ext cx="3989022" cy="923330"/>
              </a:xfrm>
              <a:prstGeom prst="rect">
                <a:avLst/>
              </a:prstGeom>
              <a:noFill/>
            </p:spPr>
            <p:txBody>
              <a:bodyPr wrap="square" rtlCol="0">
                <a:spAutoFit/>
              </a:bodyPr>
              <a:lstStyle/>
              <a:p>
                <a:r>
                  <a:rPr lang="en-US" b="1" noProof="0" dirty="0">
                    <a:solidFill>
                      <a:schemeClr val="accent6">
                        <a:lumMod val="50000"/>
                      </a:schemeClr>
                    </a:solidFill>
                  </a:rPr>
                  <a:t>Marginal likelihood</a:t>
                </a:r>
              </a:p>
              <a:p>
                <a:r>
                  <a:rPr lang="en-US" noProof="0" dirty="0"/>
                  <a:t>i.e., the probability to observe the data </a:t>
                </a:r>
                <a14:m>
                  <m:oMath xmlns:m="http://schemas.openxmlformats.org/officeDocument/2006/math">
                    <m:r>
                      <a:rPr lang="en-US" b="0" i="1" noProof="0" smtClean="0">
                        <a:latin typeface="Cambria Math" panose="02040503050406030204" pitchFamily="18" charset="0"/>
                      </a:rPr>
                      <m:t>𝑑</m:t>
                    </m:r>
                  </m:oMath>
                </a14:m>
                <a:r>
                  <a:rPr lang="en-US" noProof="0" dirty="0"/>
                  <a:t> under all possible hypotheses</a:t>
                </a:r>
              </a:p>
            </p:txBody>
          </p:sp>
        </mc:Choice>
        <mc:Fallback xmlns="">
          <p:sp>
            <p:nvSpPr>
              <p:cNvPr id="14" name="TextBox 13">
                <a:extLst>
                  <a:ext uri="{FF2B5EF4-FFF2-40B4-BE49-F238E27FC236}">
                    <a16:creationId xmlns:a16="http://schemas.microsoft.com/office/drawing/2014/main" id="{5B76B3C8-862F-CFAD-6D5B-1A952ECE6DFC}"/>
                  </a:ext>
                </a:extLst>
              </p:cNvPr>
              <p:cNvSpPr txBox="1">
                <a:spLocks noRot="1" noChangeAspect="1" noMove="1" noResize="1" noEditPoints="1" noAdjustHandles="1" noChangeArrowheads="1" noChangeShapeType="1" noTextEdit="1"/>
              </p:cNvSpPr>
              <p:nvPr/>
            </p:nvSpPr>
            <p:spPr>
              <a:xfrm>
                <a:off x="6370320" y="5433020"/>
                <a:ext cx="3989022" cy="923330"/>
              </a:xfrm>
              <a:prstGeom prst="rect">
                <a:avLst/>
              </a:prstGeom>
              <a:blipFill>
                <a:blip r:embed="rId6"/>
                <a:stretch>
                  <a:fillRect l="-1223" t="-2632" r="-1223" b="-9868"/>
                </a:stretch>
              </a:blipFill>
            </p:spPr>
            <p:txBody>
              <a:bodyPr/>
              <a:lstStyle/>
              <a:p>
                <a:r>
                  <a:rPr lang="en-SE">
                    <a:noFill/>
                  </a:rPr>
                  <a:t> </a:t>
                </a:r>
              </a:p>
            </p:txBody>
          </p:sp>
        </mc:Fallback>
      </mc:AlternateContent>
      <p:sp>
        <p:nvSpPr>
          <p:cNvPr id="7" name="Footer Placeholder 6">
            <a:extLst>
              <a:ext uri="{FF2B5EF4-FFF2-40B4-BE49-F238E27FC236}">
                <a16:creationId xmlns:a16="http://schemas.microsoft.com/office/drawing/2014/main" id="{9CA8D684-7AC6-370D-385E-43BBCF9C50CE}"/>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4058252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02159-AFCF-9FD4-BEA0-DAFF468392FE}"/>
              </a:ext>
            </a:extLst>
          </p:cNvPr>
          <p:cNvSpPr>
            <a:spLocks noGrp="1"/>
          </p:cNvSpPr>
          <p:nvPr>
            <p:ph type="title"/>
          </p:nvPr>
        </p:nvSpPr>
        <p:spPr/>
        <p:txBody>
          <a:bodyPr/>
          <a:lstStyle/>
          <a:p>
            <a:r>
              <a:rPr lang="en-US" noProof="0" dirty="0"/>
              <a:t>Example</a:t>
            </a:r>
          </a:p>
        </p:txBody>
      </p:sp>
      <p:sp>
        <p:nvSpPr>
          <p:cNvPr id="3" name="Content Placeholder 2">
            <a:extLst>
              <a:ext uri="{FF2B5EF4-FFF2-40B4-BE49-F238E27FC236}">
                <a16:creationId xmlns:a16="http://schemas.microsoft.com/office/drawing/2014/main" id="{3B49054C-3243-E2B6-CC93-CE8F28D3EF2A}"/>
              </a:ext>
            </a:extLst>
          </p:cNvPr>
          <p:cNvSpPr>
            <a:spLocks noGrp="1"/>
          </p:cNvSpPr>
          <p:nvPr>
            <p:ph idx="1"/>
          </p:nvPr>
        </p:nvSpPr>
        <p:spPr>
          <a:xfrm>
            <a:off x="838200" y="1825625"/>
            <a:ext cx="10515600" cy="1325563"/>
          </a:xfrm>
        </p:spPr>
        <p:txBody>
          <a:bodyPr/>
          <a:lstStyle/>
          <a:p>
            <a:pPr marL="0" indent="0">
              <a:buNone/>
            </a:pPr>
            <a:r>
              <a:rPr lang="en-US" noProof="0" dirty="0"/>
              <a:t>We are investigating a static code analysis tool. The tool has </a:t>
            </a:r>
            <a:r>
              <a:rPr lang="en-US" b="1" noProof="0" dirty="0">
                <a:solidFill>
                  <a:schemeClr val="accent1">
                    <a:lumMod val="50000"/>
                  </a:schemeClr>
                </a:solidFill>
              </a:rPr>
              <a:t>90% sensitivity and 10% false positive rate</a:t>
            </a:r>
            <a:r>
              <a:rPr lang="en-US" noProof="0" dirty="0"/>
              <a:t>. Only </a:t>
            </a:r>
            <a:r>
              <a:rPr lang="en-US" b="1" noProof="0" dirty="0">
                <a:solidFill>
                  <a:schemeClr val="accent2">
                    <a:lumMod val="75000"/>
                  </a:schemeClr>
                </a:solidFill>
              </a:rPr>
              <a:t>5% of files actually have bugs</a:t>
            </a:r>
            <a:r>
              <a:rPr lang="en-US" noProof="0" dirty="0"/>
              <a:t>. </a:t>
            </a:r>
            <a:r>
              <a:rPr lang="en-US" i="1" noProof="0" dirty="0"/>
              <a:t>What's the </a:t>
            </a:r>
            <a:r>
              <a:rPr lang="en-US" b="1" i="1" noProof="0" dirty="0">
                <a:solidFill>
                  <a:schemeClr val="bg2">
                    <a:lumMod val="50000"/>
                  </a:schemeClr>
                </a:solidFill>
              </a:rPr>
              <a:t>probability that a flagged file is buggy</a:t>
            </a:r>
            <a:r>
              <a:rPr lang="en-US" i="1" noProof="0" dirty="0"/>
              <a:t>?</a:t>
            </a:r>
          </a:p>
        </p:txBody>
      </p:sp>
      <p:sp>
        <p:nvSpPr>
          <p:cNvPr id="4" name="Date Placeholder 3">
            <a:extLst>
              <a:ext uri="{FF2B5EF4-FFF2-40B4-BE49-F238E27FC236}">
                <a16:creationId xmlns:a16="http://schemas.microsoft.com/office/drawing/2014/main" id="{04CA73F2-84DE-F313-FA1B-52EF1985E332}"/>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F16E253F-E8C5-AA36-81E8-F6CF799E0224}"/>
              </a:ext>
            </a:extLst>
          </p:cNvPr>
          <p:cNvSpPr>
            <a:spLocks noGrp="1"/>
          </p:cNvSpPr>
          <p:nvPr>
            <p:ph type="sldNum" sz="quarter" idx="12"/>
          </p:nvPr>
        </p:nvSpPr>
        <p:spPr/>
        <p:txBody>
          <a:bodyPr/>
          <a:lstStyle/>
          <a:p>
            <a:fld id="{271ECC92-9CDE-4EB3-B1C5-F46B9E1FA3C1}" type="slidenum">
              <a:rPr lang="en-US" noProof="0" smtClean="0"/>
              <a:t>34</a:t>
            </a:fld>
            <a:endParaRPr lang="en-US" noProof="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DE9E8732-FD7E-BAA1-CF02-EC3BB33B2CD5}"/>
                  </a:ext>
                </a:extLst>
              </p:cNvPr>
              <p:cNvSpPr txBox="1">
                <a:spLocks/>
              </p:cNvSpPr>
              <p:nvPr/>
            </p:nvSpPr>
            <p:spPr>
              <a:xfrm>
                <a:off x="3963428" y="4422604"/>
                <a:ext cx="4265143" cy="994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r>
                        <a:rPr lang="en-US" i="1">
                          <a:solidFill>
                            <a:schemeClr val="bg2">
                              <a:lumMod val="50000"/>
                            </a:schemeClr>
                          </a:solidFill>
                          <a:latin typeface="Cambria Math" panose="02040503050406030204" pitchFamily="18" charset="0"/>
                        </a:rPr>
                        <m:t>𝑃</m:t>
                      </m:r>
                      <m:d>
                        <m:dPr>
                          <m:ctrlPr>
                            <a:rPr lang="en-US" i="1">
                              <a:solidFill>
                                <a:schemeClr val="bg2">
                                  <a:lumMod val="50000"/>
                                </a:schemeClr>
                              </a:solidFill>
                              <a:latin typeface="Cambria Math" panose="02040503050406030204" pitchFamily="18" charset="0"/>
                            </a:rPr>
                          </m:ctrlPr>
                        </m:dPr>
                        <m:e>
                          <m:r>
                            <a:rPr lang="en-US" i="1">
                              <a:solidFill>
                                <a:schemeClr val="bg2">
                                  <a:lumMod val="50000"/>
                                </a:schemeClr>
                              </a:solidFill>
                              <a:latin typeface="Cambria Math" panose="02040503050406030204" pitchFamily="18" charset="0"/>
                            </a:rPr>
                            <m:t>h</m:t>
                          </m:r>
                        </m:e>
                        <m:e>
                          <m:r>
                            <a:rPr lang="en-US" i="1">
                              <a:solidFill>
                                <a:schemeClr val="bg2">
                                  <a:lumMod val="50000"/>
                                </a:schemeClr>
                              </a:solidFill>
                              <a:latin typeface="Cambria Math" panose="02040503050406030204" pitchFamily="18" charset="0"/>
                            </a:rPr>
                            <m:t>𝑑</m:t>
                          </m:r>
                        </m:e>
                      </m:d>
                      <m:r>
                        <a:rPr lang="en-US" i="1">
                          <a:latin typeface="Cambria Math" panose="02040503050406030204" pitchFamily="18" charset="0"/>
                        </a:rPr>
                        <m:t>=</m:t>
                      </m:r>
                      <m:f>
                        <m:fPr>
                          <m:ctrlPr>
                            <a:rPr lang="en-US" i="1">
                              <a:latin typeface="Cambria Math" panose="02040503050406030204" pitchFamily="18" charset="0"/>
                            </a:rPr>
                          </m:ctrlPr>
                        </m:fPr>
                        <m:num>
                          <m:r>
                            <a:rPr lang="en-US" i="1">
                              <a:solidFill>
                                <a:schemeClr val="accent1">
                                  <a:lumMod val="50000"/>
                                </a:schemeClr>
                              </a:solidFill>
                              <a:latin typeface="Cambria Math" panose="02040503050406030204" pitchFamily="18" charset="0"/>
                            </a:rPr>
                            <m:t>𝑃</m:t>
                          </m:r>
                          <m:d>
                            <m:dPr>
                              <m:ctrlPr>
                                <a:rPr lang="en-US" i="1">
                                  <a:solidFill>
                                    <a:schemeClr val="accent1">
                                      <a:lumMod val="50000"/>
                                    </a:schemeClr>
                                  </a:solidFill>
                                  <a:latin typeface="Cambria Math" panose="02040503050406030204" pitchFamily="18" charset="0"/>
                                </a:rPr>
                              </m:ctrlPr>
                            </m:dPr>
                            <m:e>
                              <m:r>
                                <a:rPr lang="en-US" i="1">
                                  <a:solidFill>
                                    <a:schemeClr val="accent1">
                                      <a:lumMod val="50000"/>
                                    </a:schemeClr>
                                  </a:solidFill>
                                  <a:latin typeface="Cambria Math" panose="02040503050406030204" pitchFamily="18" charset="0"/>
                                </a:rPr>
                                <m:t>𝑑</m:t>
                              </m:r>
                            </m:e>
                            <m:e>
                              <m:r>
                                <a:rPr lang="en-US" i="1">
                                  <a:solidFill>
                                    <a:schemeClr val="accent1">
                                      <a:lumMod val="50000"/>
                                    </a:schemeClr>
                                  </a:solidFill>
                                  <a:latin typeface="Cambria Math" panose="02040503050406030204" pitchFamily="18" charset="0"/>
                                </a:rPr>
                                <m:t>h</m:t>
                              </m:r>
                            </m:e>
                          </m:d>
                          <m:r>
                            <a:rPr lang="en-US" i="1">
                              <a:latin typeface="Cambria Math" panose="02040503050406030204" pitchFamily="18" charset="0"/>
                            </a:rPr>
                            <m:t>⋅</m:t>
                          </m:r>
                          <m:r>
                            <a:rPr lang="en-US" i="1">
                              <a:solidFill>
                                <a:schemeClr val="accent2">
                                  <a:lumMod val="50000"/>
                                </a:schemeClr>
                              </a:solidFill>
                              <a:latin typeface="Cambria Math" panose="02040503050406030204" pitchFamily="18" charset="0"/>
                            </a:rPr>
                            <m:t>𝑃</m:t>
                          </m:r>
                          <m:r>
                            <a:rPr lang="en-US" i="1">
                              <a:solidFill>
                                <a:schemeClr val="accent2">
                                  <a:lumMod val="50000"/>
                                </a:schemeClr>
                              </a:solidFill>
                              <a:latin typeface="Cambria Math" panose="02040503050406030204" pitchFamily="18" charset="0"/>
                            </a:rPr>
                            <m:t>(</m:t>
                          </m:r>
                          <m:r>
                            <a:rPr lang="en-US" i="1">
                              <a:solidFill>
                                <a:schemeClr val="accent2">
                                  <a:lumMod val="50000"/>
                                </a:schemeClr>
                              </a:solidFill>
                              <a:latin typeface="Cambria Math" panose="02040503050406030204" pitchFamily="18" charset="0"/>
                            </a:rPr>
                            <m:t>h</m:t>
                          </m:r>
                          <m:r>
                            <a:rPr lang="en-US" i="1">
                              <a:solidFill>
                                <a:schemeClr val="accent2">
                                  <a:lumMod val="50000"/>
                                </a:schemeClr>
                              </a:solidFill>
                              <a:latin typeface="Cambria Math" panose="02040503050406030204" pitchFamily="18" charset="0"/>
                            </a:rPr>
                            <m:t>)</m:t>
                          </m:r>
                        </m:num>
                        <m:den>
                          <m:r>
                            <a:rPr lang="en-US" i="1">
                              <a:solidFill>
                                <a:schemeClr val="accent6">
                                  <a:lumMod val="50000"/>
                                </a:schemeClr>
                              </a:solidFill>
                              <a:latin typeface="Cambria Math" panose="02040503050406030204" pitchFamily="18" charset="0"/>
                            </a:rPr>
                            <m:t>𝑃</m:t>
                          </m:r>
                          <m:r>
                            <a:rPr lang="en-US" i="1">
                              <a:solidFill>
                                <a:schemeClr val="accent6">
                                  <a:lumMod val="50000"/>
                                </a:schemeClr>
                              </a:solidFill>
                              <a:latin typeface="Cambria Math" panose="02040503050406030204" pitchFamily="18" charset="0"/>
                            </a:rPr>
                            <m:t>(</m:t>
                          </m:r>
                          <m:r>
                            <a:rPr lang="en-US" i="1">
                              <a:solidFill>
                                <a:schemeClr val="accent6">
                                  <a:lumMod val="50000"/>
                                </a:schemeClr>
                              </a:solidFill>
                              <a:latin typeface="Cambria Math" panose="02040503050406030204" pitchFamily="18" charset="0"/>
                            </a:rPr>
                            <m:t>𝑑</m:t>
                          </m:r>
                          <m:r>
                            <a:rPr lang="en-US" i="1">
                              <a:solidFill>
                                <a:schemeClr val="accent6">
                                  <a:lumMod val="50000"/>
                                </a:schemeClr>
                              </a:solidFill>
                              <a:latin typeface="Cambria Math" panose="02040503050406030204" pitchFamily="18" charset="0"/>
                            </a:rPr>
                            <m:t>)</m:t>
                          </m:r>
                        </m:den>
                      </m:f>
                    </m:oMath>
                  </m:oMathPara>
                </a14:m>
                <a:endParaRPr lang="en-US" dirty="0"/>
              </a:p>
            </p:txBody>
          </p:sp>
        </mc:Choice>
        <mc:Fallback xmlns="">
          <p:sp>
            <p:nvSpPr>
              <p:cNvPr id="6" name="Content Placeholder 2">
                <a:extLst>
                  <a:ext uri="{FF2B5EF4-FFF2-40B4-BE49-F238E27FC236}">
                    <a16:creationId xmlns:a16="http://schemas.microsoft.com/office/drawing/2014/main" id="{DE9E8732-FD7E-BAA1-CF02-EC3BB33B2CD5}"/>
                  </a:ext>
                </a:extLst>
              </p:cNvPr>
              <p:cNvSpPr txBox="1">
                <a:spLocks noRot="1" noChangeAspect="1" noMove="1" noResize="1" noEditPoints="1" noAdjustHandles="1" noChangeArrowheads="1" noChangeShapeType="1" noTextEdit="1"/>
              </p:cNvSpPr>
              <p:nvPr/>
            </p:nvSpPr>
            <p:spPr>
              <a:xfrm>
                <a:off x="3963428" y="4422604"/>
                <a:ext cx="4265143" cy="994097"/>
              </a:xfrm>
              <a:prstGeom prst="rect">
                <a:avLst/>
              </a:prstGeom>
              <a:blipFill>
                <a:blip r:embed="rId2"/>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0386749-FDF6-8846-9563-0D54167E9E98}"/>
                  </a:ext>
                </a:extLst>
              </p:cNvPr>
              <p:cNvSpPr txBox="1"/>
              <p:nvPr/>
            </p:nvSpPr>
            <p:spPr>
              <a:xfrm>
                <a:off x="1027188" y="4276187"/>
                <a:ext cx="2936240" cy="1200329"/>
              </a:xfrm>
              <a:prstGeom prst="rect">
                <a:avLst/>
              </a:prstGeom>
              <a:noFill/>
            </p:spPr>
            <p:txBody>
              <a:bodyPr wrap="square" rtlCol="0">
                <a:spAutoFit/>
              </a:bodyPr>
              <a:lstStyle/>
              <a:p>
                <a:pPr algn="r"/>
                <a:r>
                  <a:rPr lang="en-US" b="1" noProof="0" dirty="0">
                    <a:solidFill>
                      <a:schemeClr val="bg2">
                        <a:lumMod val="50000"/>
                      </a:schemeClr>
                    </a:solidFill>
                  </a:rPr>
                  <a:t>Posterior</a:t>
                </a:r>
              </a:p>
              <a:p>
                <a:pPr algn="r"/>
                <a:r>
                  <a:rPr lang="en-US" noProof="0" dirty="0"/>
                  <a:t>Probability that the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the observed data </a:t>
                </a:r>
                <a14:m>
                  <m:oMath xmlns:m="http://schemas.openxmlformats.org/officeDocument/2006/math">
                    <m:r>
                      <a:rPr lang="en-US" b="0" i="1" noProof="0" smtClean="0">
                        <a:latin typeface="Cambria Math" panose="02040503050406030204" pitchFamily="18" charset="0"/>
                      </a:rPr>
                      <m:t>𝑑</m:t>
                    </m:r>
                  </m:oMath>
                </a14:m>
                <a:endParaRPr lang="en-US" noProof="0" dirty="0"/>
              </a:p>
            </p:txBody>
          </p:sp>
        </mc:Choice>
        <mc:Fallback xmlns="">
          <p:sp>
            <p:nvSpPr>
              <p:cNvPr id="8" name="TextBox 7">
                <a:extLst>
                  <a:ext uri="{FF2B5EF4-FFF2-40B4-BE49-F238E27FC236}">
                    <a16:creationId xmlns:a16="http://schemas.microsoft.com/office/drawing/2014/main" id="{C0386749-FDF6-8846-9563-0D54167E9E98}"/>
                  </a:ext>
                </a:extLst>
              </p:cNvPr>
              <p:cNvSpPr txBox="1">
                <a:spLocks noRot="1" noChangeAspect="1" noMove="1" noResize="1" noEditPoints="1" noAdjustHandles="1" noChangeArrowheads="1" noChangeShapeType="1" noTextEdit="1"/>
              </p:cNvSpPr>
              <p:nvPr/>
            </p:nvSpPr>
            <p:spPr>
              <a:xfrm>
                <a:off x="1027188" y="4276187"/>
                <a:ext cx="2936240" cy="1200329"/>
              </a:xfrm>
              <a:prstGeom prst="rect">
                <a:avLst/>
              </a:prstGeom>
              <a:blipFill>
                <a:blip r:embed="rId3"/>
                <a:stretch>
                  <a:fillRect t="-2030" r="-3534" b="-7614"/>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1E88B76-CD92-B99A-645A-0819F4DB03C4}"/>
                  </a:ext>
                </a:extLst>
              </p:cNvPr>
              <p:cNvSpPr txBox="1"/>
              <p:nvPr/>
            </p:nvSpPr>
            <p:spPr>
              <a:xfrm>
                <a:off x="4038600" y="3262646"/>
                <a:ext cx="2936240" cy="923330"/>
              </a:xfrm>
              <a:prstGeom prst="rect">
                <a:avLst/>
              </a:prstGeom>
              <a:noFill/>
            </p:spPr>
            <p:txBody>
              <a:bodyPr wrap="square" rtlCol="0">
                <a:spAutoFit/>
              </a:bodyPr>
              <a:lstStyle/>
              <a:p>
                <a:pPr algn="r"/>
                <a:r>
                  <a:rPr lang="en-US" b="1" noProof="0" dirty="0">
                    <a:solidFill>
                      <a:schemeClr val="accent1">
                        <a:lumMod val="50000"/>
                      </a:schemeClr>
                    </a:solidFill>
                  </a:rPr>
                  <a:t>Likelihood</a:t>
                </a:r>
              </a:p>
              <a:p>
                <a:pPr algn="r"/>
                <a:r>
                  <a:rPr lang="en-US" noProof="0" dirty="0"/>
                  <a:t>of observing data </a:t>
                </a:r>
                <a14:m>
                  <m:oMath xmlns:m="http://schemas.openxmlformats.org/officeDocument/2006/math">
                    <m:r>
                      <a:rPr lang="en-US" b="0" i="1" noProof="0" smtClean="0">
                        <a:latin typeface="Cambria Math" panose="02040503050406030204" pitchFamily="18" charset="0"/>
                      </a:rPr>
                      <m:t>𝑑</m:t>
                    </m:r>
                  </m:oMath>
                </a14:m>
                <a:r>
                  <a:rPr lang="en-US" noProof="0" dirty="0"/>
                  <a:t> if the hypothesis </a:t>
                </a:r>
                <a14:m>
                  <m:oMath xmlns:m="http://schemas.openxmlformats.org/officeDocument/2006/math">
                    <m:r>
                      <a:rPr lang="en-US" i="1" noProof="0" smtClean="0">
                        <a:latin typeface="Cambria Math" panose="02040503050406030204" pitchFamily="18" charset="0"/>
                      </a:rPr>
                      <m:t>h</m:t>
                    </m:r>
                  </m:oMath>
                </a14:m>
                <a:r>
                  <a:rPr lang="en-US" noProof="0" dirty="0"/>
                  <a:t> were true</a:t>
                </a:r>
              </a:p>
            </p:txBody>
          </p:sp>
        </mc:Choice>
        <mc:Fallback xmlns="">
          <p:sp>
            <p:nvSpPr>
              <p:cNvPr id="10" name="TextBox 9">
                <a:extLst>
                  <a:ext uri="{FF2B5EF4-FFF2-40B4-BE49-F238E27FC236}">
                    <a16:creationId xmlns:a16="http://schemas.microsoft.com/office/drawing/2014/main" id="{A1E88B76-CD92-B99A-645A-0819F4DB03C4}"/>
                  </a:ext>
                </a:extLst>
              </p:cNvPr>
              <p:cNvSpPr txBox="1">
                <a:spLocks noRot="1" noChangeAspect="1" noMove="1" noResize="1" noEditPoints="1" noAdjustHandles="1" noChangeArrowheads="1" noChangeShapeType="1" noTextEdit="1"/>
              </p:cNvSpPr>
              <p:nvPr/>
            </p:nvSpPr>
            <p:spPr>
              <a:xfrm>
                <a:off x="4038600" y="3262646"/>
                <a:ext cx="2936240" cy="923330"/>
              </a:xfrm>
              <a:prstGeom prst="rect">
                <a:avLst/>
              </a:prstGeom>
              <a:blipFill>
                <a:blip r:embed="rId4"/>
                <a:stretch>
                  <a:fillRect t="-2632" r="-3326" b="-986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8EF7F8B-BA22-18F6-E223-52885670D9E1}"/>
                  </a:ext>
                </a:extLst>
              </p:cNvPr>
              <p:cNvSpPr txBox="1"/>
              <p:nvPr/>
            </p:nvSpPr>
            <p:spPr>
              <a:xfrm>
                <a:off x="7045960" y="3256147"/>
                <a:ext cx="3129280" cy="923330"/>
              </a:xfrm>
              <a:prstGeom prst="rect">
                <a:avLst/>
              </a:prstGeom>
              <a:noFill/>
            </p:spPr>
            <p:txBody>
              <a:bodyPr wrap="square" rtlCol="0">
                <a:spAutoFit/>
              </a:bodyPr>
              <a:lstStyle/>
              <a:p>
                <a:r>
                  <a:rPr lang="en-US" b="1" noProof="0" dirty="0">
                    <a:solidFill>
                      <a:schemeClr val="accent2">
                        <a:lumMod val="50000"/>
                      </a:schemeClr>
                    </a:solidFill>
                  </a:rPr>
                  <a:t>Prior</a:t>
                </a:r>
              </a:p>
              <a:p>
                <a:r>
                  <a:rPr lang="en-US" noProof="0" dirty="0"/>
                  <a:t>probability that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no information</a:t>
                </a:r>
              </a:p>
            </p:txBody>
          </p:sp>
        </mc:Choice>
        <mc:Fallback xmlns="">
          <p:sp>
            <p:nvSpPr>
              <p:cNvPr id="12" name="TextBox 11">
                <a:extLst>
                  <a:ext uri="{FF2B5EF4-FFF2-40B4-BE49-F238E27FC236}">
                    <a16:creationId xmlns:a16="http://schemas.microsoft.com/office/drawing/2014/main" id="{08EF7F8B-BA22-18F6-E223-52885670D9E1}"/>
                  </a:ext>
                </a:extLst>
              </p:cNvPr>
              <p:cNvSpPr txBox="1">
                <a:spLocks noRot="1" noChangeAspect="1" noMove="1" noResize="1" noEditPoints="1" noAdjustHandles="1" noChangeArrowheads="1" noChangeShapeType="1" noTextEdit="1"/>
              </p:cNvSpPr>
              <p:nvPr/>
            </p:nvSpPr>
            <p:spPr>
              <a:xfrm>
                <a:off x="7045960" y="3256147"/>
                <a:ext cx="3129280" cy="923330"/>
              </a:xfrm>
              <a:prstGeom prst="rect">
                <a:avLst/>
              </a:prstGeom>
              <a:blipFill>
                <a:blip r:embed="rId5"/>
                <a:stretch>
                  <a:fillRect l="-1754" t="-2632" b="-986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651C0DE-32AB-0FB8-2FB8-AC3FE7D82F9F}"/>
                  </a:ext>
                </a:extLst>
              </p:cNvPr>
              <p:cNvSpPr txBox="1"/>
              <p:nvPr/>
            </p:nvSpPr>
            <p:spPr>
              <a:xfrm>
                <a:off x="6370320" y="5433020"/>
                <a:ext cx="3989022" cy="923330"/>
              </a:xfrm>
              <a:prstGeom prst="rect">
                <a:avLst/>
              </a:prstGeom>
              <a:noFill/>
            </p:spPr>
            <p:txBody>
              <a:bodyPr wrap="square" rtlCol="0">
                <a:spAutoFit/>
              </a:bodyPr>
              <a:lstStyle/>
              <a:p>
                <a:r>
                  <a:rPr lang="en-US" b="1" noProof="0" dirty="0">
                    <a:solidFill>
                      <a:schemeClr val="accent6">
                        <a:lumMod val="50000"/>
                      </a:schemeClr>
                    </a:solidFill>
                  </a:rPr>
                  <a:t>Marginal likelihood</a:t>
                </a:r>
              </a:p>
              <a:p>
                <a:r>
                  <a:rPr lang="en-US" noProof="0" dirty="0"/>
                  <a:t>i.e., the probability to observe the data </a:t>
                </a:r>
                <a14:m>
                  <m:oMath xmlns:m="http://schemas.openxmlformats.org/officeDocument/2006/math">
                    <m:r>
                      <a:rPr lang="en-US" b="0" i="1" noProof="0" smtClean="0">
                        <a:latin typeface="Cambria Math" panose="02040503050406030204" pitchFamily="18" charset="0"/>
                      </a:rPr>
                      <m:t>𝑑</m:t>
                    </m:r>
                  </m:oMath>
                </a14:m>
                <a:r>
                  <a:rPr lang="en-US" noProof="0" dirty="0"/>
                  <a:t> under all possible hypotheses</a:t>
                </a:r>
              </a:p>
            </p:txBody>
          </p:sp>
        </mc:Choice>
        <mc:Fallback xmlns="">
          <p:sp>
            <p:nvSpPr>
              <p:cNvPr id="14" name="TextBox 13">
                <a:extLst>
                  <a:ext uri="{FF2B5EF4-FFF2-40B4-BE49-F238E27FC236}">
                    <a16:creationId xmlns:a16="http://schemas.microsoft.com/office/drawing/2014/main" id="{2651C0DE-32AB-0FB8-2FB8-AC3FE7D82F9F}"/>
                  </a:ext>
                </a:extLst>
              </p:cNvPr>
              <p:cNvSpPr txBox="1">
                <a:spLocks noRot="1" noChangeAspect="1" noMove="1" noResize="1" noEditPoints="1" noAdjustHandles="1" noChangeArrowheads="1" noChangeShapeType="1" noTextEdit="1"/>
              </p:cNvSpPr>
              <p:nvPr/>
            </p:nvSpPr>
            <p:spPr>
              <a:xfrm>
                <a:off x="6370320" y="5433020"/>
                <a:ext cx="3989022" cy="923330"/>
              </a:xfrm>
              <a:prstGeom prst="rect">
                <a:avLst/>
              </a:prstGeom>
              <a:blipFill>
                <a:blip r:embed="rId6"/>
                <a:stretch>
                  <a:fillRect l="-1223" t="-2632" r="-1223" b="-9868"/>
                </a:stretch>
              </a:blipFill>
            </p:spPr>
            <p:txBody>
              <a:bodyPr/>
              <a:lstStyle/>
              <a:p>
                <a:r>
                  <a:rPr lang="en-SE">
                    <a:noFill/>
                  </a:rPr>
                  <a:t> </a:t>
                </a:r>
              </a:p>
            </p:txBody>
          </p:sp>
        </mc:Fallback>
      </mc:AlternateContent>
      <p:sp>
        <p:nvSpPr>
          <p:cNvPr id="7" name="Footer Placeholder 6">
            <a:extLst>
              <a:ext uri="{FF2B5EF4-FFF2-40B4-BE49-F238E27FC236}">
                <a16:creationId xmlns:a16="http://schemas.microsoft.com/office/drawing/2014/main" id="{9D383A83-5B86-BE4C-0A22-E4C26EE618F4}"/>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2451446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E358D-D863-9A82-DB9B-727C3675E0E7}"/>
              </a:ext>
            </a:extLst>
          </p:cNvPr>
          <p:cNvSpPr>
            <a:spLocks noGrp="1"/>
          </p:cNvSpPr>
          <p:nvPr>
            <p:ph type="title"/>
          </p:nvPr>
        </p:nvSpPr>
        <p:spPr/>
        <p:txBody>
          <a:bodyPr/>
          <a:lstStyle/>
          <a:p>
            <a:r>
              <a:rPr lang="en-US" noProof="0" dirty="0"/>
              <a:t>Example</a:t>
            </a:r>
          </a:p>
        </p:txBody>
      </p:sp>
      <p:sp>
        <p:nvSpPr>
          <p:cNvPr id="3" name="Content Placeholder 2">
            <a:extLst>
              <a:ext uri="{FF2B5EF4-FFF2-40B4-BE49-F238E27FC236}">
                <a16:creationId xmlns:a16="http://schemas.microsoft.com/office/drawing/2014/main" id="{230ECF30-CABB-70BD-8599-5BD5773C345A}"/>
              </a:ext>
            </a:extLst>
          </p:cNvPr>
          <p:cNvSpPr>
            <a:spLocks noGrp="1"/>
          </p:cNvSpPr>
          <p:nvPr>
            <p:ph idx="1"/>
          </p:nvPr>
        </p:nvSpPr>
        <p:spPr>
          <a:xfrm>
            <a:off x="838200" y="1825625"/>
            <a:ext cx="10515600" cy="1468181"/>
          </a:xfrm>
        </p:spPr>
        <p:txBody>
          <a:bodyPr/>
          <a:lstStyle/>
          <a:p>
            <a:pPr marL="0" indent="0">
              <a:buNone/>
            </a:pPr>
            <a:r>
              <a:rPr lang="en-US" noProof="0" dirty="0"/>
              <a:t>We are investigating a static code analysis tool. The tool has 90% sensitivity and 10% false positive rate. Only 5% of files actually have bugs. </a:t>
            </a:r>
            <a:r>
              <a:rPr lang="en-US" i="1" noProof="0" dirty="0"/>
              <a:t>What's the probability that a flagged file is buggy?</a:t>
            </a:r>
          </a:p>
        </p:txBody>
      </p:sp>
      <p:sp>
        <p:nvSpPr>
          <p:cNvPr id="4" name="Date Placeholder 3">
            <a:extLst>
              <a:ext uri="{FF2B5EF4-FFF2-40B4-BE49-F238E27FC236}">
                <a16:creationId xmlns:a16="http://schemas.microsoft.com/office/drawing/2014/main" id="{474ED58D-EFE4-7C8E-285D-1D82376E4E06}"/>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99E8BF09-6F56-5C92-86E5-2593A6C619CF}"/>
              </a:ext>
            </a:extLst>
          </p:cNvPr>
          <p:cNvSpPr>
            <a:spLocks noGrp="1"/>
          </p:cNvSpPr>
          <p:nvPr>
            <p:ph type="sldNum" sz="quarter" idx="12"/>
          </p:nvPr>
        </p:nvSpPr>
        <p:spPr/>
        <p:txBody>
          <a:bodyPr/>
          <a:lstStyle/>
          <a:p>
            <a:fld id="{271ECC92-9CDE-4EB3-B1C5-F46B9E1FA3C1}" type="slidenum">
              <a:rPr lang="en-US" noProof="0" smtClean="0"/>
              <a:t>35</a:t>
            </a:fld>
            <a:endParaRPr lang="en-US" noProof="0" dirty="0"/>
          </a:p>
        </p:txBody>
      </p:sp>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FE726958-BC07-4614-CBCD-80E635E5E89C}"/>
                  </a:ext>
                </a:extLst>
              </p:cNvPr>
              <p:cNvSpPr txBox="1">
                <a:spLocks/>
              </p:cNvSpPr>
              <p:nvPr/>
            </p:nvSpPr>
            <p:spPr>
              <a:xfrm>
                <a:off x="838198" y="3375848"/>
                <a:ext cx="10515600" cy="64056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noProof="0" dirty="0"/>
                  <a:t>The </a:t>
                </a:r>
                <a:r>
                  <a:rPr lang="en-US" b="1" noProof="0" dirty="0">
                    <a:solidFill>
                      <a:schemeClr val="accent6"/>
                    </a:solidFill>
                  </a:rPr>
                  <a:t>marginal likelihood </a:t>
                </a:r>
                <a14:m>
                  <m:oMath xmlns:m="http://schemas.openxmlformats.org/officeDocument/2006/math">
                    <m:r>
                      <a:rPr lang="en-US" b="1" i="1" noProof="0" smtClean="0">
                        <a:solidFill>
                          <a:schemeClr val="accent6"/>
                        </a:solidFill>
                        <a:latin typeface="Cambria Math" panose="02040503050406030204" pitchFamily="18" charset="0"/>
                      </a:rPr>
                      <m:t>𝑷</m:t>
                    </m:r>
                    <m:r>
                      <a:rPr lang="en-US" b="1" i="1" noProof="0" smtClean="0">
                        <a:solidFill>
                          <a:schemeClr val="accent6"/>
                        </a:solidFill>
                        <a:latin typeface="Cambria Math" panose="02040503050406030204" pitchFamily="18" charset="0"/>
                      </a:rPr>
                      <m:t>(</m:t>
                    </m:r>
                    <m:r>
                      <a:rPr lang="en-US" b="1" i="1" noProof="0" smtClean="0">
                        <a:solidFill>
                          <a:schemeClr val="accent6"/>
                        </a:solidFill>
                        <a:latin typeface="Cambria Math" panose="02040503050406030204" pitchFamily="18" charset="0"/>
                      </a:rPr>
                      <m:t>𝒅</m:t>
                    </m:r>
                    <m:r>
                      <a:rPr lang="en-US" b="1" i="1" noProof="0" smtClean="0">
                        <a:solidFill>
                          <a:schemeClr val="accent6"/>
                        </a:solidFill>
                        <a:latin typeface="Cambria Math" panose="02040503050406030204" pitchFamily="18" charset="0"/>
                      </a:rPr>
                      <m:t>)</m:t>
                    </m:r>
                  </m:oMath>
                </a14:m>
                <a:r>
                  <a:rPr lang="en-US" b="1" noProof="0" dirty="0">
                    <a:solidFill>
                      <a:schemeClr val="accent6"/>
                    </a:solidFill>
                  </a:rPr>
                  <a:t> </a:t>
                </a:r>
                <a:r>
                  <a:rPr lang="en-US" noProof="0" dirty="0"/>
                  <a:t>can be calculated from the other data: </a:t>
                </a:r>
                <a:endParaRPr lang="en-US" i="1" noProof="0" dirty="0"/>
              </a:p>
            </p:txBody>
          </p:sp>
        </mc:Choice>
        <mc:Fallback>
          <p:sp>
            <p:nvSpPr>
              <p:cNvPr id="6" name="Content Placeholder 2">
                <a:extLst>
                  <a:ext uri="{FF2B5EF4-FFF2-40B4-BE49-F238E27FC236}">
                    <a16:creationId xmlns:a16="http://schemas.microsoft.com/office/drawing/2014/main" id="{FE726958-BC07-4614-CBCD-80E635E5E89C}"/>
                  </a:ext>
                </a:extLst>
              </p:cNvPr>
              <p:cNvSpPr txBox="1">
                <a:spLocks noRot="1" noChangeAspect="1" noMove="1" noResize="1" noEditPoints="1" noAdjustHandles="1" noChangeArrowheads="1" noChangeShapeType="1" noTextEdit="1"/>
              </p:cNvSpPr>
              <p:nvPr/>
            </p:nvSpPr>
            <p:spPr>
              <a:xfrm>
                <a:off x="838198" y="3375848"/>
                <a:ext cx="10515600" cy="640567"/>
              </a:xfrm>
              <a:prstGeom prst="rect">
                <a:avLst/>
              </a:prstGeom>
              <a:blipFill>
                <a:blip r:embed="rId2"/>
                <a:stretch>
                  <a:fillRect l="-986" t="-1428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1E19852-D80D-374D-7CBE-79E948086926}"/>
                  </a:ext>
                </a:extLst>
              </p:cNvPr>
              <p:cNvSpPr txBox="1"/>
              <p:nvPr/>
            </p:nvSpPr>
            <p:spPr>
              <a:xfrm>
                <a:off x="6370320" y="5433020"/>
                <a:ext cx="3989022" cy="923330"/>
              </a:xfrm>
              <a:prstGeom prst="rect">
                <a:avLst/>
              </a:prstGeom>
              <a:noFill/>
            </p:spPr>
            <p:txBody>
              <a:bodyPr wrap="square" rtlCol="0">
                <a:spAutoFit/>
              </a:bodyPr>
              <a:lstStyle/>
              <a:p>
                <a:r>
                  <a:rPr lang="en-US" b="1" noProof="0" dirty="0">
                    <a:solidFill>
                      <a:schemeClr val="accent6">
                        <a:lumMod val="50000"/>
                      </a:schemeClr>
                    </a:solidFill>
                  </a:rPr>
                  <a:t>Marginal likelihood</a:t>
                </a:r>
              </a:p>
              <a:p>
                <a:r>
                  <a:rPr lang="en-US" noProof="0" dirty="0"/>
                  <a:t>i.e., the probability to observe the data </a:t>
                </a:r>
                <a14:m>
                  <m:oMath xmlns:m="http://schemas.openxmlformats.org/officeDocument/2006/math">
                    <m:r>
                      <a:rPr lang="en-US" b="0" i="1" noProof="0" smtClean="0">
                        <a:latin typeface="Cambria Math" panose="02040503050406030204" pitchFamily="18" charset="0"/>
                      </a:rPr>
                      <m:t>𝑑</m:t>
                    </m:r>
                  </m:oMath>
                </a14:m>
                <a:r>
                  <a:rPr lang="en-US" noProof="0" dirty="0"/>
                  <a:t> under all possible hypotheses</a:t>
                </a:r>
              </a:p>
            </p:txBody>
          </p:sp>
        </mc:Choice>
        <mc:Fallback xmlns="">
          <p:sp>
            <p:nvSpPr>
              <p:cNvPr id="7" name="TextBox 6">
                <a:extLst>
                  <a:ext uri="{FF2B5EF4-FFF2-40B4-BE49-F238E27FC236}">
                    <a16:creationId xmlns:a16="http://schemas.microsoft.com/office/drawing/2014/main" id="{B1E19852-D80D-374D-7CBE-79E948086926}"/>
                  </a:ext>
                </a:extLst>
              </p:cNvPr>
              <p:cNvSpPr txBox="1">
                <a:spLocks noRot="1" noChangeAspect="1" noMove="1" noResize="1" noEditPoints="1" noAdjustHandles="1" noChangeArrowheads="1" noChangeShapeType="1" noTextEdit="1"/>
              </p:cNvSpPr>
              <p:nvPr/>
            </p:nvSpPr>
            <p:spPr>
              <a:xfrm>
                <a:off x="6370320" y="5433020"/>
                <a:ext cx="3989022" cy="923330"/>
              </a:xfrm>
              <a:prstGeom prst="rect">
                <a:avLst/>
              </a:prstGeom>
              <a:blipFill>
                <a:blip r:embed="rId3"/>
                <a:stretch>
                  <a:fillRect l="-1223" t="-2632" r="-1223" b="-986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20995B6-1619-F9E8-7974-8154EDE76DDF}"/>
                  </a:ext>
                </a:extLst>
              </p:cNvPr>
              <p:cNvSpPr txBox="1"/>
              <p:nvPr/>
            </p:nvSpPr>
            <p:spPr>
              <a:xfrm>
                <a:off x="3248060" y="4164241"/>
                <a:ext cx="45612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noProof="0" smtClean="0">
                          <a:latin typeface="Cambria Math" panose="02040503050406030204" pitchFamily="18" charset="0"/>
                        </a:rPr>
                        <m:t>𝑃</m:t>
                      </m:r>
                      <m:d>
                        <m:dPr>
                          <m:ctrlPr>
                            <a:rPr lang="en-US" sz="2000" b="0" i="1" noProof="0" smtClean="0">
                              <a:latin typeface="Cambria Math" panose="02040503050406030204" pitchFamily="18" charset="0"/>
                            </a:rPr>
                          </m:ctrlPr>
                        </m:dPr>
                        <m:e>
                          <m:r>
                            <a:rPr lang="en-US" sz="2000" b="0" i="1" noProof="0" smtClean="0">
                              <a:latin typeface="Cambria Math" panose="02040503050406030204" pitchFamily="18" charset="0"/>
                            </a:rPr>
                            <m:t>𝑑</m:t>
                          </m:r>
                        </m:e>
                      </m:d>
                      <m:r>
                        <a:rPr lang="en-US" sz="2000" b="0" i="1" noProof="0" smtClean="0">
                          <a:latin typeface="Cambria Math" panose="02040503050406030204" pitchFamily="18" charset="0"/>
                        </a:rPr>
                        <m:t>=</m:t>
                      </m:r>
                      <m:r>
                        <a:rPr lang="en-US" sz="2000" b="0" i="1" noProof="0" smtClean="0">
                          <a:latin typeface="Cambria Math" panose="02040503050406030204" pitchFamily="18" charset="0"/>
                        </a:rPr>
                        <m:t>𝑃</m:t>
                      </m:r>
                      <m:d>
                        <m:dPr>
                          <m:ctrlPr>
                            <a:rPr lang="en-US" sz="2000" b="0" i="1" noProof="0" smtClean="0">
                              <a:latin typeface="Cambria Math" panose="02040503050406030204" pitchFamily="18" charset="0"/>
                            </a:rPr>
                          </m:ctrlPr>
                        </m:dPr>
                        <m:e>
                          <m:r>
                            <a:rPr lang="en-US" sz="2000" b="0" i="1" noProof="0" smtClean="0">
                              <a:latin typeface="Cambria Math" panose="02040503050406030204" pitchFamily="18" charset="0"/>
                            </a:rPr>
                            <m:t>𝑑</m:t>
                          </m:r>
                        </m:e>
                        <m:e>
                          <m:r>
                            <a:rPr lang="en-US" sz="2000" b="0" i="1" noProof="0" smtClean="0">
                              <a:latin typeface="Cambria Math" panose="02040503050406030204" pitchFamily="18" charset="0"/>
                            </a:rPr>
                            <m:t>h</m:t>
                          </m:r>
                        </m:e>
                      </m:d>
                      <m:r>
                        <a:rPr lang="en-US" sz="2000" b="0" i="1" noProof="0" smtClean="0">
                          <a:latin typeface="Cambria Math" panose="02040503050406030204" pitchFamily="18" charset="0"/>
                        </a:rPr>
                        <m:t>⋅</m:t>
                      </m:r>
                      <m:r>
                        <a:rPr lang="en-US" sz="2000" b="0" i="1" noProof="0" smtClean="0">
                          <a:latin typeface="Cambria Math" panose="02040503050406030204" pitchFamily="18" charset="0"/>
                        </a:rPr>
                        <m:t>𝑃</m:t>
                      </m:r>
                      <m:d>
                        <m:dPr>
                          <m:ctrlPr>
                            <a:rPr lang="en-US" sz="2000" b="0" i="1" noProof="0" smtClean="0">
                              <a:latin typeface="Cambria Math" panose="02040503050406030204" pitchFamily="18" charset="0"/>
                            </a:rPr>
                          </m:ctrlPr>
                        </m:dPr>
                        <m:e>
                          <m:r>
                            <a:rPr lang="en-US" sz="2000" b="0" i="1" noProof="0" smtClean="0">
                              <a:latin typeface="Cambria Math" panose="02040503050406030204" pitchFamily="18" charset="0"/>
                            </a:rPr>
                            <m:t>h</m:t>
                          </m:r>
                        </m:e>
                      </m:d>
                      <m:r>
                        <a:rPr lang="en-US" sz="2000" b="0" i="1" noProof="0" smtClean="0">
                          <a:latin typeface="Cambria Math" panose="02040503050406030204" pitchFamily="18" charset="0"/>
                        </a:rPr>
                        <m:t>+</m:t>
                      </m:r>
                      <m:r>
                        <a:rPr lang="en-US" sz="2000" b="0" i="1" noProof="0" smtClean="0">
                          <a:latin typeface="Cambria Math" panose="02040503050406030204" pitchFamily="18" charset="0"/>
                        </a:rPr>
                        <m:t>𝑃</m:t>
                      </m:r>
                      <m:d>
                        <m:dPr>
                          <m:ctrlPr>
                            <a:rPr lang="en-US" sz="2000" b="0" i="1" noProof="0" smtClean="0">
                              <a:latin typeface="Cambria Math" panose="02040503050406030204" pitchFamily="18" charset="0"/>
                            </a:rPr>
                          </m:ctrlPr>
                        </m:dPr>
                        <m:e>
                          <m:r>
                            <a:rPr lang="en-US" sz="2000" b="0" i="1" noProof="0" smtClean="0">
                              <a:latin typeface="Cambria Math" panose="02040503050406030204" pitchFamily="18" charset="0"/>
                            </a:rPr>
                            <m:t>𝑑</m:t>
                          </m:r>
                        </m:e>
                        <m:e>
                          <m:r>
                            <a:rPr lang="en-US" sz="2000" b="0" i="1" noProof="0" smtClean="0">
                              <a:latin typeface="Cambria Math" panose="02040503050406030204" pitchFamily="18" charset="0"/>
                            </a:rPr>
                            <m:t>¬</m:t>
                          </m:r>
                          <m:r>
                            <a:rPr lang="en-US" sz="2000" b="0" i="1" noProof="0" smtClean="0">
                              <a:latin typeface="Cambria Math" panose="02040503050406030204" pitchFamily="18" charset="0"/>
                            </a:rPr>
                            <m:t>h</m:t>
                          </m:r>
                        </m:e>
                      </m:d>
                      <m:r>
                        <a:rPr lang="en-US" sz="2000" b="0" i="1" noProof="0" smtClean="0">
                          <a:latin typeface="Cambria Math" panose="02040503050406030204" pitchFamily="18" charset="0"/>
                        </a:rPr>
                        <m:t>⋅</m:t>
                      </m:r>
                      <m:r>
                        <a:rPr lang="en-US" sz="2000" b="0" i="1" noProof="0" smtClean="0">
                          <a:latin typeface="Cambria Math" panose="02040503050406030204" pitchFamily="18" charset="0"/>
                        </a:rPr>
                        <m:t>𝑃</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h</m:t>
                      </m:r>
                      <m:r>
                        <a:rPr lang="en-US" sz="2000" b="0" i="1" noProof="0" smtClean="0">
                          <a:latin typeface="Cambria Math" panose="02040503050406030204" pitchFamily="18" charset="0"/>
                        </a:rPr>
                        <m:t>)</m:t>
                      </m:r>
                    </m:oMath>
                  </m:oMathPara>
                </a14:m>
                <a:endParaRPr lang="en-US" noProof="0" dirty="0"/>
              </a:p>
            </p:txBody>
          </p:sp>
        </mc:Choice>
        <mc:Fallback xmlns="">
          <p:sp>
            <p:nvSpPr>
              <p:cNvPr id="8" name="TextBox 7">
                <a:extLst>
                  <a:ext uri="{FF2B5EF4-FFF2-40B4-BE49-F238E27FC236}">
                    <a16:creationId xmlns:a16="http://schemas.microsoft.com/office/drawing/2014/main" id="{820995B6-1619-F9E8-7974-8154EDE76DDF}"/>
                  </a:ext>
                </a:extLst>
              </p:cNvPr>
              <p:cNvSpPr txBox="1">
                <a:spLocks noRot="1" noChangeAspect="1" noMove="1" noResize="1" noEditPoints="1" noAdjustHandles="1" noChangeArrowheads="1" noChangeShapeType="1" noTextEdit="1"/>
              </p:cNvSpPr>
              <p:nvPr/>
            </p:nvSpPr>
            <p:spPr>
              <a:xfrm>
                <a:off x="3248060" y="4164241"/>
                <a:ext cx="4561249" cy="307777"/>
              </a:xfrm>
              <a:prstGeom prst="rect">
                <a:avLst/>
              </a:prstGeom>
              <a:blipFill>
                <a:blip r:embed="rId4"/>
                <a:stretch>
                  <a:fillRect l="-936" t="-1961" r="-1604" b="-33333"/>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0290149-43FC-FEEA-7114-98BA8F11E9B0}"/>
                  </a:ext>
                </a:extLst>
              </p:cNvPr>
              <p:cNvSpPr txBox="1"/>
              <p:nvPr/>
            </p:nvSpPr>
            <p:spPr>
              <a:xfrm>
                <a:off x="3866678" y="4619844"/>
                <a:ext cx="34491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sz="2000" b="0" i="1" noProof="0" smtClean="0">
                          <a:latin typeface="Cambria Math" panose="02040503050406030204" pitchFamily="18" charset="0"/>
                        </a:rPr>
                        <m:t>=</m:t>
                      </m:r>
                      <m:r>
                        <a:rPr lang="en-US" sz="2000" b="0" i="1" noProof="0" smtClean="0">
                          <a:latin typeface="Cambria Math" panose="02040503050406030204" pitchFamily="18" charset="0"/>
                        </a:rPr>
                        <m:t>0.9⋅0.05+0.1⋅0.95=</m:t>
                      </m:r>
                      <m:r>
                        <a:rPr lang="en-US" sz="2000" b="0" i="1" noProof="0" smtClean="0">
                          <a:solidFill>
                            <a:schemeClr val="accent6">
                              <a:lumMod val="75000"/>
                            </a:schemeClr>
                          </a:solidFill>
                          <a:latin typeface="Cambria Math" panose="02040503050406030204" pitchFamily="18" charset="0"/>
                        </a:rPr>
                        <m:t>0.14</m:t>
                      </m:r>
                    </m:oMath>
                  </m:oMathPara>
                </a14:m>
                <a:endParaRPr lang="en-US" noProof="0" dirty="0"/>
              </a:p>
            </p:txBody>
          </p:sp>
        </mc:Choice>
        <mc:Fallback xmlns="">
          <p:sp>
            <p:nvSpPr>
              <p:cNvPr id="9" name="TextBox 8">
                <a:extLst>
                  <a:ext uri="{FF2B5EF4-FFF2-40B4-BE49-F238E27FC236}">
                    <a16:creationId xmlns:a16="http://schemas.microsoft.com/office/drawing/2014/main" id="{10290149-43FC-FEEA-7114-98BA8F11E9B0}"/>
                  </a:ext>
                </a:extLst>
              </p:cNvPr>
              <p:cNvSpPr txBox="1">
                <a:spLocks noRot="1" noChangeAspect="1" noMove="1" noResize="1" noEditPoints="1" noAdjustHandles="1" noChangeArrowheads="1" noChangeShapeType="1" noTextEdit="1"/>
              </p:cNvSpPr>
              <p:nvPr/>
            </p:nvSpPr>
            <p:spPr>
              <a:xfrm>
                <a:off x="3866678" y="4619844"/>
                <a:ext cx="3449149" cy="307777"/>
              </a:xfrm>
              <a:prstGeom prst="rect">
                <a:avLst/>
              </a:prstGeom>
              <a:blipFill>
                <a:blip r:embed="rId5"/>
                <a:stretch>
                  <a:fillRect l="-353" r="-1413" b="-8000"/>
                </a:stretch>
              </a:blipFill>
            </p:spPr>
            <p:txBody>
              <a:bodyPr/>
              <a:lstStyle/>
              <a:p>
                <a:r>
                  <a:rPr lang="en-SE">
                    <a:noFill/>
                  </a:rPr>
                  <a:t> </a:t>
                </a:r>
              </a:p>
            </p:txBody>
          </p:sp>
        </mc:Fallback>
      </mc:AlternateContent>
      <p:sp>
        <p:nvSpPr>
          <p:cNvPr id="10" name="Footer Placeholder 9">
            <a:extLst>
              <a:ext uri="{FF2B5EF4-FFF2-40B4-BE49-F238E27FC236}">
                <a16:creationId xmlns:a16="http://schemas.microsoft.com/office/drawing/2014/main" id="{FB2D69D5-A96E-939B-8CEC-04B033651714}"/>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1772143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213BB-07D1-EFD2-4F82-E76DD9FDD992}"/>
              </a:ext>
            </a:extLst>
          </p:cNvPr>
          <p:cNvSpPr>
            <a:spLocks noGrp="1"/>
          </p:cNvSpPr>
          <p:nvPr>
            <p:ph type="title"/>
          </p:nvPr>
        </p:nvSpPr>
        <p:spPr/>
        <p:txBody>
          <a:bodyPr/>
          <a:lstStyle/>
          <a:p>
            <a:r>
              <a:rPr lang="en-US" noProof="0" dirty="0"/>
              <a:t>Example</a:t>
            </a:r>
          </a:p>
        </p:txBody>
      </p:sp>
      <p:sp>
        <p:nvSpPr>
          <p:cNvPr id="3" name="Content Placeholder 2">
            <a:extLst>
              <a:ext uri="{FF2B5EF4-FFF2-40B4-BE49-F238E27FC236}">
                <a16:creationId xmlns:a16="http://schemas.microsoft.com/office/drawing/2014/main" id="{695419E9-62F7-5968-82DD-D50BB436B101}"/>
              </a:ext>
            </a:extLst>
          </p:cNvPr>
          <p:cNvSpPr>
            <a:spLocks noGrp="1"/>
          </p:cNvSpPr>
          <p:nvPr>
            <p:ph idx="1"/>
          </p:nvPr>
        </p:nvSpPr>
        <p:spPr>
          <a:xfrm>
            <a:off x="838200" y="1825625"/>
            <a:ext cx="10515600" cy="1325563"/>
          </a:xfrm>
        </p:spPr>
        <p:txBody>
          <a:bodyPr/>
          <a:lstStyle/>
          <a:p>
            <a:pPr marL="0" indent="0">
              <a:buNone/>
            </a:pPr>
            <a:r>
              <a:rPr lang="en-US" noProof="0" dirty="0"/>
              <a:t>We are investigating a static code analysis tool. The tool has </a:t>
            </a:r>
            <a:r>
              <a:rPr lang="en-US" b="1" noProof="0" dirty="0">
                <a:solidFill>
                  <a:schemeClr val="accent1">
                    <a:lumMod val="50000"/>
                  </a:schemeClr>
                </a:solidFill>
              </a:rPr>
              <a:t>90% sensitivity and 10% false positive rate</a:t>
            </a:r>
            <a:r>
              <a:rPr lang="en-US" noProof="0" dirty="0"/>
              <a:t>. Only </a:t>
            </a:r>
            <a:r>
              <a:rPr lang="en-US" b="1" noProof="0" dirty="0">
                <a:solidFill>
                  <a:schemeClr val="accent2">
                    <a:lumMod val="75000"/>
                  </a:schemeClr>
                </a:solidFill>
              </a:rPr>
              <a:t>5% of files actually have bugs</a:t>
            </a:r>
            <a:r>
              <a:rPr lang="en-US" noProof="0" dirty="0"/>
              <a:t>. </a:t>
            </a:r>
            <a:r>
              <a:rPr lang="en-US" i="1" noProof="0" dirty="0"/>
              <a:t>What's the </a:t>
            </a:r>
            <a:r>
              <a:rPr lang="en-US" b="1" i="1" noProof="0" dirty="0">
                <a:solidFill>
                  <a:schemeClr val="bg2">
                    <a:lumMod val="50000"/>
                  </a:schemeClr>
                </a:solidFill>
              </a:rPr>
              <a:t>probability that a flagged file is buggy</a:t>
            </a:r>
            <a:r>
              <a:rPr lang="en-US" i="1" noProof="0" dirty="0"/>
              <a:t>?</a:t>
            </a:r>
          </a:p>
        </p:txBody>
      </p:sp>
      <p:sp>
        <p:nvSpPr>
          <p:cNvPr id="4" name="Date Placeholder 3">
            <a:extLst>
              <a:ext uri="{FF2B5EF4-FFF2-40B4-BE49-F238E27FC236}">
                <a16:creationId xmlns:a16="http://schemas.microsoft.com/office/drawing/2014/main" id="{0B05249A-18BF-9B60-3AD3-D4F107ABAE69}"/>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8F76CF38-D26A-E160-0F33-29D727A14F11}"/>
              </a:ext>
            </a:extLst>
          </p:cNvPr>
          <p:cNvSpPr>
            <a:spLocks noGrp="1"/>
          </p:cNvSpPr>
          <p:nvPr>
            <p:ph type="sldNum" sz="quarter" idx="12"/>
          </p:nvPr>
        </p:nvSpPr>
        <p:spPr/>
        <p:txBody>
          <a:bodyPr/>
          <a:lstStyle/>
          <a:p>
            <a:fld id="{271ECC92-9CDE-4EB3-B1C5-F46B9E1FA3C1}" type="slidenum">
              <a:rPr lang="en-US" noProof="0" smtClean="0"/>
              <a:t>36</a:t>
            </a:fld>
            <a:endParaRPr lang="en-US" noProof="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BA30F260-1EDF-B12C-B09A-73BCCB43C019}"/>
                  </a:ext>
                </a:extLst>
              </p:cNvPr>
              <p:cNvSpPr txBox="1">
                <a:spLocks/>
              </p:cNvSpPr>
              <p:nvPr/>
            </p:nvSpPr>
            <p:spPr>
              <a:xfrm>
                <a:off x="3963428" y="4422604"/>
                <a:ext cx="4266172" cy="994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noProof="0" smtClean="0">
                          <a:solidFill>
                            <a:schemeClr val="bg2">
                              <a:lumMod val="50000"/>
                            </a:schemeClr>
                          </a:solidFill>
                          <a:latin typeface="Cambria Math" panose="02040503050406030204" pitchFamily="18" charset="0"/>
                        </a:rPr>
                        <m:t>𝑃</m:t>
                      </m:r>
                      <m:d>
                        <m:dPr>
                          <m:ctrlPr>
                            <a:rPr lang="en-US" b="0" i="1" noProof="0" smtClean="0">
                              <a:solidFill>
                                <a:schemeClr val="bg2">
                                  <a:lumMod val="50000"/>
                                </a:schemeClr>
                              </a:solidFill>
                              <a:latin typeface="Cambria Math" panose="02040503050406030204" pitchFamily="18" charset="0"/>
                            </a:rPr>
                          </m:ctrlPr>
                        </m:dPr>
                        <m:e>
                          <m:r>
                            <a:rPr lang="en-US" b="0" i="1" noProof="0" smtClean="0">
                              <a:solidFill>
                                <a:schemeClr val="bg2">
                                  <a:lumMod val="50000"/>
                                </a:schemeClr>
                              </a:solidFill>
                              <a:latin typeface="Cambria Math" panose="02040503050406030204" pitchFamily="18" charset="0"/>
                            </a:rPr>
                            <m:t>h</m:t>
                          </m:r>
                        </m:e>
                        <m:e>
                          <m:r>
                            <a:rPr lang="en-US" b="0" i="1" noProof="0" smtClean="0">
                              <a:solidFill>
                                <a:schemeClr val="bg2">
                                  <a:lumMod val="50000"/>
                                </a:schemeClr>
                              </a:solidFill>
                              <a:latin typeface="Cambria Math" panose="02040503050406030204" pitchFamily="18" charset="0"/>
                            </a:rPr>
                            <m:t>𝑑</m:t>
                          </m:r>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solidFill>
                                <a:schemeClr val="accent1">
                                  <a:lumMod val="50000"/>
                                </a:schemeClr>
                              </a:solidFill>
                              <a:latin typeface="Cambria Math" panose="02040503050406030204" pitchFamily="18" charset="0"/>
                            </a:rPr>
                            <m:t>0.90</m:t>
                          </m:r>
                          <m:r>
                            <a:rPr lang="en-US" b="0" i="1" noProof="0" smtClean="0">
                              <a:latin typeface="Cambria Math" panose="02040503050406030204" pitchFamily="18" charset="0"/>
                            </a:rPr>
                            <m:t>⋅</m:t>
                          </m:r>
                          <m:r>
                            <a:rPr lang="en-US" b="0" i="1" noProof="0" smtClean="0">
                              <a:solidFill>
                                <a:schemeClr val="accent2">
                                  <a:lumMod val="50000"/>
                                </a:schemeClr>
                              </a:solidFill>
                              <a:latin typeface="Cambria Math" panose="02040503050406030204" pitchFamily="18" charset="0"/>
                            </a:rPr>
                            <m:t>0.05</m:t>
                          </m:r>
                        </m:num>
                        <m:den>
                          <m:r>
                            <a:rPr lang="en-US" b="0" i="1" noProof="0" smtClean="0">
                              <a:solidFill>
                                <a:schemeClr val="accent6">
                                  <a:lumMod val="50000"/>
                                </a:schemeClr>
                              </a:solidFill>
                              <a:latin typeface="Cambria Math" panose="02040503050406030204" pitchFamily="18" charset="0"/>
                            </a:rPr>
                            <m:t>0.14</m:t>
                          </m:r>
                        </m:den>
                      </m:f>
                    </m:oMath>
                  </m:oMathPara>
                </a14:m>
                <a:endParaRPr lang="en-US" noProof="0" dirty="0"/>
              </a:p>
            </p:txBody>
          </p:sp>
        </mc:Choice>
        <mc:Fallback xmlns="">
          <p:sp>
            <p:nvSpPr>
              <p:cNvPr id="6" name="Content Placeholder 2">
                <a:extLst>
                  <a:ext uri="{FF2B5EF4-FFF2-40B4-BE49-F238E27FC236}">
                    <a16:creationId xmlns:a16="http://schemas.microsoft.com/office/drawing/2014/main" id="{BA30F260-1EDF-B12C-B09A-73BCCB43C019}"/>
                  </a:ext>
                </a:extLst>
              </p:cNvPr>
              <p:cNvSpPr txBox="1">
                <a:spLocks noRot="1" noChangeAspect="1" noMove="1" noResize="1" noEditPoints="1" noAdjustHandles="1" noChangeArrowheads="1" noChangeShapeType="1" noTextEdit="1"/>
              </p:cNvSpPr>
              <p:nvPr/>
            </p:nvSpPr>
            <p:spPr>
              <a:xfrm>
                <a:off x="3963428" y="4422604"/>
                <a:ext cx="4266172" cy="994097"/>
              </a:xfrm>
              <a:prstGeom prst="rect">
                <a:avLst/>
              </a:prstGeom>
              <a:blipFill>
                <a:blip r:embed="rId2"/>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6224C76-10D2-A50D-0933-538BA223E83A}"/>
                  </a:ext>
                </a:extLst>
              </p:cNvPr>
              <p:cNvSpPr txBox="1"/>
              <p:nvPr/>
            </p:nvSpPr>
            <p:spPr>
              <a:xfrm>
                <a:off x="1302512" y="4300423"/>
                <a:ext cx="2936240" cy="1200329"/>
              </a:xfrm>
              <a:prstGeom prst="rect">
                <a:avLst/>
              </a:prstGeom>
              <a:noFill/>
            </p:spPr>
            <p:txBody>
              <a:bodyPr wrap="square" rtlCol="0">
                <a:spAutoFit/>
              </a:bodyPr>
              <a:lstStyle/>
              <a:p>
                <a:pPr algn="r"/>
                <a:r>
                  <a:rPr lang="en-US" b="1" noProof="0" dirty="0">
                    <a:solidFill>
                      <a:schemeClr val="bg2">
                        <a:lumMod val="50000"/>
                      </a:schemeClr>
                    </a:solidFill>
                  </a:rPr>
                  <a:t>Posterior</a:t>
                </a:r>
              </a:p>
              <a:p>
                <a:pPr algn="r"/>
                <a:r>
                  <a:rPr lang="en-US" noProof="0" dirty="0"/>
                  <a:t>Probability that the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the observed data </a:t>
                </a:r>
                <a14:m>
                  <m:oMath xmlns:m="http://schemas.openxmlformats.org/officeDocument/2006/math">
                    <m:r>
                      <a:rPr lang="en-US" b="0" i="1" noProof="0" smtClean="0">
                        <a:latin typeface="Cambria Math" panose="02040503050406030204" pitchFamily="18" charset="0"/>
                      </a:rPr>
                      <m:t>𝑑</m:t>
                    </m:r>
                  </m:oMath>
                </a14:m>
                <a:endParaRPr lang="en-US" noProof="0" dirty="0"/>
              </a:p>
            </p:txBody>
          </p:sp>
        </mc:Choice>
        <mc:Fallback xmlns="">
          <p:sp>
            <p:nvSpPr>
              <p:cNvPr id="8" name="TextBox 7">
                <a:extLst>
                  <a:ext uri="{FF2B5EF4-FFF2-40B4-BE49-F238E27FC236}">
                    <a16:creationId xmlns:a16="http://schemas.microsoft.com/office/drawing/2014/main" id="{16224C76-10D2-A50D-0933-538BA223E83A}"/>
                  </a:ext>
                </a:extLst>
              </p:cNvPr>
              <p:cNvSpPr txBox="1">
                <a:spLocks noRot="1" noChangeAspect="1" noMove="1" noResize="1" noEditPoints="1" noAdjustHandles="1" noChangeArrowheads="1" noChangeShapeType="1" noTextEdit="1"/>
              </p:cNvSpPr>
              <p:nvPr/>
            </p:nvSpPr>
            <p:spPr>
              <a:xfrm>
                <a:off x="1302512" y="4300423"/>
                <a:ext cx="2936240" cy="1200329"/>
              </a:xfrm>
              <a:prstGeom prst="rect">
                <a:avLst/>
              </a:prstGeom>
              <a:blipFill>
                <a:blip r:embed="rId3"/>
                <a:stretch>
                  <a:fillRect t="-2030" r="-3534" b="-7614"/>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DF962B1-48B0-246E-E0E4-C910C9F8335E}"/>
                  </a:ext>
                </a:extLst>
              </p:cNvPr>
              <p:cNvSpPr txBox="1"/>
              <p:nvPr/>
            </p:nvSpPr>
            <p:spPr>
              <a:xfrm>
                <a:off x="4038600" y="3262646"/>
                <a:ext cx="2936240" cy="923330"/>
              </a:xfrm>
              <a:prstGeom prst="rect">
                <a:avLst/>
              </a:prstGeom>
              <a:noFill/>
            </p:spPr>
            <p:txBody>
              <a:bodyPr wrap="square" rtlCol="0">
                <a:spAutoFit/>
              </a:bodyPr>
              <a:lstStyle/>
              <a:p>
                <a:pPr algn="r"/>
                <a:r>
                  <a:rPr lang="en-US" b="1" noProof="0" dirty="0">
                    <a:solidFill>
                      <a:schemeClr val="accent1">
                        <a:lumMod val="50000"/>
                      </a:schemeClr>
                    </a:solidFill>
                  </a:rPr>
                  <a:t>Likelihood</a:t>
                </a:r>
              </a:p>
              <a:p>
                <a:pPr algn="r"/>
                <a:r>
                  <a:rPr lang="en-US" noProof="0" dirty="0"/>
                  <a:t>of observing data </a:t>
                </a:r>
                <a14:m>
                  <m:oMath xmlns:m="http://schemas.openxmlformats.org/officeDocument/2006/math">
                    <m:r>
                      <a:rPr lang="en-US" b="0" i="1" noProof="0" smtClean="0">
                        <a:latin typeface="Cambria Math" panose="02040503050406030204" pitchFamily="18" charset="0"/>
                      </a:rPr>
                      <m:t>𝑑</m:t>
                    </m:r>
                  </m:oMath>
                </a14:m>
                <a:r>
                  <a:rPr lang="en-US" noProof="0" dirty="0"/>
                  <a:t> if the hypothesis </a:t>
                </a:r>
                <a14:m>
                  <m:oMath xmlns:m="http://schemas.openxmlformats.org/officeDocument/2006/math">
                    <m:r>
                      <a:rPr lang="en-US" i="1" noProof="0" smtClean="0">
                        <a:latin typeface="Cambria Math" panose="02040503050406030204" pitchFamily="18" charset="0"/>
                      </a:rPr>
                      <m:t>h</m:t>
                    </m:r>
                  </m:oMath>
                </a14:m>
                <a:r>
                  <a:rPr lang="en-US" noProof="0" dirty="0"/>
                  <a:t> were true</a:t>
                </a:r>
              </a:p>
            </p:txBody>
          </p:sp>
        </mc:Choice>
        <mc:Fallback xmlns="">
          <p:sp>
            <p:nvSpPr>
              <p:cNvPr id="10" name="TextBox 9">
                <a:extLst>
                  <a:ext uri="{FF2B5EF4-FFF2-40B4-BE49-F238E27FC236}">
                    <a16:creationId xmlns:a16="http://schemas.microsoft.com/office/drawing/2014/main" id="{6DF962B1-48B0-246E-E0E4-C910C9F8335E}"/>
                  </a:ext>
                </a:extLst>
              </p:cNvPr>
              <p:cNvSpPr txBox="1">
                <a:spLocks noRot="1" noChangeAspect="1" noMove="1" noResize="1" noEditPoints="1" noAdjustHandles="1" noChangeArrowheads="1" noChangeShapeType="1" noTextEdit="1"/>
              </p:cNvSpPr>
              <p:nvPr/>
            </p:nvSpPr>
            <p:spPr>
              <a:xfrm>
                <a:off x="4038600" y="3262646"/>
                <a:ext cx="2936240" cy="923330"/>
              </a:xfrm>
              <a:prstGeom prst="rect">
                <a:avLst/>
              </a:prstGeom>
              <a:blipFill>
                <a:blip r:embed="rId4"/>
                <a:stretch>
                  <a:fillRect t="-2632" r="-3326" b="-986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EF23848-5539-4B0F-1D3B-BF76E1C5C715}"/>
                  </a:ext>
                </a:extLst>
              </p:cNvPr>
              <p:cNvSpPr txBox="1"/>
              <p:nvPr/>
            </p:nvSpPr>
            <p:spPr>
              <a:xfrm>
                <a:off x="7045960" y="3256147"/>
                <a:ext cx="3129280" cy="923330"/>
              </a:xfrm>
              <a:prstGeom prst="rect">
                <a:avLst/>
              </a:prstGeom>
              <a:noFill/>
            </p:spPr>
            <p:txBody>
              <a:bodyPr wrap="square" rtlCol="0">
                <a:spAutoFit/>
              </a:bodyPr>
              <a:lstStyle/>
              <a:p>
                <a:r>
                  <a:rPr lang="en-US" b="1" noProof="0" dirty="0">
                    <a:solidFill>
                      <a:schemeClr val="accent2">
                        <a:lumMod val="50000"/>
                      </a:schemeClr>
                    </a:solidFill>
                  </a:rPr>
                  <a:t>Prior</a:t>
                </a:r>
              </a:p>
              <a:p>
                <a:r>
                  <a:rPr lang="en-US" noProof="0" dirty="0"/>
                  <a:t>probability that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no information</a:t>
                </a:r>
              </a:p>
            </p:txBody>
          </p:sp>
        </mc:Choice>
        <mc:Fallback xmlns="">
          <p:sp>
            <p:nvSpPr>
              <p:cNvPr id="12" name="TextBox 11">
                <a:extLst>
                  <a:ext uri="{FF2B5EF4-FFF2-40B4-BE49-F238E27FC236}">
                    <a16:creationId xmlns:a16="http://schemas.microsoft.com/office/drawing/2014/main" id="{BEF23848-5539-4B0F-1D3B-BF76E1C5C715}"/>
                  </a:ext>
                </a:extLst>
              </p:cNvPr>
              <p:cNvSpPr txBox="1">
                <a:spLocks noRot="1" noChangeAspect="1" noMove="1" noResize="1" noEditPoints="1" noAdjustHandles="1" noChangeArrowheads="1" noChangeShapeType="1" noTextEdit="1"/>
              </p:cNvSpPr>
              <p:nvPr/>
            </p:nvSpPr>
            <p:spPr>
              <a:xfrm>
                <a:off x="7045960" y="3256147"/>
                <a:ext cx="3129280" cy="923330"/>
              </a:xfrm>
              <a:prstGeom prst="rect">
                <a:avLst/>
              </a:prstGeom>
              <a:blipFill>
                <a:blip r:embed="rId5"/>
                <a:stretch>
                  <a:fillRect l="-1754" t="-2632" b="-986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200C165-3084-C17A-F134-DB659C1EFD18}"/>
                  </a:ext>
                </a:extLst>
              </p:cNvPr>
              <p:cNvSpPr txBox="1"/>
              <p:nvPr/>
            </p:nvSpPr>
            <p:spPr>
              <a:xfrm>
                <a:off x="6370320" y="5433020"/>
                <a:ext cx="3989022" cy="923330"/>
              </a:xfrm>
              <a:prstGeom prst="rect">
                <a:avLst/>
              </a:prstGeom>
              <a:noFill/>
            </p:spPr>
            <p:txBody>
              <a:bodyPr wrap="square" rtlCol="0">
                <a:spAutoFit/>
              </a:bodyPr>
              <a:lstStyle/>
              <a:p>
                <a:r>
                  <a:rPr lang="en-US" b="1" noProof="0" dirty="0">
                    <a:solidFill>
                      <a:schemeClr val="accent6">
                        <a:lumMod val="50000"/>
                      </a:schemeClr>
                    </a:solidFill>
                  </a:rPr>
                  <a:t>Marginal likelihood</a:t>
                </a:r>
              </a:p>
              <a:p>
                <a:r>
                  <a:rPr lang="en-US" noProof="0" dirty="0"/>
                  <a:t>i.e., the probability to observe the data </a:t>
                </a:r>
                <a14:m>
                  <m:oMath xmlns:m="http://schemas.openxmlformats.org/officeDocument/2006/math">
                    <m:r>
                      <a:rPr lang="en-US" b="0" i="1" noProof="0" smtClean="0">
                        <a:latin typeface="Cambria Math" panose="02040503050406030204" pitchFamily="18" charset="0"/>
                      </a:rPr>
                      <m:t>𝑑</m:t>
                    </m:r>
                  </m:oMath>
                </a14:m>
                <a:r>
                  <a:rPr lang="en-US" noProof="0" dirty="0"/>
                  <a:t> under all possible hypotheses</a:t>
                </a:r>
              </a:p>
            </p:txBody>
          </p:sp>
        </mc:Choice>
        <mc:Fallback xmlns="">
          <p:sp>
            <p:nvSpPr>
              <p:cNvPr id="14" name="TextBox 13">
                <a:extLst>
                  <a:ext uri="{FF2B5EF4-FFF2-40B4-BE49-F238E27FC236}">
                    <a16:creationId xmlns:a16="http://schemas.microsoft.com/office/drawing/2014/main" id="{E200C165-3084-C17A-F134-DB659C1EFD18}"/>
                  </a:ext>
                </a:extLst>
              </p:cNvPr>
              <p:cNvSpPr txBox="1">
                <a:spLocks noRot="1" noChangeAspect="1" noMove="1" noResize="1" noEditPoints="1" noAdjustHandles="1" noChangeArrowheads="1" noChangeShapeType="1" noTextEdit="1"/>
              </p:cNvSpPr>
              <p:nvPr/>
            </p:nvSpPr>
            <p:spPr>
              <a:xfrm>
                <a:off x="6370320" y="5433020"/>
                <a:ext cx="3989022" cy="923330"/>
              </a:xfrm>
              <a:prstGeom prst="rect">
                <a:avLst/>
              </a:prstGeom>
              <a:blipFill>
                <a:blip r:embed="rId6"/>
                <a:stretch>
                  <a:fillRect l="-1223" t="-2632" r="-1223" b="-9868"/>
                </a:stretch>
              </a:blipFill>
            </p:spPr>
            <p:txBody>
              <a:bodyPr/>
              <a:lstStyle/>
              <a:p>
                <a:r>
                  <a:rPr lang="en-SE">
                    <a:noFill/>
                  </a:rPr>
                  <a:t> </a:t>
                </a:r>
              </a:p>
            </p:txBody>
          </p:sp>
        </mc:Fallback>
      </mc:AlternateContent>
      <p:sp>
        <p:nvSpPr>
          <p:cNvPr id="7" name="Footer Placeholder 6">
            <a:extLst>
              <a:ext uri="{FF2B5EF4-FFF2-40B4-BE49-F238E27FC236}">
                <a16:creationId xmlns:a16="http://schemas.microsoft.com/office/drawing/2014/main" id="{E14278F6-3F41-8958-19E2-117D94968A31}"/>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26604312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54274-EF83-CD81-471A-BFA405735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D403E-CFB4-B377-452A-70C64F9D7B33}"/>
              </a:ext>
            </a:extLst>
          </p:cNvPr>
          <p:cNvSpPr>
            <a:spLocks noGrp="1"/>
          </p:cNvSpPr>
          <p:nvPr>
            <p:ph type="title"/>
          </p:nvPr>
        </p:nvSpPr>
        <p:spPr/>
        <p:txBody>
          <a:bodyPr/>
          <a:lstStyle/>
          <a:p>
            <a:r>
              <a:rPr lang="en-US" noProof="0" dirty="0"/>
              <a:t>Example</a:t>
            </a:r>
          </a:p>
        </p:txBody>
      </p:sp>
      <p:sp>
        <p:nvSpPr>
          <p:cNvPr id="3" name="Content Placeholder 2">
            <a:extLst>
              <a:ext uri="{FF2B5EF4-FFF2-40B4-BE49-F238E27FC236}">
                <a16:creationId xmlns:a16="http://schemas.microsoft.com/office/drawing/2014/main" id="{B522405D-CC0F-0A72-EF52-07C9A1F13CBA}"/>
              </a:ext>
            </a:extLst>
          </p:cNvPr>
          <p:cNvSpPr>
            <a:spLocks noGrp="1"/>
          </p:cNvSpPr>
          <p:nvPr>
            <p:ph idx="1"/>
          </p:nvPr>
        </p:nvSpPr>
        <p:spPr>
          <a:xfrm>
            <a:off x="838200" y="1825625"/>
            <a:ext cx="10515600" cy="1325563"/>
          </a:xfrm>
        </p:spPr>
        <p:txBody>
          <a:bodyPr/>
          <a:lstStyle/>
          <a:p>
            <a:pPr marL="0" indent="0">
              <a:buNone/>
            </a:pPr>
            <a:r>
              <a:rPr lang="en-US" noProof="0" dirty="0"/>
              <a:t>We are investigating a static code analysis tool. The tool has </a:t>
            </a:r>
            <a:r>
              <a:rPr lang="en-US" b="1" noProof="0" dirty="0">
                <a:solidFill>
                  <a:schemeClr val="accent1">
                    <a:lumMod val="50000"/>
                  </a:schemeClr>
                </a:solidFill>
              </a:rPr>
              <a:t>90% sensitivity and 10% false positive rate</a:t>
            </a:r>
            <a:r>
              <a:rPr lang="en-US" noProof="0" dirty="0"/>
              <a:t>. Only </a:t>
            </a:r>
            <a:r>
              <a:rPr lang="en-US" b="1" noProof="0" dirty="0">
                <a:solidFill>
                  <a:schemeClr val="accent2">
                    <a:lumMod val="75000"/>
                  </a:schemeClr>
                </a:solidFill>
              </a:rPr>
              <a:t>5% of files actually have bugs</a:t>
            </a:r>
            <a:r>
              <a:rPr lang="en-US" noProof="0" dirty="0"/>
              <a:t>. </a:t>
            </a:r>
            <a:r>
              <a:rPr lang="en-US" i="1" noProof="0" dirty="0"/>
              <a:t>What's the </a:t>
            </a:r>
            <a:r>
              <a:rPr lang="en-US" b="1" i="1" noProof="0" dirty="0">
                <a:solidFill>
                  <a:schemeClr val="bg2">
                    <a:lumMod val="50000"/>
                  </a:schemeClr>
                </a:solidFill>
              </a:rPr>
              <a:t>probability that a flagged file is buggy</a:t>
            </a:r>
            <a:r>
              <a:rPr lang="en-US" i="1" noProof="0" dirty="0"/>
              <a:t>?</a:t>
            </a:r>
          </a:p>
        </p:txBody>
      </p:sp>
      <p:sp>
        <p:nvSpPr>
          <p:cNvPr id="4" name="Date Placeholder 3">
            <a:extLst>
              <a:ext uri="{FF2B5EF4-FFF2-40B4-BE49-F238E27FC236}">
                <a16:creationId xmlns:a16="http://schemas.microsoft.com/office/drawing/2014/main" id="{D866FCD7-C803-AF46-FC80-7870CF5EC483}"/>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A12DED34-620E-BC2E-3B02-705655816531}"/>
              </a:ext>
            </a:extLst>
          </p:cNvPr>
          <p:cNvSpPr>
            <a:spLocks noGrp="1"/>
          </p:cNvSpPr>
          <p:nvPr>
            <p:ph type="sldNum" sz="quarter" idx="12"/>
          </p:nvPr>
        </p:nvSpPr>
        <p:spPr/>
        <p:txBody>
          <a:bodyPr/>
          <a:lstStyle/>
          <a:p>
            <a:fld id="{271ECC92-9CDE-4EB3-B1C5-F46B9E1FA3C1}" type="slidenum">
              <a:rPr lang="en-US" noProof="0" smtClean="0"/>
              <a:t>37</a:t>
            </a:fld>
            <a:endParaRPr lang="en-US" noProof="0" dirty="0"/>
          </a:p>
        </p:txBody>
      </p: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093B05A3-2539-0873-4BF9-783B8E6CBD45}"/>
                  </a:ext>
                </a:extLst>
              </p:cNvPr>
              <p:cNvSpPr txBox="1">
                <a:spLocks/>
              </p:cNvSpPr>
              <p:nvPr/>
            </p:nvSpPr>
            <p:spPr>
              <a:xfrm>
                <a:off x="3963428" y="4422604"/>
                <a:ext cx="5584432" cy="994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noProof="0" smtClean="0">
                          <a:solidFill>
                            <a:schemeClr val="bg2">
                              <a:lumMod val="50000"/>
                            </a:schemeClr>
                          </a:solidFill>
                          <a:latin typeface="Cambria Math" panose="02040503050406030204" pitchFamily="18" charset="0"/>
                        </a:rPr>
                        <m:t>𝑃</m:t>
                      </m:r>
                      <m:d>
                        <m:dPr>
                          <m:ctrlPr>
                            <a:rPr lang="en-US" b="0" i="1" noProof="0" smtClean="0">
                              <a:solidFill>
                                <a:schemeClr val="bg2">
                                  <a:lumMod val="50000"/>
                                </a:schemeClr>
                              </a:solidFill>
                              <a:latin typeface="Cambria Math" panose="02040503050406030204" pitchFamily="18" charset="0"/>
                            </a:rPr>
                          </m:ctrlPr>
                        </m:dPr>
                        <m:e>
                          <m:r>
                            <a:rPr lang="en-US" b="0" i="1" noProof="0" smtClean="0">
                              <a:solidFill>
                                <a:schemeClr val="bg2">
                                  <a:lumMod val="50000"/>
                                </a:schemeClr>
                              </a:solidFill>
                              <a:latin typeface="Cambria Math" panose="02040503050406030204" pitchFamily="18" charset="0"/>
                            </a:rPr>
                            <m:t>h</m:t>
                          </m:r>
                        </m:e>
                        <m:e>
                          <m:r>
                            <a:rPr lang="en-US" b="0" i="1" noProof="0" smtClean="0">
                              <a:solidFill>
                                <a:schemeClr val="bg2">
                                  <a:lumMod val="50000"/>
                                </a:schemeClr>
                              </a:solidFill>
                              <a:latin typeface="Cambria Math" panose="02040503050406030204" pitchFamily="18" charset="0"/>
                            </a:rPr>
                            <m:t>𝑑</m:t>
                          </m:r>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solidFill>
                                <a:schemeClr val="accent1">
                                  <a:lumMod val="50000"/>
                                </a:schemeClr>
                              </a:solidFill>
                              <a:latin typeface="Cambria Math" panose="02040503050406030204" pitchFamily="18" charset="0"/>
                            </a:rPr>
                            <m:t>0.90</m:t>
                          </m:r>
                          <m:r>
                            <a:rPr lang="en-US" b="0" i="1" noProof="0" smtClean="0">
                              <a:latin typeface="Cambria Math" panose="02040503050406030204" pitchFamily="18" charset="0"/>
                            </a:rPr>
                            <m:t>⋅</m:t>
                          </m:r>
                          <m:r>
                            <a:rPr lang="en-US" b="0" i="1" noProof="0" smtClean="0">
                              <a:solidFill>
                                <a:schemeClr val="accent2">
                                  <a:lumMod val="50000"/>
                                </a:schemeClr>
                              </a:solidFill>
                              <a:latin typeface="Cambria Math" panose="02040503050406030204" pitchFamily="18" charset="0"/>
                            </a:rPr>
                            <m:t>0.05</m:t>
                          </m:r>
                        </m:num>
                        <m:den>
                          <m:r>
                            <a:rPr lang="en-US" b="0" i="1" noProof="0" smtClean="0">
                              <a:solidFill>
                                <a:schemeClr val="accent6">
                                  <a:lumMod val="50000"/>
                                </a:schemeClr>
                              </a:solidFill>
                              <a:latin typeface="Cambria Math" panose="02040503050406030204" pitchFamily="18" charset="0"/>
                            </a:rPr>
                            <m:t>0.14</m:t>
                          </m:r>
                        </m:den>
                      </m:f>
                      <m:r>
                        <a:rPr lang="en-US" b="0" i="1" noProof="0" smtClean="0">
                          <a:latin typeface="Cambria Math" panose="02040503050406030204" pitchFamily="18" charset="0"/>
                        </a:rPr>
                        <m:t>=</m:t>
                      </m:r>
                      <m:r>
                        <a:rPr lang="en-US" b="0" i="1" noProof="0" smtClean="0">
                          <a:solidFill>
                            <a:schemeClr val="bg2">
                              <a:lumMod val="50000"/>
                            </a:schemeClr>
                          </a:solidFill>
                          <a:latin typeface="Cambria Math" panose="02040503050406030204" pitchFamily="18" charset="0"/>
                        </a:rPr>
                        <m:t>0.321</m:t>
                      </m:r>
                    </m:oMath>
                  </m:oMathPara>
                </a14:m>
                <a:endParaRPr lang="en-US" noProof="0" dirty="0"/>
              </a:p>
            </p:txBody>
          </p:sp>
        </mc:Choice>
        <mc:Fallback xmlns="">
          <p:sp>
            <p:nvSpPr>
              <p:cNvPr id="15" name="Content Placeholder 2">
                <a:extLst>
                  <a:ext uri="{FF2B5EF4-FFF2-40B4-BE49-F238E27FC236}">
                    <a16:creationId xmlns:a16="http://schemas.microsoft.com/office/drawing/2014/main" id="{093B05A3-2539-0873-4BF9-783B8E6CBD45}"/>
                  </a:ext>
                </a:extLst>
              </p:cNvPr>
              <p:cNvSpPr txBox="1">
                <a:spLocks noRot="1" noChangeAspect="1" noMove="1" noResize="1" noEditPoints="1" noAdjustHandles="1" noChangeArrowheads="1" noChangeShapeType="1" noTextEdit="1"/>
              </p:cNvSpPr>
              <p:nvPr/>
            </p:nvSpPr>
            <p:spPr>
              <a:xfrm>
                <a:off x="3963428" y="4422604"/>
                <a:ext cx="5584432" cy="994097"/>
              </a:xfrm>
              <a:prstGeom prst="rect">
                <a:avLst/>
              </a:prstGeom>
              <a:blipFill>
                <a:blip r:embed="rId2"/>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9E047B0-C056-D939-AC77-B6048F71AAFC}"/>
                  </a:ext>
                </a:extLst>
              </p:cNvPr>
              <p:cNvSpPr txBox="1"/>
              <p:nvPr/>
            </p:nvSpPr>
            <p:spPr>
              <a:xfrm>
                <a:off x="1302512" y="4300423"/>
                <a:ext cx="2936240" cy="1200329"/>
              </a:xfrm>
              <a:prstGeom prst="rect">
                <a:avLst/>
              </a:prstGeom>
              <a:noFill/>
            </p:spPr>
            <p:txBody>
              <a:bodyPr wrap="square" rtlCol="0">
                <a:spAutoFit/>
              </a:bodyPr>
              <a:lstStyle/>
              <a:p>
                <a:pPr algn="r"/>
                <a:r>
                  <a:rPr lang="en-US" b="1" noProof="0" dirty="0">
                    <a:solidFill>
                      <a:schemeClr val="bg2">
                        <a:lumMod val="50000"/>
                      </a:schemeClr>
                    </a:solidFill>
                  </a:rPr>
                  <a:t>Posterior</a:t>
                </a:r>
              </a:p>
              <a:p>
                <a:pPr algn="r"/>
                <a:r>
                  <a:rPr lang="en-US" noProof="0" dirty="0"/>
                  <a:t>Probability that the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the observed data </a:t>
                </a:r>
                <a14:m>
                  <m:oMath xmlns:m="http://schemas.openxmlformats.org/officeDocument/2006/math">
                    <m:r>
                      <a:rPr lang="en-US" b="0" i="1" noProof="0" smtClean="0">
                        <a:latin typeface="Cambria Math" panose="02040503050406030204" pitchFamily="18" charset="0"/>
                      </a:rPr>
                      <m:t>𝑑</m:t>
                    </m:r>
                  </m:oMath>
                </a14:m>
                <a:endParaRPr lang="en-US" noProof="0" dirty="0"/>
              </a:p>
            </p:txBody>
          </p:sp>
        </mc:Choice>
        <mc:Fallback xmlns="">
          <p:sp>
            <p:nvSpPr>
              <p:cNvPr id="17" name="TextBox 16">
                <a:extLst>
                  <a:ext uri="{FF2B5EF4-FFF2-40B4-BE49-F238E27FC236}">
                    <a16:creationId xmlns:a16="http://schemas.microsoft.com/office/drawing/2014/main" id="{89E047B0-C056-D939-AC77-B6048F71AAFC}"/>
                  </a:ext>
                </a:extLst>
              </p:cNvPr>
              <p:cNvSpPr txBox="1">
                <a:spLocks noRot="1" noChangeAspect="1" noMove="1" noResize="1" noEditPoints="1" noAdjustHandles="1" noChangeArrowheads="1" noChangeShapeType="1" noTextEdit="1"/>
              </p:cNvSpPr>
              <p:nvPr/>
            </p:nvSpPr>
            <p:spPr>
              <a:xfrm>
                <a:off x="1302512" y="4300423"/>
                <a:ext cx="2936240" cy="1200329"/>
              </a:xfrm>
              <a:prstGeom prst="rect">
                <a:avLst/>
              </a:prstGeom>
              <a:blipFill>
                <a:blip r:embed="rId3"/>
                <a:stretch>
                  <a:fillRect t="-2030" r="-3534" b="-7614"/>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5D5D61B-1777-5A44-0AD2-0FC3F973B16B}"/>
                  </a:ext>
                </a:extLst>
              </p:cNvPr>
              <p:cNvSpPr txBox="1"/>
              <p:nvPr/>
            </p:nvSpPr>
            <p:spPr>
              <a:xfrm>
                <a:off x="4038600" y="3262646"/>
                <a:ext cx="2936240" cy="923330"/>
              </a:xfrm>
              <a:prstGeom prst="rect">
                <a:avLst/>
              </a:prstGeom>
              <a:noFill/>
            </p:spPr>
            <p:txBody>
              <a:bodyPr wrap="square" rtlCol="0">
                <a:spAutoFit/>
              </a:bodyPr>
              <a:lstStyle/>
              <a:p>
                <a:pPr algn="r"/>
                <a:r>
                  <a:rPr lang="en-US" b="1" noProof="0" dirty="0">
                    <a:solidFill>
                      <a:schemeClr val="accent1">
                        <a:lumMod val="50000"/>
                      </a:schemeClr>
                    </a:solidFill>
                  </a:rPr>
                  <a:t>Likelihood</a:t>
                </a:r>
              </a:p>
              <a:p>
                <a:pPr algn="r"/>
                <a:r>
                  <a:rPr lang="en-US" noProof="0" dirty="0"/>
                  <a:t>of observing data </a:t>
                </a:r>
                <a14:m>
                  <m:oMath xmlns:m="http://schemas.openxmlformats.org/officeDocument/2006/math">
                    <m:r>
                      <a:rPr lang="en-US" b="0" i="1" noProof="0" smtClean="0">
                        <a:latin typeface="Cambria Math" panose="02040503050406030204" pitchFamily="18" charset="0"/>
                      </a:rPr>
                      <m:t>𝑑</m:t>
                    </m:r>
                  </m:oMath>
                </a14:m>
                <a:r>
                  <a:rPr lang="en-US" noProof="0" dirty="0"/>
                  <a:t> if the hypothesis </a:t>
                </a:r>
                <a14:m>
                  <m:oMath xmlns:m="http://schemas.openxmlformats.org/officeDocument/2006/math">
                    <m:r>
                      <a:rPr lang="en-US" i="1" noProof="0" smtClean="0">
                        <a:latin typeface="Cambria Math" panose="02040503050406030204" pitchFamily="18" charset="0"/>
                      </a:rPr>
                      <m:t>h</m:t>
                    </m:r>
                  </m:oMath>
                </a14:m>
                <a:r>
                  <a:rPr lang="en-US" noProof="0" dirty="0"/>
                  <a:t> were true</a:t>
                </a:r>
              </a:p>
            </p:txBody>
          </p:sp>
        </mc:Choice>
        <mc:Fallback xmlns="">
          <p:sp>
            <p:nvSpPr>
              <p:cNvPr id="19" name="TextBox 18">
                <a:extLst>
                  <a:ext uri="{FF2B5EF4-FFF2-40B4-BE49-F238E27FC236}">
                    <a16:creationId xmlns:a16="http://schemas.microsoft.com/office/drawing/2014/main" id="{75D5D61B-1777-5A44-0AD2-0FC3F973B16B}"/>
                  </a:ext>
                </a:extLst>
              </p:cNvPr>
              <p:cNvSpPr txBox="1">
                <a:spLocks noRot="1" noChangeAspect="1" noMove="1" noResize="1" noEditPoints="1" noAdjustHandles="1" noChangeArrowheads="1" noChangeShapeType="1" noTextEdit="1"/>
              </p:cNvSpPr>
              <p:nvPr/>
            </p:nvSpPr>
            <p:spPr>
              <a:xfrm>
                <a:off x="4038600" y="3262646"/>
                <a:ext cx="2936240" cy="923330"/>
              </a:xfrm>
              <a:prstGeom prst="rect">
                <a:avLst/>
              </a:prstGeom>
              <a:blipFill>
                <a:blip r:embed="rId4"/>
                <a:stretch>
                  <a:fillRect t="-2632" r="-3326" b="-986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D9E4922-293F-009A-EA53-547AD45E4481}"/>
                  </a:ext>
                </a:extLst>
              </p:cNvPr>
              <p:cNvSpPr txBox="1"/>
              <p:nvPr/>
            </p:nvSpPr>
            <p:spPr>
              <a:xfrm>
                <a:off x="7045960" y="3256147"/>
                <a:ext cx="3129280" cy="923330"/>
              </a:xfrm>
              <a:prstGeom prst="rect">
                <a:avLst/>
              </a:prstGeom>
              <a:noFill/>
            </p:spPr>
            <p:txBody>
              <a:bodyPr wrap="square" rtlCol="0">
                <a:spAutoFit/>
              </a:bodyPr>
              <a:lstStyle/>
              <a:p>
                <a:r>
                  <a:rPr lang="en-US" b="1" noProof="0" dirty="0">
                    <a:solidFill>
                      <a:schemeClr val="accent2">
                        <a:lumMod val="50000"/>
                      </a:schemeClr>
                    </a:solidFill>
                  </a:rPr>
                  <a:t>Prior</a:t>
                </a:r>
              </a:p>
              <a:p>
                <a:r>
                  <a:rPr lang="en-US" noProof="0" dirty="0"/>
                  <a:t>probability that hypothesis </a:t>
                </a:r>
                <a14:m>
                  <m:oMath xmlns:m="http://schemas.openxmlformats.org/officeDocument/2006/math">
                    <m:r>
                      <a:rPr lang="en-US" b="0" i="1" noProof="0" smtClean="0">
                        <a:latin typeface="Cambria Math" panose="02040503050406030204" pitchFamily="18" charset="0"/>
                      </a:rPr>
                      <m:t>h</m:t>
                    </m:r>
                  </m:oMath>
                </a14:m>
                <a:r>
                  <a:rPr lang="en-US" noProof="0" dirty="0"/>
                  <a:t> is true given no information</a:t>
                </a:r>
              </a:p>
            </p:txBody>
          </p:sp>
        </mc:Choice>
        <mc:Fallback xmlns="">
          <p:sp>
            <p:nvSpPr>
              <p:cNvPr id="21" name="TextBox 20">
                <a:extLst>
                  <a:ext uri="{FF2B5EF4-FFF2-40B4-BE49-F238E27FC236}">
                    <a16:creationId xmlns:a16="http://schemas.microsoft.com/office/drawing/2014/main" id="{9D9E4922-293F-009A-EA53-547AD45E4481}"/>
                  </a:ext>
                </a:extLst>
              </p:cNvPr>
              <p:cNvSpPr txBox="1">
                <a:spLocks noRot="1" noChangeAspect="1" noMove="1" noResize="1" noEditPoints="1" noAdjustHandles="1" noChangeArrowheads="1" noChangeShapeType="1" noTextEdit="1"/>
              </p:cNvSpPr>
              <p:nvPr/>
            </p:nvSpPr>
            <p:spPr>
              <a:xfrm>
                <a:off x="7045960" y="3256147"/>
                <a:ext cx="3129280" cy="923330"/>
              </a:xfrm>
              <a:prstGeom prst="rect">
                <a:avLst/>
              </a:prstGeom>
              <a:blipFill>
                <a:blip r:embed="rId5"/>
                <a:stretch>
                  <a:fillRect l="-1754" t="-2632" b="-986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65C4D64-5BB7-51AF-6AA6-53D915F4FFB3}"/>
                  </a:ext>
                </a:extLst>
              </p:cNvPr>
              <p:cNvSpPr txBox="1"/>
              <p:nvPr/>
            </p:nvSpPr>
            <p:spPr>
              <a:xfrm>
                <a:off x="6370320" y="5433020"/>
                <a:ext cx="3989022" cy="923330"/>
              </a:xfrm>
              <a:prstGeom prst="rect">
                <a:avLst/>
              </a:prstGeom>
              <a:noFill/>
            </p:spPr>
            <p:txBody>
              <a:bodyPr wrap="square" rtlCol="0">
                <a:spAutoFit/>
              </a:bodyPr>
              <a:lstStyle/>
              <a:p>
                <a:r>
                  <a:rPr lang="en-US" b="1" noProof="0" dirty="0">
                    <a:solidFill>
                      <a:schemeClr val="accent6">
                        <a:lumMod val="50000"/>
                      </a:schemeClr>
                    </a:solidFill>
                  </a:rPr>
                  <a:t>Marginal likelihood</a:t>
                </a:r>
              </a:p>
              <a:p>
                <a:r>
                  <a:rPr lang="en-US" noProof="0" dirty="0"/>
                  <a:t>i.e., the probability to observe the data </a:t>
                </a:r>
                <a14:m>
                  <m:oMath xmlns:m="http://schemas.openxmlformats.org/officeDocument/2006/math">
                    <m:r>
                      <a:rPr lang="en-US" b="0" i="1" noProof="0" smtClean="0">
                        <a:latin typeface="Cambria Math" panose="02040503050406030204" pitchFamily="18" charset="0"/>
                      </a:rPr>
                      <m:t>𝑑</m:t>
                    </m:r>
                  </m:oMath>
                </a14:m>
                <a:r>
                  <a:rPr lang="en-US" noProof="0" dirty="0"/>
                  <a:t> under all possible hypotheses</a:t>
                </a:r>
              </a:p>
            </p:txBody>
          </p:sp>
        </mc:Choice>
        <mc:Fallback xmlns="">
          <p:sp>
            <p:nvSpPr>
              <p:cNvPr id="23" name="TextBox 22">
                <a:extLst>
                  <a:ext uri="{FF2B5EF4-FFF2-40B4-BE49-F238E27FC236}">
                    <a16:creationId xmlns:a16="http://schemas.microsoft.com/office/drawing/2014/main" id="{165C4D64-5BB7-51AF-6AA6-53D915F4FFB3}"/>
                  </a:ext>
                </a:extLst>
              </p:cNvPr>
              <p:cNvSpPr txBox="1">
                <a:spLocks noRot="1" noChangeAspect="1" noMove="1" noResize="1" noEditPoints="1" noAdjustHandles="1" noChangeArrowheads="1" noChangeShapeType="1" noTextEdit="1"/>
              </p:cNvSpPr>
              <p:nvPr/>
            </p:nvSpPr>
            <p:spPr>
              <a:xfrm>
                <a:off x="6370320" y="5433020"/>
                <a:ext cx="3989022" cy="923330"/>
              </a:xfrm>
              <a:prstGeom prst="rect">
                <a:avLst/>
              </a:prstGeom>
              <a:blipFill>
                <a:blip r:embed="rId6"/>
                <a:stretch>
                  <a:fillRect l="-1223" t="-2632" r="-1223" b="-9868"/>
                </a:stretch>
              </a:blipFill>
            </p:spPr>
            <p:txBody>
              <a:bodyPr/>
              <a:lstStyle/>
              <a:p>
                <a:r>
                  <a:rPr lang="en-SE">
                    <a:noFill/>
                  </a:rPr>
                  <a:t> </a:t>
                </a:r>
              </a:p>
            </p:txBody>
          </p:sp>
        </mc:Fallback>
      </mc:AlternateContent>
      <p:sp>
        <p:nvSpPr>
          <p:cNvPr id="6" name="Footer Placeholder 5">
            <a:extLst>
              <a:ext uri="{FF2B5EF4-FFF2-40B4-BE49-F238E27FC236}">
                <a16:creationId xmlns:a16="http://schemas.microsoft.com/office/drawing/2014/main" id="{C6E75D32-AA15-C17C-4BB5-1DECCE213ECF}"/>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2671582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FF98B-D947-BDD0-27BE-D9A573652F97}"/>
              </a:ext>
            </a:extLst>
          </p:cNvPr>
          <p:cNvSpPr>
            <a:spLocks noGrp="1"/>
          </p:cNvSpPr>
          <p:nvPr>
            <p:ph type="title"/>
          </p:nvPr>
        </p:nvSpPr>
        <p:spPr/>
        <p:txBody>
          <a:bodyPr/>
          <a:lstStyle/>
          <a:p>
            <a:r>
              <a:rPr lang="en-US" noProof="0" dirty="0"/>
              <a:t>Application I</a:t>
            </a:r>
          </a:p>
        </p:txBody>
      </p:sp>
      <p:sp>
        <p:nvSpPr>
          <p:cNvPr id="3" name="Text Placeholder 2">
            <a:extLst>
              <a:ext uri="{FF2B5EF4-FFF2-40B4-BE49-F238E27FC236}">
                <a16:creationId xmlns:a16="http://schemas.microsoft.com/office/drawing/2014/main" id="{D905D937-6E43-50FA-C7C7-0332DDD29F9D}"/>
              </a:ext>
            </a:extLst>
          </p:cNvPr>
          <p:cNvSpPr>
            <a:spLocks noGrp="1"/>
          </p:cNvSpPr>
          <p:nvPr>
            <p:ph type="body" idx="1"/>
          </p:nvPr>
        </p:nvSpPr>
        <p:spPr/>
        <p:txBody>
          <a:bodyPr/>
          <a:lstStyle/>
          <a:p>
            <a:r>
              <a:rPr lang="en-SE" noProof="0" dirty="0"/>
              <a:t>Using Bayesian Data Analysis in Practice</a:t>
            </a:r>
            <a:endParaRPr lang="en-US" noProof="0" dirty="0"/>
          </a:p>
        </p:txBody>
      </p:sp>
      <p:sp>
        <p:nvSpPr>
          <p:cNvPr id="4" name="Date Placeholder 3">
            <a:extLst>
              <a:ext uri="{FF2B5EF4-FFF2-40B4-BE49-F238E27FC236}">
                <a16:creationId xmlns:a16="http://schemas.microsoft.com/office/drawing/2014/main" id="{93DB0261-5EF8-81A2-08FD-03B2B0FE97C8}"/>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97F08A1E-83CB-9886-1B75-2BA285C6C54A}"/>
              </a:ext>
            </a:extLst>
          </p:cNvPr>
          <p:cNvSpPr>
            <a:spLocks noGrp="1"/>
          </p:cNvSpPr>
          <p:nvPr>
            <p:ph type="sldNum" sz="quarter" idx="12"/>
          </p:nvPr>
        </p:nvSpPr>
        <p:spPr/>
        <p:txBody>
          <a:bodyPr/>
          <a:lstStyle/>
          <a:p>
            <a:fld id="{271ECC92-9CDE-4EB3-B1C5-F46B9E1FA3C1}" type="slidenum">
              <a:rPr lang="en-US" noProof="0" smtClean="0"/>
              <a:t>38</a:t>
            </a:fld>
            <a:endParaRPr lang="en-US" noProof="0" dirty="0"/>
          </a:p>
        </p:txBody>
      </p:sp>
      <p:sp>
        <p:nvSpPr>
          <p:cNvPr id="6" name="Footer Placeholder 5">
            <a:extLst>
              <a:ext uri="{FF2B5EF4-FFF2-40B4-BE49-F238E27FC236}">
                <a16:creationId xmlns:a16="http://schemas.microsoft.com/office/drawing/2014/main" id="{1C439F41-AA96-407F-8377-8BD23EAFD689}"/>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5660492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235B755-6151-7B6F-E063-CFA8D1224C15}"/>
              </a:ext>
            </a:extLst>
          </p:cNvPr>
          <p:cNvSpPr>
            <a:spLocks noGrp="1"/>
          </p:cNvSpPr>
          <p:nvPr>
            <p:ph type="title"/>
          </p:nvPr>
        </p:nvSpPr>
        <p:spPr/>
        <p:txBody>
          <a:bodyPr/>
          <a:lstStyle/>
          <a:p>
            <a:r>
              <a:rPr lang="en-US" noProof="0" dirty="0"/>
              <a:t>The Bayesian Workflow</a:t>
            </a:r>
          </a:p>
        </p:txBody>
      </p:sp>
      <p:sp>
        <p:nvSpPr>
          <p:cNvPr id="7" name="Content Placeholder 6">
            <a:extLst>
              <a:ext uri="{FF2B5EF4-FFF2-40B4-BE49-F238E27FC236}">
                <a16:creationId xmlns:a16="http://schemas.microsoft.com/office/drawing/2014/main" id="{5BA859F7-9B9B-8A71-B498-A064E1946BC8}"/>
              </a:ext>
            </a:extLst>
          </p:cNvPr>
          <p:cNvSpPr>
            <a:spLocks noGrp="1"/>
          </p:cNvSpPr>
          <p:nvPr>
            <p:ph idx="1"/>
          </p:nvPr>
        </p:nvSpPr>
        <p:spPr>
          <a:xfrm>
            <a:off x="838200" y="1825625"/>
            <a:ext cx="10515600" cy="967002"/>
          </a:xfrm>
        </p:spPr>
        <p:txBody>
          <a:bodyPr/>
          <a:lstStyle/>
          <a:p>
            <a:pPr marL="0" indent="0">
              <a:buNone/>
            </a:pPr>
            <a:r>
              <a:rPr lang="en-US" noProof="0" dirty="0"/>
              <a:t>The </a:t>
            </a:r>
            <a:r>
              <a:rPr lang="en-SE" noProof="0" dirty="0"/>
              <a:t>upcoming</a:t>
            </a:r>
            <a:r>
              <a:rPr lang="en-US" noProof="0" dirty="0"/>
              <a:t> demonstration will teach </a:t>
            </a:r>
            <a:r>
              <a:rPr lang="en-SE" noProof="0" dirty="0"/>
              <a:t>you to </a:t>
            </a:r>
            <a:r>
              <a:rPr lang="en-SE" i="1" noProof="0" dirty="0"/>
              <a:t>understand </a:t>
            </a:r>
            <a:r>
              <a:rPr lang="en-SE" noProof="0" dirty="0"/>
              <a:t>or </a:t>
            </a:r>
            <a:r>
              <a:rPr lang="en-SE" b="1" noProof="0" dirty="0"/>
              <a:t>do </a:t>
            </a:r>
            <a:r>
              <a:rPr lang="en-SE" noProof="0" dirty="0"/>
              <a:t>the following steps of a practical Bayesian workflow:</a:t>
            </a:r>
            <a:endParaRPr lang="en-US" noProof="0" dirty="0"/>
          </a:p>
        </p:txBody>
      </p:sp>
      <p:sp>
        <p:nvSpPr>
          <p:cNvPr id="4" name="Date Placeholder 3">
            <a:extLst>
              <a:ext uri="{FF2B5EF4-FFF2-40B4-BE49-F238E27FC236}">
                <a16:creationId xmlns:a16="http://schemas.microsoft.com/office/drawing/2014/main" id="{35165FF1-E30A-12F1-C094-5E5BE00226DF}"/>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979777C7-4C0B-5F58-A75C-788C2C15F472}"/>
              </a:ext>
            </a:extLst>
          </p:cNvPr>
          <p:cNvSpPr>
            <a:spLocks noGrp="1"/>
          </p:cNvSpPr>
          <p:nvPr>
            <p:ph type="sldNum" sz="quarter" idx="12"/>
          </p:nvPr>
        </p:nvSpPr>
        <p:spPr/>
        <p:txBody>
          <a:bodyPr/>
          <a:lstStyle/>
          <a:p>
            <a:fld id="{271ECC92-9CDE-4EB3-B1C5-F46B9E1FA3C1}" type="slidenum">
              <a:rPr lang="en-US" noProof="0" smtClean="0"/>
              <a:t>39</a:t>
            </a:fld>
            <a:endParaRPr lang="en-US" noProof="0" dirty="0"/>
          </a:p>
        </p:txBody>
      </p:sp>
      <p:sp>
        <p:nvSpPr>
          <p:cNvPr id="51" name="TextBox 50">
            <a:extLst>
              <a:ext uri="{FF2B5EF4-FFF2-40B4-BE49-F238E27FC236}">
                <a16:creationId xmlns:a16="http://schemas.microsoft.com/office/drawing/2014/main" id="{1FE5C911-2568-9BE3-93DC-6E3FCCDD7FA3}"/>
              </a:ext>
            </a:extLst>
          </p:cNvPr>
          <p:cNvSpPr txBox="1"/>
          <p:nvPr/>
        </p:nvSpPr>
        <p:spPr>
          <a:xfrm>
            <a:off x="2131182" y="3113727"/>
            <a:ext cx="2804357" cy="369332"/>
          </a:xfrm>
          <a:prstGeom prst="rect">
            <a:avLst/>
          </a:prstGeom>
          <a:noFill/>
        </p:spPr>
        <p:txBody>
          <a:bodyPr wrap="none" rtlCol="0">
            <a:spAutoFit/>
          </a:bodyPr>
          <a:lstStyle/>
          <a:p>
            <a:r>
              <a:rPr lang="en-SE" b="1" dirty="0"/>
              <a:t>Build</a:t>
            </a:r>
            <a:r>
              <a:rPr lang="en-SE" dirty="0"/>
              <a:t> a regression formula</a:t>
            </a:r>
            <a:endParaRPr lang="en-SE" i="1" dirty="0"/>
          </a:p>
        </p:txBody>
      </p:sp>
      <p:sp>
        <p:nvSpPr>
          <p:cNvPr id="53" name="TextBox 52">
            <a:extLst>
              <a:ext uri="{FF2B5EF4-FFF2-40B4-BE49-F238E27FC236}">
                <a16:creationId xmlns:a16="http://schemas.microsoft.com/office/drawing/2014/main" id="{785E26E6-3C1A-C55D-0A68-843CD2BAF812}"/>
              </a:ext>
            </a:extLst>
          </p:cNvPr>
          <p:cNvSpPr txBox="1"/>
          <p:nvPr/>
        </p:nvSpPr>
        <p:spPr>
          <a:xfrm>
            <a:off x="2131182" y="3723647"/>
            <a:ext cx="4979568" cy="369332"/>
          </a:xfrm>
          <a:prstGeom prst="rect">
            <a:avLst/>
          </a:prstGeom>
          <a:noFill/>
        </p:spPr>
        <p:txBody>
          <a:bodyPr wrap="none" rtlCol="0">
            <a:spAutoFit/>
          </a:bodyPr>
          <a:lstStyle/>
          <a:p>
            <a:r>
              <a:rPr lang="en-SE" b="1" dirty="0"/>
              <a:t>Select</a:t>
            </a:r>
            <a:r>
              <a:rPr lang="en-SE" dirty="0"/>
              <a:t> and </a:t>
            </a:r>
            <a:r>
              <a:rPr lang="en-SE" b="1" dirty="0"/>
              <a:t>assess</a:t>
            </a:r>
            <a:r>
              <a:rPr lang="en-SE" dirty="0"/>
              <a:t> prior probability distributions</a:t>
            </a:r>
          </a:p>
        </p:txBody>
      </p:sp>
      <p:sp>
        <p:nvSpPr>
          <p:cNvPr id="55" name="TextBox 54">
            <a:extLst>
              <a:ext uri="{FF2B5EF4-FFF2-40B4-BE49-F238E27FC236}">
                <a16:creationId xmlns:a16="http://schemas.microsoft.com/office/drawing/2014/main" id="{3167BDAA-C9EA-6F57-A9B8-2FF38F64966E}"/>
              </a:ext>
            </a:extLst>
          </p:cNvPr>
          <p:cNvSpPr txBox="1"/>
          <p:nvPr/>
        </p:nvSpPr>
        <p:spPr>
          <a:xfrm>
            <a:off x="2131182" y="4329121"/>
            <a:ext cx="6375720" cy="369332"/>
          </a:xfrm>
          <a:prstGeom prst="rect">
            <a:avLst/>
          </a:prstGeom>
          <a:noFill/>
        </p:spPr>
        <p:txBody>
          <a:bodyPr wrap="none" rtlCol="0">
            <a:spAutoFit/>
          </a:bodyPr>
          <a:lstStyle/>
          <a:p>
            <a:r>
              <a:rPr lang="en-SE" b="1" dirty="0"/>
              <a:t>Generate</a:t>
            </a:r>
            <a:r>
              <a:rPr lang="en-SE" dirty="0"/>
              <a:t> posteriors with </a:t>
            </a:r>
            <a:r>
              <a:rPr lang="en-SE" i="1" dirty="0"/>
              <a:t>Markov chain Monte Carlo </a:t>
            </a:r>
            <a:r>
              <a:rPr lang="en-SE" dirty="0"/>
              <a:t>algorithms</a:t>
            </a:r>
          </a:p>
        </p:txBody>
      </p:sp>
      <p:sp>
        <p:nvSpPr>
          <p:cNvPr id="57" name="TextBox 56">
            <a:extLst>
              <a:ext uri="{FF2B5EF4-FFF2-40B4-BE49-F238E27FC236}">
                <a16:creationId xmlns:a16="http://schemas.microsoft.com/office/drawing/2014/main" id="{A199CD00-1E44-70A1-A66F-4D998A032710}"/>
              </a:ext>
            </a:extLst>
          </p:cNvPr>
          <p:cNvSpPr txBox="1"/>
          <p:nvPr/>
        </p:nvSpPr>
        <p:spPr>
          <a:xfrm>
            <a:off x="2131182" y="4949015"/>
            <a:ext cx="4504503" cy="369332"/>
          </a:xfrm>
          <a:prstGeom prst="rect">
            <a:avLst/>
          </a:prstGeom>
          <a:noFill/>
        </p:spPr>
        <p:txBody>
          <a:bodyPr wrap="none" rtlCol="0">
            <a:spAutoFit/>
          </a:bodyPr>
          <a:lstStyle/>
          <a:p>
            <a:r>
              <a:rPr lang="en-SE" b="1" dirty="0"/>
              <a:t>Assess</a:t>
            </a:r>
            <a:r>
              <a:rPr lang="en-SE" dirty="0"/>
              <a:t> the model fit via training diagnostics</a:t>
            </a:r>
          </a:p>
        </p:txBody>
      </p:sp>
      <p:sp>
        <p:nvSpPr>
          <p:cNvPr id="59" name="TextBox 58">
            <a:extLst>
              <a:ext uri="{FF2B5EF4-FFF2-40B4-BE49-F238E27FC236}">
                <a16:creationId xmlns:a16="http://schemas.microsoft.com/office/drawing/2014/main" id="{B66615E1-548F-0E81-35D9-F07F3BEDB5FF}"/>
              </a:ext>
            </a:extLst>
          </p:cNvPr>
          <p:cNvSpPr txBox="1"/>
          <p:nvPr/>
        </p:nvSpPr>
        <p:spPr>
          <a:xfrm>
            <a:off x="2131182" y="5571019"/>
            <a:ext cx="8025915" cy="369332"/>
          </a:xfrm>
          <a:prstGeom prst="rect">
            <a:avLst/>
          </a:prstGeom>
          <a:noFill/>
        </p:spPr>
        <p:txBody>
          <a:bodyPr wrap="none" rtlCol="0">
            <a:spAutoFit/>
          </a:bodyPr>
          <a:lstStyle/>
          <a:p>
            <a:r>
              <a:rPr lang="en-SE" b="1" dirty="0"/>
              <a:t>Interpret </a:t>
            </a:r>
            <a:r>
              <a:rPr lang="en-SE" dirty="0"/>
              <a:t>posterior distributions to draw conclusions from the Bayesian model</a:t>
            </a:r>
            <a:endParaRPr lang="en-SE" b="1" dirty="0"/>
          </a:p>
        </p:txBody>
      </p:sp>
      <p:grpSp>
        <p:nvGrpSpPr>
          <p:cNvPr id="63" name="Group 62">
            <a:extLst>
              <a:ext uri="{FF2B5EF4-FFF2-40B4-BE49-F238E27FC236}">
                <a16:creationId xmlns:a16="http://schemas.microsoft.com/office/drawing/2014/main" id="{24D446E9-291A-024F-B185-51770AE99AB2}"/>
              </a:ext>
            </a:extLst>
          </p:cNvPr>
          <p:cNvGrpSpPr/>
          <p:nvPr/>
        </p:nvGrpSpPr>
        <p:grpSpPr>
          <a:xfrm>
            <a:off x="1485898" y="3035562"/>
            <a:ext cx="504000" cy="504000"/>
            <a:chOff x="977950" y="2729564"/>
            <a:chExt cx="504000" cy="504000"/>
          </a:xfrm>
        </p:grpSpPr>
        <p:sp>
          <p:nvSpPr>
            <p:cNvPr id="64" name="Oval 63">
              <a:extLst>
                <a:ext uri="{FF2B5EF4-FFF2-40B4-BE49-F238E27FC236}">
                  <a16:creationId xmlns:a16="http://schemas.microsoft.com/office/drawing/2014/main" id="{2D8F5C8C-A3A3-DA45-A00E-FC50FBCC670D}"/>
                </a:ext>
              </a:extLst>
            </p:cNvPr>
            <p:cNvSpPr/>
            <p:nvPr/>
          </p:nvSpPr>
          <p:spPr>
            <a:xfrm>
              <a:off x="977950" y="2729564"/>
              <a:ext cx="504000" cy="504000"/>
            </a:xfrm>
            <a:prstGeom prst="ellips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5" name="Graphic 64" descr="Golden Ratio with solid fill">
              <a:extLst>
                <a:ext uri="{FF2B5EF4-FFF2-40B4-BE49-F238E27FC236}">
                  <a16:creationId xmlns:a16="http://schemas.microsoft.com/office/drawing/2014/main" id="{C63CA868-B993-A46C-C9CF-D073D83A3F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66" name="Group 65">
            <a:extLst>
              <a:ext uri="{FF2B5EF4-FFF2-40B4-BE49-F238E27FC236}">
                <a16:creationId xmlns:a16="http://schemas.microsoft.com/office/drawing/2014/main" id="{439F9489-3E9B-59D8-CCFC-5D3EDB24193E}"/>
              </a:ext>
            </a:extLst>
          </p:cNvPr>
          <p:cNvGrpSpPr/>
          <p:nvPr/>
        </p:nvGrpSpPr>
        <p:grpSpPr>
          <a:xfrm>
            <a:off x="1485898" y="3649259"/>
            <a:ext cx="504000" cy="504000"/>
            <a:chOff x="977950" y="2729564"/>
            <a:chExt cx="504000" cy="504000"/>
          </a:xfrm>
        </p:grpSpPr>
        <p:sp>
          <p:nvSpPr>
            <p:cNvPr id="67" name="Oval 66">
              <a:extLst>
                <a:ext uri="{FF2B5EF4-FFF2-40B4-BE49-F238E27FC236}">
                  <a16:creationId xmlns:a16="http://schemas.microsoft.com/office/drawing/2014/main" id="{52E1F466-60AC-2DBC-E1DF-153A0564F600}"/>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8" name="Graphic 67" descr="Normal Distribution with solid fill">
              <a:extLst>
                <a:ext uri="{FF2B5EF4-FFF2-40B4-BE49-F238E27FC236}">
                  <a16:creationId xmlns:a16="http://schemas.microsoft.com/office/drawing/2014/main" id="{86742266-3C2B-B33C-9C7D-B30E0AE02FD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69" name="Group 68">
            <a:extLst>
              <a:ext uri="{FF2B5EF4-FFF2-40B4-BE49-F238E27FC236}">
                <a16:creationId xmlns:a16="http://schemas.microsoft.com/office/drawing/2014/main" id="{0BD5E363-6C5D-AFA6-272A-34304C1286B1}"/>
              </a:ext>
            </a:extLst>
          </p:cNvPr>
          <p:cNvGrpSpPr/>
          <p:nvPr/>
        </p:nvGrpSpPr>
        <p:grpSpPr>
          <a:xfrm>
            <a:off x="1485898" y="4262956"/>
            <a:ext cx="504000" cy="504000"/>
            <a:chOff x="977950" y="2729564"/>
            <a:chExt cx="504000" cy="504000"/>
          </a:xfrm>
        </p:grpSpPr>
        <p:sp>
          <p:nvSpPr>
            <p:cNvPr id="70" name="Oval 69">
              <a:extLst>
                <a:ext uri="{FF2B5EF4-FFF2-40B4-BE49-F238E27FC236}">
                  <a16:creationId xmlns:a16="http://schemas.microsoft.com/office/drawing/2014/main" id="{308F4A7C-651E-2F9E-4FD8-97E80325491E}"/>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71" name="Graphic 70" descr="Abacus with solid fill">
              <a:extLst>
                <a:ext uri="{FF2B5EF4-FFF2-40B4-BE49-F238E27FC236}">
                  <a16:creationId xmlns:a16="http://schemas.microsoft.com/office/drawing/2014/main" id="{DF716D14-F208-8476-9ACF-1E3057337FA5}"/>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72" name="Group 71">
            <a:extLst>
              <a:ext uri="{FF2B5EF4-FFF2-40B4-BE49-F238E27FC236}">
                <a16:creationId xmlns:a16="http://schemas.microsoft.com/office/drawing/2014/main" id="{4381D27F-BD6A-2448-42EB-14894B96FF8E}"/>
              </a:ext>
            </a:extLst>
          </p:cNvPr>
          <p:cNvGrpSpPr/>
          <p:nvPr/>
        </p:nvGrpSpPr>
        <p:grpSpPr>
          <a:xfrm>
            <a:off x="1485898" y="4876653"/>
            <a:ext cx="504000" cy="504000"/>
            <a:chOff x="977950" y="2729564"/>
            <a:chExt cx="504000" cy="504000"/>
          </a:xfrm>
        </p:grpSpPr>
        <p:sp>
          <p:nvSpPr>
            <p:cNvPr id="73" name="Oval 72">
              <a:extLst>
                <a:ext uri="{FF2B5EF4-FFF2-40B4-BE49-F238E27FC236}">
                  <a16:creationId xmlns:a16="http://schemas.microsoft.com/office/drawing/2014/main" id="{E8710B18-0521-B670-6C1D-D1E1FC8E97BB}"/>
                </a:ext>
              </a:extLst>
            </p:cNvPr>
            <p:cNvSpPr/>
            <p:nvPr/>
          </p:nvSpPr>
          <p:spPr>
            <a:xfrm>
              <a:off x="977950" y="2729564"/>
              <a:ext cx="504000" cy="504000"/>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74" name="Graphic 73" descr="Trigonometry with solid fill">
              <a:extLst>
                <a:ext uri="{FF2B5EF4-FFF2-40B4-BE49-F238E27FC236}">
                  <a16:creationId xmlns:a16="http://schemas.microsoft.com/office/drawing/2014/main" id="{DD2A4659-85F0-D9C0-DF3B-0CE761F25BB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78" name="Group 77">
            <a:extLst>
              <a:ext uri="{FF2B5EF4-FFF2-40B4-BE49-F238E27FC236}">
                <a16:creationId xmlns:a16="http://schemas.microsoft.com/office/drawing/2014/main" id="{E94446DB-9423-049F-D74C-E0084537236C}"/>
              </a:ext>
            </a:extLst>
          </p:cNvPr>
          <p:cNvGrpSpPr/>
          <p:nvPr/>
        </p:nvGrpSpPr>
        <p:grpSpPr>
          <a:xfrm>
            <a:off x="1485898" y="5490351"/>
            <a:ext cx="504000" cy="504000"/>
            <a:chOff x="977950" y="2729564"/>
            <a:chExt cx="504000" cy="504000"/>
          </a:xfrm>
        </p:grpSpPr>
        <p:sp>
          <p:nvSpPr>
            <p:cNvPr id="79" name="Oval 78">
              <a:extLst>
                <a:ext uri="{FF2B5EF4-FFF2-40B4-BE49-F238E27FC236}">
                  <a16:creationId xmlns:a16="http://schemas.microsoft.com/office/drawing/2014/main" id="{AF7BF01D-E022-E6A6-F925-BCCA3EF32219}"/>
                </a:ext>
              </a:extLst>
            </p:cNvPr>
            <p:cNvSpPr/>
            <p:nvPr/>
          </p:nvSpPr>
          <p:spPr>
            <a:xfrm>
              <a:off x="977950" y="2729564"/>
              <a:ext cx="504000" cy="504000"/>
            </a:xfrm>
            <a:prstGeom prst="ellipse">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80" name="Graphic 79" descr="Scatterplot with solid fill">
              <a:extLst>
                <a:ext uri="{FF2B5EF4-FFF2-40B4-BE49-F238E27FC236}">
                  <a16:creationId xmlns:a16="http://schemas.microsoft.com/office/drawing/2014/main" id="{8EB98D5D-BFAC-45BD-9BD1-0BDC06AFFDB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83" name="Straight Arrow Connector 82">
            <a:extLst>
              <a:ext uri="{FF2B5EF4-FFF2-40B4-BE49-F238E27FC236}">
                <a16:creationId xmlns:a16="http://schemas.microsoft.com/office/drawing/2014/main" id="{DFFE139A-4617-76C0-DBB0-500702640C5B}"/>
              </a:ext>
            </a:extLst>
          </p:cNvPr>
          <p:cNvCxnSpPr>
            <a:cxnSpLocks/>
            <a:stCxn id="64" idx="4"/>
            <a:endCxn id="67" idx="0"/>
          </p:cNvCxnSpPr>
          <p:nvPr/>
        </p:nvCxnSpPr>
        <p:spPr>
          <a:xfrm>
            <a:off x="1737898" y="353956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6" name="Straight Arrow Connector 85">
            <a:extLst>
              <a:ext uri="{FF2B5EF4-FFF2-40B4-BE49-F238E27FC236}">
                <a16:creationId xmlns:a16="http://schemas.microsoft.com/office/drawing/2014/main" id="{D1D2BD9C-6CA7-44C4-DD7A-BB820FBA0E63}"/>
              </a:ext>
            </a:extLst>
          </p:cNvPr>
          <p:cNvCxnSpPr>
            <a:cxnSpLocks/>
            <a:stCxn id="67" idx="4"/>
            <a:endCxn id="70" idx="0"/>
          </p:cNvCxnSpPr>
          <p:nvPr/>
        </p:nvCxnSpPr>
        <p:spPr>
          <a:xfrm>
            <a:off x="1737898" y="415325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9" name="Straight Arrow Connector 88">
            <a:extLst>
              <a:ext uri="{FF2B5EF4-FFF2-40B4-BE49-F238E27FC236}">
                <a16:creationId xmlns:a16="http://schemas.microsoft.com/office/drawing/2014/main" id="{588923CE-9C7F-AAAA-87AD-07C9C0EE00E9}"/>
              </a:ext>
            </a:extLst>
          </p:cNvPr>
          <p:cNvCxnSpPr>
            <a:cxnSpLocks/>
            <a:stCxn id="70" idx="4"/>
            <a:endCxn id="73" idx="0"/>
          </p:cNvCxnSpPr>
          <p:nvPr/>
        </p:nvCxnSpPr>
        <p:spPr>
          <a:xfrm>
            <a:off x="1737898" y="476695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2" name="Straight Arrow Connector 91">
            <a:extLst>
              <a:ext uri="{FF2B5EF4-FFF2-40B4-BE49-F238E27FC236}">
                <a16:creationId xmlns:a16="http://schemas.microsoft.com/office/drawing/2014/main" id="{5606489D-517C-239C-1518-4E79D2F975AE}"/>
              </a:ext>
            </a:extLst>
          </p:cNvPr>
          <p:cNvCxnSpPr>
            <a:cxnSpLocks/>
            <a:stCxn id="73" idx="4"/>
            <a:endCxn id="79" idx="0"/>
          </p:cNvCxnSpPr>
          <p:nvPr/>
        </p:nvCxnSpPr>
        <p:spPr>
          <a:xfrm>
            <a:off x="1737898" y="538065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 name="Footer Placeholder 1">
            <a:extLst>
              <a:ext uri="{FF2B5EF4-FFF2-40B4-BE49-F238E27FC236}">
                <a16:creationId xmlns:a16="http://schemas.microsoft.com/office/drawing/2014/main" id="{1B552757-82CE-E746-AF84-0F5D94E64FFA}"/>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222982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3" grpId="0"/>
      <p:bldP spid="55" grpId="0"/>
      <p:bldP spid="57" grpId="0"/>
      <p:bldP spid="5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E5268-BE5E-E1FE-00F4-041CA485648D}"/>
              </a:ext>
            </a:extLst>
          </p:cNvPr>
          <p:cNvSpPr>
            <a:spLocks noGrp="1"/>
          </p:cNvSpPr>
          <p:nvPr>
            <p:ph type="title"/>
          </p:nvPr>
        </p:nvSpPr>
        <p:spPr/>
        <p:txBody>
          <a:bodyPr/>
          <a:lstStyle/>
          <a:p>
            <a:r>
              <a:rPr lang="en-SE" dirty="0"/>
              <a:t>Precursor</a:t>
            </a:r>
          </a:p>
        </p:txBody>
      </p:sp>
      <p:sp>
        <p:nvSpPr>
          <p:cNvPr id="3" name="Content Placeholder 2">
            <a:extLst>
              <a:ext uri="{FF2B5EF4-FFF2-40B4-BE49-F238E27FC236}">
                <a16:creationId xmlns:a16="http://schemas.microsoft.com/office/drawing/2014/main" id="{5E165D60-EE4A-E65E-9DE9-2683825DC4FD}"/>
              </a:ext>
            </a:extLst>
          </p:cNvPr>
          <p:cNvSpPr>
            <a:spLocks noGrp="1"/>
          </p:cNvSpPr>
          <p:nvPr>
            <p:ph idx="1"/>
          </p:nvPr>
        </p:nvSpPr>
        <p:spPr/>
        <p:txBody>
          <a:bodyPr/>
          <a:lstStyle/>
          <a:p>
            <a:pPr marL="0" indent="0">
              <a:buNone/>
            </a:pPr>
            <a:r>
              <a:rPr lang="en-SE" dirty="0"/>
              <a:t>Prior to the now presented workflow, we assume that</a:t>
            </a:r>
          </a:p>
          <a:p>
            <a:pPr marL="514350" indent="-514350">
              <a:buFont typeface="+mj-lt"/>
              <a:buAutoNum type="arabicPeriod"/>
            </a:pPr>
            <a:r>
              <a:rPr lang="en-SE" dirty="0"/>
              <a:t>we have </a:t>
            </a:r>
            <a:r>
              <a:rPr lang="en-SE" b="1" dirty="0"/>
              <a:t>modelled our causal assumptions</a:t>
            </a:r>
            <a:r>
              <a:rPr lang="en-SE" dirty="0"/>
              <a:t>, e.g., in a directed, acyclic graph (DAG), and</a:t>
            </a:r>
          </a:p>
          <a:p>
            <a:pPr marL="514350" indent="-514350">
              <a:buFont typeface="+mj-lt"/>
              <a:buAutoNum type="arabicPeriod"/>
            </a:pPr>
            <a:r>
              <a:rPr lang="en-SE" dirty="0"/>
              <a:t>we have </a:t>
            </a:r>
            <a:r>
              <a:rPr lang="en-SE" b="1" dirty="0"/>
              <a:t>collected data </a:t>
            </a:r>
            <a:r>
              <a:rPr lang="en-SE" dirty="0"/>
              <a:t>on all relevant variables.</a:t>
            </a:r>
          </a:p>
        </p:txBody>
      </p:sp>
      <p:sp>
        <p:nvSpPr>
          <p:cNvPr id="4" name="Date Placeholder 3">
            <a:extLst>
              <a:ext uri="{FF2B5EF4-FFF2-40B4-BE49-F238E27FC236}">
                <a16:creationId xmlns:a16="http://schemas.microsoft.com/office/drawing/2014/main" id="{58137F97-D1CE-4D45-DD41-FAE2C282A645}"/>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EEA61416-C1B8-1DDC-56C9-4C9E7001F1F8}"/>
              </a:ext>
            </a:extLst>
          </p:cNvPr>
          <p:cNvSpPr>
            <a:spLocks noGrp="1"/>
          </p:cNvSpPr>
          <p:nvPr>
            <p:ph type="sldNum" sz="quarter" idx="12"/>
          </p:nvPr>
        </p:nvSpPr>
        <p:spPr/>
        <p:txBody>
          <a:bodyPr/>
          <a:lstStyle/>
          <a:p>
            <a:fld id="{271ECC92-9CDE-4EB3-B1C5-F46B9E1FA3C1}" type="slidenum">
              <a:rPr lang="en-SE" smtClean="0"/>
              <a:t>40</a:t>
            </a:fld>
            <a:endParaRPr lang="en-SE"/>
          </a:p>
        </p:txBody>
      </p:sp>
      <p:sp>
        <p:nvSpPr>
          <p:cNvPr id="6" name="Footer Placeholder 5">
            <a:extLst>
              <a:ext uri="{FF2B5EF4-FFF2-40B4-BE49-F238E27FC236}">
                <a16:creationId xmlns:a16="http://schemas.microsoft.com/office/drawing/2014/main" id="{85C5583B-47E6-6DBC-FDE4-91B01ADB42A2}"/>
              </a:ext>
            </a:extLst>
          </p:cNvPr>
          <p:cNvSpPr>
            <a:spLocks noGrp="1"/>
          </p:cNvSpPr>
          <p:nvPr>
            <p:ph type="ftr" sz="quarter" idx="11"/>
          </p:nvPr>
        </p:nvSpPr>
        <p:spPr/>
        <p:txBody>
          <a:bodyPr/>
          <a:lstStyle/>
          <a:p>
            <a:r>
              <a:rPr lang="de-DE"/>
              <a:t>Bayesian Data Analysis Tutorial</a:t>
            </a:r>
            <a:endParaRPr lang="en-SE"/>
          </a:p>
        </p:txBody>
      </p:sp>
      <p:grpSp>
        <p:nvGrpSpPr>
          <p:cNvPr id="7" name="Group 6">
            <a:extLst>
              <a:ext uri="{FF2B5EF4-FFF2-40B4-BE49-F238E27FC236}">
                <a16:creationId xmlns:a16="http://schemas.microsoft.com/office/drawing/2014/main" id="{20EB4231-261B-540D-8652-3D392D3E2B43}"/>
              </a:ext>
            </a:extLst>
          </p:cNvPr>
          <p:cNvGrpSpPr/>
          <p:nvPr/>
        </p:nvGrpSpPr>
        <p:grpSpPr>
          <a:xfrm>
            <a:off x="203635" y="1825625"/>
            <a:ext cx="504000" cy="504000"/>
            <a:chOff x="977950" y="2729564"/>
            <a:chExt cx="504000" cy="504000"/>
          </a:xfrm>
        </p:grpSpPr>
        <p:sp>
          <p:nvSpPr>
            <p:cNvPr id="8" name="Oval 7">
              <a:extLst>
                <a:ext uri="{FF2B5EF4-FFF2-40B4-BE49-F238E27FC236}">
                  <a16:creationId xmlns:a16="http://schemas.microsoft.com/office/drawing/2014/main" id="{3B94FB01-107C-4D0A-BA99-F2717A67F428}"/>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9" name="Graphic 8" descr="Golden Ratio with solid fill">
              <a:extLst>
                <a:ext uri="{FF2B5EF4-FFF2-40B4-BE49-F238E27FC236}">
                  <a16:creationId xmlns:a16="http://schemas.microsoft.com/office/drawing/2014/main" id="{7F6BF469-0A1F-CE95-9BF9-921139394C1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950" y="2783564"/>
              <a:ext cx="396000" cy="396000"/>
            </a:xfrm>
            <a:prstGeom prst="rect">
              <a:avLst/>
            </a:prstGeom>
          </p:spPr>
        </p:pic>
      </p:grpSp>
      <p:grpSp>
        <p:nvGrpSpPr>
          <p:cNvPr id="10" name="Group 9">
            <a:extLst>
              <a:ext uri="{FF2B5EF4-FFF2-40B4-BE49-F238E27FC236}">
                <a16:creationId xmlns:a16="http://schemas.microsoft.com/office/drawing/2014/main" id="{168EFBD1-67F5-887D-BB3E-1546019CF153}"/>
              </a:ext>
            </a:extLst>
          </p:cNvPr>
          <p:cNvGrpSpPr/>
          <p:nvPr/>
        </p:nvGrpSpPr>
        <p:grpSpPr>
          <a:xfrm>
            <a:off x="203635" y="2439322"/>
            <a:ext cx="504000" cy="504000"/>
            <a:chOff x="977950" y="2729564"/>
            <a:chExt cx="504000" cy="504000"/>
          </a:xfrm>
        </p:grpSpPr>
        <p:sp>
          <p:nvSpPr>
            <p:cNvPr id="11" name="Oval 10">
              <a:extLst>
                <a:ext uri="{FF2B5EF4-FFF2-40B4-BE49-F238E27FC236}">
                  <a16:creationId xmlns:a16="http://schemas.microsoft.com/office/drawing/2014/main" id="{BB2E3245-C8A2-9EAD-F766-AF133AD52019}"/>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Normal Distribution with solid fill">
              <a:extLst>
                <a:ext uri="{FF2B5EF4-FFF2-40B4-BE49-F238E27FC236}">
                  <a16:creationId xmlns:a16="http://schemas.microsoft.com/office/drawing/2014/main" id="{47C8D292-AB12-AFC6-E0BB-09E2E2C4DC8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grpSp>
        <p:nvGrpSpPr>
          <p:cNvPr id="13" name="Group 12">
            <a:extLst>
              <a:ext uri="{FF2B5EF4-FFF2-40B4-BE49-F238E27FC236}">
                <a16:creationId xmlns:a16="http://schemas.microsoft.com/office/drawing/2014/main" id="{D91A62A3-9E72-D99F-FC5B-7A8E72E4B0E7}"/>
              </a:ext>
            </a:extLst>
          </p:cNvPr>
          <p:cNvGrpSpPr/>
          <p:nvPr/>
        </p:nvGrpSpPr>
        <p:grpSpPr>
          <a:xfrm>
            <a:off x="203635" y="3053019"/>
            <a:ext cx="504000" cy="504000"/>
            <a:chOff x="977950" y="2729564"/>
            <a:chExt cx="504000" cy="504000"/>
          </a:xfrm>
        </p:grpSpPr>
        <p:sp>
          <p:nvSpPr>
            <p:cNvPr id="14" name="Oval 13">
              <a:extLst>
                <a:ext uri="{FF2B5EF4-FFF2-40B4-BE49-F238E27FC236}">
                  <a16:creationId xmlns:a16="http://schemas.microsoft.com/office/drawing/2014/main" id="{0AF34742-8C65-4E24-9D71-070E1155A38D}"/>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Graphic 14" descr="Abacus with solid fill">
              <a:extLst>
                <a:ext uri="{FF2B5EF4-FFF2-40B4-BE49-F238E27FC236}">
                  <a16:creationId xmlns:a16="http://schemas.microsoft.com/office/drawing/2014/main" id="{47923EDD-1C0D-AC20-723A-CF717B1FA68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16" name="Group 15">
            <a:extLst>
              <a:ext uri="{FF2B5EF4-FFF2-40B4-BE49-F238E27FC236}">
                <a16:creationId xmlns:a16="http://schemas.microsoft.com/office/drawing/2014/main" id="{CDFF6380-CCDF-516C-C669-7D058D42BF0E}"/>
              </a:ext>
            </a:extLst>
          </p:cNvPr>
          <p:cNvGrpSpPr/>
          <p:nvPr/>
        </p:nvGrpSpPr>
        <p:grpSpPr>
          <a:xfrm>
            <a:off x="203635" y="3666716"/>
            <a:ext cx="504000" cy="504000"/>
            <a:chOff x="977950" y="2729564"/>
            <a:chExt cx="504000" cy="504000"/>
          </a:xfrm>
        </p:grpSpPr>
        <p:sp>
          <p:nvSpPr>
            <p:cNvPr id="17" name="Oval 16">
              <a:extLst>
                <a:ext uri="{FF2B5EF4-FFF2-40B4-BE49-F238E27FC236}">
                  <a16:creationId xmlns:a16="http://schemas.microsoft.com/office/drawing/2014/main" id="{56EF7E83-15DA-4735-0A78-EE6FF49BDACB}"/>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Graphic 17" descr="Trigonometry with solid fill">
              <a:extLst>
                <a:ext uri="{FF2B5EF4-FFF2-40B4-BE49-F238E27FC236}">
                  <a16:creationId xmlns:a16="http://schemas.microsoft.com/office/drawing/2014/main" id="{766AA4DA-F33A-1196-50C7-E112BAC3E27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19" name="Group 18">
            <a:extLst>
              <a:ext uri="{FF2B5EF4-FFF2-40B4-BE49-F238E27FC236}">
                <a16:creationId xmlns:a16="http://schemas.microsoft.com/office/drawing/2014/main" id="{B75696EF-BB89-7F2E-8C22-5D89FAD4A0E7}"/>
              </a:ext>
            </a:extLst>
          </p:cNvPr>
          <p:cNvGrpSpPr/>
          <p:nvPr/>
        </p:nvGrpSpPr>
        <p:grpSpPr>
          <a:xfrm>
            <a:off x="203635" y="4280414"/>
            <a:ext cx="504000" cy="504000"/>
            <a:chOff x="977950" y="2729564"/>
            <a:chExt cx="504000" cy="504000"/>
          </a:xfrm>
        </p:grpSpPr>
        <p:sp>
          <p:nvSpPr>
            <p:cNvPr id="20" name="Oval 19">
              <a:extLst>
                <a:ext uri="{FF2B5EF4-FFF2-40B4-BE49-F238E27FC236}">
                  <a16:creationId xmlns:a16="http://schemas.microsoft.com/office/drawing/2014/main" id="{D15AD459-8082-21A9-9030-B0658A2696FF}"/>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1" name="Graphic 20" descr="Scatterplot with solid fill">
              <a:extLst>
                <a:ext uri="{FF2B5EF4-FFF2-40B4-BE49-F238E27FC236}">
                  <a16:creationId xmlns:a16="http://schemas.microsoft.com/office/drawing/2014/main" id="{E9849FF4-7329-4936-A3D6-34DD07FE9DF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cxnSp>
        <p:nvCxnSpPr>
          <p:cNvPr id="22" name="Straight Arrow Connector 21">
            <a:extLst>
              <a:ext uri="{FF2B5EF4-FFF2-40B4-BE49-F238E27FC236}">
                <a16:creationId xmlns:a16="http://schemas.microsoft.com/office/drawing/2014/main" id="{4FD0A176-7F17-74DB-952F-78D90157377C}"/>
              </a:ext>
            </a:extLst>
          </p:cNvPr>
          <p:cNvCxnSpPr>
            <a:cxnSpLocks/>
            <a:stCxn id="8" idx="4"/>
            <a:endCxn id="11"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D6C958C0-85AA-D99F-CAC5-C53F4672E32B}"/>
              </a:ext>
            </a:extLst>
          </p:cNvPr>
          <p:cNvCxnSpPr>
            <a:cxnSpLocks/>
            <a:stCxn id="11" idx="4"/>
            <a:endCxn id="14"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7AE0FFC7-FEE3-1D59-96FE-85279ECF2986}"/>
              </a:ext>
            </a:extLst>
          </p:cNvPr>
          <p:cNvCxnSpPr>
            <a:cxnSpLocks/>
            <a:stCxn id="14" idx="4"/>
            <a:endCxn id="17"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1B274FDF-FED9-69DE-AC04-9E31AD8ED35B}"/>
              </a:ext>
            </a:extLst>
          </p:cNvPr>
          <p:cNvCxnSpPr>
            <a:cxnSpLocks/>
            <a:stCxn id="17" idx="4"/>
            <a:endCxn id="20"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08767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4D281-3C12-6D9B-18D0-688D48E6A98B}"/>
              </a:ext>
            </a:extLst>
          </p:cNvPr>
          <p:cNvSpPr>
            <a:spLocks noGrp="1"/>
          </p:cNvSpPr>
          <p:nvPr>
            <p:ph type="title"/>
          </p:nvPr>
        </p:nvSpPr>
        <p:spPr/>
        <p:txBody>
          <a:bodyPr/>
          <a:lstStyle/>
          <a:p>
            <a:r>
              <a:rPr lang="de-DE" dirty="0" err="1"/>
              <a:t>Context</a:t>
            </a:r>
            <a:endParaRPr lang="en-SE" dirty="0"/>
          </a:p>
        </p:txBody>
      </p:sp>
      <p:sp>
        <p:nvSpPr>
          <p:cNvPr id="3" name="Content Placeholder 2">
            <a:extLst>
              <a:ext uri="{FF2B5EF4-FFF2-40B4-BE49-F238E27FC236}">
                <a16:creationId xmlns:a16="http://schemas.microsoft.com/office/drawing/2014/main" id="{F82AF692-AF23-C6B8-29FA-0AF0B1166A3D}"/>
              </a:ext>
            </a:extLst>
          </p:cNvPr>
          <p:cNvSpPr>
            <a:spLocks noGrp="1"/>
          </p:cNvSpPr>
          <p:nvPr>
            <p:ph idx="1"/>
          </p:nvPr>
        </p:nvSpPr>
        <p:spPr>
          <a:xfrm>
            <a:off x="838200" y="1825625"/>
            <a:ext cx="10515600" cy="1184275"/>
          </a:xfrm>
        </p:spPr>
        <p:txBody>
          <a:bodyPr/>
          <a:lstStyle/>
          <a:p>
            <a:pPr marL="0" indent="0">
              <a:buNone/>
            </a:pPr>
            <a:r>
              <a:rPr lang="en-SE" dirty="0"/>
              <a:t>Research question: Does </a:t>
            </a:r>
            <a:r>
              <a:rPr lang="en-SE" dirty="0">
                <a:solidFill>
                  <a:srgbClr val="C00000"/>
                </a:solidFill>
              </a:rPr>
              <a:t>increased AI usage </a:t>
            </a:r>
            <a:r>
              <a:rPr lang="en-SE" dirty="0"/>
              <a:t>affect the </a:t>
            </a:r>
            <a:r>
              <a:rPr lang="en-SE" dirty="0">
                <a:solidFill>
                  <a:srgbClr val="006D70"/>
                </a:solidFill>
              </a:rPr>
              <a:t>ability to identify bugs</a:t>
            </a:r>
            <a:r>
              <a:rPr lang="en-SE" dirty="0"/>
              <a:t> (adjusting for </a:t>
            </a:r>
            <a:r>
              <a:rPr lang="en-SE" dirty="0">
                <a:solidFill>
                  <a:schemeClr val="tx1">
                    <a:lumMod val="65000"/>
                    <a:lumOff val="35000"/>
                  </a:schemeClr>
                </a:solidFill>
              </a:rPr>
              <a:t>reviewer skill</a:t>
            </a:r>
            <a:r>
              <a:rPr lang="en-SE" dirty="0"/>
              <a:t>)?</a:t>
            </a:r>
          </a:p>
        </p:txBody>
      </p:sp>
      <p:sp>
        <p:nvSpPr>
          <p:cNvPr id="4" name="Date Placeholder 3">
            <a:extLst>
              <a:ext uri="{FF2B5EF4-FFF2-40B4-BE49-F238E27FC236}">
                <a16:creationId xmlns:a16="http://schemas.microsoft.com/office/drawing/2014/main" id="{A8251955-8E1E-8E46-EE65-862C368CE0B3}"/>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A4A65B2F-0FE0-78BC-A76A-275074FB18AB}"/>
              </a:ext>
            </a:extLst>
          </p:cNvPr>
          <p:cNvSpPr>
            <a:spLocks noGrp="1"/>
          </p:cNvSpPr>
          <p:nvPr>
            <p:ph type="sldNum" sz="quarter" idx="12"/>
          </p:nvPr>
        </p:nvSpPr>
        <p:spPr/>
        <p:txBody>
          <a:bodyPr/>
          <a:lstStyle/>
          <a:p>
            <a:fld id="{271ECC92-9CDE-4EB3-B1C5-F46B9E1FA3C1}" type="slidenum">
              <a:rPr lang="en-SE" smtClean="0"/>
              <a:t>41</a:t>
            </a:fld>
            <a:endParaRPr lang="en-SE"/>
          </a:p>
        </p:txBody>
      </p:sp>
      <p:sp>
        <p:nvSpPr>
          <p:cNvPr id="8" name="Oval 7">
            <a:extLst>
              <a:ext uri="{FF2B5EF4-FFF2-40B4-BE49-F238E27FC236}">
                <a16:creationId xmlns:a16="http://schemas.microsoft.com/office/drawing/2014/main" id="{B1BC58EB-FAFE-B65E-A67D-6F2079481A90}"/>
              </a:ext>
            </a:extLst>
          </p:cNvPr>
          <p:cNvSpPr/>
          <p:nvPr/>
        </p:nvSpPr>
        <p:spPr>
          <a:xfrm>
            <a:off x="1463978" y="393105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9" name="Oval 8">
            <a:extLst>
              <a:ext uri="{FF2B5EF4-FFF2-40B4-BE49-F238E27FC236}">
                <a16:creationId xmlns:a16="http://schemas.microsoft.com/office/drawing/2014/main" id="{B1FC548E-16F3-8586-11DF-677D4D5E5E83}"/>
              </a:ext>
            </a:extLst>
          </p:cNvPr>
          <p:cNvSpPr/>
          <p:nvPr/>
        </p:nvSpPr>
        <p:spPr>
          <a:xfrm>
            <a:off x="3955358" y="393105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0" name="Straight Arrow Connector 9">
            <a:extLst>
              <a:ext uri="{FF2B5EF4-FFF2-40B4-BE49-F238E27FC236}">
                <a16:creationId xmlns:a16="http://schemas.microsoft.com/office/drawing/2014/main" id="{A7A9B9DE-7F7B-C922-E8D3-5C560D006F09}"/>
              </a:ext>
            </a:extLst>
          </p:cNvPr>
          <p:cNvCxnSpPr>
            <a:stCxn id="8" idx="6"/>
            <a:endCxn id="9" idx="2"/>
          </p:cNvCxnSpPr>
          <p:nvPr/>
        </p:nvCxnSpPr>
        <p:spPr>
          <a:xfrm>
            <a:off x="1823978" y="4111051"/>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F41FF248-22EF-09E5-F71B-753602BC2B5B}"/>
              </a:ext>
            </a:extLst>
          </p:cNvPr>
          <p:cNvSpPr txBox="1"/>
          <p:nvPr/>
        </p:nvSpPr>
        <p:spPr>
          <a:xfrm>
            <a:off x="1279593" y="3503019"/>
            <a:ext cx="1022972" cy="369332"/>
          </a:xfrm>
          <a:prstGeom prst="rect">
            <a:avLst/>
          </a:prstGeom>
          <a:noFill/>
        </p:spPr>
        <p:txBody>
          <a:bodyPr wrap="none" rtlCol="0">
            <a:spAutoFit/>
          </a:bodyPr>
          <a:lstStyle/>
          <a:p>
            <a:r>
              <a:rPr lang="en-SE" dirty="0">
                <a:solidFill>
                  <a:srgbClr val="D0180A"/>
                </a:solidFill>
              </a:rPr>
              <a:t>AI usage</a:t>
            </a:r>
            <a:endParaRPr lang="en-US" noProof="0" dirty="0">
              <a:solidFill>
                <a:srgbClr val="D0180A"/>
              </a:solidFill>
            </a:endParaRPr>
          </a:p>
        </p:txBody>
      </p:sp>
      <p:sp>
        <p:nvSpPr>
          <p:cNvPr id="12" name="TextBox 11">
            <a:extLst>
              <a:ext uri="{FF2B5EF4-FFF2-40B4-BE49-F238E27FC236}">
                <a16:creationId xmlns:a16="http://schemas.microsoft.com/office/drawing/2014/main" id="{79B92B74-A04A-13CF-EB4E-13B47AC743DD}"/>
              </a:ext>
            </a:extLst>
          </p:cNvPr>
          <p:cNvSpPr txBox="1"/>
          <p:nvPr/>
        </p:nvSpPr>
        <p:spPr>
          <a:xfrm>
            <a:off x="3356236" y="3514406"/>
            <a:ext cx="1922129" cy="369332"/>
          </a:xfrm>
          <a:prstGeom prst="rect">
            <a:avLst/>
          </a:prstGeom>
          <a:noFill/>
        </p:spPr>
        <p:txBody>
          <a:bodyPr wrap="none" rtlCol="0">
            <a:spAutoFit/>
          </a:bodyPr>
          <a:lstStyle/>
          <a:p>
            <a:r>
              <a:rPr lang="de-DE" noProof="0" dirty="0">
                <a:solidFill>
                  <a:srgbClr val="006D70"/>
                </a:solidFill>
              </a:rPr>
              <a:t>B</a:t>
            </a:r>
            <a:r>
              <a:rPr lang="en-SE" noProof="0" dirty="0">
                <a:solidFill>
                  <a:srgbClr val="006D70"/>
                </a:solidFill>
              </a:rPr>
              <a:t>ug identification</a:t>
            </a:r>
          </a:p>
        </p:txBody>
      </p:sp>
      <p:sp>
        <p:nvSpPr>
          <p:cNvPr id="14" name="Oval 13">
            <a:extLst>
              <a:ext uri="{FF2B5EF4-FFF2-40B4-BE49-F238E27FC236}">
                <a16:creationId xmlns:a16="http://schemas.microsoft.com/office/drawing/2014/main" id="{6D973BF4-07E3-E5BD-7AE3-1F46CE39917E}"/>
              </a:ext>
            </a:extLst>
          </p:cNvPr>
          <p:cNvSpPr/>
          <p:nvPr/>
        </p:nvSpPr>
        <p:spPr>
          <a:xfrm>
            <a:off x="2709668" y="4697372"/>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15" name="TextBox 14">
            <a:extLst>
              <a:ext uri="{FF2B5EF4-FFF2-40B4-BE49-F238E27FC236}">
                <a16:creationId xmlns:a16="http://schemas.microsoft.com/office/drawing/2014/main" id="{B441272A-B081-9794-262B-BEE94035E421}"/>
              </a:ext>
            </a:extLst>
          </p:cNvPr>
          <p:cNvSpPr txBox="1"/>
          <p:nvPr/>
        </p:nvSpPr>
        <p:spPr>
          <a:xfrm>
            <a:off x="3196572" y="4697372"/>
            <a:ext cx="64633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a:solidFill>
                  <a:schemeClr val="tx1">
                    <a:lumMod val="65000"/>
                    <a:lumOff val="35000"/>
                  </a:schemeClr>
                </a:solidFill>
              </a:rPr>
              <a:t>kill </a:t>
            </a:r>
            <a:endParaRPr lang="en-US" noProof="0" dirty="0">
              <a:solidFill>
                <a:schemeClr val="tx1">
                  <a:lumMod val="65000"/>
                  <a:lumOff val="35000"/>
                </a:schemeClr>
              </a:solidFill>
            </a:endParaRPr>
          </a:p>
        </p:txBody>
      </p:sp>
      <p:cxnSp>
        <p:nvCxnSpPr>
          <p:cNvPr id="17" name="Straight Arrow Connector 16">
            <a:extLst>
              <a:ext uri="{FF2B5EF4-FFF2-40B4-BE49-F238E27FC236}">
                <a16:creationId xmlns:a16="http://schemas.microsoft.com/office/drawing/2014/main" id="{152744F3-1B96-F40F-392E-0584577D1AD0}"/>
              </a:ext>
            </a:extLst>
          </p:cNvPr>
          <p:cNvCxnSpPr>
            <a:cxnSpLocks/>
            <a:stCxn id="14" idx="7"/>
            <a:endCxn id="9" idx="3"/>
          </p:cNvCxnSpPr>
          <p:nvPr/>
        </p:nvCxnSpPr>
        <p:spPr>
          <a:xfrm flipV="1">
            <a:off x="3016947" y="4238330"/>
            <a:ext cx="991132" cy="511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54B2795E-3A4A-34C4-2D38-431298B6ECB6}"/>
              </a:ext>
            </a:extLst>
          </p:cNvPr>
          <p:cNvCxnSpPr>
            <a:cxnSpLocks/>
            <a:stCxn id="14" idx="1"/>
            <a:endCxn id="8" idx="5"/>
          </p:cNvCxnSpPr>
          <p:nvPr/>
        </p:nvCxnSpPr>
        <p:spPr>
          <a:xfrm flipH="1" flipV="1">
            <a:off x="1771257" y="4238330"/>
            <a:ext cx="991132" cy="511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aphicFrame>
        <p:nvGraphicFramePr>
          <p:cNvPr id="23" name="Table 22">
            <a:extLst>
              <a:ext uri="{FF2B5EF4-FFF2-40B4-BE49-F238E27FC236}">
                <a16:creationId xmlns:a16="http://schemas.microsoft.com/office/drawing/2014/main" id="{0BB45B16-C0F6-A7D9-011E-6C752BC35171}"/>
              </a:ext>
            </a:extLst>
          </p:cNvPr>
          <p:cNvGraphicFramePr>
            <a:graphicFrameLocks noGrp="1"/>
          </p:cNvGraphicFramePr>
          <p:nvPr>
            <p:extLst>
              <p:ext uri="{D42A27DB-BD31-4B8C-83A1-F6EECF244321}">
                <p14:modId xmlns:p14="http://schemas.microsoft.com/office/powerpoint/2010/main" val="951143990"/>
              </p:ext>
            </p:extLst>
          </p:nvPr>
        </p:nvGraphicFramePr>
        <p:xfrm>
          <a:off x="5598324" y="3088220"/>
          <a:ext cx="5755476" cy="2291080"/>
        </p:xfrm>
        <a:graphic>
          <a:graphicData uri="http://schemas.openxmlformats.org/drawingml/2006/table">
            <a:tbl>
              <a:tblPr firstRow="1" bandRow="1">
                <a:tableStyleId>{073A0DAA-6AF3-43AB-8588-CEC1D06C72B9}</a:tableStyleId>
              </a:tblPr>
              <a:tblGrid>
                <a:gridCol w="586576">
                  <a:extLst>
                    <a:ext uri="{9D8B030D-6E8A-4147-A177-3AD203B41FA5}">
                      <a16:colId xmlns:a16="http://schemas.microsoft.com/office/drawing/2014/main" val="895537892"/>
                    </a:ext>
                  </a:extLst>
                </a:gridCol>
                <a:gridCol w="2565400">
                  <a:extLst>
                    <a:ext uri="{9D8B030D-6E8A-4147-A177-3AD203B41FA5}">
                      <a16:colId xmlns:a16="http://schemas.microsoft.com/office/drawing/2014/main" val="1260121988"/>
                    </a:ext>
                  </a:extLst>
                </a:gridCol>
                <a:gridCol w="2603500">
                  <a:extLst>
                    <a:ext uri="{9D8B030D-6E8A-4147-A177-3AD203B41FA5}">
                      <a16:colId xmlns:a16="http://schemas.microsoft.com/office/drawing/2014/main" val="4016704642"/>
                    </a:ext>
                  </a:extLst>
                </a:gridCol>
              </a:tblGrid>
              <a:tr h="370840">
                <a:tc>
                  <a:txBody>
                    <a:bodyPr/>
                    <a:lstStyle/>
                    <a:p>
                      <a:r>
                        <a:rPr lang="en-SE" dirty="0"/>
                        <a:t>Var</a:t>
                      </a:r>
                    </a:p>
                  </a:txBody>
                  <a:tcPr/>
                </a:tc>
                <a:tc>
                  <a:txBody>
                    <a:bodyPr/>
                    <a:lstStyle/>
                    <a:p>
                      <a:r>
                        <a:rPr lang="en-SE" dirty="0"/>
                        <a:t>Name</a:t>
                      </a:r>
                    </a:p>
                  </a:txBody>
                  <a:tcPr/>
                </a:tc>
                <a:tc>
                  <a:txBody>
                    <a:bodyPr/>
                    <a:lstStyle/>
                    <a:p>
                      <a:r>
                        <a:rPr lang="en-SE" dirty="0"/>
                        <a:t>Type</a:t>
                      </a:r>
                    </a:p>
                  </a:txBody>
                  <a:tcPr/>
                </a:tc>
                <a:extLst>
                  <a:ext uri="{0D108BD9-81ED-4DB2-BD59-A6C34878D82A}">
                    <a16:rowId xmlns:a16="http://schemas.microsoft.com/office/drawing/2014/main" val="3359954214"/>
                  </a:ext>
                </a:extLst>
              </a:tr>
              <a:tr h="370840">
                <a:tc>
                  <a:txBody>
                    <a:bodyPr/>
                    <a:lstStyle/>
                    <a:p>
                      <a:r>
                        <a:rPr lang="en-SE" dirty="0">
                          <a:solidFill>
                            <a:srgbClr val="D0180A"/>
                          </a:solidFill>
                        </a:rPr>
                        <a:t>x</a:t>
                      </a:r>
                    </a:p>
                  </a:txBody>
                  <a:tcPr/>
                </a:tc>
                <a:tc>
                  <a:txBody>
                    <a:bodyPr/>
                    <a:lstStyle/>
                    <a:p>
                      <a:r>
                        <a:rPr lang="en-SE" dirty="0">
                          <a:solidFill>
                            <a:srgbClr val="D0180A"/>
                          </a:solidFill>
                        </a:rPr>
                        <a:t>Measure of AI usage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Continuous, Gaussian-distributed</a:t>
                      </a:r>
                    </a:p>
                  </a:txBody>
                  <a:tcPr/>
                </a:tc>
                <a:extLst>
                  <a:ext uri="{0D108BD9-81ED-4DB2-BD59-A6C34878D82A}">
                    <a16:rowId xmlns:a16="http://schemas.microsoft.com/office/drawing/2014/main" val="1624395363"/>
                  </a:ext>
                </a:extLst>
              </a:tr>
              <a:tr h="370840">
                <a:tc>
                  <a:txBody>
                    <a:bodyPr/>
                    <a:lstStyle/>
                    <a:p>
                      <a:r>
                        <a:rPr lang="en-SE" dirty="0">
                          <a:solidFill>
                            <a:srgbClr val="006D70"/>
                          </a:solidFill>
                        </a:rPr>
                        <a:t>y</a:t>
                      </a:r>
                    </a:p>
                  </a:txBody>
                  <a:tcPr/>
                </a:tc>
                <a:tc>
                  <a:txBody>
                    <a:bodyPr/>
                    <a:lstStyle/>
                    <a:p>
                      <a:r>
                        <a:rPr lang="en-SE" dirty="0">
                          <a:solidFill>
                            <a:srgbClr val="006D70"/>
                          </a:solidFill>
                        </a:rPr>
                        <a:t>Ability of identifying bugs in a code snippet</a:t>
                      </a:r>
                    </a:p>
                  </a:txBody>
                  <a:tcPr/>
                </a:tc>
                <a:tc>
                  <a:txBody>
                    <a:bodyPr/>
                    <a:lstStyle/>
                    <a:p>
                      <a:r>
                        <a:rPr lang="en-SE" dirty="0"/>
                        <a:t>Continuous, Gaussian-distributed</a:t>
                      </a:r>
                    </a:p>
                  </a:txBody>
                  <a:tcPr/>
                </a:tc>
                <a:extLst>
                  <a:ext uri="{0D108BD9-81ED-4DB2-BD59-A6C34878D82A}">
                    <a16:rowId xmlns:a16="http://schemas.microsoft.com/office/drawing/2014/main" val="3142312279"/>
                  </a:ext>
                </a:extLst>
              </a:tr>
              <a:tr h="370840">
                <a:tc>
                  <a:txBody>
                    <a:bodyPr/>
                    <a:lstStyle/>
                    <a:p>
                      <a:r>
                        <a:rPr lang="en-SE" dirty="0"/>
                        <a:t>z</a:t>
                      </a:r>
                    </a:p>
                  </a:txBody>
                  <a:tcPr/>
                </a:tc>
                <a:tc>
                  <a:txBody>
                    <a:bodyPr/>
                    <a:lstStyle/>
                    <a:p>
                      <a:r>
                        <a:rPr lang="en-SE" dirty="0"/>
                        <a:t>Skill of a code reviewer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Continuous, Gaussian-distributed</a:t>
                      </a:r>
                    </a:p>
                  </a:txBody>
                  <a:tcPr/>
                </a:tc>
                <a:extLst>
                  <a:ext uri="{0D108BD9-81ED-4DB2-BD59-A6C34878D82A}">
                    <a16:rowId xmlns:a16="http://schemas.microsoft.com/office/drawing/2014/main" val="1763837834"/>
                  </a:ext>
                </a:extLst>
              </a:tr>
            </a:tbl>
          </a:graphicData>
        </a:graphic>
      </p:graphicFrame>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72ECAD05-0C98-041B-3D30-323E2187A642}"/>
                  </a:ext>
                </a:extLst>
              </p:cNvPr>
              <p:cNvSpPr txBox="1"/>
              <p:nvPr/>
            </p:nvSpPr>
            <p:spPr>
              <a:xfrm>
                <a:off x="2751040" y="3706774"/>
                <a:ext cx="2846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𝛽</m:t>
                          </m:r>
                        </m:e>
                        <m:sub>
                          <m:r>
                            <a:rPr lang="en-SE" b="0" i="1" smtClean="0">
                              <a:latin typeface="Cambria Math" panose="02040503050406030204" pitchFamily="18" charset="0"/>
                            </a:rPr>
                            <m:t>𝑥</m:t>
                          </m:r>
                        </m:sub>
                      </m:sSub>
                    </m:oMath>
                  </m:oMathPara>
                </a14:m>
                <a:endParaRPr lang="en-SE" dirty="0"/>
              </a:p>
            </p:txBody>
          </p:sp>
        </mc:Choice>
        <mc:Fallback>
          <p:sp>
            <p:nvSpPr>
              <p:cNvPr id="24" name="TextBox 23">
                <a:extLst>
                  <a:ext uri="{FF2B5EF4-FFF2-40B4-BE49-F238E27FC236}">
                    <a16:creationId xmlns:a16="http://schemas.microsoft.com/office/drawing/2014/main" id="{72ECAD05-0C98-041B-3D30-323E2187A642}"/>
                  </a:ext>
                </a:extLst>
              </p:cNvPr>
              <p:cNvSpPr txBox="1">
                <a:spLocks noRot="1" noChangeAspect="1" noMove="1" noResize="1" noEditPoints="1" noAdjustHandles="1" noChangeArrowheads="1" noChangeShapeType="1" noTextEdit="1"/>
              </p:cNvSpPr>
              <p:nvPr/>
            </p:nvSpPr>
            <p:spPr>
              <a:xfrm>
                <a:off x="2751040" y="3706774"/>
                <a:ext cx="284693" cy="276999"/>
              </a:xfrm>
              <a:prstGeom prst="rect">
                <a:avLst/>
              </a:prstGeom>
              <a:blipFill>
                <a:blip r:embed="rId2"/>
                <a:stretch>
                  <a:fillRect l="-29787" t="-2174" r="-2128" b="-32609"/>
                </a:stretch>
              </a:blipFill>
            </p:spPr>
            <p:txBody>
              <a:bodyPr/>
              <a:lstStyle/>
              <a:p>
                <a:r>
                  <a:rPr lang="en-SE">
                    <a:noFill/>
                  </a:rPr>
                  <a:t> </a:t>
                </a:r>
              </a:p>
            </p:txBody>
          </p:sp>
        </mc:Fallback>
      </mc:AlternateContent>
      <p:sp>
        <p:nvSpPr>
          <p:cNvPr id="6" name="Footer Placeholder 5">
            <a:extLst>
              <a:ext uri="{FF2B5EF4-FFF2-40B4-BE49-F238E27FC236}">
                <a16:creationId xmlns:a16="http://schemas.microsoft.com/office/drawing/2014/main" id="{A176A0E7-F2E9-74EA-22F5-7927A87557DD}"/>
              </a:ext>
            </a:extLst>
          </p:cNvPr>
          <p:cNvSpPr>
            <a:spLocks noGrp="1"/>
          </p:cNvSpPr>
          <p:nvPr>
            <p:ph type="ftr" sz="quarter" idx="11"/>
          </p:nvPr>
        </p:nvSpPr>
        <p:spPr/>
        <p:txBody>
          <a:bodyPr/>
          <a:lstStyle/>
          <a:p>
            <a:r>
              <a:rPr lang="de-DE"/>
              <a:t>Bayesian Data Analysis Tutorial</a:t>
            </a:r>
            <a:endParaRPr lang="en-SE"/>
          </a:p>
        </p:txBody>
      </p:sp>
      <p:grpSp>
        <p:nvGrpSpPr>
          <p:cNvPr id="7" name="Group 6">
            <a:extLst>
              <a:ext uri="{FF2B5EF4-FFF2-40B4-BE49-F238E27FC236}">
                <a16:creationId xmlns:a16="http://schemas.microsoft.com/office/drawing/2014/main" id="{6C5B0B51-3FC0-8248-EE6A-54474A187C74}"/>
              </a:ext>
            </a:extLst>
          </p:cNvPr>
          <p:cNvGrpSpPr/>
          <p:nvPr/>
        </p:nvGrpSpPr>
        <p:grpSpPr>
          <a:xfrm>
            <a:off x="203635" y="1825625"/>
            <a:ext cx="504000" cy="504000"/>
            <a:chOff x="977950" y="2729564"/>
            <a:chExt cx="504000" cy="504000"/>
          </a:xfrm>
        </p:grpSpPr>
        <p:sp>
          <p:nvSpPr>
            <p:cNvPr id="13" name="Oval 12">
              <a:extLst>
                <a:ext uri="{FF2B5EF4-FFF2-40B4-BE49-F238E27FC236}">
                  <a16:creationId xmlns:a16="http://schemas.microsoft.com/office/drawing/2014/main" id="{EDB0A644-B95F-7C0D-97AE-409E59D2F1A6}"/>
                </a:ext>
              </a:extLst>
            </p:cNvPr>
            <p:cNvSpPr/>
            <p:nvPr/>
          </p:nvSpPr>
          <p:spPr>
            <a:xfrm>
              <a:off x="977950" y="2729564"/>
              <a:ext cx="504000" cy="504000"/>
            </a:xfrm>
            <a:prstGeom prst="ellips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6" name="Graphic 15" descr="Golden Ratio with solid fill">
              <a:extLst>
                <a:ext uri="{FF2B5EF4-FFF2-40B4-BE49-F238E27FC236}">
                  <a16:creationId xmlns:a16="http://schemas.microsoft.com/office/drawing/2014/main" id="{3353EB88-A3C7-B20E-5CA4-C1FB1C5483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18" name="Group 17">
            <a:extLst>
              <a:ext uri="{FF2B5EF4-FFF2-40B4-BE49-F238E27FC236}">
                <a16:creationId xmlns:a16="http://schemas.microsoft.com/office/drawing/2014/main" id="{F5721E80-58E1-1486-F813-A93DBA5D5EE4}"/>
              </a:ext>
            </a:extLst>
          </p:cNvPr>
          <p:cNvGrpSpPr/>
          <p:nvPr/>
        </p:nvGrpSpPr>
        <p:grpSpPr>
          <a:xfrm>
            <a:off x="203635" y="2439322"/>
            <a:ext cx="504000" cy="504000"/>
            <a:chOff x="977950" y="2729564"/>
            <a:chExt cx="504000" cy="504000"/>
          </a:xfrm>
        </p:grpSpPr>
        <p:sp>
          <p:nvSpPr>
            <p:cNvPr id="19" name="Oval 18">
              <a:extLst>
                <a:ext uri="{FF2B5EF4-FFF2-40B4-BE49-F238E27FC236}">
                  <a16:creationId xmlns:a16="http://schemas.microsoft.com/office/drawing/2014/main" id="{1138D2B6-0457-B527-0636-9B320EFBA234}"/>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1" name="Graphic 20" descr="Normal Distribution with solid fill">
              <a:extLst>
                <a:ext uri="{FF2B5EF4-FFF2-40B4-BE49-F238E27FC236}">
                  <a16:creationId xmlns:a16="http://schemas.microsoft.com/office/drawing/2014/main" id="{FF06081B-AF84-2517-F469-D2B9C743277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22" name="Group 21">
            <a:extLst>
              <a:ext uri="{FF2B5EF4-FFF2-40B4-BE49-F238E27FC236}">
                <a16:creationId xmlns:a16="http://schemas.microsoft.com/office/drawing/2014/main" id="{B240C5C4-E11F-E12B-DACD-68138BED4969}"/>
              </a:ext>
            </a:extLst>
          </p:cNvPr>
          <p:cNvGrpSpPr/>
          <p:nvPr/>
        </p:nvGrpSpPr>
        <p:grpSpPr>
          <a:xfrm>
            <a:off x="203635" y="3053019"/>
            <a:ext cx="504000" cy="504000"/>
            <a:chOff x="977950" y="2729564"/>
            <a:chExt cx="504000" cy="504000"/>
          </a:xfrm>
        </p:grpSpPr>
        <p:sp>
          <p:nvSpPr>
            <p:cNvPr id="25" name="Oval 24">
              <a:extLst>
                <a:ext uri="{FF2B5EF4-FFF2-40B4-BE49-F238E27FC236}">
                  <a16:creationId xmlns:a16="http://schemas.microsoft.com/office/drawing/2014/main" id="{6C32B941-4AAA-93DE-6BFA-B0035F96D15E}"/>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6" name="Graphic 25" descr="Abacus with solid fill">
              <a:extLst>
                <a:ext uri="{FF2B5EF4-FFF2-40B4-BE49-F238E27FC236}">
                  <a16:creationId xmlns:a16="http://schemas.microsoft.com/office/drawing/2014/main" id="{4D409F9A-8A1A-21C3-0A21-E74677994E22}"/>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27" name="Group 26">
            <a:extLst>
              <a:ext uri="{FF2B5EF4-FFF2-40B4-BE49-F238E27FC236}">
                <a16:creationId xmlns:a16="http://schemas.microsoft.com/office/drawing/2014/main" id="{C5AF505E-9423-1C19-D37E-F79E460B9C36}"/>
              </a:ext>
            </a:extLst>
          </p:cNvPr>
          <p:cNvGrpSpPr/>
          <p:nvPr/>
        </p:nvGrpSpPr>
        <p:grpSpPr>
          <a:xfrm>
            <a:off x="203635" y="3666716"/>
            <a:ext cx="504000" cy="504000"/>
            <a:chOff x="977950" y="2729564"/>
            <a:chExt cx="504000" cy="504000"/>
          </a:xfrm>
        </p:grpSpPr>
        <p:sp>
          <p:nvSpPr>
            <p:cNvPr id="28" name="Oval 27">
              <a:extLst>
                <a:ext uri="{FF2B5EF4-FFF2-40B4-BE49-F238E27FC236}">
                  <a16:creationId xmlns:a16="http://schemas.microsoft.com/office/drawing/2014/main" id="{27D9C29F-03D2-75D9-E952-2C103D6F4F18}"/>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9" name="Graphic 28" descr="Trigonometry with solid fill">
              <a:extLst>
                <a:ext uri="{FF2B5EF4-FFF2-40B4-BE49-F238E27FC236}">
                  <a16:creationId xmlns:a16="http://schemas.microsoft.com/office/drawing/2014/main" id="{33B823E1-C017-725C-8206-C1D1A3E68D1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30" name="Group 29">
            <a:extLst>
              <a:ext uri="{FF2B5EF4-FFF2-40B4-BE49-F238E27FC236}">
                <a16:creationId xmlns:a16="http://schemas.microsoft.com/office/drawing/2014/main" id="{E3B9E24E-3049-5CAF-65EB-FBDC4F025AB2}"/>
              </a:ext>
            </a:extLst>
          </p:cNvPr>
          <p:cNvGrpSpPr/>
          <p:nvPr/>
        </p:nvGrpSpPr>
        <p:grpSpPr>
          <a:xfrm>
            <a:off x="203635" y="4280414"/>
            <a:ext cx="504000" cy="504000"/>
            <a:chOff x="977950" y="2729564"/>
            <a:chExt cx="504000" cy="504000"/>
          </a:xfrm>
        </p:grpSpPr>
        <p:sp>
          <p:nvSpPr>
            <p:cNvPr id="31" name="Oval 30">
              <a:extLst>
                <a:ext uri="{FF2B5EF4-FFF2-40B4-BE49-F238E27FC236}">
                  <a16:creationId xmlns:a16="http://schemas.microsoft.com/office/drawing/2014/main" id="{A6D3D19A-8B48-E9D4-012C-B9CC6A2644A4}"/>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2" name="Graphic 31" descr="Scatterplot with solid fill">
              <a:extLst>
                <a:ext uri="{FF2B5EF4-FFF2-40B4-BE49-F238E27FC236}">
                  <a16:creationId xmlns:a16="http://schemas.microsoft.com/office/drawing/2014/main" id="{1AF5C602-3E63-C8CE-7260-4C5287123987}"/>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33" name="Straight Arrow Connector 32">
            <a:extLst>
              <a:ext uri="{FF2B5EF4-FFF2-40B4-BE49-F238E27FC236}">
                <a16:creationId xmlns:a16="http://schemas.microsoft.com/office/drawing/2014/main" id="{F6035C20-0270-7B2B-75A3-6AD01A36B7A3}"/>
              </a:ext>
            </a:extLst>
          </p:cNvPr>
          <p:cNvCxnSpPr>
            <a:cxnSpLocks/>
            <a:stCxn id="13" idx="4"/>
            <a:endCxn id="19"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3D20AA06-FB9C-E423-EC30-1C707AE4AB6D}"/>
              </a:ext>
            </a:extLst>
          </p:cNvPr>
          <p:cNvCxnSpPr>
            <a:cxnSpLocks/>
            <a:stCxn id="19" idx="4"/>
            <a:endCxn id="25"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FB991836-A9D9-94D1-B4FB-FCC0628027F6}"/>
              </a:ext>
            </a:extLst>
          </p:cNvPr>
          <p:cNvCxnSpPr>
            <a:cxnSpLocks/>
            <a:stCxn id="25" idx="4"/>
            <a:endCxn id="28"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C1EDF1CF-3D1F-FE2C-DAF6-265CE4309B84}"/>
              </a:ext>
            </a:extLst>
          </p:cNvPr>
          <p:cNvCxnSpPr>
            <a:cxnSpLocks/>
            <a:stCxn id="28" idx="4"/>
            <a:endCxn id="31"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8612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P spid="12" grpId="0"/>
      <p:bldP spid="14" grpId="0" animBg="1"/>
      <p:bldP spid="15" grpId="0"/>
      <p:bldP spid="2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18FA7-BDBF-2058-2338-93F04D5FF90C}"/>
              </a:ext>
            </a:extLst>
          </p:cNvPr>
          <p:cNvSpPr>
            <a:spLocks noGrp="1"/>
          </p:cNvSpPr>
          <p:nvPr>
            <p:ph type="title"/>
          </p:nvPr>
        </p:nvSpPr>
        <p:spPr/>
        <p:txBody>
          <a:bodyPr/>
          <a:lstStyle/>
          <a:p>
            <a:r>
              <a:rPr lang="en-SE" dirty="0"/>
              <a:t>Building a Regression Formula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C5F6352-5684-87F5-E25B-62DEFB582C69}"/>
                  </a:ext>
                </a:extLst>
              </p:cNvPr>
              <p:cNvSpPr>
                <a:spLocks noGrp="1"/>
              </p:cNvSpPr>
              <p:nvPr>
                <p:ph idx="1"/>
              </p:nvPr>
            </p:nvSpPr>
            <p:spPr>
              <a:xfrm>
                <a:off x="838200" y="1825625"/>
                <a:ext cx="10515600" cy="968375"/>
              </a:xfrm>
            </p:spPr>
            <p:txBody>
              <a:bodyPr/>
              <a:lstStyle/>
              <a:p>
                <a:pPr marL="0" indent="0">
                  <a:buNone/>
                </a:pPr>
                <a:r>
                  <a:rPr lang="en-SE" dirty="0"/>
                  <a:t>To determine the target quantity </a:t>
                </a:r>
                <a14:m>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𝛽</m:t>
                        </m:r>
                      </m:e>
                      <m:sub>
                        <m:r>
                          <a:rPr lang="en-SE" b="0" i="1" smtClean="0">
                            <a:latin typeface="Cambria Math" panose="02040503050406030204" pitchFamily="18" charset="0"/>
                          </a:rPr>
                          <m:t>𝑥</m:t>
                        </m:r>
                      </m:sub>
                    </m:sSub>
                  </m:oMath>
                </a14:m>
                <a:r>
                  <a:rPr lang="en-SE" dirty="0"/>
                  <a:t>, we can describe the relationship between variables in a regression formula.</a:t>
                </a:r>
              </a:p>
            </p:txBody>
          </p:sp>
        </mc:Choice>
        <mc:Fallback>
          <p:sp>
            <p:nvSpPr>
              <p:cNvPr id="3" name="Content Placeholder 2">
                <a:extLst>
                  <a:ext uri="{FF2B5EF4-FFF2-40B4-BE49-F238E27FC236}">
                    <a16:creationId xmlns:a16="http://schemas.microsoft.com/office/drawing/2014/main" id="{FC5F6352-5684-87F5-E25B-62DEFB582C69}"/>
                  </a:ext>
                </a:extLst>
              </p:cNvPr>
              <p:cNvSpPr>
                <a:spLocks noGrp="1" noRot="1" noChangeAspect="1" noMove="1" noResize="1" noEditPoints="1" noAdjustHandles="1" noChangeArrowheads="1" noChangeShapeType="1" noTextEdit="1"/>
              </p:cNvSpPr>
              <p:nvPr>
                <p:ph idx="1"/>
              </p:nvPr>
            </p:nvSpPr>
            <p:spPr>
              <a:xfrm>
                <a:off x="838200" y="1825625"/>
                <a:ext cx="10515600" cy="968375"/>
              </a:xfrm>
              <a:blipFill>
                <a:blip r:embed="rId2"/>
                <a:stretch>
                  <a:fillRect l="-1217" t="-10692" b="-6289"/>
                </a:stretch>
              </a:blipFill>
            </p:spPr>
            <p:txBody>
              <a:bodyPr/>
              <a:lstStyle/>
              <a:p>
                <a:r>
                  <a:rPr lang="en-SE">
                    <a:noFill/>
                  </a:rPr>
                  <a:t> </a:t>
                </a:r>
              </a:p>
            </p:txBody>
          </p:sp>
        </mc:Fallback>
      </mc:AlternateContent>
      <p:sp>
        <p:nvSpPr>
          <p:cNvPr id="4" name="Date Placeholder 3">
            <a:extLst>
              <a:ext uri="{FF2B5EF4-FFF2-40B4-BE49-F238E27FC236}">
                <a16:creationId xmlns:a16="http://schemas.microsoft.com/office/drawing/2014/main" id="{FBFC4A0F-0696-4EB7-B344-E3706D2C3D22}"/>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42069D3E-A325-A19B-BB2C-0D81677E095B}"/>
              </a:ext>
            </a:extLst>
          </p:cNvPr>
          <p:cNvSpPr>
            <a:spLocks noGrp="1"/>
          </p:cNvSpPr>
          <p:nvPr>
            <p:ph type="sldNum" sz="quarter" idx="12"/>
          </p:nvPr>
        </p:nvSpPr>
        <p:spPr/>
        <p:txBody>
          <a:bodyPr/>
          <a:lstStyle/>
          <a:p>
            <a:fld id="{271ECC92-9CDE-4EB3-B1C5-F46B9E1FA3C1}" type="slidenum">
              <a:rPr lang="en-SE" smtClean="0"/>
              <a:t>42</a:t>
            </a:fld>
            <a:endParaRPr lang="en-SE"/>
          </a:p>
        </p:txBody>
      </p:sp>
      <p:sp>
        <p:nvSpPr>
          <p:cNvPr id="76" name="Rectangle: Rounded Corners 75">
            <a:extLst>
              <a:ext uri="{FF2B5EF4-FFF2-40B4-BE49-F238E27FC236}">
                <a16:creationId xmlns:a16="http://schemas.microsoft.com/office/drawing/2014/main" id="{BB6F1785-510B-3C71-4CE2-A1A568D171E0}"/>
              </a:ext>
            </a:extLst>
          </p:cNvPr>
          <p:cNvSpPr/>
          <p:nvPr/>
        </p:nvSpPr>
        <p:spPr>
          <a:xfrm>
            <a:off x="3993931" y="3611867"/>
            <a:ext cx="4204138" cy="1657793"/>
          </a:xfrm>
          <a:prstGeom prst="roundRect">
            <a:avLst/>
          </a:prstGeom>
          <a:solidFill>
            <a:schemeClr val="accent5">
              <a:lumMod val="20000"/>
              <a:lumOff val="80000"/>
            </a:schemeClr>
          </a:solidFill>
          <a:ln>
            <a:solidFill>
              <a:schemeClr val="accent4">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SE" dirty="0">
                <a:solidFill>
                  <a:sysClr val="windowText" lastClr="000000"/>
                </a:solidFill>
              </a:rPr>
              <a:t>Bayesian Model</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521D5309-3C95-C91C-056F-58983DD46352}"/>
                  </a:ext>
                </a:extLst>
              </p:cNvPr>
              <p:cNvSpPr txBox="1"/>
              <p:nvPr/>
            </p:nvSpPr>
            <p:spPr>
              <a:xfrm>
                <a:off x="4464705" y="4213920"/>
                <a:ext cx="15610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𝑦</m:t>
                      </m:r>
                      <m:r>
                        <a:rPr lang="en-SE" sz="2400" b="0" i="1" smtClean="0">
                          <a:latin typeface="Cambria Math" panose="02040503050406030204" pitchFamily="18" charset="0"/>
                        </a:rPr>
                        <m:t> ~ </m:t>
                      </m:r>
                      <m:r>
                        <a:rPr lang="en-SE" sz="2400" b="0" i="1" smtClean="0">
                          <a:latin typeface="Cambria Math" panose="02040503050406030204" pitchFamily="18" charset="0"/>
                        </a:rPr>
                        <m:t>𝑁</m:t>
                      </m:r>
                      <m:r>
                        <a:rPr lang="en-SE" sz="2400" b="0" i="1" smtClean="0">
                          <a:latin typeface="Cambria Math" panose="02040503050406030204" pitchFamily="18" charset="0"/>
                        </a:rPr>
                        <m:t>(</m:t>
                      </m:r>
                      <m:r>
                        <a:rPr lang="en-SE" sz="2400" b="0" i="1" smtClean="0">
                          <a:latin typeface="Cambria Math" panose="02040503050406030204" pitchFamily="18" charset="0"/>
                        </a:rPr>
                        <m:t>𝜇</m:t>
                      </m:r>
                      <m:r>
                        <a:rPr lang="en-SE" sz="2400" b="0" i="1" smtClean="0">
                          <a:latin typeface="Cambria Math" panose="02040503050406030204" pitchFamily="18" charset="0"/>
                        </a:rPr>
                        <m:t>, </m:t>
                      </m:r>
                      <m:r>
                        <a:rPr lang="en-SE" sz="2400" b="0" i="1" smtClean="0">
                          <a:latin typeface="Cambria Math" panose="02040503050406030204" pitchFamily="18" charset="0"/>
                        </a:rPr>
                        <m:t>𝜎</m:t>
                      </m:r>
                      <m:r>
                        <a:rPr lang="en-SE" sz="2400" b="0" i="1" smtClean="0">
                          <a:latin typeface="Cambria Math" panose="02040503050406030204" pitchFamily="18" charset="0"/>
                        </a:rPr>
                        <m:t>)</m:t>
                      </m:r>
                    </m:oMath>
                  </m:oMathPara>
                </a14:m>
                <a:endParaRPr lang="en-SE" sz="2400" dirty="0"/>
              </a:p>
            </p:txBody>
          </p:sp>
        </mc:Choice>
        <mc:Fallback>
          <p:sp>
            <p:nvSpPr>
              <p:cNvPr id="16" name="TextBox 15">
                <a:extLst>
                  <a:ext uri="{FF2B5EF4-FFF2-40B4-BE49-F238E27FC236}">
                    <a16:creationId xmlns:a16="http://schemas.microsoft.com/office/drawing/2014/main" id="{521D5309-3C95-C91C-056F-58983DD46352}"/>
                  </a:ext>
                </a:extLst>
              </p:cNvPr>
              <p:cNvSpPr txBox="1">
                <a:spLocks noRot="1" noChangeAspect="1" noMove="1" noResize="1" noEditPoints="1" noAdjustHandles="1" noChangeArrowheads="1" noChangeShapeType="1" noTextEdit="1"/>
              </p:cNvSpPr>
              <p:nvPr/>
            </p:nvSpPr>
            <p:spPr>
              <a:xfrm>
                <a:off x="4464705" y="4213920"/>
                <a:ext cx="1561005" cy="369332"/>
              </a:xfrm>
              <a:prstGeom prst="rect">
                <a:avLst/>
              </a:prstGeom>
              <a:blipFill>
                <a:blip r:embed="rId3"/>
                <a:stretch>
                  <a:fillRect l="-4688" t="-1639" r="-7031" b="-3278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82BD9A13-B038-4F1C-1377-277D447B37C2}"/>
                  </a:ext>
                </a:extLst>
              </p:cNvPr>
              <p:cNvSpPr txBox="1"/>
              <p:nvPr/>
            </p:nvSpPr>
            <p:spPr>
              <a:xfrm>
                <a:off x="4405594" y="4611422"/>
                <a:ext cx="305384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𝜇</m:t>
                      </m:r>
                      <m:r>
                        <a:rPr lang="en-SE" sz="2400" b="0" i="1" smtClean="0">
                          <a:latin typeface="Cambria Math" panose="02040503050406030204" pitchFamily="18" charset="0"/>
                        </a:rPr>
                        <m:t>←</m:t>
                      </m:r>
                      <m:r>
                        <a:rPr lang="en-SE" sz="2400" b="0" i="1" smtClean="0">
                          <a:latin typeface="Cambria Math" panose="02040503050406030204" pitchFamily="18" charset="0"/>
                        </a:rPr>
                        <m:t>𝛼</m:t>
                      </m:r>
                      <m:r>
                        <a:rPr lang="en-SE" sz="2400" b="0" i="1" smtClean="0">
                          <a:latin typeface="Cambria Math" panose="02040503050406030204" pitchFamily="18" charset="0"/>
                        </a:rPr>
                        <m:t>+</m:t>
                      </m:r>
                      <m:sSub>
                        <m:sSubPr>
                          <m:ctrlPr>
                            <a:rPr lang="en-SE" sz="2400" b="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𝑥</m:t>
                      </m:r>
                      <m:r>
                        <a:rPr lang="en-SE" sz="2400" b="0" i="1" smtClean="0">
                          <a:latin typeface="Cambria Math" panose="02040503050406030204" pitchFamily="18" charset="0"/>
                        </a:rPr>
                        <m:t>+</m:t>
                      </m:r>
                      <m:sSub>
                        <m:sSubPr>
                          <m:ctrlPr>
                            <a:rPr lang="en-SE" sz="2400" b="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𝑧</m:t>
                      </m:r>
                    </m:oMath>
                  </m:oMathPara>
                </a14:m>
                <a:endParaRPr lang="en-SE" sz="2400" dirty="0"/>
              </a:p>
            </p:txBody>
          </p:sp>
        </mc:Choice>
        <mc:Fallback>
          <p:sp>
            <p:nvSpPr>
              <p:cNvPr id="18" name="TextBox 17">
                <a:extLst>
                  <a:ext uri="{FF2B5EF4-FFF2-40B4-BE49-F238E27FC236}">
                    <a16:creationId xmlns:a16="http://schemas.microsoft.com/office/drawing/2014/main" id="{82BD9A13-B038-4F1C-1377-277D447B37C2}"/>
                  </a:ext>
                </a:extLst>
              </p:cNvPr>
              <p:cNvSpPr txBox="1">
                <a:spLocks noRot="1" noChangeAspect="1" noMove="1" noResize="1" noEditPoints="1" noAdjustHandles="1" noChangeArrowheads="1" noChangeShapeType="1" noTextEdit="1"/>
              </p:cNvSpPr>
              <p:nvPr/>
            </p:nvSpPr>
            <p:spPr>
              <a:xfrm>
                <a:off x="4405594" y="4611422"/>
                <a:ext cx="3053849" cy="369332"/>
              </a:xfrm>
              <a:prstGeom prst="rect">
                <a:avLst/>
              </a:prstGeom>
              <a:blipFill>
                <a:blip r:embed="rId4"/>
                <a:stretch>
                  <a:fillRect l="-998" t="-1639" b="-32787"/>
                </a:stretch>
              </a:blipFill>
            </p:spPr>
            <p:txBody>
              <a:bodyPr/>
              <a:lstStyle/>
              <a:p>
                <a:r>
                  <a:rPr lang="en-SE">
                    <a:noFill/>
                  </a:rPr>
                  <a:t> </a:t>
                </a:r>
              </a:p>
            </p:txBody>
          </p:sp>
        </mc:Fallback>
      </mc:AlternateContent>
      <p:sp>
        <p:nvSpPr>
          <p:cNvPr id="17" name="Footer Placeholder 16">
            <a:extLst>
              <a:ext uri="{FF2B5EF4-FFF2-40B4-BE49-F238E27FC236}">
                <a16:creationId xmlns:a16="http://schemas.microsoft.com/office/drawing/2014/main" id="{DCC16559-74D3-FA7B-56F1-C440D672F044}"/>
              </a:ext>
            </a:extLst>
          </p:cNvPr>
          <p:cNvSpPr>
            <a:spLocks noGrp="1"/>
          </p:cNvSpPr>
          <p:nvPr>
            <p:ph type="ftr" sz="quarter" idx="11"/>
          </p:nvPr>
        </p:nvSpPr>
        <p:spPr/>
        <p:txBody>
          <a:bodyPr/>
          <a:lstStyle/>
          <a:p>
            <a:r>
              <a:rPr lang="de-DE"/>
              <a:t>Bayesian Data Analysis Tutorial</a:t>
            </a:r>
            <a:endParaRPr lang="en-SE"/>
          </a:p>
        </p:txBody>
      </p:sp>
      <p:grpSp>
        <p:nvGrpSpPr>
          <p:cNvPr id="57" name="Group 56">
            <a:extLst>
              <a:ext uri="{FF2B5EF4-FFF2-40B4-BE49-F238E27FC236}">
                <a16:creationId xmlns:a16="http://schemas.microsoft.com/office/drawing/2014/main" id="{61EC8DBA-CFEB-6EB6-7A2E-2CD40B24F33E}"/>
              </a:ext>
            </a:extLst>
          </p:cNvPr>
          <p:cNvGrpSpPr/>
          <p:nvPr/>
        </p:nvGrpSpPr>
        <p:grpSpPr>
          <a:xfrm>
            <a:off x="203635" y="1825625"/>
            <a:ext cx="504000" cy="504000"/>
            <a:chOff x="977950" y="2729564"/>
            <a:chExt cx="504000" cy="504000"/>
          </a:xfrm>
        </p:grpSpPr>
        <p:sp>
          <p:nvSpPr>
            <p:cNvPr id="58" name="Oval 57">
              <a:extLst>
                <a:ext uri="{FF2B5EF4-FFF2-40B4-BE49-F238E27FC236}">
                  <a16:creationId xmlns:a16="http://schemas.microsoft.com/office/drawing/2014/main" id="{67D7D4C7-CA5B-144E-7B78-267D5B2AFCAF}"/>
                </a:ext>
              </a:extLst>
            </p:cNvPr>
            <p:cNvSpPr/>
            <p:nvPr/>
          </p:nvSpPr>
          <p:spPr>
            <a:xfrm>
              <a:off x="977950" y="2729564"/>
              <a:ext cx="504000" cy="504000"/>
            </a:xfrm>
            <a:prstGeom prst="ellips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9" name="Graphic 58" descr="Golden Ratio with solid fill">
              <a:extLst>
                <a:ext uri="{FF2B5EF4-FFF2-40B4-BE49-F238E27FC236}">
                  <a16:creationId xmlns:a16="http://schemas.microsoft.com/office/drawing/2014/main" id="{E7B4058B-B471-242D-CDDB-E769D175284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1950" y="2783564"/>
              <a:ext cx="396000" cy="396000"/>
            </a:xfrm>
            <a:prstGeom prst="rect">
              <a:avLst/>
            </a:prstGeom>
          </p:spPr>
        </p:pic>
      </p:grpSp>
      <p:grpSp>
        <p:nvGrpSpPr>
          <p:cNvPr id="60" name="Group 59">
            <a:extLst>
              <a:ext uri="{FF2B5EF4-FFF2-40B4-BE49-F238E27FC236}">
                <a16:creationId xmlns:a16="http://schemas.microsoft.com/office/drawing/2014/main" id="{1408F4B5-B3E2-5432-C2A9-1052DDCE3445}"/>
              </a:ext>
            </a:extLst>
          </p:cNvPr>
          <p:cNvGrpSpPr/>
          <p:nvPr/>
        </p:nvGrpSpPr>
        <p:grpSpPr>
          <a:xfrm>
            <a:off x="203635" y="2439322"/>
            <a:ext cx="504000" cy="504000"/>
            <a:chOff x="977950" y="2729564"/>
            <a:chExt cx="504000" cy="504000"/>
          </a:xfrm>
        </p:grpSpPr>
        <p:sp>
          <p:nvSpPr>
            <p:cNvPr id="61" name="Oval 60">
              <a:extLst>
                <a:ext uri="{FF2B5EF4-FFF2-40B4-BE49-F238E27FC236}">
                  <a16:creationId xmlns:a16="http://schemas.microsoft.com/office/drawing/2014/main" id="{D42D1476-7C34-D5AD-F739-A43CE7BFB9FC}"/>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2" name="Graphic 61" descr="Normal Distribution with solid fill">
              <a:extLst>
                <a:ext uri="{FF2B5EF4-FFF2-40B4-BE49-F238E27FC236}">
                  <a16:creationId xmlns:a16="http://schemas.microsoft.com/office/drawing/2014/main" id="{C962A06C-8363-BAA6-3D01-CA686395DC25}"/>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63" name="Group 62">
            <a:extLst>
              <a:ext uri="{FF2B5EF4-FFF2-40B4-BE49-F238E27FC236}">
                <a16:creationId xmlns:a16="http://schemas.microsoft.com/office/drawing/2014/main" id="{219690D1-A9FD-D8AF-9297-8D728C63C823}"/>
              </a:ext>
            </a:extLst>
          </p:cNvPr>
          <p:cNvGrpSpPr/>
          <p:nvPr/>
        </p:nvGrpSpPr>
        <p:grpSpPr>
          <a:xfrm>
            <a:off x="203635" y="3053019"/>
            <a:ext cx="504000" cy="504000"/>
            <a:chOff x="977950" y="2729564"/>
            <a:chExt cx="504000" cy="504000"/>
          </a:xfrm>
        </p:grpSpPr>
        <p:sp>
          <p:nvSpPr>
            <p:cNvPr id="64" name="Oval 63">
              <a:extLst>
                <a:ext uri="{FF2B5EF4-FFF2-40B4-BE49-F238E27FC236}">
                  <a16:creationId xmlns:a16="http://schemas.microsoft.com/office/drawing/2014/main" id="{F9EBD610-E9C3-575E-BE29-1335B62BBC5A}"/>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5" name="Graphic 64" descr="Abacus with solid fill">
              <a:extLst>
                <a:ext uri="{FF2B5EF4-FFF2-40B4-BE49-F238E27FC236}">
                  <a16:creationId xmlns:a16="http://schemas.microsoft.com/office/drawing/2014/main" id="{671EBB1B-4CF2-76A2-BFC0-9EB646A5983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grpSp>
        <p:nvGrpSpPr>
          <p:cNvPr id="66" name="Group 65">
            <a:extLst>
              <a:ext uri="{FF2B5EF4-FFF2-40B4-BE49-F238E27FC236}">
                <a16:creationId xmlns:a16="http://schemas.microsoft.com/office/drawing/2014/main" id="{913D716E-DF8A-796E-6B8B-98220CA758B1}"/>
              </a:ext>
            </a:extLst>
          </p:cNvPr>
          <p:cNvGrpSpPr/>
          <p:nvPr/>
        </p:nvGrpSpPr>
        <p:grpSpPr>
          <a:xfrm>
            <a:off x="203635" y="3666716"/>
            <a:ext cx="504000" cy="504000"/>
            <a:chOff x="977950" y="2729564"/>
            <a:chExt cx="504000" cy="504000"/>
          </a:xfrm>
        </p:grpSpPr>
        <p:sp>
          <p:nvSpPr>
            <p:cNvPr id="67" name="Oval 66">
              <a:extLst>
                <a:ext uri="{FF2B5EF4-FFF2-40B4-BE49-F238E27FC236}">
                  <a16:creationId xmlns:a16="http://schemas.microsoft.com/office/drawing/2014/main" id="{2A0EB8E2-77D3-7CD9-CAC9-9EED369CF134}"/>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8" name="Graphic 67" descr="Trigonometry with solid fill">
              <a:extLst>
                <a:ext uri="{FF2B5EF4-FFF2-40B4-BE49-F238E27FC236}">
                  <a16:creationId xmlns:a16="http://schemas.microsoft.com/office/drawing/2014/main" id="{A0BBC543-BFE1-2B94-CA6D-B0F689AA0FF1}"/>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31950" y="2783564"/>
              <a:ext cx="396000" cy="396000"/>
            </a:xfrm>
            <a:prstGeom prst="rect">
              <a:avLst/>
            </a:prstGeom>
          </p:spPr>
        </p:pic>
      </p:grpSp>
      <p:grpSp>
        <p:nvGrpSpPr>
          <p:cNvPr id="69" name="Group 68">
            <a:extLst>
              <a:ext uri="{FF2B5EF4-FFF2-40B4-BE49-F238E27FC236}">
                <a16:creationId xmlns:a16="http://schemas.microsoft.com/office/drawing/2014/main" id="{60C3F261-08C5-D04B-93E1-3D4D2827260B}"/>
              </a:ext>
            </a:extLst>
          </p:cNvPr>
          <p:cNvGrpSpPr/>
          <p:nvPr/>
        </p:nvGrpSpPr>
        <p:grpSpPr>
          <a:xfrm>
            <a:off x="203635" y="4280414"/>
            <a:ext cx="504000" cy="504000"/>
            <a:chOff x="977950" y="2729564"/>
            <a:chExt cx="504000" cy="504000"/>
          </a:xfrm>
        </p:grpSpPr>
        <p:sp>
          <p:nvSpPr>
            <p:cNvPr id="70" name="Oval 69">
              <a:extLst>
                <a:ext uri="{FF2B5EF4-FFF2-40B4-BE49-F238E27FC236}">
                  <a16:creationId xmlns:a16="http://schemas.microsoft.com/office/drawing/2014/main" id="{D8E20FB6-2810-36A6-BF69-E210B29D541F}"/>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71" name="Graphic 70" descr="Scatterplot with solid fill">
              <a:extLst>
                <a:ext uri="{FF2B5EF4-FFF2-40B4-BE49-F238E27FC236}">
                  <a16:creationId xmlns:a16="http://schemas.microsoft.com/office/drawing/2014/main" id="{6EC358FA-9E5A-AB8B-CFAE-A94BF94C59A9}"/>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031950" y="2783564"/>
              <a:ext cx="396000" cy="396000"/>
            </a:xfrm>
            <a:prstGeom prst="rect">
              <a:avLst/>
            </a:prstGeom>
          </p:spPr>
        </p:pic>
      </p:grpSp>
      <p:cxnSp>
        <p:nvCxnSpPr>
          <p:cNvPr id="72" name="Straight Arrow Connector 71">
            <a:extLst>
              <a:ext uri="{FF2B5EF4-FFF2-40B4-BE49-F238E27FC236}">
                <a16:creationId xmlns:a16="http://schemas.microsoft.com/office/drawing/2014/main" id="{F58818D8-ED7D-1598-C399-587383990536}"/>
              </a:ext>
            </a:extLst>
          </p:cNvPr>
          <p:cNvCxnSpPr>
            <a:cxnSpLocks/>
            <a:stCxn id="58" idx="4"/>
            <a:endCxn id="61"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6CDB01F4-0A96-C36A-D951-57495227C404}"/>
              </a:ext>
            </a:extLst>
          </p:cNvPr>
          <p:cNvCxnSpPr>
            <a:cxnSpLocks/>
            <a:stCxn id="61" idx="4"/>
            <a:endCxn id="64"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4" name="Straight Arrow Connector 73">
            <a:extLst>
              <a:ext uri="{FF2B5EF4-FFF2-40B4-BE49-F238E27FC236}">
                <a16:creationId xmlns:a16="http://schemas.microsoft.com/office/drawing/2014/main" id="{1FFD40EF-1741-07B6-3073-7A1F3D016DC5}"/>
              </a:ext>
            </a:extLst>
          </p:cNvPr>
          <p:cNvCxnSpPr>
            <a:cxnSpLocks/>
            <a:stCxn id="64" idx="4"/>
            <a:endCxn id="67"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5" name="Straight Arrow Connector 74">
            <a:extLst>
              <a:ext uri="{FF2B5EF4-FFF2-40B4-BE49-F238E27FC236}">
                <a16:creationId xmlns:a16="http://schemas.microsoft.com/office/drawing/2014/main" id="{F2D16287-66CC-59BB-032B-1F4A22AC77D3}"/>
              </a:ext>
            </a:extLst>
          </p:cNvPr>
          <p:cNvCxnSpPr>
            <a:cxnSpLocks/>
            <a:stCxn id="67" idx="4"/>
            <a:endCxn id="70"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C0B2F4EE-7CAD-1A3C-7470-352E8FDE8521}"/>
                  </a:ext>
                </a:extLst>
              </p:cNvPr>
              <p:cNvSpPr txBox="1"/>
              <p:nvPr/>
            </p:nvSpPr>
            <p:spPr>
              <a:xfrm>
                <a:off x="1149541" y="3179853"/>
                <a:ext cx="2654483" cy="646331"/>
              </a:xfrm>
              <a:prstGeom prst="rect">
                <a:avLst/>
              </a:prstGeom>
              <a:noFill/>
            </p:spPr>
            <p:txBody>
              <a:bodyPr wrap="square" rtlCol="0">
                <a:spAutoFit/>
              </a:bodyPr>
              <a:lstStyle/>
              <a:p>
                <a:r>
                  <a:rPr lang="en-SE" dirty="0"/>
                  <a:t>Observations about the outcome variable </a:t>
                </a:r>
                <a14:m>
                  <m:oMath xmlns:m="http://schemas.openxmlformats.org/officeDocument/2006/math">
                    <m:r>
                      <a:rPr lang="en-SE" b="0" i="1" smtClean="0">
                        <a:latin typeface="Cambria Math" panose="02040503050406030204" pitchFamily="18" charset="0"/>
                      </a:rPr>
                      <m:t>𝑦</m:t>
                    </m:r>
                  </m:oMath>
                </a14:m>
                <a:r>
                  <a:rPr lang="en-SE" dirty="0"/>
                  <a:t>  ...</a:t>
                </a:r>
              </a:p>
            </p:txBody>
          </p:sp>
        </mc:Choice>
        <mc:Fallback xmlns="">
          <p:sp>
            <p:nvSpPr>
              <p:cNvPr id="78" name="TextBox 77">
                <a:extLst>
                  <a:ext uri="{FF2B5EF4-FFF2-40B4-BE49-F238E27FC236}">
                    <a16:creationId xmlns:a16="http://schemas.microsoft.com/office/drawing/2014/main" id="{C0B2F4EE-7CAD-1A3C-7470-352E8FDE8521}"/>
                  </a:ext>
                </a:extLst>
              </p:cNvPr>
              <p:cNvSpPr txBox="1">
                <a:spLocks noRot="1" noChangeAspect="1" noMove="1" noResize="1" noEditPoints="1" noAdjustHandles="1" noChangeArrowheads="1" noChangeShapeType="1" noTextEdit="1"/>
              </p:cNvSpPr>
              <p:nvPr/>
            </p:nvSpPr>
            <p:spPr>
              <a:xfrm>
                <a:off x="1149541" y="3179853"/>
                <a:ext cx="2654483" cy="646331"/>
              </a:xfrm>
              <a:prstGeom prst="rect">
                <a:avLst/>
              </a:prstGeom>
              <a:blipFill>
                <a:blip r:embed="rId10"/>
                <a:stretch>
                  <a:fillRect l="-2069" t="-4717" b="-15094"/>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D0A5580A-2F37-4055-8F7B-1A22AA3C13B9}"/>
                  </a:ext>
                </a:extLst>
              </p:cNvPr>
              <p:cNvSpPr txBox="1"/>
              <p:nvPr/>
            </p:nvSpPr>
            <p:spPr>
              <a:xfrm>
                <a:off x="8387976" y="2910688"/>
                <a:ext cx="2654483" cy="923330"/>
              </a:xfrm>
              <a:prstGeom prst="rect">
                <a:avLst/>
              </a:prstGeom>
              <a:noFill/>
            </p:spPr>
            <p:txBody>
              <a:bodyPr wrap="square" rtlCol="0">
                <a:spAutoFit/>
              </a:bodyPr>
              <a:lstStyle/>
              <a:p>
                <a:r>
                  <a:rPr lang="en-SE" dirty="0"/>
                  <a:t>... follow a normal distribution </a:t>
                </a:r>
                <a14:m>
                  <m:oMath xmlns:m="http://schemas.openxmlformats.org/officeDocument/2006/math">
                    <m:r>
                      <a:rPr lang="en-SE" b="0" i="1" smtClean="0">
                        <a:latin typeface="Cambria Math" panose="02040503050406030204" pitchFamily="18" charset="0"/>
                      </a:rPr>
                      <m:t>𝑁</m:t>
                    </m:r>
                  </m:oMath>
                </a14:m>
                <a:r>
                  <a:rPr lang="en-SE" dirty="0"/>
                  <a:t> defined by parameters </a:t>
                </a:r>
                <a14:m>
                  <m:oMath xmlns:m="http://schemas.openxmlformats.org/officeDocument/2006/math">
                    <m:r>
                      <a:rPr lang="en-SE" b="0" i="1" smtClean="0">
                        <a:latin typeface="Cambria Math" panose="02040503050406030204" pitchFamily="18" charset="0"/>
                      </a:rPr>
                      <m:t>𝜇</m:t>
                    </m:r>
                  </m:oMath>
                </a14:m>
                <a:r>
                  <a:rPr lang="en-SE" dirty="0"/>
                  <a:t> and </a:t>
                </a:r>
                <a14:m>
                  <m:oMath xmlns:m="http://schemas.openxmlformats.org/officeDocument/2006/math">
                    <m:r>
                      <a:rPr lang="en-SE" b="0" i="1" smtClean="0">
                        <a:latin typeface="Cambria Math" panose="02040503050406030204" pitchFamily="18" charset="0"/>
                      </a:rPr>
                      <m:t>𝜎</m:t>
                    </m:r>
                  </m:oMath>
                </a14:m>
                <a:r>
                  <a:rPr lang="en-SE" dirty="0"/>
                  <a:t>.</a:t>
                </a:r>
              </a:p>
            </p:txBody>
          </p:sp>
        </mc:Choice>
        <mc:Fallback xmlns="">
          <p:sp>
            <p:nvSpPr>
              <p:cNvPr id="82" name="TextBox 81">
                <a:extLst>
                  <a:ext uri="{FF2B5EF4-FFF2-40B4-BE49-F238E27FC236}">
                    <a16:creationId xmlns:a16="http://schemas.microsoft.com/office/drawing/2014/main" id="{D0A5580A-2F37-4055-8F7B-1A22AA3C13B9}"/>
                  </a:ext>
                </a:extLst>
              </p:cNvPr>
              <p:cNvSpPr txBox="1">
                <a:spLocks noRot="1" noChangeAspect="1" noMove="1" noResize="1" noEditPoints="1" noAdjustHandles="1" noChangeArrowheads="1" noChangeShapeType="1" noTextEdit="1"/>
              </p:cNvSpPr>
              <p:nvPr/>
            </p:nvSpPr>
            <p:spPr>
              <a:xfrm>
                <a:off x="8387976" y="2910688"/>
                <a:ext cx="2654483" cy="923330"/>
              </a:xfrm>
              <a:prstGeom prst="rect">
                <a:avLst/>
              </a:prstGeom>
              <a:blipFill>
                <a:blip r:embed="rId11"/>
                <a:stretch>
                  <a:fillRect l="-2069" t="-2632" r="-1609" b="-9868"/>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84" name="TextBox 83">
                <a:extLst>
                  <a:ext uri="{FF2B5EF4-FFF2-40B4-BE49-F238E27FC236}">
                    <a16:creationId xmlns:a16="http://schemas.microsoft.com/office/drawing/2014/main" id="{4B64912C-78F5-B3F9-C865-603888EF30F4}"/>
                  </a:ext>
                </a:extLst>
              </p:cNvPr>
              <p:cNvSpPr txBox="1"/>
              <p:nvPr/>
            </p:nvSpPr>
            <p:spPr>
              <a:xfrm>
                <a:off x="1149541" y="4784414"/>
                <a:ext cx="2654483" cy="923330"/>
              </a:xfrm>
              <a:prstGeom prst="rect">
                <a:avLst/>
              </a:prstGeom>
              <a:noFill/>
            </p:spPr>
            <p:txBody>
              <a:bodyPr wrap="square" rtlCol="0">
                <a:spAutoFit/>
              </a:bodyPr>
              <a:lstStyle/>
              <a:p>
                <a:r>
                  <a:rPr lang="en-SE" dirty="0"/>
                  <a:t>The shape defining parameter </a:t>
                </a:r>
                <a14:m>
                  <m:oMath xmlns:m="http://schemas.openxmlformats.org/officeDocument/2006/math">
                    <m:r>
                      <a:rPr lang="en-SE" b="0" i="1" smtClean="0">
                        <a:latin typeface="Cambria Math" panose="02040503050406030204" pitchFamily="18" charset="0"/>
                      </a:rPr>
                      <m:t>𝜇</m:t>
                    </m:r>
                  </m:oMath>
                </a14:m>
                <a:r>
                  <a:rPr lang="en-SE" dirty="0"/>
                  <a:t>, the mean of the distribution,  ...</a:t>
                </a:r>
              </a:p>
            </p:txBody>
          </p:sp>
        </mc:Choice>
        <mc:Fallback>
          <p:sp>
            <p:nvSpPr>
              <p:cNvPr id="84" name="TextBox 83">
                <a:extLst>
                  <a:ext uri="{FF2B5EF4-FFF2-40B4-BE49-F238E27FC236}">
                    <a16:creationId xmlns:a16="http://schemas.microsoft.com/office/drawing/2014/main" id="{4B64912C-78F5-B3F9-C865-603888EF30F4}"/>
                  </a:ext>
                </a:extLst>
              </p:cNvPr>
              <p:cNvSpPr txBox="1">
                <a:spLocks noRot="1" noChangeAspect="1" noMove="1" noResize="1" noEditPoints="1" noAdjustHandles="1" noChangeArrowheads="1" noChangeShapeType="1" noTextEdit="1"/>
              </p:cNvSpPr>
              <p:nvPr/>
            </p:nvSpPr>
            <p:spPr>
              <a:xfrm>
                <a:off x="1149541" y="4784414"/>
                <a:ext cx="2654483" cy="923330"/>
              </a:xfrm>
              <a:prstGeom prst="rect">
                <a:avLst/>
              </a:prstGeom>
              <a:blipFill>
                <a:blip r:embed="rId12"/>
                <a:stretch>
                  <a:fillRect l="-2069" t="-3311" b="-10596"/>
                </a:stretch>
              </a:blipFill>
            </p:spPr>
            <p:txBody>
              <a:bodyPr/>
              <a:lstStyle/>
              <a:p>
                <a:r>
                  <a:rPr lang="en-SE">
                    <a:noFill/>
                  </a:rPr>
                  <a:t> </a:t>
                </a:r>
              </a:p>
            </p:txBody>
          </p:sp>
        </mc:Fallback>
      </mc:AlternateContent>
      <p:sp>
        <p:nvSpPr>
          <p:cNvPr id="86" name="TextBox 85">
            <a:extLst>
              <a:ext uri="{FF2B5EF4-FFF2-40B4-BE49-F238E27FC236}">
                <a16:creationId xmlns:a16="http://schemas.microsoft.com/office/drawing/2014/main" id="{7CA5CFE6-FFAD-5761-6950-B00384AE568D}"/>
              </a:ext>
            </a:extLst>
          </p:cNvPr>
          <p:cNvSpPr txBox="1"/>
          <p:nvPr/>
        </p:nvSpPr>
        <p:spPr>
          <a:xfrm>
            <a:off x="8387975" y="4730414"/>
            <a:ext cx="2654483" cy="646331"/>
          </a:xfrm>
          <a:prstGeom prst="rect">
            <a:avLst/>
          </a:prstGeom>
          <a:noFill/>
        </p:spPr>
        <p:txBody>
          <a:bodyPr wrap="square" rtlCol="0">
            <a:spAutoFit/>
          </a:bodyPr>
          <a:lstStyle/>
          <a:p>
            <a:r>
              <a:rPr lang="en-SE" dirty="0"/>
              <a:t>... emerges from the sum of several factors.</a:t>
            </a:r>
          </a:p>
        </p:txBody>
      </p:sp>
      <p:pic>
        <p:nvPicPr>
          <p:cNvPr id="7" name="Graphic 6" descr="Robot with solid fill">
            <a:extLst>
              <a:ext uri="{FF2B5EF4-FFF2-40B4-BE49-F238E27FC236}">
                <a16:creationId xmlns:a16="http://schemas.microsoft.com/office/drawing/2014/main" id="{12E9F538-6FB3-4796-A69C-549E9D7BC17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104705" y="3679623"/>
            <a:ext cx="360000" cy="360000"/>
          </a:xfrm>
          <a:prstGeom prst="rect">
            <a:avLst/>
          </a:prstGeom>
        </p:spPr>
      </p:pic>
    </p:spTree>
    <p:extLst>
      <p:ext uri="{BB962C8B-B14F-4D97-AF65-F5344CB8AC3E}">
        <p14:creationId xmlns:p14="http://schemas.microsoft.com/office/powerpoint/2010/main" val="2835804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16" grpId="0"/>
      <p:bldP spid="18" grpId="0"/>
      <p:bldP spid="78" grpId="0"/>
      <p:bldP spid="82" grpId="0"/>
      <p:bldP spid="84" grpId="0"/>
      <p:bldP spid="8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76186-F45A-FF97-C69C-DAFA084E4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1BEED-1A24-22FC-0D41-7872E719DF7C}"/>
              </a:ext>
            </a:extLst>
          </p:cNvPr>
          <p:cNvSpPr>
            <a:spLocks noGrp="1"/>
          </p:cNvSpPr>
          <p:nvPr>
            <p:ph type="title"/>
          </p:nvPr>
        </p:nvSpPr>
        <p:spPr/>
        <p:txBody>
          <a:bodyPr/>
          <a:lstStyle/>
          <a:p>
            <a:r>
              <a:rPr lang="en-SE" dirty="0"/>
              <a:t>Building a Regression Formula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37A36B4-415A-A010-31CB-CDE509BFE7D7}"/>
                  </a:ext>
                </a:extLst>
              </p:cNvPr>
              <p:cNvSpPr>
                <a:spLocks noGrp="1"/>
              </p:cNvSpPr>
              <p:nvPr>
                <p:ph idx="1"/>
              </p:nvPr>
            </p:nvSpPr>
            <p:spPr>
              <a:xfrm>
                <a:off x="838200" y="1825625"/>
                <a:ext cx="10515600" cy="968375"/>
              </a:xfrm>
            </p:spPr>
            <p:txBody>
              <a:bodyPr/>
              <a:lstStyle/>
              <a:p>
                <a:pPr marL="0" indent="0">
                  <a:buNone/>
                </a:pPr>
                <a:r>
                  <a:rPr lang="en-SE" dirty="0"/>
                  <a:t>To determine the target quantity </a:t>
                </a:r>
                <a14:m>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𝛽</m:t>
                        </m:r>
                      </m:e>
                      <m:sub>
                        <m:r>
                          <a:rPr lang="en-SE" b="0" i="1" smtClean="0">
                            <a:latin typeface="Cambria Math" panose="02040503050406030204" pitchFamily="18" charset="0"/>
                          </a:rPr>
                          <m:t>𝑥</m:t>
                        </m:r>
                      </m:sub>
                    </m:sSub>
                  </m:oMath>
                </a14:m>
                <a:r>
                  <a:rPr lang="en-SE" dirty="0"/>
                  <a:t>, we can describe the relationship between variables in a regression formula.</a:t>
                </a:r>
              </a:p>
            </p:txBody>
          </p:sp>
        </mc:Choice>
        <mc:Fallback>
          <p:sp>
            <p:nvSpPr>
              <p:cNvPr id="3" name="Content Placeholder 2">
                <a:extLst>
                  <a:ext uri="{FF2B5EF4-FFF2-40B4-BE49-F238E27FC236}">
                    <a16:creationId xmlns:a16="http://schemas.microsoft.com/office/drawing/2014/main" id="{C37A36B4-415A-A010-31CB-CDE509BFE7D7}"/>
                  </a:ext>
                </a:extLst>
              </p:cNvPr>
              <p:cNvSpPr>
                <a:spLocks noGrp="1" noRot="1" noChangeAspect="1" noMove="1" noResize="1" noEditPoints="1" noAdjustHandles="1" noChangeArrowheads="1" noChangeShapeType="1" noTextEdit="1"/>
              </p:cNvSpPr>
              <p:nvPr>
                <p:ph idx="1"/>
              </p:nvPr>
            </p:nvSpPr>
            <p:spPr>
              <a:xfrm>
                <a:off x="838200" y="1825625"/>
                <a:ext cx="10515600" cy="968375"/>
              </a:xfrm>
              <a:blipFill>
                <a:blip r:embed="rId2"/>
                <a:stretch>
                  <a:fillRect l="-1217" t="-10692" b="-6289"/>
                </a:stretch>
              </a:blipFill>
            </p:spPr>
            <p:txBody>
              <a:bodyPr/>
              <a:lstStyle/>
              <a:p>
                <a:r>
                  <a:rPr lang="en-SE">
                    <a:noFill/>
                  </a:rPr>
                  <a:t> </a:t>
                </a:r>
              </a:p>
            </p:txBody>
          </p:sp>
        </mc:Fallback>
      </mc:AlternateContent>
      <p:sp>
        <p:nvSpPr>
          <p:cNvPr id="4" name="Date Placeholder 3">
            <a:extLst>
              <a:ext uri="{FF2B5EF4-FFF2-40B4-BE49-F238E27FC236}">
                <a16:creationId xmlns:a16="http://schemas.microsoft.com/office/drawing/2014/main" id="{099A7F98-5A28-AED2-88D4-4B05FCA3D690}"/>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3A4909E0-35D4-1BA0-71AC-DC8E274951D8}"/>
              </a:ext>
            </a:extLst>
          </p:cNvPr>
          <p:cNvSpPr>
            <a:spLocks noGrp="1"/>
          </p:cNvSpPr>
          <p:nvPr>
            <p:ph type="sldNum" sz="quarter" idx="12"/>
          </p:nvPr>
        </p:nvSpPr>
        <p:spPr/>
        <p:txBody>
          <a:bodyPr/>
          <a:lstStyle/>
          <a:p>
            <a:fld id="{271ECC92-9CDE-4EB3-B1C5-F46B9E1FA3C1}" type="slidenum">
              <a:rPr lang="en-SE" smtClean="0"/>
              <a:t>43</a:t>
            </a:fld>
            <a:endParaRPr lang="en-SE"/>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A9034C6E-28B8-C100-8C1A-4103A84D03E6}"/>
                  </a:ext>
                </a:extLst>
              </p:cNvPr>
              <p:cNvSpPr txBox="1"/>
              <p:nvPr/>
            </p:nvSpPr>
            <p:spPr>
              <a:xfrm>
                <a:off x="4341796" y="3371203"/>
                <a:ext cx="305384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𝜇</m:t>
                      </m:r>
                      <m:r>
                        <a:rPr lang="en-SE" sz="2400" b="0" i="1" smtClean="0">
                          <a:latin typeface="Cambria Math" panose="02040503050406030204" pitchFamily="18" charset="0"/>
                        </a:rPr>
                        <m:t>←</m:t>
                      </m:r>
                      <m:r>
                        <a:rPr lang="en-SE" sz="2400" b="0" i="1" smtClean="0">
                          <a:latin typeface="Cambria Math" panose="02040503050406030204" pitchFamily="18" charset="0"/>
                        </a:rPr>
                        <m:t>𝛼</m:t>
                      </m:r>
                      <m:r>
                        <a:rPr lang="en-SE" sz="2400" b="0" i="1" smtClean="0">
                          <a:latin typeface="Cambria Math" panose="02040503050406030204" pitchFamily="18" charset="0"/>
                        </a:rPr>
                        <m:t>+</m:t>
                      </m:r>
                      <m:sSub>
                        <m:sSubPr>
                          <m:ctrlPr>
                            <a:rPr lang="en-SE" sz="2400" b="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𝑥</m:t>
                      </m:r>
                      <m:r>
                        <a:rPr lang="en-SE" sz="2400" b="0" i="1" smtClean="0">
                          <a:latin typeface="Cambria Math" panose="02040503050406030204" pitchFamily="18" charset="0"/>
                        </a:rPr>
                        <m:t>+</m:t>
                      </m:r>
                      <m:sSub>
                        <m:sSubPr>
                          <m:ctrlPr>
                            <a:rPr lang="en-SE" sz="2400" b="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𝑧</m:t>
                      </m:r>
                    </m:oMath>
                  </m:oMathPara>
                </a14:m>
                <a:endParaRPr lang="en-SE" sz="2400" dirty="0"/>
              </a:p>
            </p:txBody>
          </p:sp>
        </mc:Choice>
        <mc:Fallback>
          <p:sp>
            <p:nvSpPr>
              <p:cNvPr id="18" name="TextBox 17">
                <a:extLst>
                  <a:ext uri="{FF2B5EF4-FFF2-40B4-BE49-F238E27FC236}">
                    <a16:creationId xmlns:a16="http://schemas.microsoft.com/office/drawing/2014/main" id="{A9034C6E-28B8-C100-8C1A-4103A84D03E6}"/>
                  </a:ext>
                </a:extLst>
              </p:cNvPr>
              <p:cNvSpPr txBox="1">
                <a:spLocks noRot="1" noChangeAspect="1" noMove="1" noResize="1" noEditPoints="1" noAdjustHandles="1" noChangeArrowheads="1" noChangeShapeType="1" noTextEdit="1"/>
              </p:cNvSpPr>
              <p:nvPr/>
            </p:nvSpPr>
            <p:spPr>
              <a:xfrm>
                <a:off x="4341796" y="3371203"/>
                <a:ext cx="3053849" cy="369332"/>
              </a:xfrm>
              <a:prstGeom prst="rect">
                <a:avLst/>
              </a:prstGeom>
              <a:blipFill>
                <a:blip r:embed="rId3"/>
                <a:stretch>
                  <a:fillRect l="-798" t="-1639" b="-32787"/>
                </a:stretch>
              </a:blipFill>
            </p:spPr>
            <p:txBody>
              <a:bodyPr/>
              <a:lstStyle/>
              <a:p>
                <a:r>
                  <a:rPr lang="en-SE">
                    <a:noFill/>
                  </a:rPr>
                  <a:t> </a:t>
                </a:r>
              </a:p>
            </p:txBody>
          </p:sp>
        </mc:Fallback>
      </mc:AlternateContent>
      <p:sp>
        <p:nvSpPr>
          <p:cNvPr id="17" name="Footer Placeholder 16">
            <a:extLst>
              <a:ext uri="{FF2B5EF4-FFF2-40B4-BE49-F238E27FC236}">
                <a16:creationId xmlns:a16="http://schemas.microsoft.com/office/drawing/2014/main" id="{BBC06CB8-C728-A295-5A64-A372B5020A7D}"/>
              </a:ext>
            </a:extLst>
          </p:cNvPr>
          <p:cNvSpPr>
            <a:spLocks noGrp="1"/>
          </p:cNvSpPr>
          <p:nvPr>
            <p:ph type="ftr" sz="quarter" idx="11"/>
          </p:nvPr>
        </p:nvSpPr>
        <p:spPr/>
        <p:txBody>
          <a:bodyPr/>
          <a:lstStyle/>
          <a:p>
            <a:r>
              <a:rPr lang="de-DE"/>
              <a:t>Bayesian Data Analysis Tutorial</a:t>
            </a:r>
            <a:endParaRPr lang="en-SE"/>
          </a:p>
        </p:txBody>
      </p:sp>
      <p:grpSp>
        <p:nvGrpSpPr>
          <p:cNvPr id="57" name="Group 56">
            <a:extLst>
              <a:ext uri="{FF2B5EF4-FFF2-40B4-BE49-F238E27FC236}">
                <a16:creationId xmlns:a16="http://schemas.microsoft.com/office/drawing/2014/main" id="{3F090A1F-7FCF-3B80-6492-2B8A80CF7658}"/>
              </a:ext>
            </a:extLst>
          </p:cNvPr>
          <p:cNvGrpSpPr/>
          <p:nvPr/>
        </p:nvGrpSpPr>
        <p:grpSpPr>
          <a:xfrm>
            <a:off x="203635" y="1825625"/>
            <a:ext cx="504000" cy="504000"/>
            <a:chOff x="977950" y="2729564"/>
            <a:chExt cx="504000" cy="504000"/>
          </a:xfrm>
        </p:grpSpPr>
        <p:sp>
          <p:nvSpPr>
            <p:cNvPr id="58" name="Oval 57">
              <a:extLst>
                <a:ext uri="{FF2B5EF4-FFF2-40B4-BE49-F238E27FC236}">
                  <a16:creationId xmlns:a16="http://schemas.microsoft.com/office/drawing/2014/main" id="{1E8F6417-C71B-208E-5912-B785CD0D3B73}"/>
                </a:ext>
              </a:extLst>
            </p:cNvPr>
            <p:cNvSpPr/>
            <p:nvPr/>
          </p:nvSpPr>
          <p:spPr>
            <a:xfrm>
              <a:off x="977950" y="2729564"/>
              <a:ext cx="504000" cy="504000"/>
            </a:xfrm>
            <a:prstGeom prst="ellips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9" name="Graphic 58" descr="Golden Ratio with solid fill">
              <a:extLst>
                <a:ext uri="{FF2B5EF4-FFF2-40B4-BE49-F238E27FC236}">
                  <a16:creationId xmlns:a16="http://schemas.microsoft.com/office/drawing/2014/main" id="{669A76CB-0D4C-623B-0AF6-D4B53BDB4B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950" y="2783564"/>
              <a:ext cx="396000" cy="396000"/>
            </a:xfrm>
            <a:prstGeom prst="rect">
              <a:avLst/>
            </a:prstGeom>
          </p:spPr>
        </p:pic>
      </p:grpSp>
      <p:grpSp>
        <p:nvGrpSpPr>
          <p:cNvPr id="60" name="Group 59">
            <a:extLst>
              <a:ext uri="{FF2B5EF4-FFF2-40B4-BE49-F238E27FC236}">
                <a16:creationId xmlns:a16="http://schemas.microsoft.com/office/drawing/2014/main" id="{4158F1C0-A633-E844-B24E-EF9A02CA3D81}"/>
              </a:ext>
            </a:extLst>
          </p:cNvPr>
          <p:cNvGrpSpPr/>
          <p:nvPr/>
        </p:nvGrpSpPr>
        <p:grpSpPr>
          <a:xfrm>
            <a:off x="203635" y="2439322"/>
            <a:ext cx="504000" cy="504000"/>
            <a:chOff x="977950" y="2729564"/>
            <a:chExt cx="504000" cy="504000"/>
          </a:xfrm>
        </p:grpSpPr>
        <p:sp>
          <p:nvSpPr>
            <p:cNvPr id="61" name="Oval 60">
              <a:extLst>
                <a:ext uri="{FF2B5EF4-FFF2-40B4-BE49-F238E27FC236}">
                  <a16:creationId xmlns:a16="http://schemas.microsoft.com/office/drawing/2014/main" id="{6FA3E783-F0A2-09C2-6779-F8FD47568F5B}"/>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2" name="Graphic 61" descr="Normal Distribution with solid fill">
              <a:extLst>
                <a:ext uri="{FF2B5EF4-FFF2-40B4-BE49-F238E27FC236}">
                  <a16:creationId xmlns:a16="http://schemas.microsoft.com/office/drawing/2014/main" id="{62F8EC65-5485-FBDD-9A85-F44B15630B5E}"/>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63" name="Group 62">
            <a:extLst>
              <a:ext uri="{FF2B5EF4-FFF2-40B4-BE49-F238E27FC236}">
                <a16:creationId xmlns:a16="http://schemas.microsoft.com/office/drawing/2014/main" id="{E8786840-876B-BD2D-B566-ADBA6ACB14C4}"/>
              </a:ext>
            </a:extLst>
          </p:cNvPr>
          <p:cNvGrpSpPr/>
          <p:nvPr/>
        </p:nvGrpSpPr>
        <p:grpSpPr>
          <a:xfrm>
            <a:off x="203635" y="3053019"/>
            <a:ext cx="504000" cy="504000"/>
            <a:chOff x="977950" y="2729564"/>
            <a:chExt cx="504000" cy="504000"/>
          </a:xfrm>
        </p:grpSpPr>
        <p:sp>
          <p:nvSpPr>
            <p:cNvPr id="64" name="Oval 63">
              <a:extLst>
                <a:ext uri="{FF2B5EF4-FFF2-40B4-BE49-F238E27FC236}">
                  <a16:creationId xmlns:a16="http://schemas.microsoft.com/office/drawing/2014/main" id="{0239C46C-494C-C8AC-8AC7-9AE631862FA6}"/>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5" name="Graphic 64" descr="Abacus with solid fill">
              <a:extLst>
                <a:ext uri="{FF2B5EF4-FFF2-40B4-BE49-F238E27FC236}">
                  <a16:creationId xmlns:a16="http://schemas.microsoft.com/office/drawing/2014/main" id="{CA1BB1F4-B493-D302-5480-BB91CF8CAA5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66" name="Group 65">
            <a:extLst>
              <a:ext uri="{FF2B5EF4-FFF2-40B4-BE49-F238E27FC236}">
                <a16:creationId xmlns:a16="http://schemas.microsoft.com/office/drawing/2014/main" id="{03E11107-3CDC-448E-30A0-AE894467FD95}"/>
              </a:ext>
            </a:extLst>
          </p:cNvPr>
          <p:cNvGrpSpPr/>
          <p:nvPr/>
        </p:nvGrpSpPr>
        <p:grpSpPr>
          <a:xfrm>
            <a:off x="203635" y="3666716"/>
            <a:ext cx="504000" cy="504000"/>
            <a:chOff x="977950" y="2729564"/>
            <a:chExt cx="504000" cy="504000"/>
          </a:xfrm>
        </p:grpSpPr>
        <p:sp>
          <p:nvSpPr>
            <p:cNvPr id="67" name="Oval 66">
              <a:extLst>
                <a:ext uri="{FF2B5EF4-FFF2-40B4-BE49-F238E27FC236}">
                  <a16:creationId xmlns:a16="http://schemas.microsoft.com/office/drawing/2014/main" id="{A4261E48-2880-222B-7878-B53B9596B1E6}"/>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8" name="Graphic 67" descr="Trigonometry with solid fill">
              <a:extLst>
                <a:ext uri="{FF2B5EF4-FFF2-40B4-BE49-F238E27FC236}">
                  <a16:creationId xmlns:a16="http://schemas.microsoft.com/office/drawing/2014/main" id="{3A37F906-0C97-050B-01E2-C1EBAB85F9D4}"/>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grpSp>
        <p:nvGrpSpPr>
          <p:cNvPr id="69" name="Group 68">
            <a:extLst>
              <a:ext uri="{FF2B5EF4-FFF2-40B4-BE49-F238E27FC236}">
                <a16:creationId xmlns:a16="http://schemas.microsoft.com/office/drawing/2014/main" id="{B38ACEA3-3FA1-B0F7-57FE-A334E1F8A3ED}"/>
              </a:ext>
            </a:extLst>
          </p:cNvPr>
          <p:cNvGrpSpPr/>
          <p:nvPr/>
        </p:nvGrpSpPr>
        <p:grpSpPr>
          <a:xfrm>
            <a:off x="203635" y="4280414"/>
            <a:ext cx="504000" cy="504000"/>
            <a:chOff x="977950" y="2729564"/>
            <a:chExt cx="504000" cy="504000"/>
          </a:xfrm>
        </p:grpSpPr>
        <p:sp>
          <p:nvSpPr>
            <p:cNvPr id="70" name="Oval 69">
              <a:extLst>
                <a:ext uri="{FF2B5EF4-FFF2-40B4-BE49-F238E27FC236}">
                  <a16:creationId xmlns:a16="http://schemas.microsoft.com/office/drawing/2014/main" id="{541FEBF3-C201-696F-830E-07A1C34BFA0B}"/>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71" name="Graphic 70" descr="Scatterplot with solid fill">
              <a:extLst>
                <a:ext uri="{FF2B5EF4-FFF2-40B4-BE49-F238E27FC236}">
                  <a16:creationId xmlns:a16="http://schemas.microsoft.com/office/drawing/2014/main" id="{A3901F53-84AE-6FDC-26BE-7658076FA344}"/>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31950" y="2783564"/>
              <a:ext cx="396000" cy="396000"/>
            </a:xfrm>
            <a:prstGeom prst="rect">
              <a:avLst/>
            </a:prstGeom>
          </p:spPr>
        </p:pic>
      </p:grpSp>
      <p:cxnSp>
        <p:nvCxnSpPr>
          <p:cNvPr id="72" name="Straight Arrow Connector 71">
            <a:extLst>
              <a:ext uri="{FF2B5EF4-FFF2-40B4-BE49-F238E27FC236}">
                <a16:creationId xmlns:a16="http://schemas.microsoft.com/office/drawing/2014/main" id="{D8F2052C-B60F-4F60-90C9-31FCEA015D7B}"/>
              </a:ext>
            </a:extLst>
          </p:cNvPr>
          <p:cNvCxnSpPr>
            <a:cxnSpLocks/>
            <a:stCxn id="58" idx="4"/>
            <a:endCxn id="61"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A319EB45-25E3-0FC0-1F5C-3E2C81C7D731}"/>
              </a:ext>
            </a:extLst>
          </p:cNvPr>
          <p:cNvCxnSpPr>
            <a:cxnSpLocks/>
            <a:stCxn id="61" idx="4"/>
            <a:endCxn id="64"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4" name="Straight Arrow Connector 73">
            <a:extLst>
              <a:ext uri="{FF2B5EF4-FFF2-40B4-BE49-F238E27FC236}">
                <a16:creationId xmlns:a16="http://schemas.microsoft.com/office/drawing/2014/main" id="{A586E6C1-0632-A228-972E-D19A42F48F2D}"/>
              </a:ext>
            </a:extLst>
          </p:cNvPr>
          <p:cNvCxnSpPr>
            <a:cxnSpLocks/>
            <a:stCxn id="64" idx="4"/>
            <a:endCxn id="67"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5" name="Straight Arrow Connector 74">
            <a:extLst>
              <a:ext uri="{FF2B5EF4-FFF2-40B4-BE49-F238E27FC236}">
                <a16:creationId xmlns:a16="http://schemas.microsoft.com/office/drawing/2014/main" id="{2F23D165-FFE1-4BB3-A8D0-EED92D95DF8D}"/>
              </a:ext>
            </a:extLst>
          </p:cNvPr>
          <p:cNvCxnSpPr>
            <a:cxnSpLocks/>
            <a:stCxn id="67" idx="4"/>
            <a:endCxn id="70"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84" name="TextBox 83">
                <a:extLst>
                  <a:ext uri="{FF2B5EF4-FFF2-40B4-BE49-F238E27FC236}">
                    <a16:creationId xmlns:a16="http://schemas.microsoft.com/office/drawing/2014/main" id="{B7AA3672-84A2-39A0-853D-63416CDDB65A}"/>
                  </a:ext>
                </a:extLst>
              </p:cNvPr>
              <p:cNvSpPr txBox="1"/>
              <p:nvPr/>
            </p:nvSpPr>
            <p:spPr>
              <a:xfrm>
                <a:off x="1384117" y="3153388"/>
                <a:ext cx="2654483" cy="923330"/>
              </a:xfrm>
              <a:prstGeom prst="rect">
                <a:avLst/>
              </a:prstGeom>
              <a:noFill/>
            </p:spPr>
            <p:txBody>
              <a:bodyPr wrap="square" rtlCol="0">
                <a:spAutoFit/>
              </a:bodyPr>
              <a:lstStyle/>
              <a:p>
                <a:r>
                  <a:rPr lang="en-SE" dirty="0"/>
                  <a:t>The shape defining parameter </a:t>
                </a:r>
                <a14:m>
                  <m:oMath xmlns:m="http://schemas.openxmlformats.org/officeDocument/2006/math">
                    <m:r>
                      <a:rPr lang="en-SE" b="0" i="1" smtClean="0">
                        <a:latin typeface="Cambria Math" panose="02040503050406030204" pitchFamily="18" charset="0"/>
                      </a:rPr>
                      <m:t>𝜇</m:t>
                    </m:r>
                  </m:oMath>
                </a14:m>
                <a:r>
                  <a:rPr lang="en-SE" dirty="0"/>
                  <a:t>, the mean of the distribution,  ...</a:t>
                </a:r>
              </a:p>
            </p:txBody>
          </p:sp>
        </mc:Choice>
        <mc:Fallback>
          <p:sp>
            <p:nvSpPr>
              <p:cNvPr id="84" name="TextBox 83">
                <a:extLst>
                  <a:ext uri="{FF2B5EF4-FFF2-40B4-BE49-F238E27FC236}">
                    <a16:creationId xmlns:a16="http://schemas.microsoft.com/office/drawing/2014/main" id="{B7AA3672-84A2-39A0-853D-63416CDDB65A}"/>
                  </a:ext>
                </a:extLst>
              </p:cNvPr>
              <p:cNvSpPr txBox="1">
                <a:spLocks noRot="1" noChangeAspect="1" noMove="1" noResize="1" noEditPoints="1" noAdjustHandles="1" noChangeArrowheads="1" noChangeShapeType="1" noTextEdit="1"/>
              </p:cNvSpPr>
              <p:nvPr/>
            </p:nvSpPr>
            <p:spPr>
              <a:xfrm>
                <a:off x="1384117" y="3153388"/>
                <a:ext cx="2654483" cy="923330"/>
              </a:xfrm>
              <a:prstGeom prst="rect">
                <a:avLst/>
              </a:prstGeom>
              <a:blipFill>
                <a:blip r:embed="rId9"/>
                <a:stretch>
                  <a:fillRect l="-1835" t="-2632" b="-9868"/>
                </a:stretch>
              </a:blipFill>
            </p:spPr>
            <p:txBody>
              <a:bodyPr/>
              <a:lstStyle/>
              <a:p>
                <a:r>
                  <a:rPr lang="en-SE">
                    <a:noFill/>
                  </a:rPr>
                  <a:t> </a:t>
                </a:r>
              </a:p>
            </p:txBody>
          </p:sp>
        </mc:Fallback>
      </mc:AlternateContent>
      <p:sp>
        <p:nvSpPr>
          <p:cNvPr id="86" name="TextBox 85">
            <a:extLst>
              <a:ext uri="{FF2B5EF4-FFF2-40B4-BE49-F238E27FC236}">
                <a16:creationId xmlns:a16="http://schemas.microsoft.com/office/drawing/2014/main" id="{F524783F-B4C9-BAEB-FEBA-2B71A5E7F247}"/>
              </a:ext>
            </a:extLst>
          </p:cNvPr>
          <p:cNvSpPr txBox="1"/>
          <p:nvPr/>
        </p:nvSpPr>
        <p:spPr>
          <a:xfrm>
            <a:off x="8366954" y="3232703"/>
            <a:ext cx="2654483" cy="646331"/>
          </a:xfrm>
          <a:prstGeom prst="rect">
            <a:avLst/>
          </a:prstGeom>
          <a:noFill/>
        </p:spPr>
        <p:txBody>
          <a:bodyPr wrap="square" rtlCol="0">
            <a:spAutoFit/>
          </a:bodyPr>
          <a:lstStyle/>
          <a:p>
            <a:r>
              <a:rPr lang="en-SE" dirty="0"/>
              <a:t>... emerges from the sum of several factors.</a:t>
            </a:r>
          </a:p>
        </p:txBody>
      </p:sp>
      <p:grpSp>
        <p:nvGrpSpPr>
          <p:cNvPr id="24" name="Group 23">
            <a:extLst>
              <a:ext uri="{FF2B5EF4-FFF2-40B4-BE49-F238E27FC236}">
                <a16:creationId xmlns:a16="http://schemas.microsoft.com/office/drawing/2014/main" id="{F69CA6BE-B916-CC94-D51A-F2368EF9FBDA}"/>
              </a:ext>
            </a:extLst>
          </p:cNvPr>
          <p:cNvGrpSpPr/>
          <p:nvPr/>
        </p:nvGrpSpPr>
        <p:grpSpPr>
          <a:xfrm>
            <a:off x="1384117" y="4431440"/>
            <a:ext cx="3442138" cy="1091638"/>
            <a:chOff x="1384117" y="4431440"/>
            <a:chExt cx="3442138" cy="1091638"/>
          </a:xfrm>
        </p:grpSpPr>
        <p:pic>
          <p:nvPicPr>
            <p:cNvPr id="7" name="Graphic 6" descr="Bar chart with solid fill">
              <a:extLst>
                <a:ext uri="{FF2B5EF4-FFF2-40B4-BE49-F238E27FC236}">
                  <a16:creationId xmlns:a16="http://schemas.microsoft.com/office/drawing/2014/main" id="{36F325B9-BAEA-0400-1B96-1E3EAC87D8B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87214" y="4436106"/>
              <a:ext cx="360000" cy="360000"/>
            </a:xfrm>
            <a:prstGeom prst="rect">
              <a:avLst/>
            </a:prstGeom>
          </p:spPr>
        </p:pic>
        <p:sp>
          <p:nvSpPr>
            <p:cNvPr id="8" name="TextBox 7">
              <a:extLst>
                <a:ext uri="{FF2B5EF4-FFF2-40B4-BE49-F238E27FC236}">
                  <a16:creationId xmlns:a16="http://schemas.microsoft.com/office/drawing/2014/main" id="{3286933D-8F25-0B86-2A60-88F7201E404A}"/>
                </a:ext>
              </a:extLst>
            </p:cNvPr>
            <p:cNvSpPr txBox="1"/>
            <p:nvPr/>
          </p:nvSpPr>
          <p:spPr>
            <a:xfrm>
              <a:off x="1847214" y="4431440"/>
              <a:ext cx="1194045" cy="369332"/>
            </a:xfrm>
            <a:prstGeom prst="rect">
              <a:avLst/>
            </a:prstGeom>
            <a:noFill/>
          </p:spPr>
          <p:txBody>
            <a:bodyPr wrap="none" rtlCol="0">
              <a:spAutoFit/>
            </a:bodyPr>
            <a:lstStyle/>
            <a:p>
              <a:r>
                <a:rPr lang="en-SE" b="1" dirty="0">
                  <a:solidFill>
                    <a:schemeClr val="bg2">
                      <a:lumMod val="75000"/>
                    </a:schemeClr>
                  </a:solidFill>
                </a:rPr>
                <a:t>Intercept</a:t>
              </a:r>
              <a:r>
                <a:rPr lang="en-SE" b="1" dirty="0"/>
                <a:t> </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6F46A98-6FCC-31FA-F1A5-8AA40C38AE9B}"/>
                    </a:ext>
                  </a:extLst>
                </p:cNvPr>
                <p:cNvSpPr txBox="1"/>
                <p:nvPr/>
              </p:nvSpPr>
              <p:spPr>
                <a:xfrm>
                  <a:off x="1384117" y="4784414"/>
                  <a:ext cx="3442138" cy="738664"/>
                </a:xfrm>
                <a:prstGeom prst="rect">
                  <a:avLst/>
                </a:prstGeom>
                <a:noFill/>
              </p:spPr>
              <p:txBody>
                <a:bodyPr wrap="square" rtlCol="0">
                  <a:spAutoFit/>
                </a:bodyPr>
                <a:lstStyle/>
                <a:p>
                  <a:r>
                    <a:rPr lang="en-SE" sz="1400" dirty="0"/>
                    <a:t>represents the likely “baseline” values for </a:t>
                  </a:r>
                  <a14:m>
                    <m:oMath xmlns:m="http://schemas.openxmlformats.org/officeDocument/2006/math">
                      <m:r>
                        <a:rPr lang="en-SE" sz="1400" b="0" i="1" smtClean="0">
                          <a:latin typeface="Cambria Math" panose="02040503050406030204" pitchFamily="18" charset="0"/>
                        </a:rPr>
                        <m:t>𝜇</m:t>
                      </m:r>
                    </m:oMath>
                  </a14:m>
                  <a:r>
                    <a:rPr lang="en-SE" sz="1400" dirty="0"/>
                    <a:t>, i.e., the mean of </a:t>
                  </a:r>
                  <a14:m>
                    <m:oMath xmlns:m="http://schemas.openxmlformats.org/officeDocument/2006/math">
                      <m:r>
                        <a:rPr lang="en-SE" sz="1400" b="0" i="1" smtClean="0">
                          <a:latin typeface="Cambria Math" panose="02040503050406030204" pitchFamily="18" charset="0"/>
                        </a:rPr>
                        <m:t>𝑦</m:t>
                      </m:r>
                    </m:oMath>
                  </a14:m>
                  <a:r>
                    <a:rPr lang="en-SE" sz="1400" dirty="0"/>
                    <a:t> without the influence of any other variables like </a:t>
                  </a:r>
                  <a14:m>
                    <m:oMath xmlns:m="http://schemas.openxmlformats.org/officeDocument/2006/math">
                      <m:r>
                        <a:rPr lang="en-SE" sz="1400" b="0" i="1" smtClean="0">
                          <a:latin typeface="Cambria Math" panose="02040503050406030204" pitchFamily="18" charset="0"/>
                        </a:rPr>
                        <m:t>𝑥</m:t>
                      </m:r>
                    </m:oMath>
                  </a14:m>
                  <a:r>
                    <a:rPr lang="en-SE" sz="1400" dirty="0"/>
                    <a:t> or </a:t>
                  </a:r>
                  <a14:m>
                    <m:oMath xmlns:m="http://schemas.openxmlformats.org/officeDocument/2006/math">
                      <m:r>
                        <a:rPr lang="en-SE" sz="1400" b="0" i="1" smtClean="0">
                          <a:latin typeface="Cambria Math" panose="02040503050406030204" pitchFamily="18" charset="0"/>
                        </a:rPr>
                        <m:t>𝑧</m:t>
                      </m:r>
                    </m:oMath>
                  </a14:m>
                  <a:r>
                    <a:rPr lang="en-SE" sz="1400" dirty="0"/>
                    <a:t>. </a:t>
                  </a:r>
                </a:p>
              </p:txBody>
            </p:sp>
          </mc:Choice>
          <mc:Fallback xmlns="">
            <p:sp>
              <p:nvSpPr>
                <p:cNvPr id="10" name="TextBox 9">
                  <a:extLst>
                    <a:ext uri="{FF2B5EF4-FFF2-40B4-BE49-F238E27FC236}">
                      <a16:creationId xmlns:a16="http://schemas.microsoft.com/office/drawing/2014/main" id="{E6F46A98-6FCC-31FA-F1A5-8AA40C38AE9B}"/>
                    </a:ext>
                  </a:extLst>
                </p:cNvPr>
                <p:cNvSpPr txBox="1">
                  <a:spLocks noRot="1" noChangeAspect="1" noMove="1" noResize="1" noEditPoints="1" noAdjustHandles="1" noChangeArrowheads="1" noChangeShapeType="1" noTextEdit="1"/>
                </p:cNvSpPr>
                <p:nvPr/>
              </p:nvSpPr>
              <p:spPr>
                <a:xfrm>
                  <a:off x="1384117" y="4784414"/>
                  <a:ext cx="3442138" cy="738664"/>
                </a:xfrm>
                <a:prstGeom prst="rect">
                  <a:avLst/>
                </a:prstGeom>
                <a:blipFill>
                  <a:blip r:embed="rId11"/>
                  <a:stretch>
                    <a:fillRect l="-531" t="-1653" r="-531" b="-7438"/>
                  </a:stretch>
                </a:blipFill>
              </p:spPr>
              <p:txBody>
                <a:bodyPr/>
                <a:lstStyle/>
                <a:p>
                  <a:r>
                    <a:rPr lang="en-SE">
                      <a:noFill/>
                    </a:rPr>
                    <a:t> </a:t>
                  </a:r>
                </a:p>
              </p:txBody>
            </p:sp>
          </mc:Fallback>
        </mc:AlternateContent>
      </p:grpSp>
      <p:pic>
        <p:nvPicPr>
          <p:cNvPr id="19" name="Graphic 18" descr="Trigonometry with solid fill">
            <a:extLst>
              <a:ext uri="{FF2B5EF4-FFF2-40B4-BE49-F238E27FC236}">
                <a16:creationId xmlns:a16="http://schemas.microsoft.com/office/drawing/2014/main" id="{A879CFAB-AE77-3F38-FA6C-D08B4F216365}"/>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6265928" y="4436106"/>
            <a:ext cx="360000" cy="360000"/>
          </a:xfrm>
          <a:prstGeom prst="rect">
            <a:avLst/>
          </a:prstGeom>
        </p:spPr>
      </p:pic>
      <p:sp>
        <p:nvSpPr>
          <p:cNvPr id="21" name="TextBox 20">
            <a:extLst>
              <a:ext uri="{FF2B5EF4-FFF2-40B4-BE49-F238E27FC236}">
                <a16:creationId xmlns:a16="http://schemas.microsoft.com/office/drawing/2014/main" id="{427D589D-15E8-91D9-E6C9-3B562FA9BB7D}"/>
              </a:ext>
            </a:extLst>
          </p:cNvPr>
          <p:cNvSpPr txBox="1"/>
          <p:nvPr/>
        </p:nvSpPr>
        <p:spPr>
          <a:xfrm>
            <a:off x="6625928" y="4431440"/>
            <a:ext cx="866712" cy="369332"/>
          </a:xfrm>
          <a:prstGeom prst="rect">
            <a:avLst/>
          </a:prstGeom>
          <a:noFill/>
        </p:spPr>
        <p:txBody>
          <a:bodyPr wrap="none" rtlCol="0">
            <a:spAutoFit/>
          </a:bodyPr>
          <a:lstStyle/>
          <a:p>
            <a:r>
              <a:rPr lang="en-SE" b="1" dirty="0">
                <a:solidFill>
                  <a:schemeClr val="accent6"/>
                </a:solidFill>
              </a:rPr>
              <a:t>Terms</a:t>
            </a:r>
            <a:r>
              <a:rPr lang="en-SE" b="1" dirty="0"/>
              <a:t> </a:t>
            </a:r>
          </a:p>
        </p:txBody>
      </p:sp>
      <p:sp>
        <p:nvSpPr>
          <p:cNvPr id="23" name="TextBox 22">
            <a:extLst>
              <a:ext uri="{FF2B5EF4-FFF2-40B4-BE49-F238E27FC236}">
                <a16:creationId xmlns:a16="http://schemas.microsoft.com/office/drawing/2014/main" id="{6C024A03-CB96-3D16-20A0-94707576BCFC}"/>
              </a:ext>
            </a:extLst>
          </p:cNvPr>
          <p:cNvSpPr txBox="1"/>
          <p:nvPr/>
        </p:nvSpPr>
        <p:spPr>
          <a:xfrm>
            <a:off x="6162831" y="4784414"/>
            <a:ext cx="3442138" cy="307777"/>
          </a:xfrm>
          <a:prstGeom prst="rect">
            <a:avLst/>
          </a:prstGeom>
          <a:noFill/>
        </p:spPr>
        <p:txBody>
          <a:bodyPr wrap="square" rtlCol="0">
            <a:spAutoFit/>
          </a:bodyPr>
          <a:lstStyle/>
          <a:p>
            <a:r>
              <a:rPr lang="en-SE" sz="1400" dirty="0"/>
              <a:t>consisting of a combination of</a:t>
            </a:r>
          </a:p>
        </p:txBody>
      </p:sp>
      <p:grpSp>
        <p:nvGrpSpPr>
          <p:cNvPr id="25" name="Group 24">
            <a:extLst>
              <a:ext uri="{FF2B5EF4-FFF2-40B4-BE49-F238E27FC236}">
                <a16:creationId xmlns:a16="http://schemas.microsoft.com/office/drawing/2014/main" id="{A3B50B33-3D0B-3615-9C4D-8E171B47741A}"/>
              </a:ext>
            </a:extLst>
          </p:cNvPr>
          <p:cNvGrpSpPr/>
          <p:nvPr/>
        </p:nvGrpSpPr>
        <p:grpSpPr>
          <a:xfrm>
            <a:off x="4939862" y="5264712"/>
            <a:ext cx="3442138" cy="1091638"/>
            <a:chOff x="1384117" y="4431440"/>
            <a:chExt cx="3442138" cy="1091638"/>
          </a:xfrm>
        </p:grpSpPr>
        <p:pic>
          <p:nvPicPr>
            <p:cNvPr id="26" name="Graphic 25" descr="Bar chart with solid fill">
              <a:extLst>
                <a:ext uri="{FF2B5EF4-FFF2-40B4-BE49-F238E27FC236}">
                  <a16:creationId xmlns:a16="http://schemas.microsoft.com/office/drawing/2014/main" id="{1D21981F-5D92-84B0-A3CF-C0522909FBE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487214" y="4436106"/>
              <a:ext cx="360000" cy="360000"/>
            </a:xfrm>
            <a:prstGeom prst="rect">
              <a:avLst/>
            </a:prstGeom>
          </p:spPr>
        </p:pic>
        <p:sp>
          <p:nvSpPr>
            <p:cNvPr id="27" name="TextBox 26">
              <a:extLst>
                <a:ext uri="{FF2B5EF4-FFF2-40B4-BE49-F238E27FC236}">
                  <a16:creationId xmlns:a16="http://schemas.microsoft.com/office/drawing/2014/main" id="{FB942235-8558-DAA7-BB8A-62CB4D29BBFA}"/>
                </a:ext>
              </a:extLst>
            </p:cNvPr>
            <p:cNvSpPr txBox="1"/>
            <p:nvPr/>
          </p:nvSpPr>
          <p:spPr>
            <a:xfrm>
              <a:off x="1847214" y="4431440"/>
              <a:ext cx="1404552" cy="369332"/>
            </a:xfrm>
            <a:prstGeom prst="rect">
              <a:avLst/>
            </a:prstGeom>
            <a:noFill/>
          </p:spPr>
          <p:txBody>
            <a:bodyPr wrap="none" rtlCol="0">
              <a:spAutoFit/>
            </a:bodyPr>
            <a:lstStyle/>
            <a:p>
              <a:r>
                <a:rPr lang="en-SE" b="1" dirty="0">
                  <a:solidFill>
                    <a:srgbClr val="C00000"/>
                  </a:solidFill>
                </a:rPr>
                <a:t>Coefficient</a:t>
              </a:r>
              <a:r>
                <a:rPr lang="en-SE" b="1" dirty="0"/>
                <a:t> </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8FF1609-6FFF-F0C7-5579-60D463DDFE9A}"/>
                    </a:ext>
                  </a:extLst>
                </p:cNvPr>
                <p:cNvSpPr txBox="1"/>
                <p:nvPr/>
              </p:nvSpPr>
              <p:spPr>
                <a:xfrm>
                  <a:off x="1384117" y="4784414"/>
                  <a:ext cx="3442138" cy="738664"/>
                </a:xfrm>
                <a:prstGeom prst="rect">
                  <a:avLst/>
                </a:prstGeom>
                <a:noFill/>
              </p:spPr>
              <p:txBody>
                <a:bodyPr wrap="square" rtlCol="0">
                  <a:spAutoFit/>
                </a:bodyPr>
                <a:lstStyle/>
                <a:p>
                  <a:r>
                    <a:rPr lang="en-SE" sz="1400" dirty="0"/>
                    <a:t>represents the effect that a variable has on the parameter </a:t>
                  </a:r>
                  <a14:m>
                    <m:oMath xmlns:m="http://schemas.openxmlformats.org/officeDocument/2006/math">
                      <m:r>
                        <a:rPr lang="en-SE" sz="1400" b="0" i="1" smtClean="0">
                          <a:latin typeface="Cambria Math" panose="02040503050406030204" pitchFamily="18" charset="0"/>
                        </a:rPr>
                        <m:t>𝜇</m:t>
                      </m:r>
                    </m:oMath>
                  </a14:m>
                  <a:r>
                    <a:rPr lang="en-SE" sz="1400" dirty="0"/>
                    <a:t>, i.e., the change in </a:t>
                  </a:r>
                  <a14:m>
                    <m:oMath xmlns:m="http://schemas.openxmlformats.org/officeDocument/2006/math">
                      <m:r>
                        <a:rPr lang="en-SE" sz="1400" i="1">
                          <a:latin typeface="Cambria Math" panose="02040503050406030204" pitchFamily="18" charset="0"/>
                        </a:rPr>
                        <m:t>𝜇</m:t>
                      </m:r>
                    </m:oMath>
                  </a14:m>
                  <a:r>
                    <a:rPr lang="en-SE" sz="1400" dirty="0"/>
                    <a:t> when changing the variable by one unit.</a:t>
                  </a:r>
                </a:p>
              </p:txBody>
            </p:sp>
          </mc:Choice>
          <mc:Fallback xmlns="">
            <p:sp>
              <p:nvSpPr>
                <p:cNvPr id="28" name="TextBox 27">
                  <a:extLst>
                    <a:ext uri="{FF2B5EF4-FFF2-40B4-BE49-F238E27FC236}">
                      <a16:creationId xmlns:a16="http://schemas.microsoft.com/office/drawing/2014/main" id="{B8FF1609-6FFF-F0C7-5579-60D463DDFE9A}"/>
                    </a:ext>
                  </a:extLst>
                </p:cNvPr>
                <p:cNvSpPr txBox="1">
                  <a:spLocks noRot="1" noChangeAspect="1" noMove="1" noResize="1" noEditPoints="1" noAdjustHandles="1" noChangeArrowheads="1" noChangeShapeType="1" noTextEdit="1"/>
                </p:cNvSpPr>
                <p:nvPr/>
              </p:nvSpPr>
              <p:spPr>
                <a:xfrm>
                  <a:off x="1384117" y="4784414"/>
                  <a:ext cx="3442138" cy="738664"/>
                </a:xfrm>
                <a:prstGeom prst="rect">
                  <a:avLst/>
                </a:prstGeom>
                <a:blipFill>
                  <a:blip r:embed="rId14"/>
                  <a:stretch>
                    <a:fillRect l="-531" t="-1653" r="-1593" b="-7438"/>
                  </a:stretch>
                </a:blipFill>
              </p:spPr>
              <p:txBody>
                <a:bodyPr/>
                <a:lstStyle/>
                <a:p>
                  <a:r>
                    <a:rPr lang="en-SE">
                      <a:noFill/>
                    </a:rPr>
                    <a:t> </a:t>
                  </a:r>
                </a:p>
              </p:txBody>
            </p:sp>
          </mc:Fallback>
        </mc:AlternateContent>
      </p:grpSp>
      <p:grpSp>
        <p:nvGrpSpPr>
          <p:cNvPr id="29" name="Group 28">
            <a:extLst>
              <a:ext uri="{FF2B5EF4-FFF2-40B4-BE49-F238E27FC236}">
                <a16:creationId xmlns:a16="http://schemas.microsoft.com/office/drawing/2014/main" id="{BDA82DD2-4CD0-D0B3-B95B-9BFB284B500B}"/>
              </a:ext>
            </a:extLst>
          </p:cNvPr>
          <p:cNvGrpSpPr/>
          <p:nvPr/>
        </p:nvGrpSpPr>
        <p:grpSpPr>
          <a:xfrm>
            <a:off x="8451789" y="5264712"/>
            <a:ext cx="3442138" cy="876194"/>
            <a:chOff x="1384117" y="4431440"/>
            <a:chExt cx="3442138" cy="876194"/>
          </a:xfrm>
        </p:grpSpPr>
        <p:pic>
          <p:nvPicPr>
            <p:cNvPr id="30" name="Graphic 29" descr="Bar chart with solid fill">
              <a:extLst>
                <a:ext uri="{FF2B5EF4-FFF2-40B4-BE49-F238E27FC236}">
                  <a16:creationId xmlns:a16="http://schemas.microsoft.com/office/drawing/2014/main" id="{BD5AF4C0-195E-57EB-6EC6-ABBF782C988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487214" y="4436106"/>
              <a:ext cx="360000" cy="360000"/>
            </a:xfrm>
            <a:prstGeom prst="rect">
              <a:avLst/>
            </a:prstGeom>
          </p:spPr>
        </p:pic>
        <p:sp>
          <p:nvSpPr>
            <p:cNvPr id="31" name="TextBox 30">
              <a:extLst>
                <a:ext uri="{FF2B5EF4-FFF2-40B4-BE49-F238E27FC236}">
                  <a16:creationId xmlns:a16="http://schemas.microsoft.com/office/drawing/2014/main" id="{00F45ABA-7B2B-98F5-4113-1EFE068C3689}"/>
                </a:ext>
              </a:extLst>
            </p:cNvPr>
            <p:cNvSpPr txBox="1"/>
            <p:nvPr/>
          </p:nvSpPr>
          <p:spPr>
            <a:xfrm>
              <a:off x="1847214" y="4431440"/>
              <a:ext cx="727122" cy="369332"/>
            </a:xfrm>
            <a:prstGeom prst="rect">
              <a:avLst/>
            </a:prstGeom>
            <a:noFill/>
          </p:spPr>
          <p:txBody>
            <a:bodyPr wrap="none" rtlCol="0">
              <a:spAutoFit/>
            </a:bodyPr>
            <a:lstStyle/>
            <a:p>
              <a:r>
                <a:rPr lang="en-SE" b="1" dirty="0">
                  <a:solidFill>
                    <a:schemeClr val="accent2"/>
                  </a:solidFill>
                </a:rPr>
                <a:t>Data</a:t>
              </a:r>
              <a:r>
                <a:rPr lang="en-SE" b="1" dirty="0"/>
                <a:t> </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EB5F560-E18E-E328-3A8C-F811102841A5}"/>
                    </a:ext>
                  </a:extLst>
                </p:cNvPr>
                <p:cNvSpPr txBox="1"/>
                <p:nvPr/>
              </p:nvSpPr>
              <p:spPr>
                <a:xfrm>
                  <a:off x="1384117" y="4784414"/>
                  <a:ext cx="3442138" cy="523220"/>
                </a:xfrm>
                <a:prstGeom prst="rect">
                  <a:avLst/>
                </a:prstGeom>
                <a:noFill/>
              </p:spPr>
              <p:txBody>
                <a:bodyPr wrap="square" rtlCol="0">
                  <a:spAutoFit/>
                </a:bodyPr>
                <a:lstStyle/>
                <a:p>
                  <a:r>
                    <a:rPr lang="en-SE" sz="1400" dirty="0"/>
                    <a:t>are the actual values collected for the variables </a:t>
                  </a:r>
                  <a14:m>
                    <m:oMath xmlns:m="http://schemas.openxmlformats.org/officeDocument/2006/math">
                      <m:r>
                        <a:rPr lang="en-SE" sz="1400" b="0" i="1" smtClean="0">
                          <a:latin typeface="Cambria Math" panose="02040503050406030204" pitchFamily="18" charset="0"/>
                        </a:rPr>
                        <m:t>𝑥</m:t>
                      </m:r>
                    </m:oMath>
                  </a14:m>
                  <a:r>
                    <a:rPr lang="en-SE" sz="1400" dirty="0"/>
                    <a:t> and </a:t>
                  </a:r>
                  <a14:m>
                    <m:oMath xmlns:m="http://schemas.openxmlformats.org/officeDocument/2006/math">
                      <m:r>
                        <a:rPr lang="en-SE" sz="1400" b="0" i="1" smtClean="0">
                          <a:latin typeface="Cambria Math" panose="02040503050406030204" pitchFamily="18" charset="0"/>
                        </a:rPr>
                        <m:t>𝑧</m:t>
                      </m:r>
                    </m:oMath>
                  </a14:m>
                  <a:r>
                    <a:rPr lang="en-SE" sz="1400" dirty="0"/>
                    <a:t>. </a:t>
                  </a:r>
                </a:p>
              </p:txBody>
            </p:sp>
          </mc:Choice>
          <mc:Fallback xmlns="">
            <p:sp>
              <p:nvSpPr>
                <p:cNvPr id="32" name="TextBox 31">
                  <a:extLst>
                    <a:ext uri="{FF2B5EF4-FFF2-40B4-BE49-F238E27FC236}">
                      <a16:creationId xmlns:a16="http://schemas.microsoft.com/office/drawing/2014/main" id="{AEB5F560-E18E-E328-3A8C-F811102841A5}"/>
                    </a:ext>
                  </a:extLst>
                </p:cNvPr>
                <p:cNvSpPr txBox="1">
                  <a:spLocks noRot="1" noChangeAspect="1" noMove="1" noResize="1" noEditPoints="1" noAdjustHandles="1" noChangeArrowheads="1" noChangeShapeType="1" noTextEdit="1"/>
                </p:cNvSpPr>
                <p:nvPr/>
              </p:nvSpPr>
              <p:spPr>
                <a:xfrm>
                  <a:off x="1384117" y="4784414"/>
                  <a:ext cx="3442138" cy="523220"/>
                </a:xfrm>
                <a:prstGeom prst="rect">
                  <a:avLst/>
                </a:prstGeom>
                <a:blipFill>
                  <a:blip r:embed="rId16"/>
                  <a:stretch>
                    <a:fillRect l="-531" t="-2353" b="-11765"/>
                  </a:stretch>
                </a:blipFill>
              </p:spPr>
              <p:txBody>
                <a:bodyPr/>
                <a:lstStyle/>
                <a:p>
                  <a:r>
                    <a:rPr lang="en-SE">
                      <a:noFill/>
                    </a:rPr>
                    <a:t> </a:t>
                  </a:r>
                </a:p>
              </p:txBody>
            </p:sp>
          </mc:Fallback>
        </mc:AlternateContent>
      </p:grpSp>
      <p:pic>
        <p:nvPicPr>
          <p:cNvPr id="34" name="Graphic 33" descr="Close with solid fill">
            <a:extLst>
              <a:ext uri="{FF2B5EF4-FFF2-40B4-BE49-F238E27FC236}">
                <a16:creationId xmlns:a16="http://schemas.microsoft.com/office/drawing/2014/main" id="{AD134139-DA1C-8EF4-254B-323BDBDCC9D9}"/>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197338" y="5323378"/>
            <a:ext cx="252000" cy="252000"/>
          </a:xfrm>
          <a:prstGeom prst="rect">
            <a:avLst/>
          </a:prstGeom>
        </p:spPr>
      </p:pic>
      <p:sp>
        <p:nvSpPr>
          <p:cNvPr id="35" name="Rectangle 34">
            <a:extLst>
              <a:ext uri="{FF2B5EF4-FFF2-40B4-BE49-F238E27FC236}">
                <a16:creationId xmlns:a16="http://schemas.microsoft.com/office/drawing/2014/main" id="{50879A44-815C-3B04-8AFA-2D455AD3B5FE}"/>
              </a:ext>
            </a:extLst>
          </p:cNvPr>
          <p:cNvSpPr/>
          <p:nvPr/>
        </p:nvSpPr>
        <p:spPr>
          <a:xfrm>
            <a:off x="4967080" y="3371203"/>
            <a:ext cx="332781" cy="379748"/>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37" name="Straight Connector 36">
            <a:extLst>
              <a:ext uri="{FF2B5EF4-FFF2-40B4-BE49-F238E27FC236}">
                <a16:creationId xmlns:a16="http://schemas.microsoft.com/office/drawing/2014/main" id="{A5969536-6514-39C0-6229-2ACC48C66C2A}"/>
              </a:ext>
            </a:extLst>
          </p:cNvPr>
          <p:cNvCxnSpPr>
            <a:stCxn id="35" idx="2"/>
            <a:endCxn id="7" idx="0"/>
          </p:cNvCxnSpPr>
          <p:nvPr/>
        </p:nvCxnSpPr>
        <p:spPr>
          <a:xfrm rot="5400000">
            <a:off x="3057766" y="2360400"/>
            <a:ext cx="685155" cy="3466257"/>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sp>
        <p:nvSpPr>
          <p:cNvPr id="39" name="Rectangle 38">
            <a:extLst>
              <a:ext uri="{FF2B5EF4-FFF2-40B4-BE49-F238E27FC236}">
                <a16:creationId xmlns:a16="http://schemas.microsoft.com/office/drawing/2014/main" id="{A052CED6-0117-FB01-6E3A-337130CCD84B}"/>
              </a:ext>
            </a:extLst>
          </p:cNvPr>
          <p:cNvSpPr/>
          <p:nvPr/>
        </p:nvSpPr>
        <p:spPr>
          <a:xfrm>
            <a:off x="5552000" y="3371203"/>
            <a:ext cx="332781" cy="37974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41" name="Rectangle 40">
            <a:extLst>
              <a:ext uri="{FF2B5EF4-FFF2-40B4-BE49-F238E27FC236}">
                <a16:creationId xmlns:a16="http://schemas.microsoft.com/office/drawing/2014/main" id="{22831A2D-218D-01D7-DC43-A276119B2AE5}"/>
              </a:ext>
            </a:extLst>
          </p:cNvPr>
          <p:cNvSpPr/>
          <p:nvPr/>
        </p:nvSpPr>
        <p:spPr>
          <a:xfrm>
            <a:off x="6061952" y="3371203"/>
            <a:ext cx="281506" cy="379748"/>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43" name="Rectangle 42">
            <a:extLst>
              <a:ext uri="{FF2B5EF4-FFF2-40B4-BE49-F238E27FC236}">
                <a16:creationId xmlns:a16="http://schemas.microsoft.com/office/drawing/2014/main" id="{3C8095E2-FED1-19A9-E7CB-80A5CD0C7574}"/>
              </a:ext>
            </a:extLst>
          </p:cNvPr>
          <p:cNvSpPr/>
          <p:nvPr/>
        </p:nvSpPr>
        <p:spPr>
          <a:xfrm>
            <a:off x="6621377" y="3371203"/>
            <a:ext cx="332781" cy="37974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45" name="Rectangle 44">
            <a:extLst>
              <a:ext uri="{FF2B5EF4-FFF2-40B4-BE49-F238E27FC236}">
                <a16:creationId xmlns:a16="http://schemas.microsoft.com/office/drawing/2014/main" id="{1245004B-3154-7884-5246-C655CC3E6A53}"/>
              </a:ext>
            </a:extLst>
          </p:cNvPr>
          <p:cNvSpPr/>
          <p:nvPr/>
        </p:nvSpPr>
        <p:spPr>
          <a:xfrm>
            <a:off x="7131329" y="3371203"/>
            <a:ext cx="281506" cy="379748"/>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47" name="Rectangle 46">
            <a:extLst>
              <a:ext uri="{FF2B5EF4-FFF2-40B4-BE49-F238E27FC236}">
                <a16:creationId xmlns:a16="http://schemas.microsoft.com/office/drawing/2014/main" id="{493716FF-9173-31C3-31DD-E10C2BAFA61A}"/>
              </a:ext>
            </a:extLst>
          </p:cNvPr>
          <p:cNvSpPr/>
          <p:nvPr/>
        </p:nvSpPr>
        <p:spPr>
          <a:xfrm>
            <a:off x="5500466" y="3319495"/>
            <a:ext cx="884459" cy="484155"/>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49" name="Rectangle 48">
            <a:extLst>
              <a:ext uri="{FF2B5EF4-FFF2-40B4-BE49-F238E27FC236}">
                <a16:creationId xmlns:a16="http://schemas.microsoft.com/office/drawing/2014/main" id="{82CFFDA0-E5AB-0D6D-695D-CA0B9FD103BD}"/>
              </a:ext>
            </a:extLst>
          </p:cNvPr>
          <p:cNvSpPr/>
          <p:nvPr/>
        </p:nvSpPr>
        <p:spPr>
          <a:xfrm>
            <a:off x="6579811" y="3317940"/>
            <a:ext cx="884459" cy="484155"/>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50" name="Straight Connector 36">
            <a:extLst>
              <a:ext uri="{FF2B5EF4-FFF2-40B4-BE49-F238E27FC236}">
                <a16:creationId xmlns:a16="http://schemas.microsoft.com/office/drawing/2014/main" id="{01ABE7C6-9F9B-A9CF-63C7-7B24A031F03F}"/>
              </a:ext>
            </a:extLst>
          </p:cNvPr>
          <p:cNvCxnSpPr>
            <a:cxnSpLocks/>
            <a:stCxn id="47" idx="2"/>
            <a:endCxn id="21" idx="0"/>
          </p:cNvCxnSpPr>
          <p:nvPr/>
        </p:nvCxnSpPr>
        <p:spPr>
          <a:xfrm rot="16200000" flipH="1">
            <a:off x="6187095" y="3559251"/>
            <a:ext cx="627790" cy="1116588"/>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53" name="Straight Connector 36">
            <a:extLst>
              <a:ext uri="{FF2B5EF4-FFF2-40B4-BE49-F238E27FC236}">
                <a16:creationId xmlns:a16="http://schemas.microsoft.com/office/drawing/2014/main" id="{C16BCE37-9B3D-BDDA-71A5-1D116864025F}"/>
              </a:ext>
            </a:extLst>
          </p:cNvPr>
          <p:cNvCxnSpPr>
            <a:cxnSpLocks/>
            <a:stCxn id="49" idx="2"/>
            <a:endCxn id="21" idx="0"/>
          </p:cNvCxnSpPr>
          <p:nvPr/>
        </p:nvCxnSpPr>
        <p:spPr>
          <a:xfrm rot="16200000" flipH="1">
            <a:off x="6725990" y="4098145"/>
            <a:ext cx="629345" cy="37243"/>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56" name="Straight Connector 36">
            <a:extLst>
              <a:ext uri="{FF2B5EF4-FFF2-40B4-BE49-F238E27FC236}">
                <a16:creationId xmlns:a16="http://schemas.microsoft.com/office/drawing/2014/main" id="{16BA0455-7FA9-F851-10F4-6FE56B303904}"/>
              </a:ext>
            </a:extLst>
          </p:cNvPr>
          <p:cNvCxnSpPr>
            <a:cxnSpLocks/>
            <a:stCxn id="26" idx="0"/>
            <a:endCxn id="19" idx="1"/>
          </p:cNvCxnSpPr>
          <p:nvPr/>
        </p:nvCxnSpPr>
        <p:spPr>
          <a:xfrm rot="5400000" flipH="1" flipV="1">
            <a:off x="5417807" y="4421258"/>
            <a:ext cx="653272" cy="1042969"/>
          </a:xfrm>
          <a:prstGeom prst="bentConnector2">
            <a:avLst/>
          </a:prstGeom>
        </p:spPr>
        <p:style>
          <a:lnRef idx="2">
            <a:schemeClr val="dk1"/>
          </a:lnRef>
          <a:fillRef idx="0">
            <a:schemeClr val="dk1"/>
          </a:fillRef>
          <a:effectRef idx="1">
            <a:schemeClr val="dk1"/>
          </a:effectRef>
          <a:fontRef idx="minor">
            <a:schemeClr val="tx1"/>
          </a:fontRef>
        </p:style>
      </p:cxnSp>
      <p:cxnSp>
        <p:nvCxnSpPr>
          <p:cNvPr id="81" name="Straight Connector 36">
            <a:extLst>
              <a:ext uri="{FF2B5EF4-FFF2-40B4-BE49-F238E27FC236}">
                <a16:creationId xmlns:a16="http://schemas.microsoft.com/office/drawing/2014/main" id="{FC619824-C801-5AF7-2125-8920EEF95F89}"/>
              </a:ext>
            </a:extLst>
          </p:cNvPr>
          <p:cNvCxnSpPr>
            <a:cxnSpLocks/>
            <a:stCxn id="30" idx="0"/>
            <a:endCxn id="21" idx="3"/>
          </p:cNvCxnSpPr>
          <p:nvPr/>
        </p:nvCxnSpPr>
        <p:spPr>
          <a:xfrm rot="16200000" flipV="1">
            <a:off x="7787127" y="4321619"/>
            <a:ext cx="653272" cy="1242246"/>
          </a:xfrm>
          <a:prstGeom prst="bentConnector2">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39504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p:bldP spid="35" grpId="0" animBg="1"/>
      <p:bldP spid="39" grpId="0" animBg="1"/>
      <p:bldP spid="41" grpId="0" animBg="1"/>
      <p:bldP spid="43" grpId="0" animBg="1"/>
      <p:bldP spid="45" grpId="0" animBg="1"/>
      <p:bldP spid="47" grpId="0" animBg="1"/>
      <p:bldP spid="4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27E0F-851D-8480-1C4D-5C370A26A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0B41B-03C7-5E59-1134-4637170F7E6E}"/>
              </a:ext>
            </a:extLst>
          </p:cNvPr>
          <p:cNvSpPr>
            <a:spLocks noGrp="1"/>
          </p:cNvSpPr>
          <p:nvPr>
            <p:ph type="title"/>
          </p:nvPr>
        </p:nvSpPr>
        <p:spPr/>
        <p:txBody>
          <a:bodyPr/>
          <a:lstStyle/>
          <a:p>
            <a:r>
              <a:rPr lang="en-SE" dirty="0"/>
              <a:t>Building a Regression Formula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8CFEBB-F0F1-FDAF-944C-FECF9FC24E42}"/>
                  </a:ext>
                </a:extLst>
              </p:cNvPr>
              <p:cNvSpPr>
                <a:spLocks noGrp="1"/>
              </p:cNvSpPr>
              <p:nvPr>
                <p:ph idx="1"/>
              </p:nvPr>
            </p:nvSpPr>
            <p:spPr>
              <a:xfrm>
                <a:off x="838200" y="1825625"/>
                <a:ext cx="10515600" cy="968375"/>
              </a:xfrm>
            </p:spPr>
            <p:txBody>
              <a:bodyPr/>
              <a:lstStyle/>
              <a:p>
                <a:pPr marL="0" indent="0">
                  <a:buNone/>
                </a:pPr>
                <a:r>
                  <a:rPr lang="en-SE" dirty="0"/>
                  <a:t>To determine the target quantity </a:t>
                </a:r>
                <a14:m>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𝛽</m:t>
                        </m:r>
                      </m:e>
                      <m:sub>
                        <m:r>
                          <a:rPr lang="en-SE" b="0" i="1" smtClean="0">
                            <a:latin typeface="Cambria Math" panose="02040503050406030204" pitchFamily="18" charset="0"/>
                          </a:rPr>
                          <m:t>𝑒</m:t>
                        </m:r>
                      </m:sub>
                    </m:sSub>
                  </m:oMath>
                </a14:m>
                <a:r>
                  <a:rPr lang="en-SE" dirty="0"/>
                  <a:t>, we can describe the relationship between variables in a regression formula.</a:t>
                </a:r>
              </a:p>
            </p:txBody>
          </p:sp>
        </mc:Choice>
        <mc:Fallback xmlns="">
          <p:sp>
            <p:nvSpPr>
              <p:cNvPr id="3" name="Content Placeholder 2">
                <a:extLst>
                  <a:ext uri="{FF2B5EF4-FFF2-40B4-BE49-F238E27FC236}">
                    <a16:creationId xmlns:a16="http://schemas.microsoft.com/office/drawing/2014/main" id="{FC5F6352-5684-87F5-E25B-62DEFB582C69}"/>
                  </a:ext>
                </a:extLst>
              </p:cNvPr>
              <p:cNvSpPr>
                <a:spLocks noGrp="1" noRot="1" noChangeAspect="1" noMove="1" noResize="1" noEditPoints="1" noAdjustHandles="1" noChangeArrowheads="1" noChangeShapeType="1" noTextEdit="1"/>
              </p:cNvSpPr>
              <p:nvPr>
                <p:ph idx="1"/>
              </p:nvPr>
            </p:nvSpPr>
            <p:spPr>
              <a:xfrm>
                <a:off x="838200" y="1825625"/>
                <a:ext cx="10515600" cy="968375"/>
              </a:xfrm>
              <a:blipFill>
                <a:blip r:embed="rId2"/>
                <a:stretch>
                  <a:fillRect l="-1217" t="-10692" b="-6289"/>
                </a:stretch>
              </a:blipFill>
            </p:spPr>
            <p:txBody>
              <a:bodyPr/>
              <a:lstStyle/>
              <a:p>
                <a:r>
                  <a:rPr lang="en-SE">
                    <a:noFill/>
                  </a:rPr>
                  <a:t> </a:t>
                </a:r>
              </a:p>
            </p:txBody>
          </p:sp>
        </mc:Fallback>
      </mc:AlternateContent>
      <p:sp>
        <p:nvSpPr>
          <p:cNvPr id="4" name="Date Placeholder 3">
            <a:extLst>
              <a:ext uri="{FF2B5EF4-FFF2-40B4-BE49-F238E27FC236}">
                <a16:creationId xmlns:a16="http://schemas.microsoft.com/office/drawing/2014/main" id="{47A1687C-E1FB-FAA4-638D-7D32291F16D7}"/>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A2646E43-7482-7BCF-780B-1A5BA37AD490}"/>
              </a:ext>
            </a:extLst>
          </p:cNvPr>
          <p:cNvSpPr>
            <a:spLocks noGrp="1"/>
          </p:cNvSpPr>
          <p:nvPr>
            <p:ph type="sldNum" sz="quarter" idx="12"/>
          </p:nvPr>
        </p:nvSpPr>
        <p:spPr/>
        <p:txBody>
          <a:bodyPr/>
          <a:lstStyle/>
          <a:p>
            <a:fld id="{271ECC92-9CDE-4EB3-B1C5-F46B9E1FA3C1}" type="slidenum">
              <a:rPr lang="en-SE" smtClean="0"/>
              <a:t>44</a:t>
            </a:fld>
            <a:endParaRPr lang="en-SE"/>
          </a:p>
        </p:txBody>
      </p:sp>
      <p:sp>
        <p:nvSpPr>
          <p:cNvPr id="17" name="Footer Placeholder 16">
            <a:extLst>
              <a:ext uri="{FF2B5EF4-FFF2-40B4-BE49-F238E27FC236}">
                <a16:creationId xmlns:a16="http://schemas.microsoft.com/office/drawing/2014/main" id="{8D427DBE-EF42-9EF3-7764-BCF2EB2E746D}"/>
              </a:ext>
            </a:extLst>
          </p:cNvPr>
          <p:cNvSpPr>
            <a:spLocks noGrp="1"/>
          </p:cNvSpPr>
          <p:nvPr>
            <p:ph type="ftr" sz="quarter" idx="11"/>
          </p:nvPr>
        </p:nvSpPr>
        <p:spPr/>
        <p:txBody>
          <a:bodyPr/>
          <a:lstStyle/>
          <a:p>
            <a:r>
              <a:rPr lang="de-DE"/>
              <a:t>Bayesian Data Analysis Tutorial</a:t>
            </a:r>
            <a:endParaRPr lang="en-SE"/>
          </a:p>
        </p:txBody>
      </p:sp>
      <p:grpSp>
        <p:nvGrpSpPr>
          <p:cNvPr id="57" name="Group 56">
            <a:extLst>
              <a:ext uri="{FF2B5EF4-FFF2-40B4-BE49-F238E27FC236}">
                <a16:creationId xmlns:a16="http://schemas.microsoft.com/office/drawing/2014/main" id="{E8A79C4E-E1CF-EDF8-705D-A712940D32A0}"/>
              </a:ext>
            </a:extLst>
          </p:cNvPr>
          <p:cNvGrpSpPr/>
          <p:nvPr/>
        </p:nvGrpSpPr>
        <p:grpSpPr>
          <a:xfrm>
            <a:off x="203635" y="1825625"/>
            <a:ext cx="504000" cy="504000"/>
            <a:chOff x="977950" y="2729564"/>
            <a:chExt cx="504000" cy="504000"/>
          </a:xfrm>
        </p:grpSpPr>
        <p:sp>
          <p:nvSpPr>
            <p:cNvPr id="58" name="Oval 57">
              <a:extLst>
                <a:ext uri="{FF2B5EF4-FFF2-40B4-BE49-F238E27FC236}">
                  <a16:creationId xmlns:a16="http://schemas.microsoft.com/office/drawing/2014/main" id="{43196EAA-2CF7-C383-D9A6-E2CF007BDB4C}"/>
                </a:ext>
              </a:extLst>
            </p:cNvPr>
            <p:cNvSpPr/>
            <p:nvPr/>
          </p:nvSpPr>
          <p:spPr>
            <a:xfrm>
              <a:off x="977950" y="2729564"/>
              <a:ext cx="504000" cy="504000"/>
            </a:xfrm>
            <a:prstGeom prst="ellips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9" name="Graphic 58" descr="Golden Ratio with solid fill">
              <a:extLst>
                <a:ext uri="{FF2B5EF4-FFF2-40B4-BE49-F238E27FC236}">
                  <a16:creationId xmlns:a16="http://schemas.microsoft.com/office/drawing/2014/main" id="{5EEFE00A-055E-AF1D-1EEF-555FA1A039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60" name="Group 59">
            <a:extLst>
              <a:ext uri="{FF2B5EF4-FFF2-40B4-BE49-F238E27FC236}">
                <a16:creationId xmlns:a16="http://schemas.microsoft.com/office/drawing/2014/main" id="{F8E40E0D-2FF9-AD46-E40D-094D699BCC12}"/>
              </a:ext>
            </a:extLst>
          </p:cNvPr>
          <p:cNvGrpSpPr/>
          <p:nvPr/>
        </p:nvGrpSpPr>
        <p:grpSpPr>
          <a:xfrm>
            <a:off x="203635" y="2439322"/>
            <a:ext cx="504000" cy="504000"/>
            <a:chOff x="977950" y="2729564"/>
            <a:chExt cx="504000" cy="504000"/>
          </a:xfrm>
        </p:grpSpPr>
        <p:sp>
          <p:nvSpPr>
            <p:cNvPr id="61" name="Oval 60">
              <a:extLst>
                <a:ext uri="{FF2B5EF4-FFF2-40B4-BE49-F238E27FC236}">
                  <a16:creationId xmlns:a16="http://schemas.microsoft.com/office/drawing/2014/main" id="{03B5999D-8354-9A2A-7DC5-DC4BB5E1F349}"/>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2" name="Graphic 61" descr="Normal Distribution with solid fill">
              <a:extLst>
                <a:ext uri="{FF2B5EF4-FFF2-40B4-BE49-F238E27FC236}">
                  <a16:creationId xmlns:a16="http://schemas.microsoft.com/office/drawing/2014/main" id="{BC0306E6-261D-82ED-5433-B9F4FB50B23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63" name="Group 62">
            <a:extLst>
              <a:ext uri="{FF2B5EF4-FFF2-40B4-BE49-F238E27FC236}">
                <a16:creationId xmlns:a16="http://schemas.microsoft.com/office/drawing/2014/main" id="{17F137F2-3AB8-265C-1F99-01C19CFEC339}"/>
              </a:ext>
            </a:extLst>
          </p:cNvPr>
          <p:cNvGrpSpPr/>
          <p:nvPr/>
        </p:nvGrpSpPr>
        <p:grpSpPr>
          <a:xfrm>
            <a:off x="203635" y="3053019"/>
            <a:ext cx="504000" cy="504000"/>
            <a:chOff x="977950" y="2729564"/>
            <a:chExt cx="504000" cy="504000"/>
          </a:xfrm>
        </p:grpSpPr>
        <p:sp>
          <p:nvSpPr>
            <p:cNvPr id="64" name="Oval 63">
              <a:extLst>
                <a:ext uri="{FF2B5EF4-FFF2-40B4-BE49-F238E27FC236}">
                  <a16:creationId xmlns:a16="http://schemas.microsoft.com/office/drawing/2014/main" id="{0E63B0E4-FE64-2BD1-33C2-66F1D24F00B2}"/>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5" name="Graphic 64" descr="Abacus with solid fill">
              <a:extLst>
                <a:ext uri="{FF2B5EF4-FFF2-40B4-BE49-F238E27FC236}">
                  <a16:creationId xmlns:a16="http://schemas.microsoft.com/office/drawing/2014/main" id="{C5A55A9F-5B21-81B2-3863-10DC74287E4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66" name="Group 65">
            <a:extLst>
              <a:ext uri="{FF2B5EF4-FFF2-40B4-BE49-F238E27FC236}">
                <a16:creationId xmlns:a16="http://schemas.microsoft.com/office/drawing/2014/main" id="{D9E44A45-A0C7-C681-8E9F-88D93C02002F}"/>
              </a:ext>
            </a:extLst>
          </p:cNvPr>
          <p:cNvGrpSpPr/>
          <p:nvPr/>
        </p:nvGrpSpPr>
        <p:grpSpPr>
          <a:xfrm>
            <a:off x="203635" y="3666716"/>
            <a:ext cx="504000" cy="504000"/>
            <a:chOff x="977950" y="2729564"/>
            <a:chExt cx="504000" cy="504000"/>
          </a:xfrm>
        </p:grpSpPr>
        <p:sp>
          <p:nvSpPr>
            <p:cNvPr id="67" name="Oval 66">
              <a:extLst>
                <a:ext uri="{FF2B5EF4-FFF2-40B4-BE49-F238E27FC236}">
                  <a16:creationId xmlns:a16="http://schemas.microsoft.com/office/drawing/2014/main" id="{30374923-F681-E08E-3C94-FD2AB9FD5B8A}"/>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8" name="Graphic 67" descr="Trigonometry with solid fill">
              <a:extLst>
                <a:ext uri="{FF2B5EF4-FFF2-40B4-BE49-F238E27FC236}">
                  <a16:creationId xmlns:a16="http://schemas.microsoft.com/office/drawing/2014/main" id="{9E7B81BC-08C3-F40E-8FD0-D7EEDB782AD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69" name="Group 68">
            <a:extLst>
              <a:ext uri="{FF2B5EF4-FFF2-40B4-BE49-F238E27FC236}">
                <a16:creationId xmlns:a16="http://schemas.microsoft.com/office/drawing/2014/main" id="{5838EC2A-70D1-BEFA-4118-DEEF77D7392D}"/>
              </a:ext>
            </a:extLst>
          </p:cNvPr>
          <p:cNvGrpSpPr/>
          <p:nvPr/>
        </p:nvGrpSpPr>
        <p:grpSpPr>
          <a:xfrm>
            <a:off x="203635" y="4280414"/>
            <a:ext cx="504000" cy="504000"/>
            <a:chOff x="977950" y="2729564"/>
            <a:chExt cx="504000" cy="504000"/>
          </a:xfrm>
        </p:grpSpPr>
        <p:sp>
          <p:nvSpPr>
            <p:cNvPr id="70" name="Oval 69">
              <a:extLst>
                <a:ext uri="{FF2B5EF4-FFF2-40B4-BE49-F238E27FC236}">
                  <a16:creationId xmlns:a16="http://schemas.microsoft.com/office/drawing/2014/main" id="{47208ACB-C3A2-060D-089F-E6E4AABFEA0C}"/>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71" name="Graphic 70" descr="Scatterplot with solid fill">
              <a:extLst>
                <a:ext uri="{FF2B5EF4-FFF2-40B4-BE49-F238E27FC236}">
                  <a16:creationId xmlns:a16="http://schemas.microsoft.com/office/drawing/2014/main" id="{8F7DABD9-A82A-4E61-437A-6B2378970B97}"/>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72" name="Straight Arrow Connector 71">
            <a:extLst>
              <a:ext uri="{FF2B5EF4-FFF2-40B4-BE49-F238E27FC236}">
                <a16:creationId xmlns:a16="http://schemas.microsoft.com/office/drawing/2014/main" id="{8CFEC462-8624-7B22-22FB-D232B23B151E}"/>
              </a:ext>
            </a:extLst>
          </p:cNvPr>
          <p:cNvCxnSpPr>
            <a:cxnSpLocks/>
            <a:stCxn id="58" idx="4"/>
            <a:endCxn id="61"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128A399E-2458-355F-1157-CACD5C4CE74F}"/>
              </a:ext>
            </a:extLst>
          </p:cNvPr>
          <p:cNvCxnSpPr>
            <a:cxnSpLocks/>
            <a:stCxn id="61" idx="4"/>
            <a:endCxn id="64"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4" name="Straight Arrow Connector 73">
            <a:extLst>
              <a:ext uri="{FF2B5EF4-FFF2-40B4-BE49-F238E27FC236}">
                <a16:creationId xmlns:a16="http://schemas.microsoft.com/office/drawing/2014/main" id="{DE7BD258-32B8-7A2E-C817-0E6A1078DD4D}"/>
              </a:ext>
            </a:extLst>
          </p:cNvPr>
          <p:cNvCxnSpPr>
            <a:cxnSpLocks/>
            <a:stCxn id="64" idx="4"/>
            <a:endCxn id="67"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5" name="Straight Arrow Connector 74">
            <a:extLst>
              <a:ext uri="{FF2B5EF4-FFF2-40B4-BE49-F238E27FC236}">
                <a16:creationId xmlns:a16="http://schemas.microsoft.com/office/drawing/2014/main" id="{B9CECA3C-C16C-DE71-88F8-505802BBA4CF}"/>
              </a:ext>
            </a:extLst>
          </p:cNvPr>
          <p:cNvCxnSpPr>
            <a:cxnSpLocks/>
            <a:stCxn id="67" idx="4"/>
            <a:endCxn id="70"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4" name="Group 23">
            <a:extLst>
              <a:ext uri="{FF2B5EF4-FFF2-40B4-BE49-F238E27FC236}">
                <a16:creationId xmlns:a16="http://schemas.microsoft.com/office/drawing/2014/main" id="{8DA02DD3-9380-22A7-5875-62D84B6055E4}"/>
              </a:ext>
            </a:extLst>
          </p:cNvPr>
          <p:cNvGrpSpPr/>
          <p:nvPr/>
        </p:nvGrpSpPr>
        <p:grpSpPr>
          <a:xfrm>
            <a:off x="2062921" y="4784444"/>
            <a:ext cx="1554045" cy="369332"/>
            <a:chOff x="1487214" y="4431440"/>
            <a:chExt cx="1554045" cy="369332"/>
          </a:xfrm>
        </p:grpSpPr>
        <p:pic>
          <p:nvPicPr>
            <p:cNvPr id="7" name="Graphic 6" descr="Bar chart with solid fill">
              <a:extLst>
                <a:ext uri="{FF2B5EF4-FFF2-40B4-BE49-F238E27FC236}">
                  <a16:creationId xmlns:a16="http://schemas.microsoft.com/office/drawing/2014/main" id="{562DD7D2-3022-EA0C-3FDE-5FFF0D0B44C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487214" y="4436106"/>
              <a:ext cx="360000" cy="360000"/>
            </a:xfrm>
            <a:prstGeom prst="rect">
              <a:avLst/>
            </a:prstGeom>
          </p:spPr>
        </p:pic>
        <p:sp>
          <p:nvSpPr>
            <p:cNvPr id="8" name="TextBox 7">
              <a:extLst>
                <a:ext uri="{FF2B5EF4-FFF2-40B4-BE49-F238E27FC236}">
                  <a16:creationId xmlns:a16="http://schemas.microsoft.com/office/drawing/2014/main" id="{F1E41B0F-2B87-8501-76CC-3B51D2BA6F28}"/>
                </a:ext>
              </a:extLst>
            </p:cNvPr>
            <p:cNvSpPr txBox="1"/>
            <p:nvPr/>
          </p:nvSpPr>
          <p:spPr>
            <a:xfrm>
              <a:off x="1847214" y="4431440"/>
              <a:ext cx="1194045" cy="369332"/>
            </a:xfrm>
            <a:prstGeom prst="rect">
              <a:avLst/>
            </a:prstGeom>
            <a:noFill/>
          </p:spPr>
          <p:txBody>
            <a:bodyPr wrap="none" rtlCol="0">
              <a:spAutoFit/>
            </a:bodyPr>
            <a:lstStyle/>
            <a:p>
              <a:r>
                <a:rPr lang="en-SE" b="1" dirty="0">
                  <a:solidFill>
                    <a:schemeClr val="bg2">
                      <a:lumMod val="75000"/>
                    </a:schemeClr>
                  </a:solidFill>
                </a:rPr>
                <a:t>Intercept</a:t>
              </a:r>
              <a:r>
                <a:rPr lang="en-SE" b="1" dirty="0"/>
                <a:t> </a:t>
              </a:r>
            </a:p>
          </p:txBody>
        </p:sp>
      </p:grpSp>
      <p:grpSp>
        <p:nvGrpSpPr>
          <p:cNvPr id="25" name="Group 24">
            <a:extLst>
              <a:ext uri="{FF2B5EF4-FFF2-40B4-BE49-F238E27FC236}">
                <a16:creationId xmlns:a16="http://schemas.microsoft.com/office/drawing/2014/main" id="{7ECD9CCB-1098-213A-B6FC-F9BD07CAD6AA}"/>
              </a:ext>
            </a:extLst>
          </p:cNvPr>
          <p:cNvGrpSpPr/>
          <p:nvPr/>
        </p:nvGrpSpPr>
        <p:grpSpPr>
          <a:xfrm>
            <a:off x="2062921" y="5674318"/>
            <a:ext cx="1764552" cy="369332"/>
            <a:chOff x="1487214" y="4431440"/>
            <a:chExt cx="1764552" cy="369332"/>
          </a:xfrm>
        </p:grpSpPr>
        <p:pic>
          <p:nvPicPr>
            <p:cNvPr id="26" name="Graphic 25" descr="Bar chart with solid fill">
              <a:extLst>
                <a:ext uri="{FF2B5EF4-FFF2-40B4-BE49-F238E27FC236}">
                  <a16:creationId xmlns:a16="http://schemas.microsoft.com/office/drawing/2014/main" id="{E3096B16-91A0-8BEF-DB0C-354921903B3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87214" y="4436106"/>
              <a:ext cx="360000" cy="360000"/>
            </a:xfrm>
            <a:prstGeom prst="rect">
              <a:avLst/>
            </a:prstGeom>
          </p:spPr>
        </p:pic>
        <p:sp>
          <p:nvSpPr>
            <p:cNvPr id="27" name="TextBox 26">
              <a:extLst>
                <a:ext uri="{FF2B5EF4-FFF2-40B4-BE49-F238E27FC236}">
                  <a16:creationId xmlns:a16="http://schemas.microsoft.com/office/drawing/2014/main" id="{EA63EBD6-5596-26ED-3702-7852BB1682D9}"/>
                </a:ext>
              </a:extLst>
            </p:cNvPr>
            <p:cNvSpPr txBox="1"/>
            <p:nvPr/>
          </p:nvSpPr>
          <p:spPr>
            <a:xfrm>
              <a:off x="1847214" y="4431440"/>
              <a:ext cx="1404552" cy="369332"/>
            </a:xfrm>
            <a:prstGeom prst="rect">
              <a:avLst/>
            </a:prstGeom>
            <a:noFill/>
          </p:spPr>
          <p:txBody>
            <a:bodyPr wrap="none" rtlCol="0">
              <a:spAutoFit/>
            </a:bodyPr>
            <a:lstStyle/>
            <a:p>
              <a:r>
                <a:rPr lang="en-SE" b="1" dirty="0">
                  <a:solidFill>
                    <a:srgbClr val="C00000"/>
                  </a:solidFill>
                </a:rPr>
                <a:t>Coefficient</a:t>
              </a:r>
              <a:r>
                <a:rPr lang="en-SE" b="1" dirty="0"/>
                <a:t> </a:t>
              </a:r>
            </a:p>
          </p:txBody>
        </p:sp>
      </p:grpSp>
      <p:grpSp>
        <p:nvGrpSpPr>
          <p:cNvPr id="29" name="Group 28">
            <a:extLst>
              <a:ext uri="{FF2B5EF4-FFF2-40B4-BE49-F238E27FC236}">
                <a16:creationId xmlns:a16="http://schemas.microsoft.com/office/drawing/2014/main" id="{1130A479-6CBE-5531-A93F-01C1A530F5DA}"/>
              </a:ext>
            </a:extLst>
          </p:cNvPr>
          <p:cNvGrpSpPr/>
          <p:nvPr/>
        </p:nvGrpSpPr>
        <p:grpSpPr>
          <a:xfrm>
            <a:off x="2062921" y="6119254"/>
            <a:ext cx="1087122" cy="369332"/>
            <a:chOff x="1487214" y="4431440"/>
            <a:chExt cx="1087122" cy="369332"/>
          </a:xfrm>
        </p:grpSpPr>
        <p:pic>
          <p:nvPicPr>
            <p:cNvPr id="30" name="Graphic 29" descr="Bar chart with solid fill">
              <a:extLst>
                <a:ext uri="{FF2B5EF4-FFF2-40B4-BE49-F238E27FC236}">
                  <a16:creationId xmlns:a16="http://schemas.microsoft.com/office/drawing/2014/main" id="{3FF39BD2-C5B7-042A-2D55-74BDE059E9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87214" y="4436106"/>
              <a:ext cx="360000" cy="360000"/>
            </a:xfrm>
            <a:prstGeom prst="rect">
              <a:avLst/>
            </a:prstGeom>
          </p:spPr>
        </p:pic>
        <p:sp>
          <p:nvSpPr>
            <p:cNvPr id="31" name="TextBox 30">
              <a:extLst>
                <a:ext uri="{FF2B5EF4-FFF2-40B4-BE49-F238E27FC236}">
                  <a16:creationId xmlns:a16="http://schemas.microsoft.com/office/drawing/2014/main" id="{28510C31-F8AF-8DB4-A5EF-962A734D48FA}"/>
                </a:ext>
              </a:extLst>
            </p:cNvPr>
            <p:cNvSpPr txBox="1"/>
            <p:nvPr/>
          </p:nvSpPr>
          <p:spPr>
            <a:xfrm>
              <a:off x="1847214" y="4431440"/>
              <a:ext cx="727122" cy="369332"/>
            </a:xfrm>
            <a:prstGeom prst="rect">
              <a:avLst/>
            </a:prstGeom>
            <a:noFill/>
          </p:spPr>
          <p:txBody>
            <a:bodyPr wrap="none" rtlCol="0">
              <a:spAutoFit/>
            </a:bodyPr>
            <a:lstStyle/>
            <a:p>
              <a:r>
                <a:rPr lang="en-SE" b="1" dirty="0">
                  <a:solidFill>
                    <a:schemeClr val="accent2"/>
                  </a:solidFill>
                </a:rPr>
                <a:t>Data</a:t>
              </a:r>
              <a:r>
                <a:rPr lang="en-SE" b="1" dirty="0"/>
                <a:t> </a:t>
              </a:r>
            </a:p>
          </p:txBody>
        </p:sp>
      </p:grpSp>
      <p:grpSp>
        <p:nvGrpSpPr>
          <p:cNvPr id="6" name="Group 5">
            <a:extLst>
              <a:ext uri="{FF2B5EF4-FFF2-40B4-BE49-F238E27FC236}">
                <a16:creationId xmlns:a16="http://schemas.microsoft.com/office/drawing/2014/main" id="{1B55ECF7-A0D3-36ED-6C07-B62FAFFF4FE0}"/>
              </a:ext>
            </a:extLst>
          </p:cNvPr>
          <p:cNvGrpSpPr/>
          <p:nvPr/>
        </p:nvGrpSpPr>
        <p:grpSpPr>
          <a:xfrm>
            <a:off x="1324547" y="2998170"/>
            <a:ext cx="4204138" cy="1657793"/>
            <a:chOff x="3342291" y="2794000"/>
            <a:chExt cx="4204138" cy="1657793"/>
          </a:xfrm>
        </p:grpSpPr>
        <p:sp>
          <p:nvSpPr>
            <p:cNvPr id="9" name="Rectangle: Rounded Corners 8">
              <a:extLst>
                <a:ext uri="{FF2B5EF4-FFF2-40B4-BE49-F238E27FC236}">
                  <a16:creationId xmlns:a16="http://schemas.microsoft.com/office/drawing/2014/main" id="{E514D9BF-7BB2-F068-AACB-C2495A52A29E}"/>
                </a:ext>
              </a:extLst>
            </p:cNvPr>
            <p:cNvSpPr/>
            <p:nvPr/>
          </p:nvSpPr>
          <p:spPr>
            <a:xfrm>
              <a:off x="3342291" y="2794000"/>
              <a:ext cx="4204138" cy="1657793"/>
            </a:xfrm>
            <a:prstGeom prst="roundRect">
              <a:avLst/>
            </a:prstGeom>
            <a:solidFill>
              <a:schemeClr val="accent5">
                <a:lumMod val="20000"/>
                <a:lumOff val="80000"/>
              </a:schemeClr>
            </a:solidFill>
            <a:ln>
              <a:solidFill>
                <a:schemeClr val="accent4">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SE" dirty="0">
                  <a:solidFill>
                    <a:sysClr val="windowText" lastClr="000000"/>
                  </a:solidFill>
                </a:rPr>
                <a:t>Bayesian Model</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AB5F5D1-DCE1-A77A-2B14-8F0F4B15468D}"/>
                    </a:ext>
                  </a:extLst>
                </p:cNvPr>
                <p:cNvSpPr txBox="1"/>
                <p:nvPr/>
              </p:nvSpPr>
              <p:spPr>
                <a:xfrm>
                  <a:off x="3813065" y="3396053"/>
                  <a:ext cx="15610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𝑦</m:t>
                        </m:r>
                        <m:r>
                          <a:rPr lang="en-SE" sz="2400" b="0" i="1" smtClean="0">
                            <a:latin typeface="Cambria Math" panose="02040503050406030204" pitchFamily="18" charset="0"/>
                          </a:rPr>
                          <m:t> ~ </m:t>
                        </m:r>
                        <m:r>
                          <a:rPr lang="en-SE" sz="2400" b="0" i="1" smtClean="0">
                            <a:latin typeface="Cambria Math" panose="02040503050406030204" pitchFamily="18" charset="0"/>
                          </a:rPr>
                          <m:t>𝑁</m:t>
                        </m:r>
                        <m:r>
                          <a:rPr lang="en-SE" sz="2400" b="0" i="1" smtClean="0">
                            <a:latin typeface="Cambria Math" panose="02040503050406030204" pitchFamily="18" charset="0"/>
                          </a:rPr>
                          <m:t>(</m:t>
                        </m:r>
                        <m:r>
                          <a:rPr lang="en-SE" sz="2400" b="0" i="1" smtClean="0">
                            <a:latin typeface="Cambria Math" panose="02040503050406030204" pitchFamily="18" charset="0"/>
                          </a:rPr>
                          <m:t>𝜇</m:t>
                        </m:r>
                        <m:r>
                          <a:rPr lang="en-SE" sz="2400" b="0" i="1" smtClean="0">
                            <a:latin typeface="Cambria Math" panose="02040503050406030204" pitchFamily="18" charset="0"/>
                          </a:rPr>
                          <m:t>, </m:t>
                        </m:r>
                        <m:r>
                          <a:rPr lang="en-SE" sz="2400" b="0" i="1" smtClean="0">
                            <a:latin typeface="Cambria Math" panose="02040503050406030204" pitchFamily="18" charset="0"/>
                          </a:rPr>
                          <m:t>𝜎</m:t>
                        </m:r>
                        <m:r>
                          <a:rPr lang="en-SE" sz="2400" b="0" i="1" smtClean="0">
                            <a:latin typeface="Cambria Math" panose="02040503050406030204" pitchFamily="18" charset="0"/>
                          </a:rPr>
                          <m:t>)</m:t>
                        </m:r>
                      </m:oMath>
                    </m:oMathPara>
                  </a14:m>
                  <a:endParaRPr lang="en-SE" sz="2400" dirty="0"/>
                </a:p>
              </p:txBody>
            </p:sp>
          </mc:Choice>
          <mc:Fallback xmlns="">
            <p:sp>
              <p:nvSpPr>
                <p:cNvPr id="11" name="TextBox 10">
                  <a:extLst>
                    <a:ext uri="{FF2B5EF4-FFF2-40B4-BE49-F238E27FC236}">
                      <a16:creationId xmlns:a16="http://schemas.microsoft.com/office/drawing/2014/main" id="{6AB5F5D1-DCE1-A77A-2B14-8F0F4B15468D}"/>
                    </a:ext>
                  </a:extLst>
                </p:cNvPr>
                <p:cNvSpPr txBox="1">
                  <a:spLocks noRot="1" noChangeAspect="1" noMove="1" noResize="1" noEditPoints="1" noAdjustHandles="1" noChangeArrowheads="1" noChangeShapeType="1" noTextEdit="1"/>
                </p:cNvSpPr>
                <p:nvPr/>
              </p:nvSpPr>
              <p:spPr>
                <a:xfrm>
                  <a:off x="3813065" y="3396053"/>
                  <a:ext cx="1561005" cy="369332"/>
                </a:xfrm>
                <a:prstGeom prst="rect">
                  <a:avLst/>
                </a:prstGeom>
                <a:blipFill>
                  <a:blip r:embed="rId11"/>
                  <a:stretch>
                    <a:fillRect l="-4688" t="-1667" r="-6641" b="-33333"/>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70F022FB-A230-121C-BFC0-828BFC01EAD4}"/>
                    </a:ext>
                  </a:extLst>
                </p:cNvPr>
                <p:cNvSpPr txBox="1"/>
                <p:nvPr/>
              </p:nvSpPr>
              <p:spPr>
                <a:xfrm>
                  <a:off x="3753954" y="3793555"/>
                  <a:ext cx="305384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𝜇</m:t>
                        </m:r>
                        <m:r>
                          <a:rPr lang="en-SE" sz="2400" b="0" i="1" smtClean="0">
                            <a:latin typeface="Cambria Math" panose="02040503050406030204" pitchFamily="18" charset="0"/>
                          </a:rPr>
                          <m:t>←</m:t>
                        </m:r>
                        <m:r>
                          <a:rPr lang="en-SE" sz="2400" b="0" i="1" smtClean="0">
                            <a:solidFill>
                              <a:schemeClr val="bg2">
                                <a:lumMod val="75000"/>
                              </a:schemeClr>
                            </a:solidFill>
                            <a:latin typeface="Cambria Math" panose="02040503050406030204" pitchFamily="18" charset="0"/>
                          </a:rPr>
                          <m:t>𝛼</m:t>
                        </m:r>
                        <m:r>
                          <a:rPr lang="en-SE" sz="2400" b="0" i="1" smtClean="0">
                            <a:latin typeface="Cambria Math" panose="02040503050406030204" pitchFamily="18" charset="0"/>
                          </a:rPr>
                          <m:t>+</m:t>
                        </m:r>
                        <m:sSub>
                          <m:sSubPr>
                            <m:ctrlPr>
                              <a:rPr lang="en-SE" sz="2400" b="0" i="1" smtClean="0">
                                <a:solidFill>
                                  <a:srgbClr val="C00000"/>
                                </a:solidFill>
                                <a:latin typeface="Cambria Math" panose="02040503050406030204" pitchFamily="18" charset="0"/>
                              </a:rPr>
                            </m:ctrlPr>
                          </m:sSubPr>
                          <m:e>
                            <m:r>
                              <a:rPr lang="en-SE" sz="2400" b="0" i="1" smtClean="0">
                                <a:solidFill>
                                  <a:srgbClr val="C00000"/>
                                </a:solidFill>
                                <a:latin typeface="Cambria Math" panose="02040503050406030204" pitchFamily="18" charset="0"/>
                              </a:rPr>
                              <m:t>𝛽</m:t>
                            </m:r>
                          </m:e>
                          <m:sub>
                            <m:r>
                              <a:rPr lang="en-SE" sz="2400" b="0" i="1" smtClean="0">
                                <a:solidFill>
                                  <a:srgbClr val="C00000"/>
                                </a:solidFill>
                                <a:latin typeface="Cambria Math" panose="02040503050406030204" pitchFamily="18" charset="0"/>
                              </a:rPr>
                              <m:t>𝑥</m:t>
                            </m:r>
                          </m:sub>
                        </m:sSub>
                        <m:r>
                          <a:rPr lang="en-SE" sz="2400" b="0" i="1" smtClean="0">
                            <a:latin typeface="Cambria Math" panose="02040503050406030204" pitchFamily="18" charset="0"/>
                          </a:rPr>
                          <m:t>⋅</m:t>
                        </m:r>
                        <m:r>
                          <a:rPr lang="en-SE" sz="2400" b="0" i="1" smtClean="0">
                            <a:solidFill>
                              <a:schemeClr val="accent2"/>
                            </a:solidFill>
                            <a:latin typeface="Cambria Math" panose="02040503050406030204" pitchFamily="18" charset="0"/>
                          </a:rPr>
                          <m:t>𝑥</m:t>
                        </m:r>
                        <m:r>
                          <a:rPr lang="en-SE" sz="2400" b="0" i="1" smtClean="0">
                            <a:latin typeface="Cambria Math" panose="02040503050406030204" pitchFamily="18" charset="0"/>
                          </a:rPr>
                          <m:t>+</m:t>
                        </m:r>
                        <m:sSub>
                          <m:sSubPr>
                            <m:ctrlPr>
                              <a:rPr lang="en-SE" sz="2400" b="0" i="1" smtClean="0">
                                <a:solidFill>
                                  <a:srgbClr val="C00000"/>
                                </a:solidFill>
                                <a:latin typeface="Cambria Math" panose="02040503050406030204" pitchFamily="18" charset="0"/>
                              </a:rPr>
                            </m:ctrlPr>
                          </m:sSubPr>
                          <m:e>
                            <m:r>
                              <a:rPr lang="en-SE" sz="2400" b="0" i="1" smtClean="0">
                                <a:solidFill>
                                  <a:srgbClr val="C00000"/>
                                </a:solidFill>
                                <a:latin typeface="Cambria Math" panose="02040503050406030204" pitchFamily="18" charset="0"/>
                              </a:rPr>
                              <m:t>𝛽</m:t>
                            </m:r>
                          </m:e>
                          <m:sub>
                            <m:r>
                              <a:rPr lang="en-SE" sz="2400" b="0" i="1" smtClean="0">
                                <a:solidFill>
                                  <a:srgbClr val="C00000"/>
                                </a:solidFill>
                                <a:latin typeface="Cambria Math" panose="02040503050406030204" pitchFamily="18" charset="0"/>
                              </a:rPr>
                              <m:t>𝑧</m:t>
                            </m:r>
                          </m:sub>
                        </m:sSub>
                        <m:r>
                          <a:rPr lang="en-SE" sz="2400" b="0" i="1" smtClean="0">
                            <a:latin typeface="Cambria Math" panose="02040503050406030204" pitchFamily="18" charset="0"/>
                          </a:rPr>
                          <m:t>⋅</m:t>
                        </m:r>
                        <m:r>
                          <a:rPr lang="en-SE" sz="2400" b="0" i="1" smtClean="0">
                            <a:solidFill>
                              <a:schemeClr val="accent2"/>
                            </a:solidFill>
                            <a:latin typeface="Cambria Math" panose="02040503050406030204" pitchFamily="18" charset="0"/>
                          </a:rPr>
                          <m:t>𝑧</m:t>
                        </m:r>
                      </m:oMath>
                    </m:oMathPara>
                  </a14:m>
                  <a:endParaRPr lang="en-SE" sz="2400" dirty="0"/>
                </a:p>
              </p:txBody>
            </p:sp>
          </mc:Choice>
          <mc:Fallback>
            <p:sp>
              <p:nvSpPr>
                <p:cNvPr id="12" name="TextBox 11">
                  <a:extLst>
                    <a:ext uri="{FF2B5EF4-FFF2-40B4-BE49-F238E27FC236}">
                      <a16:creationId xmlns:a16="http://schemas.microsoft.com/office/drawing/2014/main" id="{70F022FB-A230-121C-BFC0-828BFC01EAD4}"/>
                    </a:ext>
                  </a:extLst>
                </p:cNvPr>
                <p:cNvSpPr txBox="1">
                  <a:spLocks noRot="1" noChangeAspect="1" noMove="1" noResize="1" noEditPoints="1" noAdjustHandles="1" noChangeArrowheads="1" noChangeShapeType="1" noTextEdit="1"/>
                </p:cNvSpPr>
                <p:nvPr/>
              </p:nvSpPr>
              <p:spPr>
                <a:xfrm>
                  <a:off x="3753954" y="3793555"/>
                  <a:ext cx="3053849" cy="369332"/>
                </a:xfrm>
                <a:prstGeom prst="rect">
                  <a:avLst/>
                </a:prstGeom>
                <a:blipFill>
                  <a:blip r:embed="rId12"/>
                  <a:stretch>
                    <a:fillRect l="-998" t="-1667" b="-33333"/>
                  </a:stretch>
                </a:blipFill>
              </p:spPr>
              <p:txBody>
                <a:bodyPr/>
                <a:lstStyle/>
                <a:p>
                  <a:r>
                    <a:rPr lang="en-SE">
                      <a:noFill/>
                    </a:rPr>
                    <a:t> </a:t>
                  </a:r>
                </a:p>
              </p:txBody>
            </p:sp>
          </mc:Fallback>
        </mc:AlternateContent>
      </p:grpSp>
      <p:sp>
        <p:nvSpPr>
          <p:cNvPr id="13" name="Rectangle 12">
            <a:extLst>
              <a:ext uri="{FF2B5EF4-FFF2-40B4-BE49-F238E27FC236}">
                <a16:creationId xmlns:a16="http://schemas.microsoft.com/office/drawing/2014/main" id="{E05CBB66-D1C1-1E81-92D1-CCB974D35A8A}"/>
              </a:ext>
            </a:extLst>
          </p:cNvPr>
          <p:cNvSpPr/>
          <p:nvPr/>
        </p:nvSpPr>
        <p:spPr>
          <a:xfrm>
            <a:off x="6161446" y="3355642"/>
            <a:ext cx="5602013" cy="1300322"/>
          </a:xfrm>
          <a:prstGeom prst="rect">
            <a:avLst/>
          </a:prstGeom>
          <a:solidFill>
            <a:schemeClr val="bg1">
              <a:lumMod val="95000"/>
            </a:schemeClr>
          </a:solidFill>
          <a:ln>
            <a:solidFill>
              <a:schemeClr val="tx1">
                <a:lumMod val="50000"/>
                <a:lumOff val="50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SE" dirty="0">
                <a:solidFill>
                  <a:schemeClr val="tx1"/>
                </a:solidFill>
                <a:latin typeface="Courier New" panose="02070309020205020404" pitchFamily="49" charset="0"/>
                <a:cs typeface="Courier New" panose="02070309020205020404" pitchFamily="49" charset="0"/>
              </a:rPr>
              <a:t>model &lt;- </a:t>
            </a:r>
            <a:r>
              <a:rPr lang="en-SE" dirty="0" err="1">
                <a:solidFill>
                  <a:schemeClr val="tx1"/>
                </a:solidFill>
                <a:latin typeface="Courier New" panose="02070309020205020404" pitchFamily="49" charset="0"/>
                <a:cs typeface="Courier New" panose="02070309020205020404" pitchFamily="49" charset="0"/>
              </a:rPr>
              <a:t>brm</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y ~ </a:t>
            </a:r>
            <a:r>
              <a:rPr lang="en-SE" dirty="0">
                <a:solidFill>
                  <a:schemeClr val="bg2">
                    <a:lumMod val="75000"/>
                  </a:schemeClr>
                </a:solidFill>
                <a:latin typeface="Courier New" panose="02070309020205020404" pitchFamily="49" charset="0"/>
                <a:cs typeface="Courier New" panose="02070309020205020404" pitchFamily="49" charset="0"/>
              </a:rPr>
              <a:t>1</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accent6"/>
                </a:solidFill>
                <a:latin typeface="Courier New" panose="02070309020205020404" pitchFamily="49" charset="0"/>
                <a:cs typeface="Courier New" panose="02070309020205020404" pitchFamily="49" charset="0"/>
              </a:rPr>
              <a:t>x</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accent6"/>
                </a:solidFill>
                <a:latin typeface="Courier New" panose="02070309020205020404" pitchFamily="49" charset="0"/>
                <a:cs typeface="Courier New" panose="02070309020205020404" pitchFamily="49" charset="0"/>
              </a:rPr>
              <a:t>z</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family = Gaussian</a:t>
            </a:r>
          </a:p>
          <a:p>
            <a:r>
              <a:rPr lang="en-SE" dirty="0">
                <a:solidFill>
                  <a:schemeClr val="tx1"/>
                </a:solidFill>
                <a:latin typeface="Courier New" panose="02070309020205020404" pitchFamily="49" charset="0"/>
                <a:cs typeface="Courier New" panose="02070309020205020404" pitchFamily="49" charset="0"/>
              </a:rPr>
              <a:t>)</a:t>
            </a:r>
          </a:p>
        </p:txBody>
      </p:sp>
      <p:grpSp>
        <p:nvGrpSpPr>
          <p:cNvPr id="22" name="Group 21">
            <a:extLst>
              <a:ext uri="{FF2B5EF4-FFF2-40B4-BE49-F238E27FC236}">
                <a16:creationId xmlns:a16="http://schemas.microsoft.com/office/drawing/2014/main" id="{F06F366B-A417-0FD0-6EBF-D67A01EDCAD5}"/>
              </a:ext>
            </a:extLst>
          </p:cNvPr>
          <p:cNvGrpSpPr/>
          <p:nvPr/>
        </p:nvGrpSpPr>
        <p:grpSpPr>
          <a:xfrm>
            <a:off x="2062921" y="5229381"/>
            <a:ext cx="1226712" cy="369332"/>
            <a:chOff x="6265928" y="4431440"/>
            <a:chExt cx="1226712" cy="369332"/>
          </a:xfrm>
        </p:grpSpPr>
        <p:pic>
          <p:nvPicPr>
            <p:cNvPr id="15" name="Graphic 14" descr="Trigonometry with solid fill">
              <a:extLst>
                <a:ext uri="{FF2B5EF4-FFF2-40B4-BE49-F238E27FC236}">
                  <a16:creationId xmlns:a16="http://schemas.microsoft.com/office/drawing/2014/main" id="{D9EAE2F3-042A-170D-8469-F53B7CB7AC9D}"/>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6265928" y="4436106"/>
              <a:ext cx="360000" cy="360000"/>
            </a:xfrm>
            <a:prstGeom prst="rect">
              <a:avLst/>
            </a:prstGeom>
          </p:spPr>
        </p:pic>
        <p:sp>
          <p:nvSpPr>
            <p:cNvPr id="20" name="TextBox 19">
              <a:extLst>
                <a:ext uri="{FF2B5EF4-FFF2-40B4-BE49-F238E27FC236}">
                  <a16:creationId xmlns:a16="http://schemas.microsoft.com/office/drawing/2014/main" id="{45D30B6A-F43C-BEB7-9767-3A522E0DA9D4}"/>
                </a:ext>
              </a:extLst>
            </p:cNvPr>
            <p:cNvSpPr txBox="1"/>
            <p:nvPr/>
          </p:nvSpPr>
          <p:spPr>
            <a:xfrm>
              <a:off x="6625928" y="4431440"/>
              <a:ext cx="866712" cy="369332"/>
            </a:xfrm>
            <a:prstGeom prst="rect">
              <a:avLst/>
            </a:prstGeom>
            <a:noFill/>
          </p:spPr>
          <p:txBody>
            <a:bodyPr wrap="none" rtlCol="0">
              <a:spAutoFit/>
            </a:bodyPr>
            <a:lstStyle/>
            <a:p>
              <a:r>
                <a:rPr lang="en-SE" b="1" dirty="0">
                  <a:solidFill>
                    <a:schemeClr val="accent6"/>
                  </a:solidFill>
                </a:rPr>
                <a:t>Terms</a:t>
              </a:r>
              <a:r>
                <a:rPr lang="en-SE" b="1" dirty="0"/>
                <a:t> </a:t>
              </a:r>
            </a:p>
          </p:txBody>
        </p:sp>
      </p:grpSp>
      <p:sp>
        <p:nvSpPr>
          <p:cNvPr id="14" name="Rectangle 13">
            <a:extLst>
              <a:ext uri="{FF2B5EF4-FFF2-40B4-BE49-F238E27FC236}">
                <a16:creationId xmlns:a16="http://schemas.microsoft.com/office/drawing/2014/main" id="{72256F35-064A-4878-9B65-ABBD825575AD}"/>
              </a:ext>
            </a:extLst>
          </p:cNvPr>
          <p:cNvSpPr/>
          <p:nvPr/>
        </p:nvSpPr>
        <p:spPr>
          <a:xfrm>
            <a:off x="6161446" y="2998170"/>
            <a:ext cx="5602013" cy="365125"/>
          </a:xfrm>
          <a:prstGeom prst="rect">
            <a:avLst/>
          </a:prstGeom>
          <a:solidFill>
            <a:schemeClr val="tx1">
              <a:lumMod val="65000"/>
              <a:lumOff val="3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E" dirty="0">
                <a:solidFill>
                  <a:schemeClr val="bg1"/>
                </a:solidFill>
                <a:latin typeface="Courier New" panose="02070309020205020404" pitchFamily="49" charset="0"/>
                <a:cs typeface="Courier New" panose="02070309020205020404" pitchFamily="49" charset="0"/>
              </a:rPr>
              <a:t>R 4.5.0 using library(brms)</a:t>
            </a:r>
          </a:p>
        </p:txBody>
      </p:sp>
      <p:pic>
        <p:nvPicPr>
          <p:cNvPr id="18" name="Graphic 17" descr="Robot with solid fill">
            <a:extLst>
              <a:ext uri="{FF2B5EF4-FFF2-40B4-BE49-F238E27FC236}">
                <a16:creationId xmlns:a16="http://schemas.microsoft.com/office/drawing/2014/main" id="{1556B0B7-20B6-5A5D-04A1-F663FBC6272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556210" y="3121675"/>
            <a:ext cx="360000" cy="360000"/>
          </a:xfrm>
          <a:prstGeom prst="rect">
            <a:avLst/>
          </a:prstGeom>
        </p:spPr>
      </p:pic>
    </p:spTree>
    <p:extLst>
      <p:ext uri="{BB962C8B-B14F-4D97-AF65-F5344CB8AC3E}">
        <p14:creationId xmlns:p14="http://schemas.microsoft.com/office/powerpoint/2010/main" val="42592306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D48FC-5056-FDA4-FA31-6AF33C5A1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A37252-A5F4-643C-1DE8-CFC7E7118279}"/>
              </a:ext>
            </a:extLst>
          </p:cNvPr>
          <p:cNvSpPr>
            <a:spLocks noGrp="1"/>
          </p:cNvSpPr>
          <p:nvPr>
            <p:ph type="title"/>
          </p:nvPr>
        </p:nvSpPr>
        <p:spPr/>
        <p:txBody>
          <a:bodyPr/>
          <a:lstStyle/>
          <a:p>
            <a:r>
              <a:rPr lang="en-SE" dirty="0"/>
              <a:t>Selecting Priors</a:t>
            </a:r>
          </a:p>
        </p:txBody>
      </p:sp>
      <p:sp>
        <p:nvSpPr>
          <p:cNvPr id="3" name="Content Placeholder 2">
            <a:extLst>
              <a:ext uri="{FF2B5EF4-FFF2-40B4-BE49-F238E27FC236}">
                <a16:creationId xmlns:a16="http://schemas.microsoft.com/office/drawing/2014/main" id="{4112A20C-6310-6DDD-DE12-F243D1741473}"/>
              </a:ext>
            </a:extLst>
          </p:cNvPr>
          <p:cNvSpPr>
            <a:spLocks noGrp="1"/>
          </p:cNvSpPr>
          <p:nvPr>
            <p:ph idx="1"/>
          </p:nvPr>
        </p:nvSpPr>
        <p:spPr>
          <a:xfrm>
            <a:off x="838200" y="1825625"/>
            <a:ext cx="10515600" cy="968375"/>
          </a:xfrm>
        </p:spPr>
        <p:txBody>
          <a:bodyPr/>
          <a:lstStyle/>
          <a:p>
            <a:pPr marL="0" indent="0">
              <a:buNone/>
            </a:pPr>
            <a:r>
              <a:rPr lang="en-SE" dirty="0"/>
              <a:t>Every intercept and path coefficient is a </a:t>
            </a:r>
            <a:r>
              <a:rPr lang="en-SE" b="1" dirty="0"/>
              <a:t>probability distribution</a:t>
            </a:r>
            <a:r>
              <a:rPr lang="en-SE" dirty="0"/>
              <a:t> that we need to initialize with domain knowledge.</a:t>
            </a:r>
          </a:p>
        </p:txBody>
      </p:sp>
      <p:sp>
        <p:nvSpPr>
          <p:cNvPr id="4" name="Date Placeholder 3">
            <a:extLst>
              <a:ext uri="{FF2B5EF4-FFF2-40B4-BE49-F238E27FC236}">
                <a16:creationId xmlns:a16="http://schemas.microsoft.com/office/drawing/2014/main" id="{E132B29C-6E9A-9796-3AEC-4D7B69AF093D}"/>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5B46D448-77D6-2AFF-309F-E98F43D3F532}"/>
              </a:ext>
            </a:extLst>
          </p:cNvPr>
          <p:cNvSpPr>
            <a:spLocks noGrp="1"/>
          </p:cNvSpPr>
          <p:nvPr>
            <p:ph type="sldNum" sz="quarter" idx="12"/>
          </p:nvPr>
        </p:nvSpPr>
        <p:spPr/>
        <p:txBody>
          <a:bodyPr/>
          <a:lstStyle/>
          <a:p>
            <a:fld id="{271ECC92-9CDE-4EB3-B1C5-F46B9E1FA3C1}" type="slidenum">
              <a:rPr lang="en-SE" smtClean="0"/>
              <a:t>45</a:t>
            </a:fld>
            <a:endParaRPr lang="en-SE"/>
          </a:p>
        </p:txBody>
      </p:sp>
      <p:sp>
        <p:nvSpPr>
          <p:cNvPr id="6" name="Footer Placeholder 5">
            <a:extLst>
              <a:ext uri="{FF2B5EF4-FFF2-40B4-BE49-F238E27FC236}">
                <a16:creationId xmlns:a16="http://schemas.microsoft.com/office/drawing/2014/main" id="{A14A8337-06A0-D5AD-6457-C68FFCDF200F}"/>
              </a:ext>
            </a:extLst>
          </p:cNvPr>
          <p:cNvSpPr>
            <a:spLocks noGrp="1"/>
          </p:cNvSpPr>
          <p:nvPr>
            <p:ph type="ftr" sz="quarter" idx="11"/>
          </p:nvPr>
        </p:nvSpPr>
        <p:spPr/>
        <p:txBody>
          <a:bodyPr/>
          <a:lstStyle/>
          <a:p>
            <a:r>
              <a:rPr lang="de-DE"/>
              <a:t>Bayesian Data Analysis Tutorial</a:t>
            </a:r>
            <a:endParaRPr lang="en-SE"/>
          </a:p>
        </p:txBody>
      </p:sp>
      <p:grpSp>
        <p:nvGrpSpPr>
          <p:cNvPr id="7" name="Group 6">
            <a:extLst>
              <a:ext uri="{FF2B5EF4-FFF2-40B4-BE49-F238E27FC236}">
                <a16:creationId xmlns:a16="http://schemas.microsoft.com/office/drawing/2014/main" id="{7B19DCF2-B7F5-ACE9-62FE-8D1778278629}"/>
              </a:ext>
            </a:extLst>
          </p:cNvPr>
          <p:cNvGrpSpPr/>
          <p:nvPr/>
        </p:nvGrpSpPr>
        <p:grpSpPr>
          <a:xfrm>
            <a:off x="203635" y="1825625"/>
            <a:ext cx="504000" cy="504000"/>
            <a:chOff x="977950" y="2729564"/>
            <a:chExt cx="504000" cy="504000"/>
          </a:xfrm>
        </p:grpSpPr>
        <p:sp>
          <p:nvSpPr>
            <p:cNvPr id="8" name="Oval 7">
              <a:extLst>
                <a:ext uri="{FF2B5EF4-FFF2-40B4-BE49-F238E27FC236}">
                  <a16:creationId xmlns:a16="http://schemas.microsoft.com/office/drawing/2014/main" id="{A0860289-7D5F-691E-CC03-DDE9643BE2B1}"/>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9" name="Graphic 8" descr="Golden Ratio with solid fill">
              <a:extLst>
                <a:ext uri="{FF2B5EF4-FFF2-40B4-BE49-F238E27FC236}">
                  <a16:creationId xmlns:a16="http://schemas.microsoft.com/office/drawing/2014/main" id="{2ABA5761-4719-12DA-649F-203A2323A3B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950" y="2783564"/>
              <a:ext cx="396000" cy="396000"/>
            </a:xfrm>
            <a:prstGeom prst="rect">
              <a:avLst/>
            </a:prstGeom>
          </p:spPr>
        </p:pic>
      </p:grpSp>
      <p:grpSp>
        <p:nvGrpSpPr>
          <p:cNvPr id="10" name="Group 9">
            <a:extLst>
              <a:ext uri="{FF2B5EF4-FFF2-40B4-BE49-F238E27FC236}">
                <a16:creationId xmlns:a16="http://schemas.microsoft.com/office/drawing/2014/main" id="{3D676AA9-3694-99CF-00EB-DF79DD578756}"/>
              </a:ext>
            </a:extLst>
          </p:cNvPr>
          <p:cNvGrpSpPr/>
          <p:nvPr/>
        </p:nvGrpSpPr>
        <p:grpSpPr>
          <a:xfrm>
            <a:off x="203635" y="2439322"/>
            <a:ext cx="504000" cy="504000"/>
            <a:chOff x="977950" y="2729564"/>
            <a:chExt cx="504000" cy="504000"/>
          </a:xfrm>
        </p:grpSpPr>
        <p:sp>
          <p:nvSpPr>
            <p:cNvPr id="11" name="Oval 10">
              <a:extLst>
                <a:ext uri="{FF2B5EF4-FFF2-40B4-BE49-F238E27FC236}">
                  <a16:creationId xmlns:a16="http://schemas.microsoft.com/office/drawing/2014/main" id="{6FF36D4C-9C3A-2E95-BDDA-ECD8F5743530}"/>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Normal Distribution with solid fill">
              <a:extLst>
                <a:ext uri="{FF2B5EF4-FFF2-40B4-BE49-F238E27FC236}">
                  <a16:creationId xmlns:a16="http://schemas.microsoft.com/office/drawing/2014/main" id="{7E61691A-4CE1-EEB8-62A6-1EA5506AA6E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grpSp>
        <p:nvGrpSpPr>
          <p:cNvPr id="13" name="Group 12">
            <a:extLst>
              <a:ext uri="{FF2B5EF4-FFF2-40B4-BE49-F238E27FC236}">
                <a16:creationId xmlns:a16="http://schemas.microsoft.com/office/drawing/2014/main" id="{494A8AB4-0C27-E351-5466-25467DFBE0B6}"/>
              </a:ext>
            </a:extLst>
          </p:cNvPr>
          <p:cNvGrpSpPr/>
          <p:nvPr/>
        </p:nvGrpSpPr>
        <p:grpSpPr>
          <a:xfrm>
            <a:off x="203635" y="3053019"/>
            <a:ext cx="504000" cy="504000"/>
            <a:chOff x="977950" y="2729564"/>
            <a:chExt cx="504000" cy="504000"/>
          </a:xfrm>
        </p:grpSpPr>
        <p:sp>
          <p:nvSpPr>
            <p:cNvPr id="14" name="Oval 13">
              <a:extLst>
                <a:ext uri="{FF2B5EF4-FFF2-40B4-BE49-F238E27FC236}">
                  <a16:creationId xmlns:a16="http://schemas.microsoft.com/office/drawing/2014/main" id="{08696D56-8515-664D-F1B4-7D096C37980B}"/>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Graphic 14" descr="Abacus with solid fill">
              <a:extLst>
                <a:ext uri="{FF2B5EF4-FFF2-40B4-BE49-F238E27FC236}">
                  <a16:creationId xmlns:a16="http://schemas.microsoft.com/office/drawing/2014/main" id="{8EC37E81-4488-21DA-4922-FC84082D2CE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17" name="Group 16">
            <a:extLst>
              <a:ext uri="{FF2B5EF4-FFF2-40B4-BE49-F238E27FC236}">
                <a16:creationId xmlns:a16="http://schemas.microsoft.com/office/drawing/2014/main" id="{502ED654-AFF7-D49B-2D24-F38FF61A7DA5}"/>
              </a:ext>
            </a:extLst>
          </p:cNvPr>
          <p:cNvGrpSpPr/>
          <p:nvPr/>
        </p:nvGrpSpPr>
        <p:grpSpPr>
          <a:xfrm>
            <a:off x="203635" y="3666716"/>
            <a:ext cx="504000" cy="504000"/>
            <a:chOff x="977950" y="2729564"/>
            <a:chExt cx="504000" cy="504000"/>
          </a:xfrm>
        </p:grpSpPr>
        <p:sp>
          <p:nvSpPr>
            <p:cNvPr id="20" name="Oval 19">
              <a:extLst>
                <a:ext uri="{FF2B5EF4-FFF2-40B4-BE49-F238E27FC236}">
                  <a16:creationId xmlns:a16="http://schemas.microsoft.com/office/drawing/2014/main" id="{4A70A0EE-FCDF-AFE9-82D3-0DF1D40CF72A}"/>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2" name="Graphic 21" descr="Trigonometry with solid fill">
              <a:extLst>
                <a:ext uri="{FF2B5EF4-FFF2-40B4-BE49-F238E27FC236}">
                  <a16:creationId xmlns:a16="http://schemas.microsoft.com/office/drawing/2014/main" id="{78746CDC-B7EE-0B8B-4615-F881F4628720}"/>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23" name="Group 22">
            <a:extLst>
              <a:ext uri="{FF2B5EF4-FFF2-40B4-BE49-F238E27FC236}">
                <a16:creationId xmlns:a16="http://schemas.microsoft.com/office/drawing/2014/main" id="{BF598831-BA0E-F08B-C68D-BA2607130C12}"/>
              </a:ext>
            </a:extLst>
          </p:cNvPr>
          <p:cNvGrpSpPr/>
          <p:nvPr/>
        </p:nvGrpSpPr>
        <p:grpSpPr>
          <a:xfrm>
            <a:off x="203635" y="4280414"/>
            <a:ext cx="504000" cy="504000"/>
            <a:chOff x="977950" y="2729564"/>
            <a:chExt cx="504000" cy="504000"/>
          </a:xfrm>
        </p:grpSpPr>
        <p:sp>
          <p:nvSpPr>
            <p:cNvPr id="24" name="Oval 23">
              <a:extLst>
                <a:ext uri="{FF2B5EF4-FFF2-40B4-BE49-F238E27FC236}">
                  <a16:creationId xmlns:a16="http://schemas.microsoft.com/office/drawing/2014/main" id="{4D52397F-4D07-C21C-014D-FA99F3A4B401}"/>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5" name="Graphic 24" descr="Scatterplot with solid fill">
              <a:extLst>
                <a:ext uri="{FF2B5EF4-FFF2-40B4-BE49-F238E27FC236}">
                  <a16:creationId xmlns:a16="http://schemas.microsoft.com/office/drawing/2014/main" id="{F0A5DD77-1556-AEEF-3CFA-78072922B5A7}"/>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cxnSp>
        <p:nvCxnSpPr>
          <p:cNvPr id="26" name="Straight Arrow Connector 25">
            <a:extLst>
              <a:ext uri="{FF2B5EF4-FFF2-40B4-BE49-F238E27FC236}">
                <a16:creationId xmlns:a16="http://schemas.microsoft.com/office/drawing/2014/main" id="{6C54033A-16E8-65FD-C3B5-2705A8FE7A15}"/>
              </a:ext>
            </a:extLst>
          </p:cNvPr>
          <p:cNvCxnSpPr>
            <a:cxnSpLocks/>
            <a:stCxn id="8" idx="4"/>
            <a:endCxn id="11"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B590B2FB-C23E-3028-6298-07E67121C888}"/>
              </a:ext>
            </a:extLst>
          </p:cNvPr>
          <p:cNvCxnSpPr>
            <a:cxnSpLocks/>
            <a:stCxn id="11" idx="4"/>
            <a:endCxn id="14"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518C0697-A03F-56D9-DCDC-D507A2459718}"/>
              </a:ext>
            </a:extLst>
          </p:cNvPr>
          <p:cNvCxnSpPr>
            <a:cxnSpLocks/>
            <a:stCxn id="14" idx="4"/>
            <a:endCxn id="20"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B051AACB-54B5-12A9-9165-C510A5E42E4A}"/>
              </a:ext>
            </a:extLst>
          </p:cNvPr>
          <p:cNvCxnSpPr>
            <a:cxnSpLocks/>
            <a:stCxn id="20" idx="4"/>
            <a:endCxn id="24"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Rectangle: Rounded Corners 34">
            <a:extLst>
              <a:ext uri="{FF2B5EF4-FFF2-40B4-BE49-F238E27FC236}">
                <a16:creationId xmlns:a16="http://schemas.microsoft.com/office/drawing/2014/main" id="{19761FB8-FA26-C03F-AA34-FF0FFF5E9A34}"/>
              </a:ext>
            </a:extLst>
          </p:cNvPr>
          <p:cNvSpPr/>
          <p:nvPr/>
        </p:nvSpPr>
        <p:spPr>
          <a:xfrm>
            <a:off x="3993931" y="2943322"/>
            <a:ext cx="4204138" cy="1657793"/>
          </a:xfrm>
          <a:prstGeom prst="roundRect">
            <a:avLst/>
          </a:prstGeom>
          <a:solidFill>
            <a:schemeClr val="accent5">
              <a:lumMod val="20000"/>
              <a:lumOff val="80000"/>
            </a:schemeClr>
          </a:solidFill>
          <a:ln>
            <a:solidFill>
              <a:schemeClr val="accent4">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SE" dirty="0">
                <a:solidFill>
                  <a:sysClr val="windowText" lastClr="000000"/>
                </a:solidFill>
              </a:rPr>
              <a:t>Bayesian Model</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33F70F3-2013-D3B0-4E91-98C19167A9B6}"/>
                  </a:ext>
                </a:extLst>
              </p:cNvPr>
              <p:cNvSpPr txBox="1"/>
              <p:nvPr/>
            </p:nvSpPr>
            <p:spPr>
              <a:xfrm>
                <a:off x="4464705" y="3545375"/>
                <a:ext cx="15610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𝑦</m:t>
                      </m:r>
                      <m:r>
                        <a:rPr lang="en-SE" sz="2400" b="0" i="1" smtClean="0">
                          <a:latin typeface="Cambria Math" panose="02040503050406030204" pitchFamily="18" charset="0"/>
                        </a:rPr>
                        <m:t> ~ </m:t>
                      </m:r>
                      <m:r>
                        <a:rPr lang="en-SE" sz="2400" b="0" i="1" smtClean="0">
                          <a:latin typeface="Cambria Math" panose="02040503050406030204" pitchFamily="18" charset="0"/>
                        </a:rPr>
                        <m:t>𝑁</m:t>
                      </m:r>
                      <m:r>
                        <a:rPr lang="en-SE" sz="2400" b="0" i="1" smtClean="0">
                          <a:latin typeface="Cambria Math" panose="02040503050406030204" pitchFamily="18" charset="0"/>
                        </a:rPr>
                        <m:t>(</m:t>
                      </m:r>
                      <m:r>
                        <a:rPr lang="en-SE" sz="2400" b="0" i="1" smtClean="0">
                          <a:latin typeface="Cambria Math" panose="02040503050406030204" pitchFamily="18" charset="0"/>
                        </a:rPr>
                        <m:t>𝜇</m:t>
                      </m:r>
                      <m:r>
                        <a:rPr lang="en-SE" sz="2400" b="0" i="1" smtClean="0">
                          <a:latin typeface="Cambria Math" panose="02040503050406030204" pitchFamily="18" charset="0"/>
                        </a:rPr>
                        <m:t>, </m:t>
                      </m:r>
                      <m:r>
                        <a:rPr lang="en-SE" sz="2400" b="1" i="1" smtClean="0">
                          <a:latin typeface="Cambria Math" panose="02040503050406030204" pitchFamily="18" charset="0"/>
                        </a:rPr>
                        <m:t>𝝈</m:t>
                      </m:r>
                      <m:r>
                        <a:rPr lang="en-SE" sz="2400" b="0" i="1" smtClean="0">
                          <a:latin typeface="Cambria Math" panose="02040503050406030204" pitchFamily="18" charset="0"/>
                        </a:rPr>
                        <m:t>)</m:t>
                      </m:r>
                    </m:oMath>
                  </m:oMathPara>
                </a14:m>
                <a:endParaRPr lang="en-SE" sz="2400" dirty="0"/>
              </a:p>
            </p:txBody>
          </p:sp>
        </mc:Choice>
        <mc:Fallback xmlns="">
          <p:sp>
            <p:nvSpPr>
              <p:cNvPr id="36" name="TextBox 35">
                <a:extLst>
                  <a:ext uri="{FF2B5EF4-FFF2-40B4-BE49-F238E27FC236}">
                    <a16:creationId xmlns:a16="http://schemas.microsoft.com/office/drawing/2014/main" id="{733F70F3-2013-D3B0-4E91-98C19167A9B6}"/>
                  </a:ext>
                </a:extLst>
              </p:cNvPr>
              <p:cNvSpPr txBox="1">
                <a:spLocks noRot="1" noChangeAspect="1" noMove="1" noResize="1" noEditPoints="1" noAdjustHandles="1" noChangeArrowheads="1" noChangeShapeType="1" noTextEdit="1"/>
              </p:cNvSpPr>
              <p:nvPr/>
            </p:nvSpPr>
            <p:spPr>
              <a:xfrm>
                <a:off x="4464705" y="3545375"/>
                <a:ext cx="1561005" cy="369332"/>
              </a:xfrm>
              <a:prstGeom prst="rect">
                <a:avLst/>
              </a:prstGeom>
              <a:blipFill>
                <a:blip r:embed="rId7"/>
                <a:stretch>
                  <a:fillRect l="-4688" t="-1667" r="-7422" b="-33333"/>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FA388D03-2809-AB50-ADF4-B503616DCF71}"/>
                  </a:ext>
                </a:extLst>
              </p:cNvPr>
              <p:cNvSpPr txBox="1"/>
              <p:nvPr/>
            </p:nvSpPr>
            <p:spPr>
              <a:xfrm>
                <a:off x="4370869" y="3942877"/>
                <a:ext cx="31599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𝜇</m:t>
                      </m:r>
                      <m:r>
                        <a:rPr lang="en-SE" sz="2400" b="0" i="1" smtClean="0">
                          <a:latin typeface="Cambria Math" panose="02040503050406030204" pitchFamily="18" charset="0"/>
                        </a:rPr>
                        <m:t>←</m:t>
                      </m:r>
                      <m:r>
                        <a:rPr lang="en-SE" sz="2400" b="1" i="1" smtClean="0">
                          <a:latin typeface="Cambria Math" panose="02040503050406030204" pitchFamily="18" charset="0"/>
                        </a:rPr>
                        <m:t>𝜶</m:t>
                      </m:r>
                      <m:r>
                        <a:rPr lang="en-SE" sz="2400" b="0" i="1" smtClean="0">
                          <a:latin typeface="Cambria Math" panose="02040503050406030204" pitchFamily="18" charset="0"/>
                        </a:rPr>
                        <m:t>+</m:t>
                      </m:r>
                      <m:sSub>
                        <m:sSubPr>
                          <m:ctrlPr>
                            <a:rPr lang="en-SE" sz="2400" b="1" i="1" smtClean="0">
                              <a:latin typeface="Cambria Math" panose="02040503050406030204" pitchFamily="18" charset="0"/>
                            </a:rPr>
                          </m:ctrlPr>
                        </m:sSubPr>
                        <m:e>
                          <m:r>
                            <a:rPr lang="en-SE" sz="2400" b="1" i="1" smtClean="0">
                              <a:latin typeface="Cambria Math" panose="02040503050406030204" pitchFamily="18" charset="0"/>
                            </a:rPr>
                            <m:t>𝜷</m:t>
                          </m:r>
                        </m:e>
                        <m:sub>
                          <m:r>
                            <a:rPr lang="en-SE" sz="2400" b="1" i="1" smtClean="0">
                              <a:latin typeface="Cambria Math" panose="02040503050406030204" pitchFamily="18" charset="0"/>
                            </a:rPr>
                            <m:t>𝒙</m:t>
                          </m:r>
                        </m:sub>
                      </m:sSub>
                      <m:r>
                        <a:rPr lang="en-SE" sz="2400" b="0" i="1" smtClean="0">
                          <a:latin typeface="Cambria Math" panose="02040503050406030204" pitchFamily="18" charset="0"/>
                        </a:rPr>
                        <m:t>⋅</m:t>
                      </m:r>
                      <m:r>
                        <a:rPr lang="en-SE" sz="2400" b="0" i="1" smtClean="0">
                          <a:latin typeface="Cambria Math" panose="02040503050406030204" pitchFamily="18" charset="0"/>
                        </a:rPr>
                        <m:t>𝑥</m:t>
                      </m:r>
                      <m:r>
                        <a:rPr lang="en-SE" sz="2400" b="0" i="1" smtClean="0">
                          <a:latin typeface="Cambria Math" panose="02040503050406030204" pitchFamily="18" charset="0"/>
                        </a:rPr>
                        <m:t>+</m:t>
                      </m:r>
                      <m:sSub>
                        <m:sSubPr>
                          <m:ctrlPr>
                            <a:rPr lang="en-SE" sz="2400" b="1" i="1" smtClean="0">
                              <a:latin typeface="Cambria Math" panose="02040503050406030204" pitchFamily="18" charset="0"/>
                            </a:rPr>
                          </m:ctrlPr>
                        </m:sSubPr>
                        <m:e>
                          <m:r>
                            <a:rPr lang="en-SE" sz="2400" b="1" i="1" smtClean="0">
                              <a:latin typeface="Cambria Math" panose="02040503050406030204" pitchFamily="18" charset="0"/>
                            </a:rPr>
                            <m:t>𝜷</m:t>
                          </m:r>
                        </m:e>
                        <m:sub>
                          <m:r>
                            <a:rPr lang="en-SE" sz="2400" b="1" i="1" smtClean="0">
                              <a:latin typeface="Cambria Math" panose="02040503050406030204" pitchFamily="18" charset="0"/>
                            </a:rPr>
                            <m:t>𝒛</m:t>
                          </m:r>
                        </m:sub>
                      </m:sSub>
                      <m:r>
                        <a:rPr lang="en-SE" sz="2400" b="0" i="1" smtClean="0">
                          <a:latin typeface="Cambria Math" panose="02040503050406030204" pitchFamily="18" charset="0"/>
                        </a:rPr>
                        <m:t>⋅</m:t>
                      </m:r>
                      <m:r>
                        <a:rPr lang="en-SE" sz="2400" b="0" i="1" smtClean="0">
                          <a:latin typeface="Cambria Math" panose="02040503050406030204" pitchFamily="18" charset="0"/>
                        </a:rPr>
                        <m:t>𝑧</m:t>
                      </m:r>
                    </m:oMath>
                  </m:oMathPara>
                </a14:m>
                <a:endParaRPr lang="en-SE" sz="2400" dirty="0"/>
              </a:p>
            </p:txBody>
          </p:sp>
        </mc:Choice>
        <mc:Fallback>
          <p:sp>
            <p:nvSpPr>
              <p:cNvPr id="37" name="TextBox 36">
                <a:extLst>
                  <a:ext uri="{FF2B5EF4-FFF2-40B4-BE49-F238E27FC236}">
                    <a16:creationId xmlns:a16="http://schemas.microsoft.com/office/drawing/2014/main" id="{FA388D03-2809-AB50-ADF4-B503616DCF71}"/>
                  </a:ext>
                </a:extLst>
              </p:cNvPr>
              <p:cNvSpPr txBox="1">
                <a:spLocks noRot="1" noChangeAspect="1" noMove="1" noResize="1" noEditPoints="1" noAdjustHandles="1" noChangeArrowheads="1" noChangeShapeType="1" noTextEdit="1"/>
              </p:cNvSpPr>
              <p:nvPr/>
            </p:nvSpPr>
            <p:spPr>
              <a:xfrm>
                <a:off x="4370869" y="3942877"/>
                <a:ext cx="3159904" cy="369332"/>
              </a:xfrm>
              <a:prstGeom prst="rect">
                <a:avLst/>
              </a:prstGeom>
              <a:blipFill>
                <a:blip r:embed="rId8"/>
                <a:stretch>
                  <a:fillRect l="-386" t="-1667" b="-33333"/>
                </a:stretch>
              </a:blipFill>
            </p:spPr>
            <p:txBody>
              <a:bodyPr/>
              <a:lstStyle/>
              <a:p>
                <a:r>
                  <a:rPr lang="en-SE">
                    <a:noFill/>
                  </a:rPr>
                  <a:t> </a:t>
                </a:r>
              </a:p>
            </p:txBody>
          </p:sp>
        </mc:Fallback>
      </mc:AlternateContent>
      <p:pic>
        <p:nvPicPr>
          <p:cNvPr id="18" name="Graphic 17" descr="Robot with solid fill">
            <a:extLst>
              <a:ext uri="{FF2B5EF4-FFF2-40B4-BE49-F238E27FC236}">
                <a16:creationId xmlns:a16="http://schemas.microsoft.com/office/drawing/2014/main" id="{0F1D8A8F-4333-F932-DACB-5D66799170A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225594" y="3064349"/>
            <a:ext cx="360000" cy="360000"/>
          </a:xfrm>
          <a:prstGeom prst="rect">
            <a:avLst/>
          </a:prstGeom>
        </p:spPr>
      </p:pic>
    </p:spTree>
    <p:extLst>
      <p:ext uri="{BB962C8B-B14F-4D97-AF65-F5344CB8AC3E}">
        <p14:creationId xmlns:p14="http://schemas.microsoft.com/office/powerpoint/2010/main" val="2262435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516D3-CED4-4353-62D4-34E8BBB4304D}"/>
            </a:ext>
          </a:extLst>
        </p:cNvPr>
        <p:cNvGrpSpPr/>
        <p:nvPr/>
      </p:nvGrpSpPr>
      <p:grpSpPr>
        <a:xfrm>
          <a:off x="0" y="0"/>
          <a:ext cx="0" cy="0"/>
          <a:chOff x="0" y="0"/>
          <a:chExt cx="0" cy="0"/>
        </a:xfrm>
      </p:grpSpPr>
      <p:pic>
        <p:nvPicPr>
          <p:cNvPr id="78" name="Picture 77">
            <a:extLst>
              <a:ext uri="{FF2B5EF4-FFF2-40B4-BE49-F238E27FC236}">
                <a16:creationId xmlns:a16="http://schemas.microsoft.com/office/drawing/2014/main" id="{34B881E3-165A-D4F2-DE53-F9B452101C4C}"/>
              </a:ext>
            </a:extLst>
          </p:cNvPr>
          <p:cNvPicPr>
            <a:picLocks noChangeAspect="1"/>
          </p:cNvPicPr>
          <p:nvPr/>
        </p:nvPicPr>
        <p:blipFill>
          <a:blip r:embed="rId2"/>
          <a:stretch>
            <a:fillRect/>
          </a:stretch>
        </p:blipFill>
        <p:spPr>
          <a:xfrm>
            <a:off x="8507991" y="4368593"/>
            <a:ext cx="2865368" cy="1607959"/>
          </a:xfrm>
          <a:prstGeom prst="rect">
            <a:avLst/>
          </a:prstGeom>
        </p:spPr>
      </p:pic>
      <p:sp>
        <p:nvSpPr>
          <p:cNvPr id="2" name="Title 1">
            <a:extLst>
              <a:ext uri="{FF2B5EF4-FFF2-40B4-BE49-F238E27FC236}">
                <a16:creationId xmlns:a16="http://schemas.microsoft.com/office/drawing/2014/main" id="{DC7A01C4-3A87-ED82-B942-28A4E6D538D5}"/>
              </a:ext>
            </a:extLst>
          </p:cNvPr>
          <p:cNvSpPr>
            <a:spLocks noGrp="1"/>
          </p:cNvSpPr>
          <p:nvPr>
            <p:ph type="title"/>
          </p:nvPr>
        </p:nvSpPr>
        <p:spPr/>
        <p:txBody>
          <a:bodyPr/>
          <a:lstStyle/>
          <a:p>
            <a:r>
              <a:rPr lang="en-SE" dirty="0"/>
              <a:t>Selecting Priors</a:t>
            </a:r>
          </a:p>
        </p:txBody>
      </p:sp>
      <p:sp>
        <p:nvSpPr>
          <p:cNvPr id="3" name="Content Placeholder 2">
            <a:extLst>
              <a:ext uri="{FF2B5EF4-FFF2-40B4-BE49-F238E27FC236}">
                <a16:creationId xmlns:a16="http://schemas.microsoft.com/office/drawing/2014/main" id="{5693E55E-04B7-9F7B-603C-87A443A2E2A7}"/>
              </a:ext>
            </a:extLst>
          </p:cNvPr>
          <p:cNvSpPr>
            <a:spLocks noGrp="1"/>
          </p:cNvSpPr>
          <p:nvPr>
            <p:ph idx="1"/>
          </p:nvPr>
        </p:nvSpPr>
        <p:spPr>
          <a:xfrm>
            <a:off x="838200" y="1825625"/>
            <a:ext cx="10515600" cy="968375"/>
          </a:xfrm>
        </p:spPr>
        <p:txBody>
          <a:bodyPr/>
          <a:lstStyle/>
          <a:p>
            <a:pPr marL="0" indent="0">
              <a:buNone/>
            </a:pPr>
            <a:r>
              <a:rPr lang="en-SE" dirty="0"/>
              <a:t>Every intercept and path coefficient is a </a:t>
            </a:r>
            <a:r>
              <a:rPr lang="en-SE" b="1" dirty="0"/>
              <a:t>probability distribution</a:t>
            </a:r>
            <a:r>
              <a:rPr lang="en-SE" dirty="0"/>
              <a:t> that we need to initialize with domain knowledge.</a:t>
            </a:r>
          </a:p>
        </p:txBody>
      </p:sp>
      <p:sp>
        <p:nvSpPr>
          <p:cNvPr id="4" name="Date Placeholder 3">
            <a:extLst>
              <a:ext uri="{FF2B5EF4-FFF2-40B4-BE49-F238E27FC236}">
                <a16:creationId xmlns:a16="http://schemas.microsoft.com/office/drawing/2014/main" id="{FC31A6B3-3F93-0EC0-075E-9FB9D073538B}"/>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AC4596FD-9554-3D8B-1361-050D51526E52}"/>
              </a:ext>
            </a:extLst>
          </p:cNvPr>
          <p:cNvSpPr>
            <a:spLocks noGrp="1"/>
          </p:cNvSpPr>
          <p:nvPr>
            <p:ph type="sldNum" sz="quarter" idx="12"/>
          </p:nvPr>
        </p:nvSpPr>
        <p:spPr/>
        <p:txBody>
          <a:bodyPr/>
          <a:lstStyle/>
          <a:p>
            <a:fld id="{271ECC92-9CDE-4EB3-B1C5-F46B9E1FA3C1}" type="slidenum">
              <a:rPr lang="en-SE" smtClean="0"/>
              <a:t>46</a:t>
            </a:fld>
            <a:endParaRPr lang="en-SE"/>
          </a:p>
        </p:txBody>
      </p:sp>
      <p:sp>
        <p:nvSpPr>
          <p:cNvPr id="6" name="Footer Placeholder 5">
            <a:extLst>
              <a:ext uri="{FF2B5EF4-FFF2-40B4-BE49-F238E27FC236}">
                <a16:creationId xmlns:a16="http://schemas.microsoft.com/office/drawing/2014/main" id="{6CA63757-DF70-4CD1-7538-FE0DBE55472B}"/>
              </a:ext>
            </a:extLst>
          </p:cNvPr>
          <p:cNvSpPr>
            <a:spLocks noGrp="1"/>
          </p:cNvSpPr>
          <p:nvPr>
            <p:ph type="ftr" sz="quarter" idx="11"/>
          </p:nvPr>
        </p:nvSpPr>
        <p:spPr/>
        <p:txBody>
          <a:bodyPr/>
          <a:lstStyle/>
          <a:p>
            <a:r>
              <a:rPr lang="de-DE"/>
              <a:t>Bayesian Data Analysis Tutorial</a:t>
            </a:r>
            <a:endParaRPr lang="en-SE"/>
          </a:p>
        </p:txBody>
      </p:sp>
      <p:sp>
        <p:nvSpPr>
          <p:cNvPr id="31" name="Rectangle: Rounded Corners 30">
            <a:extLst>
              <a:ext uri="{FF2B5EF4-FFF2-40B4-BE49-F238E27FC236}">
                <a16:creationId xmlns:a16="http://schemas.microsoft.com/office/drawing/2014/main" id="{70A4AADE-95E5-39AE-B425-9860D5BF86E0}"/>
              </a:ext>
            </a:extLst>
          </p:cNvPr>
          <p:cNvSpPr/>
          <p:nvPr/>
        </p:nvSpPr>
        <p:spPr>
          <a:xfrm>
            <a:off x="3993931" y="2943322"/>
            <a:ext cx="4204138" cy="3266978"/>
          </a:xfrm>
          <a:prstGeom prst="roundRect">
            <a:avLst>
              <a:gd name="adj" fmla="val 10544"/>
            </a:avLst>
          </a:prstGeom>
          <a:solidFill>
            <a:schemeClr val="accent5">
              <a:lumMod val="20000"/>
              <a:lumOff val="80000"/>
            </a:schemeClr>
          </a:solidFill>
          <a:ln>
            <a:solidFill>
              <a:schemeClr val="accent4">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SE" dirty="0">
                <a:solidFill>
                  <a:sysClr val="windowText" lastClr="000000"/>
                </a:solidFill>
              </a:rPr>
              <a:t>Bayesian Model</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BB7C671-8D8C-E274-EED4-45B410566AE7}"/>
                  </a:ext>
                </a:extLst>
              </p:cNvPr>
              <p:cNvSpPr txBox="1"/>
              <p:nvPr/>
            </p:nvSpPr>
            <p:spPr>
              <a:xfrm>
                <a:off x="4464705" y="3545375"/>
                <a:ext cx="15610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𝑦</m:t>
                      </m:r>
                      <m:r>
                        <a:rPr lang="en-SE" sz="2400" b="0" i="1" smtClean="0">
                          <a:latin typeface="Cambria Math" panose="02040503050406030204" pitchFamily="18" charset="0"/>
                        </a:rPr>
                        <m:t> ~ </m:t>
                      </m:r>
                      <m:r>
                        <a:rPr lang="en-SE" sz="2400" b="0" i="1" smtClean="0">
                          <a:latin typeface="Cambria Math" panose="02040503050406030204" pitchFamily="18" charset="0"/>
                        </a:rPr>
                        <m:t>𝑁</m:t>
                      </m:r>
                      <m:r>
                        <a:rPr lang="en-SE" sz="2400" b="0" i="1" smtClean="0">
                          <a:latin typeface="Cambria Math" panose="02040503050406030204" pitchFamily="18" charset="0"/>
                        </a:rPr>
                        <m:t>(</m:t>
                      </m:r>
                      <m:r>
                        <a:rPr lang="en-SE" sz="2400" b="0" i="1" smtClean="0">
                          <a:latin typeface="Cambria Math" panose="02040503050406030204" pitchFamily="18" charset="0"/>
                        </a:rPr>
                        <m:t>𝜇</m:t>
                      </m:r>
                      <m:r>
                        <a:rPr lang="en-SE" sz="2400" b="0" i="1" smtClean="0">
                          <a:latin typeface="Cambria Math" panose="02040503050406030204" pitchFamily="18" charset="0"/>
                        </a:rPr>
                        <m:t>, </m:t>
                      </m:r>
                      <m:r>
                        <a:rPr lang="en-SE" sz="2400" b="0" i="1" smtClean="0">
                          <a:latin typeface="Cambria Math" panose="02040503050406030204" pitchFamily="18" charset="0"/>
                        </a:rPr>
                        <m:t>𝜎</m:t>
                      </m:r>
                      <m:r>
                        <a:rPr lang="en-SE" sz="2400" b="0" i="1" smtClean="0">
                          <a:latin typeface="Cambria Math" panose="02040503050406030204" pitchFamily="18" charset="0"/>
                        </a:rPr>
                        <m:t>)</m:t>
                      </m:r>
                    </m:oMath>
                  </m:oMathPara>
                </a14:m>
                <a:endParaRPr lang="en-SE" sz="2400" dirty="0"/>
              </a:p>
            </p:txBody>
          </p:sp>
        </mc:Choice>
        <mc:Fallback xmlns="">
          <p:sp>
            <p:nvSpPr>
              <p:cNvPr id="33" name="TextBox 32">
                <a:extLst>
                  <a:ext uri="{FF2B5EF4-FFF2-40B4-BE49-F238E27FC236}">
                    <a16:creationId xmlns:a16="http://schemas.microsoft.com/office/drawing/2014/main" id="{6BB7C671-8D8C-E274-EED4-45B410566AE7}"/>
                  </a:ext>
                </a:extLst>
              </p:cNvPr>
              <p:cNvSpPr txBox="1">
                <a:spLocks noRot="1" noChangeAspect="1" noMove="1" noResize="1" noEditPoints="1" noAdjustHandles="1" noChangeArrowheads="1" noChangeShapeType="1" noTextEdit="1"/>
              </p:cNvSpPr>
              <p:nvPr/>
            </p:nvSpPr>
            <p:spPr>
              <a:xfrm>
                <a:off x="4464705" y="3545375"/>
                <a:ext cx="1561005" cy="369332"/>
              </a:xfrm>
              <a:prstGeom prst="rect">
                <a:avLst/>
              </a:prstGeom>
              <a:blipFill>
                <a:blip r:embed="rId3"/>
                <a:stretch>
                  <a:fillRect l="-4688" t="-1667" r="-7031" b="-33333"/>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7073FE7D-9D55-6987-C51A-84ABD8D3B54D}"/>
                  </a:ext>
                </a:extLst>
              </p:cNvPr>
              <p:cNvSpPr txBox="1"/>
              <p:nvPr/>
            </p:nvSpPr>
            <p:spPr>
              <a:xfrm>
                <a:off x="4415119" y="3942877"/>
                <a:ext cx="30432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𝜇</m:t>
                      </m:r>
                      <m:r>
                        <a:rPr lang="en-SE" sz="2400" b="0" i="1" smtClean="0">
                          <a:latin typeface="Cambria Math" panose="02040503050406030204" pitchFamily="18" charset="0"/>
                        </a:rPr>
                        <m:t>←</m:t>
                      </m:r>
                      <m:r>
                        <a:rPr lang="en-SE" sz="2400" b="0" i="1" smtClean="0">
                          <a:latin typeface="Cambria Math" panose="02040503050406030204" pitchFamily="18" charset="0"/>
                        </a:rPr>
                        <m:t>𝛼</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𝑥</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𝑧</m:t>
                      </m:r>
                    </m:oMath>
                  </m:oMathPara>
                </a14:m>
                <a:endParaRPr lang="en-SE" sz="2400" dirty="0"/>
              </a:p>
            </p:txBody>
          </p:sp>
        </mc:Choice>
        <mc:Fallback>
          <p:sp>
            <p:nvSpPr>
              <p:cNvPr id="35" name="TextBox 34">
                <a:extLst>
                  <a:ext uri="{FF2B5EF4-FFF2-40B4-BE49-F238E27FC236}">
                    <a16:creationId xmlns:a16="http://schemas.microsoft.com/office/drawing/2014/main" id="{7073FE7D-9D55-6987-C51A-84ABD8D3B54D}"/>
                  </a:ext>
                </a:extLst>
              </p:cNvPr>
              <p:cNvSpPr txBox="1">
                <a:spLocks noRot="1" noChangeAspect="1" noMove="1" noResize="1" noEditPoints="1" noAdjustHandles="1" noChangeArrowheads="1" noChangeShapeType="1" noTextEdit="1"/>
              </p:cNvSpPr>
              <p:nvPr/>
            </p:nvSpPr>
            <p:spPr>
              <a:xfrm>
                <a:off x="4415119" y="3942877"/>
                <a:ext cx="3043205" cy="369332"/>
              </a:xfrm>
              <a:prstGeom prst="rect">
                <a:avLst/>
              </a:prstGeom>
              <a:blipFill>
                <a:blip r:embed="rId4"/>
                <a:stretch>
                  <a:fillRect l="-1002" t="-1667" b="-33333"/>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D82269A-BF9C-A5B6-BB88-31078E39A0C1}"/>
                  </a:ext>
                </a:extLst>
              </p:cNvPr>
              <p:cNvSpPr txBox="1"/>
              <p:nvPr/>
            </p:nvSpPr>
            <p:spPr>
              <a:xfrm>
                <a:off x="4435338" y="4361082"/>
                <a:ext cx="159037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𝛼</m:t>
                      </m:r>
                      <m:r>
                        <a:rPr lang="en-SE" sz="2400" b="0" i="1" smtClean="0">
                          <a:latin typeface="Cambria Math" panose="02040503050406030204" pitchFamily="18" charset="0"/>
                        </a:rPr>
                        <m:t>∼</m:t>
                      </m:r>
                      <m:r>
                        <a:rPr lang="en-SE" sz="2400" b="0" i="1" smtClean="0">
                          <a:latin typeface="Cambria Math" panose="02040503050406030204" pitchFamily="18" charset="0"/>
                        </a:rPr>
                        <m:t>𝑁</m:t>
                      </m:r>
                      <m:r>
                        <a:rPr lang="en-SE" sz="2400" b="0" i="1" smtClean="0">
                          <a:latin typeface="Cambria Math" panose="02040503050406030204" pitchFamily="18" charset="0"/>
                        </a:rPr>
                        <m:t>(3, 1)</m:t>
                      </m:r>
                    </m:oMath>
                  </m:oMathPara>
                </a14:m>
                <a:endParaRPr lang="en-SE" sz="2400" dirty="0"/>
              </a:p>
            </p:txBody>
          </p:sp>
        </mc:Choice>
        <mc:Fallback xmlns="">
          <p:sp>
            <p:nvSpPr>
              <p:cNvPr id="37" name="TextBox 36">
                <a:extLst>
                  <a:ext uri="{FF2B5EF4-FFF2-40B4-BE49-F238E27FC236}">
                    <a16:creationId xmlns:a16="http://schemas.microsoft.com/office/drawing/2014/main" id="{5D82269A-BF9C-A5B6-BB88-31078E39A0C1}"/>
                  </a:ext>
                </a:extLst>
              </p:cNvPr>
              <p:cNvSpPr txBox="1">
                <a:spLocks noRot="1" noChangeAspect="1" noMove="1" noResize="1" noEditPoints="1" noAdjustHandles="1" noChangeArrowheads="1" noChangeShapeType="1" noTextEdit="1"/>
              </p:cNvSpPr>
              <p:nvPr/>
            </p:nvSpPr>
            <p:spPr>
              <a:xfrm>
                <a:off x="4435338" y="4361082"/>
                <a:ext cx="1590372" cy="369332"/>
              </a:xfrm>
              <a:prstGeom prst="rect">
                <a:avLst/>
              </a:prstGeom>
              <a:blipFill>
                <a:blip r:embed="rId5"/>
                <a:stretch>
                  <a:fillRect l="-2692" t="-1639" r="-6923" b="-3278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61E4C22B-93BE-2F9A-97AF-3ECF1086EB61}"/>
                  </a:ext>
                </a:extLst>
              </p:cNvPr>
              <p:cNvSpPr txBox="1"/>
              <p:nvPr/>
            </p:nvSpPr>
            <p:spPr>
              <a:xfrm>
                <a:off x="4289885" y="4803241"/>
                <a:ext cx="2015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sz="2400" b="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𝑁</m:t>
                      </m:r>
                      <m:r>
                        <a:rPr lang="en-SE" sz="2400" b="0" i="1" smtClean="0">
                          <a:latin typeface="Cambria Math" panose="02040503050406030204" pitchFamily="18" charset="0"/>
                        </a:rPr>
                        <m:t>(0, 0.5)</m:t>
                      </m:r>
                    </m:oMath>
                  </m:oMathPara>
                </a14:m>
                <a:endParaRPr lang="en-SE" sz="2400" dirty="0"/>
              </a:p>
            </p:txBody>
          </p:sp>
        </mc:Choice>
        <mc:Fallback>
          <p:sp>
            <p:nvSpPr>
              <p:cNvPr id="39" name="TextBox 38">
                <a:extLst>
                  <a:ext uri="{FF2B5EF4-FFF2-40B4-BE49-F238E27FC236}">
                    <a16:creationId xmlns:a16="http://schemas.microsoft.com/office/drawing/2014/main" id="{61E4C22B-93BE-2F9A-97AF-3ECF1086EB61}"/>
                  </a:ext>
                </a:extLst>
              </p:cNvPr>
              <p:cNvSpPr txBox="1">
                <a:spLocks noRot="1" noChangeAspect="1" noMove="1" noResize="1" noEditPoints="1" noAdjustHandles="1" noChangeArrowheads="1" noChangeShapeType="1" noTextEdit="1"/>
              </p:cNvSpPr>
              <p:nvPr/>
            </p:nvSpPr>
            <p:spPr>
              <a:xfrm>
                <a:off x="4289885" y="4803241"/>
                <a:ext cx="2015103" cy="369332"/>
              </a:xfrm>
              <a:prstGeom prst="rect">
                <a:avLst/>
              </a:prstGeom>
              <a:blipFill>
                <a:blip r:embed="rId6"/>
                <a:stretch>
                  <a:fillRect l="-3636" t="-1639" r="-3636" b="-31148"/>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DFE22C00-AAFA-9E68-BD19-E1FDB2978783}"/>
                  </a:ext>
                </a:extLst>
              </p:cNvPr>
              <p:cNvSpPr txBox="1"/>
              <p:nvPr/>
            </p:nvSpPr>
            <p:spPr>
              <a:xfrm>
                <a:off x="4317509" y="5233423"/>
                <a:ext cx="193187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sz="2400" b="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𝑁</m:t>
                      </m:r>
                      <m:r>
                        <a:rPr lang="en-SE" sz="2400" b="0" i="1" smtClean="0">
                          <a:latin typeface="Cambria Math" panose="02040503050406030204" pitchFamily="18" charset="0"/>
                        </a:rPr>
                        <m:t>(0, 0.5)</m:t>
                      </m:r>
                    </m:oMath>
                  </m:oMathPara>
                </a14:m>
                <a:endParaRPr lang="en-SE" sz="2400" dirty="0"/>
              </a:p>
            </p:txBody>
          </p:sp>
        </mc:Choice>
        <mc:Fallback>
          <p:sp>
            <p:nvSpPr>
              <p:cNvPr id="41" name="TextBox 40">
                <a:extLst>
                  <a:ext uri="{FF2B5EF4-FFF2-40B4-BE49-F238E27FC236}">
                    <a16:creationId xmlns:a16="http://schemas.microsoft.com/office/drawing/2014/main" id="{DFE22C00-AAFA-9E68-BD19-E1FDB2978783}"/>
                  </a:ext>
                </a:extLst>
              </p:cNvPr>
              <p:cNvSpPr txBox="1">
                <a:spLocks noRot="1" noChangeAspect="1" noMove="1" noResize="1" noEditPoints="1" noAdjustHandles="1" noChangeArrowheads="1" noChangeShapeType="1" noTextEdit="1"/>
              </p:cNvSpPr>
              <p:nvPr/>
            </p:nvSpPr>
            <p:spPr>
              <a:xfrm>
                <a:off x="4317509" y="5233423"/>
                <a:ext cx="1931875" cy="369332"/>
              </a:xfrm>
              <a:prstGeom prst="rect">
                <a:avLst/>
              </a:prstGeom>
              <a:blipFill>
                <a:blip r:embed="rId7"/>
                <a:stretch>
                  <a:fillRect l="-5363" t="-1667" r="-5678" b="-33333"/>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10D4E651-9ED9-8CE2-7BA4-6A8812E04F47}"/>
                  </a:ext>
                </a:extLst>
              </p:cNvPr>
              <p:cNvSpPr txBox="1"/>
              <p:nvPr/>
            </p:nvSpPr>
            <p:spPr>
              <a:xfrm>
                <a:off x="4434059" y="5633180"/>
                <a:ext cx="15576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𝜎</m:t>
                      </m:r>
                      <m:r>
                        <a:rPr lang="en-SE" sz="2400" b="0" i="1" smtClean="0">
                          <a:latin typeface="Cambria Math" panose="02040503050406030204" pitchFamily="18" charset="0"/>
                        </a:rPr>
                        <m:t>∼</m:t>
                      </m:r>
                      <m:r>
                        <a:rPr lang="en-SE" sz="2400" b="0" i="1" smtClean="0">
                          <a:latin typeface="Cambria Math" panose="02040503050406030204" pitchFamily="18" charset="0"/>
                        </a:rPr>
                        <m:t>𝑒𝑥𝑝</m:t>
                      </m:r>
                      <m:r>
                        <a:rPr lang="en-SE" sz="2400" b="0" i="1" smtClean="0">
                          <a:latin typeface="Cambria Math" panose="02040503050406030204" pitchFamily="18" charset="0"/>
                        </a:rPr>
                        <m:t>(1)</m:t>
                      </m:r>
                    </m:oMath>
                  </m:oMathPara>
                </a14:m>
                <a:endParaRPr lang="en-SE" sz="2400" dirty="0"/>
              </a:p>
            </p:txBody>
          </p:sp>
        </mc:Choice>
        <mc:Fallback>
          <p:sp>
            <p:nvSpPr>
              <p:cNvPr id="43" name="TextBox 42">
                <a:extLst>
                  <a:ext uri="{FF2B5EF4-FFF2-40B4-BE49-F238E27FC236}">
                    <a16:creationId xmlns:a16="http://schemas.microsoft.com/office/drawing/2014/main" id="{10D4E651-9ED9-8CE2-7BA4-6A8812E04F47}"/>
                  </a:ext>
                </a:extLst>
              </p:cNvPr>
              <p:cNvSpPr txBox="1">
                <a:spLocks noRot="1" noChangeAspect="1" noMove="1" noResize="1" noEditPoints="1" noAdjustHandles="1" noChangeArrowheads="1" noChangeShapeType="1" noTextEdit="1"/>
              </p:cNvSpPr>
              <p:nvPr/>
            </p:nvSpPr>
            <p:spPr>
              <a:xfrm>
                <a:off x="4434059" y="5633180"/>
                <a:ext cx="1557606" cy="369332"/>
              </a:xfrm>
              <a:prstGeom prst="rect">
                <a:avLst/>
              </a:prstGeom>
              <a:blipFill>
                <a:blip r:embed="rId8"/>
                <a:stretch>
                  <a:fillRect l="-2344" t="-1639" r="-7031" b="-32787"/>
                </a:stretch>
              </a:blipFill>
            </p:spPr>
            <p:txBody>
              <a:bodyPr/>
              <a:lstStyle/>
              <a:p>
                <a:r>
                  <a:rPr lang="en-SE">
                    <a:noFill/>
                  </a:rPr>
                  <a:t> </a:t>
                </a:r>
              </a:p>
            </p:txBody>
          </p:sp>
        </mc:Fallback>
      </mc:AlternateContent>
      <p:grpSp>
        <p:nvGrpSpPr>
          <p:cNvPr id="44" name="Group 43">
            <a:extLst>
              <a:ext uri="{FF2B5EF4-FFF2-40B4-BE49-F238E27FC236}">
                <a16:creationId xmlns:a16="http://schemas.microsoft.com/office/drawing/2014/main" id="{C8DA3A0A-C6BE-B308-CEC0-51DB49AFA4AC}"/>
              </a:ext>
            </a:extLst>
          </p:cNvPr>
          <p:cNvGrpSpPr/>
          <p:nvPr/>
        </p:nvGrpSpPr>
        <p:grpSpPr>
          <a:xfrm>
            <a:off x="203635" y="1825625"/>
            <a:ext cx="504000" cy="504000"/>
            <a:chOff x="977950" y="2729564"/>
            <a:chExt cx="504000" cy="504000"/>
          </a:xfrm>
        </p:grpSpPr>
        <p:sp>
          <p:nvSpPr>
            <p:cNvPr id="45" name="Oval 44">
              <a:extLst>
                <a:ext uri="{FF2B5EF4-FFF2-40B4-BE49-F238E27FC236}">
                  <a16:creationId xmlns:a16="http://schemas.microsoft.com/office/drawing/2014/main" id="{F6FF0A92-F1B8-C1A2-4D7B-8D477442F348}"/>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6" name="Graphic 45" descr="Golden Ratio with solid fill">
              <a:extLst>
                <a:ext uri="{FF2B5EF4-FFF2-40B4-BE49-F238E27FC236}">
                  <a16:creationId xmlns:a16="http://schemas.microsoft.com/office/drawing/2014/main" id="{88EBAD92-678E-9E23-A11E-7E4DD720A30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31950" y="2783564"/>
              <a:ext cx="396000" cy="396000"/>
            </a:xfrm>
            <a:prstGeom prst="rect">
              <a:avLst/>
            </a:prstGeom>
          </p:spPr>
        </p:pic>
      </p:grpSp>
      <p:grpSp>
        <p:nvGrpSpPr>
          <p:cNvPr id="47" name="Group 46">
            <a:extLst>
              <a:ext uri="{FF2B5EF4-FFF2-40B4-BE49-F238E27FC236}">
                <a16:creationId xmlns:a16="http://schemas.microsoft.com/office/drawing/2014/main" id="{4542846C-89E7-89F0-00D1-E64B19582CA9}"/>
              </a:ext>
            </a:extLst>
          </p:cNvPr>
          <p:cNvGrpSpPr/>
          <p:nvPr/>
        </p:nvGrpSpPr>
        <p:grpSpPr>
          <a:xfrm>
            <a:off x="203635" y="2439322"/>
            <a:ext cx="504000" cy="504000"/>
            <a:chOff x="977950" y="2729564"/>
            <a:chExt cx="504000" cy="504000"/>
          </a:xfrm>
        </p:grpSpPr>
        <p:sp>
          <p:nvSpPr>
            <p:cNvPr id="48" name="Oval 47">
              <a:extLst>
                <a:ext uri="{FF2B5EF4-FFF2-40B4-BE49-F238E27FC236}">
                  <a16:creationId xmlns:a16="http://schemas.microsoft.com/office/drawing/2014/main" id="{27031AAC-D3B3-78B5-0FAE-3FC2BADA1817}"/>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9" name="Graphic 48" descr="Normal Distribution with solid fill">
              <a:extLst>
                <a:ext uri="{FF2B5EF4-FFF2-40B4-BE49-F238E27FC236}">
                  <a16:creationId xmlns:a16="http://schemas.microsoft.com/office/drawing/2014/main" id="{69050779-9FEF-A215-7285-152807CF6BF5}"/>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1031950" y="2783564"/>
              <a:ext cx="396000" cy="396000"/>
            </a:xfrm>
            <a:prstGeom prst="rect">
              <a:avLst/>
            </a:prstGeom>
          </p:spPr>
        </p:pic>
      </p:grpSp>
      <p:grpSp>
        <p:nvGrpSpPr>
          <p:cNvPr id="50" name="Group 49">
            <a:extLst>
              <a:ext uri="{FF2B5EF4-FFF2-40B4-BE49-F238E27FC236}">
                <a16:creationId xmlns:a16="http://schemas.microsoft.com/office/drawing/2014/main" id="{A440BC66-095B-B82F-E200-40B8A63804BE}"/>
              </a:ext>
            </a:extLst>
          </p:cNvPr>
          <p:cNvGrpSpPr/>
          <p:nvPr/>
        </p:nvGrpSpPr>
        <p:grpSpPr>
          <a:xfrm>
            <a:off x="203635" y="3053019"/>
            <a:ext cx="504000" cy="504000"/>
            <a:chOff x="977950" y="2729564"/>
            <a:chExt cx="504000" cy="504000"/>
          </a:xfrm>
        </p:grpSpPr>
        <p:sp>
          <p:nvSpPr>
            <p:cNvPr id="51" name="Oval 50">
              <a:extLst>
                <a:ext uri="{FF2B5EF4-FFF2-40B4-BE49-F238E27FC236}">
                  <a16:creationId xmlns:a16="http://schemas.microsoft.com/office/drawing/2014/main" id="{476C0A83-70D2-BCB8-FB07-AF8D004F19B4}"/>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2" name="Graphic 51" descr="Abacus with solid fill">
              <a:extLst>
                <a:ext uri="{FF2B5EF4-FFF2-40B4-BE49-F238E27FC236}">
                  <a16:creationId xmlns:a16="http://schemas.microsoft.com/office/drawing/2014/main" id="{4FE34AB0-0C7E-00DF-9736-9BA068881161}"/>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1031950" y="2783564"/>
              <a:ext cx="396000" cy="396000"/>
            </a:xfrm>
            <a:prstGeom prst="rect">
              <a:avLst/>
            </a:prstGeom>
          </p:spPr>
        </p:pic>
      </p:grpSp>
      <p:grpSp>
        <p:nvGrpSpPr>
          <p:cNvPr id="53" name="Group 52">
            <a:extLst>
              <a:ext uri="{FF2B5EF4-FFF2-40B4-BE49-F238E27FC236}">
                <a16:creationId xmlns:a16="http://schemas.microsoft.com/office/drawing/2014/main" id="{C15BF547-1F66-7C33-ED58-F721FE97F9DB}"/>
              </a:ext>
            </a:extLst>
          </p:cNvPr>
          <p:cNvGrpSpPr/>
          <p:nvPr/>
        </p:nvGrpSpPr>
        <p:grpSpPr>
          <a:xfrm>
            <a:off x="203635" y="3666716"/>
            <a:ext cx="504000" cy="504000"/>
            <a:chOff x="977950" y="2729564"/>
            <a:chExt cx="504000" cy="504000"/>
          </a:xfrm>
        </p:grpSpPr>
        <p:sp>
          <p:nvSpPr>
            <p:cNvPr id="54" name="Oval 53">
              <a:extLst>
                <a:ext uri="{FF2B5EF4-FFF2-40B4-BE49-F238E27FC236}">
                  <a16:creationId xmlns:a16="http://schemas.microsoft.com/office/drawing/2014/main" id="{D6038D69-85C5-37F1-26E8-FACF1B3C541C}"/>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5" name="Graphic 54" descr="Trigonometry with solid fill">
              <a:extLst>
                <a:ext uri="{FF2B5EF4-FFF2-40B4-BE49-F238E27FC236}">
                  <a16:creationId xmlns:a16="http://schemas.microsoft.com/office/drawing/2014/main" id="{76BCDBB2-DA80-E033-7900-85DA75961B37}"/>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1031950" y="2783564"/>
              <a:ext cx="396000" cy="396000"/>
            </a:xfrm>
            <a:prstGeom prst="rect">
              <a:avLst/>
            </a:prstGeom>
          </p:spPr>
        </p:pic>
      </p:grpSp>
      <p:grpSp>
        <p:nvGrpSpPr>
          <p:cNvPr id="56" name="Group 55">
            <a:extLst>
              <a:ext uri="{FF2B5EF4-FFF2-40B4-BE49-F238E27FC236}">
                <a16:creationId xmlns:a16="http://schemas.microsoft.com/office/drawing/2014/main" id="{A9183267-5B54-D676-616F-0A6A94823A32}"/>
              </a:ext>
            </a:extLst>
          </p:cNvPr>
          <p:cNvGrpSpPr/>
          <p:nvPr/>
        </p:nvGrpSpPr>
        <p:grpSpPr>
          <a:xfrm>
            <a:off x="203635" y="4280414"/>
            <a:ext cx="504000" cy="504000"/>
            <a:chOff x="977950" y="2729564"/>
            <a:chExt cx="504000" cy="504000"/>
          </a:xfrm>
        </p:grpSpPr>
        <p:sp>
          <p:nvSpPr>
            <p:cNvPr id="57" name="Oval 56">
              <a:extLst>
                <a:ext uri="{FF2B5EF4-FFF2-40B4-BE49-F238E27FC236}">
                  <a16:creationId xmlns:a16="http://schemas.microsoft.com/office/drawing/2014/main" id="{B6B10C42-62CA-A94E-4A8E-C47CD43774E6}"/>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8" name="Graphic 57" descr="Scatterplot with solid fill">
              <a:extLst>
                <a:ext uri="{FF2B5EF4-FFF2-40B4-BE49-F238E27FC236}">
                  <a16:creationId xmlns:a16="http://schemas.microsoft.com/office/drawing/2014/main" id="{26DD6634-93E2-3EE1-4109-97E4E190F27E}"/>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1031950" y="2783564"/>
              <a:ext cx="396000" cy="396000"/>
            </a:xfrm>
            <a:prstGeom prst="rect">
              <a:avLst/>
            </a:prstGeom>
          </p:spPr>
        </p:pic>
      </p:grpSp>
      <p:cxnSp>
        <p:nvCxnSpPr>
          <p:cNvPr id="59" name="Straight Arrow Connector 58">
            <a:extLst>
              <a:ext uri="{FF2B5EF4-FFF2-40B4-BE49-F238E27FC236}">
                <a16:creationId xmlns:a16="http://schemas.microsoft.com/office/drawing/2014/main" id="{C01DDCB3-3782-936D-3BE8-94CB728FDE13}"/>
              </a:ext>
            </a:extLst>
          </p:cNvPr>
          <p:cNvCxnSpPr>
            <a:cxnSpLocks/>
            <a:stCxn id="45" idx="4"/>
            <a:endCxn id="48"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0" name="Straight Arrow Connector 59">
            <a:extLst>
              <a:ext uri="{FF2B5EF4-FFF2-40B4-BE49-F238E27FC236}">
                <a16:creationId xmlns:a16="http://schemas.microsoft.com/office/drawing/2014/main" id="{ED9894D9-E18F-74D0-179F-256217607D07}"/>
              </a:ext>
            </a:extLst>
          </p:cNvPr>
          <p:cNvCxnSpPr>
            <a:cxnSpLocks/>
            <a:stCxn id="48" idx="4"/>
            <a:endCxn id="51"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4A3DF78C-D017-5E81-C670-3ED4D79336CA}"/>
              </a:ext>
            </a:extLst>
          </p:cNvPr>
          <p:cNvCxnSpPr>
            <a:cxnSpLocks/>
            <a:stCxn id="51" idx="4"/>
            <a:endCxn id="54"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528BE7E7-7D3B-27B0-D128-15AE5AE302B9}"/>
              </a:ext>
            </a:extLst>
          </p:cNvPr>
          <p:cNvCxnSpPr>
            <a:cxnSpLocks/>
            <a:stCxn id="54" idx="4"/>
            <a:endCxn id="57"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8E344A72-9CED-4538-4E76-3A0A843FE0E2}"/>
                  </a:ext>
                </a:extLst>
              </p:cNvPr>
              <p:cNvSpPr txBox="1"/>
              <p:nvPr/>
            </p:nvSpPr>
            <p:spPr>
              <a:xfrm>
                <a:off x="926410" y="2970387"/>
                <a:ext cx="2980291" cy="1200329"/>
              </a:xfrm>
              <a:prstGeom prst="rect">
                <a:avLst/>
              </a:prstGeom>
              <a:noFill/>
            </p:spPr>
            <p:txBody>
              <a:bodyPr wrap="square" rtlCol="0">
                <a:spAutoFit/>
              </a:bodyPr>
              <a:lstStyle/>
              <a:p>
                <a:r>
                  <a:rPr lang="en-SE" dirty="0"/>
                  <a:t>“On average, the value of </a:t>
                </a:r>
                <a14:m>
                  <m:oMath xmlns:m="http://schemas.openxmlformats.org/officeDocument/2006/math">
                    <m:r>
                      <a:rPr lang="en-SE" b="0" i="1" smtClean="0">
                        <a:latin typeface="Cambria Math" panose="02040503050406030204" pitchFamily="18" charset="0"/>
                      </a:rPr>
                      <m:t>𝜇</m:t>
                    </m:r>
                  </m:oMath>
                </a14:m>
                <a:r>
                  <a:rPr lang="en-SE" dirty="0"/>
                  <a:t> (i.e., the mean of </a:t>
                </a:r>
                <a14:m>
                  <m:oMath xmlns:m="http://schemas.openxmlformats.org/officeDocument/2006/math">
                    <m:r>
                      <m:rPr>
                        <m:sty m:val="p"/>
                      </m:rPr>
                      <a:rPr lang="en-SE" b="0" i="0" smtClean="0">
                        <a:latin typeface="Cambria Math" panose="02040503050406030204" pitchFamily="18" charset="0"/>
                      </a:rPr>
                      <m:t>y</m:t>
                    </m:r>
                  </m:oMath>
                </a14:m>
                <a:r>
                  <a:rPr lang="en-SE" dirty="0"/>
                  <a:t>) is around 3 with a standard deviation of 1.”</a:t>
                </a:r>
              </a:p>
            </p:txBody>
          </p:sp>
        </mc:Choice>
        <mc:Fallback xmlns="">
          <p:sp>
            <p:nvSpPr>
              <p:cNvPr id="63" name="TextBox 62">
                <a:extLst>
                  <a:ext uri="{FF2B5EF4-FFF2-40B4-BE49-F238E27FC236}">
                    <a16:creationId xmlns:a16="http://schemas.microsoft.com/office/drawing/2014/main" id="{8E344A72-9CED-4538-4E76-3A0A843FE0E2}"/>
                  </a:ext>
                </a:extLst>
              </p:cNvPr>
              <p:cNvSpPr txBox="1">
                <a:spLocks noRot="1" noChangeAspect="1" noMove="1" noResize="1" noEditPoints="1" noAdjustHandles="1" noChangeArrowheads="1" noChangeShapeType="1" noTextEdit="1"/>
              </p:cNvSpPr>
              <p:nvPr/>
            </p:nvSpPr>
            <p:spPr>
              <a:xfrm>
                <a:off x="926410" y="2970387"/>
                <a:ext cx="2980291" cy="1200329"/>
              </a:xfrm>
              <a:prstGeom prst="rect">
                <a:avLst/>
              </a:prstGeom>
              <a:blipFill>
                <a:blip r:embed="rId14"/>
                <a:stretch>
                  <a:fillRect l="-1840" t="-2030" b="-7614"/>
                </a:stretch>
              </a:blipFill>
            </p:spPr>
            <p:txBody>
              <a:bodyPr/>
              <a:lstStyle/>
              <a:p>
                <a:r>
                  <a:rPr lang="en-SE">
                    <a:noFill/>
                  </a:rPr>
                  <a:t> </a:t>
                </a:r>
              </a:p>
            </p:txBody>
          </p:sp>
        </mc:Fallback>
      </mc:AlternateContent>
      <p:sp>
        <p:nvSpPr>
          <p:cNvPr id="64" name="Rectangle 63">
            <a:extLst>
              <a:ext uri="{FF2B5EF4-FFF2-40B4-BE49-F238E27FC236}">
                <a16:creationId xmlns:a16="http://schemas.microsoft.com/office/drawing/2014/main" id="{FB95F627-E8D5-E769-01B5-1891A0DDD66B}"/>
              </a:ext>
            </a:extLst>
          </p:cNvPr>
          <p:cNvSpPr/>
          <p:nvPr/>
        </p:nvSpPr>
        <p:spPr>
          <a:xfrm>
            <a:off x="4347937" y="4351147"/>
            <a:ext cx="1794540" cy="411734"/>
          </a:xfrm>
          <a:prstGeom prst="rect">
            <a:avLst/>
          </a:prstGeom>
          <a:noFill/>
          <a:ln w="28575">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66" name="Connector: Curved 65">
            <a:extLst>
              <a:ext uri="{FF2B5EF4-FFF2-40B4-BE49-F238E27FC236}">
                <a16:creationId xmlns:a16="http://schemas.microsoft.com/office/drawing/2014/main" id="{2AA7B092-8069-275A-702C-08ECD5B7014C}"/>
              </a:ext>
            </a:extLst>
          </p:cNvPr>
          <p:cNvCxnSpPr>
            <a:stCxn id="63" idx="2"/>
            <a:endCxn id="64" idx="1"/>
          </p:cNvCxnSpPr>
          <p:nvPr/>
        </p:nvCxnSpPr>
        <p:spPr>
          <a:xfrm rot="16200000" flipH="1">
            <a:off x="3189097" y="3398174"/>
            <a:ext cx="386298" cy="1931381"/>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sp>
        <p:nvSpPr>
          <p:cNvPr id="69" name="Rectangle 68">
            <a:extLst>
              <a:ext uri="{FF2B5EF4-FFF2-40B4-BE49-F238E27FC236}">
                <a16:creationId xmlns:a16="http://schemas.microsoft.com/office/drawing/2014/main" id="{3E69A956-B4C3-9AEE-F6B5-376E0567AAB0}"/>
              </a:ext>
            </a:extLst>
          </p:cNvPr>
          <p:cNvSpPr/>
          <p:nvPr/>
        </p:nvSpPr>
        <p:spPr>
          <a:xfrm>
            <a:off x="4231170" y="4793108"/>
            <a:ext cx="2035572" cy="411734"/>
          </a:xfrm>
          <a:prstGeom prst="rect">
            <a:avLst/>
          </a:prstGeom>
          <a:no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85213423-D76B-9FA3-DF62-FC366E9A05E1}"/>
                  </a:ext>
                </a:extLst>
              </p:cNvPr>
              <p:cNvSpPr txBox="1"/>
              <p:nvPr/>
            </p:nvSpPr>
            <p:spPr>
              <a:xfrm>
                <a:off x="8373509" y="2998170"/>
                <a:ext cx="2980291" cy="1200329"/>
              </a:xfrm>
              <a:prstGeom prst="rect">
                <a:avLst/>
              </a:prstGeom>
              <a:noFill/>
            </p:spPr>
            <p:txBody>
              <a:bodyPr wrap="square" rtlCol="0">
                <a:spAutoFit/>
              </a:bodyPr>
              <a:lstStyle/>
              <a:p>
                <a:r>
                  <a:rPr lang="en-SE" dirty="0"/>
                  <a:t>“Before seeing any data, we assume that </a:t>
                </a:r>
                <a14:m>
                  <m:oMath xmlns:m="http://schemas.openxmlformats.org/officeDocument/2006/math">
                    <m:r>
                      <a:rPr lang="en-SE" b="0" i="1" smtClean="0">
                        <a:latin typeface="Cambria Math" panose="02040503050406030204" pitchFamily="18" charset="0"/>
                      </a:rPr>
                      <m:t>𝑥</m:t>
                    </m:r>
                  </m:oMath>
                </a14:m>
                <a:r>
                  <a:rPr lang="en-SE" dirty="0"/>
                  <a:t> can either have a positive, negative, or no effect on </a:t>
                </a:r>
                <a14:m>
                  <m:oMath xmlns:m="http://schemas.openxmlformats.org/officeDocument/2006/math">
                    <m:r>
                      <a:rPr lang="en-SE" b="0" i="1" smtClean="0">
                        <a:latin typeface="Cambria Math" panose="02040503050406030204" pitchFamily="18" charset="0"/>
                      </a:rPr>
                      <m:t>𝜇</m:t>
                    </m:r>
                  </m:oMath>
                </a14:m>
                <a:r>
                  <a:rPr lang="en-SE" dirty="0"/>
                  <a:t>.”</a:t>
                </a:r>
              </a:p>
            </p:txBody>
          </p:sp>
        </mc:Choice>
        <mc:Fallback xmlns="">
          <p:sp>
            <p:nvSpPr>
              <p:cNvPr id="71" name="TextBox 70">
                <a:extLst>
                  <a:ext uri="{FF2B5EF4-FFF2-40B4-BE49-F238E27FC236}">
                    <a16:creationId xmlns:a16="http://schemas.microsoft.com/office/drawing/2014/main" id="{85213423-D76B-9FA3-DF62-FC366E9A05E1}"/>
                  </a:ext>
                </a:extLst>
              </p:cNvPr>
              <p:cNvSpPr txBox="1">
                <a:spLocks noRot="1" noChangeAspect="1" noMove="1" noResize="1" noEditPoints="1" noAdjustHandles="1" noChangeArrowheads="1" noChangeShapeType="1" noTextEdit="1"/>
              </p:cNvSpPr>
              <p:nvPr/>
            </p:nvSpPr>
            <p:spPr>
              <a:xfrm>
                <a:off x="8373509" y="2998170"/>
                <a:ext cx="2980291" cy="1200329"/>
              </a:xfrm>
              <a:prstGeom prst="rect">
                <a:avLst/>
              </a:prstGeom>
              <a:blipFill>
                <a:blip r:embed="rId15"/>
                <a:stretch>
                  <a:fillRect l="-1840" t="-2538" r="-409" b="-7614"/>
                </a:stretch>
              </a:blipFill>
            </p:spPr>
            <p:txBody>
              <a:bodyPr/>
              <a:lstStyle/>
              <a:p>
                <a:r>
                  <a:rPr lang="en-SE">
                    <a:noFill/>
                  </a:rPr>
                  <a:t> </a:t>
                </a:r>
              </a:p>
            </p:txBody>
          </p:sp>
        </mc:Fallback>
      </mc:AlternateContent>
      <p:cxnSp>
        <p:nvCxnSpPr>
          <p:cNvPr id="72" name="Connector: Curved 71">
            <a:extLst>
              <a:ext uri="{FF2B5EF4-FFF2-40B4-BE49-F238E27FC236}">
                <a16:creationId xmlns:a16="http://schemas.microsoft.com/office/drawing/2014/main" id="{42EC7E41-243C-87BA-EF14-872CC0E9FF26}"/>
              </a:ext>
            </a:extLst>
          </p:cNvPr>
          <p:cNvCxnSpPr>
            <a:cxnSpLocks/>
            <a:stCxn id="71" idx="2"/>
            <a:endCxn id="69" idx="3"/>
          </p:cNvCxnSpPr>
          <p:nvPr/>
        </p:nvCxnSpPr>
        <p:spPr>
          <a:xfrm rot="5400000">
            <a:off x="7664961" y="2800281"/>
            <a:ext cx="800476" cy="3596913"/>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pic>
        <p:nvPicPr>
          <p:cNvPr id="10" name="Graphic 9" descr="Robot with solid fill">
            <a:extLst>
              <a:ext uri="{FF2B5EF4-FFF2-40B4-BE49-F238E27FC236}">
                <a16:creationId xmlns:a16="http://schemas.microsoft.com/office/drawing/2014/main" id="{EF4A5C79-0F27-0C89-D9B5-5EB3FC6AF95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225594" y="3064349"/>
            <a:ext cx="360000" cy="360000"/>
          </a:xfrm>
          <a:prstGeom prst="rect">
            <a:avLst/>
          </a:prstGeom>
        </p:spPr>
      </p:pic>
    </p:spTree>
    <p:extLst>
      <p:ext uri="{BB962C8B-B14F-4D97-AF65-F5344CB8AC3E}">
        <p14:creationId xmlns:p14="http://schemas.microsoft.com/office/powerpoint/2010/main" val="1573884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animBg="1"/>
      <p:bldP spid="69" grpId="0" animBg="1"/>
      <p:bldP spid="7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DEFBD-F87D-08E2-D937-66E3BED4FF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CED48-B77D-1BF3-ED20-487DC162B7D0}"/>
              </a:ext>
            </a:extLst>
          </p:cNvPr>
          <p:cNvSpPr>
            <a:spLocks noGrp="1"/>
          </p:cNvSpPr>
          <p:nvPr>
            <p:ph type="title"/>
          </p:nvPr>
        </p:nvSpPr>
        <p:spPr/>
        <p:txBody>
          <a:bodyPr/>
          <a:lstStyle/>
          <a:p>
            <a:r>
              <a:rPr lang="en-SE" dirty="0"/>
              <a:t>Selecting Priors</a:t>
            </a:r>
          </a:p>
        </p:txBody>
      </p:sp>
      <p:sp>
        <p:nvSpPr>
          <p:cNvPr id="3" name="Content Placeholder 2">
            <a:extLst>
              <a:ext uri="{FF2B5EF4-FFF2-40B4-BE49-F238E27FC236}">
                <a16:creationId xmlns:a16="http://schemas.microsoft.com/office/drawing/2014/main" id="{87F8A6E2-867B-82B4-1EBA-26AC259ABE96}"/>
              </a:ext>
            </a:extLst>
          </p:cNvPr>
          <p:cNvSpPr>
            <a:spLocks noGrp="1"/>
          </p:cNvSpPr>
          <p:nvPr>
            <p:ph idx="1"/>
          </p:nvPr>
        </p:nvSpPr>
        <p:spPr>
          <a:xfrm>
            <a:off x="838200" y="1825625"/>
            <a:ext cx="10515600" cy="968375"/>
          </a:xfrm>
        </p:spPr>
        <p:txBody>
          <a:bodyPr/>
          <a:lstStyle/>
          <a:p>
            <a:pPr marL="0" indent="0">
              <a:buNone/>
            </a:pPr>
            <a:r>
              <a:rPr lang="en-SE" dirty="0"/>
              <a:t>Every intercept and path coefficient is a </a:t>
            </a:r>
            <a:r>
              <a:rPr lang="en-SE" b="1" dirty="0"/>
              <a:t>probability distribution</a:t>
            </a:r>
            <a:r>
              <a:rPr lang="en-SE" dirty="0"/>
              <a:t> that we need to initialize with domain knowledge.</a:t>
            </a:r>
          </a:p>
        </p:txBody>
      </p:sp>
      <p:sp>
        <p:nvSpPr>
          <p:cNvPr id="4" name="Date Placeholder 3">
            <a:extLst>
              <a:ext uri="{FF2B5EF4-FFF2-40B4-BE49-F238E27FC236}">
                <a16:creationId xmlns:a16="http://schemas.microsoft.com/office/drawing/2014/main" id="{AC0EB14B-3ECE-D1B7-B81F-D4CCC6BF670E}"/>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DF0EB62E-6141-D0F5-DDBF-AD047D0BAED0}"/>
              </a:ext>
            </a:extLst>
          </p:cNvPr>
          <p:cNvSpPr>
            <a:spLocks noGrp="1"/>
          </p:cNvSpPr>
          <p:nvPr>
            <p:ph type="sldNum" sz="quarter" idx="12"/>
          </p:nvPr>
        </p:nvSpPr>
        <p:spPr/>
        <p:txBody>
          <a:bodyPr/>
          <a:lstStyle/>
          <a:p>
            <a:fld id="{271ECC92-9CDE-4EB3-B1C5-F46B9E1FA3C1}" type="slidenum">
              <a:rPr lang="en-SE" smtClean="0"/>
              <a:t>47</a:t>
            </a:fld>
            <a:endParaRPr lang="en-SE"/>
          </a:p>
        </p:txBody>
      </p:sp>
      <p:sp>
        <p:nvSpPr>
          <p:cNvPr id="6" name="Footer Placeholder 5">
            <a:extLst>
              <a:ext uri="{FF2B5EF4-FFF2-40B4-BE49-F238E27FC236}">
                <a16:creationId xmlns:a16="http://schemas.microsoft.com/office/drawing/2014/main" id="{5AF82697-C07B-5F06-8E30-F0C03EC77085}"/>
              </a:ext>
            </a:extLst>
          </p:cNvPr>
          <p:cNvSpPr>
            <a:spLocks noGrp="1"/>
          </p:cNvSpPr>
          <p:nvPr>
            <p:ph type="ftr" sz="quarter" idx="11"/>
          </p:nvPr>
        </p:nvSpPr>
        <p:spPr/>
        <p:txBody>
          <a:bodyPr/>
          <a:lstStyle/>
          <a:p>
            <a:r>
              <a:rPr lang="de-DE"/>
              <a:t>Bayesian Data Analysis Tutorial</a:t>
            </a:r>
            <a:endParaRPr lang="en-SE"/>
          </a:p>
        </p:txBody>
      </p:sp>
      <p:sp>
        <p:nvSpPr>
          <p:cNvPr id="31" name="Rectangle: Rounded Corners 30">
            <a:extLst>
              <a:ext uri="{FF2B5EF4-FFF2-40B4-BE49-F238E27FC236}">
                <a16:creationId xmlns:a16="http://schemas.microsoft.com/office/drawing/2014/main" id="{5263BE8F-98C7-9923-234C-021889ED8BE7}"/>
              </a:ext>
            </a:extLst>
          </p:cNvPr>
          <p:cNvSpPr/>
          <p:nvPr/>
        </p:nvSpPr>
        <p:spPr>
          <a:xfrm>
            <a:off x="1040531" y="2943322"/>
            <a:ext cx="4204138" cy="3266978"/>
          </a:xfrm>
          <a:prstGeom prst="roundRect">
            <a:avLst>
              <a:gd name="adj" fmla="val 10544"/>
            </a:avLst>
          </a:prstGeom>
          <a:solidFill>
            <a:schemeClr val="accent5">
              <a:lumMod val="20000"/>
              <a:lumOff val="80000"/>
            </a:schemeClr>
          </a:solidFill>
          <a:ln>
            <a:solidFill>
              <a:schemeClr val="accent4">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SE" dirty="0">
                <a:solidFill>
                  <a:sysClr val="windowText" lastClr="000000"/>
                </a:solidFill>
              </a:rPr>
              <a:t>Bayesian Model</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F5A7475-03B7-2699-1B3B-E9540EB4EA2B}"/>
                  </a:ext>
                </a:extLst>
              </p:cNvPr>
              <p:cNvSpPr txBox="1"/>
              <p:nvPr/>
            </p:nvSpPr>
            <p:spPr>
              <a:xfrm>
                <a:off x="1511305" y="3545375"/>
                <a:ext cx="15610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𝑦</m:t>
                      </m:r>
                      <m:r>
                        <a:rPr lang="en-SE" sz="2400" b="0" i="1" smtClean="0">
                          <a:latin typeface="Cambria Math" panose="02040503050406030204" pitchFamily="18" charset="0"/>
                        </a:rPr>
                        <m:t> ~ </m:t>
                      </m:r>
                      <m:r>
                        <a:rPr lang="en-SE" sz="2400" b="0" i="1" smtClean="0">
                          <a:latin typeface="Cambria Math" panose="02040503050406030204" pitchFamily="18" charset="0"/>
                        </a:rPr>
                        <m:t>𝑁</m:t>
                      </m:r>
                      <m:r>
                        <a:rPr lang="en-SE" sz="2400" b="0" i="1" smtClean="0">
                          <a:latin typeface="Cambria Math" panose="02040503050406030204" pitchFamily="18" charset="0"/>
                        </a:rPr>
                        <m:t>(</m:t>
                      </m:r>
                      <m:r>
                        <a:rPr lang="en-SE" sz="2400" b="0" i="1" smtClean="0">
                          <a:latin typeface="Cambria Math" panose="02040503050406030204" pitchFamily="18" charset="0"/>
                        </a:rPr>
                        <m:t>𝜇</m:t>
                      </m:r>
                      <m:r>
                        <a:rPr lang="en-SE" sz="2400" b="0" i="1" smtClean="0">
                          <a:latin typeface="Cambria Math" panose="02040503050406030204" pitchFamily="18" charset="0"/>
                        </a:rPr>
                        <m:t>, </m:t>
                      </m:r>
                      <m:r>
                        <a:rPr lang="en-SE" sz="2400" b="0" i="1" smtClean="0">
                          <a:latin typeface="Cambria Math" panose="02040503050406030204" pitchFamily="18" charset="0"/>
                        </a:rPr>
                        <m:t>𝜎</m:t>
                      </m:r>
                      <m:r>
                        <a:rPr lang="en-SE" sz="2400" b="0" i="1" smtClean="0">
                          <a:latin typeface="Cambria Math" panose="02040503050406030204" pitchFamily="18" charset="0"/>
                        </a:rPr>
                        <m:t>)</m:t>
                      </m:r>
                    </m:oMath>
                  </m:oMathPara>
                </a14:m>
                <a:endParaRPr lang="en-SE" sz="2400" dirty="0"/>
              </a:p>
            </p:txBody>
          </p:sp>
        </mc:Choice>
        <mc:Fallback xmlns="">
          <p:sp>
            <p:nvSpPr>
              <p:cNvPr id="33" name="TextBox 32">
                <a:extLst>
                  <a:ext uri="{FF2B5EF4-FFF2-40B4-BE49-F238E27FC236}">
                    <a16:creationId xmlns:a16="http://schemas.microsoft.com/office/drawing/2014/main" id="{5F5A7475-03B7-2699-1B3B-E9540EB4EA2B}"/>
                  </a:ext>
                </a:extLst>
              </p:cNvPr>
              <p:cNvSpPr txBox="1">
                <a:spLocks noRot="1" noChangeAspect="1" noMove="1" noResize="1" noEditPoints="1" noAdjustHandles="1" noChangeArrowheads="1" noChangeShapeType="1" noTextEdit="1"/>
              </p:cNvSpPr>
              <p:nvPr/>
            </p:nvSpPr>
            <p:spPr>
              <a:xfrm>
                <a:off x="1511305" y="3545375"/>
                <a:ext cx="1561005" cy="369332"/>
              </a:xfrm>
              <a:prstGeom prst="rect">
                <a:avLst/>
              </a:prstGeom>
              <a:blipFill>
                <a:blip r:embed="rId2"/>
                <a:stretch>
                  <a:fillRect l="-4688" t="-1667" r="-6641" b="-33333"/>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CC2FB51F-39C9-C4BE-588C-85E215588DBF}"/>
                  </a:ext>
                </a:extLst>
              </p:cNvPr>
              <p:cNvSpPr txBox="1"/>
              <p:nvPr/>
            </p:nvSpPr>
            <p:spPr>
              <a:xfrm>
                <a:off x="1461719" y="3942877"/>
                <a:ext cx="30432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𝜇</m:t>
                      </m:r>
                      <m:r>
                        <a:rPr lang="en-SE" sz="2400" b="0" i="1" smtClean="0">
                          <a:latin typeface="Cambria Math" panose="02040503050406030204" pitchFamily="18" charset="0"/>
                        </a:rPr>
                        <m:t>←</m:t>
                      </m:r>
                      <m:r>
                        <a:rPr lang="en-SE" sz="2400" b="0" i="1" smtClean="0">
                          <a:latin typeface="Cambria Math" panose="02040503050406030204" pitchFamily="18" charset="0"/>
                        </a:rPr>
                        <m:t>𝛼</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𝑥</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𝑧</m:t>
                      </m:r>
                    </m:oMath>
                  </m:oMathPara>
                </a14:m>
                <a:endParaRPr lang="en-SE" sz="2400" dirty="0"/>
              </a:p>
            </p:txBody>
          </p:sp>
        </mc:Choice>
        <mc:Fallback>
          <p:sp>
            <p:nvSpPr>
              <p:cNvPr id="35" name="TextBox 34">
                <a:extLst>
                  <a:ext uri="{FF2B5EF4-FFF2-40B4-BE49-F238E27FC236}">
                    <a16:creationId xmlns:a16="http://schemas.microsoft.com/office/drawing/2014/main" id="{CC2FB51F-39C9-C4BE-588C-85E215588DBF}"/>
                  </a:ext>
                </a:extLst>
              </p:cNvPr>
              <p:cNvSpPr txBox="1">
                <a:spLocks noRot="1" noChangeAspect="1" noMove="1" noResize="1" noEditPoints="1" noAdjustHandles="1" noChangeArrowheads="1" noChangeShapeType="1" noTextEdit="1"/>
              </p:cNvSpPr>
              <p:nvPr/>
            </p:nvSpPr>
            <p:spPr>
              <a:xfrm>
                <a:off x="1461719" y="3942877"/>
                <a:ext cx="3043205" cy="369332"/>
              </a:xfrm>
              <a:prstGeom prst="rect">
                <a:avLst/>
              </a:prstGeom>
              <a:blipFill>
                <a:blip r:embed="rId3"/>
                <a:stretch>
                  <a:fillRect l="-1202" t="-1667" b="-33333"/>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308037D-B27A-ADEA-A6A2-6F83F6B8B539}"/>
                  </a:ext>
                </a:extLst>
              </p:cNvPr>
              <p:cNvSpPr txBox="1"/>
              <p:nvPr/>
            </p:nvSpPr>
            <p:spPr>
              <a:xfrm>
                <a:off x="1481938" y="4361082"/>
                <a:ext cx="16328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1" i="1" smtClean="0">
                          <a:latin typeface="Cambria Math" panose="02040503050406030204" pitchFamily="18" charset="0"/>
                        </a:rPr>
                        <m:t>𝜶</m:t>
                      </m:r>
                      <m:r>
                        <a:rPr lang="en-SE" sz="2400" b="1" i="1" smtClean="0">
                          <a:latin typeface="Cambria Math" panose="02040503050406030204" pitchFamily="18" charset="0"/>
                        </a:rPr>
                        <m:t>∼</m:t>
                      </m:r>
                      <m:r>
                        <a:rPr lang="en-SE" sz="2400" b="1" i="1" smtClean="0">
                          <a:latin typeface="Cambria Math" panose="02040503050406030204" pitchFamily="18" charset="0"/>
                        </a:rPr>
                        <m:t>𝑵</m:t>
                      </m:r>
                      <m:r>
                        <a:rPr lang="en-SE" sz="2400" b="1" i="1" smtClean="0">
                          <a:latin typeface="Cambria Math" panose="02040503050406030204" pitchFamily="18" charset="0"/>
                        </a:rPr>
                        <m:t>(</m:t>
                      </m:r>
                      <m:r>
                        <a:rPr lang="en-SE" sz="2400" b="1" i="1" smtClean="0">
                          <a:latin typeface="Cambria Math" panose="02040503050406030204" pitchFamily="18" charset="0"/>
                        </a:rPr>
                        <m:t>𝟑</m:t>
                      </m:r>
                      <m:r>
                        <a:rPr lang="en-SE" sz="2400" b="1" i="1" smtClean="0">
                          <a:latin typeface="Cambria Math" panose="02040503050406030204" pitchFamily="18" charset="0"/>
                        </a:rPr>
                        <m:t>, </m:t>
                      </m:r>
                      <m:r>
                        <a:rPr lang="en-SE" sz="2400" b="1" i="1" smtClean="0">
                          <a:latin typeface="Cambria Math" panose="02040503050406030204" pitchFamily="18" charset="0"/>
                        </a:rPr>
                        <m:t>𝟏</m:t>
                      </m:r>
                      <m:r>
                        <a:rPr lang="en-SE" sz="2400" b="1" i="1" smtClean="0">
                          <a:latin typeface="Cambria Math" panose="02040503050406030204" pitchFamily="18" charset="0"/>
                        </a:rPr>
                        <m:t>)</m:t>
                      </m:r>
                    </m:oMath>
                  </m:oMathPara>
                </a14:m>
                <a:endParaRPr lang="en-SE" sz="2400" b="1" dirty="0"/>
              </a:p>
            </p:txBody>
          </p:sp>
        </mc:Choice>
        <mc:Fallback xmlns="">
          <p:sp>
            <p:nvSpPr>
              <p:cNvPr id="37" name="TextBox 36">
                <a:extLst>
                  <a:ext uri="{FF2B5EF4-FFF2-40B4-BE49-F238E27FC236}">
                    <a16:creationId xmlns:a16="http://schemas.microsoft.com/office/drawing/2014/main" id="{9308037D-B27A-ADEA-A6A2-6F83F6B8B539}"/>
                  </a:ext>
                </a:extLst>
              </p:cNvPr>
              <p:cNvSpPr txBox="1">
                <a:spLocks noRot="1" noChangeAspect="1" noMove="1" noResize="1" noEditPoints="1" noAdjustHandles="1" noChangeArrowheads="1" noChangeShapeType="1" noTextEdit="1"/>
              </p:cNvSpPr>
              <p:nvPr/>
            </p:nvSpPr>
            <p:spPr>
              <a:xfrm>
                <a:off x="1481938" y="4361082"/>
                <a:ext cx="1632883" cy="369332"/>
              </a:xfrm>
              <a:prstGeom prst="rect">
                <a:avLst/>
              </a:prstGeom>
              <a:blipFill>
                <a:blip r:embed="rId4"/>
                <a:stretch>
                  <a:fillRect l="-2612" t="-1639" r="-6716" b="-3278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70BFC4EF-1B14-CAA6-55F4-CD50B0321EEF}"/>
                  </a:ext>
                </a:extLst>
              </p:cNvPr>
              <p:cNvSpPr txBox="1"/>
              <p:nvPr/>
            </p:nvSpPr>
            <p:spPr>
              <a:xfrm>
                <a:off x="1348060" y="4803241"/>
                <a:ext cx="215219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sz="2400" b="1" i="1" smtClean="0">
                              <a:latin typeface="Cambria Math" panose="02040503050406030204" pitchFamily="18" charset="0"/>
                            </a:rPr>
                          </m:ctrlPr>
                        </m:sSubPr>
                        <m:e>
                          <m:r>
                            <a:rPr lang="en-SE" sz="2400" b="1" i="1" smtClean="0">
                              <a:latin typeface="Cambria Math" panose="02040503050406030204" pitchFamily="18" charset="0"/>
                            </a:rPr>
                            <m:t>𝜷</m:t>
                          </m:r>
                        </m:e>
                        <m:sub>
                          <m:r>
                            <a:rPr lang="en-SE" sz="2400" b="1" i="1" smtClean="0">
                              <a:latin typeface="Cambria Math" panose="02040503050406030204" pitchFamily="18" charset="0"/>
                            </a:rPr>
                            <m:t>𝒙</m:t>
                          </m:r>
                        </m:sub>
                      </m:sSub>
                      <m:r>
                        <a:rPr lang="en-SE" sz="2400" b="1" i="1" smtClean="0">
                          <a:latin typeface="Cambria Math" panose="02040503050406030204" pitchFamily="18" charset="0"/>
                        </a:rPr>
                        <m:t>∼</m:t>
                      </m:r>
                      <m:r>
                        <a:rPr lang="en-SE" sz="2400" b="1" i="1" smtClean="0">
                          <a:latin typeface="Cambria Math" panose="02040503050406030204" pitchFamily="18" charset="0"/>
                        </a:rPr>
                        <m:t>𝑵</m:t>
                      </m:r>
                      <m:r>
                        <a:rPr lang="en-SE" sz="2400" b="1" i="1" smtClean="0">
                          <a:latin typeface="Cambria Math" panose="02040503050406030204" pitchFamily="18" charset="0"/>
                        </a:rPr>
                        <m:t>(</m:t>
                      </m:r>
                      <m:r>
                        <a:rPr lang="en-SE" sz="2400" b="1" i="1" smtClean="0">
                          <a:latin typeface="Cambria Math" panose="02040503050406030204" pitchFamily="18" charset="0"/>
                        </a:rPr>
                        <m:t>𝟎</m:t>
                      </m:r>
                      <m:r>
                        <a:rPr lang="en-SE" sz="2400" b="1" i="1" smtClean="0">
                          <a:latin typeface="Cambria Math" panose="02040503050406030204" pitchFamily="18" charset="0"/>
                        </a:rPr>
                        <m:t>, </m:t>
                      </m:r>
                      <m:r>
                        <a:rPr lang="en-SE" sz="2400" b="1" i="1" smtClean="0">
                          <a:latin typeface="Cambria Math" panose="02040503050406030204" pitchFamily="18" charset="0"/>
                        </a:rPr>
                        <m:t>𝟎</m:t>
                      </m:r>
                      <m:r>
                        <a:rPr lang="en-SE" sz="2400" b="1" i="1" smtClean="0">
                          <a:latin typeface="Cambria Math" panose="02040503050406030204" pitchFamily="18" charset="0"/>
                        </a:rPr>
                        <m:t>.</m:t>
                      </m:r>
                      <m:r>
                        <a:rPr lang="en-SE" sz="2400" b="1" i="1" smtClean="0">
                          <a:latin typeface="Cambria Math" panose="02040503050406030204" pitchFamily="18" charset="0"/>
                        </a:rPr>
                        <m:t>𝟓</m:t>
                      </m:r>
                      <m:r>
                        <a:rPr lang="en-SE" sz="2400" b="1" i="1" smtClean="0">
                          <a:latin typeface="Cambria Math" panose="02040503050406030204" pitchFamily="18" charset="0"/>
                        </a:rPr>
                        <m:t>)</m:t>
                      </m:r>
                    </m:oMath>
                  </m:oMathPara>
                </a14:m>
                <a:endParaRPr lang="en-SE" sz="2400" b="1" dirty="0"/>
              </a:p>
            </p:txBody>
          </p:sp>
        </mc:Choice>
        <mc:Fallback>
          <p:sp>
            <p:nvSpPr>
              <p:cNvPr id="39" name="TextBox 38">
                <a:extLst>
                  <a:ext uri="{FF2B5EF4-FFF2-40B4-BE49-F238E27FC236}">
                    <a16:creationId xmlns:a16="http://schemas.microsoft.com/office/drawing/2014/main" id="{70BFC4EF-1B14-CAA6-55F4-CD50B0321EEF}"/>
                  </a:ext>
                </a:extLst>
              </p:cNvPr>
              <p:cNvSpPr txBox="1">
                <a:spLocks noRot="1" noChangeAspect="1" noMove="1" noResize="1" noEditPoints="1" noAdjustHandles="1" noChangeArrowheads="1" noChangeShapeType="1" noTextEdit="1"/>
              </p:cNvSpPr>
              <p:nvPr/>
            </p:nvSpPr>
            <p:spPr>
              <a:xfrm>
                <a:off x="1348060" y="4803241"/>
                <a:ext cx="2152192" cy="369332"/>
              </a:xfrm>
              <a:prstGeom prst="rect">
                <a:avLst/>
              </a:prstGeom>
              <a:blipFill>
                <a:blip r:embed="rId5"/>
                <a:stretch>
                  <a:fillRect l="-2833" t="-1639" r="-3116" b="-31148"/>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67C2D857-9F0E-628F-285E-E8758D1C4E31}"/>
                  </a:ext>
                </a:extLst>
              </p:cNvPr>
              <p:cNvSpPr txBox="1"/>
              <p:nvPr/>
            </p:nvSpPr>
            <p:spPr>
              <a:xfrm>
                <a:off x="1364109" y="5233423"/>
                <a:ext cx="206082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sz="2400" b="1" i="1" smtClean="0">
                              <a:latin typeface="Cambria Math" panose="02040503050406030204" pitchFamily="18" charset="0"/>
                            </a:rPr>
                          </m:ctrlPr>
                        </m:sSubPr>
                        <m:e>
                          <m:r>
                            <a:rPr lang="en-SE" sz="2400" b="1" i="1" smtClean="0">
                              <a:latin typeface="Cambria Math" panose="02040503050406030204" pitchFamily="18" charset="0"/>
                            </a:rPr>
                            <m:t>𝜷</m:t>
                          </m:r>
                        </m:e>
                        <m:sub>
                          <m:r>
                            <a:rPr lang="en-SE" sz="2400" b="1" i="1" smtClean="0">
                              <a:latin typeface="Cambria Math" panose="02040503050406030204" pitchFamily="18" charset="0"/>
                            </a:rPr>
                            <m:t>𝒛</m:t>
                          </m:r>
                        </m:sub>
                      </m:sSub>
                      <m:r>
                        <a:rPr lang="en-SE" sz="2400" b="1" i="1" smtClean="0">
                          <a:latin typeface="Cambria Math" panose="02040503050406030204" pitchFamily="18" charset="0"/>
                        </a:rPr>
                        <m:t>∼</m:t>
                      </m:r>
                      <m:r>
                        <a:rPr lang="en-SE" sz="2400" b="1" i="1" smtClean="0">
                          <a:latin typeface="Cambria Math" panose="02040503050406030204" pitchFamily="18" charset="0"/>
                        </a:rPr>
                        <m:t>𝑵</m:t>
                      </m:r>
                      <m:r>
                        <a:rPr lang="en-SE" sz="2400" b="1" i="1" smtClean="0">
                          <a:latin typeface="Cambria Math" panose="02040503050406030204" pitchFamily="18" charset="0"/>
                        </a:rPr>
                        <m:t>(</m:t>
                      </m:r>
                      <m:r>
                        <a:rPr lang="en-SE" sz="2400" b="1" i="1" smtClean="0">
                          <a:latin typeface="Cambria Math" panose="02040503050406030204" pitchFamily="18" charset="0"/>
                        </a:rPr>
                        <m:t>𝟎</m:t>
                      </m:r>
                      <m:r>
                        <a:rPr lang="en-SE" sz="2400" b="1" i="1" smtClean="0">
                          <a:latin typeface="Cambria Math" panose="02040503050406030204" pitchFamily="18" charset="0"/>
                        </a:rPr>
                        <m:t>, </m:t>
                      </m:r>
                      <m:r>
                        <a:rPr lang="en-SE" sz="2400" b="1" i="1" smtClean="0">
                          <a:latin typeface="Cambria Math" panose="02040503050406030204" pitchFamily="18" charset="0"/>
                        </a:rPr>
                        <m:t>𝟎</m:t>
                      </m:r>
                      <m:r>
                        <a:rPr lang="en-SE" sz="2400" b="1" i="1" smtClean="0">
                          <a:latin typeface="Cambria Math" panose="02040503050406030204" pitchFamily="18" charset="0"/>
                        </a:rPr>
                        <m:t>.</m:t>
                      </m:r>
                      <m:r>
                        <a:rPr lang="en-SE" sz="2400" b="1" i="1" smtClean="0">
                          <a:latin typeface="Cambria Math" panose="02040503050406030204" pitchFamily="18" charset="0"/>
                        </a:rPr>
                        <m:t>𝟓</m:t>
                      </m:r>
                      <m:r>
                        <a:rPr lang="en-SE" sz="2400" b="1" i="1" smtClean="0">
                          <a:latin typeface="Cambria Math" panose="02040503050406030204" pitchFamily="18" charset="0"/>
                        </a:rPr>
                        <m:t>)</m:t>
                      </m:r>
                    </m:oMath>
                  </m:oMathPara>
                </a14:m>
                <a:endParaRPr lang="en-SE" sz="2400" b="1" dirty="0"/>
              </a:p>
            </p:txBody>
          </p:sp>
        </mc:Choice>
        <mc:Fallback>
          <p:sp>
            <p:nvSpPr>
              <p:cNvPr id="41" name="TextBox 40">
                <a:extLst>
                  <a:ext uri="{FF2B5EF4-FFF2-40B4-BE49-F238E27FC236}">
                    <a16:creationId xmlns:a16="http://schemas.microsoft.com/office/drawing/2014/main" id="{67C2D857-9F0E-628F-285E-E8758D1C4E31}"/>
                  </a:ext>
                </a:extLst>
              </p:cNvPr>
              <p:cNvSpPr txBox="1">
                <a:spLocks noRot="1" noChangeAspect="1" noMove="1" noResize="1" noEditPoints="1" noAdjustHandles="1" noChangeArrowheads="1" noChangeShapeType="1" noTextEdit="1"/>
              </p:cNvSpPr>
              <p:nvPr/>
            </p:nvSpPr>
            <p:spPr>
              <a:xfrm>
                <a:off x="1364109" y="5233423"/>
                <a:ext cx="2060821" cy="369332"/>
              </a:xfrm>
              <a:prstGeom prst="rect">
                <a:avLst/>
              </a:prstGeom>
              <a:blipFill>
                <a:blip r:embed="rId6"/>
                <a:stretch>
                  <a:fillRect l="-5030" t="-1667" r="-5030" b="-33333"/>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3B039B25-D8EB-2DB4-A0B1-1D0C14B6D54C}"/>
                  </a:ext>
                </a:extLst>
              </p:cNvPr>
              <p:cNvSpPr txBox="1"/>
              <p:nvPr/>
            </p:nvSpPr>
            <p:spPr>
              <a:xfrm>
                <a:off x="1503809" y="5633180"/>
                <a:ext cx="162486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1" i="1" smtClean="0">
                          <a:latin typeface="Cambria Math" panose="02040503050406030204" pitchFamily="18" charset="0"/>
                        </a:rPr>
                        <m:t>𝝈</m:t>
                      </m:r>
                      <m:r>
                        <a:rPr lang="en-SE" sz="2400" b="1" i="1" smtClean="0">
                          <a:latin typeface="Cambria Math" panose="02040503050406030204" pitchFamily="18" charset="0"/>
                        </a:rPr>
                        <m:t>∼</m:t>
                      </m:r>
                      <m:r>
                        <a:rPr lang="en-SE" sz="2400" b="1" i="1" smtClean="0">
                          <a:latin typeface="Cambria Math" panose="02040503050406030204" pitchFamily="18" charset="0"/>
                        </a:rPr>
                        <m:t>𝒆𝒙𝒑</m:t>
                      </m:r>
                      <m:r>
                        <a:rPr lang="en-SE" sz="2400" b="1" i="1" smtClean="0">
                          <a:latin typeface="Cambria Math" panose="02040503050406030204" pitchFamily="18" charset="0"/>
                        </a:rPr>
                        <m:t>(</m:t>
                      </m:r>
                      <m:r>
                        <a:rPr lang="en-SE" sz="2400" b="1" i="1" smtClean="0">
                          <a:latin typeface="Cambria Math" panose="02040503050406030204" pitchFamily="18" charset="0"/>
                        </a:rPr>
                        <m:t>𝟏</m:t>
                      </m:r>
                      <m:r>
                        <a:rPr lang="en-SE" sz="2400" b="1" i="1" smtClean="0">
                          <a:latin typeface="Cambria Math" panose="02040503050406030204" pitchFamily="18" charset="0"/>
                        </a:rPr>
                        <m:t>)</m:t>
                      </m:r>
                    </m:oMath>
                  </m:oMathPara>
                </a14:m>
                <a:endParaRPr lang="en-SE" sz="2400" b="1" dirty="0"/>
              </a:p>
            </p:txBody>
          </p:sp>
        </mc:Choice>
        <mc:Fallback>
          <p:sp>
            <p:nvSpPr>
              <p:cNvPr id="43" name="TextBox 42">
                <a:extLst>
                  <a:ext uri="{FF2B5EF4-FFF2-40B4-BE49-F238E27FC236}">
                    <a16:creationId xmlns:a16="http://schemas.microsoft.com/office/drawing/2014/main" id="{3B039B25-D8EB-2DB4-A0B1-1D0C14B6D54C}"/>
                  </a:ext>
                </a:extLst>
              </p:cNvPr>
              <p:cNvSpPr txBox="1">
                <a:spLocks noRot="1" noChangeAspect="1" noMove="1" noResize="1" noEditPoints="1" noAdjustHandles="1" noChangeArrowheads="1" noChangeShapeType="1" noTextEdit="1"/>
              </p:cNvSpPr>
              <p:nvPr/>
            </p:nvSpPr>
            <p:spPr>
              <a:xfrm>
                <a:off x="1503809" y="5633180"/>
                <a:ext cx="1624867" cy="369332"/>
              </a:xfrm>
              <a:prstGeom prst="rect">
                <a:avLst/>
              </a:prstGeom>
              <a:blipFill>
                <a:blip r:embed="rId7"/>
                <a:stretch>
                  <a:fillRect l="-2632" t="-1639" r="-6391" b="-32787"/>
                </a:stretch>
              </a:blipFill>
            </p:spPr>
            <p:txBody>
              <a:bodyPr/>
              <a:lstStyle/>
              <a:p>
                <a:r>
                  <a:rPr lang="en-SE">
                    <a:noFill/>
                  </a:rPr>
                  <a:t> </a:t>
                </a:r>
              </a:p>
            </p:txBody>
          </p:sp>
        </mc:Fallback>
      </mc:AlternateContent>
      <p:grpSp>
        <p:nvGrpSpPr>
          <p:cNvPr id="44" name="Group 43">
            <a:extLst>
              <a:ext uri="{FF2B5EF4-FFF2-40B4-BE49-F238E27FC236}">
                <a16:creationId xmlns:a16="http://schemas.microsoft.com/office/drawing/2014/main" id="{6E14FB78-10DB-9822-8363-F420BD274530}"/>
              </a:ext>
            </a:extLst>
          </p:cNvPr>
          <p:cNvGrpSpPr/>
          <p:nvPr/>
        </p:nvGrpSpPr>
        <p:grpSpPr>
          <a:xfrm>
            <a:off x="203635" y="1825625"/>
            <a:ext cx="504000" cy="504000"/>
            <a:chOff x="977950" y="2729564"/>
            <a:chExt cx="504000" cy="504000"/>
          </a:xfrm>
        </p:grpSpPr>
        <p:sp>
          <p:nvSpPr>
            <p:cNvPr id="45" name="Oval 44">
              <a:extLst>
                <a:ext uri="{FF2B5EF4-FFF2-40B4-BE49-F238E27FC236}">
                  <a16:creationId xmlns:a16="http://schemas.microsoft.com/office/drawing/2014/main" id="{95BEBD13-3504-BCBC-5DCE-B8BF88E4EA23}"/>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6" name="Graphic 45" descr="Golden Ratio with solid fill">
              <a:extLst>
                <a:ext uri="{FF2B5EF4-FFF2-40B4-BE49-F238E27FC236}">
                  <a16:creationId xmlns:a16="http://schemas.microsoft.com/office/drawing/2014/main" id="{94468FE1-3D1E-41B6-F8AC-A6E55521D3A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1950" y="2783564"/>
              <a:ext cx="396000" cy="396000"/>
            </a:xfrm>
            <a:prstGeom prst="rect">
              <a:avLst/>
            </a:prstGeom>
          </p:spPr>
        </p:pic>
      </p:grpSp>
      <p:grpSp>
        <p:nvGrpSpPr>
          <p:cNvPr id="47" name="Group 46">
            <a:extLst>
              <a:ext uri="{FF2B5EF4-FFF2-40B4-BE49-F238E27FC236}">
                <a16:creationId xmlns:a16="http://schemas.microsoft.com/office/drawing/2014/main" id="{728D74AC-3923-3038-CFDE-4596BD000340}"/>
              </a:ext>
            </a:extLst>
          </p:cNvPr>
          <p:cNvGrpSpPr/>
          <p:nvPr/>
        </p:nvGrpSpPr>
        <p:grpSpPr>
          <a:xfrm>
            <a:off x="203635" y="2439322"/>
            <a:ext cx="504000" cy="504000"/>
            <a:chOff x="977950" y="2729564"/>
            <a:chExt cx="504000" cy="504000"/>
          </a:xfrm>
        </p:grpSpPr>
        <p:sp>
          <p:nvSpPr>
            <p:cNvPr id="48" name="Oval 47">
              <a:extLst>
                <a:ext uri="{FF2B5EF4-FFF2-40B4-BE49-F238E27FC236}">
                  <a16:creationId xmlns:a16="http://schemas.microsoft.com/office/drawing/2014/main" id="{A2F30D73-D460-5C3F-4B08-65F2E3403020}"/>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9" name="Graphic 48" descr="Normal Distribution with solid fill">
              <a:extLst>
                <a:ext uri="{FF2B5EF4-FFF2-40B4-BE49-F238E27FC236}">
                  <a16:creationId xmlns:a16="http://schemas.microsoft.com/office/drawing/2014/main" id="{E33A2F6F-633A-E83B-3C28-C9B23C23D8E6}"/>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031950" y="2783564"/>
              <a:ext cx="396000" cy="396000"/>
            </a:xfrm>
            <a:prstGeom prst="rect">
              <a:avLst/>
            </a:prstGeom>
          </p:spPr>
        </p:pic>
      </p:grpSp>
      <p:grpSp>
        <p:nvGrpSpPr>
          <p:cNvPr id="50" name="Group 49">
            <a:extLst>
              <a:ext uri="{FF2B5EF4-FFF2-40B4-BE49-F238E27FC236}">
                <a16:creationId xmlns:a16="http://schemas.microsoft.com/office/drawing/2014/main" id="{C322B7AB-9917-9281-541E-D6DE6F44D68A}"/>
              </a:ext>
            </a:extLst>
          </p:cNvPr>
          <p:cNvGrpSpPr/>
          <p:nvPr/>
        </p:nvGrpSpPr>
        <p:grpSpPr>
          <a:xfrm>
            <a:off x="203635" y="3053019"/>
            <a:ext cx="504000" cy="504000"/>
            <a:chOff x="977950" y="2729564"/>
            <a:chExt cx="504000" cy="504000"/>
          </a:xfrm>
        </p:grpSpPr>
        <p:sp>
          <p:nvSpPr>
            <p:cNvPr id="51" name="Oval 50">
              <a:extLst>
                <a:ext uri="{FF2B5EF4-FFF2-40B4-BE49-F238E27FC236}">
                  <a16:creationId xmlns:a16="http://schemas.microsoft.com/office/drawing/2014/main" id="{608C5D5D-4DDD-3CDD-74FC-703B984EA6D1}"/>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2" name="Graphic 51" descr="Abacus with solid fill">
              <a:extLst>
                <a:ext uri="{FF2B5EF4-FFF2-40B4-BE49-F238E27FC236}">
                  <a16:creationId xmlns:a16="http://schemas.microsoft.com/office/drawing/2014/main" id="{BBE01F02-3A8C-3E9A-896B-F4FAC35AD103}"/>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1031950" y="2783564"/>
              <a:ext cx="396000" cy="396000"/>
            </a:xfrm>
            <a:prstGeom prst="rect">
              <a:avLst/>
            </a:prstGeom>
          </p:spPr>
        </p:pic>
      </p:grpSp>
      <p:grpSp>
        <p:nvGrpSpPr>
          <p:cNvPr id="53" name="Group 52">
            <a:extLst>
              <a:ext uri="{FF2B5EF4-FFF2-40B4-BE49-F238E27FC236}">
                <a16:creationId xmlns:a16="http://schemas.microsoft.com/office/drawing/2014/main" id="{84631BAE-909D-CE3A-8F64-BE85F58B5F5D}"/>
              </a:ext>
            </a:extLst>
          </p:cNvPr>
          <p:cNvGrpSpPr/>
          <p:nvPr/>
        </p:nvGrpSpPr>
        <p:grpSpPr>
          <a:xfrm>
            <a:off x="203635" y="3666716"/>
            <a:ext cx="504000" cy="504000"/>
            <a:chOff x="977950" y="2729564"/>
            <a:chExt cx="504000" cy="504000"/>
          </a:xfrm>
        </p:grpSpPr>
        <p:sp>
          <p:nvSpPr>
            <p:cNvPr id="54" name="Oval 53">
              <a:extLst>
                <a:ext uri="{FF2B5EF4-FFF2-40B4-BE49-F238E27FC236}">
                  <a16:creationId xmlns:a16="http://schemas.microsoft.com/office/drawing/2014/main" id="{04818C90-71EE-6924-49FB-15CE35953FBE}"/>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5" name="Graphic 54" descr="Trigonometry with solid fill">
              <a:extLst>
                <a:ext uri="{FF2B5EF4-FFF2-40B4-BE49-F238E27FC236}">
                  <a16:creationId xmlns:a16="http://schemas.microsoft.com/office/drawing/2014/main" id="{B4F9F487-8489-8C8E-318C-45285B823934}"/>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1031950" y="2783564"/>
              <a:ext cx="396000" cy="396000"/>
            </a:xfrm>
            <a:prstGeom prst="rect">
              <a:avLst/>
            </a:prstGeom>
          </p:spPr>
        </p:pic>
      </p:grpSp>
      <p:grpSp>
        <p:nvGrpSpPr>
          <p:cNvPr id="56" name="Group 55">
            <a:extLst>
              <a:ext uri="{FF2B5EF4-FFF2-40B4-BE49-F238E27FC236}">
                <a16:creationId xmlns:a16="http://schemas.microsoft.com/office/drawing/2014/main" id="{12575089-17CB-4FE1-2D55-F8A30284E306}"/>
              </a:ext>
            </a:extLst>
          </p:cNvPr>
          <p:cNvGrpSpPr/>
          <p:nvPr/>
        </p:nvGrpSpPr>
        <p:grpSpPr>
          <a:xfrm>
            <a:off x="203635" y="4280414"/>
            <a:ext cx="504000" cy="504000"/>
            <a:chOff x="977950" y="2729564"/>
            <a:chExt cx="504000" cy="504000"/>
          </a:xfrm>
        </p:grpSpPr>
        <p:sp>
          <p:nvSpPr>
            <p:cNvPr id="57" name="Oval 56">
              <a:extLst>
                <a:ext uri="{FF2B5EF4-FFF2-40B4-BE49-F238E27FC236}">
                  <a16:creationId xmlns:a16="http://schemas.microsoft.com/office/drawing/2014/main" id="{8A837B61-37D1-9EB5-706F-0B6AD11CF133}"/>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8" name="Graphic 57" descr="Scatterplot with solid fill">
              <a:extLst>
                <a:ext uri="{FF2B5EF4-FFF2-40B4-BE49-F238E27FC236}">
                  <a16:creationId xmlns:a16="http://schemas.microsoft.com/office/drawing/2014/main" id="{9C8F6AF5-470F-A70B-E207-9027E591949C}"/>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1031950" y="2783564"/>
              <a:ext cx="396000" cy="396000"/>
            </a:xfrm>
            <a:prstGeom prst="rect">
              <a:avLst/>
            </a:prstGeom>
          </p:spPr>
        </p:pic>
      </p:grpSp>
      <p:cxnSp>
        <p:nvCxnSpPr>
          <p:cNvPr id="59" name="Straight Arrow Connector 58">
            <a:extLst>
              <a:ext uri="{FF2B5EF4-FFF2-40B4-BE49-F238E27FC236}">
                <a16:creationId xmlns:a16="http://schemas.microsoft.com/office/drawing/2014/main" id="{87B7F5E2-B621-7CA6-B25A-8B333BF59C7F}"/>
              </a:ext>
            </a:extLst>
          </p:cNvPr>
          <p:cNvCxnSpPr>
            <a:cxnSpLocks/>
            <a:stCxn id="45" idx="4"/>
            <a:endCxn id="48"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0" name="Straight Arrow Connector 59">
            <a:extLst>
              <a:ext uri="{FF2B5EF4-FFF2-40B4-BE49-F238E27FC236}">
                <a16:creationId xmlns:a16="http://schemas.microsoft.com/office/drawing/2014/main" id="{B53B27AE-4769-75DF-7B11-D20EFD5F4BBC}"/>
              </a:ext>
            </a:extLst>
          </p:cNvPr>
          <p:cNvCxnSpPr>
            <a:cxnSpLocks/>
            <a:stCxn id="48" idx="4"/>
            <a:endCxn id="51"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5D337D7D-2DC5-1B05-15C8-BD931F0A5487}"/>
              </a:ext>
            </a:extLst>
          </p:cNvPr>
          <p:cNvCxnSpPr>
            <a:cxnSpLocks/>
            <a:stCxn id="51" idx="4"/>
            <a:endCxn id="54"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E9239794-97B0-18A7-4EEA-20AA6DED843E}"/>
              </a:ext>
            </a:extLst>
          </p:cNvPr>
          <p:cNvCxnSpPr>
            <a:cxnSpLocks/>
            <a:stCxn id="54" idx="4"/>
            <a:endCxn id="57"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D49754D0-1F8D-B4EF-ABE5-DDF7D04EE777}"/>
              </a:ext>
            </a:extLst>
          </p:cNvPr>
          <p:cNvSpPr/>
          <p:nvPr/>
        </p:nvSpPr>
        <p:spPr>
          <a:xfrm>
            <a:off x="5696372" y="3314519"/>
            <a:ext cx="6067087" cy="2895780"/>
          </a:xfrm>
          <a:prstGeom prst="rect">
            <a:avLst/>
          </a:prstGeom>
          <a:solidFill>
            <a:schemeClr val="bg1">
              <a:lumMod val="95000"/>
            </a:schemeClr>
          </a:solidFill>
          <a:ln>
            <a:solidFill>
              <a:schemeClr val="tx1">
                <a:lumMod val="50000"/>
                <a:lumOff val="50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SE" dirty="0">
                <a:solidFill>
                  <a:schemeClr val="tx1"/>
                </a:solidFill>
                <a:latin typeface="Courier New" panose="02070309020205020404" pitchFamily="49" charset="0"/>
                <a:cs typeface="Courier New" panose="02070309020205020404" pitchFamily="49" charset="0"/>
              </a:rPr>
              <a:t>model &lt;- </a:t>
            </a:r>
            <a:r>
              <a:rPr lang="en-SE" dirty="0" err="1">
                <a:solidFill>
                  <a:schemeClr val="tx1"/>
                </a:solidFill>
                <a:latin typeface="Courier New" panose="02070309020205020404" pitchFamily="49" charset="0"/>
                <a:cs typeface="Courier New" panose="02070309020205020404" pitchFamily="49" charset="0"/>
              </a:rPr>
              <a:t>brm</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y ~ </a:t>
            </a:r>
            <a:r>
              <a:rPr lang="en-SE" dirty="0">
                <a:solidFill>
                  <a:schemeClr val="bg2">
                    <a:lumMod val="75000"/>
                  </a:schemeClr>
                </a:solidFill>
                <a:latin typeface="Courier New" panose="02070309020205020404" pitchFamily="49" charset="0"/>
                <a:cs typeface="Courier New" panose="02070309020205020404" pitchFamily="49" charset="0"/>
              </a:rPr>
              <a:t>1</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accent6"/>
                </a:solidFill>
                <a:latin typeface="Courier New" panose="02070309020205020404" pitchFamily="49" charset="0"/>
                <a:cs typeface="Courier New" panose="02070309020205020404" pitchFamily="49" charset="0"/>
              </a:rPr>
              <a:t>x</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accent6"/>
                </a:solidFill>
                <a:latin typeface="Courier New" panose="02070309020205020404" pitchFamily="49" charset="0"/>
                <a:cs typeface="Courier New" panose="02070309020205020404" pitchFamily="49" charset="0"/>
              </a:rPr>
              <a:t>z</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family = Gaussian,</a:t>
            </a:r>
          </a:p>
          <a:p>
            <a:r>
              <a:rPr lang="en-SE" dirty="0">
                <a:solidFill>
                  <a:schemeClr val="tx1"/>
                </a:solidFill>
                <a:latin typeface="Courier New" panose="02070309020205020404" pitchFamily="49" charset="0"/>
                <a:cs typeface="Courier New" panose="02070309020205020404" pitchFamily="49" charset="0"/>
              </a:rPr>
              <a:t>  </a:t>
            </a:r>
            <a:r>
              <a:rPr lang="en-SE" b="1" dirty="0">
                <a:solidFill>
                  <a:schemeClr val="tx1"/>
                </a:solidFill>
                <a:latin typeface="Courier New" panose="02070309020205020404" pitchFamily="49" charset="0"/>
                <a:cs typeface="Courier New" panose="02070309020205020404" pitchFamily="49" charset="0"/>
              </a:rPr>
              <a:t>priors = c(</a:t>
            </a:r>
          </a:p>
          <a:p>
            <a:r>
              <a:rPr lang="en-SE" b="1" dirty="0">
                <a:solidFill>
                  <a:schemeClr val="tx1"/>
                </a:solidFill>
                <a:latin typeface="Courier New" panose="02070309020205020404" pitchFamily="49" charset="0"/>
                <a:cs typeface="Courier New" panose="02070309020205020404" pitchFamily="49" charset="0"/>
              </a:rPr>
              <a:t>    </a:t>
            </a:r>
            <a:r>
              <a:rPr lang="de-DE" b="1" dirty="0" err="1">
                <a:solidFill>
                  <a:schemeClr val="tx1"/>
                </a:solidFill>
                <a:latin typeface="Courier New" panose="02070309020205020404" pitchFamily="49" charset="0"/>
                <a:cs typeface="Courier New" panose="02070309020205020404" pitchFamily="49" charset="0"/>
              </a:rPr>
              <a:t>prior</a:t>
            </a:r>
            <a:r>
              <a:rPr lang="de-DE" b="1" dirty="0">
                <a:solidFill>
                  <a:schemeClr val="tx1"/>
                </a:solidFill>
                <a:latin typeface="Courier New" panose="02070309020205020404" pitchFamily="49" charset="0"/>
                <a:cs typeface="Courier New" panose="02070309020205020404" pitchFamily="49" charset="0"/>
              </a:rPr>
              <a:t>(normal(</a:t>
            </a:r>
            <a:r>
              <a:rPr lang="en-SE" b="1" dirty="0">
                <a:solidFill>
                  <a:schemeClr val="tx1"/>
                </a:solidFill>
                <a:latin typeface="Courier New" panose="02070309020205020404" pitchFamily="49" charset="0"/>
                <a:cs typeface="Courier New" panose="02070309020205020404" pitchFamily="49" charset="0"/>
              </a:rPr>
              <a:t>3</a:t>
            </a:r>
            <a:r>
              <a:rPr lang="de-DE" b="1" dirty="0">
                <a:solidFill>
                  <a:schemeClr val="tx1"/>
                </a:solidFill>
                <a:latin typeface="Courier New" panose="02070309020205020404" pitchFamily="49" charset="0"/>
                <a:cs typeface="Courier New" panose="02070309020205020404" pitchFamily="49" charset="0"/>
              </a:rPr>
              <a:t>, 1), </a:t>
            </a:r>
            <a:r>
              <a:rPr lang="de-DE" b="1" dirty="0" err="1">
                <a:solidFill>
                  <a:schemeClr val="tx1"/>
                </a:solidFill>
                <a:latin typeface="Courier New" panose="02070309020205020404" pitchFamily="49" charset="0"/>
                <a:cs typeface="Courier New" panose="02070309020205020404" pitchFamily="49" charset="0"/>
              </a:rPr>
              <a:t>class</a:t>
            </a:r>
            <a:r>
              <a:rPr lang="de-DE" b="1" dirty="0">
                <a:solidFill>
                  <a:schemeClr val="tx1"/>
                </a:solidFill>
                <a:latin typeface="Courier New" panose="02070309020205020404" pitchFamily="49" charset="0"/>
                <a:cs typeface="Courier New" panose="02070309020205020404" pitchFamily="49" charset="0"/>
              </a:rPr>
              <a:t> = </a:t>
            </a:r>
            <a:r>
              <a:rPr lang="de-DE" b="1" dirty="0" err="1">
                <a:solidFill>
                  <a:schemeClr val="tx1"/>
                </a:solidFill>
                <a:latin typeface="Courier New" panose="02070309020205020404" pitchFamily="49" charset="0"/>
                <a:cs typeface="Courier New" panose="02070309020205020404" pitchFamily="49" charset="0"/>
              </a:rPr>
              <a:t>Intercept</a:t>
            </a:r>
            <a:r>
              <a:rPr lang="de-DE" b="1" dirty="0">
                <a:solidFill>
                  <a:schemeClr val="tx1"/>
                </a:solidFill>
                <a:latin typeface="Courier New" panose="02070309020205020404" pitchFamily="49" charset="0"/>
                <a:cs typeface="Courier New" panose="02070309020205020404" pitchFamily="49" charset="0"/>
              </a:rPr>
              <a:t>),</a:t>
            </a:r>
            <a:endParaRPr lang="en-SE" b="1" dirty="0">
              <a:solidFill>
                <a:schemeClr val="tx1"/>
              </a:solidFill>
              <a:latin typeface="Courier New" panose="02070309020205020404" pitchFamily="49" charset="0"/>
              <a:cs typeface="Courier New" panose="02070309020205020404" pitchFamily="49" charset="0"/>
            </a:endParaRPr>
          </a:p>
          <a:p>
            <a:r>
              <a:rPr lang="en-SE" b="1" dirty="0">
                <a:solidFill>
                  <a:schemeClr val="tx1"/>
                </a:solidFill>
                <a:latin typeface="Courier New" panose="02070309020205020404" pitchFamily="49" charset="0"/>
                <a:cs typeface="Courier New" panose="02070309020205020404" pitchFamily="49" charset="0"/>
              </a:rPr>
              <a:t>    </a:t>
            </a:r>
            <a:r>
              <a:rPr lang="de-DE" b="1" dirty="0" err="1">
                <a:solidFill>
                  <a:schemeClr val="tx1"/>
                </a:solidFill>
                <a:latin typeface="Courier New" panose="02070309020205020404" pitchFamily="49" charset="0"/>
                <a:cs typeface="Courier New" panose="02070309020205020404" pitchFamily="49" charset="0"/>
              </a:rPr>
              <a:t>prior</a:t>
            </a:r>
            <a:r>
              <a:rPr lang="de-DE" b="1" dirty="0">
                <a:solidFill>
                  <a:schemeClr val="tx1"/>
                </a:solidFill>
                <a:latin typeface="Courier New" panose="02070309020205020404" pitchFamily="49" charset="0"/>
                <a:cs typeface="Courier New" panose="02070309020205020404" pitchFamily="49" charset="0"/>
              </a:rPr>
              <a:t>(normal(0, </a:t>
            </a:r>
            <a:r>
              <a:rPr lang="en-SE" b="1" dirty="0">
                <a:solidFill>
                  <a:schemeClr val="tx1"/>
                </a:solidFill>
                <a:latin typeface="Courier New" panose="02070309020205020404" pitchFamily="49" charset="0"/>
                <a:cs typeface="Courier New" panose="02070309020205020404" pitchFamily="49" charset="0"/>
              </a:rPr>
              <a:t>0.5</a:t>
            </a:r>
            <a:r>
              <a:rPr lang="de-DE" b="1" dirty="0">
                <a:solidFill>
                  <a:schemeClr val="tx1"/>
                </a:solidFill>
                <a:latin typeface="Courier New" panose="02070309020205020404" pitchFamily="49" charset="0"/>
                <a:cs typeface="Courier New" panose="02070309020205020404" pitchFamily="49" charset="0"/>
              </a:rPr>
              <a:t>), </a:t>
            </a:r>
            <a:r>
              <a:rPr lang="de-DE" b="1" dirty="0" err="1">
                <a:solidFill>
                  <a:schemeClr val="tx1"/>
                </a:solidFill>
                <a:latin typeface="Courier New" panose="02070309020205020404" pitchFamily="49" charset="0"/>
                <a:cs typeface="Courier New" panose="02070309020205020404" pitchFamily="49" charset="0"/>
              </a:rPr>
              <a:t>class</a:t>
            </a:r>
            <a:r>
              <a:rPr lang="de-DE" b="1" dirty="0">
                <a:solidFill>
                  <a:schemeClr val="tx1"/>
                </a:solidFill>
                <a:latin typeface="Courier New" panose="02070309020205020404" pitchFamily="49" charset="0"/>
                <a:cs typeface="Courier New" panose="02070309020205020404" pitchFamily="49" charset="0"/>
              </a:rPr>
              <a:t> = b)</a:t>
            </a:r>
            <a:r>
              <a:rPr lang="en-SE" b="1" dirty="0">
                <a:solidFill>
                  <a:schemeClr val="tx1"/>
                </a:solidFill>
                <a:latin typeface="Courier New" panose="02070309020205020404" pitchFamily="49" charset="0"/>
                <a:cs typeface="Courier New" panose="02070309020205020404" pitchFamily="49" charset="0"/>
              </a:rPr>
              <a:t>,</a:t>
            </a:r>
          </a:p>
          <a:p>
            <a:r>
              <a:rPr lang="en-SE" b="1" dirty="0">
                <a:solidFill>
                  <a:schemeClr val="tx1"/>
                </a:solidFill>
                <a:latin typeface="Courier New" panose="02070309020205020404" pitchFamily="49" charset="0"/>
                <a:cs typeface="Courier New" panose="02070309020205020404" pitchFamily="49" charset="0"/>
              </a:rPr>
              <a:t>    </a:t>
            </a:r>
            <a:r>
              <a:rPr lang="de-DE" b="1" dirty="0" err="1">
                <a:solidFill>
                  <a:schemeClr val="tx1"/>
                </a:solidFill>
                <a:latin typeface="Courier New" panose="02070309020205020404" pitchFamily="49" charset="0"/>
                <a:cs typeface="Courier New" panose="02070309020205020404" pitchFamily="49" charset="0"/>
              </a:rPr>
              <a:t>prior</a:t>
            </a:r>
            <a:r>
              <a:rPr lang="de-DE" b="1" dirty="0">
                <a:solidFill>
                  <a:schemeClr val="tx1"/>
                </a:solidFill>
                <a:latin typeface="Courier New" panose="02070309020205020404" pitchFamily="49" charset="0"/>
                <a:cs typeface="Courier New" panose="02070309020205020404" pitchFamily="49" charset="0"/>
              </a:rPr>
              <a:t>(</a:t>
            </a:r>
            <a:r>
              <a:rPr lang="en-SE" b="1" dirty="0">
                <a:solidFill>
                  <a:schemeClr val="tx1"/>
                </a:solidFill>
                <a:latin typeface="Courier New" panose="02070309020205020404" pitchFamily="49" charset="0"/>
                <a:cs typeface="Courier New" panose="02070309020205020404" pitchFamily="49" charset="0"/>
              </a:rPr>
              <a:t>exp</a:t>
            </a:r>
            <a:r>
              <a:rPr lang="de-DE" b="1" dirty="0">
                <a:solidFill>
                  <a:schemeClr val="tx1"/>
                </a:solidFill>
                <a:latin typeface="Courier New" panose="02070309020205020404" pitchFamily="49" charset="0"/>
                <a:cs typeface="Courier New" panose="02070309020205020404" pitchFamily="49" charset="0"/>
              </a:rPr>
              <a:t>(</a:t>
            </a:r>
            <a:r>
              <a:rPr lang="en-SE" b="1" dirty="0">
                <a:solidFill>
                  <a:schemeClr val="tx1"/>
                </a:solidFill>
                <a:latin typeface="Courier New" panose="02070309020205020404" pitchFamily="49" charset="0"/>
                <a:cs typeface="Courier New" panose="02070309020205020404" pitchFamily="49" charset="0"/>
              </a:rPr>
              <a:t>1</a:t>
            </a:r>
            <a:r>
              <a:rPr lang="de-DE" b="1" dirty="0">
                <a:solidFill>
                  <a:schemeClr val="tx1"/>
                </a:solidFill>
                <a:latin typeface="Courier New" panose="02070309020205020404" pitchFamily="49" charset="0"/>
                <a:cs typeface="Courier New" panose="02070309020205020404" pitchFamily="49" charset="0"/>
              </a:rPr>
              <a:t>), </a:t>
            </a:r>
            <a:r>
              <a:rPr lang="de-DE" b="1" dirty="0" err="1">
                <a:solidFill>
                  <a:schemeClr val="tx1"/>
                </a:solidFill>
                <a:latin typeface="Courier New" panose="02070309020205020404" pitchFamily="49" charset="0"/>
                <a:cs typeface="Courier New" panose="02070309020205020404" pitchFamily="49" charset="0"/>
              </a:rPr>
              <a:t>class</a:t>
            </a:r>
            <a:r>
              <a:rPr lang="de-DE" b="1" dirty="0">
                <a:solidFill>
                  <a:schemeClr val="tx1"/>
                </a:solidFill>
                <a:latin typeface="Courier New" panose="02070309020205020404" pitchFamily="49" charset="0"/>
                <a:cs typeface="Courier New" panose="02070309020205020404" pitchFamily="49" charset="0"/>
              </a:rPr>
              <a:t> = </a:t>
            </a:r>
            <a:r>
              <a:rPr lang="en-SE" b="1" dirty="0">
                <a:solidFill>
                  <a:schemeClr val="tx1"/>
                </a:solidFill>
                <a:latin typeface="Courier New" panose="02070309020205020404" pitchFamily="49" charset="0"/>
                <a:cs typeface="Courier New" panose="02070309020205020404" pitchFamily="49" charset="0"/>
              </a:rPr>
              <a:t>sigma</a:t>
            </a:r>
            <a:r>
              <a:rPr lang="de-DE" b="1" dirty="0">
                <a:solidFill>
                  <a:schemeClr val="tx1"/>
                </a:solidFill>
                <a:latin typeface="Courier New" panose="02070309020205020404" pitchFamily="49" charset="0"/>
                <a:cs typeface="Courier New" panose="02070309020205020404" pitchFamily="49" charset="0"/>
              </a:rPr>
              <a:t>))</a:t>
            </a:r>
            <a:endParaRPr lang="en-SE" b="1"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a:t>
            </a:r>
          </a:p>
        </p:txBody>
      </p:sp>
      <p:sp>
        <p:nvSpPr>
          <p:cNvPr id="7" name="Rectangle 6">
            <a:extLst>
              <a:ext uri="{FF2B5EF4-FFF2-40B4-BE49-F238E27FC236}">
                <a16:creationId xmlns:a16="http://schemas.microsoft.com/office/drawing/2014/main" id="{4786D5EE-5A7F-E454-929B-B390E660B903}"/>
              </a:ext>
            </a:extLst>
          </p:cNvPr>
          <p:cNvSpPr/>
          <p:nvPr/>
        </p:nvSpPr>
        <p:spPr>
          <a:xfrm>
            <a:off x="5696372" y="2949394"/>
            <a:ext cx="6067087" cy="365125"/>
          </a:xfrm>
          <a:prstGeom prst="rect">
            <a:avLst/>
          </a:prstGeom>
          <a:solidFill>
            <a:schemeClr val="tx1">
              <a:lumMod val="65000"/>
              <a:lumOff val="3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E" dirty="0">
                <a:solidFill>
                  <a:schemeClr val="bg1"/>
                </a:solidFill>
                <a:latin typeface="Courier New" panose="02070309020205020404" pitchFamily="49" charset="0"/>
                <a:cs typeface="Courier New" panose="02070309020205020404" pitchFamily="49" charset="0"/>
              </a:rPr>
              <a:t>R 4.5.0 using library(brms)</a:t>
            </a:r>
          </a:p>
        </p:txBody>
      </p:sp>
      <p:pic>
        <p:nvPicPr>
          <p:cNvPr id="10" name="Graphic 9" descr="Robot with solid fill">
            <a:extLst>
              <a:ext uri="{FF2B5EF4-FFF2-40B4-BE49-F238E27FC236}">
                <a16:creationId xmlns:a16="http://schemas.microsoft.com/office/drawing/2014/main" id="{76DE9509-5944-615F-BAFC-9C8E60D6398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281676" y="3064349"/>
            <a:ext cx="360000" cy="360000"/>
          </a:xfrm>
          <a:prstGeom prst="rect">
            <a:avLst/>
          </a:prstGeom>
        </p:spPr>
      </p:pic>
    </p:spTree>
    <p:extLst>
      <p:ext uri="{BB962C8B-B14F-4D97-AF65-F5344CB8AC3E}">
        <p14:creationId xmlns:p14="http://schemas.microsoft.com/office/powerpoint/2010/main" val="2129482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C2D6920F-563A-73C1-1AC5-D86B6DBD4146}"/>
              </a:ext>
            </a:extLst>
          </p:cNvPr>
          <p:cNvSpPr>
            <a:spLocks noGrp="1"/>
          </p:cNvSpPr>
          <p:nvPr>
            <p:ph type="ftr" sz="quarter" idx="11"/>
          </p:nvPr>
        </p:nvSpPr>
        <p:spPr/>
        <p:txBody>
          <a:bodyPr/>
          <a:lstStyle/>
          <a:p>
            <a:r>
              <a:rPr lang="de-DE" dirty="0" err="1"/>
              <a:t>Bayesian</a:t>
            </a:r>
            <a:r>
              <a:rPr lang="de-DE" dirty="0"/>
              <a:t> Data Analysis Tutorial</a:t>
            </a:r>
            <a:endParaRPr lang="en-SE" dirty="0"/>
          </a:p>
        </p:txBody>
      </p:sp>
      <p:sp>
        <p:nvSpPr>
          <p:cNvPr id="20" name="TextBox 19">
            <a:extLst>
              <a:ext uri="{FF2B5EF4-FFF2-40B4-BE49-F238E27FC236}">
                <a16:creationId xmlns:a16="http://schemas.microsoft.com/office/drawing/2014/main" id="{AA1A9A82-DD64-BDD7-4651-D93F14FBA825}"/>
              </a:ext>
            </a:extLst>
          </p:cNvPr>
          <p:cNvSpPr txBox="1"/>
          <p:nvPr/>
        </p:nvSpPr>
        <p:spPr>
          <a:xfrm>
            <a:off x="5212402" y="4066432"/>
            <a:ext cx="1754712" cy="369332"/>
          </a:xfrm>
          <a:prstGeom prst="rect">
            <a:avLst/>
          </a:prstGeom>
          <a:noFill/>
        </p:spPr>
        <p:txBody>
          <a:bodyPr wrap="none" rtlCol="0">
            <a:spAutoFit/>
          </a:bodyPr>
          <a:lstStyle/>
          <a:p>
            <a:pPr algn="ctr"/>
            <a:r>
              <a:rPr lang="en-SE" dirty="0"/>
              <a:t>Bayesian Model</a:t>
            </a:r>
          </a:p>
        </p:txBody>
      </p:sp>
      <p:sp>
        <p:nvSpPr>
          <p:cNvPr id="53" name="Rectangle: Rounded Corners 52">
            <a:extLst>
              <a:ext uri="{FF2B5EF4-FFF2-40B4-BE49-F238E27FC236}">
                <a16:creationId xmlns:a16="http://schemas.microsoft.com/office/drawing/2014/main" id="{228CDFCD-9708-76D1-8610-87E133BFB958}"/>
              </a:ext>
            </a:extLst>
          </p:cNvPr>
          <p:cNvSpPr/>
          <p:nvPr/>
        </p:nvSpPr>
        <p:spPr>
          <a:xfrm>
            <a:off x="4526136" y="4040899"/>
            <a:ext cx="3626251" cy="2483604"/>
          </a:xfrm>
          <a:prstGeom prst="roundRect">
            <a:avLst>
              <a:gd name="adj" fmla="val 10544"/>
            </a:avLst>
          </a:prstGeom>
          <a:solidFill>
            <a:schemeClr val="accent5">
              <a:lumMod val="20000"/>
              <a:lumOff val="80000"/>
            </a:schemeClr>
          </a:solidFill>
          <a:ln>
            <a:solidFill>
              <a:schemeClr val="accent4">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SE" dirty="0">
                <a:solidFill>
                  <a:sysClr val="windowText" lastClr="000000"/>
                </a:solidFill>
              </a:rPr>
              <a:t>Bayesian Model</a:t>
            </a:r>
          </a:p>
        </p:txBody>
      </p:sp>
      <p:sp>
        <p:nvSpPr>
          <p:cNvPr id="2" name="Title 1">
            <a:extLst>
              <a:ext uri="{FF2B5EF4-FFF2-40B4-BE49-F238E27FC236}">
                <a16:creationId xmlns:a16="http://schemas.microsoft.com/office/drawing/2014/main" id="{C24241B2-E9F1-FF3E-E72F-C1CE1D5F0B66}"/>
              </a:ext>
            </a:extLst>
          </p:cNvPr>
          <p:cNvSpPr>
            <a:spLocks noGrp="1"/>
          </p:cNvSpPr>
          <p:nvPr>
            <p:ph type="title"/>
          </p:nvPr>
        </p:nvSpPr>
        <p:spPr/>
        <p:txBody>
          <a:bodyPr/>
          <a:lstStyle/>
          <a:p>
            <a:r>
              <a:rPr lang="en-SE" dirty="0"/>
              <a:t>Assessing Priors</a:t>
            </a:r>
          </a:p>
        </p:txBody>
      </p:sp>
      <p:sp>
        <p:nvSpPr>
          <p:cNvPr id="3" name="Content Placeholder 2">
            <a:extLst>
              <a:ext uri="{FF2B5EF4-FFF2-40B4-BE49-F238E27FC236}">
                <a16:creationId xmlns:a16="http://schemas.microsoft.com/office/drawing/2014/main" id="{7E7B9D6F-299E-1CAA-DCF5-C40F91223B31}"/>
              </a:ext>
            </a:extLst>
          </p:cNvPr>
          <p:cNvSpPr>
            <a:spLocks noGrp="1"/>
          </p:cNvSpPr>
          <p:nvPr>
            <p:ph idx="1"/>
          </p:nvPr>
        </p:nvSpPr>
        <p:spPr>
          <a:xfrm>
            <a:off x="838200" y="1825625"/>
            <a:ext cx="10515600" cy="1325563"/>
          </a:xfrm>
        </p:spPr>
        <p:txBody>
          <a:bodyPr/>
          <a:lstStyle/>
          <a:p>
            <a:pPr marL="0" indent="0">
              <a:buNone/>
            </a:pPr>
            <a:r>
              <a:rPr lang="en-SE" dirty="0"/>
              <a:t>The actually observed data should be </a:t>
            </a:r>
            <a:r>
              <a:rPr lang="en-SE" b="1" dirty="0"/>
              <a:t>plausible</a:t>
            </a:r>
            <a:r>
              <a:rPr lang="en-SE" dirty="0"/>
              <a:t> given the prior probability distributions.  We can assess this via a </a:t>
            </a:r>
            <a:r>
              <a:rPr lang="en-SE" b="1" dirty="0"/>
              <a:t>prior predictive check</a:t>
            </a:r>
            <a:r>
              <a:rPr lang="en-SE" dirty="0"/>
              <a:t>.</a:t>
            </a:r>
          </a:p>
        </p:txBody>
      </p:sp>
      <p:sp>
        <p:nvSpPr>
          <p:cNvPr id="4" name="Date Placeholder 3">
            <a:extLst>
              <a:ext uri="{FF2B5EF4-FFF2-40B4-BE49-F238E27FC236}">
                <a16:creationId xmlns:a16="http://schemas.microsoft.com/office/drawing/2014/main" id="{93B9AB00-9454-9A92-C193-8D1846BD45DE}"/>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8222FA38-F405-05AD-A3EC-76FB788F89E8}"/>
              </a:ext>
            </a:extLst>
          </p:cNvPr>
          <p:cNvSpPr>
            <a:spLocks noGrp="1"/>
          </p:cNvSpPr>
          <p:nvPr>
            <p:ph type="sldNum" sz="quarter" idx="12"/>
          </p:nvPr>
        </p:nvSpPr>
        <p:spPr/>
        <p:txBody>
          <a:bodyPr/>
          <a:lstStyle/>
          <a:p>
            <a:fld id="{271ECC92-9CDE-4EB3-B1C5-F46B9E1FA3C1}" type="slidenum">
              <a:rPr lang="en-SE" smtClean="0"/>
              <a:t>48</a:t>
            </a:fld>
            <a:endParaRPr lang="en-SE" dirty="0"/>
          </a:p>
        </p:txBody>
      </p:sp>
      <p:pic>
        <p:nvPicPr>
          <p:cNvPr id="16" name="Graphic 15" descr="Database with solid fill">
            <a:extLst>
              <a:ext uri="{FF2B5EF4-FFF2-40B4-BE49-F238E27FC236}">
                <a16:creationId xmlns:a16="http://schemas.microsoft.com/office/drawing/2014/main" id="{6550367A-46BB-F89F-EC28-4AEF775A42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182618" y="3154667"/>
            <a:ext cx="914400" cy="914400"/>
          </a:xfrm>
          <a:prstGeom prst="rect">
            <a:avLst/>
          </a:prstGeom>
        </p:spPr>
      </p:pic>
      <p:grpSp>
        <p:nvGrpSpPr>
          <p:cNvPr id="34" name="Group 33">
            <a:extLst>
              <a:ext uri="{FF2B5EF4-FFF2-40B4-BE49-F238E27FC236}">
                <a16:creationId xmlns:a16="http://schemas.microsoft.com/office/drawing/2014/main" id="{BA87A224-5BA2-EA55-32DC-1822357F341F}"/>
              </a:ext>
            </a:extLst>
          </p:cNvPr>
          <p:cNvGrpSpPr/>
          <p:nvPr/>
        </p:nvGrpSpPr>
        <p:grpSpPr>
          <a:xfrm>
            <a:off x="203635" y="1825625"/>
            <a:ext cx="504000" cy="504000"/>
            <a:chOff x="977950" y="2729564"/>
            <a:chExt cx="504000" cy="504000"/>
          </a:xfrm>
        </p:grpSpPr>
        <p:sp>
          <p:nvSpPr>
            <p:cNvPr id="35" name="Oval 34">
              <a:extLst>
                <a:ext uri="{FF2B5EF4-FFF2-40B4-BE49-F238E27FC236}">
                  <a16:creationId xmlns:a16="http://schemas.microsoft.com/office/drawing/2014/main" id="{8CCDBF27-70FA-A7AB-A45C-15032FAB1EBE}"/>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6" name="Graphic 35" descr="Golden Ratio with solid fill">
              <a:extLst>
                <a:ext uri="{FF2B5EF4-FFF2-40B4-BE49-F238E27FC236}">
                  <a16:creationId xmlns:a16="http://schemas.microsoft.com/office/drawing/2014/main" id="{A0C26A0A-0221-FD0E-1E52-738D682E7B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37" name="Group 36">
            <a:extLst>
              <a:ext uri="{FF2B5EF4-FFF2-40B4-BE49-F238E27FC236}">
                <a16:creationId xmlns:a16="http://schemas.microsoft.com/office/drawing/2014/main" id="{1FBE98E6-ACD5-71D5-80AB-85E16940DC6C}"/>
              </a:ext>
            </a:extLst>
          </p:cNvPr>
          <p:cNvGrpSpPr/>
          <p:nvPr/>
        </p:nvGrpSpPr>
        <p:grpSpPr>
          <a:xfrm>
            <a:off x="203635" y="2439322"/>
            <a:ext cx="504000" cy="504000"/>
            <a:chOff x="977950" y="2729564"/>
            <a:chExt cx="504000" cy="504000"/>
          </a:xfrm>
        </p:grpSpPr>
        <p:sp>
          <p:nvSpPr>
            <p:cNvPr id="38" name="Oval 37">
              <a:extLst>
                <a:ext uri="{FF2B5EF4-FFF2-40B4-BE49-F238E27FC236}">
                  <a16:creationId xmlns:a16="http://schemas.microsoft.com/office/drawing/2014/main" id="{0C864083-1502-AA1D-4EB0-DD22093F8C30}"/>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9" name="Graphic 38" descr="Normal Distribution with solid fill">
              <a:extLst>
                <a:ext uri="{FF2B5EF4-FFF2-40B4-BE49-F238E27FC236}">
                  <a16:creationId xmlns:a16="http://schemas.microsoft.com/office/drawing/2014/main" id="{285015A6-2AD1-8DF9-B95D-C4AAAE7AB61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40" name="Group 39">
            <a:extLst>
              <a:ext uri="{FF2B5EF4-FFF2-40B4-BE49-F238E27FC236}">
                <a16:creationId xmlns:a16="http://schemas.microsoft.com/office/drawing/2014/main" id="{7F6BDB87-EF3D-B7E1-0936-4E3D80BCD70D}"/>
              </a:ext>
            </a:extLst>
          </p:cNvPr>
          <p:cNvGrpSpPr/>
          <p:nvPr/>
        </p:nvGrpSpPr>
        <p:grpSpPr>
          <a:xfrm>
            <a:off x="203635" y="3053019"/>
            <a:ext cx="504000" cy="504000"/>
            <a:chOff x="977950" y="2729564"/>
            <a:chExt cx="504000" cy="504000"/>
          </a:xfrm>
        </p:grpSpPr>
        <p:sp>
          <p:nvSpPr>
            <p:cNvPr id="41" name="Oval 40">
              <a:extLst>
                <a:ext uri="{FF2B5EF4-FFF2-40B4-BE49-F238E27FC236}">
                  <a16:creationId xmlns:a16="http://schemas.microsoft.com/office/drawing/2014/main" id="{D96B0876-9E42-5EF1-1B41-B5F157E4CC0C}"/>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2" name="Graphic 41" descr="Abacus with solid fill">
              <a:extLst>
                <a:ext uri="{FF2B5EF4-FFF2-40B4-BE49-F238E27FC236}">
                  <a16:creationId xmlns:a16="http://schemas.microsoft.com/office/drawing/2014/main" id="{94439D3E-B29F-1BC6-C17F-D60A04E1E308}"/>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43" name="Group 42">
            <a:extLst>
              <a:ext uri="{FF2B5EF4-FFF2-40B4-BE49-F238E27FC236}">
                <a16:creationId xmlns:a16="http://schemas.microsoft.com/office/drawing/2014/main" id="{CD86D27D-F898-7A05-824A-7DF47D2088F0}"/>
              </a:ext>
            </a:extLst>
          </p:cNvPr>
          <p:cNvGrpSpPr/>
          <p:nvPr/>
        </p:nvGrpSpPr>
        <p:grpSpPr>
          <a:xfrm>
            <a:off x="203635" y="3666716"/>
            <a:ext cx="504000" cy="504000"/>
            <a:chOff x="977950" y="2729564"/>
            <a:chExt cx="504000" cy="504000"/>
          </a:xfrm>
        </p:grpSpPr>
        <p:sp>
          <p:nvSpPr>
            <p:cNvPr id="44" name="Oval 43">
              <a:extLst>
                <a:ext uri="{FF2B5EF4-FFF2-40B4-BE49-F238E27FC236}">
                  <a16:creationId xmlns:a16="http://schemas.microsoft.com/office/drawing/2014/main" id="{7E2DA005-2410-F372-13B6-9F757CB5C1B2}"/>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5" name="Graphic 44" descr="Trigonometry with solid fill">
              <a:extLst>
                <a:ext uri="{FF2B5EF4-FFF2-40B4-BE49-F238E27FC236}">
                  <a16:creationId xmlns:a16="http://schemas.microsoft.com/office/drawing/2014/main" id="{E4B1D01B-196B-8B52-7C76-237ACBBB101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46" name="Group 45">
            <a:extLst>
              <a:ext uri="{FF2B5EF4-FFF2-40B4-BE49-F238E27FC236}">
                <a16:creationId xmlns:a16="http://schemas.microsoft.com/office/drawing/2014/main" id="{1B61EEFA-398F-B93D-A44E-7EDD2D8E3543}"/>
              </a:ext>
            </a:extLst>
          </p:cNvPr>
          <p:cNvGrpSpPr/>
          <p:nvPr/>
        </p:nvGrpSpPr>
        <p:grpSpPr>
          <a:xfrm>
            <a:off x="203635" y="4280414"/>
            <a:ext cx="504000" cy="504000"/>
            <a:chOff x="977950" y="2729564"/>
            <a:chExt cx="504000" cy="504000"/>
          </a:xfrm>
        </p:grpSpPr>
        <p:sp>
          <p:nvSpPr>
            <p:cNvPr id="47" name="Oval 46">
              <a:extLst>
                <a:ext uri="{FF2B5EF4-FFF2-40B4-BE49-F238E27FC236}">
                  <a16:creationId xmlns:a16="http://schemas.microsoft.com/office/drawing/2014/main" id="{5DC38C0A-4D03-3568-6C9E-6F46187815AA}"/>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8" name="Graphic 47" descr="Scatterplot with solid fill">
              <a:extLst>
                <a:ext uri="{FF2B5EF4-FFF2-40B4-BE49-F238E27FC236}">
                  <a16:creationId xmlns:a16="http://schemas.microsoft.com/office/drawing/2014/main" id="{C227F6D3-4D69-CD29-32BB-93AD25FDF0DD}"/>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49" name="Straight Arrow Connector 48">
            <a:extLst>
              <a:ext uri="{FF2B5EF4-FFF2-40B4-BE49-F238E27FC236}">
                <a16:creationId xmlns:a16="http://schemas.microsoft.com/office/drawing/2014/main" id="{2B75E30C-677C-2FA4-ED57-F60CDE22A872}"/>
              </a:ext>
            </a:extLst>
          </p:cNvPr>
          <p:cNvCxnSpPr>
            <a:cxnSpLocks/>
            <a:stCxn id="35" idx="4"/>
            <a:endCxn id="38"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ACDE55C2-13AF-66C3-D3E7-FC21AF90428D}"/>
              </a:ext>
            </a:extLst>
          </p:cNvPr>
          <p:cNvCxnSpPr>
            <a:cxnSpLocks/>
            <a:stCxn id="38" idx="4"/>
            <a:endCxn id="41"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C5F7FE8E-9019-F660-A365-57A20B740D45}"/>
              </a:ext>
            </a:extLst>
          </p:cNvPr>
          <p:cNvCxnSpPr>
            <a:cxnSpLocks/>
            <a:stCxn id="41" idx="4"/>
            <a:endCxn id="44"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0C90A370-5E29-C0D0-347F-910CDA7CE1C7}"/>
              </a:ext>
            </a:extLst>
          </p:cNvPr>
          <p:cNvCxnSpPr>
            <a:cxnSpLocks/>
            <a:stCxn id="44" idx="4"/>
            <a:endCxn id="47"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0" name="Graphic 9" descr="Robot with solid fill">
            <a:extLst>
              <a:ext uri="{FF2B5EF4-FFF2-40B4-BE49-F238E27FC236}">
                <a16:creationId xmlns:a16="http://schemas.microsoft.com/office/drawing/2014/main" id="{7EF211F0-02A5-3E5B-D835-1BAC1FE8CBE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38800" y="3154667"/>
            <a:ext cx="914400" cy="914400"/>
          </a:xfrm>
          <a:prstGeom prst="rect">
            <a:avLst/>
          </a:prstGeom>
        </p:spPr>
      </p:pic>
      <p:pic>
        <p:nvPicPr>
          <p:cNvPr id="15" name="Graphic 14" descr="Bar chart with solid fill">
            <a:extLst>
              <a:ext uri="{FF2B5EF4-FFF2-40B4-BE49-F238E27FC236}">
                <a16:creationId xmlns:a16="http://schemas.microsoft.com/office/drawing/2014/main" id="{03E60791-2D86-DB38-F0E3-5EC4F16CF20B}"/>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9094982" y="3154667"/>
            <a:ext cx="914400" cy="914400"/>
          </a:xfrm>
          <a:prstGeom prst="rect">
            <a:avLst/>
          </a:prstGeom>
        </p:spPr>
      </p:pic>
      <p:sp>
        <p:nvSpPr>
          <p:cNvPr id="18" name="TextBox 17">
            <a:extLst>
              <a:ext uri="{FF2B5EF4-FFF2-40B4-BE49-F238E27FC236}">
                <a16:creationId xmlns:a16="http://schemas.microsoft.com/office/drawing/2014/main" id="{9410C7D2-5847-0282-D75A-11FCE5C948C1}"/>
              </a:ext>
            </a:extLst>
          </p:cNvPr>
          <p:cNvSpPr txBox="1"/>
          <p:nvPr/>
        </p:nvSpPr>
        <p:spPr>
          <a:xfrm>
            <a:off x="1797856" y="4040899"/>
            <a:ext cx="1683923" cy="369332"/>
          </a:xfrm>
          <a:prstGeom prst="rect">
            <a:avLst/>
          </a:prstGeom>
          <a:noFill/>
        </p:spPr>
        <p:txBody>
          <a:bodyPr wrap="none" rtlCol="0">
            <a:spAutoFit/>
          </a:bodyPr>
          <a:lstStyle/>
          <a:p>
            <a:pPr algn="ctr"/>
            <a:r>
              <a:rPr lang="en-SE" dirty="0"/>
              <a:t>Collected Data</a:t>
            </a:r>
          </a:p>
        </p:txBody>
      </p:sp>
      <p:sp>
        <p:nvSpPr>
          <p:cNvPr id="22" name="TextBox 21">
            <a:extLst>
              <a:ext uri="{FF2B5EF4-FFF2-40B4-BE49-F238E27FC236}">
                <a16:creationId xmlns:a16="http://schemas.microsoft.com/office/drawing/2014/main" id="{50B2D32E-B436-38DE-0DE3-1B8A53ADBB20}"/>
              </a:ext>
            </a:extLst>
          </p:cNvPr>
          <p:cNvSpPr txBox="1"/>
          <p:nvPr/>
        </p:nvSpPr>
        <p:spPr>
          <a:xfrm>
            <a:off x="8365932" y="4040899"/>
            <a:ext cx="2372509" cy="369332"/>
          </a:xfrm>
          <a:prstGeom prst="rect">
            <a:avLst/>
          </a:prstGeom>
          <a:noFill/>
        </p:spPr>
        <p:txBody>
          <a:bodyPr wrap="none" rtlCol="0">
            <a:spAutoFit/>
          </a:bodyPr>
          <a:lstStyle/>
          <a:p>
            <a:pPr algn="ctr"/>
            <a:r>
              <a:rPr lang="en-SE" dirty="0"/>
              <a:t>Prior Predictive Check</a:t>
            </a:r>
          </a:p>
        </p:txBody>
      </p:sp>
      <p:cxnSp>
        <p:nvCxnSpPr>
          <p:cNvPr id="24" name="Straight Arrow Connector 23">
            <a:extLst>
              <a:ext uri="{FF2B5EF4-FFF2-40B4-BE49-F238E27FC236}">
                <a16:creationId xmlns:a16="http://schemas.microsoft.com/office/drawing/2014/main" id="{60CCD1F8-023D-3585-3DD0-D88E659EA7A9}"/>
              </a:ext>
            </a:extLst>
          </p:cNvPr>
          <p:cNvCxnSpPr>
            <a:cxnSpLocks/>
            <a:stCxn id="16" idx="3"/>
            <a:endCxn id="10" idx="1"/>
          </p:cNvCxnSpPr>
          <p:nvPr/>
        </p:nvCxnSpPr>
        <p:spPr>
          <a:xfrm>
            <a:off x="3097018" y="3611867"/>
            <a:ext cx="254178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6F48ED93-4E19-749D-C189-8B77CABD423D}"/>
              </a:ext>
            </a:extLst>
          </p:cNvPr>
          <p:cNvCxnSpPr>
            <a:cxnSpLocks/>
            <a:stCxn id="10" idx="3"/>
            <a:endCxn id="15" idx="1"/>
          </p:cNvCxnSpPr>
          <p:nvPr/>
        </p:nvCxnSpPr>
        <p:spPr>
          <a:xfrm>
            <a:off x="6553200" y="3611867"/>
            <a:ext cx="254178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aphicFrame>
        <p:nvGraphicFramePr>
          <p:cNvPr id="30" name="Table 29">
            <a:extLst>
              <a:ext uri="{FF2B5EF4-FFF2-40B4-BE49-F238E27FC236}">
                <a16:creationId xmlns:a16="http://schemas.microsoft.com/office/drawing/2014/main" id="{25A70B87-FCBF-3380-BB4D-714BB73A5C71}"/>
              </a:ext>
            </a:extLst>
          </p:cNvPr>
          <p:cNvGraphicFramePr>
            <a:graphicFrameLocks noGrp="1"/>
          </p:cNvGraphicFramePr>
          <p:nvPr>
            <p:extLst>
              <p:ext uri="{D42A27DB-BD31-4B8C-83A1-F6EECF244321}">
                <p14:modId xmlns:p14="http://schemas.microsoft.com/office/powerpoint/2010/main" val="1710651356"/>
              </p:ext>
            </p:extLst>
          </p:nvPr>
        </p:nvGraphicFramePr>
        <p:xfrm>
          <a:off x="1358727" y="4464859"/>
          <a:ext cx="2534907" cy="1524000"/>
        </p:xfrm>
        <a:graphic>
          <a:graphicData uri="http://schemas.openxmlformats.org/drawingml/2006/table">
            <a:tbl>
              <a:tblPr firstRow="1" bandRow="1">
                <a:tableStyleId>{00A15C55-8517-42AA-B614-E9B94910E393}</a:tableStyleId>
              </a:tblPr>
              <a:tblGrid>
                <a:gridCol w="844969">
                  <a:extLst>
                    <a:ext uri="{9D8B030D-6E8A-4147-A177-3AD203B41FA5}">
                      <a16:colId xmlns:a16="http://schemas.microsoft.com/office/drawing/2014/main" val="453030250"/>
                    </a:ext>
                  </a:extLst>
                </a:gridCol>
                <a:gridCol w="844969">
                  <a:extLst>
                    <a:ext uri="{9D8B030D-6E8A-4147-A177-3AD203B41FA5}">
                      <a16:colId xmlns:a16="http://schemas.microsoft.com/office/drawing/2014/main" val="1779535849"/>
                    </a:ext>
                  </a:extLst>
                </a:gridCol>
                <a:gridCol w="844969">
                  <a:extLst>
                    <a:ext uri="{9D8B030D-6E8A-4147-A177-3AD203B41FA5}">
                      <a16:colId xmlns:a16="http://schemas.microsoft.com/office/drawing/2014/main" val="528605536"/>
                    </a:ext>
                  </a:extLst>
                </a:gridCol>
              </a:tblGrid>
              <a:tr h="289662">
                <a:tc>
                  <a:txBody>
                    <a:bodyPr/>
                    <a:lstStyle/>
                    <a:p>
                      <a:r>
                        <a:rPr lang="en-SE" sz="1400" dirty="0"/>
                        <a:t>x</a:t>
                      </a:r>
                    </a:p>
                  </a:txBody>
                  <a:tcPr/>
                </a:tc>
                <a:tc>
                  <a:txBody>
                    <a:bodyPr/>
                    <a:lstStyle/>
                    <a:p>
                      <a:r>
                        <a:rPr lang="en-SE" sz="1400" dirty="0"/>
                        <a:t>z</a:t>
                      </a:r>
                    </a:p>
                  </a:txBody>
                  <a:tcPr/>
                </a:tc>
                <a:tc>
                  <a:txBody>
                    <a:bodyPr/>
                    <a:lstStyle/>
                    <a:p>
                      <a:r>
                        <a:rPr lang="en-SE" sz="1400" dirty="0"/>
                        <a:t>y</a:t>
                      </a:r>
                    </a:p>
                  </a:txBody>
                  <a:tcPr/>
                </a:tc>
                <a:extLst>
                  <a:ext uri="{0D108BD9-81ED-4DB2-BD59-A6C34878D82A}">
                    <a16:rowId xmlns:a16="http://schemas.microsoft.com/office/drawing/2014/main" val="4231852891"/>
                  </a:ext>
                </a:extLst>
              </a:tr>
              <a:tr h="289662">
                <a:tc>
                  <a:txBody>
                    <a:bodyPr/>
                    <a:lstStyle/>
                    <a:p>
                      <a:pPr algn="r"/>
                      <a:r>
                        <a:rPr lang="en-SE" sz="1400" b="1" dirty="0"/>
                        <a:t>-0.63</a:t>
                      </a:r>
                    </a:p>
                  </a:txBody>
                  <a:tcPr/>
                </a:tc>
                <a:tc>
                  <a:txBody>
                    <a:bodyPr/>
                    <a:lstStyle/>
                    <a:p>
                      <a:pPr algn="r"/>
                      <a:r>
                        <a:rPr lang="en-SE" sz="1400" b="1" dirty="0"/>
                        <a:t>0.95</a:t>
                      </a:r>
                    </a:p>
                  </a:txBody>
                  <a:tcPr/>
                </a:tc>
                <a:tc>
                  <a:txBody>
                    <a:bodyPr/>
                    <a:lstStyle/>
                    <a:p>
                      <a:pPr algn="r"/>
                      <a:r>
                        <a:rPr lang="en-SE" sz="1400" b="1" dirty="0"/>
                        <a:t>3.35</a:t>
                      </a:r>
                    </a:p>
                  </a:txBody>
                  <a:tcPr/>
                </a:tc>
                <a:extLst>
                  <a:ext uri="{0D108BD9-81ED-4DB2-BD59-A6C34878D82A}">
                    <a16:rowId xmlns:a16="http://schemas.microsoft.com/office/drawing/2014/main" val="2645506403"/>
                  </a:ext>
                </a:extLst>
              </a:tr>
              <a:tr h="289662">
                <a:tc>
                  <a:txBody>
                    <a:bodyPr/>
                    <a:lstStyle/>
                    <a:p>
                      <a:pPr algn="r"/>
                      <a:r>
                        <a:rPr lang="en-SE" sz="1400" dirty="0"/>
                        <a:t>0.24</a:t>
                      </a:r>
                    </a:p>
                  </a:txBody>
                  <a:tcPr/>
                </a:tc>
                <a:tc>
                  <a:txBody>
                    <a:bodyPr/>
                    <a:lstStyle/>
                    <a:p>
                      <a:pPr algn="r"/>
                      <a:r>
                        <a:rPr lang="en-SE" sz="1400" dirty="0"/>
                        <a:t>1.00</a:t>
                      </a:r>
                    </a:p>
                  </a:txBody>
                  <a:tcPr/>
                </a:tc>
                <a:tc>
                  <a:txBody>
                    <a:bodyPr/>
                    <a:lstStyle/>
                    <a:p>
                      <a:pPr algn="r"/>
                      <a:r>
                        <a:rPr lang="en-SE" sz="1400" dirty="0"/>
                        <a:t>4.00</a:t>
                      </a:r>
                    </a:p>
                  </a:txBody>
                  <a:tcPr/>
                </a:tc>
                <a:extLst>
                  <a:ext uri="{0D108BD9-81ED-4DB2-BD59-A6C34878D82A}">
                    <a16:rowId xmlns:a16="http://schemas.microsoft.com/office/drawing/2014/main" val="28183331"/>
                  </a:ext>
                </a:extLst>
              </a:tr>
              <a:tr h="289662">
                <a:tc>
                  <a:txBody>
                    <a:bodyPr/>
                    <a:lstStyle/>
                    <a:p>
                      <a:pPr algn="r"/>
                      <a:r>
                        <a:rPr lang="en-SE" sz="1400" dirty="0"/>
                        <a:t>-1.06</a:t>
                      </a:r>
                    </a:p>
                  </a:txBody>
                  <a:tcPr/>
                </a:tc>
                <a:tc>
                  <a:txBody>
                    <a:bodyPr/>
                    <a:lstStyle/>
                    <a:p>
                      <a:pPr algn="r"/>
                      <a:r>
                        <a:rPr lang="en-SE" sz="1400" dirty="0"/>
                        <a:t>-0.28</a:t>
                      </a:r>
                    </a:p>
                  </a:txBody>
                  <a:tcPr/>
                </a:tc>
                <a:tc>
                  <a:txBody>
                    <a:bodyPr/>
                    <a:lstStyle/>
                    <a:p>
                      <a:pPr algn="r"/>
                      <a:r>
                        <a:rPr lang="en-SE" sz="1400" dirty="0"/>
                        <a:t>2.78</a:t>
                      </a:r>
                    </a:p>
                  </a:txBody>
                  <a:tcPr/>
                </a:tc>
                <a:extLst>
                  <a:ext uri="{0D108BD9-81ED-4DB2-BD59-A6C34878D82A}">
                    <a16:rowId xmlns:a16="http://schemas.microsoft.com/office/drawing/2014/main" val="3889692607"/>
                  </a:ext>
                </a:extLst>
              </a:tr>
              <a:tr h="289662">
                <a:tc>
                  <a:txBody>
                    <a:bodyPr/>
                    <a:lstStyle/>
                    <a:p>
                      <a:pPr algn="r"/>
                      <a:r>
                        <a:rPr lang="en-SE" sz="1400" dirty="0"/>
                        <a:t>...</a:t>
                      </a:r>
                    </a:p>
                  </a:txBody>
                  <a:tcPr/>
                </a:tc>
                <a:tc>
                  <a:txBody>
                    <a:bodyPr/>
                    <a:lstStyle/>
                    <a:p>
                      <a:pPr algn="r"/>
                      <a:r>
                        <a:rPr lang="en-SE" sz="1400" dirty="0"/>
                        <a:t>...</a:t>
                      </a:r>
                    </a:p>
                  </a:txBody>
                  <a:tcPr/>
                </a:tc>
                <a:tc>
                  <a:txBody>
                    <a:bodyPr/>
                    <a:lstStyle/>
                    <a:p>
                      <a:pPr algn="r"/>
                      <a:r>
                        <a:rPr lang="en-SE" sz="1400" dirty="0"/>
                        <a:t>...</a:t>
                      </a:r>
                    </a:p>
                  </a:txBody>
                  <a:tcPr/>
                </a:tc>
                <a:extLst>
                  <a:ext uri="{0D108BD9-81ED-4DB2-BD59-A6C34878D82A}">
                    <a16:rowId xmlns:a16="http://schemas.microsoft.com/office/drawing/2014/main" val="172891185"/>
                  </a:ext>
                </a:extLst>
              </a:tr>
            </a:tbl>
          </a:graphicData>
        </a:graphic>
      </p:graphicFrame>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256D50E-5057-9CBE-6073-666D71B5214F}"/>
                  </a:ext>
                </a:extLst>
              </p:cNvPr>
              <p:cNvSpPr txBox="1"/>
              <p:nvPr/>
            </p:nvSpPr>
            <p:spPr>
              <a:xfrm>
                <a:off x="4744413" y="4642952"/>
                <a:ext cx="11740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𝑦</m:t>
                      </m:r>
                      <m:r>
                        <a:rPr lang="en-SE" b="0" i="1" smtClean="0">
                          <a:latin typeface="Cambria Math" panose="02040503050406030204" pitchFamily="18" charset="0"/>
                        </a:rPr>
                        <m:t> ~ </m:t>
                      </m:r>
                      <m:r>
                        <a:rPr lang="en-SE" b="0" i="1" smtClean="0">
                          <a:latin typeface="Cambria Math" panose="02040503050406030204" pitchFamily="18" charset="0"/>
                        </a:rPr>
                        <m:t>𝑁</m:t>
                      </m:r>
                      <m:r>
                        <a:rPr lang="en-SE" b="0" i="1" smtClean="0">
                          <a:latin typeface="Cambria Math" panose="02040503050406030204" pitchFamily="18" charset="0"/>
                        </a:rPr>
                        <m:t>(</m:t>
                      </m:r>
                      <m:r>
                        <a:rPr lang="en-SE" b="0" i="1" smtClean="0">
                          <a:latin typeface="Cambria Math" panose="02040503050406030204" pitchFamily="18" charset="0"/>
                        </a:rPr>
                        <m:t>𝜇</m:t>
                      </m:r>
                      <m:r>
                        <a:rPr lang="en-SE" b="0" i="1" smtClean="0">
                          <a:latin typeface="Cambria Math" panose="02040503050406030204" pitchFamily="18" charset="0"/>
                        </a:rPr>
                        <m:t>, </m:t>
                      </m:r>
                      <m:r>
                        <a:rPr lang="en-SE" b="0" i="1" smtClean="0">
                          <a:latin typeface="Cambria Math" panose="02040503050406030204" pitchFamily="18" charset="0"/>
                        </a:rPr>
                        <m:t>𝜎</m:t>
                      </m:r>
                      <m:r>
                        <a:rPr lang="en-SE" b="0" i="1" smtClean="0">
                          <a:latin typeface="Cambria Math" panose="02040503050406030204" pitchFamily="18" charset="0"/>
                        </a:rPr>
                        <m:t>)</m:t>
                      </m:r>
                    </m:oMath>
                  </m:oMathPara>
                </a14:m>
                <a:endParaRPr lang="en-SE" dirty="0"/>
              </a:p>
            </p:txBody>
          </p:sp>
        </mc:Choice>
        <mc:Fallback xmlns="">
          <p:sp>
            <p:nvSpPr>
              <p:cNvPr id="55" name="TextBox 54">
                <a:extLst>
                  <a:ext uri="{FF2B5EF4-FFF2-40B4-BE49-F238E27FC236}">
                    <a16:creationId xmlns:a16="http://schemas.microsoft.com/office/drawing/2014/main" id="{5256D50E-5057-9CBE-6073-666D71B5214F}"/>
                  </a:ext>
                </a:extLst>
              </p:cNvPr>
              <p:cNvSpPr txBox="1">
                <a:spLocks noRot="1" noChangeAspect="1" noMove="1" noResize="1" noEditPoints="1" noAdjustHandles="1" noChangeArrowheads="1" noChangeShapeType="1" noTextEdit="1"/>
              </p:cNvSpPr>
              <p:nvPr/>
            </p:nvSpPr>
            <p:spPr>
              <a:xfrm>
                <a:off x="4744413" y="4642952"/>
                <a:ext cx="1174039" cy="276999"/>
              </a:xfrm>
              <a:prstGeom prst="rect">
                <a:avLst/>
              </a:prstGeom>
              <a:blipFill>
                <a:blip r:embed="rId10"/>
                <a:stretch>
                  <a:fillRect l="-4663" t="-4444" r="-6736" b="-35556"/>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57" name="TextBox 56">
                <a:extLst>
                  <a:ext uri="{FF2B5EF4-FFF2-40B4-BE49-F238E27FC236}">
                    <a16:creationId xmlns:a16="http://schemas.microsoft.com/office/drawing/2014/main" id="{83B345C5-BE4F-E9C8-9C5C-042C902F0D54}"/>
                  </a:ext>
                </a:extLst>
              </p:cNvPr>
              <p:cNvSpPr txBox="1"/>
              <p:nvPr/>
            </p:nvSpPr>
            <p:spPr>
              <a:xfrm>
                <a:off x="4685494" y="4956544"/>
                <a:ext cx="34146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𝜇</m:t>
                      </m:r>
                      <m:r>
                        <a:rPr lang="en-SE" b="0" i="1" smtClean="0">
                          <a:latin typeface="Cambria Math" panose="02040503050406030204" pitchFamily="18" charset="0"/>
                        </a:rPr>
                        <m:t>←</m:t>
                      </m:r>
                      <m:r>
                        <a:rPr lang="en-SE" b="0" i="1" smtClean="0">
                          <a:latin typeface="Cambria Math" panose="02040503050406030204" pitchFamily="18" charset="0"/>
                        </a:rPr>
                        <m:t>𝛼</m:t>
                      </m:r>
                      <m:r>
                        <a:rPr lang="en-SE" b="0" i="1" smtClean="0">
                          <a:latin typeface="Cambria Math" panose="02040503050406030204" pitchFamily="18" charset="0"/>
                        </a:rPr>
                        <m:t>+</m:t>
                      </m:r>
                      <m:sSub>
                        <m:sSubPr>
                          <m:ctrlPr>
                            <a:rPr lang="en-SE" i="1" smtClean="0">
                              <a:latin typeface="Cambria Math" panose="02040503050406030204" pitchFamily="18" charset="0"/>
                            </a:rPr>
                          </m:ctrlPr>
                        </m:sSubPr>
                        <m:e>
                          <m:r>
                            <a:rPr lang="en-SE" b="0" i="1" smtClean="0">
                              <a:latin typeface="Cambria Math" panose="02040503050406030204" pitchFamily="18" charset="0"/>
                            </a:rPr>
                            <m:t>𝛽</m:t>
                          </m:r>
                        </m:e>
                        <m:sub>
                          <m:r>
                            <a:rPr lang="en-SE" b="0" i="1" smtClean="0">
                              <a:latin typeface="Cambria Math" panose="02040503050406030204" pitchFamily="18" charset="0"/>
                            </a:rPr>
                            <m:t>𝑥</m:t>
                          </m:r>
                        </m:sub>
                      </m:sSub>
                      <m:r>
                        <a:rPr lang="en-SE" b="0" i="1" smtClean="0">
                          <a:latin typeface="Cambria Math" panose="02040503050406030204" pitchFamily="18" charset="0"/>
                        </a:rPr>
                        <m:t>⋅(</m:t>
                      </m:r>
                      <m:r>
                        <a:rPr lang="en-SE" b="1" i="1" smtClean="0">
                          <a:latin typeface="Cambria Math" panose="02040503050406030204" pitchFamily="18" charset="0"/>
                        </a:rPr>
                        <m:t>−</m:t>
                      </m:r>
                      <m:r>
                        <a:rPr lang="en-SE" b="1" i="1" smtClean="0">
                          <a:latin typeface="Cambria Math" panose="02040503050406030204" pitchFamily="18" charset="0"/>
                        </a:rPr>
                        <m:t>𝟎</m:t>
                      </m:r>
                      <m:r>
                        <a:rPr lang="en-SE" b="1" i="1" smtClean="0">
                          <a:latin typeface="Cambria Math" panose="02040503050406030204" pitchFamily="18" charset="0"/>
                        </a:rPr>
                        <m:t>.</m:t>
                      </m:r>
                      <m:r>
                        <a:rPr lang="en-SE" b="1" i="1" smtClean="0">
                          <a:latin typeface="Cambria Math" panose="02040503050406030204" pitchFamily="18" charset="0"/>
                        </a:rPr>
                        <m:t>𝟔𝟑</m:t>
                      </m:r>
                      <m:r>
                        <a:rPr lang="en-SE" b="0" i="1" smtClean="0">
                          <a:latin typeface="Cambria Math" panose="02040503050406030204" pitchFamily="18" charset="0"/>
                        </a:rPr>
                        <m:t>)+</m:t>
                      </m:r>
                      <m:sSub>
                        <m:sSubPr>
                          <m:ctrlPr>
                            <a:rPr lang="en-SE" i="1" smtClean="0">
                              <a:latin typeface="Cambria Math" panose="02040503050406030204" pitchFamily="18" charset="0"/>
                            </a:rPr>
                          </m:ctrlPr>
                        </m:sSubPr>
                        <m:e>
                          <m:r>
                            <a:rPr lang="en-SE" b="0" i="1" smtClean="0">
                              <a:latin typeface="Cambria Math" panose="02040503050406030204" pitchFamily="18" charset="0"/>
                            </a:rPr>
                            <m:t>𝛽</m:t>
                          </m:r>
                        </m:e>
                        <m:sub>
                          <m:r>
                            <a:rPr lang="en-SE" b="0" i="1" smtClean="0">
                              <a:latin typeface="Cambria Math" panose="02040503050406030204" pitchFamily="18" charset="0"/>
                            </a:rPr>
                            <m:t>𝑧</m:t>
                          </m:r>
                        </m:sub>
                      </m:sSub>
                      <m:r>
                        <a:rPr lang="en-SE" b="0" i="1" smtClean="0">
                          <a:latin typeface="Cambria Math" panose="02040503050406030204" pitchFamily="18" charset="0"/>
                        </a:rPr>
                        <m:t>⋅</m:t>
                      </m:r>
                      <m:r>
                        <a:rPr lang="en-SE" b="1" i="1" smtClean="0">
                          <a:latin typeface="Cambria Math" panose="02040503050406030204" pitchFamily="18" charset="0"/>
                        </a:rPr>
                        <m:t>𝟎</m:t>
                      </m:r>
                      <m:r>
                        <a:rPr lang="en-SE" b="1" i="1" smtClean="0">
                          <a:latin typeface="Cambria Math" panose="02040503050406030204" pitchFamily="18" charset="0"/>
                        </a:rPr>
                        <m:t>.</m:t>
                      </m:r>
                      <m:r>
                        <a:rPr lang="en-SE" b="1" i="1" smtClean="0">
                          <a:latin typeface="Cambria Math" panose="02040503050406030204" pitchFamily="18" charset="0"/>
                        </a:rPr>
                        <m:t>𝟗𝟓</m:t>
                      </m:r>
                    </m:oMath>
                  </m:oMathPara>
                </a14:m>
                <a:endParaRPr lang="en-SE" b="1" dirty="0"/>
              </a:p>
            </p:txBody>
          </p:sp>
        </mc:Choice>
        <mc:Fallback>
          <p:sp>
            <p:nvSpPr>
              <p:cNvPr id="57" name="TextBox 56">
                <a:extLst>
                  <a:ext uri="{FF2B5EF4-FFF2-40B4-BE49-F238E27FC236}">
                    <a16:creationId xmlns:a16="http://schemas.microsoft.com/office/drawing/2014/main" id="{83B345C5-BE4F-E9C8-9C5C-042C902F0D54}"/>
                  </a:ext>
                </a:extLst>
              </p:cNvPr>
              <p:cNvSpPr txBox="1">
                <a:spLocks noRot="1" noChangeAspect="1" noMove="1" noResize="1" noEditPoints="1" noAdjustHandles="1" noChangeArrowheads="1" noChangeShapeType="1" noTextEdit="1"/>
              </p:cNvSpPr>
              <p:nvPr/>
            </p:nvSpPr>
            <p:spPr>
              <a:xfrm>
                <a:off x="4685494" y="4956544"/>
                <a:ext cx="3414653" cy="276999"/>
              </a:xfrm>
              <a:prstGeom prst="rect">
                <a:avLst/>
              </a:prstGeom>
              <a:blipFill>
                <a:blip r:embed="rId11"/>
                <a:stretch>
                  <a:fillRect l="-714" t="-2174" r="-893" b="-326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17975593-0D4C-B3EF-D940-772004A3EB5F}"/>
                  </a:ext>
                </a:extLst>
              </p:cNvPr>
              <p:cNvSpPr txBox="1"/>
              <p:nvPr/>
            </p:nvSpPr>
            <p:spPr>
              <a:xfrm>
                <a:off x="4714067" y="5270136"/>
                <a:ext cx="12246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i="1" smtClean="0">
                          <a:latin typeface="Cambria Math" panose="02040503050406030204" pitchFamily="18" charset="0"/>
                        </a:rPr>
                        <m:t>𝛼</m:t>
                      </m:r>
                      <m:r>
                        <a:rPr lang="en-SE" i="1" smtClean="0">
                          <a:latin typeface="Cambria Math" panose="02040503050406030204" pitchFamily="18" charset="0"/>
                        </a:rPr>
                        <m:t>∼</m:t>
                      </m:r>
                      <m:r>
                        <a:rPr lang="en-SE" i="1" smtClean="0">
                          <a:latin typeface="Cambria Math" panose="02040503050406030204" pitchFamily="18" charset="0"/>
                        </a:rPr>
                        <m:t>𝑁</m:t>
                      </m:r>
                      <m:r>
                        <a:rPr lang="en-SE" i="1" smtClean="0">
                          <a:latin typeface="Cambria Math" panose="02040503050406030204" pitchFamily="18" charset="0"/>
                        </a:rPr>
                        <m:t>(3, 1)</m:t>
                      </m:r>
                    </m:oMath>
                  </m:oMathPara>
                </a14:m>
                <a:endParaRPr lang="en-SE" dirty="0"/>
              </a:p>
            </p:txBody>
          </p:sp>
        </mc:Choice>
        <mc:Fallback xmlns="">
          <p:sp>
            <p:nvSpPr>
              <p:cNvPr id="59" name="TextBox 58">
                <a:extLst>
                  <a:ext uri="{FF2B5EF4-FFF2-40B4-BE49-F238E27FC236}">
                    <a16:creationId xmlns:a16="http://schemas.microsoft.com/office/drawing/2014/main" id="{17975593-0D4C-B3EF-D940-772004A3EB5F}"/>
                  </a:ext>
                </a:extLst>
              </p:cNvPr>
              <p:cNvSpPr txBox="1">
                <a:spLocks noRot="1" noChangeAspect="1" noMove="1" noResize="1" noEditPoints="1" noAdjustHandles="1" noChangeArrowheads="1" noChangeShapeType="1" noTextEdit="1"/>
              </p:cNvSpPr>
              <p:nvPr/>
            </p:nvSpPr>
            <p:spPr>
              <a:xfrm>
                <a:off x="4714067" y="5270136"/>
                <a:ext cx="1224694" cy="276999"/>
              </a:xfrm>
              <a:prstGeom prst="rect">
                <a:avLst/>
              </a:prstGeom>
              <a:blipFill>
                <a:blip r:embed="rId12"/>
                <a:stretch>
                  <a:fillRect l="-1493" t="-4444" r="-5473" b="-35556"/>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61" name="TextBox 60">
                <a:extLst>
                  <a:ext uri="{FF2B5EF4-FFF2-40B4-BE49-F238E27FC236}">
                    <a16:creationId xmlns:a16="http://schemas.microsoft.com/office/drawing/2014/main" id="{712C4DED-02AC-1FAC-2878-BD0E3BBD15AC}"/>
                  </a:ext>
                </a:extLst>
              </p:cNvPr>
              <p:cNvSpPr txBox="1"/>
              <p:nvPr/>
            </p:nvSpPr>
            <p:spPr>
              <a:xfrm>
                <a:off x="4623942" y="5583728"/>
                <a:ext cx="15153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i="1" smtClean="0">
                              <a:latin typeface="Cambria Math" panose="02040503050406030204" pitchFamily="18" charset="0"/>
                            </a:rPr>
                          </m:ctrlPr>
                        </m:sSubPr>
                        <m:e>
                          <m:r>
                            <a:rPr lang="en-SE" i="1" smtClean="0">
                              <a:latin typeface="Cambria Math" panose="02040503050406030204" pitchFamily="18" charset="0"/>
                            </a:rPr>
                            <m:t>𝛽</m:t>
                          </m:r>
                        </m:e>
                        <m:sub>
                          <m:r>
                            <a:rPr lang="en-SE" b="0" i="1" smtClean="0">
                              <a:latin typeface="Cambria Math" panose="02040503050406030204" pitchFamily="18" charset="0"/>
                            </a:rPr>
                            <m:t>𝑥</m:t>
                          </m:r>
                        </m:sub>
                      </m:sSub>
                      <m:r>
                        <a:rPr lang="en-SE" i="1" smtClean="0">
                          <a:latin typeface="Cambria Math" panose="02040503050406030204" pitchFamily="18" charset="0"/>
                        </a:rPr>
                        <m:t>∼</m:t>
                      </m:r>
                      <m:r>
                        <a:rPr lang="en-SE" i="1" smtClean="0">
                          <a:latin typeface="Cambria Math" panose="02040503050406030204" pitchFamily="18" charset="0"/>
                        </a:rPr>
                        <m:t>𝑁</m:t>
                      </m:r>
                      <m:r>
                        <a:rPr lang="en-SE" i="1" smtClean="0">
                          <a:latin typeface="Cambria Math" panose="02040503050406030204" pitchFamily="18" charset="0"/>
                        </a:rPr>
                        <m:t>(0, 0.5)</m:t>
                      </m:r>
                    </m:oMath>
                  </m:oMathPara>
                </a14:m>
                <a:endParaRPr lang="en-SE" dirty="0"/>
              </a:p>
            </p:txBody>
          </p:sp>
        </mc:Choice>
        <mc:Fallback>
          <p:sp>
            <p:nvSpPr>
              <p:cNvPr id="61" name="TextBox 60">
                <a:extLst>
                  <a:ext uri="{FF2B5EF4-FFF2-40B4-BE49-F238E27FC236}">
                    <a16:creationId xmlns:a16="http://schemas.microsoft.com/office/drawing/2014/main" id="{712C4DED-02AC-1FAC-2878-BD0E3BBD15AC}"/>
                  </a:ext>
                </a:extLst>
              </p:cNvPr>
              <p:cNvSpPr txBox="1">
                <a:spLocks noRot="1" noChangeAspect="1" noMove="1" noResize="1" noEditPoints="1" noAdjustHandles="1" noChangeArrowheads="1" noChangeShapeType="1" noTextEdit="1"/>
              </p:cNvSpPr>
              <p:nvPr/>
            </p:nvSpPr>
            <p:spPr>
              <a:xfrm>
                <a:off x="4623942" y="5583728"/>
                <a:ext cx="1515351" cy="276999"/>
              </a:xfrm>
              <a:prstGeom prst="rect">
                <a:avLst/>
              </a:prstGeom>
              <a:blipFill>
                <a:blip r:embed="rId13"/>
                <a:stretch>
                  <a:fillRect l="-3629" t="-2222" r="-4032" b="-35556"/>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63" name="TextBox 62">
                <a:extLst>
                  <a:ext uri="{FF2B5EF4-FFF2-40B4-BE49-F238E27FC236}">
                    <a16:creationId xmlns:a16="http://schemas.microsoft.com/office/drawing/2014/main" id="{7089E068-5022-FFC9-94F1-C10A11BD90DC}"/>
                  </a:ext>
                </a:extLst>
              </p:cNvPr>
              <p:cNvSpPr txBox="1"/>
              <p:nvPr/>
            </p:nvSpPr>
            <p:spPr>
              <a:xfrm>
                <a:off x="4651192" y="5897320"/>
                <a:ext cx="145334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i="1" smtClean="0">
                              <a:latin typeface="Cambria Math" panose="02040503050406030204" pitchFamily="18" charset="0"/>
                            </a:rPr>
                          </m:ctrlPr>
                        </m:sSubPr>
                        <m:e>
                          <m:r>
                            <a:rPr lang="en-SE" i="1" smtClean="0">
                              <a:latin typeface="Cambria Math" panose="02040503050406030204" pitchFamily="18" charset="0"/>
                            </a:rPr>
                            <m:t>𝛽</m:t>
                          </m:r>
                        </m:e>
                        <m:sub>
                          <m:r>
                            <a:rPr lang="en-SE" b="0" i="1" smtClean="0">
                              <a:latin typeface="Cambria Math" panose="02040503050406030204" pitchFamily="18" charset="0"/>
                            </a:rPr>
                            <m:t>𝑧</m:t>
                          </m:r>
                        </m:sub>
                      </m:sSub>
                      <m:r>
                        <a:rPr lang="en-SE" i="1" smtClean="0">
                          <a:latin typeface="Cambria Math" panose="02040503050406030204" pitchFamily="18" charset="0"/>
                        </a:rPr>
                        <m:t>∼</m:t>
                      </m:r>
                      <m:r>
                        <a:rPr lang="en-SE" i="1" smtClean="0">
                          <a:latin typeface="Cambria Math" panose="02040503050406030204" pitchFamily="18" charset="0"/>
                        </a:rPr>
                        <m:t>𝑁</m:t>
                      </m:r>
                      <m:r>
                        <a:rPr lang="en-SE" i="1" smtClean="0">
                          <a:latin typeface="Cambria Math" panose="02040503050406030204" pitchFamily="18" charset="0"/>
                        </a:rPr>
                        <m:t>(0, 0.5)</m:t>
                      </m:r>
                    </m:oMath>
                  </m:oMathPara>
                </a14:m>
                <a:endParaRPr lang="en-SE" dirty="0"/>
              </a:p>
            </p:txBody>
          </p:sp>
        </mc:Choice>
        <mc:Fallback>
          <p:sp>
            <p:nvSpPr>
              <p:cNvPr id="63" name="TextBox 62">
                <a:extLst>
                  <a:ext uri="{FF2B5EF4-FFF2-40B4-BE49-F238E27FC236}">
                    <a16:creationId xmlns:a16="http://schemas.microsoft.com/office/drawing/2014/main" id="{7089E068-5022-FFC9-94F1-C10A11BD90DC}"/>
                  </a:ext>
                </a:extLst>
              </p:cNvPr>
              <p:cNvSpPr txBox="1">
                <a:spLocks noRot="1" noChangeAspect="1" noMove="1" noResize="1" noEditPoints="1" noAdjustHandles="1" noChangeArrowheads="1" noChangeShapeType="1" noTextEdit="1"/>
              </p:cNvSpPr>
              <p:nvPr/>
            </p:nvSpPr>
            <p:spPr>
              <a:xfrm>
                <a:off x="4651192" y="5897320"/>
                <a:ext cx="1453347" cy="276999"/>
              </a:xfrm>
              <a:prstGeom prst="rect">
                <a:avLst/>
              </a:prstGeom>
              <a:blipFill>
                <a:blip r:embed="rId14"/>
                <a:stretch>
                  <a:fillRect l="-5462" t="-2174" r="-5882" b="-326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E5FC46D6-F08B-7719-A74D-FBC05355713C}"/>
                  </a:ext>
                </a:extLst>
              </p:cNvPr>
              <p:cNvSpPr txBox="1"/>
              <p:nvPr/>
            </p:nvSpPr>
            <p:spPr>
              <a:xfrm>
                <a:off x="4720479" y="6210912"/>
                <a:ext cx="11690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i="1" smtClean="0">
                          <a:latin typeface="Cambria Math" panose="02040503050406030204" pitchFamily="18" charset="0"/>
                        </a:rPr>
                        <m:t>𝜎</m:t>
                      </m:r>
                      <m:r>
                        <a:rPr lang="en-SE" i="1" smtClean="0">
                          <a:latin typeface="Cambria Math" panose="02040503050406030204" pitchFamily="18" charset="0"/>
                        </a:rPr>
                        <m:t>∼</m:t>
                      </m:r>
                      <m:r>
                        <a:rPr lang="en-SE" i="1" smtClean="0">
                          <a:latin typeface="Cambria Math" panose="02040503050406030204" pitchFamily="18" charset="0"/>
                        </a:rPr>
                        <m:t>𝑒𝑥𝑝</m:t>
                      </m:r>
                      <m:r>
                        <a:rPr lang="en-SE" i="1" smtClean="0">
                          <a:latin typeface="Cambria Math" panose="02040503050406030204" pitchFamily="18" charset="0"/>
                        </a:rPr>
                        <m:t>(1)</m:t>
                      </m:r>
                    </m:oMath>
                  </m:oMathPara>
                </a14:m>
                <a:endParaRPr lang="en-SE" dirty="0"/>
              </a:p>
            </p:txBody>
          </p:sp>
        </mc:Choice>
        <mc:Fallback xmlns="">
          <p:sp>
            <p:nvSpPr>
              <p:cNvPr id="65" name="TextBox 64">
                <a:extLst>
                  <a:ext uri="{FF2B5EF4-FFF2-40B4-BE49-F238E27FC236}">
                    <a16:creationId xmlns:a16="http://schemas.microsoft.com/office/drawing/2014/main" id="{E5FC46D6-F08B-7719-A74D-FBC05355713C}"/>
                  </a:ext>
                </a:extLst>
              </p:cNvPr>
              <p:cNvSpPr txBox="1">
                <a:spLocks noRot="1" noChangeAspect="1" noMove="1" noResize="1" noEditPoints="1" noAdjustHandles="1" noChangeArrowheads="1" noChangeShapeType="1" noTextEdit="1"/>
              </p:cNvSpPr>
              <p:nvPr/>
            </p:nvSpPr>
            <p:spPr>
              <a:xfrm>
                <a:off x="4720479" y="6210912"/>
                <a:ext cx="1169038" cy="276999"/>
              </a:xfrm>
              <a:prstGeom prst="rect">
                <a:avLst/>
              </a:prstGeom>
              <a:blipFill>
                <a:blip r:embed="rId15"/>
                <a:stretch>
                  <a:fillRect l="-2604" t="-2222" r="-7292" b="-35556"/>
                </a:stretch>
              </a:blipFill>
            </p:spPr>
            <p:txBody>
              <a:bodyPr/>
              <a:lstStyle/>
              <a:p>
                <a:r>
                  <a:rPr lang="en-SE">
                    <a:noFill/>
                  </a:rPr>
                  <a:t> </a:t>
                </a:r>
              </a:p>
            </p:txBody>
          </p:sp>
        </mc:Fallback>
      </mc:AlternateContent>
      <p:pic>
        <p:nvPicPr>
          <p:cNvPr id="67" name="Graphic 66" descr="Robot with solid fill">
            <a:extLst>
              <a:ext uri="{FF2B5EF4-FFF2-40B4-BE49-F238E27FC236}">
                <a16:creationId xmlns:a16="http://schemas.microsoft.com/office/drawing/2014/main" id="{6E6D7D6F-1D83-338E-AC88-D0E658F0854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58370" y="4119905"/>
            <a:ext cx="360000" cy="360000"/>
          </a:xfrm>
          <a:prstGeom prst="rect">
            <a:avLst/>
          </a:prstGeom>
        </p:spPr>
      </p:pic>
      <p:pic>
        <p:nvPicPr>
          <p:cNvPr id="71" name="Picture 70">
            <a:extLst>
              <a:ext uri="{FF2B5EF4-FFF2-40B4-BE49-F238E27FC236}">
                <a16:creationId xmlns:a16="http://schemas.microsoft.com/office/drawing/2014/main" id="{24AA729B-086A-83D1-907D-7C3055F82678}"/>
              </a:ext>
            </a:extLst>
          </p:cNvPr>
          <p:cNvPicPr>
            <a:picLocks noChangeAspect="1"/>
          </p:cNvPicPr>
          <p:nvPr/>
        </p:nvPicPr>
        <p:blipFill>
          <a:blip r:embed="rId16"/>
          <a:stretch>
            <a:fillRect/>
          </a:stretch>
        </p:blipFill>
        <p:spPr>
          <a:xfrm>
            <a:off x="8365922" y="4337241"/>
            <a:ext cx="3438659" cy="2055801"/>
          </a:xfrm>
          <a:prstGeom prst="rect">
            <a:avLst/>
          </a:prstGeom>
        </p:spPr>
      </p:pic>
    </p:spTree>
    <p:extLst>
      <p:ext uri="{BB962C8B-B14F-4D97-AF65-F5344CB8AC3E}">
        <p14:creationId xmlns:p14="http://schemas.microsoft.com/office/powerpoint/2010/main" val="3938972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53" grpId="0" animBg="1"/>
      <p:bldP spid="18" grpId="0"/>
      <p:bldP spid="22" grpId="0"/>
      <p:bldP spid="55" grpId="0"/>
      <p:bldP spid="57" grpId="0"/>
      <p:bldP spid="59" grpId="0"/>
      <p:bldP spid="61" grpId="0"/>
      <p:bldP spid="63" grpId="0"/>
      <p:bldP spid="6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290D0-7DBD-B291-DB1F-ECC0DA7FE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15B02-856A-E1B1-BE49-3F0F4D5F8C2B}"/>
              </a:ext>
            </a:extLst>
          </p:cNvPr>
          <p:cNvSpPr>
            <a:spLocks noGrp="1"/>
          </p:cNvSpPr>
          <p:nvPr>
            <p:ph type="title"/>
          </p:nvPr>
        </p:nvSpPr>
        <p:spPr/>
        <p:txBody>
          <a:bodyPr/>
          <a:lstStyle/>
          <a:p>
            <a:r>
              <a:rPr lang="en-SE" dirty="0"/>
              <a:t>Assessing Priors</a:t>
            </a:r>
          </a:p>
        </p:txBody>
      </p:sp>
      <p:sp>
        <p:nvSpPr>
          <p:cNvPr id="3" name="Content Placeholder 2">
            <a:extLst>
              <a:ext uri="{FF2B5EF4-FFF2-40B4-BE49-F238E27FC236}">
                <a16:creationId xmlns:a16="http://schemas.microsoft.com/office/drawing/2014/main" id="{478AE0A4-442F-8C10-27B6-4DBBA3EF0659}"/>
              </a:ext>
            </a:extLst>
          </p:cNvPr>
          <p:cNvSpPr>
            <a:spLocks noGrp="1"/>
          </p:cNvSpPr>
          <p:nvPr>
            <p:ph idx="1"/>
          </p:nvPr>
        </p:nvSpPr>
        <p:spPr>
          <a:xfrm>
            <a:off x="838200" y="1825625"/>
            <a:ext cx="10515600" cy="1325563"/>
          </a:xfrm>
        </p:spPr>
        <p:txBody>
          <a:bodyPr/>
          <a:lstStyle/>
          <a:p>
            <a:pPr marL="0" indent="0">
              <a:buNone/>
            </a:pPr>
            <a:r>
              <a:rPr lang="en-SE" dirty="0"/>
              <a:t>The actually observed data should be </a:t>
            </a:r>
            <a:r>
              <a:rPr lang="en-SE" b="1" dirty="0"/>
              <a:t>plausible</a:t>
            </a:r>
            <a:r>
              <a:rPr lang="en-SE" dirty="0"/>
              <a:t> given the prior probability distributions.  We can assess this via a </a:t>
            </a:r>
            <a:r>
              <a:rPr lang="en-SE" b="1" dirty="0"/>
              <a:t>prior predictive check</a:t>
            </a:r>
            <a:r>
              <a:rPr lang="en-SE" dirty="0"/>
              <a:t>.</a:t>
            </a:r>
          </a:p>
        </p:txBody>
      </p:sp>
      <p:sp>
        <p:nvSpPr>
          <p:cNvPr id="4" name="Date Placeholder 3">
            <a:extLst>
              <a:ext uri="{FF2B5EF4-FFF2-40B4-BE49-F238E27FC236}">
                <a16:creationId xmlns:a16="http://schemas.microsoft.com/office/drawing/2014/main" id="{3D7D0212-005C-1B0E-FFB2-F07BA8830058}"/>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62FBCD9A-AB27-4F62-AED9-651BBAFCFFB5}"/>
              </a:ext>
            </a:extLst>
          </p:cNvPr>
          <p:cNvSpPr>
            <a:spLocks noGrp="1"/>
          </p:cNvSpPr>
          <p:nvPr>
            <p:ph type="sldNum" sz="quarter" idx="12"/>
          </p:nvPr>
        </p:nvSpPr>
        <p:spPr/>
        <p:txBody>
          <a:bodyPr/>
          <a:lstStyle/>
          <a:p>
            <a:fld id="{271ECC92-9CDE-4EB3-B1C5-F46B9E1FA3C1}" type="slidenum">
              <a:rPr lang="en-SE" smtClean="0"/>
              <a:t>49</a:t>
            </a:fld>
            <a:endParaRPr lang="en-SE" dirty="0"/>
          </a:p>
        </p:txBody>
      </p:sp>
      <p:sp>
        <p:nvSpPr>
          <p:cNvPr id="6" name="Footer Placeholder 5">
            <a:extLst>
              <a:ext uri="{FF2B5EF4-FFF2-40B4-BE49-F238E27FC236}">
                <a16:creationId xmlns:a16="http://schemas.microsoft.com/office/drawing/2014/main" id="{0BB089BD-FA56-F23F-8EA2-0426AB549B7C}"/>
              </a:ext>
            </a:extLst>
          </p:cNvPr>
          <p:cNvSpPr>
            <a:spLocks noGrp="1"/>
          </p:cNvSpPr>
          <p:nvPr>
            <p:ph type="ftr" sz="quarter" idx="11"/>
          </p:nvPr>
        </p:nvSpPr>
        <p:spPr/>
        <p:txBody>
          <a:bodyPr/>
          <a:lstStyle/>
          <a:p>
            <a:r>
              <a:rPr lang="de-DE"/>
              <a:t>Bayesian Data Analysis Tutorial</a:t>
            </a:r>
            <a:endParaRPr lang="en-SE"/>
          </a:p>
        </p:txBody>
      </p:sp>
      <p:grpSp>
        <p:nvGrpSpPr>
          <p:cNvPr id="34" name="Group 33">
            <a:extLst>
              <a:ext uri="{FF2B5EF4-FFF2-40B4-BE49-F238E27FC236}">
                <a16:creationId xmlns:a16="http://schemas.microsoft.com/office/drawing/2014/main" id="{2ABDD72E-B937-5F31-F95A-FE8BAD493DEA}"/>
              </a:ext>
            </a:extLst>
          </p:cNvPr>
          <p:cNvGrpSpPr/>
          <p:nvPr/>
        </p:nvGrpSpPr>
        <p:grpSpPr>
          <a:xfrm>
            <a:off x="203635" y="1825625"/>
            <a:ext cx="504000" cy="504000"/>
            <a:chOff x="977950" y="2729564"/>
            <a:chExt cx="504000" cy="504000"/>
          </a:xfrm>
        </p:grpSpPr>
        <p:sp>
          <p:nvSpPr>
            <p:cNvPr id="35" name="Oval 34">
              <a:extLst>
                <a:ext uri="{FF2B5EF4-FFF2-40B4-BE49-F238E27FC236}">
                  <a16:creationId xmlns:a16="http://schemas.microsoft.com/office/drawing/2014/main" id="{004401BB-55FC-6AB8-BD35-F06E2DA5A35D}"/>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6" name="Graphic 35" descr="Golden Ratio with solid fill">
              <a:extLst>
                <a:ext uri="{FF2B5EF4-FFF2-40B4-BE49-F238E27FC236}">
                  <a16:creationId xmlns:a16="http://schemas.microsoft.com/office/drawing/2014/main" id="{E0546AAB-C2F5-3601-3C26-9A507706DB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950" y="2783564"/>
              <a:ext cx="396000" cy="396000"/>
            </a:xfrm>
            <a:prstGeom prst="rect">
              <a:avLst/>
            </a:prstGeom>
          </p:spPr>
        </p:pic>
      </p:grpSp>
      <p:grpSp>
        <p:nvGrpSpPr>
          <p:cNvPr id="37" name="Group 36">
            <a:extLst>
              <a:ext uri="{FF2B5EF4-FFF2-40B4-BE49-F238E27FC236}">
                <a16:creationId xmlns:a16="http://schemas.microsoft.com/office/drawing/2014/main" id="{49D54AD5-FF0F-DD12-C0AA-502DAC426476}"/>
              </a:ext>
            </a:extLst>
          </p:cNvPr>
          <p:cNvGrpSpPr/>
          <p:nvPr/>
        </p:nvGrpSpPr>
        <p:grpSpPr>
          <a:xfrm>
            <a:off x="203635" y="2439322"/>
            <a:ext cx="504000" cy="504000"/>
            <a:chOff x="977950" y="2729564"/>
            <a:chExt cx="504000" cy="504000"/>
          </a:xfrm>
        </p:grpSpPr>
        <p:sp>
          <p:nvSpPr>
            <p:cNvPr id="38" name="Oval 37">
              <a:extLst>
                <a:ext uri="{FF2B5EF4-FFF2-40B4-BE49-F238E27FC236}">
                  <a16:creationId xmlns:a16="http://schemas.microsoft.com/office/drawing/2014/main" id="{62D24E35-B254-D4C6-AACF-A514F3844C3F}"/>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9" name="Graphic 38" descr="Normal Distribution with solid fill">
              <a:extLst>
                <a:ext uri="{FF2B5EF4-FFF2-40B4-BE49-F238E27FC236}">
                  <a16:creationId xmlns:a16="http://schemas.microsoft.com/office/drawing/2014/main" id="{7B4A4396-5877-5864-5F58-2342DA4D470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grpSp>
        <p:nvGrpSpPr>
          <p:cNvPr id="40" name="Group 39">
            <a:extLst>
              <a:ext uri="{FF2B5EF4-FFF2-40B4-BE49-F238E27FC236}">
                <a16:creationId xmlns:a16="http://schemas.microsoft.com/office/drawing/2014/main" id="{8EFF032D-2E4E-9E53-DCF8-BF18457D3E3A}"/>
              </a:ext>
            </a:extLst>
          </p:cNvPr>
          <p:cNvGrpSpPr/>
          <p:nvPr/>
        </p:nvGrpSpPr>
        <p:grpSpPr>
          <a:xfrm>
            <a:off x="203635" y="3053019"/>
            <a:ext cx="504000" cy="504000"/>
            <a:chOff x="977950" y="2729564"/>
            <a:chExt cx="504000" cy="504000"/>
          </a:xfrm>
        </p:grpSpPr>
        <p:sp>
          <p:nvSpPr>
            <p:cNvPr id="41" name="Oval 40">
              <a:extLst>
                <a:ext uri="{FF2B5EF4-FFF2-40B4-BE49-F238E27FC236}">
                  <a16:creationId xmlns:a16="http://schemas.microsoft.com/office/drawing/2014/main" id="{AAE8B60A-4B88-3600-78FE-F3327C8A30F5}"/>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2" name="Graphic 41" descr="Abacus with solid fill">
              <a:extLst>
                <a:ext uri="{FF2B5EF4-FFF2-40B4-BE49-F238E27FC236}">
                  <a16:creationId xmlns:a16="http://schemas.microsoft.com/office/drawing/2014/main" id="{C06DF55E-72F3-4C2B-968B-04E343BBD7C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43" name="Group 42">
            <a:extLst>
              <a:ext uri="{FF2B5EF4-FFF2-40B4-BE49-F238E27FC236}">
                <a16:creationId xmlns:a16="http://schemas.microsoft.com/office/drawing/2014/main" id="{A06FDDE3-242C-666C-326E-EF5501844D26}"/>
              </a:ext>
            </a:extLst>
          </p:cNvPr>
          <p:cNvGrpSpPr/>
          <p:nvPr/>
        </p:nvGrpSpPr>
        <p:grpSpPr>
          <a:xfrm>
            <a:off x="203635" y="3666716"/>
            <a:ext cx="504000" cy="504000"/>
            <a:chOff x="977950" y="2729564"/>
            <a:chExt cx="504000" cy="504000"/>
          </a:xfrm>
        </p:grpSpPr>
        <p:sp>
          <p:nvSpPr>
            <p:cNvPr id="44" name="Oval 43">
              <a:extLst>
                <a:ext uri="{FF2B5EF4-FFF2-40B4-BE49-F238E27FC236}">
                  <a16:creationId xmlns:a16="http://schemas.microsoft.com/office/drawing/2014/main" id="{31E7B407-0C28-2A36-B9CF-DF139DA618BF}"/>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5" name="Graphic 44" descr="Trigonometry with solid fill">
              <a:extLst>
                <a:ext uri="{FF2B5EF4-FFF2-40B4-BE49-F238E27FC236}">
                  <a16:creationId xmlns:a16="http://schemas.microsoft.com/office/drawing/2014/main" id="{EDBFA1F1-8379-DD6F-6F11-72FCF04022A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46" name="Group 45">
            <a:extLst>
              <a:ext uri="{FF2B5EF4-FFF2-40B4-BE49-F238E27FC236}">
                <a16:creationId xmlns:a16="http://schemas.microsoft.com/office/drawing/2014/main" id="{9EF9E619-B6E7-044B-80BD-275BBB7F86B7}"/>
              </a:ext>
            </a:extLst>
          </p:cNvPr>
          <p:cNvGrpSpPr/>
          <p:nvPr/>
        </p:nvGrpSpPr>
        <p:grpSpPr>
          <a:xfrm>
            <a:off x="203635" y="4280414"/>
            <a:ext cx="504000" cy="504000"/>
            <a:chOff x="977950" y="2729564"/>
            <a:chExt cx="504000" cy="504000"/>
          </a:xfrm>
        </p:grpSpPr>
        <p:sp>
          <p:nvSpPr>
            <p:cNvPr id="47" name="Oval 46">
              <a:extLst>
                <a:ext uri="{FF2B5EF4-FFF2-40B4-BE49-F238E27FC236}">
                  <a16:creationId xmlns:a16="http://schemas.microsoft.com/office/drawing/2014/main" id="{03603191-6140-6F06-F065-45ECAC14FCEE}"/>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8" name="Graphic 47" descr="Scatterplot with solid fill">
              <a:extLst>
                <a:ext uri="{FF2B5EF4-FFF2-40B4-BE49-F238E27FC236}">
                  <a16:creationId xmlns:a16="http://schemas.microsoft.com/office/drawing/2014/main" id="{48FB7AF1-0733-41DC-F336-FDFB47EE1C4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cxnSp>
        <p:nvCxnSpPr>
          <p:cNvPr id="49" name="Straight Arrow Connector 48">
            <a:extLst>
              <a:ext uri="{FF2B5EF4-FFF2-40B4-BE49-F238E27FC236}">
                <a16:creationId xmlns:a16="http://schemas.microsoft.com/office/drawing/2014/main" id="{24E52E16-DDEA-CDD4-43A4-96B4D7D0FEBF}"/>
              </a:ext>
            </a:extLst>
          </p:cNvPr>
          <p:cNvCxnSpPr>
            <a:cxnSpLocks/>
            <a:stCxn id="35" idx="4"/>
            <a:endCxn id="38"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0EEF3CE6-CD89-84E6-1488-7C30D2004EDB}"/>
              </a:ext>
            </a:extLst>
          </p:cNvPr>
          <p:cNvCxnSpPr>
            <a:cxnSpLocks/>
            <a:stCxn id="38" idx="4"/>
            <a:endCxn id="41"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AAA57F8C-6849-59BF-26EA-0EFDE042D798}"/>
              </a:ext>
            </a:extLst>
          </p:cNvPr>
          <p:cNvCxnSpPr>
            <a:cxnSpLocks/>
            <a:stCxn id="41" idx="4"/>
            <a:endCxn id="44"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C57389AE-F440-B947-5E5F-BF0831CE62DD}"/>
              </a:ext>
            </a:extLst>
          </p:cNvPr>
          <p:cNvCxnSpPr>
            <a:cxnSpLocks/>
            <a:stCxn id="44" idx="4"/>
            <a:endCxn id="47"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F470CD92-9A30-5833-C20D-607AC48751F1}"/>
              </a:ext>
            </a:extLst>
          </p:cNvPr>
          <p:cNvSpPr/>
          <p:nvPr/>
        </p:nvSpPr>
        <p:spPr>
          <a:xfrm>
            <a:off x="3062456" y="3262665"/>
            <a:ext cx="6067087" cy="3074731"/>
          </a:xfrm>
          <a:prstGeom prst="rect">
            <a:avLst/>
          </a:prstGeom>
          <a:solidFill>
            <a:schemeClr val="bg1">
              <a:lumMod val="95000"/>
            </a:schemeClr>
          </a:solidFill>
          <a:ln>
            <a:solidFill>
              <a:schemeClr val="tx1">
                <a:lumMod val="50000"/>
                <a:lumOff val="50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SE" dirty="0">
                <a:solidFill>
                  <a:schemeClr val="tx1"/>
                </a:solidFill>
                <a:latin typeface="Courier New" panose="02070309020205020404" pitchFamily="49" charset="0"/>
                <a:cs typeface="Courier New" panose="02070309020205020404" pitchFamily="49" charset="0"/>
              </a:rPr>
              <a:t>model &lt;- </a:t>
            </a:r>
            <a:r>
              <a:rPr lang="en-SE" dirty="0" err="1">
                <a:solidFill>
                  <a:schemeClr val="tx1"/>
                </a:solidFill>
                <a:latin typeface="Courier New" panose="02070309020205020404" pitchFamily="49" charset="0"/>
                <a:cs typeface="Courier New" panose="02070309020205020404" pitchFamily="49" charset="0"/>
              </a:rPr>
              <a:t>brm</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y ~ </a:t>
            </a:r>
            <a:r>
              <a:rPr lang="en-SE" dirty="0">
                <a:solidFill>
                  <a:schemeClr val="bg2">
                    <a:lumMod val="75000"/>
                  </a:schemeClr>
                </a:solidFill>
                <a:latin typeface="Courier New" panose="02070309020205020404" pitchFamily="49" charset="0"/>
                <a:cs typeface="Courier New" panose="02070309020205020404" pitchFamily="49" charset="0"/>
              </a:rPr>
              <a:t>1</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accent6"/>
                </a:solidFill>
                <a:latin typeface="Courier New" panose="02070309020205020404" pitchFamily="49" charset="0"/>
                <a:cs typeface="Courier New" panose="02070309020205020404" pitchFamily="49" charset="0"/>
              </a:rPr>
              <a:t>x</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accent6"/>
                </a:solidFill>
                <a:latin typeface="Courier New" panose="02070309020205020404" pitchFamily="49" charset="0"/>
                <a:cs typeface="Courier New" panose="02070309020205020404" pitchFamily="49" charset="0"/>
              </a:rPr>
              <a:t>z</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family = Gaussian,</a:t>
            </a:r>
          </a:p>
          <a:p>
            <a:r>
              <a:rPr lang="en-SE" dirty="0">
                <a:solidFill>
                  <a:schemeClr val="tx1"/>
                </a:solidFill>
                <a:latin typeface="Courier New" panose="02070309020205020404" pitchFamily="49" charset="0"/>
                <a:cs typeface="Courier New" panose="02070309020205020404" pitchFamily="49" charset="0"/>
              </a:rPr>
              <a:t>  priors = c(</a:t>
            </a:r>
          </a:p>
          <a:p>
            <a:r>
              <a:rPr lang="en-S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prior</a:t>
            </a:r>
            <a:r>
              <a:rPr lang="de-DE" dirty="0">
                <a:solidFill>
                  <a:schemeClr val="tx1"/>
                </a:solidFill>
                <a:latin typeface="Courier New" panose="02070309020205020404" pitchFamily="49" charset="0"/>
                <a:cs typeface="Courier New" panose="02070309020205020404" pitchFamily="49" charset="0"/>
              </a:rPr>
              <a:t>(normal(</a:t>
            </a:r>
            <a:r>
              <a:rPr lang="en-SE" dirty="0">
                <a:solidFill>
                  <a:schemeClr val="tx1"/>
                </a:solidFill>
                <a:latin typeface="Courier New" panose="02070309020205020404" pitchFamily="49" charset="0"/>
                <a:cs typeface="Courier New" panose="02070309020205020404" pitchFamily="49" charset="0"/>
              </a:rPr>
              <a:t>3</a:t>
            </a:r>
            <a:r>
              <a:rPr lang="de-DE" dirty="0">
                <a:solidFill>
                  <a:schemeClr val="tx1"/>
                </a:solidFill>
                <a:latin typeface="Courier New" panose="02070309020205020404" pitchFamily="49" charset="0"/>
                <a:cs typeface="Courier New" panose="02070309020205020404" pitchFamily="49" charset="0"/>
              </a:rPr>
              <a:t>, 1), </a:t>
            </a:r>
            <a:r>
              <a:rPr lang="de-DE" dirty="0" err="1">
                <a:solidFill>
                  <a:schemeClr val="tx1"/>
                </a:solidFill>
                <a:latin typeface="Courier New" panose="02070309020205020404" pitchFamily="49" charset="0"/>
                <a:cs typeface="Courier New" panose="02070309020205020404" pitchFamily="49" charset="0"/>
              </a:rPr>
              <a:t>class</a:t>
            </a:r>
            <a:r>
              <a:rPr lang="de-DE" dirty="0">
                <a:solidFill>
                  <a:schemeClr val="tx1"/>
                </a:solidFill>
                <a:latin typeface="Courier New" panose="02070309020205020404" pitchFamily="49" charset="0"/>
                <a:cs typeface="Courier New" panose="02070309020205020404" pitchFamily="49" charset="0"/>
              </a:rPr>
              <a:t> = </a:t>
            </a:r>
            <a:r>
              <a:rPr lang="de-DE" dirty="0" err="1">
                <a:solidFill>
                  <a:schemeClr val="tx1"/>
                </a:solidFill>
                <a:latin typeface="Courier New" panose="02070309020205020404" pitchFamily="49" charset="0"/>
                <a:cs typeface="Courier New" panose="02070309020205020404" pitchFamily="49" charset="0"/>
              </a:rPr>
              <a:t>Intercept</a:t>
            </a:r>
            <a:r>
              <a:rPr lang="de-DE" dirty="0">
                <a:solidFill>
                  <a:schemeClr val="tx1"/>
                </a:solidFill>
                <a:latin typeface="Courier New" panose="02070309020205020404" pitchFamily="49" charset="0"/>
                <a:cs typeface="Courier New" panose="02070309020205020404" pitchFamily="49" charset="0"/>
              </a:rPr>
              <a:t>),</a:t>
            </a:r>
            <a:endParaRPr lang="en-SE"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prior</a:t>
            </a:r>
            <a:r>
              <a:rPr lang="de-DE" dirty="0">
                <a:solidFill>
                  <a:schemeClr val="tx1"/>
                </a:solidFill>
                <a:latin typeface="Courier New" panose="02070309020205020404" pitchFamily="49" charset="0"/>
                <a:cs typeface="Courier New" panose="02070309020205020404" pitchFamily="49" charset="0"/>
              </a:rPr>
              <a:t>(normal(0, </a:t>
            </a:r>
            <a:r>
              <a:rPr lang="en-SE" dirty="0">
                <a:solidFill>
                  <a:schemeClr val="tx1"/>
                </a:solidFill>
                <a:latin typeface="Courier New" panose="02070309020205020404" pitchFamily="49" charset="0"/>
                <a:cs typeface="Courier New" panose="02070309020205020404" pitchFamily="49" charset="0"/>
              </a:rPr>
              <a:t>0.5</a:t>
            </a:r>
            <a:r>
              <a:rPr lang="de-D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class</a:t>
            </a:r>
            <a:r>
              <a:rPr lang="de-DE" dirty="0">
                <a:solidFill>
                  <a:schemeClr val="tx1"/>
                </a:solidFill>
                <a:latin typeface="Courier New" panose="02070309020205020404" pitchFamily="49" charset="0"/>
                <a:cs typeface="Courier New" panose="02070309020205020404" pitchFamily="49" charset="0"/>
              </a:rPr>
              <a:t> = b)</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prior</a:t>
            </a:r>
            <a:r>
              <a:rPr lang="de-DE" dirty="0">
                <a:solidFill>
                  <a:schemeClr val="tx1"/>
                </a:solidFill>
                <a:latin typeface="Courier New" panose="02070309020205020404" pitchFamily="49" charset="0"/>
                <a:cs typeface="Courier New" panose="02070309020205020404" pitchFamily="49" charset="0"/>
              </a:rPr>
              <a:t>(</a:t>
            </a:r>
            <a:r>
              <a:rPr lang="en-SE" dirty="0">
                <a:solidFill>
                  <a:schemeClr val="tx1"/>
                </a:solidFill>
                <a:latin typeface="Courier New" panose="02070309020205020404" pitchFamily="49" charset="0"/>
                <a:cs typeface="Courier New" panose="02070309020205020404" pitchFamily="49" charset="0"/>
              </a:rPr>
              <a:t>exp</a:t>
            </a:r>
            <a:r>
              <a:rPr lang="de-DE" dirty="0">
                <a:solidFill>
                  <a:schemeClr val="tx1"/>
                </a:solidFill>
                <a:latin typeface="Courier New" panose="02070309020205020404" pitchFamily="49" charset="0"/>
                <a:cs typeface="Courier New" panose="02070309020205020404" pitchFamily="49" charset="0"/>
              </a:rPr>
              <a:t>(</a:t>
            </a:r>
            <a:r>
              <a:rPr lang="en-SE" dirty="0">
                <a:solidFill>
                  <a:schemeClr val="tx1"/>
                </a:solidFill>
                <a:latin typeface="Courier New" panose="02070309020205020404" pitchFamily="49" charset="0"/>
                <a:cs typeface="Courier New" panose="02070309020205020404" pitchFamily="49" charset="0"/>
              </a:rPr>
              <a:t>1</a:t>
            </a:r>
            <a:r>
              <a:rPr lang="de-D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class</a:t>
            </a:r>
            <a:r>
              <a:rPr lang="de-DE" dirty="0">
                <a:solidFill>
                  <a:schemeClr val="tx1"/>
                </a:solidFill>
                <a:latin typeface="Courier New" panose="02070309020205020404" pitchFamily="49" charset="0"/>
                <a:cs typeface="Courier New" panose="02070309020205020404" pitchFamily="49" charset="0"/>
              </a:rPr>
              <a:t> = </a:t>
            </a:r>
            <a:r>
              <a:rPr lang="en-SE" dirty="0">
                <a:solidFill>
                  <a:schemeClr val="tx1"/>
                </a:solidFill>
                <a:latin typeface="Courier New" panose="02070309020205020404" pitchFamily="49" charset="0"/>
                <a:cs typeface="Courier New" panose="02070309020205020404" pitchFamily="49" charset="0"/>
              </a:rPr>
              <a:t>sigma</a:t>
            </a:r>
            <a:r>
              <a:rPr lang="de-DE" dirty="0">
                <a:solidFill>
                  <a:schemeClr val="tx1"/>
                </a:solidFill>
                <a:latin typeface="Courier New" panose="02070309020205020404" pitchFamily="49" charset="0"/>
                <a:cs typeface="Courier New" panose="02070309020205020404" pitchFamily="49" charset="0"/>
              </a:rPr>
              <a:t>))</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a:t>
            </a:r>
            <a:r>
              <a:rPr lang="en-US" dirty="0" err="1">
                <a:solidFill>
                  <a:schemeClr val="tx1"/>
                </a:solidFill>
                <a:latin typeface="Courier New" panose="02070309020205020404" pitchFamily="49" charset="0"/>
                <a:cs typeface="Courier New" panose="02070309020205020404" pitchFamily="49" charset="0"/>
              </a:rPr>
              <a:t>sample_prior</a:t>
            </a:r>
            <a:r>
              <a:rPr lang="en-SE" dirty="0">
                <a:solidFill>
                  <a:schemeClr val="tx1"/>
                </a:solidFill>
                <a:latin typeface="Courier New" panose="02070309020205020404" pitchFamily="49" charset="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a:t>
            </a:r>
            <a:r>
              <a:rPr lang="en-SE" dirty="0">
                <a:solidFill>
                  <a:schemeClr val="tx1"/>
                </a:solidFill>
                <a:latin typeface="Courier New" panose="02070309020205020404" pitchFamily="49" charset="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only</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iter = 4000, warmup = 1000, chains = 4,</a:t>
            </a:r>
            <a:endParaRPr lang="en-SE"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  c</a:t>
            </a:r>
            <a:r>
              <a:rPr lang="en-US" dirty="0">
                <a:solidFill>
                  <a:schemeClr val="tx1"/>
                </a:solidFill>
                <a:latin typeface="Courier New" panose="02070309020205020404" pitchFamily="49" charset="0"/>
                <a:cs typeface="Courier New" panose="02070309020205020404" pitchFamily="49" charset="0"/>
              </a:rPr>
              <a:t>ores = 4, </a:t>
            </a:r>
            <a:r>
              <a:rPr lang="en-SE" dirty="0">
                <a:solidFill>
                  <a:schemeClr val="tx1"/>
                </a:solidFill>
                <a:latin typeface="Courier New" panose="02070309020205020404" pitchFamily="49" charset="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seed = 4</a:t>
            </a:r>
            <a:endParaRPr lang="en-SE"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a:t>
            </a:r>
          </a:p>
        </p:txBody>
      </p:sp>
      <p:sp>
        <p:nvSpPr>
          <p:cNvPr id="11" name="Rectangle 10">
            <a:extLst>
              <a:ext uri="{FF2B5EF4-FFF2-40B4-BE49-F238E27FC236}">
                <a16:creationId xmlns:a16="http://schemas.microsoft.com/office/drawing/2014/main" id="{DBA6FB1E-CDE4-CF54-47DC-3575A4243DA0}"/>
              </a:ext>
            </a:extLst>
          </p:cNvPr>
          <p:cNvSpPr/>
          <p:nvPr/>
        </p:nvSpPr>
        <p:spPr>
          <a:xfrm>
            <a:off x="3062456" y="2897541"/>
            <a:ext cx="6067087" cy="365125"/>
          </a:xfrm>
          <a:prstGeom prst="rect">
            <a:avLst/>
          </a:prstGeom>
          <a:solidFill>
            <a:schemeClr val="tx1">
              <a:lumMod val="65000"/>
              <a:lumOff val="3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E" dirty="0">
                <a:solidFill>
                  <a:schemeClr val="bg1"/>
                </a:solidFill>
                <a:latin typeface="Courier New" panose="02070309020205020404" pitchFamily="49" charset="0"/>
                <a:cs typeface="Courier New" panose="02070309020205020404" pitchFamily="49" charset="0"/>
              </a:rPr>
              <a:t>R 4.5.0 using library(brms)</a:t>
            </a:r>
          </a:p>
        </p:txBody>
      </p:sp>
      <p:sp>
        <p:nvSpPr>
          <p:cNvPr id="14" name="Rectangle 13">
            <a:extLst>
              <a:ext uri="{FF2B5EF4-FFF2-40B4-BE49-F238E27FC236}">
                <a16:creationId xmlns:a16="http://schemas.microsoft.com/office/drawing/2014/main" id="{41A8FD7C-529B-9169-D370-E534766E0979}"/>
              </a:ext>
            </a:extLst>
          </p:cNvPr>
          <p:cNvSpPr/>
          <p:nvPr/>
        </p:nvSpPr>
        <p:spPr>
          <a:xfrm>
            <a:off x="3386138" y="5519739"/>
            <a:ext cx="5319712" cy="509586"/>
          </a:xfrm>
          <a:prstGeom prst="rect">
            <a:avLst/>
          </a:prstGeom>
          <a:noFill/>
          <a:ln w="285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Rectangle 11">
            <a:extLst>
              <a:ext uri="{FF2B5EF4-FFF2-40B4-BE49-F238E27FC236}">
                <a16:creationId xmlns:a16="http://schemas.microsoft.com/office/drawing/2014/main" id="{2AAC976D-3EA0-BFE1-FD22-C76AA828AE0C}"/>
              </a:ext>
            </a:extLst>
          </p:cNvPr>
          <p:cNvSpPr/>
          <p:nvPr/>
        </p:nvSpPr>
        <p:spPr>
          <a:xfrm>
            <a:off x="3386138" y="5243513"/>
            <a:ext cx="3078162" cy="276226"/>
          </a:xfrm>
          <a:prstGeom prst="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7" name="TextBox 16">
            <a:extLst>
              <a:ext uri="{FF2B5EF4-FFF2-40B4-BE49-F238E27FC236}">
                <a16:creationId xmlns:a16="http://schemas.microsoft.com/office/drawing/2014/main" id="{2CAF6DC2-0B4E-9C4B-0BD6-014A3A8BF536}"/>
              </a:ext>
            </a:extLst>
          </p:cNvPr>
          <p:cNvSpPr txBox="1"/>
          <p:nvPr/>
        </p:nvSpPr>
        <p:spPr>
          <a:xfrm>
            <a:off x="838198" y="3720716"/>
            <a:ext cx="2170258" cy="923330"/>
          </a:xfrm>
          <a:prstGeom prst="rect">
            <a:avLst/>
          </a:prstGeom>
          <a:noFill/>
        </p:spPr>
        <p:txBody>
          <a:bodyPr wrap="square" rtlCol="0">
            <a:spAutoFit/>
          </a:bodyPr>
          <a:lstStyle/>
          <a:p>
            <a:r>
              <a:rPr lang="en-SE" dirty="0"/>
              <a:t>Force the model to sample from the priors directly</a:t>
            </a:r>
          </a:p>
        </p:txBody>
      </p:sp>
      <p:sp>
        <p:nvSpPr>
          <p:cNvPr id="21" name="TextBox 20">
            <a:extLst>
              <a:ext uri="{FF2B5EF4-FFF2-40B4-BE49-F238E27FC236}">
                <a16:creationId xmlns:a16="http://schemas.microsoft.com/office/drawing/2014/main" id="{436A82A0-C249-A138-519E-2B59E6F2BB15}"/>
              </a:ext>
            </a:extLst>
          </p:cNvPr>
          <p:cNvSpPr txBox="1"/>
          <p:nvPr/>
        </p:nvSpPr>
        <p:spPr>
          <a:xfrm>
            <a:off x="9183544" y="4130249"/>
            <a:ext cx="2170258" cy="1200329"/>
          </a:xfrm>
          <a:prstGeom prst="rect">
            <a:avLst/>
          </a:prstGeom>
          <a:noFill/>
        </p:spPr>
        <p:txBody>
          <a:bodyPr wrap="square" rtlCol="0">
            <a:spAutoFit/>
          </a:bodyPr>
          <a:lstStyle/>
          <a:p>
            <a:r>
              <a:rPr lang="en-SE" dirty="0"/>
              <a:t>Additional configuration of the model (not important here)</a:t>
            </a:r>
          </a:p>
        </p:txBody>
      </p:sp>
      <p:cxnSp>
        <p:nvCxnSpPr>
          <p:cNvPr id="25" name="Connector: Curved 24">
            <a:extLst>
              <a:ext uri="{FF2B5EF4-FFF2-40B4-BE49-F238E27FC236}">
                <a16:creationId xmlns:a16="http://schemas.microsoft.com/office/drawing/2014/main" id="{6A1259DE-850C-27C3-59B1-66CBEF13D054}"/>
              </a:ext>
            </a:extLst>
          </p:cNvPr>
          <p:cNvCxnSpPr>
            <a:stCxn id="17" idx="2"/>
            <a:endCxn id="12" idx="1"/>
          </p:cNvCxnSpPr>
          <p:nvPr/>
        </p:nvCxnSpPr>
        <p:spPr>
          <a:xfrm rot="16200000" flipH="1">
            <a:off x="2285942" y="4281430"/>
            <a:ext cx="737580" cy="1462811"/>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6" name="Connector: Curved 25">
            <a:extLst>
              <a:ext uri="{FF2B5EF4-FFF2-40B4-BE49-F238E27FC236}">
                <a16:creationId xmlns:a16="http://schemas.microsoft.com/office/drawing/2014/main" id="{9099FF6F-D409-7CAF-5A80-1C8E88132C21}"/>
              </a:ext>
            </a:extLst>
          </p:cNvPr>
          <p:cNvCxnSpPr>
            <a:cxnSpLocks/>
            <a:stCxn id="21" idx="2"/>
            <a:endCxn id="14" idx="3"/>
          </p:cNvCxnSpPr>
          <p:nvPr/>
        </p:nvCxnSpPr>
        <p:spPr>
          <a:xfrm rot="5400000">
            <a:off x="9265285" y="4771144"/>
            <a:ext cx="443954" cy="1562823"/>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349536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animBg="1"/>
      <p:bldP spid="17" grpId="0"/>
      <p:bldP spid="2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04A2D-9033-B6C2-3C8D-894CED4116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225BA-A78C-79CC-76A5-1D8844BF6344}"/>
              </a:ext>
            </a:extLst>
          </p:cNvPr>
          <p:cNvSpPr>
            <a:spLocks noGrp="1"/>
          </p:cNvSpPr>
          <p:nvPr>
            <p:ph type="title"/>
          </p:nvPr>
        </p:nvSpPr>
        <p:spPr/>
        <p:txBody>
          <a:bodyPr/>
          <a:lstStyle/>
          <a:p>
            <a:r>
              <a:rPr lang="en-SE" dirty="0"/>
              <a:t>Assessing Priors</a:t>
            </a:r>
          </a:p>
        </p:txBody>
      </p:sp>
      <p:sp>
        <p:nvSpPr>
          <p:cNvPr id="3" name="Content Placeholder 2">
            <a:extLst>
              <a:ext uri="{FF2B5EF4-FFF2-40B4-BE49-F238E27FC236}">
                <a16:creationId xmlns:a16="http://schemas.microsoft.com/office/drawing/2014/main" id="{CFBAD7DF-E669-537E-F183-F2DED6A76109}"/>
              </a:ext>
            </a:extLst>
          </p:cNvPr>
          <p:cNvSpPr>
            <a:spLocks noGrp="1"/>
          </p:cNvSpPr>
          <p:nvPr>
            <p:ph idx="1"/>
          </p:nvPr>
        </p:nvSpPr>
        <p:spPr>
          <a:xfrm>
            <a:off x="838200" y="1825625"/>
            <a:ext cx="10515600" cy="1325563"/>
          </a:xfrm>
        </p:spPr>
        <p:txBody>
          <a:bodyPr/>
          <a:lstStyle/>
          <a:p>
            <a:pPr marL="0" indent="0">
              <a:buNone/>
            </a:pPr>
            <a:r>
              <a:rPr lang="en-SE" dirty="0"/>
              <a:t>A successful prior probability check shows t</a:t>
            </a:r>
            <a:r>
              <a:rPr lang="de-DE" dirty="0"/>
              <a:t>ha</a:t>
            </a:r>
            <a:r>
              <a:rPr lang="en-SE" dirty="0"/>
              <a:t>t sampling from the priors yields data </a:t>
            </a:r>
            <a:r>
              <a:rPr lang="en-SE" b="1" dirty="0"/>
              <a:t>encompassing</a:t>
            </a:r>
            <a:r>
              <a:rPr lang="en-SE" dirty="0"/>
              <a:t> the actual data while </a:t>
            </a:r>
            <a:r>
              <a:rPr lang="en-SE" b="1" dirty="0"/>
              <a:t>leaving variance around it</a:t>
            </a:r>
            <a:r>
              <a:rPr lang="en-SE" dirty="0"/>
              <a:t>.</a:t>
            </a:r>
          </a:p>
        </p:txBody>
      </p:sp>
      <p:sp>
        <p:nvSpPr>
          <p:cNvPr id="4" name="Date Placeholder 3">
            <a:extLst>
              <a:ext uri="{FF2B5EF4-FFF2-40B4-BE49-F238E27FC236}">
                <a16:creationId xmlns:a16="http://schemas.microsoft.com/office/drawing/2014/main" id="{2B333C2D-8352-DD9F-6C4F-38E0D0FBF9B8}"/>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1450C94D-D7EA-845E-E5F0-597382593680}"/>
              </a:ext>
            </a:extLst>
          </p:cNvPr>
          <p:cNvSpPr>
            <a:spLocks noGrp="1"/>
          </p:cNvSpPr>
          <p:nvPr>
            <p:ph type="sldNum" sz="quarter" idx="12"/>
          </p:nvPr>
        </p:nvSpPr>
        <p:spPr/>
        <p:txBody>
          <a:bodyPr/>
          <a:lstStyle/>
          <a:p>
            <a:fld id="{271ECC92-9CDE-4EB3-B1C5-F46B9E1FA3C1}" type="slidenum">
              <a:rPr lang="en-SE" smtClean="0"/>
              <a:t>50</a:t>
            </a:fld>
            <a:endParaRPr lang="en-SE" dirty="0"/>
          </a:p>
        </p:txBody>
      </p:sp>
      <p:sp>
        <p:nvSpPr>
          <p:cNvPr id="6" name="Footer Placeholder 5">
            <a:extLst>
              <a:ext uri="{FF2B5EF4-FFF2-40B4-BE49-F238E27FC236}">
                <a16:creationId xmlns:a16="http://schemas.microsoft.com/office/drawing/2014/main" id="{DACDC725-CDE9-F2CA-877F-C4FCCF58CFEF}"/>
              </a:ext>
            </a:extLst>
          </p:cNvPr>
          <p:cNvSpPr>
            <a:spLocks noGrp="1"/>
          </p:cNvSpPr>
          <p:nvPr>
            <p:ph type="ftr" sz="quarter" idx="11"/>
          </p:nvPr>
        </p:nvSpPr>
        <p:spPr/>
        <p:txBody>
          <a:bodyPr/>
          <a:lstStyle/>
          <a:p>
            <a:r>
              <a:rPr lang="de-DE"/>
              <a:t>Bayesian Data Analysis Tutorial</a:t>
            </a:r>
            <a:endParaRPr lang="en-SE"/>
          </a:p>
        </p:txBody>
      </p:sp>
      <p:grpSp>
        <p:nvGrpSpPr>
          <p:cNvPr id="34" name="Group 33">
            <a:extLst>
              <a:ext uri="{FF2B5EF4-FFF2-40B4-BE49-F238E27FC236}">
                <a16:creationId xmlns:a16="http://schemas.microsoft.com/office/drawing/2014/main" id="{FD32E93B-BEFE-CD69-4F3D-50EFAC6C594C}"/>
              </a:ext>
            </a:extLst>
          </p:cNvPr>
          <p:cNvGrpSpPr/>
          <p:nvPr/>
        </p:nvGrpSpPr>
        <p:grpSpPr>
          <a:xfrm>
            <a:off x="203635" y="1825625"/>
            <a:ext cx="504000" cy="504000"/>
            <a:chOff x="977950" y="2729564"/>
            <a:chExt cx="504000" cy="504000"/>
          </a:xfrm>
        </p:grpSpPr>
        <p:sp>
          <p:nvSpPr>
            <p:cNvPr id="35" name="Oval 34">
              <a:extLst>
                <a:ext uri="{FF2B5EF4-FFF2-40B4-BE49-F238E27FC236}">
                  <a16:creationId xmlns:a16="http://schemas.microsoft.com/office/drawing/2014/main" id="{30A2BB5A-A65A-5E8E-4B61-5E672DC8124F}"/>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6" name="Graphic 35" descr="Golden Ratio with solid fill">
              <a:extLst>
                <a:ext uri="{FF2B5EF4-FFF2-40B4-BE49-F238E27FC236}">
                  <a16:creationId xmlns:a16="http://schemas.microsoft.com/office/drawing/2014/main" id="{93936079-5670-88A8-AF9F-2FDFCE5AF03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950" y="2783564"/>
              <a:ext cx="396000" cy="396000"/>
            </a:xfrm>
            <a:prstGeom prst="rect">
              <a:avLst/>
            </a:prstGeom>
          </p:spPr>
        </p:pic>
      </p:grpSp>
      <p:grpSp>
        <p:nvGrpSpPr>
          <p:cNvPr id="37" name="Group 36">
            <a:extLst>
              <a:ext uri="{FF2B5EF4-FFF2-40B4-BE49-F238E27FC236}">
                <a16:creationId xmlns:a16="http://schemas.microsoft.com/office/drawing/2014/main" id="{611DDDFF-D685-DC85-21E0-8796554B2683}"/>
              </a:ext>
            </a:extLst>
          </p:cNvPr>
          <p:cNvGrpSpPr/>
          <p:nvPr/>
        </p:nvGrpSpPr>
        <p:grpSpPr>
          <a:xfrm>
            <a:off x="203635" y="2439322"/>
            <a:ext cx="504000" cy="504000"/>
            <a:chOff x="977950" y="2729564"/>
            <a:chExt cx="504000" cy="504000"/>
          </a:xfrm>
        </p:grpSpPr>
        <p:sp>
          <p:nvSpPr>
            <p:cNvPr id="38" name="Oval 37">
              <a:extLst>
                <a:ext uri="{FF2B5EF4-FFF2-40B4-BE49-F238E27FC236}">
                  <a16:creationId xmlns:a16="http://schemas.microsoft.com/office/drawing/2014/main" id="{DD555C61-31EE-C951-6769-1A1C2348DDFC}"/>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9" name="Graphic 38" descr="Normal Distribution with solid fill">
              <a:extLst>
                <a:ext uri="{FF2B5EF4-FFF2-40B4-BE49-F238E27FC236}">
                  <a16:creationId xmlns:a16="http://schemas.microsoft.com/office/drawing/2014/main" id="{77FBA2FF-F562-0DFC-EFCE-9209DBE4ADB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grpSp>
        <p:nvGrpSpPr>
          <p:cNvPr id="40" name="Group 39">
            <a:extLst>
              <a:ext uri="{FF2B5EF4-FFF2-40B4-BE49-F238E27FC236}">
                <a16:creationId xmlns:a16="http://schemas.microsoft.com/office/drawing/2014/main" id="{514A355D-B87C-5CC2-54F1-6448C6D05041}"/>
              </a:ext>
            </a:extLst>
          </p:cNvPr>
          <p:cNvGrpSpPr/>
          <p:nvPr/>
        </p:nvGrpSpPr>
        <p:grpSpPr>
          <a:xfrm>
            <a:off x="203635" y="3053019"/>
            <a:ext cx="504000" cy="504000"/>
            <a:chOff x="977950" y="2729564"/>
            <a:chExt cx="504000" cy="504000"/>
          </a:xfrm>
        </p:grpSpPr>
        <p:sp>
          <p:nvSpPr>
            <p:cNvPr id="41" name="Oval 40">
              <a:extLst>
                <a:ext uri="{FF2B5EF4-FFF2-40B4-BE49-F238E27FC236}">
                  <a16:creationId xmlns:a16="http://schemas.microsoft.com/office/drawing/2014/main" id="{CE77FDE2-D87B-7672-ED15-EEC292B41C74}"/>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2" name="Graphic 41" descr="Abacus with solid fill">
              <a:extLst>
                <a:ext uri="{FF2B5EF4-FFF2-40B4-BE49-F238E27FC236}">
                  <a16:creationId xmlns:a16="http://schemas.microsoft.com/office/drawing/2014/main" id="{B8888E28-714B-CABB-E9C9-EA28C7FD6E8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43" name="Group 42">
            <a:extLst>
              <a:ext uri="{FF2B5EF4-FFF2-40B4-BE49-F238E27FC236}">
                <a16:creationId xmlns:a16="http://schemas.microsoft.com/office/drawing/2014/main" id="{F8DF6653-29A5-CC73-775C-35F8599F1C4C}"/>
              </a:ext>
            </a:extLst>
          </p:cNvPr>
          <p:cNvGrpSpPr/>
          <p:nvPr/>
        </p:nvGrpSpPr>
        <p:grpSpPr>
          <a:xfrm>
            <a:off x="203635" y="3666716"/>
            <a:ext cx="504000" cy="504000"/>
            <a:chOff x="977950" y="2729564"/>
            <a:chExt cx="504000" cy="504000"/>
          </a:xfrm>
        </p:grpSpPr>
        <p:sp>
          <p:nvSpPr>
            <p:cNvPr id="44" name="Oval 43">
              <a:extLst>
                <a:ext uri="{FF2B5EF4-FFF2-40B4-BE49-F238E27FC236}">
                  <a16:creationId xmlns:a16="http://schemas.microsoft.com/office/drawing/2014/main" id="{736E5E1D-FF80-B8D3-930D-C906361D97C6}"/>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5" name="Graphic 44" descr="Trigonometry with solid fill">
              <a:extLst>
                <a:ext uri="{FF2B5EF4-FFF2-40B4-BE49-F238E27FC236}">
                  <a16:creationId xmlns:a16="http://schemas.microsoft.com/office/drawing/2014/main" id="{3913F3DE-07AE-E6DB-1B55-4330174AE8D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46" name="Group 45">
            <a:extLst>
              <a:ext uri="{FF2B5EF4-FFF2-40B4-BE49-F238E27FC236}">
                <a16:creationId xmlns:a16="http://schemas.microsoft.com/office/drawing/2014/main" id="{74FC750E-B409-55B6-40DA-B60BCA64A71F}"/>
              </a:ext>
            </a:extLst>
          </p:cNvPr>
          <p:cNvGrpSpPr/>
          <p:nvPr/>
        </p:nvGrpSpPr>
        <p:grpSpPr>
          <a:xfrm>
            <a:off x="203635" y="4280414"/>
            <a:ext cx="504000" cy="504000"/>
            <a:chOff x="977950" y="2729564"/>
            <a:chExt cx="504000" cy="504000"/>
          </a:xfrm>
        </p:grpSpPr>
        <p:sp>
          <p:nvSpPr>
            <p:cNvPr id="47" name="Oval 46">
              <a:extLst>
                <a:ext uri="{FF2B5EF4-FFF2-40B4-BE49-F238E27FC236}">
                  <a16:creationId xmlns:a16="http://schemas.microsoft.com/office/drawing/2014/main" id="{58E91BB4-C582-D2BB-1B0B-0DEF10AA47DA}"/>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8" name="Graphic 47" descr="Scatterplot with solid fill">
              <a:extLst>
                <a:ext uri="{FF2B5EF4-FFF2-40B4-BE49-F238E27FC236}">
                  <a16:creationId xmlns:a16="http://schemas.microsoft.com/office/drawing/2014/main" id="{8DF7D06C-C994-E9FC-27FA-735C8CCF8FF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cxnSp>
        <p:nvCxnSpPr>
          <p:cNvPr id="49" name="Straight Arrow Connector 48">
            <a:extLst>
              <a:ext uri="{FF2B5EF4-FFF2-40B4-BE49-F238E27FC236}">
                <a16:creationId xmlns:a16="http://schemas.microsoft.com/office/drawing/2014/main" id="{E128A331-36F9-7294-7BFC-F90E5ABC61B6}"/>
              </a:ext>
            </a:extLst>
          </p:cNvPr>
          <p:cNvCxnSpPr>
            <a:cxnSpLocks/>
            <a:stCxn id="35" idx="4"/>
            <a:endCxn id="38"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26807937-8EAF-C165-DDE1-3BD9DC9C19DF}"/>
              </a:ext>
            </a:extLst>
          </p:cNvPr>
          <p:cNvCxnSpPr>
            <a:cxnSpLocks/>
            <a:stCxn id="38" idx="4"/>
            <a:endCxn id="41"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25C16762-4122-ECE3-3368-09B23DD5B4DD}"/>
              </a:ext>
            </a:extLst>
          </p:cNvPr>
          <p:cNvCxnSpPr>
            <a:cxnSpLocks/>
            <a:stCxn id="41" idx="4"/>
            <a:endCxn id="44"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9436D420-7ECB-36F4-E713-5188ED5E3757}"/>
              </a:ext>
            </a:extLst>
          </p:cNvPr>
          <p:cNvCxnSpPr>
            <a:cxnSpLocks/>
            <a:stCxn id="44" idx="4"/>
            <a:endCxn id="47"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9" name="Picture 8">
            <a:extLst>
              <a:ext uri="{FF2B5EF4-FFF2-40B4-BE49-F238E27FC236}">
                <a16:creationId xmlns:a16="http://schemas.microsoft.com/office/drawing/2014/main" id="{B47E8402-B6C3-C050-1611-7E3A0C499D25}"/>
              </a:ext>
            </a:extLst>
          </p:cNvPr>
          <p:cNvPicPr>
            <a:picLocks noChangeAspect="1"/>
          </p:cNvPicPr>
          <p:nvPr/>
        </p:nvPicPr>
        <p:blipFill>
          <a:blip r:embed="rId7"/>
          <a:stretch>
            <a:fillRect/>
          </a:stretch>
        </p:blipFill>
        <p:spPr>
          <a:xfrm>
            <a:off x="1594635" y="3880143"/>
            <a:ext cx="4114799" cy="2460031"/>
          </a:xfrm>
          <a:prstGeom prst="rect">
            <a:avLst/>
          </a:prstGeom>
        </p:spPr>
      </p:pic>
      <p:grpSp>
        <p:nvGrpSpPr>
          <p:cNvPr id="20" name="Group 19">
            <a:extLst>
              <a:ext uri="{FF2B5EF4-FFF2-40B4-BE49-F238E27FC236}">
                <a16:creationId xmlns:a16="http://schemas.microsoft.com/office/drawing/2014/main" id="{2F00FDB9-0856-A644-FC3F-2964D93E261F}"/>
              </a:ext>
            </a:extLst>
          </p:cNvPr>
          <p:cNvGrpSpPr/>
          <p:nvPr/>
        </p:nvGrpSpPr>
        <p:grpSpPr>
          <a:xfrm>
            <a:off x="959635" y="3238749"/>
            <a:ext cx="4787911" cy="584775"/>
            <a:chOff x="1497300" y="3249000"/>
            <a:chExt cx="4787911" cy="584775"/>
          </a:xfrm>
        </p:grpSpPr>
        <p:grpSp>
          <p:nvGrpSpPr>
            <p:cNvPr id="16" name="Group 15">
              <a:extLst>
                <a:ext uri="{FF2B5EF4-FFF2-40B4-BE49-F238E27FC236}">
                  <a16:creationId xmlns:a16="http://schemas.microsoft.com/office/drawing/2014/main" id="{DA88B974-7C78-7BDD-F16D-DF05D2391121}"/>
                </a:ext>
              </a:extLst>
            </p:cNvPr>
            <p:cNvGrpSpPr/>
            <p:nvPr/>
          </p:nvGrpSpPr>
          <p:grpSpPr>
            <a:xfrm>
              <a:off x="1497300" y="3307387"/>
              <a:ext cx="468000" cy="468000"/>
              <a:chOff x="7505700" y="4334414"/>
              <a:chExt cx="468000" cy="468000"/>
            </a:xfrm>
          </p:grpSpPr>
          <p:sp>
            <p:nvSpPr>
              <p:cNvPr id="15" name="Oval 14">
                <a:extLst>
                  <a:ext uri="{FF2B5EF4-FFF2-40B4-BE49-F238E27FC236}">
                    <a16:creationId xmlns:a16="http://schemas.microsoft.com/office/drawing/2014/main" id="{510211F9-442A-202B-FF82-E1E1BEA4D20E}"/>
                  </a:ext>
                </a:extLst>
              </p:cNvPr>
              <p:cNvSpPr/>
              <p:nvPr/>
            </p:nvSpPr>
            <p:spPr>
              <a:xfrm>
                <a:off x="7505700" y="4334414"/>
                <a:ext cx="468000" cy="468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3" name="Graphic 12" descr="Checkmark with solid fill">
                <a:extLst>
                  <a:ext uri="{FF2B5EF4-FFF2-40B4-BE49-F238E27FC236}">
                    <a16:creationId xmlns:a16="http://schemas.microsoft.com/office/drawing/2014/main" id="{26360414-1A38-F665-C5DC-22E9F1BC67A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559700" y="4388414"/>
                <a:ext cx="360000" cy="360000"/>
              </a:xfrm>
              <a:prstGeom prst="rect">
                <a:avLst/>
              </a:prstGeom>
            </p:spPr>
          </p:pic>
        </p:grpSp>
        <p:sp>
          <p:nvSpPr>
            <p:cNvPr id="19" name="TextBox 18">
              <a:extLst>
                <a:ext uri="{FF2B5EF4-FFF2-40B4-BE49-F238E27FC236}">
                  <a16:creationId xmlns:a16="http://schemas.microsoft.com/office/drawing/2014/main" id="{525B6262-F9B7-9B30-1012-78C457672DF9}"/>
                </a:ext>
              </a:extLst>
            </p:cNvPr>
            <p:cNvSpPr txBox="1"/>
            <p:nvPr/>
          </p:nvSpPr>
          <p:spPr>
            <a:xfrm>
              <a:off x="2019300" y="3249000"/>
              <a:ext cx="4265911" cy="584775"/>
            </a:xfrm>
            <a:prstGeom prst="rect">
              <a:avLst/>
            </a:prstGeom>
            <a:noFill/>
          </p:spPr>
          <p:txBody>
            <a:bodyPr wrap="none" rtlCol="0">
              <a:spAutoFit/>
            </a:bodyPr>
            <a:lstStyle/>
            <a:p>
              <a:r>
                <a:rPr lang="en-SE" b="1" dirty="0"/>
                <a:t>Successful</a:t>
              </a:r>
              <a:r>
                <a:rPr lang="en-SE" dirty="0"/>
                <a:t> prior predictive check with</a:t>
              </a:r>
            </a:p>
            <a:p>
              <a:r>
                <a:rPr lang="de-DE" sz="1400" dirty="0" err="1">
                  <a:latin typeface="Courier New" panose="02070309020205020404" pitchFamily="49" charset="0"/>
                  <a:cs typeface="Courier New" panose="02070309020205020404" pitchFamily="49" charset="0"/>
                </a:rPr>
                <a:t>prior</a:t>
              </a:r>
              <a:r>
                <a:rPr lang="de-DE" sz="1400" dirty="0">
                  <a:latin typeface="Courier New" panose="02070309020205020404" pitchFamily="49" charset="0"/>
                  <a:cs typeface="Courier New" panose="02070309020205020404" pitchFamily="49" charset="0"/>
                </a:rPr>
                <a:t>(normal(</a:t>
              </a:r>
              <a:r>
                <a:rPr lang="en-SE" sz="1400" dirty="0">
                  <a:solidFill>
                    <a:schemeClr val="accent2"/>
                  </a:solidFill>
                  <a:latin typeface="Courier New" panose="02070309020205020404" pitchFamily="49" charset="0"/>
                  <a:cs typeface="Courier New" panose="02070309020205020404" pitchFamily="49" charset="0"/>
                </a:rPr>
                <a:t>3</a:t>
              </a:r>
              <a:r>
                <a:rPr lang="de-DE" sz="1400" dirty="0">
                  <a:latin typeface="Courier New" panose="02070309020205020404" pitchFamily="49" charset="0"/>
                  <a:cs typeface="Courier New" panose="02070309020205020404" pitchFamily="49" charset="0"/>
                </a:rPr>
                <a:t>, 1), </a:t>
              </a:r>
              <a:r>
                <a:rPr lang="de-DE" sz="1400" dirty="0" err="1">
                  <a:latin typeface="Courier New" panose="02070309020205020404" pitchFamily="49" charset="0"/>
                  <a:cs typeface="Courier New" panose="02070309020205020404" pitchFamily="49" charset="0"/>
                </a:rPr>
                <a:t>class</a:t>
              </a:r>
              <a:r>
                <a:rPr lang="de-DE" sz="1400" dirty="0">
                  <a:latin typeface="Courier New" panose="02070309020205020404" pitchFamily="49" charset="0"/>
                  <a:cs typeface="Courier New" panose="02070309020205020404" pitchFamily="49" charset="0"/>
                </a:rPr>
                <a:t> = </a:t>
              </a:r>
              <a:r>
                <a:rPr lang="de-DE" sz="1400" dirty="0" err="1">
                  <a:latin typeface="Courier New" panose="02070309020205020404" pitchFamily="49" charset="0"/>
                  <a:cs typeface="Courier New" panose="02070309020205020404" pitchFamily="49" charset="0"/>
                </a:rPr>
                <a:t>Intercept</a:t>
              </a:r>
              <a:r>
                <a:rPr lang="de-DE" sz="1400" dirty="0">
                  <a:latin typeface="Courier New" panose="02070309020205020404" pitchFamily="49" charset="0"/>
                  <a:cs typeface="Courier New" panose="02070309020205020404" pitchFamily="49" charset="0"/>
                </a:rPr>
                <a:t>)</a:t>
              </a:r>
              <a:endParaRPr lang="en-SE" sz="1400" dirty="0"/>
            </a:p>
          </p:txBody>
        </p:sp>
      </p:grpSp>
      <p:grpSp>
        <p:nvGrpSpPr>
          <p:cNvPr id="22" name="Group 21">
            <a:extLst>
              <a:ext uri="{FF2B5EF4-FFF2-40B4-BE49-F238E27FC236}">
                <a16:creationId xmlns:a16="http://schemas.microsoft.com/office/drawing/2014/main" id="{05B82B48-C767-6BD5-E775-9F83B5689597}"/>
              </a:ext>
            </a:extLst>
          </p:cNvPr>
          <p:cNvGrpSpPr/>
          <p:nvPr/>
        </p:nvGrpSpPr>
        <p:grpSpPr>
          <a:xfrm>
            <a:off x="6096000" y="3238749"/>
            <a:ext cx="4954047" cy="584775"/>
            <a:chOff x="1497300" y="3249000"/>
            <a:chExt cx="4954047" cy="584775"/>
          </a:xfrm>
        </p:grpSpPr>
        <p:grpSp>
          <p:nvGrpSpPr>
            <p:cNvPr id="23" name="Group 22">
              <a:extLst>
                <a:ext uri="{FF2B5EF4-FFF2-40B4-BE49-F238E27FC236}">
                  <a16:creationId xmlns:a16="http://schemas.microsoft.com/office/drawing/2014/main" id="{EFFCE341-B111-E8DA-AB2F-334E484E13E5}"/>
                </a:ext>
              </a:extLst>
            </p:cNvPr>
            <p:cNvGrpSpPr/>
            <p:nvPr/>
          </p:nvGrpSpPr>
          <p:grpSpPr>
            <a:xfrm>
              <a:off x="1497300" y="3307387"/>
              <a:ext cx="468000" cy="468000"/>
              <a:chOff x="7505700" y="4334414"/>
              <a:chExt cx="468000" cy="468000"/>
            </a:xfrm>
          </p:grpSpPr>
          <p:sp>
            <p:nvSpPr>
              <p:cNvPr id="27" name="Oval 26">
                <a:extLst>
                  <a:ext uri="{FF2B5EF4-FFF2-40B4-BE49-F238E27FC236}">
                    <a16:creationId xmlns:a16="http://schemas.microsoft.com/office/drawing/2014/main" id="{63BEB74C-86AA-C82A-80C1-0B9F3373EF81}"/>
                  </a:ext>
                </a:extLst>
              </p:cNvPr>
              <p:cNvSpPr/>
              <p:nvPr/>
            </p:nvSpPr>
            <p:spPr>
              <a:xfrm>
                <a:off x="7505700" y="4334414"/>
                <a:ext cx="468000" cy="4680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8" name="Graphic 27" descr="Close with solid fill">
                <a:extLst>
                  <a:ext uri="{FF2B5EF4-FFF2-40B4-BE49-F238E27FC236}">
                    <a16:creationId xmlns:a16="http://schemas.microsoft.com/office/drawing/2014/main" id="{888A0DF0-E70A-192D-C0A9-D6F22F2F37C7}"/>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7559700" y="4388414"/>
                <a:ext cx="360000" cy="360000"/>
              </a:xfrm>
              <a:prstGeom prst="rect">
                <a:avLst/>
              </a:prstGeom>
            </p:spPr>
          </p:pic>
        </p:grpSp>
        <p:sp>
          <p:nvSpPr>
            <p:cNvPr id="24" name="TextBox 23">
              <a:extLst>
                <a:ext uri="{FF2B5EF4-FFF2-40B4-BE49-F238E27FC236}">
                  <a16:creationId xmlns:a16="http://schemas.microsoft.com/office/drawing/2014/main" id="{C2820CC5-BE8F-6238-B1EA-675220EB7E0A}"/>
                </a:ext>
              </a:extLst>
            </p:cNvPr>
            <p:cNvSpPr txBox="1"/>
            <p:nvPr/>
          </p:nvSpPr>
          <p:spPr>
            <a:xfrm>
              <a:off x="2019300" y="3249000"/>
              <a:ext cx="4432047" cy="584775"/>
            </a:xfrm>
            <a:prstGeom prst="rect">
              <a:avLst/>
            </a:prstGeom>
            <a:noFill/>
          </p:spPr>
          <p:txBody>
            <a:bodyPr wrap="none" rtlCol="0">
              <a:spAutoFit/>
            </a:bodyPr>
            <a:lstStyle/>
            <a:p>
              <a:r>
                <a:rPr lang="en-SE" b="1" dirty="0"/>
                <a:t>Unsuccessful</a:t>
              </a:r>
              <a:r>
                <a:rPr lang="en-SE" dirty="0"/>
                <a:t> prior predictive check with</a:t>
              </a:r>
            </a:p>
            <a:p>
              <a:r>
                <a:rPr lang="de-DE" sz="1400" dirty="0" err="1">
                  <a:latin typeface="Courier New" panose="02070309020205020404" pitchFamily="49" charset="0"/>
                  <a:cs typeface="Courier New" panose="02070309020205020404" pitchFamily="49" charset="0"/>
                </a:rPr>
                <a:t>prior</a:t>
              </a:r>
              <a:r>
                <a:rPr lang="de-DE" sz="1400" dirty="0">
                  <a:latin typeface="Courier New" panose="02070309020205020404" pitchFamily="49" charset="0"/>
                  <a:cs typeface="Courier New" panose="02070309020205020404" pitchFamily="49" charset="0"/>
                </a:rPr>
                <a:t>(normal(</a:t>
              </a:r>
              <a:r>
                <a:rPr lang="en-SE" sz="1400" dirty="0">
                  <a:solidFill>
                    <a:srgbClr val="C00000"/>
                  </a:solidFill>
                  <a:latin typeface="Courier New" panose="02070309020205020404" pitchFamily="49" charset="0"/>
                  <a:cs typeface="Courier New" panose="02070309020205020404" pitchFamily="49" charset="0"/>
                </a:rPr>
                <a:t>0</a:t>
              </a:r>
              <a:r>
                <a:rPr lang="de-DE" sz="1400" dirty="0">
                  <a:latin typeface="Courier New" panose="02070309020205020404" pitchFamily="49" charset="0"/>
                  <a:cs typeface="Courier New" panose="02070309020205020404" pitchFamily="49" charset="0"/>
                </a:rPr>
                <a:t>, 1), </a:t>
              </a:r>
              <a:r>
                <a:rPr lang="de-DE" sz="1400" dirty="0" err="1">
                  <a:latin typeface="Courier New" panose="02070309020205020404" pitchFamily="49" charset="0"/>
                  <a:cs typeface="Courier New" panose="02070309020205020404" pitchFamily="49" charset="0"/>
                </a:rPr>
                <a:t>class</a:t>
              </a:r>
              <a:r>
                <a:rPr lang="de-DE" sz="1400" dirty="0">
                  <a:latin typeface="Courier New" panose="02070309020205020404" pitchFamily="49" charset="0"/>
                  <a:cs typeface="Courier New" panose="02070309020205020404" pitchFamily="49" charset="0"/>
                </a:rPr>
                <a:t> = </a:t>
              </a:r>
              <a:r>
                <a:rPr lang="de-DE" sz="1400" dirty="0" err="1">
                  <a:latin typeface="Courier New" panose="02070309020205020404" pitchFamily="49" charset="0"/>
                  <a:cs typeface="Courier New" panose="02070309020205020404" pitchFamily="49" charset="0"/>
                </a:rPr>
                <a:t>Intercept</a:t>
              </a:r>
              <a:r>
                <a:rPr lang="de-DE" sz="1400" dirty="0">
                  <a:latin typeface="Courier New" panose="02070309020205020404" pitchFamily="49" charset="0"/>
                  <a:cs typeface="Courier New" panose="02070309020205020404" pitchFamily="49" charset="0"/>
                </a:rPr>
                <a:t>)</a:t>
              </a:r>
              <a:endParaRPr lang="en-SE" sz="1400" dirty="0"/>
            </a:p>
          </p:txBody>
        </p:sp>
      </p:grpSp>
      <p:pic>
        <p:nvPicPr>
          <p:cNvPr id="30" name="Picture 29">
            <a:extLst>
              <a:ext uri="{FF2B5EF4-FFF2-40B4-BE49-F238E27FC236}">
                <a16:creationId xmlns:a16="http://schemas.microsoft.com/office/drawing/2014/main" id="{9AEAA6BF-196A-E5D8-04A7-1AA0BAC1C2F1}"/>
              </a:ext>
            </a:extLst>
          </p:cNvPr>
          <p:cNvPicPr>
            <a:picLocks noChangeAspect="1"/>
          </p:cNvPicPr>
          <p:nvPr/>
        </p:nvPicPr>
        <p:blipFill>
          <a:blip r:embed="rId10"/>
          <a:stretch>
            <a:fillRect/>
          </a:stretch>
        </p:blipFill>
        <p:spPr>
          <a:xfrm>
            <a:off x="6731000" y="3877524"/>
            <a:ext cx="4114640" cy="2460030"/>
          </a:xfrm>
          <a:prstGeom prst="rect">
            <a:avLst/>
          </a:prstGeom>
        </p:spPr>
      </p:pic>
    </p:spTree>
    <p:extLst>
      <p:ext uri="{BB962C8B-B14F-4D97-AF65-F5344CB8AC3E}">
        <p14:creationId xmlns:p14="http://schemas.microsoft.com/office/powerpoint/2010/main" val="14935193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F4DE6-8C05-7587-C5DC-DC0A2D8E3167}"/>
              </a:ext>
            </a:extLst>
          </p:cNvPr>
          <p:cNvSpPr>
            <a:spLocks noGrp="1"/>
          </p:cNvSpPr>
          <p:nvPr>
            <p:ph type="title"/>
          </p:nvPr>
        </p:nvSpPr>
        <p:spPr/>
        <p:txBody>
          <a:bodyPr/>
          <a:lstStyle/>
          <a:p>
            <a:r>
              <a:rPr lang="en-SE" dirty="0"/>
              <a:t>Bayesian Updating</a:t>
            </a:r>
          </a:p>
        </p:txBody>
      </p:sp>
      <p:sp>
        <p:nvSpPr>
          <p:cNvPr id="3" name="Content Placeholder 2">
            <a:extLst>
              <a:ext uri="{FF2B5EF4-FFF2-40B4-BE49-F238E27FC236}">
                <a16:creationId xmlns:a16="http://schemas.microsoft.com/office/drawing/2014/main" id="{7DAC16EA-513B-AB40-1BC4-BF3BE98758D5}"/>
              </a:ext>
            </a:extLst>
          </p:cNvPr>
          <p:cNvSpPr>
            <a:spLocks noGrp="1"/>
          </p:cNvSpPr>
          <p:nvPr>
            <p:ph idx="1"/>
          </p:nvPr>
        </p:nvSpPr>
        <p:spPr>
          <a:xfrm>
            <a:off x="838200" y="1825625"/>
            <a:ext cx="10515600" cy="1209675"/>
          </a:xfrm>
        </p:spPr>
        <p:txBody>
          <a:bodyPr/>
          <a:lstStyle/>
          <a:p>
            <a:pPr marL="0" indent="0">
              <a:buNone/>
            </a:pPr>
            <a:r>
              <a:rPr lang="en-SE" dirty="0"/>
              <a:t>With the prior probability distributions confirmed as plausible, we can perform the actual model training.</a:t>
            </a:r>
          </a:p>
        </p:txBody>
      </p:sp>
      <p:sp>
        <p:nvSpPr>
          <p:cNvPr id="4" name="Date Placeholder 3">
            <a:extLst>
              <a:ext uri="{FF2B5EF4-FFF2-40B4-BE49-F238E27FC236}">
                <a16:creationId xmlns:a16="http://schemas.microsoft.com/office/drawing/2014/main" id="{1B64227F-45A3-5004-0C2E-A77C0BECFB5D}"/>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B305E0F7-F7F4-8A6A-A495-E528C8FD1528}"/>
              </a:ext>
            </a:extLst>
          </p:cNvPr>
          <p:cNvSpPr>
            <a:spLocks noGrp="1"/>
          </p:cNvSpPr>
          <p:nvPr>
            <p:ph type="sldNum" sz="quarter" idx="12"/>
          </p:nvPr>
        </p:nvSpPr>
        <p:spPr/>
        <p:txBody>
          <a:bodyPr/>
          <a:lstStyle/>
          <a:p>
            <a:fld id="{271ECC92-9CDE-4EB3-B1C5-F46B9E1FA3C1}" type="slidenum">
              <a:rPr lang="en-SE" smtClean="0"/>
              <a:t>51</a:t>
            </a:fld>
            <a:endParaRPr lang="en-SE"/>
          </a:p>
        </p:txBody>
      </p: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AFB34D5E-F8F4-81EF-AC81-50D53C5E96B7}"/>
                  </a:ext>
                </a:extLst>
              </p:cNvPr>
              <p:cNvSpPr txBox="1">
                <a:spLocks/>
              </p:cNvSpPr>
              <p:nvPr/>
            </p:nvSpPr>
            <p:spPr>
              <a:xfrm>
                <a:off x="838198" y="5029220"/>
                <a:ext cx="1051560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At the end of this process, all probability distributions (</a:t>
                </a:r>
                <a14:m>
                  <m:oMath xmlns:m="http://schemas.openxmlformats.org/officeDocument/2006/math">
                    <m:r>
                      <a:rPr lang="en-SE" b="0" i="1" smtClean="0">
                        <a:latin typeface="Cambria Math" panose="02040503050406030204" pitchFamily="18" charset="0"/>
                      </a:rPr>
                      <m:t>𝛼</m:t>
                    </m:r>
                  </m:oMath>
                </a14:m>
                <a:r>
                  <a:rPr lang="en-SE" dirty="0"/>
                  <a:t>, </a:t>
                </a:r>
                <a14:m>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𝛽</m:t>
                        </m:r>
                      </m:e>
                      <m:sub>
                        <m:r>
                          <a:rPr lang="en-SE" b="0" i="1" smtClean="0">
                            <a:latin typeface="Cambria Math" panose="02040503050406030204" pitchFamily="18" charset="0"/>
                          </a:rPr>
                          <m:t>𝑒</m:t>
                        </m:r>
                      </m:sub>
                    </m:sSub>
                  </m:oMath>
                </a14:m>
                <a:r>
                  <a:rPr lang="en-SE" dirty="0"/>
                  <a:t>, ...) will be updated to </a:t>
                </a:r>
                <a:r>
                  <a:rPr lang="en-SE" b="1" dirty="0"/>
                  <a:t>better reflect the relationships</a:t>
                </a:r>
                <a:r>
                  <a:rPr lang="en-SE" dirty="0"/>
                  <a:t> between the variables. This way, we </a:t>
                </a:r>
                <a:r>
                  <a:rPr lang="en-SE" b="1" dirty="0"/>
                  <a:t>estimate the effects</a:t>
                </a:r>
                <a:r>
                  <a:rPr lang="en-SE" dirty="0"/>
                  <a:t> between variables.</a:t>
                </a:r>
              </a:p>
            </p:txBody>
          </p:sp>
        </mc:Choice>
        <mc:Fallback xmlns="">
          <p:sp>
            <p:nvSpPr>
              <p:cNvPr id="22" name="Content Placeholder 2">
                <a:extLst>
                  <a:ext uri="{FF2B5EF4-FFF2-40B4-BE49-F238E27FC236}">
                    <a16:creationId xmlns:a16="http://schemas.microsoft.com/office/drawing/2014/main" id="{AFB34D5E-F8F4-81EF-AC81-50D53C5E96B7}"/>
                  </a:ext>
                </a:extLst>
              </p:cNvPr>
              <p:cNvSpPr txBox="1">
                <a:spLocks noRot="1" noChangeAspect="1" noMove="1" noResize="1" noEditPoints="1" noAdjustHandles="1" noChangeArrowheads="1" noChangeShapeType="1" noTextEdit="1"/>
              </p:cNvSpPr>
              <p:nvPr/>
            </p:nvSpPr>
            <p:spPr>
              <a:xfrm>
                <a:off x="838198" y="5029220"/>
                <a:ext cx="10515600" cy="1325563"/>
              </a:xfrm>
              <a:prstGeom prst="rect">
                <a:avLst/>
              </a:prstGeom>
              <a:blipFill>
                <a:blip r:embed="rId2"/>
                <a:stretch>
                  <a:fillRect l="-1159" t="-7834" r="-1101" b="-6912"/>
                </a:stretch>
              </a:blipFill>
            </p:spPr>
            <p:txBody>
              <a:bodyPr/>
              <a:lstStyle/>
              <a:p>
                <a:r>
                  <a:rPr lang="en-SE">
                    <a:noFill/>
                  </a:rPr>
                  <a:t> </a:t>
                </a:r>
              </a:p>
            </p:txBody>
          </p:sp>
        </mc:Fallback>
      </mc:AlternateContent>
      <p:sp>
        <p:nvSpPr>
          <p:cNvPr id="7" name="Footer Placeholder 6">
            <a:extLst>
              <a:ext uri="{FF2B5EF4-FFF2-40B4-BE49-F238E27FC236}">
                <a16:creationId xmlns:a16="http://schemas.microsoft.com/office/drawing/2014/main" id="{EB319D68-8E23-B8FA-ABB8-B69039FCA2C5}"/>
              </a:ext>
            </a:extLst>
          </p:cNvPr>
          <p:cNvSpPr>
            <a:spLocks noGrp="1"/>
          </p:cNvSpPr>
          <p:nvPr>
            <p:ph type="ftr" sz="quarter" idx="11"/>
          </p:nvPr>
        </p:nvSpPr>
        <p:spPr/>
        <p:txBody>
          <a:bodyPr/>
          <a:lstStyle/>
          <a:p>
            <a:r>
              <a:rPr lang="de-DE"/>
              <a:t>Bayesian Data Analysis Tutorial</a:t>
            </a:r>
            <a:endParaRPr lang="en-SE"/>
          </a:p>
        </p:txBody>
      </p:sp>
      <p:grpSp>
        <p:nvGrpSpPr>
          <p:cNvPr id="9" name="Group 8">
            <a:extLst>
              <a:ext uri="{FF2B5EF4-FFF2-40B4-BE49-F238E27FC236}">
                <a16:creationId xmlns:a16="http://schemas.microsoft.com/office/drawing/2014/main" id="{699C67C3-111F-8EC6-B168-2F306936E7F8}"/>
              </a:ext>
            </a:extLst>
          </p:cNvPr>
          <p:cNvGrpSpPr/>
          <p:nvPr/>
        </p:nvGrpSpPr>
        <p:grpSpPr>
          <a:xfrm>
            <a:off x="203635" y="1825625"/>
            <a:ext cx="504000" cy="504000"/>
            <a:chOff x="977950" y="2729564"/>
            <a:chExt cx="504000" cy="504000"/>
          </a:xfrm>
        </p:grpSpPr>
        <p:sp>
          <p:nvSpPr>
            <p:cNvPr id="10" name="Oval 9">
              <a:extLst>
                <a:ext uri="{FF2B5EF4-FFF2-40B4-BE49-F238E27FC236}">
                  <a16:creationId xmlns:a16="http://schemas.microsoft.com/office/drawing/2014/main" id="{13673AA0-C883-45D6-6666-FB05AB862426}"/>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Golden Ratio with solid fill">
              <a:extLst>
                <a:ext uri="{FF2B5EF4-FFF2-40B4-BE49-F238E27FC236}">
                  <a16:creationId xmlns:a16="http://schemas.microsoft.com/office/drawing/2014/main" id="{02DDD74E-7910-AA4D-0D0A-A757E18C41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14" name="Group 13">
            <a:extLst>
              <a:ext uri="{FF2B5EF4-FFF2-40B4-BE49-F238E27FC236}">
                <a16:creationId xmlns:a16="http://schemas.microsoft.com/office/drawing/2014/main" id="{0D68D6CC-8649-325B-AFB1-9220D28DA786}"/>
              </a:ext>
            </a:extLst>
          </p:cNvPr>
          <p:cNvGrpSpPr/>
          <p:nvPr/>
        </p:nvGrpSpPr>
        <p:grpSpPr>
          <a:xfrm>
            <a:off x="203635" y="2439322"/>
            <a:ext cx="504000" cy="504000"/>
            <a:chOff x="977950" y="2729564"/>
            <a:chExt cx="504000" cy="504000"/>
          </a:xfrm>
        </p:grpSpPr>
        <p:sp>
          <p:nvSpPr>
            <p:cNvPr id="17" name="Oval 16">
              <a:extLst>
                <a:ext uri="{FF2B5EF4-FFF2-40B4-BE49-F238E27FC236}">
                  <a16:creationId xmlns:a16="http://schemas.microsoft.com/office/drawing/2014/main" id="{BDD0753A-870E-0954-31E2-B2E06826F5B1}"/>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Graphic 17" descr="Normal Distribution with solid fill">
              <a:extLst>
                <a:ext uri="{FF2B5EF4-FFF2-40B4-BE49-F238E27FC236}">
                  <a16:creationId xmlns:a16="http://schemas.microsoft.com/office/drawing/2014/main" id="{D930B17B-0491-C7F6-90A1-416B29A3FA7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20" name="Group 19">
            <a:extLst>
              <a:ext uri="{FF2B5EF4-FFF2-40B4-BE49-F238E27FC236}">
                <a16:creationId xmlns:a16="http://schemas.microsoft.com/office/drawing/2014/main" id="{90DEFC14-AC1E-68FF-7477-FB9AF566FAA1}"/>
              </a:ext>
            </a:extLst>
          </p:cNvPr>
          <p:cNvGrpSpPr/>
          <p:nvPr/>
        </p:nvGrpSpPr>
        <p:grpSpPr>
          <a:xfrm>
            <a:off x="203635" y="3053019"/>
            <a:ext cx="504000" cy="504000"/>
            <a:chOff x="977950" y="2729564"/>
            <a:chExt cx="504000" cy="504000"/>
          </a:xfrm>
        </p:grpSpPr>
        <p:sp>
          <p:nvSpPr>
            <p:cNvPr id="21" name="Oval 20">
              <a:extLst>
                <a:ext uri="{FF2B5EF4-FFF2-40B4-BE49-F238E27FC236}">
                  <a16:creationId xmlns:a16="http://schemas.microsoft.com/office/drawing/2014/main" id="{87B2C03D-D70C-7308-A686-68784339B15C}"/>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3" name="Graphic 22" descr="Abacus with solid fill">
              <a:extLst>
                <a:ext uri="{FF2B5EF4-FFF2-40B4-BE49-F238E27FC236}">
                  <a16:creationId xmlns:a16="http://schemas.microsoft.com/office/drawing/2014/main" id="{DD0BA174-3B98-595E-73C4-268FF1CAE82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24" name="Group 23">
            <a:extLst>
              <a:ext uri="{FF2B5EF4-FFF2-40B4-BE49-F238E27FC236}">
                <a16:creationId xmlns:a16="http://schemas.microsoft.com/office/drawing/2014/main" id="{5FAB3A9D-9676-FB96-A8CF-2C4ADFA5F36B}"/>
              </a:ext>
            </a:extLst>
          </p:cNvPr>
          <p:cNvGrpSpPr/>
          <p:nvPr/>
        </p:nvGrpSpPr>
        <p:grpSpPr>
          <a:xfrm>
            <a:off x="203635" y="3666716"/>
            <a:ext cx="504000" cy="504000"/>
            <a:chOff x="977950" y="2729564"/>
            <a:chExt cx="504000" cy="504000"/>
          </a:xfrm>
        </p:grpSpPr>
        <p:sp>
          <p:nvSpPr>
            <p:cNvPr id="25" name="Oval 24">
              <a:extLst>
                <a:ext uri="{FF2B5EF4-FFF2-40B4-BE49-F238E27FC236}">
                  <a16:creationId xmlns:a16="http://schemas.microsoft.com/office/drawing/2014/main" id="{09BCCE7B-A171-2874-FC79-13F6E959DD44}"/>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6" name="Graphic 25" descr="Trigonometry with solid fill">
              <a:extLst>
                <a:ext uri="{FF2B5EF4-FFF2-40B4-BE49-F238E27FC236}">
                  <a16:creationId xmlns:a16="http://schemas.microsoft.com/office/drawing/2014/main" id="{4DCA6A5D-8A2B-1EC7-0A2B-AAAC8FF02F7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27" name="Group 26">
            <a:extLst>
              <a:ext uri="{FF2B5EF4-FFF2-40B4-BE49-F238E27FC236}">
                <a16:creationId xmlns:a16="http://schemas.microsoft.com/office/drawing/2014/main" id="{407A6633-72B2-2D12-952F-321A1883DBBA}"/>
              </a:ext>
            </a:extLst>
          </p:cNvPr>
          <p:cNvGrpSpPr/>
          <p:nvPr/>
        </p:nvGrpSpPr>
        <p:grpSpPr>
          <a:xfrm>
            <a:off x="203635" y="4280414"/>
            <a:ext cx="504000" cy="504000"/>
            <a:chOff x="977950" y="2729564"/>
            <a:chExt cx="504000" cy="504000"/>
          </a:xfrm>
        </p:grpSpPr>
        <p:sp>
          <p:nvSpPr>
            <p:cNvPr id="28" name="Oval 27">
              <a:extLst>
                <a:ext uri="{FF2B5EF4-FFF2-40B4-BE49-F238E27FC236}">
                  <a16:creationId xmlns:a16="http://schemas.microsoft.com/office/drawing/2014/main" id="{36D03C24-7877-0F01-8326-9CD2C9845A90}"/>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9" name="Graphic 28" descr="Scatterplot with solid fill">
              <a:extLst>
                <a:ext uri="{FF2B5EF4-FFF2-40B4-BE49-F238E27FC236}">
                  <a16:creationId xmlns:a16="http://schemas.microsoft.com/office/drawing/2014/main" id="{9E4159D3-B523-17B6-0E76-74B99064BB8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30" name="Straight Arrow Connector 29">
            <a:extLst>
              <a:ext uri="{FF2B5EF4-FFF2-40B4-BE49-F238E27FC236}">
                <a16:creationId xmlns:a16="http://schemas.microsoft.com/office/drawing/2014/main" id="{A9C40CD8-F08D-9CBA-58F8-77CC509C8D77}"/>
              </a:ext>
            </a:extLst>
          </p:cNvPr>
          <p:cNvCxnSpPr>
            <a:cxnSpLocks/>
            <a:stCxn id="10" idx="4"/>
            <a:endCxn id="17"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F65451EB-F6D8-4B02-49DB-4FF343492667}"/>
              </a:ext>
            </a:extLst>
          </p:cNvPr>
          <p:cNvCxnSpPr>
            <a:cxnSpLocks/>
            <a:stCxn id="17" idx="4"/>
            <a:endCxn id="21"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8684F6E7-DF01-4B5D-5D8D-CA323D1946A2}"/>
              </a:ext>
            </a:extLst>
          </p:cNvPr>
          <p:cNvCxnSpPr>
            <a:cxnSpLocks/>
            <a:stCxn id="21" idx="4"/>
            <a:endCxn id="25"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196481EB-367E-672D-D7DA-6ECA9378AF31}"/>
              </a:ext>
            </a:extLst>
          </p:cNvPr>
          <p:cNvCxnSpPr>
            <a:cxnSpLocks/>
            <a:stCxn id="25" idx="4"/>
            <a:endCxn id="28"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43" name="Graphic 42" descr="Single gear with solid fill">
            <a:extLst>
              <a:ext uri="{FF2B5EF4-FFF2-40B4-BE49-F238E27FC236}">
                <a16:creationId xmlns:a16="http://schemas.microsoft.com/office/drawing/2014/main" id="{FB52D375-0414-C556-C06D-6876A57075E7}"/>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5638800" y="3268967"/>
            <a:ext cx="914400" cy="914400"/>
          </a:xfrm>
          <a:prstGeom prst="rect">
            <a:avLst/>
          </a:prstGeom>
        </p:spPr>
      </p:pic>
      <p:pic>
        <p:nvPicPr>
          <p:cNvPr id="44" name="Graphic 43" descr="Bar chart with solid fill">
            <a:extLst>
              <a:ext uri="{FF2B5EF4-FFF2-40B4-BE49-F238E27FC236}">
                <a16:creationId xmlns:a16="http://schemas.microsoft.com/office/drawing/2014/main" id="{E62CF94C-2538-19E5-58A5-C1D41FC63F64}"/>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9094982" y="3268967"/>
            <a:ext cx="914400" cy="914400"/>
          </a:xfrm>
          <a:prstGeom prst="rect">
            <a:avLst/>
          </a:prstGeom>
        </p:spPr>
      </p:pic>
      <p:grpSp>
        <p:nvGrpSpPr>
          <p:cNvPr id="58" name="Group 57">
            <a:extLst>
              <a:ext uri="{FF2B5EF4-FFF2-40B4-BE49-F238E27FC236}">
                <a16:creationId xmlns:a16="http://schemas.microsoft.com/office/drawing/2014/main" id="{8730AC5D-20C5-D154-9E9E-B6348BC37504}"/>
              </a:ext>
            </a:extLst>
          </p:cNvPr>
          <p:cNvGrpSpPr/>
          <p:nvPr/>
        </p:nvGrpSpPr>
        <p:grpSpPr>
          <a:xfrm>
            <a:off x="1218983" y="3781425"/>
            <a:ext cx="2652323" cy="914400"/>
            <a:chOff x="1218983" y="3781425"/>
            <a:chExt cx="2652323" cy="914400"/>
          </a:xfrm>
        </p:grpSpPr>
        <p:pic>
          <p:nvPicPr>
            <p:cNvPr id="42" name="Graphic 41" descr="Database with solid fill">
              <a:extLst>
                <a:ext uri="{FF2B5EF4-FFF2-40B4-BE49-F238E27FC236}">
                  <a16:creationId xmlns:a16="http://schemas.microsoft.com/office/drawing/2014/main" id="{776FDD46-4B52-94BF-DA49-5F59EA1C04F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956906" y="3781425"/>
              <a:ext cx="914400" cy="914400"/>
            </a:xfrm>
            <a:prstGeom prst="rect">
              <a:avLst/>
            </a:prstGeom>
          </p:spPr>
        </p:pic>
        <p:sp>
          <p:nvSpPr>
            <p:cNvPr id="45" name="TextBox 44">
              <a:extLst>
                <a:ext uri="{FF2B5EF4-FFF2-40B4-BE49-F238E27FC236}">
                  <a16:creationId xmlns:a16="http://schemas.microsoft.com/office/drawing/2014/main" id="{1EBAD454-76ED-93AF-1656-C9AE2DD3BFBA}"/>
                </a:ext>
              </a:extLst>
            </p:cNvPr>
            <p:cNvSpPr txBox="1"/>
            <p:nvPr/>
          </p:nvSpPr>
          <p:spPr>
            <a:xfrm>
              <a:off x="1218983" y="4069067"/>
              <a:ext cx="1683923" cy="369332"/>
            </a:xfrm>
            <a:prstGeom prst="rect">
              <a:avLst/>
            </a:prstGeom>
            <a:noFill/>
          </p:spPr>
          <p:txBody>
            <a:bodyPr wrap="none" rtlCol="0">
              <a:spAutoFit/>
            </a:bodyPr>
            <a:lstStyle/>
            <a:p>
              <a:pPr algn="r"/>
              <a:r>
                <a:rPr lang="en-SE" dirty="0"/>
                <a:t>Collected Data</a:t>
              </a:r>
            </a:p>
          </p:txBody>
        </p:sp>
      </p:grpSp>
      <p:sp>
        <p:nvSpPr>
          <p:cNvPr id="46" name="TextBox 45">
            <a:extLst>
              <a:ext uri="{FF2B5EF4-FFF2-40B4-BE49-F238E27FC236}">
                <a16:creationId xmlns:a16="http://schemas.microsoft.com/office/drawing/2014/main" id="{210BA341-2718-2BDC-7B4B-C607D8F6AB59}"/>
              </a:ext>
            </a:extLst>
          </p:cNvPr>
          <p:cNvSpPr txBox="1"/>
          <p:nvPr/>
        </p:nvSpPr>
        <p:spPr>
          <a:xfrm>
            <a:off x="5075404" y="4182898"/>
            <a:ext cx="2041200" cy="646331"/>
          </a:xfrm>
          <a:prstGeom prst="rect">
            <a:avLst/>
          </a:prstGeom>
          <a:noFill/>
        </p:spPr>
        <p:txBody>
          <a:bodyPr wrap="none" rtlCol="0">
            <a:spAutoFit/>
          </a:bodyPr>
          <a:lstStyle/>
          <a:p>
            <a:pPr algn="ctr"/>
            <a:r>
              <a:rPr lang="en-SE" dirty="0"/>
              <a:t>Bayesian Updating</a:t>
            </a:r>
            <a:br>
              <a:rPr lang="en-SE" dirty="0"/>
            </a:br>
            <a:r>
              <a:rPr lang="en-SE" dirty="0"/>
              <a:t>Engine</a:t>
            </a:r>
          </a:p>
        </p:txBody>
      </p:sp>
      <p:sp>
        <p:nvSpPr>
          <p:cNvPr id="47" name="TextBox 46">
            <a:extLst>
              <a:ext uri="{FF2B5EF4-FFF2-40B4-BE49-F238E27FC236}">
                <a16:creationId xmlns:a16="http://schemas.microsoft.com/office/drawing/2014/main" id="{B1DB5BDB-B804-A3D1-7BEE-8C7837FEC988}"/>
              </a:ext>
            </a:extLst>
          </p:cNvPr>
          <p:cNvSpPr txBox="1"/>
          <p:nvPr/>
        </p:nvSpPr>
        <p:spPr>
          <a:xfrm>
            <a:off x="8348016" y="4155199"/>
            <a:ext cx="2408352" cy="369332"/>
          </a:xfrm>
          <a:prstGeom prst="rect">
            <a:avLst/>
          </a:prstGeom>
          <a:noFill/>
        </p:spPr>
        <p:txBody>
          <a:bodyPr wrap="none" rtlCol="0">
            <a:spAutoFit/>
          </a:bodyPr>
          <a:lstStyle/>
          <a:p>
            <a:pPr algn="ctr"/>
            <a:r>
              <a:rPr lang="en-SE" dirty="0"/>
              <a:t>Posterior Distributions</a:t>
            </a:r>
          </a:p>
        </p:txBody>
      </p:sp>
      <p:cxnSp>
        <p:nvCxnSpPr>
          <p:cNvPr id="48" name="Straight Arrow Connector 47">
            <a:extLst>
              <a:ext uri="{FF2B5EF4-FFF2-40B4-BE49-F238E27FC236}">
                <a16:creationId xmlns:a16="http://schemas.microsoft.com/office/drawing/2014/main" id="{C8F696E3-FB13-BCE0-2AA9-989D07148339}"/>
              </a:ext>
            </a:extLst>
          </p:cNvPr>
          <p:cNvCxnSpPr>
            <a:cxnSpLocks/>
            <a:stCxn id="42" idx="3"/>
            <a:endCxn id="43" idx="1"/>
          </p:cNvCxnSpPr>
          <p:nvPr/>
        </p:nvCxnSpPr>
        <p:spPr>
          <a:xfrm flipV="1">
            <a:off x="3871306" y="3726167"/>
            <a:ext cx="1767494" cy="512458"/>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DEB0FD3E-E50F-AA49-D182-406AB0CBA8C6}"/>
              </a:ext>
            </a:extLst>
          </p:cNvPr>
          <p:cNvCxnSpPr>
            <a:cxnSpLocks/>
            <a:stCxn id="43" idx="3"/>
            <a:endCxn id="44" idx="1"/>
          </p:cNvCxnSpPr>
          <p:nvPr/>
        </p:nvCxnSpPr>
        <p:spPr>
          <a:xfrm>
            <a:off x="6553200" y="3726167"/>
            <a:ext cx="254178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59" name="Group 58">
            <a:extLst>
              <a:ext uri="{FF2B5EF4-FFF2-40B4-BE49-F238E27FC236}">
                <a16:creationId xmlns:a16="http://schemas.microsoft.com/office/drawing/2014/main" id="{B58545E2-F09A-163F-0DA4-0CE99C1763A4}"/>
              </a:ext>
            </a:extLst>
          </p:cNvPr>
          <p:cNvGrpSpPr/>
          <p:nvPr/>
        </p:nvGrpSpPr>
        <p:grpSpPr>
          <a:xfrm>
            <a:off x="1215456" y="2806316"/>
            <a:ext cx="2655850" cy="914400"/>
            <a:chOff x="1215456" y="3781425"/>
            <a:chExt cx="2655850" cy="914400"/>
          </a:xfrm>
        </p:grpSpPr>
        <p:pic>
          <p:nvPicPr>
            <p:cNvPr id="60" name="Graphic 59" descr="Bar chart with solid fill">
              <a:extLst>
                <a:ext uri="{FF2B5EF4-FFF2-40B4-BE49-F238E27FC236}">
                  <a16:creationId xmlns:a16="http://schemas.microsoft.com/office/drawing/2014/main" id="{C3C08899-D662-C97F-4B1E-81283B6EC211}"/>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956906" y="3781425"/>
              <a:ext cx="914400" cy="914400"/>
            </a:xfrm>
            <a:prstGeom prst="rect">
              <a:avLst/>
            </a:prstGeom>
          </p:spPr>
        </p:pic>
        <p:sp>
          <p:nvSpPr>
            <p:cNvPr id="61" name="TextBox 60">
              <a:extLst>
                <a:ext uri="{FF2B5EF4-FFF2-40B4-BE49-F238E27FC236}">
                  <a16:creationId xmlns:a16="http://schemas.microsoft.com/office/drawing/2014/main" id="{DED49120-13F1-79B6-1E94-12D9ED40A761}"/>
                </a:ext>
              </a:extLst>
            </p:cNvPr>
            <p:cNvSpPr txBox="1"/>
            <p:nvPr/>
          </p:nvSpPr>
          <p:spPr>
            <a:xfrm>
              <a:off x="1215456" y="4069067"/>
              <a:ext cx="1687450" cy="369332"/>
            </a:xfrm>
            <a:prstGeom prst="rect">
              <a:avLst/>
            </a:prstGeom>
            <a:noFill/>
          </p:spPr>
          <p:txBody>
            <a:bodyPr wrap="none" rtlCol="0">
              <a:spAutoFit/>
            </a:bodyPr>
            <a:lstStyle/>
            <a:p>
              <a:pPr algn="r"/>
              <a:r>
                <a:rPr lang="en-SE" dirty="0"/>
                <a:t>Selected Priors</a:t>
              </a:r>
            </a:p>
          </p:txBody>
        </p:sp>
      </p:grpSp>
      <p:cxnSp>
        <p:nvCxnSpPr>
          <p:cNvPr id="62" name="Straight Arrow Connector 47">
            <a:extLst>
              <a:ext uri="{FF2B5EF4-FFF2-40B4-BE49-F238E27FC236}">
                <a16:creationId xmlns:a16="http://schemas.microsoft.com/office/drawing/2014/main" id="{33BE28E9-BE10-9318-DFB8-C1547F4630FB}"/>
              </a:ext>
            </a:extLst>
          </p:cNvPr>
          <p:cNvCxnSpPr>
            <a:cxnSpLocks/>
            <a:stCxn id="60" idx="3"/>
            <a:endCxn id="43" idx="1"/>
          </p:cNvCxnSpPr>
          <p:nvPr/>
        </p:nvCxnSpPr>
        <p:spPr>
          <a:xfrm>
            <a:off x="3871306" y="3263516"/>
            <a:ext cx="1767494" cy="462651"/>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912268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46" grpId="0"/>
      <p:bldP spid="4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41D21-AB8A-B566-186C-D8AD1F1AA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674DF-BF37-E18B-5FDC-ECB56D146629}"/>
              </a:ext>
            </a:extLst>
          </p:cNvPr>
          <p:cNvSpPr>
            <a:spLocks noGrp="1"/>
          </p:cNvSpPr>
          <p:nvPr>
            <p:ph type="title"/>
          </p:nvPr>
        </p:nvSpPr>
        <p:spPr/>
        <p:txBody>
          <a:bodyPr/>
          <a:lstStyle/>
          <a:p>
            <a:r>
              <a:rPr lang="en-SE" dirty="0"/>
              <a:t>Bayesian Updating</a:t>
            </a:r>
          </a:p>
        </p:txBody>
      </p:sp>
      <p:sp>
        <p:nvSpPr>
          <p:cNvPr id="3" name="Content Placeholder 2">
            <a:extLst>
              <a:ext uri="{FF2B5EF4-FFF2-40B4-BE49-F238E27FC236}">
                <a16:creationId xmlns:a16="http://schemas.microsoft.com/office/drawing/2014/main" id="{EEBC999B-C85A-B5DF-C280-942E0311B28E}"/>
              </a:ext>
            </a:extLst>
          </p:cNvPr>
          <p:cNvSpPr>
            <a:spLocks noGrp="1"/>
          </p:cNvSpPr>
          <p:nvPr>
            <p:ph idx="1"/>
          </p:nvPr>
        </p:nvSpPr>
        <p:spPr>
          <a:xfrm>
            <a:off x="838200" y="1825625"/>
            <a:ext cx="10515600" cy="1209675"/>
          </a:xfrm>
        </p:spPr>
        <p:txBody>
          <a:bodyPr/>
          <a:lstStyle/>
          <a:p>
            <a:pPr marL="0" indent="0">
              <a:buNone/>
            </a:pPr>
            <a:r>
              <a:rPr lang="en-SE" dirty="0"/>
              <a:t>The model training is based on Bayes’ Theorem.</a:t>
            </a:r>
          </a:p>
        </p:txBody>
      </p:sp>
      <p:sp>
        <p:nvSpPr>
          <p:cNvPr id="4" name="Date Placeholder 3">
            <a:extLst>
              <a:ext uri="{FF2B5EF4-FFF2-40B4-BE49-F238E27FC236}">
                <a16:creationId xmlns:a16="http://schemas.microsoft.com/office/drawing/2014/main" id="{8FBBB7C9-555D-8A01-84ED-3B058AD6A2D2}"/>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28EFFA5C-18F9-2D90-3B51-31F90731F488}"/>
              </a:ext>
            </a:extLst>
          </p:cNvPr>
          <p:cNvSpPr>
            <a:spLocks noGrp="1"/>
          </p:cNvSpPr>
          <p:nvPr>
            <p:ph type="sldNum" sz="quarter" idx="12"/>
          </p:nvPr>
        </p:nvSpPr>
        <p:spPr/>
        <p:txBody>
          <a:bodyPr/>
          <a:lstStyle/>
          <a:p>
            <a:fld id="{271ECC92-9CDE-4EB3-B1C5-F46B9E1FA3C1}" type="slidenum">
              <a:rPr lang="en-SE" smtClean="0"/>
              <a:t>52</a:t>
            </a:fld>
            <a:endParaRPr lang="en-SE"/>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799A8272-01D4-7F79-9A70-14615797AB2C}"/>
                  </a:ext>
                </a:extLst>
              </p:cNvPr>
              <p:cNvSpPr txBox="1">
                <a:spLocks/>
              </p:cNvSpPr>
              <p:nvPr/>
            </p:nvSpPr>
            <p:spPr>
              <a:xfrm>
                <a:off x="4038600" y="5306995"/>
                <a:ext cx="4265143" cy="994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noProof="0" smtClean="0">
                          <a:solidFill>
                            <a:schemeClr val="bg2">
                              <a:lumMod val="50000"/>
                            </a:schemeClr>
                          </a:solidFill>
                          <a:latin typeface="Cambria Math" panose="02040503050406030204" pitchFamily="18" charset="0"/>
                        </a:rPr>
                        <m:t>𝑃</m:t>
                      </m:r>
                      <m:d>
                        <m:dPr>
                          <m:ctrlPr>
                            <a:rPr lang="en-US" b="0" i="1" noProof="0" smtClean="0">
                              <a:solidFill>
                                <a:schemeClr val="bg2">
                                  <a:lumMod val="50000"/>
                                </a:schemeClr>
                              </a:solidFill>
                              <a:latin typeface="Cambria Math" panose="02040503050406030204" pitchFamily="18" charset="0"/>
                            </a:rPr>
                          </m:ctrlPr>
                        </m:dPr>
                        <m:e>
                          <m:r>
                            <a:rPr lang="en-US" b="0" i="1" noProof="0" smtClean="0">
                              <a:solidFill>
                                <a:schemeClr val="bg2">
                                  <a:lumMod val="50000"/>
                                </a:schemeClr>
                              </a:solidFill>
                              <a:latin typeface="Cambria Math" panose="02040503050406030204" pitchFamily="18" charset="0"/>
                            </a:rPr>
                            <m:t>h</m:t>
                          </m:r>
                        </m:e>
                        <m:e>
                          <m:r>
                            <a:rPr lang="en-US" b="0" i="1" noProof="0" smtClean="0">
                              <a:solidFill>
                                <a:schemeClr val="bg2">
                                  <a:lumMod val="50000"/>
                                </a:schemeClr>
                              </a:solidFill>
                              <a:latin typeface="Cambria Math" panose="02040503050406030204" pitchFamily="18" charset="0"/>
                            </a:rPr>
                            <m:t>𝑑</m:t>
                          </m:r>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solidFill>
                                <a:schemeClr val="accent1">
                                  <a:lumMod val="50000"/>
                                </a:schemeClr>
                              </a:solidFill>
                              <a:latin typeface="Cambria Math" panose="02040503050406030204" pitchFamily="18" charset="0"/>
                            </a:rPr>
                            <m:t>𝑃</m:t>
                          </m:r>
                          <m:d>
                            <m:dPr>
                              <m:ctrlPr>
                                <a:rPr lang="en-US" b="0" i="1" noProof="0" smtClean="0">
                                  <a:solidFill>
                                    <a:schemeClr val="accent1">
                                      <a:lumMod val="50000"/>
                                    </a:schemeClr>
                                  </a:solidFill>
                                  <a:latin typeface="Cambria Math" panose="02040503050406030204" pitchFamily="18" charset="0"/>
                                </a:rPr>
                              </m:ctrlPr>
                            </m:dPr>
                            <m:e>
                              <m:r>
                                <a:rPr lang="en-US" b="0" i="1" noProof="0" smtClean="0">
                                  <a:solidFill>
                                    <a:schemeClr val="accent1">
                                      <a:lumMod val="50000"/>
                                    </a:schemeClr>
                                  </a:solidFill>
                                  <a:latin typeface="Cambria Math" panose="02040503050406030204" pitchFamily="18" charset="0"/>
                                </a:rPr>
                                <m:t>𝑑</m:t>
                              </m:r>
                            </m:e>
                            <m:e>
                              <m:r>
                                <a:rPr lang="en-US" b="0" i="1" noProof="0" smtClean="0">
                                  <a:solidFill>
                                    <a:schemeClr val="accent1">
                                      <a:lumMod val="50000"/>
                                    </a:schemeClr>
                                  </a:solidFill>
                                  <a:latin typeface="Cambria Math" panose="02040503050406030204" pitchFamily="18" charset="0"/>
                                </a:rPr>
                                <m:t>h</m:t>
                              </m:r>
                            </m:e>
                          </m:d>
                          <m:r>
                            <a:rPr lang="en-US" b="0" i="1" noProof="0" smtClean="0">
                              <a:latin typeface="Cambria Math" panose="02040503050406030204" pitchFamily="18" charset="0"/>
                            </a:rPr>
                            <m:t>⋅</m:t>
                          </m:r>
                          <m:r>
                            <a:rPr lang="en-US" b="0" i="1" noProof="0" smtClean="0">
                              <a:solidFill>
                                <a:schemeClr val="accent2">
                                  <a:lumMod val="50000"/>
                                </a:schemeClr>
                              </a:solidFill>
                              <a:latin typeface="Cambria Math" panose="02040503050406030204" pitchFamily="18" charset="0"/>
                            </a:rPr>
                            <m:t>𝑃</m:t>
                          </m:r>
                          <m:r>
                            <a:rPr lang="en-US" b="0" i="1" noProof="0" smtClean="0">
                              <a:solidFill>
                                <a:schemeClr val="accent2">
                                  <a:lumMod val="50000"/>
                                </a:schemeClr>
                              </a:solidFill>
                              <a:latin typeface="Cambria Math" panose="02040503050406030204" pitchFamily="18" charset="0"/>
                            </a:rPr>
                            <m:t>(</m:t>
                          </m:r>
                          <m:r>
                            <a:rPr lang="en-US" b="0" i="1" noProof="0" smtClean="0">
                              <a:solidFill>
                                <a:schemeClr val="accent2">
                                  <a:lumMod val="50000"/>
                                </a:schemeClr>
                              </a:solidFill>
                              <a:latin typeface="Cambria Math" panose="02040503050406030204" pitchFamily="18" charset="0"/>
                            </a:rPr>
                            <m:t>h</m:t>
                          </m:r>
                          <m:r>
                            <a:rPr lang="en-US" b="0" i="1" noProof="0" smtClean="0">
                              <a:solidFill>
                                <a:schemeClr val="accent2">
                                  <a:lumMod val="50000"/>
                                </a:schemeClr>
                              </a:solidFill>
                              <a:latin typeface="Cambria Math" panose="02040503050406030204" pitchFamily="18" charset="0"/>
                            </a:rPr>
                            <m:t>)</m:t>
                          </m:r>
                        </m:num>
                        <m:den>
                          <m:r>
                            <a:rPr lang="en-US" b="0" i="1" noProof="0" smtClean="0">
                              <a:solidFill>
                                <a:schemeClr val="accent6">
                                  <a:lumMod val="50000"/>
                                </a:schemeClr>
                              </a:solidFill>
                              <a:latin typeface="Cambria Math" panose="02040503050406030204" pitchFamily="18" charset="0"/>
                            </a:rPr>
                            <m:t>𝑃</m:t>
                          </m:r>
                          <m:r>
                            <a:rPr lang="en-US" b="0" i="1" noProof="0" smtClean="0">
                              <a:solidFill>
                                <a:schemeClr val="accent6">
                                  <a:lumMod val="50000"/>
                                </a:schemeClr>
                              </a:solidFill>
                              <a:latin typeface="Cambria Math" panose="02040503050406030204" pitchFamily="18" charset="0"/>
                            </a:rPr>
                            <m:t>(</m:t>
                          </m:r>
                          <m:r>
                            <a:rPr lang="en-US" b="0" i="1" noProof="0" smtClean="0">
                              <a:solidFill>
                                <a:schemeClr val="accent6">
                                  <a:lumMod val="50000"/>
                                </a:schemeClr>
                              </a:solidFill>
                              <a:latin typeface="Cambria Math" panose="02040503050406030204" pitchFamily="18" charset="0"/>
                            </a:rPr>
                            <m:t>𝑑</m:t>
                          </m:r>
                          <m:r>
                            <a:rPr lang="en-US" b="0" i="1" noProof="0" smtClean="0">
                              <a:solidFill>
                                <a:schemeClr val="accent6">
                                  <a:lumMod val="50000"/>
                                </a:schemeClr>
                              </a:solidFill>
                              <a:latin typeface="Cambria Math" panose="02040503050406030204" pitchFamily="18" charset="0"/>
                            </a:rPr>
                            <m:t>)</m:t>
                          </m:r>
                        </m:den>
                      </m:f>
                    </m:oMath>
                  </m:oMathPara>
                </a14:m>
                <a:endParaRPr lang="en-US" noProof="0" dirty="0"/>
              </a:p>
            </p:txBody>
          </p:sp>
        </mc:Choice>
        <mc:Fallback xmlns="">
          <p:sp>
            <p:nvSpPr>
              <p:cNvPr id="9" name="Content Placeholder 2">
                <a:extLst>
                  <a:ext uri="{FF2B5EF4-FFF2-40B4-BE49-F238E27FC236}">
                    <a16:creationId xmlns:a16="http://schemas.microsoft.com/office/drawing/2014/main" id="{799A8272-01D4-7F79-9A70-14615797AB2C}"/>
                  </a:ext>
                </a:extLst>
              </p:cNvPr>
              <p:cNvSpPr txBox="1">
                <a:spLocks noRot="1" noChangeAspect="1" noMove="1" noResize="1" noEditPoints="1" noAdjustHandles="1" noChangeArrowheads="1" noChangeShapeType="1" noTextEdit="1"/>
              </p:cNvSpPr>
              <p:nvPr/>
            </p:nvSpPr>
            <p:spPr>
              <a:xfrm>
                <a:off x="4038600" y="5306995"/>
                <a:ext cx="4265143" cy="994097"/>
              </a:xfrm>
              <a:prstGeom prst="rect">
                <a:avLst/>
              </a:prstGeom>
              <a:blipFill>
                <a:blip r:embed="rId2"/>
                <a:stretch>
                  <a:fillRect/>
                </a:stretch>
              </a:blipFill>
            </p:spPr>
            <p:txBody>
              <a:bodyPr/>
              <a:lstStyle/>
              <a:p>
                <a:r>
                  <a:rPr lang="en-SE">
                    <a:noFill/>
                  </a:rPr>
                  <a:t> </a:t>
                </a:r>
              </a:p>
            </p:txBody>
          </p:sp>
        </mc:Fallback>
      </mc:AlternateContent>
      <p:sp>
        <p:nvSpPr>
          <p:cNvPr id="7" name="Footer Placeholder 6">
            <a:extLst>
              <a:ext uri="{FF2B5EF4-FFF2-40B4-BE49-F238E27FC236}">
                <a16:creationId xmlns:a16="http://schemas.microsoft.com/office/drawing/2014/main" id="{FD4BDFFE-8686-240D-0619-DFC5C5EFB8B0}"/>
              </a:ext>
            </a:extLst>
          </p:cNvPr>
          <p:cNvSpPr>
            <a:spLocks noGrp="1"/>
          </p:cNvSpPr>
          <p:nvPr>
            <p:ph type="ftr" sz="quarter" idx="11"/>
          </p:nvPr>
        </p:nvSpPr>
        <p:spPr/>
        <p:txBody>
          <a:bodyPr/>
          <a:lstStyle/>
          <a:p>
            <a:r>
              <a:rPr lang="de-DE"/>
              <a:t>Bayesian Data Analysis Tutorial</a:t>
            </a:r>
            <a:endParaRPr lang="en-SE"/>
          </a:p>
        </p:txBody>
      </p:sp>
      <p:pic>
        <p:nvPicPr>
          <p:cNvPr id="34" name="Graphic 33" descr="Single gear with solid fill">
            <a:extLst>
              <a:ext uri="{FF2B5EF4-FFF2-40B4-BE49-F238E27FC236}">
                <a16:creationId xmlns:a16="http://schemas.microsoft.com/office/drawing/2014/main" id="{83285186-3C25-5D56-9E3C-E0353FCC796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38800" y="3268967"/>
            <a:ext cx="914400" cy="914400"/>
          </a:xfrm>
          <a:prstGeom prst="rect">
            <a:avLst/>
          </a:prstGeom>
        </p:spPr>
      </p:pic>
      <p:pic>
        <p:nvPicPr>
          <p:cNvPr id="35" name="Graphic 34" descr="Bar chart with solid fill">
            <a:extLst>
              <a:ext uri="{FF2B5EF4-FFF2-40B4-BE49-F238E27FC236}">
                <a16:creationId xmlns:a16="http://schemas.microsoft.com/office/drawing/2014/main" id="{0E711BE2-BD7D-5B67-67E7-BE61111AB6A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094982" y="3268967"/>
            <a:ext cx="914400" cy="914400"/>
          </a:xfrm>
          <a:prstGeom prst="rect">
            <a:avLst/>
          </a:prstGeom>
        </p:spPr>
      </p:pic>
      <p:grpSp>
        <p:nvGrpSpPr>
          <p:cNvPr id="36" name="Group 35">
            <a:extLst>
              <a:ext uri="{FF2B5EF4-FFF2-40B4-BE49-F238E27FC236}">
                <a16:creationId xmlns:a16="http://schemas.microsoft.com/office/drawing/2014/main" id="{89D17C12-BD4E-9D25-8261-7CFE1952C26D}"/>
              </a:ext>
            </a:extLst>
          </p:cNvPr>
          <p:cNvGrpSpPr/>
          <p:nvPr/>
        </p:nvGrpSpPr>
        <p:grpSpPr>
          <a:xfrm>
            <a:off x="1218983" y="3781425"/>
            <a:ext cx="2652323" cy="914400"/>
            <a:chOff x="1218983" y="3781425"/>
            <a:chExt cx="2652323" cy="914400"/>
          </a:xfrm>
        </p:grpSpPr>
        <p:pic>
          <p:nvPicPr>
            <p:cNvPr id="37" name="Graphic 36" descr="Database with solid fill">
              <a:extLst>
                <a:ext uri="{FF2B5EF4-FFF2-40B4-BE49-F238E27FC236}">
                  <a16:creationId xmlns:a16="http://schemas.microsoft.com/office/drawing/2014/main" id="{BA39A028-9E24-B584-B801-F00B6DBCD5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56906" y="3781425"/>
              <a:ext cx="914400" cy="914400"/>
            </a:xfrm>
            <a:prstGeom prst="rect">
              <a:avLst/>
            </a:prstGeom>
          </p:spPr>
        </p:pic>
        <p:sp>
          <p:nvSpPr>
            <p:cNvPr id="38" name="TextBox 37">
              <a:extLst>
                <a:ext uri="{FF2B5EF4-FFF2-40B4-BE49-F238E27FC236}">
                  <a16:creationId xmlns:a16="http://schemas.microsoft.com/office/drawing/2014/main" id="{0DE05873-77FF-B9E6-D9D6-F047D0070966}"/>
                </a:ext>
              </a:extLst>
            </p:cNvPr>
            <p:cNvSpPr txBox="1"/>
            <p:nvPr/>
          </p:nvSpPr>
          <p:spPr>
            <a:xfrm>
              <a:off x="1218983" y="4069067"/>
              <a:ext cx="1683923" cy="369332"/>
            </a:xfrm>
            <a:prstGeom prst="rect">
              <a:avLst/>
            </a:prstGeom>
            <a:noFill/>
          </p:spPr>
          <p:txBody>
            <a:bodyPr wrap="none" rtlCol="0">
              <a:spAutoFit/>
            </a:bodyPr>
            <a:lstStyle/>
            <a:p>
              <a:pPr algn="r"/>
              <a:r>
                <a:rPr lang="en-SE" dirty="0">
                  <a:solidFill>
                    <a:schemeClr val="accent1">
                      <a:lumMod val="50000"/>
                    </a:schemeClr>
                  </a:solidFill>
                </a:rPr>
                <a:t>Collected Data</a:t>
              </a:r>
            </a:p>
          </p:txBody>
        </p:sp>
      </p:grpSp>
      <p:sp>
        <p:nvSpPr>
          <p:cNvPr id="39" name="TextBox 38">
            <a:extLst>
              <a:ext uri="{FF2B5EF4-FFF2-40B4-BE49-F238E27FC236}">
                <a16:creationId xmlns:a16="http://schemas.microsoft.com/office/drawing/2014/main" id="{7ACE5E68-823D-D37B-E193-309191002CF2}"/>
              </a:ext>
            </a:extLst>
          </p:cNvPr>
          <p:cNvSpPr txBox="1"/>
          <p:nvPr/>
        </p:nvSpPr>
        <p:spPr>
          <a:xfrm>
            <a:off x="5075404" y="4182898"/>
            <a:ext cx="2041200" cy="646331"/>
          </a:xfrm>
          <a:prstGeom prst="rect">
            <a:avLst/>
          </a:prstGeom>
          <a:noFill/>
        </p:spPr>
        <p:txBody>
          <a:bodyPr wrap="none" rtlCol="0">
            <a:spAutoFit/>
          </a:bodyPr>
          <a:lstStyle/>
          <a:p>
            <a:pPr algn="ctr"/>
            <a:r>
              <a:rPr lang="en-SE" dirty="0"/>
              <a:t>Bayesian Updating</a:t>
            </a:r>
            <a:br>
              <a:rPr lang="en-SE" dirty="0"/>
            </a:br>
            <a:r>
              <a:rPr lang="en-SE" dirty="0"/>
              <a:t>Engine</a:t>
            </a:r>
          </a:p>
        </p:txBody>
      </p:sp>
      <p:sp>
        <p:nvSpPr>
          <p:cNvPr id="40" name="TextBox 39">
            <a:extLst>
              <a:ext uri="{FF2B5EF4-FFF2-40B4-BE49-F238E27FC236}">
                <a16:creationId xmlns:a16="http://schemas.microsoft.com/office/drawing/2014/main" id="{7DDF19C1-786F-4F30-0DFA-0B6C415B911B}"/>
              </a:ext>
            </a:extLst>
          </p:cNvPr>
          <p:cNvSpPr txBox="1"/>
          <p:nvPr/>
        </p:nvSpPr>
        <p:spPr>
          <a:xfrm>
            <a:off x="8348016" y="4155199"/>
            <a:ext cx="2408352" cy="369332"/>
          </a:xfrm>
          <a:prstGeom prst="rect">
            <a:avLst/>
          </a:prstGeom>
          <a:noFill/>
        </p:spPr>
        <p:txBody>
          <a:bodyPr wrap="none" rtlCol="0">
            <a:spAutoFit/>
          </a:bodyPr>
          <a:lstStyle/>
          <a:p>
            <a:pPr algn="ctr"/>
            <a:r>
              <a:rPr lang="en-SE" dirty="0">
                <a:solidFill>
                  <a:schemeClr val="bg2">
                    <a:lumMod val="50000"/>
                  </a:schemeClr>
                </a:solidFill>
              </a:rPr>
              <a:t>Posterior Distributions</a:t>
            </a:r>
          </a:p>
        </p:txBody>
      </p:sp>
      <p:cxnSp>
        <p:nvCxnSpPr>
          <p:cNvPr id="41" name="Straight Arrow Connector 47">
            <a:extLst>
              <a:ext uri="{FF2B5EF4-FFF2-40B4-BE49-F238E27FC236}">
                <a16:creationId xmlns:a16="http://schemas.microsoft.com/office/drawing/2014/main" id="{BA9F251E-53A9-048D-C2A8-1F0B27DD4FCA}"/>
              </a:ext>
            </a:extLst>
          </p:cNvPr>
          <p:cNvCxnSpPr>
            <a:cxnSpLocks/>
            <a:stCxn id="37" idx="3"/>
            <a:endCxn id="34" idx="1"/>
          </p:cNvCxnSpPr>
          <p:nvPr/>
        </p:nvCxnSpPr>
        <p:spPr>
          <a:xfrm flipV="1">
            <a:off x="3871306" y="3726167"/>
            <a:ext cx="1767494" cy="512458"/>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1405A8B2-4875-6DC8-5C71-E32178B76276}"/>
              </a:ext>
            </a:extLst>
          </p:cNvPr>
          <p:cNvCxnSpPr>
            <a:cxnSpLocks/>
            <a:stCxn id="34" idx="3"/>
            <a:endCxn id="35" idx="1"/>
          </p:cNvCxnSpPr>
          <p:nvPr/>
        </p:nvCxnSpPr>
        <p:spPr>
          <a:xfrm>
            <a:off x="6553200" y="3726167"/>
            <a:ext cx="254178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43" name="Group 42">
            <a:extLst>
              <a:ext uri="{FF2B5EF4-FFF2-40B4-BE49-F238E27FC236}">
                <a16:creationId xmlns:a16="http://schemas.microsoft.com/office/drawing/2014/main" id="{A7E6EC63-C5F3-F356-B221-6A59872B3961}"/>
              </a:ext>
            </a:extLst>
          </p:cNvPr>
          <p:cNvGrpSpPr/>
          <p:nvPr/>
        </p:nvGrpSpPr>
        <p:grpSpPr>
          <a:xfrm>
            <a:off x="1215456" y="2806316"/>
            <a:ext cx="2655850" cy="914400"/>
            <a:chOff x="1215456" y="3781425"/>
            <a:chExt cx="2655850" cy="914400"/>
          </a:xfrm>
        </p:grpSpPr>
        <p:pic>
          <p:nvPicPr>
            <p:cNvPr id="44" name="Graphic 43" descr="Bar chart with solid fill">
              <a:extLst>
                <a:ext uri="{FF2B5EF4-FFF2-40B4-BE49-F238E27FC236}">
                  <a16:creationId xmlns:a16="http://schemas.microsoft.com/office/drawing/2014/main" id="{AC351CD8-B174-54B0-67D5-3B3A1E55DF27}"/>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956906" y="3781425"/>
              <a:ext cx="914400" cy="914400"/>
            </a:xfrm>
            <a:prstGeom prst="rect">
              <a:avLst/>
            </a:prstGeom>
          </p:spPr>
        </p:pic>
        <p:sp>
          <p:nvSpPr>
            <p:cNvPr id="45" name="TextBox 44">
              <a:extLst>
                <a:ext uri="{FF2B5EF4-FFF2-40B4-BE49-F238E27FC236}">
                  <a16:creationId xmlns:a16="http://schemas.microsoft.com/office/drawing/2014/main" id="{A21C2AC7-FC4F-1760-3029-FDD9E655415E}"/>
                </a:ext>
              </a:extLst>
            </p:cNvPr>
            <p:cNvSpPr txBox="1"/>
            <p:nvPr/>
          </p:nvSpPr>
          <p:spPr>
            <a:xfrm>
              <a:off x="1215456" y="4069067"/>
              <a:ext cx="1687450" cy="369332"/>
            </a:xfrm>
            <a:prstGeom prst="rect">
              <a:avLst/>
            </a:prstGeom>
            <a:noFill/>
          </p:spPr>
          <p:txBody>
            <a:bodyPr wrap="none" rtlCol="0">
              <a:spAutoFit/>
            </a:bodyPr>
            <a:lstStyle/>
            <a:p>
              <a:pPr algn="r"/>
              <a:r>
                <a:rPr lang="en-SE" dirty="0">
                  <a:solidFill>
                    <a:schemeClr val="accent2">
                      <a:lumMod val="50000"/>
                    </a:schemeClr>
                  </a:solidFill>
                </a:rPr>
                <a:t>Selected Priors</a:t>
              </a:r>
            </a:p>
          </p:txBody>
        </p:sp>
      </p:grpSp>
      <p:cxnSp>
        <p:nvCxnSpPr>
          <p:cNvPr id="46" name="Straight Arrow Connector 47">
            <a:extLst>
              <a:ext uri="{FF2B5EF4-FFF2-40B4-BE49-F238E27FC236}">
                <a16:creationId xmlns:a16="http://schemas.microsoft.com/office/drawing/2014/main" id="{F94C4543-E7FC-5298-1C92-1C665C6CB33E}"/>
              </a:ext>
            </a:extLst>
          </p:cNvPr>
          <p:cNvCxnSpPr>
            <a:cxnSpLocks/>
            <a:stCxn id="44" idx="3"/>
            <a:endCxn id="34" idx="1"/>
          </p:cNvCxnSpPr>
          <p:nvPr/>
        </p:nvCxnSpPr>
        <p:spPr>
          <a:xfrm>
            <a:off x="3871306" y="3263516"/>
            <a:ext cx="1767494" cy="462651"/>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47" name="Right Brace 46">
            <a:extLst>
              <a:ext uri="{FF2B5EF4-FFF2-40B4-BE49-F238E27FC236}">
                <a16:creationId xmlns:a16="http://schemas.microsoft.com/office/drawing/2014/main" id="{978AE15D-45F6-B2AC-BC72-2547D9020BFC}"/>
              </a:ext>
            </a:extLst>
          </p:cNvPr>
          <p:cNvSpPr/>
          <p:nvPr/>
        </p:nvSpPr>
        <p:spPr>
          <a:xfrm rot="16200000">
            <a:off x="5917766" y="3078862"/>
            <a:ext cx="356467" cy="3947211"/>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SE"/>
          </a:p>
        </p:txBody>
      </p:sp>
      <p:grpSp>
        <p:nvGrpSpPr>
          <p:cNvPr id="48" name="Group 47">
            <a:extLst>
              <a:ext uri="{FF2B5EF4-FFF2-40B4-BE49-F238E27FC236}">
                <a16:creationId xmlns:a16="http://schemas.microsoft.com/office/drawing/2014/main" id="{DEFCB802-C35D-3729-97B7-625EC838CAE6}"/>
              </a:ext>
            </a:extLst>
          </p:cNvPr>
          <p:cNvGrpSpPr/>
          <p:nvPr/>
        </p:nvGrpSpPr>
        <p:grpSpPr>
          <a:xfrm>
            <a:off x="203635" y="1825625"/>
            <a:ext cx="504000" cy="504000"/>
            <a:chOff x="977950" y="2729564"/>
            <a:chExt cx="504000" cy="504000"/>
          </a:xfrm>
        </p:grpSpPr>
        <p:sp>
          <p:nvSpPr>
            <p:cNvPr id="49" name="Oval 48">
              <a:extLst>
                <a:ext uri="{FF2B5EF4-FFF2-40B4-BE49-F238E27FC236}">
                  <a16:creationId xmlns:a16="http://schemas.microsoft.com/office/drawing/2014/main" id="{5BEEE94C-7DAF-F6B7-19DD-71070718BCF1}"/>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0" name="Graphic 49" descr="Golden Ratio with solid fill">
              <a:extLst>
                <a:ext uri="{FF2B5EF4-FFF2-40B4-BE49-F238E27FC236}">
                  <a16:creationId xmlns:a16="http://schemas.microsoft.com/office/drawing/2014/main" id="{FC678AB8-F575-037A-2071-DD669FF617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1950" y="2783564"/>
              <a:ext cx="396000" cy="396000"/>
            </a:xfrm>
            <a:prstGeom prst="rect">
              <a:avLst/>
            </a:prstGeom>
          </p:spPr>
        </p:pic>
      </p:grpSp>
      <p:grpSp>
        <p:nvGrpSpPr>
          <p:cNvPr id="51" name="Group 50">
            <a:extLst>
              <a:ext uri="{FF2B5EF4-FFF2-40B4-BE49-F238E27FC236}">
                <a16:creationId xmlns:a16="http://schemas.microsoft.com/office/drawing/2014/main" id="{ACE508B0-C140-3556-3522-D0C4FC453666}"/>
              </a:ext>
            </a:extLst>
          </p:cNvPr>
          <p:cNvGrpSpPr/>
          <p:nvPr/>
        </p:nvGrpSpPr>
        <p:grpSpPr>
          <a:xfrm>
            <a:off x="203635" y="2439322"/>
            <a:ext cx="504000" cy="504000"/>
            <a:chOff x="977950" y="2729564"/>
            <a:chExt cx="504000" cy="504000"/>
          </a:xfrm>
        </p:grpSpPr>
        <p:sp>
          <p:nvSpPr>
            <p:cNvPr id="52" name="Oval 51">
              <a:extLst>
                <a:ext uri="{FF2B5EF4-FFF2-40B4-BE49-F238E27FC236}">
                  <a16:creationId xmlns:a16="http://schemas.microsoft.com/office/drawing/2014/main" id="{ECF56ECD-59D7-706F-7002-F2F8E03B588E}"/>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3" name="Graphic 52" descr="Normal Distribution with solid fill">
              <a:extLst>
                <a:ext uri="{FF2B5EF4-FFF2-40B4-BE49-F238E27FC236}">
                  <a16:creationId xmlns:a16="http://schemas.microsoft.com/office/drawing/2014/main" id="{41224E94-F170-5273-9D26-7FF0441C6615}"/>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31950" y="2783564"/>
              <a:ext cx="396000" cy="396000"/>
            </a:xfrm>
            <a:prstGeom prst="rect">
              <a:avLst/>
            </a:prstGeom>
          </p:spPr>
        </p:pic>
      </p:grpSp>
      <p:grpSp>
        <p:nvGrpSpPr>
          <p:cNvPr id="54" name="Group 53">
            <a:extLst>
              <a:ext uri="{FF2B5EF4-FFF2-40B4-BE49-F238E27FC236}">
                <a16:creationId xmlns:a16="http://schemas.microsoft.com/office/drawing/2014/main" id="{C7AE7D84-ED12-C0BE-E50C-CF2A574ED4C4}"/>
              </a:ext>
            </a:extLst>
          </p:cNvPr>
          <p:cNvGrpSpPr/>
          <p:nvPr/>
        </p:nvGrpSpPr>
        <p:grpSpPr>
          <a:xfrm>
            <a:off x="203635" y="3053019"/>
            <a:ext cx="504000" cy="504000"/>
            <a:chOff x="977950" y="2729564"/>
            <a:chExt cx="504000" cy="504000"/>
          </a:xfrm>
        </p:grpSpPr>
        <p:sp>
          <p:nvSpPr>
            <p:cNvPr id="55" name="Oval 54">
              <a:extLst>
                <a:ext uri="{FF2B5EF4-FFF2-40B4-BE49-F238E27FC236}">
                  <a16:creationId xmlns:a16="http://schemas.microsoft.com/office/drawing/2014/main" id="{FD8FCC1E-82F7-02CA-17FD-D63036855A4E}"/>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6" name="Graphic 55" descr="Abacus with solid fill">
              <a:extLst>
                <a:ext uri="{FF2B5EF4-FFF2-40B4-BE49-F238E27FC236}">
                  <a16:creationId xmlns:a16="http://schemas.microsoft.com/office/drawing/2014/main" id="{53E08DEC-D423-7CB2-ED06-25B976542885}"/>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031950" y="2783564"/>
              <a:ext cx="396000" cy="396000"/>
            </a:xfrm>
            <a:prstGeom prst="rect">
              <a:avLst/>
            </a:prstGeom>
          </p:spPr>
        </p:pic>
      </p:grpSp>
      <p:grpSp>
        <p:nvGrpSpPr>
          <p:cNvPr id="57" name="Group 56">
            <a:extLst>
              <a:ext uri="{FF2B5EF4-FFF2-40B4-BE49-F238E27FC236}">
                <a16:creationId xmlns:a16="http://schemas.microsoft.com/office/drawing/2014/main" id="{632961FC-BA6D-C19E-1F86-99906D705327}"/>
              </a:ext>
            </a:extLst>
          </p:cNvPr>
          <p:cNvGrpSpPr/>
          <p:nvPr/>
        </p:nvGrpSpPr>
        <p:grpSpPr>
          <a:xfrm>
            <a:off x="203635" y="3666716"/>
            <a:ext cx="504000" cy="504000"/>
            <a:chOff x="977950" y="2729564"/>
            <a:chExt cx="504000" cy="504000"/>
          </a:xfrm>
        </p:grpSpPr>
        <p:sp>
          <p:nvSpPr>
            <p:cNvPr id="58" name="Oval 57">
              <a:extLst>
                <a:ext uri="{FF2B5EF4-FFF2-40B4-BE49-F238E27FC236}">
                  <a16:creationId xmlns:a16="http://schemas.microsoft.com/office/drawing/2014/main" id="{3D445849-5485-147E-7141-CF3DD910F7CE}"/>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9" name="Graphic 58" descr="Trigonometry with solid fill">
              <a:extLst>
                <a:ext uri="{FF2B5EF4-FFF2-40B4-BE49-F238E27FC236}">
                  <a16:creationId xmlns:a16="http://schemas.microsoft.com/office/drawing/2014/main" id="{ECA40A61-7EE2-5877-1009-D8DCF9A8E5C7}"/>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1031950" y="2783564"/>
              <a:ext cx="396000" cy="396000"/>
            </a:xfrm>
            <a:prstGeom prst="rect">
              <a:avLst/>
            </a:prstGeom>
          </p:spPr>
        </p:pic>
      </p:grpSp>
      <p:grpSp>
        <p:nvGrpSpPr>
          <p:cNvPr id="60" name="Group 59">
            <a:extLst>
              <a:ext uri="{FF2B5EF4-FFF2-40B4-BE49-F238E27FC236}">
                <a16:creationId xmlns:a16="http://schemas.microsoft.com/office/drawing/2014/main" id="{2D9E2391-D1C1-52A9-E37D-D2D7BE5A94B8}"/>
              </a:ext>
            </a:extLst>
          </p:cNvPr>
          <p:cNvGrpSpPr/>
          <p:nvPr/>
        </p:nvGrpSpPr>
        <p:grpSpPr>
          <a:xfrm>
            <a:off x="203635" y="4280414"/>
            <a:ext cx="504000" cy="504000"/>
            <a:chOff x="977950" y="2729564"/>
            <a:chExt cx="504000" cy="504000"/>
          </a:xfrm>
        </p:grpSpPr>
        <p:sp>
          <p:nvSpPr>
            <p:cNvPr id="61" name="Oval 60">
              <a:extLst>
                <a:ext uri="{FF2B5EF4-FFF2-40B4-BE49-F238E27FC236}">
                  <a16:creationId xmlns:a16="http://schemas.microsoft.com/office/drawing/2014/main" id="{CE2635FC-9CFB-8496-F26C-6CFF87DB6226}"/>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2" name="Graphic 61" descr="Scatterplot with solid fill">
              <a:extLst>
                <a:ext uri="{FF2B5EF4-FFF2-40B4-BE49-F238E27FC236}">
                  <a16:creationId xmlns:a16="http://schemas.microsoft.com/office/drawing/2014/main" id="{CF4BA563-1B59-7FDD-6A16-84947665BFCB}"/>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1031950" y="2783564"/>
              <a:ext cx="396000" cy="396000"/>
            </a:xfrm>
            <a:prstGeom prst="rect">
              <a:avLst/>
            </a:prstGeom>
          </p:spPr>
        </p:pic>
      </p:grpSp>
      <p:cxnSp>
        <p:nvCxnSpPr>
          <p:cNvPr id="63" name="Straight Arrow Connector 62">
            <a:extLst>
              <a:ext uri="{FF2B5EF4-FFF2-40B4-BE49-F238E27FC236}">
                <a16:creationId xmlns:a16="http://schemas.microsoft.com/office/drawing/2014/main" id="{5DE69137-E4A0-1E8E-D5C1-B997310B4CA5}"/>
              </a:ext>
            </a:extLst>
          </p:cNvPr>
          <p:cNvCxnSpPr>
            <a:cxnSpLocks/>
            <a:stCxn id="49" idx="4"/>
            <a:endCxn id="52"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4" name="Straight Arrow Connector 63">
            <a:extLst>
              <a:ext uri="{FF2B5EF4-FFF2-40B4-BE49-F238E27FC236}">
                <a16:creationId xmlns:a16="http://schemas.microsoft.com/office/drawing/2014/main" id="{6FA5E7F6-7604-5522-2F08-AE65C331552C}"/>
              </a:ext>
            </a:extLst>
          </p:cNvPr>
          <p:cNvCxnSpPr>
            <a:cxnSpLocks/>
            <a:stCxn id="52" idx="4"/>
            <a:endCxn id="55"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5" name="Straight Arrow Connector 64">
            <a:extLst>
              <a:ext uri="{FF2B5EF4-FFF2-40B4-BE49-F238E27FC236}">
                <a16:creationId xmlns:a16="http://schemas.microsoft.com/office/drawing/2014/main" id="{FAB3E0AE-504A-4694-F1ED-C832988A84A3}"/>
              </a:ext>
            </a:extLst>
          </p:cNvPr>
          <p:cNvCxnSpPr>
            <a:cxnSpLocks/>
            <a:stCxn id="55" idx="4"/>
            <a:endCxn id="58"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968823FD-B5BC-529E-9318-B64038E12420}"/>
              </a:ext>
            </a:extLst>
          </p:cNvPr>
          <p:cNvCxnSpPr>
            <a:cxnSpLocks/>
            <a:stCxn id="58" idx="4"/>
            <a:endCxn id="61"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28119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37A32-7971-2661-3119-A5FA89D371C5}"/>
              </a:ext>
            </a:extLst>
          </p:cNvPr>
          <p:cNvSpPr>
            <a:spLocks noGrp="1"/>
          </p:cNvSpPr>
          <p:nvPr>
            <p:ph type="title"/>
          </p:nvPr>
        </p:nvSpPr>
        <p:spPr/>
        <p:txBody>
          <a:bodyPr/>
          <a:lstStyle/>
          <a:p>
            <a:r>
              <a:rPr lang="en-SE" dirty="0"/>
              <a:t>Bayesian Updating Engine</a:t>
            </a:r>
          </a:p>
        </p:txBody>
      </p:sp>
      <p:pic>
        <p:nvPicPr>
          <p:cNvPr id="7" name="Content Placeholder 6">
            <a:extLst>
              <a:ext uri="{FF2B5EF4-FFF2-40B4-BE49-F238E27FC236}">
                <a16:creationId xmlns:a16="http://schemas.microsoft.com/office/drawing/2014/main" id="{6F32E14F-B96D-EA5A-6821-2BF013ADD3B0}"/>
              </a:ext>
            </a:extLst>
          </p:cNvPr>
          <p:cNvPicPr>
            <a:picLocks noGrp="1" noChangeAspect="1"/>
          </p:cNvPicPr>
          <p:nvPr>
            <p:ph idx="1"/>
          </p:nvPr>
        </p:nvPicPr>
        <p:blipFill>
          <a:blip r:embed="rId2"/>
          <a:stretch>
            <a:fillRect/>
          </a:stretch>
        </p:blipFill>
        <p:spPr>
          <a:xfrm>
            <a:off x="7670644" y="1825625"/>
            <a:ext cx="3813721" cy="4351338"/>
          </a:xfrm>
          <a:prstGeom prst="rect">
            <a:avLst/>
          </a:prstGeom>
        </p:spPr>
      </p:pic>
      <p:sp>
        <p:nvSpPr>
          <p:cNvPr id="4" name="Date Placeholder 3">
            <a:extLst>
              <a:ext uri="{FF2B5EF4-FFF2-40B4-BE49-F238E27FC236}">
                <a16:creationId xmlns:a16="http://schemas.microsoft.com/office/drawing/2014/main" id="{0AD68158-1955-382C-1F94-0223CEE81384}"/>
              </a:ext>
            </a:extLst>
          </p:cNvPr>
          <p:cNvSpPr>
            <a:spLocks noGrp="1"/>
          </p:cNvSpPr>
          <p:nvPr>
            <p:ph type="dt" sz="half" idx="10"/>
          </p:nvPr>
        </p:nvSpPr>
        <p:spPr/>
        <p:txBody>
          <a:bodyPr/>
          <a:lstStyle/>
          <a:p>
            <a:r>
              <a:rPr lang="en-SE"/>
              <a:t>2026-08-17</a:t>
            </a:r>
          </a:p>
        </p:txBody>
      </p:sp>
      <p:sp>
        <p:nvSpPr>
          <p:cNvPr id="3" name="Footer Placeholder 2">
            <a:extLst>
              <a:ext uri="{FF2B5EF4-FFF2-40B4-BE49-F238E27FC236}">
                <a16:creationId xmlns:a16="http://schemas.microsoft.com/office/drawing/2014/main" id="{C5E281B7-82C9-84A6-DA08-D8FCACD8B941}"/>
              </a:ext>
            </a:extLst>
          </p:cNvPr>
          <p:cNvSpPr>
            <a:spLocks noGrp="1"/>
          </p:cNvSpPr>
          <p:nvPr>
            <p:ph type="ftr" sz="quarter" idx="11"/>
          </p:nvPr>
        </p:nvSpPr>
        <p:spPr/>
        <p:txBody>
          <a:bodyPr/>
          <a:lstStyle/>
          <a:p>
            <a:r>
              <a:rPr lang="de-DE"/>
              <a:t>Bayesian Data Analysis Tutorial</a:t>
            </a:r>
            <a:endParaRPr lang="en-SE"/>
          </a:p>
        </p:txBody>
      </p:sp>
      <p:sp>
        <p:nvSpPr>
          <p:cNvPr id="5" name="Slide Number Placeholder 4">
            <a:extLst>
              <a:ext uri="{FF2B5EF4-FFF2-40B4-BE49-F238E27FC236}">
                <a16:creationId xmlns:a16="http://schemas.microsoft.com/office/drawing/2014/main" id="{EF511769-ADC8-D18E-3C9C-C44DC965C344}"/>
              </a:ext>
            </a:extLst>
          </p:cNvPr>
          <p:cNvSpPr>
            <a:spLocks noGrp="1"/>
          </p:cNvSpPr>
          <p:nvPr>
            <p:ph type="sldNum" sz="quarter" idx="12"/>
          </p:nvPr>
        </p:nvSpPr>
        <p:spPr/>
        <p:txBody>
          <a:bodyPr/>
          <a:lstStyle/>
          <a:p>
            <a:fld id="{271ECC92-9CDE-4EB3-B1C5-F46B9E1FA3C1}" type="slidenum">
              <a:rPr lang="en-SE" smtClean="0"/>
              <a:t>53</a:t>
            </a:fld>
            <a:endParaRPr lang="en-SE"/>
          </a:p>
        </p:txBody>
      </p:sp>
      <p:pic>
        <p:nvPicPr>
          <p:cNvPr id="31" name="Picture 30">
            <a:extLst>
              <a:ext uri="{FF2B5EF4-FFF2-40B4-BE49-F238E27FC236}">
                <a16:creationId xmlns:a16="http://schemas.microsoft.com/office/drawing/2014/main" id="{B623F022-D2F5-2F29-DF1E-EA4E62A17382}"/>
              </a:ext>
            </a:extLst>
          </p:cNvPr>
          <p:cNvPicPr>
            <a:picLocks noChangeAspect="1"/>
          </p:cNvPicPr>
          <p:nvPr/>
        </p:nvPicPr>
        <p:blipFill>
          <a:blip r:embed="rId3"/>
          <a:stretch>
            <a:fillRect/>
          </a:stretch>
        </p:blipFill>
        <p:spPr>
          <a:xfrm>
            <a:off x="1110835" y="4580736"/>
            <a:ext cx="2872989" cy="1775614"/>
          </a:xfrm>
          <a:prstGeom prst="rect">
            <a:avLst/>
          </a:prstGeom>
        </p:spPr>
      </p:pic>
      <p:sp>
        <p:nvSpPr>
          <p:cNvPr id="32" name="Content Placeholder 2">
            <a:extLst>
              <a:ext uri="{FF2B5EF4-FFF2-40B4-BE49-F238E27FC236}">
                <a16:creationId xmlns:a16="http://schemas.microsoft.com/office/drawing/2014/main" id="{4AA235AE-30AE-9634-4EB6-ABE93DCE21AC}"/>
              </a:ext>
            </a:extLst>
          </p:cNvPr>
          <p:cNvSpPr txBox="1">
            <a:spLocks/>
          </p:cNvSpPr>
          <p:nvPr/>
        </p:nvSpPr>
        <p:spPr>
          <a:xfrm>
            <a:off x="838200" y="1825625"/>
            <a:ext cx="6778443" cy="2291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Imagine estimating the proportion of water on an unknown planet with zero prior knowledge. Every data point is a random probe from the planet’s surface, reporting either </a:t>
            </a:r>
            <a:r>
              <a:rPr lang="en-SE" b="1" dirty="0">
                <a:solidFill>
                  <a:schemeClr val="accent5"/>
                </a:solidFill>
              </a:rPr>
              <a:t>W</a:t>
            </a:r>
            <a:r>
              <a:rPr lang="en-SE" dirty="0">
                <a:solidFill>
                  <a:schemeClr val="accent5"/>
                </a:solidFill>
              </a:rPr>
              <a:t>ater</a:t>
            </a:r>
            <a:r>
              <a:rPr lang="en-SE" dirty="0"/>
              <a:t> or </a:t>
            </a:r>
            <a:r>
              <a:rPr lang="en-SE" b="1" dirty="0">
                <a:solidFill>
                  <a:srgbClr val="663300"/>
                </a:solidFill>
              </a:rPr>
              <a:t>L</a:t>
            </a:r>
            <a:r>
              <a:rPr lang="en-SE" dirty="0">
                <a:solidFill>
                  <a:srgbClr val="663300"/>
                </a:solidFill>
              </a:rPr>
              <a:t>and</a:t>
            </a:r>
            <a:r>
              <a:rPr lang="en-SE" dirty="0"/>
              <a:t>. </a:t>
            </a:r>
            <a:endParaRPr lang="en-SE" dirty="0">
              <a:solidFill>
                <a:srgbClr val="663300"/>
              </a:solidFill>
            </a:endParaRPr>
          </a:p>
        </p:txBody>
      </p:sp>
      <p:sp>
        <p:nvSpPr>
          <p:cNvPr id="33" name="TextBox 32">
            <a:extLst>
              <a:ext uri="{FF2B5EF4-FFF2-40B4-BE49-F238E27FC236}">
                <a16:creationId xmlns:a16="http://schemas.microsoft.com/office/drawing/2014/main" id="{2B9EA344-8396-398C-A1F8-B52E02DA9C2B}"/>
              </a:ext>
            </a:extLst>
          </p:cNvPr>
          <p:cNvSpPr txBox="1"/>
          <p:nvPr/>
        </p:nvSpPr>
        <p:spPr>
          <a:xfrm>
            <a:off x="1249683" y="4095748"/>
            <a:ext cx="2977738" cy="369332"/>
          </a:xfrm>
          <a:prstGeom prst="rect">
            <a:avLst/>
          </a:prstGeom>
          <a:noFill/>
        </p:spPr>
        <p:txBody>
          <a:bodyPr wrap="none" rtlCol="0">
            <a:spAutoFit/>
          </a:bodyPr>
          <a:lstStyle/>
          <a:p>
            <a:pPr algn="ctr"/>
            <a:r>
              <a:rPr lang="en-SE" dirty="0"/>
              <a:t>Prior Probability Distribution</a:t>
            </a:r>
          </a:p>
        </p:txBody>
      </p:sp>
      <p:sp>
        <p:nvSpPr>
          <p:cNvPr id="35" name="TextBox 34">
            <a:extLst>
              <a:ext uri="{FF2B5EF4-FFF2-40B4-BE49-F238E27FC236}">
                <a16:creationId xmlns:a16="http://schemas.microsoft.com/office/drawing/2014/main" id="{0E057998-BF9E-E14C-BB5E-1FA1D180A723}"/>
              </a:ext>
            </a:extLst>
          </p:cNvPr>
          <p:cNvSpPr txBox="1"/>
          <p:nvPr/>
        </p:nvSpPr>
        <p:spPr>
          <a:xfrm>
            <a:off x="5231496" y="4095748"/>
            <a:ext cx="1683924" cy="369332"/>
          </a:xfrm>
          <a:prstGeom prst="rect">
            <a:avLst/>
          </a:prstGeom>
          <a:noFill/>
        </p:spPr>
        <p:txBody>
          <a:bodyPr wrap="none" rtlCol="0">
            <a:spAutoFit/>
          </a:bodyPr>
          <a:lstStyle/>
          <a:p>
            <a:pPr algn="ctr"/>
            <a:r>
              <a:rPr lang="en-SE" dirty="0"/>
              <a:t>Collected Data</a:t>
            </a:r>
          </a:p>
        </p:txBody>
      </p:sp>
      <p:sp>
        <p:nvSpPr>
          <p:cNvPr id="36" name="TextBox 35">
            <a:extLst>
              <a:ext uri="{FF2B5EF4-FFF2-40B4-BE49-F238E27FC236}">
                <a16:creationId xmlns:a16="http://schemas.microsoft.com/office/drawing/2014/main" id="{A612BCAC-AC96-B7BF-F186-70FB7F6FCAB0}"/>
              </a:ext>
            </a:extLst>
          </p:cNvPr>
          <p:cNvSpPr txBox="1"/>
          <p:nvPr/>
        </p:nvSpPr>
        <p:spPr>
          <a:xfrm>
            <a:off x="4733447" y="4589950"/>
            <a:ext cx="2725105" cy="369332"/>
          </a:xfrm>
          <a:prstGeom prst="rect">
            <a:avLst/>
          </a:prstGeom>
          <a:noFill/>
        </p:spPr>
        <p:txBody>
          <a:bodyPr wrap="none" rtlCol="0">
            <a:spAutoFit/>
          </a:bodyPr>
          <a:lstStyle/>
          <a:p>
            <a:r>
              <a:rPr lang="en-SE" dirty="0"/>
              <a:t>{</a:t>
            </a:r>
            <a:r>
              <a:rPr lang="en-SE" dirty="0">
                <a:solidFill>
                  <a:schemeClr val="accent5"/>
                </a:solidFill>
              </a:rPr>
              <a:t>W</a:t>
            </a:r>
            <a:r>
              <a:rPr lang="en-SE" dirty="0"/>
              <a:t>, </a:t>
            </a:r>
            <a:r>
              <a:rPr lang="en-SE" dirty="0">
                <a:solidFill>
                  <a:srgbClr val="663300"/>
                </a:solidFill>
              </a:rPr>
              <a:t>L</a:t>
            </a:r>
            <a:r>
              <a:rPr lang="en-SE" dirty="0"/>
              <a:t>, </a:t>
            </a:r>
            <a:r>
              <a:rPr lang="en-SE" dirty="0">
                <a:solidFill>
                  <a:schemeClr val="accent5"/>
                </a:solidFill>
              </a:rPr>
              <a:t>W</a:t>
            </a:r>
            <a:r>
              <a:rPr lang="en-SE" dirty="0"/>
              <a:t>, </a:t>
            </a:r>
            <a:r>
              <a:rPr lang="en-SE" dirty="0">
                <a:solidFill>
                  <a:schemeClr val="accent5"/>
                </a:solidFill>
              </a:rPr>
              <a:t>W</a:t>
            </a:r>
            <a:r>
              <a:rPr lang="en-SE" dirty="0"/>
              <a:t>, </a:t>
            </a:r>
            <a:r>
              <a:rPr lang="en-SE" dirty="0">
                <a:solidFill>
                  <a:schemeClr val="accent5"/>
                </a:solidFill>
              </a:rPr>
              <a:t>W</a:t>
            </a:r>
            <a:r>
              <a:rPr lang="en-SE" dirty="0"/>
              <a:t>, </a:t>
            </a:r>
            <a:r>
              <a:rPr lang="en-SE" dirty="0">
                <a:solidFill>
                  <a:srgbClr val="663300"/>
                </a:solidFill>
              </a:rPr>
              <a:t>L</a:t>
            </a:r>
            <a:r>
              <a:rPr lang="en-SE" dirty="0"/>
              <a:t>, </a:t>
            </a:r>
            <a:r>
              <a:rPr lang="en-SE" dirty="0">
                <a:solidFill>
                  <a:schemeClr val="accent5"/>
                </a:solidFill>
              </a:rPr>
              <a:t>W</a:t>
            </a:r>
            <a:r>
              <a:rPr lang="en-SE" dirty="0"/>
              <a:t>, </a:t>
            </a:r>
            <a:r>
              <a:rPr lang="en-SE" dirty="0">
                <a:solidFill>
                  <a:srgbClr val="663300"/>
                </a:solidFill>
              </a:rPr>
              <a:t>L</a:t>
            </a:r>
            <a:r>
              <a:rPr lang="en-SE" dirty="0"/>
              <a:t>, </a:t>
            </a:r>
            <a:r>
              <a:rPr lang="en-SE" dirty="0">
                <a:solidFill>
                  <a:schemeClr val="accent5"/>
                </a:solidFill>
              </a:rPr>
              <a:t>W</a:t>
            </a:r>
            <a:r>
              <a:rPr lang="en-SE" dirty="0"/>
              <a:t>}</a:t>
            </a:r>
          </a:p>
        </p:txBody>
      </p:sp>
      <p:sp>
        <p:nvSpPr>
          <p:cNvPr id="37" name="Rectangle 36">
            <a:extLst>
              <a:ext uri="{FF2B5EF4-FFF2-40B4-BE49-F238E27FC236}">
                <a16:creationId xmlns:a16="http://schemas.microsoft.com/office/drawing/2014/main" id="{A3D505D8-780A-8D58-2846-58E128E0C8C2}"/>
              </a:ext>
            </a:extLst>
          </p:cNvPr>
          <p:cNvSpPr/>
          <p:nvPr/>
        </p:nvSpPr>
        <p:spPr>
          <a:xfrm>
            <a:off x="7616643" y="1690688"/>
            <a:ext cx="1413057" cy="15097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9" name="Rectangle 38">
            <a:extLst>
              <a:ext uri="{FF2B5EF4-FFF2-40B4-BE49-F238E27FC236}">
                <a16:creationId xmlns:a16="http://schemas.microsoft.com/office/drawing/2014/main" id="{9AEB99EE-06FD-2032-9CD9-D3F794160C3F}"/>
              </a:ext>
            </a:extLst>
          </p:cNvPr>
          <p:cNvSpPr/>
          <p:nvPr/>
        </p:nvSpPr>
        <p:spPr>
          <a:xfrm>
            <a:off x="9029700" y="1690688"/>
            <a:ext cx="1189473" cy="15097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41" name="Rectangle 40">
            <a:extLst>
              <a:ext uri="{FF2B5EF4-FFF2-40B4-BE49-F238E27FC236}">
                <a16:creationId xmlns:a16="http://schemas.microsoft.com/office/drawing/2014/main" id="{7DDC9A2C-7A8E-2007-5A8C-7364DB647403}"/>
              </a:ext>
            </a:extLst>
          </p:cNvPr>
          <p:cNvSpPr/>
          <p:nvPr/>
        </p:nvSpPr>
        <p:spPr>
          <a:xfrm>
            <a:off x="10219173" y="1690688"/>
            <a:ext cx="1189473" cy="15097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43" name="Rectangle 42">
            <a:extLst>
              <a:ext uri="{FF2B5EF4-FFF2-40B4-BE49-F238E27FC236}">
                <a16:creationId xmlns:a16="http://schemas.microsoft.com/office/drawing/2014/main" id="{20B7FE45-DD6B-F3E8-4A14-97A2FBFF9AE4}"/>
              </a:ext>
            </a:extLst>
          </p:cNvPr>
          <p:cNvSpPr/>
          <p:nvPr/>
        </p:nvSpPr>
        <p:spPr>
          <a:xfrm>
            <a:off x="7616642" y="3200399"/>
            <a:ext cx="3792003" cy="29765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nvGrpSpPr>
          <p:cNvPr id="44" name="Group 43">
            <a:extLst>
              <a:ext uri="{FF2B5EF4-FFF2-40B4-BE49-F238E27FC236}">
                <a16:creationId xmlns:a16="http://schemas.microsoft.com/office/drawing/2014/main" id="{364D282D-C882-B545-7F01-B0C21BAADE1A}"/>
              </a:ext>
            </a:extLst>
          </p:cNvPr>
          <p:cNvGrpSpPr/>
          <p:nvPr/>
        </p:nvGrpSpPr>
        <p:grpSpPr>
          <a:xfrm>
            <a:off x="203635" y="1825625"/>
            <a:ext cx="504000" cy="504000"/>
            <a:chOff x="977950" y="2729564"/>
            <a:chExt cx="504000" cy="504000"/>
          </a:xfrm>
        </p:grpSpPr>
        <p:sp>
          <p:nvSpPr>
            <p:cNvPr id="45" name="Oval 44">
              <a:extLst>
                <a:ext uri="{FF2B5EF4-FFF2-40B4-BE49-F238E27FC236}">
                  <a16:creationId xmlns:a16="http://schemas.microsoft.com/office/drawing/2014/main" id="{087EA8A4-B5FA-BAC3-559E-3F7485D26049}"/>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6" name="Graphic 45" descr="Golden Ratio with solid fill">
              <a:extLst>
                <a:ext uri="{FF2B5EF4-FFF2-40B4-BE49-F238E27FC236}">
                  <a16:creationId xmlns:a16="http://schemas.microsoft.com/office/drawing/2014/main" id="{8A497BA8-649C-CA83-51BC-F0237EE7EF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950" y="2783564"/>
              <a:ext cx="396000" cy="396000"/>
            </a:xfrm>
            <a:prstGeom prst="rect">
              <a:avLst/>
            </a:prstGeom>
          </p:spPr>
        </p:pic>
      </p:grpSp>
      <p:grpSp>
        <p:nvGrpSpPr>
          <p:cNvPr id="47" name="Group 46">
            <a:extLst>
              <a:ext uri="{FF2B5EF4-FFF2-40B4-BE49-F238E27FC236}">
                <a16:creationId xmlns:a16="http://schemas.microsoft.com/office/drawing/2014/main" id="{181FD94A-129B-89D8-8ADD-64622EEB3C44}"/>
              </a:ext>
            </a:extLst>
          </p:cNvPr>
          <p:cNvGrpSpPr/>
          <p:nvPr/>
        </p:nvGrpSpPr>
        <p:grpSpPr>
          <a:xfrm>
            <a:off x="203635" y="2439322"/>
            <a:ext cx="504000" cy="504000"/>
            <a:chOff x="977950" y="2729564"/>
            <a:chExt cx="504000" cy="504000"/>
          </a:xfrm>
        </p:grpSpPr>
        <p:sp>
          <p:nvSpPr>
            <p:cNvPr id="48" name="Oval 47">
              <a:extLst>
                <a:ext uri="{FF2B5EF4-FFF2-40B4-BE49-F238E27FC236}">
                  <a16:creationId xmlns:a16="http://schemas.microsoft.com/office/drawing/2014/main" id="{5C78332D-F479-A423-5982-E411E5D59E90}"/>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9" name="Graphic 48" descr="Normal Distribution with solid fill">
              <a:extLst>
                <a:ext uri="{FF2B5EF4-FFF2-40B4-BE49-F238E27FC236}">
                  <a16:creationId xmlns:a16="http://schemas.microsoft.com/office/drawing/2014/main" id="{C41BF514-9A2E-3099-821A-A3ACD9D27FD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50" name="Group 49">
            <a:extLst>
              <a:ext uri="{FF2B5EF4-FFF2-40B4-BE49-F238E27FC236}">
                <a16:creationId xmlns:a16="http://schemas.microsoft.com/office/drawing/2014/main" id="{C1EA66B7-136E-B55E-6511-C1542F426538}"/>
              </a:ext>
            </a:extLst>
          </p:cNvPr>
          <p:cNvGrpSpPr/>
          <p:nvPr/>
        </p:nvGrpSpPr>
        <p:grpSpPr>
          <a:xfrm>
            <a:off x="203635" y="3053019"/>
            <a:ext cx="504000" cy="504000"/>
            <a:chOff x="977950" y="2729564"/>
            <a:chExt cx="504000" cy="504000"/>
          </a:xfrm>
        </p:grpSpPr>
        <p:sp>
          <p:nvSpPr>
            <p:cNvPr id="51" name="Oval 50">
              <a:extLst>
                <a:ext uri="{FF2B5EF4-FFF2-40B4-BE49-F238E27FC236}">
                  <a16:creationId xmlns:a16="http://schemas.microsoft.com/office/drawing/2014/main" id="{561C7E88-D92E-E43D-9E94-672B89A84019}"/>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2" name="Graphic 51" descr="Abacus with solid fill">
              <a:extLst>
                <a:ext uri="{FF2B5EF4-FFF2-40B4-BE49-F238E27FC236}">
                  <a16:creationId xmlns:a16="http://schemas.microsoft.com/office/drawing/2014/main" id="{0DF55888-686B-9CA8-3CDD-6D1A8AD8253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53" name="Group 52">
            <a:extLst>
              <a:ext uri="{FF2B5EF4-FFF2-40B4-BE49-F238E27FC236}">
                <a16:creationId xmlns:a16="http://schemas.microsoft.com/office/drawing/2014/main" id="{0D8924B2-07BB-9D93-5F75-B01AF442B401}"/>
              </a:ext>
            </a:extLst>
          </p:cNvPr>
          <p:cNvGrpSpPr/>
          <p:nvPr/>
        </p:nvGrpSpPr>
        <p:grpSpPr>
          <a:xfrm>
            <a:off x="203635" y="3666716"/>
            <a:ext cx="504000" cy="504000"/>
            <a:chOff x="977950" y="2729564"/>
            <a:chExt cx="504000" cy="504000"/>
          </a:xfrm>
        </p:grpSpPr>
        <p:sp>
          <p:nvSpPr>
            <p:cNvPr id="54" name="Oval 53">
              <a:extLst>
                <a:ext uri="{FF2B5EF4-FFF2-40B4-BE49-F238E27FC236}">
                  <a16:creationId xmlns:a16="http://schemas.microsoft.com/office/drawing/2014/main" id="{0CC1C6D2-7543-D8A6-FBCB-A0311CFE8242}"/>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5" name="Graphic 54" descr="Trigonometry with solid fill">
              <a:extLst>
                <a:ext uri="{FF2B5EF4-FFF2-40B4-BE49-F238E27FC236}">
                  <a16:creationId xmlns:a16="http://schemas.microsoft.com/office/drawing/2014/main" id="{2E4D2A12-1CBF-1EC2-EC76-1644F7C59B14}"/>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grpSp>
        <p:nvGrpSpPr>
          <p:cNvPr id="56" name="Group 55">
            <a:extLst>
              <a:ext uri="{FF2B5EF4-FFF2-40B4-BE49-F238E27FC236}">
                <a16:creationId xmlns:a16="http://schemas.microsoft.com/office/drawing/2014/main" id="{A0BDF179-5C89-FB39-63FD-67B8342020D1}"/>
              </a:ext>
            </a:extLst>
          </p:cNvPr>
          <p:cNvGrpSpPr/>
          <p:nvPr/>
        </p:nvGrpSpPr>
        <p:grpSpPr>
          <a:xfrm>
            <a:off x="203635" y="4280414"/>
            <a:ext cx="504000" cy="504000"/>
            <a:chOff x="977950" y="2729564"/>
            <a:chExt cx="504000" cy="504000"/>
          </a:xfrm>
        </p:grpSpPr>
        <p:sp>
          <p:nvSpPr>
            <p:cNvPr id="57" name="Oval 56">
              <a:extLst>
                <a:ext uri="{FF2B5EF4-FFF2-40B4-BE49-F238E27FC236}">
                  <a16:creationId xmlns:a16="http://schemas.microsoft.com/office/drawing/2014/main" id="{6452A6E2-4FB4-019A-2E9C-36AC84C26379}"/>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8" name="Graphic 57" descr="Scatterplot with solid fill">
              <a:extLst>
                <a:ext uri="{FF2B5EF4-FFF2-40B4-BE49-F238E27FC236}">
                  <a16:creationId xmlns:a16="http://schemas.microsoft.com/office/drawing/2014/main" id="{01510AF7-2C5D-FE3B-57EF-4970BFA12DD3}"/>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31950" y="2783564"/>
              <a:ext cx="396000" cy="396000"/>
            </a:xfrm>
            <a:prstGeom prst="rect">
              <a:avLst/>
            </a:prstGeom>
          </p:spPr>
        </p:pic>
      </p:grpSp>
      <p:cxnSp>
        <p:nvCxnSpPr>
          <p:cNvPr id="59" name="Straight Arrow Connector 58">
            <a:extLst>
              <a:ext uri="{FF2B5EF4-FFF2-40B4-BE49-F238E27FC236}">
                <a16:creationId xmlns:a16="http://schemas.microsoft.com/office/drawing/2014/main" id="{492810B0-74F8-848C-8D54-4AD22E582446}"/>
              </a:ext>
            </a:extLst>
          </p:cNvPr>
          <p:cNvCxnSpPr>
            <a:cxnSpLocks/>
            <a:stCxn id="45" idx="4"/>
            <a:endCxn id="48"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0" name="Straight Arrow Connector 59">
            <a:extLst>
              <a:ext uri="{FF2B5EF4-FFF2-40B4-BE49-F238E27FC236}">
                <a16:creationId xmlns:a16="http://schemas.microsoft.com/office/drawing/2014/main" id="{9068A560-12DE-5D8B-F105-6D4BD71B2F6D}"/>
              </a:ext>
            </a:extLst>
          </p:cNvPr>
          <p:cNvCxnSpPr>
            <a:cxnSpLocks/>
            <a:stCxn id="48" idx="4"/>
            <a:endCxn id="51"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14EF9D17-C3AE-0BC6-8339-3B6B078C43F1}"/>
              </a:ext>
            </a:extLst>
          </p:cNvPr>
          <p:cNvCxnSpPr>
            <a:cxnSpLocks/>
            <a:stCxn id="51" idx="4"/>
            <a:endCxn id="54"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F3119D26-1522-F2B7-D8A6-C58CD78AF7C7}"/>
              </a:ext>
            </a:extLst>
          </p:cNvPr>
          <p:cNvCxnSpPr>
            <a:cxnSpLocks/>
            <a:stCxn id="54" idx="4"/>
            <a:endCxn id="57"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08413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5" grpId="0"/>
      <p:bldP spid="36" grpId="0"/>
      <p:bldP spid="37" grpId="0" animBg="1"/>
      <p:bldP spid="39" grpId="0" animBg="1"/>
      <p:bldP spid="41" grpId="0" animBg="1"/>
      <p:bldP spid="4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CF4B6-7329-D600-B92C-5086E7608913}"/>
              </a:ext>
            </a:extLst>
          </p:cNvPr>
          <p:cNvSpPr>
            <a:spLocks noGrp="1"/>
          </p:cNvSpPr>
          <p:nvPr>
            <p:ph type="title"/>
          </p:nvPr>
        </p:nvSpPr>
        <p:spPr/>
        <p:txBody>
          <a:bodyPr/>
          <a:lstStyle/>
          <a:p>
            <a:r>
              <a:rPr lang="en-SE" dirty="0"/>
              <a:t>Bayesian Updating Engine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162823-C5C5-6F95-6B83-144A74E93BD7}"/>
                  </a:ext>
                </a:extLst>
              </p:cNvPr>
              <p:cNvSpPr>
                <a:spLocks noGrp="1"/>
              </p:cNvSpPr>
              <p:nvPr>
                <p:ph idx="1"/>
              </p:nvPr>
            </p:nvSpPr>
            <p:spPr>
              <a:xfrm>
                <a:off x="838200" y="1825625"/>
                <a:ext cx="10515600" cy="955675"/>
              </a:xfrm>
            </p:spPr>
            <p:txBody>
              <a:bodyPr/>
              <a:lstStyle/>
              <a:p>
                <a:pPr marL="0" indent="0">
                  <a:buNone/>
                </a:pPr>
                <a:r>
                  <a:rPr lang="en-SE" dirty="0"/>
                  <a:t>The computational challenge with this process is estimating the </a:t>
                </a:r>
                <a:r>
                  <a:rPr lang="en-US" b="1" dirty="0">
                    <a:solidFill>
                      <a:schemeClr val="accent6">
                        <a:lumMod val="50000"/>
                      </a:schemeClr>
                    </a:solidFill>
                  </a:rPr>
                  <a:t>Marginal likelihood</a:t>
                </a:r>
                <a:r>
                  <a:rPr lang="en-SE" b="1" dirty="0">
                    <a:solidFill>
                      <a:schemeClr val="accent6">
                        <a:lumMod val="50000"/>
                      </a:schemeClr>
                    </a:solidFill>
                  </a:rPr>
                  <a:t> </a:t>
                </a:r>
                <a14:m>
                  <m:oMath xmlns:m="http://schemas.openxmlformats.org/officeDocument/2006/math">
                    <m:r>
                      <a:rPr lang="en-SE" b="1" i="1" smtClean="0">
                        <a:solidFill>
                          <a:schemeClr val="accent6">
                            <a:lumMod val="50000"/>
                          </a:schemeClr>
                        </a:solidFill>
                        <a:latin typeface="Cambria Math" panose="02040503050406030204" pitchFamily="18" charset="0"/>
                      </a:rPr>
                      <m:t>𝑷</m:t>
                    </m:r>
                    <m:r>
                      <a:rPr lang="en-SE" b="1" i="1" smtClean="0">
                        <a:solidFill>
                          <a:schemeClr val="accent6">
                            <a:lumMod val="50000"/>
                          </a:schemeClr>
                        </a:solidFill>
                        <a:latin typeface="Cambria Math" panose="02040503050406030204" pitchFamily="18" charset="0"/>
                      </a:rPr>
                      <m:t>(</m:t>
                    </m:r>
                    <m:r>
                      <a:rPr lang="en-SE" b="1" i="1" smtClean="0">
                        <a:solidFill>
                          <a:schemeClr val="accent6">
                            <a:lumMod val="50000"/>
                          </a:schemeClr>
                        </a:solidFill>
                        <a:latin typeface="Cambria Math" panose="02040503050406030204" pitchFamily="18" charset="0"/>
                      </a:rPr>
                      <m:t>𝒅</m:t>
                    </m:r>
                    <m:r>
                      <a:rPr lang="en-SE" b="1" i="1" smtClean="0">
                        <a:solidFill>
                          <a:schemeClr val="accent6">
                            <a:lumMod val="50000"/>
                          </a:schemeClr>
                        </a:solidFill>
                        <a:latin typeface="Cambria Math" panose="02040503050406030204" pitchFamily="18" charset="0"/>
                      </a:rPr>
                      <m:t>)</m:t>
                    </m:r>
                  </m:oMath>
                </a14:m>
                <a:r>
                  <a:rPr lang="en-SE" b="1" dirty="0">
                    <a:solidFill>
                      <a:schemeClr val="accent6">
                        <a:lumMod val="50000"/>
                      </a:schemeClr>
                    </a:solidFill>
                  </a:rPr>
                  <a:t>.</a:t>
                </a:r>
              </a:p>
            </p:txBody>
          </p:sp>
        </mc:Choice>
        <mc:Fallback xmlns="">
          <p:sp>
            <p:nvSpPr>
              <p:cNvPr id="3" name="Content Placeholder 2">
                <a:extLst>
                  <a:ext uri="{FF2B5EF4-FFF2-40B4-BE49-F238E27FC236}">
                    <a16:creationId xmlns:a16="http://schemas.microsoft.com/office/drawing/2014/main" id="{BE162823-C5C5-6F95-6B83-144A74E93BD7}"/>
                  </a:ext>
                </a:extLst>
              </p:cNvPr>
              <p:cNvSpPr>
                <a:spLocks noGrp="1" noRot="1" noChangeAspect="1" noMove="1" noResize="1" noEditPoints="1" noAdjustHandles="1" noChangeArrowheads="1" noChangeShapeType="1" noTextEdit="1"/>
              </p:cNvSpPr>
              <p:nvPr>
                <p:ph idx="1"/>
              </p:nvPr>
            </p:nvSpPr>
            <p:spPr>
              <a:xfrm>
                <a:off x="838200" y="1825625"/>
                <a:ext cx="10515600" cy="955675"/>
              </a:xfrm>
              <a:blipFill>
                <a:blip r:embed="rId2"/>
                <a:stretch>
                  <a:fillRect l="-1217" t="-10828" b="-7643"/>
                </a:stretch>
              </a:blipFill>
            </p:spPr>
            <p:txBody>
              <a:bodyPr/>
              <a:lstStyle/>
              <a:p>
                <a:r>
                  <a:rPr lang="en-SE">
                    <a:noFill/>
                  </a:rPr>
                  <a:t> </a:t>
                </a:r>
              </a:p>
            </p:txBody>
          </p:sp>
        </mc:Fallback>
      </mc:AlternateContent>
      <p:sp>
        <p:nvSpPr>
          <p:cNvPr id="4" name="Date Placeholder 3">
            <a:extLst>
              <a:ext uri="{FF2B5EF4-FFF2-40B4-BE49-F238E27FC236}">
                <a16:creationId xmlns:a16="http://schemas.microsoft.com/office/drawing/2014/main" id="{134528B8-259F-EE10-C758-62D834483D72}"/>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0AE34EF1-1992-641A-0218-3AA79F6A252A}"/>
              </a:ext>
            </a:extLst>
          </p:cNvPr>
          <p:cNvSpPr>
            <a:spLocks noGrp="1"/>
          </p:cNvSpPr>
          <p:nvPr>
            <p:ph type="sldNum" sz="quarter" idx="12"/>
          </p:nvPr>
        </p:nvSpPr>
        <p:spPr/>
        <p:txBody>
          <a:bodyPr/>
          <a:lstStyle/>
          <a:p>
            <a:fld id="{271ECC92-9CDE-4EB3-B1C5-F46B9E1FA3C1}" type="slidenum">
              <a:rPr lang="en-SE" smtClean="0"/>
              <a:t>54</a:t>
            </a:fld>
            <a:endParaRPr lang="en-SE"/>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7CA517-A29C-B252-8A12-BEF6ED6AF9F7}"/>
                  </a:ext>
                </a:extLst>
              </p:cNvPr>
              <p:cNvSpPr txBox="1"/>
              <p:nvPr/>
            </p:nvSpPr>
            <p:spPr>
              <a:xfrm>
                <a:off x="838200" y="3720716"/>
                <a:ext cx="10515600" cy="1815882"/>
              </a:xfrm>
              <a:prstGeom prst="rect">
                <a:avLst/>
              </a:prstGeom>
              <a:noFill/>
            </p:spPr>
            <p:txBody>
              <a:bodyPr wrap="square">
                <a:spAutoFit/>
              </a:bodyPr>
              <a:lstStyle/>
              <a:p>
                <a:r>
                  <a:rPr lang="en-SE" sz="2800" dirty="0"/>
                  <a:t>When not dividing the product </a:t>
                </a:r>
                <a14:m>
                  <m:oMath xmlns:m="http://schemas.openxmlformats.org/officeDocument/2006/math">
                    <m:r>
                      <a:rPr lang="en-US" sz="2800" i="1">
                        <a:solidFill>
                          <a:schemeClr val="accent1">
                            <a:lumMod val="50000"/>
                          </a:schemeClr>
                        </a:solidFill>
                        <a:latin typeface="Cambria Math" panose="02040503050406030204" pitchFamily="18" charset="0"/>
                      </a:rPr>
                      <m:t>𝑃</m:t>
                    </m:r>
                    <m:d>
                      <m:dPr>
                        <m:ctrlPr>
                          <a:rPr lang="en-US" sz="2800" i="1">
                            <a:solidFill>
                              <a:schemeClr val="accent1">
                                <a:lumMod val="50000"/>
                              </a:schemeClr>
                            </a:solidFill>
                            <a:latin typeface="Cambria Math" panose="02040503050406030204" pitchFamily="18" charset="0"/>
                          </a:rPr>
                        </m:ctrlPr>
                      </m:dPr>
                      <m:e>
                        <m:r>
                          <a:rPr lang="en-US" sz="2800" i="1">
                            <a:solidFill>
                              <a:schemeClr val="accent1">
                                <a:lumMod val="50000"/>
                              </a:schemeClr>
                            </a:solidFill>
                            <a:latin typeface="Cambria Math" panose="02040503050406030204" pitchFamily="18" charset="0"/>
                          </a:rPr>
                          <m:t>𝑑</m:t>
                        </m:r>
                      </m:e>
                      <m:e>
                        <m:r>
                          <a:rPr lang="en-US" sz="2800" i="1">
                            <a:solidFill>
                              <a:schemeClr val="accent1">
                                <a:lumMod val="50000"/>
                              </a:schemeClr>
                            </a:solidFill>
                            <a:latin typeface="Cambria Math" panose="02040503050406030204" pitchFamily="18" charset="0"/>
                          </a:rPr>
                          <m:t>h</m:t>
                        </m:r>
                      </m:e>
                    </m:d>
                    <m:r>
                      <a:rPr lang="en-US" sz="2800" i="1">
                        <a:latin typeface="Cambria Math" panose="02040503050406030204" pitchFamily="18" charset="0"/>
                      </a:rPr>
                      <m:t>⋅</m:t>
                    </m:r>
                    <m:r>
                      <a:rPr lang="en-US" sz="2800" i="1">
                        <a:solidFill>
                          <a:schemeClr val="accent2">
                            <a:lumMod val="50000"/>
                          </a:schemeClr>
                        </a:solidFill>
                        <a:latin typeface="Cambria Math" panose="02040503050406030204" pitchFamily="18" charset="0"/>
                      </a:rPr>
                      <m:t>𝑃</m:t>
                    </m:r>
                    <m:r>
                      <a:rPr lang="en-US" sz="2800" i="1">
                        <a:solidFill>
                          <a:schemeClr val="accent2">
                            <a:lumMod val="50000"/>
                          </a:schemeClr>
                        </a:solidFill>
                        <a:latin typeface="Cambria Math" panose="02040503050406030204" pitchFamily="18" charset="0"/>
                      </a:rPr>
                      <m:t>(</m:t>
                    </m:r>
                    <m:r>
                      <a:rPr lang="en-US" sz="2800" i="1">
                        <a:solidFill>
                          <a:schemeClr val="accent2">
                            <a:lumMod val="50000"/>
                          </a:schemeClr>
                        </a:solidFill>
                        <a:latin typeface="Cambria Math" panose="02040503050406030204" pitchFamily="18" charset="0"/>
                      </a:rPr>
                      <m:t>h</m:t>
                    </m:r>
                    <m:r>
                      <a:rPr lang="en-US" sz="2800" i="1">
                        <a:solidFill>
                          <a:schemeClr val="accent2">
                            <a:lumMod val="50000"/>
                          </a:schemeClr>
                        </a:solidFill>
                        <a:latin typeface="Cambria Math" panose="02040503050406030204" pitchFamily="18" charset="0"/>
                      </a:rPr>
                      <m:t>)</m:t>
                    </m:r>
                  </m:oMath>
                </a14:m>
                <a:r>
                  <a:rPr lang="en-SE" sz="2800" dirty="0"/>
                  <a:t> by the marginal likelihood </a:t>
                </a:r>
                <a14:m>
                  <m:oMath xmlns:m="http://schemas.openxmlformats.org/officeDocument/2006/math">
                    <m:r>
                      <a:rPr lang="en-US" sz="2800" i="1">
                        <a:solidFill>
                          <a:schemeClr val="accent6">
                            <a:lumMod val="50000"/>
                          </a:schemeClr>
                        </a:solidFill>
                        <a:latin typeface="Cambria Math" panose="02040503050406030204" pitchFamily="18" charset="0"/>
                      </a:rPr>
                      <m:t>𝑃</m:t>
                    </m:r>
                    <m:r>
                      <a:rPr lang="en-US" sz="2800" i="1">
                        <a:solidFill>
                          <a:schemeClr val="accent6">
                            <a:lumMod val="50000"/>
                          </a:schemeClr>
                        </a:solidFill>
                        <a:latin typeface="Cambria Math" panose="02040503050406030204" pitchFamily="18" charset="0"/>
                      </a:rPr>
                      <m:t>(</m:t>
                    </m:r>
                    <m:r>
                      <a:rPr lang="en-US" sz="2800" i="1">
                        <a:solidFill>
                          <a:schemeClr val="accent6">
                            <a:lumMod val="50000"/>
                          </a:schemeClr>
                        </a:solidFill>
                        <a:latin typeface="Cambria Math" panose="02040503050406030204" pitchFamily="18" charset="0"/>
                      </a:rPr>
                      <m:t>𝑑</m:t>
                    </m:r>
                    <m:r>
                      <a:rPr lang="en-US" sz="2800" i="1">
                        <a:solidFill>
                          <a:schemeClr val="accent6">
                            <a:lumMod val="50000"/>
                          </a:schemeClr>
                        </a:solidFill>
                        <a:latin typeface="Cambria Math" panose="02040503050406030204" pitchFamily="18" charset="0"/>
                      </a:rPr>
                      <m:t>)</m:t>
                    </m:r>
                  </m:oMath>
                </a14:m>
                <a:r>
                  <a:rPr lang="en-SE" sz="2800" dirty="0"/>
                  <a:t>, it </a:t>
                </a:r>
                <a:r>
                  <a:rPr lang="en-SE" sz="2800" b="1" dirty="0"/>
                  <a:t>will still be proportional </a:t>
                </a:r>
                <a:r>
                  <a:rPr lang="en-SE" sz="2800" dirty="0"/>
                  <a:t>(</a:t>
                </a:r>
                <a14:m>
                  <m:oMath xmlns:m="http://schemas.openxmlformats.org/officeDocument/2006/math">
                    <m:r>
                      <a:rPr lang="en-US" sz="2800" i="1">
                        <a:latin typeface="Cambria Math" panose="02040503050406030204" pitchFamily="18" charset="0"/>
                        <a:ea typeface="Cambria Math" panose="02040503050406030204" pitchFamily="18" charset="0"/>
                      </a:rPr>
                      <m:t>∝ </m:t>
                    </m:r>
                  </m:oMath>
                </a14:m>
                <a:r>
                  <a:rPr lang="en-SE" sz="2800" dirty="0"/>
                  <a:t>) but not be a probability distribution bounded within </a:t>
                </a:r>
                <a14:m>
                  <m:oMath xmlns:m="http://schemas.openxmlformats.org/officeDocument/2006/math">
                    <m:r>
                      <a:rPr lang="en-SE" sz="2800" b="0" i="1" smtClean="0">
                        <a:latin typeface="Cambria Math" panose="02040503050406030204" pitchFamily="18" charset="0"/>
                      </a:rPr>
                      <m:t>[0, 1]</m:t>
                    </m:r>
                  </m:oMath>
                </a14:m>
                <a:r>
                  <a:rPr lang="en-SE" sz="2800" dirty="0"/>
                  <a:t> and we cannot update it further after one round.</a:t>
                </a:r>
              </a:p>
            </p:txBody>
          </p:sp>
        </mc:Choice>
        <mc:Fallback xmlns="">
          <p:sp>
            <p:nvSpPr>
              <p:cNvPr id="11" name="TextBox 10">
                <a:extLst>
                  <a:ext uri="{FF2B5EF4-FFF2-40B4-BE49-F238E27FC236}">
                    <a16:creationId xmlns:a16="http://schemas.microsoft.com/office/drawing/2014/main" id="{627CA517-A29C-B252-8A12-BEF6ED6AF9F7}"/>
                  </a:ext>
                </a:extLst>
              </p:cNvPr>
              <p:cNvSpPr txBox="1">
                <a:spLocks noRot="1" noChangeAspect="1" noMove="1" noResize="1" noEditPoints="1" noAdjustHandles="1" noChangeArrowheads="1" noChangeShapeType="1" noTextEdit="1"/>
              </p:cNvSpPr>
              <p:nvPr/>
            </p:nvSpPr>
            <p:spPr>
              <a:xfrm>
                <a:off x="838200" y="3720716"/>
                <a:ext cx="10515600" cy="1815882"/>
              </a:xfrm>
              <a:prstGeom prst="rect">
                <a:avLst/>
              </a:prstGeom>
              <a:blipFill>
                <a:blip r:embed="rId3"/>
                <a:stretch>
                  <a:fillRect l="-1217" t="-3356" r="-1043" b="-8389"/>
                </a:stretch>
              </a:blipFill>
            </p:spPr>
            <p:txBody>
              <a:bodyPr/>
              <a:lstStyle/>
              <a:p>
                <a:r>
                  <a:rPr lang="en-SE">
                    <a:noFill/>
                  </a:rPr>
                  <a:t> </a:t>
                </a:r>
              </a:p>
            </p:txBody>
          </p:sp>
        </mc:Fallback>
      </mc:AlternateContent>
      <p:sp>
        <p:nvSpPr>
          <p:cNvPr id="6" name="Footer Placeholder 5">
            <a:extLst>
              <a:ext uri="{FF2B5EF4-FFF2-40B4-BE49-F238E27FC236}">
                <a16:creationId xmlns:a16="http://schemas.microsoft.com/office/drawing/2014/main" id="{29AE4ED0-66CC-A412-C413-99D53BE50EFE}"/>
              </a:ext>
            </a:extLst>
          </p:cNvPr>
          <p:cNvSpPr>
            <a:spLocks noGrp="1"/>
          </p:cNvSpPr>
          <p:nvPr>
            <p:ph type="ftr" sz="quarter" idx="11"/>
          </p:nvPr>
        </p:nvSpPr>
        <p:spPr/>
        <p:txBody>
          <a:bodyPr/>
          <a:lstStyle/>
          <a:p>
            <a:r>
              <a:rPr lang="de-DE"/>
              <a:t>Bayesian Data Analysis Tutorial</a:t>
            </a:r>
            <a:endParaRPr lang="en-SE"/>
          </a:p>
        </p:txBody>
      </p:sp>
      <p:grpSp>
        <p:nvGrpSpPr>
          <p:cNvPr id="29" name="Group 28">
            <a:extLst>
              <a:ext uri="{FF2B5EF4-FFF2-40B4-BE49-F238E27FC236}">
                <a16:creationId xmlns:a16="http://schemas.microsoft.com/office/drawing/2014/main" id="{4BA697F5-0D10-3DAE-BF7D-63473DE1B965}"/>
              </a:ext>
            </a:extLst>
          </p:cNvPr>
          <p:cNvGrpSpPr/>
          <p:nvPr/>
        </p:nvGrpSpPr>
        <p:grpSpPr>
          <a:xfrm>
            <a:off x="203635" y="1825625"/>
            <a:ext cx="504000" cy="504000"/>
            <a:chOff x="977950" y="2729564"/>
            <a:chExt cx="504000" cy="504000"/>
          </a:xfrm>
        </p:grpSpPr>
        <p:sp>
          <p:nvSpPr>
            <p:cNvPr id="30" name="Oval 29">
              <a:extLst>
                <a:ext uri="{FF2B5EF4-FFF2-40B4-BE49-F238E27FC236}">
                  <a16:creationId xmlns:a16="http://schemas.microsoft.com/office/drawing/2014/main" id="{19132144-759E-33CF-7D29-64585FBA5609}"/>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1" name="Graphic 30" descr="Golden Ratio with solid fill">
              <a:extLst>
                <a:ext uri="{FF2B5EF4-FFF2-40B4-BE49-F238E27FC236}">
                  <a16:creationId xmlns:a16="http://schemas.microsoft.com/office/drawing/2014/main" id="{B646B9BC-AB46-9F19-3EB5-45687805BB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950" y="2783564"/>
              <a:ext cx="396000" cy="396000"/>
            </a:xfrm>
            <a:prstGeom prst="rect">
              <a:avLst/>
            </a:prstGeom>
          </p:spPr>
        </p:pic>
      </p:grpSp>
      <p:grpSp>
        <p:nvGrpSpPr>
          <p:cNvPr id="32" name="Group 31">
            <a:extLst>
              <a:ext uri="{FF2B5EF4-FFF2-40B4-BE49-F238E27FC236}">
                <a16:creationId xmlns:a16="http://schemas.microsoft.com/office/drawing/2014/main" id="{EFF1FFD0-0AF1-2D9B-D825-5A37BB174816}"/>
              </a:ext>
            </a:extLst>
          </p:cNvPr>
          <p:cNvGrpSpPr/>
          <p:nvPr/>
        </p:nvGrpSpPr>
        <p:grpSpPr>
          <a:xfrm>
            <a:off x="203635" y="2439322"/>
            <a:ext cx="504000" cy="504000"/>
            <a:chOff x="977950" y="2729564"/>
            <a:chExt cx="504000" cy="504000"/>
          </a:xfrm>
        </p:grpSpPr>
        <p:sp>
          <p:nvSpPr>
            <p:cNvPr id="33" name="Oval 32">
              <a:extLst>
                <a:ext uri="{FF2B5EF4-FFF2-40B4-BE49-F238E27FC236}">
                  <a16:creationId xmlns:a16="http://schemas.microsoft.com/office/drawing/2014/main" id="{2BBA6B86-0BD6-A18C-B77D-DA48EAC76E94}"/>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4" name="Graphic 33" descr="Normal Distribution with solid fill">
              <a:extLst>
                <a:ext uri="{FF2B5EF4-FFF2-40B4-BE49-F238E27FC236}">
                  <a16:creationId xmlns:a16="http://schemas.microsoft.com/office/drawing/2014/main" id="{4A16C959-779F-A7A3-C442-60D1DD76D2F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35" name="Group 34">
            <a:extLst>
              <a:ext uri="{FF2B5EF4-FFF2-40B4-BE49-F238E27FC236}">
                <a16:creationId xmlns:a16="http://schemas.microsoft.com/office/drawing/2014/main" id="{D9481805-B466-7AA6-34A3-81F1466CBE63}"/>
              </a:ext>
            </a:extLst>
          </p:cNvPr>
          <p:cNvGrpSpPr/>
          <p:nvPr/>
        </p:nvGrpSpPr>
        <p:grpSpPr>
          <a:xfrm>
            <a:off x="203635" y="3053019"/>
            <a:ext cx="504000" cy="504000"/>
            <a:chOff x="977950" y="2729564"/>
            <a:chExt cx="504000" cy="504000"/>
          </a:xfrm>
        </p:grpSpPr>
        <p:sp>
          <p:nvSpPr>
            <p:cNvPr id="36" name="Oval 35">
              <a:extLst>
                <a:ext uri="{FF2B5EF4-FFF2-40B4-BE49-F238E27FC236}">
                  <a16:creationId xmlns:a16="http://schemas.microsoft.com/office/drawing/2014/main" id="{19F81C7D-DC36-B16A-3BFB-632E75246AA8}"/>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7" name="Graphic 36" descr="Abacus with solid fill">
              <a:extLst>
                <a:ext uri="{FF2B5EF4-FFF2-40B4-BE49-F238E27FC236}">
                  <a16:creationId xmlns:a16="http://schemas.microsoft.com/office/drawing/2014/main" id="{A4719612-EE14-43E4-F742-89C5569787F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38" name="Group 37">
            <a:extLst>
              <a:ext uri="{FF2B5EF4-FFF2-40B4-BE49-F238E27FC236}">
                <a16:creationId xmlns:a16="http://schemas.microsoft.com/office/drawing/2014/main" id="{C0B747EA-AD93-581E-D632-64DB96CB47AF}"/>
              </a:ext>
            </a:extLst>
          </p:cNvPr>
          <p:cNvGrpSpPr/>
          <p:nvPr/>
        </p:nvGrpSpPr>
        <p:grpSpPr>
          <a:xfrm>
            <a:off x="203635" y="3666716"/>
            <a:ext cx="504000" cy="504000"/>
            <a:chOff x="977950" y="2729564"/>
            <a:chExt cx="504000" cy="504000"/>
          </a:xfrm>
        </p:grpSpPr>
        <p:sp>
          <p:nvSpPr>
            <p:cNvPr id="39" name="Oval 38">
              <a:extLst>
                <a:ext uri="{FF2B5EF4-FFF2-40B4-BE49-F238E27FC236}">
                  <a16:creationId xmlns:a16="http://schemas.microsoft.com/office/drawing/2014/main" id="{1C5863E6-E68E-2B23-6283-BEAB6CDBB48A}"/>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0" name="Graphic 39" descr="Trigonometry with solid fill">
              <a:extLst>
                <a:ext uri="{FF2B5EF4-FFF2-40B4-BE49-F238E27FC236}">
                  <a16:creationId xmlns:a16="http://schemas.microsoft.com/office/drawing/2014/main" id="{AB5A6016-FE5A-0054-4D9A-6645F4E6940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grpSp>
        <p:nvGrpSpPr>
          <p:cNvPr id="41" name="Group 40">
            <a:extLst>
              <a:ext uri="{FF2B5EF4-FFF2-40B4-BE49-F238E27FC236}">
                <a16:creationId xmlns:a16="http://schemas.microsoft.com/office/drawing/2014/main" id="{58DE5695-6B05-3691-C87C-9086A7CABAE3}"/>
              </a:ext>
            </a:extLst>
          </p:cNvPr>
          <p:cNvGrpSpPr/>
          <p:nvPr/>
        </p:nvGrpSpPr>
        <p:grpSpPr>
          <a:xfrm>
            <a:off x="203635" y="4280414"/>
            <a:ext cx="504000" cy="504000"/>
            <a:chOff x="977950" y="2729564"/>
            <a:chExt cx="504000" cy="504000"/>
          </a:xfrm>
        </p:grpSpPr>
        <p:sp>
          <p:nvSpPr>
            <p:cNvPr id="42" name="Oval 41">
              <a:extLst>
                <a:ext uri="{FF2B5EF4-FFF2-40B4-BE49-F238E27FC236}">
                  <a16:creationId xmlns:a16="http://schemas.microsoft.com/office/drawing/2014/main" id="{28AEFCE0-3305-2235-0D15-AF29B8ED7831}"/>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3" name="Graphic 42" descr="Scatterplot with solid fill">
              <a:extLst>
                <a:ext uri="{FF2B5EF4-FFF2-40B4-BE49-F238E27FC236}">
                  <a16:creationId xmlns:a16="http://schemas.microsoft.com/office/drawing/2014/main" id="{6417D034-75A7-FFDF-78FD-4E9F362CB692}"/>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31950" y="2783564"/>
              <a:ext cx="396000" cy="396000"/>
            </a:xfrm>
            <a:prstGeom prst="rect">
              <a:avLst/>
            </a:prstGeom>
          </p:spPr>
        </p:pic>
      </p:grpSp>
      <p:cxnSp>
        <p:nvCxnSpPr>
          <p:cNvPr id="44" name="Straight Arrow Connector 43">
            <a:extLst>
              <a:ext uri="{FF2B5EF4-FFF2-40B4-BE49-F238E27FC236}">
                <a16:creationId xmlns:a16="http://schemas.microsoft.com/office/drawing/2014/main" id="{21E9B22D-5914-2A2D-7DEA-2B2457E028B4}"/>
              </a:ext>
            </a:extLst>
          </p:cNvPr>
          <p:cNvCxnSpPr>
            <a:cxnSpLocks/>
            <a:stCxn id="30" idx="4"/>
            <a:endCxn id="33"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58BB3986-4829-03CB-59D1-68B3A21900A3}"/>
              </a:ext>
            </a:extLst>
          </p:cNvPr>
          <p:cNvCxnSpPr>
            <a:cxnSpLocks/>
            <a:stCxn id="33" idx="4"/>
            <a:endCxn id="36"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DD0DAF8E-02E4-C327-2F55-C0A47C750195}"/>
              </a:ext>
            </a:extLst>
          </p:cNvPr>
          <p:cNvCxnSpPr>
            <a:cxnSpLocks/>
            <a:stCxn id="36" idx="4"/>
            <a:endCxn id="39"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6813DB60-2C1E-00B7-1230-45EF16D00417}"/>
              </a:ext>
            </a:extLst>
          </p:cNvPr>
          <p:cNvCxnSpPr>
            <a:cxnSpLocks/>
            <a:stCxn id="39" idx="4"/>
            <a:endCxn id="42"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0AA77AF7-3664-91C0-6143-AC008BE49C89}"/>
                  </a:ext>
                </a:extLst>
              </p:cNvPr>
              <p:cNvSpPr txBox="1">
                <a:spLocks/>
              </p:cNvSpPr>
              <p:nvPr/>
            </p:nvSpPr>
            <p:spPr>
              <a:xfrm>
                <a:off x="3963426" y="2753744"/>
                <a:ext cx="4265143" cy="994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noProof="0" smtClean="0">
                          <a:solidFill>
                            <a:schemeClr val="bg2">
                              <a:lumMod val="50000"/>
                            </a:schemeClr>
                          </a:solidFill>
                          <a:latin typeface="Cambria Math" panose="02040503050406030204" pitchFamily="18" charset="0"/>
                        </a:rPr>
                        <m:t>𝑃</m:t>
                      </m:r>
                      <m:d>
                        <m:dPr>
                          <m:ctrlPr>
                            <a:rPr lang="en-US" b="0" i="1" noProof="0" smtClean="0">
                              <a:solidFill>
                                <a:schemeClr val="bg2">
                                  <a:lumMod val="50000"/>
                                </a:schemeClr>
                              </a:solidFill>
                              <a:latin typeface="Cambria Math" panose="02040503050406030204" pitchFamily="18" charset="0"/>
                            </a:rPr>
                          </m:ctrlPr>
                        </m:dPr>
                        <m:e>
                          <m:r>
                            <a:rPr lang="en-US" b="0" i="1" noProof="0" smtClean="0">
                              <a:solidFill>
                                <a:schemeClr val="bg2">
                                  <a:lumMod val="50000"/>
                                </a:schemeClr>
                              </a:solidFill>
                              <a:latin typeface="Cambria Math" panose="02040503050406030204" pitchFamily="18" charset="0"/>
                            </a:rPr>
                            <m:t>h</m:t>
                          </m:r>
                        </m:e>
                        <m:e>
                          <m:r>
                            <a:rPr lang="en-US" b="0" i="1" noProof="0" smtClean="0">
                              <a:solidFill>
                                <a:schemeClr val="bg2">
                                  <a:lumMod val="50000"/>
                                </a:schemeClr>
                              </a:solidFill>
                              <a:latin typeface="Cambria Math" panose="02040503050406030204" pitchFamily="18" charset="0"/>
                            </a:rPr>
                            <m:t>𝑑</m:t>
                          </m:r>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solidFill>
                                <a:schemeClr val="accent1">
                                  <a:lumMod val="50000"/>
                                </a:schemeClr>
                              </a:solidFill>
                              <a:latin typeface="Cambria Math" panose="02040503050406030204" pitchFamily="18" charset="0"/>
                            </a:rPr>
                            <m:t>𝑃</m:t>
                          </m:r>
                          <m:d>
                            <m:dPr>
                              <m:ctrlPr>
                                <a:rPr lang="en-US" b="0" i="1" noProof="0" smtClean="0">
                                  <a:solidFill>
                                    <a:schemeClr val="accent1">
                                      <a:lumMod val="50000"/>
                                    </a:schemeClr>
                                  </a:solidFill>
                                  <a:latin typeface="Cambria Math" panose="02040503050406030204" pitchFamily="18" charset="0"/>
                                </a:rPr>
                              </m:ctrlPr>
                            </m:dPr>
                            <m:e>
                              <m:r>
                                <a:rPr lang="en-US" b="0" i="1" noProof="0" smtClean="0">
                                  <a:solidFill>
                                    <a:schemeClr val="accent1">
                                      <a:lumMod val="50000"/>
                                    </a:schemeClr>
                                  </a:solidFill>
                                  <a:latin typeface="Cambria Math" panose="02040503050406030204" pitchFamily="18" charset="0"/>
                                </a:rPr>
                                <m:t>𝑑</m:t>
                              </m:r>
                            </m:e>
                            <m:e>
                              <m:r>
                                <a:rPr lang="en-US" b="0" i="1" noProof="0" smtClean="0">
                                  <a:solidFill>
                                    <a:schemeClr val="accent1">
                                      <a:lumMod val="50000"/>
                                    </a:schemeClr>
                                  </a:solidFill>
                                  <a:latin typeface="Cambria Math" panose="02040503050406030204" pitchFamily="18" charset="0"/>
                                </a:rPr>
                                <m:t>h</m:t>
                              </m:r>
                            </m:e>
                          </m:d>
                          <m:r>
                            <a:rPr lang="en-US" b="0" i="1" noProof="0" smtClean="0">
                              <a:latin typeface="Cambria Math" panose="02040503050406030204" pitchFamily="18" charset="0"/>
                            </a:rPr>
                            <m:t>⋅</m:t>
                          </m:r>
                          <m:r>
                            <a:rPr lang="en-US" b="0" i="1" noProof="0" smtClean="0">
                              <a:solidFill>
                                <a:schemeClr val="accent2">
                                  <a:lumMod val="50000"/>
                                </a:schemeClr>
                              </a:solidFill>
                              <a:latin typeface="Cambria Math" panose="02040503050406030204" pitchFamily="18" charset="0"/>
                            </a:rPr>
                            <m:t>𝑃</m:t>
                          </m:r>
                          <m:r>
                            <a:rPr lang="en-US" b="0" i="1" noProof="0" smtClean="0">
                              <a:solidFill>
                                <a:schemeClr val="accent2">
                                  <a:lumMod val="50000"/>
                                </a:schemeClr>
                              </a:solidFill>
                              <a:latin typeface="Cambria Math" panose="02040503050406030204" pitchFamily="18" charset="0"/>
                            </a:rPr>
                            <m:t>(</m:t>
                          </m:r>
                          <m:r>
                            <a:rPr lang="en-US" b="0" i="1" noProof="0" smtClean="0">
                              <a:solidFill>
                                <a:schemeClr val="accent2">
                                  <a:lumMod val="50000"/>
                                </a:schemeClr>
                              </a:solidFill>
                              <a:latin typeface="Cambria Math" panose="02040503050406030204" pitchFamily="18" charset="0"/>
                            </a:rPr>
                            <m:t>h</m:t>
                          </m:r>
                          <m:r>
                            <a:rPr lang="en-US" b="0" i="1" noProof="0" smtClean="0">
                              <a:solidFill>
                                <a:schemeClr val="accent2">
                                  <a:lumMod val="50000"/>
                                </a:schemeClr>
                              </a:solidFill>
                              <a:latin typeface="Cambria Math" panose="02040503050406030204" pitchFamily="18" charset="0"/>
                            </a:rPr>
                            <m:t>)</m:t>
                          </m:r>
                        </m:num>
                        <m:den>
                          <m:r>
                            <a:rPr lang="en-US" b="0" i="1" noProof="0" smtClean="0">
                              <a:solidFill>
                                <a:schemeClr val="accent6">
                                  <a:lumMod val="50000"/>
                                </a:schemeClr>
                              </a:solidFill>
                              <a:latin typeface="Cambria Math" panose="02040503050406030204" pitchFamily="18" charset="0"/>
                            </a:rPr>
                            <m:t>𝑃</m:t>
                          </m:r>
                          <m:r>
                            <a:rPr lang="en-US" b="0" i="1" noProof="0" smtClean="0">
                              <a:solidFill>
                                <a:schemeClr val="accent6">
                                  <a:lumMod val="50000"/>
                                </a:schemeClr>
                              </a:solidFill>
                              <a:latin typeface="Cambria Math" panose="02040503050406030204" pitchFamily="18" charset="0"/>
                            </a:rPr>
                            <m:t>(</m:t>
                          </m:r>
                          <m:r>
                            <a:rPr lang="en-US" b="0" i="1" noProof="0" smtClean="0">
                              <a:solidFill>
                                <a:schemeClr val="accent6">
                                  <a:lumMod val="50000"/>
                                </a:schemeClr>
                              </a:solidFill>
                              <a:latin typeface="Cambria Math" panose="02040503050406030204" pitchFamily="18" charset="0"/>
                            </a:rPr>
                            <m:t>𝑑</m:t>
                          </m:r>
                          <m:r>
                            <a:rPr lang="en-US" b="0" i="1" noProof="0" smtClean="0">
                              <a:solidFill>
                                <a:schemeClr val="accent6">
                                  <a:lumMod val="50000"/>
                                </a:schemeClr>
                              </a:solidFill>
                              <a:latin typeface="Cambria Math" panose="02040503050406030204" pitchFamily="18" charset="0"/>
                            </a:rPr>
                            <m:t>)</m:t>
                          </m:r>
                        </m:den>
                      </m:f>
                    </m:oMath>
                  </m:oMathPara>
                </a14:m>
                <a:endParaRPr lang="en-US" noProof="0" dirty="0"/>
              </a:p>
            </p:txBody>
          </p:sp>
        </mc:Choice>
        <mc:Fallback xmlns="">
          <p:sp>
            <p:nvSpPr>
              <p:cNvPr id="51" name="Content Placeholder 2">
                <a:extLst>
                  <a:ext uri="{FF2B5EF4-FFF2-40B4-BE49-F238E27FC236}">
                    <a16:creationId xmlns:a16="http://schemas.microsoft.com/office/drawing/2014/main" id="{0AA77AF7-3664-91C0-6143-AC008BE49C89}"/>
                  </a:ext>
                </a:extLst>
              </p:cNvPr>
              <p:cNvSpPr txBox="1">
                <a:spLocks noRot="1" noChangeAspect="1" noMove="1" noResize="1" noEditPoints="1" noAdjustHandles="1" noChangeArrowheads="1" noChangeShapeType="1" noTextEdit="1"/>
              </p:cNvSpPr>
              <p:nvPr/>
            </p:nvSpPr>
            <p:spPr>
              <a:xfrm>
                <a:off x="3963426" y="2753744"/>
                <a:ext cx="4265143" cy="994097"/>
              </a:xfrm>
              <a:prstGeom prst="rect">
                <a:avLst/>
              </a:prstGeom>
              <a:blipFill>
                <a:blip r:embed="rId9"/>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3" name="Content Placeholder 2">
                <a:extLst>
                  <a:ext uri="{FF2B5EF4-FFF2-40B4-BE49-F238E27FC236}">
                    <a16:creationId xmlns:a16="http://schemas.microsoft.com/office/drawing/2014/main" id="{5FCC1C25-147A-C96C-0FFF-2C33E29EB7EF}"/>
                  </a:ext>
                </a:extLst>
              </p:cNvPr>
              <p:cNvSpPr txBox="1">
                <a:spLocks/>
              </p:cNvSpPr>
              <p:nvPr/>
            </p:nvSpPr>
            <p:spPr>
              <a:xfrm>
                <a:off x="3963425" y="5668500"/>
                <a:ext cx="4265143" cy="5559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r>
                        <a:rPr lang="en-US" b="0" i="1" noProof="0" smtClean="0">
                          <a:solidFill>
                            <a:schemeClr val="bg2">
                              <a:lumMod val="50000"/>
                            </a:schemeClr>
                          </a:solidFill>
                          <a:latin typeface="Cambria Math" panose="02040503050406030204" pitchFamily="18" charset="0"/>
                        </a:rPr>
                        <m:t>𝑃</m:t>
                      </m:r>
                      <m:d>
                        <m:dPr>
                          <m:ctrlPr>
                            <a:rPr lang="en-US" b="0" i="1" noProof="0" smtClean="0">
                              <a:solidFill>
                                <a:schemeClr val="bg2">
                                  <a:lumMod val="50000"/>
                                </a:schemeClr>
                              </a:solidFill>
                              <a:latin typeface="Cambria Math" panose="02040503050406030204" pitchFamily="18" charset="0"/>
                            </a:rPr>
                          </m:ctrlPr>
                        </m:dPr>
                        <m:e>
                          <m:r>
                            <a:rPr lang="en-US" b="0" i="1" noProof="0" smtClean="0">
                              <a:solidFill>
                                <a:schemeClr val="bg2">
                                  <a:lumMod val="50000"/>
                                </a:schemeClr>
                              </a:solidFill>
                              <a:latin typeface="Cambria Math" panose="02040503050406030204" pitchFamily="18" charset="0"/>
                            </a:rPr>
                            <m:t>h</m:t>
                          </m:r>
                        </m:e>
                        <m:e>
                          <m:r>
                            <a:rPr lang="en-US" b="0" i="1" noProof="0" smtClean="0">
                              <a:solidFill>
                                <a:schemeClr val="bg2">
                                  <a:lumMod val="50000"/>
                                </a:schemeClr>
                              </a:solidFill>
                              <a:latin typeface="Cambria Math" panose="02040503050406030204" pitchFamily="18" charset="0"/>
                            </a:rPr>
                            <m:t>𝑑</m:t>
                          </m:r>
                        </m:e>
                      </m:d>
                      <m:r>
                        <a:rPr lang="en-US" b="0" i="1" noProof="0" smtClean="0">
                          <a:latin typeface="Cambria Math" panose="02040503050406030204" pitchFamily="18" charset="0"/>
                          <a:ea typeface="Cambria Math" panose="02040503050406030204" pitchFamily="18" charset="0"/>
                        </a:rPr>
                        <m:t>∝</m:t>
                      </m:r>
                      <m:r>
                        <a:rPr lang="en-US" i="1">
                          <a:solidFill>
                            <a:schemeClr val="accent1">
                              <a:lumMod val="50000"/>
                            </a:schemeClr>
                          </a:solidFill>
                          <a:latin typeface="Cambria Math" panose="02040503050406030204" pitchFamily="18" charset="0"/>
                        </a:rPr>
                        <m:t>𝑃</m:t>
                      </m:r>
                      <m:d>
                        <m:dPr>
                          <m:ctrlPr>
                            <a:rPr lang="en-US" i="1">
                              <a:solidFill>
                                <a:schemeClr val="accent1">
                                  <a:lumMod val="50000"/>
                                </a:schemeClr>
                              </a:solidFill>
                              <a:latin typeface="Cambria Math" panose="02040503050406030204" pitchFamily="18" charset="0"/>
                            </a:rPr>
                          </m:ctrlPr>
                        </m:dPr>
                        <m:e>
                          <m:r>
                            <a:rPr lang="en-US" i="1">
                              <a:solidFill>
                                <a:schemeClr val="accent1">
                                  <a:lumMod val="50000"/>
                                </a:schemeClr>
                              </a:solidFill>
                              <a:latin typeface="Cambria Math" panose="02040503050406030204" pitchFamily="18" charset="0"/>
                            </a:rPr>
                            <m:t>𝑑</m:t>
                          </m:r>
                        </m:e>
                        <m:e>
                          <m:r>
                            <a:rPr lang="en-US" i="1">
                              <a:solidFill>
                                <a:schemeClr val="accent1">
                                  <a:lumMod val="50000"/>
                                </a:schemeClr>
                              </a:solidFill>
                              <a:latin typeface="Cambria Math" panose="02040503050406030204" pitchFamily="18" charset="0"/>
                            </a:rPr>
                            <m:t>h</m:t>
                          </m:r>
                        </m:e>
                      </m:d>
                      <m:r>
                        <a:rPr lang="en-US" i="1">
                          <a:latin typeface="Cambria Math" panose="02040503050406030204" pitchFamily="18" charset="0"/>
                        </a:rPr>
                        <m:t>⋅</m:t>
                      </m:r>
                      <m:r>
                        <a:rPr lang="en-US" i="1">
                          <a:solidFill>
                            <a:schemeClr val="accent2">
                              <a:lumMod val="50000"/>
                            </a:schemeClr>
                          </a:solidFill>
                          <a:latin typeface="Cambria Math" panose="02040503050406030204" pitchFamily="18" charset="0"/>
                        </a:rPr>
                        <m:t>𝑃</m:t>
                      </m:r>
                      <m:r>
                        <a:rPr lang="en-US" i="1">
                          <a:solidFill>
                            <a:schemeClr val="accent2">
                              <a:lumMod val="50000"/>
                            </a:schemeClr>
                          </a:solidFill>
                          <a:latin typeface="Cambria Math" panose="02040503050406030204" pitchFamily="18" charset="0"/>
                        </a:rPr>
                        <m:t>(</m:t>
                      </m:r>
                      <m:r>
                        <a:rPr lang="en-US" i="1">
                          <a:solidFill>
                            <a:schemeClr val="accent2">
                              <a:lumMod val="50000"/>
                            </a:schemeClr>
                          </a:solidFill>
                          <a:latin typeface="Cambria Math" panose="02040503050406030204" pitchFamily="18" charset="0"/>
                        </a:rPr>
                        <m:t>h</m:t>
                      </m:r>
                      <m:r>
                        <a:rPr lang="en-US" i="1">
                          <a:solidFill>
                            <a:schemeClr val="accent2">
                              <a:lumMod val="50000"/>
                            </a:schemeClr>
                          </a:solidFill>
                          <a:latin typeface="Cambria Math" panose="02040503050406030204" pitchFamily="18" charset="0"/>
                        </a:rPr>
                        <m:t>)</m:t>
                      </m:r>
                    </m:oMath>
                  </m:oMathPara>
                </a14:m>
                <a:endParaRPr lang="en-US" noProof="0" dirty="0"/>
              </a:p>
            </p:txBody>
          </p:sp>
        </mc:Choice>
        <mc:Fallback xmlns="">
          <p:sp>
            <p:nvSpPr>
              <p:cNvPr id="53" name="Content Placeholder 2">
                <a:extLst>
                  <a:ext uri="{FF2B5EF4-FFF2-40B4-BE49-F238E27FC236}">
                    <a16:creationId xmlns:a16="http://schemas.microsoft.com/office/drawing/2014/main" id="{5FCC1C25-147A-C96C-0FFF-2C33E29EB7EF}"/>
                  </a:ext>
                </a:extLst>
              </p:cNvPr>
              <p:cNvSpPr txBox="1">
                <a:spLocks noRot="1" noChangeAspect="1" noMove="1" noResize="1" noEditPoints="1" noAdjustHandles="1" noChangeArrowheads="1" noChangeShapeType="1" noTextEdit="1"/>
              </p:cNvSpPr>
              <p:nvPr/>
            </p:nvSpPr>
            <p:spPr>
              <a:xfrm>
                <a:off x="3963425" y="5668500"/>
                <a:ext cx="4265143" cy="555947"/>
              </a:xfrm>
              <a:prstGeom prst="rect">
                <a:avLst/>
              </a:prstGeom>
              <a:blipFill>
                <a:blip r:embed="rId10"/>
                <a:stretch>
                  <a:fillRect t="-1099" b="-4396"/>
                </a:stretch>
              </a:blipFill>
            </p:spPr>
            <p:txBody>
              <a:bodyPr/>
              <a:lstStyle/>
              <a:p>
                <a:r>
                  <a:rPr lang="en-SE">
                    <a:noFill/>
                  </a:rPr>
                  <a:t> </a:t>
                </a:r>
              </a:p>
            </p:txBody>
          </p:sp>
        </mc:Fallback>
      </mc:AlternateContent>
    </p:spTree>
    <p:extLst>
      <p:ext uri="{BB962C8B-B14F-4D97-AF65-F5344CB8AC3E}">
        <p14:creationId xmlns:p14="http://schemas.microsoft.com/office/powerpoint/2010/main" val="96121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0955D-DC81-F185-BB66-B8E350393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E7F41-430A-6099-80C5-298B929CD7DB}"/>
              </a:ext>
            </a:extLst>
          </p:cNvPr>
          <p:cNvSpPr>
            <a:spLocks noGrp="1"/>
          </p:cNvSpPr>
          <p:nvPr>
            <p:ph type="title"/>
          </p:nvPr>
        </p:nvSpPr>
        <p:spPr/>
        <p:txBody>
          <a:bodyPr/>
          <a:lstStyle/>
          <a:p>
            <a:r>
              <a:rPr lang="en-SE" dirty="0"/>
              <a:t>Bayesian Updating Engine</a:t>
            </a:r>
          </a:p>
        </p:txBody>
      </p:sp>
      <p:sp>
        <p:nvSpPr>
          <p:cNvPr id="4" name="Date Placeholder 3">
            <a:extLst>
              <a:ext uri="{FF2B5EF4-FFF2-40B4-BE49-F238E27FC236}">
                <a16:creationId xmlns:a16="http://schemas.microsoft.com/office/drawing/2014/main" id="{12C8BD62-48A0-3177-8478-318863D714C3}"/>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30D0E8D1-1138-41E2-C746-A99378ADCD5E}"/>
              </a:ext>
            </a:extLst>
          </p:cNvPr>
          <p:cNvSpPr>
            <a:spLocks noGrp="1"/>
          </p:cNvSpPr>
          <p:nvPr>
            <p:ph type="sldNum" sz="quarter" idx="12"/>
          </p:nvPr>
        </p:nvSpPr>
        <p:spPr/>
        <p:txBody>
          <a:bodyPr/>
          <a:lstStyle/>
          <a:p>
            <a:fld id="{271ECC92-9CDE-4EB3-B1C5-F46B9E1FA3C1}" type="slidenum">
              <a:rPr lang="en-SE" smtClean="0"/>
              <a:t>55</a:t>
            </a:fld>
            <a:endParaRPr lang="en-SE"/>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A646E71-9A3C-8BB8-9CFF-414D601BC87F}"/>
                  </a:ext>
                </a:extLst>
              </p:cNvPr>
              <p:cNvSpPr txBox="1"/>
              <p:nvPr/>
            </p:nvSpPr>
            <p:spPr>
              <a:xfrm>
                <a:off x="2330450" y="3143496"/>
                <a:ext cx="7531100" cy="523220"/>
              </a:xfrm>
              <a:prstGeom prst="rect">
                <a:avLst/>
              </a:prstGeom>
              <a:noFill/>
            </p:spPr>
            <p:txBody>
              <a:bodyPr wrap="square">
                <a:spAutoFit/>
              </a:bodyPr>
              <a:lstStyle/>
              <a:p>
                <a:pPr marL="0" indent="0" algn="ctr">
                  <a:buNone/>
                </a:pPr>
                <a14:m>
                  <m:oMathPara xmlns:m="http://schemas.openxmlformats.org/officeDocument/2006/math">
                    <m:oMathParaPr>
                      <m:jc m:val="centerGroup"/>
                    </m:oMathParaPr>
                    <m:oMath xmlns:m="http://schemas.openxmlformats.org/officeDocument/2006/math">
                      <m:r>
                        <a:rPr lang="en-SE" sz="2800" b="0" i="1" smtClean="0">
                          <a:latin typeface="Cambria Math" panose="02040503050406030204" pitchFamily="18" charset="0"/>
                        </a:rPr>
                        <m:t>𝑃</m:t>
                      </m:r>
                      <m:d>
                        <m:dPr>
                          <m:ctrlPr>
                            <a:rPr lang="en-SE" sz="2800" b="0" i="1" smtClean="0">
                              <a:latin typeface="Cambria Math" panose="02040503050406030204" pitchFamily="18" charset="0"/>
                            </a:rPr>
                          </m:ctrlPr>
                        </m:dPr>
                        <m:e>
                          <m:r>
                            <a:rPr lang="en-SE" sz="2800" b="0" i="1" smtClean="0">
                              <a:latin typeface="Cambria Math" panose="02040503050406030204" pitchFamily="18" charset="0"/>
                            </a:rPr>
                            <m:t>𝑑</m:t>
                          </m:r>
                        </m:e>
                      </m:d>
                      <m:r>
                        <a:rPr lang="en-SE" sz="2800" b="0" i="1" smtClean="0">
                          <a:latin typeface="Cambria Math" panose="02040503050406030204" pitchFamily="18" charset="0"/>
                        </a:rPr>
                        <m:t>= </m:t>
                      </m:r>
                      <m:r>
                        <a:rPr lang="en-US" sz="2800" i="1">
                          <a:latin typeface="Cambria Math" panose="02040503050406030204" pitchFamily="18" charset="0"/>
                        </a:rPr>
                        <m:t>𝑃</m:t>
                      </m:r>
                      <m:d>
                        <m:dPr>
                          <m:ctrlPr>
                            <a:rPr lang="en-US" sz="2800" i="1">
                              <a:latin typeface="Cambria Math" panose="02040503050406030204" pitchFamily="18" charset="0"/>
                            </a:rPr>
                          </m:ctrlPr>
                        </m:dPr>
                        <m:e>
                          <m:r>
                            <a:rPr lang="en-US" sz="2800" i="1">
                              <a:latin typeface="Cambria Math" panose="02040503050406030204" pitchFamily="18" charset="0"/>
                            </a:rPr>
                            <m:t>𝑑</m:t>
                          </m:r>
                        </m:e>
                        <m:e>
                          <m:sSub>
                            <m:sSubPr>
                              <m:ctrlPr>
                                <a:rPr lang="en-SE" sz="2800" b="0" i="1" smtClean="0">
                                  <a:latin typeface="Cambria Math" panose="02040503050406030204" pitchFamily="18" charset="0"/>
                                </a:rPr>
                              </m:ctrlPr>
                            </m:sSubPr>
                            <m:e>
                              <m:r>
                                <a:rPr lang="en-US" sz="2800" i="1">
                                  <a:latin typeface="Cambria Math" panose="02040503050406030204" pitchFamily="18" charset="0"/>
                                </a:rPr>
                                <m:t>h</m:t>
                              </m:r>
                            </m:e>
                            <m:sub>
                              <m:r>
                                <a:rPr lang="en-SE" sz="2800" b="0" i="1" smtClean="0">
                                  <a:latin typeface="Cambria Math" panose="02040503050406030204" pitchFamily="18" charset="0"/>
                                </a:rPr>
                                <m:t>0</m:t>
                              </m:r>
                            </m:sub>
                          </m:sSub>
                        </m:e>
                      </m:d>
                      <m:r>
                        <a:rPr lang="en-US" sz="2800" i="1">
                          <a:latin typeface="Cambria Math" panose="02040503050406030204" pitchFamily="18" charset="0"/>
                        </a:rPr>
                        <m:t>⋅</m:t>
                      </m:r>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SE" sz="2800" b="0" i="1" smtClean="0">
                                  <a:latin typeface="Cambria Math" panose="02040503050406030204" pitchFamily="18" charset="0"/>
                                </a:rPr>
                              </m:ctrlPr>
                            </m:sSubPr>
                            <m:e>
                              <m:r>
                                <a:rPr lang="en-US" sz="2800" i="1">
                                  <a:latin typeface="Cambria Math" panose="02040503050406030204" pitchFamily="18" charset="0"/>
                                </a:rPr>
                                <m:t>h</m:t>
                              </m:r>
                            </m:e>
                            <m:sub>
                              <m:r>
                                <a:rPr lang="en-SE" sz="2800" b="0" i="1" smtClean="0">
                                  <a:latin typeface="Cambria Math" panose="02040503050406030204" pitchFamily="18" charset="0"/>
                                </a:rPr>
                                <m:t>0</m:t>
                              </m:r>
                            </m:sub>
                          </m:sSub>
                        </m:e>
                      </m:d>
                      <m:r>
                        <a:rPr lang="en-US" sz="2800" i="1">
                          <a:latin typeface="Cambria Math" panose="02040503050406030204" pitchFamily="18" charset="0"/>
                        </a:rPr>
                        <m:t>+</m:t>
                      </m:r>
                      <m:r>
                        <a:rPr lang="en-US" sz="2800" i="1">
                          <a:latin typeface="Cambria Math" panose="02040503050406030204" pitchFamily="18" charset="0"/>
                        </a:rPr>
                        <m:t>𝑃</m:t>
                      </m:r>
                      <m:d>
                        <m:dPr>
                          <m:ctrlPr>
                            <a:rPr lang="en-US" sz="2800" i="1">
                              <a:latin typeface="Cambria Math" panose="02040503050406030204" pitchFamily="18" charset="0"/>
                            </a:rPr>
                          </m:ctrlPr>
                        </m:dPr>
                        <m:e>
                          <m:r>
                            <a:rPr lang="en-US" sz="2800" i="1">
                              <a:latin typeface="Cambria Math" panose="02040503050406030204" pitchFamily="18" charset="0"/>
                            </a:rPr>
                            <m:t>𝑑</m:t>
                          </m:r>
                        </m:e>
                        <m:e>
                          <m:sSub>
                            <m:sSubPr>
                              <m:ctrlPr>
                                <a:rPr lang="en-SE" sz="2800" b="0" i="1" smtClean="0">
                                  <a:latin typeface="Cambria Math" panose="02040503050406030204" pitchFamily="18" charset="0"/>
                                </a:rPr>
                              </m:ctrlPr>
                            </m:sSubPr>
                            <m:e>
                              <m:r>
                                <a:rPr lang="en-US" sz="2800" i="1">
                                  <a:latin typeface="Cambria Math" panose="02040503050406030204" pitchFamily="18" charset="0"/>
                                </a:rPr>
                                <m:t>h</m:t>
                              </m:r>
                            </m:e>
                            <m:sub>
                              <m:r>
                                <a:rPr lang="en-SE" sz="2800" b="0" i="1" smtClean="0">
                                  <a:latin typeface="Cambria Math" panose="02040503050406030204" pitchFamily="18" charset="0"/>
                                </a:rPr>
                                <m:t>1</m:t>
                              </m:r>
                            </m:sub>
                          </m:sSub>
                        </m:e>
                      </m:d>
                      <m:r>
                        <a:rPr lang="en-US" sz="2800" i="1">
                          <a:latin typeface="Cambria Math" panose="02040503050406030204" pitchFamily="18" charset="0"/>
                        </a:rPr>
                        <m:t>⋅</m:t>
                      </m:r>
                      <m:r>
                        <a:rPr lang="en-US" sz="2800" i="1">
                          <a:latin typeface="Cambria Math" panose="02040503050406030204" pitchFamily="18" charset="0"/>
                        </a:rPr>
                        <m:t>𝑃</m:t>
                      </m:r>
                      <m:r>
                        <a:rPr lang="en-US" sz="2800" i="1">
                          <a:latin typeface="Cambria Math" panose="02040503050406030204" pitchFamily="18" charset="0"/>
                        </a:rPr>
                        <m:t>(</m:t>
                      </m:r>
                      <m:sSub>
                        <m:sSubPr>
                          <m:ctrlPr>
                            <a:rPr lang="en-SE" sz="2800" b="0" i="1" smtClean="0">
                              <a:latin typeface="Cambria Math" panose="02040503050406030204" pitchFamily="18" charset="0"/>
                            </a:rPr>
                          </m:ctrlPr>
                        </m:sSubPr>
                        <m:e>
                          <m:r>
                            <a:rPr lang="en-US" sz="2800" i="1">
                              <a:latin typeface="Cambria Math" panose="02040503050406030204" pitchFamily="18" charset="0"/>
                            </a:rPr>
                            <m:t>h</m:t>
                          </m:r>
                        </m:e>
                        <m:sub>
                          <m:r>
                            <a:rPr lang="en-SE" sz="2800" b="0" i="1" smtClean="0">
                              <a:latin typeface="Cambria Math" panose="02040503050406030204" pitchFamily="18" charset="0"/>
                            </a:rPr>
                            <m:t>1</m:t>
                          </m:r>
                        </m:sub>
                      </m:sSub>
                      <m:r>
                        <a:rPr lang="en-US" sz="2800" i="1">
                          <a:latin typeface="Cambria Math" panose="02040503050406030204" pitchFamily="18" charset="0"/>
                        </a:rPr>
                        <m:t>)</m:t>
                      </m:r>
                    </m:oMath>
                  </m:oMathPara>
                </a14:m>
                <a:endParaRPr lang="en-US" sz="2800" dirty="0"/>
              </a:p>
            </p:txBody>
          </p:sp>
        </mc:Choice>
        <mc:Fallback xmlns="">
          <p:sp>
            <p:nvSpPr>
              <p:cNvPr id="7" name="TextBox 6">
                <a:extLst>
                  <a:ext uri="{FF2B5EF4-FFF2-40B4-BE49-F238E27FC236}">
                    <a16:creationId xmlns:a16="http://schemas.microsoft.com/office/drawing/2014/main" id="{0A646E71-9A3C-8BB8-9CFF-414D601BC87F}"/>
                  </a:ext>
                </a:extLst>
              </p:cNvPr>
              <p:cNvSpPr txBox="1">
                <a:spLocks noRot="1" noChangeAspect="1" noMove="1" noResize="1" noEditPoints="1" noAdjustHandles="1" noChangeArrowheads="1" noChangeShapeType="1" noTextEdit="1"/>
              </p:cNvSpPr>
              <p:nvPr/>
            </p:nvSpPr>
            <p:spPr>
              <a:xfrm>
                <a:off x="2330450" y="3143496"/>
                <a:ext cx="7531100" cy="523220"/>
              </a:xfrm>
              <a:prstGeom prst="rect">
                <a:avLst/>
              </a:prstGeom>
              <a:blipFill>
                <a:blip r:embed="rId2"/>
                <a:stretch>
                  <a:fillRect/>
                </a:stretch>
              </a:blipFill>
            </p:spPr>
            <p:txBody>
              <a:bodyPr/>
              <a:lstStyle/>
              <a:p>
                <a:r>
                  <a:rPr lang="en-SE">
                    <a:noFill/>
                  </a:rPr>
                  <a:t> </a:t>
                </a:r>
              </a:p>
            </p:txBody>
          </p:sp>
        </mc:Fallback>
      </mc:AlternateContent>
      <p:sp>
        <p:nvSpPr>
          <p:cNvPr id="11" name="TextBox 10">
            <a:extLst>
              <a:ext uri="{FF2B5EF4-FFF2-40B4-BE49-F238E27FC236}">
                <a16:creationId xmlns:a16="http://schemas.microsoft.com/office/drawing/2014/main" id="{B8568D73-028F-685E-AE13-5EC36C959062}"/>
              </a:ext>
            </a:extLst>
          </p:cNvPr>
          <p:cNvSpPr txBox="1"/>
          <p:nvPr/>
        </p:nvSpPr>
        <p:spPr>
          <a:xfrm>
            <a:off x="838200" y="3924730"/>
            <a:ext cx="10515600" cy="1384995"/>
          </a:xfrm>
          <a:prstGeom prst="rect">
            <a:avLst/>
          </a:prstGeom>
          <a:noFill/>
        </p:spPr>
        <p:txBody>
          <a:bodyPr wrap="square">
            <a:spAutoFit/>
          </a:bodyPr>
          <a:lstStyle/>
          <a:p>
            <a:pPr marL="0" indent="0">
              <a:buNone/>
            </a:pPr>
            <a:r>
              <a:rPr lang="en-SE" sz="2800" dirty="0"/>
              <a:t>But now our hypotheses are </a:t>
            </a:r>
            <a:r>
              <a:rPr lang="en-SE" sz="2800" b="1" dirty="0"/>
              <a:t>continuous</a:t>
            </a:r>
            <a:r>
              <a:rPr lang="en-SE" sz="2800" dirty="0"/>
              <a:t>, requiring to integrate over a complex parameter space. These integrals often have no closed form.</a:t>
            </a:r>
          </a:p>
        </p:txBody>
      </p:sp>
      <p:sp>
        <p:nvSpPr>
          <p:cNvPr id="6" name="Footer Placeholder 5">
            <a:extLst>
              <a:ext uri="{FF2B5EF4-FFF2-40B4-BE49-F238E27FC236}">
                <a16:creationId xmlns:a16="http://schemas.microsoft.com/office/drawing/2014/main" id="{B1EFDE5D-0C56-FF13-0C48-0BAB6BE658D5}"/>
              </a:ext>
            </a:extLst>
          </p:cNvPr>
          <p:cNvSpPr>
            <a:spLocks noGrp="1"/>
          </p:cNvSpPr>
          <p:nvPr>
            <p:ph type="ftr" sz="quarter" idx="11"/>
          </p:nvPr>
        </p:nvSpPr>
        <p:spPr/>
        <p:txBody>
          <a:bodyPr/>
          <a:lstStyle/>
          <a:p>
            <a:r>
              <a:rPr lang="de-DE"/>
              <a:t>Bayesian Data Analysis Tutorial</a:t>
            </a:r>
            <a:endParaRPr lang="en-SE"/>
          </a:p>
        </p:txBody>
      </p:sp>
      <p:grpSp>
        <p:nvGrpSpPr>
          <p:cNvPr id="29" name="Group 28">
            <a:extLst>
              <a:ext uri="{FF2B5EF4-FFF2-40B4-BE49-F238E27FC236}">
                <a16:creationId xmlns:a16="http://schemas.microsoft.com/office/drawing/2014/main" id="{316FE2A4-9F6E-BE15-AA28-DEC0D821108E}"/>
              </a:ext>
            </a:extLst>
          </p:cNvPr>
          <p:cNvGrpSpPr/>
          <p:nvPr/>
        </p:nvGrpSpPr>
        <p:grpSpPr>
          <a:xfrm>
            <a:off x="203635" y="1825625"/>
            <a:ext cx="504000" cy="504000"/>
            <a:chOff x="977950" y="2729564"/>
            <a:chExt cx="504000" cy="504000"/>
          </a:xfrm>
        </p:grpSpPr>
        <p:sp>
          <p:nvSpPr>
            <p:cNvPr id="30" name="Oval 29">
              <a:extLst>
                <a:ext uri="{FF2B5EF4-FFF2-40B4-BE49-F238E27FC236}">
                  <a16:creationId xmlns:a16="http://schemas.microsoft.com/office/drawing/2014/main" id="{CC5F8FEB-9610-B4AA-B4D3-4DA76E664897}"/>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1" name="Graphic 30" descr="Golden Ratio with solid fill">
              <a:extLst>
                <a:ext uri="{FF2B5EF4-FFF2-40B4-BE49-F238E27FC236}">
                  <a16:creationId xmlns:a16="http://schemas.microsoft.com/office/drawing/2014/main" id="{38694088-7BE3-A9F1-B9E5-C50E272667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32" name="Group 31">
            <a:extLst>
              <a:ext uri="{FF2B5EF4-FFF2-40B4-BE49-F238E27FC236}">
                <a16:creationId xmlns:a16="http://schemas.microsoft.com/office/drawing/2014/main" id="{C34A7239-D40F-B738-E2ED-CE8555A07180}"/>
              </a:ext>
            </a:extLst>
          </p:cNvPr>
          <p:cNvGrpSpPr/>
          <p:nvPr/>
        </p:nvGrpSpPr>
        <p:grpSpPr>
          <a:xfrm>
            <a:off x="203635" y="2439322"/>
            <a:ext cx="504000" cy="504000"/>
            <a:chOff x="977950" y="2729564"/>
            <a:chExt cx="504000" cy="504000"/>
          </a:xfrm>
        </p:grpSpPr>
        <p:sp>
          <p:nvSpPr>
            <p:cNvPr id="33" name="Oval 32">
              <a:extLst>
                <a:ext uri="{FF2B5EF4-FFF2-40B4-BE49-F238E27FC236}">
                  <a16:creationId xmlns:a16="http://schemas.microsoft.com/office/drawing/2014/main" id="{30BE5CF7-0CB4-7A0E-D101-E95DEE39FAAC}"/>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4" name="Graphic 33" descr="Normal Distribution with solid fill">
              <a:extLst>
                <a:ext uri="{FF2B5EF4-FFF2-40B4-BE49-F238E27FC236}">
                  <a16:creationId xmlns:a16="http://schemas.microsoft.com/office/drawing/2014/main" id="{561561F4-B964-56AD-C30A-885A571EB2A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35" name="Group 34">
            <a:extLst>
              <a:ext uri="{FF2B5EF4-FFF2-40B4-BE49-F238E27FC236}">
                <a16:creationId xmlns:a16="http://schemas.microsoft.com/office/drawing/2014/main" id="{A237276F-4D5D-0613-7D80-5761D1ACF937}"/>
              </a:ext>
            </a:extLst>
          </p:cNvPr>
          <p:cNvGrpSpPr/>
          <p:nvPr/>
        </p:nvGrpSpPr>
        <p:grpSpPr>
          <a:xfrm>
            <a:off x="203635" y="3053019"/>
            <a:ext cx="504000" cy="504000"/>
            <a:chOff x="977950" y="2729564"/>
            <a:chExt cx="504000" cy="504000"/>
          </a:xfrm>
        </p:grpSpPr>
        <p:sp>
          <p:nvSpPr>
            <p:cNvPr id="36" name="Oval 35">
              <a:extLst>
                <a:ext uri="{FF2B5EF4-FFF2-40B4-BE49-F238E27FC236}">
                  <a16:creationId xmlns:a16="http://schemas.microsoft.com/office/drawing/2014/main" id="{7214D530-F861-350B-88E1-114E163C6098}"/>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7" name="Graphic 36" descr="Abacus with solid fill">
              <a:extLst>
                <a:ext uri="{FF2B5EF4-FFF2-40B4-BE49-F238E27FC236}">
                  <a16:creationId xmlns:a16="http://schemas.microsoft.com/office/drawing/2014/main" id="{35A88F31-4EF9-8AC5-5AAE-B9F4DCB3F2B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38" name="Group 37">
            <a:extLst>
              <a:ext uri="{FF2B5EF4-FFF2-40B4-BE49-F238E27FC236}">
                <a16:creationId xmlns:a16="http://schemas.microsoft.com/office/drawing/2014/main" id="{55D3B64B-A12B-5761-923D-135D0E9C68B1}"/>
              </a:ext>
            </a:extLst>
          </p:cNvPr>
          <p:cNvGrpSpPr/>
          <p:nvPr/>
        </p:nvGrpSpPr>
        <p:grpSpPr>
          <a:xfrm>
            <a:off x="203635" y="3666716"/>
            <a:ext cx="504000" cy="504000"/>
            <a:chOff x="977950" y="2729564"/>
            <a:chExt cx="504000" cy="504000"/>
          </a:xfrm>
        </p:grpSpPr>
        <p:sp>
          <p:nvSpPr>
            <p:cNvPr id="39" name="Oval 38">
              <a:extLst>
                <a:ext uri="{FF2B5EF4-FFF2-40B4-BE49-F238E27FC236}">
                  <a16:creationId xmlns:a16="http://schemas.microsoft.com/office/drawing/2014/main" id="{3B89413A-2650-4E17-DD37-88BE07C1FDF5}"/>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0" name="Graphic 39" descr="Trigonometry with solid fill">
              <a:extLst>
                <a:ext uri="{FF2B5EF4-FFF2-40B4-BE49-F238E27FC236}">
                  <a16:creationId xmlns:a16="http://schemas.microsoft.com/office/drawing/2014/main" id="{F550109C-BB84-6A57-7594-DF698BA3EB2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41" name="Group 40">
            <a:extLst>
              <a:ext uri="{FF2B5EF4-FFF2-40B4-BE49-F238E27FC236}">
                <a16:creationId xmlns:a16="http://schemas.microsoft.com/office/drawing/2014/main" id="{B5803690-0F01-5BA4-757C-DC671794DD33}"/>
              </a:ext>
            </a:extLst>
          </p:cNvPr>
          <p:cNvGrpSpPr/>
          <p:nvPr/>
        </p:nvGrpSpPr>
        <p:grpSpPr>
          <a:xfrm>
            <a:off x="203635" y="4280414"/>
            <a:ext cx="504000" cy="504000"/>
            <a:chOff x="977950" y="2729564"/>
            <a:chExt cx="504000" cy="504000"/>
          </a:xfrm>
        </p:grpSpPr>
        <p:sp>
          <p:nvSpPr>
            <p:cNvPr id="42" name="Oval 41">
              <a:extLst>
                <a:ext uri="{FF2B5EF4-FFF2-40B4-BE49-F238E27FC236}">
                  <a16:creationId xmlns:a16="http://schemas.microsoft.com/office/drawing/2014/main" id="{D84A5E6D-7BE5-ACE3-F61D-262A25D8EF27}"/>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3" name="Graphic 42" descr="Scatterplot with solid fill">
              <a:extLst>
                <a:ext uri="{FF2B5EF4-FFF2-40B4-BE49-F238E27FC236}">
                  <a16:creationId xmlns:a16="http://schemas.microsoft.com/office/drawing/2014/main" id="{6B9E39C2-D462-C1E8-0ADA-B7E7336C5BC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44" name="Straight Arrow Connector 43">
            <a:extLst>
              <a:ext uri="{FF2B5EF4-FFF2-40B4-BE49-F238E27FC236}">
                <a16:creationId xmlns:a16="http://schemas.microsoft.com/office/drawing/2014/main" id="{0E12B3FA-3E49-DF1D-6B38-A94F583B40B5}"/>
              </a:ext>
            </a:extLst>
          </p:cNvPr>
          <p:cNvCxnSpPr>
            <a:cxnSpLocks/>
            <a:stCxn id="30" idx="4"/>
            <a:endCxn id="33"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5BD388F4-ED29-6717-6F0A-608F0045C041}"/>
              </a:ext>
            </a:extLst>
          </p:cNvPr>
          <p:cNvCxnSpPr>
            <a:cxnSpLocks/>
            <a:stCxn id="33" idx="4"/>
            <a:endCxn id="36"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52D9A773-9AB5-6F38-2683-B5C2F940139A}"/>
              </a:ext>
            </a:extLst>
          </p:cNvPr>
          <p:cNvCxnSpPr>
            <a:cxnSpLocks/>
            <a:stCxn id="36" idx="4"/>
            <a:endCxn id="39"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73073284-B8A5-B22E-50C2-3F7B9B7042FE}"/>
              </a:ext>
            </a:extLst>
          </p:cNvPr>
          <p:cNvCxnSpPr>
            <a:cxnSpLocks/>
            <a:stCxn id="39" idx="4"/>
            <a:endCxn id="42"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74658914-0331-5CDC-A265-09D2A18ED870}"/>
                  </a:ext>
                </a:extLst>
              </p:cNvPr>
              <p:cNvSpPr>
                <a:spLocks noGrp="1"/>
              </p:cNvSpPr>
              <p:nvPr>
                <p:ph idx="1"/>
              </p:nvPr>
            </p:nvSpPr>
            <p:spPr>
              <a:xfrm>
                <a:off x="838200" y="1825625"/>
                <a:ext cx="10515600" cy="1049665"/>
              </a:xfrm>
            </p:spPr>
            <p:txBody>
              <a:bodyPr/>
              <a:lstStyle/>
              <a:p>
                <a:pPr marL="0" indent="0">
                  <a:buNone/>
                </a:pPr>
                <a:r>
                  <a:rPr lang="en-SE" dirty="0"/>
                  <a:t>Estimating the </a:t>
                </a:r>
                <a:r>
                  <a:rPr lang="en-SE" dirty="0">
                    <a:solidFill>
                      <a:schemeClr val="accent6">
                        <a:lumMod val="50000"/>
                      </a:schemeClr>
                    </a:solidFill>
                  </a:rPr>
                  <a:t>m</a:t>
                </a:r>
                <a:r>
                  <a:rPr lang="en-US" dirty="0" err="1">
                    <a:solidFill>
                      <a:schemeClr val="accent6">
                        <a:lumMod val="50000"/>
                      </a:schemeClr>
                    </a:solidFill>
                  </a:rPr>
                  <a:t>arginal</a:t>
                </a:r>
                <a:r>
                  <a:rPr lang="en-US" dirty="0">
                    <a:solidFill>
                      <a:schemeClr val="accent6">
                        <a:lumMod val="50000"/>
                      </a:schemeClr>
                    </a:solidFill>
                  </a:rPr>
                  <a:t> likelihood</a:t>
                </a:r>
                <a:r>
                  <a:rPr lang="en-SE" dirty="0">
                    <a:solidFill>
                      <a:schemeClr val="accent6">
                        <a:lumMod val="50000"/>
                      </a:schemeClr>
                    </a:solidFill>
                  </a:rPr>
                  <a:t> </a:t>
                </a:r>
                <a14:m>
                  <m:oMath xmlns:m="http://schemas.openxmlformats.org/officeDocument/2006/math">
                    <m:r>
                      <a:rPr lang="en-SE" i="1">
                        <a:solidFill>
                          <a:schemeClr val="accent6">
                            <a:lumMod val="50000"/>
                          </a:schemeClr>
                        </a:solidFill>
                        <a:latin typeface="Cambria Math" panose="02040503050406030204" pitchFamily="18" charset="0"/>
                      </a:rPr>
                      <m:t>𝑃</m:t>
                    </m:r>
                    <m:r>
                      <a:rPr lang="en-SE" i="1">
                        <a:solidFill>
                          <a:schemeClr val="accent6">
                            <a:lumMod val="50000"/>
                          </a:schemeClr>
                        </a:solidFill>
                        <a:latin typeface="Cambria Math" panose="02040503050406030204" pitchFamily="18" charset="0"/>
                      </a:rPr>
                      <m:t>(</m:t>
                    </m:r>
                    <m:r>
                      <a:rPr lang="en-SE" i="1">
                        <a:solidFill>
                          <a:schemeClr val="accent6">
                            <a:lumMod val="50000"/>
                          </a:schemeClr>
                        </a:solidFill>
                        <a:latin typeface="Cambria Math" panose="02040503050406030204" pitchFamily="18" charset="0"/>
                      </a:rPr>
                      <m:t>𝑑</m:t>
                    </m:r>
                    <m:r>
                      <a:rPr lang="en-SE" i="1">
                        <a:solidFill>
                          <a:schemeClr val="accent6">
                            <a:lumMod val="50000"/>
                          </a:schemeClr>
                        </a:solidFill>
                        <a:latin typeface="Cambria Math" panose="02040503050406030204" pitchFamily="18" charset="0"/>
                      </a:rPr>
                      <m:t>)</m:t>
                    </m:r>
                  </m:oMath>
                </a14:m>
                <a:r>
                  <a:rPr lang="en-SE" b="1" dirty="0">
                    <a:solidFill>
                      <a:schemeClr val="accent6">
                        <a:lumMod val="50000"/>
                      </a:schemeClr>
                    </a:solidFill>
                  </a:rPr>
                  <a:t> </a:t>
                </a:r>
                <a:r>
                  <a:rPr lang="en-SE" dirty="0"/>
                  <a:t>for </a:t>
                </a:r>
                <a:r>
                  <a:rPr lang="en-SE" b="1" dirty="0"/>
                  <a:t>binary</a:t>
                </a:r>
                <a:r>
                  <a:rPr lang="en-SE" dirty="0"/>
                  <a:t> </a:t>
                </a:r>
                <a:r>
                  <a:rPr lang="en-SE" b="1" dirty="0"/>
                  <a:t>hypotheses</a:t>
                </a:r>
                <a:r>
                  <a:rPr lang="en-SE" dirty="0"/>
                  <a:t> </a:t>
                </a:r>
                <a14:m>
                  <m:oMath xmlns:m="http://schemas.openxmlformats.org/officeDocument/2006/math">
                    <m:r>
                      <a:rPr lang="en-SE" i="1">
                        <a:latin typeface="Cambria Math" panose="02040503050406030204" pitchFamily="18" charset="0"/>
                      </a:rPr>
                      <m:t>𝐻</m:t>
                    </m:r>
                    <m:r>
                      <a:rPr lang="en-SE" i="1">
                        <a:latin typeface="Cambria Math" panose="02040503050406030204" pitchFamily="18" charset="0"/>
                      </a:rPr>
                      <m:t>={</m:t>
                    </m:r>
                    <m:sSub>
                      <m:sSubPr>
                        <m:ctrlPr>
                          <a:rPr lang="en-SE" i="1">
                            <a:latin typeface="Cambria Math" panose="02040503050406030204" pitchFamily="18" charset="0"/>
                          </a:rPr>
                        </m:ctrlPr>
                      </m:sSubPr>
                      <m:e>
                        <m:r>
                          <a:rPr lang="en-SE" i="1">
                            <a:latin typeface="Cambria Math" panose="02040503050406030204" pitchFamily="18" charset="0"/>
                          </a:rPr>
                          <m:t>h</m:t>
                        </m:r>
                      </m:e>
                      <m:sub>
                        <m:r>
                          <a:rPr lang="en-SE" i="1">
                            <a:latin typeface="Cambria Math" panose="02040503050406030204" pitchFamily="18" charset="0"/>
                          </a:rPr>
                          <m:t>0</m:t>
                        </m:r>
                      </m:sub>
                    </m:sSub>
                    <m:r>
                      <a:rPr lang="en-SE" i="1">
                        <a:latin typeface="Cambria Math" panose="02040503050406030204" pitchFamily="18" charset="0"/>
                      </a:rPr>
                      <m:t>,</m:t>
                    </m:r>
                    <m:sSub>
                      <m:sSubPr>
                        <m:ctrlPr>
                          <a:rPr lang="en-SE" i="1">
                            <a:latin typeface="Cambria Math" panose="02040503050406030204" pitchFamily="18" charset="0"/>
                          </a:rPr>
                        </m:ctrlPr>
                      </m:sSubPr>
                      <m:e>
                        <m:r>
                          <a:rPr lang="en-SE" i="1">
                            <a:latin typeface="Cambria Math" panose="02040503050406030204" pitchFamily="18" charset="0"/>
                          </a:rPr>
                          <m:t>h</m:t>
                        </m:r>
                      </m:e>
                      <m:sub>
                        <m:r>
                          <a:rPr lang="en-SE" i="1">
                            <a:latin typeface="Cambria Math" panose="02040503050406030204" pitchFamily="18" charset="0"/>
                          </a:rPr>
                          <m:t>1</m:t>
                        </m:r>
                      </m:sub>
                    </m:sSub>
                    <m:r>
                      <a:rPr lang="en-SE" i="1">
                        <a:latin typeface="Cambria Math" panose="02040503050406030204" pitchFamily="18" charset="0"/>
                      </a:rPr>
                      <m:t>}</m:t>
                    </m:r>
                  </m:oMath>
                </a14:m>
                <a:r>
                  <a:rPr lang="en-SE" dirty="0"/>
                  <a:t>, this was simply</a:t>
                </a:r>
              </a:p>
            </p:txBody>
          </p:sp>
        </mc:Choice>
        <mc:Fallback xmlns="">
          <p:sp>
            <p:nvSpPr>
              <p:cNvPr id="10" name="Content Placeholder 9">
                <a:extLst>
                  <a:ext uri="{FF2B5EF4-FFF2-40B4-BE49-F238E27FC236}">
                    <a16:creationId xmlns:a16="http://schemas.microsoft.com/office/drawing/2014/main" id="{74658914-0331-5CDC-A265-09D2A18ED870}"/>
                  </a:ext>
                </a:extLst>
              </p:cNvPr>
              <p:cNvSpPr>
                <a:spLocks noGrp="1" noRot="1" noChangeAspect="1" noMove="1" noResize="1" noEditPoints="1" noAdjustHandles="1" noChangeArrowheads="1" noChangeShapeType="1" noTextEdit="1"/>
              </p:cNvSpPr>
              <p:nvPr>
                <p:ph idx="1"/>
              </p:nvPr>
            </p:nvSpPr>
            <p:spPr>
              <a:xfrm>
                <a:off x="838200" y="1825625"/>
                <a:ext cx="10515600" cy="1049665"/>
              </a:xfrm>
              <a:blipFill>
                <a:blip r:embed="rId8"/>
                <a:stretch>
                  <a:fillRect l="-1217" t="-9827"/>
                </a:stretch>
              </a:blipFill>
            </p:spPr>
            <p:txBody>
              <a:bodyPr/>
              <a:lstStyle/>
              <a:p>
                <a:r>
                  <a:rPr lang="en-SE">
                    <a:noFill/>
                  </a:rPr>
                  <a:t> </a:t>
                </a:r>
              </a:p>
            </p:txBody>
          </p:sp>
        </mc:Fallback>
      </mc:AlternateContent>
    </p:spTree>
    <p:extLst>
      <p:ext uri="{BB962C8B-B14F-4D97-AF65-F5344CB8AC3E}">
        <p14:creationId xmlns:p14="http://schemas.microsoft.com/office/powerpoint/2010/main" val="4046400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121A9-3218-824F-674F-E78EAA889A45}"/>
              </a:ext>
            </a:extLst>
          </p:cNvPr>
          <p:cNvSpPr>
            <a:spLocks noGrp="1"/>
          </p:cNvSpPr>
          <p:nvPr>
            <p:ph type="title"/>
          </p:nvPr>
        </p:nvSpPr>
        <p:spPr/>
        <p:txBody>
          <a:bodyPr/>
          <a:lstStyle/>
          <a:p>
            <a:r>
              <a:rPr lang="en-SE" dirty="0"/>
              <a:t>Markov chain Monte Carlo Sampling</a:t>
            </a:r>
          </a:p>
        </p:txBody>
      </p:sp>
      <p:sp>
        <p:nvSpPr>
          <p:cNvPr id="3" name="Content Placeholder 2">
            <a:extLst>
              <a:ext uri="{FF2B5EF4-FFF2-40B4-BE49-F238E27FC236}">
                <a16:creationId xmlns:a16="http://schemas.microsoft.com/office/drawing/2014/main" id="{C78C0655-8A80-8994-3ADB-7B53D99B1C9A}"/>
              </a:ext>
            </a:extLst>
          </p:cNvPr>
          <p:cNvSpPr>
            <a:spLocks noGrp="1"/>
          </p:cNvSpPr>
          <p:nvPr>
            <p:ph idx="1"/>
          </p:nvPr>
        </p:nvSpPr>
        <p:spPr/>
        <p:txBody>
          <a:bodyPr/>
          <a:lstStyle/>
          <a:p>
            <a:pPr marL="0" indent="0">
              <a:buNone/>
            </a:pPr>
            <a:r>
              <a:rPr lang="en-SE" dirty="0"/>
              <a:t>We can sidestep computing the posterior directly by </a:t>
            </a:r>
            <a:r>
              <a:rPr lang="en-SE" b="1" dirty="0"/>
              <a:t>drawing samples from the posterior</a:t>
            </a:r>
            <a:r>
              <a:rPr lang="en-SE" dirty="0"/>
              <a:t> without knowing its normalizing constant. Sampling proportionally to the </a:t>
            </a:r>
            <a:r>
              <a:rPr lang="en-SE" i="1" dirty="0"/>
              <a:t>relative</a:t>
            </a:r>
            <a:r>
              <a:rPr lang="en-SE" b="1" i="1" dirty="0"/>
              <a:t> </a:t>
            </a:r>
            <a:r>
              <a:rPr lang="en-SE" dirty="0"/>
              <a:t>posterior density approximates the true posterior.</a:t>
            </a:r>
          </a:p>
          <a:p>
            <a:pPr marL="0" indent="0">
              <a:buNone/>
            </a:pPr>
            <a:r>
              <a:rPr lang="en-SE" dirty="0"/>
              <a:t>This can be realized via Markov chain algorithms, e.g., Markov chain Monte Carlo sampling.   </a:t>
            </a:r>
          </a:p>
        </p:txBody>
      </p:sp>
      <p:sp>
        <p:nvSpPr>
          <p:cNvPr id="4" name="Date Placeholder 3">
            <a:extLst>
              <a:ext uri="{FF2B5EF4-FFF2-40B4-BE49-F238E27FC236}">
                <a16:creationId xmlns:a16="http://schemas.microsoft.com/office/drawing/2014/main" id="{F47D521F-E4D7-2A76-6B8F-11EF77219690}"/>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BA1D5C2B-D600-D254-2F3D-21E8E8CF6EF3}"/>
              </a:ext>
            </a:extLst>
          </p:cNvPr>
          <p:cNvSpPr>
            <a:spLocks noGrp="1"/>
          </p:cNvSpPr>
          <p:nvPr>
            <p:ph type="sldNum" sz="quarter" idx="12"/>
          </p:nvPr>
        </p:nvSpPr>
        <p:spPr/>
        <p:txBody>
          <a:bodyPr/>
          <a:lstStyle/>
          <a:p>
            <a:fld id="{271ECC92-9CDE-4EB3-B1C5-F46B9E1FA3C1}" type="slidenum">
              <a:rPr lang="en-SE" smtClean="0"/>
              <a:t>56</a:t>
            </a:fld>
            <a:endParaRPr lang="en-SE"/>
          </a:p>
        </p:txBody>
      </p:sp>
      <p:sp>
        <p:nvSpPr>
          <p:cNvPr id="6" name="Footer Placeholder 5">
            <a:extLst>
              <a:ext uri="{FF2B5EF4-FFF2-40B4-BE49-F238E27FC236}">
                <a16:creationId xmlns:a16="http://schemas.microsoft.com/office/drawing/2014/main" id="{C2482682-54CC-DBFC-40BE-B13F545337F2}"/>
              </a:ext>
            </a:extLst>
          </p:cNvPr>
          <p:cNvSpPr>
            <a:spLocks noGrp="1"/>
          </p:cNvSpPr>
          <p:nvPr>
            <p:ph type="ftr" sz="quarter" idx="11"/>
          </p:nvPr>
        </p:nvSpPr>
        <p:spPr/>
        <p:txBody>
          <a:bodyPr/>
          <a:lstStyle/>
          <a:p>
            <a:r>
              <a:rPr lang="de-DE"/>
              <a:t>Bayesian Data Analysis Tutorial</a:t>
            </a:r>
            <a:endParaRPr lang="en-SE"/>
          </a:p>
        </p:txBody>
      </p:sp>
      <p:grpSp>
        <p:nvGrpSpPr>
          <p:cNvPr id="26" name="Group 25">
            <a:extLst>
              <a:ext uri="{FF2B5EF4-FFF2-40B4-BE49-F238E27FC236}">
                <a16:creationId xmlns:a16="http://schemas.microsoft.com/office/drawing/2014/main" id="{8AFE046A-84EB-C137-D94A-37BFEFC2E4B0}"/>
              </a:ext>
            </a:extLst>
          </p:cNvPr>
          <p:cNvGrpSpPr/>
          <p:nvPr/>
        </p:nvGrpSpPr>
        <p:grpSpPr>
          <a:xfrm>
            <a:off x="203635" y="1825625"/>
            <a:ext cx="504000" cy="504000"/>
            <a:chOff x="977950" y="2729564"/>
            <a:chExt cx="504000" cy="504000"/>
          </a:xfrm>
        </p:grpSpPr>
        <p:sp>
          <p:nvSpPr>
            <p:cNvPr id="27" name="Oval 26">
              <a:extLst>
                <a:ext uri="{FF2B5EF4-FFF2-40B4-BE49-F238E27FC236}">
                  <a16:creationId xmlns:a16="http://schemas.microsoft.com/office/drawing/2014/main" id="{7DBB9FC5-D7B4-61FB-D7AC-018EA3EEB6F1}"/>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8" name="Graphic 27" descr="Golden Ratio with solid fill">
              <a:extLst>
                <a:ext uri="{FF2B5EF4-FFF2-40B4-BE49-F238E27FC236}">
                  <a16:creationId xmlns:a16="http://schemas.microsoft.com/office/drawing/2014/main" id="{63481112-F25B-EBDF-4A95-C11CAB4A5F5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950" y="2783564"/>
              <a:ext cx="396000" cy="396000"/>
            </a:xfrm>
            <a:prstGeom prst="rect">
              <a:avLst/>
            </a:prstGeom>
          </p:spPr>
        </p:pic>
      </p:grpSp>
      <p:grpSp>
        <p:nvGrpSpPr>
          <p:cNvPr id="29" name="Group 28">
            <a:extLst>
              <a:ext uri="{FF2B5EF4-FFF2-40B4-BE49-F238E27FC236}">
                <a16:creationId xmlns:a16="http://schemas.microsoft.com/office/drawing/2014/main" id="{BFD462D1-A8C9-C46D-349D-85A13207F817}"/>
              </a:ext>
            </a:extLst>
          </p:cNvPr>
          <p:cNvGrpSpPr/>
          <p:nvPr/>
        </p:nvGrpSpPr>
        <p:grpSpPr>
          <a:xfrm>
            <a:off x="203635" y="2439322"/>
            <a:ext cx="504000" cy="504000"/>
            <a:chOff x="977950" y="2729564"/>
            <a:chExt cx="504000" cy="504000"/>
          </a:xfrm>
        </p:grpSpPr>
        <p:sp>
          <p:nvSpPr>
            <p:cNvPr id="30" name="Oval 29">
              <a:extLst>
                <a:ext uri="{FF2B5EF4-FFF2-40B4-BE49-F238E27FC236}">
                  <a16:creationId xmlns:a16="http://schemas.microsoft.com/office/drawing/2014/main" id="{87C79C9C-CE33-A514-8F33-35C82BC9B07E}"/>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1" name="Graphic 30" descr="Normal Distribution with solid fill">
              <a:extLst>
                <a:ext uri="{FF2B5EF4-FFF2-40B4-BE49-F238E27FC236}">
                  <a16:creationId xmlns:a16="http://schemas.microsoft.com/office/drawing/2014/main" id="{C1E72237-6C91-52E8-6044-E310FD43A9F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grpSp>
        <p:nvGrpSpPr>
          <p:cNvPr id="32" name="Group 31">
            <a:extLst>
              <a:ext uri="{FF2B5EF4-FFF2-40B4-BE49-F238E27FC236}">
                <a16:creationId xmlns:a16="http://schemas.microsoft.com/office/drawing/2014/main" id="{1922E623-B892-CC8C-F6D4-9F47DAE4B6FD}"/>
              </a:ext>
            </a:extLst>
          </p:cNvPr>
          <p:cNvGrpSpPr/>
          <p:nvPr/>
        </p:nvGrpSpPr>
        <p:grpSpPr>
          <a:xfrm>
            <a:off x="203635" y="3053019"/>
            <a:ext cx="504000" cy="504000"/>
            <a:chOff x="977950" y="2729564"/>
            <a:chExt cx="504000" cy="504000"/>
          </a:xfrm>
        </p:grpSpPr>
        <p:sp>
          <p:nvSpPr>
            <p:cNvPr id="33" name="Oval 32">
              <a:extLst>
                <a:ext uri="{FF2B5EF4-FFF2-40B4-BE49-F238E27FC236}">
                  <a16:creationId xmlns:a16="http://schemas.microsoft.com/office/drawing/2014/main" id="{AD671DFA-2425-0011-CFA5-11AEDD22DDE7}"/>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4" name="Graphic 33" descr="Abacus with solid fill">
              <a:extLst>
                <a:ext uri="{FF2B5EF4-FFF2-40B4-BE49-F238E27FC236}">
                  <a16:creationId xmlns:a16="http://schemas.microsoft.com/office/drawing/2014/main" id="{9E7D86C8-6EF9-5F95-DC9F-55196D86B1A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35" name="Group 34">
            <a:extLst>
              <a:ext uri="{FF2B5EF4-FFF2-40B4-BE49-F238E27FC236}">
                <a16:creationId xmlns:a16="http://schemas.microsoft.com/office/drawing/2014/main" id="{C7599CCB-8A87-A5A4-5383-8C4F457F377C}"/>
              </a:ext>
            </a:extLst>
          </p:cNvPr>
          <p:cNvGrpSpPr/>
          <p:nvPr/>
        </p:nvGrpSpPr>
        <p:grpSpPr>
          <a:xfrm>
            <a:off x="203635" y="3666716"/>
            <a:ext cx="504000" cy="504000"/>
            <a:chOff x="977950" y="2729564"/>
            <a:chExt cx="504000" cy="504000"/>
          </a:xfrm>
        </p:grpSpPr>
        <p:sp>
          <p:nvSpPr>
            <p:cNvPr id="36" name="Oval 35">
              <a:extLst>
                <a:ext uri="{FF2B5EF4-FFF2-40B4-BE49-F238E27FC236}">
                  <a16:creationId xmlns:a16="http://schemas.microsoft.com/office/drawing/2014/main" id="{77344E30-2AAF-6F43-B78F-A2E95895CF95}"/>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7" name="Graphic 36" descr="Trigonometry with solid fill">
              <a:extLst>
                <a:ext uri="{FF2B5EF4-FFF2-40B4-BE49-F238E27FC236}">
                  <a16:creationId xmlns:a16="http://schemas.microsoft.com/office/drawing/2014/main" id="{E6B6C7B5-1F74-6701-5837-3A950E4D4762}"/>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38" name="Group 37">
            <a:extLst>
              <a:ext uri="{FF2B5EF4-FFF2-40B4-BE49-F238E27FC236}">
                <a16:creationId xmlns:a16="http://schemas.microsoft.com/office/drawing/2014/main" id="{1FCB6CCC-89D5-5BC2-833E-08B51A0C1661}"/>
              </a:ext>
            </a:extLst>
          </p:cNvPr>
          <p:cNvGrpSpPr/>
          <p:nvPr/>
        </p:nvGrpSpPr>
        <p:grpSpPr>
          <a:xfrm>
            <a:off x="203635" y="4280414"/>
            <a:ext cx="504000" cy="504000"/>
            <a:chOff x="977950" y="2729564"/>
            <a:chExt cx="504000" cy="504000"/>
          </a:xfrm>
        </p:grpSpPr>
        <p:sp>
          <p:nvSpPr>
            <p:cNvPr id="39" name="Oval 38">
              <a:extLst>
                <a:ext uri="{FF2B5EF4-FFF2-40B4-BE49-F238E27FC236}">
                  <a16:creationId xmlns:a16="http://schemas.microsoft.com/office/drawing/2014/main" id="{1D403B39-50A4-4AEB-B6D1-6B0F7FC81DBA}"/>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0" name="Graphic 39" descr="Scatterplot with solid fill">
              <a:extLst>
                <a:ext uri="{FF2B5EF4-FFF2-40B4-BE49-F238E27FC236}">
                  <a16:creationId xmlns:a16="http://schemas.microsoft.com/office/drawing/2014/main" id="{7E1C1323-C938-D66D-A01E-41299800F1D5}"/>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cxnSp>
        <p:nvCxnSpPr>
          <p:cNvPr id="41" name="Straight Arrow Connector 40">
            <a:extLst>
              <a:ext uri="{FF2B5EF4-FFF2-40B4-BE49-F238E27FC236}">
                <a16:creationId xmlns:a16="http://schemas.microsoft.com/office/drawing/2014/main" id="{73905A0C-E5BB-93A2-8951-E89C714C72E7}"/>
              </a:ext>
            </a:extLst>
          </p:cNvPr>
          <p:cNvCxnSpPr>
            <a:cxnSpLocks/>
            <a:stCxn id="27" idx="4"/>
            <a:endCxn id="30"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DF308D16-C3E7-81AD-D832-803776C126A4}"/>
              </a:ext>
            </a:extLst>
          </p:cNvPr>
          <p:cNvCxnSpPr>
            <a:cxnSpLocks/>
            <a:stCxn id="30" idx="4"/>
            <a:endCxn id="33"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47017670-9157-3FD0-0E03-CDC0C07F8B17}"/>
              </a:ext>
            </a:extLst>
          </p:cNvPr>
          <p:cNvCxnSpPr>
            <a:cxnSpLocks/>
            <a:stCxn id="33" idx="4"/>
            <a:endCxn id="36"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579FBDF2-1EA8-9F77-80EC-9C0BE5496E1E}"/>
              </a:ext>
            </a:extLst>
          </p:cNvPr>
          <p:cNvCxnSpPr>
            <a:cxnSpLocks/>
            <a:stCxn id="36" idx="4"/>
            <a:endCxn id="39"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21061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EB8AA-6EE4-A0FD-51BB-2E61B84B628D}"/>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52D606D5-F842-2E0C-5047-B0EB95C9EFDC}"/>
              </a:ext>
            </a:extLst>
          </p:cNvPr>
          <p:cNvSpPr/>
          <p:nvPr/>
        </p:nvSpPr>
        <p:spPr>
          <a:xfrm>
            <a:off x="3106536" y="4089401"/>
            <a:ext cx="292086" cy="788640"/>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1" name="Rectangle 20">
            <a:extLst>
              <a:ext uri="{FF2B5EF4-FFF2-40B4-BE49-F238E27FC236}">
                <a16:creationId xmlns:a16="http://schemas.microsoft.com/office/drawing/2014/main" id="{7D5B4002-BC97-EE4B-5543-1FA0C4CCFFB2}"/>
              </a:ext>
            </a:extLst>
          </p:cNvPr>
          <p:cNvSpPr/>
          <p:nvPr/>
        </p:nvSpPr>
        <p:spPr>
          <a:xfrm>
            <a:off x="3892557" y="3557019"/>
            <a:ext cx="292086" cy="1321022"/>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23" name="Rectangle 22">
            <a:extLst>
              <a:ext uri="{FF2B5EF4-FFF2-40B4-BE49-F238E27FC236}">
                <a16:creationId xmlns:a16="http://schemas.microsoft.com/office/drawing/2014/main" id="{597F517D-E8A9-D5C0-7B06-9E1E5D5058ED}"/>
              </a:ext>
            </a:extLst>
          </p:cNvPr>
          <p:cNvSpPr/>
          <p:nvPr/>
        </p:nvSpPr>
        <p:spPr>
          <a:xfrm>
            <a:off x="4678578" y="4465320"/>
            <a:ext cx="292086" cy="41272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5" name="Rectangle 24">
            <a:extLst>
              <a:ext uri="{FF2B5EF4-FFF2-40B4-BE49-F238E27FC236}">
                <a16:creationId xmlns:a16="http://schemas.microsoft.com/office/drawing/2014/main" id="{9CDBDCF9-22FA-7926-B435-B98391C3049F}"/>
              </a:ext>
            </a:extLst>
          </p:cNvPr>
          <p:cNvSpPr/>
          <p:nvPr/>
        </p:nvSpPr>
        <p:spPr>
          <a:xfrm>
            <a:off x="5464599" y="3843695"/>
            <a:ext cx="292086" cy="1034346"/>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46" name="Rectangle 45">
            <a:extLst>
              <a:ext uri="{FF2B5EF4-FFF2-40B4-BE49-F238E27FC236}">
                <a16:creationId xmlns:a16="http://schemas.microsoft.com/office/drawing/2014/main" id="{8F52BA14-9E15-D864-CE40-0F051496925D}"/>
              </a:ext>
            </a:extLst>
          </p:cNvPr>
          <p:cNvSpPr/>
          <p:nvPr/>
        </p:nvSpPr>
        <p:spPr>
          <a:xfrm>
            <a:off x="6250620" y="3429000"/>
            <a:ext cx="292086" cy="1449041"/>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CEEA61A6-1DB0-0A27-9B18-293A6008FAC5}"/>
              </a:ext>
            </a:extLst>
          </p:cNvPr>
          <p:cNvSpPr>
            <a:spLocks noGrp="1"/>
          </p:cNvSpPr>
          <p:nvPr>
            <p:ph type="title"/>
          </p:nvPr>
        </p:nvSpPr>
        <p:spPr/>
        <p:txBody>
          <a:bodyPr/>
          <a:lstStyle/>
          <a:p>
            <a:r>
              <a:rPr lang="en-SE" dirty="0"/>
              <a:t>Markov chain Monte Carlo Sampling</a:t>
            </a:r>
          </a:p>
        </p:txBody>
      </p:sp>
      <p:sp>
        <p:nvSpPr>
          <p:cNvPr id="3" name="Content Placeholder 2">
            <a:extLst>
              <a:ext uri="{FF2B5EF4-FFF2-40B4-BE49-F238E27FC236}">
                <a16:creationId xmlns:a16="http://schemas.microsoft.com/office/drawing/2014/main" id="{5ADF381D-E66B-A7EA-605B-FE4D9E4E577A}"/>
              </a:ext>
            </a:extLst>
          </p:cNvPr>
          <p:cNvSpPr>
            <a:spLocks noGrp="1"/>
          </p:cNvSpPr>
          <p:nvPr>
            <p:ph idx="1"/>
          </p:nvPr>
        </p:nvSpPr>
        <p:spPr>
          <a:xfrm>
            <a:off x="838200" y="1825625"/>
            <a:ext cx="10515600" cy="942975"/>
          </a:xfrm>
        </p:spPr>
        <p:txBody>
          <a:bodyPr/>
          <a:lstStyle/>
          <a:p>
            <a:pPr marL="0" indent="0">
              <a:buNone/>
            </a:pPr>
            <a:r>
              <a:rPr lang="en-SE" dirty="0"/>
              <a:t>Markov chain Monte Carlo samplers travel between adjacent parameter values based on their </a:t>
            </a:r>
            <a:r>
              <a:rPr lang="en-SE" b="1" dirty="0"/>
              <a:t>relative density</a:t>
            </a:r>
            <a:r>
              <a:rPr lang="en-SE" dirty="0"/>
              <a:t>:</a:t>
            </a:r>
          </a:p>
        </p:txBody>
      </p:sp>
      <p:sp>
        <p:nvSpPr>
          <p:cNvPr id="4" name="Date Placeholder 3">
            <a:extLst>
              <a:ext uri="{FF2B5EF4-FFF2-40B4-BE49-F238E27FC236}">
                <a16:creationId xmlns:a16="http://schemas.microsoft.com/office/drawing/2014/main" id="{32BD12CE-2749-215E-7B6B-70469B639145}"/>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E67414D4-647A-B8B3-2A15-64F06A08C2DA}"/>
              </a:ext>
            </a:extLst>
          </p:cNvPr>
          <p:cNvSpPr>
            <a:spLocks noGrp="1"/>
          </p:cNvSpPr>
          <p:nvPr>
            <p:ph type="sldNum" sz="quarter" idx="12"/>
          </p:nvPr>
        </p:nvSpPr>
        <p:spPr/>
        <p:txBody>
          <a:bodyPr/>
          <a:lstStyle/>
          <a:p>
            <a:fld id="{271ECC92-9CDE-4EB3-B1C5-F46B9E1FA3C1}" type="slidenum">
              <a:rPr lang="en-SE" smtClean="0"/>
              <a:t>57</a:t>
            </a:fld>
            <a:endParaRPr lang="en-SE"/>
          </a:p>
        </p:txBody>
      </p:sp>
      <p:sp>
        <p:nvSpPr>
          <p:cNvPr id="6" name="Footer Placeholder 5">
            <a:extLst>
              <a:ext uri="{FF2B5EF4-FFF2-40B4-BE49-F238E27FC236}">
                <a16:creationId xmlns:a16="http://schemas.microsoft.com/office/drawing/2014/main" id="{D71CB7A9-EFC2-1DB7-F87C-0A9E6F28D54A}"/>
              </a:ext>
            </a:extLst>
          </p:cNvPr>
          <p:cNvSpPr>
            <a:spLocks noGrp="1"/>
          </p:cNvSpPr>
          <p:nvPr>
            <p:ph type="ftr" sz="quarter" idx="11"/>
          </p:nvPr>
        </p:nvSpPr>
        <p:spPr/>
        <p:txBody>
          <a:bodyPr/>
          <a:lstStyle/>
          <a:p>
            <a:r>
              <a:rPr lang="de-DE"/>
              <a:t>Bayesian Data Analysis Tutorial</a:t>
            </a:r>
            <a:endParaRPr lang="en-SE"/>
          </a:p>
        </p:txBody>
      </p:sp>
      <p:grpSp>
        <p:nvGrpSpPr>
          <p:cNvPr id="26" name="Group 25">
            <a:extLst>
              <a:ext uri="{FF2B5EF4-FFF2-40B4-BE49-F238E27FC236}">
                <a16:creationId xmlns:a16="http://schemas.microsoft.com/office/drawing/2014/main" id="{49763C8F-9DF8-03EE-75E0-8F3FB42ECA3A}"/>
              </a:ext>
            </a:extLst>
          </p:cNvPr>
          <p:cNvGrpSpPr/>
          <p:nvPr/>
        </p:nvGrpSpPr>
        <p:grpSpPr>
          <a:xfrm>
            <a:off x="203635" y="1825625"/>
            <a:ext cx="504000" cy="504000"/>
            <a:chOff x="977950" y="2729564"/>
            <a:chExt cx="504000" cy="504000"/>
          </a:xfrm>
        </p:grpSpPr>
        <p:sp>
          <p:nvSpPr>
            <p:cNvPr id="27" name="Oval 26">
              <a:extLst>
                <a:ext uri="{FF2B5EF4-FFF2-40B4-BE49-F238E27FC236}">
                  <a16:creationId xmlns:a16="http://schemas.microsoft.com/office/drawing/2014/main" id="{21A48FC5-3860-71E8-9FC3-795B41B87110}"/>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8" name="Graphic 27" descr="Golden Ratio with solid fill">
              <a:extLst>
                <a:ext uri="{FF2B5EF4-FFF2-40B4-BE49-F238E27FC236}">
                  <a16:creationId xmlns:a16="http://schemas.microsoft.com/office/drawing/2014/main" id="{D4341960-57A8-34EE-E03B-D8A214A82C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950" y="2783564"/>
              <a:ext cx="396000" cy="396000"/>
            </a:xfrm>
            <a:prstGeom prst="rect">
              <a:avLst/>
            </a:prstGeom>
          </p:spPr>
        </p:pic>
      </p:grpSp>
      <p:grpSp>
        <p:nvGrpSpPr>
          <p:cNvPr id="29" name="Group 28">
            <a:extLst>
              <a:ext uri="{FF2B5EF4-FFF2-40B4-BE49-F238E27FC236}">
                <a16:creationId xmlns:a16="http://schemas.microsoft.com/office/drawing/2014/main" id="{B5B0EF32-CFB9-0493-1E56-348D073D47A2}"/>
              </a:ext>
            </a:extLst>
          </p:cNvPr>
          <p:cNvGrpSpPr/>
          <p:nvPr/>
        </p:nvGrpSpPr>
        <p:grpSpPr>
          <a:xfrm>
            <a:off x="203635" y="2439322"/>
            <a:ext cx="504000" cy="504000"/>
            <a:chOff x="977950" y="2729564"/>
            <a:chExt cx="504000" cy="504000"/>
          </a:xfrm>
        </p:grpSpPr>
        <p:sp>
          <p:nvSpPr>
            <p:cNvPr id="30" name="Oval 29">
              <a:extLst>
                <a:ext uri="{FF2B5EF4-FFF2-40B4-BE49-F238E27FC236}">
                  <a16:creationId xmlns:a16="http://schemas.microsoft.com/office/drawing/2014/main" id="{8D339B10-B524-295E-D0D0-E5E9E38CF1DE}"/>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1" name="Graphic 30" descr="Normal Distribution with solid fill">
              <a:extLst>
                <a:ext uri="{FF2B5EF4-FFF2-40B4-BE49-F238E27FC236}">
                  <a16:creationId xmlns:a16="http://schemas.microsoft.com/office/drawing/2014/main" id="{70263E60-9F15-F3F3-AF32-638374872DF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grpSp>
        <p:nvGrpSpPr>
          <p:cNvPr id="32" name="Group 31">
            <a:extLst>
              <a:ext uri="{FF2B5EF4-FFF2-40B4-BE49-F238E27FC236}">
                <a16:creationId xmlns:a16="http://schemas.microsoft.com/office/drawing/2014/main" id="{067AFE82-F1D1-F950-9EA7-A86ADE354E0A}"/>
              </a:ext>
            </a:extLst>
          </p:cNvPr>
          <p:cNvGrpSpPr/>
          <p:nvPr/>
        </p:nvGrpSpPr>
        <p:grpSpPr>
          <a:xfrm>
            <a:off x="203635" y="3053019"/>
            <a:ext cx="504000" cy="504000"/>
            <a:chOff x="977950" y="2729564"/>
            <a:chExt cx="504000" cy="504000"/>
          </a:xfrm>
        </p:grpSpPr>
        <p:sp>
          <p:nvSpPr>
            <p:cNvPr id="33" name="Oval 32">
              <a:extLst>
                <a:ext uri="{FF2B5EF4-FFF2-40B4-BE49-F238E27FC236}">
                  <a16:creationId xmlns:a16="http://schemas.microsoft.com/office/drawing/2014/main" id="{B17FCD47-5F37-DC96-3C69-ADDAE0E38AE8}"/>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4" name="Graphic 33" descr="Abacus with solid fill">
              <a:extLst>
                <a:ext uri="{FF2B5EF4-FFF2-40B4-BE49-F238E27FC236}">
                  <a16:creationId xmlns:a16="http://schemas.microsoft.com/office/drawing/2014/main" id="{4D2BFDDD-2C41-7AD8-1B97-D46F3056545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35" name="Group 34">
            <a:extLst>
              <a:ext uri="{FF2B5EF4-FFF2-40B4-BE49-F238E27FC236}">
                <a16:creationId xmlns:a16="http://schemas.microsoft.com/office/drawing/2014/main" id="{8679DEDC-DEAA-F8F4-F610-97E8CF7F5D7E}"/>
              </a:ext>
            </a:extLst>
          </p:cNvPr>
          <p:cNvGrpSpPr/>
          <p:nvPr/>
        </p:nvGrpSpPr>
        <p:grpSpPr>
          <a:xfrm>
            <a:off x="203635" y="3666716"/>
            <a:ext cx="504000" cy="504000"/>
            <a:chOff x="977950" y="2729564"/>
            <a:chExt cx="504000" cy="504000"/>
          </a:xfrm>
        </p:grpSpPr>
        <p:sp>
          <p:nvSpPr>
            <p:cNvPr id="36" name="Oval 35">
              <a:extLst>
                <a:ext uri="{FF2B5EF4-FFF2-40B4-BE49-F238E27FC236}">
                  <a16:creationId xmlns:a16="http://schemas.microsoft.com/office/drawing/2014/main" id="{23155580-59D1-0A58-6876-C727EF54F52D}"/>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7" name="Graphic 36" descr="Trigonometry with solid fill">
              <a:extLst>
                <a:ext uri="{FF2B5EF4-FFF2-40B4-BE49-F238E27FC236}">
                  <a16:creationId xmlns:a16="http://schemas.microsoft.com/office/drawing/2014/main" id="{0B45611F-369D-8D2C-923C-328B567F62B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38" name="Group 37">
            <a:extLst>
              <a:ext uri="{FF2B5EF4-FFF2-40B4-BE49-F238E27FC236}">
                <a16:creationId xmlns:a16="http://schemas.microsoft.com/office/drawing/2014/main" id="{2CED6321-9103-BBBE-43BE-EF0FF376B8B1}"/>
              </a:ext>
            </a:extLst>
          </p:cNvPr>
          <p:cNvGrpSpPr/>
          <p:nvPr/>
        </p:nvGrpSpPr>
        <p:grpSpPr>
          <a:xfrm>
            <a:off x="203635" y="4280414"/>
            <a:ext cx="504000" cy="504000"/>
            <a:chOff x="977950" y="2729564"/>
            <a:chExt cx="504000" cy="504000"/>
          </a:xfrm>
        </p:grpSpPr>
        <p:sp>
          <p:nvSpPr>
            <p:cNvPr id="39" name="Oval 38">
              <a:extLst>
                <a:ext uri="{FF2B5EF4-FFF2-40B4-BE49-F238E27FC236}">
                  <a16:creationId xmlns:a16="http://schemas.microsoft.com/office/drawing/2014/main" id="{F8BDE34F-823E-EF48-7858-45D32CBAB672}"/>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0" name="Graphic 39" descr="Scatterplot with solid fill">
              <a:extLst>
                <a:ext uri="{FF2B5EF4-FFF2-40B4-BE49-F238E27FC236}">
                  <a16:creationId xmlns:a16="http://schemas.microsoft.com/office/drawing/2014/main" id="{6D9CF706-CAD2-AC8E-DFC4-24CB6F1078B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cxnSp>
        <p:nvCxnSpPr>
          <p:cNvPr id="41" name="Straight Arrow Connector 40">
            <a:extLst>
              <a:ext uri="{FF2B5EF4-FFF2-40B4-BE49-F238E27FC236}">
                <a16:creationId xmlns:a16="http://schemas.microsoft.com/office/drawing/2014/main" id="{16E83836-FFB6-3EA3-ADA3-E8BFCBEB5795}"/>
              </a:ext>
            </a:extLst>
          </p:cNvPr>
          <p:cNvCxnSpPr>
            <a:cxnSpLocks/>
            <a:stCxn id="27" idx="4"/>
            <a:endCxn id="30"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B1EA126E-4EC0-4F90-182F-E609635E3F7F}"/>
              </a:ext>
            </a:extLst>
          </p:cNvPr>
          <p:cNvCxnSpPr>
            <a:cxnSpLocks/>
            <a:stCxn id="30" idx="4"/>
            <a:endCxn id="33"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94925CFE-E480-578C-1A13-CE5697096187}"/>
              </a:ext>
            </a:extLst>
          </p:cNvPr>
          <p:cNvCxnSpPr>
            <a:cxnSpLocks/>
            <a:stCxn id="33" idx="4"/>
            <a:endCxn id="36"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85A4F793-B970-AF9C-A476-CCCA86E70BE3}"/>
              </a:ext>
            </a:extLst>
          </p:cNvPr>
          <p:cNvCxnSpPr>
            <a:cxnSpLocks/>
            <a:stCxn id="36" idx="4"/>
            <a:endCxn id="39"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AF65DA65-9C4F-505E-FDB0-B24DB9F646C0}"/>
              </a:ext>
            </a:extLst>
          </p:cNvPr>
          <p:cNvSpPr txBox="1"/>
          <p:nvPr/>
        </p:nvSpPr>
        <p:spPr>
          <a:xfrm>
            <a:off x="939800" y="4905620"/>
            <a:ext cx="1933158" cy="369332"/>
          </a:xfrm>
          <a:prstGeom prst="rect">
            <a:avLst/>
          </a:prstGeom>
          <a:noFill/>
        </p:spPr>
        <p:txBody>
          <a:bodyPr wrap="none" rtlCol="0">
            <a:spAutoFit/>
          </a:bodyPr>
          <a:lstStyle/>
          <a:p>
            <a:pPr algn="r"/>
            <a:r>
              <a:rPr lang="en-SE" dirty="0"/>
              <a:t>Parameter Values</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3D6A597-F6C7-DA05-C1C9-28957DBCE338}"/>
                  </a:ext>
                </a:extLst>
              </p:cNvPr>
              <p:cNvSpPr/>
              <p:nvPr/>
            </p:nvSpPr>
            <p:spPr>
              <a:xfrm>
                <a:off x="2923758" y="4857046"/>
                <a:ext cx="657642" cy="466480"/>
              </a:xfrm>
              <a:prstGeom prst="rect">
                <a:avLst/>
              </a:prstGeom>
              <a:solidFill>
                <a:schemeClr val="accent5">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𝜃</m:t>
                          </m:r>
                        </m:e>
                        <m:sub>
                          <m:r>
                            <a:rPr lang="en-SE" b="0" i="1" smtClean="0">
                              <a:latin typeface="Cambria Math" panose="02040503050406030204" pitchFamily="18" charset="0"/>
                            </a:rPr>
                            <m:t>0</m:t>
                          </m:r>
                        </m:sub>
                      </m:sSub>
                    </m:oMath>
                  </m:oMathPara>
                </a14:m>
                <a:endParaRPr lang="en-SE" dirty="0"/>
              </a:p>
            </p:txBody>
          </p:sp>
        </mc:Choice>
        <mc:Fallback xmlns="">
          <p:sp>
            <p:nvSpPr>
              <p:cNvPr id="8" name="Rectangle 7">
                <a:extLst>
                  <a:ext uri="{FF2B5EF4-FFF2-40B4-BE49-F238E27FC236}">
                    <a16:creationId xmlns:a16="http://schemas.microsoft.com/office/drawing/2014/main" id="{53D6A597-F6C7-DA05-C1C9-28957DBCE338}"/>
                  </a:ext>
                </a:extLst>
              </p:cNvPr>
              <p:cNvSpPr>
                <a:spLocks noRot="1" noChangeAspect="1" noMove="1" noResize="1" noEditPoints="1" noAdjustHandles="1" noChangeArrowheads="1" noChangeShapeType="1" noTextEdit="1"/>
              </p:cNvSpPr>
              <p:nvPr/>
            </p:nvSpPr>
            <p:spPr>
              <a:xfrm>
                <a:off x="2923758" y="4857046"/>
                <a:ext cx="657642" cy="466480"/>
              </a:xfrm>
              <a:prstGeom prst="rect">
                <a:avLst/>
              </a:prstGeom>
              <a:blipFill>
                <a:blip r:embed="rId7"/>
                <a:stretch>
                  <a:fillRect/>
                </a:stretch>
              </a:blipFill>
              <a:ln>
                <a:solidFill>
                  <a:schemeClr val="accent4">
                    <a:lumMod val="50000"/>
                  </a:schemeClr>
                </a:solidFill>
              </a:ln>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13FFB9D4-6BBA-D73E-DB40-3E088E8F67EE}"/>
                  </a:ext>
                </a:extLst>
              </p:cNvPr>
              <p:cNvSpPr/>
              <p:nvPr/>
            </p:nvSpPr>
            <p:spPr>
              <a:xfrm>
                <a:off x="3709779" y="4857046"/>
                <a:ext cx="657642" cy="466480"/>
              </a:xfrm>
              <a:prstGeom prst="rect">
                <a:avLst/>
              </a:prstGeom>
              <a:solidFill>
                <a:schemeClr val="accent5">
                  <a:lumMod val="75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𝜃</m:t>
                          </m:r>
                        </m:e>
                        <m:sub>
                          <m:r>
                            <a:rPr lang="en-SE" b="0" i="1" smtClean="0">
                              <a:latin typeface="Cambria Math" panose="02040503050406030204" pitchFamily="18" charset="0"/>
                            </a:rPr>
                            <m:t>1</m:t>
                          </m:r>
                        </m:sub>
                      </m:sSub>
                    </m:oMath>
                  </m:oMathPara>
                </a14:m>
                <a:endParaRPr lang="en-SE" dirty="0"/>
              </a:p>
            </p:txBody>
          </p:sp>
        </mc:Choice>
        <mc:Fallback xmlns="">
          <p:sp>
            <p:nvSpPr>
              <p:cNvPr id="12" name="Rectangle 11">
                <a:extLst>
                  <a:ext uri="{FF2B5EF4-FFF2-40B4-BE49-F238E27FC236}">
                    <a16:creationId xmlns:a16="http://schemas.microsoft.com/office/drawing/2014/main" id="{13FFB9D4-6BBA-D73E-DB40-3E088E8F67EE}"/>
                  </a:ext>
                </a:extLst>
              </p:cNvPr>
              <p:cNvSpPr>
                <a:spLocks noRot="1" noChangeAspect="1" noMove="1" noResize="1" noEditPoints="1" noAdjustHandles="1" noChangeArrowheads="1" noChangeShapeType="1" noTextEdit="1"/>
              </p:cNvSpPr>
              <p:nvPr/>
            </p:nvSpPr>
            <p:spPr>
              <a:xfrm>
                <a:off x="3709779" y="4857046"/>
                <a:ext cx="657642" cy="466480"/>
              </a:xfrm>
              <a:prstGeom prst="rect">
                <a:avLst/>
              </a:prstGeom>
              <a:blipFill>
                <a:blip r:embed="rId8"/>
                <a:stretch>
                  <a:fillRect/>
                </a:stretch>
              </a:blipFill>
              <a:ln>
                <a:solidFill>
                  <a:schemeClr val="accent4">
                    <a:lumMod val="50000"/>
                  </a:schemeClr>
                </a:solidFill>
              </a:ln>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EDAF55A7-F23A-569A-4452-C70674EC6385}"/>
                  </a:ext>
                </a:extLst>
              </p:cNvPr>
              <p:cNvSpPr/>
              <p:nvPr/>
            </p:nvSpPr>
            <p:spPr>
              <a:xfrm>
                <a:off x="4495800" y="4857046"/>
                <a:ext cx="657642" cy="466480"/>
              </a:xfrm>
              <a:prstGeom prst="rect">
                <a:avLst/>
              </a:prstGeom>
              <a:solidFill>
                <a:schemeClr val="accent5">
                  <a:lumMod val="60000"/>
                  <a:lumOff val="4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E" b="0" i="1" smtClean="0">
                              <a:solidFill>
                                <a:schemeClr val="tx1"/>
                              </a:solidFill>
                              <a:latin typeface="Cambria Math" panose="02040503050406030204" pitchFamily="18" charset="0"/>
                            </a:rPr>
                          </m:ctrlPr>
                        </m:sSubPr>
                        <m:e>
                          <m:r>
                            <a:rPr lang="en-SE" b="0" i="1" smtClean="0">
                              <a:solidFill>
                                <a:schemeClr val="tx1"/>
                              </a:solidFill>
                              <a:latin typeface="Cambria Math" panose="02040503050406030204" pitchFamily="18" charset="0"/>
                            </a:rPr>
                            <m:t>𝜃</m:t>
                          </m:r>
                        </m:e>
                        <m:sub>
                          <m:r>
                            <a:rPr lang="en-SE" b="0" i="1" smtClean="0">
                              <a:solidFill>
                                <a:schemeClr val="tx1"/>
                              </a:solidFill>
                              <a:latin typeface="Cambria Math" panose="02040503050406030204" pitchFamily="18" charset="0"/>
                            </a:rPr>
                            <m:t>2</m:t>
                          </m:r>
                        </m:sub>
                      </m:sSub>
                    </m:oMath>
                  </m:oMathPara>
                </a14:m>
                <a:endParaRPr lang="en-SE" dirty="0">
                  <a:solidFill>
                    <a:schemeClr val="tx1"/>
                  </a:solidFill>
                </a:endParaRPr>
              </a:p>
            </p:txBody>
          </p:sp>
        </mc:Choice>
        <mc:Fallback xmlns="">
          <p:sp>
            <p:nvSpPr>
              <p:cNvPr id="14" name="Rectangle 13">
                <a:extLst>
                  <a:ext uri="{FF2B5EF4-FFF2-40B4-BE49-F238E27FC236}">
                    <a16:creationId xmlns:a16="http://schemas.microsoft.com/office/drawing/2014/main" id="{EDAF55A7-F23A-569A-4452-C70674EC6385}"/>
                  </a:ext>
                </a:extLst>
              </p:cNvPr>
              <p:cNvSpPr>
                <a:spLocks noRot="1" noChangeAspect="1" noMove="1" noResize="1" noEditPoints="1" noAdjustHandles="1" noChangeArrowheads="1" noChangeShapeType="1" noTextEdit="1"/>
              </p:cNvSpPr>
              <p:nvPr/>
            </p:nvSpPr>
            <p:spPr>
              <a:xfrm>
                <a:off x="4495800" y="4857046"/>
                <a:ext cx="657642" cy="466480"/>
              </a:xfrm>
              <a:prstGeom prst="rect">
                <a:avLst/>
              </a:prstGeom>
              <a:blipFill>
                <a:blip r:embed="rId9"/>
                <a:stretch>
                  <a:fillRect/>
                </a:stretch>
              </a:blipFill>
              <a:ln>
                <a:solidFill>
                  <a:schemeClr val="accent4">
                    <a:lumMod val="50000"/>
                  </a:schemeClr>
                </a:solidFill>
              </a:ln>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6EDD3963-82E5-FF14-D9CA-381662702710}"/>
                  </a:ext>
                </a:extLst>
              </p:cNvPr>
              <p:cNvSpPr/>
              <p:nvPr/>
            </p:nvSpPr>
            <p:spPr>
              <a:xfrm>
                <a:off x="5281821" y="4857046"/>
                <a:ext cx="657642" cy="466480"/>
              </a:xfrm>
              <a:prstGeom prst="rect">
                <a:avLst/>
              </a:prstGeom>
              <a:solidFill>
                <a:schemeClr val="accent5">
                  <a:lumMod val="40000"/>
                  <a:lumOff val="6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E" b="0" i="1" smtClean="0">
                              <a:solidFill>
                                <a:schemeClr val="tx1"/>
                              </a:solidFill>
                              <a:latin typeface="Cambria Math" panose="02040503050406030204" pitchFamily="18" charset="0"/>
                            </a:rPr>
                          </m:ctrlPr>
                        </m:sSubPr>
                        <m:e>
                          <m:r>
                            <a:rPr lang="en-SE" b="0" i="1" smtClean="0">
                              <a:solidFill>
                                <a:schemeClr val="tx1"/>
                              </a:solidFill>
                              <a:latin typeface="Cambria Math" panose="02040503050406030204" pitchFamily="18" charset="0"/>
                            </a:rPr>
                            <m:t>𝜃</m:t>
                          </m:r>
                        </m:e>
                        <m:sub>
                          <m:r>
                            <a:rPr lang="en-SE" b="0" i="1" smtClean="0">
                              <a:solidFill>
                                <a:schemeClr val="tx1"/>
                              </a:solidFill>
                              <a:latin typeface="Cambria Math" panose="02040503050406030204" pitchFamily="18" charset="0"/>
                            </a:rPr>
                            <m:t>3</m:t>
                          </m:r>
                        </m:sub>
                      </m:sSub>
                    </m:oMath>
                  </m:oMathPara>
                </a14:m>
                <a:endParaRPr lang="en-SE" dirty="0">
                  <a:solidFill>
                    <a:schemeClr val="tx1"/>
                  </a:solidFill>
                </a:endParaRPr>
              </a:p>
            </p:txBody>
          </p:sp>
        </mc:Choice>
        <mc:Fallback xmlns="">
          <p:sp>
            <p:nvSpPr>
              <p:cNvPr id="16" name="Rectangle 15">
                <a:extLst>
                  <a:ext uri="{FF2B5EF4-FFF2-40B4-BE49-F238E27FC236}">
                    <a16:creationId xmlns:a16="http://schemas.microsoft.com/office/drawing/2014/main" id="{6EDD3963-82E5-FF14-D9CA-381662702710}"/>
                  </a:ext>
                </a:extLst>
              </p:cNvPr>
              <p:cNvSpPr>
                <a:spLocks noRot="1" noChangeAspect="1" noMove="1" noResize="1" noEditPoints="1" noAdjustHandles="1" noChangeArrowheads="1" noChangeShapeType="1" noTextEdit="1"/>
              </p:cNvSpPr>
              <p:nvPr/>
            </p:nvSpPr>
            <p:spPr>
              <a:xfrm>
                <a:off x="5281821" y="4857046"/>
                <a:ext cx="657642" cy="466480"/>
              </a:xfrm>
              <a:prstGeom prst="rect">
                <a:avLst/>
              </a:prstGeom>
              <a:blipFill>
                <a:blip r:embed="rId10"/>
                <a:stretch>
                  <a:fillRect/>
                </a:stretch>
              </a:blipFill>
              <a:ln>
                <a:solidFill>
                  <a:schemeClr val="accent4">
                    <a:lumMod val="50000"/>
                  </a:schemeClr>
                </a:solidFill>
              </a:ln>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4AF0B261-94C0-4972-5669-47C243626B74}"/>
                  </a:ext>
                </a:extLst>
              </p:cNvPr>
              <p:cNvSpPr/>
              <p:nvPr/>
            </p:nvSpPr>
            <p:spPr>
              <a:xfrm>
                <a:off x="6067842" y="4857046"/>
                <a:ext cx="657642" cy="466480"/>
              </a:xfrm>
              <a:prstGeom prst="rect">
                <a:avLst/>
              </a:prstGeom>
              <a:solidFill>
                <a:schemeClr val="accent5">
                  <a:lumMod val="20000"/>
                  <a:lumOff val="8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E" b="0" i="1" smtClean="0">
                              <a:solidFill>
                                <a:schemeClr val="tx1"/>
                              </a:solidFill>
                              <a:latin typeface="Cambria Math" panose="02040503050406030204" pitchFamily="18" charset="0"/>
                            </a:rPr>
                          </m:ctrlPr>
                        </m:sSubPr>
                        <m:e>
                          <m:r>
                            <a:rPr lang="en-SE" b="0" i="1" smtClean="0">
                              <a:solidFill>
                                <a:schemeClr val="tx1"/>
                              </a:solidFill>
                              <a:latin typeface="Cambria Math" panose="02040503050406030204" pitchFamily="18" charset="0"/>
                            </a:rPr>
                            <m:t>𝜃</m:t>
                          </m:r>
                        </m:e>
                        <m:sub>
                          <m:r>
                            <a:rPr lang="en-SE" b="0" i="1" smtClean="0">
                              <a:solidFill>
                                <a:schemeClr val="tx1"/>
                              </a:solidFill>
                              <a:latin typeface="Cambria Math" panose="02040503050406030204" pitchFamily="18" charset="0"/>
                            </a:rPr>
                            <m:t>4</m:t>
                          </m:r>
                        </m:sub>
                      </m:sSub>
                    </m:oMath>
                  </m:oMathPara>
                </a14:m>
                <a:endParaRPr lang="en-SE" dirty="0">
                  <a:solidFill>
                    <a:schemeClr val="tx1"/>
                  </a:solidFill>
                </a:endParaRPr>
              </a:p>
            </p:txBody>
          </p:sp>
        </mc:Choice>
        <mc:Fallback xmlns="">
          <p:sp>
            <p:nvSpPr>
              <p:cNvPr id="18" name="Rectangle 17">
                <a:extLst>
                  <a:ext uri="{FF2B5EF4-FFF2-40B4-BE49-F238E27FC236}">
                    <a16:creationId xmlns:a16="http://schemas.microsoft.com/office/drawing/2014/main" id="{4AF0B261-94C0-4972-5669-47C243626B74}"/>
                  </a:ext>
                </a:extLst>
              </p:cNvPr>
              <p:cNvSpPr>
                <a:spLocks noRot="1" noChangeAspect="1" noMove="1" noResize="1" noEditPoints="1" noAdjustHandles="1" noChangeArrowheads="1" noChangeShapeType="1" noTextEdit="1"/>
              </p:cNvSpPr>
              <p:nvPr/>
            </p:nvSpPr>
            <p:spPr>
              <a:xfrm>
                <a:off x="6067842" y="4857046"/>
                <a:ext cx="657642" cy="466480"/>
              </a:xfrm>
              <a:prstGeom prst="rect">
                <a:avLst/>
              </a:prstGeom>
              <a:blipFill>
                <a:blip r:embed="rId11"/>
                <a:stretch>
                  <a:fillRect/>
                </a:stretch>
              </a:blipFill>
              <a:ln>
                <a:solidFill>
                  <a:schemeClr val="accent4">
                    <a:lumMod val="50000"/>
                  </a:schemeClr>
                </a:solidFill>
              </a:ln>
            </p:spPr>
            <p:txBody>
              <a:bodyPr/>
              <a:lstStyle/>
              <a:p>
                <a:r>
                  <a:rPr lang="en-SE">
                    <a:noFill/>
                  </a:rPr>
                  <a:t> </a:t>
                </a:r>
              </a:p>
            </p:txBody>
          </p:sp>
        </mc:Fallback>
      </mc:AlternateContent>
      <p:sp>
        <p:nvSpPr>
          <p:cNvPr id="48" name="TextBox 47">
            <a:extLst>
              <a:ext uri="{FF2B5EF4-FFF2-40B4-BE49-F238E27FC236}">
                <a16:creationId xmlns:a16="http://schemas.microsoft.com/office/drawing/2014/main" id="{BB532988-3E05-FBAE-5314-7B9AE8FDB056}"/>
              </a:ext>
            </a:extLst>
          </p:cNvPr>
          <p:cNvSpPr txBox="1"/>
          <p:nvPr/>
        </p:nvSpPr>
        <p:spPr>
          <a:xfrm>
            <a:off x="939800" y="3886083"/>
            <a:ext cx="1933157" cy="646331"/>
          </a:xfrm>
          <a:prstGeom prst="rect">
            <a:avLst/>
          </a:prstGeom>
          <a:noFill/>
        </p:spPr>
        <p:txBody>
          <a:bodyPr wrap="square" rtlCol="0">
            <a:spAutoFit/>
          </a:bodyPr>
          <a:lstStyle/>
          <a:p>
            <a:pPr algn="r"/>
            <a:r>
              <a:rPr lang="en-SE" dirty="0"/>
              <a:t>Unnormalized posterior density</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86A7F08E-23A6-7218-1DD0-5EF0938200F8}"/>
                  </a:ext>
                </a:extLst>
              </p:cNvPr>
              <p:cNvSpPr txBox="1"/>
              <p:nvPr/>
            </p:nvSpPr>
            <p:spPr>
              <a:xfrm>
                <a:off x="3016810" y="3701417"/>
                <a:ext cx="4715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𝑑</m:t>
                          </m:r>
                        </m:e>
                        <m:sub>
                          <m:r>
                            <a:rPr lang="en-SE" b="0" i="1" smtClean="0">
                              <a:latin typeface="Cambria Math" panose="02040503050406030204" pitchFamily="18" charset="0"/>
                            </a:rPr>
                            <m:t>0</m:t>
                          </m:r>
                        </m:sub>
                      </m:sSub>
                    </m:oMath>
                  </m:oMathPara>
                </a14:m>
                <a:endParaRPr lang="en-SE" dirty="0"/>
              </a:p>
            </p:txBody>
          </p:sp>
        </mc:Choice>
        <mc:Fallback xmlns="">
          <p:sp>
            <p:nvSpPr>
              <p:cNvPr id="49" name="TextBox 48">
                <a:extLst>
                  <a:ext uri="{FF2B5EF4-FFF2-40B4-BE49-F238E27FC236}">
                    <a16:creationId xmlns:a16="http://schemas.microsoft.com/office/drawing/2014/main" id="{86A7F08E-23A6-7218-1DD0-5EF0938200F8}"/>
                  </a:ext>
                </a:extLst>
              </p:cNvPr>
              <p:cNvSpPr txBox="1">
                <a:spLocks noRot="1" noChangeAspect="1" noMove="1" noResize="1" noEditPoints="1" noAdjustHandles="1" noChangeArrowheads="1" noChangeShapeType="1" noTextEdit="1"/>
              </p:cNvSpPr>
              <p:nvPr/>
            </p:nvSpPr>
            <p:spPr>
              <a:xfrm>
                <a:off x="3016810" y="3701417"/>
                <a:ext cx="471539" cy="369332"/>
              </a:xfrm>
              <a:prstGeom prst="rect">
                <a:avLst/>
              </a:prstGeom>
              <a:blipFill>
                <a:blip r:embed="rId12"/>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7ACDD79-0CEA-18E3-43ED-0CC96A019CA2}"/>
                  </a:ext>
                </a:extLst>
              </p:cNvPr>
              <p:cNvSpPr txBox="1"/>
              <p:nvPr/>
            </p:nvSpPr>
            <p:spPr>
              <a:xfrm>
                <a:off x="3802830" y="3187687"/>
                <a:ext cx="4662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𝑑</m:t>
                          </m:r>
                        </m:e>
                        <m:sub>
                          <m:r>
                            <a:rPr lang="en-SE" b="0" i="1" smtClean="0">
                              <a:latin typeface="Cambria Math" panose="02040503050406030204" pitchFamily="18" charset="0"/>
                            </a:rPr>
                            <m:t>1</m:t>
                          </m:r>
                        </m:sub>
                      </m:sSub>
                    </m:oMath>
                  </m:oMathPara>
                </a14:m>
                <a:endParaRPr lang="en-SE" dirty="0"/>
              </a:p>
            </p:txBody>
          </p:sp>
        </mc:Choice>
        <mc:Fallback xmlns="">
          <p:sp>
            <p:nvSpPr>
              <p:cNvPr id="51" name="TextBox 50">
                <a:extLst>
                  <a:ext uri="{FF2B5EF4-FFF2-40B4-BE49-F238E27FC236}">
                    <a16:creationId xmlns:a16="http://schemas.microsoft.com/office/drawing/2014/main" id="{97ACDD79-0CEA-18E3-43ED-0CC96A019CA2}"/>
                  </a:ext>
                </a:extLst>
              </p:cNvPr>
              <p:cNvSpPr txBox="1">
                <a:spLocks noRot="1" noChangeAspect="1" noMove="1" noResize="1" noEditPoints="1" noAdjustHandles="1" noChangeArrowheads="1" noChangeShapeType="1" noTextEdit="1"/>
              </p:cNvSpPr>
              <p:nvPr/>
            </p:nvSpPr>
            <p:spPr>
              <a:xfrm>
                <a:off x="3802830" y="3187687"/>
                <a:ext cx="466218" cy="369332"/>
              </a:xfrm>
              <a:prstGeom prst="rect">
                <a:avLst/>
              </a:prstGeom>
              <a:blipFill>
                <a:blip r:embed="rId13"/>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B1564AD-4D6A-5B94-BE5A-8D370D3A24E3}"/>
                  </a:ext>
                </a:extLst>
              </p:cNvPr>
              <p:cNvSpPr txBox="1"/>
              <p:nvPr/>
            </p:nvSpPr>
            <p:spPr>
              <a:xfrm>
                <a:off x="4601712" y="4101205"/>
                <a:ext cx="4715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𝑑</m:t>
                          </m:r>
                        </m:e>
                        <m:sub>
                          <m:r>
                            <a:rPr lang="en-SE" b="0" i="1" smtClean="0">
                              <a:latin typeface="Cambria Math" panose="02040503050406030204" pitchFamily="18" charset="0"/>
                            </a:rPr>
                            <m:t>2</m:t>
                          </m:r>
                        </m:sub>
                      </m:sSub>
                    </m:oMath>
                  </m:oMathPara>
                </a14:m>
                <a:endParaRPr lang="en-SE" dirty="0"/>
              </a:p>
            </p:txBody>
          </p:sp>
        </mc:Choice>
        <mc:Fallback xmlns="">
          <p:sp>
            <p:nvSpPr>
              <p:cNvPr id="53" name="TextBox 52">
                <a:extLst>
                  <a:ext uri="{FF2B5EF4-FFF2-40B4-BE49-F238E27FC236}">
                    <a16:creationId xmlns:a16="http://schemas.microsoft.com/office/drawing/2014/main" id="{5B1564AD-4D6A-5B94-BE5A-8D370D3A24E3}"/>
                  </a:ext>
                </a:extLst>
              </p:cNvPr>
              <p:cNvSpPr txBox="1">
                <a:spLocks noRot="1" noChangeAspect="1" noMove="1" noResize="1" noEditPoints="1" noAdjustHandles="1" noChangeArrowheads="1" noChangeShapeType="1" noTextEdit="1"/>
              </p:cNvSpPr>
              <p:nvPr/>
            </p:nvSpPr>
            <p:spPr>
              <a:xfrm>
                <a:off x="4601712" y="4101205"/>
                <a:ext cx="471539" cy="369332"/>
              </a:xfrm>
              <a:prstGeom prst="rect">
                <a:avLst/>
              </a:prstGeom>
              <a:blipFill>
                <a:blip r:embed="rId1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3EFAA90-F3B2-F02E-F449-192077983C95}"/>
                  </a:ext>
                </a:extLst>
              </p:cNvPr>
              <p:cNvSpPr txBox="1"/>
              <p:nvPr/>
            </p:nvSpPr>
            <p:spPr>
              <a:xfrm>
                <a:off x="5387733" y="3482050"/>
                <a:ext cx="4715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𝑑</m:t>
                          </m:r>
                        </m:e>
                        <m:sub>
                          <m:r>
                            <a:rPr lang="en-SE" b="0" i="1" smtClean="0">
                              <a:latin typeface="Cambria Math" panose="02040503050406030204" pitchFamily="18" charset="0"/>
                            </a:rPr>
                            <m:t>3</m:t>
                          </m:r>
                        </m:sub>
                      </m:sSub>
                    </m:oMath>
                  </m:oMathPara>
                </a14:m>
                <a:endParaRPr lang="en-SE" dirty="0"/>
              </a:p>
            </p:txBody>
          </p:sp>
        </mc:Choice>
        <mc:Fallback xmlns="">
          <p:sp>
            <p:nvSpPr>
              <p:cNvPr id="55" name="TextBox 54">
                <a:extLst>
                  <a:ext uri="{FF2B5EF4-FFF2-40B4-BE49-F238E27FC236}">
                    <a16:creationId xmlns:a16="http://schemas.microsoft.com/office/drawing/2014/main" id="{43EFAA90-F3B2-F02E-F449-192077983C95}"/>
                  </a:ext>
                </a:extLst>
              </p:cNvPr>
              <p:cNvSpPr txBox="1">
                <a:spLocks noRot="1" noChangeAspect="1" noMove="1" noResize="1" noEditPoints="1" noAdjustHandles="1" noChangeArrowheads="1" noChangeShapeType="1" noTextEdit="1"/>
              </p:cNvSpPr>
              <p:nvPr/>
            </p:nvSpPr>
            <p:spPr>
              <a:xfrm>
                <a:off x="5387733" y="3482050"/>
                <a:ext cx="471539" cy="369332"/>
              </a:xfrm>
              <a:prstGeom prst="rect">
                <a:avLst/>
              </a:prstGeom>
              <a:blipFill>
                <a:blip r:embed="rId15"/>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05EF031E-8D1E-E45E-5986-9929FC3A7E0F}"/>
                  </a:ext>
                </a:extLst>
              </p:cNvPr>
              <p:cNvSpPr txBox="1"/>
              <p:nvPr/>
            </p:nvSpPr>
            <p:spPr>
              <a:xfrm>
                <a:off x="6160893" y="3065570"/>
                <a:ext cx="4715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𝑑</m:t>
                          </m:r>
                        </m:e>
                        <m:sub>
                          <m:r>
                            <a:rPr lang="en-SE" b="0" i="1" smtClean="0">
                              <a:latin typeface="Cambria Math" panose="02040503050406030204" pitchFamily="18" charset="0"/>
                            </a:rPr>
                            <m:t>4</m:t>
                          </m:r>
                        </m:sub>
                      </m:sSub>
                    </m:oMath>
                  </m:oMathPara>
                </a14:m>
                <a:endParaRPr lang="en-SE" dirty="0"/>
              </a:p>
            </p:txBody>
          </p:sp>
        </mc:Choice>
        <mc:Fallback xmlns="">
          <p:sp>
            <p:nvSpPr>
              <p:cNvPr id="57" name="TextBox 56">
                <a:extLst>
                  <a:ext uri="{FF2B5EF4-FFF2-40B4-BE49-F238E27FC236}">
                    <a16:creationId xmlns:a16="http://schemas.microsoft.com/office/drawing/2014/main" id="{05EF031E-8D1E-E45E-5986-9929FC3A7E0F}"/>
                  </a:ext>
                </a:extLst>
              </p:cNvPr>
              <p:cNvSpPr txBox="1">
                <a:spLocks noRot="1" noChangeAspect="1" noMove="1" noResize="1" noEditPoints="1" noAdjustHandles="1" noChangeArrowheads="1" noChangeShapeType="1" noTextEdit="1"/>
              </p:cNvSpPr>
              <p:nvPr/>
            </p:nvSpPr>
            <p:spPr>
              <a:xfrm>
                <a:off x="6160893" y="3065570"/>
                <a:ext cx="471539" cy="369332"/>
              </a:xfrm>
              <a:prstGeom prst="rect">
                <a:avLst/>
              </a:prstGeom>
              <a:blipFill>
                <a:blip r:embed="rId16"/>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D7AD7C1-3971-69DD-51AF-A6DF37BEB73A}"/>
                  </a:ext>
                </a:extLst>
              </p:cNvPr>
              <p:cNvSpPr txBox="1"/>
              <p:nvPr/>
            </p:nvSpPr>
            <p:spPr>
              <a:xfrm>
                <a:off x="7181760" y="3003021"/>
                <a:ext cx="4172039" cy="1910523"/>
              </a:xfrm>
              <a:prstGeom prst="rect">
                <a:avLst/>
              </a:prstGeom>
              <a:noFill/>
            </p:spPr>
            <p:txBody>
              <a:bodyPr wrap="square" rtlCol="0">
                <a:spAutoFit/>
              </a:bodyPr>
              <a:lstStyle/>
              <a:p>
                <a:pPr marL="342900" indent="-342900">
                  <a:buFont typeface="+mj-lt"/>
                  <a:buAutoNum type="arabicPeriod"/>
                </a:pPr>
                <a:r>
                  <a:rPr lang="en-SE" dirty="0"/>
                  <a:t>Initialize a Markov chain at random </a:t>
                </a:r>
                <a14:m>
                  <m:oMath xmlns:m="http://schemas.openxmlformats.org/officeDocument/2006/math">
                    <m:r>
                      <a:rPr lang="en-SE" b="0" i="1" smtClean="0">
                        <a:latin typeface="Cambria Math" panose="02040503050406030204" pitchFamily="18" charset="0"/>
                      </a:rPr>
                      <m:t>𝑥</m:t>
                    </m:r>
                  </m:oMath>
                </a14:m>
                <a:endParaRPr lang="en-SE" dirty="0"/>
              </a:p>
              <a:p>
                <a:pPr marL="342900" indent="-342900">
                  <a:buFont typeface="+mj-lt"/>
                  <a:buAutoNum type="arabicPeriod"/>
                </a:pPr>
                <a:r>
                  <a:rPr lang="en-SE" dirty="0"/>
                  <a:t>Randomly decide in which direction to move  from the starting point</a:t>
                </a:r>
              </a:p>
              <a:p>
                <a:pPr marL="342900" indent="-342900">
                  <a:buFont typeface="+mj-lt"/>
                  <a:buAutoNum type="arabicPeriod"/>
                </a:pPr>
                <a:r>
                  <a:rPr lang="en-SE" dirty="0"/>
                  <a:t>Move to the adjacent value with probability </a:t>
                </a:r>
                <a14:m>
                  <m:oMath xmlns:m="http://schemas.openxmlformats.org/officeDocument/2006/math">
                    <m:r>
                      <a:rPr lang="en-SE" b="0" i="1" smtClean="0">
                        <a:latin typeface="Cambria Math" panose="02040503050406030204" pitchFamily="18" charset="0"/>
                      </a:rPr>
                      <m:t>𝑝</m:t>
                    </m:r>
                    <m:r>
                      <a:rPr lang="en-SE" b="0" i="1" smtClean="0">
                        <a:latin typeface="Cambria Math" panose="02040503050406030204" pitchFamily="18" charset="0"/>
                      </a:rPr>
                      <m:t>=</m:t>
                    </m:r>
                    <m:f>
                      <m:fPr>
                        <m:ctrlPr>
                          <a:rPr lang="en-SE" b="0" i="1" smtClean="0">
                            <a:latin typeface="Cambria Math" panose="02040503050406030204" pitchFamily="18" charset="0"/>
                          </a:rPr>
                        </m:ctrlPr>
                      </m:fPr>
                      <m:num>
                        <m:sSub>
                          <m:sSubPr>
                            <m:ctrlPr>
                              <a:rPr lang="en-SE" b="0" i="1" smtClean="0">
                                <a:latin typeface="Cambria Math" panose="02040503050406030204" pitchFamily="18" charset="0"/>
                              </a:rPr>
                            </m:ctrlPr>
                          </m:sSubPr>
                          <m:e>
                            <m:r>
                              <a:rPr lang="en-SE" b="0" i="1" smtClean="0">
                                <a:latin typeface="Cambria Math" panose="02040503050406030204" pitchFamily="18" charset="0"/>
                              </a:rPr>
                              <m:t>𝑑</m:t>
                            </m:r>
                          </m:e>
                          <m:sub>
                            <m:r>
                              <a:rPr lang="en-SE" b="0" i="1" smtClean="0">
                                <a:latin typeface="Cambria Math" panose="02040503050406030204" pitchFamily="18" charset="0"/>
                              </a:rPr>
                              <m:t>𝑥</m:t>
                            </m:r>
                            <m:r>
                              <a:rPr lang="en-SE" b="0" i="1" smtClean="0">
                                <a:latin typeface="Cambria Math" panose="02040503050406030204" pitchFamily="18" charset="0"/>
                              </a:rPr>
                              <m:t>+1</m:t>
                            </m:r>
                          </m:sub>
                        </m:sSub>
                      </m:num>
                      <m:den>
                        <m:sSub>
                          <m:sSubPr>
                            <m:ctrlPr>
                              <a:rPr lang="en-SE" b="0" i="1" smtClean="0">
                                <a:latin typeface="Cambria Math" panose="02040503050406030204" pitchFamily="18" charset="0"/>
                              </a:rPr>
                            </m:ctrlPr>
                          </m:sSubPr>
                          <m:e>
                            <m:r>
                              <a:rPr lang="en-SE" b="0" i="1" smtClean="0">
                                <a:latin typeface="Cambria Math" panose="02040503050406030204" pitchFamily="18" charset="0"/>
                              </a:rPr>
                              <m:t>𝑑</m:t>
                            </m:r>
                          </m:e>
                          <m:sub>
                            <m:r>
                              <a:rPr lang="en-SE" b="0" i="1" smtClean="0">
                                <a:latin typeface="Cambria Math" panose="02040503050406030204" pitchFamily="18" charset="0"/>
                              </a:rPr>
                              <m:t>𝑥</m:t>
                            </m:r>
                          </m:sub>
                        </m:sSub>
                      </m:den>
                    </m:f>
                  </m:oMath>
                </a14:m>
                <a:r>
                  <a:rPr lang="en-SE" dirty="0"/>
                  <a:t> (or </a:t>
                </a:r>
                <a14:m>
                  <m:oMath xmlns:m="http://schemas.openxmlformats.org/officeDocument/2006/math">
                    <m:f>
                      <m:fPr>
                        <m:ctrlPr>
                          <a:rPr lang="en-SE" i="1">
                            <a:latin typeface="Cambria Math" panose="02040503050406030204" pitchFamily="18" charset="0"/>
                          </a:rPr>
                        </m:ctrlPr>
                      </m:fPr>
                      <m:num>
                        <m:sSub>
                          <m:sSubPr>
                            <m:ctrlPr>
                              <a:rPr lang="en-SE" i="1">
                                <a:latin typeface="Cambria Math" panose="02040503050406030204" pitchFamily="18" charset="0"/>
                              </a:rPr>
                            </m:ctrlPr>
                          </m:sSubPr>
                          <m:e>
                            <m:r>
                              <a:rPr lang="en-SE" i="1">
                                <a:latin typeface="Cambria Math" panose="02040503050406030204" pitchFamily="18" charset="0"/>
                              </a:rPr>
                              <m:t>𝑑</m:t>
                            </m:r>
                          </m:e>
                          <m:sub>
                            <m:r>
                              <a:rPr lang="en-SE" i="1">
                                <a:latin typeface="Cambria Math" panose="02040503050406030204" pitchFamily="18" charset="0"/>
                              </a:rPr>
                              <m:t>𝑥</m:t>
                            </m:r>
                            <m:r>
                              <a:rPr lang="en-SE" b="0" i="1" smtClean="0">
                                <a:latin typeface="Cambria Math" panose="02040503050406030204" pitchFamily="18" charset="0"/>
                              </a:rPr>
                              <m:t>−1</m:t>
                            </m:r>
                          </m:sub>
                        </m:sSub>
                      </m:num>
                      <m:den>
                        <m:sSub>
                          <m:sSubPr>
                            <m:ctrlPr>
                              <a:rPr lang="en-SE" i="1">
                                <a:latin typeface="Cambria Math" panose="02040503050406030204" pitchFamily="18" charset="0"/>
                              </a:rPr>
                            </m:ctrlPr>
                          </m:sSubPr>
                          <m:e>
                            <m:r>
                              <a:rPr lang="en-SE" i="1">
                                <a:latin typeface="Cambria Math" panose="02040503050406030204" pitchFamily="18" charset="0"/>
                              </a:rPr>
                              <m:t>𝑑</m:t>
                            </m:r>
                          </m:e>
                          <m:sub>
                            <m:r>
                              <a:rPr lang="en-SE" i="1">
                                <a:latin typeface="Cambria Math" panose="02040503050406030204" pitchFamily="18" charset="0"/>
                              </a:rPr>
                              <m:t>𝑥</m:t>
                            </m:r>
                          </m:sub>
                        </m:sSub>
                      </m:den>
                    </m:f>
                  </m:oMath>
                </a14:m>
                <a:r>
                  <a:rPr lang="en-SE" dirty="0"/>
                  <a:t>)</a:t>
                </a:r>
              </a:p>
              <a:p>
                <a:pPr marL="342900" indent="-342900">
                  <a:buFont typeface="+mj-lt"/>
                  <a:buAutoNum type="arabicPeriod"/>
                </a:pPr>
                <a:r>
                  <a:rPr lang="en-SE" dirty="0"/>
                  <a:t>Repeat from (2)</a:t>
                </a:r>
              </a:p>
            </p:txBody>
          </p:sp>
        </mc:Choice>
        <mc:Fallback xmlns="">
          <p:sp>
            <p:nvSpPr>
              <p:cNvPr id="58" name="TextBox 57">
                <a:extLst>
                  <a:ext uri="{FF2B5EF4-FFF2-40B4-BE49-F238E27FC236}">
                    <a16:creationId xmlns:a16="http://schemas.microsoft.com/office/drawing/2014/main" id="{3D7AD7C1-3971-69DD-51AF-A6DF37BEB73A}"/>
                  </a:ext>
                </a:extLst>
              </p:cNvPr>
              <p:cNvSpPr txBox="1">
                <a:spLocks noRot="1" noChangeAspect="1" noMove="1" noResize="1" noEditPoints="1" noAdjustHandles="1" noChangeArrowheads="1" noChangeShapeType="1" noTextEdit="1"/>
              </p:cNvSpPr>
              <p:nvPr/>
            </p:nvSpPr>
            <p:spPr>
              <a:xfrm>
                <a:off x="7181760" y="3003021"/>
                <a:ext cx="4172039" cy="1910523"/>
              </a:xfrm>
              <a:prstGeom prst="rect">
                <a:avLst/>
              </a:prstGeom>
              <a:blipFill>
                <a:blip r:embed="rId17"/>
                <a:stretch>
                  <a:fillRect l="-1316" t="-1917" b="-4473"/>
                </a:stretch>
              </a:blipFill>
            </p:spPr>
            <p:txBody>
              <a:bodyPr/>
              <a:lstStyle/>
              <a:p>
                <a:r>
                  <a:rPr lang="en-SE">
                    <a:noFill/>
                  </a:rPr>
                  <a:t> </a:t>
                </a:r>
              </a:p>
            </p:txBody>
          </p:sp>
        </mc:Fallback>
      </mc:AlternateContent>
      <p:sp>
        <p:nvSpPr>
          <p:cNvPr id="59" name="Oval 58">
            <a:extLst>
              <a:ext uri="{FF2B5EF4-FFF2-40B4-BE49-F238E27FC236}">
                <a16:creationId xmlns:a16="http://schemas.microsoft.com/office/drawing/2014/main" id="{007CB052-F08D-BD29-6A4C-74B483BB42C5}"/>
              </a:ext>
            </a:extLst>
          </p:cNvPr>
          <p:cNvSpPr/>
          <p:nvPr/>
        </p:nvSpPr>
        <p:spPr>
          <a:xfrm>
            <a:off x="4657481" y="5479938"/>
            <a:ext cx="360000" cy="360000"/>
          </a:xfrm>
          <a:prstGeom prst="ellipse">
            <a:avLst/>
          </a:prstGeom>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61" name="Oval 60">
            <a:extLst>
              <a:ext uri="{FF2B5EF4-FFF2-40B4-BE49-F238E27FC236}">
                <a16:creationId xmlns:a16="http://schemas.microsoft.com/office/drawing/2014/main" id="{33983D0D-0881-0B0E-D975-8DB908261D10}"/>
              </a:ext>
            </a:extLst>
          </p:cNvPr>
          <p:cNvSpPr/>
          <p:nvPr/>
        </p:nvSpPr>
        <p:spPr>
          <a:xfrm>
            <a:off x="5430642" y="5479938"/>
            <a:ext cx="360000" cy="360000"/>
          </a:xfrm>
          <a:prstGeom prst="ellipse">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63" name="Connector: Curved 62">
            <a:extLst>
              <a:ext uri="{FF2B5EF4-FFF2-40B4-BE49-F238E27FC236}">
                <a16:creationId xmlns:a16="http://schemas.microsoft.com/office/drawing/2014/main" id="{5E96965A-43E0-9113-14B9-CB535C8675CA}"/>
              </a:ext>
            </a:extLst>
          </p:cNvPr>
          <p:cNvCxnSpPr>
            <a:stCxn id="59" idx="5"/>
            <a:endCxn id="61" idx="3"/>
          </p:cNvCxnSpPr>
          <p:nvPr/>
        </p:nvCxnSpPr>
        <p:spPr>
          <a:xfrm rot="16200000" flipH="1">
            <a:off x="5224061" y="5527915"/>
            <a:ext cx="12700" cy="518603"/>
          </a:xfrm>
          <a:prstGeom prst="curvedConnector3">
            <a:avLst>
              <a:gd name="adj1" fmla="val 2215126"/>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23028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8">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8">
                                            <p:txEl>
                                              <p:pRg st="1" end="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8">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3" grpId="0" animBg="1"/>
      <p:bldP spid="25" grpId="0" animBg="1"/>
      <p:bldP spid="46" grpId="0" animBg="1"/>
      <p:bldP spid="7" grpId="0"/>
      <p:bldP spid="8" grpId="0" animBg="1"/>
      <p:bldP spid="12" grpId="0" animBg="1"/>
      <p:bldP spid="14" grpId="0" animBg="1"/>
      <p:bldP spid="16" grpId="0" animBg="1"/>
      <p:bldP spid="18" grpId="0" animBg="1"/>
      <p:bldP spid="48" grpId="0"/>
      <p:bldP spid="49" grpId="0"/>
      <p:bldP spid="51" grpId="0"/>
      <p:bldP spid="53" grpId="0"/>
      <p:bldP spid="55" grpId="0"/>
      <p:bldP spid="57" grpId="0"/>
      <p:bldP spid="58" grpId="0" uiExpand="1" build="p"/>
      <p:bldP spid="59" grpId="0" animBg="1"/>
      <p:bldP spid="6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E8D9B-B4F3-A1BE-2336-8EDD8DF64C64}"/>
              </a:ext>
            </a:extLst>
          </p:cNvPr>
          <p:cNvSpPr>
            <a:spLocks noGrp="1"/>
          </p:cNvSpPr>
          <p:nvPr>
            <p:ph type="title"/>
          </p:nvPr>
        </p:nvSpPr>
        <p:spPr/>
        <p:txBody>
          <a:bodyPr/>
          <a:lstStyle/>
          <a:p>
            <a:r>
              <a:rPr lang="en-SE" dirty="0"/>
              <a:t>Markov chain Monte Carlo Sampling</a:t>
            </a:r>
          </a:p>
        </p:txBody>
      </p:sp>
      <p:sp>
        <p:nvSpPr>
          <p:cNvPr id="3" name="Content Placeholder 2">
            <a:extLst>
              <a:ext uri="{FF2B5EF4-FFF2-40B4-BE49-F238E27FC236}">
                <a16:creationId xmlns:a16="http://schemas.microsoft.com/office/drawing/2014/main" id="{E60C4F28-AAFC-E9EB-72FC-979EE1DDD53A}"/>
              </a:ext>
            </a:extLst>
          </p:cNvPr>
          <p:cNvSpPr>
            <a:spLocks noGrp="1"/>
          </p:cNvSpPr>
          <p:nvPr>
            <p:ph idx="1"/>
          </p:nvPr>
        </p:nvSpPr>
        <p:spPr>
          <a:xfrm>
            <a:off x="838200" y="1825625"/>
            <a:ext cx="10515600" cy="1675697"/>
          </a:xfrm>
        </p:spPr>
        <p:txBody>
          <a:bodyPr/>
          <a:lstStyle/>
          <a:p>
            <a:pPr marL="0" indent="0">
              <a:buNone/>
            </a:pPr>
            <a:r>
              <a:rPr lang="en-SE" dirty="0"/>
              <a:t>Over time, the chain wanders through the parameter space drawing more samples from high-density regions. Since only the </a:t>
            </a:r>
            <a:r>
              <a:rPr lang="en-SE" b="1" dirty="0"/>
              <a:t>ratio of densities </a:t>
            </a:r>
            <a:r>
              <a:rPr lang="en-SE" dirty="0"/>
              <a:t>matters at each step, the (unknown) normalizing constant becomes irrelevant.</a:t>
            </a:r>
          </a:p>
        </p:txBody>
      </p:sp>
      <p:sp>
        <p:nvSpPr>
          <p:cNvPr id="4" name="Date Placeholder 3">
            <a:extLst>
              <a:ext uri="{FF2B5EF4-FFF2-40B4-BE49-F238E27FC236}">
                <a16:creationId xmlns:a16="http://schemas.microsoft.com/office/drawing/2014/main" id="{073D3492-8415-6E02-FDE4-C49125487913}"/>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15A0F28F-B75A-D738-824E-B69F6E66039C}"/>
              </a:ext>
            </a:extLst>
          </p:cNvPr>
          <p:cNvSpPr>
            <a:spLocks noGrp="1"/>
          </p:cNvSpPr>
          <p:nvPr>
            <p:ph type="sldNum" sz="quarter" idx="12"/>
          </p:nvPr>
        </p:nvSpPr>
        <p:spPr/>
        <p:txBody>
          <a:bodyPr/>
          <a:lstStyle/>
          <a:p>
            <a:fld id="{271ECC92-9CDE-4EB3-B1C5-F46B9E1FA3C1}" type="slidenum">
              <a:rPr lang="en-SE" smtClean="0"/>
              <a:t>58</a:t>
            </a:fld>
            <a:endParaRPr lang="en-SE"/>
          </a:p>
        </p:txBody>
      </p:sp>
      <p:sp>
        <p:nvSpPr>
          <p:cNvPr id="6" name="Footer Placeholder 5">
            <a:extLst>
              <a:ext uri="{FF2B5EF4-FFF2-40B4-BE49-F238E27FC236}">
                <a16:creationId xmlns:a16="http://schemas.microsoft.com/office/drawing/2014/main" id="{9F839353-2C35-E4A5-F29C-48475C856CB9}"/>
              </a:ext>
            </a:extLst>
          </p:cNvPr>
          <p:cNvSpPr>
            <a:spLocks noGrp="1"/>
          </p:cNvSpPr>
          <p:nvPr>
            <p:ph type="ftr" sz="quarter" idx="11"/>
          </p:nvPr>
        </p:nvSpPr>
        <p:spPr/>
        <p:txBody>
          <a:bodyPr/>
          <a:lstStyle/>
          <a:p>
            <a:r>
              <a:rPr lang="de-DE"/>
              <a:t>Bayesian Data Analysis Tutorial</a:t>
            </a:r>
            <a:endParaRPr lang="en-SE"/>
          </a:p>
        </p:txBody>
      </p:sp>
      <p:grpSp>
        <p:nvGrpSpPr>
          <p:cNvPr id="26" name="Group 25">
            <a:extLst>
              <a:ext uri="{FF2B5EF4-FFF2-40B4-BE49-F238E27FC236}">
                <a16:creationId xmlns:a16="http://schemas.microsoft.com/office/drawing/2014/main" id="{D9E59F90-072F-06DC-6692-118F2CB75444}"/>
              </a:ext>
            </a:extLst>
          </p:cNvPr>
          <p:cNvGrpSpPr/>
          <p:nvPr/>
        </p:nvGrpSpPr>
        <p:grpSpPr>
          <a:xfrm>
            <a:off x="203635" y="1825625"/>
            <a:ext cx="504000" cy="504000"/>
            <a:chOff x="977950" y="2729564"/>
            <a:chExt cx="504000" cy="504000"/>
          </a:xfrm>
        </p:grpSpPr>
        <p:sp>
          <p:nvSpPr>
            <p:cNvPr id="27" name="Oval 26">
              <a:extLst>
                <a:ext uri="{FF2B5EF4-FFF2-40B4-BE49-F238E27FC236}">
                  <a16:creationId xmlns:a16="http://schemas.microsoft.com/office/drawing/2014/main" id="{F3959510-0991-0B0B-3B3D-EEE0C828F3F3}"/>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8" name="Graphic 27" descr="Golden Ratio with solid fill">
              <a:extLst>
                <a:ext uri="{FF2B5EF4-FFF2-40B4-BE49-F238E27FC236}">
                  <a16:creationId xmlns:a16="http://schemas.microsoft.com/office/drawing/2014/main" id="{58092143-81A2-49D3-F71F-03D97056EC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29" name="Group 28">
            <a:extLst>
              <a:ext uri="{FF2B5EF4-FFF2-40B4-BE49-F238E27FC236}">
                <a16:creationId xmlns:a16="http://schemas.microsoft.com/office/drawing/2014/main" id="{F05566FE-B866-ECB1-B2F5-0E7EDCF2499B}"/>
              </a:ext>
            </a:extLst>
          </p:cNvPr>
          <p:cNvGrpSpPr/>
          <p:nvPr/>
        </p:nvGrpSpPr>
        <p:grpSpPr>
          <a:xfrm>
            <a:off x="203635" y="2439322"/>
            <a:ext cx="504000" cy="504000"/>
            <a:chOff x="977950" y="2729564"/>
            <a:chExt cx="504000" cy="504000"/>
          </a:xfrm>
        </p:grpSpPr>
        <p:sp>
          <p:nvSpPr>
            <p:cNvPr id="30" name="Oval 29">
              <a:extLst>
                <a:ext uri="{FF2B5EF4-FFF2-40B4-BE49-F238E27FC236}">
                  <a16:creationId xmlns:a16="http://schemas.microsoft.com/office/drawing/2014/main" id="{59B02D2A-D613-E172-2087-18D5F263AE9B}"/>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1" name="Graphic 30" descr="Normal Distribution with solid fill">
              <a:extLst>
                <a:ext uri="{FF2B5EF4-FFF2-40B4-BE49-F238E27FC236}">
                  <a16:creationId xmlns:a16="http://schemas.microsoft.com/office/drawing/2014/main" id="{0EC4F2BC-6540-A0AC-3525-9F48D2D7608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32" name="Group 31">
            <a:extLst>
              <a:ext uri="{FF2B5EF4-FFF2-40B4-BE49-F238E27FC236}">
                <a16:creationId xmlns:a16="http://schemas.microsoft.com/office/drawing/2014/main" id="{7D0FD906-2C73-DE40-E0CA-344B78625EEE}"/>
              </a:ext>
            </a:extLst>
          </p:cNvPr>
          <p:cNvGrpSpPr/>
          <p:nvPr/>
        </p:nvGrpSpPr>
        <p:grpSpPr>
          <a:xfrm>
            <a:off x="203635" y="3053019"/>
            <a:ext cx="504000" cy="504000"/>
            <a:chOff x="977950" y="2729564"/>
            <a:chExt cx="504000" cy="504000"/>
          </a:xfrm>
        </p:grpSpPr>
        <p:sp>
          <p:nvSpPr>
            <p:cNvPr id="33" name="Oval 32">
              <a:extLst>
                <a:ext uri="{FF2B5EF4-FFF2-40B4-BE49-F238E27FC236}">
                  <a16:creationId xmlns:a16="http://schemas.microsoft.com/office/drawing/2014/main" id="{BE4F49F1-E98B-2959-B246-0A78A52D9158}"/>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4" name="Graphic 33" descr="Abacus with solid fill">
              <a:extLst>
                <a:ext uri="{FF2B5EF4-FFF2-40B4-BE49-F238E27FC236}">
                  <a16:creationId xmlns:a16="http://schemas.microsoft.com/office/drawing/2014/main" id="{B91A8D2E-F8D6-C3C6-2C9E-C279D3EB073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35" name="Group 34">
            <a:extLst>
              <a:ext uri="{FF2B5EF4-FFF2-40B4-BE49-F238E27FC236}">
                <a16:creationId xmlns:a16="http://schemas.microsoft.com/office/drawing/2014/main" id="{4D86F921-F31F-DFB5-A61A-B7C4D00982B1}"/>
              </a:ext>
            </a:extLst>
          </p:cNvPr>
          <p:cNvGrpSpPr/>
          <p:nvPr/>
        </p:nvGrpSpPr>
        <p:grpSpPr>
          <a:xfrm>
            <a:off x="203635" y="3666716"/>
            <a:ext cx="504000" cy="504000"/>
            <a:chOff x="977950" y="2729564"/>
            <a:chExt cx="504000" cy="504000"/>
          </a:xfrm>
        </p:grpSpPr>
        <p:sp>
          <p:nvSpPr>
            <p:cNvPr id="36" name="Oval 35">
              <a:extLst>
                <a:ext uri="{FF2B5EF4-FFF2-40B4-BE49-F238E27FC236}">
                  <a16:creationId xmlns:a16="http://schemas.microsoft.com/office/drawing/2014/main" id="{1F0771E0-CCF6-0AB5-58CC-D2DED7078CC6}"/>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7" name="Graphic 36" descr="Trigonometry with solid fill">
              <a:extLst>
                <a:ext uri="{FF2B5EF4-FFF2-40B4-BE49-F238E27FC236}">
                  <a16:creationId xmlns:a16="http://schemas.microsoft.com/office/drawing/2014/main" id="{17B1766E-2723-82D4-9DC7-45C28B81C8E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38" name="Group 37">
            <a:extLst>
              <a:ext uri="{FF2B5EF4-FFF2-40B4-BE49-F238E27FC236}">
                <a16:creationId xmlns:a16="http://schemas.microsoft.com/office/drawing/2014/main" id="{56B5134D-DD20-A903-1DE2-CBE897B3C3FA}"/>
              </a:ext>
            </a:extLst>
          </p:cNvPr>
          <p:cNvGrpSpPr/>
          <p:nvPr/>
        </p:nvGrpSpPr>
        <p:grpSpPr>
          <a:xfrm>
            <a:off x="203635" y="4280414"/>
            <a:ext cx="504000" cy="504000"/>
            <a:chOff x="977950" y="2729564"/>
            <a:chExt cx="504000" cy="504000"/>
          </a:xfrm>
        </p:grpSpPr>
        <p:sp>
          <p:nvSpPr>
            <p:cNvPr id="39" name="Oval 38">
              <a:extLst>
                <a:ext uri="{FF2B5EF4-FFF2-40B4-BE49-F238E27FC236}">
                  <a16:creationId xmlns:a16="http://schemas.microsoft.com/office/drawing/2014/main" id="{DF38371D-AF75-2EC2-A8A5-F175778C5FA9}"/>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0" name="Graphic 39" descr="Scatterplot with solid fill">
              <a:extLst>
                <a:ext uri="{FF2B5EF4-FFF2-40B4-BE49-F238E27FC236}">
                  <a16:creationId xmlns:a16="http://schemas.microsoft.com/office/drawing/2014/main" id="{98EA29DC-F170-517E-F4B3-B4292B22D09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41" name="Straight Arrow Connector 40">
            <a:extLst>
              <a:ext uri="{FF2B5EF4-FFF2-40B4-BE49-F238E27FC236}">
                <a16:creationId xmlns:a16="http://schemas.microsoft.com/office/drawing/2014/main" id="{99EB80FA-5FD5-11EE-FBFB-88615953F34F}"/>
              </a:ext>
            </a:extLst>
          </p:cNvPr>
          <p:cNvCxnSpPr>
            <a:cxnSpLocks/>
            <a:stCxn id="27" idx="4"/>
            <a:endCxn id="30"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55461B1F-C99A-770D-3581-E8C0E21D5D21}"/>
              </a:ext>
            </a:extLst>
          </p:cNvPr>
          <p:cNvCxnSpPr>
            <a:cxnSpLocks/>
            <a:stCxn id="30" idx="4"/>
            <a:endCxn id="33"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F08F467E-CB92-0719-17DF-CA7C612109AC}"/>
              </a:ext>
            </a:extLst>
          </p:cNvPr>
          <p:cNvCxnSpPr>
            <a:cxnSpLocks/>
            <a:stCxn id="33" idx="4"/>
            <a:endCxn id="36"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5E54DE6B-BA3C-A3BC-C7CD-0B4B4F82616C}"/>
              </a:ext>
            </a:extLst>
          </p:cNvPr>
          <p:cNvCxnSpPr>
            <a:cxnSpLocks/>
            <a:stCxn id="36" idx="4"/>
            <a:endCxn id="39"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6" name="TextBox 45">
            <a:extLst>
              <a:ext uri="{FF2B5EF4-FFF2-40B4-BE49-F238E27FC236}">
                <a16:creationId xmlns:a16="http://schemas.microsoft.com/office/drawing/2014/main" id="{38DCB36E-3372-66E4-0CB0-D05597E5A781}"/>
              </a:ext>
            </a:extLst>
          </p:cNvPr>
          <p:cNvSpPr txBox="1"/>
          <p:nvPr/>
        </p:nvSpPr>
        <p:spPr>
          <a:xfrm>
            <a:off x="1807335" y="3657106"/>
            <a:ext cx="9743730" cy="523220"/>
          </a:xfrm>
          <a:prstGeom prst="rect">
            <a:avLst/>
          </a:prstGeom>
          <a:noFill/>
        </p:spPr>
        <p:txBody>
          <a:bodyPr wrap="square">
            <a:spAutoFit/>
          </a:bodyPr>
          <a:lstStyle/>
          <a:p>
            <a:pPr marL="0" indent="0">
              <a:buNone/>
            </a:pPr>
            <a:r>
              <a:rPr lang="en-SE" sz="2800" dirty="0"/>
              <a:t>Visualization: </a:t>
            </a:r>
            <a:r>
              <a:rPr lang="de-DE" sz="2800" dirty="0">
                <a:hlinkClick r:id="rId8"/>
              </a:rPr>
              <a:t>https://chi-feng.github.io/mcmc-demo/app.html</a:t>
            </a:r>
            <a:r>
              <a:rPr lang="en-SE" sz="2800" dirty="0"/>
              <a:t> </a:t>
            </a:r>
          </a:p>
        </p:txBody>
      </p:sp>
      <p:pic>
        <p:nvPicPr>
          <p:cNvPr id="48" name="Graphic 47" descr="Periodic Graph with solid fill">
            <a:extLst>
              <a:ext uri="{FF2B5EF4-FFF2-40B4-BE49-F238E27FC236}">
                <a16:creationId xmlns:a16="http://schemas.microsoft.com/office/drawing/2014/main" id="{181A5267-4606-47D4-9C2D-9674A3E0074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92935" y="3501322"/>
            <a:ext cx="914400" cy="914400"/>
          </a:xfrm>
          <a:prstGeom prst="rect">
            <a:avLst/>
          </a:prstGeom>
        </p:spPr>
      </p:pic>
      <p:sp>
        <p:nvSpPr>
          <p:cNvPr id="49" name="Content Placeholder 2">
            <a:extLst>
              <a:ext uri="{FF2B5EF4-FFF2-40B4-BE49-F238E27FC236}">
                <a16:creationId xmlns:a16="http://schemas.microsoft.com/office/drawing/2014/main" id="{092FB800-7660-8A41-864B-7028D8515101}"/>
              </a:ext>
            </a:extLst>
          </p:cNvPr>
          <p:cNvSpPr txBox="1">
            <a:spLocks/>
          </p:cNvSpPr>
          <p:nvPr/>
        </p:nvSpPr>
        <p:spPr>
          <a:xfrm>
            <a:off x="838198" y="4604478"/>
            <a:ext cx="10515600" cy="16756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buNone/>
              <a:defRPr/>
            </a:pPr>
            <a:r>
              <a:rPr lang="en-SE" dirty="0"/>
              <a:t>This is also the reason why BDA has only been adopted so recently: these MCMC sampling algorithms were computationally infeasible just until recently.</a:t>
            </a:r>
          </a:p>
        </p:txBody>
      </p:sp>
    </p:spTree>
    <p:extLst>
      <p:ext uri="{BB962C8B-B14F-4D97-AF65-F5344CB8AC3E}">
        <p14:creationId xmlns:p14="http://schemas.microsoft.com/office/powerpoint/2010/main" val="2733465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AC482-44E0-DC13-5F36-889A032CF176}"/>
              </a:ext>
            </a:extLst>
          </p:cNvPr>
          <p:cNvSpPr>
            <a:spLocks noGrp="1"/>
          </p:cNvSpPr>
          <p:nvPr>
            <p:ph type="title"/>
          </p:nvPr>
        </p:nvSpPr>
        <p:spPr/>
        <p:txBody>
          <a:bodyPr/>
          <a:lstStyle/>
          <a:p>
            <a:r>
              <a:rPr lang="en-SE" dirty="0"/>
              <a:t>Markov chain Monte Carlo Sampling</a:t>
            </a:r>
          </a:p>
        </p:txBody>
      </p:sp>
      <p:sp>
        <p:nvSpPr>
          <p:cNvPr id="4" name="Date Placeholder 3">
            <a:extLst>
              <a:ext uri="{FF2B5EF4-FFF2-40B4-BE49-F238E27FC236}">
                <a16:creationId xmlns:a16="http://schemas.microsoft.com/office/drawing/2014/main" id="{0CEC84E9-FE4E-4298-B3C2-A7917B6D647B}"/>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3BC65AFE-6B6C-51A2-A077-25BC1EC427CF}"/>
              </a:ext>
            </a:extLst>
          </p:cNvPr>
          <p:cNvSpPr>
            <a:spLocks noGrp="1"/>
          </p:cNvSpPr>
          <p:nvPr>
            <p:ph type="sldNum" sz="quarter" idx="12"/>
          </p:nvPr>
        </p:nvSpPr>
        <p:spPr/>
        <p:txBody>
          <a:bodyPr/>
          <a:lstStyle/>
          <a:p>
            <a:fld id="{271ECC92-9CDE-4EB3-B1C5-F46B9E1FA3C1}" type="slidenum">
              <a:rPr lang="en-SE" smtClean="0"/>
              <a:t>59</a:t>
            </a:fld>
            <a:endParaRPr lang="en-SE"/>
          </a:p>
        </p:txBody>
      </p:sp>
      <p:sp>
        <p:nvSpPr>
          <p:cNvPr id="6" name="Footer Placeholder 5">
            <a:extLst>
              <a:ext uri="{FF2B5EF4-FFF2-40B4-BE49-F238E27FC236}">
                <a16:creationId xmlns:a16="http://schemas.microsoft.com/office/drawing/2014/main" id="{8D9F0B26-E02F-D2DA-57CC-AC0FD4842034}"/>
              </a:ext>
            </a:extLst>
          </p:cNvPr>
          <p:cNvSpPr>
            <a:spLocks noGrp="1"/>
          </p:cNvSpPr>
          <p:nvPr>
            <p:ph type="ftr" sz="quarter" idx="11"/>
          </p:nvPr>
        </p:nvSpPr>
        <p:spPr/>
        <p:txBody>
          <a:bodyPr/>
          <a:lstStyle/>
          <a:p>
            <a:r>
              <a:rPr lang="de-DE"/>
              <a:t>Bayesian Data Analysis Tutorial</a:t>
            </a:r>
            <a:endParaRPr lang="en-SE"/>
          </a:p>
        </p:txBody>
      </p:sp>
      <p:sp>
        <p:nvSpPr>
          <p:cNvPr id="27" name="Content Placeholder 26">
            <a:extLst>
              <a:ext uri="{FF2B5EF4-FFF2-40B4-BE49-F238E27FC236}">
                <a16:creationId xmlns:a16="http://schemas.microsoft.com/office/drawing/2014/main" id="{CABCE323-E848-2143-61CE-F9E6B1785B4E}"/>
              </a:ext>
            </a:extLst>
          </p:cNvPr>
          <p:cNvSpPr>
            <a:spLocks noGrp="1"/>
          </p:cNvSpPr>
          <p:nvPr>
            <p:ph idx="1"/>
          </p:nvPr>
        </p:nvSpPr>
        <p:spPr>
          <a:xfrm>
            <a:off x="838200" y="1825625"/>
            <a:ext cx="10515600" cy="1281394"/>
          </a:xfrm>
        </p:spPr>
        <p:txBody>
          <a:bodyPr/>
          <a:lstStyle/>
          <a:p>
            <a:pPr marL="0" indent="0">
              <a:buNone/>
            </a:pPr>
            <a:r>
              <a:rPr lang="en-SE" dirty="0"/>
              <a:t>Executing the MCMC sampler is similar to the prior predictive check, simply removing the </a:t>
            </a:r>
            <a:r>
              <a:rPr lang="en-US" dirty="0" err="1">
                <a:latin typeface="Courier New" panose="02070309020205020404" pitchFamily="49" charset="0"/>
                <a:cs typeface="Courier New" panose="02070309020205020404" pitchFamily="49" charset="0"/>
              </a:rPr>
              <a:t>sample_prior</a:t>
            </a:r>
            <a:r>
              <a:rPr lang="en-SE"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a:t>
            </a:r>
            <a:r>
              <a:rPr lang="en-SE"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only</a:t>
            </a:r>
            <a:r>
              <a:rPr lang="en-SE" dirty="0">
                <a:latin typeface="Courier New" panose="02070309020205020404" pitchFamily="49" charset="0"/>
                <a:cs typeface="Courier New" panose="02070309020205020404" pitchFamily="49" charset="0"/>
              </a:rPr>
              <a:t>” </a:t>
            </a:r>
            <a:r>
              <a:rPr lang="en-SE" dirty="0"/>
              <a:t>configuration.</a:t>
            </a:r>
          </a:p>
        </p:txBody>
      </p:sp>
      <p:sp>
        <p:nvSpPr>
          <p:cNvPr id="29" name="Rectangle 28">
            <a:extLst>
              <a:ext uri="{FF2B5EF4-FFF2-40B4-BE49-F238E27FC236}">
                <a16:creationId xmlns:a16="http://schemas.microsoft.com/office/drawing/2014/main" id="{AB3FC50E-9C09-3F16-8F8E-B271738AA0F9}"/>
              </a:ext>
            </a:extLst>
          </p:cNvPr>
          <p:cNvSpPr/>
          <p:nvPr/>
        </p:nvSpPr>
        <p:spPr>
          <a:xfrm>
            <a:off x="1474956" y="3399166"/>
            <a:ext cx="6067087" cy="2914298"/>
          </a:xfrm>
          <a:prstGeom prst="rect">
            <a:avLst/>
          </a:prstGeom>
          <a:solidFill>
            <a:schemeClr val="bg1">
              <a:lumMod val="95000"/>
            </a:schemeClr>
          </a:solidFill>
          <a:ln>
            <a:solidFill>
              <a:schemeClr val="tx1">
                <a:lumMod val="50000"/>
                <a:lumOff val="50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SE" dirty="0">
                <a:solidFill>
                  <a:schemeClr val="tx1"/>
                </a:solidFill>
                <a:latin typeface="Courier New" panose="02070309020205020404" pitchFamily="49" charset="0"/>
                <a:cs typeface="Courier New" panose="02070309020205020404" pitchFamily="49" charset="0"/>
              </a:rPr>
              <a:t>model &lt;- </a:t>
            </a:r>
            <a:r>
              <a:rPr lang="en-SE" dirty="0" err="1">
                <a:solidFill>
                  <a:schemeClr val="tx1"/>
                </a:solidFill>
                <a:latin typeface="Courier New" panose="02070309020205020404" pitchFamily="49" charset="0"/>
                <a:cs typeface="Courier New" panose="02070309020205020404" pitchFamily="49" charset="0"/>
              </a:rPr>
              <a:t>brm</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y ~ </a:t>
            </a:r>
            <a:r>
              <a:rPr lang="en-SE" dirty="0">
                <a:solidFill>
                  <a:schemeClr val="bg2">
                    <a:lumMod val="75000"/>
                  </a:schemeClr>
                </a:solidFill>
                <a:latin typeface="Courier New" panose="02070309020205020404" pitchFamily="49" charset="0"/>
                <a:cs typeface="Courier New" panose="02070309020205020404" pitchFamily="49" charset="0"/>
              </a:rPr>
              <a:t>1</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accent6"/>
                </a:solidFill>
                <a:latin typeface="Courier New" panose="02070309020205020404" pitchFamily="49" charset="0"/>
                <a:cs typeface="Courier New" panose="02070309020205020404" pitchFamily="49" charset="0"/>
              </a:rPr>
              <a:t>x</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accent6"/>
                </a:solidFill>
                <a:latin typeface="Courier New" panose="02070309020205020404" pitchFamily="49" charset="0"/>
                <a:cs typeface="Courier New" panose="02070309020205020404" pitchFamily="49" charset="0"/>
              </a:rPr>
              <a:t>z</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family = Gaussian,</a:t>
            </a:r>
          </a:p>
          <a:p>
            <a:r>
              <a:rPr lang="en-SE" dirty="0">
                <a:solidFill>
                  <a:schemeClr val="tx1"/>
                </a:solidFill>
                <a:latin typeface="Courier New" panose="02070309020205020404" pitchFamily="49" charset="0"/>
                <a:cs typeface="Courier New" panose="02070309020205020404" pitchFamily="49" charset="0"/>
              </a:rPr>
              <a:t>  priors = c(</a:t>
            </a:r>
          </a:p>
          <a:p>
            <a:r>
              <a:rPr lang="en-S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prior</a:t>
            </a:r>
            <a:r>
              <a:rPr lang="de-DE" dirty="0">
                <a:solidFill>
                  <a:schemeClr val="tx1"/>
                </a:solidFill>
                <a:latin typeface="Courier New" panose="02070309020205020404" pitchFamily="49" charset="0"/>
                <a:cs typeface="Courier New" panose="02070309020205020404" pitchFamily="49" charset="0"/>
              </a:rPr>
              <a:t>(normal(</a:t>
            </a:r>
            <a:r>
              <a:rPr lang="en-SE" dirty="0">
                <a:solidFill>
                  <a:schemeClr val="tx1"/>
                </a:solidFill>
                <a:latin typeface="Courier New" panose="02070309020205020404" pitchFamily="49" charset="0"/>
                <a:cs typeface="Courier New" panose="02070309020205020404" pitchFamily="49" charset="0"/>
              </a:rPr>
              <a:t>3</a:t>
            </a:r>
            <a:r>
              <a:rPr lang="de-DE" dirty="0">
                <a:solidFill>
                  <a:schemeClr val="tx1"/>
                </a:solidFill>
                <a:latin typeface="Courier New" panose="02070309020205020404" pitchFamily="49" charset="0"/>
                <a:cs typeface="Courier New" panose="02070309020205020404" pitchFamily="49" charset="0"/>
              </a:rPr>
              <a:t>, 1), </a:t>
            </a:r>
            <a:r>
              <a:rPr lang="de-DE" dirty="0" err="1">
                <a:solidFill>
                  <a:schemeClr val="tx1"/>
                </a:solidFill>
                <a:latin typeface="Courier New" panose="02070309020205020404" pitchFamily="49" charset="0"/>
                <a:cs typeface="Courier New" panose="02070309020205020404" pitchFamily="49" charset="0"/>
              </a:rPr>
              <a:t>class</a:t>
            </a:r>
            <a:r>
              <a:rPr lang="de-DE" dirty="0">
                <a:solidFill>
                  <a:schemeClr val="tx1"/>
                </a:solidFill>
                <a:latin typeface="Courier New" panose="02070309020205020404" pitchFamily="49" charset="0"/>
                <a:cs typeface="Courier New" panose="02070309020205020404" pitchFamily="49" charset="0"/>
              </a:rPr>
              <a:t> = </a:t>
            </a:r>
            <a:r>
              <a:rPr lang="de-DE" dirty="0" err="1">
                <a:solidFill>
                  <a:schemeClr val="tx1"/>
                </a:solidFill>
                <a:latin typeface="Courier New" panose="02070309020205020404" pitchFamily="49" charset="0"/>
                <a:cs typeface="Courier New" panose="02070309020205020404" pitchFamily="49" charset="0"/>
              </a:rPr>
              <a:t>Intercept</a:t>
            </a:r>
            <a:r>
              <a:rPr lang="de-DE" dirty="0">
                <a:solidFill>
                  <a:schemeClr val="tx1"/>
                </a:solidFill>
                <a:latin typeface="Courier New" panose="02070309020205020404" pitchFamily="49" charset="0"/>
                <a:cs typeface="Courier New" panose="02070309020205020404" pitchFamily="49" charset="0"/>
              </a:rPr>
              <a:t>),</a:t>
            </a:r>
            <a:endParaRPr lang="en-SE"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prior</a:t>
            </a:r>
            <a:r>
              <a:rPr lang="de-DE" dirty="0">
                <a:solidFill>
                  <a:schemeClr val="tx1"/>
                </a:solidFill>
                <a:latin typeface="Courier New" panose="02070309020205020404" pitchFamily="49" charset="0"/>
                <a:cs typeface="Courier New" panose="02070309020205020404" pitchFamily="49" charset="0"/>
              </a:rPr>
              <a:t>(normal(0, </a:t>
            </a:r>
            <a:r>
              <a:rPr lang="en-SE" dirty="0">
                <a:solidFill>
                  <a:schemeClr val="tx1"/>
                </a:solidFill>
                <a:latin typeface="Courier New" panose="02070309020205020404" pitchFamily="49" charset="0"/>
                <a:cs typeface="Courier New" panose="02070309020205020404" pitchFamily="49" charset="0"/>
              </a:rPr>
              <a:t>0.5</a:t>
            </a:r>
            <a:r>
              <a:rPr lang="de-D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class</a:t>
            </a:r>
            <a:r>
              <a:rPr lang="de-DE" dirty="0">
                <a:solidFill>
                  <a:schemeClr val="tx1"/>
                </a:solidFill>
                <a:latin typeface="Courier New" panose="02070309020205020404" pitchFamily="49" charset="0"/>
                <a:cs typeface="Courier New" panose="02070309020205020404" pitchFamily="49" charset="0"/>
              </a:rPr>
              <a:t> = b)</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prior</a:t>
            </a:r>
            <a:r>
              <a:rPr lang="de-DE" dirty="0">
                <a:solidFill>
                  <a:schemeClr val="tx1"/>
                </a:solidFill>
                <a:latin typeface="Courier New" panose="02070309020205020404" pitchFamily="49" charset="0"/>
                <a:cs typeface="Courier New" panose="02070309020205020404" pitchFamily="49" charset="0"/>
              </a:rPr>
              <a:t>(</a:t>
            </a:r>
            <a:r>
              <a:rPr lang="en-SE" dirty="0">
                <a:solidFill>
                  <a:schemeClr val="tx1"/>
                </a:solidFill>
                <a:latin typeface="Courier New" panose="02070309020205020404" pitchFamily="49" charset="0"/>
                <a:cs typeface="Courier New" panose="02070309020205020404" pitchFamily="49" charset="0"/>
              </a:rPr>
              <a:t>exp</a:t>
            </a:r>
            <a:r>
              <a:rPr lang="de-DE" dirty="0">
                <a:solidFill>
                  <a:schemeClr val="tx1"/>
                </a:solidFill>
                <a:latin typeface="Courier New" panose="02070309020205020404" pitchFamily="49" charset="0"/>
                <a:cs typeface="Courier New" panose="02070309020205020404" pitchFamily="49" charset="0"/>
              </a:rPr>
              <a:t>(</a:t>
            </a:r>
            <a:r>
              <a:rPr lang="en-SE" dirty="0">
                <a:solidFill>
                  <a:schemeClr val="tx1"/>
                </a:solidFill>
                <a:latin typeface="Courier New" panose="02070309020205020404" pitchFamily="49" charset="0"/>
                <a:cs typeface="Courier New" panose="02070309020205020404" pitchFamily="49" charset="0"/>
              </a:rPr>
              <a:t>1</a:t>
            </a:r>
            <a:r>
              <a:rPr lang="de-D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class</a:t>
            </a:r>
            <a:r>
              <a:rPr lang="de-DE" dirty="0">
                <a:solidFill>
                  <a:schemeClr val="tx1"/>
                </a:solidFill>
                <a:latin typeface="Courier New" panose="02070309020205020404" pitchFamily="49" charset="0"/>
                <a:cs typeface="Courier New" panose="02070309020205020404" pitchFamily="49" charset="0"/>
              </a:rPr>
              <a:t> = </a:t>
            </a:r>
            <a:r>
              <a:rPr lang="en-SE" dirty="0">
                <a:solidFill>
                  <a:schemeClr val="tx1"/>
                </a:solidFill>
                <a:latin typeface="Courier New" panose="02070309020205020404" pitchFamily="49" charset="0"/>
                <a:cs typeface="Courier New" panose="02070309020205020404" pitchFamily="49" charset="0"/>
              </a:rPr>
              <a:t>sigma</a:t>
            </a:r>
            <a:r>
              <a:rPr lang="de-DE" dirty="0">
                <a:solidFill>
                  <a:schemeClr val="tx1"/>
                </a:solidFill>
                <a:latin typeface="Courier New" panose="02070309020205020404" pitchFamily="49" charset="0"/>
                <a:cs typeface="Courier New" panose="02070309020205020404" pitchFamily="49" charset="0"/>
              </a:rPr>
              <a:t>))</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iter = 4000, warmup = 1000, chains = 4,</a:t>
            </a:r>
            <a:endParaRPr lang="en-SE"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  c</a:t>
            </a:r>
            <a:r>
              <a:rPr lang="en-US" dirty="0">
                <a:solidFill>
                  <a:schemeClr val="tx1"/>
                </a:solidFill>
                <a:latin typeface="Courier New" panose="02070309020205020404" pitchFamily="49" charset="0"/>
                <a:cs typeface="Courier New" panose="02070309020205020404" pitchFamily="49" charset="0"/>
              </a:rPr>
              <a:t>ores = 4, </a:t>
            </a:r>
            <a:r>
              <a:rPr lang="en-SE" dirty="0">
                <a:solidFill>
                  <a:schemeClr val="tx1"/>
                </a:solidFill>
                <a:latin typeface="Courier New" panose="02070309020205020404" pitchFamily="49" charset="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seed = 4</a:t>
            </a:r>
            <a:endParaRPr lang="en-SE"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a:t>
            </a:r>
          </a:p>
        </p:txBody>
      </p:sp>
      <p:sp>
        <p:nvSpPr>
          <p:cNvPr id="31" name="Rectangle 30">
            <a:extLst>
              <a:ext uri="{FF2B5EF4-FFF2-40B4-BE49-F238E27FC236}">
                <a16:creationId xmlns:a16="http://schemas.microsoft.com/office/drawing/2014/main" id="{9AEF166D-6DB2-5733-9010-AF164247F872}"/>
              </a:ext>
            </a:extLst>
          </p:cNvPr>
          <p:cNvSpPr/>
          <p:nvPr/>
        </p:nvSpPr>
        <p:spPr>
          <a:xfrm>
            <a:off x="1474956" y="3034041"/>
            <a:ext cx="6067087" cy="365125"/>
          </a:xfrm>
          <a:prstGeom prst="rect">
            <a:avLst/>
          </a:prstGeom>
          <a:solidFill>
            <a:schemeClr val="tx1">
              <a:lumMod val="65000"/>
              <a:lumOff val="3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E" dirty="0">
                <a:solidFill>
                  <a:schemeClr val="bg1"/>
                </a:solidFill>
                <a:latin typeface="Courier New" panose="02070309020205020404" pitchFamily="49" charset="0"/>
                <a:cs typeface="Courier New" panose="02070309020205020404" pitchFamily="49" charset="0"/>
              </a:rPr>
              <a:t>R 4.5.0 using library(brms)</a:t>
            </a:r>
          </a:p>
        </p:txBody>
      </p:sp>
      <p:grpSp>
        <p:nvGrpSpPr>
          <p:cNvPr id="32" name="Group 31">
            <a:extLst>
              <a:ext uri="{FF2B5EF4-FFF2-40B4-BE49-F238E27FC236}">
                <a16:creationId xmlns:a16="http://schemas.microsoft.com/office/drawing/2014/main" id="{9BF52D36-C931-652F-1B11-4F2C65679CA1}"/>
              </a:ext>
            </a:extLst>
          </p:cNvPr>
          <p:cNvGrpSpPr/>
          <p:nvPr/>
        </p:nvGrpSpPr>
        <p:grpSpPr>
          <a:xfrm>
            <a:off x="203635" y="1825625"/>
            <a:ext cx="504000" cy="504000"/>
            <a:chOff x="977950" y="2729564"/>
            <a:chExt cx="504000" cy="504000"/>
          </a:xfrm>
        </p:grpSpPr>
        <p:sp>
          <p:nvSpPr>
            <p:cNvPr id="33" name="Oval 32">
              <a:extLst>
                <a:ext uri="{FF2B5EF4-FFF2-40B4-BE49-F238E27FC236}">
                  <a16:creationId xmlns:a16="http://schemas.microsoft.com/office/drawing/2014/main" id="{6FE81445-92EE-6CFB-EE16-90B2899667E0}"/>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4" name="Graphic 33" descr="Golden Ratio with solid fill">
              <a:extLst>
                <a:ext uri="{FF2B5EF4-FFF2-40B4-BE49-F238E27FC236}">
                  <a16:creationId xmlns:a16="http://schemas.microsoft.com/office/drawing/2014/main" id="{128B0105-A6A9-F379-73FA-578D8E3D6B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950" y="2783564"/>
              <a:ext cx="396000" cy="396000"/>
            </a:xfrm>
            <a:prstGeom prst="rect">
              <a:avLst/>
            </a:prstGeom>
          </p:spPr>
        </p:pic>
      </p:grpSp>
      <p:grpSp>
        <p:nvGrpSpPr>
          <p:cNvPr id="35" name="Group 34">
            <a:extLst>
              <a:ext uri="{FF2B5EF4-FFF2-40B4-BE49-F238E27FC236}">
                <a16:creationId xmlns:a16="http://schemas.microsoft.com/office/drawing/2014/main" id="{223FA822-BFE7-085E-38A8-8AA713143376}"/>
              </a:ext>
            </a:extLst>
          </p:cNvPr>
          <p:cNvGrpSpPr/>
          <p:nvPr/>
        </p:nvGrpSpPr>
        <p:grpSpPr>
          <a:xfrm>
            <a:off x="203635" y="2439322"/>
            <a:ext cx="504000" cy="504000"/>
            <a:chOff x="977950" y="2729564"/>
            <a:chExt cx="504000" cy="504000"/>
          </a:xfrm>
        </p:grpSpPr>
        <p:sp>
          <p:nvSpPr>
            <p:cNvPr id="36" name="Oval 35">
              <a:extLst>
                <a:ext uri="{FF2B5EF4-FFF2-40B4-BE49-F238E27FC236}">
                  <a16:creationId xmlns:a16="http://schemas.microsoft.com/office/drawing/2014/main" id="{93FDE035-EDA9-A107-FC62-3E9672E1B5EE}"/>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7" name="Graphic 36" descr="Normal Distribution with solid fill">
              <a:extLst>
                <a:ext uri="{FF2B5EF4-FFF2-40B4-BE49-F238E27FC236}">
                  <a16:creationId xmlns:a16="http://schemas.microsoft.com/office/drawing/2014/main" id="{69111C31-786C-3B57-C89A-E90D85ED313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grpSp>
        <p:nvGrpSpPr>
          <p:cNvPr id="38" name="Group 37">
            <a:extLst>
              <a:ext uri="{FF2B5EF4-FFF2-40B4-BE49-F238E27FC236}">
                <a16:creationId xmlns:a16="http://schemas.microsoft.com/office/drawing/2014/main" id="{9E290E54-61AB-3FD8-BBA0-13C9CE4CE1D6}"/>
              </a:ext>
            </a:extLst>
          </p:cNvPr>
          <p:cNvGrpSpPr/>
          <p:nvPr/>
        </p:nvGrpSpPr>
        <p:grpSpPr>
          <a:xfrm>
            <a:off x="203635" y="3053019"/>
            <a:ext cx="504000" cy="504000"/>
            <a:chOff x="977950" y="2729564"/>
            <a:chExt cx="504000" cy="504000"/>
          </a:xfrm>
        </p:grpSpPr>
        <p:sp>
          <p:nvSpPr>
            <p:cNvPr id="39" name="Oval 38">
              <a:extLst>
                <a:ext uri="{FF2B5EF4-FFF2-40B4-BE49-F238E27FC236}">
                  <a16:creationId xmlns:a16="http://schemas.microsoft.com/office/drawing/2014/main" id="{C6E7ED61-6B83-66CB-93B4-221D833FAD87}"/>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0" name="Graphic 39" descr="Abacus with solid fill">
              <a:extLst>
                <a:ext uri="{FF2B5EF4-FFF2-40B4-BE49-F238E27FC236}">
                  <a16:creationId xmlns:a16="http://schemas.microsoft.com/office/drawing/2014/main" id="{253E6E53-160B-F130-DA95-6DEECB4F5E4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41" name="Group 40">
            <a:extLst>
              <a:ext uri="{FF2B5EF4-FFF2-40B4-BE49-F238E27FC236}">
                <a16:creationId xmlns:a16="http://schemas.microsoft.com/office/drawing/2014/main" id="{4F2AFEC0-B20B-907B-A44C-ECAAC26AEE6D}"/>
              </a:ext>
            </a:extLst>
          </p:cNvPr>
          <p:cNvGrpSpPr/>
          <p:nvPr/>
        </p:nvGrpSpPr>
        <p:grpSpPr>
          <a:xfrm>
            <a:off x="203635" y="3666716"/>
            <a:ext cx="504000" cy="504000"/>
            <a:chOff x="977950" y="2729564"/>
            <a:chExt cx="504000" cy="504000"/>
          </a:xfrm>
        </p:grpSpPr>
        <p:sp>
          <p:nvSpPr>
            <p:cNvPr id="42" name="Oval 41">
              <a:extLst>
                <a:ext uri="{FF2B5EF4-FFF2-40B4-BE49-F238E27FC236}">
                  <a16:creationId xmlns:a16="http://schemas.microsoft.com/office/drawing/2014/main" id="{5C375479-6BAF-9146-16AD-AA9DAD2086DF}"/>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3" name="Graphic 42" descr="Trigonometry with solid fill">
              <a:extLst>
                <a:ext uri="{FF2B5EF4-FFF2-40B4-BE49-F238E27FC236}">
                  <a16:creationId xmlns:a16="http://schemas.microsoft.com/office/drawing/2014/main" id="{4B1CB257-3EC7-E13A-D67B-8404B73724A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44" name="Group 43">
            <a:extLst>
              <a:ext uri="{FF2B5EF4-FFF2-40B4-BE49-F238E27FC236}">
                <a16:creationId xmlns:a16="http://schemas.microsoft.com/office/drawing/2014/main" id="{B01DFC25-3067-D683-163F-C9EF87E0FDAC}"/>
              </a:ext>
            </a:extLst>
          </p:cNvPr>
          <p:cNvGrpSpPr/>
          <p:nvPr/>
        </p:nvGrpSpPr>
        <p:grpSpPr>
          <a:xfrm>
            <a:off x="203635" y="4280414"/>
            <a:ext cx="504000" cy="504000"/>
            <a:chOff x="977950" y="2729564"/>
            <a:chExt cx="504000" cy="504000"/>
          </a:xfrm>
        </p:grpSpPr>
        <p:sp>
          <p:nvSpPr>
            <p:cNvPr id="45" name="Oval 44">
              <a:extLst>
                <a:ext uri="{FF2B5EF4-FFF2-40B4-BE49-F238E27FC236}">
                  <a16:creationId xmlns:a16="http://schemas.microsoft.com/office/drawing/2014/main" id="{EAF5DB1A-3678-5D2F-0A5A-CD72E5A38FE2}"/>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6" name="Graphic 45" descr="Scatterplot with solid fill">
              <a:extLst>
                <a:ext uri="{FF2B5EF4-FFF2-40B4-BE49-F238E27FC236}">
                  <a16:creationId xmlns:a16="http://schemas.microsoft.com/office/drawing/2014/main" id="{92FC2570-829A-7AA0-41AE-54F8E20EA2A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cxnSp>
        <p:nvCxnSpPr>
          <p:cNvPr id="47" name="Straight Arrow Connector 46">
            <a:extLst>
              <a:ext uri="{FF2B5EF4-FFF2-40B4-BE49-F238E27FC236}">
                <a16:creationId xmlns:a16="http://schemas.microsoft.com/office/drawing/2014/main" id="{F3D76506-9171-2370-DDA5-2BDA6A5390F9}"/>
              </a:ext>
            </a:extLst>
          </p:cNvPr>
          <p:cNvCxnSpPr>
            <a:cxnSpLocks/>
            <a:stCxn id="33" idx="4"/>
            <a:endCxn id="36"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FB607FCB-CC5C-9FF6-372C-F4884B203B07}"/>
              </a:ext>
            </a:extLst>
          </p:cNvPr>
          <p:cNvCxnSpPr>
            <a:cxnSpLocks/>
            <a:stCxn id="36" idx="4"/>
            <a:endCxn id="39"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FDAEBFB2-79FC-002A-E47D-4149783A4D5E}"/>
              </a:ext>
            </a:extLst>
          </p:cNvPr>
          <p:cNvCxnSpPr>
            <a:cxnSpLocks/>
            <a:stCxn id="39" idx="4"/>
            <a:endCxn id="42"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DB787FC7-301F-A2F2-8C3E-73D0ADFB75AB}"/>
              </a:ext>
            </a:extLst>
          </p:cNvPr>
          <p:cNvCxnSpPr>
            <a:cxnSpLocks/>
            <a:stCxn id="42" idx="4"/>
            <a:endCxn id="45"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52" name="Picture 51">
            <a:extLst>
              <a:ext uri="{FF2B5EF4-FFF2-40B4-BE49-F238E27FC236}">
                <a16:creationId xmlns:a16="http://schemas.microsoft.com/office/drawing/2014/main" id="{5C9515DB-B0BB-98BD-BFFC-1BF088FAD2B8}"/>
              </a:ext>
            </a:extLst>
          </p:cNvPr>
          <p:cNvPicPr>
            <a:picLocks noChangeAspect="1"/>
          </p:cNvPicPr>
          <p:nvPr/>
        </p:nvPicPr>
        <p:blipFill>
          <a:blip r:embed="rId7"/>
          <a:stretch>
            <a:fillRect/>
          </a:stretch>
        </p:blipFill>
        <p:spPr>
          <a:xfrm>
            <a:off x="7924607" y="2998170"/>
            <a:ext cx="2057593" cy="4115186"/>
          </a:xfrm>
          <a:prstGeom prst="rect">
            <a:avLst/>
          </a:prstGeom>
        </p:spPr>
      </p:pic>
    </p:spTree>
    <p:extLst>
      <p:ext uri="{BB962C8B-B14F-4D97-AF65-F5344CB8AC3E}">
        <p14:creationId xmlns:p14="http://schemas.microsoft.com/office/powerpoint/2010/main" val="1272918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1CCA9-D8DB-4B7D-4A26-7A99D8253BFC}"/>
              </a:ext>
            </a:extLst>
          </p:cNvPr>
          <p:cNvSpPr>
            <a:spLocks noGrp="1"/>
          </p:cNvSpPr>
          <p:nvPr>
            <p:ph type="title"/>
          </p:nvPr>
        </p:nvSpPr>
        <p:spPr/>
        <p:txBody>
          <a:bodyPr/>
          <a:lstStyle/>
          <a:p>
            <a:r>
              <a:rPr lang="en-SE" dirty="0"/>
              <a:t>Assessing the Training</a:t>
            </a:r>
          </a:p>
        </p:txBody>
      </p:sp>
      <p:sp>
        <p:nvSpPr>
          <p:cNvPr id="3" name="Content Placeholder 2">
            <a:extLst>
              <a:ext uri="{FF2B5EF4-FFF2-40B4-BE49-F238E27FC236}">
                <a16:creationId xmlns:a16="http://schemas.microsoft.com/office/drawing/2014/main" id="{F67EA90B-6555-20BD-03E3-F59798BB49AD}"/>
              </a:ext>
            </a:extLst>
          </p:cNvPr>
          <p:cNvSpPr>
            <a:spLocks noGrp="1"/>
          </p:cNvSpPr>
          <p:nvPr>
            <p:ph idx="1"/>
          </p:nvPr>
        </p:nvSpPr>
        <p:spPr>
          <a:xfrm>
            <a:off x="838200" y="1825625"/>
            <a:ext cx="10515600" cy="1841091"/>
          </a:xfrm>
        </p:spPr>
        <p:txBody>
          <a:bodyPr/>
          <a:lstStyle/>
          <a:p>
            <a:pPr marL="0" indent="0">
              <a:buNone/>
            </a:pPr>
            <a:r>
              <a:rPr lang="en-SE" dirty="0"/>
              <a:t>Bayesian data analysis excels at indicating when the training process has went wrong. To assess the training, there are several statistics we can consult, for example </a:t>
            </a:r>
            <a:r>
              <a:rPr lang="en-SE" b="1" dirty="0"/>
              <a:t>visual assessment</a:t>
            </a:r>
            <a:r>
              <a:rPr lang="en-SE" dirty="0"/>
              <a:t> (dubbed the “hairy caterpillar ocular inspection test” by Richard McElreath).</a:t>
            </a:r>
          </a:p>
        </p:txBody>
      </p:sp>
      <p:sp>
        <p:nvSpPr>
          <p:cNvPr id="4" name="Date Placeholder 3">
            <a:extLst>
              <a:ext uri="{FF2B5EF4-FFF2-40B4-BE49-F238E27FC236}">
                <a16:creationId xmlns:a16="http://schemas.microsoft.com/office/drawing/2014/main" id="{221A8E9B-5FDB-5475-29DD-31E87F0FEDC5}"/>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68F2765F-8839-7B61-2FBD-213DA9E4D650}"/>
              </a:ext>
            </a:extLst>
          </p:cNvPr>
          <p:cNvSpPr>
            <a:spLocks noGrp="1"/>
          </p:cNvSpPr>
          <p:nvPr>
            <p:ph type="sldNum" sz="quarter" idx="12"/>
          </p:nvPr>
        </p:nvSpPr>
        <p:spPr/>
        <p:txBody>
          <a:bodyPr/>
          <a:lstStyle/>
          <a:p>
            <a:fld id="{271ECC92-9CDE-4EB3-B1C5-F46B9E1FA3C1}" type="slidenum">
              <a:rPr lang="en-SE" smtClean="0"/>
              <a:t>60</a:t>
            </a:fld>
            <a:endParaRPr lang="en-SE"/>
          </a:p>
        </p:txBody>
      </p:sp>
      <p:sp>
        <p:nvSpPr>
          <p:cNvPr id="6" name="Footer Placeholder 5">
            <a:extLst>
              <a:ext uri="{FF2B5EF4-FFF2-40B4-BE49-F238E27FC236}">
                <a16:creationId xmlns:a16="http://schemas.microsoft.com/office/drawing/2014/main" id="{10C3EC8E-64E6-504E-42F2-5FA9B0B8202A}"/>
              </a:ext>
            </a:extLst>
          </p:cNvPr>
          <p:cNvSpPr>
            <a:spLocks noGrp="1"/>
          </p:cNvSpPr>
          <p:nvPr>
            <p:ph type="ftr" sz="quarter" idx="11"/>
          </p:nvPr>
        </p:nvSpPr>
        <p:spPr/>
        <p:txBody>
          <a:bodyPr/>
          <a:lstStyle/>
          <a:p>
            <a:r>
              <a:rPr lang="de-DE"/>
              <a:t>Bayesian Data Analysis Tutorial</a:t>
            </a:r>
            <a:endParaRPr lang="en-SE"/>
          </a:p>
        </p:txBody>
      </p:sp>
      <p:grpSp>
        <p:nvGrpSpPr>
          <p:cNvPr id="7" name="Group 6">
            <a:extLst>
              <a:ext uri="{FF2B5EF4-FFF2-40B4-BE49-F238E27FC236}">
                <a16:creationId xmlns:a16="http://schemas.microsoft.com/office/drawing/2014/main" id="{76BCD03E-0B74-DC3C-CD2B-A90D43F5C283}"/>
              </a:ext>
            </a:extLst>
          </p:cNvPr>
          <p:cNvGrpSpPr/>
          <p:nvPr/>
        </p:nvGrpSpPr>
        <p:grpSpPr>
          <a:xfrm>
            <a:off x="203635" y="1825625"/>
            <a:ext cx="504000" cy="504000"/>
            <a:chOff x="977950" y="2729564"/>
            <a:chExt cx="504000" cy="504000"/>
          </a:xfrm>
        </p:grpSpPr>
        <p:sp>
          <p:nvSpPr>
            <p:cNvPr id="8" name="Oval 7">
              <a:extLst>
                <a:ext uri="{FF2B5EF4-FFF2-40B4-BE49-F238E27FC236}">
                  <a16:creationId xmlns:a16="http://schemas.microsoft.com/office/drawing/2014/main" id="{65C2732E-3D84-858A-6472-ECCA04A7D149}"/>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9" name="Graphic 8" descr="Golden Ratio with solid fill">
              <a:extLst>
                <a:ext uri="{FF2B5EF4-FFF2-40B4-BE49-F238E27FC236}">
                  <a16:creationId xmlns:a16="http://schemas.microsoft.com/office/drawing/2014/main" id="{23128F3F-4BDD-5113-F3B7-369B38C977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10" name="Group 9">
            <a:extLst>
              <a:ext uri="{FF2B5EF4-FFF2-40B4-BE49-F238E27FC236}">
                <a16:creationId xmlns:a16="http://schemas.microsoft.com/office/drawing/2014/main" id="{8273EF5D-EC27-533D-BDD6-0D30A9203233}"/>
              </a:ext>
            </a:extLst>
          </p:cNvPr>
          <p:cNvGrpSpPr/>
          <p:nvPr/>
        </p:nvGrpSpPr>
        <p:grpSpPr>
          <a:xfrm>
            <a:off x="203635" y="2439322"/>
            <a:ext cx="504000" cy="504000"/>
            <a:chOff x="977950" y="2729564"/>
            <a:chExt cx="504000" cy="504000"/>
          </a:xfrm>
        </p:grpSpPr>
        <p:sp>
          <p:nvSpPr>
            <p:cNvPr id="11" name="Oval 10">
              <a:extLst>
                <a:ext uri="{FF2B5EF4-FFF2-40B4-BE49-F238E27FC236}">
                  <a16:creationId xmlns:a16="http://schemas.microsoft.com/office/drawing/2014/main" id="{143D5EEF-E215-A066-58EE-7CBB3394E100}"/>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Normal Distribution with solid fill">
              <a:extLst>
                <a:ext uri="{FF2B5EF4-FFF2-40B4-BE49-F238E27FC236}">
                  <a16:creationId xmlns:a16="http://schemas.microsoft.com/office/drawing/2014/main" id="{2420221A-1AC6-6E36-8BD3-B94B5BB1D32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13" name="Group 12">
            <a:extLst>
              <a:ext uri="{FF2B5EF4-FFF2-40B4-BE49-F238E27FC236}">
                <a16:creationId xmlns:a16="http://schemas.microsoft.com/office/drawing/2014/main" id="{458E6D51-3F9A-534C-1FCD-4071A526F377}"/>
              </a:ext>
            </a:extLst>
          </p:cNvPr>
          <p:cNvGrpSpPr/>
          <p:nvPr/>
        </p:nvGrpSpPr>
        <p:grpSpPr>
          <a:xfrm>
            <a:off x="203635" y="3053019"/>
            <a:ext cx="504000" cy="504000"/>
            <a:chOff x="977950" y="2729564"/>
            <a:chExt cx="504000" cy="504000"/>
          </a:xfrm>
        </p:grpSpPr>
        <p:sp>
          <p:nvSpPr>
            <p:cNvPr id="14" name="Oval 13">
              <a:extLst>
                <a:ext uri="{FF2B5EF4-FFF2-40B4-BE49-F238E27FC236}">
                  <a16:creationId xmlns:a16="http://schemas.microsoft.com/office/drawing/2014/main" id="{0F769FD3-B7DF-A302-2D10-3CB62BE290CC}"/>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Graphic 14" descr="Abacus with solid fill">
              <a:extLst>
                <a:ext uri="{FF2B5EF4-FFF2-40B4-BE49-F238E27FC236}">
                  <a16:creationId xmlns:a16="http://schemas.microsoft.com/office/drawing/2014/main" id="{78228498-9DB9-8391-CD60-7026F4E8D670}"/>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16" name="Group 15">
            <a:extLst>
              <a:ext uri="{FF2B5EF4-FFF2-40B4-BE49-F238E27FC236}">
                <a16:creationId xmlns:a16="http://schemas.microsoft.com/office/drawing/2014/main" id="{0AACFBF7-4EDC-D0BB-76D6-B294E015776B}"/>
              </a:ext>
            </a:extLst>
          </p:cNvPr>
          <p:cNvGrpSpPr/>
          <p:nvPr/>
        </p:nvGrpSpPr>
        <p:grpSpPr>
          <a:xfrm>
            <a:off x="203635" y="3666716"/>
            <a:ext cx="504000" cy="504000"/>
            <a:chOff x="977950" y="2729564"/>
            <a:chExt cx="504000" cy="504000"/>
          </a:xfrm>
        </p:grpSpPr>
        <p:sp>
          <p:nvSpPr>
            <p:cNvPr id="17" name="Oval 16">
              <a:extLst>
                <a:ext uri="{FF2B5EF4-FFF2-40B4-BE49-F238E27FC236}">
                  <a16:creationId xmlns:a16="http://schemas.microsoft.com/office/drawing/2014/main" id="{3CB04681-19D9-5730-C4BE-02463D2210DB}"/>
                </a:ext>
              </a:extLst>
            </p:cNvPr>
            <p:cNvSpPr/>
            <p:nvPr/>
          </p:nvSpPr>
          <p:spPr>
            <a:xfrm>
              <a:off x="977950" y="2729564"/>
              <a:ext cx="504000" cy="504000"/>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Graphic 17" descr="Trigonometry with solid fill">
              <a:extLst>
                <a:ext uri="{FF2B5EF4-FFF2-40B4-BE49-F238E27FC236}">
                  <a16:creationId xmlns:a16="http://schemas.microsoft.com/office/drawing/2014/main" id="{0DCBB84D-08C9-1CF6-457E-F91F8395044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19" name="Group 18">
            <a:extLst>
              <a:ext uri="{FF2B5EF4-FFF2-40B4-BE49-F238E27FC236}">
                <a16:creationId xmlns:a16="http://schemas.microsoft.com/office/drawing/2014/main" id="{1C8AE1AF-05E7-6F76-11C5-F67DF05D5DFE}"/>
              </a:ext>
            </a:extLst>
          </p:cNvPr>
          <p:cNvGrpSpPr/>
          <p:nvPr/>
        </p:nvGrpSpPr>
        <p:grpSpPr>
          <a:xfrm>
            <a:off x="203635" y="4280414"/>
            <a:ext cx="504000" cy="504000"/>
            <a:chOff x="977950" y="2729564"/>
            <a:chExt cx="504000" cy="504000"/>
          </a:xfrm>
        </p:grpSpPr>
        <p:sp>
          <p:nvSpPr>
            <p:cNvPr id="20" name="Oval 19">
              <a:extLst>
                <a:ext uri="{FF2B5EF4-FFF2-40B4-BE49-F238E27FC236}">
                  <a16:creationId xmlns:a16="http://schemas.microsoft.com/office/drawing/2014/main" id="{B3669437-2F1C-604D-A6AD-82A3A87D6D39}"/>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1" name="Graphic 20" descr="Scatterplot with solid fill">
              <a:extLst>
                <a:ext uri="{FF2B5EF4-FFF2-40B4-BE49-F238E27FC236}">
                  <a16:creationId xmlns:a16="http://schemas.microsoft.com/office/drawing/2014/main" id="{AB1C9292-F800-4809-F577-20EAADB62F5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22" name="Straight Arrow Connector 21">
            <a:extLst>
              <a:ext uri="{FF2B5EF4-FFF2-40B4-BE49-F238E27FC236}">
                <a16:creationId xmlns:a16="http://schemas.microsoft.com/office/drawing/2014/main" id="{C1FE0BEB-3246-F0CA-04A5-243DC71A10CB}"/>
              </a:ext>
            </a:extLst>
          </p:cNvPr>
          <p:cNvCxnSpPr>
            <a:cxnSpLocks/>
            <a:stCxn id="8" idx="4"/>
            <a:endCxn id="11"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F2226EF0-4C42-6BCF-F8C9-E40DB39B1098}"/>
              </a:ext>
            </a:extLst>
          </p:cNvPr>
          <p:cNvCxnSpPr>
            <a:cxnSpLocks/>
            <a:stCxn id="11" idx="4"/>
            <a:endCxn id="14"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14CDA450-2A81-6039-8199-51CA44755CAC}"/>
              </a:ext>
            </a:extLst>
          </p:cNvPr>
          <p:cNvCxnSpPr>
            <a:cxnSpLocks/>
            <a:stCxn id="14" idx="4"/>
            <a:endCxn id="17"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C08384AF-6CF9-1C5D-E1C0-21F41FFF4D45}"/>
              </a:ext>
            </a:extLst>
          </p:cNvPr>
          <p:cNvCxnSpPr>
            <a:cxnSpLocks/>
            <a:stCxn id="17" idx="4"/>
            <a:endCxn id="20"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7" name="Picture 26">
            <a:extLst>
              <a:ext uri="{FF2B5EF4-FFF2-40B4-BE49-F238E27FC236}">
                <a16:creationId xmlns:a16="http://schemas.microsoft.com/office/drawing/2014/main" id="{827B579A-0AE2-FF91-B88F-6F5B7EA25059}"/>
              </a:ext>
            </a:extLst>
          </p:cNvPr>
          <p:cNvPicPr>
            <a:picLocks noChangeAspect="1"/>
          </p:cNvPicPr>
          <p:nvPr/>
        </p:nvPicPr>
        <p:blipFill>
          <a:blip r:embed="rId8"/>
          <a:stretch>
            <a:fillRect/>
          </a:stretch>
        </p:blipFill>
        <p:spPr>
          <a:xfrm>
            <a:off x="2209797" y="4116716"/>
            <a:ext cx="2568163" cy="3238781"/>
          </a:xfrm>
          <a:prstGeom prst="rect">
            <a:avLst/>
          </a:prstGeom>
        </p:spPr>
      </p:pic>
      <p:pic>
        <p:nvPicPr>
          <p:cNvPr id="29" name="Picture 28">
            <a:extLst>
              <a:ext uri="{FF2B5EF4-FFF2-40B4-BE49-F238E27FC236}">
                <a16:creationId xmlns:a16="http://schemas.microsoft.com/office/drawing/2014/main" id="{48BA11F3-68FA-4BC1-8A5D-2A67581CA10B}"/>
              </a:ext>
            </a:extLst>
          </p:cNvPr>
          <p:cNvPicPr>
            <a:picLocks noChangeAspect="1"/>
          </p:cNvPicPr>
          <p:nvPr/>
        </p:nvPicPr>
        <p:blipFill>
          <a:blip r:embed="rId9"/>
          <a:stretch>
            <a:fillRect/>
          </a:stretch>
        </p:blipFill>
        <p:spPr>
          <a:xfrm>
            <a:off x="7414042" y="4116716"/>
            <a:ext cx="2568163" cy="3246401"/>
          </a:xfrm>
          <a:prstGeom prst="rect">
            <a:avLst/>
          </a:prstGeom>
        </p:spPr>
      </p:pic>
      <p:grpSp>
        <p:nvGrpSpPr>
          <p:cNvPr id="30" name="Group 29">
            <a:extLst>
              <a:ext uri="{FF2B5EF4-FFF2-40B4-BE49-F238E27FC236}">
                <a16:creationId xmlns:a16="http://schemas.microsoft.com/office/drawing/2014/main" id="{488780EB-6D03-7C40-207B-76B4B7B35DA6}"/>
              </a:ext>
            </a:extLst>
          </p:cNvPr>
          <p:cNvGrpSpPr/>
          <p:nvPr/>
        </p:nvGrpSpPr>
        <p:grpSpPr>
          <a:xfrm>
            <a:off x="1895015" y="3486716"/>
            <a:ext cx="3372770" cy="468000"/>
            <a:chOff x="1497300" y="3307387"/>
            <a:chExt cx="3372770" cy="468000"/>
          </a:xfrm>
        </p:grpSpPr>
        <p:grpSp>
          <p:nvGrpSpPr>
            <p:cNvPr id="31" name="Group 30">
              <a:extLst>
                <a:ext uri="{FF2B5EF4-FFF2-40B4-BE49-F238E27FC236}">
                  <a16:creationId xmlns:a16="http://schemas.microsoft.com/office/drawing/2014/main" id="{774EC32E-CBE1-8F7F-CFAB-823C0404D8CE}"/>
                </a:ext>
              </a:extLst>
            </p:cNvPr>
            <p:cNvGrpSpPr/>
            <p:nvPr/>
          </p:nvGrpSpPr>
          <p:grpSpPr>
            <a:xfrm>
              <a:off x="1497300" y="3307387"/>
              <a:ext cx="468000" cy="468000"/>
              <a:chOff x="7505700" y="4334414"/>
              <a:chExt cx="468000" cy="468000"/>
            </a:xfrm>
          </p:grpSpPr>
          <p:sp>
            <p:nvSpPr>
              <p:cNvPr id="33" name="Oval 32">
                <a:extLst>
                  <a:ext uri="{FF2B5EF4-FFF2-40B4-BE49-F238E27FC236}">
                    <a16:creationId xmlns:a16="http://schemas.microsoft.com/office/drawing/2014/main" id="{2A15F07E-29DC-8C46-EE6F-2AF10165C003}"/>
                  </a:ext>
                </a:extLst>
              </p:cNvPr>
              <p:cNvSpPr/>
              <p:nvPr/>
            </p:nvSpPr>
            <p:spPr>
              <a:xfrm>
                <a:off x="7505700" y="4334414"/>
                <a:ext cx="468000" cy="468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4" name="Graphic 33" descr="Checkmark with solid fill">
                <a:extLst>
                  <a:ext uri="{FF2B5EF4-FFF2-40B4-BE49-F238E27FC236}">
                    <a16:creationId xmlns:a16="http://schemas.microsoft.com/office/drawing/2014/main" id="{8D6A126F-CC4D-6341-B86B-074C3725B7A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559700" y="4388414"/>
                <a:ext cx="360000" cy="360000"/>
              </a:xfrm>
              <a:prstGeom prst="rect">
                <a:avLst/>
              </a:prstGeom>
            </p:spPr>
          </p:pic>
        </p:grpSp>
        <p:sp>
          <p:nvSpPr>
            <p:cNvPr id="32" name="TextBox 31">
              <a:extLst>
                <a:ext uri="{FF2B5EF4-FFF2-40B4-BE49-F238E27FC236}">
                  <a16:creationId xmlns:a16="http://schemas.microsoft.com/office/drawing/2014/main" id="{99F0DA49-03D4-C0E0-F2EA-B260FF4CCCDC}"/>
                </a:ext>
              </a:extLst>
            </p:cNvPr>
            <p:cNvSpPr txBox="1"/>
            <p:nvPr/>
          </p:nvSpPr>
          <p:spPr>
            <a:xfrm>
              <a:off x="1965300" y="3361635"/>
              <a:ext cx="2904770" cy="369332"/>
            </a:xfrm>
            <a:prstGeom prst="rect">
              <a:avLst/>
            </a:prstGeom>
            <a:noFill/>
          </p:spPr>
          <p:txBody>
            <a:bodyPr wrap="none" rtlCol="0">
              <a:spAutoFit/>
            </a:bodyPr>
            <a:lstStyle/>
            <a:p>
              <a:r>
                <a:rPr lang="en-SE" b="1" dirty="0"/>
                <a:t>Positive </a:t>
              </a:r>
              <a:r>
                <a:rPr lang="en-SE" dirty="0"/>
                <a:t>visual assessment</a:t>
              </a:r>
              <a:endParaRPr lang="en-SE" sz="1400" dirty="0"/>
            </a:p>
          </p:txBody>
        </p:sp>
      </p:grpSp>
      <p:grpSp>
        <p:nvGrpSpPr>
          <p:cNvPr id="35" name="Group 34">
            <a:extLst>
              <a:ext uri="{FF2B5EF4-FFF2-40B4-BE49-F238E27FC236}">
                <a16:creationId xmlns:a16="http://schemas.microsoft.com/office/drawing/2014/main" id="{DB79EAB2-1DF5-E13B-66AF-B9C5D321FFAF}"/>
              </a:ext>
            </a:extLst>
          </p:cNvPr>
          <p:cNvGrpSpPr/>
          <p:nvPr/>
        </p:nvGrpSpPr>
        <p:grpSpPr>
          <a:xfrm>
            <a:off x="6924217" y="3450716"/>
            <a:ext cx="3398799" cy="468000"/>
            <a:chOff x="1497300" y="3307387"/>
            <a:chExt cx="3398799" cy="468000"/>
          </a:xfrm>
        </p:grpSpPr>
        <p:grpSp>
          <p:nvGrpSpPr>
            <p:cNvPr id="36" name="Group 35">
              <a:extLst>
                <a:ext uri="{FF2B5EF4-FFF2-40B4-BE49-F238E27FC236}">
                  <a16:creationId xmlns:a16="http://schemas.microsoft.com/office/drawing/2014/main" id="{A17DB0DC-53A5-7117-351A-36228747BBEE}"/>
                </a:ext>
              </a:extLst>
            </p:cNvPr>
            <p:cNvGrpSpPr/>
            <p:nvPr/>
          </p:nvGrpSpPr>
          <p:grpSpPr>
            <a:xfrm>
              <a:off x="1497300" y="3307387"/>
              <a:ext cx="468000" cy="468000"/>
              <a:chOff x="7505700" y="4334414"/>
              <a:chExt cx="468000" cy="468000"/>
            </a:xfrm>
          </p:grpSpPr>
          <p:sp>
            <p:nvSpPr>
              <p:cNvPr id="38" name="Oval 37">
                <a:extLst>
                  <a:ext uri="{FF2B5EF4-FFF2-40B4-BE49-F238E27FC236}">
                    <a16:creationId xmlns:a16="http://schemas.microsoft.com/office/drawing/2014/main" id="{8A4EE781-B7E7-12AA-DCDA-8BF3FD8402A4}"/>
                  </a:ext>
                </a:extLst>
              </p:cNvPr>
              <p:cNvSpPr/>
              <p:nvPr/>
            </p:nvSpPr>
            <p:spPr>
              <a:xfrm>
                <a:off x="7505700" y="4334414"/>
                <a:ext cx="468000" cy="4680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9" name="Graphic 38" descr="Close with solid fill">
                <a:extLst>
                  <a:ext uri="{FF2B5EF4-FFF2-40B4-BE49-F238E27FC236}">
                    <a16:creationId xmlns:a16="http://schemas.microsoft.com/office/drawing/2014/main" id="{54789655-D0B7-F897-9822-D1E00F1E6F24}"/>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7559700" y="4388414"/>
                <a:ext cx="360000" cy="360000"/>
              </a:xfrm>
              <a:prstGeom prst="rect">
                <a:avLst/>
              </a:prstGeom>
            </p:spPr>
          </p:pic>
        </p:grpSp>
        <p:sp>
          <p:nvSpPr>
            <p:cNvPr id="37" name="TextBox 36">
              <a:extLst>
                <a:ext uri="{FF2B5EF4-FFF2-40B4-BE49-F238E27FC236}">
                  <a16:creationId xmlns:a16="http://schemas.microsoft.com/office/drawing/2014/main" id="{652F0E61-358A-9BCE-D1F6-9A041E00C1BF}"/>
                </a:ext>
              </a:extLst>
            </p:cNvPr>
            <p:cNvSpPr txBox="1"/>
            <p:nvPr/>
          </p:nvSpPr>
          <p:spPr>
            <a:xfrm>
              <a:off x="2013707" y="3324005"/>
              <a:ext cx="2882392" cy="369332"/>
            </a:xfrm>
            <a:prstGeom prst="rect">
              <a:avLst/>
            </a:prstGeom>
            <a:noFill/>
          </p:spPr>
          <p:txBody>
            <a:bodyPr wrap="none" rtlCol="0">
              <a:spAutoFit/>
            </a:bodyPr>
            <a:lstStyle/>
            <a:p>
              <a:r>
                <a:rPr lang="en-SE" b="1" dirty="0"/>
                <a:t>Negative </a:t>
              </a:r>
              <a:r>
                <a:rPr lang="en-SE" dirty="0"/>
                <a:t>visual </a:t>
              </a:r>
              <a:r>
                <a:rPr lang="en-SE" dirty="0" err="1"/>
                <a:t>assesment</a:t>
              </a:r>
              <a:endParaRPr lang="en-SE" sz="1400" dirty="0"/>
            </a:p>
          </p:txBody>
        </p:sp>
      </p:grpSp>
    </p:spTree>
    <p:extLst>
      <p:ext uri="{BB962C8B-B14F-4D97-AF65-F5344CB8AC3E}">
        <p14:creationId xmlns:p14="http://schemas.microsoft.com/office/powerpoint/2010/main" val="35267276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6077-7156-CD43-49A8-A28BACEE0435}"/>
              </a:ext>
            </a:extLst>
          </p:cNvPr>
          <p:cNvSpPr>
            <a:spLocks noGrp="1"/>
          </p:cNvSpPr>
          <p:nvPr>
            <p:ph type="title"/>
          </p:nvPr>
        </p:nvSpPr>
        <p:spPr/>
        <p:txBody>
          <a:bodyPr/>
          <a:lstStyle/>
          <a:p>
            <a:r>
              <a:rPr lang="en-SE" dirty="0"/>
              <a:t>Assessing the Training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69244E-B0FB-6E22-C930-CE713F36DB4D}"/>
                  </a:ext>
                </a:extLst>
              </p:cNvPr>
              <p:cNvSpPr>
                <a:spLocks noGrp="1"/>
              </p:cNvSpPr>
              <p:nvPr>
                <p:ph idx="1"/>
              </p:nvPr>
            </p:nvSpPr>
            <p:spPr>
              <a:xfrm>
                <a:off x="838200" y="1825625"/>
                <a:ext cx="10515600" cy="1325563"/>
              </a:xfrm>
            </p:spPr>
            <p:txBody>
              <a:bodyPr/>
              <a:lstStyle/>
              <a:p>
                <a:pPr marL="0" indent="0">
                  <a:buNone/>
                </a:pPr>
                <a:r>
                  <a:rPr lang="en-SE" dirty="0"/>
                  <a:t>Another evaluation is the </a:t>
                </a:r>
                <a:r>
                  <a:rPr lang="en-SE" b="1" dirty="0"/>
                  <a:t>Gelman-Rubin Conversion Statistic</a:t>
                </a:r>
                <a:r>
                  <a:rPr lang="en-SE" dirty="0"/>
                  <a:t> </a:t>
                </a:r>
                <a14:m>
                  <m:oMath xmlns:m="http://schemas.openxmlformats.org/officeDocument/2006/math">
                    <m:acc>
                      <m:accPr>
                        <m:chr m:val="̂"/>
                        <m:ctrlPr>
                          <a:rPr lang="en-SE" b="0" i="1" smtClean="0">
                            <a:latin typeface="Cambria Math" panose="02040503050406030204" pitchFamily="18" charset="0"/>
                          </a:rPr>
                        </m:ctrlPr>
                      </m:accPr>
                      <m:e>
                        <m:r>
                          <a:rPr lang="en-SE" b="0" i="1" smtClean="0">
                            <a:latin typeface="Cambria Math" panose="02040503050406030204" pitchFamily="18" charset="0"/>
                          </a:rPr>
                          <m:t>𝑅</m:t>
                        </m:r>
                      </m:e>
                    </m:acc>
                  </m:oMath>
                </a14:m>
                <a:r>
                  <a:rPr lang="en-SE" dirty="0"/>
                  <a:t> calculated from the within- and </a:t>
                </a:r>
                <a:r>
                  <a:rPr lang="en-SE" dirty="0" err="1"/>
                  <a:t>betwee</a:t>
                </a:r>
                <a:r>
                  <a:rPr lang="de-DE" dirty="0"/>
                  <a:t>n</a:t>
                </a:r>
                <a:r>
                  <a:rPr lang="en-SE" dirty="0"/>
                  <a:t>-chain variance. It quantifies how well </a:t>
                </a:r>
                <a:r>
                  <a:rPr lang="en-SE" i="1" dirty="0"/>
                  <a:t>multiple chains have converged</a:t>
                </a:r>
                <a:r>
                  <a:rPr lang="en-SE" dirty="0"/>
                  <a:t>.</a:t>
                </a:r>
              </a:p>
            </p:txBody>
          </p:sp>
        </mc:Choice>
        <mc:Fallback xmlns="">
          <p:sp>
            <p:nvSpPr>
              <p:cNvPr id="3" name="Content Placeholder 2">
                <a:extLst>
                  <a:ext uri="{FF2B5EF4-FFF2-40B4-BE49-F238E27FC236}">
                    <a16:creationId xmlns:a16="http://schemas.microsoft.com/office/drawing/2014/main" id="{0469244E-B0FB-6E22-C930-CE713F36DB4D}"/>
                  </a:ext>
                </a:extLst>
              </p:cNvPr>
              <p:cNvSpPr>
                <a:spLocks noGrp="1" noRot="1" noChangeAspect="1" noMove="1" noResize="1" noEditPoints="1" noAdjustHandles="1" noChangeArrowheads="1" noChangeShapeType="1" noTextEdit="1"/>
              </p:cNvSpPr>
              <p:nvPr>
                <p:ph idx="1"/>
              </p:nvPr>
            </p:nvSpPr>
            <p:spPr>
              <a:xfrm>
                <a:off x="838200" y="1825625"/>
                <a:ext cx="10515600" cy="1325563"/>
              </a:xfrm>
              <a:blipFill>
                <a:blip r:embed="rId2"/>
                <a:stretch>
                  <a:fillRect l="-1217" t="-6881" b="-7339"/>
                </a:stretch>
              </a:blipFill>
            </p:spPr>
            <p:txBody>
              <a:bodyPr/>
              <a:lstStyle/>
              <a:p>
                <a:r>
                  <a:rPr lang="en-SE">
                    <a:noFill/>
                  </a:rPr>
                  <a:t> </a:t>
                </a:r>
              </a:p>
            </p:txBody>
          </p:sp>
        </mc:Fallback>
      </mc:AlternateContent>
      <p:sp>
        <p:nvSpPr>
          <p:cNvPr id="4" name="Date Placeholder 3">
            <a:extLst>
              <a:ext uri="{FF2B5EF4-FFF2-40B4-BE49-F238E27FC236}">
                <a16:creationId xmlns:a16="http://schemas.microsoft.com/office/drawing/2014/main" id="{DD4BC843-D4A4-C952-C28F-42635366E195}"/>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D14B35D0-4743-3C90-4618-03B3241CFB7F}"/>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60F46909-E916-08C3-BF1F-0C44408FAB94}"/>
              </a:ext>
            </a:extLst>
          </p:cNvPr>
          <p:cNvSpPr>
            <a:spLocks noGrp="1"/>
          </p:cNvSpPr>
          <p:nvPr>
            <p:ph type="sldNum" sz="quarter" idx="12"/>
          </p:nvPr>
        </p:nvSpPr>
        <p:spPr/>
        <p:txBody>
          <a:bodyPr/>
          <a:lstStyle/>
          <a:p>
            <a:fld id="{271ECC92-9CDE-4EB3-B1C5-F46B9E1FA3C1}" type="slidenum">
              <a:rPr lang="en-SE" smtClean="0"/>
              <a:t>61</a:t>
            </a:fld>
            <a:endParaRPr lang="en-SE"/>
          </a:p>
        </p:txBody>
      </p:sp>
      <p:grpSp>
        <p:nvGrpSpPr>
          <p:cNvPr id="7" name="Group 6">
            <a:extLst>
              <a:ext uri="{FF2B5EF4-FFF2-40B4-BE49-F238E27FC236}">
                <a16:creationId xmlns:a16="http://schemas.microsoft.com/office/drawing/2014/main" id="{30728A9E-A582-9759-E5F5-D87D95424A15}"/>
              </a:ext>
            </a:extLst>
          </p:cNvPr>
          <p:cNvGrpSpPr/>
          <p:nvPr/>
        </p:nvGrpSpPr>
        <p:grpSpPr>
          <a:xfrm>
            <a:off x="203635" y="1825625"/>
            <a:ext cx="504000" cy="504000"/>
            <a:chOff x="977950" y="2729564"/>
            <a:chExt cx="504000" cy="504000"/>
          </a:xfrm>
        </p:grpSpPr>
        <p:sp>
          <p:nvSpPr>
            <p:cNvPr id="8" name="Oval 7">
              <a:extLst>
                <a:ext uri="{FF2B5EF4-FFF2-40B4-BE49-F238E27FC236}">
                  <a16:creationId xmlns:a16="http://schemas.microsoft.com/office/drawing/2014/main" id="{58CA7E52-085F-E3F4-14E4-8257D211773D}"/>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9" name="Graphic 8" descr="Golden Ratio with solid fill">
              <a:extLst>
                <a:ext uri="{FF2B5EF4-FFF2-40B4-BE49-F238E27FC236}">
                  <a16:creationId xmlns:a16="http://schemas.microsoft.com/office/drawing/2014/main" id="{B4E53D93-457E-2481-6536-165C52D57D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10" name="Group 9">
            <a:extLst>
              <a:ext uri="{FF2B5EF4-FFF2-40B4-BE49-F238E27FC236}">
                <a16:creationId xmlns:a16="http://schemas.microsoft.com/office/drawing/2014/main" id="{239A9FDA-23A8-0C04-9795-B5C33AE2B375}"/>
              </a:ext>
            </a:extLst>
          </p:cNvPr>
          <p:cNvGrpSpPr/>
          <p:nvPr/>
        </p:nvGrpSpPr>
        <p:grpSpPr>
          <a:xfrm>
            <a:off x="203635" y="2439322"/>
            <a:ext cx="504000" cy="504000"/>
            <a:chOff x="977950" y="2729564"/>
            <a:chExt cx="504000" cy="504000"/>
          </a:xfrm>
        </p:grpSpPr>
        <p:sp>
          <p:nvSpPr>
            <p:cNvPr id="11" name="Oval 10">
              <a:extLst>
                <a:ext uri="{FF2B5EF4-FFF2-40B4-BE49-F238E27FC236}">
                  <a16:creationId xmlns:a16="http://schemas.microsoft.com/office/drawing/2014/main" id="{5785C3D7-3617-E1BA-5044-633E1E49B9BD}"/>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Normal Distribution with solid fill">
              <a:extLst>
                <a:ext uri="{FF2B5EF4-FFF2-40B4-BE49-F238E27FC236}">
                  <a16:creationId xmlns:a16="http://schemas.microsoft.com/office/drawing/2014/main" id="{63265B04-DBB4-311B-4951-EB25981AA1B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13" name="Group 12">
            <a:extLst>
              <a:ext uri="{FF2B5EF4-FFF2-40B4-BE49-F238E27FC236}">
                <a16:creationId xmlns:a16="http://schemas.microsoft.com/office/drawing/2014/main" id="{C0D25C0C-73D9-F59A-F4E8-0CAE37B41AFC}"/>
              </a:ext>
            </a:extLst>
          </p:cNvPr>
          <p:cNvGrpSpPr/>
          <p:nvPr/>
        </p:nvGrpSpPr>
        <p:grpSpPr>
          <a:xfrm>
            <a:off x="203635" y="3053019"/>
            <a:ext cx="504000" cy="504000"/>
            <a:chOff x="977950" y="2729564"/>
            <a:chExt cx="504000" cy="504000"/>
          </a:xfrm>
        </p:grpSpPr>
        <p:sp>
          <p:nvSpPr>
            <p:cNvPr id="14" name="Oval 13">
              <a:extLst>
                <a:ext uri="{FF2B5EF4-FFF2-40B4-BE49-F238E27FC236}">
                  <a16:creationId xmlns:a16="http://schemas.microsoft.com/office/drawing/2014/main" id="{FE66E16C-272E-0EB8-0100-6380CE083580}"/>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Graphic 14" descr="Abacus with solid fill">
              <a:extLst>
                <a:ext uri="{FF2B5EF4-FFF2-40B4-BE49-F238E27FC236}">
                  <a16:creationId xmlns:a16="http://schemas.microsoft.com/office/drawing/2014/main" id="{D5C4DE33-3347-A0E9-2D4E-C954A0F5A98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16" name="Group 15">
            <a:extLst>
              <a:ext uri="{FF2B5EF4-FFF2-40B4-BE49-F238E27FC236}">
                <a16:creationId xmlns:a16="http://schemas.microsoft.com/office/drawing/2014/main" id="{8B01B24E-CE60-34BF-6E70-2E7AC9A06AA1}"/>
              </a:ext>
            </a:extLst>
          </p:cNvPr>
          <p:cNvGrpSpPr/>
          <p:nvPr/>
        </p:nvGrpSpPr>
        <p:grpSpPr>
          <a:xfrm>
            <a:off x="203635" y="3666716"/>
            <a:ext cx="504000" cy="504000"/>
            <a:chOff x="977950" y="2729564"/>
            <a:chExt cx="504000" cy="504000"/>
          </a:xfrm>
        </p:grpSpPr>
        <p:sp>
          <p:nvSpPr>
            <p:cNvPr id="17" name="Oval 16">
              <a:extLst>
                <a:ext uri="{FF2B5EF4-FFF2-40B4-BE49-F238E27FC236}">
                  <a16:creationId xmlns:a16="http://schemas.microsoft.com/office/drawing/2014/main" id="{E9B1CE14-A448-078D-8A7F-8DB87FADB69F}"/>
                </a:ext>
              </a:extLst>
            </p:cNvPr>
            <p:cNvSpPr/>
            <p:nvPr/>
          </p:nvSpPr>
          <p:spPr>
            <a:xfrm>
              <a:off x="977950" y="2729564"/>
              <a:ext cx="504000" cy="504000"/>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Graphic 17" descr="Trigonometry with solid fill">
              <a:extLst>
                <a:ext uri="{FF2B5EF4-FFF2-40B4-BE49-F238E27FC236}">
                  <a16:creationId xmlns:a16="http://schemas.microsoft.com/office/drawing/2014/main" id="{B7844885-BB46-9ED3-1639-35B39F66C6A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19" name="Group 18">
            <a:extLst>
              <a:ext uri="{FF2B5EF4-FFF2-40B4-BE49-F238E27FC236}">
                <a16:creationId xmlns:a16="http://schemas.microsoft.com/office/drawing/2014/main" id="{E0C348A3-E825-AF6F-B834-C6A8A3CCDFD2}"/>
              </a:ext>
            </a:extLst>
          </p:cNvPr>
          <p:cNvGrpSpPr/>
          <p:nvPr/>
        </p:nvGrpSpPr>
        <p:grpSpPr>
          <a:xfrm>
            <a:off x="203635" y="4280414"/>
            <a:ext cx="504000" cy="504000"/>
            <a:chOff x="977950" y="2729564"/>
            <a:chExt cx="504000" cy="504000"/>
          </a:xfrm>
        </p:grpSpPr>
        <p:sp>
          <p:nvSpPr>
            <p:cNvPr id="20" name="Oval 19">
              <a:extLst>
                <a:ext uri="{FF2B5EF4-FFF2-40B4-BE49-F238E27FC236}">
                  <a16:creationId xmlns:a16="http://schemas.microsoft.com/office/drawing/2014/main" id="{FF38ACC8-8E71-BEC3-C1FB-EE671514A3FF}"/>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1" name="Graphic 20" descr="Scatterplot with solid fill">
              <a:extLst>
                <a:ext uri="{FF2B5EF4-FFF2-40B4-BE49-F238E27FC236}">
                  <a16:creationId xmlns:a16="http://schemas.microsoft.com/office/drawing/2014/main" id="{0F8242F0-01C0-C8F6-3EB1-4D6053AB853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22" name="Straight Arrow Connector 21">
            <a:extLst>
              <a:ext uri="{FF2B5EF4-FFF2-40B4-BE49-F238E27FC236}">
                <a16:creationId xmlns:a16="http://schemas.microsoft.com/office/drawing/2014/main" id="{8821BFD5-99C1-5FA9-2E15-9F65293AB457}"/>
              </a:ext>
            </a:extLst>
          </p:cNvPr>
          <p:cNvCxnSpPr>
            <a:cxnSpLocks/>
            <a:stCxn id="8" idx="4"/>
            <a:endCxn id="11"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306C7B22-180B-9122-A303-86698F6CEF8C}"/>
              </a:ext>
            </a:extLst>
          </p:cNvPr>
          <p:cNvCxnSpPr>
            <a:cxnSpLocks/>
            <a:stCxn id="11" idx="4"/>
            <a:endCxn id="14"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E4729852-C39A-32FB-9BB4-979657725957}"/>
              </a:ext>
            </a:extLst>
          </p:cNvPr>
          <p:cNvCxnSpPr>
            <a:cxnSpLocks/>
            <a:stCxn id="14" idx="4"/>
            <a:endCxn id="17"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0F3F4044-DACB-D7EC-63B7-502E24DD2B43}"/>
              </a:ext>
            </a:extLst>
          </p:cNvPr>
          <p:cNvCxnSpPr>
            <a:cxnSpLocks/>
            <a:stCxn id="17" idx="4"/>
            <a:endCxn id="20"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Rectangle 26">
            <a:extLst>
              <a:ext uri="{FF2B5EF4-FFF2-40B4-BE49-F238E27FC236}">
                <a16:creationId xmlns:a16="http://schemas.microsoft.com/office/drawing/2014/main" id="{CB738BA0-216E-730C-5D24-091240DE099A}"/>
              </a:ext>
            </a:extLst>
          </p:cNvPr>
          <p:cNvSpPr/>
          <p:nvPr/>
        </p:nvSpPr>
        <p:spPr>
          <a:xfrm>
            <a:off x="1703556" y="3739581"/>
            <a:ext cx="6067087" cy="365125"/>
          </a:xfrm>
          <a:prstGeom prst="rect">
            <a:avLst/>
          </a:prstGeom>
          <a:solidFill>
            <a:schemeClr val="bg1">
              <a:lumMod val="95000"/>
            </a:schemeClr>
          </a:solidFill>
          <a:ln>
            <a:solidFill>
              <a:schemeClr val="tx1">
                <a:lumMod val="50000"/>
                <a:lumOff val="50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SE" dirty="0">
                <a:solidFill>
                  <a:schemeClr val="tx1"/>
                </a:solidFill>
                <a:latin typeface="Courier New" panose="02070309020205020404" pitchFamily="49" charset="0"/>
                <a:cs typeface="Courier New" panose="02070309020205020404" pitchFamily="49" charset="0"/>
              </a:rPr>
              <a:t>summary(model)</a:t>
            </a:r>
          </a:p>
        </p:txBody>
      </p:sp>
      <p:sp>
        <p:nvSpPr>
          <p:cNvPr id="29" name="Rectangle 28">
            <a:extLst>
              <a:ext uri="{FF2B5EF4-FFF2-40B4-BE49-F238E27FC236}">
                <a16:creationId xmlns:a16="http://schemas.microsoft.com/office/drawing/2014/main" id="{4E0A4B7C-1B7E-1BC6-EA81-457B569013FA}"/>
              </a:ext>
            </a:extLst>
          </p:cNvPr>
          <p:cNvSpPr/>
          <p:nvPr/>
        </p:nvSpPr>
        <p:spPr>
          <a:xfrm>
            <a:off x="1703556" y="3374456"/>
            <a:ext cx="6067087" cy="365125"/>
          </a:xfrm>
          <a:prstGeom prst="rect">
            <a:avLst/>
          </a:prstGeom>
          <a:solidFill>
            <a:schemeClr val="tx1">
              <a:lumMod val="65000"/>
              <a:lumOff val="3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E" dirty="0">
                <a:solidFill>
                  <a:schemeClr val="bg1"/>
                </a:solidFill>
                <a:latin typeface="Courier New" panose="02070309020205020404" pitchFamily="49" charset="0"/>
                <a:cs typeface="Courier New" panose="02070309020205020404" pitchFamily="49" charset="0"/>
              </a:rPr>
              <a:t>R 4.5.0 using library(brms)</a:t>
            </a:r>
          </a:p>
        </p:txBody>
      </p:sp>
      <p:pic>
        <p:nvPicPr>
          <p:cNvPr id="31" name="Picture 30">
            <a:extLst>
              <a:ext uri="{FF2B5EF4-FFF2-40B4-BE49-F238E27FC236}">
                <a16:creationId xmlns:a16="http://schemas.microsoft.com/office/drawing/2014/main" id="{A614F381-A8A8-F3EF-7280-14361AC9EA9B}"/>
              </a:ext>
            </a:extLst>
          </p:cNvPr>
          <p:cNvPicPr>
            <a:picLocks noChangeAspect="1"/>
          </p:cNvPicPr>
          <p:nvPr/>
        </p:nvPicPr>
        <p:blipFill>
          <a:blip r:embed="rId8"/>
          <a:srcRect t="34084" b="15461"/>
          <a:stretch>
            <a:fillRect/>
          </a:stretch>
        </p:blipFill>
        <p:spPr>
          <a:xfrm>
            <a:off x="1703556" y="4116716"/>
            <a:ext cx="6067085" cy="1638301"/>
          </a:xfrm>
          <a:prstGeom prst="rect">
            <a:avLst/>
          </a:prstGeom>
          <a:ln>
            <a:solidFill>
              <a:schemeClr val="tx1">
                <a:lumMod val="50000"/>
                <a:lumOff val="50000"/>
              </a:schemeClr>
            </a:solidFill>
          </a:ln>
        </p:spPr>
      </p:pic>
      <p:sp>
        <p:nvSpPr>
          <p:cNvPr id="33" name="Rectangle 32">
            <a:extLst>
              <a:ext uri="{FF2B5EF4-FFF2-40B4-BE49-F238E27FC236}">
                <a16:creationId xmlns:a16="http://schemas.microsoft.com/office/drawing/2014/main" id="{D9A39211-B5AB-D681-10E9-D384BC8E4DF5}"/>
              </a:ext>
            </a:extLst>
          </p:cNvPr>
          <p:cNvSpPr/>
          <p:nvPr/>
        </p:nvSpPr>
        <p:spPr>
          <a:xfrm>
            <a:off x="5473700" y="4307457"/>
            <a:ext cx="457200" cy="723386"/>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94142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P spid="3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83063-7ED0-02F8-B370-2B659787370A}"/>
              </a:ext>
            </a:extLst>
          </p:cNvPr>
          <p:cNvSpPr>
            <a:spLocks noGrp="1"/>
          </p:cNvSpPr>
          <p:nvPr>
            <p:ph type="title"/>
          </p:nvPr>
        </p:nvSpPr>
        <p:spPr/>
        <p:txBody>
          <a:bodyPr/>
          <a:lstStyle/>
          <a:p>
            <a:r>
              <a:rPr lang="en-SE" dirty="0"/>
              <a:t>Interpreting the Results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CE394FB-ACF2-F3F7-7E69-682A4231D6C7}"/>
                  </a:ext>
                </a:extLst>
              </p:cNvPr>
              <p:cNvSpPr>
                <a:spLocks noGrp="1"/>
              </p:cNvSpPr>
              <p:nvPr>
                <p:ph idx="1"/>
              </p:nvPr>
            </p:nvSpPr>
            <p:spPr>
              <a:xfrm>
                <a:off x="838200" y="1825625"/>
                <a:ext cx="10515600" cy="1470937"/>
              </a:xfrm>
            </p:spPr>
            <p:txBody>
              <a:bodyPr/>
              <a:lstStyle/>
              <a:p>
                <a:pPr marL="0" indent="0">
                  <a:buNone/>
                </a:pPr>
                <a:r>
                  <a:rPr lang="en-SE" dirty="0"/>
                  <a:t>After Bayesian updating, the posterior distributions represent the effect that changing a variable by one unit has on the (mean </a:t>
                </a:r>
                <a14:m>
                  <m:oMath xmlns:m="http://schemas.openxmlformats.org/officeDocument/2006/math">
                    <m:r>
                      <a:rPr lang="en-SE" b="0" i="1" smtClean="0">
                        <a:latin typeface="Cambria Math" panose="02040503050406030204" pitchFamily="18" charset="0"/>
                      </a:rPr>
                      <m:t>𝜇</m:t>
                    </m:r>
                  </m:oMath>
                </a14:m>
                <a:r>
                  <a:rPr lang="en-SE" dirty="0"/>
                  <a:t> of the) outcome variable.</a:t>
                </a:r>
              </a:p>
            </p:txBody>
          </p:sp>
        </mc:Choice>
        <mc:Fallback>
          <p:sp>
            <p:nvSpPr>
              <p:cNvPr id="3" name="Content Placeholder 2">
                <a:extLst>
                  <a:ext uri="{FF2B5EF4-FFF2-40B4-BE49-F238E27FC236}">
                    <a16:creationId xmlns:a16="http://schemas.microsoft.com/office/drawing/2014/main" id="{3CE394FB-ACF2-F3F7-7E69-682A4231D6C7}"/>
                  </a:ext>
                </a:extLst>
              </p:cNvPr>
              <p:cNvSpPr>
                <a:spLocks noGrp="1" noRot="1" noChangeAspect="1" noMove="1" noResize="1" noEditPoints="1" noAdjustHandles="1" noChangeArrowheads="1" noChangeShapeType="1" noTextEdit="1"/>
              </p:cNvSpPr>
              <p:nvPr>
                <p:ph idx="1"/>
              </p:nvPr>
            </p:nvSpPr>
            <p:spPr>
              <a:xfrm>
                <a:off x="838200" y="1825625"/>
                <a:ext cx="10515600" cy="1470937"/>
              </a:xfrm>
              <a:blipFill>
                <a:blip r:embed="rId2"/>
                <a:stretch>
                  <a:fillRect l="-1217" t="-7025"/>
                </a:stretch>
              </a:blipFill>
            </p:spPr>
            <p:txBody>
              <a:bodyPr/>
              <a:lstStyle/>
              <a:p>
                <a:r>
                  <a:rPr lang="en-SE">
                    <a:noFill/>
                  </a:rPr>
                  <a:t> </a:t>
                </a:r>
              </a:p>
            </p:txBody>
          </p:sp>
        </mc:Fallback>
      </mc:AlternateContent>
      <p:sp>
        <p:nvSpPr>
          <p:cNvPr id="4" name="Date Placeholder 3">
            <a:extLst>
              <a:ext uri="{FF2B5EF4-FFF2-40B4-BE49-F238E27FC236}">
                <a16:creationId xmlns:a16="http://schemas.microsoft.com/office/drawing/2014/main" id="{A93F25C7-1F66-37B8-C723-4490F1AE06AC}"/>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42F2421A-F962-E792-2C42-BE4038A86AF2}"/>
              </a:ext>
            </a:extLst>
          </p:cNvPr>
          <p:cNvSpPr>
            <a:spLocks noGrp="1"/>
          </p:cNvSpPr>
          <p:nvPr>
            <p:ph type="sldNum" sz="quarter" idx="12"/>
          </p:nvPr>
        </p:nvSpPr>
        <p:spPr/>
        <p:txBody>
          <a:bodyPr/>
          <a:lstStyle/>
          <a:p>
            <a:fld id="{271ECC92-9CDE-4EB3-B1C5-F46B9E1FA3C1}" type="slidenum">
              <a:rPr lang="en-SE" smtClean="0"/>
              <a:t>62</a:t>
            </a:fld>
            <a:endParaRPr lang="en-SE"/>
          </a:p>
        </p:txBody>
      </p:sp>
      <p:sp>
        <p:nvSpPr>
          <p:cNvPr id="6" name="Footer Placeholder 5">
            <a:extLst>
              <a:ext uri="{FF2B5EF4-FFF2-40B4-BE49-F238E27FC236}">
                <a16:creationId xmlns:a16="http://schemas.microsoft.com/office/drawing/2014/main" id="{34F35D3F-3270-5C4B-83D2-4385EF59B888}"/>
              </a:ext>
            </a:extLst>
          </p:cNvPr>
          <p:cNvSpPr>
            <a:spLocks noGrp="1"/>
          </p:cNvSpPr>
          <p:nvPr>
            <p:ph type="ftr" sz="quarter" idx="11"/>
          </p:nvPr>
        </p:nvSpPr>
        <p:spPr/>
        <p:txBody>
          <a:bodyPr/>
          <a:lstStyle/>
          <a:p>
            <a:r>
              <a:rPr lang="de-DE"/>
              <a:t>Bayesian Data Analysis Tutorial</a:t>
            </a:r>
            <a:endParaRPr lang="en-SE"/>
          </a:p>
        </p:txBody>
      </p:sp>
      <p:grpSp>
        <p:nvGrpSpPr>
          <p:cNvPr id="7" name="Group 6">
            <a:extLst>
              <a:ext uri="{FF2B5EF4-FFF2-40B4-BE49-F238E27FC236}">
                <a16:creationId xmlns:a16="http://schemas.microsoft.com/office/drawing/2014/main" id="{B9839F0C-B855-2FF6-A657-3A58AB28ADD5}"/>
              </a:ext>
            </a:extLst>
          </p:cNvPr>
          <p:cNvGrpSpPr/>
          <p:nvPr/>
        </p:nvGrpSpPr>
        <p:grpSpPr>
          <a:xfrm>
            <a:off x="203635" y="1825625"/>
            <a:ext cx="504000" cy="504000"/>
            <a:chOff x="977950" y="2729564"/>
            <a:chExt cx="504000" cy="504000"/>
          </a:xfrm>
        </p:grpSpPr>
        <p:sp>
          <p:nvSpPr>
            <p:cNvPr id="8" name="Oval 7">
              <a:extLst>
                <a:ext uri="{FF2B5EF4-FFF2-40B4-BE49-F238E27FC236}">
                  <a16:creationId xmlns:a16="http://schemas.microsoft.com/office/drawing/2014/main" id="{733AB407-EFE2-CEFE-DD19-1790879BDC03}"/>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pic>
          <p:nvPicPr>
            <p:cNvPr id="9" name="Graphic 8" descr="Golden Ratio with solid fill">
              <a:extLst>
                <a:ext uri="{FF2B5EF4-FFF2-40B4-BE49-F238E27FC236}">
                  <a16:creationId xmlns:a16="http://schemas.microsoft.com/office/drawing/2014/main" id="{B279CF73-01FA-7EAE-5B87-C42E9A279F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10" name="Group 9">
            <a:extLst>
              <a:ext uri="{FF2B5EF4-FFF2-40B4-BE49-F238E27FC236}">
                <a16:creationId xmlns:a16="http://schemas.microsoft.com/office/drawing/2014/main" id="{CEEAAD29-F2DE-9AFB-4824-13D7EC0174AA}"/>
              </a:ext>
            </a:extLst>
          </p:cNvPr>
          <p:cNvGrpSpPr/>
          <p:nvPr/>
        </p:nvGrpSpPr>
        <p:grpSpPr>
          <a:xfrm>
            <a:off x="203635" y="2439322"/>
            <a:ext cx="504000" cy="504000"/>
            <a:chOff x="977950" y="2729564"/>
            <a:chExt cx="504000" cy="504000"/>
          </a:xfrm>
        </p:grpSpPr>
        <p:sp>
          <p:nvSpPr>
            <p:cNvPr id="11" name="Oval 10">
              <a:extLst>
                <a:ext uri="{FF2B5EF4-FFF2-40B4-BE49-F238E27FC236}">
                  <a16:creationId xmlns:a16="http://schemas.microsoft.com/office/drawing/2014/main" id="{23F45D2E-6632-8B3C-840C-B77D77E6387C}"/>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Normal Distribution with solid fill">
              <a:extLst>
                <a:ext uri="{FF2B5EF4-FFF2-40B4-BE49-F238E27FC236}">
                  <a16:creationId xmlns:a16="http://schemas.microsoft.com/office/drawing/2014/main" id="{1B48F4B7-C6AF-CD28-9183-BF5535D6FAB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13" name="Group 12">
            <a:extLst>
              <a:ext uri="{FF2B5EF4-FFF2-40B4-BE49-F238E27FC236}">
                <a16:creationId xmlns:a16="http://schemas.microsoft.com/office/drawing/2014/main" id="{D574DD3E-F63E-8AAB-EAB4-2416655F3644}"/>
              </a:ext>
            </a:extLst>
          </p:cNvPr>
          <p:cNvGrpSpPr/>
          <p:nvPr/>
        </p:nvGrpSpPr>
        <p:grpSpPr>
          <a:xfrm>
            <a:off x="203635" y="3053019"/>
            <a:ext cx="504000" cy="504000"/>
            <a:chOff x="977950" y="2729564"/>
            <a:chExt cx="504000" cy="504000"/>
          </a:xfrm>
        </p:grpSpPr>
        <p:sp>
          <p:nvSpPr>
            <p:cNvPr id="14" name="Oval 13">
              <a:extLst>
                <a:ext uri="{FF2B5EF4-FFF2-40B4-BE49-F238E27FC236}">
                  <a16:creationId xmlns:a16="http://schemas.microsoft.com/office/drawing/2014/main" id="{D7162123-5A63-A73A-080E-DF806F825431}"/>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Graphic 14" descr="Abacus with solid fill">
              <a:extLst>
                <a:ext uri="{FF2B5EF4-FFF2-40B4-BE49-F238E27FC236}">
                  <a16:creationId xmlns:a16="http://schemas.microsoft.com/office/drawing/2014/main" id="{A59DDFC1-BF6E-764A-1515-A6085FB5440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16" name="Group 15">
            <a:extLst>
              <a:ext uri="{FF2B5EF4-FFF2-40B4-BE49-F238E27FC236}">
                <a16:creationId xmlns:a16="http://schemas.microsoft.com/office/drawing/2014/main" id="{96728FDF-F78B-0C4C-22E4-8370D236D1C3}"/>
              </a:ext>
            </a:extLst>
          </p:cNvPr>
          <p:cNvGrpSpPr/>
          <p:nvPr/>
        </p:nvGrpSpPr>
        <p:grpSpPr>
          <a:xfrm>
            <a:off x="203635" y="3666716"/>
            <a:ext cx="504000" cy="504000"/>
            <a:chOff x="977950" y="2729564"/>
            <a:chExt cx="504000" cy="504000"/>
          </a:xfrm>
        </p:grpSpPr>
        <p:sp>
          <p:nvSpPr>
            <p:cNvPr id="17" name="Oval 16">
              <a:extLst>
                <a:ext uri="{FF2B5EF4-FFF2-40B4-BE49-F238E27FC236}">
                  <a16:creationId xmlns:a16="http://schemas.microsoft.com/office/drawing/2014/main" id="{7D603A8A-BC80-2FBB-9D3F-4F0FB302F56D}"/>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Graphic 17" descr="Trigonometry with solid fill">
              <a:extLst>
                <a:ext uri="{FF2B5EF4-FFF2-40B4-BE49-F238E27FC236}">
                  <a16:creationId xmlns:a16="http://schemas.microsoft.com/office/drawing/2014/main" id="{A2EC1D1B-CA73-F1E9-C548-B0FD089A705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19" name="Group 18">
            <a:extLst>
              <a:ext uri="{FF2B5EF4-FFF2-40B4-BE49-F238E27FC236}">
                <a16:creationId xmlns:a16="http://schemas.microsoft.com/office/drawing/2014/main" id="{DADF6A29-95EB-6BD4-CFFB-A53E5A01476C}"/>
              </a:ext>
            </a:extLst>
          </p:cNvPr>
          <p:cNvGrpSpPr/>
          <p:nvPr/>
        </p:nvGrpSpPr>
        <p:grpSpPr>
          <a:xfrm>
            <a:off x="203635" y="4280414"/>
            <a:ext cx="504000" cy="504000"/>
            <a:chOff x="977950" y="2729564"/>
            <a:chExt cx="504000" cy="504000"/>
          </a:xfrm>
        </p:grpSpPr>
        <p:sp>
          <p:nvSpPr>
            <p:cNvPr id="20" name="Oval 19">
              <a:extLst>
                <a:ext uri="{FF2B5EF4-FFF2-40B4-BE49-F238E27FC236}">
                  <a16:creationId xmlns:a16="http://schemas.microsoft.com/office/drawing/2014/main" id="{BE63F226-5D05-5FD0-9287-C4B79BA5D0BB}"/>
                </a:ext>
              </a:extLst>
            </p:cNvPr>
            <p:cNvSpPr/>
            <p:nvPr/>
          </p:nvSpPr>
          <p:spPr>
            <a:xfrm>
              <a:off x="977950" y="2729564"/>
              <a:ext cx="504000" cy="504000"/>
            </a:xfrm>
            <a:prstGeom prst="ellipse">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1" name="Graphic 20" descr="Scatterplot with solid fill">
              <a:extLst>
                <a:ext uri="{FF2B5EF4-FFF2-40B4-BE49-F238E27FC236}">
                  <a16:creationId xmlns:a16="http://schemas.microsoft.com/office/drawing/2014/main" id="{675F02E0-749C-AD08-8233-0B74FB5101B4}"/>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22" name="Straight Arrow Connector 21">
            <a:extLst>
              <a:ext uri="{FF2B5EF4-FFF2-40B4-BE49-F238E27FC236}">
                <a16:creationId xmlns:a16="http://schemas.microsoft.com/office/drawing/2014/main" id="{EB30F2B2-E9E9-17E8-8F69-860F20BE426F}"/>
              </a:ext>
            </a:extLst>
          </p:cNvPr>
          <p:cNvCxnSpPr>
            <a:cxnSpLocks/>
            <a:stCxn id="8" idx="4"/>
            <a:endCxn id="11"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8F6F2050-163F-458D-E464-01971BECFDA7}"/>
              </a:ext>
            </a:extLst>
          </p:cNvPr>
          <p:cNvCxnSpPr>
            <a:cxnSpLocks/>
            <a:stCxn id="11" idx="4"/>
            <a:endCxn id="14"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316078D0-80EC-EA0D-44E5-1AB3F34CA029}"/>
              </a:ext>
            </a:extLst>
          </p:cNvPr>
          <p:cNvCxnSpPr>
            <a:cxnSpLocks/>
            <a:stCxn id="14" idx="4"/>
            <a:endCxn id="17"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D5B4CA28-9B63-0B76-C19B-8B410DD3E385}"/>
              </a:ext>
            </a:extLst>
          </p:cNvPr>
          <p:cNvCxnSpPr>
            <a:cxnSpLocks/>
            <a:stCxn id="17" idx="4"/>
            <a:endCxn id="20"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7" name="Picture 26">
            <a:extLst>
              <a:ext uri="{FF2B5EF4-FFF2-40B4-BE49-F238E27FC236}">
                <a16:creationId xmlns:a16="http://schemas.microsoft.com/office/drawing/2014/main" id="{60E9889E-33DA-26D7-BAF3-03110C251B84}"/>
              </a:ext>
            </a:extLst>
          </p:cNvPr>
          <p:cNvPicPr>
            <a:picLocks noChangeAspect="1"/>
          </p:cNvPicPr>
          <p:nvPr/>
        </p:nvPicPr>
        <p:blipFill>
          <a:blip r:embed="rId8"/>
          <a:stretch>
            <a:fillRect/>
          </a:stretch>
        </p:blipFill>
        <p:spPr>
          <a:xfrm>
            <a:off x="6614601" y="4071882"/>
            <a:ext cx="3604572" cy="1425063"/>
          </a:xfrm>
          <a:prstGeom prst="rect">
            <a:avLst/>
          </a:prstGeom>
        </p:spPr>
      </p:pic>
      <p:sp>
        <p:nvSpPr>
          <p:cNvPr id="28" name="Oval 27">
            <a:extLst>
              <a:ext uri="{FF2B5EF4-FFF2-40B4-BE49-F238E27FC236}">
                <a16:creationId xmlns:a16="http://schemas.microsoft.com/office/drawing/2014/main" id="{15B41CAD-03DF-28C8-C5C0-303409E9D213}"/>
              </a:ext>
            </a:extLst>
          </p:cNvPr>
          <p:cNvSpPr/>
          <p:nvPr/>
        </p:nvSpPr>
        <p:spPr>
          <a:xfrm>
            <a:off x="1841242" y="4326935"/>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29" name="Oval 28">
            <a:extLst>
              <a:ext uri="{FF2B5EF4-FFF2-40B4-BE49-F238E27FC236}">
                <a16:creationId xmlns:a16="http://schemas.microsoft.com/office/drawing/2014/main" id="{48036020-A813-72A7-70F6-02D1B2C8EFDE}"/>
              </a:ext>
            </a:extLst>
          </p:cNvPr>
          <p:cNvSpPr/>
          <p:nvPr/>
        </p:nvSpPr>
        <p:spPr>
          <a:xfrm>
            <a:off x="4332622" y="4326935"/>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30" name="Straight Arrow Connector 29">
            <a:extLst>
              <a:ext uri="{FF2B5EF4-FFF2-40B4-BE49-F238E27FC236}">
                <a16:creationId xmlns:a16="http://schemas.microsoft.com/office/drawing/2014/main" id="{FEC61D02-A8D4-34F2-6D11-97E36AB7FCBE}"/>
              </a:ext>
            </a:extLst>
          </p:cNvPr>
          <p:cNvCxnSpPr>
            <a:stCxn id="28" idx="6"/>
            <a:endCxn id="29" idx="2"/>
          </p:cNvCxnSpPr>
          <p:nvPr/>
        </p:nvCxnSpPr>
        <p:spPr>
          <a:xfrm>
            <a:off x="2201242" y="4506935"/>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Oval 32">
            <a:extLst>
              <a:ext uri="{FF2B5EF4-FFF2-40B4-BE49-F238E27FC236}">
                <a16:creationId xmlns:a16="http://schemas.microsoft.com/office/drawing/2014/main" id="{400FBBC5-4C09-B04B-4E15-C08B6C5EFF9A}"/>
              </a:ext>
            </a:extLst>
          </p:cNvPr>
          <p:cNvSpPr/>
          <p:nvPr/>
        </p:nvSpPr>
        <p:spPr>
          <a:xfrm>
            <a:off x="3086932" y="509325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35" name="Straight Arrow Connector 34">
            <a:extLst>
              <a:ext uri="{FF2B5EF4-FFF2-40B4-BE49-F238E27FC236}">
                <a16:creationId xmlns:a16="http://schemas.microsoft.com/office/drawing/2014/main" id="{92ED3AC1-B678-C8DF-5123-2FF7410336D9}"/>
              </a:ext>
            </a:extLst>
          </p:cNvPr>
          <p:cNvCxnSpPr>
            <a:cxnSpLocks/>
            <a:stCxn id="33" idx="7"/>
            <a:endCxn id="29" idx="3"/>
          </p:cNvCxnSpPr>
          <p:nvPr/>
        </p:nvCxnSpPr>
        <p:spPr>
          <a:xfrm flipV="1">
            <a:off x="3394211" y="4634214"/>
            <a:ext cx="991132" cy="511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EA055642-312C-1F9C-4CA4-D2F11ACFF452}"/>
              </a:ext>
            </a:extLst>
          </p:cNvPr>
          <p:cNvCxnSpPr>
            <a:cxnSpLocks/>
            <a:stCxn id="33" idx="1"/>
            <a:endCxn id="28" idx="5"/>
          </p:cNvCxnSpPr>
          <p:nvPr/>
        </p:nvCxnSpPr>
        <p:spPr>
          <a:xfrm flipH="1" flipV="1">
            <a:off x="2148521" y="4634214"/>
            <a:ext cx="991132" cy="511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2F9E639E-53E0-E582-0C4A-4B2AFDAE178F}"/>
                  </a:ext>
                </a:extLst>
              </p:cNvPr>
              <p:cNvSpPr txBox="1"/>
              <p:nvPr/>
            </p:nvSpPr>
            <p:spPr>
              <a:xfrm>
                <a:off x="2825337" y="4102658"/>
                <a:ext cx="8906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𝛽</m:t>
                          </m:r>
                        </m:e>
                        <m:sub>
                          <m:r>
                            <a:rPr lang="en-SE" b="0" i="1" smtClean="0">
                              <a:latin typeface="Cambria Math" panose="02040503050406030204" pitchFamily="18" charset="0"/>
                            </a:rPr>
                            <m:t>𝑥</m:t>
                          </m:r>
                        </m:sub>
                      </m:sSub>
                      <m:r>
                        <a:rPr lang="en-SE" b="0" i="1" smtClean="0">
                          <a:latin typeface="Cambria Math" panose="02040503050406030204" pitchFamily="18" charset="0"/>
                        </a:rPr>
                        <m:t>=0.5</m:t>
                      </m:r>
                    </m:oMath>
                  </m:oMathPara>
                </a14:m>
                <a:endParaRPr lang="en-SE" dirty="0"/>
              </a:p>
            </p:txBody>
          </p:sp>
        </mc:Choice>
        <mc:Fallback>
          <p:sp>
            <p:nvSpPr>
              <p:cNvPr id="37" name="TextBox 36">
                <a:extLst>
                  <a:ext uri="{FF2B5EF4-FFF2-40B4-BE49-F238E27FC236}">
                    <a16:creationId xmlns:a16="http://schemas.microsoft.com/office/drawing/2014/main" id="{2F9E639E-53E0-E582-0C4A-4B2AFDAE178F}"/>
                  </a:ext>
                </a:extLst>
              </p:cNvPr>
              <p:cNvSpPr txBox="1">
                <a:spLocks noRot="1" noChangeAspect="1" noMove="1" noResize="1" noEditPoints="1" noAdjustHandles="1" noChangeArrowheads="1" noChangeShapeType="1" noTextEdit="1"/>
              </p:cNvSpPr>
              <p:nvPr/>
            </p:nvSpPr>
            <p:spPr>
              <a:xfrm>
                <a:off x="2825337" y="4102658"/>
                <a:ext cx="890628" cy="276999"/>
              </a:xfrm>
              <a:prstGeom prst="rect">
                <a:avLst/>
              </a:prstGeom>
              <a:blipFill>
                <a:blip r:embed="rId9"/>
                <a:stretch>
                  <a:fillRect l="-9524" t="-2222" r="-6122"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9151D4B-B719-E47B-C8AE-277547A2FBF6}"/>
                  </a:ext>
                </a:extLst>
              </p:cNvPr>
              <p:cNvSpPr txBox="1"/>
              <p:nvPr/>
            </p:nvSpPr>
            <p:spPr>
              <a:xfrm>
                <a:off x="3943748" y="4925428"/>
                <a:ext cx="8802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𝛽</m:t>
                          </m:r>
                        </m:e>
                        <m:sub>
                          <m:r>
                            <a:rPr lang="en-SE" b="0" i="1" smtClean="0">
                              <a:latin typeface="Cambria Math" panose="02040503050406030204" pitchFamily="18" charset="0"/>
                            </a:rPr>
                            <m:t>𝑧</m:t>
                          </m:r>
                        </m:sub>
                      </m:sSub>
                      <m:r>
                        <a:rPr lang="en-SE" b="0" i="1" smtClean="0">
                          <a:latin typeface="Cambria Math" panose="02040503050406030204" pitchFamily="18" charset="0"/>
                        </a:rPr>
                        <m:t>=1.2</m:t>
                      </m:r>
                    </m:oMath>
                  </m:oMathPara>
                </a14:m>
                <a:endParaRPr lang="en-SE" dirty="0"/>
              </a:p>
            </p:txBody>
          </p:sp>
        </mc:Choice>
        <mc:Fallback xmlns="">
          <p:sp>
            <p:nvSpPr>
              <p:cNvPr id="39" name="TextBox 38">
                <a:extLst>
                  <a:ext uri="{FF2B5EF4-FFF2-40B4-BE49-F238E27FC236}">
                    <a16:creationId xmlns:a16="http://schemas.microsoft.com/office/drawing/2014/main" id="{89151D4B-B719-E47B-C8AE-277547A2FBF6}"/>
                  </a:ext>
                </a:extLst>
              </p:cNvPr>
              <p:cNvSpPr txBox="1">
                <a:spLocks noRot="1" noChangeAspect="1" noMove="1" noResize="1" noEditPoints="1" noAdjustHandles="1" noChangeArrowheads="1" noChangeShapeType="1" noTextEdit="1"/>
              </p:cNvSpPr>
              <p:nvPr/>
            </p:nvSpPr>
            <p:spPr>
              <a:xfrm>
                <a:off x="3943748" y="4925428"/>
                <a:ext cx="880241" cy="276999"/>
              </a:xfrm>
              <a:prstGeom prst="rect">
                <a:avLst/>
              </a:prstGeom>
              <a:blipFill>
                <a:blip r:embed="rId10"/>
                <a:stretch>
                  <a:fillRect l="-9722" t="-2222" r="-6250" b="-35556"/>
                </a:stretch>
              </a:blipFill>
            </p:spPr>
            <p:txBody>
              <a:bodyPr/>
              <a:lstStyle/>
              <a:p>
                <a:r>
                  <a:rPr lang="en-SE">
                    <a:noFill/>
                  </a:rPr>
                  <a:t> </a:t>
                </a:r>
              </a:p>
            </p:txBody>
          </p:sp>
        </mc:Fallback>
      </mc:AlternateContent>
      <p:sp>
        <p:nvSpPr>
          <p:cNvPr id="40" name="TextBox 39">
            <a:extLst>
              <a:ext uri="{FF2B5EF4-FFF2-40B4-BE49-F238E27FC236}">
                <a16:creationId xmlns:a16="http://schemas.microsoft.com/office/drawing/2014/main" id="{7FD14344-A3DF-D57A-5042-E7860083C2BA}"/>
              </a:ext>
            </a:extLst>
          </p:cNvPr>
          <p:cNvSpPr txBox="1"/>
          <p:nvPr/>
        </p:nvSpPr>
        <p:spPr>
          <a:xfrm>
            <a:off x="2242421" y="3482050"/>
            <a:ext cx="2049022" cy="369332"/>
          </a:xfrm>
          <a:prstGeom prst="rect">
            <a:avLst/>
          </a:prstGeom>
          <a:noFill/>
        </p:spPr>
        <p:txBody>
          <a:bodyPr wrap="none" rtlCol="0">
            <a:spAutoFit/>
          </a:bodyPr>
          <a:lstStyle/>
          <a:p>
            <a:pPr algn="ctr"/>
            <a:r>
              <a:rPr lang="en-SE" b="1" dirty="0"/>
              <a:t>Simulated Effects</a:t>
            </a:r>
          </a:p>
        </p:txBody>
      </p:sp>
      <p:sp>
        <p:nvSpPr>
          <p:cNvPr id="42" name="TextBox 41">
            <a:extLst>
              <a:ext uri="{FF2B5EF4-FFF2-40B4-BE49-F238E27FC236}">
                <a16:creationId xmlns:a16="http://schemas.microsoft.com/office/drawing/2014/main" id="{1EA34D47-F56E-CA21-884B-5549E4F17955}"/>
              </a:ext>
            </a:extLst>
          </p:cNvPr>
          <p:cNvSpPr txBox="1"/>
          <p:nvPr/>
        </p:nvSpPr>
        <p:spPr>
          <a:xfrm>
            <a:off x="7591058" y="3482050"/>
            <a:ext cx="2039084" cy="369332"/>
          </a:xfrm>
          <a:prstGeom prst="rect">
            <a:avLst/>
          </a:prstGeom>
          <a:noFill/>
        </p:spPr>
        <p:txBody>
          <a:bodyPr wrap="none" rtlCol="0">
            <a:spAutoFit/>
          </a:bodyPr>
          <a:lstStyle/>
          <a:p>
            <a:pPr algn="ctr"/>
            <a:r>
              <a:rPr lang="en-SE" b="1" dirty="0"/>
              <a:t>Estimated Effects</a:t>
            </a:r>
          </a:p>
        </p:txBody>
      </p:sp>
    </p:spTree>
    <p:extLst>
      <p:ext uri="{BB962C8B-B14F-4D97-AF65-F5344CB8AC3E}">
        <p14:creationId xmlns:p14="http://schemas.microsoft.com/office/powerpoint/2010/main" val="646645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3" grpId="0" animBg="1"/>
      <p:bldP spid="37" grpId="0"/>
      <p:bldP spid="39" grpId="0"/>
      <p:bldP spid="40" grpId="0"/>
      <p:bldP spid="4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ED691-BBA8-C207-D40A-74E2F331B1A9}"/>
              </a:ext>
            </a:extLst>
          </p:cNvPr>
          <p:cNvSpPr>
            <a:spLocks noGrp="1"/>
          </p:cNvSpPr>
          <p:nvPr>
            <p:ph type="title"/>
          </p:nvPr>
        </p:nvSpPr>
        <p:spPr/>
        <p:txBody>
          <a:bodyPr/>
          <a:lstStyle/>
          <a:p>
            <a:r>
              <a:rPr lang="en-SE" dirty="0"/>
              <a:t>Credible Interval</a:t>
            </a:r>
          </a:p>
        </p:txBody>
      </p:sp>
      <p:sp>
        <p:nvSpPr>
          <p:cNvPr id="3" name="Content Placeholder 2">
            <a:extLst>
              <a:ext uri="{FF2B5EF4-FFF2-40B4-BE49-F238E27FC236}">
                <a16:creationId xmlns:a16="http://schemas.microsoft.com/office/drawing/2014/main" id="{B898204B-55AA-E5FB-BBEF-05CDCF573C7E}"/>
              </a:ext>
            </a:extLst>
          </p:cNvPr>
          <p:cNvSpPr>
            <a:spLocks noGrp="1"/>
          </p:cNvSpPr>
          <p:nvPr>
            <p:ph idx="1"/>
          </p:nvPr>
        </p:nvSpPr>
        <p:spPr>
          <a:xfrm>
            <a:off x="838200" y="1825625"/>
            <a:ext cx="10515600" cy="1731394"/>
          </a:xfrm>
        </p:spPr>
        <p:txBody>
          <a:bodyPr/>
          <a:lstStyle/>
          <a:p>
            <a:pPr marL="0" indent="0">
              <a:buNone/>
            </a:pPr>
            <a:r>
              <a:rPr lang="en-SE" dirty="0"/>
              <a:t>The uncertainty around the estimation is a </a:t>
            </a:r>
            <a:r>
              <a:rPr lang="en-SE" b="1" dirty="0"/>
              <a:t>credible interval</a:t>
            </a:r>
            <a:r>
              <a:rPr lang="en-SE" dirty="0"/>
              <a:t>, not a </a:t>
            </a:r>
            <a:r>
              <a:rPr lang="en-SE" i="1" dirty="0"/>
              <a:t>confidence interval</a:t>
            </a:r>
            <a:r>
              <a:rPr lang="en-SE" dirty="0"/>
              <a:t>. It can be interpreted naturally: a 95% credible interval has a 95% chance of containing the true value of the parameter.</a:t>
            </a:r>
          </a:p>
        </p:txBody>
      </p:sp>
      <p:sp>
        <p:nvSpPr>
          <p:cNvPr id="4" name="Date Placeholder 3">
            <a:extLst>
              <a:ext uri="{FF2B5EF4-FFF2-40B4-BE49-F238E27FC236}">
                <a16:creationId xmlns:a16="http://schemas.microsoft.com/office/drawing/2014/main" id="{C2407F65-369D-97FA-6575-47684D948180}"/>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54D8BA8C-31A1-F3DB-CB4E-C7C10897FB03}"/>
              </a:ext>
            </a:extLst>
          </p:cNvPr>
          <p:cNvSpPr>
            <a:spLocks noGrp="1"/>
          </p:cNvSpPr>
          <p:nvPr>
            <p:ph type="sldNum" sz="quarter" idx="12"/>
          </p:nvPr>
        </p:nvSpPr>
        <p:spPr/>
        <p:txBody>
          <a:bodyPr/>
          <a:lstStyle/>
          <a:p>
            <a:fld id="{271ECC92-9CDE-4EB3-B1C5-F46B9E1FA3C1}" type="slidenum">
              <a:rPr lang="en-SE" smtClean="0"/>
              <a:t>63</a:t>
            </a:fld>
            <a:endParaRPr lang="en-SE"/>
          </a:p>
        </p:txBody>
      </p:sp>
      <p:sp>
        <p:nvSpPr>
          <p:cNvPr id="6" name="Footer Placeholder 5">
            <a:extLst>
              <a:ext uri="{FF2B5EF4-FFF2-40B4-BE49-F238E27FC236}">
                <a16:creationId xmlns:a16="http://schemas.microsoft.com/office/drawing/2014/main" id="{29186AF1-E820-EC7F-FD91-1D823789E18B}"/>
              </a:ext>
            </a:extLst>
          </p:cNvPr>
          <p:cNvSpPr>
            <a:spLocks noGrp="1"/>
          </p:cNvSpPr>
          <p:nvPr>
            <p:ph type="ftr" sz="quarter" idx="11"/>
          </p:nvPr>
        </p:nvSpPr>
        <p:spPr/>
        <p:txBody>
          <a:bodyPr/>
          <a:lstStyle/>
          <a:p>
            <a:r>
              <a:rPr lang="de-DE"/>
              <a:t>Bayesian Data Analysis Tutorial</a:t>
            </a:r>
            <a:endParaRPr lang="en-SE"/>
          </a:p>
        </p:txBody>
      </p:sp>
      <p:grpSp>
        <p:nvGrpSpPr>
          <p:cNvPr id="26" name="Group 25">
            <a:extLst>
              <a:ext uri="{FF2B5EF4-FFF2-40B4-BE49-F238E27FC236}">
                <a16:creationId xmlns:a16="http://schemas.microsoft.com/office/drawing/2014/main" id="{613BC91E-FEE7-00EC-9D3E-2DF73CD102E4}"/>
              </a:ext>
            </a:extLst>
          </p:cNvPr>
          <p:cNvGrpSpPr/>
          <p:nvPr/>
        </p:nvGrpSpPr>
        <p:grpSpPr>
          <a:xfrm>
            <a:off x="203635" y="1825625"/>
            <a:ext cx="504000" cy="504000"/>
            <a:chOff x="977950" y="2729564"/>
            <a:chExt cx="504000" cy="504000"/>
          </a:xfrm>
        </p:grpSpPr>
        <p:sp>
          <p:nvSpPr>
            <p:cNvPr id="27" name="Oval 26">
              <a:extLst>
                <a:ext uri="{FF2B5EF4-FFF2-40B4-BE49-F238E27FC236}">
                  <a16:creationId xmlns:a16="http://schemas.microsoft.com/office/drawing/2014/main" id="{55F018D8-EC04-2FA0-5909-095A02EEC449}"/>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pic>
          <p:nvPicPr>
            <p:cNvPr id="28" name="Graphic 27" descr="Golden Ratio with solid fill">
              <a:extLst>
                <a:ext uri="{FF2B5EF4-FFF2-40B4-BE49-F238E27FC236}">
                  <a16:creationId xmlns:a16="http://schemas.microsoft.com/office/drawing/2014/main" id="{8199BF84-3688-BDAF-C10D-2EEBAB8D073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950" y="2783564"/>
              <a:ext cx="396000" cy="396000"/>
            </a:xfrm>
            <a:prstGeom prst="rect">
              <a:avLst/>
            </a:prstGeom>
          </p:spPr>
        </p:pic>
      </p:grpSp>
      <p:grpSp>
        <p:nvGrpSpPr>
          <p:cNvPr id="29" name="Group 28">
            <a:extLst>
              <a:ext uri="{FF2B5EF4-FFF2-40B4-BE49-F238E27FC236}">
                <a16:creationId xmlns:a16="http://schemas.microsoft.com/office/drawing/2014/main" id="{48B76AEE-A35C-A96D-7B72-C7BE6300D297}"/>
              </a:ext>
            </a:extLst>
          </p:cNvPr>
          <p:cNvGrpSpPr/>
          <p:nvPr/>
        </p:nvGrpSpPr>
        <p:grpSpPr>
          <a:xfrm>
            <a:off x="203635" y="2439322"/>
            <a:ext cx="504000" cy="504000"/>
            <a:chOff x="977950" y="2729564"/>
            <a:chExt cx="504000" cy="504000"/>
          </a:xfrm>
        </p:grpSpPr>
        <p:sp>
          <p:nvSpPr>
            <p:cNvPr id="30" name="Oval 29">
              <a:extLst>
                <a:ext uri="{FF2B5EF4-FFF2-40B4-BE49-F238E27FC236}">
                  <a16:creationId xmlns:a16="http://schemas.microsoft.com/office/drawing/2014/main" id="{97E0D087-4946-D7FF-3209-91541AA88291}"/>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1" name="Graphic 30" descr="Normal Distribution with solid fill">
              <a:extLst>
                <a:ext uri="{FF2B5EF4-FFF2-40B4-BE49-F238E27FC236}">
                  <a16:creationId xmlns:a16="http://schemas.microsoft.com/office/drawing/2014/main" id="{D4E28B34-F0B2-1E64-D241-0DCC92F94C2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grpSp>
        <p:nvGrpSpPr>
          <p:cNvPr id="32" name="Group 31">
            <a:extLst>
              <a:ext uri="{FF2B5EF4-FFF2-40B4-BE49-F238E27FC236}">
                <a16:creationId xmlns:a16="http://schemas.microsoft.com/office/drawing/2014/main" id="{3A074E34-38B2-D137-8E88-8880118860E5}"/>
              </a:ext>
            </a:extLst>
          </p:cNvPr>
          <p:cNvGrpSpPr/>
          <p:nvPr/>
        </p:nvGrpSpPr>
        <p:grpSpPr>
          <a:xfrm>
            <a:off x="203635" y="3053019"/>
            <a:ext cx="504000" cy="504000"/>
            <a:chOff x="977950" y="2729564"/>
            <a:chExt cx="504000" cy="504000"/>
          </a:xfrm>
        </p:grpSpPr>
        <p:sp>
          <p:nvSpPr>
            <p:cNvPr id="33" name="Oval 32">
              <a:extLst>
                <a:ext uri="{FF2B5EF4-FFF2-40B4-BE49-F238E27FC236}">
                  <a16:creationId xmlns:a16="http://schemas.microsoft.com/office/drawing/2014/main" id="{DD9852CE-3C4D-4F20-0ACD-3CF835E705EB}"/>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4" name="Graphic 33" descr="Abacus with solid fill">
              <a:extLst>
                <a:ext uri="{FF2B5EF4-FFF2-40B4-BE49-F238E27FC236}">
                  <a16:creationId xmlns:a16="http://schemas.microsoft.com/office/drawing/2014/main" id="{AEA0DBD4-1E80-960F-BA81-ABF0E96A48B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35" name="Group 34">
            <a:extLst>
              <a:ext uri="{FF2B5EF4-FFF2-40B4-BE49-F238E27FC236}">
                <a16:creationId xmlns:a16="http://schemas.microsoft.com/office/drawing/2014/main" id="{10312D0D-F45C-D2BA-1DAE-5A9D59CFA35C}"/>
              </a:ext>
            </a:extLst>
          </p:cNvPr>
          <p:cNvGrpSpPr/>
          <p:nvPr/>
        </p:nvGrpSpPr>
        <p:grpSpPr>
          <a:xfrm>
            <a:off x="203635" y="3666716"/>
            <a:ext cx="504000" cy="504000"/>
            <a:chOff x="977950" y="2729564"/>
            <a:chExt cx="504000" cy="504000"/>
          </a:xfrm>
        </p:grpSpPr>
        <p:sp>
          <p:nvSpPr>
            <p:cNvPr id="36" name="Oval 35">
              <a:extLst>
                <a:ext uri="{FF2B5EF4-FFF2-40B4-BE49-F238E27FC236}">
                  <a16:creationId xmlns:a16="http://schemas.microsoft.com/office/drawing/2014/main" id="{2C3441A9-CA7F-36AD-1A6D-F3AD6672A8E2}"/>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7" name="Graphic 36" descr="Trigonometry with solid fill">
              <a:extLst>
                <a:ext uri="{FF2B5EF4-FFF2-40B4-BE49-F238E27FC236}">
                  <a16:creationId xmlns:a16="http://schemas.microsoft.com/office/drawing/2014/main" id="{0A33CDD5-8EED-97B6-713F-2358B83C6105}"/>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38" name="Group 37">
            <a:extLst>
              <a:ext uri="{FF2B5EF4-FFF2-40B4-BE49-F238E27FC236}">
                <a16:creationId xmlns:a16="http://schemas.microsoft.com/office/drawing/2014/main" id="{71575CE8-C5D0-B573-D076-2867FF5A6721}"/>
              </a:ext>
            </a:extLst>
          </p:cNvPr>
          <p:cNvGrpSpPr/>
          <p:nvPr/>
        </p:nvGrpSpPr>
        <p:grpSpPr>
          <a:xfrm>
            <a:off x="203635" y="4280414"/>
            <a:ext cx="504000" cy="504000"/>
            <a:chOff x="977950" y="2729564"/>
            <a:chExt cx="504000" cy="504000"/>
          </a:xfrm>
        </p:grpSpPr>
        <p:sp>
          <p:nvSpPr>
            <p:cNvPr id="39" name="Oval 38">
              <a:extLst>
                <a:ext uri="{FF2B5EF4-FFF2-40B4-BE49-F238E27FC236}">
                  <a16:creationId xmlns:a16="http://schemas.microsoft.com/office/drawing/2014/main" id="{E697444C-CD4E-4FDD-6BC7-640C299E5DB2}"/>
                </a:ext>
              </a:extLst>
            </p:cNvPr>
            <p:cNvSpPr/>
            <p:nvPr/>
          </p:nvSpPr>
          <p:spPr>
            <a:xfrm>
              <a:off x="977950" y="2729564"/>
              <a:ext cx="504000" cy="504000"/>
            </a:xfrm>
            <a:prstGeom prst="ellipse">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0" name="Graphic 39" descr="Scatterplot with solid fill">
              <a:extLst>
                <a:ext uri="{FF2B5EF4-FFF2-40B4-BE49-F238E27FC236}">
                  <a16:creationId xmlns:a16="http://schemas.microsoft.com/office/drawing/2014/main" id="{D92F9CC9-6F3D-46BC-81D5-84930AF4715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cxnSp>
        <p:nvCxnSpPr>
          <p:cNvPr id="41" name="Straight Arrow Connector 40">
            <a:extLst>
              <a:ext uri="{FF2B5EF4-FFF2-40B4-BE49-F238E27FC236}">
                <a16:creationId xmlns:a16="http://schemas.microsoft.com/office/drawing/2014/main" id="{97DD9DB1-645E-AD3D-206D-974D961B9FE0}"/>
              </a:ext>
            </a:extLst>
          </p:cNvPr>
          <p:cNvCxnSpPr>
            <a:cxnSpLocks/>
            <a:stCxn id="27" idx="4"/>
            <a:endCxn id="30"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597FC437-020D-3865-E770-E985480A4308}"/>
              </a:ext>
            </a:extLst>
          </p:cNvPr>
          <p:cNvCxnSpPr>
            <a:cxnSpLocks/>
            <a:stCxn id="30" idx="4"/>
            <a:endCxn id="33"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B74D3550-B0B9-1060-8DB6-679A34885146}"/>
              </a:ext>
            </a:extLst>
          </p:cNvPr>
          <p:cNvCxnSpPr>
            <a:cxnSpLocks/>
            <a:stCxn id="33" idx="4"/>
            <a:endCxn id="36"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9CF4B509-00AB-88B5-CCF8-724A6F195D98}"/>
              </a:ext>
            </a:extLst>
          </p:cNvPr>
          <p:cNvCxnSpPr>
            <a:cxnSpLocks/>
            <a:stCxn id="36" idx="4"/>
            <a:endCxn id="39"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46" name="Picture 45">
            <a:extLst>
              <a:ext uri="{FF2B5EF4-FFF2-40B4-BE49-F238E27FC236}">
                <a16:creationId xmlns:a16="http://schemas.microsoft.com/office/drawing/2014/main" id="{75752D9A-50AF-468D-6E62-B47E525AB329}"/>
              </a:ext>
            </a:extLst>
          </p:cNvPr>
          <p:cNvPicPr>
            <a:picLocks noChangeAspect="1"/>
          </p:cNvPicPr>
          <p:nvPr/>
        </p:nvPicPr>
        <p:blipFill>
          <a:blip r:embed="rId7"/>
          <a:stretch>
            <a:fillRect/>
          </a:stretch>
        </p:blipFill>
        <p:spPr>
          <a:xfrm>
            <a:off x="3032603" y="3305019"/>
            <a:ext cx="4992164" cy="1920875"/>
          </a:xfrm>
          <a:prstGeom prst="rect">
            <a:avLst/>
          </a:prstGeom>
        </p:spPr>
      </p:pic>
      <p:sp>
        <p:nvSpPr>
          <p:cNvPr id="47" name="Content Placeholder 2">
            <a:extLst>
              <a:ext uri="{FF2B5EF4-FFF2-40B4-BE49-F238E27FC236}">
                <a16:creationId xmlns:a16="http://schemas.microsoft.com/office/drawing/2014/main" id="{47EAFD30-B438-C33D-7402-7B2C73DA367B}"/>
              </a:ext>
            </a:extLst>
          </p:cNvPr>
          <p:cNvSpPr txBox="1">
            <a:spLocks/>
          </p:cNvSpPr>
          <p:nvPr/>
        </p:nvSpPr>
        <p:spPr>
          <a:xfrm>
            <a:off x="838200" y="5225894"/>
            <a:ext cx="10515600" cy="9209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The further a CI is from 0.0, the </a:t>
            </a:r>
            <a:r>
              <a:rPr lang="en-SE" i="1" dirty="0"/>
              <a:t>stronger</a:t>
            </a:r>
            <a:r>
              <a:rPr lang="en-SE" dirty="0"/>
              <a:t> the effect. The narrower a CI, the </a:t>
            </a:r>
            <a:r>
              <a:rPr lang="en-SE" i="1" dirty="0"/>
              <a:t>more certain </a:t>
            </a:r>
            <a:r>
              <a:rPr lang="en-SE" dirty="0"/>
              <a:t>the effect. </a:t>
            </a:r>
          </a:p>
        </p:txBody>
      </p:sp>
    </p:spTree>
    <p:extLst>
      <p:ext uri="{BB962C8B-B14F-4D97-AF65-F5344CB8AC3E}">
        <p14:creationId xmlns:p14="http://schemas.microsoft.com/office/powerpoint/2010/main" val="1189414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C121-E4B2-C10C-FAF9-4DA6C8FB82E4}"/>
              </a:ext>
            </a:extLst>
          </p:cNvPr>
          <p:cNvSpPr>
            <a:spLocks noGrp="1"/>
          </p:cNvSpPr>
          <p:nvPr>
            <p:ph type="title"/>
          </p:nvPr>
        </p:nvSpPr>
        <p:spPr/>
        <p:txBody>
          <a:bodyPr/>
          <a:lstStyle/>
          <a:p>
            <a:r>
              <a:rPr lang="en-SE" dirty="0"/>
              <a:t>Credible Interval</a:t>
            </a:r>
          </a:p>
        </p:txBody>
      </p:sp>
      <p:sp>
        <p:nvSpPr>
          <p:cNvPr id="3" name="Content Placeholder 2">
            <a:extLst>
              <a:ext uri="{FF2B5EF4-FFF2-40B4-BE49-F238E27FC236}">
                <a16:creationId xmlns:a16="http://schemas.microsoft.com/office/drawing/2014/main" id="{AD6E6AA3-2D33-51D9-382A-FA124EB48306}"/>
              </a:ext>
            </a:extLst>
          </p:cNvPr>
          <p:cNvSpPr>
            <a:spLocks noGrp="1"/>
          </p:cNvSpPr>
          <p:nvPr>
            <p:ph idx="1"/>
          </p:nvPr>
        </p:nvSpPr>
        <p:spPr/>
        <p:txBody>
          <a:bodyPr/>
          <a:lstStyle/>
          <a:p>
            <a:pPr marL="0" indent="0">
              <a:buNone/>
            </a:pPr>
            <a:r>
              <a:rPr lang="en-SE" dirty="0"/>
              <a:t>Credible interval consistent with 0 -&gt; no significant effect.</a:t>
            </a:r>
          </a:p>
        </p:txBody>
      </p:sp>
      <p:sp>
        <p:nvSpPr>
          <p:cNvPr id="4" name="Date Placeholder 3">
            <a:extLst>
              <a:ext uri="{FF2B5EF4-FFF2-40B4-BE49-F238E27FC236}">
                <a16:creationId xmlns:a16="http://schemas.microsoft.com/office/drawing/2014/main" id="{7B070613-DC6B-AE75-63F8-DCA187B69510}"/>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C1AAB19D-A82A-D708-0BC8-FE173EE3FFD5}"/>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1D654215-9763-A857-CF66-69ECCBC1E967}"/>
              </a:ext>
            </a:extLst>
          </p:cNvPr>
          <p:cNvSpPr>
            <a:spLocks noGrp="1"/>
          </p:cNvSpPr>
          <p:nvPr>
            <p:ph type="sldNum" sz="quarter" idx="12"/>
          </p:nvPr>
        </p:nvSpPr>
        <p:spPr/>
        <p:txBody>
          <a:bodyPr/>
          <a:lstStyle/>
          <a:p>
            <a:fld id="{271ECC92-9CDE-4EB3-B1C5-F46B9E1FA3C1}" type="slidenum">
              <a:rPr lang="en-SE" smtClean="0"/>
              <a:t>64</a:t>
            </a:fld>
            <a:endParaRPr lang="en-SE"/>
          </a:p>
        </p:txBody>
      </p:sp>
      <p:grpSp>
        <p:nvGrpSpPr>
          <p:cNvPr id="7" name="Group 6">
            <a:extLst>
              <a:ext uri="{FF2B5EF4-FFF2-40B4-BE49-F238E27FC236}">
                <a16:creationId xmlns:a16="http://schemas.microsoft.com/office/drawing/2014/main" id="{404DD072-F6E0-BEFA-0C20-A13897DEE981}"/>
              </a:ext>
            </a:extLst>
          </p:cNvPr>
          <p:cNvGrpSpPr/>
          <p:nvPr/>
        </p:nvGrpSpPr>
        <p:grpSpPr>
          <a:xfrm>
            <a:off x="203635" y="1825625"/>
            <a:ext cx="504000" cy="504000"/>
            <a:chOff x="977950" y="2729564"/>
            <a:chExt cx="504000" cy="504000"/>
          </a:xfrm>
        </p:grpSpPr>
        <p:sp>
          <p:nvSpPr>
            <p:cNvPr id="8" name="Oval 7">
              <a:extLst>
                <a:ext uri="{FF2B5EF4-FFF2-40B4-BE49-F238E27FC236}">
                  <a16:creationId xmlns:a16="http://schemas.microsoft.com/office/drawing/2014/main" id="{F1375E9C-33A3-C696-76A7-206393A95656}"/>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pic>
          <p:nvPicPr>
            <p:cNvPr id="9" name="Graphic 8" descr="Golden Ratio with solid fill">
              <a:extLst>
                <a:ext uri="{FF2B5EF4-FFF2-40B4-BE49-F238E27FC236}">
                  <a16:creationId xmlns:a16="http://schemas.microsoft.com/office/drawing/2014/main" id="{60553B27-5697-3B19-33C7-8C3150280C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950" y="2783564"/>
              <a:ext cx="396000" cy="396000"/>
            </a:xfrm>
            <a:prstGeom prst="rect">
              <a:avLst/>
            </a:prstGeom>
          </p:spPr>
        </p:pic>
      </p:grpSp>
      <p:grpSp>
        <p:nvGrpSpPr>
          <p:cNvPr id="10" name="Group 9">
            <a:extLst>
              <a:ext uri="{FF2B5EF4-FFF2-40B4-BE49-F238E27FC236}">
                <a16:creationId xmlns:a16="http://schemas.microsoft.com/office/drawing/2014/main" id="{E6146752-18F2-7A22-B7B3-EB6A26272A7B}"/>
              </a:ext>
            </a:extLst>
          </p:cNvPr>
          <p:cNvGrpSpPr/>
          <p:nvPr/>
        </p:nvGrpSpPr>
        <p:grpSpPr>
          <a:xfrm>
            <a:off x="203635" y="2439322"/>
            <a:ext cx="504000" cy="504000"/>
            <a:chOff x="977950" y="2729564"/>
            <a:chExt cx="504000" cy="504000"/>
          </a:xfrm>
        </p:grpSpPr>
        <p:sp>
          <p:nvSpPr>
            <p:cNvPr id="11" name="Oval 10">
              <a:extLst>
                <a:ext uri="{FF2B5EF4-FFF2-40B4-BE49-F238E27FC236}">
                  <a16:creationId xmlns:a16="http://schemas.microsoft.com/office/drawing/2014/main" id="{E846C001-015D-B1EA-5B41-20700683A636}"/>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Normal Distribution with solid fill">
              <a:extLst>
                <a:ext uri="{FF2B5EF4-FFF2-40B4-BE49-F238E27FC236}">
                  <a16:creationId xmlns:a16="http://schemas.microsoft.com/office/drawing/2014/main" id="{74C4F56D-5573-3AFB-A6DF-3C244D72E58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grpSp>
        <p:nvGrpSpPr>
          <p:cNvPr id="13" name="Group 12">
            <a:extLst>
              <a:ext uri="{FF2B5EF4-FFF2-40B4-BE49-F238E27FC236}">
                <a16:creationId xmlns:a16="http://schemas.microsoft.com/office/drawing/2014/main" id="{904B40D9-24D4-EB8C-6AE2-8C7472EEC0FC}"/>
              </a:ext>
            </a:extLst>
          </p:cNvPr>
          <p:cNvGrpSpPr/>
          <p:nvPr/>
        </p:nvGrpSpPr>
        <p:grpSpPr>
          <a:xfrm>
            <a:off x="203635" y="3053019"/>
            <a:ext cx="504000" cy="504000"/>
            <a:chOff x="977950" y="2729564"/>
            <a:chExt cx="504000" cy="504000"/>
          </a:xfrm>
        </p:grpSpPr>
        <p:sp>
          <p:nvSpPr>
            <p:cNvPr id="14" name="Oval 13">
              <a:extLst>
                <a:ext uri="{FF2B5EF4-FFF2-40B4-BE49-F238E27FC236}">
                  <a16:creationId xmlns:a16="http://schemas.microsoft.com/office/drawing/2014/main" id="{F5B26744-FA4D-C08B-6A2A-6DC57324F800}"/>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Graphic 14" descr="Abacus with solid fill">
              <a:extLst>
                <a:ext uri="{FF2B5EF4-FFF2-40B4-BE49-F238E27FC236}">
                  <a16:creationId xmlns:a16="http://schemas.microsoft.com/office/drawing/2014/main" id="{2565DAD0-751B-B8B7-293A-607E615DD4E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16" name="Group 15">
            <a:extLst>
              <a:ext uri="{FF2B5EF4-FFF2-40B4-BE49-F238E27FC236}">
                <a16:creationId xmlns:a16="http://schemas.microsoft.com/office/drawing/2014/main" id="{24EBF898-3FE6-D47B-BCD9-28BE7DE1F2F2}"/>
              </a:ext>
            </a:extLst>
          </p:cNvPr>
          <p:cNvGrpSpPr/>
          <p:nvPr/>
        </p:nvGrpSpPr>
        <p:grpSpPr>
          <a:xfrm>
            <a:off x="203635" y="3666716"/>
            <a:ext cx="504000" cy="504000"/>
            <a:chOff x="977950" y="2729564"/>
            <a:chExt cx="504000" cy="504000"/>
          </a:xfrm>
        </p:grpSpPr>
        <p:sp>
          <p:nvSpPr>
            <p:cNvPr id="17" name="Oval 16">
              <a:extLst>
                <a:ext uri="{FF2B5EF4-FFF2-40B4-BE49-F238E27FC236}">
                  <a16:creationId xmlns:a16="http://schemas.microsoft.com/office/drawing/2014/main" id="{E2001405-FCF9-AAF3-BD55-8EA58BC6354F}"/>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Graphic 17" descr="Trigonometry with solid fill">
              <a:extLst>
                <a:ext uri="{FF2B5EF4-FFF2-40B4-BE49-F238E27FC236}">
                  <a16:creationId xmlns:a16="http://schemas.microsoft.com/office/drawing/2014/main" id="{C1114A87-9447-851B-03D5-A95F189D261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19" name="Group 18">
            <a:extLst>
              <a:ext uri="{FF2B5EF4-FFF2-40B4-BE49-F238E27FC236}">
                <a16:creationId xmlns:a16="http://schemas.microsoft.com/office/drawing/2014/main" id="{7D0648E4-F5A1-4D98-F5E0-9D13984238DD}"/>
              </a:ext>
            </a:extLst>
          </p:cNvPr>
          <p:cNvGrpSpPr/>
          <p:nvPr/>
        </p:nvGrpSpPr>
        <p:grpSpPr>
          <a:xfrm>
            <a:off x="203635" y="4280414"/>
            <a:ext cx="504000" cy="504000"/>
            <a:chOff x="977950" y="2729564"/>
            <a:chExt cx="504000" cy="504000"/>
          </a:xfrm>
        </p:grpSpPr>
        <p:sp>
          <p:nvSpPr>
            <p:cNvPr id="20" name="Oval 19">
              <a:extLst>
                <a:ext uri="{FF2B5EF4-FFF2-40B4-BE49-F238E27FC236}">
                  <a16:creationId xmlns:a16="http://schemas.microsoft.com/office/drawing/2014/main" id="{7548A5AA-09A6-388F-56A6-92D009A823CA}"/>
                </a:ext>
              </a:extLst>
            </p:cNvPr>
            <p:cNvSpPr/>
            <p:nvPr/>
          </p:nvSpPr>
          <p:spPr>
            <a:xfrm>
              <a:off x="977950" y="2729564"/>
              <a:ext cx="504000" cy="504000"/>
            </a:xfrm>
            <a:prstGeom prst="ellipse">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1" name="Graphic 20" descr="Scatterplot with solid fill">
              <a:extLst>
                <a:ext uri="{FF2B5EF4-FFF2-40B4-BE49-F238E27FC236}">
                  <a16:creationId xmlns:a16="http://schemas.microsoft.com/office/drawing/2014/main" id="{0D12DC52-8241-0587-0884-E4339FE3926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cxnSp>
        <p:nvCxnSpPr>
          <p:cNvPr id="22" name="Straight Arrow Connector 21">
            <a:extLst>
              <a:ext uri="{FF2B5EF4-FFF2-40B4-BE49-F238E27FC236}">
                <a16:creationId xmlns:a16="http://schemas.microsoft.com/office/drawing/2014/main" id="{4056B11C-ABC3-2ACF-2A69-8D2B2648962C}"/>
              </a:ext>
            </a:extLst>
          </p:cNvPr>
          <p:cNvCxnSpPr>
            <a:cxnSpLocks/>
            <a:stCxn id="8" idx="4"/>
            <a:endCxn id="11"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E7ABDCC2-64D1-8CA7-5CBD-CE916534B16E}"/>
              </a:ext>
            </a:extLst>
          </p:cNvPr>
          <p:cNvCxnSpPr>
            <a:cxnSpLocks/>
            <a:stCxn id="11" idx="4"/>
            <a:endCxn id="14"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F194AA67-E008-D6EC-1C2A-B6F4AA46AA0A}"/>
              </a:ext>
            </a:extLst>
          </p:cNvPr>
          <p:cNvCxnSpPr>
            <a:cxnSpLocks/>
            <a:stCxn id="14" idx="4"/>
            <a:endCxn id="17"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EECDDE17-6EEC-3E91-4DAB-AB2EB235F3C5}"/>
              </a:ext>
            </a:extLst>
          </p:cNvPr>
          <p:cNvCxnSpPr>
            <a:cxnSpLocks/>
            <a:stCxn id="17" idx="4"/>
            <a:endCxn id="20"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72523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6CB14-8B57-DEEB-3CE8-4030B2C1610D}"/>
              </a:ext>
            </a:extLst>
          </p:cNvPr>
          <p:cNvSpPr>
            <a:spLocks noGrp="1"/>
          </p:cNvSpPr>
          <p:nvPr>
            <p:ph type="title"/>
          </p:nvPr>
        </p:nvSpPr>
        <p:spPr/>
        <p:txBody>
          <a:bodyPr/>
          <a:lstStyle/>
          <a:p>
            <a:r>
              <a:rPr lang="en-SE" dirty="0"/>
              <a:t>Effect of Priors</a:t>
            </a:r>
          </a:p>
        </p:txBody>
      </p:sp>
      <p:sp>
        <p:nvSpPr>
          <p:cNvPr id="3" name="Content Placeholder 2">
            <a:extLst>
              <a:ext uri="{FF2B5EF4-FFF2-40B4-BE49-F238E27FC236}">
                <a16:creationId xmlns:a16="http://schemas.microsoft.com/office/drawing/2014/main" id="{30E85F1B-53C5-3AA0-3090-2863000C45B6}"/>
              </a:ext>
            </a:extLst>
          </p:cNvPr>
          <p:cNvSpPr>
            <a:spLocks noGrp="1"/>
          </p:cNvSpPr>
          <p:nvPr>
            <p:ph idx="1"/>
          </p:nvPr>
        </p:nvSpPr>
        <p:spPr/>
        <p:txBody>
          <a:bodyPr/>
          <a:lstStyle/>
          <a:p>
            <a:pPr marL="0" indent="0">
              <a:buNone/>
            </a:pPr>
            <a:r>
              <a:rPr lang="en-SE" dirty="0"/>
              <a:t>By carefully selecting and assessing prior probability distributions, they act as a </a:t>
            </a:r>
            <a:r>
              <a:rPr lang="en-SE" b="1" dirty="0"/>
              <a:t>regularization</a:t>
            </a:r>
            <a:r>
              <a:rPr lang="en-SE" dirty="0"/>
              <a:t>: extreme results require extreme evidence.</a:t>
            </a:r>
          </a:p>
        </p:txBody>
      </p:sp>
      <p:sp>
        <p:nvSpPr>
          <p:cNvPr id="4" name="Date Placeholder 3">
            <a:extLst>
              <a:ext uri="{FF2B5EF4-FFF2-40B4-BE49-F238E27FC236}">
                <a16:creationId xmlns:a16="http://schemas.microsoft.com/office/drawing/2014/main" id="{9E328AD6-B6D3-2382-7E56-F79C19570026}"/>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5B745933-19D0-FEB2-C3CD-B06B06083365}"/>
              </a:ext>
            </a:extLst>
          </p:cNvPr>
          <p:cNvSpPr>
            <a:spLocks noGrp="1"/>
          </p:cNvSpPr>
          <p:nvPr>
            <p:ph type="sldNum" sz="quarter" idx="12"/>
          </p:nvPr>
        </p:nvSpPr>
        <p:spPr/>
        <p:txBody>
          <a:bodyPr/>
          <a:lstStyle/>
          <a:p>
            <a:fld id="{271ECC92-9CDE-4EB3-B1C5-F46B9E1FA3C1}" type="slidenum">
              <a:rPr lang="en-SE" smtClean="0"/>
              <a:t>65</a:t>
            </a:fld>
            <a:endParaRPr lang="en-SE"/>
          </a:p>
        </p:txBody>
      </p:sp>
      <p:sp>
        <p:nvSpPr>
          <p:cNvPr id="6" name="Footer Placeholder 5">
            <a:extLst>
              <a:ext uri="{FF2B5EF4-FFF2-40B4-BE49-F238E27FC236}">
                <a16:creationId xmlns:a16="http://schemas.microsoft.com/office/drawing/2014/main" id="{356B1790-C85F-D37F-BD86-A831C9046E30}"/>
              </a:ext>
            </a:extLst>
          </p:cNvPr>
          <p:cNvSpPr>
            <a:spLocks noGrp="1"/>
          </p:cNvSpPr>
          <p:nvPr>
            <p:ph type="ftr" sz="quarter" idx="11"/>
          </p:nvPr>
        </p:nvSpPr>
        <p:spPr/>
        <p:txBody>
          <a:bodyPr/>
          <a:lstStyle/>
          <a:p>
            <a:r>
              <a:rPr lang="de-DE"/>
              <a:t>Bayesian Data Analysis Tutorial</a:t>
            </a:r>
            <a:endParaRPr lang="en-SE"/>
          </a:p>
        </p:txBody>
      </p:sp>
      <p:grpSp>
        <p:nvGrpSpPr>
          <p:cNvPr id="26" name="Group 25">
            <a:extLst>
              <a:ext uri="{FF2B5EF4-FFF2-40B4-BE49-F238E27FC236}">
                <a16:creationId xmlns:a16="http://schemas.microsoft.com/office/drawing/2014/main" id="{3AF67F4D-D0E3-4DF6-B6F1-0107813F1C4A}"/>
              </a:ext>
            </a:extLst>
          </p:cNvPr>
          <p:cNvGrpSpPr/>
          <p:nvPr/>
        </p:nvGrpSpPr>
        <p:grpSpPr>
          <a:xfrm>
            <a:off x="203635" y="1825625"/>
            <a:ext cx="504000" cy="504000"/>
            <a:chOff x="977950" y="2729564"/>
            <a:chExt cx="504000" cy="504000"/>
          </a:xfrm>
        </p:grpSpPr>
        <p:sp>
          <p:nvSpPr>
            <p:cNvPr id="27" name="Oval 26">
              <a:extLst>
                <a:ext uri="{FF2B5EF4-FFF2-40B4-BE49-F238E27FC236}">
                  <a16:creationId xmlns:a16="http://schemas.microsoft.com/office/drawing/2014/main" id="{9C44F3DB-11FD-842C-5CB0-7F486F8CFCB9}"/>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8" name="Graphic 27" descr="Golden Ratio with solid fill">
              <a:extLst>
                <a:ext uri="{FF2B5EF4-FFF2-40B4-BE49-F238E27FC236}">
                  <a16:creationId xmlns:a16="http://schemas.microsoft.com/office/drawing/2014/main" id="{97C2AA39-70C7-DEE6-568B-BF0AFF13993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950" y="2783564"/>
              <a:ext cx="396000" cy="396000"/>
            </a:xfrm>
            <a:prstGeom prst="rect">
              <a:avLst/>
            </a:prstGeom>
          </p:spPr>
        </p:pic>
      </p:grpSp>
      <p:grpSp>
        <p:nvGrpSpPr>
          <p:cNvPr id="29" name="Group 28">
            <a:extLst>
              <a:ext uri="{FF2B5EF4-FFF2-40B4-BE49-F238E27FC236}">
                <a16:creationId xmlns:a16="http://schemas.microsoft.com/office/drawing/2014/main" id="{6E120F12-6606-27BC-05DB-6E445AF1F115}"/>
              </a:ext>
            </a:extLst>
          </p:cNvPr>
          <p:cNvGrpSpPr/>
          <p:nvPr/>
        </p:nvGrpSpPr>
        <p:grpSpPr>
          <a:xfrm>
            <a:off x="203635" y="2439322"/>
            <a:ext cx="504000" cy="504000"/>
            <a:chOff x="977950" y="2729564"/>
            <a:chExt cx="504000" cy="504000"/>
          </a:xfrm>
        </p:grpSpPr>
        <p:sp>
          <p:nvSpPr>
            <p:cNvPr id="30" name="Oval 29">
              <a:extLst>
                <a:ext uri="{FF2B5EF4-FFF2-40B4-BE49-F238E27FC236}">
                  <a16:creationId xmlns:a16="http://schemas.microsoft.com/office/drawing/2014/main" id="{4B023C20-0998-3079-8A19-13131A50A149}"/>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1" name="Graphic 30" descr="Normal Distribution with solid fill">
              <a:extLst>
                <a:ext uri="{FF2B5EF4-FFF2-40B4-BE49-F238E27FC236}">
                  <a16:creationId xmlns:a16="http://schemas.microsoft.com/office/drawing/2014/main" id="{47781159-05E5-633F-9F6C-7060B3DB690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grpSp>
        <p:nvGrpSpPr>
          <p:cNvPr id="32" name="Group 31">
            <a:extLst>
              <a:ext uri="{FF2B5EF4-FFF2-40B4-BE49-F238E27FC236}">
                <a16:creationId xmlns:a16="http://schemas.microsoft.com/office/drawing/2014/main" id="{4C85CC18-CCC9-4505-FE0D-FA061F5A2176}"/>
              </a:ext>
            </a:extLst>
          </p:cNvPr>
          <p:cNvGrpSpPr/>
          <p:nvPr/>
        </p:nvGrpSpPr>
        <p:grpSpPr>
          <a:xfrm>
            <a:off x="203635" y="3053019"/>
            <a:ext cx="504000" cy="504000"/>
            <a:chOff x="977950" y="2729564"/>
            <a:chExt cx="504000" cy="504000"/>
          </a:xfrm>
        </p:grpSpPr>
        <p:sp>
          <p:nvSpPr>
            <p:cNvPr id="33" name="Oval 32">
              <a:extLst>
                <a:ext uri="{FF2B5EF4-FFF2-40B4-BE49-F238E27FC236}">
                  <a16:creationId xmlns:a16="http://schemas.microsoft.com/office/drawing/2014/main" id="{7BDB14D6-5040-E25A-A0A5-F2C46A65EAB8}"/>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4" name="Graphic 33" descr="Abacus with solid fill">
              <a:extLst>
                <a:ext uri="{FF2B5EF4-FFF2-40B4-BE49-F238E27FC236}">
                  <a16:creationId xmlns:a16="http://schemas.microsoft.com/office/drawing/2014/main" id="{51974BC8-FFC6-3CFF-4061-F2A2D607DE2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35" name="Group 34">
            <a:extLst>
              <a:ext uri="{FF2B5EF4-FFF2-40B4-BE49-F238E27FC236}">
                <a16:creationId xmlns:a16="http://schemas.microsoft.com/office/drawing/2014/main" id="{B293B4F9-7A4D-2208-386F-E2052BEE44E5}"/>
              </a:ext>
            </a:extLst>
          </p:cNvPr>
          <p:cNvGrpSpPr/>
          <p:nvPr/>
        </p:nvGrpSpPr>
        <p:grpSpPr>
          <a:xfrm>
            <a:off x="203635" y="3666716"/>
            <a:ext cx="504000" cy="504000"/>
            <a:chOff x="977950" y="2729564"/>
            <a:chExt cx="504000" cy="504000"/>
          </a:xfrm>
        </p:grpSpPr>
        <p:sp>
          <p:nvSpPr>
            <p:cNvPr id="36" name="Oval 35">
              <a:extLst>
                <a:ext uri="{FF2B5EF4-FFF2-40B4-BE49-F238E27FC236}">
                  <a16:creationId xmlns:a16="http://schemas.microsoft.com/office/drawing/2014/main" id="{5B6266BA-FF79-7CB0-91B9-7609D48FB3DA}"/>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7" name="Graphic 36" descr="Trigonometry with solid fill">
              <a:extLst>
                <a:ext uri="{FF2B5EF4-FFF2-40B4-BE49-F238E27FC236}">
                  <a16:creationId xmlns:a16="http://schemas.microsoft.com/office/drawing/2014/main" id="{20066EFC-670E-E071-8505-319E8E1F122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38" name="Group 37">
            <a:extLst>
              <a:ext uri="{FF2B5EF4-FFF2-40B4-BE49-F238E27FC236}">
                <a16:creationId xmlns:a16="http://schemas.microsoft.com/office/drawing/2014/main" id="{EC14C572-6F29-F81F-658D-A04B703FCAE5}"/>
              </a:ext>
            </a:extLst>
          </p:cNvPr>
          <p:cNvGrpSpPr/>
          <p:nvPr/>
        </p:nvGrpSpPr>
        <p:grpSpPr>
          <a:xfrm>
            <a:off x="203635" y="4280414"/>
            <a:ext cx="504000" cy="504000"/>
            <a:chOff x="977950" y="2729564"/>
            <a:chExt cx="504000" cy="504000"/>
          </a:xfrm>
        </p:grpSpPr>
        <p:sp>
          <p:nvSpPr>
            <p:cNvPr id="39" name="Oval 38">
              <a:extLst>
                <a:ext uri="{FF2B5EF4-FFF2-40B4-BE49-F238E27FC236}">
                  <a16:creationId xmlns:a16="http://schemas.microsoft.com/office/drawing/2014/main" id="{C253F73C-0656-0CFF-1692-F1279016CB64}"/>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0" name="Graphic 39" descr="Scatterplot with solid fill">
              <a:extLst>
                <a:ext uri="{FF2B5EF4-FFF2-40B4-BE49-F238E27FC236}">
                  <a16:creationId xmlns:a16="http://schemas.microsoft.com/office/drawing/2014/main" id="{31599B58-8C08-1690-8946-98EF21BDBA4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cxnSp>
        <p:nvCxnSpPr>
          <p:cNvPr id="41" name="Straight Arrow Connector 40">
            <a:extLst>
              <a:ext uri="{FF2B5EF4-FFF2-40B4-BE49-F238E27FC236}">
                <a16:creationId xmlns:a16="http://schemas.microsoft.com/office/drawing/2014/main" id="{CDC0AED0-0F6A-0BE7-97B4-AC8C20AF71DF}"/>
              </a:ext>
            </a:extLst>
          </p:cNvPr>
          <p:cNvCxnSpPr>
            <a:cxnSpLocks/>
            <a:stCxn id="27" idx="4"/>
            <a:endCxn id="30" idx="0"/>
          </p:cNvCxnSpPr>
          <p:nvPr/>
        </p:nvCxnSpPr>
        <p:spPr>
          <a:xfrm>
            <a:off x="455635"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0587D46E-6A71-7B02-66A3-97BC942E3FEB}"/>
              </a:ext>
            </a:extLst>
          </p:cNvPr>
          <p:cNvCxnSpPr>
            <a:cxnSpLocks/>
            <a:stCxn id="30" idx="4"/>
            <a:endCxn id="33" idx="0"/>
          </p:cNvCxnSpPr>
          <p:nvPr/>
        </p:nvCxnSpPr>
        <p:spPr>
          <a:xfrm>
            <a:off x="455635"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EF94FEA1-22FC-1E64-E807-48032342F5D4}"/>
              </a:ext>
            </a:extLst>
          </p:cNvPr>
          <p:cNvCxnSpPr>
            <a:cxnSpLocks/>
            <a:stCxn id="33" idx="4"/>
            <a:endCxn id="36" idx="0"/>
          </p:cNvCxnSpPr>
          <p:nvPr/>
        </p:nvCxnSpPr>
        <p:spPr>
          <a:xfrm>
            <a:off x="455635"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541BC83B-5D0C-8E9D-75F1-C2D90BB65D4B}"/>
              </a:ext>
            </a:extLst>
          </p:cNvPr>
          <p:cNvCxnSpPr>
            <a:cxnSpLocks/>
            <a:stCxn id="36" idx="4"/>
            <a:endCxn id="39" idx="0"/>
          </p:cNvCxnSpPr>
          <p:nvPr/>
        </p:nvCxnSpPr>
        <p:spPr>
          <a:xfrm>
            <a:off x="455635" y="4170716"/>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235517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1796B-39B9-148E-B0E2-A9B9C9D32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7AA4C-511A-1B8F-6FF5-0783BF01601D}"/>
              </a:ext>
            </a:extLst>
          </p:cNvPr>
          <p:cNvSpPr>
            <a:spLocks noGrp="1"/>
          </p:cNvSpPr>
          <p:nvPr>
            <p:ph type="title"/>
          </p:nvPr>
        </p:nvSpPr>
        <p:spPr/>
        <p:txBody>
          <a:bodyPr/>
          <a:lstStyle/>
          <a:p>
            <a:r>
              <a:rPr lang="en-US" noProof="0" dirty="0"/>
              <a:t>Application II</a:t>
            </a:r>
          </a:p>
        </p:txBody>
      </p:sp>
      <p:sp>
        <p:nvSpPr>
          <p:cNvPr id="3" name="Text Placeholder 2">
            <a:extLst>
              <a:ext uri="{FF2B5EF4-FFF2-40B4-BE49-F238E27FC236}">
                <a16:creationId xmlns:a16="http://schemas.microsoft.com/office/drawing/2014/main" id="{F241831A-6D50-3713-BA7F-C674C3E723B4}"/>
              </a:ext>
            </a:extLst>
          </p:cNvPr>
          <p:cNvSpPr>
            <a:spLocks noGrp="1"/>
          </p:cNvSpPr>
          <p:nvPr>
            <p:ph type="body" idx="1"/>
          </p:nvPr>
        </p:nvSpPr>
        <p:spPr/>
        <p:txBody>
          <a:bodyPr/>
          <a:lstStyle/>
          <a:p>
            <a:r>
              <a:rPr lang="en-US" noProof="0" dirty="0"/>
              <a:t>Live demonstration of a BDA workflow in practice</a:t>
            </a:r>
          </a:p>
        </p:txBody>
      </p:sp>
      <p:sp>
        <p:nvSpPr>
          <p:cNvPr id="4" name="Date Placeholder 3">
            <a:extLst>
              <a:ext uri="{FF2B5EF4-FFF2-40B4-BE49-F238E27FC236}">
                <a16:creationId xmlns:a16="http://schemas.microsoft.com/office/drawing/2014/main" id="{BDE1CD9A-0D7A-860D-7B58-116E016AE5FB}"/>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4CD4E333-B965-76AC-13E9-7D61992AE4F1}"/>
              </a:ext>
            </a:extLst>
          </p:cNvPr>
          <p:cNvSpPr>
            <a:spLocks noGrp="1"/>
          </p:cNvSpPr>
          <p:nvPr>
            <p:ph type="sldNum" sz="quarter" idx="12"/>
          </p:nvPr>
        </p:nvSpPr>
        <p:spPr/>
        <p:txBody>
          <a:bodyPr/>
          <a:lstStyle/>
          <a:p>
            <a:fld id="{271ECC92-9CDE-4EB3-B1C5-F46B9E1FA3C1}" type="slidenum">
              <a:rPr lang="en-US" noProof="0" smtClean="0"/>
              <a:t>66</a:t>
            </a:fld>
            <a:endParaRPr lang="en-US" noProof="0" dirty="0"/>
          </a:p>
        </p:txBody>
      </p:sp>
      <p:sp>
        <p:nvSpPr>
          <p:cNvPr id="6" name="Footer Placeholder 5">
            <a:extLst>
              <a:ext uri="{FF2B5EF4-FFF2-40B4-BE49-F238E27FC236}">
                <a16:creationId xmlns:a16="http://schemas.microsoft.com/office/drawing/2014/main" id="{6F1BF6DC-2364-E4EB-0953-76F365254A53}"/>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38807067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B01BB-E5D8-884B-920D-3A31E49EC4B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3902B27-3F81-2645-DA95-88B3A4D4517E}"/>
              </a:ext>
            </a:extLst>
          </p:cNvPr>
          <p:cNvSpPr>
            <a:spLocks noGrp="1"/>
          </p:cNvSpPr>
          <p:nvPr>
            <p:ph type="title"/>
          </p:nvPr>
        </p:nvSpPr>
        <p:spPr/>
        <p:txBody>
          <a:bodyPr/>
          <a:lstStyle/>
          <a:p>
            <a:r>
              <a:rPr lang="en-US" noProof="0" dirty="0"/>
              <a:t>The Bayesian Workflow</a:t>
            </a:r>
          </a:p>
        </p:txBody>
      </p:sp>
      <p:sp>
        <p:nvSpPr>
          <p:cNvPr id="7" name="Content Placeholder 6">
            <a:extLst>
              <a:ext uri="{FF2B5EF4-FFF2-40B4-BE49-F238E27FC236}">
                <a16:creationId xmlns:a16="http://schemas.microsoft.com/office/drawing/2014/main" id="{E471C867-D589-249B-F81E-AABAD8D27CBD}"/>
              </a:ext>
            </a:extLst>
          </p:cNvPr>
          <p:cNvSpPr>
            <a:spLocks noGrp="1"/>
          </p:cNvSpPr>
          <p:nvPr>
            <p:ph idx="1"/>
          </p:nvPr>
        </p:nvSpPr>
        <p:spPr>
          <a:xfrm>
            <a:off x="838200" y="1825625"/>
            <a:ext cx="10515600" cy="967002"/>
          </a:xfrm>
        </p:spPr>
        <p:txBody>
          <a:bodyPr/>
          <a:lstStyle/>
          <a:p>
            <a:pPr marL="0" indent="0">
              <a:buNone/>
            </a:pPr>
            <a:r>
              <a:rPr lang="en-US" noProof="0" dirty="0"/>
              <a:t>The </a:t>
            </a:r>
            <a:r>
              <a:rPr lang="en-SE" noProof="0" dirty="0"/>
              <a:t>upcoming</a:t>
            </a:r>
            <a:r>
              <a:rPr lang="en-US" noProof="0" dirty="0"/>
              <a:t> demonstration will teach </a:t>
            </a:r>
            <a:r>
              <a:rPr lang="en-SE" noProof="0" dirty="0"/>
              <a:t>you to </a:t>
            </a:r>
            <a:r>
              <a:rPr lang="en-SE" i="1" noProof="0" dirty="0"/>
              <a:t>understand </a:t>
            </a:r>
            <a:r>
              <a:rPr lang="en-SE" noProof="0" dirty="0"/>
              <a:t>or </a:t>
            </a:r>
            <a:r>
              <a:rPr lang="en-SE" b="1" noProof="0" dirty="0"/>
              <a:t>do </a:t>
            </a:r>
            <a:r>
              <a:rPr lang="en-SE" noProof="0" dirty="0"/>
              <a:t>the following </a:t>
            </a:r>
            <a:r>
              <a:rPr lang="en-SE" noProof="0" dirty="0">
                <a:solidFill>
                  <a:schemeClr val="accent1">
                    <a:lumMod val="75000"/>
                  </a:schemeClr>
                </a:solidFill>
              </a:rPr>
              <a:t>new</a:t>
            </a:r>
            <a:r>
              <a:rPr lang="en-SE" noProof="0" dirty="0"/>
              <a:t> steps of a practical Bayesian workflow:</a:t>
            </a:r>
            <a:endParaRPr lang="en-US" noProof="0" dirty="0"/>
          </a:p>
        </p:txBody>
      </p:sp>
      <p:sp>
        <p:nvSpPr>
          <p:cNvPr id="4" name="Date Placeholder 3">
            <a:extLst>
              <a:ext uri="{FF2B5EF4-FFF2-40B4-BE49-F238E27FC236}">
                <a16:creationId xmlns:a16="http://schemas.microsoft.com/office/drawing/2014/main" id="{22ED4378-D163-4529-C572-F5912D183051}"/>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43147270-1A8F-3493-65FF-588301391AA3}"/>
              </a:ext>
            </a:extLst>
          </p:cNvPr>
          <p:cNvSpPr>
            <a:spLocks noGrp="1"/>
          </p:cNvSpPr>
          <p:nvPr>
            <p:ph type="sldNum" sz="quarter" idx="12"/>
          </p:nvPr>
        </p:nvSpPr>
        <p:spPr/>
        <p:txBody>
          <a:bodyPr/>
          <a:lstStyle/>
          <a:p>
            <a:fld id="{271ECC92-9CDE-4EB3-B1C5-F46B9E1FA3C1}" type="slidenum">
              <a:rPr lang="en-US" noProof="0" smtClean="0"/>
              <a:t>67</a:t>
            </a:fld>
            <a:endParaRPr lang="en-US" noProof="0" dirty="0"/>
          </a:p>
        </p:txBody>
      </p:sp>
      <p:grpSp>
        <p:nvGrpSpPr>
          <p:cNvPr id="62" name="Group 61">
            <a:extLst>
              <a:ext uri="{FF2B5EF4-FFF2-40B4-BE49-F238E27FC236}">
                <a16:creationId xmlns:a16="http://schemas.microsoft.com/office/drawing/2014/main" id="{75B4F6DD-60F4-1459-06AC-712D93B5AC3E}"/>
              </a:ext>
            </a:extLst>
          </p:cNvPr>
          <p:cNvGrpSpPr/>
          <p:nvPr/>
        </p:nvGrpSpPr>
        <p:grpSpPr>
          <a:xfrm>
            <a:off x="1485898" y="2752065"/>
            <a:ext cx="504000" cy="504000"/>
            <a:chOff x="977950" y="2729564"/>
            <a:chExt cx="504000" cy="504000"/>
          </a:xfrm>
        </p:grpSpPr>
        <p:sp>
          <p:nvSpPr>
            <p:cNvPr id="2" name="Oval 1">
              <a:extLst>
                <a:ext uri="{FF2B5EF4-FFF2-40B4-BE49-F238E27FC236}">
                  <a16:creationId xmlns:a16="http://schemas.microsoft.com/office/drawing/2014/main" id="{3351391F-61EF-3E4A-8549-A01403E53389}"/>
                </a:ext>
              </a:extLst>
            </p:cNvPr>
            <p:cNvSpPr/>
            <p:nvPr/>
          </p:nvSpPr>
          <p:spPr>
            <a:xfrm>
              <a:off x="977950" y="2729564"/>
              <a:ext cx="504000" cy="504000"/>
            </a:xfrm>
            <a:prstGeom prst="ellipse">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7" name="Graphic 46" descr="Bar chart with solid fill">
              <a:extLst>
                <a:ext uri="{FF2B5EF4-FFF2-40B4-BE49-F238E27FC236}">
                  <a16:creationId xmlns:a16="http://schemas.microsoft.com/office/drawing/2014/main" id="{B93401DE-4526-C739-F172-9479D6ABE09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sp>
        <p:nvSpPr>
          <p:cNvPr id="49" name="TextBox 48">
            <a:extLst>
              <a:ext uri="{FF2B5EF4-FFF2-40B4-BE49-F238E27FC236}">
                <a16:creationId xmlns:a16="http://schemas.microsoft.com/office/drawing/2014/main" id="{420559E4-0598-F04B-D7B7-C8B0847CE6D7}"/>
              </a:ext>
            </a:extLst>
          </p:cNvPr>
          <p:cNvSpPr txBox="1"/>
          <p:nvPr/>
        </p:nvSpPr>
        <p:spPr>
          <a:xfrm>
            <a:off x="2131182" y="2830229"/>
            <a:ext cx="5142818" cy="369332"/>
          </a:xfrm>
          <a:prstGeom prst="rect">
            <a:avLst/>
          </a:prstGeom>
          <a:noFill/>
        </p:spPr>
        <p:txBody>
          <a:bodyPr wrap="none" rtlCol="0">
            <a:spAutoFit/>
          </a:bodyPr>
          <a:lstStyle/>
          <a:p>
            <a:r>
              <a:rPr lang="en-SE" b="1" dirty="0">
                <a:solidFill>
                  <a:schemeClr val="accent1">
                    <a:lumMod val="75000"/>
                  </a:schemeClr>
                </a:solidFill>
              </a:rPr>
              <a:t>Select</a:t>
            </a:r>
            <a:r>
              <a:rPr lang="en-SE" dirty="0">
                <a:solidFill>
                  <a:schemeClr val="accent1">
                    <a:lumMod val="75000"/>
                  </a:schemeClr>
                </a:solidFill>
              </a:rPr>
              <a:t> a distribution family with maximum entropy</a:t>
            </a:r>
          </a:p>
        </p:txBody>
      </p:sp>
      <p:sp>
        <p:nvSpPr>
          <p:cNvPr id="51" name="TextBox 50">
            <a:extLst>
              <a:ext uri="{FF2B5EF4-FFF2-40B4-BE49-F238E27FC236}">
                <a16:creationId xmlns:a16="http://schemas.microsoft.com/office/drawing/2014/main" id="{DD5EB5B5-E7FB-DA22-33A9-0AE3A2C1CDF6}"/>
              </a:ext>
            </a:extLst>
          </p:cNvPr>
          <p:cNvSpPr txBox="1"/>
          <p:nvPr/>
        </p:nvSpPr>
        <p:spPr>
          <a:xfrm>
            <a:off x="2131182" y="3443927"/>
            <a:ext cx="6021648" cy="369332"/>
          </a:xfrm>
          <a:prstGeom prst="rect">
            <a:avLst/>
          </a:prstGeom>
          <a:noFill/>
        </p:spPr>
        <p:txBody>
          <a:bodyPr wrap="none" rtlCol="0">
            <a:spAutoFit/>
          </a:bodyPr>
          <a:lstStyle/>
          <a:p>
            <a:r>
              <a:rPr lang="en-SE" b="1" dirty="0"/>
              <a:t>Build</a:t>
            </a:r>
            <a:r>
              <a:rPr lang="en-SE" dirty="0"/>
              <a:t> a regression formula </a:t>
            </a:r>
            <a:r>
              <a:rPr lang="en-SE" dirty="0">
                <a:solidFill>
                  <a:schemeClr val="accent1">
                    <a:lumMod val="75000"/>
                  </a:schemeClr>
                </a:solidFill>
              </a:rPr>
              <a:t>with an appropriate </a:t>
            </a:r>
            <a:r>
              <a:rPr lang="en-SE" i="1" dirty="0">
                <a:solidFill>
                  <a:schemeClr val="accent1">
                    <a:lumMod val="75000"/>
                  </a:schemeClr>
                </a:solidFill>
              </a:rPr>
              <a:t>link function</a:t>
            </a:r>
          </a:p>
        </p:txBody>
      </p:sp>
      <p:sp>
        <p:nvSpPr>
          <p:cNvPr id="53" name="TextBox 52">
            <a:extLst>
              <a:ext uri="{FF2B5EF4-FFF2-40B4-BE49-F238E27FC236}">
                <a16:creationId xmlns:a16="http://schemas.microsoft.com/office/drawing/2014/main" id="{157FA3D4-7603-03DB-CB9A-B2CCB311B029}"/>
              </a:ext>
            </a:extLst>
          </p:cNvPr>
          <p:cNvSpPr txBox="1"/>
          <p:nvPr/>
        </p:nvSpPr>
        <p:spPr>
          <a:xfrm>
            <a:off x="2131182" y="4053847"/>
            <a:ext cx="4979568" cy="369332"/>
          </a:xfrm>
          <a:prstGeom prst="rect">
            <a:avLst/>
          </a:prstGeom>
          <a:noFill/>
        </p:spPr>
        <p:txBody>
          <a:bodyPr wrap="none" rtlCol="0">
            <a:spAutoFit/>
          </a:bodyPr>
          <a:lstStyle/>
          <a:p>
            <a:r>
              <a:rPr lang="en-SE" b="1" dirty="0"/>
              <a:t>Select</a:t>
            </a:r>
            <a:r>
              <a:rPr lang="en-SE" dirty="0"/>
              <a:t> and </a:t>
            </a:r>
            <a:r>
              <a:rPr lang="en-SE" b="1" dirty="0"/>
              <a:t>assess</a:t>
            </a:r>
            <a:r>
              <a:rPr lang="en-SE" dirty="0"/>
              <a:t> prior probability distributions</a:t>
            </a:r>
          </a:p>
        </p:txBody>
      </p:sp>
      <p:sp>
        <p:nvSpPr>
          <p:cNvPr id="55" name="TextBox 54">
            <a:extLst>
              <a:ext uri="{FF2B5EF4-FFF2-40B4-BE49-F238E27FC236}">
                <a16:creationId xmlns:a16="http://schemas.microsoft.com/office/drawing/2014/main" id="{3A26E227-8042-67CF-54B4-5F5E25E8538A}"/>
              </a:ext>
            </a:extLst>
          </p:cNvPr>
          <p:cNvSpPr txBox="1"/>
          <p:nvPr/>
        </p:nvSpPr>
        <p:spPr>
          <a:xfrm>
            <a:off x="2131182" y="4659321"/>
            <a:ext cx="6375720" cy="369332"/>
          </a:xfrm>
          <a:prstGeom prst="rect">
            <a:avLst/>
          </a:prstGeom>
          <a:noFill/>
        </p:spPr>
        <p:txBody>
          <a:bodyPr wrap="none" rtlCol="0">
            <a:spAutoFit/>
          </a:bodyPr>
          <a:lstStyle/>
          <a:p>
            <a:r>
              <a:rPr lang="en-SE" b="1" dirty="0"/>
              <a:t>Generate</a:t>
            </a:r>
            <a:r>
              <a:rPr lang="en-SE" dirty="0"/>
              <a:t> posteriors with </a:t>
            </a:r>
            <a:r>
              <a:rPr lang="en-SE" i="1" dirty="0"/>
              <a:t>Markov chain Monte Carlo </a:t>
            </a:r>
            <a:r>
              <a:rPr lang="en-SE" dirty="0"/>
              <a:t>algorithms</a:t>
            </a:r>
          </a:p>
        </p:txBody>
      </p:sp>
      <p:sp>
        <p:nvSpPr>
          <p:cNvPr id="57" name="TextBox 56">
            <a:extLst>
              <a:ext uri="{FF2B5EF4-FFF2-40B4-BE49-F238E27FC236}">
                <a16:creationId xmlns:a16="http://schemas.microsoft.com/office/drawing/2014/main" id="{B7C1A9AF-7C36-4302-FA29-104B88202E82}"/>
              </a:ext>
            </a:extLst>
          </p:cNvPr>
          <p:cNvSpPr txBox="1"/>
          <p:nvPr/>
        </p:nvSpPr>
        <p:spPr>
          <a:xfrm>
            <a:off x="2131182" y="5279215"/>
            <a:ext cx="4504503" cy="369332"/>
          </a:xfrm>
          <a:prstGeom prst="rect">
            <a:avLst/>
          </a:prstGeom>
          <a:noFill/>
        </p:spPr>
        <p:txBody>
          <a:bodyPr wrap="none" rtlCol="0">
            <a:spAutoFit/>
          </a:bodyPr>
          <a:lstStyle/>
          <a:p>
            <a:r>
              <a:rPr lang="en-SE" b="1" dirty="0"/>
              <a:t>Assess</a:t>
            </a:r>
            <a:r>
              <a:rPr lang="en-SE" dirty="0"/>
              <a:t> the model fit via training diagnostics</a:t>
            </a:r>
          </a:p>
        </p:txBody>
      </p:sp>
      <p:sp>
        <p:nvSpPr>
          <p:cNvPr id="59" name="TextBox 58">
            <a:extLst>
              <a:ext uri="{FF2B5EF4-FFF2-40B4-BE49-F238E27FC236}">
                <a16:creationId xmlns:a16="http://schemas.microsoft.com/office/drawing/2014/main" id="{6F2F4A68-F7AC-B1C5-C393-A1AA089061AC}"/>
              </a:ext>
            </a:extLst>
          </p:cNvPr>
          <p:cNvSpPr txBox="1"/>
          <p:nvPr/>
        </p:nvSpPr>
        <p:spPr>
          <a:xfrm>
            <a:off x="2131182" y="5901219"/>
            <a:ext cx="6560450" cy="369332"/>
          </a:xfrm>
          <a:prstGeom prst="rect">
            <a:avLst/>
          </a:prstGeom>
          <a:noFill/>
        </p:spPr>
        <p:txBody>
          <a:bodyPr wrap="none" rtlCol="0">
            <a:spAutoFit/>
          </a:bodyPr>
          <a:lstStyle/>
          <a:p>
            <a:r>
              <a:rPr lang="en-SE" b="1" dirty="0">
                <a:solidFill>
                  <a:schemeClr val="accent1">
                    <a:lumMod val="75000"/>
                  </a:schemeClr>
                </a:solidFill>
              </a:rPr>
              <a:t>Plot </a:t>
            </a:r>
            <a:r>
              <a:rPr lang="en-SE" dirty="0">
                <a:solidFill>
                  <a:schemeClr val="accent1">
                    <a:lumMod val="75000"/>
                  </a:schemeClr>
                </a:solidFill>
              </a:rPr>
              <a:t>marginal effects to draw conclusions from Bayesian models</a:t>
            </a:r>
          </a:p>
        </p:txBody>
      </p:sp>
      <p:grpSp>
        <p:nvGrpSpPr>
          <p:cNvPr id="63" name="Group 62">
            <a:extLst>
              <a:ext uri="{FF2B5EF4-FFF2-40B4-BE49-F238E27FC236}">
                <a16:creationId xmlns:a16="http://schemas.microsoft.com/office/drawing/2014/main" id="{5B078E37-A869-B4A2-6114-58CC6215A200}"/>
              </a:ext>
            </a:extLst>
          </p:cNvPr>
          <p:cNvGrpSpPr/>
          <p:nvPr/>
        </p:nvGrpSpPr>
        <p:grpSpPr>
          <a:xfrm>
            <a:off x="1485898" y="3365762"/>
            <a:ext cx="504000" cy="504000"/>
            <a:chOff x="977950" y="2729564"/>
            <a:chExt cx="504000" cy="504000"/>
          </a:xfrm>
        </p:grpSpPr>
        <p:sp>
          <p:nvSpPr>
            <p:cNvPr id="64" name="Oval 63">
              <a:extLst>
                <a:ext uri="{FF2B5EF4-FFF2-40B4-BE49-F238E27FC236}">
                  <a16:creationId xmlns:a16="http://schemas.microsoft.com/office/drawing/2014/main" id="{B9A58820-7108-6BB7-163D-F33B40E83F6F}"/>
                </a:ext>
              </a:extLst>
            </p:cNvPr>
            <p:cNvSpPr/>
            <p:nvPr/>
          </p:nvSpPr>
          <p:spPr>
            <a:xfrm>
              <a:off x="977950" y="2729564"/>
              <a:ext cx="504000" cy="504000"/>
            </a:xfrm>
            <a:prstGeom prst="ellips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5" name="Graphic 64" descr="Golden Ratio with solid fill">
              <a:extLst>
                <a:ext uri="{FF2B5EF4-FFF2-40B4-BE49-F238E27FC236}">
                  <a16:creationId xmlns:a16="http://schemas.microsoft.com/office/drawing/2014/main" id="{CBE68CAC-F78F-1E89-56FF-53B42DC9ED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950" y="2783564"/>
              <a:ext cx="396000" cy="396000"/>
            </a:xfrm>
            <a:prstGeom prst="rect">
              <a:avLst/>
            </a:prstGeom>
          </p:spPr>
        </p:pic>
      </p:grpSp>
      <p:grpSp>
        <p:nvGrpSpPr>
          <p:cNvPr id="66" name="Group 65">
            <a:extLst>
              <a:ext uri="{FF2B5EF4-FFF2-40B4-BE49-F238E27FC236}">
                <a16:creationId xmlns:a16="http://schemas.microsoft.com/office/drawing/2014/main" id="{079165FE-F388-9D3C-A745-6F22C21E3EEA}"/>
              </a:ext>
            </a:extLst>
          </p:cNvPr>
          <p:cNvGrpSpPr/>
          <p:nvPr/>
        </p:nvGrpSpPr>
        <p:grpSpPr>
          <a:xfrm>
            <a:off x="1485898" y="3979459"/>
            <a:ext cx="504000" cy="504000"/>
            <a:chOff x="977950" y="2729564"/>
            <a:chExt cx="504000" cy="504000"/>
          </a:xfrm>
        </p:grpSpPr>
        <p:sp>
          <p:nvSpPr>
            <p:cNvPr id="67" name="Oval 66">
              <a:extLst>
                <a:ext uri="{FF2B5EF4-FFF2-40B4-BE49-F238E27FC236}">
                  <a16:creationId xmlns:a16="http://schemas.microsoft.com/office/drawing/2014/main" id="{77E4CF87-74F8-42AE-D71F-3C82B5F9194F}"/>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8" name="Graphic 67" descr="Normal Distribution with solid fill">
              <a:extLst>
                <a:ext uri="{FF2B5EF4-FFF2-40B4-BE49-F238E27FC236}">
                  <a16:creationId xmlns:a16="http://schemas.microsoft.com/office/drawing/2014/main" id="{5209CB58-E628-1B91-DA82-BC5CEB38256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69" name="Group 68">
            <a:extLst>
              <a:ext uri="{FF2B5EF4-FFF2-40B4-BE49-F238E27FC236}">
                <a16:creationId xmlns:a16="http://schemas.microsoft.com/office/drawing/2014/main" id="{7F068E32-617E-B2AC-3C69-D898A4A51B98}"/>
              </a:ext>
            </a:extLst>
          </p:cNvPr>
          <p:cNvGrpSpPr/>
          <p:nvPr/>
        </p:nvGrpSpPr>
        <p:grpSpPr>
          <a:xfrm>
            <a:off x="1485898" y="4593156"/>
            <a:ext cx="504000" cy="504000"/>
            <a:chOff x="977950" y="2729564"/>
            <a:chExt cx="504000" cy="504000"/>
          </a:xfrm>
        </p:grpSpPr>
        <p:sp>
          <p:nvSpPr>
            <p:cNvPr id="70" name="Oval 69">
              <a:extLst>
                <a:ext uri="{FF2B5EF4-FFF2-40B4-BE49-F238E27FC236}">
                  <a16:creationId xmlns:a16="http://schemas.microsoft.com/office/drawing/2014/main" id="{537935C3-F93C-9B33-2541-3B7FDBEC83ED}"/>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71" name="Graphic 70" descr="Abacus with solid fill">
              <a:extLst>
                <a:ext uri="{FF2B5EF4-FFF2-40B4-BE49-F238E27FC236}">
                  <a16:creationId xmlns:a16="http://schemas.microsoft.com/office/drawing/2014/main" id="{E696FA13-D871-A44D-19BA-D1DAF6898831}"/>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72" name="Group 71">
            <a:extLst>
              <a:ext uri="{FF2B5EF4-FFF2-40B4-BE49-F238E27FC236}">
                <a16:creationId xmlns:a16="http://schemas.microsoft.com/office/drawing/2014/main" id="{CC471B81-8B62-DA98-F531-F0F66895E41D}"/>
              </a:ext>
            </a:extLst>
          </p:cNvPr>
          <p:cNvGrpSpPr/>
          <p:nvPr/>
        </p:nvGrpSpPr>
        <p:grpSpPr>
          <a:xfrm>
            <a:off x="1485898" y="5206853"/>
            <a:ext cx="504000" cy="504000"/>
            <a:chOff x="977950" y="2729564"/>
            <a:chExt cx="504000" cy="504000"/>
          </a:xfrm>
        </p:grpSpPr>
        <p:sp>
          <p:nvSpPr>
            <p:cNvPr id="73" name="Oval 72">
              <a:extLst>
                <a:ext uri="{FF2B5EF4-FFF2-40B4-BE49-F238E27FC236}">
                  <a16:creationId xmlns:a16="http://schemas.microsoft.com/office/drawing/2014/main" id="{AFF6F107-50B7-A5F6-974F-45DDCED01AEA}"/>
                </a:ext>
              </a:extLst>
            </p:cNvPr>
            <p:cNvSpPr/>
            <p:nvPr/>
          </p:nvSpPr>
          <p:spPr>
            <a:xfrm>
              <a:off x="977950" y="2729564"/>
              <a:ext cx="504000" cy="504000"/>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74" name="Graphic 73" descr="Trigonometry with solid fill">
              <a:extLst>
                <a:ext uri="{FF2B5EF4-FFF2-40B4-BE49-F238E27FC236}">
                  <a16:creationId xmlns:a16="http://schemas.microsoft.com/office/drawing/2014/main" id="{6347BCD4-5AE5-EA2D-4CEF-66E6EA97DB0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grpSp>
        <p:nvGrpSpPr>
          <p:cNvPr id="78" name="Group 77">
            <a:extLst>
              <a:ext uri="{FF2B5EF4-FFF2-40B4-BE49-F238E27FC236}">
                <a16:creationId xmlns:a16="http://schemas.microsoft.com/office/drawing/2014/main" id="{B69C473E-9D27-A333-D161-F74C518F0538}"/>
              </a:ext>
            </a:extLst>
          </p:cNvPr>
          <p:cNvGrpSpPr/>
          <p:nvPr/>
        </p:nvGrpSpPr>
        <p:grpSpPr>
          <a:xfrm>
            <a:off x="1485898" y="5820551"/>
            <a:ext cx="504000" cy="504000"/>
            <a:chOff x="977950" y="2729564"/>
            <a:chExt cx="504000" cy="504000"/>
          </a:xfrm>
        </p:grpSpPr>
        <p:sp>
          <p:nvSpPr>
            <p:cNvPr id="79" name="Oval 78">
              <a:extLst>
                <a:ext uri="{FF2B5EF4-FFF2-40B4-BE49-F238E27FC236}">
                  <a16:creationId xmlns:a16="http://schemas.microsoft.com/office/drawing/2014/main" id="{244B4ED1-6FF6-F023-4274-9EAE3508CA1B}"/>
                </a:ext>
              </a:extLst>
            </p:cNvPr>
            <p:cNvSpPr/>
            <p:nvPr/>
          </p:nvSpPr>
          <p:spPr>
            <a:xfrm>
              <a:off x="977950" y="2729564"/>
              <a:ext cx="504000" cy="504000"/>
            </a:xfrm>
            <a:prstGeom prst="ellipse">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80" name="Graphic 79" descr="Scatterplot with solid fill">
              <a:extLst>
                <a:ext uri="{FF2B5EF4-FFF2-40B4-BE49-F238E27FC236}">
                  <a16:creationId xmlns:a16="http://schemas.microsoft.com/office/drawing/2014/main" id="{AB9E71E9-C326-DFC6-1F6B-5AB00931701F}"/>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31950" y="2783564"/>
              <a:ext cx="396000" cy="396000"/>
            </a:xfrm>
            <a:prstGeom prst="rect">
              <a:avLst/>
            </a:prstGeom>
          </p:spPr>
        </p:pic>
      </p:grpSp>
      <p:cxnSp>
        <p:nvCxnSpPr>
          <p:cNvPr id="82" name="Straight Arrow Connector 81">
            <a:extLst>
              <a:ext uri="{FF2B5EF4-FFF2-40B4-BE49-F238E27FC236}">
                <a16:creationId xmlns:a16="http://schemas.microsoft.com/office/drawing/2014/main" id="{6C1334B9-E60B-07C7-8C73-BBC4C39A1650}"/>
              </a:ext>
            </a:extLst>
          </p:cNvPr>
          <p:cNvCxnSpPr>
            <a:stCxn id="2" idx="4"/>
            <a:endCxn id="64" idx="0"/>
          </p:cNvCxnSpPr>
          <p:nvPr/>
        </p:nvCxnSpPr>
        <p:spPr>
          <a:xfrm>
            <a:off x="1737898" y="325606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3" name="Straight Arrow Connector 82">
            <a:extLst>
              <a:ext uri="{FF2B5EF4-FFF2-40B4-BE49-F238E27FC236}">
                <a16:creationId xmlns:a16="http://schemas.microsoft.com/office/drawing/2014/main" id="{9432F0B0-2980-C8C3-081A-2B1FED4EFD56}"/>
              </a:ext>
            </a:extLst>
          </p:cNvPr>
          <p:cNvCxnSpPr>
            <a:cxnSpLocks/>
            <a:stCxn id="64" idx="4"/>
            <a:endCxn id="67" idx="0"/>
          </p:cNvCxnSpPr>
          <p:nvPr/>
        </p:nvCxnSpPr>
        <p:spPr>
          <a:xfrm>
            <a:off x="1737898" y="386976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6" name="Straight Arrow Connector 85">
            <a:extLst>
              <a:ext uri="{FF2B5EF4-FFF2-40B4-BE49-F238E27FC236}">
                <a16:creationId xmlns:a16="http://schemas.microsoft.com/office/drawing/2014/main" id="{A9E1F840-FA86-C947-655E-66E6796110AB}"/>
              </a:ext>
            </a:extLst>
          </p:cNvPr>
          <p:cNvCxnSpPr>
            <a:cxnSpLocks/>
            <a:stCxn id="67" idx="4"/>
            <a:endCxn id="70" idx="0"/>
          </p:cNvCxnSpPr>
          <p:nvPr/>
        </p:nvCxnSpPr>
        <p:spPr>
          <a:xfrm>
            <a:off x="1737898" y="448345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9" name="Straight Arrow Connector 88">
            <a:extLst>
              <a:ext uri="{FF2B5EF4-FFF2-40B4-BE49-F238E27FC236}">
                <a16:creationId xmlns:a16="http://schemas.microsoft.com/office/drawing/2014/main" id="{EFE0C89A-4AA4-A1D0-A212-152D93B98277}"/>
              </a:ext>
            </a:extLst>
          </p:cNvPr>
          <p:cNvCxnSpPr>
            <a:cxnSpLocks/>
            <a:stCxn id="70" idx="4"/>
            <a:endCxn id="73" idx="0"/>
          </p:cNvCxnSpPr>
          <p:nvPr/>
        </p:nvCxnSpPr>
        <p:spPr>
          <a:xfrm>
            <a:off x="1737898" y="509715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2" name="Straight Arrow Connector 91">
            <a:extLst>
              <a:ext uri="{FF2B5EF4-FFF2-40B4-BE49-F238E27FC236}">
                <a16:creationId xmlns:a16="http://schemas.microsoft.com/office/drawing/2014/main" id="{6DD102DB-E6B9-AB8E-DE27-1AAE29D3EA43}"/>
              </a:ext>
            </a:extLst>
          </p:cNvPr>
          <p:cNvCxnSpPr>
            <a:cxnSpLocks/>
            <a:stCxn id="73" idx="4"/>
            <a:endCxn id="79" idx="0"/>
          </p:cNvCxnSpPr>
          <p:nvPr/>
        </p:nvCxnSpPr>
        <p:spPr>
          <a:xfrm>
            <a:off x="1737898" y="571085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 name="Footer Placeholder 2">
            <a:extLst>
              <a:ext uri="{FF2B5EF4-FFF2-40B4-BE49-F238E27FC236}">
                <a16:creationId xmlns:a16="http://schemas.microsoft.com/office/drawing/2014/main" id="{11812235-7F76-86CD-98D8-CDDA1DFC7E60}"/>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4027423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CCE91-75D3-23BE-D55C-41C08B08E2FC}"/>
              </a:ext>
            </a:extLst>
          </p:cNvPr>
          <p:cNvSpPr>
            <a:spLocks noGrp="1"/>
          </p:cNvSpPr>
          <p:nvPr>
            <p:ph type="title"/>
          </p:nvPr>
        </p:nvSpPr>
        <p:spPr/>
        <p:txBody>
          <a:bodyPr/>
          <a:lstStyle/>
          <a:p>
            <a:r>
              <a:rPr lang="en-SE" dirty="0"/>
              <a:t>Normal Distribution</a:t>
            </a:r>
          </a:p>
        </p:txBody>
      </p:sp>
      <p:sp>
        <p:nvSpPr>
          <p:cNvPr id="3" name="Content Placeholder 2">
            <a:extLst>
              <a:ext uri="{FF2B5EF4-FFF2-40B4-BE49-F238E27FC236}">
                <a16:creationId xmlns:a16="http://schemas.microsoft.com/office/drawing/2014/main" id="{F90981A3-257E-B1EF-0244-DE9EA9BA0951}"/>
              </a:ext>
            </a:extLst>
          </p:cNvPr>
          <p:cNvSpPr>
            <a:spLocks noGrp="1"/>
          </p:cNvSpPr>
          <p:nvPr>
            <p:ph idx="1"/>
          </p:nvPr>
        </p:nvSpPr>
        <p:spPr>
          <a:xfrm>
            <a:off x="838200" y="1825625"/>
            <a:ext cx="10515600" cy="1731394"/>
          </a:xfrm>
        </p:spPr>
        <p:txBody>
          <a:bodyPr/>
          <a:lstStyle/>
          <a:p>
            <a:pPr marL="0" indent="0">
              <a:buNone/>
            </a:pPr>
            <a:r>
              <a:rPr lang="en-SE" dirty="0"/>
              <a:t>In Requirements and Software Engineering, </a:t>
            </a:r>
            <a:r>
              <a:rPr lang="en-SE" b="1" dirty="0"/>
              <a:t>not many variables follow a normal</a:t>
            </a:r>
            <a:r>
              <a:rPr lang="en-SE" dirty="0"/>
              <a:t> (i.e., Gaussian) </a:t>
            </a:r>
            <a:r>
              <a:rPr lang="en-SE" b="1" dirty="0"/>
              <a:t>distribution</a:t>
            </a:r>
            <a:r>
              <a:rPr lang="en-SE" dirty="0"/>
              <a:t>. Most frequentist data analyses only distinguishes between normal and non-normal distributions (via a simply Shapiro-Wilk test).</a:t>
            </a:r>
          </a:p>
        </p:txBody>
      </p:sp>
      <p:sp>
        <p:nvSpPr>
          <p:cNvPr id="4" name="Date Placeholder 3">
            <a:extLst>
              <a:ext uri="{FF2B5EF4-FFF2-40B4-BE49-F238E27FC236}">
                <a16:creationId xmlns:a16="http://schemas.microsoft.com/office/drawing/2014/main" id="{137089AC-4FB6-81AC-F6BA-BCD946D20C7E}"/>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AE44FFC6-E0E7-CCAE-55E5-32876DC4C832}"/>
              </a:ext>
            </a:extLst>
          </p:cNvPr>
          <p:cNvSpPr>
            <a:spLocks noGrp="1"/>
          </p:cNvSpPr>
          <p:nvPr>
            <p:ph type="sldNum" sz="quarter" idx="12"/>
          </p:nvPr>
        </p:nvSpPr>
        <p:spPr/>
        <p:txBody>
          <a:bodyPr/>
          <a:lstStyle/>
          <a:p>
            <a:fld id="{271ECC92-9CDE-4EB3-B1C5-F46B9E1FA3C1}" type="slidenum">
              <a:rPr lang="en-SE" smtClean="0"/>
              <a:t>68</a:t>
            </a:fld>
            <a:endParaRPr lang="en-SE"/>
          </a:p>
        </p:txBody>
      </p:sp>
      <p:sp>
        <p:nvSpPr>
          <p:cNvPr id="6" name="Footer Placeholder 5">
            <a:extLst>
              <a:ext uri="{FF2B5EF4-FFF2-40B4-BE49-F238E27FC236}">
                <a16:creationId xmlns:a16="http://schemas.microsoft.com/office/drawing/2014/main" id="{2D237843-8828-6D3C-4792-3E6E1DE34C72}"/>
              </a:ext>
            </a:extLst>
          </p:cNvPr>
          <p:cNvSpPr>
            <a:spLocks noGrp="1"/>
          </p:cNvSpPr>
          <p:nvPr>
            <p:ph type="ftr" sz="quarter" idx="11"/>
          </p:nvPr>
        </p:nvSpPr>
        <p:spPr/>
        <p:txBody>
          <a:bodyPr/>
          <a:lstStyle/>
          <a:p>
            <a:r>
              <a:rPr lang="de-DE"/>
              <a:t>Bayesian Data Analysis Tutorial</a:t>
            </a:r>
            <a:endParaRPr lang="en-SE"/>
          </a:p>
        </p:txBody>
      </p:sp>
      <p:grpSp>
        <p:nvGrpSpPr>
          <p:cNvPr id="7" name="Group 6">
            <a:extLst>
              <a:ext uri="{FF2B5EF4-FFF2-40B4-BE49-F238E27FC236}">
                <a16:creationId xmlns:a16="http://schemas.microsoft.com/office/drawing/2014/main" id="{219D1C3F-FEEC-FFE3-9F2A-581F42E09420}"/>
              </a:ext>
            </a:extLst>
          </p:cNvPr>
          <p:cNvGrpSpPr/>
          <p:nvPr/>
        </p:nvGrpSpPr>
        <p:grpSpPr>
          <a:xfrm>
            <a:off x="228598" y="1825625"/>
            <a:ext cx="504000" cy="504000"/>
            <a:chOff x="977950" y="2729564"/>
            <a:chExt cx="504000" cy="504000"/>
          </a:xfrm>
        </p:grpSpPr>
        <p:sp>
          <p:nvSpPr>
            <p:cNvPr id="8" name="Oval 7">
              <a:extLst>
                <a:ext uri="{FF2B5EF4-FFF2-40B4-BE49-F238E27FC236}">
                  <a16:creationId xmlns:a16="http://schemas.microsoft.com/office/drawing/2014/main" id="{205101E1-A5B9-4842-AEB9-96D0B16F0BCF}"/>
                </a:ext>
              </a:extLst>
            </p:cNvPr>
            <p:cNvSpPr/>
            <p:nvPr/>
          </p:nvSpPr>
          <p:spPr>
            <a:xfrm>
              <a:off x="977950" y="2729564"/>
              <a:ext cx="504000" cy="504000"/>
            </a:xfrm>
            <a:prstGeom prst="ellipse">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9" name="Graphic 8" descr="Bar chart with solid fill">
              <a:extLst>
                <a:ext uri="{FF2B5EF4-FFF2-40B4-BE49-F238E27FC236}">
                  <a16:creationId xmlns:a16="http://schemas.microsoft.com/office/drawing/2014/main" id="{B21DE223-021E-E808-AE54-B183CED8175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31950" y="2783564"/>
              <a:ext cx="396000" cy="396000"/>
            </a:xfrm>
            <a:prstGeom prst="rect">
              <a:avLst/>
            </a:prstGeom>
          </p:spPr>
        </p:pic>
      </p:grpSp>
      <p:grpSp>
        <p:nvGrpSpPr>
          <p:cNvPr id="10" name="Group 9">
            <a:extLst>
              <a:ext uri="{FF2B5EF4-FFF2-40B4-BE49-F238E27FC236}">
                <a16:creationId xmlns:a16="http://schemas.microsoft.com/office/drawing/2014/main" id="{217B6792-5C29-94B0-8038-F1D35393B8AE}"/>
              </a:ext>
            </a:extLst>
          </p:cNvPr>
          <p:cNvGrpSpPr/>
          <p:nvPr/>
        </p:nvGrpSpPr>
        <p:grpSpPr>
          <a:xfrm>
            <a:off x="228598" y="2439322"/>
            <a:ext cx="504000" cy="504000"/>
            <a:chOff x="977950" y="2729564"/>
            <a:chExt cx="504000" cy="504000"/>
          </a:xfrm>
        </p:grpSpPr>
        <p:sp>
          <p:nvSpPr>
            <p:cNvPr id="11" name="Oval 10">
              <a:extLst>
                <a:ext uri="{FF2B5EF4-FFF2-40B4-BE49-F238E27FC236}">
                  <a16:creationId xmlns:a16="http://schemas.microsoft.com/office/drawing/2014/main" id="{B240D5A5-307B-113F-2829-EF61F6BC11FF}"/>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Golden Ratio with solid fill">
              <a:extLst>
                <a:ext uri="{FF2B5EF4-FFF2-40B4-BE49-F238E27FC236}">
                  <a16:creationId xmlns:a16="http://schemas.microsoft.com/office/drawing/2014/main" id="{65966F78-F654-5404-1FC3-E0597C8F08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13" name="Group 12">
            <a:extLst>
              <a:ext uri="{FF2B5EF4-FFF2-40B4-BE49-F238E27FC236}">
                <a16:creationId xmlns:a16="http://schemas.microsoft.com/office/drawing/2014/main" id="{5550AF13-BDED-14B7-479D-420B9182FB05}"/>
              </a:ext>
            </a:extLst>
          </p:cNvPr>
          <p:cNvGrpSpPr/>
          <p:nvPr/>
        </p:nvGrpSpPr>
        <p:grpSpPr>
          <a:xfrm>
            <a:off x="228598" y="3053019"/>
            <a:ext cx="504000" cy="504000"/>
            <a:chOff x="977950" y="2729564"/>
            <a:chExt cx="504000" cy="504000"/>
          </a:xfrm>
        </p:grpSpPr>
        <p:sp>
          <p:nvSpPr>
            <p:cNvPr id="14" name="Oval 13">
              <a:extLst>
                <a:ext uri="{FF2B5EF4-FFF2-40B4-BE49-F238E27FC236}">
                  <a16:creationId xmlns:a16="http://schemas.microsoft.com/office/drawing/2014/main" id="{2DD40CAF-EAA0-C92D-1EAE-F4BB0F69E212}"/>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Graphic 14" descr="Normal Distribution with solid fill">
              <a:extLst>
                <a:ext uri="{FF2B5EF4-FFF2-40B4-BE49-F238E27FC236}">
                  <a16:creationId xmlns:a16="http://schemas.microsoft.com/office/drawing/2014/main" id="{D041A92E-8C8D-68A6-3C0D-EC1B40E536F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16" name="Group 15">
            <a:extLst>
              <a:ext uri="{FF2B5EF4-FFF2-40B4-BE49-F238E27FC236}">
                <a16:creationId xmlns:a16="http://schemas.microsoft.com/office/drawing/2014/main" id="{FFAABC8C-6EFF-E76D-E383-5D99BDC1B8CC}"/>
              </a:ext>
            </a:extLst>
          </p:cNvPr>
          <p:cNvGrpSpPr/>
          <p:nvPr/>
        </p:nvGrpSpPr>
        <p:grpSpPr>
          <a:xfrm>
            <a:off x="228598" y="3666716"/>
            <a:ext cx="504000" cy="504000"/>
            <a:chOff x="977950" y="2729564"/>
            <a:chExt cx="504000" cy="504000"/>
          </a:xfrm>
        </p:grpSpPr>
        <p:sp>
          <p:nvSpPr>
            <p:cNvPr id="17" name="Oval 16">
              <a:extLst>
                <a:ext uri="{FF2B5EF4-FFF2-40B4-BE49-F238E27FC236}">
                  <a16:creationId xmlns:a16="http://schemas.microsoft.com/office/drawing/2014/main" id="{DA91BD4D-1BC4-F8E0-428F-3E19E42D6D00}"/>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Graphic 17" descr="Abacus with solid fill">
              <a:extLst>
                <a:ext uri="{FF2B5EF4-FFF2-40B4-BE49-F238E27FC236}">
                  <a16:creationId xmlns:a16="http://schemas.microsoft.com/office/drawing/2014/main" id="{59C40B87-6D9C-EB96-4FC4-5EF4DB67001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19" name="Group 18">
            <a:extLst>
              <a:ext uri="{FF2B5EF4-FFF2-40B4-BE49-F238E27FC236}">
                <a16:creationId xmlns:a16="http://schemas.microsoft.com/office/drawing/2014/main" id="{CBE7C056-C8B1-44AC-36AD-A5FB518EF3C7}"/>
              </a:ext>
            </a:extLst>
          </p:cNvPr>
          <p:cNvGrpSpPr/>
          <p:nvPr/>
        </p:nvGrpSpPr>
        <p:grpSpPr>
          <a:xfrm>
            <a:off x="228598" y="4280413"/>
            <a:ext cx="504000" cy="504000"/>
            <a:chOff x="977950" y="2729564"/>
            <a:chExt cx="504000" cy="504000"/>
          </a:xfrm>
        </p:grpSpPr>
        <p:sp>
          <p:nvSpPr>
            <p:cNvPr id="20" name="Oval 19">
              <a:extLst>
                <a:ext uri="{FF2B5EF4-FFF2-40B4-BE49-F238E27FC236}">
                  <a16:creationId xmlns:a16="http://schemas.microsoft.com/office/drawing/2014/main" id="{955843E3-F20B-5332-8B4E-F3DE3AB58040}"/>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1" name="Graphic 20" descr="Trigonometry with solid fill">
              <a:extLst>
                <a:ext uri="{FF2B5EF4-FFF2-40B4-BE49-F238E27FC236}">
                  <a16:creationId xmlns:a16="http://schemas.microsoft.com/office/drawing/2014/main" id="{6B94221B-4C97-B8E2-E12B-EEB39A20624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22" name="Group 21">
            <a:extLst>
              <a:ext uri="{FF2B5EF4-FFF2-40B4-BE49-F238E27FC236}">
                <a16:creationId xmlns:a16="http://schemas.microsoft.com/office/drawing/2014/main" id="{8AD83435-84A8-534B-5B3E-189EA3675602}"/>
              </a:ext>
            </a:extLst>
          </p:cNvPr>
          <p:cNvGrpSpPr/>
          <p:nvPr/>
        </p:nvGrpSpPr>
        <p:grpSpPr>
          <a:xfrm>
            <a:off x="228598" y="4894111"/>
            <a:ext cx="504000" cy="504000"/>
            <a:chOff x="977950" y="2729564"/>
            <a:chExt cx="504000" cy="504000"/>
          </a:xfrm>
        </p:grpSpPr>
        <p:sp>
          <p:nvSpPr>
            <p:cNvPr id="23" name="Oval 22">
              <a:extLst>
                <a:ext uri="{FF2B5EF4-FFF2-40B4-BE49-F238E27FC236}">
                  <a16:creationId xmlns:a16="http://schemas.microsoft.com/office/drawing/2014/main" id="{60FEBE80-421C-29E2-3A38-ADA3575B152E}"/>
                </a:ext>
              </a:extLst>
            </p:cNvPr>
            <p:cNvSpPr/>
            <p:nvPr/>
          </p:nvSpPr>
          <p:spPr>
            <a:xfrm>
              <a:off x="977950" y="2729564"/>
              <a:ext cx="504000" cy="504000"/>
            </a:xfrm>
            <a:prstGeom prst="ellipse">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4" name="Graphic 23" descr="Scatterplot with solid fill">
              <a:extLst>
                <a:ext uri="{FF2B5EF4-FFF2-40B4-BE49-F238E27FC236}">
                  <a16:creationId xmlns:a16="http://schemas.microsoft.com/office/drawing/2014/main" id="{239A2956-73CA-5DD9-DFBF-1D9159E5395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25" name="Straight Arrow Connector 24">
            <a:extLst>
              <a:ext uri="{FF2B5EF4-FFF2-40B4-BE49-F238E27FC236}">
                <a16:creationId xmlns:a16="http://schemas.microsoft.com/office/drawing/2014/main" id="{C7A4B8AC-CC0B-5FC9-B600-5D608F5F2103}"/>
              </a:ext>
            </a:extLst>
          </p:cNvPr>
          <p:cNvCxnSpPr>
            <a:stCxn id="8" idx="4"/>
            <a:endCxn id="11"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B9E611A3-22C4-81AD-EA5E-E329D314290E}"/>
              </a:ext>
            </a:extLst>
          </p:cNvPr>
          <p:cNvCxnSpPr>
            <a:cxnSpLocks/>
            <a:stCxn id="11" idx="4"/>
            <a:endCxn id="14"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EE4FBA77-2BC0-9F40-62C2-6F46030A8EFB}"/>
              </a:ext>
            </a:extLst>
          </p:cNvPr>
          <p:cNvCxnSpPr>
            <a:cxnSpLocks/>
            <a:stCxn id="14" idx="4"/>
            <a:endCxn id="17"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262AC813-50A1-81C0-C15D-380BBFAD4506}"/>
              </a:ext>
            </a:extLst>
          </p:cNvPr>
          <p:cNvCxnSpPr>
            <a:cxnSpLocks/>
            <a:stCxn id="17" idx="4"/>
            <a:endCxn id="20"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5F0D9E2A-1B2C-4122-D889-AB27E33E9C45}"/>
              </a:ext>
            </a:extLst>
          </p:cNvPr>
          <p:cNvCxnSpPr>
            <a:cxnSpLocks/>
            <a:stCxn id="20" idx="4"/>
            <a:endCxn id="23"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30" name="Group 29">
            <a:extLst>
              <a:ext uri="{FF2B5EF4-FFF2-40B4-BE49-F238E27FC236}">
                <a16:creationId xmlns:a16="http://schemas.microsoft.com/office/drawing/2014/main" id="{0AE44253-23BC-D4A3-6F88-2A8795361177}"/>
              </a:ext>
            </a:extLst>
          </p:cNvPr>
          <p:cNvGrpSpPr/>
          <p:nvPr/>
        </p:nvGrpSpPr>
        <p:grpSpPr>
          <a:xfrm>
            <a:off x="2056539" y="3720716"/>
            <a:ext cx="8078921" cy="2248284"/>
            <a:chOff x="3108960" y="4454434"/>
            <a:chExt cx="8078921" cy="2248284"/>
          </a:xfrm>
        </p:grpSpPr>
        <p:sp>
          <p:nvSpPr>
            <p:cNvPr id="31" name="Rectangle: Rounded Corners 30">
              <a:extLst>
                <a:ext uri="{FF2B5EF4-FFF2-40B4-BE49-F238E27FC236}">
                  <a16:creationId xmlns:a16="http://schemas.microsoft.com/office/drawing/2014/main" id="{58D247DC-B11A-DE12-9EDD-5BFEDF61EDF4}"/>
                </a:ext>
              </a:extLst>
            </p:cNvPr>
            <p:cNvSpPr/>
            <p:nvPr/>
          </p:nvSpPr>
          <p:spPr>
            <a:xfrm>
              <a:off x="3108960" y="4454434"/>
              <a:ext cx="8078921" cy="2248284"/>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SE" dirty="0"/>
                <a:t>In most software engineering research, this distribution if often assumed to be normal (i.e. Gaussian), and if not, assumed to not exist and instead researchers use statistical tests based on ranks. However, </a:t>
              </a:r>
              <a:r>
                <a:rPr lang="en-SE" b="1" dirty="0"/>
                <a:t>this is a pity since there are many probability distributions that could create much better models for the collected data.</a:t>
              </a:r>
              <a:endParaRPr lang="en-SE" dirty="0"/>
            </a:p>
          </p:txBody>
        </p:sp>
        <p:pic>
          <p:nvPicPr>
            <p:cNvPr id="32" name="Graphic 31" descr="Open quotation mark with solid fill">
              <a:extLst>
                <a:ext uri="{FF2B5EF4-FFF2-40B4-BE49-F238E27FC236}">
                  <a16:creationId xmlns:a16="http://schemas.microsoft.com/office/drawing/2014/main" id="{5205F156-6E3C-BD2E-DB31-AD9C0444647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0800000">
              <a:off x="3124200" y="4454434"/>
              <a:ext cx="720000" cy="720000"/>
            </a:xfrm>
            <a:prstGeom prst="rect">
              <a:avLst/>
            </a:prstGeom>
          </p:spPr>
        </p:pic>
        <p:sp>
          <p:nvSpPr>
            <p:cNvPr id="33" name="TextBox 32">
              <a:extLst>
                <a:ext uri="{FF2B5EF4-FFF2-40B4-BE49-F238E27FC236}">
                  <a16:creationId xmlns:a16="http://schemas.microsoft.com/office/drawing/2014/main" id="{177891AE-5267-2BD5-6A07-EC093DDC64F8}"/>
                </a:ext>
              </a:extLst>
            </p:cNvPr>
            <p:cNvSpPr txBox="1"/>
            <p:nvPr/>
          </p:nvSpPr>
          <p:spPr>
            <a:xfrm>
              <a:off x="3859440" y="4598333"/>
              <a:ext cx="7070049" cy="461665"/>
            </a:xfrm>
            <a:prstGeom prst="rect">
              <a:avLst/>
            </a:prstGeom>
            <a:noFill/>
          </p:spPr>
          <p:txBody>
            <a:bodyPr wrap="square">
              <a:spAutoFit/>
            </a:bodyPr>
            <a:lstStyle/>
            <a:p>
              <a:r>
                <a:rPr lang="en-SE" sz="1200" dirty="0">
                  <a:solidFill>
                    <a:schemeClr val="bg1"/>
                  </a:solidFill>
                </a:rPr>
                <a:t>Gren, L., &amp; Berntsson Svensson, R. (2021). Is it possible to disregard obsolete requirements? a family of experiments in software effort estimation. </a:t>
              </a:r>
              <a:r>
                <a:rPr lang="en-SE" sz="1200" i="1" dirty="0">
                  <a:solidFill>
                    <a:schemeClr val="bg1"/>
                  </a:solidFill>
                </a:rPr>
                <a:t>Requirements Engineering</a:t>
              </a:r>
              <a:r>
                <a:rPr lang="en-SE" sz="1200" dirty="0">
                  <a:solidFill>
                    <a:schemeClr val="bg1"/>
                  </a:solidFill>
                </a:rPr>
                <a:t>, </a:t>
              </a:r>
              <a:r>
                <a:rPr lang="en-SE" sz="1200" i="1" dirty="0">
                  <a:solidFill>
                    <a:schemeClr val="bg1"/>
                  </a:solidFill>
                </a:rPr>
                <a:t>26</a:t>
              </a:r>
              <a:r>
                <a:rPr lang="en-SE" sz="1200" dirty="0">
                  <a:solidFill>
                    <a:schemeClr val="bg1"/>
                  </a:solidFill>
                </a:rPr>
                <a:t>(3), 459-480.</a:t>
              </a:r>
              <a:endParaRPr lang="en-US" sz="1200" noProof="0" dirty="0">
                <a:solidFill>
                  <a:schemeClr val="bg1"/>
                </a:solidFill>
              </a:endParaRPr>
            </a:p>
          </p:txBody>
        </p:sp>
      </p:grpSp>
    </p:spTree>
    <p:extLst>
      <p:ext uri="{BB962C8B-B14F-4D97-AF65-F5344CB8AC3E}">
        <p14:creationId xmlns:p14="http://schemas.microsoft.com/office/powerpoint/2010/main" val="10842461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84DA7-11FF-FE10-14E2-F83B73AAAC9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4260562-4197-2029-07E6-1D1DC3EBC4F1}"/>
              </a:ext>
            </a:extLst>
          </p:cNvPr>
          <p:cNvSpPr txBox="1"/>
          <p:nvPr/>
        </p:nvSpPr>
        <p:spPr>
          <a:xfrm>
            <a:off x="872246" y="2902767"/>
            <a:ext cx="6833730" cy="523220"/>
          </a:xfrm>
          <a:prstGeom prst="rect">
            <a:avLst/>
          </a:prstGeom>
          <a:noFill/>
        </p:spPr>
        <p:txBody>
          <a:bodyPr wrap="none" rtlCol="0" anchor="b">
            <a:spAutoFit/>
          </a:bodyPr>
          <a:lstStyle/>
          <a:p>
            <a:r>
              <a:rPr lang="en-SE" sz="2800" dirty="0">
                <a:solidFill>
                  <a:schemeClr val="bg1"/>
                </a:solidFill>
              </a:rPr>
              <a:t>Besides the “normal” Gaussian, what other</a:t>
            </a:r>
          </a:p>
        </p:txBody>
      </p:sp>
      <p:sp>
        <p:nvSpPr>
          <p:cNvPr id="9" name="TextBox 8">
            <a:extLst>
              <a:ext uri="{FF2B5EF4-FFF2-40B4-BE49-F238E27FC236}">
                <a16:creationId xmlns:a16="http://schemas.microsoft.com/office/drawing/2014/main" id="{145F09DA-A6D2-519E-0635-A022D9C0B151}"/>
              </a:ext>
            </a:extLst>
          </p:cNvPr>
          <p:cNvSpPr txBox="1"/>
          <p:nvPr/>
        </p:nvSpPr>
        <p:spPr>
          <a:xfrm>
            <a:off x="872246" y="3302876"/>
            <a:ext cx="7041479" cy="1569660"/>
          </a:xfrm>
          <a:prstGeom prst="rect">
            <a:avLst/>
          </a:prstGeom>
          <a:noFill/>
        </p:spPr>
        <p:txBody>
          <a:bodyPr wrap="none" rtlCol="0">
            <a:spAutoFit/>
          </a:bodyPr>
          <a:lstStyle/>
          <a:p>
            <a:r>
              <a:rPr lang="en-SE" sz="9600" dirty="0">
                <a:solidFill>
                  <a:schemeClr val="bg1"/>
                </a:solidFill>
              </a:rPr>
              <a:t>Distributions</a:t>
            </a:r>
          </a:p>
        </p:txBody>
      </p:sp>
      <p:sp>
        <p:nvSpPr>
          <p:cNvPr id="3" name="TextBox 2">
            <a:extLst>
              <a:ext uri="{FF2B5EF4-FFF2-40B4-BE49-F238E27FC236}">
                <a16:creationId xmlns:a16="http://schemas.microsoft.com/office/drawing/2014/main" id="{72693F82-093F-D5C4-E5B2-4A270AF006A1}"/>
              </a:ext>
            </a:extLst>
          </p:cNvPr>
          <p:cNvSpPr txBox="1"/>
          <p:nvPr/>
        </p:nvSpPr>
        <p:spPr>
          <a:xfrm>
            <a:off x="872246" y="4749425"/>
            <a:ext cx="2596352" cy="584775"/>
          </a:xfrm>
          <a:prstGeom prst="rect">
            <a:avLst/>
          </a:prstGeom>
          <a:noFill/>
        </p:spPr>
        <p:txBody>
          <a:bodyPr wrap="none" rtlCol="0">
            <a:spAutoFit/>
          </a:bodyPr>
          <a:lstStyle/>
          <a:p>
            <a:r>
              <a:rPr lang="en-SE" sz="3200" dirty="0">
                <a:solidFill>
                  <a:schemeClr val="bg1"/>
                </a:solidFill>
              </a:rPr>
              <a:t>do </a:t>
            </a:r>
            <a:r>
              <a:rPr lang="en-SE" sz="3200" i="1" dirty="0">
                <a:solidFill>
                  <a:schemeClr val="bg1"/>
                </a:solidFill>
              </a:rPr>
              <a:t>you</a:t>
            </a:r>
            <a:r>
              <a:rPr lang="en-SE" sz="3200" dirty="0">
                <a:solidFill>
                  <a:schemeClr val="bg1"/>
                </a:solidFill>
              </a:rPr>
              <a:t> know?</a:t>
            </a:r>
          </a:p>
        </p:txBody>
      </p:sp>
    </p:spTree>
    <p:extLst>
      <p:ext uri="{BB962C8B-B14F-4D97-AF65-F5344CB8AC3E}">
        <p14:creationId xmlns:p14="http://schemas.microsoft.com/office/powerpoint/2010/main" val="278464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8E2748-E93B-835F-9921-CF777DE7E342}"/>
              </a:ext>
            </a:extLst>
          </p:cNvPr>
          <p:cNvPicPr>
            <a:picLocks noChangeAspect="1"/>
          </p:cNvPicPr>
          <p:nvPr/>
        </p:nvPicPr>
        <p:blipFill>
          <a:blip r:embed="rId2"/>
          <a:stretch>
            <a:fillRect/>
          </a:stretch>
        </p:blipFill>
        <p:spPr>
          <a:xfrm>
            <a:off x="0" y="0"/>
            <a:ext cx="12191999" cy="14376456"/>
          </a:xfrm>
          <a:prstGeom prst="rect">
            <a:avLst/>
          </a:prstGeom>
        </p:spPr>
      </p:pic>
    </p:spTree>
    <p:extLst>
      <p:ext uri="{BB962C8B-B14F-4D97-AF65-F5344CB8AC3E}">
        <p14:creationId xmlns:p14="http://schemas.microsoft.com/office/powerpoint/2010/main" val="16748141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8CC90-FC65-C3D6-9AC1-7C69921FBD9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7390FC7-8053-37D5-25AF-50640ACECDFB}"/>
              </a:ext>
            </a:extLst>
          </p:cNvPr>
          <p:cNvPicPr>
            <a:picLocks noChangeAspect="1"/>
          </p:cNvPicPr>
          <p:nvPr/>
        </p:nvPicPr>
        <p:blipFill>
          <a:blip r:embed="rId2"/>
          <a:stretch>
            <a:fillRect/>
          </a:stretch>
        </p:blipFill>
        <p:spPr>
          <a:xfrm>
            <a:off x="1" y="-7518456"/>
            <a:ext cx="12191999" cy="14376456"/>
          </a:xfrm>
          <a:prstGeom prst="rect">
            <a:avLst/>
          </a:prstGeom>
        </p:spPr>
      </p:pic>
    </p:spTree>
    <p:extLst>
      <p:ext uri="{BB962C8B-B14F-4D97-AF65-F5344CB8AC3E}">
        <p14:creationId xmlns:p14="http://schemas.microsoft.com/office/powerpoint/2010/main" val="633806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EE917-ECB9-DDB0-042D-94ED6FDAD6BE}"/>
              </a:ext>
            </a:extLst>
          </p:cNvPr>
          <p:cNvSpPr>
            <a:spLocks noGrp="1"/>
          </p:cNvSpPr>
          <p:nvPr>
            <p:ph type="title"/>
          </p:nvPr>
        </p:nvSpPr>
        <p:spPr/>
        <p:txBody>
          <a:bodyPr/>
          <a:lstStyle/>
          <a:p>
            <a:r>
              <a:rPr lang="en-SE" dirty="0"/>
              <a:t>Distribution Families</a:t>
            </a:r>
          </a:p>
        </p:txBody>
      </p:sp>
      <p:sp>
        <p:nvSpPr>
          <p:cNvPr id="3" name="Content Placeholder 2">
            <a:extLst>
              <a:ext uri="{FF2B5EF4-FFF2-40B4-BE49-F238E27FC236}">
                <a16:creationId xmlns:a16="http://schemas.microsoft.com/office/drawing/2014/main" id="{149ADA6F-02AE-BB3A-F014-767746475471}"/>
              </a:ext>
            </a:extLst>
          </p:cNvPr>
          <p:cNvSpPr>
            <a:spLocks noGrp="1"/>
          </p:cNvSpPr>
          <p:nvPr>
            <p:ph idx="1"/>
          </p:nvPr>
        </p:nvSpPr>
        <p:spPr/>
        <p:txBody>
          <a:bodyPr/>
          <a:lstStyle/>
          <a:p>
            <a:pPr marL="0" indent="0">
              <a:buNone/>
            </a:pPr>
            <a:r>
              <a:rPr lang="en-SE" dirty="0"/>
              <a:t>There are plenty of distribution families, each with its own assumption about how data is distributed</a:t>
            </a:r>
          </a:p>
        </p:txBody>
      </p:sp>
      <p:sp>
        <p:nvSpPr>
          <p:cNvPr id="4" name="Date Placeholder 3">
            <a:extLst>
              <a:ext uri="{FF2B5EF4-FFF2-40B4-BE49-F238E27FC236}">
                <a16:creationId xmlns:a16="http://schemas.microsoft.com/office/drawing/2014/main" id="{3EE5AE21-6A90-D477-C895-626DAB93BB32}"/>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57B109F0-4D70-5871-CE19-BF9D0996850B}"/>
              </a:ext>
            </a:extLst>
          </p:cNvPr>
          <p:cNvSpPr>
            <a:spLocks noGrp="1"/>
          </p:cNvSpPr>
          <p:nvPr>
            <p:ph type="sldNum" sz="quarter" idx="12"/>
          </p:nvPr>
        </p:nvSpPr>
        <p:spPr/>
        <p:txBody>
          <a:bodyPr/>
          <a:lstStyle/>
          <a:p>
            <a:fld id="{271ECC92-9CDE-4EB3-B1C5-F46B9E1FA3C1}" type="slidenum">
              <a:rPr lang="en-SE" smtClean="0"/>
              <a:t>72</a:t>
            </a:fld>
            <a:endParaRPr lang="en-SE"/>
          </a:p>
        </p:txBody>
      </p:sp>
      <p:sp>
        <p:nvSpPr>
          <p:cNvPr id="6" name="Footer Placeholder 5">
            <a:extLst>
              <a:ext uri="{FF2B5EF4-FFF2-40B4-BE49-F238E27FC236}">
                <a16:creationId xmlns:a16="http://schemas.microsoft.com/office/drawing/2014/main" id="{6F46101D-4BAB-E746-0A66-B176A138281D}"/>
              </a:ext>
            </a:extLst>
          </p:cNvPr>
          <p:cNvSpPr>
            <a:spLocks noGrp="1"/>
          </p:cNvSpPr>
          <p:nvPr>
            <p:ph type="ftr" sz="quarter" idx="11"/>
          </p:nvPr>
        </p:nvSpPr>
        <p:spPr/>
        <p:txBody>
          <a:bodyPr/>
          <a:lstStyle/>
          <a:p>
            <a:r>
              <a:rPr lang="de-DE"/>
              <a:t>Bayesian Data Analysis Tutorial</a:t>
            </a:r>
            <a:endParaRPr lang="en-SE"/>
          </a:p>
        </p:txBody>
      </p:sp>
      <p:grpSp>
        <p:nvGrpSpPr>
          <p:cNvPr id="53" name="Group 52">
            <a:extLst>
              <a:ext uri="{FF2B5EF4-FFF2-40B4-BE49-F238E27FC236}">
                <a16:creationId xmlns:a16="http://schemas.microsoft.com/office/drawing/2014/main" id="{00CEEF42-F603-FA04-3922-29BCDFC2287C}"/>
              </a:ext>
            </a:extLst>
          </p:cNvPr>
          <p:cNvGrpSpPr/>
          <p:nvPr/>
        </p:nvGrpSpPr>
        <p:grpSpPr>
          <a:xfrm>
            <a:off x="228598" y="1825625"/>
            <a:ext cx="504000" cy="504000"/>
            <a:chOff x="977950" y="2729564"/>
            <a:chExt cx="504000" cy="504000"/>
          </a:xfrm>
        </p:grpSpPr>
        <p:sp>
          <p:nvSpPr>
            <p:cNvPr id="54" name="Oval 53">
              <a:extLst>
                <a:ext uri="{FF2B5EF4-FFF2-40B4-BE49-F238E27FC236}">
                  <a16:creationId xmlns:a16="http://schemas.microsoft.com/office/drawing/2014/main" id="{27DC44A4-F479-F333-EE69-B47447F786A1}"/>
                </a:ext>
              </a:extLst>
            </p:cNvPr>
            <p:cNvSpPr/>
            <p:nvPr/>
          </p:nvSpPr>
          <p:spPr>
            <a:xfrm>
              <a:off x="977950" y="2729564"/>
              <a:ext cx="504000" cy="504000"/>
            </a:xfrm>
            <a:prstGeom prst="ellipse">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5" name="Graphic 54" descr="Bar chart with solid fill">
              <a:extLst>
                <a:ext uri="{FF2B5EF4-FFF2-40B4-BE49-F238E27FC236}">
                  <a16:creationId xmlns:a16="http://schemas.microsoft.com/office/drawing/2014/main" id="{74C46CA5-7AFC-CC4C-FA61-40ABAB1781A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31950" y="2783564"/>
              <a:ext cx="396000" cy="396000"/>
            </a:xfrm>
            <a:prstGeom prst="rect">
              <a:avLst/>
            </a:prstGeom>
          </p:spPr>
        </p:pic>
      </p:grpSp>
      <p:grpSp>
        <p:nvGrpSpPr>
          <p:cNvPr id="56" name="Group 55">
            <a:extLst>
              <a:ext uri="{FF2B5EF4-FFF2-40B4-BE49-F238E27FC236}">
                <a16:creationId xmlns:a16="http://schemas.microsoft.com/office/drawing/2014/main" id="{4654A075-2C70-568A-AC4F-0DBBBAD7A055}"/>
              </a:ext>
            </a:extLst>
          </p:cNvPr>
          <p:cNvGrpSpPr/>
          <p:nvPr/>
        </p:nvGrpSpPr>
        <p:grpSpPr>
          <a:xfrm>
            <a:off x="228598" y="2439322"/>
            <a:ext cx="504000" cy="504000"/>
            <a:chOff x="977950" y="2729564"/>
            <a:chExt cx="504000" cy="504000"/>
          </a:xfrm>
        </p:grpSpPr>
        <p:sp>
          <p:nvSpPr>
            <p:cNvPr id="57" name="Oval 56">
              <a:extLst>
                <a:ext uri="{FF2B5EF4-FFF2-40B4-BE49-F238E27FC236}">
                  <a16:creationId xmlns:a16="http://schemas.microsoft.com/office/drawing/2014/main" id="{99642C54-052C-CFA8-6A32-10D140996646}"/>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8" name="Graphic 57" descr="Golden Ratio with solid fill">
              <a:extLst>
                <a:ext uri="{FF2B5EF4-FFF2-40B4-BE49-F238E27FC236}">
                  <a16:creationId xmlns:a16="http://schemas.microsoft.com/office/drawing/2014/main" id="{7257F09A-1E3E-F168-44A7-3E6D37A1C4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59" name="Group 58">
            <a:extLst>
              <a:ext uri="{FF2B5EF4-FFF2-40B4-BE49-F238E27FC236}">
                <a16:creationId xmlns:a16="http://schemas.microsoft.com/office/drawing/2014/main" id="{94C2495E-A5CB-2737-A1E1-5A4C1DEA5EE8}"/>
              </a:ext>
            </a:extLst>
          </p:cNvPr>
          <p:cNvGrpSpPr/>
          <p:nvPr/>
        </p:nvGrpSpPr>
        <p:grpSpPr>
          <a:xfrm>
            <a:off x="228598" y="3053019"/>
            <a:ext cx="504000" cy="504000"/>
            <a:chOff x="977950" y="2729564"/>
            <a:chExt cx="504000" cy="504000"/>
          </a:xfrm>
        </p:grpSpPr>
        <p:sp>
          <p:nvSpPr>
            <p:cNvPr id="60" name="Oval 59">
              <a:extLst>
                <a:ext uri="{FF2B5EF4-FFF2-40B4-BE49-F238E27FC236}">
                  <a16:creationId xmlns:a16="http://schemas.microsoft.com/office/drawing/2014/main" id="{619706C3-5AA4-42CF-3621-8E20F589C8C7}"/>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1" name="Graphic 60" descr="Normal Distribution with solid fill">
              <a:extLst>
                <a:ext uri="{FF2B5EF4-FFF2-40B4-BE49-F238E27FC236}">
                  <a16:creationId xmlns:a16="http://schemas.microsoft.com/office/drawing/2014/main" id="{46AEF9C2-9E75-819D-E64A-DE8503AA9B5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62" name="Group 61">
            <a:extLst>
              <a:ext uri="{FF2B5EF4-FFF2-40B4-BE49-F238E27FC236}">
                <a16:creationId xmlns:a16="http://schemas.microsoft.com/office/drawing/2014/main" id="{6D1A86E3-96B5-F58C-7EE7-0845CD491B96}"/>
              </a:ext>
            </a:extLst>
          </p:cNvPr>
          <p:cNvGrpSpPr/>
          <p:nvPr/>
        </p:nvGrpSpPr>
        <p:grpSpPr>
          <a:xfrm>
            <a:off x="228598" y="3666716"/>
            <a:ext cx="504000" cy="504000"/>
            <a:chOff x="977950" y="2729564"/>
            <a:chExt cx="504000" cy="504000"/>
          </a:xfrm>
        </p:grpSpPr>
        <p:sp>
          <p:nvSpPr>
            <p:cNvPr id="63" name="Oval 62">
              <a:extLst>
                <a:ext uri="{FF2B5EF4-FFF2-40B4-BE49-F238E27FC236}">
                  <a16:creationId xmlns:a16="http://schemas.microsoft.com/office/drawing/2014/main" id="{7F8F4D5A-D0C7-C0D5-BA0A-11FF3CD3217B}"/>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4" name="Graphic 63" descr="Abacus with solid fill">
              <a:extLst>
                <a:ext uri="{FF2B5EF4-FFF2-40B4-BE49-F238E27FC236}">
                  <a16:creationId xmlns:a16="http://schemas.microsoft.com/office/drawing/2014/main" id="{58C2498B-F9B5-4F5D-0649-E99E0C6F209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65" name="Group 64">
            <a:extLst>
              <a:ext uri="{FF2B5EF4-FFF2-40B4-BE49-F238E27FC236}">
                <a16:creationId xmlns:a16="http://schemas.microsoft.com/office/drawing/2014/main" id="{DED09896-58BA-ACC1-651F-9E04ACC6EDA2}"/>
              </a:ext>
            </a:extLst>
          </p:cNvPr>
          <p:cNvGrpSpPr/>
          <p:nvPr/>
        </p:nvGrpSpPr>
        <p:grpSpPr>
          <a:xfrm>
            <a:off x="228598" y="4280413"/>
            <a:ext cx="504000" cy="504000"/>
            <a:chOff x="977950" y="2729564"/>
            <a:chExt cx="504000" cy="504000"/>
          </a:xfrm>
        </p:grpSpPr>
        <p:sp>
          <p:nvSpPr>
            <p:cNvPr id="66" name="Oval 65">
              <a:extLst>
                <a:ext uri="{FF2B5EF4-FFF2-40B4-BE49-F238E27FC236}">
                  <a16:creationId xmlns:a16="http://schemas.microsoft.com/office/drawing/2014/main" id="{66A4B3B1-BFE4-411E-639E-A86992E650DE}"/>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7" name="Graphic 66" descr="Trigonometry with solid fill">
              <a:extLst>
                <a:ext uri="{FF2B5EF4-FFF2-40B4-BE49-F238E27FC236}">
                  <a16:creationId xmlns:a16="http://schemas.microsoft.com/office/drawing/2014/main" id="{95B3778C-1D63-39D4-DA56-FB0DC875B9B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68" name="Group 67">
            <a:extLst>
              <a:ext uri="{FF2B5EF4-FFF2-40B4-BE49-F238E27FC236}">
                <a16:creationId xmlns:a16="http://schemas.microsoft.com/office/drawing/2014/main" id="{1A0E0674-48F0-8904-F302-1D2DA7DD9875}"/>
              </a:ext>
            </a:extLst>
          </p:cNvPr>
          <p:cNvGrpSpPr/>
          <p:nvPr/>
        </p:nvGrpSpPr>
        <p:grpSpPr>
          <a:xfrm>
            <a:off x="228598" y="4894111"/>
            <a:ext cx="504000" cy="504000"/>
            <a:chOff x="977950" y="2729564"/>
            <a:chExt cx="504000" cy="504000"/>
          </a:xfrm>
        </p:grpSpPr>
        <p:sp>
          <p:nvSpPr>
            <p:cNvPr id="69" name="Oval 68">
              <a:extLst>
                <a:ext uri="{FF2B5EF4-FFF2-40B4-BE49-F238E27FC236}">
                  <a16:creationId xmlns:a16="http://schemas.microsoft.com/office/drawing/2014/main" id="{646215FC-3E56-6354-0476-28D8BDBAF4B5}"/>
                </a:ext>
              </a:extLst>
            </p:cNvPr>
            <p:cNvSpPr/>
            <p:nvPr/>
          </p:nvSpPr>
          <p:spPr>
            <a:xfrm>
              <a:off x="977950" y="2729564"/>
              <a:ext cx="504000" cy="504000"/>
            </a:xfrm>
            <a:prstGeom prst="ellipse">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70" name="Graphic 69" descr="Scatterplot with solid fill">
              <a:extLst>
                <a:ext uri="{FF2B5EF4-FFF2-40B4-BE49-F238E27FC236}">
                  <a16:creationId xmlns:a16="http://schemas.microsoft.com/office/drawing/2014/main" id="{F396678E-EB80-FD2E-0D2E-B01F2C4CCDE4}"/>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71" name="Straight Arrow Connector 70">
            <a:extLst>
              <a:ext uri="{FF2B5EF4-FFF2-40B4-BE49-F238E27FC236}">
                <a16:creationId xmlns:a16="http://schemas.microsoft.com/office/drawing/2014/main" id="{72823CA3-17B7-6AE3-2EBB-E4AC6E8691FB}"/>
              </a:ext>
            </a:extLst>
          </p:cNvPr>
          <p:cNvCxnSpPr>
            <a:stCxn id="54" idx="4"/>
            <a:endCxn id="57"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2" name="Straight Arrow Connector 71">
            <a:extLst>
              <a:ext uri="{FF2B5EF4-FFF2-40B4-BE49-F238E27FC236}">
                <a16:creationId xmlns:a16="http://schemas.microsoft.com/office/drawing/2014/main" id="{93BAA15F-AA78-F7AF-7B71-5CAAFD982761}"/>
              </a:ext>
            </a:extLst>
          </p:cNvPr>
          <p:cNvCxnSpPr>
            <a:cxnSpLocks/>
            <a:stCxn id="57" idx="4"/>
            <a:endCxn id="60"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6F733E7C-AAB9-BFC4-4254-200A00A8062C}"/>
              </a:ext>
            </a:extLst>
          </p:cNvPr>
          <p:cNvCxnSpPr>
            <a:cxnSpLocks/>
            <a:stCxn id="60" idx="4"/>
            <a:endCxn id="63"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4" name="Straight Arrow Connector 73">
            <a:extLst>
              <a:ext uri="{FF2B5EF4-FFF2-40B4-BE49-F238E27FC236}">
                <a16:creationId xmlns:a16="http://schemas.microsoft.com/office/drawing/2014/main" id="{221C06A5-8ADA-C03C-342E-D9E300C41D29}"/>
              </a:ext>
            </a:extLst>
          </p:cNvPr>
          <p:cNvCxnSpPr>
            <a:cxnSpLocks/>
            <a:stCxn id="63" idx="4"/>
            <a:endCxn id="66"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5" name="Straight Arrow Connector 74">
            <a:extLst>
              <a:ext uri="{FF2B5EF4-FFF2-40B4-BE49-F238E27FC236}">
                <a16:creationId xmlns:a16="http://schemas.microsoft.com/office/drawing/2014/main" id="{1E3C989E-BD56-5A66-DAC8-0664FCF8D02F}"/>
              </a:ext>
            </a:extLst>
          </p:cNvPr>
          <p:cNvCxnSpPr>
            <a:cxnSpLocks/>
            <a:stCxn id="66" idx="4"/>
            <a:endCxn id="69"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81" name="Picture 80">
            <a:extLst>
              <a:ext uri="{FF2B5EF4-FFF2-40B4-BE49-F238E27FC236}">
                <a16:creationId xmlns:a16="http://schemas.microsoft.com/office/drawing/2014/main" id="{CA8A8C7B-15C1-98E8-5E50-E53192B6B0BE}"/>
              </a:ext>
            </a:extLst>
          </p:cNvPr>
          <p:cNvPicPr>
            <a:picLocks noChangeAspect="1"/>
          </p:cNvPicPr>
          <p:nvPr/>
        </p:nvPicPr>
        <p:blipFill>
          <a:blip r:embed="rId8"/>
          <a:stretch>
            <a:fillRect/>
          </a:stretch>
        </p:blipFill>
        <p:spPr>
          <a:xfrm>
            <a:off x="2073278" y="2889322"/>
            <a:ext cx="8045443" cy="9486956"/>
          </a:xfrm>
          <a:prstGeom prst="rect">
            <a:avLst/>
          </a:prstGeom>
        </p:spPr>
      </p:pic>
      <p:sp>
        <p:nvSpPr>
          <p:cNvPr id="82" name="Rectangle 81">
            <a:extLst>
              <a:ext uri="{FF2B5EF4-FFF2-40B4-BE49-F238E27FC236}">
                <a16:creationId xmlns:a16="http://schemas.microsoft.com/office/drawing/2014/main" id="{C036B7EB-3687-CA82-8E51-98548153DDCB}"/>
              </a:ext>
            </a:extLst>
          </p:cNvPr>
          <p:cNvSpPr/>
          <p:nvPr/>
        </p:nvSpPr>
        <p:spPr>
          <a:xfrm>
            <a:off x="2082800" y="5344111"/>
            <a:ext cx="8026400" cy="1513889"/>
          </a:xfrm>
          <a:prstGeom prst="rect">
            <a:avLst/>
          </a:prstGeom>
          <a:gradFill>
            <a:gsLst>
              <a:gs pos="54000">
                <a:srgbClr val="FFFDFD"/>
              </a:gs>
              <a:gs pos="0">
                <a:schemeClr val="accent1">
                  <a:lumMod val="5000"/>
                  <a:lumOff val="95000"/>
                  <a:alpha val="0"/>
                </a:schemeClr>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de-DE" dirty="0">
                <a:hlinkClick r:id="rId9"/>
              </a:rPr>
              <a:t>https://www.math.wm.edu/~leemis/chart/UDR/UDR.html</a:t>
            </a:r>
            <a:r>
              <a:rPr lang="en-SE" dirty="0"/>
              <a:t> </a:t>
            </a:r>
          </a:p>
        </p:txBody>
      </p:sp>
    </p:spTree>
    <p:extLst>
      <p:ext uri="{BB962C8B-B14F-4D97-AF65-F5344CB8AC3E}">
        <p14:creationId xmlns:p14="http://schemas.microsoft.com/office/powerpoint/2010/main" val="3916972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2E5F5-5D76-5DB6-23DA-B8335D9E0C61}"/>
              </a:ext>
            </a:extLst>
          </p:cNvPr>
          <p:cNvSpPr>
            <a:spLocks noGrp="1"/>
          </p:cNvSpPr>
          <p:nvPr>
            <p:ph type="title"/>
          </p:nvPr>
        </p:nvSpPr>
        <p:spPr/>
        <p:txBody>
          <a:bodyPr/>
          <a:lstStyle/>
          <a:p>
            <a:r>
              <a:rPr lang="en-SE" dirty="0"/>
              <a:t>Classic Misconception</a:t>
            </a:r>
          </a:p>
        </p:txBody>
      </p:sp>
      <p:sp>
        <p:nvSpPr>
          <p:cNvPr id="3" name="Content Placeholder 2">
            <a:extLst>
              <a:ext uri="{FF2B5EF4-FFF2-40B4-BE49-F238E27FC236}">
                <a16:creationId xmlns:a16="http://schemas.microsoft.com/office/drawing/2014/main" id="{BCB9EB96-6C07-0B57-B967-6CDDA30F0D9F}"/>
              </a:ext>
            </a:extLst>
          </p:cNvPr>
          <p:cNvSpPr>
            <a:spLocks noGrp="1"/>
          </p:cNvSpPr>
          <p:nvPr>
            <p:ph idx="1"/>
          </p:nvPr>
        </p:nvSpPr>
        <p:spPr>
          <a:xfrm>
            <a:off x="838200" y="1825625"/>
            <a:ext cx="10515600" cy="1117697"/>
          </a:xfrm>
        </p:spPr>
        <p:txBody>
          <a:bodyPr/>
          <a:lstStyle/>
          <a:p>
            <a:pPr marL="0" indent="0">
              <a:buNone/>
            </a:pPr>
            <a:r>
              <a:rPr lang="en-SE" dirty="0"/>
              <a:t>One of the most common forms of statistical malpractice is </a:t>
            </a:r>
            <a:r>
              <a:rPr lang="en-SE" b="1" dirty="0"/>
              <a:t>treating ordinal data as continuous</a:t>
            </a:r>
            <a:r>
              <a:rPr lang="en-SE" dirty="0"/>
              <a:t>.</a:t>
            </a:r>
          </a:p>
        </p:txBody>
      </p:sp>
      <p:sp>
        <p:nvSpPr>
          <p:cNvPr id="4" name="Date Placeholder 3">
            <a:extLst>
              <a:ext uri="{FF2B5EF4-FFF2-40B4-BE49-F238E27FC236}">
                <a16:creationId xmlns:a16="http://schemas.microsoft.com/office/drawing/2014/main" id="{B1CCA90B-D730-0E55-C5BF-E2CC70B8BD86}"/>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C17BF089-0DE5-EFFA-4E18-C98081E5C996}"/>
              </a:ext>
            </a:extLst>
          </p:cNvPr>
          <p:cNvSpPr>
            <a:spLocks noGrp="1"/>
          </p:cNvSpPr>
          <p:nvPr>
            <p:ph type="sldNum" sz="quarter" idx="12"/>
          </p:nvPr>
        </p:nvSpPr>
        <p:spPr/>
        <p:txBody>
          <a:bodyPr/>
          <a:lstStyle/>
          <a:p>
            <a:fld id="{271ECC92-9CDE-4EB3-B1C5-F46B9E1FA3C1}" type="slidenum">
              <a:rPr lang="en-SE" smtClean="0"/>
              <a:t>73</a:t>
            </a:fld>
            <a:endParaRPr lang="en-SE"/>
          </a:p>
        </p:txBody>
      </p:sp>
      <p:sp>
        <p:nvSpPr>
          <p:cNvPr id="6" name="Footer Placeholder 5">
            <a:extLst>
              <a:ext uri="{FF2B5EF4-FFF2-40B4-BE49-F238E27FC236}">
                <a16:creationId xmlns:a16="http://schemas.microsoft.com/office/drawing/2014/main" id="{87AAE671-708D-037B-9610-E8570C267C07}"/>
              </a:ext>
            </a:extLst>
          </p:cNvPr>
          <p:cNvSpPr>
            <a:spLocks noGrp="1"/>
          </p:cNvSpPr>
          <p:nvPr>
            <p:ph type="ftr" sz="quarter" idx="11"/>
          </p:nvPr>
        </p:nvSpPr>
        <p:spPr/>
        <p:txBody>
          <a:bodyPr/>
          <a:lstStyle/>
          <a:p>
            <a:r>
              <a:rPr lang="de-DE"/>
              <a:t>Bayesian Data Analysis Tutorial</a:t>
            </a:r>
            <a:endParaRPr lang="en-SE"/>
          </a:p>
        </p:txBody>
      </p:sp>
      <p:grpSp>
        <p:nvGrpSpPr>
          <p:cNvPr id="30" name="Group 29">
            <a:extLst>
              <a:ext uri="{FF2B5EF4-FFF2-40B4-BE49-F238E27FC236}">
                <a16:creationId xmlns:a16="http://schemas.microsoft.com/office/drawing/2014/main" id="{4C38547C-E015-0975-C4AF-DDA456ABF12B}"/>
              </a:ext>
            </a:extLst>
          </p:cNvPr>
          <p:cNvGrpSpPr/>
          <p:nvPr/>
        </p:nvGrpSpPr>
        <p:grpSpPr>
          <a:xfrm>
            <a:off x="228598" y="1825625"/>
            <a:ext cx="504000" cy="504000"/>
            <a:chOff x="977950" y="2729564"/>
            <a:chExt cx="504000" cy="504000"/>
          </a:xfrm>
        </p:grpSpPr>
        <p:sp>
          <p:nvSpPr>
            <p:cNvPr id="31" name="Oval 30">
              <a:extLst>
                <a:ext uri="{FF2B5EF4-FFF2-40B4-BE49-F238E27FC236}">
                  <a16:creationId xmlns:a16="http://schemas.microsoft.com/office/drawing/2014/main" id="{91D0E2A7-D5E0-AB95-3A72-E022AC1A8C39}"/>
                </a:ext>
              </a:extLst>
            </p:cNvPr>
            <p:cNvSpPr/>
            <p:nvPr/>
          </p:nvSpPr>
          <p:spPr>
            <a:xfrm>
              <a:off x="977950" y="2729564"/>
              <a:ext cx="504000" cy="504000"/>
            </a:xfrm>
            <a:prstGeom prst="ellipse">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2" name="Graphic 31" descr="Bar chart with solid fill">
              <a:extLst>
                <a:ext uri="{FF2B5EF4-FFF2-40B4-BE49-F238E27FC236}">
                  <a16:creationId xmlns:a16="http://schemas.microsoft.com/office/drawing/2014/main" id="{E8B28CC4-26DA-D313-D85D-62EF1EDCAB8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31950" y="2783564"/>
              <a:ext cx="396000" cy="396000"/>
            </a:xfrm>
            <a:prstGeom prst="rect">
              <a:avLst/>
            </a:prstGeom>
          </p:spPr>
        </p:pic>
      </p:grpSp>
      <p:grpSp>
        <p:nvGrpSpPr>
          <p:cNvPr id="33" name="Group 32">
            <a:extLst>
              <a:ext uri="{FF2B5EF4-FFF2-40B4-BE49-F238E27FC236}">
                <a16:creationId xmlns:a16="http://schemas.microsoft.com/office/drawing/2014/main" id="{96CFAC20-4A5B-1EE3-3CDE-E9F2A0926C6E}"/>
              </a:ext>
            </a:extLst>
          </p:cNvPr>
          <p:cNvGrpSpPr/>
          <p:nvPr/>
        </p:nvGrpSpPr>
        <p:grpSpPr>
          <a:xfrm>
            <a:off x="228598" y="2439322"/>
            <a:ext cx="504000" cy="504000"/>
            <a:chOff x="977950" y="2729564"/>
            <a:chExt cx="504000" cy="504000"/>
          </a:xfrm>
        </p:grpSpPr>
        <p:sp>
          <p:nvSpPr>
            <p:cNvPr id="34" name="Oval 33">
              <a:extLst>
                <a:ext uri="{FF2B5EF4-FFF2-40B4-BE49-F238E27FC236}">
                  <a16:creationId xmlns:a16="http://schemas.microsoft.com/office/drawing/2014/main" id="{AF067D27-E73B-25B5-DDB0-B8672051ABCA}"/>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5" name="Graphic 34" descr="Golden Ratio with solid fill">
              <a:extLst>
                <a:ext uri="{FF2B5EF4-FFF2-40B4-BE49-F238E27FC236}">
                  <a16:creationId xmlns:a16="http://schemas.microsoft.com/office/drawing/2014/main" id="{A210CEF7-E1AA-2EAD-7445-1D42045AFA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36" name="Group 35">
            <a:extLst>
              <a:ext uri="{FF2B5EF4-FFF2-40B4-BE49-F238E27FC236}">
                <a16:creationId xmlns:a16="http://schemas.microsoft.com/office/drawing/2014/main" id="{F800384D-4A84-2911-4FB0-1D6FCC641250}"/>
              </a:ext>
            </a:extLst>
          </p:cNvPr>
          <p:cNvGrpSpPr/>
          <p:nvPr/>
        </p:nvGrpSpPr>
        <p:grpSpPr>
          <a:xfrm>
            <a:off x="228598" y="3053019"/>
            <a:ext cx="504000" cy="504000"/>
            <a:chOff x="977950" y="2729564"/>
            <a:chExt cx="504000" cy="504000"/>
          </a:xfrm>
        </p:grpSpPr>
        <p:sp>
          <p:nvSpPr>
            <p:cNvPr id="37" name="Oval 36">
              <a:extLst>
                <a:ext uri="{FF2B5EF4-FFF2-40B4-BE49-F238E27FC236}">
                  <a16:creationId xmlns:a16="http://schemas.microsoft.com/office/drawing/2014/main" id="{D9E2D09B-CE44-FF4C-EB3C-D32A26FB00CF}"/>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8" name="Graphic 37" descr="Normal Distribution with solid fill">
              <a:extLst>
                <a:ext uri="{FF2B5EF4-FFF2-40B4-BE49-F238E27FC236}">
                  <a16:creationId xmlns:a16="http://schemas.microsoft.com/office/drawing/2014/main" id="{68D3C518-04FD-5198-7899-A7EACBCAF13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39" name="Group 38">
            <a:extLst>
              <a:ext uri="{FF2B5EF4-FFF2-40B4-BE49-F238E27FC236}">
                <a16:creationId xmlns:a16="http://schemas.microsoft.com/office/drawing/2014/main" id="{54234D8D-F3A8-1FD5-6609-0472034E8C25}"/>
              </a:ext>
            </a:extLst>
          </p:cNvPr>
          <p:cNvGrpSpPr/>
          <p:nvPr/>
        </p:nvGrpSpPr>
        <p:grpSpPr>
          <a:xfrm>
            <a:off x="228598" y="3666716"/>
            <a:ext cx="504000" cy="504000"/>
            <a:chOff x="977950" y="2729564"/>
            <a:chExt cx="504000" cy="504000"/>
          </a:xfrm>
        </p:grpSpPr>
        <p:sp>
          <p:nvSpPr>
            <p:cNvPr id="40" name="Oval 39">
              <a:extLst>
                <a:ext uri="{FF2B5EF4-FFF2-40B4-BE49-F238E27FC236}">
                  <a16:creationId xmlns:a16="http://schemas.microsoft.com/office/drawing/2014/main" id="{3D473F91-4701-EC80-74C3-088104F5075F}"/>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1" name="Graphic 40" descr="Abacus with solid fill">
              <a:extLst>
                <a:ext uri="{FF2B5EF4-FFF2-40B4-BE49-F238E27FC236}">
                  <a16:creationId xmlns:a16="http://schemas.microsoft.com/office/drawing/2014/main" id="{D25463E9-0812-E79E-39A7-FB660C58BDD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42" name="Group 41">
            <a:extLst>
              <a:ext uri="{FF2B5EF4-FFF2-40B4-BE49-F238E27FC236}">
                <a16:creationId xmlns:a16="http://schemas.microsoft.com/office/drawing/2014/main" id="{7885200C-FC83-D576-230C-35C6E51FE14B}"/>
              </a:ext>
            </a:extLst>
          </p:cNvPr>
          <p:cNvGrpSpPr/>
          <p:nvPr/>
        </p:nvGrpSpPr>
        <p:grpSpPr>
          <a:xfrm>
            <a:off x="228598" y="4280413"/>
            <a:ext cx="504000" cy="504000"/>
            <a:chOff x="977950" y="2729564"/>
            <a:chExt cx="504000" cy="504000"/>
          </a:xfrm>
        </p:grpSpPr>
        <p:sp>
          <p:nvSpPr>
            <p:cNvPr id="43" name="Oval 42">
              <a:extLst>
                <a:ext uri="{FF2B5EF4-FFF2-40B4-BE49-F238E27FC236}">
                  <a16:creationId xmlns:a16="http://schemas.microsoft.com/office/drawing/2014/main" id="{2FC456E2-DCFF-FDE9-5A4E-DFA62620AC3F}"/>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4" name="Graphic 43" descr="Trigonometry with solid fill">
              <a:extLst>
                <a:ext uri="{FF2B5EF4-FFF2-40B4-BE49-F238E27FC236}">
                  <a16:creationId xmlns:a16="http://schemas.microsoft.com/office/drawing/2014/main" id="{ABC3D35A-6C78-A08C-B818-E3407CE3DE3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45" name="Group 44">
            <a:extLst>
              <a:ext uri="{FF2B5EF4-FFF2-40B4-BE49-F238E27FC236}">
                <a16:creationId xmlns:a16="http://schemas.microsoft.com/office/drawing/2014/main" id="{24E9848A-18F6-0D5D-C398-759D8F7DA033}"/>
              </a:ext>
            </a:extLst>
          </p:cNvPr>
          <p:cNvGrpSpPr/>
          <p:nvPr/>
        </p:nvGrpSpPr>
        <p:grpSpPr>
          <a:xfrm>
            <a:off x="228598" y="4894111"/>
            <a:ext cx="504000" cy="504000"/>
            <a:chOff x="977950" y="2729564"/>
            <a:chExt cx="504000" cy="504000"/>
          </a:xfrm>
        </p:grpSpPr>
        <p:sp>
          <p:nvSpPr>
            <p:cNvPr id="46" name="Oval 45">
              <a:extLst>
                <a:ext uri="{FF2B5EF4-FFF2-40B4-BE49-F238E27FC236}">
                  <a16:creationId xmlns:a16="http://schemas.microsoft.com/office/drawing/2014/main" id="{6A936FE1-8DBE-65E6-E8F0-36B7FA44B9E7}"/>
                </a:ext>
              </a:extLst>
            </p:cNvPr>
            <p:cNvSpPr/>
            <p:nvPr/>
          </p:nvSpPr>
          <p:spPr>
            <a:xfrm>
              <a:off x="977950" y="2729564"/>
              <a:ext cx="504000" cy="504000"/>
            </a:xfrm>
            <a:prstGeom prst="ellipse">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7" name="Graphic 46" descr="Scatterplot with solid fill">
              <a:extLst>
                <a:ext uri="{FF2B5EF4-FFF2-40B4-BE49-F238E27FC236}">
                  <a16:creationId xmlns:a16="http://schemas.microsoft.com/office/drawing/2014/main" id="{361DC27B-9E10-71F6-3DBA-56BAFBA9D2A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48" name="Straight Arrow Connector 47">
            <a:extLst>
              <a:ext uri="{FF2B5EF4-FFF2-40B4-BE49-F238E27FC236}">
                <a16:creationId xmlns:a16="http://schemas.microsoft.com/office/drawing/2014/main" id="{936795E6-5AA9-7345-180F-85C79CD76A57}"/>
              </a:ext>
            </a:extLst>
          </p:cNvPr>
          <p:cNvCxnSpPr>
            <a:stCxn id="31" idx="4"/>
            <a:endCxn id="34"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77A5468A-A5EB-C999-5659-05F5D811E066}"/>
              </a:ext>
            </a:extLst>
          </p:cNvPr>
          <p:cNvCxnSpPr>
            <a:cxnSpLocks/>
            <a:stCxn id="34" idx="4"/>
            <a:endCxn id="37"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4490F14B-0E8F-A537-67B8-7511ADC013F8}"/>
              </a:ext>
            </a:extLst>
          </p:cNvPr>
          <p:cNvCxnSpPr>
            <a:cxnSpLocks/>
            <a:stCxn id="37" idx="4"/>
            <a:endCxn id="40"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208057BD-2E91-D94B-E6D2-05708045A5BF}"/>
              </a:ext>
            </a:extLst>
          </p:cNvPr>
          <p:cNvCxnSpPr>
            <a:cxnSpLocks/>
            <a:stCxn id="40" idx="4"/>
            <a:endCxn id="43"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52831F4C-C1DE-636E-C187-509DBE56C10F}"/>
              </a:ext>
            </a:extLst>
          </p:cNvPr>
          <p:cNvCxnSpPr>
            <a:cxnSpLocks/>
            <a:stCxn id="43" idx="4"/>
            <a:endCxn id="46"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5" name="Rectangle 54">
            <a:extLst>
              <a:ext uri="{FF2B5EF4-FFF2-40B4-BE49-F238E27FC236}">
                <a16:creationId xmlns:a16="http://schemas.microsoft.com/office/drawing/2014/main" id="{28F9620F-16A4-EC6E-BD88-415BEC1A88A3}"/>
              </a:ext>
            </a:extLst>
          </p:cNvPr>
          <p:cNvSpPr/>
          <p:nvPr/>
        </p:nvSpPr>
        <p:spPr>
          <a:xfrm>
            <a:off x="5058011" y="3222889"/>
            <a:ext cx="2031358" cy="543716"/>
          </a:xfrm>
          <a:prstGeom prst="rect">
            <a:avLst/>
          </a:prstGeom>
          <a:solidFill>
            <a:srgbClr val="FFC000"/>
          </a:solidFill>
          <a:ln>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N</a:t>
            </a:r>
            <a:r>
              <a:rPr lang="en-SE" dirty="0">
                <a:solidFill>
                  <a:schemeClr val="tx1"/>
                </a:solidFill>
              </a:rPr>
              <a:t>either agree nor disagree</a:t>
            </a:r>
          </a:p>
        </p:txBody>
      </p:sp>
      <p:sp>
        <p:nvSpPr>
          <p:cNvPr id="57" name="Rectangle 56">
            <a:extLst>
              <a:ext uri="{FF2B5EF4-FFF2-40B4-BE49-F238E27FC236}">
                <a16:creationId xmlns:a16="http://schemas.microsoft.com/office/drawing/2014/main" id="{DF98B393-2788-F916-379F-64DD722B1A2F}"/>
              </a:ext>
            </a:extLst>
          </p:cNvPr>
          <p:cNvSpPr/>
          <p:nvPr/>
        </p:nvSpPr>
        <p:spPr>
          <a:xfrm>
            <a:off x="7229774" y="3222889"/>
            <a:ext cx="1369671" cy="543716"/>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solidFill>
              </a:rPr>
              <a:t>disagree</a:t>
            </a:r>
          </a:p>
        </p:txBody>
      </p:sp>
      <p:sp>
        <p:nvSpPr>
          <p:cNvPr id="59" name="Rectangle 58">
            <a:extLst>
              <a:ext uri="{FF2B5EF4-FFF2-40B4-BE49-F238E27FC236}">
                <a16:creationId xmlns:a16="http://schemas.microsoft.com/office/drawing/2014/main" id="{B2640A51-14DF-F6BA-5613-96E46C0230EF}"/>
              </a:ext>
            </a:extLst>
          </p:cNvPr>
          <p:cNvSpPr/>
          <p:nvPr/>
        </p:nvSpPr>
        <p:spPr>
          <a:xfrm>
            <a:off x="8739850" y="3222889"/>
            <a:ext cx="1369671" cy="543716"/>
          </a:xfrm>
          <a:prstGeom prst="rect">
            <a:avLst/>
          </a:prstGeom>
          <a:solidFill>
            <a:srgbClr val="C00000"/>
          </a:solidFill>
          <a:ln>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err="1"/>
              <a:t>strongly</a:t>
            </a:r>
            <a:r>
              <a:rPr lang="en-SE" dirty="0"/>
              <a:t> disagree</a:t>
            </a:r>
          </a:p>
        </p:txBody>
      </p:sp>
      <p:sp>
        <p:nvSpPr>
          <p:cNvPr id="61" name="Rectangle 60">
            <a:extLst>
              <a:ext uri="{FF2B5EF4-FFF2-40B4-BE49-F238E27FC236}">
                <a16:creationId xmlns:a16="http://schemas.microsoft.com/office/drawing/2014/main" id="{E600DF84-FB21-E541-B378-0B8E900F8F32}"/>
              </a:ext>
            </a:extLst>
          </p:cNvPr>
          <p:cNvSpPr/>
          <p:nvPr/>
        </p:nvSpPr>
        <p:spPr>
          <a:xfrm>
            <a:off x="3547935" y="3222889"/>
            <a:ext cx="1369671" cy="543716"/>
          </a:xfrm>
          <a:prstGeom prst="rect">
            <a:avLst/>
          </a:prstGeom>
          <a:solidFill>
            <a:schemeClr val="accent2">
              <a:lumMod val="75000"/>
            </a:schemeClr>
          </a:solidFill>
          <a:ln>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t>agree</a:t>
            </a:r>
          </a:p>
        </p:txBody>
      </p:sp>
      <p:sp>
        <p:nvSpPr>
          <p:cNvPr id="63" name="Rectangle 62">
            <a:extLst>
              <a:ext uri="{FF2B5EF4-FFF2-40B4-BE49-F238E27FC236}">
                <a16:creationId xmlns:a16="http://schemas.microsoft.com/office/drawing/2014/main" id="{20C19C5B-85CE-0EE9-4AF4-1718C67A148D}"/>
              </a:ext>
            </a:extLst>
          </p:cNvPr>
          <p:cNvSpPr/>
          <p:nvPr/>
        </p:nvSpPr>
        <p:spPr>
          <a:xfrm>
            <a:off x="2037859" y="3222889"/>
            <a:ext cx="1369671" cy="543716"/>
          </a:xfrm>
          <a:prstGeom prst="rect">
            <a:avLst/>
          </a:prstGeom>
          <a:solidFill>
            <a:schemeClr val="accent2">
              <a:lumMod val="50000"/>
            </a:schemeClr>
          </a:solidFill>
          <a:ln>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err="1"/>
              <a:t>strongly</a:t>
            </a:r>
            <a:r>
              <a:rPr lang="en-SE" dirty="0"/>
              <a:t> agree</a:t>
            </a:r>
          </a:p>
        </p:txBody>
      </p:sp>
      <p:sp>
        <p:nvSpPr>
          <p:cNvPr id="64" name="TextBox 63">
            <a:extLst>
              <a:ext uri="{FF2B5EF4-FFF2-40B4-BE49-F238E27FC236}">
                <a16:creationId xmlns:a16="http://schemas.microsoft.com/office/drawing/2014/main" id="{126CA673-38E5-EA3B-C951-6605B192F2E8}"/>
              </a:ext>
            </a:extLst>
          </p:cNvPr>
          <p:cNvSpPr txBox="1"/>
          <p:nvPr/>
        </p:nvSpPr>
        <p:spPr>
          <a:xfrm>
            <a:off x="2568645" y="5103716"/>
            <a:ext cx="308098" cy="369332"/>
          </a:xfrm>
          <a:prstGeom prst="rect">
            <a:avLst/>
          </a:prstGeom>
          <a:noFill/>
        </p:spPr>
        <p:txBody>
          <a:bodyPr wrap="none" rtlCol="0">
            <a:spAutoFit/>
          </a:bodyPr>
          <a:lstStyle/>
          <a:p>
            <a:r>
              <a:rPr lang="en-SE" dirty="0"/>
              <a:t>5</a:t>
            </a:r>
          </a:p>
        </p:txBody>
      </p:sp>
      <p:sp>
        <p:nvSpPr>
          <p:cNvPr id="66" name="TextBox 65">
            <a:extLst>
              <a:ext uri="{FF2B5EF4-FFF2-40B4-BE49-F238E27FC236}">
                <a16:creationId xmlns:a16="http://schemas.microsoft.com/office/drawing/2014/main" id="{5CAE90CF-CF9C-0072-5E09-A4BA89676661}"/>
              </a:ext>
            </a:extLst>
          </p:cNvPr>
          <p:cNvSpPr txBox="1"/>
          <p:nvPr/>
        </p:nvSpPr>
        <p:spPr>
          <a:xfrm>
            <a:off x="4078721" y="5103716"/>
            <a:ext cx="308098" cy="369332"/>
          </a:xfrm>
          <a:prstGeom prst="rect">
            <a:avLst/>
          </a:prstGeom>
          <a:noFill/>
        </p:spPr>
        <p:txBody>
          <a:bodyPr wrap="none" rtlCol="0">
            <a:spAutoFit/>
          </a:bodyPr>
          <a:lstStyle/>
          <a:p>
            <a:r>
              <a:rPr lang="en-SE" dirty="0"/>
              <a:t>4</a:t>
            </a:r>
          </a:p>
        </p:txBody>
      </p:sp>
      <p:sp>
        <p:nvSpPr>
          <p:cNvPr id="68" name="TextBox 67">
            <a:extLst>
              <a:ext uri="{FF2B5EF4-FFF2-40B4-BE49-F238E27FC236}">
                <a16:creationId xmlns:a16="http://schemas.microsoft.com/office/drawing/2014/main" id="{EF2843D0-FC87-3A4F-1712-ECF917D4495F}"/>
              </a:ext>
            </a:extLst>
          </p:cNvPr>
          <p:cNvSpPr txBox="1"/>
          <p:nvPr/>
        </p:nvSpPr>
        <p:spPr>
          <a:xfrm>
            <a:off x="5919641" y="5103716"/>
            <a:ext cx="308098" cy="369332"/>
          </a:xfrm>
          <a:prstGeom prst="rect">
            <a:avLst/>
          </a:prstGeom>
          <a:noFill/>
        </p:spPr>
        <p:txBody>
          <a:bodyPr wrap="none" rtlCol="0">
            <a:spAutoFit/>
          </a:bodyPr>
          <a:lstStyle/>
          <a:p>
            <a:r>
              <a:rPr lang="en-SE" dirty="0"/>
              <a:t>3</a:t>
            </a:r>
          </a:p>
        </p:txBody>
      </p:sp>
      <p:sp>
        <p:nvSpPr>
          <p:cNvPr id="70" name="TextBox 69">
            <a:extLst>
              <a:ext uri="{FF2B5EF4-FFF2-40B4-BE49-F238E27FC236}">
                <a16:creationId xmlns:a16="http://schemas.microsoft.com/office/drawing/2014/main" id="{55B7859D-FDFC-39DF-A1EC-1E2781C75152}"/>
              </a:ext>
            </a:extLst>
          </p:cNvPr>
          <p:cNvSpPr txBox="1"/>
          <p:nvPr/>
        </p:nvSpPr>
        <p:spPr>
          <a:xfrm>
            <a:off x="7760560" y="5103716"/>
            <a:ext cx="308098" cy="369332"/>
          </a:xfrm>
          <a:prstGeom prst="rect">
            <a:avLst/>
          </a:prstGeom>
          <a:noFill/>
        </p:spPr>
        <p:txBody>
          <a:bodyPr wrap="none" rtlCol="0">
            <a:spAutoFit/>
          </a:bodyPr>
          <a:lstStyle/>
          <a:p>
            <a:r>
              <a:rPr lang="en-SE" dirty="0"/>
              <a:t>2</a:t>
            </a:r>
          </a:p>
        </p:txBody>
      </p:sp>
      <p:sp>
        <p:nvSpPr>
          <p:cNvPr id="72" name="TextBox 71">
            <a:extLst>
              <a:ext uri="{FF2B5EF4-FFF2-40B4-BE49-F238E27FC236}">
                <a16:creationId xmlns:a16="http://schemas.microsoft.com/office/drawing/2014/main" id="{89E189D7-80E9-D7D8-64EF-8461746D5AAC}"/>
              </a:ext>
            </a:extLst>
          </p:cNvPr>
          <p:cNvSpPr txBox="1"/>
          <p:nvPr/>
        </p:nvSpPr>
        <p:spPr>
          <a:xfrm>
            <a:off x="9270636" y="5103716"/>
            <a:ext cx="308098" cy="369332"/>
          </a:xfrm>
          <a:prstGeom prst="rect">
            <a:avLst/>
          </a:prstGeom>
          <a:noFill/>
        </p:spPr>
        <p:txBody>
          <a:bodyPr wrap="none" rtlCol="0">
            <a:spAutoFit/>
          </a:bodyPr>
          <a:lstStyle/>
          <a:p>
            <a:r>
              <a:rPr lang="en-SE" dirty="0"/>
              <a:t>1</a:t>
            </a:r>
          </a:p>
        </p:txBody>
      </p:sp>
      <p:sp>
        <p:nvSpPr>
          <p:cNvPr id="73" name="Rectangle 72">
            <a:extLst>
              <a:ext uri="{FF2B5EF4-FFF2-40B4-BE49-F238E27FC236}">
                <a16:creationId xmlns:a16="http://schemas.microsoft.com/office/drawing/2014/main" id="{F356C85A-D940-F5C1-36A3-5F6D166E9B9C}"/>
              </a:ext>
            </a:extLst>
          </p:cNvPr>
          <p:cNvSpPr/>
          <p:nvPr/>
        </p:nvSpPr>
        <p:spPr>
          <a:xfrm>
            <a:off x="2037859" y="5533067"/>
            <a:ext cx="8071662" cy="309313"/>
          </a:xfrm>
          <a:prstGeom prst="rect">
            <a:avLst/>
          </a:prstGeom>
          <a:solidFill>
            <a:schemeClr val="bg1"/>
          </a:solidFill>
          <a:ln>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75" name="Straight Connector 74">
            <a:extLst>
              <a:ext uri="{FF2B5EF4-FFF2-40B4-BE49-F238E27FC236}">
                <a16:creationId xmlns:a16="http://schemas.microsoft.com/office/drawing/2014/main" id="{56F568AA-3B10-797E-2D92-9D762A9FD183}"/>
              </a:ext>
            </a:extLst>
          </p:cNvPr>
          <p:cNvCxnSpPr>
            <a:endCxn id="64" idx="2"/>
          </p:cNvCxnSpPr>
          <p:nvPr/>
        </p:nvCxnSpPr>
        <p:spPr>
          <a:xfrm flipV="1">
            <a:off x="2722694" y="5473048"/>
            <a:ext cx="0" cy="60019"/>
          </a:xfrm>
          <a:prstGeom prst="line">
            <a:avLst/>
          </a:prstGeom>
        </p:spPr>
        <p:style>
          <a:lnRef idx="2">
            <a:schemeClr val="dk1"/>
          </a:lnRef>
          <a:fillRef idx="0">
            <a:schemeClr val="dk1"/>
          </a:fillRef>
          <a:effectRef idx="1">
            <a:schemeClr val="dk1"/>
          </a:effectRef>
          <a:fontRef idx="minor">
            <a:schemeClr val="tx1"/>
          </a:fontRef>
        </p:style>
      </p:cxnSp>
      <p:cxnSp>
        <p:nvCxnSpPr>
          <p:cNvPr id="76" name="Straight Connector 75">
            <a:extLst>
              <a:ext uri="{FF2B5EF4-FFF2-40B4-BE49-F238E27FC236}">
                <a16:creationId xmlns:a16="http://schemas.microsoft.com/office/drawing/2014/main" id="{3F4F6D3F-369C-E996-DED4-32BDE32CAC53}"/>
              </a:ext>
            </a:extLst>
          </p:cNvPr>
          <p:cNvCxnSpPr>
            <a:cxnSpLocks/>
            <a:stCxn id="66" idx="2"/>
          </p:cNvCxnSpPr>
          <p:nvPr/>
        </p:nvCxnSpPr>
        <p:spPr>
          <a:xfrm>
            <a:off x="4232770" y="5473048"/>
            <a:ext cx="0" cy="60019"/>
          </a:xfrm>
          <a:prstGeom prst="line">
            <a:avLst/>
          </a:prstGeom>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72054C97-7331-5D99-5115-DDCD30E582E6}"/>
              </a:ext>
            </a:extLst>
          </p:cNvPr>
          <p:cNvCxnSpPr>
            <a:cxnSpLocks/>
            <a:stCxn id="68" idx="2"/>
            <a:endCxn id="73" idx="0"/>
          </p:cNvCxnSpPr>
          <p:nvPr/>
        </p:nvCxnSpPr>
        <p:spPr>
          <a:xfrm>
            <a:off x="6073690" y="5473048"/>
            <a:ext cx="0" cy="60019"/>
          </a:xfrm>
          <a:prstGeom prst="line">
            <a:avLst/>
          </a:prstGeom>
        </p:spPr>
        <p:style>
          <a:lnRef idx="2">
            <a:schemeClr val="dk1"/>
          </a:lnRef>
          <a:fillRef idx="0">
            <a:schemeClr val="dk1"/>
          </a:fillRef>
          <a:effectRef idx="1">
            <a:schemeClr val="dk1"/>
          </a:effectRef>
          <a:fontRef idx="minor">
            <a:schemeClr val="tx1"/>
          </a:fontRef>
        </p:style>
      </p:cxnSp>
      <p:cxnSp>
        <p:nvCxnSpPr>
          <p:cNvPr id="82" name="Straight Connector 81">
            <a:extLst>
              <a:ext uri="{FF2B5EF4-FFF2-40B4-BE49-F238E27FC236}">
                <a16:creationId xmlns:a16="http://schemas.microsoft.com/office/drawing/2014/main" id="{1B879B92-6CF1-E4FA-AA76-82138E465114}"/>
              </a:ext>
            </a:extLst>
          </p:cNvPr>
          <p:cNvCxnSpPr>
            <a:cxnSpLocks/>
            <a:stCxn id="70" idx="2"/>
          </p:cNvCxnSpPr>
          <p:nvPr/>
        </p:nvCxnSpPr>
        <p:spPr>
          <a:xfrm>
            <a:off x="7914609" y="5473048"/>
            <a:ext cx="0" cy="60019"/>
          </a:xfrm>
          <a:prstGeom prst="line">
            <a:avLst/>
          </a:prstGeom>
        </p:spPr>
        <p:style>
          <a:lnRef idx="2">
            <a:schemeClr val="dk1"/>
          </a:lnRef>
          <a:fillRef idx="0">
            <a:schemeClr val="dk1"/>
          </a:fillRef>
          <a:effectRef idx="1">
            <a:schemeClr val="dk1"/>
          </a:effectRef>
          <a:fontRef idx="minor">
            <a:schemeClr val="tx1"/>
          </a:fontRef>
        </p:style>
      </p:cxnSp>
      <p:cxnSp>
        <p:nvCxnSpPr>
          <p:cNvPr id="86" name="Straight Connector 85">
            <a:extLst>
              <a:ext uri="{FF2B5EF4-FFF2-40B4-BE49-F238E27FC236}">
                <a16:creationId xmlns:a16="http://schemas.microsoft.com/office/drawing/2014/main" id="{875FAF13-9139-8D54-5102-639BFB3F81D9}"/>
              </a:ext>
            </a:extLst>
          </p:cNvPr>
          <p:cNvCxnSpPr>
            <a:cxnSpLocks/>
            <a:stCxn id="72" idx="2"/>
          </p:cNvCxnSpPr>
          <p:nvPr/>
        </p:nvCxnSpPr>
        <p:spPr>
          <a:xfrm>
            <a:off x="9424685" y="5473048"/>
            <a:ext cx="0" cy="60019"/>
          </a:xfrm>
          <a:prstGeom prst="line">
            <a:avLst/>
          </a:prstGeom>
        </p:spPr>
        <p:style>
          <a:lnRef idx="2">
            <a:schemeClr val="dk1"/>
          </a:lnRef>
          <a:fillRef idx="0">
            <a:schemeClr val="dk1"/>
          </a:fillRef>
          <a:effectRef idx="1">
            <a:schemeClr val="dk1"/>
          </a:effectRef>
          <a:fontRef idx="minor">
            <a:schemeClr val="tx1"/>
          </a:fontRef>
        </p:style>
      </p:cxnSp>
      <p:cxnSp>
        <p:nvCxnSpPr>
          <p:cNvPr id="92" name="Straight Arrow Connector 91">
            <a:extLst>
              <a:ext uri="{FF2B5EF4-FFF2-40B4-BE49-F238E27FC236}">
                <a16:creationId xmlns:a16="http://schemas.microsoft.com/office/drawing/2014/main" id="{B0F44D99-7788-AAE3-0011-115E59B98896}"/>
              </a:ext>
            </a:extLst>
          </p:cNvPr>
          <p:cNvCxnSpPr>
            <a:stCxn id="63" idx="2"/>
            <a:endCxn id="64" idx="0"/>
          </p:cNvCxnSpPr>
          <p:nvPr/>
        </p:nvCxnSpPr>
        <p:spPr>
          <a:xfrm flipH="1">
            <a:off x="2722694" y="3766605"/>
            <a:ext cx="1" cy="1337111"/>
          </a:xfrm>
          <a:prstGeom prst="straightConnector1">
            <a:avLst/>
          </a:prstGeom>
          <a:ln>
            <a:solidFill>
              <a:schemeClr val="tx1">
                <a:lumMod val="50000"/>
                <a:lumOff val="5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3E07ACCA-7B9F-A75D-36ED-56D98654F859}"/>
              </a:ext>
            </a:extLst>
          </p:cNvPr>
          <p:cNvCxnSpPr>
            <a:cxnSpLocks/>
            <a:stCxn id="61" idx="2"/>
            <a:endCxn id="66" idx="0"/>
          </p:cNvCxnSpPr>
          <p:nvPr/>
        </p:nvCxnSpPr>
        <p:spPr>
          <a:xfrm flipH="1">
            <a:off x="4232770" y="3766605"/>
            <a:ext cx="1" cy="1337111"/>
          </a:xfrm>
          <a:prstGeom prst="straightConnector1">
            <a:avLst/>
          </a:prstGeom>
          <a:ln>
            <a:solidFill>
              <a:schemeClr val="tx1">
                <a:lumMod val="50000"/>
                <a:lumOff val="5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AF930C87-842E-77DA-4372-A2B9AB79DCDA}"/>
              </a:ext>
            </a:extLst>
          </p:cNvPr>
          <p:cNvCxnSpPr>
            <a:cxnSpLocks/>
            <a:stCxn id="55" idx="2"/>
            <a:endCxn id="68" idx="0"/>
          </p:cNvCxnSpPr>
          <p:nvPr/>
        </p:nvCxnSpPr>
        <p:spPr>
          <a:xfrm>
            <a:off x="6073690" y="3766605"/>
            <a:ext cx="0" cy="1337111"/>
          </a:xfrm>
          <a:prstGeom prst="straightConnector1">
            <a:avLst/>
          </a:prstGeom>
          <a:ln>
            <a:solidFill>
              <a:schemeClr val="tx1">
                <a:lumMod val="50000"/>
                <a:lumOff val="5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FDAD4E9D-F303-79EE-7415-D9B565011CB1}"/>
              </a:ext>
            </a:extLst>
          </p:cNvPr>
          <p:cNvCxnSpPr>
            <a:cxnSpLocks/>
            <a:stCxn id="57" idx="2"/>
            <a:endCxn id="70" idx="0"/>
          </p:cNvCxnSpPr>
          <p:nvPr/>
        </p:nvCxnSpPr>
        <p:spPr>
          <a:xfrm flipH="1">
            <a:off x="7914609" y="3766605"/>
            <a:ext cx="1" cy="1337111"/>
          </a:xfrm>
          <a:prstGeom prst="straightConnector1">
            <a:avLst/>
          </a:prstGeom>
          <a:ln>
            <a:solidFill>
              <a:schemeClr val="tx1">
                <a:lumMod val="50000"/>
                <a:lumOff val="5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5A4DC9F8-F985-5A4C-66D4-1CC389C3ACD6}"/>
              </a:ext>
            </a:extLst>
          </p:cNvPr>
          <p:cNvCxnSpPr>
            <a:cxnSpLocks/>
            <a:stCxn id="59" idx="2"/>
            <a:endCxn id="72" idx="0"/>
          </p:cNvCxnSpPr>
          <p:nvPr/>
        </p:nvCxnSpPr>
        <p:spPr>
          <a:xfrm flipH="1">
            <a:off x="9424685" y="3766605"/>
            <a:ext cx="1" cy="1337111"/>
          </a:xfrm>
          <a:prstGeom prst="straightConnector1">
            <a:avLst/>
          </a:prstGeom>
          <a:ln>
            <a:solidFill>
              <a:schemeClr val="tx1">
                <a:lumMod val="50000"/>
                <a:lumOff val="5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105" name="TextBox 104">
            <a:extLst>
              <a:ext uri="{FF2B5EF4-FFF2-40B4-BE49-F238E27FC236}">
                <a16:creationId xmlns:a16="http://schemas.microsoft.com/office/drawing/2014/main" id="{5A4C1D72-7A3D-24DE-E4A2-897FCF067D6A}"/>
              </a:ext>
            </a:extLst>
          </p:cNvPr>
          <p:cNvSpPr txBox="1"/>
          <p:nvPr/>
        </p:nvSpPr>
        <p:spPr>
          <a:xfrm>
            <a:off x="1888682" y="4372766"/>
            <a:ext cx="3889094" cy="646331"/>
          </a:xfrm>
          <a:prstGeom prst="rect">
            <a:avLst/>
          </a:prstGeom>
          <a:noFill/>
        </p:spPr>
        <p:txBody>
          <a:bodyPr wrap="square" rtlCol="0">
            <a:spAutoFit/>
          </a:bodyPr>
          <a:lstStyle/>
          <a:p>
            <a:r>
              <a:rPr lang="en-SE" dirty="0"/>
              <a:t>Adjacent values on a continuous interval scale are </a:t>
            </a:r>
            <a:r>
              <a:rPr lang="en-SE" b="1" dirty="0"/>
              <a:t>equidistant ...</a:t>
            </a:r>
            <a:endParaRPr lang="en-SE" dirty="0"/>
          </a:p>
        </p:txBody>
      </p:sp>
      <p:sp>
        <p:nvSpPr>
          <p:cNvPr id="107" name="TextBox 106">
            <a:extLst>
              <a:ext uri="{FF2B5EF4-FFF2-40B4-BE49-F238E27FC236}">
                <a16:creationId xmlns:a16="http://schemas.microsoft.com/office/drawing/2014/main" id="{08EB2720-1205-05AE-7989-E21B7D0E8C22}"/>
              </a:ext>
            </a:extLst>
          </p:cNvPr>
          <p:cNvSpPr txBox="1"/>
          <p:nvPr/>
        </p:nvSpPr>
        <p:spPr>
          <a:xfrm>
            <a:off x="7035851" y="3902398"/>
            <a:ext cx="2977353" cy="646331"/>
          </a:xfrm>
          <a:prstGeom prst="rect">
            <a:avLst/>
          </a:prstGeom>
          <a:noFill/>
        </p:spPr>
        <p:txBody>
          <a:bodyPr wrap="square" rtlCol="0">
            <a:spAutoFit/>
          </a:bodyPr>
          <a:lstStyle/>
          <a:p>
            <a:pPr algn="r"/>
            <a:r>
              <a:rPr lang="en-SE" dirty="0"/>
              <a:t>... but on an ordinal scale </a:t>
            </a:r>
            <a:r>
              <a:rPr lang="en-SE" b="1" dirty="0">
                <a:solidFill>
                  <a:srgbClr val="C00000"/>
                </a:solidFill>
              </a:rPr>
              <a:t>they are not</a:t>
            </a:r>
            <a:r>
              <a:rPr lang="en-SE" dirty="0"/>
              <a:t>!</a:t>
            </a:r>
          </a:p>
        </p:txBody>
      </p:sp>
    </p:spTree>
    <p:extLst>
      <p:ext uri="{BB962C8B-B14F-4D97-AF65-F5344CB8AC3E}">
        <p14:creationId xmlns:p14="http://schemas.microsoft.com/office/powerpoint/2010/main" val="2114145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7" grpId="0" animBg="1"/>
      <p:bldP spid="59" grpId="0" animBg="1"/>
      <p:bldP spid="61" grpId="0" animBg="1"/>
      <p:bldP spid="63" grpId="0" animBg="1"/>
      <p:bldP spid="64" grpId="0"/>
      <p:bldP spid="66" grpId="0"/>
      <p:bldP spid="68" grpId="0"/>
      <p:bldP spid="70" grpId="0"/>
      <p:bldP spid="72" grpId="0"/>
      <p:bldP spid="73" grpId="0" animBg="1"/>
      <p:bldP spid="105" grpId="0"/>
      <p:bldP spid="10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829FF-4515-AB3D-5B2B-678A6662BF1F}"/>
              </a:ext>
            </a:extLst>
          </p:cNvPr>
          <p:cNvSpPr>
            <a:spLocks noGrp="1"/>
          </p:cNvSpPr>
          <p:nvPr>
            <p:ph type="title"/>
          </p:nvPr>
        </p:nvSpPr>
        <p:spPr/>
        <p:txBody>
          <a:bodyPr/>
          <a:lstStyle/>
          <a:p>
            <a:r>
              <a:rPr lang="en-SE" dirty="0"/>
              <a:t>Picking the wrong Distribution</a:t>
            </a:r>
          </a:p>
        </p:txBody>
      </p:sp>
      <p:sp>
        <p:nvSpPr>
          <p:cNvPr id="3" name="Content Placeholder 2">
            <a:extLst>
              <a:ext uri="{FF2B5EF4-FFF2-40B4-BE49-F238E27FC236}">
                <a16:creationId xmlns:a16="http://schemas.microsoft.com/office/drawing/2014/main" id="{1086F7E4-47D8-D5C5-76D3-F941E8D77EFA}"/>
              </a:ext>
            </a:extLst>
          </p:cNvPr>
          <p:cNvSpPr>
            <a:spLocks noGrp="1"/>
          </p:cNvSpPr>
          <p:nvPr>
            <p:ph idx="1"/>
          </p:nvPr>
        </p:nvSpPr>
        <p:spPr>
          <a:xfrm>
            <a:off x="838200" y="1825625"/>
            <a:ext cx="10515600" cy="954000"/>
          </a:xfrm>
        </p:spPr>
        <p:txBody>
          <a:bodyPr/>
          <a:lstStyle/>
          <a:p>
            <a:pPr marL="0" indent="0">
              <a:buNone/>
            </a:pPr>
            <a:r>
              <a:rPr lang="en-SE" dirty="0"/>
              <a:t>When we model our outcome variable with the wrong distribution family, we risk </a:t>
            </a:r>
            <a:r>
              <a:rPr lang="en-SE" b="1" dirty="0"/>
              <a:t>omitting important properties</a:t>
            </a:r>
            <a:r>
              <a:rPr lang="en-SE" dirty="0"/>
              <a:t> of the data.</a:t>
            </a:r>
          </a:p>
        </p:txBody>
      </p:sp>
      <p:sp>
        <p:nvSpPr>
          <p:cNvPr id="4" name="Date Placeholder 3">
            <a:extLst>
              <a:ext uri="{FF2B5EF4-FFF2-40B4-BE49-F238E27FC236}">
                <a16:creationId xmlns:a16="http://schemas.microsoft.com/office/drawing/2014/main" id="{C5CE51C7-06F0-65AF-7736-ABB375089D33}"/>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E4F8464D-1920-CCB6-C5E5-BBF96D686381}"/>
              </a:ext>
            </a:extLst>
          </p:cNvPr>
          <p:cNvSpPr>
            <a:spLocks noGrp="1"/>
          </p:cNvSpPr>
          <p:nvPr>
            <p:ph type="sldNum" sz="quarter" idx="12"/>
          </p:nvPr>
        </p:nvSpPr>
        <p:spPr/>
        <p:txBody>
          <a:bodyPr/>
          <a:lstStyle/>
          <a:p>
            <a:fld id="{271ECC92-9CDE-4EB3-B1C5-F46B9E1FA3C1}" type="slidenum">
              <a:rPr lang="en-SE" smtClean="0"/>
              <a:t>74</a:t>
            </a:fld>
            <a:endParaRPr lang="en-SE"/>
          </a:p>
        </p:txBody>
      </p:sp>
      <p:sp>
        <p:nvSpPr>
          <p:cNvPr id="6" name="Footer Placeholder 5">
            <a:extLst>
              <a:ext uri="{FF2B5EF4-FFF2-40B4-BE49-F238E27FC236}">
                <a16:creationId xmlns:a16="http://schemas.microsoft.com/office/drawing/2014/main" id="{A1490F39-CA7C-5323-AFC9-96A0C5CC70E2}"/>
              </a:ext>
            </a:extLst>
          </p:cNvPr>
          <p:cNvSpPr>
            <a:spLocks noGrp="1"/>
          </p:cNvSpPr>
          <p:nvPr>
            <p:ph type="ftr" sz="quarter" idx="11"/>
          </p:nvPr>
        </p:nvSpPr>
        <p:spPr/>
        <p:txBody>
          <a:bodyPr/>
          <a:lstStyle/>
          <a:p>
            <a:r>
              <a:rPr lang="de-DE"/>
              <a:t>Bayesian Data Analysis Tutorial</a:t>
            </a:r>
            <a:endParaRPr lang="en-SE"/>
          </a:p>
        </p:txBody>
      </p:sp>
      <p:grpSp>
        <p:nvGrpSpPr>
          <p:cNvPr id="30" name="Group 29">
            <a:extLst>
              <a:ext uri="{FF2B5EF4-FFF2-40B4-BE49-F238E27FC236}">
                <a16:creationId xmlns:a16="http://schemas.microsoft.com/office/drawing/2014/main" id="{2A453559-4C02-8AA9-8164-ED90C75F9DFB}"/>
              </a:ext>
            </a:extLst>
          </p:cNvPr>
          <p:cNvGrpSpPr/>
          <p:nvPr/>
        </p:nvGrpSpPr>
        <p:grpSpPr>
          <a:xfrm>
            <a:off x="228598" y="1825625"/>
            <a:ext cx="504000" cy="504000"/>
            <a:chOff x="977950" y="2729564"/>
            <a:chExt cx="504000" cy="504000"/>
          </a:xfrm>
        </p:grpSpPr>
        <p:sp>
          <p:nvSpPr>
            <p:cNvPr id="31" name="Oval 30">
              <a:extLst>
                <a:ext uri="{FF2B5EF4-FFF2-40B4-BE49-F238E27FC236}">
                  <a16:creationId xmlns:a16="http://schemas.microsoft.com/office/drawing/2014/main" id="{7E0A7D1D-190F-67F6-B398-551C0F5112AD}"/>
                </a:ext>
              </a:extLst>
            </p:cNvPr>
            <p:cNvSpPr/>
            <p:nvPr/>
          </p:nvSpPr>
          <p:spPr>
            <a:xfrm>
              <a:off x="977950" y="2729564"/>
              <a:ext cx="504000" cy="504000"/>
            </a:xfrm>
            <a:prstGeom prst="ellipse">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2" name="Graphic 31" descr="Bar chart with solid fill">
              <a:extLst>
                <a:ext uri="{FF2B5EF4-FFF2-40B4-BE49-F238E27FC236}">
                  <a16:creationId xmlns:a16="http://schemas.microsoft.com/office/drawing/2014/main" id="{1286F637-9D8D-0CD6-2BB4-D29F24340135}"/>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31950" y="2783564"/>
              <a:ext cx="396000" cy="396000"/>
            </a:xfrm>
            <a:prstGeom prst="rect">
              <a:avLst/>
            </a:prstGeom>
          </p:spPr>
        </p:pic>
      </p:grpSp>
      <p:grpSp>
        <p:nvGrpSpPr>
          <p:cNvPr id="33" name="Group 32">
            <a:extLst>
              <a:ext uri="{FF2B5EF4-FFF2-40B4-BE49-F238E27FC236}">
                <a16:creationId xmlns:a16="http://schemas.microsoft.com/office/drawing/2014/main" id="{A12888D3-3E07-CD22-452B-DAB49725041F}"/>
              </a:ext>
            </a:extLst>
          </p:cNvPr>
          <p:cNvGrpSpPr/>
          <p:nvPr/>
        </p:nvGrpSpPr>
        <p:grpSpPr>
          <a:xfrm>
            <a:off x="228598" y="2439322"/>
            <a:ext cx="504000" cy="504000"/>
            <a:chOff x="977950" y="2729564"/>
            <a:chExt cx="504000" cy="504000"/>
          </a:xfrm>
        </p:grpSpPr>
        <p:sp>
          <p:nvSpPr>
            <p:cNvPr id="34" name="Oval 33">
              <a:extLst>
                <a:ext uri="{FF2B5EF4-FFF2-40B4-BE49-F238E27FC236}">
                  <a16:creationId xmlns:a16="http://schemas.microsoft.com/office/drawing/2014/main" id="{618D753F-2916-8CC8-9638-79D202574984}"/>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5" name="Graphic 34" descr="Golden Ratio with solid fill">
              <a:extLst>
                <a:ext uri="{FF2B5EF4-FFF2-40B4-BE49-F238E27FC236}">
                  <a16:creationId xmlns:a16="http://schemas.microsoft.com/office/drawing/2014/main" id="{DFE33EBF-ED89-B1EB-F16D-D20F8E1693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36" name="Group 35">
            <a:extLst>
              <a:ext uri="{FF2B5EF4-FFF2-40B4-BE49-F238E27FC236}">
                <a16:creationId xmlns:a16="http://schemas.microsoft.com/office/drawing/2014/main" id="{398A7DFB-A863-9D51-2735-0EED78317314}"/>
              </a:ext>
            </a:extLst>
          </p:cNvPr>
          <p:cNvGrpSpPr/>
          <p:nvPr/>
        </p:nvGrpSpPr>
        <p:grpSpPr>
          <a:xfrm>
            <a:off x="228598" y="3053019"/>
            <a:ext cx="504000" cy="504000"/>
            <a:chOff x="977950" y="2729564"/>
            <a:chExt cx="504000" cy="504000"/>
          </a:xfrm>
        </p:grpSpPr>
        <p:sp>
          <p:nvSpPr>
            <p:cNvPr id="37" name="Oval 36">
              <a:extLst>
                <a:ext uri="{FF2B5EF4-FFF2-40B4-BE49-F238E27FC236}">
                  <a16:creationId xmlns:a16="http://schemas.microsoft.com/office/drawing/2014/main" id="{75AE4D4D-ACBD-30B3-1E41-6520FF299118}"/>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8" name="Graphic 37" descr="Normal Distribution with solid fill">
              <a:extLst>
                <a:ext uri="{FF2B5EF4-FFF2-40B4-BE49-F238E27FC236}">
                  <a16:creationId xmlns:a16="http://schemas.microsoft.com/office/drawing/2014/main" id="{F9DE88BB-4336-D848-9D69-E39B3D19536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39" name="Group 38">
            <a:extLst>
              <a:ext uri="{FF2B5EF4-FFF2-40B4-BE49-F238E27FC236}">
                <a16:creationId xmlns:a16="http://schemas.microsoft.com/office/drawing/2014/main" id="{49BA406D-3288-902D-AB72-CE23F1DEA393}"/>
              </a:ext>
            </a:extLst>
          </p:cNvPr>
          <p:cNvGrpSpPr/>
          <p:nvPr/>
        </p:nvGrpSpPr>
        <p:grpSpPr>
          <a:xfrm>
            <a:off x="228598" y="3666716"/>
            <a:ext cx="504000" cy="504000"/>
            <a:chOff x="977950" y="2729564"/>
            <a:chExt cx="504000" cy="504000"/>
          </a:xfrm>
        </p:grpSpPr>
        <p:sp>
          <p:nvSpPr>
            <p:cNvPr id="40" name="Oval 39">
              <a:extLst>
                <a:ext uri="{FF2B5EF4-FFF2-40B4-BE49-F238E27FC236}">
                  <a16:creationId xmlns:a16="http://schemas.microsoft.com/office/drawing/2014/main" id="{F0D1AAE6-144B-FA97-D80A-5E6126D2FAF6}"/>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1" name="Graphic 40" descr="Abacus with solid fill">
              <a:extLst>
                <a:ext uri="{FF2B5EF4-FFF2-40B4-BE49-F238E27FC236}">
                  <a16:creationId xmlns:a16="http://schemas.microsoft.com/office/drawing/2014/main" id="{23A4C5CE-B1DC-046C-7E10-48217B88047B}"/>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42" name="Group 41">
            <a:extLst>
              <a:ext uri="{FF2B5EF4-FFF2-40B4-BE49-F238E27FC236}">
                <a16:creationId xmlns:a16="http://schemas.microsoft.com/office/drawing/2014/main" id="{FA1427A5-132A-A2BB-B53D-8E8F0EF3BA38}"/>
              </a:ext>
            </a:extLst>
          </p:cNvPr>
          <p:cNvGrpSpPr/>
          <p:nvPr/>
        </p:nvGrpSpPr>
        <p:grpSpPr>
          <a:xfrm>
            <a:off x="228598" y="4280413"/>
            <a:ext cx="504000" cy="504000"/>
            <a:chOff x="977950" y="2729564"/>
            <a:chExt cx="504000" cy="504000"/>
          </a:xfrm>
        </p:grpSpPr>
        <p:sp>
          <p:nvSpPr>
            <p:cNvPr id="43" name="Oval 42">
              <a:extLst>
                <a:ext uri="{FF2B5EF4-FFF2-40B4-BE49-F238E27FC236}">
                  <a16:creationId xmlns:a16="http://schemas.microsoft.com/office/drawing/2014/main" id="{04FF3E2F-14FA-DB7A-F5F1-18FBC21268EB}"/>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4" name="Graphic 43" descr="Trigonometry with solid fill">
              <a:extLst>
                <a:ext uri="{FF2B5EF4-FFF2-40B4-BE49-F238E27FC236}">
                  <a16:creationId xmlns:a16="http://schemas.microsoft.com/office/drawing/2014/main" id="{3BF09B46-8665-8EAE-0785-B0C6E3239F8D}"/>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45" name="Group 44">
            <a:extLst>
              <a:ext uri="{FF2B5EF4-FFF2-40B4-BE49-F238E27FC236}">
                <a16:creationId xmlns:a16="http://schemas.microsoft.com/office/drawing/2014/main" id="{7954E169-4547-5511-FF34-AE89112844E7}"/>
              </a:ext>
            </a:extLst>
          </p:cNvPr>
          <p:cNvGrpSpPr/>
          <p:nvPr/>
        </p:nvGrpSpPr>
        <p:grpSpPr>
          <a:xfrm>
            <a:off x="228598" y="4894111"/>
            <a:ext cx="504000" cy="504000"/>
            <a:chOff x="977950" y="2729564"/>
            <a:chExt cx="504000" cy="504000"/>
          </a:xfrm>
        </p:grpSpPr>
        <p:sp>
          <p:nvSpPr>
            <p:cNvPr id="46" name="Oval 45">
              <a:extLst>
                <a:ext uri="{FF2B5EF4-FFF2-40B4-BE49-F238E27FC236}">
                  <a16:creationId xmlns:a16="http://schemas.microsoft.com/office/drawing/2014/main" id="{A97D821F-DBBE-F454-A69C-9529765ACAA6}"/>
                </a:ext>
              </a:extLst>
            </p:cNvPr>
            <p:cNvSpPr/>
            <p:nvPr/>
          </p:nvSpPr>
          <p:spPr>
            <a:xfrm>
              <a:off x="977950" y="2729564"/>
              <a:ext cx="504000" cy="504000"/>
            </a:xfrm>
            <a:prstGeom prst="ellipse">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7" name="Graphic 46" descr="Scatterplot with solid fill">
              <a:extLst>
                <a:ext uri="{FF2B5EF4-FFF2-40B4-BE49-F238E27FC236}">
                  <a16:creationId xmlns:a16="http://schemas.microsoft.com/office/drawing/2014/main" id="{D51E9908-4F59-7492-0BF5-3039E1702AF7}"/>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48" name="Straight Arrow Connector 47">
            <a:extLst>
              <a:ext uri="{FF2B5EF4-FFF2-40B4-BE49-F238E27FC236}">
                <a16:creationId xmlns:a16="http://schemas.microsoft.com/office/drawing/2014/main" id="{24569A86-2829-F63F-9DA7-505F4B8ED1C4}"/>
              </a:ext>
            </a:extLst>
          </p:cNvPr>
          <p:cNvCxnSpPr>
            <a:stCxn id="31" idx="4"/>
            <a:endCxn id="34"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74172712-3D9B-1ED0-9081-5F7D1F80A001}"/>
              </a:ext>
            </a:extLst>
          </p:cNvPr>
          <p:cNvCxnSpPr>
            <a:cxnSpLocks/>
            <a:stCxn id="34" idx="4"/>
            <a:endCxn id="37"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D7A3312F-3A7F-050D-1BD9-76478C2FE824}"/>
              </a:ext>
            </a:extLst>
          </p:cNvPr>
          <p:cNvCxnSpPr>
            <a:cxnSpLocks/>
            <a:stCxn id="37" idx="4"/>
            <a:endCxn id="40"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2A4CD665-02D9-0FEB-C20B-B9D230F36E96}"/>
              </a:ext>
            </a:extLst>
          </p:cNvPr>
          <p:cNvCxnSpPr>
            <a:cxnSpLocks/>
            <a:stCxn id="40" idx="4"/>
            <a:endCxn id="43"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69D06CD0-84C3-6636-2BD2-1FA6F313FC0E}"/>
              </a:ext>
            </a:extLst>
          </p:cNvPr>
          <p:cNvCxnSpPr>
            <a:cxnSpLocks/>
            <a:stCxn id="43" idx="4"/>
            <a:endCxn id="46"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54" name="Picture 53">
            <a:extLst>
              <a:ext uri="{FF2B5EF4-FFF2-40B4-BE49-F238E27FC236}">
                <a16:creationId xmlns:a16="http://schemas.microsoft.com/office/drawing/2014/main" id="{6778CEAC-8F12-DFD7-63A0-610AD3C50130}"/>
              </a:ext>
            </a:extLst>
          </p:cNvPr>
          <p:cNvPicPr>
            <a:picLocks noChangeAspect="1"/>
          </p:cNvPicPr>
          <p:nvPr/>
        </p:nvPicPr>
        <p:blipFill>
          <a:blip r:embed="rId8"/>
          <a:stretch>
            <a:fillRect/>
          </a:stretch>
        </p:blipFill>
        <p:spPr>
          <a:xfrm>
            <a:off x="984598" y="2998170"/>
            <a:ext cx="5258256" cy="3185436"/>
          </a:xfrm>
          <a:prstGeom prst="rect">
            <a:avLst/>
          </a:prstGeom>
        </p:spPr>
      </p:pic>
      <p:pic>
        <p:nvPicPr>
          <p:cNvPr id="56" name="Picture 55">
            <a:extLst>
              <a:ext uri="{FF2B5EF4-FFF2-40B4-BE49-F238E27FC236}">
                <a16:creationId xmlns:a16="http://schemas.microsoft.com/office/drawing/2014/main" id="{18A1C088-D764-E373-AEE5-7FB2E04EB06C}"/>
              </a:ext>
            </a:extLst>
          </p:cNvPr>
          <p:cNvPicPr>
            <a:picLocks noChangeAspect="1"/>
          </p:cNvPicPr>
          <p:nvPr/>
        </p:nvPicPr>
        <p:blipFill>
          <a:blip r:embed="rId9"/>
          <a:stretch>
            <a:fillRect/>
          </a:stretch>
        </p:blipFill>
        <p:spPr>
          <a:xfrm>
            <a:off x="6468388" y="2975472"/>
            <a:ext cx="5243014" cy="3223539"/>
          </a:xfrm>
          <a:prstGeom prst="rect">
            <a:avLst/>
          </a:prstGeom>
        </p:spPr>
      </p:pic>
    </p:spTree>
    <p:extLst>
      <p:ext uri="{BB962C8B-B14F-4D97-AF65-F5344CB8AC3E}">
        <p14:creationId xmlns:p14="http://schemas.microsoft.com/office/powerpoint/2010/main" val="1365886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A63F0-1BDA-8965-03CA-3903AE413DD7}"/>
              </a:ext>
            </a:extLst>
          </p:cNvPr>
          <p:cNvSpPr>
            <a:spLocks noGrp="1"/>
          </p:cNvSpPr>
          <p:nvPr>
            <p:ph type="title"/>
          </p:nvPr>
        </p:nvSpPr>
        <p:spPr/>
        <p:txBody>
          <a:bodyPr/>
          <a:lstStyle/>
          <a:p>
            <a:r>
              <a:rPr lang="en-SE" dirty="0"/>
              <a:t>Maximum Entropy</a:t>
            </a:r>
          </a:p>
        </p:txBody>
      </p:sp>
      <p:sp>
        <p:nvSpPr>
          <p:cNvPr id="3" name="Content Placeholder 2">
            <a:extLst>
              <a:ext uri="{FF2B5EF4-FFF2-40B4-BE49-F238E27FC236}">
                <a16:creationId xmlns:a16="http://schemas.microsoft.com/office/drawing/2014/main" id="{1E4B8248-F5A7-08B8-62FD-C8F63FA4119D}"/>
              </a:ext>
            </a:extLst>
          </p:cNvPr>
          <p:cNvSpPr>
            <a:spLocks noGrp="1"/>
          </p:cNvSpPr>
          <p:nvPr>
            <p:ph idx="1"/>
          </p:nvPr>
        </p:nvSpPr>
        <p:spPr>
          <a:xfrm>
            <a:off x="838200" y="1825625"/>
            <a:ext cx="10515600" cy="1063697"/>
          </a:xfrm>
        </p:spPr>
        <p:txBody>
          <a:bodyPr/>
          <a:lstStyle/>
          <a:p>
            <a:pPr marL="0" indent="0">
              <a:buNone/>
            </a:pPr>
            <a:r>
              <a:rPr lang="en-SE" dirty="0"/>
              <a:t>In order to decide, which distribution family to pick when modelling an outcome variable, we can use the </a:t>
            </a:r>
            <a:r>
              <a:rPr lang="en-SE" b="1" dirty="0"/>
              <a:t>maximum entropy criterion:</a:t>
            </a:r>
            <a:r>
              <a:rPr lang="en-SE" dirty="0"/>
              <a:t> </a:t>
            </a:r>
          </a:p>
        </p:txBody>
      </p:sp>
      <p:sp>
        <p:nvSpPr>
          <p:cNvPr id="4" name="Date Placeholder 3">
            <a:extLst>
              <a:ext uri="{FF2B5EF4-FFF2-40B4-BE49-F238E27FC236}">
                <a16:creationId xmlns:a16="http://schemas.microsoft.com/office/drawing/2014/main" id="{ED04D470-6A5A-A1C7-E4DF-25A0DB697FE2}"/>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CA98A594-41DC-19A2-E2C5-0DB5CD1BF509}"/>
              </a:ext>
            </a:extLst>
          </p:cNvPr>
          <p:cNvSpPr>
            <a:spLocks noGrp="1"/>
          </p:cNvSpPr>
          <p:nvPr>
            <p:ph type="sldNum" sz="quarter" idx="12"/>
          </p:nvPr>
        </p:nvSpPr>
        <p:spPr/>
        <p:txBody>
          <a:bodyPr/>
          <a:lstStyle/>
          <a:p>
            <a:fld id="{271ECC92-9CDE-4EB3-B1C5-F46B9E1FA3C1}" type="slidenum">
              <a:rPr lang="en-SE" smtClean="0"/>
              <a:t>75</a:t>
            </a:fld>
            <a:endParaRPr lang="en-SE"/>
          </a:p>
        </p:txBody>
      </p:sp>
      <p:sp>
        <p:nvSpPr>
          <p:cNvPr id="6" name="Footer Placeholder 5">
            <a:extLst>
              <a:ext uri="{FF2B5EF4-FFF2-40B4-BE49-F238E27FC236}">
                <a16:creationId xmlns:a16="http://schemas.microsoft.com/office/drawing/2014/main" id="{A2547FBD-25AF-A3E4-BDD5-4315EB1B9024}"/>
              </a:ext>
            </a:extLst>
          </p:cNvPr>
          <p:cNvSpPr>
            <a:spLocks noGrp="1"/>
          </p:cNvSpPr>
          <p:nvPr>
            <p:ph type="ftr" sz="quarter" idx="11"/>
          </p:nvPr>
        </p:nvSpPr>
        <p:spPr/>
        <p:txBody>
          <a:bodyPr/>
          <a:lstStyle/>
          <a:p>
            <a:r>
              <a:rPr lang="de-DE"/>
              <a:t>Bayesian Data Analysis Tutorial</a:t>
            </a:r>
            <a:endParaRPr lang="en-SE"/>
          </a:p>
        </p:txBody>
      </p:sp>
      <p:grpSp>
        <p:nvGrpSpPr>
          <p:cNvPr id="30" name="Group 29">
            <a:extLst>
              <a:ext uri="{FF2B5EF4-FFF2-40B4-BE49-F238E27FC236}">
                <a16:creationId xmlns:a16="http://schemas.microsoft.com/office/drawing/2014/main" id="{ADD780DE-052C-A822-74FF-9A11896BEB3D}"/>
              </a:ext>
            </a:extLst>
          </p:cNvPr>
          <p:cNvGrpSpPr/>
          <p:nvPr/>
        </p:nvGrpSpPr>
        <p:grpSpPr>
          <a:xfrm>
            <a:off x="228598" y="1825625"/>
            <a:ext cx="504000" cy="504000"/>
            <a:chOff x="977950" y="2729564"/>
            <a:chExt cx="504000" cy="504000"/>
          </a:xfrm>
        </p:grpSpPr>
        <p:sp>
          <p:nvSpPr>
            <p:cNvPr id="31" name="Oval 30">
              <a:extLst>
                <a:ext uri="{FF2B5EF4-FFF2-40B4-BE49-F238E27FC236}">
                  <a16:creationId xmlns:a16="http://schemas.microsoft.com/office/drawing/2014/main" id="{27892544-E6FC-651D-242D-6DA08ED25669}"/>
                </a:ext>
              </a:extLst>
            </p:cNvPr>
            <p:cNvSpPr/>
            <p:nvPr/>
          </p:nvSpPr>
          <p:spPr>
            <a:xfrm>
              <a:off x="977950" y="2729564"/>
              <a:ext cx="504000" cy="504000"/>
            </a:xfrm>
            <a:prstGeom prst="ellipse">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2" name="Graphic 31" descr="Bar chart with solid fill">
              <a:extLst>
                <a:ext uri="{FF2B5EF4-FFF2-40B4-BE49-F238E27FC236}">
                  <a16:creationId xmlns:a16="http://schemas.microsoft.com/office/drawing/2014/main" id="{18C098F8-729E-BA4D-F4A0-150FBCB9393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31950" y="2783564"/>
              <a:ext cx="396000" cy="396000"/>
            </a:xfrm>
            <a:prstGeom prst="rect">
              <a:avLst/>
            </a:prstGeom>
          </p:spPr>
        </p:pic>
      </p:grpSp>
      <p:grpSp>
        <p:nvGrpSpPr>
          <p:cNvPr id="33" name="Group 32">
            <a:extLst>
              <a:ext uri="{FF2B5EF4-FFF2-40B4-BE49-F238E27FC236}">
                <a16:creationId xmlns:a16="http://schemas.microsoft.com/office/drawing/2014/main" id="{2EE0B03A-0635-9C9A-49F6-A72B6D3E8F7D}"/>
              </a:ext>
            </a:extLst>
          </p:cNvPr>
          <p:cNvGrpSpPr/>
          <p:nvPr/>
        </p:nvGrpSpPr>
        <p:grpSpPr>
          <a:xfrm>
            <a:off x="228598" y="2439322"/>
            <a:ext cx="504000" cy="504000"/>
            <a:chOff x="977950" y="2729564"/>
            <a:chExt cx="504000" cy="504000"/>
          </a:xfrm>
        </p:grpSpPr>
        <p:sp>
          <p:nvSpPr>
            <p:cNvPr id="34" name="Oval 33">
              <a:extLst>
                <a:ext uri="{FF2B5EF4-FFF2-40B4-BE49-F238E27FC236}">
                  <a16:creationId xmlns:a16="http://schemas.microsoft.com/office/drawing/2014/main" id="{A299DFA0-5206-BB6E-E160-DB0297A0F70D}"/>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5" name="Graphic 34" descr="Golden Ratio with solid fill">
              <a:extLst>
                <a:ext uri="{FF2B5EF4-FFF2-40B4-BE49-F238E27FC236}">
                  <a16:creationId xmlns:a16="http://schemas.microsoft.com/office/drawing/2014/main" id="{73BD2BF0-08F2-F8EE-C0CF-7EB92E10C6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36" name="Group 35">
            <a:extLst>
              <a:ext uri="{FF2B5EF4-FFF2-40B4-BE49-F238E27FC236}">
                <a16:creationId xmlns:a16="http://schemas.microsoft.com/office/drawing/2014/main" id="{B9DA4AEA-01F4-B2C1-C462-E5415AC5C51E}"/>
              </a:ext>
            </a:extLst>
          </p:cNvPr>
          <p:cNvGrpSpPr/>
          <p:nvPr/>
        </p:nvGrpSpPr>
        <p:grpSpPr>
          <a:xfrm>
            <a:off x="228598" y="3053019"/>
            <a:ext cx="504000" cy="504000"/>
            <a:chOff x="977950" y="2729564"/>
            <a:chExt cx="504000" cy="504000"/>
          </a:xfrm>
        </p:grpSpPr>
        <p:sp>
          <p:nvSpPr>
            <p:cNvPr id="37" name="Oval 36">
              <a:extLst>
                <a:ext uri="{FF2B5EF4-FFF2-40B4-BE49-F238E27FC236}">
                  <a16:creationId xmlns:a16="http://schemas.microsoft.com/office/drawing/2014/main" id="{38F69A02-B9F3-93C8-927A-C26C0648C7A3}"/>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8" name="Graphic 37" descr="Normal Distribution with solid fill">
              <a:extLst>
                <a:ext uri="{FF2B5EF4-FFF2-40B4-BE49-F238E27FC236}">
                  <a16:creationId xmlns:a16="http://schemas.microsoft.com/office/drawing/2014/main" id="{A43BA335-8B25-BC84-2BB2-FF94FDC1B6F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39" name="Group 38">
            <a:extLst>
              <a:ext uri="{FF2B5EF4-FFF2-40B4-BE49-F238E27FC236}">
                <a16:creationId xmlns:a16="http://schemas.microsoft.com/office/drawing/2014/main" id="{CF0D3A6D-0E3E-F183-05A9-0EEA0919EF97}"/>
              </a:ext>
            </a:extLst>
          </p:cNvPr>
          <p:cNvGrpSpPr/>
          <p:nvPr/>
        </p:nvGrpSpPr>
        <p:grpSpPr>
          <a:xfrm>
            <a:off x="228598" y="3666716"/>
            <a:ext cx="504000" cy="504000"/>
            <a:chOff x="977950" y="2729564"/>
            <a:chExt cx="504000" cy="504000"/>
          </a:xfrm>
        </p:grpSpPr>
        <p:sp>
          <p:nvSpPr>
            <p:cNvPr id="40" name="Oval 39">
              <a:extLst>
                <a:ext uri="{FF2B5EF4-FFF2-40B4-BE49-F238E27FC236}">
                  <a16:creationId xmlns:a16="http://schemas.microsoft.com/office/drawing/2014/main" id="{58A69412-492B-5E38-7F7B-26585ECC5F61}"/>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1" name="Graphic 40" descr="Abacus with solid fill">
              <a:extLst>
                <a:ext uri="{FF2B5EF4-FFF2-40B4-BE49-F238E27FC236}">
                  <a16:creationId xmlns:a16="http://schemas.microsoft.com/office/drawing/2014/main" id="{61FDEEED-0CF5-3582-2757-BF10474DF29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42" name="Group 41">
            <a:extLst>
              <a:ext uri="{FF2B5EF4-FFF2-40B4-BE49-F238E27FC236}">
                <a16:creationId xmlns:a16="http://schemas.microsoft.com/office/drawing/2014/main" id="{9E49E3D8-0A35-F662-9667-6A568621F366}"/>
              </a:ext>
            </a:extLst>
          </p:cNvPr>
          <p:cNvGrpSpPr/>
          <p:nvPr/>
        </p:nvGrpSpPr>
        <p:grpSpPr>
          <a:xfrm>
            <a:off x="228598" y="4280413"/>
            <a:ext cx="504000" cy="504000"/>
            <a:chOff x="977950" y="2729564"/>
            <a:chExt cx="504000" cy="504000"/>
          </a:xfrm>
        </p:grpSpPr>
        <p:sp>
          <p:nvSpPr>
            <p:cNvPr id="43" name="Oval 42">
              <a:extLst>
                <a:ext uri="{FF2B5EF4-FFF2-40B4-BE49-F238E27FC236}">
                  <a16:creationId xmlns:a16="http://schemas.microsoft.com/office/drawing/2014/main" id="{49596841-34DF-6AA7-9EEB-5D465F0AA9CB}"/>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4" name="Graphic 43" descr="Trigonometry with solid fill">
              <a:extLst>
                <a:ext uri="{FF2B5EF4-FFF2-40B4-BE49-F238E27FC236}">
                  <a16:creationId xmlns:a16="http://schemas.microsoft.com/office/drawing/2014/main" id="{E5C1F58A-4F89-11C7-6EDF-6CE81E76147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45" name="Group 44">
            <a:extLst>
              <a:ext uri="{FF2B5EF4-FFF2-40B4-BE49-F238E27FC236}">
                <a16:creationId xmlns:a16="http://schemas.microsoft.com/office/drawing/2014/main" id="{8F11E019-A83B-5F7A-E9B4-DC998A63858C}"/>
              </a:ext>
            </a:extLst>
          </p:cNvPr>
          <p:cNvGrpSpPr/>
          <p:nvPr/>
        </p:nvGrpSpPr>
        <p:grpSpPr>
          <a:xfrm>
            <a:off x="228598" y="4894111"/>
            <a:ext cx="504000" cy="504000"/>
            <a:chOff x="977950" y="2729564"/>
            <a:chExt cx="504000" cy="504000"/>
          </a:xfrm>
        </p:grpSpPr>
        <p:sp>
          <p:nvSpPr>
            <p:cNvPr id="46" name="Oval 45">
              <a:extLst>
                <a:ext uri="{FF2B5EF4-FFF2-40B4-BE49-F238E27FC236}">
                  <a16:creationId xmlns:a16="http://schemas.microsoft.com/office/drawing/2014/main" id="{7B02456F-6200-8525-BE92-D465E36B588F}"/>
                </a:ext>
              </a:extLst>
            </p:cNvPr>
            <p:cNvSpPr/>
            <p:nvPr/>
          </p:nvSpPr>
          <p:spPr>
            <a:xfrm>
              <a:off x="977950" y="2729564"/>
              <a:ext cx="504000" cy="504000"/>
            </a:xfrm>
            <a:prstGeom prst="ellipse">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7" name="Graphic 46" descr="Scatterplot with solid fill">
              <a:extLst>
                <a:ext uri="{FF2B5EF4-FFF2-40B4-BE49-F238E27FC236}">
                  <a16:creationId xmlns:a16="http://schemas.microsoft.com/office/drawing/2014/main" id="{3AEF6BF3-A126-ECF1-2152-43E9699239B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48" name="Straight Arrow Connector 47">
            <a:extLst>
              <a:ext uri="{FF2B5EF4-FFF2-40B4-BE49-F238E27FC236}">
                <a16:creationId xmlns:a16="http://schemas.microsoft.com/office/drawing/2014/main" id="{3D06F376-7186-122E-C20B-8B6342BE8166}"/>
              </a:ext>
            </a:extLst>
          </p:cNvPr>
          <p:cNvCxnSpPr>
            <a:stCxn id="31" idx="4"/>
            <a:endCxn id="34"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14A6FAF2-3B9D-80A9-02BF-89C0A605F9CA}"/>
              </a:ext>
            </a:extLst>
          </p:cNvPr>
          <p:cNvCxnSpPr>
            <a:cxnSpLocks/>
            <a:stCxn id="34" idx="4"/>
            <a:endCxn id="37"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64F49F74-BC5F-80EF-96A6-4102F92C7AEA}"/>
              </a:ext>
            </a:extLst>
          </p:cNvPr>
          <p:cNvCxnSpPr>
            <a:cxnSpLocks/>
            <a:stCxn id="37" idx="4"/>
            <a:endCxn id="40"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63EB8C8C-5948-B4A2-86E9-54A2217AA116}"/>
              </a:ext>
            </a:extLst>
          </p:cNvPr>
          <p:cNvCxnSpPr>
            <a:cxnSpLocks/>
            <a:stCxn id="40" idx="4"/>
            <a:endCxn id="43"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AA0028F9-C17E-BD53-4E7B-6DB328AD56DB}"/>
              </a:ext>
            </a:extLst>
          </p:cNvPr>
          <p:cNvCxnSpPr>
            <a:cxnSpLocks/>
            <a:stCxn id="43" idx="4"/>
            <a:endCxn id="46"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53" name="Group 52">
            <a:extLst>
              <a:ext uri="{FF2B5EF4-FFF2-40B4-BE49-F238E27FC236}">
                <a16:creationId xmlns:a16="http://schemas.microsoft.com/office/drawing/2014/main" id="{E917543F-3B52-5CE3-4161-EC1D2ADE5465}"/>
              </a:ext>
            </a:extLst>
          </p:cNvPr>
          <p:cNvGrpSpPr/>
          <p:nvPr/>
        </p:nvGrpSpPr>
        <p:grpSpPr>
          <a:xfrm>
            <a:off x="1984711" y="2845213"/>
            <a:ext cx="8222578" cy="2147005"/>
            <a:chOff x="3108960" y="4454432"/>
            <a:chExt cx="8222578" cy="2147005"/>
          </a:xfrm>
        </p:grpSpPr>
        <p:sp>
          <p:nvSpPr>
            <p:cNvPr id="54" name="Rectangle: Rounded Corners 53">
              <a:extLst>
                <a:ext uri="{FF2B5EF4-FFF2-40B4-BE49-F238E27FC236}">
                  <a16:creationId xmlns:a16="http://schemas.microsoft.com/office/drawing/2014/main" id="{28C0EC19-2A73-F2D5-AEBD-38E9E14F676A}"/>
                </a:ext>
              </a:extLst>
            </p:cNvPr>
            <p:cNvSpPr/>
            <p:nvPr/>
          </p:nvSpPr>
          <p:spPr>
            <a:xfrm>
              <a:off x="3108960" y="4454432"/>
              <a:ext cx="8222578" cy="2147005"/>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SE" sz="2400" dirty="0">
                  <a:solidFill>
                    <a:schemeClr val="bg1"/>
                  </a:solidFill>
                </a:rPr>
                <a:t>[The maximum entropy distribution]</a:t>
              </a:r>
              <a:r>
                <a:rPr lang="en-US" sz="2400" dirty="0">
                  <a:solidFill>
                    <a:schemeClr val="bg1"/>
                  </a:solidFill>
                </a:rPr>
                <a:t> is the least biased estimate</a:t>
              </a:r>
              <a:r>
                <a:rPr lang="en-SE" sz="2400" dirty="0">
                  <a:solidFill>
                    <a:schemeClr val="bg1"/>
                  </a:solidFill>
                </a:rPr>
                <a:t> </a:t>
              </a:r>
              <a:r>
                <a:rPr lang="en-US" sz="2400" dirty="0">
                  <a:solidFill>
                    <a:schemeClr val="bg1"/>
                  </a:solidFill>
                </a:rPr>
                <a:t>possible on the given information; i.e., it is maximally noncommittal with regard to missing information. </a:t>
              </a:r>
              <a:endParaRPr lang="en-US" sz="2400" noProof="0" dirty="0"/>
            </a:p>
          </p:txBody>
        </p:sp>
        <p:pic>
          <p:nvPicPr>
            <p:cNvPr id="55" name="Graphic 54" descr="Open quotation mark with solid fill">
              <a:extLst>
                <a:ext uri="{FF2B5EF4-FFF2-40B4-BE49-F238E27FC236}">
                  <a16:creationId xmlns:a16="http://schemas.microsoft.com/office/drawing/2014/main" id="{9A85BC73-6F3E-4E2E-5DCF-219FDF38A22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0800000">
              <a:off x="3124200" y="4454434"/>
              <a:ext cx="720000" cy="720000"/>
            </a:xfrm>
            <a:prstGeom prst="rect">
              <a:avLst/>
            </a:prstGeom>
          </p:spPr>
        </p:pic>
        <p:sp>
          <p:nvSpPr>
            <p:cNvPr id="56" name="TextBox 55">
              <a:extLst>
                <a:ext uri="{FF2B5EF4-FFF2-40B4-BE49-F238E27FC236}">
                  <a16:creationId xmlns:a16="http://schemas.microsoft.com/office/drawing/2014/main" id="{1FEA7755-D32B-9B96-D349-C07B2AB2E7C8}"/>
                </a:ext>
              </a:extLst>
            </p:cNvPr>
            <p:cNvSpPr txBox="1"/>
            <p:nvPr/>
          </p:nvSpPr>
          <p:spPr>
            <a:xfrm>
              <a:off x="3859439" y="4675846"/>
              <a:ext cx="7070049" cy="276999"/>
            </a:xfrm>
            <a:prstGeom prst="rect">
              <a:avLst/>
            </a:prstGeom>
            <a:noFill/>
          </p:spPr>
          <p:txBody>
            <a:bodyPr wrap="square">
              <a:spAutoFit/>
            </a:bodyPr>
            <a:lstStyle/>
            <a:p>
              <a:r>
                <a:rPr lang="en-SE" sz="1200" dirty="0">
                  <a:solidFill>
                    <a:schemeClr val="bg1"/>
                  </a:solidFill>
                </a:rPr>
                <a:t>Jaynes, E. T. (1957). Information theory and statistical mechanics. </a:t>
              </a:r>
              <a:r>
                <a:rPr lang="en-SE" sz="1200" i="1" dirty="0">
                  <a:solidFill>
                    <a:schemeClr val="bg1"/>
                  </a:solidFill>
                </a:rPr>
                <a:t>Physical review</a:t>
              </a:r>
              <a:r>
                <a:rPr lang="en-SE" sz="1200" dirty="0">
                  <a:solidFill>
                    <a:schemeClr val="bg1"/>
                  </a:solidFill>
                </a:rPr>
                <a:t>, </a:t>
              </a:r>
              <a:r>
                <a:rPr lang="en-SE" sz="1200" i="1" dirty="0">
                  <a:solidFill>
                    <a:schemeClr val="bg1"/>
                  </a:solidFill>
                </a:rPr>
                <a:t>106</a:t>
              </a:r>
              <a:r>
                <a:rPr lang="en-SE" sz="1200" dirty="0">
                  <a:solidFill>
                    <a:schemeClr val="bg1"/>
                  </a:solidFill>
                </a:rPr>
                <a:t>(4), 620.</a:t>
              </a:r>
              <a:endParaRPr lang="en-US" sz="1200" noProof="0" dirty="0">
                <a:solidFill>
                  <a:schemeClr val="bg1"/>
                </a:solidFill>
              </a:endParaRPr>
            </a:p>
          </p:txBody>
        </p:sp>
      </p:grpSp>
      <p:sp>
        <p:nvSpPr>
          <p:cNvPr id="58" name="TextBox 57">
            <a:extLst>
              <a:ext uri="{FF2B5EF4-FFF2-40B4-BE49-F238E27FC236}">
                <a16:creationId xmlns:a16="http://schemas.microsoft.com/office/drawing/2014/main" id="{3DC2C929-58FD-4D49-BA0E-0266F57EADB1}"/>
              </a:ext>
            </a:extLst>
          </p:cNvPr>
          <p:cNvSpPr txBox="1"/>
          <p:nvPr/>
        </p:nvSpPr>
        <p:spPr>
          <a:xfrm>
            <a:off x="838197" y="5169523"/>
            <a:ext cx="10515599" cy="1015663"/>
          </a:xfrm>
          <a:prstGeom prst="rect">
            <a:avLst/>
          </a:prstGeom>
          <a:noFill/>
        </p:spPr>
        <p:txBody>
          <a:bodyPr wrap="square">
            <a:spAutoFit/>
          </a:bodyPr>
          <a:lstStyle/>
          <a:p>
            <a:r>
              <a:rPr lang="en-SE" sz="2000" dirty="0"/>
              <a:t>Among all probability distributions consistent with what you actually know about a variable, the "best" distribution to use is the one with </a:t>
            </a:r>
            <a:r>
              <a:rPr lang="en-SE" sz="2000" b="1" dirty="0"/>
              <a:t>the largest entropy</a:t>
            </a:r>
            <a:r>
              <a:rPr lang="en-SE" sz="2000" dirty="0"/>
              <a:t>, i.e., the one that is </a:t>
            </a:r>
            <a:r>
              <a:rPr lang="en-SE" sz="2000" b="1" dirty="0"/>
              <a:t>maximally spread out </a:t>
            </a:r>
            <a:r>
              <a:rPr lang="en-SE" sz="2000" dirty="0"/>
              <a:t>and </a:t>
            </a:r>
            <a:r>
              <a:rPr lang="en-SE" sz="2000" b="1" dirty="0"/>
              <a:t>non-committal</a:t>
            </a:r>
            <a:r>
              <a:rPr lang="en-SE" sz="2000" dirty="0"/>
              <a:t> beyond those constraints.</a:t>
            </a:r>
          </a:p>
        </p:txBody>
      </p:sp>
    </p:spTree>
    <p:extLst>
      <p:ext uri="{BB962C8B-B14F-4D97-AF65-F5344CB8AC3E}">
        <p14:creationId xmlns:p14="http://schemas.microsoft.com/office/powerpoint/2010/main" val="3764133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0A6E1-0F78-7EE9-F327-336E66033CA4}"/>
              </a:ext>
            </a:extLst>
          </p:cNvPr>
          <p:cNvSpPr>
            <a:spLocks noGrp="1"/>
          </p:cNvSpPr>
          <p:nvPr>
            <p:ph type="title"/>
          </p:nvPr>
        </p:nvSpPr>
        <p:spPr/>
        <p:txBody>
          <a:bodyPr/>
          <a:lstStyle/>
          <a:p>
            <a:r>
              <a:rPr lang="en-SE" dirty="0"/>
              <a:t>Maximum Entropy</a:t>
            </a:r>
          </a:p>
        </p:txBody>
      </p:sp>
      <p:sp>
        <p:nvSpPr>
          <p:cNvPr id="3" name="Content Placeholder 2">
            <a:extLst>
              <a:ext uri="{FF2B5EF4-FFF2-40B4-BE49-F238E27FC236}">
                <a16:creationId xmlns:a16="http://schemas.microsoft.com/office/drawing/2014/main" id="{75A35DDF-C773-E864-18E2-D6D513C99EC8}"/>
              </a:ext>
            </a:extLst>
          </p:cNvPr>
          <p:cNvSpPr>
            <a:spLocks noGrp="1"/>
          </p:cNvSpPr>
          <p:nvPr>
            <p:ph idx="1"/>
          </p:nvPr>
        </p:nvSpPr>
        <p:spPr/>
        <p:txBody>
          <a:bodyPr/>
          <a:lstStyle/>
          <a:p>
            <a:pPr marL="0" indent="0">
              <a:buNone/>
            </a:pPr>
            <a:r>
              <a:rPr lang="en-SE" dirty="0"/>
              <a:t>Examples of the maximum entropy criterion:</a:t>
            </a:r>
          </a:p>
          <a:p>
            <a:r>
              <a:rPr lang="en-SE" b="1" dirty="0"/>
              <a:t>Normal distribution</a:t>
            </a:r>
            <a:r>
              <a:rPr lang="en-SE" dirty="0"/>
              <a:t>: continuous variable with fixed mean and variance</a:t>
            </a:r>
          </a:p>
          <a:p>
            <a:r>
              <a:rPr lang="en-SE" b="1" dirty="0"/>
              <a:t>Binomial</a:t>
            </a:r>
            <a:r>
              <a:rPr lang="en-SE" dirty="0"/>
              <a:t>: fixed number of trials and probability of success</a:t>
            </a:r>
          </a:p>
          <a:p>
            <a:r>
              <a:rPr lang="en-SE" b="1" dirty="0"/>
              <a:t>Beta-binomial</a:t>
            </a:r>
            <a:r>
              <a:rPr lang="en-SE" dirty="0"/>
              <a:t>: fixed number of trials but </a:t>
            </a:r>
            <a:r>
              <a:rPr lang="en-SE" i="1" dirty="0"/>
              <a:t>varying probability of success</a:t>
            </a:r>
            <a:endParaRPr lang="en-SE" b="1" i="1" dirty="0"/>
          </a:p>
          <a:p>
            <a:r>
              <a:rPr lang="en-SE" b="1" dirty="0"/>
              <a:t>Poisson</a:t>
            </a:r>
            <a:r>
              <a:rPr lang="en-SE" dirty="0"/>
              <a:t>: unbounded count with fixed mean at a constant rate</a:t>
            </a:r>
          </a:p>
          <a:p>
            <a:r>
              <a:rPr lang="en-SE" b="1" dirty="0"/>
              <a:t>Pascal</a:t>
            </a:r>
            <a:r>
              <a:rPr lang="en-SE" dirty="0"/>
              <a:t>: unbounded count with fixed mean but </a:t>
            </a:r>
            <a:r>
              <a:rPr lang="en-SE" i="1" dirty="0"/>
              <a:t>at a non-constant rate </a:t>
            </a:r>
            <a:r>
              <a:rPr lang="en-SE" dirty="0"/>
              <a:t>(i.e., with a larger variance)</a:t>
            </a:r>
          </a:p>
        </p:txBody>
      </p:sp>
      <p:sp>
        <p:nvSpPr>
          <p:cNvPr id="4" name="Date Placeholder 3">
            <a:extLst>
              <a:ext uri="{FF2B5EF4-FFF2-40B4-BE49-F238E27FC236}">
                <a16:creationId xmlns:a16="http://schemas.microsoft.com/office/drawing/2014/main" id="{E87959CF-A87C-3F66-1F9E-2C8C0A85168B}"/>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84CCDA08-4CF5-0B13-B39B-D9480B9DCB1E}"/>
              </a:ext>
            </a:extLst>
          </p:cNvPr>
          <p:cNvSpPr>
            <a:spLocks noGrp="1"/>
          </p:cNvSpPr>
          <p:nvPr>
            <p:ph type="sldNum" sz="quarter" idx="12"/>
          </p:nvPr>
        </p:nvSpPr>
        <p:spPr/>
        <p:txBody>
          <a:bodyPr/>
          <a:lstStyle/>
          <a:p>
            <a:fld id="{271ECC92-9CDE-4EB3-B1C5-F46B9E1FA3C1}" type="slidenum">
              <a:rPr lang="en-SE" smtClean="0"/>
              <a:t>76</a:t>
            </a:fld>
            <a:endParaRPr lang="en-SE"/>
          </a:p>
        </p:txBody>
      </p:sp>
      <p:sp>
        <p:nvSpPr>
          <p:cNvPr id="6" name="Footer Placeholder 5">
            <a:extLst>
              <a:ext uri="{FF2B5EF4-FFF2-40B4-BE49-F238E27FC236}">
                <a16:creationId xmlns:a16="http://schemas.microsoft.com/office/drawing/2014/main" id="{B44F1E9B-B41E-630E-F100-C2C26E03397F}"/>
              </a:ext>
            </a:extLst>
          </p:cNvPr>
          <p:cNvSpPr>
            <a:spLocks noGrp="1"/>
          </p:cNvSpPr>
          <p:nvPr>
            <p:ph type="ftr" sz="quarter" idx="11"/>
          </p:nvPr>
        </p:nvSpPr>
        <p:spPr/>
        <p:txBody>
          <a:bodyPr/>
          <a:lstStyle/>
          <a:p>
            <a:r>
              <a:rPr lang="de-DE"/>
              <a:t>Bayesian Data Analysis Tutorial</a:t>
            </a:r>
            <a:endParaRPr lang="en-SE"/>
          </a:p>
        </p:txBody>
      </p:sp>
      <p:grpSp>
        <p:nvGrpSpPr>
          <p:cNvPr id="7" name="Group 6">
            <a:extLst>
              <a:ext uri="{FF2B5EF4-FFF2-40B4-BE49-F238E27FC236}">
                <a16:creationId xmlns:a16="http://schemas.microsoft.com/office/drawing/2014/main" id="{B489FB03-1693-8961-D02E-E3667A9BBB94}"/>
              </a:ext>
            </a:extLst>
          </p:cNvPr>
          <p:cNvGrpSpPr/>
          <p:nvPr/>
        </p:nvGrpSpPr>
        <p:grpSpPr>
          <a:xfrm>
            <a:off x="228598" y="1825625"/>
            <a:ext cx="504000" cy="504000"/>
            <a:chOff x="977950" y="2729564"/>
            <a:chExt cx="504000" cy="504000"/>
          </a:xfrm>
        </p:grpSpPr>
        <p:sp>
          <p:nvSpPr>
            <p:cNvPr id="8" name="Oval 7">
              <a:extLst>
                <a:ext uri="{FF2B5EF4-FFF2-40B4-BE49-F238E27FC236}">
                  <a16:creationId xmlns:a16="http://schemas.microsoft.com/office/drawing/2014/main" id="{DB885FA0-F84E-647B-331D-38E27A01AC10}"/>
                </a:ext>
              </a:extLst>
            </p:cNvPr>
            <p:cNvSpPr/>
            <p:nvPr/>
          </p:nvSpPr>
          <p:spPr>
            <a:xfrm>
              <a:off x="977950" y="2729564"/>
              <a:ext cx="504000" cy="504000"/>
            </a:xfrm>
            <a:prstGeom prst="ellipse">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9" name="Graphic 8" descr="Bar chart with solid fill">
              <a:extLst>
                <a:ext uri="{FF2B5EF4-FFF2-40B4-BE49-F238E27FC236}">
                  <a16:creationId xmlns:a16="http://schemas.microsoft.com/office/drawing/2014/main" id="{82736B35-131A-FF12-9F39-E796F8EDB666}"/>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31950" y="2783564"/>
              <a:ext cx="396000" cy="396000"/>
            </a:xfrm>
            <a:prstGeom prst="rect">
              <a:avLst/>
            </a:prstGeom>
          </p:spPr>
        </p:pic>
      </p:grpSp>
      <p:grpSp>
        <p:nvGrpSpPr>
          <p:cNvPr id="10" name="Group 9">
            <a:extLst>
              <a:ext uri="{FF2B5EF4-FFF2-40B4-BE49-F238E27FC236}">
                <a16:creationId xmlns:a16="http://schemas.microsoft.com/office/drawing/2014/main" id="{1BF0C882-CFE3-8EF0-9DCA-272733E74709}"/>
              </a:ext>
            </a:extLst>
          </p:cNvPr>
          <p:cNvGrpSpPr/>
          <p:nvPr/>
        </p:nvGrpSpPr>
        <p:grpSpPr>
          <a:xfrm>
            <a:off x="228598" y="2439322"/>
            <a:ext cx="504000" cy="504000"/>
            <a:chOff x="977950" y="2729564"/>
            <a:chExt cx="504000" cy="504000"/>
          </a:xfrm>
        </p:grpSpPr>
        <p:sp>
          <p:nvSpPr>
            <p:cNvPr id="11" name="Oval 10">
              <a:extLst>
                <a:ext uri="{FF2B5EF4-FFF2-40B4-BE49-F238E27FC236}">
                  <a16:creationId xmlns:a16="http://schemas.microsoft.com/office/drawing/2014/main" id="{21133D1E-708C-33BF-F812-2E87A0F8591F}"/>
                </a:ext>
              </a:extLst>
            </p:cNvPr>
            <p:cNvSpPr/>
            <p:nvPr/>
          </p:nvSpPr>
          <p:spPr>
            <a:xfrm>
              <a:off x="977950" y="2729564"/>
              <a:ext cx="504000" cy="504000"/>
            </a:xfrm>
            <a:prstGeom prst="ellips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Golden Ratio with solid fill">
              <a:extLst>
                <a:ext uri="{FF2B5EF4-FFF2-40B4-BE49-F238E27FC236}">
                  <a16:creationId xmlns:a16="http://schemas.microsoft.com/office/drawing/2014/main" id="{F07697D6-2A00-8806-8631-67DCBDAB5D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13" name="Group 12">
            <a:extLst>
              <a:ext uri="{FF2B5EF4-FFF2-40B4-BE49-F238E27FC236}">
                <a16:creationId xmlns:a16="http://schemas.microsoft.com/office/drawing/2014/main" id="{651EB2BC-24A5-7C03-6387-A36D987983E0}"/>
              </a:ext>
            </a:extLst>
          </p:cNvPr>
          <p:cNvGrpSpPr/>
          <p:nvPr/>
        </p:nvGrpSpPr>
        <p:grpSpPr>
          <a:xfrm>
            <a:off x="228598" y="3053019"/>
            <a:ext cx="504000" cy="504000"/>
            <a:chOff x="977950" y="2729564"/>
            <a:chExt cx="504000" cy="504000"/>
          </a:xfrm>
        </p:grpSpPr>
        <p:sp>
          <p:nvSpPr>
            <p:cNvPr id="14" name="Oval 13">
              <a:extLst>
                <a:ext uri="{FF2B5EF4-FFF2-40B4-BE49-F238E27FC236}">
                  <a16:creationId xmlns:a16="http://schemas.microsoft.com/office/drawing/2014/main" id="{A108A603-04CD-B716-5AAE-8AB927505C4A}"/>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Graphic 14" descr="Normal Distribution with solid fill">
              <a:extLst>
                <a:ext uri="{FF2B5EF4-FFF2-40B4-BE49-F238E27FC236}">
                  <a16:creationId xmlns:a16="http://schemas.microsoft.com/office/drawing/2014/main" id="{9EFEDBBD-037C-796A-8004-B8151F58C58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16" name="Group 15">
            <a:extLst>
              <a:ext uri="{FF2B5EF4-FFF2-40B4-BE49-F238E27FC236}">
                <a16:creationId xmlns:a16="http://schemas.microsoft.com/office/drawing/2014/main" id="{229FB79E-BF71-56A7-EF11-68DA4C3351A7}"/>
              </a:ext>
            </a:extLst>
          </p:cNvPr>
          <p:cNvGrpSpPr/>
          <p:nvPr/>
        </p:nvGrpSpPr>
        <p:grpSpPr>
          <a:xfrm>
            <a:off x="228598" y="3666716"/>
            <a:ext cx="504000" cy="504000"/>
            <a:chOff x="977950" y="2729564"/>
            <a:chExt cx="504000" cy="504000"/>
          </a:xfrm>
        </p:grpSpPr>
        <p:sp>
          <p:nvSpPr>
            <p:cNvPr id="17" name="Oval 16">
              <a:extLst>
                <a:ext uri="{FF2B5EF4-FFF2-40B4-BE49-F238E27FC236}">
                  <a16:creationId xmlns:a16="http://schemas.microsoft.com/office/drawing/2014/main" id="{72ADE017-6E0F-0A06-27DD-9A8E7C19C550}"/>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Graphic 17" descr="Abacus with solid fill">
              <a:extLst>
                <a:ext uri="{FF2B5EF4-FFF2-40B4-BE49-F238E27FC236}">
                  <a16:creationId xmlns:a16="http://schemas.microsoft.com/office/drawing/2014/main" id="{19F82CBA-B150-EA11-99C9-D9D32452EEA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19" name="Group 18">
            <a:extLst>
              <a:ext uri="{FF2B5EF4-FFF2-40B4-BE49-F238E27FC236}">
                <a16:creationId xmlns:a16="http://schemas.microsoft.com/office/drawing/2014/main" id="{B567F4AC-B5FC-FCA3-8D61-4D21C0AC06B7}"/>
              </a:ext>
            </a:extLst>
          </p:cNvPr>
          <p:cNvGrpSpPr/>
          <p:nvPr/>
        </p:nvGrpSpPr>
        <p:grpSpPr>
          <a:xfrm>
            <a:off x="228598" y="4280413"/>
            <a:ext cx="504000" cy="504000"/>
            <a:chOff x="977950" y="2729564"/>
            <a:chExt cx="504000" cy="504000"/>
          </a:xfrm>
        </p:grpSpPr>
        <p:sp>
          <p:nvSpPr>
            <p:cNvPr id="20" name="Oval 19">
              <a:extLst>
                <a:ext uri="{FF2B5EF4-FFF2-40B4-BE49-F238E27FC236}">
                  <a16:creationId xmlns:a16="http://schemas.microsoft.com/office/drawing/2014/main" id="{081E9F81-DC7E-2BED-6F9A-249494152C6B}"/>
                </a:ext>
              </a:extLst>
            </p:cNvPr>
            <p:cNvSpPr/>
            <p:nvPr/>
          </p:nvSpPr>
          <p:spPr>
            <a:xfrm>
              <a:off x="977950" y="2729564"/>
              <a:ext cx="504000" cy="504000"/>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1" name="Graphic 20" descr="Trigonometry with solid fill">
              <a:extLst>
                <a:ext uri="{FF2B5EF4-FFF2-40B4-BE49-F238E27FC236}">
                  <a16:creationId xmlns:a16="http://schemas.microsoft.com/office/drawing/2014/main" id="{B267279A-5A82-D1CE-A64E-D4C5A1381D8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22" name="Group 21">
            <a:extLst>
              <a:ext uri="{FF2B5EF4-FFF2-40B4-BE49-F238E27FC236}">
                <a16:creationId xmlns:a16="http://schemas.microsoft.com/office/drawing/2014/main" id="{90DDA70D-E496-2DC5-9925-F4B3F4C42628}"/>
              </a:ext>
            </a:extLst>
          </p:cNvPr>
          <p:cNvGrpSpPr/>
          <p:nvPr/>
        </p:nvGrpSpPr>
        <p:grpSpPr>
          <a:xfrm>
            <a:off x="228598" y="4894111"/>
            <a:ext cx="504000" cy="504000"/>
            <a:chOff x="977950" y="2729564"/>
            <a:chExt cx="504000" cy="504000"/>
          </a:xfrm>
        </p:grpSpPr>
        <p:sp>
          <p:nvSpPr>
            <p:cNvPr id="23" name="Oval 22">
              <a:extLst>
                <a:ext uri="{FF2B5EF4-FFF2-40B4-BE49-F238E27FC236}">
                  <a16:creationId xmlns:a16="http://schemas.microsoft.com/office/drawing/2014/main" id="{5007F0A8-4D35-9B6D-EA47-FC82C7D677C5}"/>
                </a:ext>
              </a:extLst>
            </p:cNvPr>
            <p:cNvSpPr/>
            <p:nvPr/>
          </p:nvSpPr>
          <p:spPr>
            <a:xfrm>
              <a:off x="977950" y="2729564"/>
              <a:ext cx="504000" cy="504000"/>
            </a:xfrm>
            <a:prstGeom prst="ellipse">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4" name="Graphic 23" descr="Scatterplot with solid fill">
              <a:extLst>
                <a:ext uri="{FF2B5EF4-FFF2-40B4-BE49-F238E27FC236}">
                  <a16:creationId xmlns:a16="http://schemas.microsoft.com/office/drawing/2014/main" id="{75B72EDE-8B9A-7F64-76FA-52763E79AD3F}"/>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25" name="Straight Arrow Connector 24">
            <a:extLst>
              <a:ext uri="{FF2B5EF4-FFF2-40B4-BE49-F238E27FC236}">
                <a16:creationId xmlns:a16="http://schemas.microsoft.com/office/drawing/2014/main" id="{C1CFDEB6-3884-75E6-7EE6-4FBA1BF498DA}"/>
              </a:ext>
            </a:extLst>
          </p:cNvPr>
          <p:cNvCxnSpPr>
            <a:stCxn id="8" idx="4"/>
            <a:endCxn id="11"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6481460A-80E0-8F52-2821-1E4F199AE754}"/>
              </a:ext>
            </a:extLst>
          </p:cNvPr>
          <p:cNvCxnSpPr>
            <a:cxnSpLocks/>
            <a:stCxn id="11" idx="4"/>
            <a:endCxn id="14"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9ADDCEC4-379E-F1FE-7CF5-77B278EBD62B}"/>
              </a:ext>
            </a:extLst>
          </p:cNvPr>
          <p:cNvCxnSpPr>
            <a:cxnSpLocks/>
            <a:stCxn id="14" idx="4"/>
            <a:endCxn id="17"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E2E981BA-9F44-9E2C-AA1C-915088765DEF}"/>
              </a:ext>
            </a:extLst>
          </p:cNvPr>
          <p:cNvCxnSpPr>
            <a:cxnSpLocks/>
            <a:stCxn id="17" idx="4"/>
            <a:endCxn id="20"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3024B60D-641C-4931-D335-F42B7252CDBC}"/>
              </a:ext>
            </a:extLst>
          </p:cNvPr>
          <p:cNvCxnSpPr>
            <a:cxnSpLocks/>
            <a:stCxn id="20" idx="4"/>
            <a:endCxn id="23"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102789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16521-F1ED-C788-5CA1-DFA2A952D624}"/>
              </a:ext>
            </a:extLst>
          </p:cNvPr>
          <p:cNvSpPr>
            <a:spLocks noGrp="1"/>
          </p:cNvSpPr>
          <p:nvPr>
            <p:ph type="title"/>
          </p:nvPr>
        </p:nvSpPr>
        <p:spPr/>
        <p:txBody>
          <a:bodyPr/>
          <a:lstStyle/>
          <a:p>
            <a:r>
              <a:rPr lang="en-SE" dirty="0"/>
              <a:t>Updated Context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A50AED5-53C3-1342-5E07-BC8C3D4072A3}"/>
                  </a:ext>
                </a:extLst>
              </p:cNvPr>
              <p:cNvSpPr>
                <a:spLocks noGrp="1"/>
              </p:cNvSpPr>
              <p:nvPr>
                <p:ph idx="1"/>
              </p:nvPr>
            </p:nvSpPr>
            <p:spPr>
              <a:xfrm>
                <a:off x="838200" y="1825624"/>
                <a:ext cx="10515600" cy="1350415"/>
              </a:xfrm>
            </p:spPr>
            <p:txBody>
              <a:bodyPr/>
              <a:lstStyle/>
              <a:p>
                <a:pPr marL="0" indent="0">
                  <a:buNone/>
                </a:pPr>
                <a:r>
                  <a:rPr lang="en-SE" dirty="0"/>
                  <a:t>Considering the same research question, but now measuring the </a:t>
                </a:r>
                <a:r>
                  <a:rPr lang="en-SE" dirty="0">
                    <a:solidFill>
                      <a:srgbClr val="006D70"/>
                    </a:solidFill>
                  </a:rPr>
                  <a:t>outcome variable </a:t>
                </a:r>
                <a14:m>
                  <m:oMath xmlns:m="http://schemas.openxmlformats.org/officeDocument/2006/math">
                    <m:r>
                      <a:rPr lang="en-SE" b="0" i="1" smtClean="0">
                        <a:solidFill>
                          <a:srgbClr val="006D70"/>
                        </a:solidFill>
                        <a:latin typeface="Cambria Math" panose="02040503050406030204" pitchFamily="18" charset="0"/>
                      </a:rPr>
                      <m:t>𝑦</m:t>
                    </m:r>
                  </m:oMath>
                </a14:m>
                <a:r>
                  <a:rPr lang="en-SE" dirty="0"/>
                  <a:t> as the </a:t>
                </a:r>
                <a:r>
                  <a:rPr lang="en-SE" i="1" dirty="0"/>
                  <a:t>number of times a code reviewer found the one bug in a code snippet</a:t>
                </a:r>
                <a:r>
                  <a:rPr lang="en-SE" dirty="0"/>
                  <a:t>.</a:t>
                </a:r>
              </a:p>
            </p:txBody>
          </p:sp>
        </mc:Choice>
        <mc:Fallback>
          <p:sp>
            <p:nvSpPr>
              <p:cNvPr id="3" name="Content Placeholder 2">
                <a:extLst>
                  <a:ext uri="{FF2B5EF4-FFF2-40B4-BE49-F238E27FC236}">
                    <a16:creationId xmlns:a16="http://schemas.microsoft.com/office/drawing/2014/main" id="{9A50AED5-53C3-1342-5E07-BC8C3D4072A3}"/>
                  </a:ext>
                </a:extLst>
              </p:cNvPr>
              <p:cNvSpPr>
                <a:spLocks noGrp="1" noRot="1" noChangeAspect="1" noMove="1" noResize="1" noEditPoints="1" noAdjustHandles="1" noChangeArrowheads="1" noChangeShapeType="1" noTextEdit="1"/>
              </p:cNvSpPr>
              <p:nvPr>
                <p:ph idx="1"/>
              </p:nvPr>
            </p:nvSpPr>
            <p:spPr>
              <a:xfrm>
                <a:off x="838200" y="1825624"/>
                <a:ext cx="10515600" cy="1350415"/>
              </a:xfrm>
              <a:blipFill>
                <a:blip r:embed="rId2"/>
                <a:stretch>
                  <a:fillRect l="-1217" t="-7658" b="-4505"/>
                </a:stretch>
              </a:blipFill>
            </p:spPr>
            <p:txBody>
              <a:bodyPr/>
              <a:lstStyle/>
              <a:p>
                <a:r>
                  <a:rPr lang="en-SE">
                    <a:noFill/>
                  </a:rPr>
                  <a:t> </a:t>
                </a:r>
              </a:p>
            </p:txBody>
          </p:sp>
        </mc:Fallback>
      </mc:AlternateContent>
      <p:sp>
        <p:nvSpPr>
          <p:cNvPr id="4" name="Date Placeholder 3">
            <a:extLst>
              <a:ext uri="{FF2B5EF4-FFF2-40B4-BE49-F238E27FC236}">
                <a16:creationId xmlns:a16="http://schemas.microsoft.com/office/drawing/2014/main" id="{DAAD62AC-1A57-09A8-9BCE-1D556E8E9BBB}"/>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494390A8-A059-A777-B630-ADD38726C99F}"/>
              </a:ext>
            </a:extLst>
          </p:cNvPr>
          <p:cNvSpPr>
            <a:spLocks noGrp="1"/>
          </p:cNvSpPr>
          <p:nvPr>
            <p:ph type="sldNum" sz="quarter" idx="12"/>
          </p:nvPr>
        </p:nvSpPr>
        <p:spPr/>
        <p:txBody>
          <a:bodyPr/>
          <a:lstStyle/>
          <a:p>
            <a:fld id="{271ECC92-9CDE-4EB3-B1C5-F46B9E1FA3C1}" type="slidenum">
              <a:rPr lang="en-SE" smtClean="0"/>
              <a:t>77</a:t>
            </a:fld>
            <a:endParaRPr lang="en-SE"/>
          </a:p>
        </p:txBody>
      </p:sp>
      <p:sp>
        <p:nvSpPr>
          <p:cNvPr id="6" name="Footer Placeholder 5">
            <a:extLst>
              <a:ext uri="{FF2B5EF4-FFF2-40B4-BE49-F238E27FC236}">
                <a16:creationId xmlns:a16="http://schemas.microsoft.com/office/drawing/2014/main" id="{D65A8057-3BA1-7B9F-DF2A-19F4CF0C12CC}"/>
              </a:ext>
            </a:extLst>
          </p:cNvPr>
          <p:cNvSpPr>
            <a:spLocks noGrp="1"/>
          </p:cNvSpPr>
          <p:nvPr>
            <p:ph type="ftr" sz="quarter" idx="11"/>
          </p:nvPr>
        </p:nvSpPr>
        <p:spPr/>
        <p:txBody>
          <a:bodyPr/>
          <a:lstStyle/>
          <a:p>
            <a:r>
              <a:rPr lang="de-DE"/>
              <a:t>Bayesian Data Analysis Tutorial</a:t>
            </a:r>
            <a:endParaRPr lang="en-SE"/>
          </a:p>
        </p:txBody>
      </p:sp>
      <p:grpSp>
        <p:nvGrpSpPr>
          <p:cNvPr id="7" name="Group 6">
            <a:extLst>
              <a:ext uri="{FF2B5EF4-FFF2-40B4-BE49-F238E27FC236}">
                <a16:creationId xmlns:a16="http://schemas.microsoft.com/office/drawing/2014/main" id="{ABB77DF3-0024-5B31-9EF0-78DADA33609C}"/>
              </a:ext>
            </a:extLst>
          </p:cNvPr>
          <p:cNvGrpSpPr/>
          <p:nvPr/>
        </p:nvGrpSpPr>
        <p:grpSpPr>
          <a:xfrm>
            <a:off x="228598" y="1825625"/>
            <a:ext cx="504000" cy="504000"/>
            <a:chOff x="977950" y="2729564"/>
            <a:chExt cx="504000" cy="504000"/>
          </a:xfrm>
        </p:grpSpPr>
        <p:sp>
          <p:nvSpPr>
            <p:cNvPr id="8" name="Oval 7">
              <a:extLst>
                <a:ext uri="{FF2B5EF4-FFF2-40B4-BE49-F238E27FC236}">
                  <a16:creationId xmlns:a16="http://schemas.microsoft.com/office/drawing/2014/main" id="{AA60934E-CD0A-D87F-2F20-50C71922B309}"/>
                </a:ext>
              </a:extLst>
            </p:cNvPr>
            <p:cNvSpPr/>
            <p:nvPr/>
          </p:nvSpPr>
          <p:spPr>
            <a:xfrm>
              <a:off x="977950" y="2729564"/>
              <a:ext cx="504000" cy="504000"/>
            </a:xfrm>
            <a:prstGeom prst="ellipse">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9" name="Graphic 8" descr="Bar chart with solid fill">
              <a:extLst>
                <a:ext uri="{FF2B5EF4-FFF2-40B4-BE49-F238E27FC236}">
                  <a16:creationId xmlns:a16="http://schemas.microsoft.com/office/drawing/2014/main" id="{BC4672B1-55FB-82A7-C9E2-77C1ADF97C5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grpSp>
        <p:nvGrpSpPr>
          <p:cNvPr id="10" name="Group 9">
            <a:extLst>
              <a:ext uri="{FF2B5EF4-FFF2-40B4-BE49-F238E27FC236}">
                <a16:creationId xmlns:a16="http://schemas.microsoft.com/office/drawing/2014/main" id="{656076DA-4919-C85E-2BCD-487BD0F32A42}"/>
              </a:ext>
            </a:extLst>
          </p:cNvPr>
          <p:cNvGrpSpPr/>
          <p:nvPr/>
        </p:nvGrpSpPr>
        <p:grpSpPr>
          <a:xfrm>
            <a:off x="228598" y="2439322"/>
            <a:ext cx="504000" cy="504000"/>
            <a:chOff x="977950" y="2729564"/>
            <a:chExt cx="504000" cy="504000"/>
          </a:xfrm>
        </p:grpSpPr>
        <p:sp>
          <p:nvSpPr>
            <p:cNvPr id="11" name="Oval 10">
              <a:extLst>
                <a:ext uri="{FF2B5EF4-FFF2-40B4-BE49-F238E27FC236}">
                  <a16:creationId xmlns:a16="http://schemas.microsoft.com/office/drawing/2014/main" id="{537BD55B-667A-3B1F-C126-FA402D86F48C}"/>
                </a:ext>
              </a:extLst>
            </p:cNvPr>
            <p:cNvSpPr/>
            <p:nvPr/>
          </p:nvSpPr>
          <p:spPr>
            <a:xfrm>
              <a:off x="977950" y="2729564"/>
              <a:ext cx="504000" cy="504000"/>
            </a:xfrm>
            <a:prstGeom prst="ellips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Golden Ratio with solid fill">
              <a:extLst>
                <a:ext uri="{FF2B5EF4-FFF2-40B4-BE49-F238E27FC236}">
                  <a16:creationId xmlns:a16="http://schemas.microsoft.com/office/drawing/2014/main" id="{71516B36-5854-FF07-83E2-4EB248B969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950" y="2783564"/>
              <a:ext cx="396000" cy="396000"/>
            </a:xfrm>
            <a:prstGeom prst="rect">
              <a:avLst/>
            </a:prstGeom>
          </p:spPr>
        </p:pic>
      </p:grpSp>
      <p:grpSp>
        <p:nvGrpSpPr>
          <p:cNvPr id="13" name="Group 12">
            <a:extLst>
              <a:ext uri="{FF2B5EF4-FFF2-40B4-BE49-F238E27FC236}">
                <a16:creationId xmlns:a16="http://schemas.microsoft.com/office/drawing/2014/main" id="{D44F3D26-E2E2-EED6-7E1A-387F90A70267}"/>
              </a:ext>
            </a:extLst>
          </p:cNvPr>
          <p:cNvGrpSpPr/>
          <p:nvPr/>
        </p:nvGrpSpPr>
        <p:grpSpPr>
          <a:xfrm>
            <a:off x="228598" y="3053019"/>
            <a:ext cx="504000" cy="504000"/>
            <a:chOff x="977950" y="2729564"/>
            <a:chExt cx="504000" cy="504000"/>
          </a:xfrm>
        </p:grpSpPr>
        <p:sp>
          <p:nvSpPr>
            <p:cNvPr id="14" name="Oval 13">
              <a:extLst>
                <a:ext uri="{FF2B5EF4-FFF2-40B4-BE49-F238E27FC236}">
                  <a16:creationId xmlns:a16="http://schemas.microsoft.com/office/drawing/2014/main" id="{20C7FC16-4A4B-F9C7-586A-BE4213A80A8B}"/>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Graphic 14" descr="Normal Distribution with solid fill">
              <a:extLst>
                <a:ext uri="{FF2B5EF4-FFF2-40B4-BE49-F238E27FC236}">
                  <a16:creationId xmlns:a16="http://schemas.microsoft.com/office/drawing/2014/main" id="{767DC209-984B-1A29-D25B-F895681733A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16" name="Group 15">
            <a:extLst>
              <a:ext uri="{FF2B5EF4-FFF2-40B4-BE49-F238E27FC236}">
                <a16:creationId xmlns:a16="http://schemas.microsoft.com/office/drawing/2014/main" id="{2B6C013C-9C0B-1F4C-6567-67FF8A48C624}"/>
              </a:ext>
            </a:extLst>
          </p:cNvPr>
          <p:cNvGrpSpPr/>
          <p:nvPr/>
        </p:nvGrpSpPr>
        <p:grpSpPr>
          <a:xfrm>
            <a:off x="228598" y="3666716"/>
            <a:ext cx="504000" cy="504000"/>
            <a:chOff x="977950" y="2729564"/>
            <a:chExt cx="504000" cy="504000"/>
          </a:xfrm>
        </p:grpSpPr>
        <p:sp>
          <p:nvSpPr>
            <p:cNvPr id="17" name="Oval 16">
              <a:extLst>
                <a:ext uri="{FF2B5EF4-FFF2-40B4-BE49-F238E27FC236}">
                  <a16:creationId xmlns:a16="http://schemas.microsoft.com/office/drawing/2014/main" id="{9A74301C-9378-CB12-E13A-CEB1CBA0B788}"/>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Graphic 17" descr="Abacus with solid fill">
              <a:extLst>
                <a:ext uri="{FF2B5EF4-FFF2-40B4-BE49-F238E27FC236}">
                  <a16:creationId xmlns:a16="http://schemas.microsoft.com/office/drawing/2014/main" id="{660A4481-1175-2C66-B385-0AC28648CA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19" name="Group 18">
            <a:extLst>
              <a:ext uri="{FF2B5EF4-FFF2-40B4-BE49-F238E27FC236}">
                <a16:creationId xmlns:a16="http://schemas.microsoft.com/office/drawing/2014/main" id="{13EB1E4E-8801-EBCA-FB04-14073118F6D2}"/>
              </a:ext>
            </a:extLst>
          </p:cNvPr>
          <p:cNvGrpSpPr/>
          <p:nvPr/>
        </p:nvGrpSpPr>
        <p:grpSpPr>
          <a:xfrm>
            <a:off x="228598" y="4280413"/>
            <a:ext cx="504000" cy="504000"/>
            <a:chOff x="977950" y="2729564"/>
            <a:chExt cx="504000" cy="504000"/>
          </a:xfrm>
        </p:grpSpPr>
        <p:sp>
          <p:nvSpPr>
            <p:cNvPr id="20" name="Oval 19">
              <a:extLst>
                <a:ext uri="{FF2B5EF4-FFF2-40B4-BE49-F238E27FC236}">
                  <a16:creationId xmlns:a16="http://schemas.microsoft.com/office/drawing/2014/main" id="{83B8F29B-3CDB-9DBD-8E31-BC96FD3C201F}"/>
                </a:ext>
              </a:extLst>
            </p:cNvPr>
            <p:cNvSpPr/>
            <p:nvPr/>
          </p:nvSpPr>
          <p:spPr>
            <a:xfrm>
              <a:off x="977950" y="2729564"/>
              <a:ext cx="504000" cy="504000"/>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1" name="Graphic 20" descr="Trigonometry with solid fill">
              <a:extLst>
                <a:ext uri="{FF2B5EF4-FFF2-40B4-BE49-F238E27FC236}">
                  <a16:creationId xmlns:a16="http://schemas.microsoft.com/office/drawing/2014/main" id="{DC90F73A-88F4-47C6-F270-ED5DB728E551}"/>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grpSp>
        <p:nvGrpSpPr>
          <p:cNvPr id="22" name="Group 21">
            <a:extLst>
              <a:ext uri="{FF2B5EF4-FFF2-40B4-BE49-F238E27FC236}">
                <a16:creationId xmlns:a16="http://schemas.microsoft.com/office/drawing/2014/main" id="{9BCCDB9C-A4BD-D338-88DF-433379D821CE}"/>
              </a:ext>
            </a:extLst>
          </p:cNvPr>
          <p:cNvGrpSpPr/>
          <p:nvPr/>
        </p:nvGrpSpPr>
        <p:grpSpPr>
          <a:xfrm>
            <a:off x="228598" y="4894111"/>
            <a:ext cx="504000" cy="504000"/>
            <a:chOff x="977950" y="2729564"/>
            <a:chExt cx="504000" cy="504000"/>
          </a:xfrm>
        </p:grpSpPr>
        <p:sp>
          <p:nvSpPr>
            <p:cNvPr id="23" name="Oval 22">
              <a:extLst>
                <a:ext uri="{FF2B5EF4-FFF2-40B4-BE49-F238E27FC236}">
                  <a16:creationId xmlns:a16="http://schemas.microsoft.com/office/drawing/2014/main" id="{290EB576-F8CE-99FA-835F-1693FA0B6679}"/>
                </a:ext>
              </a:extLst>
            </p:cNvPr>
            <p:cNvSpPr/>
            <p:nvPr/>
          </p:nvSpPr>
          <p:spPr>
            <a:xfrm>
              <a:off x="977950" y="2729564"/>
              <a:ext cx="504000" cy="504000"/>
            </a:xfrm>
            <a:prstGeom prst="ellipse">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4" name="Graphic 23" descr="Scatterplot with solid fill">
              <a:extLst>
                <a:ext uri="{FF2B5EF4-FFF2-40B4-BE49-F238E27FC236}">
                  <a16:creationId xmlns:a16="http://schemas.microsoft.com/office/drawing/2014/main" id="{543EEA14-C4B9-9917-A6F2-ABD0F27630BB}"/>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31950" y="2783564"/>
              <a:ext cx="396000" cy="396000"/>
            </a:xfrm>
            <a:prstGeom prst="rect">
              <a:avLst/>
            </a:prstGeom>
          </p:spPr>
        </p:pic>
      </p:grpSp>
      <p:cxnSp>
        <p:nvCxnSpPr>
          <p:cNvPr id="25" name="Straight Arrow Connector 24">
            <a:extLst>
              <a:ext uri="{FF2B5EF4-FFF2-40B4-BE49-F238E27FC236}">
                <a16:creationId xmlns:a16="http://schemas.microsoft.com/office/drawing/2014/main" id="{ADE3684E-D958-7045-F909-F221CE1709E8}"/>
              </a:ext>
            </a:extLst>
          </p:cNvPr>
          <p:cNvCxnSpPr>
            <a:stCxn id="8" idx="4"/>
            <a:endCxn id="11"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44B14EA1-330D-5B95-203B-B72915BA33C8}"/>
              </a:ext>
            </a:extLst>
          </p:cNvPr>
          <p:cNvCxnSpPr>
            <a:cxnSpLocks/>
            <a:stCxn id="11" idx="4"/>
            <a:endCxn id="14"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9E98ADDA-9242-3EEA-28E6-A0A39417BA08}"/>
              </a:ext>
            </a:extLst>
          </p:cNvPr>
          <p:cNvCxnSpPr>
            <a:cxnSpLocks/>
            <a:stCxn id="14" idx="4"/>
            <a:endCxn id="17"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6250011B-1FD1-41CA-10CC-0476C3503B25}"/>
              </a:ext>
            </a:extLst>
          </p:cNvPr>
          <p:cNvCxnSpPr>
            <a:cxnSpLocks/>
            <a:stCxn id="17" idx="4"/>
            <a:endCxn id="20"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AEACEA36-E93E-28F9-0533-F51D7368A6E9}"/>
              </a:ext>
            </a:extLst>
          </p:cNvPr>
          <p:cNvCxnSpPr>
            <a:cxnSpLocks/>
            <a:stCxn id="20" idx="4"/>
            <a:endCxn id="23"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0" name="Oval 29">
            <a:extLst>
              <a:ext uri="{FF2B5EF4-FFF2-40B4-BE49-F238E27FC236}">
                <a16:creationId xmlns:a16="http://schemas.microsoft.com/office/drawing/2014/main" id="{C23F50FE-FFC2-C657-3A7A-799ED846C109}"/>
              </a:ext>
            </a:extLst>
          </p:cNvPr>
          <p:cNvSpPr/>
          <p:nvPr/>
        </p:nvSpPr>
        <p:spPr>
          <a:xfrm>
            <a:off x="1463978" y="3889088"/>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31" name="Oval 30">
            <a:extLst>
              <a:ext uri="{FF2B5EF4-FFF2-40B4-BE49-F238E27FC236}">
                <a16:creationId xmlns:a16="http://schemas.microsoft.com/office/drawing/2014/main" id="{A9AA1FC4-F7DE-EC67-47A9-E3D8CBF72D3D}"/>
              </a:ext>
            </a:extLst>
          </p:cNvPr>
          <p:cNvSpPr/>
          <p:nvPr/>
        </p:nvSpPr>
        <p:spPr>
          <a:xfrm>
            <a:off x="3955358" y="3889088"/>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32" name="Straight Arrow Connector 31">
            <a:extLst>
              <a:ext uri="{FF2B5EF4-FFF2-40B4-BE49-F238E27FC236}">
                <a16:creationId xmlns:a16="http://schemas.microsoft.com/office/drawing/2014/main" id="{FE66BFB0-25AF-4894-ED72-D39EBE910B83}"/>
              </a:ext>
            </a:extLst>
          </p:cNvPr>
          <p:cNvCxnSpPr>
            <a:stCxn id="30" idx="6"/>
            <a:endCxn id="31" idx="2"/>
          </p:cNvCxnSpPr>
          <p:nvPr/>
        </p:nvCxnSpPr>
        <p:spPr>
          <a:xfrm>
            <a:off x="1823978" y="4069088"/>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TextBox 32">
            <a:extLst>
              <a:ext uri="{FF2B5EF4-FFF2-40B4-BE49-F238E27FC236}">
                <a16:creationId xmlns:a16="http://schemas.microsoft.com/office/drawing/2014/main" id="{944284B5-53F3-C14B-1E33-E550AA91C92C}"/>
              </a:ext>
            </a:extLst>
          </p:cNvPr>
          <p:cNvSpPr txBox="1"/>
          <p:nvPr/>
        </p:nvSpPr>
        <p:spPr>
          <a:xfrm>
            <a:off x="1279593" y="3461056"/>
            <a:ext cx="1022972" cy="369332"/>
          </a:xfrm>
          <a:prstGeom prst="rect">
            <a:avLst/>
          </a:prstGeom>
          <a:noFill/>
        </p:spPr>
        <p:txBody>
          <a:bodyPr wrap="none" rtlCol="0">
            <a:spAutoFit/>
          </a:bodyPr>
          <a:lstStyle/>
          <a:p>
            <a:r>
              <a:rPr lang="en-SE" dirty="0">
                <a:solidFill>
                  <a:srgbClr val="D0180A"/>
                </a:solidFill>
              </a:rPr>
              <a:t>AI usage</a:t>
            </a:r>
            <a:endParaRPr lang="en-US" noProof="0" dirty="0">
              <a:solidFill>
                <a:srgbClr val="D0180A"/>
              </a:solidFill>
            </a:endParaRPr>
          </a:p>
        </p:txBody>
      </p:sp>
      <p:sp>
        <p:nvSpPr>
          <p:cNvPr id="34" name="TextBox 33">
            <a:extLst>
              <a:ext uri="{FF2B5EF4-FFF2-40B4-BE49-F238E27FC236}">
                <a16:creationId xmlns:a16="http://schemas.microsoft.com/office/drawing/2014/main" id="{C514BFE6-1F3D-F774-E88B-237E639F4199}"/>
              </a:ext>
            </a:extLst>
          </p:cNvPr>
          <p:cNvSpPr txBox="1"/>
          <p:nvPr/>
        </p:nvSpPr>
        <p:spPr>
          <a:xfrm>
            <a:off x="3356236" y="3472443"/>
            <a:ext cx="1922129" cy="369332"/>
          </a:xfrm>
          <a:prstGeom prst="rect">
            <a:avLst/>
          </a:prstGeom>
          <a:noFill/>
        </p:spPr>
        <p:txBody>
          <a:bodyPr wrap="none" rtlCol="0">
            <a:spAutoFit/>
          </a:bodyPr>
          <a:lstStyle/>
          <a:p>
            <a:r>
              <a:rPr lang="de-DE" noProof="0" dirty="0">
                <a:solidFill>
                  <a:srgbClr val="006D70"/>
                </a:solidFill>
              </a:rPr>
              <a:t>B</a:t>
            </a:r>
            <a:r>
              <a:rPr lang="en-SE" noProof="0" dirty="0">
                <a:solidFill>
                  <a:srgbClr val="006D70"/>
                </a:solidFill>
              </a:rPr>
              <a:t>ug identification</a:t>
            </a:r>
          </a:p>
        </p:txBody>
      </p:sp>
      <p:sp>
        <p:nvSpPr>
          <p:cNvPr id="35" name="Oval 34">
            <a:extLst>
              <a:ext uri="{FF2B5EF4-FFF2-40B4-BE49-F238E27FC236}">
                <a16:creationId xmlns:a16="http://schemas.microsoft.com/office/drawing/2014/main" id="{44AE8E21-9EE5-7AB0-4E91-0507232074EB}"/>
              </a:ext>
            </a:extLst>
          </p:cNvPr>
          <p:cNvSpPr/>
          <p:nvPr/>
        </p:nvSpPr>
        <p:spPr>
          <a:xfrm>
            <a:off x="2709668" y="4655409"/>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36" name="TextBox 35">
            <a:extLst>
              <a:ext uri="{FF2B5EF4-FFF2-40B4-BE49-F238E27FC236}">
                <a16:creationId xmlns:a16="http://schemas.microsoft.com/office/drawing/2014/main" id="{33D0ED3D-F66D-7F75-B254-F3E36A7EDF28}"/>
              </a:ext>
            </a:extLst>
          </p:cNvPr>
          <p:cNvSpPr txBox="1"/>
          <p:nvPr/>
        </p:nvSpPr>
        <p:spPr>
          <a:xfrm>
            <a:off x="3196572" y="4655409"/>
            <a:ext cx="64633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a:solidFill>
                  <a:schemeClr val="tx1">
                    <a:lumMod val="65000"/>
                    <a:lumOff val="35000"/>
                  </a:schemeClr>
                </a:solidFill>
              </a:rPr>
              <a:t>kill </a:t>
            </a:r>
            <a:endParaRPr lang="en-US" noProof="0" dirty="0">
              <a:solidFill>
                <a:schemeClr val="tx1">
                  <a:lumMod val="65000"/>
                  <a:lumOff val="35000"/>
                </a:schemeClr>
              </a:solidFill>
            </a:endParaRPr>
          </a:p>
        </p:txBody>
      </p:sp>
      <p:cxnSp>
        <p:nvCxnSpPr>
          <p:cNvPr id="37" name="Straight Arrow Connector 36">
            <a:extLst>
              <a:ext uri="{FF2B5EF4-FFF2-40B4-BE49-F238E27FC236}">
                <a16:creationId xmlns:a16="http://schemas.microsoft.com/office/drawing/2014/main" id="{4BB427DE-FA27-9ABC-822C-11AE04D7F65E}"/>
              </a:ext>
            </a:extLst>
          </p:cNvPr>
          <p:cNvCxnSpPr>
            <a:cxnSpLocks/>
            <a:stCxn id="35" idx="7"/>
            <a:endCxn id="31" idx="3"/>
          </p:cNvCxnSpPr>
          <p:nvPr/>
        </p:nvCxnSpPr>
        <p:spPr>
          <a:xfrm flipV="1">
            <a:off x="3016947" y="4196367"/>
            <a:ext cx="991132" cy="511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5AC07EC1-46C9-1153-4261-0E2D84B20B4C}"/>
              </a:ext>
            </a:extLst>
          </p:cNvPr>
          <p:cNvCxnSpPr>
            <a:cxnSpLocks/>
            <a:stCxn id="35" idx="1"/>
            <a:endCxn id="30" idx="5"/>
          </p:cNvCxnSpPr>
          <p:nvPr/>
        </p:nvCxnSpPr>
        <p:spPr>
          <a:xfrm flipH="1" flipV="1">
            <a:off x="1771257" y="4196367"/>
            <a:ext cx="991132" cy="511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aphicFrame>
        <p:nvGraphicFramePr>
          <p:cNvPr id="39" name="Table 38">
            <a:extLst>
              <a:ext uri="{FF2B5EF4-FFF2-40B4-BE49-F238E27FC236}">
                <a16:creationId xmlns:a16="http://schemas.microsoft.com/office/drawing/2014/main" id="{71BA1863-0B3A-D1DF-7153-3EF4DA86CC21}"/>
              </a:ext>
            </a:extLst>
          </p:cNvPr>
          <p:cNvGraphicFramePr>
            <a:graphicFrameLocks noGrp="1"/>
          </p:cNvGraphicFramePr>
          <p:nvPr>
            <p:extLst>
              <p:ext uri="{D42A27DB-BD31-4B8C-83A1-F6EECF244321}">
                <p14:modId xmlns:p14="http://schemas.microsoft.com/office/powerpoint/2010/main" val="562743638"/>
              </p:ext>
            </p:extLst>
          </p:nvPr>
        </p:nvGraphicFramePr>
        <p:xfrm>
          <a:off x="5598324" y="3046257"/>
          <a:ext cx="5755476" cy="2291080"/>
        </p:xfrm>
        <a:graphic>
          <a:graphicData uri="http://schemas.openxmlformats.org/drawingml/2006/table">
            <a:tbl>
              <a:tblPr firstRow="1" bandRow="1">
                <a:tableStyleId>{073A0DAA-6AF3-43AB-8588-CEC1D06C72B9}</a:tableStyleId>
              </a:tblPr>
              <a:tblGrid>
                <a:gridCol w="586576">
                  <a:extLst>
                    <a:ext uri="{9D8B030D-6E8A-4147-A177-3AD203B41FA5}">
                      <a16:colId xmlns:a16="http://schemas.microsoft.com/office/drawing/2014/main" val="895537892"/>
                    </a:ext>
                  </a:extLst>
                </a:gridCol>
                <a:gridCol w="2831778">
                  <a:extLst>
                    <a:ext uri="{9D8B030D-6E8A-4147-A177-3AD203B41FA5}">
                      <a16:colId xmlns:a16="http://schemas.microsoft.com/office/drawing/2014/main" val="1260121988"/>
                    </a:ext>
                  </a:extLst>
                </a:gridCol>
                <a:gridCol w="2337122">
                  <a:extLst>
                    <a:ext uri="{9D8B030D-6E8A-4147-A177-3AD203B41FA5}">
                      <a16:colId xmlns:a16="http://schemas.microsoft.com/office/drawing/2014/main" val="4016704642"/>
                    </a:ext>
                  </a:extLst>
                </a:gridCol>
              </a:tblGrid>
              <a:tr h="370840">
                <a:tc>
                  <a:txBody>
                    <a:bodyPr/>
                    <a:lstStyle/>
                    <a:p>
                      <a:r>
                        <a:rPr lang="en-SE" dirty="0"/>
                        <a:t>Var</a:t>
                      </a:r>
                    </a:p>
                  </a:txBody>
                  <a:tcPr/>
                </a:tc>
                <a:tc>
                  <a:txBody>
                    <a:bodyPr/>
                    <a:lstStyle/>
                    <a:p>
                      <a:r>
                        <a:rPr lang="en-SE" dirty="0"/>
                        <a:t>Name</a:t>
                      </a:r>
                    </a:p>
                  </a:txBody>
                  <a:tcPr/>
                </a:tc>
                <a:tc>
                  <a:txBody>
                    <a:bodyPr/>
                    <a:lstStyle/>
                    <a:p>
                      <a:r>
                        <a:rPr lang="en-SE" dirty="0"/>
                        <a:t>Type</a:t>
                      </a:r>
                    </a:p>
                  </a:txBody>
                  <a:tcPr/>
                </a:tc>
                <a:extLst>
                  <a:ext uri="{0D108BD9-81ED-4DB2-BD59-A6C34878D82A}">
                    <a16:rowId xmlns:a16="http://schemas.microsoft.com/office/drawing/2014/main" val="3359954214"/>
                  </a:ext>
                </a:extLst>
              </a:tr>
              <a:tr h="370840">
                <a:tc>
                  <a:txBody>
                    <a:bodyPr/>
                    <a:lstStyle/>
                    <a:p>
                      <a:r>
                        <a:rPr lang="en-SE" dirty="0">
                          <a:solidFill>
                            <a:srgbClr val="D0180A"/>
                          </a:solidFill>
                        </a:rPr>
                        <a:t>x</a:t>
                      </a:r>
                    </a:p>
                  </a:txBody>
                  <a:tcPr/>
                </a:tc>
                <a:tc>
                  <a:txBody>
                    <a:bodyPr/>
                    <a:lstStyle/>
                    <a:p>
                      <a:r>
                        <a:rPr lang="en-SE" dirty="0">
                          <a:solidFill>
                            <a:srgbClr val="D0180A"/>
                          </a:solidFill>
                        </a:rPr>
                        <a:t>Measure of AI usage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Continuous, Gaussian-distributed</a:t>
                      </a:r>
                    </a:p>
                  </a:txBody>
                  <a:tcPr/>
                </a:tc>
                <a:extLst>
                  <a:ext uri="{0D108BD9-81ED-4DB2-BD59-A6C34878D82A}">
                    <a16:rowId xmlns:a16="http://schemas.microsoft.com/office/drawing/2014/main" val="1624395363"/>
                  </a:ext>
                </a:extLst>
              </a:tr>
              <a:tr h="370840">
                <a:tc>
                  <a:txBody>
                    <a:bodyPr/>
                    <a:lstStyle/>
                    <a:p>
                      <a:r>
                        <a:rPr lang="en-SE" dirty="0">
                          <a:solidFill>
                            <a:srgbClr val="006D70"/>
                          </a:solidFill>
                        </a:rPr>
                        <a:t>y</a:t>
                      </a:r>
                    </a:p>
                  </a:txBody>
                  <a:tcPr/>
                </a:tc>
                <a:tc>
                  <a:txBody>
                    <a:bodyPr/>
                    <a:lstStyle/>
                    <a:p>
                      <a:r>
                        <a:rPr lang="en-SE" dirty="0">
                          <a:solidFill>
                            <a:srgbClr val="006D70"/>
                          </a:solidFill>
                        </a:rPr>
                        <a:t>Number of code snippet where a bug was identified</a:t>
                      </a:r>
                    </a:p>
                  </a:txBody>
                  <a:tcPr/>
                </a:tc>
                <a:tc>
                  <a:txBody>
                    <a:bodyPr/>
                    <a:lstStyle/>
                    <a:p>
                      <a:r>
                        <a:rPr lang="en-SE" dirty="0"/>
                        <a:t>Positive count of successful trials</a:t>
                      </a:r>
                    </a:p>
                  </a:txBody>
                  <a:tcPr>
                    <a:solidFill>
                      <a:schemeClr val="bg2">
                        <a:lumMod val="40000"/>
                        <a:lumOff val="60000"/>
                      </a:schemeClr>
                    </a:solidFill>
                  </a:tcPr>
                </a:tc>
                <a:extLst>
                  <a:ext uri="{0D108BD9-81ED-4DB2-BD59-A6C34878D82A}">
                    <a16:rowId xmlns:a16="http://schemas.microsoft.com/office/drawing/2014/main" val="3142312279"/>
                  </a:ext>
                </a:extLst>
              </a:tr>
              <a:tr h="370840">
                <a:tc>
                  <a:txBody>
                    <a:bodyPr/>
                    <a:lstStyle/>
                    <a:p>
                      <a:r>
                        <a:rPr lang="en-SE" dirty="0"/>
                        <a:t>z</a:t>
                      </a:r>
                    </a:p>
                  </a:txBody>
                  <a:tcPr/>
                </a:tc>
                <a:tc>
                  <a:txBody>
                    <a:bodyPr/>
                    <a:lstStyle/>
                    <a:p>
                      <a:r>
                        <a:rPr lang="en-SE" dirty="0"/>
                        <a:t>Skill of a code reviewer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Continuous, Gaussian-distributed</a:t>
                      </a:r>
                    </a:p>
                  </a:txBody>
                  <a:tcPr/>
                </a:tc>
                <a:extLst>
                  <a:ext uri="{0D108BD9-81ED-4DB2-BD59-A6C34878D82A}">
                    <a16:rowId xmlns:a16="http://schemas.microsoft.com/office/drawing/2014/main" val="1763837834"/>
                  </a:ext>
                </a:extLst>
              </a:tr>
            </a:tbl>
          </a:graphicData>
        </a:graphic>
      </p:graphicFrame>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7DB06102-3B60-CBEB-A0A7-36F185F7C971}"/>
                  </a:ext>
                </a:extLst>
              </p:cNvPr>
              <p:cNvSpPr txBox="1"/>
              <p:nvPr/>
            </p:nvSpPr>
            <p:spPr>
              <a:xfrm>
                <a:off x="2751040" y="3664811"/>
                <a:ext cx="2846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𝛽</m:t>
                          </m:r>
                        </m:e>
                        <m:sub>
                          <m:r>
                            <a:rPr lang="en-SE" b="0" i="1" smtClean="0">
                              <a:latin typeface="Cambria Math" panose="02040503050406030204" pitchFamily="18" charset="0"/>
                            </a:rPr>
                            <m:t>𝑥</m:t>
                          </m:r>
                        </m:sub>
                      </m:sSub>
                    </m:oMath>
                  </m:oMathPara>
                </a14:m>
                <a:endParaRPr lang="en-SE" dirty="0"/>
              </a:p>
            </p:txBody>
          </p:sp>
        </mc:Choice>
        <mc:Fallback>
          <p:sp>
            <p:nvSpPr>
              <p:cNvPr id="40" name="TextBox 39">
                <a:extLst>
                  <a:ext uri="{FF2B5EF4-FFF2-40B4-BE49-F238E27FC236}">
                    <a16:creationId xmlns:a16="http://schemas.microsoft.com/office/drawing/2014/main" id="{7DB06102-3B60-CBEB-A0A7-36F185F7C971}"/>
                  </a:ext>
                </a:extLst>
              </p:cNvPr>
              <p:cNvSpPr txBox="1">
                <a:spLocks noRot="1" noChangeAspect="1" noMove="1" noResize="1" noEditPoints="1" noAdjustHandles="1" noChangeArrowheads="1" noChangeShapeType="1" noTextEdit="1"/>
              </p:cNvSpPr>
              <p:nvPr/>
            </p:nvSpPr>
            <p:spPr>
              <a:xfrm>
                <a:off x="2751040" y="3664811"/>
                <a:ext cx="284693" cy="276999"/>
              </a:xfrm>
              <a:prstGeom prst="rect">
                <a:avLst/>
              </a:prstGeom>
              <a:blipFill>
                <a:blip r:embed="rId9"/>
                <a:stretch>
                  <a:fillRect l="-29787" t="-2174" r="-2128" b="-32609"/>
                </a:stretch>
              </a:blipFill>
            </p:spPr>
            <p:txBody>
              <a:bodyPr/>
              <a:lstStyle/>
              <a:p>
                <a:r>
                  <a:rPr lang="en-SE">
                    <a:noFill/>
                  </a:rPr>
                  <a:t> </a:t>
                </a:r>
              </a:p>
            </p:txBody>
          </p:sp>
        </mc:Fallback>
      </mc:AlternateContent>
      <p:sp>
        <p:nvSpPr>
          <p:cNvPr id="41" name="Content Placeholder 2">
            <a:extLst>
              <a:ext uri="{FF2B5EF4-FFF2-40B4-BE49-F238E27FC236}">
                <a16:creationId xmlns:a16="http://schemas.microsoft.com/office/drawing/2014/main" id="{EBA7FA89-9912-4823-DD77-1C5C7B83614D}"/>
              </a:ext>
            </a:extLst>
          </p:cNvPr>
          <p:cNvSpPr txBox="1">
            <a:spLocks/>
          </p:cNvSpPr>
          <p:nvPr/>
        </p:nvSpPr>
        <p:spPr>
          <a:xfrm>
            <a:off x="838198" y="5420760"/>
            <a:ext cx="10515600" cy="9355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The </a:t>
            </a:r>
            <a:r>
              <a:rPr lang="en-SE" b="1" dirty="0"/>
              <a:t>binomial distribution </a:t>
            </a:r>
            <a:r>
              <a:rPr lang="en-SE" dirty="0"/>
              <a:t>has maximum entropy under these constraints.</a:t>
            </a:r>
          </a:p>
        </p:txBody>
      </p:sp>
    </p:spTree>
    <p:extLst>
      <p:ext uri="{BB962C8B-B14F-4D97-AF65-F5344CB8AC3E}">
        <p14:creationId xmlns:p14="http://schemas.microsoft.com/office/powerpoint/2010/main" val="808992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AE02C-AE26-0AEE-E8E0-1AEB4BE9A47D}"/>
              </a:ext>
            </a:extLst>
          </p:cNvPr>
          <p:cNvSpPr>
            <a:spLocks noGrp="1"/>
          </p:cNvSpPr>
          <p:nvPr>
            <p:ph type="title"/>
          </p:nvPr>
        </p:nvSpPr>
        <p:spPr/>
        <p:txBody>
          <a:bodyPr/>
          <a:lstStyle/>
          <a:p>
            <a:r>
              <a:rPr lang="en-SE" dirty="0"/>
              <a:t>Building a Regression Formula</a:t>
            </a:r>
          </a:p>
        </p:txBody>
      </p:sp>
      <p:sp>
        <p:nvSpPr>
          <p:cNvPr id="3" name="Content Placeholder 2">
            <a:extLst>
              <a:ext uri="{FF2B5EF4-FFF2-40B4-BE49-F238E27FC236}">
                <a16:creationId xmlns:a16="http://schemas.microsoft.com/office/drawing/2014/main" id="{BDC1009D-D062-389E-9CFB-D7FE04683BD6}"/>
              </a:ext>
            </a:extLst>
          </p:cNvPr>
          <p:cNvSpPr>
            <a:spLocks noGrp="1"/>
          </p:cNvSpPr>
          <p:nvPr>
            <p:ph idx="1"/>
          </p:nvPr>
        </p:nvSpPr>
        <p:spPr>
          <a:xfrm>
            <a:off x="838200" y="1825625"/>
            <a:ext cx="10515600" cy="991204"/>
          </a:xfrm>
        </p:spPr>
        <p:txBody>
          <a:bodyPr/>
          <a:lstStyle/>
          <a:p>
            <a:pPr marL="0" indent="0">
              <a:buNone/>
            </a:pPr>
            <a:r>
              <a:rPr lang="en-SE" dirty="0"/>
              <a:t>Modelling the outcome variable y with the Binomial distribution requires updating our Bayesian model:</a:t>
            </a:r>
          </a:p>
        </p:txBody>
      </p:sp>
      <p:sp>
        <p:nvSpPr>
          <p:cNvPr id="4" name="Date Placeholder 3">
            <a:extLst>
              <a:ext uri="{FF2B5EF4-FFF2-40B4-BE49-F238E27FC236}">
                <a16:creationId xmlns:a16="http://schemas.microsoft.com/office/drawing/2014/main" id="{E49D4FFD-0D8C-D010-9D62-A9460A5313A5}"/>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00E6C0A4-9771-E20F-8E03-15D3A688F846}"/>
              </a:ext>
            </a:extLst>
          </p:cNvPr>
          <p:cNvSpPr>
            <a:spLocks noGrp="1"/>
          </p:cNvSpPr>
          <p:nvPr>
            <p:ph type="sldNum" sz="quarter" idx="12"/>
          </p:nvPr>
        </p:nvSpPr>
        <p:spPr/>
        <p:txBody>
          <a:bodyPr/>
          <a:lstStyle/>
          <a:p>
            <a:fld id="{271ECC92-9CDE-4EB3-B1C5-F46B9E1FA3C1}" type="slidenum">
              <a:rPr lang="en-SE" smtClean="0"/>
              <a:t>78</a:t>
            </a:fld>
            <a:endParaRPr lang="en-SE"/>
          </a:p>
        </p:txBody>
      </p:sp>
      <p:sp>
        <p:nvSpPr>
          <p:cNvPr id="6" name="Footer Placeholder 5">
            <a:extLst>
              <a:ext uri="{FF2B5EF4-FFF2-40B4-BE49-F238E27FC236}">
                <a16:creationId xmlns:a16="http://schemas.microsoft.com/office/drawing/2014/main" id="{E0C9D4EE-2068-80D0-D1AD-511A80B7AC45}"/>
              </a:ext>
            </a:extLst>
          </p:cNvPr>
          <p:cNvSpPr>
            <a:spLocks noGrp="1"/>
          </p:cNvSpPr>
          <p:nvPr>
            <p:ph type="ftr" sz="quarter" idx="11"/>
          </p:nvPr>
        </p:nvSpPr>
        <p:spPr/>
        <p:txBody>
          <a:bodyPr/>
          <a:lstStyle/>
          <a:p>
            <a:r>
              <a:rPr lang="de-DE"/>
              <a:t>Bayesian Data Analysis Tutorial</a:t>
            </a:r>
            <a:endParaRPr lang="en-SE"/>
          </a:p>
        </p:txBody>
      </p:sp>
      <p:grpSp>
        <p:nvGrpSpPr>
          <p:cNvPr id="7" name="Group 6">
            <a:extLst>
              <a:ext uri="{FF2B5EF4-FFF2-40B4-BE49-F238E27FC236}">
                <a16:creationId xmlns:a16="http://schemas.microsoft.com/office/drawing/2014/main" id="{774DCB0C-8594-7756-3682-59807044F3E5}"/>
              </a:ext>
            </a:extLst>
          </p:cNvPr>
          <p:cNvGrpSpPr/>
          <p:nvPr/>
        </p:nvGrpSpPr>
        <p:grpSpPr>
          <a:xfrm>
            <a:off x="228598" y="1825625"/>
            <a:ext cx="504000" cy="504000"/>
            <a:chOff x="977950" y="2729564"/>
            <a:chExt cx="504000" cy="504000"/>
          </a:xfrm>
        </p:grpSpPr>
        <p:sp>
          <p:nvSpPr>
            <p:cNvPr id="8" name="Oval 7">
              <a:extLst>
                <a:ext uri="{FF2B5EF4-FFF2-40B4-BE49-F238E27FC236}">
                  <a16:creationId xmlns:a16="http://schemas.microsoft.com/office/drawing/2014/main" id="{FD72144A-26FD-BE79-B9EC-F6CFCE3FD886}"/>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9" name="Graphic 8" descr="Bar chart with solid fill">
              <a:extLst>
                <a:ext uri="{FF2B5EF4-FFF2-40B4-BE49-F238E27FC236}">
                  <a16:creationId xmlns:a16="http://schemas.microsoft.com/office/drawing/2014/main" id="{06EF9796-8C25-86DD-CDFA-EBEBE6A229B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31950" y="2783564"/>
              <a:ext cx="396000" cy="396000"/>
            </a:xfrm>
            <a:prstGeom prst="rect">
              <a:avLst/>
            </a:prstGeom>
          </p:spPr>
        </p:pic>
      </p:grpSp>
      <p:grpSp>
        <p:nvGrpSpPr>
          <p:cNvPr id="10" name="Group 9">
            <a:extLst>
              <a:ext uri="{FF2B5EF4-FFF2-40B4-BE49-F238E27FC236}">
                <a16:creationId xmlns:a16="http://schemas.microsoft.com/office/drawing/2014/main" id="{71CD6650-9650-6592-2E9B-462F8D89BACD}"/>
              </a:ext>
            </a:extLst>
          </p:cNvPr>
          <p:cNvGrpSpPr/>
          <p:nvPr/>
        </p:nvGrpSpPr>
        <p:grpSpPr>
          <a:xfrm>
            <a:off x="228598" y="2439322"/>
            <a:ext cx="504000" cy="504000"/>
            <a:chOff x="977950" y="2729564"/>
            <a:chExt cx="504000" cy="504000"/>
          </a:xfrm>
        </p:grpSpPr>
        <p:sp>
          <p:nvSpPr>
            <p:cNvPr id="11" name="Oval 10">
              <a:extLst>
                <a:ext uri="{FF2B5EF4-FFF2-40B4-BE49-F238E27FC236}">
                  <a16:creationId xmlns:a16="http://schemas.microsoft.com/office/drawing/2014/main" id="{878648A6-6621-93BA-6A3D-D27EDA88A965}"/>
                </a:ext>
              </a:extLst>
            </p:cNvPr>
            <p:cNvSpPr/>
            <p:nvPr/>
          </p:nvSpPr>
          <p:spPr>
            <a:xfrm>
              <a:off x="977950" y="2729564"/>
              <a:ext cx="504000" cy="504000"/>
            </a:xfrm>
            <a:prstGeom prst="ellips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Golden Ratio with solid fill">
              <a:extLst>
                <a:ext uri="{FF2B5EF4-FFF2-40B4-BE49-F238E27FC236}">
                  <a16:creationId xmlns:a16="http://schemas.microsoft.com/office/drawing/2014/main" id="{08D24CC9-2C2E-337D-60E0-C90B1D0D9D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13" name="Group 12">
            <a:extLst>
              <a:ext uri="{FF2B5EF4-FFF2-40B4-BE49-F238E27FC236}">
                <a16:creationId xmlns:a16="http://schemas.microsoft.com/office/drawing/2014/main" id="{7E6D347D-0E3B-215F-5B71-F06D6FCEDD5B}"/>
              </a:ext>
            </a:extLst>
          </p:cNvPr>
          <p:cNvGrpSpPr/>
          <p:nvPr/>
        </p:nvGrpSpPr>
        <p:grpSpPr>
          <a:xfrm>
            <a:off x="228598" y="3053019"/>
            <a:ext cx="504000" cy="504000"/>
            <a:chOff x="977950" y="2729564"/>
            <a:chExt cx="504000" cy="504000"/>
          </a:xfrm>
        </p:grpSpPr>
        <p:sp>
          <p:nvSpPr>
            <p:cNvPr id="14" name="Oval 13">
              <a:extLst>
                <a:ext uri="{FF2B5EF4-FFF2-40B4-BE49-F238E27FC236}">
                  <a16:creationId xmlns:a16="http://schemas.microsoft.com/office/drawing/2014/main" id="{3332E926-4E11-D7D6-2251-0EC20B60B914}"/>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Graphic 14" descr="Normal Distribution with solid fill">
              <a:extLst>
                <a:ext uri="{FF2B5EF4-FFF2-40B4-BE49-F238E27FC236}">
                  <a16:creationId xmlns:a16="http://schemas.microsoft.com/office/drawing/2014/main" id="{DF20F16B-13C2-7DA0-5F0D-03303EF295B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16" name="Group 15">
            <a:extLst>
              <a:ext uri="{FF2B5EF4-FFF2-40B4-BE49-F238E27FC236}">
                <a16:creationId xmlns:a16="http://schemas.microsoft.com/office/drawing/2014/main" id="{77C6B1D3-8096-AB96-6D53-62E2B194F75C}"/>
              </a:ext>
            </a:extLst>
          </p:cNvPr>
          <p:cNvGrpSpPr/>
          <p:nvPr/>
        </p:nvGrpSpPr>
        <p:grpSpPr>
          <a:xfrm>
            <a:off x="228598" y="3666716"/>
            <a:ext cx="504000" cy="504000"/>
            <a:chOff x="977950" y="2729564"/>
            <a:chExt cx="504000" cy="504000"/>
          </a:xfrm>
        </p:grpSpPr>
        <p:sp>
          <p:nvSpPr>
            <p:cNvPr id="17" name="Oval 16">
              <a:extLst>
                <a:ext uri="{FF2B5EF4-FFF2-40B4-BE49-F238E27FC236}">
                  <a16:creationId xmlns:a16="http://schemas.microsoft.com/office/drawing/2014/main" id="{8051D73B-3C08-38CD-62B6-2641BC121C6F}"/>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Graphic 17" descr="Abacus with solid fill">
              <a:extLst>
                <a:ext uri="{FF2B5EF4-FFF2-40B4-BE49-F238E27FC236}">
                  <a16:creationId xmlns:a16="http://schemas.microsoft.com/office/drawing/2014/main" id="{BDB45C4D-DDEA-9E6C-D477-CE3049A0711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19" name="Group 18">
            <a:extLst>
              <a:ext uri="{FF2B5EF4-FFF2-40B4-BE49-F238E27FC236}">
                <a16:creationId xmlns:a16="http://schemas.microsoft.com/office/drawing/2014/main" id="{A8276C18-1143-31A6-2E94-2C3A1F345DB5}"/>
              </a:ext>
            </a:extLst>
          </p:cNvPr>
          <p:cNvGrpSpPr/>
          <p:nvPr/>
        </p:nvGrpSpPr>
        <p:grpSpPr>
          <a:xfrm>
            <a:off x="228598" y="4280413"/>
            <a:ext cx="504000" cy="504000"/>
            <a:chOff x="977950" y="2729564"/>
            <a:chExt cx="504000" cy="504000"/>
          </a:xfrm>
        </p:grpSpPr>
        <p:sp>
          <p:nvSpPr>
            <p:cNvPr id="20" name="Oval 19">
              <a:extLst>
                <a:ext uri="{FF2B5EF4-FFF2-40B4-BE49-F238E27FC236}">
                  <a16:creationId xmlns:a16="http://schemas.microsoft.com/office/drawing/2014/main" id="{90420207-F17F-CD17-07C9-492C90620E62}"/>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1" name="Graphic 20" descr="Trigonometry with solid fill">
              <a:extLst>
                <a:ext uri="{FF2B5EF4-FFF2-40B4-BE49-F238E27FC236}">
                  <a16:creationId xmlns:a16="http://schemas.microsoft.com/office/drawing/2014/main" id="{B3D8BEE1-F53D-6A18-6541-1852AF60AAD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22" name="Group 21">
            <a:extLst>
              <a:ext uri="{FF2B5EF4-FFF2-40B4-BE49-F238E27FC236}">
                <a16:creationId xmlns:a16="http://schemas.microsoft.com/office/drawing/2014/main" id="{849BBFC7-E316-BD49-A996-B1CC5886D1D6}"/>
              </a:ext>
            </a:extLst>
          </p:cNvPr>
          <p:cNvGrpSpPr/>
          <p:nvPr/>
        </p:nvGrpSpPr>
        <p:grpSpPr>
          <a:xfrm>
            <a:off x="228598" y="4894111"/>
            <a:ext cx="504000" cy="504000"/>
            <a:chOff x="977950" y="2729564"/>
            <a:chExt cx="504000" cy="504000"/>
          </a:xfrm>
        </p:grpSpPr>
        <p:sp>
          <p:nvSpPr>
            <p:cNvPr id="23" name="Oval 22">
              <a:extLst>
                <a:ext uri="{FF2B5EF4-FFF2-40B4-BE49-F238E27FC236}">
                  <a16:creationId xmlns:a16="http://schemas.microsoft.com/office/drawing/2014/main" id="{D32CFA2A-2F02-1069-BF5A-41D1E91A2D5A}"/>
                </a:ext>
              </a:extLst>
            </p:cNvPr>
            <p:cNvSpPr/>
            <p:nvPr/>
          </p:nvSpPr>
          <p:spPr>
            <a:xfrm>
              <a:off x="977950" y="2729564"/>
              <a:ext cx="504000" cy="504000"/>
            </a:xfrm>
            <a:prstGeom prst="ellipse">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4" name="Graphic 23" descr="Scatterplot with solid fill">
              <a:extLst>
                <a:ext uri="{FF2B5EF4-FFF2-40B4-BE49-F238E27FC236}">
                  <a16:creationId xmlns:a16="http://schemas.microsoft.com/office/drawing/2014/main" id="{A19CB34C-E5EE-43B6-43B0-F6D9CA9B0C8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25" name="Straight Arrow Connector 24">
            <a:extLst>
              <a:ext uri="{FF2B5EF4-FFF2-40B4-BE49-F238E27FC236}">
                <a16:creationId xmlns:a16="http://schemas.microsoft.com/office/drawing/2014/main" id="{E2E99CD1-5A79-B520-20D7-A68C19C7F8DE}"/>
              </a:ext>
            </a:extLst>
          </p:cNvPr>
          <p:cNvCxnSpPr>
            <a:stCxn id="8" idx="4"/>
            <a:endCxn id="11"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7BCC371E-ECBC-7DFF-DA6B-0C4C3C114BEC}"/>
              </a:ext>
            </a:extLst>
          </p:cNvPr>
          <p:cNvCxnSpPr>
            <a:cxnSpLocks/>
            <a:stCxn id="11" idx="4"/>
            <a:endCxn id="14"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ED0D01A4-A429-9465-CA08-0CFD01DD5663}"/>
              </a:ext>
            </a:extLst>
          </p:cNvPr>
          <p:cNvCxnSpPr>
            <a:cxnSpLocks/>
            <a:stCxn id="14" idx="4"/>
            <a:endCxn id="17"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0FB8B7D9-4B3B-C1D9-A926-CDCF0C7D2E42}"/>
              </a:ext>
            </a:extLst>
          </p:cNvPr>
          <p:cNvCxnSpPr>
            <a:cxnSpLocks/>
            <a:stCxn id="17" idx="4"/>
            <a:endCxn id="20"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9D323FF9-A82A-9FE8-0D3C-9AB885838D5A}"/>
              </a:ext>
            </a:extLst>
          </p:cNvPr>
          <p:cNvCxnSpPr>
            <a:cxnSpLocks/>
            <a:stCxn id="20" idx="4"/>
            <a:endCxn id="23"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1" name="Rectangle: Rounded Corners 30">
            <a:extLst>
              <a:ext uri="{FF2B5EF4-FFF2-40B4-BE49-F238E27FC236}">
                <a16:creationId xmlns:a16="http://schemas.microsoft.com/office/drawing/2014/main" id="{E2CCBB4F-B124-C90A-984C-F1EA339666F8}"/>
              </a:ext>
            </a:extLst>
          </p:cNvPr>
          <p:cNvSpPr/>
          <p:nvPr/>
        </p:nvSpPr>
        <p:spPr>
          <a:xfrm>
            <a:off x="838198" y="2947129"/>
            <a:ext cx="4204138" cy="2913468"/>
          </a:xfrm>
          <a:prstGeom prst="roundRect">
            <a:avLst>
              <a:gd name="adj" fmla="val 10544"/>
            </a:avLst>
          </a:prstGeom>
          <a:solidFill>
            <a:schemeClr val="accent5">
              <a:lumMod val="20000"/>
              <a:lumOff val="80000"/>
            </a:schemeClr>
          </a:solidFill>
          <a:ln>
            <a:solidFill>
              <a:schemeClr val="accent4">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SE" dirty="0">
                <a:solidFill>
                  <a:sysClr val="windowText" lastClr="000000"/>
                </a:solidFill>
              </a:rPr>
              <a:t>Bayesian Model</a:t>
            </a:r>
          </a:p>
        </p:txBody>
      </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A14A3F2B-B6A4-6637-980D-53AFB736C13E}"/>
                  </a:ext>
                </a:extLst>
              </p:cNvPr>
              <p:cNvSpPr txBox="1"/>
              <p:nvPr/>
            </p:nvSpPr>
            <p:spPr>
              <a:xfrm>
                <a:off x="1308972" y="3549182"/>
                <a:ext cx="259526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𝑦</m:t>
                      </m:r>
                      <m:r>
                        <a:rPr lang="en-SE" sz="2400" b="0" i="1" smtClean="0">
                          <a:latin typeface="Cambria Math" panose="02040503050406030204" pitchFamily="18" charset="0"/>
                        </a:rPr>
                        <m:t> ~ </m:t>
                      </m:r>
                      <m:r>
                        <a:rPr lang="en-SE" sz="2400" b="0" i="1" smtClean="0">
                          <a:latin typeface="Cambria Math" panose="02040503050406030204" pitchFamily="18" charset="0"/>
                        </a:rPr>
                        <m:t>𝐵𝑖𝑛𝑜𝑚𝑖𝑎𝑙</m:t>
                      </m:r>
                      <m:r>
                        <a:rPr lang="en-SE" sz="2400" b="0" i="1" smtClean="0">
                          <a:latin typeface="Cambria Math" panose="02040503050406030204" pitchFamily="18" charset="0"/>
                        </a:rPr>
                        <m:t>(</m:t>
                      </m:r>
                      <m:r>
                        <a:rPr lang="en-SE" sz="2400" b="0" i="1" smtClean="0">
                          <a:latin typeface="Cambria Math" panose="02040503050406030204" pitchFamily="18" charset="0"/>
                        </a:rPr>
                        <m:t>𝑛</m:t>
                      </m:r>
                      <m:r>
                        <a:rPr lang="en-SE" sz="2400" b="0" i="1" smtClean="0">
                          <a:latin typeface="Cambria Math" panose="02040503050406030204" pitchFamily="18" charset="0"/>
                        </a:rPr>
                        <m:t>, </m:t>
                      </m:r>
                      <m:r>
                        <a:rPr lang="en-SE" sz="2400" b="0" i="1" smtClean="0">
                          <a:latin typeface="Cambria Math" panose="02040503050406030204" pitchFamily="18" charset="0"/>
                        </a:rPr>
                        <m:t>𝑝</m:t>
                      </m:r>
                      <m:r>
                        <a:rPr lang="en-SE" sz="2400" b="0" i="1" smtClean="0">
                          <a:latin typeface="Cambria Math" panose="02040503050406030204" pitchFamily="18" charset="0"/>
                        </a:rPr>
                        <m:t>)</m:t>
                      </m:r>
                    </m:oMath>
                  </m:oMathPara>
                </a14:m>
                <a:endParaRPr lang="en-SE" sz="2400" dirty="0"/>
              </a:p>
            </p:txBody>
          </p:sp>
        </mc:Choice>
        <mc:Fallback>
          <p:sp>
            <p:nvSpPr>
              <p:cNvPr id="33" name="TextBox 32">
                <a:extLst>
                  <a:ext uri="{FF2B5EF4-FFF2-40B4-BE49-F238E27FC236}">
                    <a16:creationId xmlns:a16="http://schemas.microsoft.com/office/drawing/2014/main" id="{A14A3F2B-B6A4-6637-980D-53AFB736C13E}"/>
                  </a:ext>
                </a:extLst>
              </p:cNvPr>
              <p:cNvSpPr txBox="1">
                <a:spLocks noRot="1" noChangeAspect="1" noMove="1" noResize="1" noEditPoints="1" noAdjustHandles="1" noChangeArrowheads="1" noChangeShapeType="1" noTextEdit="1"/>
              </p:cNvSpPr>
              <p:nvPr/>
            </p:nvSpPr>
            <p:spPr>
              <a:xfrm>
                <a:off x="1308972" y="3549182"/>
                <a:ext cx="2595262" cy="369332"/>
              </a:xfrm>
              <a:prstGeom prst="rect">
                <a:avLst/>
              </a:prstGeom>
              <a:blipFill>
                <a:blip r:embed="rId8"/>
                <a:stretch>
                  <a:fillRect l="-2588" t="-1639" r="-4000" b="-3278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FBCB9A6D-0DB8-FD49-03B0-894502878BA9}"/>
                  </a:ext>
                </a:extLst>
              </p:cNvPr>
              <p:cNvSpPr txBox="1"/>
              <p:nvPr/>
            </p:nvSpPr>
            <p:spPr>
              <a:xfrm>
                <a:off x="1224661" y="3946684"/>
                <a:ext cx="310129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𝑝</m:t>
                      </m:r>
                      <m:r>
                        <a:rPr lang="en-SE" sz="2400" b="0" i="1" smtClean="0">
                          <a:latin typeface="Cambria Math" panose="02040503050406030204" pitchFamily="18" charset="0"/>
                        </a:rPr>
                        <m:t>←</m:t>
                      </m:r>
                      <m:r>
                        <a:rPr lang="en-SE" sz="2400" b="0" i="1" smtClean="0">
                          <a:latin typeface="Cambria Math" panose="02040503050406030204" pitchFamily="18" charset="0"/>
                        </a:rPr>
                        <m:t>𝛼</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𝑥</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𝑧</m:t>
                      </m:r>
                    </m:oMath>
                  </m:oMathPara>
                </a14:m>
                <a:endParaRPr lang="en-SE" sz="2400" dirty="0"/>
              </a:p>
            </p:txBody>
          </p:sp>
        </mc:Choice>
        <mc:Fallback>
          <p:sp>
            <p:nvSpPr>
              <p:cNvPr id="35" name="TextBox 34">
                <a:extLst>
                  <a:ext uri="{FF2B5EF4-FFF2-40B4-BE49-F238E27FC236}">
                    <a16:creationId xmlns:a16="http://schemas.microsoft.com/office/drawing/2014/main" id="{FBCB9A6D-0DB8-FD49-03B0-894502878BA9}"/>
                  </a:ext>
                </a:extLst>
              </p:cNvPr>
              <p:cNvSpPr txBox="1">
                <a:spLocks noRot="1" noChangeAspect="1" noMove="1" noResize="1" noEditPoints="1" noAdjustHandles="1" noChangeArrowheads="1" noChangeShapeType="1" noTextEdit="1"/>
              </p:cNvSpPr>
              <p:nvPr/>
            </p:nvSpPr>
            <p:spPr>
              <a:xfrm>
                <a:off x="1224661" y="3946684"/>
                <a:ext cx="3101297" cy="369332"/>
              </a:xfrm>
              <a:prstGeom prst="rect">
                <a:avLst/>
              </a:prstGeom>
              <a:blipFill>
                <a:blip r:embed="rId9"/>
                <a:stretch>
                  <a:fillRect l="-196" t="-1639" b="-3278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59911B27-FA61-516E-8C9A-49AF10349778}"/>
                  </a:ext>
                </a:extLst>
              </p:cNvPr>
              <p:cNvSpPr txBox="1"/>
              <p:nvPr/>
            </p:nvSpPr>
            <p:spPr>
              <a:xfrm>
                <a:off x="1279605" y="4364889"/>
                <a:ext cx="16328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𝛼</m:t>
                      </m:r>
                      <m:r>
                        <a:rPr lang="en-SE" sz="2400" b="0" i="1" smtClean="0">
                          <a:latin typeface="Cambria Math" panose="02040503050406030204" pitchFamily="18" charset="0"/>
                        </a:rPr>
                        <m:t>∼</m:t>
                      </m:r>
                      <m:r>
                        <a:rPr lang="en-SE" sz="2400" b="0" i="1" smtClean="0">
                          <a:latin typeface="Cambria Math" panose="02040503050406030204" pitchFamily="18" charset="0"/>
                        </a:rPr>
                        <m:t>𝑁</m:t>
                      </m:r>
                      <m:r>
                        <a:rPr lang="en-SE" sz="2400" b="0" i="1" smtClean="0">
                          <a:latin typeface="Cambria Math" panose="02040503050406030204" pitchFamily="18" charset="0"/>
                        </a:rPr>
                        <m:t>(0, 1)</m:t>
                      </m:r>
                    </m:oMath>
                  </m:oMathPara>
                </a14:m>
                <a:endParaRPr lang="en-SE" sz="2400" dirty="0"/>
              </a:p>
            </p:txBody>
          </p:sp>
        </mc:Choice>
        <mc:Fallback>
          <p:sp>
            <p:nvSpPr>
              <p:cNvPr id="37" name="TextBox 36">
                <a:extLst>
                  <a:ext uri="{FF2B5EF4-FFF2-40B4-BE49-F238E27FC236}">
                    <a16:creationId xmlns:a16="http://schemas.microsoft.com/office/drawing/2014/main" id="{59911B27-FA61-516E-8C9A-49AF10349778}"/>
                  </a:ext>
                </a:extLst>
              </p:cNvPr>
              <p:cNvSpPr txBox="1">
                <a:spLocks noRot="1" noChangeAspect="1" noMove="1" noResize="1" noEditPoints="1" noAdjustHandles="1" noChangeArrowheads="1" noChangeShapeType="1" noTextEdit="1"/>
              </p:cNvSpPr>
              <p:nvPr/>
            </p:nvSpPr>
            <p:spPr>
              <a:xfrm>
                <a:off x="1279605" y="4364889"/>
                <a:ext cx="1632883" cy="369332"/>
              </a:xfrm>
              <a:prstGeom prst="rect">
                <a:avLst/>
              </a:prstGeom>
              <a:blipFill>
                <a:blip r:embed="rId10"/>
                <a:stretch>
                  <a:fillRect l="-1119" t="-1639" r="-5224" b="-3278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824F37D7-ECAF-6855-82C6-20C3966B4953}"/>
                  </a:ext>
                </a:extLst>
              </p:cNvPr>
              <p:cNvSpPr txBox="1"/>
              <p:nvPr/>
            </p:nvSpPr>
            <p:spPr>
              <a:xfrm>
                <a:off x="1145727" y="4807048"/>
                <a:ext cx="2015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𝑁</m:t>
                      </m:r>
                      <m:r>
                        <a:rPr lang="en-SE" sz="2400" b="0" i="1" smtClean="0">
                          <a:latin typeface="Cambria Math" panose="02040503050406030204" pitchFamily="18" charset="0"/>
                        </a:rPr>
                        <m:t>(0, 0.5)</m:t>
                      </m:r>
                    </m:oMath>
                  </m:oMathPara>
                </a14:m>
                <a:endParaRPr lang="en-SE" sz="2400" dirty="0"/>
              </a:p>
            </p:txBody>
          </p:sp>
        </mc:Choice>
        <mc:Fallback>
          <p:sp>
            <p:nvSpPr>
              <p:cNvPr id="39" name="TextBox 38">
                <a:extLst>
                  <a:ext uri="{FF2B5EF4-FFF2-40B4-BE49-F238E27FC236}">
                    <a16:creationId xmlns:a16="http://schemas.microsoft.com/office/drawing/2014/main" id="{824F37D7-ECAF-6855-82C6-20C3966B4953}"/>
                  </a:ext>
                </a:extLst>
              </p:cNvPr>
              <p:cNvSpPr txBox="1">
                <a:spLocks noRot="1" noChangeAspect="1" noMove="1" noResize="1" noEditPoints="1" noAdjustHandles="1" noChangeArrowheads="1" noChangeShapeType="1" noTextEdit="1"/>
              </p:cNvSpPr>
              <p:nvPr/>
            </p:nvSpPr>
            <p:spPr>
              <a:xfrm>
                <a:off x="1145727" y="4807048"/>
                <a:ext cx="2015103" cy="369332"/>
              </a:xfrm>
              <a:prstGeom prst="rect">
                <a:avLst/>
              </a:prstGeom>
              <a:blipFill>
                <a:blip r:embed="rId11"/>
                <a:stretch>
                  <a:fillRect l="-3625" t="-1667" r="-3323" b="-33333"/>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D63670AA-3BF6-AF4A-A0AB-8118B8CC266C}"/>
                  </a:ext>
                </a:extLst>
              </p:cNvPr>
              <p:cNvSpPr txBox="1"/>
              <p:nvPr/>
            </p:nvSpPr>
            <p:spPr>
              <a:xfrm>
                <a:off x="1184926" y="5237230"/>
                <a:ext cx="193187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𝑁</m:t>
                      </m:r>
                      <m:r>
                        <a:rPr lang="en-SE" sz="2400" b="0" i="1" smtClean="0">
                          <a:latin typeface="Cambria Math" panose="02040503050406030204" pitchFamily="18" charset="0"/>
                        </a:rPr>
                        <m:t>(0, 0.5)</m:t>
                      </m:r>
                    </m:oMath>
                  </m:oMathPara>
                </a14:m>
                <a:endParaRPr lang="en-SE" sz="2400" dirty="0"/>
              </a:p>
            </p:txBody>
          </p:sp>
        </mc:Choice>
        <mc:Fallback>
          <p:sp>
            <p:nvSpPr>
              <p:cNvPr id="41" name="TextBox 40">
                <a:extLst>
                  <a:ext uri="{FF2B5EF4-FFF2-40B4-BE49-F238E27FC236}">
                    <a16:creationId xmlns:a16="http://schemas.microsoft.com/office/drawing/2014/main" id="{D63670AA-3BF6-AF4A-A0AB-8118B8CC266C}"/>
                  </a:ext>
                </a:extLst>
              </p:cNvPr>
              <p:cNvSpPr txBox="1">
                <a:spLocks noRot="1" noChangeAspect="1" noMove="1" noResize="1" noEditPoints="1" noAdjustHandles="1" noChangeArrowheads="1" noChangeShapeType="1" noTextEdit="1"/>
              </p:cNvSpPr>
              <p:nvPr/>
            </p:nvSpPr>
            <p:spPr>
              <a:xfrm>
                <a:off x="1184926" y="5237230"/>
                <a:ext cx="1931875" cy="369332"/>
              </a:xfrm>
              <a:prstGeom prst="rect">
                <a:avLst/>
              </a:prstGeom>
              <a:blipFill>
                <a:blip r:embed="rId12"/>
                <a:stretch>
                  <a:fillRect l="-5363" t="-1639" r="-5678" b="-32787"/>
                </a:stretch>
              </a:blipFill>
            </p:spPr>
            <p:txBody>
              <a:bodyPr/>
              <a:lstStyle/>
              <a:p>
                <a:r>
                  <a:rPr lang="en-SE">
                    <a:noFill/>
                  </a:rPr>
                  <a:t> </a:t>
                </a:r>
              </a:p>
            </p:txBody>
          </p:sp>
        </mc:Fallback>
      </mc:AlternateContent>
      <p:pic>
        <p:nvPicPr>
          <p:cNvPr id="45" name="Graphic 44" descr="Robot with solid fill">
            <a:extLst>
              <a:ext uri="{FF2B5EF4-FFF2-40B4-BE49-F238E27FC236}">
                <a16:creationId xmlns:a16="http://schemas.microsoft.com/office/drawing/2014/main" id="{ED74B29D-67B7-FCE2-EC72-60AF0B57744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79343" y="3068156"/>
            <a:ext cx="360000" cy="360000"/>
          </a:xfrm>
          <a:prstGeom prst="rect">
            <a:avLst/>
          </a:prstGeom>
        </p:spPr>
      </p:pic>
      <p:sp>
        <p:nvSpPr>
          <p:cNvPr id="47" name="Rectangle 46">
            <a:extLst>
              <a:ext uri="{FF2B5EF4-FFF2-40B4-BE49-F238E27FC236}">
                <a16:creationId xmlns:a16="http://schemas.microsoft.com/office/drawing/2014/main" id="{594EF38F-05BA-24CD-12BD-6710F8F0A36E}"/>
              </a:ext>
            </a:extLst>
          </p:cNvPr>
          <p:cNvSpPr/>
          <p:nvPr/>
        </p:nvSpPr>
        <p:spPr>
          <a:xfrm>
            <a:off x="5286713" y="3349698"/>
            <a:ext cx="6067087" cy="2510899"/>
          </a:xfrm>
          <a:prstGeom prst="rect">
            <a:avLst/>
          </a:prstGeom>
          <a:solidFill>
            <a:schemeClr val="bg1">
              <a:lumMod val="95000"/>
            </a:schemeClr>
          </a:solidFill>
          <a:ln>
            <a:solidFill>
              <a:schemeClr val="tx1">
                <a:lumMod val="50000"/>
                <a:lumOff val="50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SE" dirty="0">
                <a:solidFill>
                  <a:schemeClr val="tx1"/>
                </a:solidFill>
                <a:latin typeface="Courier New" panose="02070309020205020404" pitchFamily="49" charset="0"/>
                <a:cs typeface="Courier New" panose="02070309020205020404" pitchFamily="49" charset="0"/>
              </a:rPr>
              <a:t>model &lt;- </a:t>
            </a:r>
            <a:r>
              <a:rPr lang="en-SE" dirty="0" err="1">
                <a:solidFill>
                  <a:schemeClr val="tx1"/>
                </a:solidFill>
                <a:latin typeface="Courier New" panose="02070309020205020404" pitchFamily="49" charset="0"/>
                <a:cs typeface="Courier New" panose="02070309020205020404" pitchFamily="49" charset="0"/>
              </a:rPr>
              <a:t>brm</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y </a:t>
            </a:r>
            <a:r>
              <a:rPr lang="en-SE" b="1" dirty="0">
                <a:solidFill>
                  <a:schemeClr val="tx1"/>
                </a:solidFill>
                <a:latin typeface="Courier New" panose="02070309020205020404" pitchFamily="49" charset="0"/>
                <a:cs typeface="Courier New" panose="02070309020205020404" pitchFamily="49" charset="0"/>
              </a:rPr>
              <a:t>| trials(n)</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bg2">
                    <a:lumMod val="75000"/>
                  </a:schemeClr>
                </a:solidFill>
                <a:latin typeface="Courier New" panose="02070309020205020404" pitchFamily="49" charset="0"/>
                <a:cs typeface="Courier New" panose="02070309020205020404" pitchFamily="49" charset="0"/>
              </a:rPr>
              <a:t>1</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accent6"/>
                </a:solidFill>
                <a:latin typeface="Courier New" panose="02070309020205020404" pitchFamily="49" charset="0"/>
                <a:cs typeface="Courier New" panose="02070309020205020404" pitchFamily="49" charset="0"/>
              </a:rPr>
              <a:t>x</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accent6"/>
                </a:solidFill>
                <a:latin typeface="Courier New" panose="02070309020205020404" pitchFamily="49" charset="0"/>
                <a:cs typeface="Courier New" panose="02070309020205020404" pitchFamily="49" charset="0"/>
              </a:rPr>
              <a:t>z</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family = </a:t>
            </a:r>
            <a:r>
              <a:rPr lang="en-SE" b="1" dirty="0">
                <a:solidFill>
                  <a:schemeClr val="tx1"/>
                </a:solidFill>
                <a:latin typeface="Courier New" panose="02070309020205020404" pitchFamily="49" charset="0"/>
                <a:cs typeface="Courier New" panose="02070309020205020404" pitchFamily="49" charset="0"/>
              </a:rPr>
              <a:t>binomial</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priors = c(</a:t>
            </a:r>
          </a:p>
          <a:p>
            <a:r>
              <a:rPr lang="en-S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prior</a:t>
            </a:r>
            <a:r>
              <a:rPr lang="de-DE" dirty="0">
                <a:solidFill>
                  <a:schemeClr val="tx1"/>
                </a:solidFill>
                <a:latin typeface="Courier New" panose="02070309020205020404" pitchFamily="49" charset="0"/>
                <a:cs typeface="Courier New" panose="02070309020205020404" pitchFamily="49" charset="0"/>
              </a:rPr>
              <a:t>(normal(</a:t>
            </a:r>
            <a:r>
              <a:rPr lang="en-SE" dirty="0">
                <a:solidFill>
                  <a:schemeClr val="tx1"/>
                </a:solidFill>
                <a:latin typeface="Courier New" panose="02070309020205020404" pitchFamily="49" charset="0"/>
                <a:cs typeface="Courier New" panose="02070309020205020404" pitchFamily="49" charset="0"/>
              </a:rPr>
              <a:t>0</a:t>
            </a:r>
            <a:r>
              <a:rPr lang="de-DE" dirty="0">
                <a:solidFill>
                  <a:schemeClr val="tx1"/>
                </a:solidFill>
                <a:latin typeface="Courier New" panose="02070309020205020404" pitchFamily="49" charset="0"/>
                <a:cs typeface="Courier New" panose="02070309020205020404" pitchFamily="49" charset="0"/>
              </a:rPr>
              <a:t>, 1), </a:t>
            </a:r>
            <a:r>
              <a:rPr lang="de-DE" dirty="0" err="1">
                <a:solidFill>
                  <a:schemeClr val="tx1"/>
                </a:solidFill>
                <a:latin typeface="Courier New" panose="02070309020205020404" pitchFamily="49" charset="0"/>
                <a:cs typeface="Courier New" panose="02070309020205020404" pitchFamily="49" charset="0"/>
              </a:rPr>
              <a:t>class</a:t>
            </a:r>
            <a:r>
              <a:rPr lang="de-DE" dirty="0">
                <a:solidFill>
                  <a:schemeClr val="tx1"/>
                </a:solidFill>
                <a:latin typeface="Courier New" panose="02070309020205020404" pitchFamily="49" charset="0"/>
                <a:cs typeface="Courier New" panose="02070309020205020404" pitchFamily="49" charset="0"/>
              </a:rPr>
              <a:t> = </a:t>
            </a:r>
            <a:r>
              <a:rPr lang="de-DE" dirty="0" err="1">
                <a:solidFill>
                  <a:schemeClr val="tx1"/>
                </a:solidFill>
                <a:latin typeface="Courier New" panose="02070309020205020404" pitchFamily="49" charset="0"/>
                <a:cs typeface="Courier New" panose="02070309020205020404" pitchFamily="49" charset="0"/>
              </a:rPr>
              <a:t>Intercept</a:t>
            </a:r>
            <a:r>
              <a:rPr lang="de-DE" dirty="0">
                <a:solidFill>
                  <a:schemeClr val="tx1"/>
                </a:solidFill>
                <a:latin typeface="Courier New" panose="02070309020205020404" pitchFamily="49" charset="0"/>
                <a:cs typeface="Courier New" panose="02070309020205020404" pitchFamily="49" charset="0"/>
              </a:rPr>
              <a:t>),</a:t>
            </a:r>
            <a:endParaRPr lang="en-SE"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prior</a:t>
            </a:r>
            <a:r>
              <a:rPr lang="de-DE" dirty="0">
                <a:solidFill>
                  <a:schemeClr val="tx1"/>
                </a:solidFill>
                <a:latin typeface="Courier New" panose="02070309020205020404" pitchFamily="49" charset="0"/>
                <a:cs typeface="Courier New" panose="02070309020205020404" pitchFamily="49" charset="0"/>
              </a:rPr>
              <a:t>(normal(0, </a:t>
            </a:r>
            <a:r>
              <a:rPr lang="en-SE" dirty="0">
                <a:solidFill>
                  <a:schemeClr val="tx1"/>
                </a:solidFill>
                <a:latin typeface="Courier New" panose="02070309020205020404" pitchFamily="49" charset="0"/>
                <a:cs typeface="Courier New" panose="02070309020205020404" pitchFamily="49" charset="0"/>
              </a:rPr>
              <a:t>0.5</a:t>
            </a:r>
            <a:r>
              <a:rPr lang="de-D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class</a:t>
            </a:r>
            <a:r>
              <a:rPr lang="de-DE" dirty="0">
                <a:solidFill>
                  <a:schemeClr val="tx1"/>
                </a:solidFill>
                <a:latin typeface="Courier New" panose="02070309020205020404" pitchFamily="49" charset="0"/>
                <a:cs typeface="Courier New" panose="02070309020205020404" pitchFamily="49" charset="0"/>
              </a:rPr>
              <a:t> = b))</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iter = 4000, warmup = 1000, chains = 4,</a:t>
            </a:r>
            <a:endParaRPr lang="en-SE"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  c</a:t>
            </a:r>
            <a:r>
              <a:rPr lang="en-US" dirty="0">
                <a:solidFill>
                  <a:schemeClr val="tx1"/>
                </a:solidFill>
                <a:latin typeface="Courier New" panose="02070309020205020404" pitchFamily="49" charset="0"/>
                <a:cs typeface="Courier New" panose="02070309020205020404" pitchFamily="49" charset="0"/>
              </a:rPr>
              <a:t>ores = 4, </a:t>
            </a:r>
            <a:r>
              <a:rPr lang="en-SE" dirty="0">
                <a:solidFill>
                  <a:schemeClr val="tx1"/>
                </a:solidFill>
                <a:latin typeface="Courier New" panose="02070309020205020404" pitchFamily="49" charset="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seed = 4</a:t>
            </a:r>
            <a:endParaRPr lang="en-SE"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a:t>
            </a:r>
          </a:p>
        </p:txBody>
      </p:sp>
      <p:sp>
        <p:nvSpPr>
          <p:cNvPr id="49" name="Rectangle 48">
            <a:extLst>
              <a:ext uri="{FF2B5EF4-FFF2-40B4-BE49-F238E27FC236}">
                <a16:creationId xmlns:a16="http://schemas.microsoft.com/office/drawing/2014/main" id="{CE6353AD-5E85-6DF8-F0A3-4CA34C5A5BEE}"/>
              </a:ext>
            </a:extLst>
          </p:cNvPr>
          <p:cNvSpPr/>
          <p:nvPr/>
        </p:nvSpPr>
        <p:spPr>
          <a:xfrm>
            <a:off x="5286713" y="2984573"/>
            <a:ext cx="6067087" cy="365125"/>
          </a:xfrm>
          <a:prstGeom prst="rect">
            <a:avLst/>
          </a:prstGeom>
          <a:solidFill>
            <a:schemeClr val="tx1">
              <a:lumMod val="65000"/>
              <a:lumOff val="3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E" dirty="0">
                <a:solidFill>
                  <a:schemeClr val="bg1"/>
                </a:solidFill>
                <a:latin typeface="Courier New" panose="02070309020205020404" pitchFamily="49" charset="0"/>
                <a:cs typeface="Courier New" panose="02070309020205020404" pitchFamily="49" charset="0"/>
              </a:rPr>
              <a:t>R 4.5.0 using library(brms)</a:t>
            </a:r>
          </a:p>
        </p:txBody>
      </p:sp>
    </p:spTree>
    <p:extLst>
      <p:ext uri="{BB962C8B-B14F-4D97-AF65-F5344CB8AC3E}">
        <p14:creationId xmlns:p14="http://schemas.microsoft.com/office/powerpoint/2010/main" val="1965320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8966154C-74BE-ED59-AFDB-7BEFCEA955F8}"/>
                  </a:ext>
                </a:extLst>
              </p:cNvPr>
              <p:cNvSpPr txBox="1"/>
              <p:nvPr/>
            </p:nvSpPr>
            <p:spPr>
              <a:xfrm>
                <a:off x="2092754" y="4103337"/>
                <a:ext cx="391991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𝑙𝑜𝑔𝑖𝑡</m:t>
                      </m:r>
                      <m:r>
                        <a:rPr lang="en-SE" sz="2400" b="0" i="1" smtClean="0">
                          <a:latin typeface="Cambria Math" panose="02040503050406030204" pitchFamily="18" charset="0"/>
                        </a:rPr>
                        <m:t>(</m:t>
                      </m:r>
                      <m:r>
                        <a:rPr lang="en-SE" sz="2400" b="0" i="1" smtClean="0">
                          <a:latin typeface="Cambria Math" panose="02040503050406030204" pitchFamily="18" charset="0"/>
                        </a:rPr>
                        <m:t>𝑝</m:t>
                      </m:r>
                      <m:r>
                        <a:rPr lang="en-SE" sz="2400" b="0" i="1" smtClean="0">
                          <a:latin typeface="Cambria Math" panose="02040503050406030204" pitchFamily="18" charset="0"/>
                        </a:rPr>
                        <m:t>)</m:t>
                      </m:r>
                      <m:r>
                        <a:rPr lang="en-SE" sz="2400" b="0" i="1" smtClean="0">
                          <a:latin typeface="Cambria Math" panose="02040503050406030204" pitchFamily="18" charset="0"/>
                        </a:rPr>
                        <m:t>←</m:t>
                      </m:r>
                      <m:r>
                        <a:rPr lang="en-SE" sz="2400" b="0" i="1" smtClean="0">
                          <a:latin typeface="Cambria Math" panose="02040503050406030204" pitchFamily="18" charset="0"/>
                        </a:rPr>
                        <m:t>𝛼</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𝑥</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𝑧</m:t>
                      </m:r>
                    </m:oMath>
                  </m:oMathPara>
                </a14:m>
                <a:endParaRPr lang="en-SE" sz="2400" dirty="0"/>
              </a:p>
            </p:txBody>
          </p:sp>
        </mc:Choice>
        <mc:Fallback>
          <p:sp>
            <p:nvSpPr>
              <p:cNvPr id="37" name="TextBox 36">
                <a:extLst>
                  <a:ext uri="{FF2B5EF4-FFF2-40B4-BE49-F238E27FC236}">
                    <a16:creationId xmlns:a16="http://schemas.microsoft.com/office/drawing/2014/main" id="{8966154C-74BE-ED59-AFDB-7BEFCEA955F8}"/>
                  </a:ext>
                </a:extLst>
              </p:cNvPr>
              <p:cNvSpPr txBox="1">
                <a:spLocks noRot="1" noChangeAspect="1" noMove="1" noResize="1" noEditPoints="1" noAdjustHandles="1" noChangeArrowheads="1" noChangeShapeType="1" noTextEdit="1"/>
              </p:cNvSpPr>
              <p:nvPr/>
            </p:nvSpPr>
            <p:spPr>
              <a:xfrm>
                <a:off x="2092754" y="4103337"/>
                <a:ext cx="3919919" cy="369332"/>
              </a:xfrm>
              <a:prstGeom prst="rect">
                <a:avLst/>
              </a:prstGeom>
              <a:blipFill>
                <a:blip r:embed="rId2"/>
                <a:stretch>
                  <a:fillRect l="-2333" t="-1639" r="-622" b="-32787"/>
                </a:stretch>
              </a:blipFill>
            </p:spPr>
            <p:txBody>
              <a:bodyPr/>
              <a:lstStyle/>
              <a:p>
                <a:r>
                  <a:rPr lang="en-SE">
                    <a:noFill/>
                  </a:rPr>
                  <a:t> </a:t>
                </a:r>
              </a:p>
            </p:txBody>
          </p:sp>
        </mc:Fallback>
      </mc:AlternateContent>
      <p:sp>
        <p:nvSpPr>
          <p:cNvPr id="2" name="Title 1">
            <a:extLst>
              <a:ext uri="{FF2B5EF4-FFF2-40B4-BE49-F238E27FC236}">
                <a16:creationId xmlns:a16="http://schemas.microsoft.com/office/drawing/2014/main" id="{E73BF0B3-B3AA-23A8-5382-8BF66D3962D9}"/>
              </a:ext>
            </a:extLst>
          </p:cNvPr>
          <p:cNvSpPr>
            <a:spLocks noGrp="1"/>
          </p:cNvSpPr>
          <p:nvPr>
            <p:ph type="title"/>
          </p:nvPr>
        </p:nvSpPr>
        <p:spPr/>
        <p:txBody>
          <a:bodyPr/>
          <a:lstStyle/>
          <a:p>
            <a:r>
              <a:rPr lang="en-SE" dirty="0"/>
              <a:t>Link Functions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B29914F-9CB8-144B-B535-A2FFE796BA00}"/>
                  </a:ext>
                </a:extLst>
              </p:cNvPr>
              <p:cNvSpPr>
                <a:spLocks noGrp="1"/>
              </p:cNvSpPr>
              <p:nvPr>
                <p:ph idx="1"/>
              </p:nvPr>
            </p:nvSpPr>
            <p:spPr>
              <a:xfrm>
                <a:off x="838200" y="1825625"/>
                <a:ext cx="10515600" cy="1677394"/>
              </a:xfrm>
            </p:spPr>
            <p:txBody>
              <a:bodyPr/>
              <a:lstStyle/>
              <a:p>
                <a:pPr marL="0" indent="0">
                  <a:buNone/>
                </a:pPr>
                <a:r>
                  <a:rPr lang="en-SE" dirty="0"/>
                  <a:t>Some probability distribution families have specific requirements for their parameters (e.g., </a:t>
                </a:r>
                <a14:m>
                  <m:oMath xmlns:m="http://schemas.openxmlformats.org/officeDocument/2006/math">
                    <m:r>
                      <a:rPr lang="en-SE" b="0" i="1" smtClean="0">
                        <a:latin typeface="Cambria Math" panose="02040503050406030204" pitchFamily="18" charset="0"/>
                      </a:rPr>
                      <m:t>𝑝</m:t>
                    </m:r>
                    <m:r>
                      <a:rPr lang="en-SE" b="0" i="1" smtClean="0">
                        <a:latin typeface="Cambria Math" panose="02040503050406030204" pitchFamily="18" charset="0"/>
                      </a:rPr>
                      <m:t>∈[0, 1]</m:t>
                    </m:r>
                  </m:oMath>
                </a14:m>
                <a:r>
                  <a:rPr lang="en-SE" dirty="0"/>
                  <a:t>). Still, we would like to use “natural” linear models in our models. As a compromise, we can use </a:t>
                </a:r>
                <a:r>
                  <a:rPr lang="en-SE" b="1" dirty="0"/>
                  <a:t>link functions</a:t>
                </a:r>
                <a:r>
                  <a:rPr lang="en-SE" dirty="0"/>
                  <a:t>.</a:t>
                </a:r>
              </a:p>
            </p:txBody>
          </p:sp>
        </mc:Choice>
        <mc:Fallback>
          <p:sp>
            <p:nvSpPr>
              <p:cNvPr id="3" name="Content Placeholder 2">
                <a:extLst>
                  <a:ext uri="{FF2B5EF4-FFF2-40B4-BE49-F238E27FC236}">
                    <a16:creationId xmlns:a16="http://schemas.microsoft.com/office/drawing/2014/main" id="{8B29914F-9CB8-144B-B535-A2FFE796BA00}"/>
                  </a:ext>
                </a:extLst>
              </p:cNvPr>
              <p:cNvSpPr>
                <a:spLocks noGrp="1" noRot="1" noChangeAspect="1" noMove="1" noResize="1" noEditPoints="1" noAdjustHandles="1" noChangeArrowheads="1" noChangeShapeType="1" noTextEdit="1"/>
              </p:cNvSpPr>
              <p:nvPr>
                <p:ph idx="1"/>
              </p:nvPr>
            </p:nvSpPr>
            <p:spPr>
              <a:xfrm>
                <a:off x="838200" y="1825625"/>
                <a:ext cx="10515600" cy="1677394"/>
              </a:xfrm>
              <a:blipFill>
                <a:blip r:embed="rId3"/>
                <a:stretch>
                  <a:fillRect l="-1217" t="-6159" b="-6884"/>
                </a:stretch>
              </a:blipFill>
            </p:spPr>
            <p:txBody>
              <a:bodyPr/>
              <a:lstStyle/>
              <a:p>
                <a:r>
                  <a:rPr lang="en-SE">
                    <a:noFill/>
                  </a:rPr>
                  <a:t> </a:t>
                </a:r>
              </a:p>
            </p:txBody>
          </p:sp>
        </mc:Fallback>
      </mc:AlternateContent>
      <p:sp>
        <p:nvSpPr>
          <p:cNvPr id="4" name="Date Placeholder 3">
            <a:extLst>
              <a:ext uri="{FF2B5EF4-FFF2-40B4-BE49-F238E27FC236}">
                <a16:creationId xmlns:a16="http://schemas.microsoft.com/office/drawing/2014/main" id="{3E4AEF6F-AD7B-2B27-AC4C-F691C5F7707F}"/>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472A3F0F-AB32-6A8F-7F4A-A2DC54F56820}"/>
              </a:ext>
            </a:extLst>
          </p:cNvPr>
          <p:cNvSpPr>
            <a:spLocks noGrp="1"/>
          </p:cNvSpPr>
          <p:nvPr>
            <p:ph type="sldNum" sz="quarter" idx="12"/>
          </p:nvPr>
        </p:nvSpPr>
        <p:spPr/>
        <p:txBody>
          <a:bodyPr/>
          <a:lstStyle/>
          <a:p>
            <a:fld id="{271ECC92-9CDE-4EB3-B1C5-F46B9E1FA3C1}" type="slidenum">
              <a:rPr lang="en-SE" smtClean="0"/>
              <a:t>79</a:t>
            </a:fld>
            <a:endParaRPr lang="en-SE"/>
          </a:p>
        </p:txBody>
      </p:sp>
      <p:sp>
        <p:nvSpPr>
          <p:cNvPr id="6" name="Footer Placeholder 5">
            <a:extLst>
              <a:ext uri="{FF2B5EF4-FFF2-40B4-BE49-F238E27FC236}">
                <a16:creationId xmlns:a16="http://schemas.microsoft.com/office/drawing/2014/main" id="{B3B83EB9-3D8E-6E82-C507-17608AE762C0}"/>
              </a:ext>
            </a:extLst>
          </p:cNvPr>
          <p:cNvSpPr>
            <a:spLocks noGrp="1"/>
          </p:cNvSpPr>
          <p:nvPr>
            <p:ph type="ftr" sz="quarter" idx="11"/>
          </p:nvPr>
        </p:nvSpPr>
        <p:spPr/>
        <p:txBody>
          <a:bodyPr/>
          <a:lstStyle/>
          <a:p>
            <a:r>
              <a:rPr lang="de-DE"/>
              <a:t>Bayesian Data Analysis Tutorial</a:t>
            </a:r>
            <a:endParaRPr lang="en-SE"/>
          </a:p>
        </p:txBody>
      </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1C8D800C-99C1-BADF-7D4A-45BCD9E56369}"/>
                  </a:ext>
                </a:extLst>
              </p:cNvPr>
              <p:cNvSpPr txBox="1"/>
              <p:nvPr/>
            </p:nvSpPr>
            <p:spPr>
              <a:xfrm>
                <a:off x="3048738" y="3709707"/>
                <a:ext cx="259526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𝑦</m:t>
                      </m:r>
                      <m:r>
                        <a:rPr lang="en-SE" sz="2400" b="0" i="1" smtClean="0">
                          <a:latin typeface="Cambria Math" panose="02040503050406030204" pitchFamily="18" charset="0"/>
                        </a:rPr>
                        <m:t> ~ </m:t>
                      </m:r>
                      <m:r>
                        <a:rPr lang="en-SE" sz="2400" b="0" i="1" smtClean="0">
                          <a:latin typeface="Cambria Math" panose="02040503050406030204" pitchFamily="18" charset="0"/>
                        </a:rPr>
                        <m:t>𝐵𝑖𝑛𝑜𝑚𝑖𝑎𝑙</m:t>
                      </m:r>
                      <m:r>
                        <a:rPr lang="en-SE" sz="2400" b="0" i="1" smtClean="0">
                          <a:latin typeface="Cambria Math" panose="02040503050406030204" pitchFamily="18" charset="0"/>
                        </a:rPr>
                        <m:t>(</m:t>
                      </m:r>
                      <m:r>
                        <a:rPr lang="en-SE" sz="2400" b="0" i="1" smtClean="0">
                          <a:latin typeface="Cambria Math" panose="02040503050406030204" pitchFamily="18" charset="0"/>
                        </a:rPr>
                        <m:t>𝑛</m:t>
                      </m:r>
                      <m:r>
                        <a:rPr lang="en-SE" sz="2400" b="0" i="1" smtClean="0">
                          <a:latin typeface="Cambria Math" panose="02040503050406030204" pitchFamily="18" charset="0"/>
                        </a:rPr>
                        <m:t>, </m:t>
                      </m:r>
                      <m:r>
                        <a:rPr lang="en-SE" sz="2400" b="0" i="1" smtClean="0">
                          <a:latin typeface="Cambria Math" panose="02040503050406030204" pitchFamily="18" charset="0"/>
                        </a:rPr>
                        <m:t>𝑝</m:t>
                      </m:r>
                      <m:r>
                        <a:rPr lang="en-SE" sz="2400" b="0" i="1" smtClean="0">
                          <a:latin typeface="Cambria Math" panose="02040503050406030204" pitchFamily="18" charset="0"/>
                        </a:rPr>
                        <m:t>)</m:t>
                      </m:r>
                    </m:oMath>
                  </m:oMathPara>
                </a14:m>
                <a:endParaRPr lang="en-SE" sz="2400" dirty="0"/>
              </a:p>
            </p:txBody>
          </p:sp>
        </mc:Choice>
        <mc:Fallback>
          <p:sp>
            <p:nvSpPr>
              <p:cNvPr id="33" name="TextBox 32">
                <a:extLst>
                  <a:ext uri="{FF2B5EF4-FFF2-40B4-BE49-F238E27FC236}">
                    <a16:creationId xmlns:a16="http://schemas.microsoft.com/office/drawing/2014/main" id="{1C8D800C-99C1-BADF-7D4A-45BCD9E56369}"/>
                  </a:ext>
                </a:extLst>
              </p:cNvPr>
              <p:cNvSpPr txBox="1">
                <a:spLocks noRot="1" noChangeAspect="1" noMove="1" noResize="1" noEditPoints="1" noAdjustHandles="1" noChangeArrowheads="1" noChangeShapeType="1" noTextEdit="1"/>
              </p:cNvSpPr>
              <p:nvPr/>
            </p:nvSpPr>
            <p:spPr>
              <a:xfrm>
                <a:off x="3048738" y="3709707"/>
                <a:ext cx="2595262" cy="369332"/>
              </a:xfrm>
              <a:prstGeom prst="rect">
                <a:avLst/>
              </a:prstGeom>
              <a:blipFill>
                <a:blip r:embed="rId4"/>
                <a:stretch>
                  <a:fillRect l="-2582" t="-1667" r="-3991" b="-33333"/>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F108DAE4-FF12-73BB-6281-675FD72DBBBA}"/>
                  </a:ext>
                </a:extLst>
              </p:cNvPr>
              <p:cNvSpPr txBox="1"/>
              <p:nvPr/>
            </p:nvSpPr>
            <p:spPr>
              <a:xfrm>
                <a:off x="2964427" y="4107209"/>
                <a:ext cx="310129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𝑝</m:t>
                      </m:r>
                      <m:r>
                        <a:rPr lang="en-SE" sz="2400" b="0" i="1" smtClean="0">
                          <a:latin typeface="Cambria Math" panose="02040503050406030204" pitchFamily="18" charset="0"/>
                        </a:rPr>
                        <m:t>←</m:t>
                      </m:r>
                      <m:r>
                        <a:rPr lang="en-SE" sz="2400" b="0" i="1" smtClean="0">
                          <a:latin typeface="Cambria Math" panose="02040503050406030204" pitchFamily="18" charset="0"/>
                        </a:rPr>
                        <m:t>𝛼</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𝑥</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𝑧</m:t>
                      </m:r>
                    </m:oMath>
                  </m:oMathPara>
                </a14:m>
                <a:endParaRPr lang="en-SE" sz="2400" dirty="0"/>
              </a:p>
            </p:txBody>
          </p:sp>
        </mc:Choice>
        <mc:Fallback>
          <p:sp>
            <p:nvSpPr>
              <p:cNvPr id="35" name="TextBox 34">
                <a:extLst>
                  <a:ext uri="{FF2B5EF4-FFF2-40B4-BE49-F238E27FC236}">
                    <a16:creationId xmlns:a16="http://schemas.microsoft.com/office/drawing/2014/main" id="{F108DAE4-FF12-73BB-6281-675FD72DBBBA}"/>
                  </a:ext>
                </a:extLst>
              </p:cNvPr>
              <p:cNvSpPr txBox="1">
                <a:spLocks noRot="1" noChangeAspect="1" noMove="1" noResize="1" noEditPoints="1" noAdjustHandles="1" noChangeArrowheads="1" noChangeShapeType="1" noTextEdit="1"/>
              </p:cNvSpPr>
              <p:nvPr/>
            </p:nvSpPr>
            <p:spPr>
              <a:xfrm>
                <a:off x="2964427" y="4107209"/>
                <a:ext cx="3101297" cy="369332"/>
              </a:xfrm>
              <a:prstGeom prst="rect">
                <a:avLst/>
              </a:prstGeom>
              <a:blipFill>
                <a:blip r:embed="rId5"/>
                <a:stretch>
                  <a:fillRect l="-196" t="-1667" b="-33333"/>
                </a:stretch>
              </a:blipFill>
            </p:spPr>
            <p:txBody>
              <a:bodyPr/>
              <a:lstStyle/>
              <a:p>
                <a:r>
                  <a:rPr lang="en-SE">
                    <a:noFill/>
                  </a:rPr>
                  <a:t> </a:t>
                </a:r>
              </a:p>
            </p:txBody>
          </p:sp>
        </mc:Fallback>
      </mc:AlternateContent>
      <p:pic>
        <p:nvPicPr>
          <p:cNvPr id="39" name="Picture 38">
            <a:extLst>
              <a:ext uri="{FF2B5EF4-FFF2-40B4-BE49-F238E27FC236}">
                <a16:creationId xmlns:a16="http://schemas.microsoft.com/office/drawing/2014/main" id="{55791A24-1E29-8448-E372-6C139C6C1376}"/>
              </a:ext>
            </a:extLst>
          </p:cNvPr>
          <p:cNvPicPr>
            <a:picLocks noChangeAspect="1"/>
          </p:cNvPicPr>
          <p:nvPr/>
        </p:nvPicPr>
        <p:blipFill>
          <a:blip r:embed="rId6"/>
          <a:stretch>
            <a:fillRect/>
          </a:stretch>
        </p:blipFill>
        <p:spPr>
          <a:xfrm>
            <a:off x="6937397" y="3503019"/>
            <a:ext cx="4095750" cy="2667000"/>
          </a:xfrm>
          <a:prstGeom prst="rect">
            <a:avLst/>
          </a:prstGeom>
        </p:spPr>
      </p:pic>
      <p:grpSp>
        <p:nvGrpSpPr>
          <p:cNvPr id="40" name="Group 39">
            <a:extLst>
              <a:ext uri="{FF2B5EF4-FFF2-40B4-BE49-F238E27FC236}">
                <a16:creationId xmlns:a16="http://schemas.microsoft.com/office/drawing/2014/main" id="{71607802-2159-64A5-60EE-B95F07AB5B1C}"/>
              </a:ext>
            </a:extLst>
          </p:cNvPr>
          <p:cNvGrpSpPr/>
          <p:nvPr/>
        </p:nvGrpSpPr>
        <p:grpSpPr>
          <a:xfrm>
            <a:off x="228598" y="1825625"/>
            <a:ext cx="504000" cy="504000"/>
            <a:chOff x="977950" y="2729564"/>
            <a:chExt cx="504000" cy="504000"/>
          </a:xfrm>
        </p:grpSpPr>
        <p:sp>
          <p:nvSpPr>
            <p:cNvPr id="41" name="Oval 40">
              <a:extLst>
                <a:ext uri="{FF2B5EF4-FFF2-40B4-BE49-F238E27FC236}">
                  <a16:creationId xmlns:a16="http://schemas.microsoft.com/office/drawing/2014/main" id="{7C44E8A9-83F7-DCD2-F934-D5CFBB87E730}"/>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2" name="Graphic 41" descr="Bar chart with solid fill">
              <a:extLst>
                <a:ext uri="{FF2B5EF4-FFF2-40B4-BE49-F238E27FC236}">
                  <a16:creationId xmlns:a16="http://schemas.microsoft.com/office/drawing/2014/main" id="{6C32021D-301A-E287-E04D-927AC4585D2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grpSp>
        <p:nvGrpSpPr>
          <p:cNvPr id="43" name="Group 42">
            <a:extLst>
              <a:ext uri="{FF2B5EF4-FFF2-40B4-BE49-F238E27FC236}">
                <a16:creationId xmlns:a16="http://schemas.microsoft.com/office/drawing/2014/main" id="{0DE878CC-B40A-664F-CEF6-7755351F8C98}"/>
              </a:ext>
            </a:extLst>
          </p:cNvPr>
          <p:cNvGrpSpPr/>
          <p:nvPr/>
        </p:nvGrpSpPr>
        <p:grpSpPr>
          <a:xfrm>
            <a:off x="228598" y="2439322"/>
            <a:ext cx="504000" cy="504000"/>
            <a:chOff x="977950" y="2729564"/>
            <a:chExt cx="504000" cy="504000"/>
          </a:xfrm>
        </p:grpSpPr>
        <p:sp>
          <p:nvSpPr>
            <p:cNvPr id="44" name="Oval 43">
              <a:extLst>
                <a:ext uri="{FF2B5EF4-FFF2-40B4-BE49-F238E27FC236}">
                  <a16:creationId xmlns:a16="http://schemas.microsoft.com/office/drawing/2014/main" id="{BF328106-03AD-8159-0932-AB345C653B15}"/>
                </a:ext>
              </a:extLst>
            </p:cNvPr>
            <p:cNvSpPr/>
            <p:nvPr/>
          </p:nvSpPr>
          <p:spPr>
            <a:xfrm>
              <a:off x="977950" y="2729564"/>
              <a:ext cx="504000" cy="504000"/>
            </a:xfrm>
            <a:prstGeom prst="ellips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5" name="Graphic 44" descr="Golden Ratio with solid fill">
              <a:extLst>
                <a:ext uri="{FF2B5EF4-FFF2-40B4-BE49-F238E27FC236}">
                  <a16:creationId xmlns:a16="http://schemas.microsoft.com/office/drawing/2014/main" id="{88E0FE91-5B41-EC7A-D1ED-64359E200B5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1950" y="2783564"/>
              <a:ext cx="396000" cy="396000"/>
            </a:xfrm>
            <a:prstGeom prst="rect">
              <a:avLst/>
            </a:prstGeom>
          </p:spPr>
        </p:pic>
      </p:grpSp>
      <p:grpSp>
        <p:nvGrpSpPr>
          <p:cNvPr id="46" name="Group 45">
            <a:extLst>
              <a:ext uri="{FF2B5EF4-FFF2-40B4-BE49-F238E27FC236}">
                <a16:creationId xmlns:a16="http://schemas.microsoft.com/office/drawing/2014/main" id="{476C71BE-51B2-8EB2-D3A7-FD51ACBB349F}"/>
              </a:ext>
            </a:extLst>
          </p:cNvPr>
          <p:cNvGrpSpPr/>
          <p:nvPr/>
        </p:nvGrpSpPr>
        <p:grpSpPr>
          <a:xfrm>
            <a:off x="228598" y="3053019"/>
            <a:ext cx="504000" cy="504000"/>
            <a:chOff x="977950" y="2729564"/>
            <a:chExt cx="504000" cy="504000"/>
          </a:xfrm>
        </p:grpSpPr>
        <p:sp>
          <p:nvSpPr>
            <p:cNvPr id="47" name="Oval 46">
              <a:extLst>
                <a:ext uri="{FF2B5EF4-FFF2-40B4-BE49-F238E27FC236}">
                  <a16:creationId xmlns:a16="http://schemas.microsoft.com/office/drawing/2014/main" id="{10B4F5BE-A3BC-3E6E-E8FC-4A1E7112D991}"/>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8" name="Graphic 47" descr="Normal Distribution with solid fill">
              <a:extLst>
                <a:ext uri="{FF2B5EF4-FFF2-40B4-BE49-F238E27FC236}">
                  <a16:creationId xmlns:a16="http://schemas.microsoft.com/office/drawing/2014/main" id="{476D3F87-1FB7-209C-525B-8DC8A8B4B579}"/>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031950" y="2783564"/>
              <a:ext cx="396000" cy="396000"/>
            </a:xfrm>
            <a:prstGeom prst="rect">
              <a:avLst/>
            </a:prstGeom>
          </p:spPr>
        </p:pic>
      </p:grpSp>
      <p:grpSp>
        <p:nvGrpSpPr>
          <p:cNvPr id="49" name="Group 48">
            <a:extLst>
              <a:ext uri="{FF2B5EF4-FFF2-40B4-BE49-F238E27FC236}">
                <a16:creationId xmlns:a16="http://schemas.microsoft.com/office/drawing/2014/main" id="{1B00B25B-5675-E656-3F1C-5722249D554F}"/>
              </a:ext>
            </a:extLst>
          </p:cNvPr>
          <p:cNvGrpSpPr/>
          <p:nvPr/>
        </p:nvGrpSpPr>
        <p:grpSpPr>
          <a:xfrm>
            <a:off x="228598" y="3666716"/>
            <a:ext cx="504000" cy="504000"/>
            <a:chOff x="977950" y="2729564"/>
            <a:chExt cx="504000" cy="504000"/>
          </a:xfrm>
        </p:grpSpPr>
        <p:sp>
          <p:nvSpPr>
            <p:cNvPr id="50" name="Oval 49">
              <a:extLst>
                <a:ext uri="{FF2B5EF4-FFF2-40B4-BE49-F238E27FC236}">
                  <a16:creationId xmlns:a16="http://schemas.microsoft.com/office/drawing/2014/main" id="{0A0917A5-3184-6430-D43F-638B5737180B}"/>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1" name="Graphic 50" descr="Abacus with solid fill">
              <a:extLst>
                <a:ext uri="{FF2B5EF4-FFF2-40B4-BE49-F238E27FC236}">
                  <a16:creationId xmlns:a16="http://schemas.microsoft.com/office/drawing/2014/main" id="{BB009360-FD49-48AB-AD61-DC8891D81001}"/>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1031950" y="2783564"/>
              <a:ext cx="396000" cy="396000"/>
            </a:xfrm>
            <a:prstGeom prst="rect">
              <a:avLst/>
            </a:prstGeom>
          </p:spPr>
        </p:pic>
      </p:grpSp>
      <p:grpSp>
        <p:nvGrpSpPr>
          <p:cNvPr id="52" name="Group 51">
            <a:extLst>
              <a:ext uri="{FF2B5EF4-FFF2-40B4-BE49-F238E27FC236}">
                <a16:creationId xmlns:a16="http://schemas.microsoft.com/office/drawing/2014/main" id="{6C99C8E4-619D-941A-4228-B1B4A39786F5}"/>
              </a:ext>
            </a:extLst>
          </p:cNvPr>
          <p:cNvGrpSpPr/>
          <p:nvPr/>
        </p:nvGrpSpPr>
        <p:grpSpPr>
          <a:xfrm>
            <a:off x="228598" y="4280413"/>
            <a:ext cx="504000" cy="504000"/>
            <a:chOff x="977950" y="2729564"/>
            <a:chExt cx="504000" cy="504000"/>
          </a:xfrm>
        </p:grpSpPr>
        <p:sp>
          <p:nvSpPr>
            <p:cNvPr id="53" name="Oval 52">
              <a:extLst>
                <a:ext uri="{FF2B5EF4-FFF2-40B4-BE49-F238E27FC236}">
                  <a16:creationId xmlns:a16="http://schemas.microsoft.com/office/drawing/2014/main" id="{6EEEBB7C-3D29-048C-A4EB-FC0D342A563E}"/>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4" name="Graphic 53" descr="Trigonometry with solid fill">
              <a:extLst>
                <a:ext uri="{FF2B5EF4-FFF2-40B4-BE49-F238E27FC236}">
                  <a16:creationId xmlns:a16="http://schemas.microsoft.com/office/drawing/2014/main" id="{CB8403FF-6A13-78ED-53D0-D76BE277B482}"/>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1031950" y="2783564"/>
              <a:ext cx="396000" cy="396000"/>
            </a:xfrm>
            <a:prstGeom prst="rect">
              <a:avLst/>
            </a:prstGeom>
          </p:spPr>
        </p:pic>
      </p:grpSp>
      <p:grpSp>
        <p:nvGrpSpPr>
          <p:cNvPr id="55" name="Group 54">
            <a:extLst>
              <a:ext uri="{FF2B5EF4-FFF2-40B4-BE49-F238E27FC236}">
                <a16:creationId xmlns:a16="http://schemas.microsoft.com/office/drawing/2014/main" id="{F647BAD4-37C4-DBF2-FD49-37CC8CCE3D36}"/>
              </a:ext>
            </a:extLst>
          </p:cNvPr>
          <p:cNvGrpSpPr/>
          <p:nvPr/>
        </p:nvGrpSpPr>
        <p:grpSpPr>
          <a:xfrm>
            <a:off x="228598" y="4894111"/>
            <a:ext cx="504000" cy="504000"/>
            <a:chOff x="977950" y="2729564"/>
            <a:chExt cx="504000" cy="504000"/>
          </a:xfrm>
        </p:grpSpPr>
        <p:sp>
          <p:nvSpPr>
            <p:cNvPr id="56" name="Oval 55">
              <a:extLst>
                <a:ext uri="{FF2B5EF4-FFF2-40B4-BE49-F238E27FC236}">
                  <a16:creationId xmlns:a16="http://schemas.microsoft.com/office/drawing/2014/main" id="{688DFE3B-E1F4-B0C8-C055-7FD127DA7FCF}"/>
                </a:ext>
              </a:extLst>
            </p:cNvPr>
            <p:cNvSpPr/>
            <p:nvPr/>
          </p:nvSpPr>
          <p:spPr>
            <a:xfrm>
              <a:off x="977950" y="2729564"/>
              <a:ext cx="504000" cy="504000"/>
            </a:xfrm>
            <a:prstGeom prst="ellipse">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7" name="Graphic 56" descr="Scatterplot with solid fill">
              <a:extLst>
                <a:ext uri="{FF2B5EF4-FFF2-40B4-BE49-F238E27FC236}">
                  <a16:creationId xmlns:a16="http://schemas.microsoft.com/office/drawing/2014/main" id="{56F0CA60-D5C8-A4AA-24C7-3B096A5E5DD9}"/>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1031950" y="2783564"/>
              <a:ext cx="396000" cy="396000"/>
            </a:xfrm>
            <a:prstGeom prst="rect">
              <a:avLst/>
            </a:prstGeom>
          </p:spPr>
        </p:pic>
      </p:grpSp>
      <p:cxnSp>
        <p:nvCxnSpPr>
          <p:cNvPr id="58" name="Straight Arrow Connector 57">
            <a:extLst>
              <a:ext uri="{FF2B5EF4-FFF2-40B4-BE49-F238E27FC236}">
                <a16:creationId xmlns:a16="http://schemas.microsoft.com/office/drawing/2014/main" id="{5B1D043F-055B-6FA5-DAC5-94A244B95C73}"/>
              </a:ext>
            </a:extLst>
          </p:cNvPr>
          <p:cNvCxnSpPr>
            <a:stCxn id="41" idx="4"/>
            <a:endCxn id="44"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4C9B243A-E055-AA41-D64B-966986CC0292}"/>
              </a:ext>
            </a:extLst>
          </p:cNvPr>
          <p:cNvCxnSpPr>
            <a:cxnSpLocks/>
            <a:stCxn id="44" idx="4"/>
            <a:endCxn id="47"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0" name="Straight Arrow Connector 59">
            <a:extLst>
              <a:ext uri="{FF2B5EF4-FFF2-40B4-BE49-F238E27FC236}">
                <a16:creationId xmlns:a16="http://schemas.microsoft.com/office/drawing/2014/main" id="{988B1B5F-A873-85BD-67EC-7A84B2E617FF}"/>
              </a:ext>
            </a:extLst>
          </p:cNvPr>
          <p:cNvCxnSpPr>
            <a:cxnSpLocks/>
            <a:stCxn id="47" idx="4"/>
            <a:endCxn id="50"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6107B9D6-11EC-31C5-773A-0DE1B48EB0AA}"/>
              </a:ext>
            </a:extLst>
          </p:cNvPr>
          <p:cNvCxnSpPr>
            <a:cxnSpLocks/>
            <a:stCxn id="50" idx="4"/>
            <a:endCxn id="53"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A7E7D3FB-4AF0-5469-0A0B-BDF2F2CDB35F}"/>
              </a:ext>
            </a:extLst>
          </p:cNvPr>
          <p:cNvCxnSpPr>
            <a:cxnSpLocks/>
            <a:stCxn id="53" idx="4"/>
            <a:endCxn id="56"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4829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5"/>
                                        </p:tgtEl>
                                      </p:cBhvr>
                                    </p:animEffect>
                                    <p:set>
                                      <p:cBhvr>
                                        <p:cTn id="7" dur="1" fill="hold">
                                          <p:stCondLst>
                                            <p:cond delay="499"/>
                                          </p:stCondLst>
                                        </p:cTn>
                                        <p:tgtEl>
                                          <p:spTgt spid="35"/>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8F95C-9406-701F-35AC-C21615DFE62F}"/>
              </a:ext>
            </a:extLst>
          </p:cNvPr>
          <p:cNvSpPr>
            <a:spLocks noGrp="1"/>
          </p:cNvSpPr>
          <p:nvPr>
            <p:ph type="title"/>
          </p:nvPr>
        </p:nvSpPr>
        <p:spPr/>
        <p:txBody>
          <a:bodyPr/>
          <a:lstStyle/>
          <a:p>
            <a:r>
              <a:rPr lang="en-SE" dirty="0"/>
              <a:t>Bayesian Model</a:t>
            </a:r>
          </a:p>
        </p:txBody>
      </p:sp>
      <p:sp>
        <p:nvSpPr>
          <p:cNvPr id="3" name="Content Placeholder 2">
            <a:extLst>
              <a:ext uri="{FF2B5EF4-FFF2-40B4-BE49-F238E27FC236}">
                <a16:creationId xmlns:a16="http://schemas.microsoft.com/office/drawing/2014/main" id="{0EC25291-E56D-AD2D-A5AA-F89CAB71932D}"/>
              </a:ext>
            </a:extLst>
          </p:cNvPr>
          <p:cNvSpPr>
            <a:spLocks noGrp="1"/>
          </p:cNvSpPr>
          <p:nvPr>
            <p:ph idx="1"/>
          </p:nvPr>
        </p:nvSpPr>
        <p:spPr>
          <a:xfrm>
            <a:off x="838200" y="1825625"/>
            <a:ext cx="10515600" cy="975994"/>
          </a:xfrm>
        </p:spPr>
        <p:txBody>
          <a:bodyPr/>
          <a:lstStyle/>
          <a:p>
            <a:pPr marL="0" indent="0">
              <a:buNone/>
            </a:pPr>
            <a:r>
              <a:rPr lang="en-SE" dirty="0"/>
              <a:t>The link function must be specified in a mathematical model, but is included in </a:t>
            </a:r>
            <a:r>
              <a:rPr lang="en-SE" dirty="0">
                <a:latin typeface="Courier New" panose="02070309020205020404" pitchFamily="49" charset="0"/>
                <a:cs typeface="Courier New" panose="02070309020205020404" pitchFamily="49" charset="0"/>
              </a:rPr>
              <a:t>brms</a:t>
            </a:r>
            <a:r>
              <a:rPr lang="en-SE" dirty="0"/>
              <a:t> by default.</a:t>
            </a:r>
          </a:p>
        </p:txBody>
      </p:sp>
      <p:sp>
        <p:nvSpPr>
          <p:cNvPr id="4" name="Date Placeholder 3">
            <a:extLst>
              <a:ext uri="{FF2B5EF4-FFF2-40B4-BE49-F238E27FC236}">
                <a16:creationId xmlns:a16="http://schemas.microsoft.com/office/drawing/2014/main" id="{D7E86431-AE8B-70A8-99BE-B3DA1C8C42EB}"/>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7763501B-7C47-1D2F-2A5A-3EE95BA0BDA3}"/>
              </a:ext>
            </a:extLst>
          </p:cNvPr>
          <p:cNvSpPr>
            <a:spLocks noGrp="1"/>
          </p:cNvSpPr>
          <p:nvPr>
            <p:ph type="sldNum" sz="quarter" idx="12"/>
          </p:nvPr>
        </p:nvSpPr>
        <p:spPr/>
        <p:txBody>
          <a:bodyPr/>
          <a:lstStyle/>
          <a:p>
            <a:fld id="{271ECC92-9CDE-4EB3-B1C5-F46B9E1FA3C1}" type="slidenum">
              <a:rPr lang="en-SE" smtClean="0"/>
              <a:t>80</a:t>
            </a:fld>
            <a:endParaRPr lang="en-SE"/>
          </a:p>
        </p:txBody>
      </p:sp>
      <p:sp>
        <p:nvSpPr>
          <p:cNvPr id="6" name="Footer Placeholder 5">
            <a:extLst>
              <a:ext uri="{FF2B5EF4-FFF2-40B4-BE49-F238E27FC236}">
                <a16:creationId xmlns:a16="http://schemas.microsoft.com/office/drawing/2014/main" id="{B16EBF70-09E1-10A8-4816-E95B18DDF25C}"/>
              </a:ext>
            </a:extLst>
          </p:cNvPr>
          <p:cNvSpPr>
            <a:spLocks noGrp="1"/>
          </p:cNvSpPr>
          <p:nvPr>
            <p:ph type="ftr" sz="quarter" idx="11"/>
          </p:nvPr>
        </p:nvSpPr>
        <p:spPr/>
        <p:txBody>
          <a:bodyPr/>
          <a:lstStyle/>
          <a:p>
            <a:r>
              <a:rPr lang="de-DE" dirty="0" err="1"/>
              <a:t>Bayesian</a:t>
            </a:r>
            <a:r>
              <a:rPr lang="de-DE" dirty="0"/>
              <a:t> Data Analysis Tutorial</a:t>
            </a:r>
            <a:endParaRPr lang="en-SE" dirty="0"/>
          </a:p>
        </p:txBody>
      </p:sp>
      <p:grpSp>
        <p:nvGrpSpPr>
          <p:cNvPr id="30" name="Group 29">
            <a:extLst>
              <a:ext uri="{FF2B5EF4-FFF2-40B4-BE49-F238E27FC236}">
                <a16:creationId xmlns:a16="http://schemas.microsoft.com/office/drawing/2014/main" id="{7E59A0E6-0C2B-B8D7-B5FF-5010F29995E3}"/>
              </a:ext>
            </a:extLst>
          </p:cNvPr>
          <p:cNvGrpSpPr/>
          <p:nvPr/>
        </p:nvGrpSpPr>
        <p:grpSpPr>
          <a:xfrm>
            <a:off x="228598" y="1825625"/>
            <a:ext cx="504000" cy="504000"/>
            <a:chOff x="977950" y="2729564"/>
            <a:chExt cx="504000" cy="504000"/>
          </a:xfrm>
        </p:grpSpPr>
        <p:sp>
          <p:nvSpPr>
            <p:cNvPr id="31" name="Oval 30">
              <a:extLst>
                <a:ext uri="{FF2B5EF4-FFF2-40B4-BE49-F238E27FC236}">
                  <a16:creationId xmlns:a16="http://schemas.microsoft.com/office/drawing/2014/main" id="{607DB61F-DBFB-DFF0-7256-3FF6051C1C49}"/>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2" name="Graphic 31" descr="Bar chart with solid fill">
              <a:extLst>
                <a:ext uri="{FF2B5EF4-FFF2-40B4-BE49-F238E27FC236}">
                  <a16:creationId xmlns:a16="http://schemas.microsoft.com/office/drawing/2014/main" id="{968387C1-6BA1-5843-9248-0A303387F61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31950" y="2783564"/>
              <a:ext cx="396000" cy="396000"/>
            </a:xfrm>
            <a:prstGeom prst="rect">
              <a:avLst/>
            </a:prstGeom>
          </p:spPr>
        </p:pic>
      </p:grpSp>
      <p:grpSp>
        <p:nvGrpSpPr>
          <p:cNvPr id="33" name="Group 32">
            <a:extLst>
              <a:ext uri="{FF2B5EF4-FFF2-40B4-BE49-F238E27FC236}">
                <a16:creationId xmlns:a16="http://schemas.microsoft.com/office/drawing/2014/main" id="{8798A615-0536-D3F0-BB2B-0459543D92AA}"/>
              </a:ext>
            </a:extLst>
          </p:cNvPr>
          <p:cNvGrpSpPr/>
          <p:nvPr/>
        </p:nvGrpSpPr>
        <p:grpSpPr>
          <a:xfrm>
            <a:off x="228598" y="2439322"/>
            <a:ext cx="504000" cy="504000"/>
            <a:chOff x="977950" y="2729564"/>
            <a:chExt cx="504000" cy="504000"/>
          </a:xfrm>
        </p:grpSpPr>
        <p:sp>
          <p:nvSpPr>
            <p:cNvPr id="34" name="Oval 33">
              <a:extLst>
                <a:ext uri="{FF2B5EF4-FFF2-40B4-BE49-F238E27FC236}">
                  <a16:creationId xmlns:a16="http://schemas.microsoft.com/office/drawing/2014/main" id="{E5534E3B-1F82-B6CF-0EAC-7651BADC2EAF}"/>
                </a:ext>
              </a:extLst>
            </p:cNvPr>
            <p:cNvSpPr/>
            <p:nvPr/>
          </p:nvSpPr>
          <p:spPr>
            <a:xfrm>
              <a:off x="977950" y="2729564"/>
              <a:ext cx="504000" cy="504000"/>
            </a:xfrm>
            <a:prstGeom prst="ellips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5" name="Graphic 34" descr="Golden Ratio with solid fill">
              <a:extLst>
                <a:ext uri="{FF2B5EF4-FFF2-40B4-BE49-F238E27FC236}">
                  <a16:creationId xmlns:a16="http://schemas.microsoft.com/office/drawing/2014/main" id="{D4498FE1-FE4D-FEF5-5B11-4B124B67CA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36" name="Group 35">
            <a:extLst>
              <a:ext uri="{FF2B5EF4-FFF2-40B4-BE49-F238E27FC236}">
                <a16:creationId xmlns:a16="http://schemas.microsoft.com/office/drawing/2014/main" id="{B64D63E6-1B34-5325-148B-8D099D5509E1}"/>
              </a:ext>
            </a:extLst>
          </p:cNvPr>
          <p:cNvGrpSpPr/>
          <p:nvPr/>
        </p:nvGrpSpPr>
        <p:grpSpPr>
          <a:xfrm>
            <a:off x="228598" y="3053019"/>
            <a:ext cx="504000" cy="504000"/>
            <a:chOff x="977950" y="2729564"/>
            <a:chExt cx="504000" cy="504000"/>
          </a:xfrm>
        </p:grpSpPr>
        <p:sp>
          <p:nvSpPr>
            <p:cNvPr id="37" name="Oval 36">
              <a:extLst>
                <a:ext uri="{FF2B5EF4-FFF2-40B4-BE49-F238E27FC236}">
                  <a16:creationId xmlns:a16="http://schemas.microsoft.com/office/drawing/2014/main" id="{3613D8C1-E4E6-4167-718C-D20CE8E29AA0}"/>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8" name="Graphic 37" descr="Normal Distribution with solid fill">
              <a:extLst>
                <a:ext uri="{FF2B5EF4-FFF2-40B4-BE49-F238E27FC236}">
                  <a16:creationId xmlns:a16="http://schemas.microsoft.com/office/drawing/2014/main" id="{A3D25088-D367-73F6-A92B-56E193ED411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39" name="Group 38">
            <a:extLst>
              <a:ext uri="{FF2B5EF4-FFF2-40B4-BE49-F238E27FC236}">
                <a16:creationId xmlns:a16="http://schemas.microsoft.com/office/drawing/2014/main" id="{A0FAD7A4-50C5-B5BC-F0C1-9815EB1E703A}"/>
              </a:ext>
            </a:extLst>
          </p:cNvPr>
          <p:cNvGrpSpPr/>
          <p:nvPr/>
        </p:nvGrpSpPr>
        <p:grpSpPr>
          <a:xfrm>
            <a:off x="228598" y="3666716"/>
            <a:ext cx="504000" cy="504000"/>
            <a:chOff x="977950" y="2729564"/>
            <a:chExt cx="504000" cy="504000"/>
          </a:xfrm>
        </p:grpSpPr>
        <p:sp>
          <p:nvSpPr>
            <p:cNvPr id="40" name="Oval 39">
              <a:extLst>
                <a:ext uri="{FF2B5EF4-FFF2-40B4-BE49-F238E27FC236}">
                  <a16:creationId xmlns:a16="http://schemas.microsoft.com/office/drawing/2014/main" id="{AFE9C531-AC0A-78F1-4BD6-1EDCCB4CC4D9}"/>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1" name="Graphic 40" descr="Abacus with solid fill">
              <a:extLst>
                <a:ext uri="{FF2B5EF4-FFF2-40B4-BE49-F238E27FC236}">
                  <a16:creationId xmlns:a16="http://schemas.microsoft.com/office/drawing/2014/main" id="{8716ED6C-CC1C-D9B0-750A-0942C83497F5}"/>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42" name="Group 41">
            <a:extLst>
              <a:ext uri="{FF2B5EF4-FFF2-40B4-BE49-F238E27FC236}">
                <a16:creationId xmlns:a16="http://schemas.microsoft.com/office/drawing/2014/main" id="{F844FAFF-AD29-33A1-C96E-CEB7A5ADE903}"/>
              </a:ext>
            </a:extLst>
          </p:cNvPr>
          <p:cNvGrpSpPr/>
          <p:nvPr/>
        </p:nvGrpSpPr>
        <p:grpSpPr>
          <a:xfrm>
            <a:off x="228598" y="4280413"/>
            <a:ext cx="504000" cy="504000"/>
            <a:chOff x="977950" y="2729564"/>
            <a:chExt cx="504000" cy="504000"/>
          </a:xfrm>
        </p:grpSpPr>
        <p:sp>
          <p:nvSpPr>
            <p:cNvPr id="43" name="Oval 42">
              <a:extLst>
                <a:ext uri="{FF2B5EF4-FFF2-40B4-BE49-F238E27FC236}">
                  <a16:creationId xmlns:a16="http://schemas.microsoft.com/office/drawing/2014/main" id="{57EE01F3-9BF8-DFA8-CA9E-903B45387797}"/>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4" name="Graphic 43" descr="Trigonometry with solid fill">
              <a:extLst>
                <a:ext uri="{FF2B5EF4-FFF2-40B4-BE49-F238E27FC236}">
                  <a16:creationId xmlns:a16="http://schemas.microsoft.com/office/drawing/2014/main" id="{6145470E-781E-3D76-1568-CB0A0F247B1D}"/>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45" name="Group 44">
            <a:extLst>
              <a:ext uri="{FF2B5EF4-FFF2-40B4-BE49-F238E27FC236}">
                <a16:creationId xmlns:a16="http://schemas.microsoft.com/office/drawing/2014/main" id="{905C5C83-6D7A-893A-31C3-3C545FE0CD78}"/>
              </a:ext>
            </a:extLst>
          </p:cNvPr>
          <p:cNvGrpSpPr/>
          <p:nvPr/>
        </p:nvGrpSpPr>
        <p:grpSpPr>
          <a:xfrm>
            <a:off x="228598" y="4894111"/>
            <a:ext cx="504000" cy="504000"/>
            <a:chOff x="977950" y="2729564"/>
            <a:chExt cx="504000" cy="504000"/>
          </a:xfrm>
        </p:grpSpPr>
        <p:sp>
          <p:nvSpPr>
            <p:cNvPr id="46" name="Oval 45">
              <a:extLst>
                <a:ext uri="{FF2B5EF4-FFF2-40B4-BE49-F238E27FC236}">
                  <a16:creationId xmlns:a16="http://schemas.microsoft.com/office/drawing/2014/main" id="{D658A804-D295-D0E0-6B36-2A51C9BCD734}"/>
                </a:ext>
              </a:extLst>
            </p:cNvPr>
            <p:cNvSpPr/>
            <p:nvPr/>
          </p:nvSpPr>
          <p:spPr>
            <a:xfrm>
              <a:off x="977950" y="2729564"/>
              <a:ext cx="504000" cy="504000"/>
            </a:xfrm>
            <a:prstGeom prst="ellipse">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7" name="Graphic 46" descr="Scatterplot with solid fill">
              <a:extLst>
                <a:ext uri="{FF2B5EF4-FFF2-40B4-BE49-F238E27FC236}">
                  <a16:creationId xmlns:a16="http://schemas.microsoft.com/office/drawing/2014/main" id="{07F80302-3529-F84E-EABB-9F404EB47D36}"/>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48" name="Straight Arrow Connector 47">
            <a:extLst>
              <a:ext uri="{FF2B5EF4-FFF2-40B4-BE49-F238E27FC236}">
                <a16:creationId xmlns:a16="http://schemas.microsoft.com/office/drawing/2014/main" id="{7440879A-E5C4-F3E9-0FEB-226C608A7729}"/>
              </a:ext>
            </a:extLst>
          </p:cNvPr>
          <p:cNvCxnSpPr>
            <a:stCxn id="31" idx="4"/>
            <a:endCxn id="34"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687C2DF4-8762-F441-B08E-63C1F7976EC7}"/>
              </a:ext>
            </a:extLst>
          </p:cNvPr>
          <p:cNvCxnSpPr>
            <a:cxnSpLocks/>
            <a:stCxn id="34" idx="4"/>
            <a:endCxn id="37"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4AE40688-8563-36FC-6882-8571418733F2}"/>
              </a:ext>
            </a:extLst>
          </p:cNvPr>
          <p:cNvCxnSpPr>
            <a:cxnSpLocks/>
            <a:stCxn id="37" idx="4"/>
            <a:endCxn id="40"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B93B1AA2-16F7-FB50-40A7-6329AECAD72F}"/>
              </a:ext>
            </a:extLst>
          </p:cNvPr>
          <p:cNvCxnSpPr>
            <a:cxnSpLocks/>
            <a:stCxn id="40" idx="4"/>
            <a:endCxn id="43"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4E0CF078-58A5-8AD4-731F-C8C4456B0C67}"/>
              </a:ext>
            </a:extLst>
          </p:cNvPr>
          <p:cNvCxnSpPr>
            <a:cxnSpLocks/>
            <a:stCxn id="43" idx="4"/>
            <a:endCxn id="46"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Rectangle: Rounded Corners 53">
            <a:extLst>
              <a:ext uri="{FF2B5EF4-FFF2-40B4-BE49-F238E27FC236}">
                <a16:creationId xmlns:a16="http://schemas.microsoft.com/office/drawing/2014/main" id="{A76FD3ED-B378-BDD5-BFE6-B8431AB5675B}"/>
              </a:ext>
            </a:extLst>
          </p:cNvPr>
          <p:cNvSpPr/>
          <p:nvPr/>
        </p:nvSpPr>
        <p:spPr>
          <a:xfrm>
            <a:off x="838198" y="2947129"/>
            <a:ext cx="4204138" cy="2913468"/>
          </a:xfrm>
          <a:prstGeom prst="roundRect">
            <a:avLst>
              <a:gd name="adj" fmla="val 10544"/>
            </a:avLst>
          </a:prstGeom>
          <a:solidFill>
            <a:schemeClr val="accent5">
              <a:lumMod val="20000"/>
              <a:lumOff val="80000"/>
            </a:schemeClr>
          </a:solidFill>
          <a:ln>
            <a:solidFill>
              <a:schemeClr val="accent4">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SE" dirty="0">
                <a:solidFill>
                  <a:sysClr val="windowText" lastClr="000000"/>
                </a:solidFill>
              </a:rPr>
              <a:t>Bayesian Model</a:t>
            </a:r>
          </a:p>
        </p:txBody>
      </p:sp>
      <mc:AlternateContent xmlns:mc="http://schemas.openxmlformats.org/markup-compatibility/2006">
        <mc:Choice xmlns:a14="http://schemas.microsoft.com/office/drawing/2010/main" Requires="a14">
          <p:sp>
            <p:nvSpPr>
              <p:cNvPr id="56" name="TextBox 55">
                <a:extLst>
                  <a:ext uri="{FF2B5EF4-FFF2-40B4-BE49-F238E27FC236}">
                    <a16:creationId xmlns:a16="http://schemas.microsoft.com/office/drawing/2014/main" id="{0F881603-5768-2C61-B514-E524CB433203}"/>
                  </a:ext>
                </a:extLst>
              </p:cNvPr>
              <p:cNvSpPr txBox="1"/>
              <p:nvPr/>
            </p:nvSpPr>
            <p:spPr>
              <a:xfrm>
                <a:off x="1968731" y="3549182"/>
                <a:ext cx="259526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𝑦</m:t>
                      </m:r>
                      <m:r>
                        <a:rPr lang="en-SE" sz="2400" b="0" i="1" smtClean="0">
                          <a:latin typeface="Cambria Math" panose="02040503050406030204" pitchFamily="18" charset="0"/>
                        </a:rPr>
                        <m:t> ~ </m:t>
                      </m:r>
                      <m:r>
                        <a:rPr lang="en-SE" sz="2400" b="0" i="1" smtClean="0">
                          <a:latin typeface="Cambria Math" panose="02040503050406030204" pitchFamily="18" charset="0"/>
                        </a:rPr>
                        <m:t>𝐵𝑖𝑛𝑜𝑚𝑖𝑎𝑙</m:t>
                      </m:r>
                      <m:r>
                        <a:rPr lang="en-SE" sz="2400" b="0" i="1" smtClean="0">
                          <a:latin typeface="Cambria Math" panose="02040503050406030204" pitchFamily="18" charset="0"/>
                        </a:rPr>
                        <m:t>(</m:t>
                      </m:r>
                      <m:r>
                        <a:rPr lang="en-SE" sz="2400" b="0" i="1" smtClean="0">
                          <a:latin typeface="Cambria Math" panose="02040503050406030204" pitchFamily="18" charset="0"/>
                        </a:rPr>
                        <m:t>𝑛</m:t>
                      </m:r>
                      <m:r>
                        <a:rPr lang="en-SE" sz="2400" b="0" i="1" smtClean="0">
                          <a:latin typeface="Cambria Math" panose="02040503050406030204" pitchFamily="18" charset="0"/>
                        </a:rPr>
                        <m:t>, </m:t>
                      </m:r>
                      <m:r>
                        <a:rPr lang="en-SE" sz="2400" b="0" i="1" smtClean="0">
                          <a:latin typeface="Cambria Math" panose="02040503050406030204" pitchFamily="18" charset="0"/>
                        </a:rPr>
                        <m:t>𝑝</m:t>
                      </m:r>
                      <m:r>
                        <a:rPr lang="en-SE" sz="2400" b="0" i="1" smtClean="0">
                          <a:latin typeface="Cambria Math" panose="02040503050406030204" pitchFamily="18" charset="0"/>
                        </a:rPr>
                        <m:t>)</m:t>
                      </m:r>
                    </m:oMath>
                  </m:oMathPara>
                </a14:m>
                <a:endParaRPr lang="en-SE" sz="2400" dirty="0"/>
              </a:p>
            </p:txBody>
          </p:sp>
        </mc:Choice>
        <mc:Fallback>
          <p:sp>
            <p:nvSpPr>
              <p:cNvPr id="56" name="TextBox 55">
                <a:extLst>
                  <a:ext uri="{FF2B5EF4-FFF2-40B4-BE49-F238E27FC236}">
                    <a16:creationId xmlns:a16="http://schemas.microsoft.com/office/drawing/2014/main" id="{0F881603-5768-2C61-B514-E524CB433203}"/>
                  </a:ext>
                </a:extLst>
              </p:cNvPr>
              <p:cNvSpPr txBox="1">
                <a:spLocks noRot="1" noChangeAspect="1" noMove="1" noResize="1" noEditPoints="1" noAdjustHandles="1" noChangeArrowheads="1" noChangeShapeType="1" noTextEdit="1"/>
              </p:cNvSpPr>
              <p:nvPr/>
            </p:nvSpPr>
            <p:spPr>
              <a:xfrm>
                <a:off x="1968731" y="3549182"/>
                <a:ext cx="2595262" cy="369332"/>
              </a:xfrm>
              <a:prstGeom prst="rect">
                <a:avLst/>
              </a:prstGeom>
              <a:blipFill>
                <a:blip r:embed="rId8"/>
                <a:stretch>
                  <a:fillRect l="-2582" t="-1639" r="-3756" b="-3278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58" name="TextBox 57">
                <a:extLst>
                  <a:ext uri="{FF2B5EF4-FFF2-40B4-BE49-F238E27FC236}">
                    <a16:creationId xmlns:a16="http://schemas.microsoft.com/office/drawing/2014/main" id="{9E13ED9D-E452-98B1-29F4-5F740FED41EC}"/>
                  </a:ext>
                </a:extLst>
              </p:cNvPr>
              <p:cNvSpPr txBox="1"/>
              <p:nvPr/>
            </p:nvSpPr>
            <p:spPr>
              <a:xfrm>
                <a:off x="970021" y="3946684"/>
                <a:ext cx="391991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𝑙𝑜𝑔𝑖𝑡</m:t>
                      </m:r>
                      <m:r>
                        <a:rPr lang="en-SE" sz="2400" b="0" i="1" smtClean="0">
                          <a:latin typeface="Cambria Math" panose="02040503050406030204" pitchFamily="18" charset="0"/>
                        </a:rPr>
                        <m:t>(</m:t>
                      </m:r>
                      <m:r>
                        <a:rPr lang="en-SE" sz="2400" b="0" i="1" smtClean="0">
                          <a:latin typeface="Cambria Math" panose="02040503050406030204" pitchFamily="18" charset="0"/>
                        </a:rPr>
                        <m:t>𝑝</m:t>
                      </m:r>
                      <m:r>
                        <a:rPr lang="en-SE" sz="2400" b="0" i="1" smtClean="0">
                          <a:latin typeface="Cambria Math" panose="02040503050406030204" pitchFamily="18" charset="0"/>
                        </a:rPr>
                        <m:t>)</m:t>
                      </m:r>
                      <m:r>
                        <a:rPr lang="en-SE" sz="2400" b="0" i="1" smtClean="0">
                          <a:latin typeface="Cambria Math" panose="02040503050406030204" pitchFamily="18" charset="0"/>
                        </a:rPr>
                        <m:t>←</m:t>
                      </m:r>
                      <m:r>
                        <a:rPr lang="en-SE" sz="2400" b="0" i="1" smtClean="0">
                          <a:latin typeface="Cambria Math" panose="02040503050406030204" pitchFamily="18" charset="0"/>
                        </a:rPr>
                        <m:t>𝛼</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𝑥</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𝑧</m:t>
                      </m:r>
                    </m:oMath>
                  </m:oMathPara>
                </a14:m>
                <a:endParaRPr lang="en-SE" sz="2400" dirty="0"/>
              </a:p>
            </p:txBody>
          </p:sp>
        </mc:Choice>
        <mc:Fallback>
          <p:sp>
            <p:nvSpPr>
              <p:cNvPr id="58" name="TextBox 57">
                <a:extLst>
                  <a:ext uri="{FF2B5EF4-FFF2-40B4-BE49-F238E27FC236}">
                    <a16:creationId xmlns:a16="http://schemas.microsoft.com/office/drawing/2014/main" id="{9E13ED9D-E452-98B1-29F4-5F740FED41EC}"/>
                  </a:ext>
                </a:extLst>
              </p:cNvPr>
              <p:cNvSpPr txBox="1">
                <a:spLocks noRot="1" noChangeAspect="1" noMove="1" noResize="1" noEditPoints="1" noAdjustHandles="1" noChangeArrowheads="1" noChangeShapeType="1" noTextEdit="1"/>
              </p:cNvSpPr>
              <p:nvPr/>
            </p:nvSpPr>
            <p:spPr>
              <a:xfrm>
                <a:off x="970021" y="3946684"/>
                <a:ext cx="3919919" cy="369332"/>
              </a:xfrm>
              <a:prstGeom prst="rect">
                <a:avLst/>
              </a:prstGeom>
              <a:blipFill>
                <a:blip r:embed="rId9"/>
                <a:stretch>
                  <a:fillRect l="-2333" t="-1639" r="-622" b="-3278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60" name="TextBox 59">
                <a:extLst>
                  <a:ext uri="{FF2B5EF4-FFF2-40B4-BE49-F238E27FC236}">
                    <a16:creationId xmlns:a16="http://schemas.microsoft.com/office/drawing/2014/main" id="{87C74E1F-532A-4C6D-58F8-2C8129D42E38}"/>
                  </a:ext>
                </a:extLst>
              </p:cNvPr>
              <p:cNvSpPr txBox="1"/>
              <p:nvPr/>
            </p:nvSpPr>
            <p:spPr>
              <a:xfrm>
                <a:off x="1939364" y="4364889"/>
                <a:ext cx="16328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𝛼</m:t>
                      </m:r>
                      <m:r>
                        <a:rPr lang="en-SE" sz="2400" b="0" i="1" smtClean="0">
                          <a:latin typeface="Cambria Math" panose="02040503050406030204" pitchFamily="18" charset="0"/>
                        </a:rPr>
                        <m:t>∼</m:t>
                      </m:r>
                      <m:r>
                        <a:rPr lang="en-SE" sz="2400" b="0" i="1" smtClean="0">
                          <a:latin typeface="Cambria Math" panose="02040503050406030204" pitchFamily="18" charset="0"/>
                        </a:rPr>
                        <m:t>𝑁</m:t>
                      </m:r>
                      <m:r>
                        <a:rPr lang="en-SE" sz="2400" b="0" i="1" smtClean="0">
                          <a:latin typeface="Cambria Math" panose="02040503050406030204" pitchFamily="18" charset="0"/>
                        </a:rPr>
                        <m:t>(0, 1)</m:t>
                      </m:r>
                    </m:oMath>
                  </m:oMathPara>
                </a14:m>
                <a:endParaRPr lang="en-SE" sz="2400" dirty="0"/>
              </a:p>
            </p:txBody>
          </p:sp>
        </mc:Choice>
        <mc:Fallback>
          <p:sp>
            <p:nvSpPr>
              <p:cNvPr id="60" name="TextBox 59">
                <a:extLst>
                  <a:ext uri="{FF2B5EF4-FFF2-40B4-BE49-F238E27FC236}">
                    <a16:creationId xmlns:a16="http://schemas.microsoft.com/office/drawing/2014/main" id="{87C74E1F-532A-4C6D-58F8-2C8129D42E38}"/>
                  </a:ext>
                </a:extLst>
              </p:cNvPr>
              <p:cNvSpPr txBox="1">
                <a:spLocks noRot="1" noChangeAspect="1" noMove="1" noResize="1" noEditPoints="1" noAdjustHandles="1" noChangeArrowheads="1" noChangeShapeType="1" noTextEdit="1"/>
              </p:cNvSpPr>
              <p:nvPr/>
            </p:nvSpPr>
            <p:spPr>
              <a:xfrm>
                <a:off x="1939364" y="4364889"/>
                <a:ext cx="1632883" cy="369332"/>
              </a:xfrm>
              <a:prstGeom prst="rect">
                <a:avLst/>
              </a:prstGeom>
              <a:blipFill>
                <a:blip r:embed="rId10"/>
                <a:stretch>
                  <a:fillRect l="-746" t="-1639" r="-5597" b="-3278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62" name="TextBox 61">
                <a:extLst>
                  <a:ext uri="{FF2B5EF4-FFF2-40B4-BE49-F238E27FC236}">
                    <a16:creationId xmlns:a16="http://schemas.microsoft.com/office/drawing/2014/main" id="{F1A27AA4-DC8F-94EA-1B3F-5FB8420DF4AC}"/>
                  </a:ext>
                </a:extLst>
              </p:cNvPr>
              <p:cNvSpPr txBox="1"/>
              <p:nvPr/>
            </p:nvSpPr>
            <p:spPr>
              <a:xfrm>
                <a:off x="1805486" y="4807048"/>
                <a:ext cx="2015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𝑁</m:t>
                      </m:r>
                      <m:r>
                        <a:rPr lang="en-SE" sz="2400" b="0" i="1" smtClean="0">
                          <a:latin typeface="Cambria Math" panose="02040503050406030204" pitchFamily="18" charset="0"/>
                        </a:rPr>
                        <m:t>(0, 0.5)</m:t>
                      </m:r>
                    </m:oMath>
                  </m:oMathPara>
                </a14:m>
                <a:endParaRPr lang="en-SE" sz="2400" dirty="0"/>
              </a:p>
            </p:txBody>
          </p:sp>
        </mc:Choice>
        <mc:Fallback>
          <p:sp>
            <p:nvSpPr>
              <p:cNvPr id="62" name="TextBox 61">
                <a:extLst>
                  <a:ext uri="{FF2B5EF4-FFF2-40B4-BE49-F238E27FC236}">
                    <a16:creationId xmlns:a16="http://schemas.microsoft.com/office/drawing/2014/main" id="{F1A27AA4-DC8F-94EA-1B3F-5FB8420DF4AC}"/>
                  </a:ext>
                </a:extLst>
              </p:cNvPr>
              <p:cNvSpPr txBox="1">
                <a:spLocks noRot="1" noChangeAspect="1" noMove="1" noResize="1" noEditPoints="1" noAdjustHandles="1" noChangeArrowheads="1" noChangeShapeType="1" noTextEdit="1"/>
              </p:cNvSpPr>
              <p:nvPr/>
            </p:nvSpPr>
            <p:spPr>
              <a:xfrm>
                <a:off x="1805486" y="4807048"/>
                <a:ext cx="2015103" cy="369332"/>
              </a:xfrm>
              <a:prstGeom prst="rect">
                <a:avLst/>
              </a:prstGeom>
              <a:blipFill>
                <a:blip r:embed="rId11"/>
                <a:stretch>
                  <a:fillRect l="-3323" t="-1667" r="-3625" b="-33333"/>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64" name="TextBox 63">
                <a:extLst>
                  <a:ext uri="{FF2B5EF4-FFF2-40B4-BE49-F238E27FC236}">
                    <a16:creationId xmlns:a16="http://schemas.microsoft.com/office/drawing/2014/main" id="{85789BA7-D135-F4ED-B477-1F9DC481BA1B}"/>
                  </a:ext>
                </a:extLst>
              </p:cNvPr>
              <p:cNvSpPr txBox="1"/>
              <p:nvPr/>
            </p:nvSpPr>
            <p:spPr>
              <a:xfrm>
                <a:off x="1844685" y="5237230"/>
                <a:ext cx="193187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𝑁</m:t>
                      </m:r>
                      <m:r>
                        <a:rPr lang="en-SE" sz="2400" b="0" i="1" smtClean="0">
                          <a:latin typeface="Cambria Math" panose="02040503050406030204" pitchFamily="18" charset="0"/>
                        </a:rPr>
                        <m:t>(0, 0.5)</m:t>
                      </m:r>
                    </m:oMath>
                  </m:oMathPara>
                </a14:m>
                <a:endParaRPr lang="en-SE" sz="2400" dirty="0"/>
              </a:p>
            </p:txBody>
          </p:sp>
        </mc:Choice>
        <mc:Fallback>
          <p:sp>
            <p:nvSpPr>
              <p:cNvPr id="64" name="TextBox 63">
                <a:extLst>
                  <a:ext uri="{FF2B5EF4-FFF2-40B4-BE49-F238E27FC236}">
                    <a16:creationId xmlns:a16="http://schemas.microsoft.com/office/drawing/2014/main" id="{85789BA7-D135-F4ED-B477-1F9DC481BA1B}"/>
                  </a:ext>
                </a:extLst>
              </p:cNvPr>
              <p:cNvSpPr txBox="1">
                <a:spLocks noRot="1" noChangeAspect="1" noMove="1" noResize="1" noEditPoints="1" noAdjustHandles="1" noChangeArrowheads="1" noChangeShapeType="1" noTextEdit="1"/>
              </p:cNvSpPr>
              <p:nvPr/>
            </p:nvSpPr>
            <p:spPr>
              <a:xfrm>
                <a:off x="1844685" y="5237230"/>
                <a:ext cx="1931875" cy="369332"/>
              </a:xfrm>
              <a:prstGeom prst="rect">
                <a:avLst/>
              </a:prstGeom>
              <a:blipFill>
                <a:blip r:embed="rId12"/>
                <a:stretch>
                  <a:fillRect l="-5678" t="-1639" r="-5363" b="-32787"/>
                </a:stretch>
              </a:blipFill>
            </p:spPr>
            <p:txBody>
              <a:bodyPr/>
              <a:lstStyle/>
              <a:p>
                <a:r>
                  <a:rPr lang="en-SE">
                    <a:noFill/>
                  </a:rPr>
                  <a:t> </a:t>
                </a:r>
              </a:p>
            </p:txBody>
          </p:sp>
        </mc:Fallback>
      </mc:AlternateContent>
      <p:pic>
        <p:nvPicPr>
          <p:cNvPr id="66" name="Graphic 65" descr="Robot with solid fill">
            <a:extLst>
              <a:ext uri="{FF2B5EF4-FFF2-40B4-BE49-F238E27FC236}">
                <a16:creationId xmlns:a16="http://schemas.microsoft.com/office/drawing/2014/main" id="{721A9280-CB80-FFB3-9DFC-CE9E4CB9C5E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79343" y="3068156"/>
            <a:ext cx="360000" cy="360000"/>
          </a:xfrm>
          <a:prstGeom prst="rect">
            <a:avLst/>
          </a:prstGeom>
        </p:spPr>
      </p:pic>
      <p:sp>
        <p:nvSpPr>
          <p:cNvPr id="68" name="Rectangle 67">
            <a:extLst>
              <a:ext uri="{FF2B5EF4-FFF2-40B4-BE49-F238E27FC236}">
                <a16:creationId xmlns:a16="http://schemas.microsoft.com/office/drawing/2014/main" id="{CEE7CDFB-B012-DB8E-1AE8-FCF51F116AEB}"/>
              </a:ext>
            </a:extLst>
          </p:cNvPr>
          <p:cNvSpPr/>
          <p:nvPr/>
        </p:nvSpPr>
        <p:spPr>
          <a:xfrm>
            <a:off x="5286713" y="3349698"/>
            <a:ext cx="6067087" cy="2510899"/>
          </a:xfrm>
          <a:prstGeom prst="rect">
            <a:avLst/>
          </a:prstGeom>
          <a:solidFill>
            <a:schemeClr val="bg1">
              <a:lumMod val="95000"/>
            </a:schemeClr>
          </a:solidFill>
          <a:ln>
            <a:solidFill>
              <a:schemeClr val="tx1">
                <a:lumMod val="50000"/>
                <a:lumOff val="50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SE" dirty="0">
                <a:solidFill>
                  <a:schemeClr val="tx1"/>
                </a:solidFill>
                <a:latin typeface="Courier New" panose="02070309020205020404" pitchFamily="49" charset="0"/>
                <a:cs typeface="Courier New" panose="02070309020205020404" pitchFamily="49" charset="0"/>
              </a:rPr>
              <a:t>model &lt;- </a:t>
            </a:r>
            <a:r>
              <a:rPr lang="en-SE" dirty="0" err="1">
                <a:solidFill>
                  <a:schemeClr val="tx1"/>
                </a:solidFill>
                <a:latin typeface="Courier New" panose="02070309020205020404" pitchFamily="49" charset="0"/>
                <a:cs typeface="Courier New" panose="02070309020205020404" pitchFamily="49" charset="0"/>
              </a:rPr>
              <a:t>brm</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y | trials(n) ~ </a:t>
            </a:r>
            <a:r>
              <a:rPr lang="en-SE" dirty="0">
                <a:solidFill>
                  <a:schemeClr val="bg2">
                    <a:lumMod val="75000"/>
                  </a:schemeClr>
                </a:solidFill>
                <a:latin typeface="Courier New" panose="02070309020205020404" pitchFamily="49" charset="0"/>
                <a:cs typeface="Courier New" panose="02070309020205020404" pitchFamily="49" charset="0"/>
              </a:rPr>
              <a:t>1</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accent6"/>
                </a:solidFill>
                <a:latin typeface="Courier New" panose="02070309020205020404" pitchFamily="49" charset="0"/>
                <a:cs typeface="Courier New" panose="02070309020205020404" pitchFamily="49" charset="0"/>
              </a:rPr>
              <a:t>x</a:t>
            </a:r>
            <a:r>
              <a:rPr lang="en-SE" dirty="0">
                <a:solidFill>
                  <a:schemeClr val="tx1"/>
                </a:solidFill>
                <a:latin typeface="Courier New" panose="02070309020205020404" pitchFamily="49" charset="0"/>
                <a:cs typeface="Courier New" panose="02070309020205020404" pitchFamily="49" charset="0"/>
              </a:rPr>
              <a:t> + </a:t>
            </a:r>
            <a:r>
              <a:rPr lang="en-SE" dirty="0">
                <a:solidFill>
                  <a:schemeClr val="accent6"/>
                </a:solidFill>
                <a:latin typeface="Courier New" panose="02070309020205020404" pitchFamily="49" charset="0"/>
                <a:cs typeface="Courier New" panose="02070309020205020404" pitchFamily="49" charset="0"/>
              </a:rPr>
              <a:t>z</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family = binomial</a:t>
            </a:r>
            <a:r>
              <a:rPr lang="en-SE" b="1" dirty="0">
                <a:solidFill>
                  <a:schemeClr val="tx1"/>
                </a:solidFill>
                <a:latin typeface="Courier New" panose="02070309020205020404" pitchFamily="49" charset="0"/>
                <a:cs typeface="Courier New" panose="02070309020205020404" pitchFamily="49" charset="0"/>
              </a:rPr>
              <a:t>(link=“logit”)</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priors = c(</a:t>
            </a:r>
          </a:p>
          <a:p>
            <a:r>
              <a:rPr lang="en-S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prior</a:t>
            </a:r>
            <a:r>
              <a:rPr lang="de-DE" dirty="0">
                <a:solidFill>
                  <a:schemeClr val="tx1"/>
                </a:solidFill>
                <a:latin typeface="Courier New" panose="02070309020205020404" pitchFamily="49" charset="0"/>
                <a:cs typeface="Courier New" panose="02070309020205020404" pitchFamily="49" charset="0"/>
              </a:rPr>
              <a:t>(normal(</a:t>
            </a:r>
            <a:r>
              <a:rPr lang="en-SE" dirty="0">
                <a:solidFill>
                  <a:schemeClr val="tx1"/>
                </a:solidFill>
                <a:latin typeface="Courier New" panose="02070309020205020404" pitchFamily="49" charset="0"/>
                <a:cs typeface="Courier New" panose="02070309020205020404" pitchFamily="49" charset="0"/>
              </a:rPr>
              <a:t>0</a:t>
            </a:r>
            <a:r>
              <a:rPr lang="de-DE" dirty="0">
                <a:solidFill>
                  <a:schemeClr val="tx1"/>
                </a:solidFill>
                <a:latin typeface="Courier New" panose="02070309020205020404" pitchFamily="49" charset="0"/>
                <a:cs typeface="Courier New" panose="02070309020205020404" pitchFamily="49" charset="0"/>
              </a:rPr>
              <a:t>, 1), </a:t>
            </a:r>
            <a:r>
              <a:rPr lang="de-DE" dirty="0" err="1">
                <a:solidFill>
                  <a:schemeClr val="tx1"/>
                </a:solidFill>
                <a:latin typeface="Courier New" panose="02070309020205020404" pitchFamily="49" charset="0"/>
                <a:cs typeface="Courier New" panose="02070309020205020404" pitchFamily="49" charset="0"/>
              </a:rPr>
              <a:t>class</a:t>
            </a:r>
            <a:r>
              <a:rPr lang="de-DE" dirty="0">
                <a:solidFill>
                  <a:schemeClr val="tx1"/>
                </a:solidFill>
                <a:latin typeface="Courier New" panose="02070309020205020404" pitchFamily="49" charset="0"/>
                <a:cs typeface="Courier New" panose="02070309020205020404" pitchFamily="49" charset="0"/>
              </a:rPr>
              <a:t> = </a:t>
            </a:r>
            <a:r>
              <a:rPr lang="de-DE" dirty="0" err="1">
                <a:solidFill>
                  <a:schemeClr val="tx1"/>
                </a:solidFill>
                <a:latin typeface="Courier New" panose="02070309020205020404" pitchFamily="49" charset="0"/>
                <a:cs typeface="Courier New" panose="02070309020205020404" pitchFamily="49" charset="0"/>
              </a:rPr>
              <a:t>Intercept</a:t>
            </a:r>
            <a:r>
              <a:rPr lang="de-DE" dirty="0">
                <a:solidFill>
                  <a:schemeClr val="tx1"/>
                </a:solidFill>
                <a:latin typeface="Courier New" panose="02070309020205020404" pitchFamily="49" charset="0"/>
                <a:cs typeface="Courier New" panose="02070309020205020404" pitchFamily="49" charset="0"/>
              </a:rPr>
              <a:t>),</a:t>
            </a:r>
            <a:endParaRPr lang="en-SE"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prior</a:t>
            </a:r>
            <a:r>
              <a:rPr lang="de-DE" dirty="0">
                <a:solidFill>
                  <a:schemeClr val="tx1"/>
                </a:solidFill>
                <a:latin typeface="Courier New" panose="02070309020205020404" pitchFamily="49" charset="0"/>
                <a:cs typeface="Courier New" panose="02070309020205020404" pitchFamily="49" charset="0"/>
              </a:rPr>
              <a:t>(normal(0, </a:t>
            </a:r>
            <a:r>
              <a:rPr lang="en-SE" dirty="0">
                <a:solidFill>
                  <a:schemeClr val="tx1"/>
                </a:solidFill>
                <a:latin typeface="Courier New" panose="02070309020205020404" pitchFamily="49" charset="0"/>
                <a:cs typeface="Courier New" panose="02070309020205020404" pitchFamily="49" charset="0"/>
              </a:rPr>
              <a:t>0.5</a:t>
            </a:r>
            <a:r>
              <a:rPr lang="de-DE" dirty="0">
                <a:solidFill>
                  <a:schemeClr val="tx1"/>
                </a:solidFill>
                <a:latin typeface="Courier New" panose="02070309020205020404" pitchFamily="49" charset="0"/>
                <a:cs typeface="Courier New" panose="02070309020205020404" pitchFamily="49" charset="0"/>
              </a:rPr>
              <a:t>), </a:t>
            </a:r>
            <a:r>
              <a:rPr lang="de-DE" dirty="0" err="1">
                <a:solidFill>
                  <a:schemeClr val="tx1"/>
                </a:solidFill>
                <a:latin typeface="Courier New" panose="02070309020205020404" pitchFamily="49" charset="0"/>
                <a:cs typeface="Courier New" panose="02070309020205020404" pitchFamily="49" charset="0"/>
              </a:rPr>
              <a:t>class</a:t>
            </a:r>
            <a:r>
              <a:rPr lang="de-DE" dirty="0">
                <a:solidFill>
                  <a:schemeClr val="tx1"/>
                </a:solidFill>
                <a:latin typeface="Courier New" panose="02070309020205020404" pitchFamily="49" charset="0"/>
                <a:cs typeface="Courier New" panose="02070309020205020404" pitchFamily="49" charset="0"/>
              </a:rPr>
              <a:t> = b))</a:t>
            </a:r>
            <a:r>
              <a:rPr lang="en-SE" dirty="0">
                <a:solidFill>
                  <a:schemeClr val="tx1"/>
                </a:solidFill>
                <a:latin typeface="Courier New" panose="02070309020205020404" pitchFamily="49" charset="0"/>
                <a:cs typeface="Courier New" panose="02070309020205020404" pitchFamily="49" charset="0"/>
              </a:rPr>
              <a:t>,</a:t>
            </a:r>
          </a:p>
          <a:p>
            <a:r>
              <a:rPr lang="en-SE" dirty="0">
                <a:solidFill>
                  <a:schemeClr val="tx1"/>
                </a:solidFill>
                <a:latin typeface="Courier New" panose="02070309020205020404" pitchFamily="49" charset="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iter = 4000, warmup = 1000, chains = 4,</a:t>
            </a:r>
            <a:endParaRPr lang="en-SE"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  c</a:t>
            </a:r>
            <a:r>
              <a:rPr lang="en-US" dirty="0">
                <a:solidFill>
                  <a:schemeClr val="tx1"/>
                </a:solidFill>
                <a:latin typeface="Courier New" panose="02070309020205020404" pitchFamily="49" charset="0"/>
                <a:cs typeface="Courier New" panose="02070309020205020404" pitchFamily="49" charset="0"/>
              </a:rPr>
              <a:t>ores = 4, </a:t>
            </a:r>
            <a:r>
              <a:rPr lang="en-SE" dirty="0">
                <a:solidFill>
                  <a:schemeClr val="tx1"/>
                </a:solidFill>
                <a:latin typeface="Courier New" panose="02070309020205020404" pitchFamily="49" charset="0"/>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seed = 4</a:t>
            </a:r>
            <a:endParaRPr lang="en-SE" dirty="0">
              <a:solidFill>
                <a:schemeClr val="tx1"/>
              </a:solidFill>
              <a:latin typeface="Courier New" panose="02070309020205020404" pitchFamily="49" charset="0"/>
              <a:cs typeface="Courier New" panose="02070309020205020404" pitchFamily="49" charset="0"/>
            </a:endParaRPr>
          </a:p>
          <a:p>
            <a:r>
              <a:rPr lang="en-SE" dirty="0">
                <a:solidFill>
                  <a:schemeClr val="tx1"/>
                </a:solidFill>
                <a:latin typeface="Courier New" panose="02070309020205020404" pitchFamily="49" charset="0"/>
                <a:cs typeface="Courier New" panose="02070309020205020404" pitchFamily="49" charset="0"/>
              </a:rPr>
              <a:t>)</a:t>
            </a:r>
          </a:p>
        </p:txBody>
      </p:sp>
      <p:sp>
        <p:nvSpPr>
          <p:cNvPr id="70" name="Rectangle 69">
            <a:extLst>
              <a:ext uri="{FF2B5EF4-FFF2-40B4-BE49-F238E27FC236}">
                <a16:creationId xmlns:a16="http://schemas.microsoft.com/office/drawing/2014/main" id="{D0A5E261-FFFE-20ED-1EC8-FA81E393EA89}"/>
              </a:ext>
            </a:extLst>
          </p:cNvPr>
          <p:cNvSpPr/>
          <p:nvPr/>
        </p:nvSpPr>
        <p:spPr>
          <a:xfrm>
            <a:off x="5286713" y="2984573"/>
            <a:ext cx="6067087" cy="365125"/>
          </a:xfrm>
          <a:prstGeom prst="rect">
            <a:avLst/>
          </a:prstGeom>
          <a:solidFill>
            <a:schemeClr val="tx1">
              <a:lumMod val="65000"/>
              <a:lumOff val="3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E" dirty="0">
                <a:solidFill>
                  <a:schemeClr val="bg1"/>
                </a:solidFill>
                <a:latin typeface="Courier New" panose="02070309020205020404" pitchFamily="49" charset="0"/>
                <a:cs typeface="Courier New" panose="02070309020205020404" pitchFamily="49" charset="0"/>
              </a:rPr>
              <a:t>R 4.5.0 using library(brms)</a:t>
            </a:r>
          </a:p>
        </p:txBody>
      </p:sp>
    </p:spTree>
    <p:extLst>
      <p:ext uri="{BB962C8B-B14F-4D97-AF65-F5344CB8AC3E}">
        <p14:creationId xmlns:p14="http://schemas.microsoft.com/office/powerpoint/2010/main" val="76930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035F5-5D5D-FD9F-AF7B-82EB9DA50446}"/>
              </a:ext>
            </a:extLst>
          </p:cNvPr>
          <p:cNvSpPr>
            <a:spLocks noGrp="1"/>
          </p:cNvSpPr>
          <p:nvPr>
            <p:ph type="title"/>
          </p:nvPr>
        </p:nvSpPr>
        <p:spPr/>
        <p:txBody>
          <a:bodyPr/>
          <a:lstStyle/>
          <a:p>
            <a:r>
              <a:rPr lang="en-SE" dirty="0"/>
              <a:t>Prior Predictive Checks, Training, and Posterior Predictive Checks</a:t>
            </a:r>
          </a:p>
        </p:txBody>
      </p:sp>
      <p:sp>
        <p:nvSpPr>
          <p:cNvPr id="3" name="Content Placeholder 2">
            <a:extLst>
              <a:ext uri="{FF2B5EF4-FFF2-40B4-BE49-F238E27FC236}">
                <a16:creationId xmlns:a16="http://schemas.microsoft.com/office/drawing/2014/main" id="{44C49F86-0ED3-DC40-14D3-3F4778FB4D86}"/>
              </a:ext>
            </a:extLst>
          </p:cNvPr>
          <p:cNvSpPr>
            <a:spLocks noGrp="1"/>
          </p:cNvSpPr>
          <p:nvPr>
            <p:ph idx="1"/>
          </p:nvPr>
        </p:nvSpPr>
        <p:spPr>
          <a:xfrm>
            <a:off x="838200" y="1825625"/>
            <a:ext cx="10515600" cy="1215866"/>
          </a:xfrm>
        </p:spPr>
        <p:txBody>
          <a:bodyPr/>
          <a:lstStyle/>
          <a:p>
            <a:pPr marL="0" indent="0">
              <a:buNone/>
            </a:pPr>
            <a:r>
              <a:rPr lang="en-SE" dirty="0"/>
              <a:t>The link function complicates the selection of appropriate priors and makes prior predictive checks all-the-more-important.</a:t>
            </a:r>
          </a:p>
        </p:txBody>
      </p:sp>
      <p:sp>
        <p:nvSpPr>
          <p:cNvPr id="4" name="Date Placeholder 3">
            <a:extLst>
              <a:ext uri="{FF2B5EF4-FFF2-40B4-BE49-F238E27FC236}">
                <a16:creationId xmlns:a16="http://schemas.microsoft.com/office/drawing/2014/main" id="{FBA850E2-743F-79DF-C12B-AEFEBB575FA5}"/>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CDC37696-CF0E-B287-2394-E61CDE28CD44}"/>
              </a:ext>
            </a:extLst>
          </p:cNvPr>
          <p:cNvSpPr>
            <a:spLocks noGrp="1"/>
          </p:cNvSpPr>
          <p:nvPr>
            <p:ph type="sldNum" sz="quarter" idx="12"/>
          </p:nvPr>
        </p:nvSpPr>
        <p:spPr/>
        <p:txBody>
          <a:bodyPr/>
          <a:lstStyle/>
          <a:p>
            <a:fld id="{271ECC92-9CDE-4EB3-B1C5-F46B9E1FA3C1}" type="slidenum">
              <a:rPr lang="en-SE" smtClean="0"/>
              <a:t>81</a:t>
            </a:fld>
            <a:endParaRPr lang="en-SE"/>
          </a:p>
        </p:txBody>
      </p:sp>
      <p:sp>
        <p:nvSpPr>
          <p:cNvPr id="6" name="Footer Placeholder 5">
            <a:extLst>
              <a:ext uri="{FF2B5EF4-FFF2-40B4-BE49-F238E27FC236}">
                <a16:creationId xmlns:a16="http://schemas.microsoft.com/office/drawing/2014/main" id="{A6A75ED3-DA3F-4BF4-B590-E017725050DA}"/>
              </a:ext>
            </a:extLst>
          </p:cNvPr>
          <p:cNvSpPr>
            <a:spLocks noGrp="1"/>
          </p:cNvSpPr>
          <p:nvPr>
            <p:ph type="ftr" sz="quarter" idx="11"/>
          </p:nvPr>
        </p:nvSpPr>
        <p:spPr/>
        <p:txBody>
          <a:bodyPr/>
          <a:lstStyle/>
          <a:p>
            <a:r>
              <a:rPr lang="de-DE"/>
              <a:t>Bayesian Data Analysis Tutorial</a:t>
            </a:r>
            <a:endParaRPr lang="en-SE"/>
          </a:p>
        </p:txBody>
      </p:sp>
      <p:grpSp>
        <p:nvGrpSpPr>
          <p:cNvPr id="7" name="Group 6">
            <a:extLst>
              <a:ext uri="{FF2B5EF4-FFF2-40B4-BE49-F238E27FC236}">
                <a16:creationId xmlns:a16="http://schemas.microsoft.com/office/drawing/2014/main" id="{0EFB7FF8-D3F3-FC82-F5D3-7979CF110DC8}"/>
              </a:ext>
            </a:extLst>
          </p:cNvPr>
          <p:cNvGrpSpPr/>
          <p:nvPr/>
        </p:nvGrpSpPr>
        <p:grpSpPr>
          <a:xfrm>
            <a:off x="228598" y="1825625"/>
            <a:ext cx="504000" cy="504000"/>
            <a:chOff x="977950" y="2729564"/>
            <a:chExt cx="504000" cy="504000"/>
          </a:xfrm>
        </p:grpSpPr>
        <p:sp>
          <p:nvSpPr>
            <p:cNvPr id="8" name="Oval 7">
              <a:extLst>
                <a:ext uri="{FF2B5EF4-FFF2-40B4-BE49-F238E27FC236}">
                  <a16:creationId xmlns:a16="http://schemas.microsoft.com/office/drawing/2014/main" id="{F8258130-55A9-AA2A-8E9F-653ADF65A4D9}"/>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9" name="Graphic 8" descr="Bar chart with solid fill">
              <a:extLst>
                <a:ext uri="{FF2B5EF4-FFF2-40B4-BE49-F238E27FC236}">
                  <a16:creationId xmlns:a16="http://schemas.microsoft.com/office/drawing/2014/main" id="{4869C8C8-36A3-EB0E-F334-5BB6C49223C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31950" y="2783564"/>
              <a:ext cx="396000" cy="396000"/>
            </a:xfrm>
            <a:prstGeom prst="rect">
              <a:avLst/>
            </a:prstGeom>
          </p:spPr>
        </p:pic>
      </p:grpSp>
      <p:grpSp>
        <p:nvGrpSpPr>
          <p:cNvPr id="10" name="Group 9">
            <a:extLst>
              <a:ext uri="{FF2B5EF4-FFF2-40B4-BE49-F238E27FC236}">
                <a16:creationId xmlns:a16="http://schemas.microsoft.com/office/drawing/2014/main" id="{579561CF-1C4C-84F8-0B18-36AF36DEBCD3}"/>
              </a:ext>
            </a:extLst>
          </p:cNvPr>
          <p:cNvGrpSpPr/>
          <p:nvPr/>
        </p:nvGrpSpPr>
        <p:grpSpPr>
          <a:xfrm>
            <a:off x="228598" y="2439322"/>
            <a:ext cx="504000" cy="504000"/>
            <a:chOff x="977950" y="2729564"/>
            <a:chExt cx="504000" cy="504000"/>
          </a:xfrm>
        </p:grpSpPr>
        <p:sp>
          <p:nvSpPr>
            <p:cNvPr id="11" name="Oval 10">
              <a:extLst>
                <a:ext uri="{FF2B5EF4-FFF2-40B4-BE49-F238E27FC236}">
                  <a16:creationId xmlns:a16="http://schemas.microsoft.com/office/drawing/2014/main" id="{C7A46E9A-8C97-64CD-AA38-3236AD331E76}"/>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Golden Ratio with solid fill">
              <a:extLst>
                <a:ext uri="{FF2B5EF4-FFF2-40B4-BE49-F238E27FC236}">
                  <a16:creationId xmlns:a16="http://schemas.microsoft.com/office/drawing/2014/main" id="{E7ACC3A8-5BD8-1CDF-66CD-92652511B8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13" name="Group 12">
            <a:extLst>
              <a:ext uri="{FF2B5EF4-FFF2-40B4-BE49-F238E27FC236}">
                <a16:creationId xmlns:a16="http://schemas.microsoft.com/office/drawing/2014/main" id="{86DED409-8030-4B56-1E8B-50599BDABC96}"/>
              </a:ext>
            </a:extLst>
          </p:cNvPr>
          <p:cNvGrpSpPr/>
          <p:nvPr/>
        </p:nvGrpSpPr>
        <p:grpSpPr>
          <a:xfrm>
            <a:off x="228598" y="3053019"/>
            <a:ext cx="504000" cy="504000"/>
            <a:chOff x="977950" y="2729564"/>
            <a:chExt cx="504000" cy="504000"/>
          </a:xfrm>
        </p:grpSpPr>
        <p:sp>
          <p:nvSpPr>
            <p:cNvPr id="14" name="Oval 13">
              <a:extLst>
                <a:ext uri="{FF2B5EF4-FFF2-40B4-BE49-F238E27FC236}">
                  <a16:creationId xmlns:a16="http://schemas.microsoft.com/office/drawing/2014/main" id="{C86D35DE-31ED-6394-8742-F1870A14718D}"/>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Graphic 14" descr="Normal Distribution with solid fill">
              <a:extLst>
                <a:ext uri="{FF2B5EF4-FFF2-40B4-BE49-F238E27FC236}">
                  <a16:creationId xmlns:a16="http://schemas.microsoft.com/office/drawing/2014/main" id="{725AF0FE-83B9-30E5-7C9C-A39F7BB77E3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16" name="Group 15">
            <a:extLst>
              <a:ext uri="{FF2B5EF4-FFF2-40B4-BE49-F238E27FC236}">
                <a16:creationId xmlns:a16="http://schemas.microsoft.com/office/drawing/2014/main" id="{4521EC6C-4CED-E813-0679-F35EC1455528}"/>
              </a:ext>
            </a:extLst>
          </p:cNvPr>
          <p:cNvGrpSpPr/>
          <p:nvPr/>
        </p:nvGrpSpPr>
        <p:grpSpPr>
          <a:xfrm>
            <a:off x="228598" y="3666716"/>
            <a:ext cx="504000" cy="504000"/>
            <a:chOff x="977950" y="2729564"/>
            <a:chExt cx="504000" cy="504000"/>
          </a:xfrm>
        </p:grpSpPr>
        <p:sp>
          <p:nvSpPr>
            <p:cNvPr id="17" name="Oval 16">
              <a:extLst>
                <a:ext uri="{FF2B5EF4-FFF2-40B4-BE49-F238E27FC236}">
                  <a16:creationId xmlns:a16="http://schemas.microsoft.com/office/drawing/2014/main" id="{B38355F8-B7EE-A17D-D2D5-4F2D7E92B6DA}"/>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Graphic 17" descr="Abacus with solid fill">
              <a:extLst>
                <a:ext uri="{FF2B5EF4-FFF2-40B4-BE49-F238E27FC236}">
                  <a16:creationId xmlns:a16="http://schemas.microsoft.com/office/drawing/2014/main" id="{7A1CF7FB-33EA-093D-FF65-2659C46287E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19" name="Group 18">
            <a:extLst>
              <a:ext uri="{FF2B5EF4-FFF2-40B4-BE49-F238E27FC236}">
                <a16:creationId xmlns:a16="http://schemas.microsoft.com/office/drawing/2014/main" id="{4199FAB3-91B3-FF1C-C2C7-2138F1495D30}"/>
              </a:ext>
            </a:extLst>
          </p:cNvPr>
          <p:cNvGrpSpPr/>
          <p:nvPr/>
        </p:nvGrpSpPr>
        <p:grpSpPr>
          <a:xfrm>
            <a:off x="228598" y="4280413"/>
            <a:ext cx="504000" cy="504000"/>
            <a:chOff x="977950" y="2729564"/>
            <a:chExt cx="504000" cy="504000"/>
          </a:xfrm>
        </p:grpSpPr>
        <p:sp>
          <p:nvSpPr>
            <p:cNvPr id="20" name="Oval 19">
              <a:extLst>
                <a:ext uri="{FF2B5EF4-FFF2-40B4-BE49-F238E27FC236}">
                  <a16:creationId xmlns:a16="http://schemas.microsoft.com/office/drawing/2014/main" id="{0CDBC8FA-5DFB-56AB-DBF2-A9FB6CB47276}"/>
                </a:ext>
              </a:extLst>
            </p:cNvPr>
            <p:cNvSpPr/>
            <p:nvPr/>
          </p:nvSpPr>
          <p:spPr>
            <a:xfrm>
              <a:off x="977950" y="2729564"/>
              <a:ext cx="504000" cy="504000"/>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1" name="Graphic 20" descr="Trigonometry with solid fill">
              <a:extLst>
                <a:ext uri="{FF2B5EF4-FFF2-40B4-BE49-F238E27FC236}">
                  <a16:creationId xmlns:a16="http://schemas.microsoft.com/office/drawing/2014/main" id="{23079EFD-08C0-17DD-71B0-0B8F32CEE4DD}"/>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22" name="Group 21">
            <a:extLst>
              <a:ext uri="{FF2B5EF4-FFF2-40B4-BE49-F238E27FC236}">
                <a16:creationId xmlns:a16="http://schemas.microsoft.com/office/drawing/2014/main" id="{5F39A683-7F81-4C2E-3A8F-F01C15DC6ED1}"/>
              </a:ext>
            </a:extLst>
          </p:cNvPr>
          <p:cNvGrpSpPr/>
          <p:nvPr/>
        </p:nvGrpSpPr>
        <p:grpSpPr>
          <a:xfrm>
            <a:off x="228598" y="4894111"/>
            <a:ext cx="504000" cy="504000"/>
            <a:chOff x="977950" y="2729564"/>
            <a:chExt cx="504000" cy="504000"/>
          </a:xfrm>
        </p:grpSpPr>
        <p:sp>
          <p:nvSpPr>
            <p:cNvPr id="23" name="Oval 22">
              <a:extLst>
                <a:ext uri="{FF2B5EF4-FFF2-40B4-BE49-F238E27FC236}">
                  <a16:creationId xmlns:a16="http://schemas.microsoft.com/office/drawing/2014/main" id="{8A07593D-C2C2-CC45-49EA-B242E9188C92}"/>
                </a:ext>
              </a:extLst>
            </p:cNvPr>
            <p:cNvSpPr/>
            <p:nvPr/>
          </p:nvSpPr>
          <p:spPr>
            <a:xfrm>
              <a:off x="977950" y="2729564"/>
              <a:ext cx="504000" cy="504000"/>
            </a:xfrm>
            <a:prstGeom prst="ellipse">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4" name="Graphic 23" descr="Scatterplot with solid fill">
              <a:extLst>
                <a:ext uri="{FF2B5EF4-FFF2-40B4-BE49-F238E27FC236}">
                  <a16:creationId xmlns:a16="http://schemas.microsoft.com/office/drawing/2014/main" id="{9EFE126B-A326-B50A-B75B-13F6742B5C1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25" name="Straight Arrow Connector 24">
            <a:extLst>
              <a:ext uri="{FF2B5EF4-FFF2-40B4-BE49-F238E27FC236}">
                <a16:creationId xmlns:a16="http://schemas.microsoft.com/office/drawing/2014/main" id="{D411E061-3DC2-33A5-316D-5F2430A09BDE}"/>
              </a:ext>
            </a:extLst>
          </p:cNvPr>
          <p:cNvCxnSpPr>
            <a:stCxn id="8" idx="4"/>
            <a:endCxn id="11"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8925F437-6508-A646-936F-808C1BD3C95E}"/>
              </a:ext>
            </a:extLst>
          </p:cNvPr>
          <p:cNvCxnSpPr>
            <a:cxnSpLocks/>
            <a:stCxn id="11" idx="4"/>
            <a:endCxn id="14"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D60CAEE4-F0AA-EB79-BB74-EC2C026BA0F9}"/>
              </a:ext>
            </a:extLst>
          </p:cNvPr>
          <p:cNvCxnSpPr>
            <a:cxnSpLocks/>
            <a:stCxn id="14" idx="4"/>
            <a:endCxn id="17"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0AE01345-6A0B-21A7-48E4-D8E5DEFBD5B7}"/>
              </a:ext>
            </a:extLst>
          </p:cNvPr>
          <p:cNvCxnSpPr>
            <a:cxnSpLocks/>
            <a:stCxn id="17" idx="4"/>
            <a:endCxn id="20"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A02055B9-247B-EA79-44E5-E63C8A7D13D9}"/>
              </a:ext>
            </a:extLst>
          </p:cNvPr>
          <p:cNvCxnSpPr>
            <a:cxnSpLocks/>
            <a:stCxn id="20" idx="4"/>
            <a:endCxn id="23"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1" name="Picture 30">
            <a:extLst>
              <a:ext uri="{FF2B5EF4-FFF2-40B4-BE49-F238E27FC236}">
                <a16:creationId xmlns:a16="http://schemas.microsoft.com/office/drawing/2014/main" id="{0D12F8FD-8B43-1957-067B-CAD9E7C7FEBE}"/>
              </a:ext>
            </a:extLst>
          </p:cNvPr>
          <p:cNvPicPr>
            <a:picLocks noChangeAspect="1"/>
          </p:cNvPicPr>
          <p:nvPr/>
        </p:nvPicPr>
        <p:blipFill>
          <a:blip r:embed="rId8"/>
          <a:stretch>
            <a:fillRect/>
          </a:stretch>
        </p:blipFill>
        <p:spPr>
          <a:xfrm>
            <a:off x="938330" y="3398035"/>
            <a:ext cx="3566469" cy="2149026"/>
          </a:xfrm>
          <a:prstGeom prst="rect">
            <a:avLst/>
          </a:prstGeom>
        </p:spPr>
      </p:pic>
      <p:pic>
        <p:nvPicPr>
          <p:cNvPr id="33" name="Picture 32">
            <a:extLst>
              <a:ext uri="{FF2B5EF4-FFF2-40B4-BE49-F238E27FC236}">
                <a16:creationId xmlns:a16="http://schemas.microsoft.com/office/drawing/2014/main" id="{5E6BFAA7-3B24-8BC7-2F72-749F4369E979}"/>
              </a:ext>
            </a:extLst>
          </p:cNvPr>
          <p:cNvPicPr>
            <a:picLocks noChangeAspect="1"/>
          </p:cNvPicPr>
          <p:nvPr/>
        </p:nvPicPr>
        <p:blipFill>
          <a:blip r:embed="rId9"/>
          <a:stretch>
            <a:fillRect/>
          </a:stretch>
        </p:blipFill>
        <p:spPr>
          <a:xfrm>
            <a:off x="8610600" y="4334413"/>
            <a:ext cx="3025402" cy="2133785"/>
          </a:xfrm>
          <a:prstGeom prst="rect">
            <a:avLst/>
          </a:prstGeom>
        </p:spPr>
      </p:pic>
      <p:grpSp>
        <p:nvGrpSpPr>
          <p:cNvPr id="39" name="Group 38">
            <a:extLst>
              <a:ext uri="{FF2B5EF4-FFF2-40B4-BE49-F238E27FC236}">
                <a16:creationId xmlns:a16="http://schemas.microsoft.com/office/drawing/2014/main" id="{EA21BE1E-F12F-6FA8-BB0D-4FDFF85CA62F}"/>
              </a:ext>
            </a:extLst>
          </p:cNvPr>
          <p:cNvGrpSpPr/>
          <p:nvPr/>
        </p:nvGrpSpPr>
        <p:grpSpPr>
          <a:xfrm>
            <a:off x="4504799" y="3361447"/>
            <a:ext cx="4143504" cy="584775"/>
            <a:chOff x="1497300" y="3249000"/>
            <a:chExt cx="4143504" cy="584775"/>
          </a:xfrm>
        </p:grpSpPr>
        <p:grpSp>
          <p:nvGrpSpPr>
            <p:cNvPr id="40" name="Group 39">
              <a:extLst>
                <a:ext uri="{FF2B5EF4-FFF2-40B4-BE49-F238E27FC236}">
                  <a16:creationId xmlns:a16="http://schemas.microsoft.com/office/drawing/2014/main" id="{94A43EEA-0C98-7AD4-859A-E4C69E64C9FC}"/>
                </a:ext>
              </a:extLst>
            </p:cNvPr>
            <p:cNvGrpSpPr/>
            <p:nvPr/>
          </p:nvGrpSpPr>
          <p:grpSpPr>
            <a:xfrm>
              <a:off x="1497300" y="3307387"/>
              <a:ext cx="468000" cy="468000"/>
              <a:chOff x="7505700" y="4334414"/>
              <a:chExt cx="468000" cy="468000"/>
            </a:xfrm>
          </p:grpSpPr>
          <p:sp>
            <p:nvSpPr>
              <p:cNvPr id="42" name="Oval 41">
                <a:extLst>
                  <a:ext uri="{FF2B5EF4-FFF2-40B4-BE49-F238E27FC236}">
                    <a16:creationId xmlns:a16="http://schemas.microsoft.com/office/drawing/2014/main" id="{FFFE8430-66A3-1DBB-A8F8-6638B677B3A9}"/>
                  </a:ext>
                </a:extLst>
              </p:cNvPr>
              <p:cNvSpPr/>
              <p:nvPr/>
            </p:nvSpPr>
            <p:spPr>
              <a:xfrm>
                <a:off x="7505700" y="4334414"/>
                <a:ext cx="468000" cy="468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3" name="Graphic 42" descr="Checkmark with solid fill">
                <a:extLst>
                  <a:ext uri="{FF2B5EF4-FFF2-40B4-BE49-F238E27FC236}">
                    <a16:creationId xmlns:a16="http://schemas.microsoft.com/office/drawing/2014/main" id="{06036F6B-525E-9FBF-13F1-FCB75D7818F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559700" y="4388414"/>
                <a:ext cx="360000" cy="360000"/>
              </a:xfrm>
              <a:prstGeom prst="rect">
                <a:avLst/>
              </a:prstGeom>
            </p:spPr>
          </p:pic>
        </p:grpSp>
        <p:sp>
          <p:nvSpPr>
            <p:cNvPr id="41" name="TextBox 40">
              <a:extLst>
                <a:ext uri="{FF2B5EF4-FFF2-40B4-BE49-F238E27FC236}">
                  <a16:creationId xmlns:a16="http://schemas.microsoft.com/office/drawing/2014/main" id="{D5546997-67E5-94C7-0516-9554E8F8E2BD}"/>
                </a:ext>
              </a:extLst>
            </p:cNvPr>
            <p:cNvSpPr txBox="1"/>
            <p:nvPr/>
          </p:nvSpPr>
          <p:spPr>
            <a:xfrm>
              <a:off x="2019300" y="3249000"/>
              <a:ext cx="3621504" cy="584775"/>
            </a:xfrm>
            <a:prstGeom prst="rect">
              <a:avLst/>
            </a:prstGeom>
            <a:noFill/>
          </p:spPr>
          <p:txBody>
            <a:bodyPr wrap="none" rtlCol="0">
              <a:spAutoFit/>
            </a:bodyPr>
            <a:lstStyle/>
            <a:p>
              <a:r>
                <a:rPr lang="en-SE" b="1" dirty="0"/>
                <a:t>Better</a:t>
              </a:r>
              <a:r>
                <a:rPr lang="en-SE" dirty="0"/>
                <a:t> prior predictive check with</a:t>
              </a:r>
            </a:p>
            <a:p>
              <a:r>
                <a:rPr lang="de-DE" sz="1400" dirty="0" err="1">
                  <a:latin typeface="Courier New" panose="02070309020205020404" pitchFamily="49" charset="0"/>
                  <a:cs typeface="Courier New" panose="02070309020205020404" pitchFamily="49" charset="0"/>
                </a:rPr>
                <a:t>prior</a:t>
              </a:r>
              <a:r>
                <a:rPr lang="de-DE" sz="1400" dirty="0">
                  <a:latin typeface="Courier New" panose="02070309020205020404" pitchFamily="49" charset="0"/>
                  <a:cs typeface="Courier New" panose="02070309020205020404" pitchFamily="49" charset="0"/>
                </a:rPr>
                <a:t>(normal(</a:t>
              </a:r>
              <a:r>
                <a:rPr lang="en-SE" sz="1400" dirty="0">
                  <a:latin typeface="Courier New" panose="02070309020205020404" pitchFamily="49" charset="0"/>
                  <a:cs typeface="Courier New" panose="02070309020205020404" pitchFamily="49" charset="0"/>
                </a:rPr>
                <a:t>0</a:t>
              </a:r>
              <a:r>
                <a:rPr lang="de-DE" sz="1400" dirty="0">
                  <a:latin typeface="Courier New" panose="02070309020205020404" pitchFamily="49" charset="0"/>
                  <a:cs typeface="Courier New" panose="02070309020205020404" pitchFamily="49" charset="0"/>
                </a:rPr>
                <a:t>, </a:t>
              </a:r>
              <a:r>
                <a:rPr lang="en-SE" sz="1400" dirty="0">
                  <a:solidFill>
                    <a:srgbClr val="92D050"/>
                  </a:solidFill>
                  <a:latin typeface="Courier New" panose="02070309020205020404" pitchFamily="49" charset="0"/>
                  <a:cs typeface="Courier New" panose="02070309020205020404" pitchFamily="49" charset="0"/>
                </a:rPr>
                <a:t>0.3</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class</a:t>
              </a:r>
              <a:r>
                <a:rPr lang="de-DE" sz="1400" dirty="0">
                  <a:latin typeface="Courier New" panose="02070309020205020404" pitchFamily="49" charset="0"/>
                  <a:cs typeface="Courier New" panose="02070309020205020404" pitchFamily="49" charset="0"/>
                </a:rPr>
                <a:t> = </a:t>
              </a:r>
              <a:r>
                <a:rPr lang="en-SE" sz="1400" dirty="0">
                  <a:latin typeface="Courier New" panose="02070309020205020404" pitchFamily="49" charset="0"/>
                  <a:cs typeface="Courier New" panose="02070309020205020404" pitchFamily="49" charset="0"/>
                </a:rPr>
                <a:t>b</a:t>
              </a:r>
              <a:r>
                <a:rPr lang="de-DE" sz="1400" dirty="0">
                  <a:latin typeface="Courier New" panose="02070309020205020404" pitchFamily="49" charset="0"/>
                  <a:cs typeface="Courier New" panose="02070309020205020404" pitchFamily="49" charset="0"/>
                </a:rPr>
                <a:t>)</a:t>
              </a:r>
              <a:endParaRPr lang="en-SE" sz="1400" dirty="0"/>
            </a:p>
          </p:txBody>
        </p:sp>
      </p:grpSp>
      <p:grpSp>
        <p:nvGrpSpPr>
          <p:cNvPr id="44" name="Group 43">
            <a:extLst>
              <a:ext uri="{FF2B5EF4-FFF2-40B4-BE49-F238E27FC236}">
                <a16:creationId xmlns:a16="http://schemas.microsoft.com/office/drawing/2014/main" id="{E4356CFF-FDDE-1772-487A-53B4CDE52C03}"/>
              </a:ext>
            </a:extLst>
          </p:cNvPr>
          <p:cNvGrpSpPr/>
          <p:nvPr/>
        </p:nvGrpSpPr>
        <p:grpSpPr>
          <a:xfrm>
            <a:off x="930598" y="2706727"/>
            <a:ext cx="4590165" cy="584775"/>
            <a:chOff x="1497300" y="3249000"/>
            <a:chExt cx="4590165" cy="584775"/>
          </a:xfrm>
        </p:grpSpPr>
        <p:grpSp>
          <p:nvGrpSpPr>
            <p:cNvPr id="45" name="Group 44">
              <a:extLst>
                <a:ext uri="{FF2B5EF4-FFF2-40B4-BE49-F238E27FC236}">
                  <a16:creationId xmlns:a16="http://schemas.microsoft.com/office/drawing/2014/main" id="{7243530E-82A0-3C83-DB16-9E4CCACA2486}"/>
                </a:ext>
              </a:extLst>
            </p:cNvPr>
            <p:cNvGrpSpPr/>
            <p:nvPr/>
          </p:nvGrpSpPr>
          <p:grpSpPr>
            <a:xfrm>
              <a:off x="1497300" y="3307387"/>
              <a:ext cx="468000" cy="468000"/>
              <a:chOff x="7505700" y="4334414"/>
              <a:chExt cx="468000" cy="468000"/>
            </a:xfrm>
          </p:grpSpPr>
          <p:sp>
            <p:nvSpPr>
              <p:cNvPr id="47" name="Oval 46">
                <a:extLst>
                  <a:ext uri="{FF2B5EF4-FFF2-40B4-BE49-F238E27FC236}">
                    <a16:creationId xmlns:a16="http://schemas.microsoft.com/office/drawing/2014/main" id="{456462D8-03C0-C922-D086-55794669FE24}"/>
                  </a:ext>
                </a:extLst>
              </p:cNvPr>
              <p:cNvSpPr/>
              <p:nvPr/>
            </p:nvSpPr>
            <p:spPr>
              <a:xfrm>
                <a:off x="7505700" y="4334414"/>
                <a:ext cx="468000" cy="4680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8" name="Graphic 47" descr="Close with solid fill">
                <a:extLst>
                  <a:ext uri="{FF2B5EF4-FFF2-40B4-BE49-F238E27FC236}">
                    <a16:creationId xmlns:a16="http://schemas.microsoft.com/office/drawing/2014/main" id="{AE86329C-59BF-77BA-56DD-925FD69A6227}"/>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7559700" y="4388414"/>
                <a:ext cx="360000" cy="360000"/>
              </a:xfrm>
              <a:prstGeom prst="rect">
                <a:avLst/>
              </a:prstGeom>
            </p:spPr>
          </p:pic>
        </p:grpSp>
        <p:sp>
          <p:nvSpPr>
            <p:cNvPr id="46" name="TextBox 45">
              <a:extLst>
                <a:ext uri="{FF2B5EF4-FFF2-40B4-BE49-F238E27FC236}">
                  <a16:creationId xmlns:a16="http://schemas.microsoft.com/office/drawing/2014/main" id="{828379F0-A65C-46E9-0AB9-4C15D077927A}"/>
                </a:ext>
              </a:extLst>
            </p:cNvPr>
            <p:cNvSpPr txBox="1"/>
            <p:nvPr/>
          </p:nvSpPr>
          <p:spPr>
            <a:xfrm>
              <a:off x="2019300" y="3249000"/>
              <a:ext cx="4068165" cy="584775"/>
            </a:xfrm>
            <a:prstGeom prst="rect">
              <a:avLst/>
            </a:prstGeom>
            <a:noFill/>
          </p:spPr>
          <p:txBody>
            <a:bodyPr wrap="none" rtlCol="0">
              <a:spAutoFit/>
            </a:bodyPr>
            <a:lstStyle/>
            <a:p>
              <a:r>
                <a:rPr lang="en-SE" b="1" dirty="0"/>
                <a:t>Suboptimal</a:t>
              </a:r>
              <a:r>
                <a:rPr lang="en-SE" dirty="0"/>
                <a:t> prior predictive check with</a:t>
              </a:r>
            </a:p>
            <a:p>
              <a:r>
                <a:rPr lang="de-DE" sz="1400" dirty="0" err="1">
                  <a:latin typeface="Courier New" panose="02070309020205020404" pitchFamily="49" charset="0"/>
                  <a:cs typeface="Courier New" panose="02070309020205020404" pitchFamily="49" charset="0"/>
                </a:rPr>
                <a:t>prior</a:t>
              </a:r>
              <a:r>
                <a:rPr lang="de-DE" sz="1400" dirty="0">
                  <a:latin typeface="Courier New" panose="02070309020205020404" pitchFamily="49" charset="0"/>
                  <a:cs typeface="Courier New" panose="02070309020205020404" pitchFamily="49" charset="0"/>
                </a:rPr>
                <a:t>(normal(</a:t>
              </a:r>
              <a:r>
                <a:rPr lang="en-SE" sz="1400" dirty="0">
                  <a:latin typeface="Courier New" panose="02070309020205020404" pitchFamily="49" charset="0"/>
                  <a:cs typeface="Courier New" panose="02070309020205020404" pitchFamily="49" charset="0"/>
                </a:rPr>
                <a:t>0</a:t>
              </a:r>
              <a:r>
                <a:rPr lang="de-DE" sz="1400" dirty="0">
                  <a:latin typeface="Courier New" panose="02070309020205020404" pitchFamily="49" charset="0"/>
                  <a:cs typeface="Courier New" panose="02070309020205020404" pitchFamily="49" charset="0"/>
                </a:rPr>
                <a:t>, </a:t>
              </a:r>
              <a:r>
                <a:rPr lang="en-SE" sz="1400" dirty="0">
                  <a:solidFill>
                    <a:srgbClr val="C00000"/>
                  </a:solidFill>
                  <a:latin typeface="Courier New" panose="02070309020205020404" pitchFamily="49" charset="0"/>
                  <a:cs typeface="Courier New" panose="02070309020205020404" pitchFamily="49" charset="0"/>
                </a:rPr>
                <a:t>0.5</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class</a:t>
              </a:r>
              <a:r>
                <a:rPr lang="de-DE" sz="1400" dirty="0">
                  <a:latin typeface="Courier New" panose="02070309020205020404" pitchFamily="49" charset="0"/>
                  <a:cs typeface="Courier New" panose="02070309020205020404" pitchFamily="49" charset="0"/>
                </a:rPr>
                <a:t> = </a:t>
              </a:r>
              <a:r>
                <a:rPr lang="en-SE" sz="1400" dirty="0">
                  <a:latin typeface="Courier New" panose="02070309020205020404" pitchFamily="49" charset="0"/>
                  <a:cs typeface="Courier New" panose="02070309020205020404" pitchFamily="49" charset="0"/>
                </a:rPr>
                <a:t>b</a:t>
              </a:r>
              <a:r>
                <a:rPr lang="de-DE" sz="1400" dirty="0">
                  <a:latin typeface="Courier New" panose="02070309020205020404" pitchFamily="49" charset="0"/>
                  <a:cs typeface="Courier New" panose="02070309020205020404" pitchFamily="49" charset="0"/>
                </a:rPr>
                <a:t>)</a:t>
              </a:r>
              <a:endParaRPr lang="en-SE" sz="1400" dirty="0"/>
            </a:p>
          </p:txBody>
        </p:sp>
      </p:grpSp>
      <p:pic>
        <p:nvPicPr>
          <p:cNvPr id="50" name="Picture 49">
            <a:extLst>
              <a:ext uri="{FF2B5EF4-FFF2-40B4-BE49-F238E27FC236}">
                <a16:creationId xmlns:a16="http://schemas.microsoft.com/office/drawing/2014/main" id="{6635589B-302C-ED08-1B06-B74623B6B38C}"/>
              </a:ext>
            </a:extLst>
          </p:cNvPr>
          <p:cNvPicPr>
            <a:picLocks noChangeAspect="1"/>
          </p:cNvPicPr>
          <p:nvPr/>
        </p:nvPicPr>
        <p:blipFill>
          <a:blip r:embed="rId12"/>
          <a:stretch>
            <a:fillRect/>
          </a:stretch>
        </p:blipFill>
        <p:spPr>
          <a:xfrm>
            <a:off x="4918799" y="4100791"/>
            <a:ext cx="3025402" cy="2118544"/>
          </a:xfrm>
          <a:prstGeom prst="rect">
            <a:avLst/>
          </a:prstGeom>
        </p:spPr>
      </p:pic>
      <p:sp>
        <p:nvSpPr>
          <p:cNvPr id="52" name="TextBox 51">
            <a:extLst>
              <a:ext uri="{FF2B5EF4-FFF2-40B4-BE49-F238E27FC236}">
                <a16:creationId xmlns:a16="http://schemas.microsoft.com/office/drawing/2014/main" id="{30C2F8A8-3F01-52CE-A037-1451A591F36C}"/>
              </a:ext>
            </a:extLst>
          </p:cNvPr>
          <p:cNvSpPr txBox="1"/>
          <p:nvPr/>
        </p:nvSpPr>
        <p:spPr>
          <a:xfrm>
            <a:off x="8713014" y="3911081"/>
            <a:ext cx="3012318" cy="369332"/>
          </a:xfrm>
          <a:prstGeom prst="rect">
            <a:avLst/>
          </a:prstGeom>
          <a:noFill/>
        </p:spPr>
        <p:txBody>
          <a:bodyPr wrap="square">
            <a:spAutoFit/>
          </a:bodyPr>
          <a:lstStyle/>
          <a:p>
            <a:r>
              <a:rPr lang="en-SE" sz="1800" b="1" dirty="0"/>
              <a:t>Posterior Predictive Check</a:t>
            </a:r>
            <a:endParaRPr lang="en-SE" sz="1800" dirty="0"/>
          </a:p>
        </p:txBody>
      </p:sp>
    </p:spTree>
    <p:extLst>
      <p:ext uri="{BB962C8B-B14F-4D97-AF65-F5344CB8AC3E}">
        <p14:creationId xmlns:p14="http://schemas.microsoft.com/office/powerpoint/2010/main" val="2865551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BF7A4-B3E7-3569-E527-83AB9309D920}"/>
              </a:ext>
            </a:extLst>
          </p:cNvPr>
          <p:cNvSpPr>
            <a:spLocks noGrp="1"/>
          </p:cNvSpPr>
          <p:nvPr>
            <p:ph type="title"/>
          </p:nvPr>
        </p:nvSpPr>
        <p:spPr/>
        <p:txBody>
          <a:bodyPr/>
          <a:lstStyle/>
          <a:p>
            <a:r>
              <a:rPr lang="en-SE" dirty="0"/>
              <a:t>Model Interpretation</a:t>
            </a:r>
          </a:p>
        </p:txBody>
      </p:sp>
      <p:sp>
        <p:nvSpPr>
          <p:cNvPr id="3" name="Content Placeholder 2">
            <a:extLst>
              <a:ext uri="{FF2B5EF4-FFF2-40B4-BE49-F238E27FC236}">
                <a16:creationId xmlns:a16="http://schemas.microsoft.com/office/drawing/2014/main" id="{FFDC2D3C-7385-F117-A587-D11D8FA69109}"/>
              </a:ext>
            </a:extLst>
          </p:cNvPr>
          <p:cNvSpPr>
            <a:spLocks noGrp="1"/>
          </p:cNvSpPr>
          <p:nvPr>
            <p:ph idx="1"/>
          </p:nvPr>
        </p:nvSpPr>
        <p:spPr>
          <a:xfrm>
            <a:off x="838200" y="1825625"/>
            <a:ext cx="10515600" cy="844303"/>
          </a:xfrm>
        </p:spPr>
        <p:txBody>
          <a:bodyPr>
            <a:normAutofit lnSpcReduction="10000"/>
          </a:bodyPr>
          <a:lstStyle/>
          <a:p>
            <a:pPr marL="0" indent="0">
              <a:buNone/>
            </a:pPr>
            <a:r>
              <a:rPr lang="en-SE" dirty="0"/>
              <a:t>Due to the link function, it is no longer trivial to interpret the posterior distributions.</a:t>
            </a:r>
          </a:p>
        </p:txBody>
      </p:sp>
      <p:sp>
        <p:nvSpPr>
          <p:cNvPr id="4" name="Date Placeholder 3">
            <a:extLst>
              <a:ext uri="{FF2B5EF4-FFF2-40B4-BE49-F238E27FC236}">
                <a16:creationId xmlns:a16="http://schemas.microsoft.com/office/drawing/2014/main" id="{AB0669A0-F26E-8CE5-BC55-FC9BB2A228A2}"/>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D46F19B0-0797-B423-4E9A-236F0BFA69E2}"/>
              </a:ext>
            </a:extLst>
          </p:cNvPr>
          <p:cNvSpPr>
            <a:spLocks noGrp="1"/>
          </p:cNvSpPr>
          <p:nvPr>
            <p:ph type="sldNum" sz="quarter" idx="12"/>
          </p:nvPr>
        </p:nvSpPr>
        <p:spPr/>
        <p:txBody>
          <a:bodyPr/>
          <a:lstStyle/>
          <a:p>
            <a:fld id="{271ECC92-9CDE-4EB3-B1C5-F46B9E1FA3C1}" type="slidenum">
              <a:rPr lang="en-SE" smtClean="0"/>
              <a:t>82</a:t>
            </a:fld>
            <a:endParaRPr lang="en-SE"/>
          </a:p>
        </p:txBody>
      </p:sp>
      <p:sp>
        <p:nvSpPr>
          <p:cNvPr id="6" name="Footer Placeholder 5">
            <a:extLst>
              <a:ext uri="{FF2B5EF4-FFF2-40B4-BE49-F238E27FC236}">
                <a16:creationId xmlns:a16="http://schemas.microsoft.com/office/drawing/2014/main" id="{49CCEE4D-064A-6343-5058-8C8BB66DFED1}"/>
              </a:ext>
            </a:extLst>
          </p:cNvPr>
          <p:cNvSpPr>
            <a:spLocks noGrp="1"/>
          </p:cNvSpPr>
          <p:nvPr>
            <p:ph type="ftr" sz="quarter" idx="11"/>
          </p:nvPr>
        </p:nvSpPr>
        <p:spPr/>
        <p:txBody>
          <a:bodyPr/>
          <a:lstStyle/>
          <a:p>
            <a:r>
              <a:rPr lang="de-DE"/>
              <a:t>Bayesian Data Analysis Tutorial</a:t>
            </a:r>
            <a:endParaRPr lang="en-SE"/>
          </a:p>
        </p:txBody>
      </p:sp>
      <p:grpSp>
        <p:nvGrpSpPr>
          <p:cNvPr id="7" name="Group 6">
            <a:extLst>
              <a:ext uri="{FF2B5EF4-FFF2-40B4-BE49-F238E27FC236}">
                <a16:creationId xmlns:a16="http://schemas.microsoft.com/office/drawing/2014/main" id="{FE8F3F75-69F3-6E6A-8744-A709CA9AE54C}"/>
              </a:ext>
            </a:extLst>
          </p:cNvPr>
          <p:cNvGrpSpPr/>
          <p:nvPr/>
        </p:nvGrpSpPr>
        <p:grpSpPr>
          <a:xfrm>
            <a:off x="228598" y="1825625"/>
            <a:ext cx="504000" cy="504000"/>
            <a:chOff x="977950" y="2729564"/>
            <a:chExt cx="504000" cy="504000"/>
          </a:xfrm>
        </p:grpSpPr>
        <p:sp>
          <p:nvSpPr>
            <p:cNvPr id="8" name="Oval 7">
              <a:extLst>
                <a:ext uri="{FF2B5EF4-FFF2-40B4-BE49-F238E27FC236}">
                  <a16:creationId xmlns:a16="http://schemas.microsoft.com/office/drawing/2014/main" id="{A53666B4-06C2-1756-F645-007C737C915A}"/>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9" name="Graphic 8" descr="Bar chart with solid fill">
              <a:extLst>
                <a:ext uri="{FF2B5EF4-FFF2-40B4-BE49-F238E27FC236}">
                  <a16:creationId xmlns:a16="http://schemas.microsoft.com/office/drawing/2014/main" id="{A9FAEC19-742D-FD81-4BE8-FD85923A8316}"/>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31950" y="2783564"/>
              <a:ext cx="396000" cy="396000"/>
            </a:xfrm>
            <a:prstGeom prst="rect">
              <a:avLst/>
            </a:prstGeom>
          </p:spPr>
        </p:pic>
      </p:grpSp>
      <p:grpSp>
        <p:nvGrpSpPr>
          <p:cNvPr id="10" name="Group 9">
            <a:extLst>
              <a:ext uri="{FF2B5EF4-FFF2-40B4-BE49-F238E27FC236}">
                <a16:creationId xmlns:a16="http://schemas.microsoft.com/office/drawing/2014/main" id="{38C7561B-04F1-0C6C-F9FA-D39CAF1518C9}"/>
              </a:ext>
            </a:extLst>
          </p:cNvPr>
          <p:cNvGrpSpPr/>
          <p:nvPr/>
        </p:nvGrpSpPr>
        <p:grpSpPr>
          <a:xfrm>
            <a:off x="228598" y="2439322"/>
            <a:ext cx="504000" cy="504000"/>
            <a:chOff x="977950" y="2729564"/>
            <a:chExt cx="504000" cy="504000"/>
          </a:xfrm>
        </p:grpSpPr>
        <p:sp>
          <p:nvSpPr>
            <p:cNvPr id="11" name="Oval 10">
              <a:extLst>
                <a:ext uri="{FF2B5EF4-FFF2-40B4-BE49-F238E27FC236}">
                  <a16:creationId xmlns:a16="http://schemas.microsoft.com/office/drawing/2014/main" id="{9B57B578-382E-6D17-4A42-1DBE2972A7F4}"/>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Golden Ratio with solid fill">
              <a:extLst>
                <a:ext uri="{FF2B5EF4-FFF2-40B4-BE49-F238E27FC236}">
                  <a16:creationId xmlns:a16="http://schemas.microsoft.com/office/drawing/2014/main" id="{01C6D3B0-4D73-B1C8-14BA-BB802B250B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13" name="Group 12">
            <a:extLst>
              <a:ext uri="{FF2B5EF4-FFF2-40B4-BE49-F238E27FC236}">
                <a16:creationId xmlns:a16="http://schemas.microsoft.com/office/drawing/2014/main" id="{188B7546-2882-48CC-0612-266F66ED7D98}"/>
              </a:ext>
            </a:extLst>
          </p:cNvPr>
          <p:cNvGrpSpPr/>
          <p:nvPr/>
        </p:nvGrpSpPr>
        <p:grpSpPr>
          <a:xfrm>
            <a:off x="228598" y="3053019"/>
            <a:ext cx="504000" cy="504000"/>
            <a:chOff x="977950" y="2729564"/>
            <a:chExt cx="504000" cy="504000"/>
          </a:xfrm>
        </p:grpSpPr>
        <p:sp>
          <p:nvSpPr>
            <p:cNvPr id="14" name="Oval 13">
              <a:extLst>
                <a:ext uri="{FF2B5EF4-FFF2-40B4-BE49-F238E27FC236}">
                  <a16:creationId xmlns:a16="http://schemas.microsoft.com/office/drawing/2014/main" id="{EFEDB341-1A4D-7DEF-B411-277453AEF1EF}"/>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Graphic 14" descr="Normal Distribution with solid fill">
              <a:extLst>
                <a:ext uri="{FF2B5EF4-FFF2-40B4-BE49-F238E27FC236}">
                  <a16:creationId xmlns:a16="http://schemas.microsoft.com/office/drawing/2014/main" id="{6380BFC4-71DE-7A79-2346-8A7F4EDE67F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16" name="Group 15">
            <a:extLst>
              <a:ext uri="{FF2B5EF4-FFF2-40B4-BE49-F238E27FC236}">
                <a16:creationId xmlns:a16="http://schemas.microsoft.com/office/drawing/2014/main" id="{8DBAD2FC-95EB-1FE7-B654-638F8CA7543D}"/>
              </a:ext>
            </a:extLst>
          </p:cNvPr>
          <p:cNvGrpSpPr/>
          <p:nvPr/>
        </p:nvGrpSpPr>
        <p:grpSpPr>
          <a:xfrm>
            <a:off x="228598" y="3666716"/>
            <a:ext cx="504000" cy="504000"/>
            <a:chOff x="977950" y="2729564"/>
            <a:chExt cx="504000" cy="504000"/>
          </a:xfrm>
        </p:grpSpPr>
        <p:sp>
          <p:nvSpPr>
            <p:cNvPr id="17" name="Oval 16">
              <a:extLst>
                <a:ext uri="{FF2B5EF4-FFF2-40B4-BE49-F238E27FC236}">
                  <a16:creationId xmlns:a16="http://schemas.microsoft.com/office/drawing/2014/main" id="{4DDA2428-D033-DF2D-25EC-856707C62116}"/>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Graphic 17" descr="Abacus with solid fill">
              <a:extLst>
                <a:ext uri="{FF2B5EF4-FFF2-40B4-BE49-F238E27FC236}">
                  <a16:creationId xmlns:a16="http://schemas.microsoft.com/office/drawing/2014/main" id="{8F48E703-582B-57E3-1A00-2211941BCA18}"/>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19" name="Group 18">
            <a:extLst>
              <a:ext uri="{FF2B5EF4-FFF2-40B4-BE49-F238E27FC236}">
                <a16:creationId xmlns:a16="http://schemas.microsoft.com/office/drawing/2014/main" id="{9D51BB01-B2FB-629D-D6A1-39F1B7A7B1D2}"/>
              </a:ext>
            </a:extLst>
          </p:cNvPr>
          <p:cNvGrpSpPr/>
          <p:nvPr/>
        </p:nvGrpSpPr>
        <p:grpSpPr>
          <a:xfrm>
            <a:off x="228598" y="4280413"/>
            <a:ext cx="504000" cy="504000"/>
            <a:chOff x="977950" y="2729564"/>
            <a:chExt cx="504000" cy="504000"/>
          </a:xfrm>
        </p:grpSpPr>
        <p:sp>
          <p:nvSpPr>
            <p:cNvPr id="20" name="Oval 19">
              <a:extLst>
                <a:ext uri="{FF2B5EF4-FFF2-40B4-BE49-F238E27FC236}">
                  <a16:creationId xmlns:a16="http://schemas.microsoft.com/office/drawing/2014/main" id="{2B167D8D-4297-D5BB-76B0-4623ABDC4A49}"/>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1" name="Graphic 20" descr="Trigonometry with solid fill">
              <a:extLst>
                <a:ext uri="{FF2B5EF4-FFF2-40B4-BE49-F238E27FC236}">
                  <a16:creationId xmlns:a16="http://schemas.microsoft.com/office/drawing/2014/main" id="{0CD24DC3-E22E-078B-4594-AD669F7AB65D}"/>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22" name="Group 21">
            <a:extLst>
              <a:ext uri="{FF2B5EF4-FFF2-40B4-BE49-F238E27FC236}">
                <a16:creationId xmlns:a16="http://schemas.microsoft.com/office/drawing/2014/main" id="{561DD09E-4CFE-47A8-5AC3-09AAE66ED9EF}"/>
              </a:ext>
            </a:extLst>
          </p:cNvPr>
          <p:cNvGrpSpPr/>
          <p:nvPr/>
        </p:nvGrpSpPr>
        <p:grpSpPr>
          <a:xfrm>
            <a:off x="228598" y="4894111"/>
            <a:ext cx="504000" cy="504000"/>
            <a:chOff x="977950" y="2729564"/>
            <a:chExt cx="504000" cy="504000"/>
          </a:xfrm>
        </p:grpSpPr>
        <p:sp>
          <p:nvSpPr>
            <p:cNvPr id="23" name="Oval 22">
              <a:extLst>
                <a:ext uri="{FF2B5EF4-FFF2-40B4-BE49-F238E27FC236}">
                  <a16:creationId xmlns:a16="http://schemas.microsoft.com/office/drawing/2014/main" id="{766CD23D-4F69-EAD4-9420-12AF349240AF}"/>
                </a:ext>
              </a:extLst>
            </p:cNvPr>
            <p:cNvSpPr/>
            <p:nvPr/>
          </p:nvSpPr>
          <p:spPr>
            <a:xfrm>
              <a:off x="977950" y="2729564"/>
              <a:ext cx="504000" cy="504000"/>
            </a:xfrm>
            <a:prstGeom prst="ellipse">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4" name="Graphic 23" descr="Scatterplot with solid fill">
              <a:extLst>
                <a:ext uri="{FF2B5EF4-FFF2-40B4-BE49-F238E27FC236}">
                  <a16:creationId xmlns:a16="http://schemas.microsoft.com/office/drawing/2014/main" id="{5CC243FE-00D5-3987-7477-300175E7941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25" name="Straight Arrow Connector 24">
            <a:extLst>
              <a:ext uri="{FF2B5EF4-FFF2-40B4-BE49-F238E27FC236}">
                <a16:creationId xmlns:a16="http://schemas.microsoft.com/office/drawing/2014/main" id="{5C62CED9-6C20-EA8E-FA29-6B9236EC532F}"/>
              </a:ext>
            </a:extLst>
          </p:cNvPr>
          <p:cNvCxnSpPr>
            <a:stCxn id="8" idx="4"/>
            <a:endCxn id="11"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2A317BDD-F9E1-B5C7-88F6-488C5FA814C3}"/>
              </a:ext>
            </a:extLst>
          </p:cNvPr>
          <p:cNvCxnSpPr>
            <a:cxnSpLocks/>
            <a:stCxn id="11" idx="4"/>
            <a:endCxn id="14"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84A904BC-B639-6A9C-4C92-6C5F510ECC74}"/>
              </a:ext>
            </a:extLst>
          </p:cNvPr>
          <p:cNvCxnSpPr>
            <a:cxnSpLocks/>
            <a:stCxn id="14" idx="4"/>
            <a:endCxn id="17"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90E924C0-67EE-EBB2-0406-7E670B454180}"/>
              </a:ext>
            </a:extLst>
          </p:cNvPr>
          <p:cNvCxnSpPr>
            <a:cxnSpLocks/>
            <a:stCxn id="17" idx="4"/>
            <a:endCxn id="20"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E5FDB178-E630-9012-D565-F51F11CC9CFB}"/>
              </a:ext>
            </a:extLst>
          </p:cNvPr>
          <p:cNvCxnSpPr>
            <a:cxnSpLocks/>
            <a:stCxn id="20" idx="4"/>
            <a:endCxn id="23"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1" name="Picture 30">
            <a:extLst>
              <a:ext uri="{FF2B5EF4-FFF2-40B4-BE49-F238E27FC236}">
                <a16:creationId xmlns:a16="http://schemas.microsoft.com/office/drawing/2014/main" id="{89C31078-1569-64B7-04EC-D5A181D11B9E}"/>
              </a:ext>
            </a:extLst>
          </p:cNvPr>
          <p:cNvPicPr>
            <a:picLocks noChangeAspect="1"/>
          </p:cNvPicPr>
          <p:nvPr/>
        </p:nvPicPr>
        <p:blipFill>
          <a:blip r:embed="rId8"/>
          <a:stretch>
            <a:fillRect/>
          </a:stretch>
        </p:blipFill>
        <p:spPr>
          <a:xfrm>
            <a:off x="1194269" y="4086664"/>
            <a:ext cx="4359018" cy="701101"/>
          </a:xfrm>
          <a:prstGeom prst="rect">
            <a:avLst/>
          </a:prstGeom>
        </p:spPr>
      </p:pic>
      <p:sp>
        <p:nvSpPr>
          <p:cNvPr id="32" name="Rectangle 31">
            <a:extLst>
              <a:ext uri="{FF2B5EF4-FFF2-40B4-BE49-F238E27FC236}">
                <a16:creationId xmlns:a16="http://schemas.microsoft.com/office/drawing/2014/main" id="{3DD16A50-FFEE-CD71-C588-542525D5495F}"/>
              </a:ext>
            </a:extLst>
          </p:cNvPr>
          <p:cNvSpPr/>
          <p:nvPr/>
        </p:nvSpPr>
        <p:spPr>
          <a:xfrm>
            <a:off x="1194270" y="3718502"/>
            <a:ext cx="4359018" cy="365125"/>
          </a:xfrm>
          <a:prstGeom prst="rect">
            <a:avLst/>
          </a:prstGeom>
          <a:solidFill>
            <a:schemeClr val="bg1">
              <a:lumMod val="95000"/>
            </a:schemeClr>
          </a:solidFill>
          <a:ln>
            <a:solidFill>
              <a:schemeClr val="tx1">
                <a:lumMod val="50000"/>
                <a:lumOff val="50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SE" dirty="0">
                <a:solidFill>
                  <a:schemeClr val="tx1"/>
                </a:solidFill>
                <a:latin typeface="Courier New" panose="02070309020205020404" pitchFamily="49" charset="0"/>
                <a:cs typeface="Courier New" panose="02070309020205020404" pitchFamily="49" charset="0"/>
              </a:rPr>
              <a:t>summary(model)</a:t>
            </a:r>
          </a:p>
        </p:txBody>
      </p:sp>
      <p:sp>
        <p:nvSpPr>
          <p:cNvPr id="33" name="Rectangle 32">
            <a:extLst>
              <a:ext uri="{FF2B5EF4-FFF2-40B4-BE49-F238E27FC236}">
                <a16:creationId xmlns:a16="http://schemas.microsoft.com/office/drawing/2014/main" id="{8213FCAC-F78B-05F7-3138-EBF6BCB79097}"/>
              </a:ext>
            </a:extLst>
          </p:cNvPr>
          <p:cNvSpPr/>
          <p:nvPr/>
        </p:nvSpPr>
        <p:spPr>
          <a:xfrm>
            <a:off x="1194270" y="3353377"/>
            <a:ext cx="4359018" cy="365125"/>
          </a:xfrm>
          <a:prstGeom prst="rect">
            <a:avLst/>
          </a:prstGeom>
          <a:solidFill>
            <a:schemeClr val="tx1">
              <a:lumMod val="65000"/>
              <a:lumOff val="3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E" dirty="0">
                <a:solidFill>
                  <a:schemeClr val="bg1"/>
                </a:solidFill>
                <a:latin typeface="Courier New" panose="02070309020205020404" pitchFamily="49" charset="0"/>
                <a:cs typeface="Courier New" panose="02070309020205020404" pitchFamily="49" charset="0"/>
              </a:rPr>
              <a:t>R 4.5.0 using library(brms)</a:t>
            </a:r>
          </a:p>
        </p:txBody>
      </p:sp>
      <p:sp>
        <p:nvSpPr>
          <p:cNvPr id="34" name="Content Placeholder 2">
            <a:extLst>
              <a:ext uri="{FF2B5EF4-FFF2-40B4-BE49-F238E27FC236}">
                <a16:creationId xmlns:a16="http://schemas.microsoft.com/office/drawing/2014/main" id="{3E48DBB6-232D-7B6E-FC51-700A776593DE}"/>
              </a:ext>
            </a:extLst>
          </p:cNvPr>
          <p:cNvSpPr txBox="1">
            <a:spLocks/>
          </p:cNvSpPr>
          <p:nvPr/>
        </p:nvSpPr>
        <p:spPr>
          <a:xfrm>
            <a:off x="784200" y="5745768"/>
            <a:ext cx="10515600" cy="5834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Instead, we can plot </a:t>
            </a:r>
            <a:r>
              <a:rPr lang="en-SE" b="1" dirty="0"/>
              <a:t>marginal effects</a:t>
            </a:r>
            <a:r>
              <a:rPr lang="en-SE" dirty="0"/>
              <a:t>. </a:t>
            </a:r>
          </a:p>
        </p:txBody>
      </p:sp>
      <p:sp>
        <p:nvSpPr>
          <p:cNvPr id="36" name="Rectangle: Rounded Corners 35">
            <a:extLst>
              <a:ext uri="{FF2B5EF4-FFF2-40B4-BE49-F238E27FC236}">
                <a16:creationId xmlns:a16="http://schemas.microsoft.com/office/drawing/2014/main" id="{9B5271E7-12DF-58CC-6B0E-5C1F42B33DA2}"/>
              </a:ext>
            </a:extLst>
          </p:cNvPr>
          <p:cNvSpPr/>
          <p:nvPr/>
        </p:nvSpPr>
        <p:spPr>
          <a:xfrm>
            <a:off x="6266957" y="2626893"/>
            <a:ext cx="4204138" cy="2913468"/>
          </a:xfrm>
          <a:prstGeom prst="roundRect">
            <a:avLst>
              <a:gd name="adj" fmla="val 10544"/>
            </a:avLst>
          </a:prstGeom>
          <a:solidFill>
            <a:schemeClr val="accent5">
              <a:lumMod val="20000"/>
              <a:lumOff val="80000"/>
            </a:schemeClr>
          </a:solidFill>
          <a:ln>
            <a:solidFill>
              <a:schemeClr val="accent4">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SE" dirty="0">
                <a:solidFill>
                  <a:sysClr val="windowText" lastClr="000000"/>
                </a:solidFill>
              </a:rPr>
              <a:t>Bayesian Model</a:t>
            </a:r>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EB5E30AE-6C01-DF94-0FD5-0DA7635882B1}"/>
                  </a:ext>
                </a:extLst>
              </p:cNvPr>
              <p:cNvSpPr txBox="1"/>
              <p:nvPr/>
            </p:nvSpPr>
            <p:spPr>
              <a:xfrm>
                <a:off x="7397490" y="3228946"/>
                <a:ext cx="259526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𝑦</m:t>
                      </m:r>
                      <m:r>
                        <a:rPr lang="en-SE" sz="2400" b="0" i="1" smtClean="0">
                          <a:latin typeface="Cambria Math" panose="02040503050406030204" pitchFamily="18" charset="0"/>
                        </a:rPr>
                        <m:t> ~ </m:t>
                      </m:r>
                      <m:r>
                        <a:rPr lang="en-SE" sz="2400" b="0" i="1" smtClean="0">
                          <a:latin typeface="Cambria Math" panose="02040503050406030204" pitchFamily="18" charset="0"/>
                        </a:rPr>
                        <m:t>𝐵𝑖𝑛𝑜𝑚𝑖𝑎𝑙</m:t>
                      </m:r>
                      <m:r>
                        <a:rPr lang="en-SE" sz="2400" b="0" i="1" smtClean="0">
                          <a:latin typeface="Cambria Math" panose="02040503050406030204" pitchFamily="18" charset="0"/>
                        </a:rPr>
                        <m:t>(</m:t>
                      </m:r>
                      <m:r>
                        <a:rPr lang="en-SE" sz="2400" b="0" i="1" smtClean="0">
                          <a:latin typeface="Cambria Math" panose="02040503050406030204" pitchFamily="18" charset="0"/>
                        </a:rPr>
                        <m:t>𝑛</m:t>
                      </m:r>
                      <m:r>
                        <a:rPr lang="en-SE" sz="2400" b="0" i="1" smtClean="0">
                          <a:latin typeface="Cambria Math" panose="02040503050406030204" pitchFamily="18" charset="0"/>
                        </a:rPr>
                        <m:t>, </m:t>
                      </m:r>
                      <m:r>
                        <a:rPr lang="en-SE" sz="2400" b="0" i="1" smtClean="0">
                          <a:latin typeface="Cambria Math" panose="02040503050406030204" pitchFamily="18" charset="0"/>
                        </a:rPr>
                        <m:t>𝑝</m:t>
                      </m:r>
                      <m:r>
                        <a:rPr lang="en-SE" sz="2400" b="0" i="1" smtClean="0">
                          <a:latin typeface="Cambria Math" panose="02040503050406030204" pitchFamily="18" charset="0"/>
                        </a:rPr>
                        <m:t>)</m:t>
                      </m:r>
                    </m:oMath>
                  </m:oMathPara>
                </a14:m>
                <a:endParaRPr lang="en-SE" sz="2400" dirty="0"/>
              </a:p>
            </p:txBody>
          </p:sp>
        </mc:Choice>
        <mc:Fallback>
          <p:sp>
            <p:nvSpPr>
              <p:cNvPr id="38" name="TextBox 37">
                <a:extLst>
                  <a:ext uri="{FF2B5EF4-FFF2-40B4-BE49-F238E27FC236}">
                    <a16:creationId xmlns:a16="http://schemas.microsoft.com/office/drawing/2014/main" id="{EB5E30AE-6C01-DF94-0FD5-0DA7635882B1}"/>
                  </a:ext>
                </a:extLst>
              </p:cNvPr>
              <p:cNvSpPr txBox="1">
                <a:spLocks noRot="1" noChangeAspect="1" noMove="1" noResize="1" noEditPoints="1" noAdjustHandles="1" noChangeArrowheads="1" noChangeShapeType="1" noTextEdit="1"/>
              </p:cNvSpPr>
              <p:nvPr/>
            </p:nvSpPr>
            <p:spPr>
              <a:xfrm>
                <a:off x="7397490" y="3228946"/>
                <a:ext cx="2595262" cy="369332"/>
              </a:xfrm>
              <a:prstGeom prst="rect">
                <a:avLst/>
              </a:prstGeom>
              <a:blipFill>
                <a:blip r:embed="rId9"/>
                <a:stretch>
                  <a:fillRect l="-2582" t="-1667" r="-3991" b="-33333"/>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EB1DABC4-E669-F682-3337-F4D80EF67216}"/>
                  </a:ext>
                </a:extLst>
              </p:cNvPr>
              <p:cNvSpPr txBox="1"/>
              <p:nvPr/>
            </p:nvSpPr>
            <p:spPr>
              <a:xfrm>
                <a:off x="6398780" y="3626448"/>
                <a:ext cx="391991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𝑙𝑜𝑔𝑖𝑡</m:t>
                      </m:r>
                      <m:r>
                        <a:rPr lang="en-SE" sz="2400" b="0" i="1" smtClean="0">
                          <a:latin typeface="Cambria Math" panose="02040503050406030204" pitchFamily="18" charset="0"/>
                        </a:rPr>
                        <m:t>(</m:t>
                      </m:r>
                      <m:r>
                        <a:rPr lang="en-SE" sz="2400" b="0" i="1" smtClean="0">
                          <a:latin typeface="Cambria Math" panose="02040503050406030204" pitchFamily="18" charset="0"/>
                        </a:rPr>
                        <m:t>𝑝</m:t>
                      </m:r>
                      <m:r>
                        <a:rPr lang="en-SE" sz="2400" b="0" i="1" smtClean="0">
                          <a:latin typeface="Cambria Math" panose="02040503050406030204" pitchFamily="18" charset="0"/>
                        </a:rPr>
                        <m:t>)←</m:t>
                      </m:r>
                      <m:r>
                        <a:rPr lang="en-SE" sz="2400" b="0" i="1" smtClean="0">
                          <a:latin typeface="Cambria Math" panose="02040503050406030204" pitchFamily="18" charset="0"/>
                        </a:rPr>
                        <m:t>𝛼</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𝑥</m:t>
                      </m:r>
                      <m:r>
                        <a:rPr lang="en-SE" sz="2400" b="0" i="1" smtClean="0">
                          <a:latin typeface="Cambria Math" panose="02040503050406030204" pitchFamily="18" charset="0"/>
                        </a:rPr>
                        <m:t>+</m:t>
                      </m:r>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𝑧</m:t>
                      </m:r>
                    </m:oMath>
                  </m:oMathPara>
                </a14:m>
                <a:endParaRPr lang="en-SE" sz="2400" dirty="0"/>
              </a:p>
            </p:txBody>
          </p:sp>
        </mc:Choice>
        <mc:Fallback>
          <p:sp>
            <p:nvSpPr>
              <p:cNvPr id="40" name="TextBox 39">
                <a:extLst>
                  <a:ext uri="{FF2B5EF4-FFF2-40B4-BE49-F238E27FC236}">
                    <a16:creationId xmlns:a16="http://schemas.microsoft.com/office/drawing/2014/main" id="{EB1DABC4-E669-F682-3337-F4D80EF67216}"/>
                  </a:ext>
                </a:extLst>
              </p:cNvPr>
              <p:cNvSpPr txBox="1">
                <a:spLocks noRot="1" noChangeAspect="1" noMove="1" noResize="1" noEditPoints="1" noAdjustHandles="1" noChangeArrowheads="1" noChangeShapeType="1" noTextEdit="1"/>
              </p:cNvSpPr>
              <p:nvPr/>
            </p:nvSpPr>
            <p:spPr>
              <a:xfrm>
                <a:off x="6398780" y="3626448"/>
                <a:ext cx="3919919" cy="369332"/>
              </a:xfrm>
              <a:prstGeom prst="rect">
                <a:avLst/>
              </a:prstGeom>
              <a:blipFill>
                <a:blip r:embed="rId10"/>
                <a:stretch>
                  <a:fillRect l="-2488" t="-1667" r="-467" b="-33333"/>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DE1E4E8A-349E-9EF8-8EF2-1885B175DD23}"/>
                  </a:ext>
                </a:extLst>
              </p:cNvPr>
              <p:cNvSpPr txBox="1"/>
              <p:nvPr/>
            </p:nvSpPr>
            <p:spPr>
              <a:xfrm>
                <a:off x="7368123" y="4044653"/>
                <a:ext cx="16328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E" sz="2400" b="0" i="1" smtClean="0">
                          <a:latin typeface="Cambria Math" panose="02040503050406030204" pitchFamily="18" charset="0"/>
                        </a:rPr>
                        <m:t>𝛼</m:t>
                      </m:r>
                      <m:r>
                        <a:rPr lang="en-SE" sz="2400" b="0" i="1" smtClean="0">
                          <a:latin typeface="Cambria Math" panose="02040503050406030204" pitchFamily="18" charset="0"/>
                        </a:rPr>
                        <m:t>∼</m:t>
                      </m:r>
                      <m:r>
                        <a:rPr lang="en-SE" sz="2400" b="0" i="1" smtClean="0">
                          <a:latin typeface="Cambria Math" panose="02040503050406030204" pitchFamily="18" charset="0"/>
                        </a:rPr>
                        <m:t>𝑁</m:t>
                      </m:r>
                      <m:r>
                        <a:rPr lang="en-SE" sz="2400" b="0" i="1" smtClean="0">
                          <a:latin typeface="Cambria Math" panose="02040503050406030204" pitchFamily="18" charset="0"/>
                        </a:rPr>
                        <m:t>(0, 1)</m:t>
                      </m:r>
                    </m:oMath>
                  </m:oMathPara>
                </a14:m>
                <a:endParaRPr lang="en-SE" sz="2400" dirty="0"/>
              </a:p>
            </p:txBody>
          </p:sp>
        </mc:Choice>
        <mc:Fallback>
          <p:sp>
            <p:nvSpPr>
              <p:cNvPr id="42" name="TextBox 41">
                <a:extLst>
                  <a:ext uri="{FF2B5EF4-FFF2-40B4-BE49-F238E27FC236}">
                    <a16:creationId xmlns:a16="http://schemas.microsoft.com/office/drawing/2014/main" id="{DE1E4E8A-349E-9EF8-8EF2-1885B175DD23}"/>
                  </a:ext>
                </a:extLst>
              </p:cNvPr>
              <p:cNvSpPr txBox="1">
                <a:spLocks noRot="1" noChangeAspect="1" noMove="1" noResize="1" noEditPoints="1" noAdjustHandles="1" noChangeArrowheads="1" noChangeShapeType="1" noTextEdit="1"/>
              </p:cNvSpPr>
              <p:nvPr/>
            </p:nvSpPr>
            <p:spPr>
              <a:xfrm>
                <a:off x="7368123" y="4044653"/>
                <a:ext cx="1632883" cy="369332"/>
              </a:xfrm>
              <a:prstGeom prst="rect">
                <a:avLst/>
              </a:prstGeom>
              <a:blipFill>
                <a:blip r:embed="rId11"/>
                <a:stretch>
                  <a:fillRect l="-1119" t="-1639" r="-5224" b="-3278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EA7042DE-FB05-B05D-6433-66DD615F7A8F}"/>
                  </a:ext>
                </a:extLst>
              </p:cNvPr>
              <p:cNvSpPr txBox="1"/>
              <p:nvPr/>
            </p:nvSpPr>
            <p:spPr>
              <a:xfrm>
                <a:off x="7234245" y="4486812"/>
                <a:ext cx="194739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𝑥</m:t>
                          </m:r>
                        </m:sub>
                      </m:sSub>
                      <m:r>
                        <a:rPr lang="en-SE" sz="2400" b="0" i="1" smtClean="0">
                          <a:latin typeface="Cambria Math" panose="02040503050406030204" pitchFamily="18" charset="0"/>
                        </a:rPr>
                        <m:t>∼</m:t>
                      </m:r>
                      <m:r>
                        <a:rPr lang="en-SE" sz="2400" b="0" i="1" smtClean="0">
                          <a:latin typeface="Cambria Math" panose="02040503050406030204" pitchFamily="18" charset="0"/>
                        </a:rPr>
                        <m:t>𝑁</m:t>
                      </m:r>
                      <m:r>
                        <a:rPr lang="en-SE" sz="2400" b="0" i="1" smtClean="0">
                          <a:latin typeface="Cambria Math" panose="02040503050406030204" pitchFamily="18" charset="0"/>
                        </a:rPr>
                        <m:t>(0, 0.3)</m:t>
                      </m:r>
                    </m:oMath>
                  </m:oMathPara>
                </a14:m>
                <a:endParaRPr lang="en-SE" sz="2400" dirty="0"/>
              </a:p>
            </p:txBody>
          </p:sp>
        </mc:Choice>
        <mc:Fallback>
          <p:sp>
            <p:nvSpPr>
              <p:cNvPr id="44" name="TextBox 43">
                <a:extLst>
                  <a:ext uri="{FF2B5EF4-FFF2-40B4-BE49-F238E27FC236}">
                    <a16:creationId xmlns:a16="http://schemas.microsoft.com/office/drawing/2014/main" id="{EA7042DE-FB05-B05D-6433-66DD615F7A8F}"/>
                  </a:ext>
                </a:extLst>
              </p:cNvPr>
              <p:cNvSpPr txBox="1">
                <a:spLocks noRot="1" noChangeAspect="1" noMove="1" noResize="1" noEditPoints="1" noAdjustHandles="1" noChangeArrowheads="1" noChangeShapeType="1" noTextEdit="1"/>
              </p:cNvSpPr>
              <p:nvPr/>
            </p:nvSpPr>
            <p:spPr>
              <a:xfrm>
                <a:off x="7234245" y="4486812"/>
                <a:ext cx="1947393" cy="369332"/>
              </a:xfrm>
              <a:prstGeom prst="rect">
                <a:avLst/>
              </a:prstGeom>
              <a:blipFill>
                <a:blip r:embed="rId12"/>
                <a:stretch>
                  <a:fillRect l="-5329" t="-1639" r="-5643" b="-3278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7272C80C-7DAE-8E4B-F91F-17052DE6ADE9}"/>
                  </a:ext>
                </a:extLst>
              </p:cNvPr>
              <p:cNvSpPr txBox="1"/>
              <p:nvPr/>
            </p:nvSpPr>
            <p:spPr>
              <a:xfrm>
                <a:off x="7273444" y="4916994"/>
                <a:ext cx="193187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sz="2400" i="1" smtClean="0">
                              <a:latin typeface="Cambria Math" panose="02040503050406030204" pitchFamily="18" charset="0"/>
                            </a:rPr>
                          </m:ctrlPr>
                        </m:sSubPr>
                        <m:e>
                          <m:r>
                            <a:rPr lang="en-SE" sz="2400" b="0" i="1" smtClean="0">
                              <a:latin typeface="Cambria Math" panose="02040503050406030204" pitchFamily="18" charset="0"/>
                            </a:rPr>
                            <m:t>𝛽</m:t>
                          </m:r>
                        </m:e>
                        <m:sub>
                          <m:r>
                            <a:rPr lang="en-SE" sz="2400" b="0" i="1" smtClean="0">
                              <a:latin typeface="Cambria Math" panose="02040503050406030204" pitchFamily="18" charset="0"/>
                            </a:rPr>
                            <m:t>𝑧</m:t>
                          </m:r>
                        </m:sub>
                      </m:sSub>
                      <m:r>
                        <a:rPr lang="en-SE" sz="2400" b="0" i="1" smtClean="0">
                          <a:latin typeface="Cambria Math" panose="02040503050406030204" pitchFamily="18" charset="0"/>
                        </a:rPr>
                        <m:t>∼</m:t>
                      </m:r>
                      <m:r>
                        <a:rPr lang="en-SE" sz="2400" b="0" i="1" smtClean="0">
                          <a:latin typeface="Cambria Math" panose="02040503050406030204" pitchFamily="18" charset="0"/>
                        </a:rPr>
                        <m:t>𝑁</m:t>
                      </m:r>
                      <m:r>
                        <a:rPr lang="en-SE" sz="2400" b="0" i="1" smtClean="0">
                          <a:latin typeface="Cambria Math" panose="02040503050406030204" pitchFamily="18" charset="0"/>
                        </a:rPr>
                        <m:t>(0, 0.3)</m:t>
                      </m:r>
                    </m:oMath>
                  </m:oMathPara>
                </a14:m>
                <a:endParaRPr lang="en-SE" sz="2400" dirty="0"/>
              </a:p>
            </p:txBody>
          </p:sp>
        </mc:Choice>
        <mc:Fallback>
          <p:sp>
            <p:nvSpPr>
              <p:cNvPr id="46" name="TextBox 45">
                <a:extLst>
                  <a:ext uri="{FF2B5EF4-FFF2-40B4-BE49-F238E27FC236}">
                    <a16:creationId xmlns:a16="http://schemas.microsoft.com/office/drawing/2014/main" id="{7272C80C-7DAE-8E4B-F91F-17052DE6ADE9}"/>
                  </a:ext>
                </a:extLst>
              </p:cNvPr>
              <p:cNvSpPr txBox="1">
                <a:spLocks noRot="1" noChangeAspect="1" noMove="1" noResize="1" noEditPoints="1" noAdjustHandles="1" noChangeArrowheads="1" noChangeShapeType="1" noTextEdit="1"/>
              </p:cNvSpPr>
              <p:nvPr/>
            </p:nvSpPr>
            <p:spPr>
              <a:xfrm>
                <a:off x="7273444" y="4916994"/>
                <a:ext cx="1931875" cy="369332"/>
              </a:xfrm>
              <a:prstGeom prst="rect">
                <a:avLst/>
              </a:prstGeom>
              <a:blipFill>
                <a:blip r:embed="rId13"/>
                <a:stretch>
                  <a:fillRect l="-5363" t="-1667" r="-5678" b="-33333"/>
                </a:stretch>
              </a:blipFill>
            </p:spPr>
            <p:txBody>
              <a:bodyPr/>
              <a:lstStyle/>
              <a:p>
                <a:r>
                  <a:rPr lang="en-SE">
                    <a:noFill/>
                  </a:rPr>
                  <a:t> </a:t>
                </a:r>
              </a:p>
            </p:txBody>
          </p:sp>
        </mc:Fallback>
      </mc:AlternateContent>
      <p:pic>
        <p:nvPicPr>
          <p:cNvPr id="48" name="Graphic 47" descr="Robot with solid fill">
            <a:extLst>
              <a:ext uri="{FF2B5EF4-FFF2-40B4-BE49-F238E27FC236}">
                <a16:creationId xmlns:a16="http://schemas.microsoft.com/office/drawing/2014/main" id="{20DC6884-A8F6-844D-0058-32C71752D76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508102" y="2747920"/>
            <a:ext cx="360000" cy="360000"/>
          </a:xfrm>
          <a:prstGeom prst="rect">
            <a:avLst/>
          </a:prstGeom>
        </p:spPr>
      </p:pic>
    </p:spTree>
    <p:extLst>
      <p:ext uri="{BB962C8B-B14F-4D97-AF65-F5344CB8AC3E}">
        <p14:creationId xmlns:p14="http://schemas.microsoft.com/office/powerpoint/2010/main" val="2635870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p:bldP spid="36" grpId="0" animBg="1"/>
      <p:bldP spid="38" grpId="0"/>
      <p:bldP spid="40" grpId="0"/>
      <p:bldP spid="42" grpId="0"/>
      <p:bldP spid="44" grpId="0"/>
      <p:bldP spid="4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C343F-CAE9-D1C2-94CA-D029175A27F2}"/>
              </a:ext>
            </a:extLst>
          </p:cNvPr>
          <p:cNvSpPr>
            <a:spLocks noGrp="1"/>
          </p:cNvSpPr>
          <p:nvPr>
            <p:ph type="title"/>
          </p:nvPr>
        </p:nvSpPr>
        <p:spPr/>
        <p:txBody>
          <a:bodyPr/>
          <a:lstStyle/>
          <a:p>
            <a:r>
              <a:rPr lang="en-SE" dirty="0"/>
              <a:t>Marginal Effects</a:t>
            </a:r>
          </a:p>
        </p:txBody>
      </p:sp>
      <p:sp>
        <p:nvSpPr>
          <p:cNvPr id="3" name="Content Placeholder 2">
            <a:extLst>
              <a:ext uri="{FF2B5EF4-FFF2-40B4-BE49-F238E27FC236}">
                <a16:creationId xmlns:a16="http://schemas.microsoft.com/office/drawing/2014/main" id="{45F5B488-BB58-C5AC-1D9E-C1E18066135A}"/>
              </a:ext>
            </a:extLst>
          </p:cNvPr>
          <p:cNvSpPr>
            <a:spLocks noGrp="1"/>
          </p:cNvSpPr>
          <p:nvPr>
            <p:ph idx="1"/>
          </p:nvPr>
        </p:nvSpPr>
        <p:spPr>
          <a:xfrm>
            <a:off x="838200" y="1825625"/>
            <a:ext cx="10515600" cy="954000"/>
          </a:xfrm>
        </p:spPr>
        <p:txBody>
          <a:bodyPr/>
          <a:lstStyle/>
          <a:p>
            <a:pPr marL="0" indent="0">
              <a:buNone/>
            </a:pPr>
            <a:r>
              <a:rPr lang="en-SE" dirty="0"/>
              <a:t>A marginal effect is the effect of one variable on the outcome while holding </a:t>
            </a:r>
            <a:r>
              <a:rPr lang="en-SE" b="1" dirty="0"/>
              <a:t>all other variables constant </a:t>
            </a:r>
            <a:r>
              <a:rPr lang="en-SE" dirty="0"/>
              <a:t>at representative levels.</a:t>
            </a:r>
          </a:p>
        </p:txBody>
      </p:sp>
      <p:sp>
        <p:nvSpPr>
          <p:cNvPr id="4" name="Date Placeholder 3">
            <a:extLst>
              <a:ext uri="{FF2B5EF4-FFF2-40B4-BE49-F238E27FC236}">
                <a16:creationId xmlns:a16="http://schemas.microsoft.com/office/drawing/2014/main" id="{AC57DB35-C5CB-BA5B-DCFE-CE761A00899F}"/>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4D01A6FC-BA63-5563-5552-60437AE7D91E}"/>
              </a:ext>
            </a:extLst>
          </p:cNvPr>
          <p:cNvSpPr>
            <a:spLocks noGrp="1"/>
          </p:cNvSpPr>
          <p:nvPr>
            <p:ph type="sldNum" sz="quarter" idx="12"/>
          </p:nvPr>
        </p:nvSpPr>
        <p:spPr/>
        <p:txBody>
          <a:bodyPr/>
          <a:lstStyle/>
          <a:p>
            <a:fld id="{271ECC92-9CDE-4EB3-B1C5-F46B9E1FA3C1}" type="slidenum">
              <a:rPr lang="en-SE" smtClean="0"/>
              <a:t>83</a:t>
            </a:fld>
            <a:endParaRPr lang="en-SE"/>
          </a:p>
        </p:txBody>
      </p:sp>
      <p:sp>
        <p:nvSpPr>
          <p:cNvPr id="6" name="Footer Placeholder 5">
            <a:extLst>
              <a:ext uri="{FF2B5EF4-FFF2-40B4-BE49-F238E27FC236}">
                <a16:creationId xmlns:a16="http://schemas.microsoft.com/office/drawing/2014/main" id="{834DDF8B-BFD1-C341-AFE3-F9B9A9C7027D}"/>
              </a:ext>
            </a:extLst>
          </p:cNvPr>
          <p:cNvSpPr>
            <a:spLocks noGrp="1"/>
          </p:cNvSpPr>
          <p:nvPr>
            <p:ph type="ftr" sz="quarter" idx="11"/>
          </p:nvPr>
        </p:nvSpPr>
        <p:spPr/>
        <p:txBody>
          <a:bodyPr/>
          <a:lstStyle/>
          <a:p>
            <a:r>
              <a:rPr lang="de-DE"/>
              <a:t>Bayesian Data Analysis Tutorial</a:t>
            </a:r>
            <a:endParaRPr lang="en-SE"/>
          </a:p>
        </p:txBody>
      </p:sp>
      <p:sp>
        <p:nvSpPr>
          <p:cNvPr id="30" name="Rectangle 29">
            <a:extLst>
              <a:ext uri="{FF2B5EF4-FFF2-40B4-BE49-F238E27FC236}">
                <a16:creationId xmlns:a16="http://schemas.microsoft.com/office/drawing/2014/main" id="{ABC662E2-80FB-7C8C-2F56-3C94A121E056}"/>
              </a:ext>
            </a:extLst>
          </p:cNvPr>
          <p:cNvSpPr/>
          <p:nvPr/>
        </p:nvSpPr>
        <p:spPr>
          <a:xfrm>
            <a:off x="3334258" y="3444111"/>
            <a:ext cx="6064379" cy="365125"/>
          </a:xfrm>
          <a:prstGeom prst="rect">
            <a:avLst/>
          </a:prstGeom>
          <a:solidFill>
            <a:schemeClr val="bg1">
              <a:lumMod val="95000"/>
            </a:schemeClr>
          </a:solidFill>
          <a:ln>
            <a:solidFill>
              <a:schemeClr val="tx1">
                <a:lumMod val="50000"/>
                <a:lumOff val="50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err="1">
                <a:solidFill>
                  <a:schemeClr val="tx1"/>
                </a:solidFill>
                <a:latin typeface="Courier New" panose="02070309020205020404" pitchFamily="49" charset="0"/>
                <a:cs typeface="Courier New" panose="02070309020205020404" pitchFamily="49" charset="0"/>
              </a:rPr>
              <a:t>conditional_effects</a:t>
            </a:r>
            <a:r>
              <a:rPr lang="en-US" dirty="0">
                <a:solidFill>
                  <a:schemeClr val="tx1"/>
                </a:solidFill>
                <a:latin typeface="Courier New" panose="02070309020205020404" pitchFamily="49" charset="0"/>
                <a:cs typeface="Courier New" panose="02070309020205020404" pitchFamily="49" charset="0"/>
              </a:rPr>
              <a:t>(m</a:t>
            </a:r>
            <a:r>
              <a:rPr lang="en-SE" dirty="0" err="1">
                <a:solidFill>
                  <a:schemeClr val="tx1"/>
                </a:solidFill>
                <a:latin typeface="Courier New" panose="02070309020205020404" pitchFamily="49" charset="0"/>
                <a:cs typeface="Courier New" panose="02070309020205020404" pitchFamily="49" charset="0"/>
              </a:rPr>
              <a:t>odel</a:t>
            </a:r>
            <a:r>
              <a:rPr lang="en-US" dirty="0">
                <a:solidFill>
                  <a:schemeClr val="tx1"/>
                </a:solidFill>
                <a:latin typeface="Courier New" panose="02070309020205020404" pitchFamily="49" charset="0"/>
                <a:cs typeface="Courier New" panose="02070309020205020404" pitchFamily="49" charset="0"/>
              </a:rPr>
              <a:t>, effects = "x")</a:t>
            </a:r>
            <a:endParaRPr lang="en-SE" dirty="0">
              <a:solidFill>
                <a:schemeClr val="tx1"/>
              </a:solidFill>
              <a:latin typeface="Courier New" panose="02070309020205020404" pitchFamily="49" charset="0"/>
              <a:cs typeface="Courier New" panose="02070309020205020404" pitchFamily="49" charset="0"/>
            </a:endParaRPr>
          </a:p>
        </p:txBody>
      </p:sp>
      <p:sp>
        <p:nvSpPr>
          <p:cNvPr id="31" name="Rectangle 30">
            <a:extLst>
              <a:ext uri="{FF2B5EF4-FFF2-40B4-BE49-F238E27FC236}">
                <a16:creationId xmlns:a16="http://schemas.microsoft.com/office/drawing/2014/main" id="{F23508CE-680E-F00B-55A3-9AB1015C96AC}"/>
              </a:ext>
            </a:extLst>
          </p:cNvPr>
          <p:cNvSpPr/>
          <p:nvPr/>
        </p:nvSpPr>
        <p:spPr>
          <a:xfrm>
            <a:off x="3334258" y="3078986"/>
            <a:ext cx="6064377" cy="365125"/>
          </a:xfrm>
          <a:prstGeom prst="rect">
            <a:avLst/>
          </a:prstGeom>
          <a:solidFill>
            <a:schemeClr val="tx1">
              <a:lumMod val="65000"/>
              <a:lumOff val="3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E" dirty="0">
                <a:solidFill>
                  <a:schemeClr val="bg1"/>
                </a:solidFill>
                <a:latin typeface="Courier New" panose="02070309020205020404" pitchFamily="49" charset="0"/>
                <a:cs typeface="Courier New" panose="02070309020205020404" pitchFamily="49" charset="0"/>
              </a:rPr>
              <a:t>R 4.5.0 using library(brms)</a:t>
            </a:r>
          </a:p>
        </p:txBody>
      </p:sp>
      <p:pic>
        <p:nvPicPr>
          <p:cNvPr id="35" name="Picture 34">
            <a:extLst>
              <a:ext uri="{FF2B5EF4-FFF2-40B4-BE49-F238E27FC236}">
                <a16:creationId xmlns:a16="http://schemas.microsoft.com/office/drawing/2014/main" id="{69B55D63-A91E-4FAD-9039-AD0279C2D3DD}"/>
              </a:ext>
            </a:extLst>
          </p:cNvPr>
          <p:cNvPicPr>
            <a:picLocks noChangeAspect="1"/>
          </p:cNvPicPr>
          <p:nvPr/>
        </p:nvPicPr>
        <p:blipFill>
          <a:blip r:embed="rId2"/>
          <a:stretch>
            <a:fillRect/>
          </a:stretch>
        </p:blipFill>
        <p:spPr>
          <a:xfrm>
            <a:off x="3334259" y="3809237"/>
            <a:ext cx="6064376" cy="2231308"/>
          </a:xfrm>
          <a:prstGeom prst="rect">
            <a:avLst/>
          </a:prstGeom>
          <a:ln>
            <a:solidFill>
              <a:schemeClr val="tx1">
                <a:lumMod val="50000"/>
                <a:lumOff val="50000"/>
              </a:schemeClr>
            </a:solidFill>
          </a:ln>
        </p:spPr>
      </p:pic>
      <p:grpSp>
        <p:nvGrpSpPr>
          <p:cNvPr id="36" name="Group 35">
            <a:extLst>
              <a:ext uri="{FF2B5EF4-FFF2-40B4-BE49-F238E27FC236}">
                <a16:creationId xmlns:a16="http://schemas.microsoft.com/office/drawing/2014/main" id="{1507BD59-C46E-520C-62AD-4355103D420B}"/>
              </a:ext>
            </a:extLst>
          </p:cNvPr>
          <p:cNvGrpSpPr/>
          <p:nvPr/>
        </p:nvGrpSpPr>
        <p:grpSpPr>
          <a:xfrm>
            <a:off x="228598" y="1825625"/>
            <a:ext cx="504000" cy="504000"/>
            <a:chOff x="977950" y="2729564"/>
            <a:chExt cx="504000" cy="504000"/>
          </a:xfrm>
        </p:grpSpPr>
        <p:sp>
          <p:nvSpPr>
            <p:cNvPr id="37" name="Oval 36">
              <a:extLst>
                <a:ext uri="{FF2B5EF4-FFF2-40B4-BE49-F238E27FC236}">
                  <a16:creationId xmlns:a16="http://schemas.microsoft.com/office/drawing/2014/main" id="{D0201633-5DFB-EBE4-C763-2D418B480E61}"/>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8" name="Graphic 37" descr="Bar chart with solid fill">
              <a:extLst>
                <a:ext uri="{FF2B5EF4-FFF2-40B4-BE49-F238E27FC236}">
                  <a16:creationId xmlns:a16="http://schemas.microsoft.com/office/drawing/2014/main" id="{E5E9689E-0A76-8590-8716-CBC290459B2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grpSp>
        <p:nvGrpSpPr>
          <p:cNvPr id="39" name="Group 38">
            <a:extLst>
              <a:ext uri="{FF2B5EF4-FFF2-40B4-BE49-F238E27FC236}">
                <a16:creationId xmlns:a16="http://schemas.microsoft.com/office/drawing/2014/main" id="{BF1B7549-3A90-4939-D131-39AA5AF52817}"/>
              </a:ext>
            </a:extLst>
          </p:cNvPr>
          <p:cNvGrpSpPr/>
          <p:nvPr/>
        </p:nvGrpSpPr>
        <p:grpSpPr>
          <a:xfrm>
            <a:off x="228598" y="2439322"/>
            <a:ext cx="504000" cy="504000"/>
            <a:chOff x="977950" y="2729564"/>
            <a:chExt cx="504000" cy="504000"/>
          </a:xfrm>
        </p:grpSpPr>
        <p:sp>
          <p:nvSpPr>
            <p:cNvPr id="40" name="Oval 39">
              <a:extLst>
                <a:ext uri="{FF2B5EF4-FFF2-40B4-BE49-F238E27FC236}">
                  <a16:creationId xmlns:a16="http://schemas.microsoft.com/office/drawing/2014/main" id="{3B64ECFF-ACC1-1E8E-0B7B-241C3FE10323}"/>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1" name="Graphic 40" descr="Golden Ratio with solid fill">
              <a:extLst>
                <a:ext uri="{FF2B5EF4-FFF2-40B4-BE49-F238E27FC236}">
                  <a16:creationId xmlns:a16="http://schemas.microsoft.com/office/drawing/2014/main" id="{5A3ABB50-C0DD-65DD-0B7C-AF04385125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950" y="2783564"/>
              <a:ext cx="396000" cy="396000"/>
            </a:xfrm>
            <a:prstGeom prst="rect">
              <a:avLst/>
            </a:prstGeom>
          </p:spPr>
        </p:pic>
      </p:grpSp>
      <p:grpSp>
        <p:nvGrpSpPr>
          <p:cNvPr id="42" name="Group 41">
            <a:extLst>
              <a:ext uri="{FF2B5EF4-FFF2-40B4-BE49-F238E27FC236}">
                <a16:creationId xmlns:a16="http://schemas.microsoft.com/office/drawing/2014/main" id="{5D1DD482-DCF9-82C6-14F1-ADC20BDEC8AB}"/>
              </a:ext>
            </a:extLst>
          </p:cNvPr>
          <p:cNvGrpSpPr/>
          <p:nvPr/>
        </p:nvGrpSpPr>
        <p:grpSpPr>
          <a:xfrm>
            <a:off x="228598" y="3053019"/>
            <a:ext cx="504000" cy="504000"/>
            <a:chOff x="977950" y="2729564"/>
            <a:chExt cx="504000" cy="504000"/>
          </a:xfrm>
        </p:grpSpPr>
        <p:sp>
          <p:nvSpPr>
            <p:cNvPr id="43" name="Oval 42">
              <a:extLst>
                <a:ext uri="{FF2B5EF4-FFF2-40B4-BE49-F238E27FC236}">
                  <a16:creationId xmlns:a16="http://schemas.microsoft.com/office/drawing/2014/main" id="{36BFEB16-27D9-0528-2F63-4A1DA9838675}"/>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4" name="Graphic 43" descr="Normal Distribution with solid fill">
              <a:extLst>
                <a:ext uri="{FF2B5EF4-FFF2-40B4-BE49-F238E27FC236}">
                  <a16:creationId xmlns:a16="http://schemas.microsoft.com/office/drawing/2014/main" id="{6EEB26CC-D122-1A88-5AF2-5EC5E462950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45" name="Group 44">
            <a:extLst>
              <a:ext uri="{FF2B5EF4-FFF2-40B4-BE49-F238E27FC236}">
                <a16:creationId xmlns:a16="http://schemas.microsoft.com/office/drawing/2014/main" id="{055D2401-C462-0110-1E79-0D5467BED97B}"/>
              </a:ext>
            </a:extLst>
          </p:cNvPr>
          <p:cNvGrpSpPr/>
          <p:nvPr/>
        </p:nvGrpSpPr>
        <p:grpSpPr>
          <a:xfrm>
            <a:off x="228598" y="3666716"/>
            <a:ext cx="504000" cy="504000"/>
            <a:chOff x="977950" y="2729564"/>
            <a:chExt cx="504000" cy="504000"/>
          </a:xfrm>
        </p:grpSpPr>
        <p:sp>
          <p:nvSpPr>
            <p:cNvPr id="46" name="Oval 45">
              <a:extLst>
                <a:ext uri="{FF2B5EF4-FFF2-40B4-BE49-F238E27FC236}">
                  <a16:creationId xmlns:a16="http://schemas.microsoft.com/office/drawing/2014/main" id="{5DF49353-7F9E-936F-E399-4476D4051F34}"/>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7" name="Graphic 46" descr="Abacus with solid fill">
              <a:extLst>
                <a:ext uri="{FF2B5EF4-FFF2-40B4-BE49-F238E27FC236}">
                  <a16:creationId xmlns:a16="http://schemas.microsoft.com/office/drawing/2014/main" id="{489E7D75-F360-1CB3-854D-2F401D8395F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48" name="Group 47">
            <a:extLst>
              <a:ext uri="{FF2B5EF4-FFF2-40B4-BE49-F238E27FC236}">
                <a16:creationId xmlns:a16="http://schemas.microsoft.com/office/drawing/2014/main" id="{6A3D7249-FFAA-A7BF-C91B-383C5A24BE16}"/>
              </a:ext>
            </a:extLst>
          </p:cNvPr>
          <p:cNvGrpSpPr/>
          <p:nvPr/>
        </p:nvGrpSpPr>
        <p:grpSpPr>
          <a:xfrm>
            <a:off x="228598" y="4280413"/>
            <a:ext cx="504000" cy="504000"/>
            <a:chOff x="977950" y="2729564"/>
            <a:chExt cx="504000" cy="504000"/>
          </a:xfrm>
        </p:grpSpPr>
        <p:sp>
          <p:nvSpPr>
            <p:cNvPr id="49" name="Oval 48">
              <a:extLst>
                <a:ext uri="{FF2B5EF4-FFF2-40B4-BE49-F238E27FC236}">
                  <a16:creationId xmlns:a16="http://schemas.microsoft.com/office/drawing/2014/main" id="{0F33DEC1-F2E6-8EE6-BF5E-644C4DC7A4AD}"/>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0" name="Graphic 49" descr="Trigonometry with solid fill">
              <a:extLst>
                <a:ext uri="{FF2B5EF4-FFF2-40B4-BE49-F238E27FC236}">
                  <a16:creationId xmlns:a16="http://schemas.microsoft.com/office/drawing/2014/main" id="{D5585CCD-6718-643E-9A72-143D0B96CC6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grpSp>
        <p:nvGrpSpPr>
          <p:cNvPr id="51" name="Group 50">
            <a:extLst>
              <a:ext uri="{FF2B5EF4-FFF2-40B4-BE49-F238E27FC236}">
                <a16:creationId xmlns:a16="http://schemas.microsoft.com/office/drawing/2014/main" id="{BBE5A806-1DC7-46B2-3B80-F4EF026EA78F}"/>
              </a:ext>
            </a:extLst>
          </p:cNvPr>
          <p:cNvGrpSpPr/>
          <p:nvPr/>
        </p:nvGrpSpPr>
        <p:grpSpPr>
          <a:xfrm>
            <a:off x="228598" y="4894111"/>
            <a:ext cx="504000" cy="504000"/>
            <a:chOff x="977950" y="2729564"/>
            <a:chExt cx="504000" cy="504000"/>
          </a:xfrm>
        </p:grpSpPr>
        <p:sp>
          <p:nvSpPr>
            <p:cNvPr id="52" name="Oval 51">
              <a:extLst>
                <a:ext uri="{FF2B5EF4-FFF2-40B4-BE49-F238E27FC236}">
                  <a16:creationId xmlns:a16="http://schemas.microsoft.com/office/drawing/2014/main" id="{C7926E7E-A203-D7CC-C0A6-25F3A062FF06}"/>
                </a:ext>
              </a:extLst>
            </p:cNvPr>
            <p:cNvSpPr/>
            <p:nvPr/>
          </p:nvSpPr>
          <p:spPr>
            <a:xfrm>
              <a:off x="977950" y="2729564"/>
              <a:ext cx="504000" cy="504000"/>
            </a:xfrm>
            <a:prstGeom prst="ellipse">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3" name="Graphic 52" descr="Scatterplot with solid fill">
              <a:extLst>
                <a:ext uri="{FF2B5EF4-FFF2-40B4-BE49-F238E27FC236}">
                  <a16:creationId xmlns:a16="http://schemas.microsoft.com/office/drawing/2014/main" id="{6A662C90-2D5F-B37E-DFE1-406896EA872E}"/>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31950" y="2783564"/>
              <a:ext cx="396000" cy="396000"/>
            </a:xfrm>
            <a:prstGeom prst="rect">
              <a:avLst/>
            </a:prstGeom>
          </p:spPr>
        </p:pic>
      </p:grpSp>
      <p:cxnSp>
        <p:nvCxnSpPr>
          <p:cNvPr id="54" name="Straight Arrow Connector 53">
            <a:extLst>
              <a:ext uri="{FF2B5EF4-FFF2-40B4-BE49-F238E27FC236}">
                <a16:creationId xmlns:a16="http://schemas.microsoft.com/office/drawing/2014/main" id="{D2D080E9-E3DE-C228-2F04-372F2EFF34E4}"/>
              </a:ext>
            </a:extLst>
          </p:cNvPr>
          <p:cNvCxnSpPr>
            <a:stCxn id="37" idx="4"/>
            <a:endCxn id="40"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a:extLst>
              <a:ext uri="{FF2B5EF4-FFF2-40B4-BE49-F238E27FC236}">
                <a16:creationId xmlns:a16="http://schemas.microsoft.com/office/drawing/2014/main" id="{3F203138-27C1-6FB0-01BA-4477F416762A}"/>
              </a:ext>
            </a:extLst>
          </p:cNvPr>
          <p:cNvCxnSpPr>
            <a:cxnSpLocks/>
            <a:stCxn id="40" idx="4"/>
            <a:endCxn id="43"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a:extLst>
              <a:ext uri="{FF2B5EF4-FFF2-40B4-BE49-F238E27FC236}">
                <a16:creationId xmlns:a16="http://schemas.microsoft.com/office/drawing/2014/main" id="{2B21261D-8361-4615-8E11-7239A6D8F39F}"/>
              </a:ext>
            </a:extLst>
          </p:cNvPr>
          <p:cNvCxnSpPr>
            <a:cxnSpLocks/>
            <a:stCxn id="43" idx="4"/>
            <a:endCxn id="46"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a:extLst>
              <a:ext uri="{FF2B5EF4-FFF2-40B4-BE49-F238E27FC236}">
                <a16:creationId xmlns:a16="http://schemas.microsoft.com/office/drawing/2014/main" id="{E1C90FB3-30B3-2868-B4E8-F569C432D027}"/>
              </a:ext>
            </a:extLst>
          </p:cNvPr>
          <p:cNvCxnSpPr>
            <a:cxnSpLocks/>
            <a:stCxn id="46" idx="4"/>
            <a:endCxn id="49"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a:extLst>
              <a:ext uri="{FF2B5EF4-FFF2-40B4-BE49-F238E27FC236}">
                <a16:creationId xmlns:a16="http://schemas.microsoft.com/office/drawing/2014/main" id="{3F44C3F0-E8B2-D051-14E0-FE3DFDE001C5}"/>
              </a:ext>
            </a:extLst>
          </p:cNvPr>
          <p:cNvCxnSpPr>
            <a:cxnSpLocks/>
            <a:stCxn id="49" idx="4"/>
            <a:endCxn id="52"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309455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27A8D-71CE-546F-FA68-399EE07E14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9C49A-94A9-C808-98CE-A62744AD3E39}"/>
              </a:ext>
            </a:extLst>
          </p:cNvPr>
          <p:cNvSpPr>
            <a:spLocks noGrp="1"/>
          </p:cNvSpPr>
          <p:nvPr>
            <p:ph type="title"/>
          </p:nvPr>
        </p:nvSpPr>
        <p:spPr/>
        <p:txBody>
          <a:bodyPr/>
          <a:lstStyle/>
          <a:p>
            <a:r>
              <a:rPr lang="en-SE" dirty="0"/>
              <a:t>Marginal Effects</a:t>
            </a:r>
          </a:p>
        </p:txBody>
      </p:sp>
      <p:sp>
        <p:nvSpPr>
          <p:cNvPr id="3" name="Content Placeholder 2">
            <a:extLst>
              <a:ext uri="{FF2B5EF4-FFF2-40B4-BE49-F238E27FC236}">
                <a16:creationId xmlns:a16="http://schemas.microsoft.com/office/drawing/2014/main" id="{37A7A1A3-3033-BA0C-B428-705E5BB0770B}"/>
              </a:ext>
            </a:extLst>
          </p:cNvPr>
          <p:cNvSpPr>
            <a:spLocks noGrp="1"/>
          </p:cNvSpPr>
          <p:nvPr>
            <p:ph idx="1"/>
          </p:nvPr>
        </p:nvSpPr>
        <p:spPr>
          <a:xfrm>
            <a:off x="838200" y="1825625"/>
            <a:ext cx="10515600" cy="954000"/>
          </a:xfrm>
        </p:spPr>
        <p:txBody>
          <a:bodyPr/>
          <a:lstStyle/>
          <a:p>
            <a:pPr marL="0" indent="0">
              <a:buNone/>
            </a:pPr>
            <a:r>
              <a:rPr lang="en-SE" dirty="0"/>
              <a:t>A marginal effect is the effect of one variable on the outcome while holding </a:t>
            </a:r>
            <a:r>
              <a:rPr lang="en-SE" b="1" dirty="0"/>
              <a:t>all other variables constant </a:t>
            </a:r>
            <a:r>
              <a:rPr lang="en-SE" dirty="0"/>
              <a:t>at representative levels.</a:t>
            </a:r>
          </a:p>
        </p:txBody>
      </p:sp>
      <p:sp>
        <p:nvSpPr>
          <p:cNvPr id="4" name="Date Placeholder 3">
            <a:extLst>
              <a:ext uri="{FF2B5EF4-FFF2-40B4-BE49-F238E27FC236}">
                <a16:creationId xmlns:a16="http://schemas.microsoft.com/office/drawing/2014/main" id="{A613B6E9-7D8A-A45A-E141-8C7750D50425}"/>
              </a:ext>
            </a:extLst>
          </p:cNvPr>
          <p:cNvSpPr>
            <a:spLocks noGrp="1"/>
          </p:cNvSpPr>
          <p:nvPr>
            <p:ph type="dt" sz="half" idx="10"/>
          </p:nvPr>
        </p:nvSpPr>
        <p:spPr/>
        <p:txBody>
          <a:bodyPr/>
          <a:lstStyle/>
          <a:p>
            <a:r>
              <a:rPr lang="en-SE"/>
              <a:t>2026-08-17</a:t>
            </a:r>
          </a:p>
        </p:txBody>
      </p:sp>
      <p:sp>
        <p:nvSpPr>
          <p:cNvPr id="5" name="Slide Number Placeholder 4">
            <a:extLst>
              <a:ext uri="{FF2B5EF4-FFF2-40B4-BE49-F238E27FC236}">
                <a16:creationId xmlns:a16="http://schemas.microsoft.com/office/drawing/2014/main" id="{9FDB8C4C-979D-8840-0E73-DF5BC9303F01}"/>
              </a:ext>
            </a:extLst>
          </p:cNvPr>
          <p:cNvSpPr>
            <a:spLocks noGrp="1"/>
          </p:cNvSpPr>
          <p:nvPr>
            <p:ph type="sldNum" sz="quarter" idx="12"/>
          </p:nvPr>
        </p:nvSpPr>
        <p:spPr/>
        <p:txBody>
          <a:bodyPr/>
          <a:lstStyle/>
          <a:p>
            <a:fld id="{271ECC92-9CDE-4EB3-B1C5-F46B9E1FA3C1}" type="slidenum">
              <a:rPr lang="en-SE" smtClean="0"/>
              <a:t>84</a:t>
            </a:fld>
            <a:endParaRPr lang="en-SE"/>
          </a:p>
        </p:txBody>
      </p:sp>
      <p:sp>
        <p:nvSpPr>
          <p:cNvPr id="6" name="Footer Placeholder 5">
            <a:extLst>
              <a:ext uri="{FF2B5EF4-FFF2-40B4-BE49-F238E27FC236}">
                <a16:creationId xmlns:a16="http://schemas.microsoft.com/office/drawing/2014/main" id="{3D088AB2-5C6E-24FF-2AEE-0322943BD8D7}"/>
              </a:ext>
            </a:extLst>
          </p:cNvPr>
          <p:cNvSpPr>
            <a:spLocks noGrp="1"/>
          </p:cNvSpPr>
          <p:nvPr>
            <p:ph type="ftr" sz="quarter" idx="11"/>
          </p:nvPr>
        </p:nvSpPr>
        <p:spPr/>
        <p:txBody>
          <a:bodyPr/>
          <a:lstStyle/>
          <a:p>
            <a:r>
              <a:rPr lang="de-DE"/>
              <a:t>Bayesian Data Analysis Tutorial</a:t>
            </a:r>
            <a:endParaRPr lang="en-SE"/>
          </a:p>
        </p:txBody>
      </p:sp>
      <p:grpSp>
        <p:nvGrpSpPr>
          <p:cNvPr id="36" name="Group 35">
            <a:extLst>
              <a:ext uri="{FF2B5EF4-FFF2-40B4-BE49-F238E27FC236}">
                <a16:creationId xmlns:a16="http://schemas.microsoft.com/office/drawing/2014/main" id="{5D51F1B2-DB34-9662-FF6F-B957461DF259}"/>
              </a:ext>
            </a:extLst>
          </p:cNvPr>
          <p:cNvGrpSpPr/>
          <p:nvPr/>
        </p:nvGrpSpPr>
        <p:grpSpPr>
          <a:xfrm>
            <a:off x="228598" y="1825625"/>
            <a:ext cx="504000" cy="504000"/>
            <a:chOff x="977950" y="2729564"/>
            <a:chExt cx="504000" cy="504000"/>
          </a:xfrm>
        </p:grpSpPr>
        <p:sp>
          <p:nvSpPr>
            <p:cNvPr id="37" name="Oval 36">
              <a:extLst>
                <a:ext uri="{FF2B5EF4-FFF2-40B4-BE49-F238E27FC236}">
                  <a16:creationId xmlns:a16="http://schemas.microsoft.com/office/drawing/2014/main" id="{F324CC97-DDF5-94F6-7B74-2754BA34B83F}"/>
                </a:ext>
              </a:extLst>
            </p:cNvPr>
            <p:cNvSpPr/>
            <p:nvPr/>
          </p:nvSpPr>
          <p:spPr>
            <a:xfrm>
              <a:off x="977950" y="2729564"/>
              <a:ext cx="504000" cy="504000"/>
            </a:xfrm>
            <a:prstGeom prst="ellipse">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38" name="Graphic 37" descr="Bar chart with solid fill">
              <a:extLst>
                <a:ext uri="{FF2B5EF4-FFF2-40B4-BE49-F238E27FC236}">
                  <a16:creationId xmlns:a16="http://schemas.microsoft.com/office/drawing/2014/main" id="{2E4542B1-F027-371D-EEF3-317B00684DE5}"/>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31950" y="2783564"/>
              <a:ext cx="396000" cy="396000"/>
            </a:xfrm>
            <a:prstGeom prst="rect">
              <a:avLst/>
            </a:prstGeom>
          </p:spPr>
        </p:pic>
      </p:grpSp>
      <p:grpSp>
        <p:nvGrpSpPr>
          <p:cNvPr id="39" name="Group 38">
            <a:extLst>
              <a:ext uri="{FF2B5EF4-FFF2-40B4-BE49-F238E27FC236}">
                <a16:creationId xmlns:a16="http://schemas.microsoft.com/office/drawing/2014/main" id="{57E90E0B-4902-DC69-5B67-434FD0CC6C43}"/>
              </a:ext>
            </a:extLst>
          </p:cNvPr>
          <p:cNvGrpSpPr/>
          <p:nvPr/>
        </p:nvGrpSpPr>
        <p:grpSpPr>
          <a:xfrm>
            <a:off x="228598" y="2439322"/>
            <a:ext cx="504000" cy="504000"/>
            <a:chOff x="977950" y="2729564"/>
            <a:chExt cx="504000" cy="504000"/>
          </a:xfrm>
        </p:grpSpPr>
        <p:sp>
          <p:nvSpPr>
            <p:cNvPr id="40" name="Oval 39">
              <a:extLst>
                <a:ext uri="{FF2B5EF4-FFF2-40B4-BE49-F238E27FC236}">
                  <a16:creationId xmlns:a16="http://schemas.microsoft.com/office/drawing/2014/main" id="{83C22195-4ACE-69FE-7659-EE464EA05E1D}"/>
                </a:ext>
              </a:extLst>
            </p:cNvPr>
            <p:cNvSpPr/>
            <p:nvPr/>
          </p:nvSpPr>
          <p:spPr>
            <a:xfrm>
              <a:off x="977950" y="2729564"/>
              <a:ext cx="504000" cy="504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1" name="Graphic 40" descr="Golden Ratio with solid fill">
              <a:extLst>
                <a:ext uri="{FF2B5EF4-FFF2-40B4-BE49-F238E27FC236}">
                  <a16:creationId xmlns:a16="http://schemas.microsoft.com/office/drawing/2014/main" id="{33364FBC-453B-E4F1-C25E-476B7A34CB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950" y="2783564"/>
              <a:ext cx="396000" cy="396000"/>
            </a:xfrm>
            <a:prstGeom prst="rect">
              <a:avLst/>
            </a:prstGeom>
          </p:spPr>
        </p:pic>
      </p:grpSp>
      <p:grpSp>
        <p:nvGrpSpPr>
          <p:cNvPr id="42" name="Group 41">
            <a:extLst>
              <a:ext uri="{FF2B5EF4-FFF2-40B4-BE49-F238E27FC236}">
                <a16:creationId xmlns:a16="http://schemas.microsoft.com/office/drawing/2014/main" id="{BF64FB11-9C1D-E4E7-CB87-A0862CA7407D}"/>
              </a:ext>
            </a:extLst>
          </p:cNvPr>
          <p:cNvGrpSpPr/>
          <p:nvPr/>
        </p:nvGrpSpPr>
        <p:grpSpPr>
          <a:xfrm>
            <a:off x="228598" y="3053019"/>
            <a:ext cx="504000" cy="504000"/>
            <a:chOff x="977950" y="2729564"/>
            <a:chExt cx="504000" cy="504000"/>
          </a:xfrm>
        </p:grpSpPr>
        <p:sp>
          <p:nvSpPr>
            <p:cNvPr id="43" name="Oval 42">
              <a:extLst>
                <a:ext uri="{FF2B5EF4-FFF2-40B4-BE49-F238E27FC236}">
                  <a16:creationId xmlns:a16="http://schemas.microsoft.com/office/drawing/2014/main" id="{4C398895-55C4-3242-4555-3A25E200027A}"/>
                </a:ext>
              </a:extLst>
            </p:cNvPr>
            <p:cNvSpPr/>
            <p:nvPr/>
          </p:nvSpPr>
          <p:spPr>
            <a:xfrm>
              <a:off x="977950" y="2729564"/>
              <a:ext cx="504000" cy="50400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4" name="Graphic 43" descr="Normal Distribution with solid fill">
              <a:extLst>
                <a:ext uri="{FF2B5EF4-FFF2-40B4-BE49-F238E27FC236}">
                  <a16:creationId xmlns:a16="http://schemas.microsoft.com/office/drawing/2014/main" id="{2E06144A-87C5-AF47-2503-CB275DC525E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31950" y="2783564"/>
              <a:ext cx="396000" cy="396000"/>
            </a:xfrm>
            <a:prstGeom prst="rect">
              <a:avLst/>
            </a:prstGeom>
          </p:spPr>
        </p:pic>
      </p:grpSp>
      <p:grpSp>
        <p:nvGrpSpPr>
          <p:cNvPr id="45" name="Group 44">
            <a:extLst>
              <a:ext uri="{FF2B5EF4-FFF2-40B4-BE49-F238E27FC236}">
                <a16:creationId xmlns:a16="http://schemas.microsoft.com/office/drawing/2014/main" id="{F6FE1E47-75AD-449D-2AD4-62B1DBFA1E9A}"/>
              </a:ext>
            </a:extLst>
          </p:cNvPr>
          <p:cNvGrpSpPr/>
          <p:nvPr/>
        </p:nvGrpSpPr>
        <p:grpSpPr>
          <a:xfrm>
            <a:off x="228598" y="3666716"/>
            <a:ext cx="504000" cy="504000"/>
            <a:chOff x="977950" y="2729564"/>
            <a:chExt cx="504000" cy="504000"/>
          </a:xfrm>
        </p:grpSpPr>
        <p:sp>
          <p:nvSpPr>
            <p:cNvPr id="46" name="Oval 45">
              <a:extLst>
                <a:ext uri="{FF2B5EF4-FFF2-40B4-BE49-F238E27FC236}">
                  <a16:creationId xmlns:a16="http://schemas.microsoft.com/office/drawing/2014/main" id="{EAB5BA68-4C79-42DC-D2BF-0A63A48CC20C}"/>
                </a:ext>
              </a:extLst>
            </p:cNvPr>
            <p:cNvSpPr/>
            <p:nvPr/>
          </p:nvSpPr>
          <p:spPr>
            <a:xfrm>
              <a:off x="977950" y="2729564"/>
              <a:ext cx="504000" cy="504000"/>
            </a:xfrm>
            <a:prstGeom prst="ellipse">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7" name="Graphic 46" descr="Abacus with solid fill">
              <a:extLst>
                <a:ext uri="{FF2B5EF4-FFF2-40B4-BE49-F238E27FC236}">
                  <a16:creationId xmlns:a16="http://schemas.microsoft.com/office/drawing/2014/main" id="{9A3559EB-11F1-CCE8-ED9C-49C33083B142}"/>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48" name="Group 47">
            <a:extLst>
              <a:ext uri="{FF2B5EF4-FFF2-40B4-BE49-F238E27FC236}">
                <a16:creationId xmlns:a16="http://schemas.microsoft.com/office/drawing/2014/main" id="{23548FA9-07F5-95ED-CC24-95CD6B34B9CB}"/>
              </a:ext>
            </a:extLst>
          </p:cNvPr>
          <p:cNvGrpSpPr/>
          <p:nvPr/>
        </p:nvGrpSpPr>
        <p:grpSpPr>
          <a:xfrm>
            <a:off x="228598" y="4280413"/>
            <a:ext cx="504000" cy="504000"/>
            <a:chOff x="977950" y="2729564"/>
            <a:chExt cx="504000" cy="504000"/>
          </a:xfrm>
        </p:grpSpPr>
        <p:sp>
          <p:nvSpPr>
            <p:cNvPr id="49" name="Oval 48">
              <a:extLst>
                <a:ext uri="{FF2B5EF4-FFF2-40B4-BE49-F238E27FC236}">
                  <a16:creationId xmlns:a16="http://schemas.microsoft.com/office/drawing/2014/main" id="{9AA8BA7B-C9A9-A27D-DA8F-92FBCB9517FE}"/>
                </a:ext>
              </a:extLst>
            </p:cNvPr>
            <p:cNvSpPr/>
            <p:nvPr/>
          </p:nvSpPr>
          <p:spPr>
            <a:xfrm>
              <a:off x="977950" y="2729564"/>
              <a:ext cx="504000" cy="504000"/>
            </a:xfrm>
            <a:prstGeom prst="ellipse">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0" name="Graphic 49" descr="Trigonometry with solid fill">
              <a:extLst>
                <a:ext uri="{FF2B5EF4-FFF2-40B4-BE49-F238E27FC236}">
                  <a16:creationId xmlns:a16="http://schemas.microsoft.com/office/drawing/2014/main" id="{490B476D-EC63-3D86-C656-2F0825C1DA85}"/>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51" name="Group 50">
            <a:extLst>
              <a:ext uri="{FF2B5EF4-FFF2-40B4-BE49-F238E27FC236}">
                <a16:creationId xmlns:a16="http://schemas.microsoft.com/office/drawing/2014/main" id="{B9F920C3-CA00-2A95-0AC5-50A316C4F19E}"/>
              </a:ext>
            </a:extLst>
          </p:cNvPr>
          <p:cNvGrpSpPr/>
          <p:nvPr/>
        </p:nvGrpSpPr>
        <p:grpSpPr>
          <a:xfrm>
            <a:off x="228598" y="4894111"/>
            <a:ext cx="504000" cy="504000"/>
            <a:chOff x="977950" y="2729564"/>
            <a:chExt cx="504000" cy="504000"/>
          </a:xfrm>
        </p:grpSpPr>
        <p:sp>
          <p:nvSpPr>
            <p:cNvPr id="52" name="Oval 51">
              <a:extLst>
                <a:ext uri="{FF2B5EF4-FFF2-40B4-BE49-F238E27FC236}">
                  <a16:creationId xmlns:a16="http://schemas.microsoft.com/office/drawing/2014/main" id="{54D071EA-FC43-6169-E1B6-2B318F6B5558}"/>
                </a:ext>
              </a:extLst>
            </p:cNvPr>
            <p:cNvSpPr/>
            <p:nvPr/>
          </p:nvSpPr>
          <p:spPr>
            <a:xfrm>
              <a:off x="977950" y="2729564"/>
              <a:ext cx="504000" cy="504000"/>
            </a:xfrm>
            <a:prstGeom prst="ellipse">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53" name="Graphic 52" descr="Scatterplot with solid fill">
              <a:extLst>
                <a:ext uri="{FF2B5EF4-FFF2-40B4-BE49-F238E27FC236}">
                  <a16:creationId xmlns:a16="http://schemas.microsoft.com/office/drawing/2014/main" id="{51ACB7B4-A2AB-0D4E-2096-812D9F3D5EF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cxnSp>
        <p:nvCxnSpPr>
          <p:cNvPr id="54" name="Straight Arrow Connector 53">
            <a:extLst>
              <a:ext uri="{FF2B5EF4-FFF2-40B4-BE49-F238E27FC236}">
                <a16:creationId xmlns:a16="http://schemas.microsoft.com/office/drawing/2014/main" id="{887ED673-2934-A75D-B054-E62C2A2EEF84}"/>
              </a:ext>
            </a:extLst>
          </p:cNvPr>
          <p:cNvCxnSpPr>
            <a:stCxn id="37" idx="4"/>
            <a:endCxn id="40" idx="0"/>
          </p:cNvCxnSpPr>
          <p:nvPr/>
        </p:nvCxnSpPr>
        <p:spPr>
          <a:xfrm>
            <a:off x="480598" y="232962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a:extLst>
              <a:ext uri="{FF2B5EF4-FFF2-40B4-BE49-F238E27FC236}">
                <a16:creationId xmlns:a16="http://schemas.microsoft.com/office/drawing/2014/main" id="{F2437A91-E5FB-9610-3065-9663D4540949}"/>
              </a:ext>
            </a:extLst>
          </p:cNvPr>
          <p:cNvCxnSpPr>
            <a:cxnSpLocks/>
            <a:stCxn id="40" idx="4"/>
            <a:endCxn id="43" idx="0"/>
          </p:cNvCxnSpPr>
          <p:nvPr/>
        </p:nvCxnSpPr>
        <p:spPr>
          <a:xfrm>
            <a:off x="480598" y="294332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a:extLst>
              <a:ext uri="{FF2B5EF4-FFF2-40B4-BE49-F238E27FC236}">
                <a16:creationId xmlns:a16="http://schemas.microsoft.com/office/drawing/2014/main" id="{9F50D82E-DD77-7349-F43B-746378ABBA15}"/>
              </a:ext>
            </a:extLst>
          </p:cNvPr>
          <p:cNvCxnSpPr>
            <a:cxnSpLocks/>
            <a:stCxn id="43" idx="4"/>
            <a:endCxn id="46" idx="0"/>
          </p:cNvCxnSpPr>
          <p:nvPr/>
        </p:nvCxnSpPr>
        <p:spPr>
          <a:xfrm>
            <a:off x="480598" y="355701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a:extLst>
              <a:ext uri="{FF2B5EF4-FFF2-40B4-BE49-F238E27FC236}">
                <a16:creationId xmlns:a16="http://schemas.microsoft.com/office/drawing/2014/main" id="{E89A2770-DBD0-AA5B-3420-92096F374124}"/>
              </a:ext>
            </a:extLst>
          </p:cNvPr>
          <p:cNvCxnSpPr>
            <a:cxnSpLocks/>
            <a:stCxn id="46" idx="4"/>
            <a:endCxn id="49" idx="0"/>
          </p:cNvCxnSpPr>
          <p:nvPr/>
        </p:nvCxnSpPr>
        <p:spPr>
          <a:xfrm>
            <a:off x="480598" y="417071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a:extLst>
              <a:ext uri="{FF2B5EF4-FFF2-40B4-BE49-F238E27FC236}">
                <a16:creationId xmlns:a16="http://schemas.microsoft.com/office/drawing/2014/main" id="{987EE64F-DEC9-7D87-6593-6271E2B34987}"/>
              </a:ext>
            </a:extLst>
          </p:cNvPr>
          <p:cNvCxnSpPr>
            <a:cxnSpLocks/>
            <a:stCxn id="49" idx="4"/>
            <a:endCxn id="52" idx="0"/>
          </p:cNvCxnSpPr>
          <p:nvPr/>
        </p:nvCxnSpPr>
        <p:spPr>
          <a:xfrm>
            <a:off x="480598" y="478441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8" name="Picture 7">
            <a:extLst>
              <a:ext uri="{FF2B5EF4-FFF2-40B4-BE49-F238E27FC236}">
                <a16:creationId xmlns:a16="http://schemas.microsoft.com/office/drawing/2014/main" id="{9C8E447D-5CBF-CDCE-BD24-49970027755C}"/>
              </a:ext>
            </a:extLst>
          </p:cNvPr>
          <p:cNvPicPr>
            <a:picLocks noChangeAspect="1"/>
          </p:cNvPicPr>
          <p:nvPr/>
        </p:nvPicPr>
        <p:blipFill>
          <a:blip r:embed="rId8"/>
          <a:stretch>
            <a:fillRect/>
          </a:stretch>
        </p:blipFill>
        <p:spPr>
          <a:xfrm>
            <a:off x="3581400" y="2699644"/>
            <a:ext cx="5166808" cy="3665538"/>
          </a:xfrm>
          <a:prstGeom prst="rect">
            <a:avLst/>
          </a:prstGeom>
        </p:spPr>
      </p:pic>
    </p:spTree>
    <p:extLst>
      <p:ext uri="{BB962C8B-B14F-4D97-AF65-F5344CB8AC3E}">
        <p14:creationId xmlns:p14="http://schemas.microsoft.com/office/powerpoint/2010/main" val="8032055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EC44B-3C2E-197A-F87B-A75B9018265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76BE374-BC10-EE65-457A-83E3C54FBD69}"/>
              </a:ext>
            </a:extLst>
          </p:cNvPr>
          <p:cNvSpPr>
            <a:spLocks noGrp="1"/>
          </p:cNvSpPr>
          <p:nvPr>
            <p:ph type="title"/>
          </p:nvPr>
        </p:nvSpPr>
        <p:spPr/>
        <p:txBody>
          <a:bodyPr/>
          <a:lstStyle/>
          <a:p>
            <a:r>
              <a:rPr lang="en-US" noProof="0" dirty="0"/>
              <a:t>The Bayesian Workflow</a:t>
            </a:r>
          </a:p>
        </p:txBody>
      </p:sp>
      <p:sp>
        <p:nvSpPr>
          <p:cNvPr id="4" name="Date Placeholder 3">
            <a:extLst>
              <a:ext uri="{FF2B5EF4-FFF2-40B4-BE49-F238E27FC236}">
                <a16:creationId xmlns:a16="http://schemas.microsoft.com/office/drawing/2014/main" id="{6A5E030D-6F4D-5278-68F9-7110BC44F9CB}"/>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4F85F976-BC1D-E1B3-1A1D-61C8A6BCA485}"/>
              </a:ext>
            </a:extLst>
          </p:cNvPr>
          <p:cNvSpPr>
            <a:spLocks noGrp="1"/>
          </p:cNvSpPr>
          <p:nvPr>
            <p:ph type="sldNum" sz="quarter" idx="12"/>
          </p:nvPr>
        </p:nvSpPr>
        <p:spPr/>
        <p:txBody>
          <a:bodyPr/>
          <a:lstStyle/>
          <a:p>
            <a:fld id="{271ECC92-9CDE-4EB3-B1C5-F46B9E1FA3C1}" type="slidenum">
              <a:rPr lang="en-US" noProof="0" smtClean="0"/>
              <a:t>85</a:t>
            </a:fld>
            <a:endParaRPr lang="en-US" noProof="0" dirty="0"/>
          </a:p>
        </p:txBody>
      </p:sp>
      <p:grpSp>
        <p:nvGrpSpPr>
          <p:cNvPr id="62" name="Group 61">
            <a:extLst>
              <a:ext uri="{FF2B5EF4-FFF2-40B4-BE49-F238E27FC236}">
                <a16:creationId xmlns:a16="http://schemas.microsoft.com/office/drawing/2014/main" id="{EE869313-86C9-F34F-D426-007DF815BB50}"/>
              </a:ext>
            </a:extLst>
          </p:cNvPr>
          <p:cNvGrpSpPr/>
          <p:nvPr/>
        </p:nvGrpSpPr>
        <p:grpSpPr>
          <a:xfrm>
            <a:off x="1485898" y="2066265"/>
            <a:ext cx="504000" cy="504000"/>
            <a:chOff x="977950" y="2729564"/>
            <a:chExt cx="504000" cy="504000"/>
          </a:xfrm>
        </p:grpSpPr>
        <p:sp>
          <p:nvSpPr>
            <p:cNvPr id="2" name="Oval 1">
              <a:extLst>
                <a:ext uri="{FF2B5EF4-FFF2-40B4-BE49-F238E27FC236}">
                  <a16:creationId xmlns:a16="http://schemas.microsoft.com/office/drawing/2014/main" id="{8C40C91B-455C-6708-9D27-16E7ED1A2986}"/>
                </a:ext>
              </a:extLst>
            </p:cNvPr>
            <p:cNvSpPr/>
            <p:nvPr/>
          </p:nvSpPr>
          <p:spPr>
            <a:xfrm>
              <a:off x="977950" y="2729564"/>
              <a:ext cx="504000" cy="504000"/>
            </a:xfrm>
            <a:prstGeom prst="ellipse">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7" name="Graphic 46" descr="Bar chart with solid fill">
              <a:extLst>
                <a:ext uri="{FF2B5EF4-FFF2-40B4-BE49-F238E27FC236}">
                  <a16:creationId xmlns:a16="http://schemas.microsoft.com/office/drawing/2014/main" id="{46F90012-F142-3F77-2426-8DFA1CDA813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1950" y="2783564"/>
              <a:ext cx="396000" cy="396000"/>
            </a:xfrm>
            <a:prstGeom prst="rect">
              <a:avLst/>
            </a:prstGeom>
          </p:spPr>
        </p:pic>
      </p:grpSp>
      <p:sp>
        <p:nvSpPr>
          <p:cNvPr id="49" name="TextBox 48">
            <a:extLst>
              <a:ext uri="{FF2B5EF4-FFF2-40B4-BE49-F238E27FC236}">
                <a16:creationId xmlns:a16="http://schemas.microsoft.com/office/drawing/2014/main" id="{EE251E6C-C005-3CEA-EA29-47FC4CCB09F0}"/>
              </a:ext>
            </a:extLst>
          </p:cNvPr>
          <p:cNvSpPr txBox="1"/>
          <p:nvPr/>
        </p:nvSpPr>
        <p:spPr>
          <a:xfrm>
            <a:off x="2131182" y="2144429"/>
            <a:ext cx="5142818" cy="369332"/>
          </a:xfrm>
          <a:prstGeom prst="rect">
            <a:avLst/>
          </a:prstGeom>
          <a:noFill/>
        </p:spPr>
        <p:txBody>
          <a:bodyPr wrap="none" rtlCol="0">
            <a:spAutoFit/>
          </a:bodyPr>
          <a:lstStyle/>
          <a:p>
            <a:r>
              <a:rPr lang="en-SE" b="1" dirty="0"/>
              <a:t>Select</a:t>
            </a:r>
            <a:r>
              <a:rPr lang="en-SE" dirty="0"/>
              <a:t> a distribution family with maximum entropy</a:t>
            </a:r>
          </a:p>
        </p:txBody>
      </p:sp>
      <p:sp>
        <p:nvSpPr>
          <p:cNvPr id="51" name="TextBox 50">
            <a:extLst>
              <a:ext uri="{FF2B5EF4-FFF2-40B4-BE49-F238E27FC236}">
                <a16:creationId xmlns:a16="http://schemas.microsoft.com/office/drawing/2014/main" id="{DC8FF997-F09D-BA71-9955-F44ED874B95E}"/>
              </a:ext>
            </a:extLst>
          </p:cNvPr>
          <p:cNvSpPr txBox="1"/>
          <p:nvPr/>
        </p:nvSpPr>
        <p:spPr>
          <a:xfrm>
            <a:off x="2131182" y="2758127"/>
            <a:ext cx="6021648" cy="369332"/>
          </a:xfrm>
          <a:prstGeom prst="rect">
            <a:avLst/>
          </a:prstGeom>
          <a:noFill/>
        </p:spPr>
        <p:txBody>
          <a:bodyPr wrap="none" rtlCol="0">
            <a:spAutoFit/>
          </a:bodyPr>
          <a:lstStyle/>
          <a:p>
            <a:r>
              <a:rPr lang="en-SE" b="1" dirty="0"/>
              <a:t>Build</a:t>
            </a:r>
            <a:r>
              <a:rPr lang="en-SE" dirty="0"/>
              <a:t> a regression formula with an appropriate </a:t>
            </a:r>
            <a:r>
              <a:rPr lang="en-SE" i="1" dirty="0"/>
              <a:t>link function</a:t>
            </a:r>
          </a:p>
        </p:txBody>
      </p:sp>
      <p:sp>
        <p:nvSpPr>
          <p:cNvPr id="53" name="TextBox 52">
            <a:extLst>
              <a:ext uri="{FF2B5EF4-FFF2-40B4-BE49-F238E27FC236}">
                <a16:creationId xmlns:a16="http://schemas.microsoft.com/office/drawing/2014/main" id="{78F0F3DC-2065-C7CE-1FE1-1BC460625E22}"/>
              </a:ext>
            </a:extLst>
          </p:cNvPr>
          <p:cNvSpPr txBox="1"/>
          <p:nvPr/>
        </p:nvSpPr>
        <p:spPr>
          <a:xfrm>
            <a:off x="2131182" y="3368047"/>
            <a:ext cx="4979568" cy="369332"/>
          </a:xfrm>
          <a:prstGeom prst="rect">
            <a:avLst/>
          </a:prstGeom>
          <a:noFill/>
        </p:spPr>
        <p:txBody>
          <a:bodyPr wrap="none" rtlCol="0">
            <a:spAutoFit/>
          </a:bodyPr>
          <a:lstStyle/>
          <a:p>
            <a:r>
              <a:rPr lang="en-SE" b="1" dirty="0"/>
              <a:t>Select</a:t>
            </a:r>
            <a:r>
              <a:rPr lang="en-SE" dirty="0"/>
              <a:t> and </a:t>
            </a:r>
            <a:r>
              <a:rPr lang="en-SE" b="1" dirty="0"/>
              <a:t>assess</a:t>
            </a:r>
            <a:r>
              <a:rPr lang="en-SE" dirty="0"/>
              <a:t> prior probability distributions</a:t>
            </a:r>
          </a:p>
        </p:txBody>
      </p:sp>
      <p:sp>
        <p:nvSpPr>
          <p:cNvPr id="55" name="TextBox 54">
            <a:extLst>
              <a:ext uri="{FF2B5EF4-FFF2-40B4-BE49-F238E27FC236}">
                <a16:creationId xmlns:a16="http://schemas.microsoft.com/office/drawing/2014/main" id="{657EE765-D90E-BC2E-4846-19627D8343A6}"/>
              </a:ext>
            </a:extLst>
          </p:cNvPr>
          <p:cNvSpPr txBox="1"/>
          <p:nvPr/>
        </p:nvSpPr>
        <p:spPr>
          <a:xfrm>
            <a:off x="2131182" y="3973521"/>
            <a:ext cx="6375720" cy="369332"/>
          </a:xfrm>
          <a:prstGeom prst="rect">
            <a:avLst/>
          </a:prstGeom>
          <a:noFill/>
        </p:spPr>
        <p:txBody>
          <a:bodyPr wrap="none" rtlCol="0">
            <a:spAutoFit/>
          </a:bodyPr>
          <a:lstStyle/>
          <a:p>
            <a:r>
              <a:rPr lang="en-SE" b="1" dirty="0"/>
              <a:t>Generate</a:t>
            </a:r>
            <a:r>
              <a:rPr lang="en-SE" dirty="0"/>
              <a:t> posteriors with </a:t>
            </a:r>
            <a:r>
              <a:rPr lang="en-SE" i="1" dirty="0"/>
              <a:t>Markov chain Monte Carlo </a:t>
            </a:r>
            <a:r>
              <a:rPr lang="en-SE" dirty="0"/>
              <a:t>algorithms</a:t>
            </a:r>
          </a:p>
        </p:txBody>
      </p:sp>
      <p:sp>
        <p:nvSpPr>
          <p:cNvPr id="57" name="TextBox 56">
            <a:extLst>
              <a:ext uri="{FF2B5EF4-FFF2-40B4-BE49-F238E27FC236}">
                <a16:creationId xmlns:a16="http://schemas.microsoft.com/office/drawing/2014/main" id="{18EBCDE8-C9BD-B20E-CCD2-3BE4B25AA29E}"/>
              </a:ext>
            </a:extLst>
          </p:cNvPr>
          <p:cNvSpPr txBox="1"/>
          <p:nvPr/>
        </p:nvSpPr>
        <p:spPr>
          <a:xfrm>
            <a:off x="2131182" y="4593415"/>
            <a:ext cx="4504503" cy="369332"/>
          </a:xfrm>
          <a:prstGeom prst="rect">
            <a:avLst/>
          </a:prstGeom>
          <a:noFill/>
        </p:spPr>
        <p:txBody>
          <a:bodyPr wrap="none" rtlCol="0">
            <a:spAutoFit/>
          </a:bodyPr>
          <a:lstStyle/>
          <a:p>
            <a:r>
              <a:rPr lang="en-SE" b="1" dirty="0"/>
              <a:t>Assess</a:t>
            </a:r>
            <a:r>
              <a:rPr lang="en-SE" dirty="0"/>
              <a:t> the model fit via training diagnostics</a:t>
            </a:r>
          </a:p>
        </p:txBody>
      </p:sp>
      <p:sp>
        <p:nvSpPr>
          <p:cNvPr id="59" name="TextBox 58">
            <a:extLst>
              <a:ext uri="{FF2B5EF4-FFF2-40B4-BE49-F238E27FC236}">
                <a16:creationId xmlns:a16="http://schemas.microsoft.com/office/drawing/2014/main" id="{17D4B1D9-719B-AB4A-1DAD-BF6D022B3288}"/>
              </a:ext>
            </a:extLst>
          </p:cNvPr>
          <p:cNvSpPr txBox="1"/>
          <p:nvPr/>
        </p:nvSpPr>
        <p:spPr>
          <a:xfrm>
            <a:off x="2131182" y="5215419"/>
            <a:ext cx="6560450" cy="369332"/>
          </a:xfrm>
          <a:prstGeom prst="rect">
            <a:avLst/>
          </a:prstGeom>
          <a:noFill/>
        </p:spPr>
        <p:txBody>
          <a:bodyPr wrap="none" rtlCol="0">
            <a:spAutoFit/>
          </a:bodyPr>
          <a:lstStyle/>
          <a:p>
            <a:r>
              <a:rPr lang="en-SE" b="1" dirty="0"/>
              <a:t>Plot </a:t>
            </a:r>
            <a:r>
              <a:rPr lang="en-SE" dirty="0"/>
              <a:t>marginal effects to draw conclusions from Bayesian models</a:t>
            </a:r>
          </a:p>
        </p:txBody>
      </p:sp>
      <p:grpSp>
        <p:nvGrpSpPr>
          <p:cNvPr id="63" name="Group 62">
            <a:extLst>
              <a:ext uri="{FF2B5EF4-FFF2-40B4-BE49-F238E27FC236}">
                <a16:creationId xmlns:a16="http://schemas.microsoft.com/office/drawing/2014/main" id="{C8D1C820-F351-3542-1CA0-C5C4414CE219}"/>
              </a:ext>
            </a:extLst>
          </p:cNvPr>
          <p:cNvGrpSpPr/>
          <p:nvPr/>
        </p:nvGrpSpPr>
        <p:grpSpPr>
          <a:xfrm>
            <a:off x="1485898" y="2679962"/>
            <a:ext cx="504000" cy="504000"/>
            <a:chOff x="977950" y="2729564"/>
            <a:chExt cx="504000" cy="504000"/>
          </a:xfrm>
        </p:grpSpPr>
        <p:sp>
          <p:nvSpPr>
            <p:cNvPr id="64" name="Oval 63">
              <a:extLst>
                <a:ext uri="{FF2B5EF4-FFF2-40B4-BE49-F238E27FC236}">
                  <a16:creationId xmlns:a16="http://schemas.microsoft.com/office/drawing/2014/main" id="{F469C1C1-839A-601E-6F3C-C4E3CC2F3047}"/>
                </a:ext>
              </a:extLst>
            </p:cNvPr>
            <p:cNvSpPr/>
            <p:nvPr/>
          </p:nvSpPr>
          <p:spPr>
            <a:xfrm>
              <a:off x="977950" y="2729564"/>
              <a:ext cx="504000" cy="504000"/>
            </a:xfrm>
            <a:prstGeom prst="ellips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5" name="Graphic 64" descr="Golden Ratio with solid fill">
              <a:extLst>
                <a:ext uri="{FF2B5EF4-FFF2-40B4-BE49-F238E27FC236}">
                  <a16:creationId xmlns:a16="http://schemas.microsoft.com/office/drawing/2014/main" id="{984EE754-B28F-0C25-66CF-E84126F81D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950" y="2783564"/>
              <a:ext cx="396000" cy="396000"/>
            </a:xfrm>
            <a:prstGeom prst="rect">
              <a:avLst/>
            </a:prstGeom>
          </p:spPr>
        </p:pic>
      </p:grpSp>
      <p:grpSp>
        <p:nvGrpSpPr>
          <p:cNvPr id="66" name="Group 65">
            <a:extLst>
              <a:ext uri="{FF2B5EF4-FFF2-40B4-BE49-F238E27FC236}">
                <a16:creationId xmlns:a16="http://schemas.microsoft.com/office/drawing/2014/main" id="{2D42B42C-1710-7202-DF06-8F157C41BC3B}"/>
              </a:ext>
            </a:extLst>
          </p:cNvPr>
          <p:cNvGrpSpPr/>
          <p:nvPr/>
        </p:nvGrpSpPr>
        <p:grpSpPr>
          <a:xfrm>
            <a:off x="1485898" y="3293659"/>
            <a:ext cx="504000" cy="504000"/>
            <a:chOff x="977950" y="2729564"/>
            <a:chExt cx="504000" cy="504000"/>
          </a:xfrm>
        </p:grpSpPr>
        <p:sp>
          <p:nvSpPr>
            <p:cNvPr id="67" name="Oval 66">
              <a:extLst>
                <a:ext uri="{FF2B5EF4-FFF2-40B4-BE49-F238E27FC236}">
                  <a16:creationId xmlns:a16="http://schemas.microsoft.com/office/drawing/2014/main" id="{E54FC720-3673-185A-D016-DF9A9DA7EC66}"/>
                </a:ext>
              </a:extLst>
            </p:cNvPr>
            <p:cNvSpPr/>
            <p:nvPr/>
          </p:nvSpPr>
          <p:spPr>
            <a:xfrm>
              <a:off x="977950" y="2729564"/>
              <a:ext cx="504000" cy="504000"/>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8" name="Graphic 67" descr="Normal Distribution with solid fill">
              <a:extLst>
                <a:ext uri="{FF2B5EF4-FFF2-40B4-BE49-F238E27FC236}">
                  <a16:creationId xmlns:a16="http://schemas.microsoft.com/office/drawing/2014/main" id="{E803DB5B-54BB-6E68-7C27-35994B8CD6EE}"/>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31950" y="2783564"/>
              <a:ext cx="396000" cy="396000"/>
            </a:xfrm>
            <a:prstGeom prst="rect">
              <a:avLst/>
            </a:prstGeom>
          </p:spPr>
        </p:pic>
      </p:grpSp>
      <p:grpSp>
        <p:nvGrpSpPr>
          <p:cNvPr id="69" name="Group 68">
            <a:extLst>
              <a:ext uri="{FF2B5EF4-FFF2-40B4-BE49-F238E27FC236}">
                <a16:creationId xmlns:a16="http://schemas.microsoft.com/office/drawing/2014/main" id="{13B65BF5-3595-ACA8-3913-06D908850749}"/>
              </a:ext>
            </a:extLst>
          </p:cNvPr>
          <p:cNvGrpSpPr/>
          <p:nvPr/>
        </p:nvGrpSpPr>
        <p:grpSpPr>
          <a:xfrm>
            <a:off x="1485898" y="3907356"/>
            <a:ext cx="504000" cy="504000"/>
            <a:chOff x="977950" y="2729564"/>
            <a:chExt cx="504000" cy="504000"/>
          </a:xfrm>
        </p:grpSpPr>
        <p:sp>
          <p:nvSpPr>
            <p:cNvPr id="70" name="Oval 69">
              <a:extLst>
                <a:ext uri="{FF2B5EF4-FFF2-40B4-BE49-F238E27FC236}">
                  <a16:creationId xmlns:a16="http://schemas.microsoft.com/office/drawing/2014/main" id="{3B6451A7-6EEF-1AF5-B9FC-32A7091BE2AB}"/>
                </a:ext>
              </a:extLst>
            </p:cNvPr>
            <p:cNvSpPr/>
            <p:nvPr/>
          </p:nvSpPr>
          <p:spPr>
            <a:xfrm>
              <a:off x="977950" y="2729564"/>
              <a:ext cx="504000" cy="504000"/>
            </a:xfrm>
            <a:prstGeom prst="ellipse">
              <a:avLst/>
            </a:prstGeom>
            <a:solidFill>
              <a:srgbClr val="4300E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71" name="Graphic 70" descr="Abacus with solid fill">
              <a:extLst>
                <a:ext uri="{FF2B5EF4-FFF2-40B4-BE49-F238E27FC236}">
                  <a16:creationId xmlns:a16="http://schemas.microsoft.com/office/drawing/2014/main" id="{32BA96E0-7DC3-B282-A529-4DECAA55BF1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1950" y="2783564"/>
              <a:ext cx="396000" cy="396000"/>
            </a:xfrm>
            <a:prstGeom prst="rect">
              <a:avLst/>
            </a:prstGeom>
          </p:spPr>
        </p:pic>
      </p:grpSp>
      <p:grpSp>
        <p:nvGrpSpPr>
          <p:cNvPr id="72" name="Group 71">
            <a:extLst>
              <a:ext uri="{FF2B5EF4-FFF2-40B4-BE49-F238E27FC236}">
                <a16:creationId xmlns:a16="http://schemas.microsoft.com/office/drawing/2014/main" id="{B93B09F9-393A-3A9D-4CCF-DB908E9149A1}"/>
              </a:ext>
            </a:extLst>
          </p:cNvPr>
          <p:cNvGrpSpPr/>
          <p:nvPr/>
        </p:nvGrpSpPr>
        <p:grpSpPr>
          <a:xfrm>
            <a:off x="1485898" y="4521053"/>
            <a:ext cx="504000" cy="504000"/>
            <a:chOff x="977950" y="2729564"/>
            <a:chExt cx="504000" cy="504000"/>
          </a:xfrm>
        </p:grpSpPr>
        <p:sp>
          <p:nvSpPr>
            <p:cNvPr id="73" name="Oval 72">
              <a:extLst>
                <a:ext uri="{FF2B5EF4-FFF2-40B4-BE49-F238E27FC236}">
                  <a16:creationId xmlns:a16="http://schemas.microsoft.com/office/drawing/2014/main" id="{08B5BC3C-CCD7-10AB-57C7-838E202E2008}"/>
                </a:ext>
              </a:extLst>
            </p:cNvPr>
            <p:cNvSpPr/>
            <p:nvPr/>
          </p:nvSpPr>
          <p:spPr>
            <a:xfrm>
              <a:off x="977950" y="2729564"/>
              <a:ext cx="504000" cy="504000"/>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74" name="Graphic 73" descr="Trigonometry with solid fill">
              <a:extLst>
                <a:ext uri="{FF2B5EF4-FFF2-40B4-BE49-F238E27FC236}">
                  <a16:creationId xmlns:a16="http://schemas.microsoft.com/office/drawing/2014/main" id="{E0FB2606-F64F-1203-A86C-7C58271B6577}"/>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031950" y="2783564"/>
              <a:ext cx="396000" cy="396000"/>
            </a:xfrm>
            <a:prstGeom prst="rect">
              <a:avLst/>
            </a:prstGeom>
          </p:spPr>
        </p:pic>
      </p:grpSp>
      <p:grpSp>
        <p:nvGrpSpPr>
          <p:cNvPr id="78" name="Group 77">
            <a:extLst>
              <a:ext uri="{FF2B5EF4-FFF2-40B4-BE49-F238E27FC236}">
                <a16:creationId xmlns:a16="http://schemas.microsoft.com/office/drawing/2014/main" id="{E51C37E0-8191-D1A5-CB9C-B361C110CB84}"/>
              </a:ext>
            </a:extLst>
          </p:cNvPr>
          <p:cNvGrpSpPr/>
          <p:nvPr/>
        </p:nvGrpSpPr>
        <p:grpSpPr>
          <a:xfrm>
            <a:off x="1485898" y="5134751"/>
            <a:ext cx="504000" cy="504000"/>
            <a:chOff x="977950" y="2729564"/>
            <a:chExt cx="504000" cy="504000"/>
          </a:xfrm>
        </p:grpSpPr>
        <p:sp>
          <p:nvSpPr>
            <p:cNvPr id="79" name="Oval 78">
              <a:extLst>
                <a:ext uri="{FF2B5EF4-FFF2-40B4-BE49-F238E27FC236}">
                  <a16:creationId xmlns:a16="http://schemas.microsoft.com/office/drawing/2014/main" id="{18E9E092-C3D3-8C10-3508-1509F6623B15}"/>
                </a:ext>
              </a:extLst>
            </p:cNvPr>
            <p:cNvSpPr/>
            <p:nvPr/>
          </p:nvSpPr>
          <p:spPr>
            <a:xfrm>
              <a:off x="977950" y="2729564"/>
              <a:ext cx="504000" cy="504000"/>
            </a:xfrm>
            <a:prstGeom prst="ellipse">
              <a:avLst/>
            </a:prstGeom>
            <a:solidFill>
              <a:schemeClr val="accent6">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80" name="Graphic 79" descr="Scatterplot with solid fill">
              <a:extLst>
                <a:ext uri="{FF2B5EF4-FFF2-40B4-BE49-F238E27FC236}">
                  <a16:creationId xmlns:a16="http://schemas.microsoft.com/office/drawing/2014/main" id="{B3CFF7CF-5A10-04C5-8301-607493C86056}"/>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31950" y="2783564"/>
              <a:ext cx="396000" cy="396000"/>
            </a:xfrm>
            <a:prstGeom prst="rect">
              <a:avLst/>
            </a:prstGeom>
          </p:spPr>
        </p:pic>
      </p:grpSp>
      <p:cxnSp>
        <p:nvCxnSpPr>
          <p:cNvPr id="82" name="Straight Arrow Connector 81">
            <a:extLst>
              <a:ext uri="{FF2B5EF4-FFF2-40B4-BE49-F238E27FC236}">
                <a16:creationId xmlns:a16="http://schemas.microsoft.com/office/drawing/2014/main" id="{E9532236-CA40-415F-EA31-C4F5A52A1F28}"/>
              </a:ext>
            </a:extLst>
          </p:cNvPr>
          <p:cNvCxnSpPr>
            <a:stCxn id="2" idx="4"/>
            <a:endCxn id="64" idx="0"/>
          </p:cNvCxnSpPr>
          <p:nvPr/>
        </p:nvCxnSpPr>
        <p:spPr>
          <a:xfrm>
            <a:off x="1737898" y="2570265"/>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3" name="Straight Arrow Connector 82">
            <a:extLst>
              <a:ext uri="{FF2B5EF4-FFF2-40B4-BE49-F238E27FC236}">
                <a16:creationId xmlns:a16="http://schemas.microsoft.com/office/drawing/2014/main" id="{19EC51EB-0E24-A4ED-AE21-0BDA428D9992}"/>
              </a:ext>
            </a:extLst>
          </p:cNvPr>
          <p:cNvCxnSpPr>
            <a:cxnSpLocks/>
            <a:stCxn id="64" idx="4"/>
            <a:endCxn id="67" idx="0"/>
          </p:cNvCxnSpPr>
          <p:nvPr/>
        </p:nvCxnSpPr>
        <p:spPr>
          <a:xfrm>
            <a:off x="1737898" y="3183962"/>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6" name="Straight Arrow Connector 85">
            <a:extLst>
              <a:ext uri="{FF2B5EF4-FFF2-40B4-BE49-F238E27FC236}">
                <a16:creationId xmlns:a16="http://schemas.microsoft.com/office/drawing/2014/main" id="{2914DE51-6D47-FA99-0E15-651DE2FCC2E4}"/>
              </a:ext>
            </a:extLst>
          </p:cNvPr>
          <p:cNvCxnSpPr>
            <a:cxnSpLocks/>
            <a:stCxn id="67" idx="4"/>
            <a:endCxn id="70" idx="0"/>
          </p:cNvCxnSpPr>
          <p:nvPr/>
        </p:nvCxnSpPr>
        <p:spPr>
          <a:xfrm>
            <a:off x="1737898" y="3797659"/>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9" name="Straight Arrow Connector 88">
            <a:extLst>
              <a:ext uri="{FF2B5EF4-FFF2-40B4-BE49-F238E27FC236}">
                <a16:creationId xmlns:a16="http://schemas.microsoft.com/office/drawing/2014/main" id="{706E04A0-641E-FC93-B052-6DC91FF2D907}"/>
              </a:ext>
            </a:extLst>
          </p:cNvPr>
          <p:cNvCxnSpPr>
            <a:cxnSpLocks/>
            <a:stCxn id="70" idx="4"/>
            <a:endCxn id="73" idx="0"/>
          </p:cNvCxnSpPr>
          <p:nvPr/>
        </p:nvCxnSpPr>
        <p:spPr>
          <a:xfrm>
            <a:off x="1737898" y="4411356"/>
            <a:ext cx="0" cy="109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2" name="Straight Arrow Connector 91">
            <a:extLst>
              <a:ext uri="{FF2B5EF4-FFF2-40B4-BE49-F238E27FC236}">
                <a16:creationId xmlns:a16="http://schemas.microsoft.com/office/drawing/2014/main" id="{AC3AB704-A2F7-9EB4-877A-04432004AC82}"/>
              </a:ext>
            </a:extLst>
          </p:cNvPr>
          <p:cNvCxnSpPr>
            <a:cxnSpLocks/>
            <a:stCxn id="73" idx="4"/>
            <a:endCxn id="79" idx="0"/>
          </p:cNvCxnSpPr>
          <p:nvPr/>
        </p:nvCxnSpPr>
        <p:spPr>
          <a:xfrm>
            <a:off x="1737898" y="5025053"/>
            <a:ext cx="0" cy="1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 name="Footer Placeholder 2">
            <a:extLst>
              <a:ext uri="{FF2B5EF4-FFF2-40B4-BE49-F238E27FC236}">
                <a16:creationId xmlns:a16="http://schemas.microsoft.com/office/drawing/2014/main" id="{D7000CFB-4EB9-2E84-96B8-AE0C28758080}"/>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41238261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3E5CE-80FE-38FB-8A05-21D0BAD0CF62}"/>
              </a:ext>
            </a:extLst>
          </p:cNvPr>
          <p:cNvSpPr>
            <a:spLocks noGrp="1"/>
          </p:cNvSpPr>
          <p:nvPr>
            <p:ph type="title"/>
          </p:nvPr>
        </p:nvSpPr>
        <p:spPr/>
        <p:txBody>
          <a:bodyPr/>
          <a:lstStyle/>
          <a:p>
            <a:r>
              <a:rPr lang="en-US" noProof="0" dirty="0"/>
              <a:t>Learning Path</a:t>
            </a:r>
          </a:p>
        </p:txBody>
      </p:sp>
      <p:sp>
        <p:nvSpPr>
          <p:cNvPr id="3" name="Text Placeholder 2">
            <a:extLst>
              <a:ext uri="{FF2B5EF4-FFF2-40B4-BE49-F238E27FC236}">
                <a16:creationId xmlns:a16="http://schemas.microsoft.com/office/drawing/2014/main" id="{C8B58632-5553-D592-10A9-F7877A68551D}"/>
              </a:ext>
            </a:extLst>
          </p:cNvPr>
          <p:cNvSpPr>
            <a:spLocks noGrp="1"/>
          </p:cNvSpPr>
          <p:nvPr>
            <p:ph type="body" idx="1"/>
          </p:nvPr>
        </p:nvSpPr>
        <p:spPr/>
        <p:txBody>
          <a:bodyPr/>
          <a:lstStyle/>
          <a:p>
            <a:endParaRPr lang="en-US" noProof="0" dirty="0"/>
          </a:p>
        </p:txBody>
      </p:sp>
      <p:sp>
        <p:nvSpPr>
          <p:cNvPr id="4" name="Date Placeholder 3">
            <a:extLst>
              <a:ext uri="{FF2B5EF4-FFF2-40B4-BE49-F238E27FC236}">
                <a16:creationId xmlns:a16="http://schemas.microsoft.com/office/drawing/2014/main" id="{D8DA4424-790B-9C28-BE4E-C80F76D3FA18}"/>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2B5A2FE9-68EF-E43B-26A2-4EC6DAA971AB}"/>
              </a:ext>
            </a:extLst>
          </p:cNvPr>
          <p:cNvSpPr>
            <a:spLocks noGrp="1"/>
          </p:cNvSpPr>
          <p:nvPr>
            <p:ph type="sldNum" sz="quarter" idx="12"/>
          </p:nvPr>
        </p:nvSpPr>
        <p:spPr/>
        <p:txBody>
          <a:bodyPr/>
          <a:lstStyle/>
          <a:p>
            <a:fld id="{271ECC92-9CDE-4EB3-B1C5-F46B9E1FA3C1}" type="slidenum">
              <a:rPr lang="en-US" noProof="0" smtClean="0"/>
              <a:t>86</a:t>
            </a:fld>
            <a:endParaRPr lang="en-US" noProof="0" dirty="0"/>
          </a:p>
        </p:txBody>
      </p:sp>
      <p:sp>
        <p:nvSpPr>
          <p:cNvPr id="6" name="Footer Placeholder 5">
            <a:extLst>
              <a:ext uri="{FF2B5EF4-FFF2-40B4-BE49-F238E27FC236}">
                <a16:creationId xmlns:a16="http://schemas.microsoft.com/office/drawing/2014/main" id="{12193558-E863-8AE4-3BC8-B234513A0E44}"/>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20199397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7472275-F0E3-7AED-64C9-348AAA06F003}"/>
              </a:ext>
            </a:extLst>
          </p:cNvPr>
          <p:cNvSpPr>
            <a:spLocks noGrp="1"/>
          </p:cNvSpPr>
          <p:nvPr>
            <p:ph type="title"/>
          </p:nvPr>
        </p:nvSpPr>
        <p:spPr/>
        <p:txBody>
          <a:bodyPr/>
          <a:lstStyle/>
          <a:p>
            <a:r>
              <a:rPr lang="en-SE" dirty="0"/>
              <a:t>Learning Bayesian Data Analysis</a:t>
            </a:r>
          </a:p>
        </p:txBody>
      </p:sp>
      <p:sp>
        <p:nvSpPr>
          <p:cNvPr id="8" name="Content Placeholder 7">
            <a:extLst>
              <a:ext uri="{FF2B5EF4-FFF2-40B4-BE49-F238E27FC236}">
                <a16:creationId xmlns:a16="http://schemas.microsoft.com/office/drawing/2014/main" id="{FC7B1518-D965-5493-EB33-0FFC54555A67}"/>
              </a:ext>
            </a:extLst>
          </p:cNvPr>
          <p:cNvSpPr>
            <a:spLocks noGrp="1"/>
          </p:cNvSpPr>
          <p:nvPr>
            <p:ph idx="1"/>
          </p:nvPr>
        </p:nvSpPr>
        <p:spPr/>
        <p:txBody>
          <a:bodyPr/>
          <a:lstStyle/>
          <a:p>
            <a:pPr marL="0" indent="0">
              <a:buNone/>
            </a:pPr>
            <a:r>
              <a:rPr lang="en-SE" dirty="0"/>
              <a:t>If you have (1) a causal hypothesis and (2) quantitative data about its variables, you can start on your own BDA path by:</a:t>
            </a:r>
          </a:p>
          <a:p>
            <a:pPr marL="514350" indent="-514350">
              <a:buFont typeface="+mj-lt"/>
              <a:buAutoNum type="arabicPeriod"/>
            </a:pPr>
            <a:r>
              <a:rPr lang="en-SE" sz="2400" b="1" dirty="0"/>
              <a:t>Setting up Stan</a:t>
            </a:r>
            <a:r>
              <a:rPr lang="en-SE" sz="2400" dirty="0"/>
              <a:t>: The computational engine behind contemporary BDA approaches is Stan (</a:t>
            </a:r>
            <a:r>
              <a:rPr lang="de-DE" sz="2400" dirty="0">
                <a:hlinkClick r:id="rId2"/>
              </a:rPr>
              <a:t>https://mc-stan.org/</a:t>
            </a:r>
            <a:r>
              <a:rPr lang="en-SE" sz="2400" dirty="0"/>
              <a:t>). Most programming languages have an interface for it (e.g., </a:t>
            </a:r>
            <a:r>
              <a:rPr lang="en-SE" sz="2400" dirty="0">
                <a:latin typeface="Courier New" panose="02070309020205020404" pitchFamily="49" charset="0"/>
                <a:cs typeface="Courier New" panose="02070309020205020404" pitchFamily="49" charset="0"/>
              </a:rPr>
              <a:t>brms</a:t>
            </a:r>
            <a:r>
              <a:rPr lang="en-SE" sz="2400" dirty="0"/>
              <a:t> in R) </a:t>
            </a:r>
          </a:p>
          <a:p>
            <a:pPr marL="514350" indent="-514350">
              <a:buFont typeface="+mj-lt"/>
              <a:buAutoNum type="arabicPeriod"/>
            </a:pPr>
            <a:r>
              <a:rPr lang="en-SE" sz="2400" b="1" dirty="0"/>
              <a:t>Testing the Bayesian workflow</a:t>
            </a:r>
            <a:r>
              <a:rPr lang="en-SE" sz="2400" dirty="0"/>
              <a:t>: Follow the basic BDA workflow presented in this tutorial to derive inferential conclusions from raw data.</a:t>
            </a:r>
          </a:p>
          <a:p>
            <a:pPr marL="514350" indent="-514350">
              <a:buFont typeface="+mj-lt"/>
              <a:buAutoNum type="arabicPeriod"/>
            </a:pPr>
            <a:r>
              <a:rPr lang="en-SE" sz="2400" b="1" dirty="0"/>
              <a:t>Learn distributions:</a:t>
            </a:r>
            <a:r>
              <a:rPr lang="en-SE" sz="2400" dirty="0"/>
              <a:t> The full potential of BDA is unlocked when mastering different distributions to represent response variables.</a:t>
            </a:r>
            <a:endParaRPr lang="en-SE" sz="2400" b="1" dirty="0"/>
          </a:p>
        </p:txBody>
      </p:sp>
      <p:sp>
        <p:nvSpPr>
          <p:cNvPr id="4" name="Date Placeholder 3">
            <a:extLst>
              <a:ext uri="{FF2B5EF4-FFF2-40B4-BE49-F238E27FC236}">
                <a16:creationId xmlns:a16="http://schemas.microsoft.com/office/drawing/2014/main" id="{91612153-2017-F8DE-C117-9970D8BB79F9}"/>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A66D8C92-44DD-DDFF-9ABC-04C98CBC397A}"/>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C1D8660E-F53A-50B5-63F2-DFA08C9CC7A5}"/>
              </a:ext>
            </a:extLst>
          </p:cNvPr>
          <p:cNvSpPr>
            <a:spLocks noGrp="1"/>
          </p:cNvSpPr>
          <p:nvPr>
            <p:ph type="sldNum" sz="quarter" idx="12"/>
          </p:nvPr>
        </p:nvSpPr>
        <p:spPr/>
        <p:txBody>
          <a:bodyPr/>
          <a:lstStyle/>
          <a:p>
            <a:fld id="{271ECC92-9CDE-4EB3-B1C5-F46B9E1FA3C1}" type="slidenum">
              <a:rPr lang="en-SE" smtClean="0"/>
              <a:t>87</a:t>
            </a:fld>
            <a:endParaRPr lang="en-SE"/>
          </a:p>
        </p:txBody>
      </p:sp>
    </p:spTree>
    <p:extLst>
      <p:ext uri="{BB962C8B-B14F-4D97-AF65-F5344CB8AC3E}">
        <p14:creationId xmlns:p14="http://schemas.microsoft.com/office/powerpoint/2010/main" val="3566899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C4048-5FA3-1881-7AC4-D76503033A64}"/>
              </a:ext>
            </a:extLst>
          </p:cNvPr>
          <p:cNvSpPr>
            <a:spLocks noGrp="1"/>
          </p:cNvSpPr>
          <p:nvPr>
            <p:ph type="title"/>
          </p:nvPr>
        </p:nvSpPr>
        <p:spPr/>
        <p:txBody>
          <a:bodyPr/>
          <a:lstStyle/>
          <a:p>
            <a:r>
              <a:rPr lang="en-SE" dirty="0"/>
              <a:t>Distributions</a:t>
            </a:r>
          </a:p>
        </p:txBody>
      </p:sp>
      <p:sp>
        <p:nvSpPr>
          <p:cNvPr id="3" name="Content Placeholder 2">
            <a:extLst>
              <a:ext uri="{FF2B5EF4-FFF2-40B4-BE49-F238E27FC236}">
                <a16:creationId xmlns:a16="http://schemas.microsoft.com/office/drawing/2014/main" id="{D31F3DE7-8AAB-A4AB-898E-E1A71C95742A}"/>
              </a:ext>
            </a:extLst>
          </p:cNvPr>
          <p:cNvSpPr>
            <a:spLocks noGrp="1"/>
          </p:cNvSpPr>
          <p:nvPr>
            <p:ph idx="1"/>
          </p:nvPr>
        </p:nvSpPr>
        <p:spPr>
          <a:xfrm>
            <a:off x="838200" y="1825625"/>
            <a:ext cx="10515600" cy="1120775"/>
          </a:xfrm>
        </p:spPr>
        <p:txBody>
          <a:bodyPr>
            <a:normAutofit/>
          </a:bodyPr>
          <a:lstStyle/>
          <a:p>
            <a:pPr marL="0" indent="0">
              <a:buNone/>
            </a:pPr>
            <a:r>
              <a:rPr lang="en-SE" dirty="0"/>
              <a:t>When learning distributions in addition to the normal distribution, consider the following:</a:t>
            </a:r>
          </a:p>
        </p:txBody>
      </p:sp>
      <p:sp>
        <p:nvSpPr>
          <p:cNvPr id="4" name="Date Placeholder 3">
            <a:extLst>
              <a:ext uri="{FF2B5EF4-FFF2-40B4-BE49-F238E27FC236}">
                <a16:creationId xmlns:a16="http://schemas.microsoft.com/office/drawing/2014/main" id="{5F47DBB2-D195-55BE-C4E3-AEDCD2F7B937}"/>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714257D0-C612-A945-86F7-43B89874B8C9}"/>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0904B0C7-0C62-26F8-295E-FCFD248DF886}"/>
              </a:ext>
            </a:extLst>
          </p:cNvPr>
          <p:cNvSpPr>
            <a:spLocks noGrp="1"/>
          </p:cNvSpPr>
          <p:nvPr>
            <p:ph type="sldNum" sz="quarter" idx="12"/>
          </p:nvPr>
        </p:nvSpPr>
        <p:spPr/>
        <p:txBody>
          <a:bodyPr/>
          <a:lstStyle/>
          <a:p>
            <a:fld id="{271ECC92-9CDE-4EB3-B1C5-F46B9E1FA3C1}" type="slidenum">
              <a:rPr lang="en-SE" smtClean="0"/>
              <a:t>88</a:t>
            </a:fld>
            <a:endParaRPr lang="en-SE"/>
          </a:p>
        </p:txBody>
      </p:sp>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BFF8932A-5250-4BE1-039D-11380318B427}"/>
                  </a:ext>
                </a:extLst>
              </p:cNvPr>
              <p:cNvGraphicFramePr>
                <a:graphicFrameLocks noGrp="1"/>
              </p:cNvGraphicFramePr>
              <p:nvPr>
                <p:extLst>
                  <p:ext uri="{D42A27DB-BD31-4B8C-83A1-F6EECF244321}">
                    <p14:modId xmlns:p14="http://schemas.microsoft.com/office/powerpoint/2010/main" val="2483596394"/>
                  </p:ext>
                </p:extLst>
              </p:nvPr>
            </p:nvGraphicFramePr>
            <p:xfrm>
              <a:off x="838198" y="2933700"/>
              <a:ext cx="10515600" cy="2782951"/>
            </p:xfrm>
            <a:graphic>
              <a:graphicData uri="http://schemas.openxmlformats.org/drawingml/2006/table">
                <a:tbl>
                  <a:tblPr firstRow="1" bandRow="1">
                    <a:tableStyleId>{00A15C55-8517-42AA-B614-E9B94910E393}</a:tableStyleId>
                  </a:tblPr>
                  <a:tblGrid>
                    <a:gridCol w="1905002">
                      <a:extLst>
                        <a:ext uri="{9D8B030D-6E8A-4147-A177-3AD203B41FA5}">
                          <a16:colId xmlns:a16="http://schemas.microsoft.com/office/drawing/2014/main" val="2715434313"/>
                        </a:ext>
                      </a:extLst>
                    </a:gridCol>
                    <a:gridCol w="5143500">
                      <a:extLst>
                        <a:ext uri="{9D8B030D-6E8A-4147-A177-3AD203B41FA5}">
                          <a16:colId xmlns:a16="http://schemas.microsoft.com/office/drawing/2014/main" val="2830016121"/>
                        </a:ext>
                      </a:extLst>
                    </a:gridCol>
                    <a:gridCol w="3467098">
                      <a:extLst>
                        <a:ext uri="{9D8B030D-6E8A-4147-A177-3AD203B41FA5}">
                          <a16:colId xmlns:a16="http://schemas.microsoft.com/office/drawing/2014/main" val="1331585561"/>
                        </a:ext>
                      </a:extLst>
                    </a:gridCol>
                  </a:tblGrid>
                  <a:tr h="370840">
                    <a:tc>
                      <a:txBody>
                        <a:bodyPr/>
                        <a:lstStyle/>
                        <a:p>
                          <a:r>
                            <a:rPr lang="en-SE" dirty="0"/>
                            <a:t>Name</a:t>
                          </a:r>
                        </a:p>
                      </a:txBody>
                      <a:tcPr/>
                    </a:tc>
                    <a:tc>
                      <a:txBody>
                        <a:bodyPr/>
                        <a:lstStyle/>
                        <a:p>
                          <a:r>
                            <a:rPr lang="en-SE" dirty="0"/>
                            <a:t>Description</a:t>
                          </a:r>
                        </a:p>
                      </a:txBody>
                      <a:tcPr/>
                    </a:tc>
                    <a:tc>
                      <a:txBody>
                        <a:bodyPr/>
                        <a:lstStyle/>
                        <a:p>
                          <a:r>
                            <a:rPr lang="en-SE" dirty="0"/>
                            <a:t>Examples</a:t>
                          </a:r>
                        </a:p>
                      </a:txBody>
                      <a:tcPr/>
                    </a:tc>
                    <a:extLst>
                      <a:ext uri="{0D108BD9-81ED-4DB2-BD59-A6C34878D82A}">
                        <a16:rowId xmlns:a16="http://schemas.microsoft.com/office/drawing/2014/main" val="3447700393"/>
                      </a:ext>
                    </a:extLst>
                  </a:tr>
                  <a:tr h="370840">
                    <a:tc>
                      <a:txBody>
                        <a:bodyPr/>
                        <a:lstStyle/>
                        <a:p>
                          <a:r>
                            <a:rPr lang="en-SE" b="1" dirty="0"/>
                            <a:t>Binomial</a:t>
                          </a:r>
                        </a:p>
                      </a:txBody>
                      <a:tcPr/>
                    </a:tc>
                    <a:tc>
                      <a:txBody>
                        <a:bodyPr/>
                        <a:lstStyle/>
                        <a:p>
                          <a14:m>
                            <m:oMath xmlns:m="http://schemas.openxmlformats.org/officeDocument/2006/math">
                              <m:r>
                                <a:rPr lang="en-SE" b="0" smtClean="0"/>
                                <m:t>𝑛</m:t>
                              </m:r>
                            </m:oMath>
                          </a14:m>
                          <a:r>
                            <a:rPr lang="en-SE" dirty="0"/>
                            <a:t> independent</a:t>
                          </a:r>
                          <a:r>
                            <a:rPr lang="en-SE" baseline="0" dirty="0"/>
                            <a:t> trials with a success rate of </a:t>
                          </a:r>
                          <a14:m>
                            <m:oMath xmlns:m="http://schemas.openxmlformats.org/officeDocument/2006/math">
                              <m:r>
                                <a:rPr lang="en-SE" b="0" baseline="0" smtClean="0"/>
                                <m:t>𝑝</m:t>
                              </m:r>
                            </m:oMath>
                          </a14:m>
                          <a:r>
                            <a:rPr lang="en-SE" dirty="0"/>
                            <a:t> for each trial</a:t>
                          </a:r>
                        </a:p>
                      </a:txBody>
                      <a:tcPr/>
                    </a:tc>
                    <a:tc>
                      <a:txBody>
                        <a:bodyPr/>
                        <a:lstStyle/>
                        <a:p>
                          <a:r>
                            <a:rPr lang="en-SE" dirty="0"/>
                            <a:t>Identifying each bug in </a:t>
                          </a:r>
                          <a14:m>
                            <m:oMath xmlns:m="http://schemas.openxmlformats.org/officeDocument/2006/math">
                              <m:r>
                                <a:rPr lang="en-SE" b="0" smtClean="0">
                                  <a:latin typeface="Cambria Math" panose="02040503050406030204" pitchFamily="18" charset="0"/>
                                </a:rPr>
                                <m:t>𝑛</m:t>
                              </m:r>
                            </m:oMath>
                          </a14:m>
                          <a:r>
                            <a:rPr lang="en-SE" dirty="0"/>
                            <a:t> codes</a:t>
                          </a:r>
                          <a:r>
                            <a:rPr lang="en-SE" baseline="0" dirty="0"/>
                            <a:t> snippets</a:t>
                          </a:r>
                          <a:endParaRPr lang="en-SE" dirty="0"/>
                        </a:p>
                      </a:txBody>
                      <a:tcPr/>
                    </a:tc>
                    <a:extLst>
                      <a:ext uri="{0D108BD9-81ED-4DB2-BD59-A6C34878D82A}">
                        <a16:rowId xmlns:a16="http://schemas.microsoft.com/office/drawing/2014/main" val="2500250534"/>
                      </a:ext>
                    </a:extLst>
                  </a:tr>
                  <a:tr h="370840">
                    <a:tc>
                      <a:txBody>
                        <a:bodyPr/>
                        <a:lstStyle/>
                        <a:p>
                          <a:r>
                            <a:rPr lang="en-SE" b="1" dirty="0"/>
                            <a:t>Poisson/Pascal</a:t>
                          </a:r>
                        </a:p>
                      </a:txBody>
                      <a:tcPr/>
                    </a:tc>
                    <a:tc>
                      <a:txBody>
                        <a:bodyPr/>
                        <a:lstStyle/>
                        <a:p>
                          <a:r>
                            <a:rPr lang="en-SE" dirty="0"/>
                            <a:t>Discrete count of events</a:t>
                          </a:r>
                        </a:p>
                      </a:txBody>
                      <a:tcPr/>
                    </a:tc>
                    <a:tc>
                      <a:txBody>
                        <a:bodyPr/>
                        <a:lstStyle/>
                        <a:p>
                          <a:r>
                            <a:rPr lang="en-SE" dirty="0"/>
                            <a:t>Count of identified bugs</a:t>
                          </a:r>
                        </a:p>
                      </a:txBody>
                      <a:tcPr/>
                    </a:tc>
                    <a:extLst>
                      <a:ext uri="{0D108BD9-81ED-4DB2-BD59-A6C34878D82A}">
                        <a16:rowId xmlns:a16="http://schemas.microsoft.com/office/drawing/2014/main" val="561456013"/>
                      </a:ext>
                    </a:extLst>
                  </a:tr>
                  <a:tr h="370840">
                    <a:tc>
                      <a:txBody>
                        <a:bodyPr/>
                        <a:lstStyle/>
                        <a:p>
                          <a:r>
                            <a:rPr lang="en-SE" b="1" dirty="0"/>
                            <a:t>Categorical</a:t>
                          </a:r>
                        </a:p>
                      </a:txBody>
                      <a:tcPr/>
                    </a:tc>
                    <a:tc>
                      <a:txBody>
                        <a:bodyPr/>
                        <a:lstStyle/>
                        <a:p>
                          <a:r>
                            <a:rPr lang="en-SE" dirty="0"/>
                            <a:t>Extension of the binary response with </a:t>
                          </a:r>
                          <a14:m>
                            <m:oMath xmlns:m="http://schemas.openxmlformats.org/officeDocument/2006/math">
                              <m:r>
                                <m:rPr>
                                  <m:sty m:val="p"/>
                                </m:rPr>
                                <a:rPr lang="en-SE" b="0" i="0" smtClean="0">
                                  <a:latin typeface="Cambria Math" panose="02040503050406030204" pitchFamily="18" charset="0"/>
                                </a:rPr>
                                <m:t>k</m:t>
                              </m:r>
                            </m:oMath>
                          </a14:m>
                          <a:r>
                            <a:rPr lang="en-SE" dirty="0"/>
                            <a:t> independent categories </a:t>
                          </a:r>
                        </a:p>
                      </a:txBody>
                      <a:tcPr/>
                    </a:tc>
                    <a:tc>
                      <a:txBody>
                        <a:bodyPr/>
                        <a:lstStyle/>
                        <a:p>
                          <a:r>
                            <a:rPr lang="en-SE" dirty="0"/>
                            <a:t>Single-choice response</a:t>
                          </a:r>
                        </a:p>
                      </a:txBody>
                      <a:tcPr/>
                    </a:tc>
                    <a:extLst>
                      <a:ext uri="{0D108BD9-81ED-4DB2-BD59-A6C34878D82A}">
                        <a16:rowId xmlns:a16="http://schemas.microsoft.com/office/drawing/2014/main" val="2532135561"/>
                      </a:ext>
                    </a:extLst>
                  </a:tr>
                  <a:tr h="370840">
                    <a:tc>
                      <a:txBody>
                        <a:bodyPr/>
                        <a:lstStyle/>
                        <a:p>
                          <a:r>
                            <a:rPr lang="en-SE" b="1" dirty="0"/>
                            <a:t>Ordinal</a:t>
                          </a:r>
                        </a:p>
                      </a:txBody>
                      <a:tcPr/>
                    </a:tc>
                    <a:tc>
                      <a:txBody>
                        <a:bodyPr/>
                        <a:lstStyle/>
                        <a:p>
                          <a:r>
                            <a:rPr lang="en-SE" dirty="0"/>
                            <a:t>Categorical data with a linear order between levels</a:t>
                          </a:r>
                        </a:p>
                      </a:txBody>
                      <a:tcPr/>
                    </a:tc>
                    <a:tc>
                      <a:txBody>
                        <a:bodyPr/>
                        <a:lstStyle/>
                        <a:p>
                          <a:r>
                            <a:rPr lang="en-SE" dirty="0"/>
                            <a:t>Likert-scale response</a:t>
                          </a:r>
                        </a:p>
                      </a:txBody>
                      <a:tcPr/>
                    </a:tc>
                    <a:extLst>
                      <a:ext uri="{0D108BD9-81ED-4DB2-BD59-A6C34878D82A}">
                        <a16:rowId xmlns:a16="http://schemas.microsoft.com/office/drawing/2014/main" val="2405834933"/>
                      </a:ext>
                    </a:extLst>
                  </a:tr>
                  <a:tr h="370840">
                    <a:tc>
                      <a:txBody>
                        <a:bodyPr/>
                        <a:lstStyle/>
                        <a:p>
                          <a:r>
                            <a:rPr lang="en-SE" b="1" dirty="0"/>
                            <a:t>Beta</a:t>
                          </a:r>
                        </a:p>
                      </a:txBody>
                      <a:tcPr/>
                    </a:tc>
                    <a:tc>
                      <a:txBody>
                        <a:bodyPr/>
                        <a:lstStyle/>
                        <a:p>
                          <a:r>
                            <a:rPr lang="en-SE" dirty="0"/>
                            <a:t>Continuous data bounded between </a:t>
                          </a:r>
                          <a14:m>
                            <m:oMath xmlns:m="http://schemas.openxmlformats.org/officeDocument/2006/math">
                              <m:r>
                                <a:rPr lang="en-SE" b="0" i="1" smtClean="0">
                                  <a:latin typeface="Cambria Math" panose="02040503050406030204" pitchFamily="18" charset="0"/>
                                </a:rPr>
                                <m:t>[0;1]</m:t>
                              </m:r>
                            </m:oMath>
                          </a14:m>
                          <a:endParaRPr lang="en-SE" dirty="0"/>
                        </a:p>
                      </a:txBody>
                      <a:tcPr/>
                    </a:tc>
                    <a:tc>
                      <a:txBody>
                        <a:bodyPr/>
                        <a:lstStyle/>
                        <a:p>
                          <a14:m>
                            <m:oMath xmlns:m="http://schemas.openxmlformats.org/officeDocument/2006/math">
                              <m:sSub>
                                <m:sSubPr>
                                  <m:ctrlPr>
                                    <a:rPr lang="en-SE" b="0" i="1" smtClean="0">
                                      <a:latin typeface="Cambria Math" panose="02040503050406030204" pitchFamily="18" charset="0"/>
                                    </a:rPr>
                                  </m:ctrlPr>
                                </m:sSubPr>
                                <m:e>
                                  <m:r>
                                    <a:rPr lang="en-SE" b="0" i="1" smtClean="0">
                                      <a:latin typeface="Cambria Math" panose="02040503050406030204" pitchFamily="18" charset="0"/>
                                    </a:rPr>
                                    <m:t>𝐹</m:t>
                                  </m:r>
                                </m:e>
                                <m:sub>
                                  <m:r>
                                    <a:rPr lang="en-SE" b="0" i="1" smtClean="0">
                                      <a:latin typeface="Cambria Math" panose="02040503050406030204" pitchFamily="18" charset="0"/>
                                    </a:rPr>
                                    <m:t>𝛽</m:t>
                                  </m:r>
                                </m:sub>
                              </m:sSub>
                            </m:oMath>
                          </a14:m>
                          <a:r>
                            <a:rPr lang="en-SE" dirty="0"/>
                            <a:t>-score metrics</a:t>
                          </a:r>
                        </a:p>
                      </a:txBody>
                      <a:tcPr/>
                    </a:tc>
                    <a:extLst>
                      <a:ext uri="{0D108BD9-81ED-4DB2-BD59-A6C34878D82A}">
                        <a16:rowId xmlns:a16="http://schemas.microsoft.com/office/drawing/2014/main" val="2351130060"/>
                      </a:ext>
                    </a:extLst>
                  </a:tr>
                </a:tbl>
              </a:graphicData>
            </a:graphic>
          </p:graphicFrame>
        </mc:Choice>
        <mc:Fallback>
          <p:graphicFrame>
            <p:nvGraphicFramePr>
              <p:cNvPr id="7" name="Table 6">
                <a:extLst>
                  <a:ext uri="{FF2B5EF4-FFF2-40B4-BE49-F238E27FC236}">
                    <a16:creationId xmlns:a16="http://schemas.microsoft.com/office/drawing/2014/main" id="{BFF8932A-5250-4BE1-039D-11380318B427}"/>
                  </a:ext>
                </a:extLst>
              </p:cNvPr>
              <p:cNvGraphicFramePr>
                <a:graphicFrameLocks noGrp="1"/>
              </p:cNvGraphicFramePr>
              <p:nvPr>
                <p:extLst>
                  <p:ext uri="{D42A27DB-BD31-4B8C-83A1-F6EECF244321}">
                    <p14:modId xmlns:p14="http://schemas.microsoft.com/office/powerpoint/2010/main" val="2483596394"/>
                  </p:ext>
                </p:extLst>
              </p:nvPr>
            </p:nvGraphicFramePr>
            <p:xfrm>
              <a:off x="838198" y="2933700"/>
              <a:ext cx="10515600" cy="2782951"/>
            </p:xfrm>
            <a:graphic>
              <a:graphicData uri="http://schemas.openxmlformats.org/drawingml/2006/table">
                <a:tbl>
                  <a:tblPr firstRow="1" bandRow="1">
                    <a:tableStyleId>{00A15C55-8517-42AA-B614-E9B94910E393}</a:tableStyleId>
                  </a:tblPr>
                  <a:tblGrid>
                    <a:gridCol w="1905002">
                      <a:extLst>
                        <a:ext uri="{9D8B030D-6E8A-4147-A177-3AD203B41FA5}">
                          <a16:colId xmlns:a16="http://schemas.microsoft.com/office/drawing/2014/main" val="2715434313"/>
                        </a:ext>
                      </a:extLst>
                    </a:gridCol>
                    <a:gridCol w="5143500">
                      <a:extLst>
                        <a:ext uri="{9D8B030D-6E8A-4147-A177-3AD203B41FA5}">
                          <a16:colId xmlns:a16="http://schemas.microsoft.com/office/drawing/2014/main" val="2830016121"/>
                        </a:ext>
                      </a:extLst>
                    </a:gridCol>
                    <a:gridCol w="3467098">
                      <a:extLst>
                        <a:ext uri="{9D8B030D-6E8A-4147-A177-3AD203B41FA5}">
                          <a16:colId xmlns:a16="http://schemas.microsoft.com/office/drawing/2014/main" val="1331585561"/>
                        </a:ext>
                      </a:extLst>
                    </a:gridCol>
                  </a:tblGrid>
                  <a:tr h="370840">
                    <a:tc>
                      <a:txBody>
                        <a:bodyPr/>
                        <a:lstStyle/>
                        <a:p>
                          <a:r>
                            <a:rPr lang="en-SE" dirty="0"/>
                            <a:t>Name</a:t>
                          </a:r>
                        </a:p>
                      </a:txBody>
                      <a:tcPr/>
                    </a:tc>
                    <a:tc>
                      <a:txBody>
                        <a:bodyPr/>
                        <a:lstStyle/>
                        <a:p>
                          <a:r>
                            <a:rPr lang="en-SE" dirty="0"/>
                            <a:t>Description</a:t>
                          </a:r>
                        </a:p>
                      </a:txBody>
                      <a:tcPr/>
                    </a:tc>
                    <a:tc>
                      <a:txBody>
                        <a:bodyPr/>
                        <a:lstStyle/>
                        <a:p>
                          <a:r>
                            <a:rPr lang="en-SE" dirty="0"/>
                            <a:t>Examples</a:t>
                          </a:r>
                        </a:p>
                      </a:txBody>
                      <a:tcPr/>
                    </a:tc>
                    <a:extLst>
                      <a:ext uri="{0D108BD9-81ED-4DB2-BD59-A6C34878D82A}">
                        <a16:rowId xmlns:a16="http://schemas.microsoft.com/office/drawing/2014/main" val="3447700393"/>
                      </a:ext>
                    </a:extLst>
                  </a:tr>
                  <a:tr h="640080">
                    <a:tc>
                      <a:txBody>
                        <a:bodyPr/>
                        <a:lstStyle/>
                        <a:p>
                          <a:r>
                            <a:rPr lang="en-SE" b="1" dirty="0"/>
                            <a:t>Binomial</a:t>
                          </a:r>
                        </a:p>
                      </a:txBody>
                      <a:tcPr/>
                    </a:tc>
                    <a:tc>
                      <a:txBody>
                        <a:bodyPr/>
                        <a:lstStyle/>
                        <a:p>
                          <a:endParaRPr lang="en-SE"/>
                        </a:p>
                      </a:txBody>
                      <a:tcPr>
                        <a:blipFill>
                          <a:blip r:embed="rId2"/>
                          <a:stretch>
                            <a:fillRect l="-37204" t="-61905" r="-67891" b="-290476"/>
                          </a:stretch>
                        </a:blipFill>
                      </a:tcPr>
                    </a:tc>
                    <a:tc>
                      <a:txBody>
                        <a:bodyPr/>
                        <a:lstStyle/>
                        <a:p>
                          <a:endParaRPr lang="en-SE"/>
                        </a:p>
                      </a:txBody>
                      <a:tcPr>
                        <a:blipFill>
                          <a:blip r:embed="rId2"/>
                          <a:stretch>
                            <a:fillRect l="-203515" t="-61905" r="-703" b="-290476"/>
                          </a:stretch>
                        </a:blipFill>
                      </a:tcPr>
                    </a:tc>
                    <a:extLst>
                      <a:ext uri="{0D108BD9-81ED-4DB2-BD59-A6C34878D82A}">
                        <a16:rowId xmlns:a16="http://schemas.microsoft.com/office/drawing/2014/main" val="2500250534"/>
                      </a:ext>
                    </a:extLst>
                  </a:tr>
                  <a:tr h="370840">
                    <a:tc>
                      <a:txBody>
                        <a:bodyPr/>
                        <a:lstStyle/>
                        <a:p>
                          <a:r>
                            <a:rPr lang="en-SE" b="1" dirty="0"/>
                            <a:t>Poisson/Pascal</a:t>
                          </a:r>
                        </a:p>
                      </a:txBody>
                      <a:tcPr/>
                    </a:tc>
                    <a:tc>
                      <a:txBody>
                        <a:bodyPr/>
                        <a:lstStyle/>
                        <a:p>
                          <a:r>
                            <a:rPr lang="en-SE" dirty="0"/>
                            <a:t>Discrete count of events</a:t>
                          </a:r>
                        </a:p>
                      </a:txBody>
                      <a:tcPr/>
                    </a:tc>
                    <a:tc>
                      <a:txBody>
                        <a:bodyPr/>
                        <a:lstStyle/>
                        <a:p>
                          <a:r>
                            <a:rPr lang="en-SE" dirty="0"/>
                            <a:t>Count of identified bugs</a:t>
                          </a:r>
                        </a:p>
                      </a:txBody>
                      <a:tcPr/>
                    </a:tc>
                    <a:extLst>
                      <a:ext uri="{0D108BD9-81ED-4DB2-BD59-A6C34878D82A}">
                        <a16:rowId xmlns:a16="http://schemas.microsoft.com/office/drawing/2014/main" val="561456013"/>
                      </a:ext>
                    </a:extLst>
                  </a:tr>
                  <a:tr h="640080">
                    <a:tc>
                      <a:txBody>
                        <a:bodyPr/>
                        <a:lstStyle/>
                        <a:p>
                          <a:r>
                            <a:rPr lang="en-SE" b="1" dirty="0"/>
                            <a:t>Categorical</a:t>
                          </a:r>
                        </a:p>
                      </a:txBody>
                      <a:tcPr/>
                    </a:tc>
                    <a:tc>
                      <a:txBody>
                        <a:bodyPr/>
                        <a:lstStyle/>
                        <a:p>
                          <a:endParaRPr lang="en-SE"/>
                        </a:p>
                      </a:txBody>
                      <a:tcPr>
                        <a:blipFill>
                          <a:blip r:embed="rId2"/>
                          <a:stretch>
                            <a:fillRect l="-37204" t="-220000" r="-67891" b="-132381"/>
                          </a:stretch>
                        </a:blipFill>
                      </a:tcPr>
                    </a:tc>
                    <a:tc>
                      <a:txBody>
                        <a:bodyPr/>
                        <a:lstStyle/>
                        <a:p>
                          <a:r>
                            <a:rPr lang="en-SE" dirty="0"/>
                            <a:t>Single-choice response</a:t>
                          </a:r>
                        </a:p>
                      </a:txBody>
                      <a:tcPr/>
                    </a:tc>
                    <a:extLst>
                      <a:ext uri="{0D108BD9-81ED-4DB2-BD59-A6C34878D82A}">
                        <a16:rowId xmlns:a16="http://schemas.microsoft.com/office/drawing/2014/main" val="2532135561"/>
                      </a:ext>
                    </a:extLst>
                  </a:tr>
                  <a:tr h="370840">
                    <a:tc>
                      <a:txBody>
                        <a:bodyPr/>
                        <a:lstStyle/>
                        <a:p>
                          <a:r>
                            <a:rPr lang="en-SE" b="1" dirty="0"/>
                            <a:t>Ordinal</a:t>
                          </a:r>
                        </a:p>
                      </a:txBody>
                      <a:tcPr/>
                    </a:tc>
                    <a:tc>
                      <a:txBody>
                        <a:bodyPr/>
                        <a:lstStyle/>
                        <a:p>
                          <a:r>
                            <a:rPr lang="en-SE" dirty="0"/>
                            <a:t>Categorical data with a linear order between levels</a:t>
                          </a:r>
                        </a:p>
                      </a:txBody>
                      <a:tcPr/>
                    </a:tc>
                    <a:tc>
                      <a:txBody>
                        <a:bodyPr/>
                        <a:lstStyle/>
                        <a:p>
                          <a:r>
                            <a:rPr lang="en-SE" dirty="0"/>
                            <a:t>Likert-scale response</a:t>
                          </a:r>
                        </a:p>
                      </a:txBody>
                      <a:tcPr/>
                    </a:tc>
                    <a:extLst>
                      <a:ext uri="{0D108BD9-81ED-4DB2-BD59-A6C34878D82A}">
                        <a16:rowId xmlns:a16="http://schemas.microsoft.com/office/drawing/2014/main" val="2405834933"/>
                      </a:ext>
                    </a:extLst>
                  </a:tr>
                  <a:tr h="390271">
                    <a:tc>
                      <a:txBody>
                        <a:bodyPr/>
                        <a:lstStyle/>
                        <a:p>
                          <a:r>
                            <a:rPr lang="en-SE" b="1" dirty="0"/>
                            <a:t>Beta</a:t>
                          </a:r>
                        </a:p>
                      </a:txBody>
                      <a:tcPr/>
                    </a:tc>
                    <a:tc>
                      <a:txBody>
                        <a:bodyPr/>
                        <a:lstStyle/>
                        <a:p>
                          <a:endParaRPr lang="en-SE"/>
                        </a:p>
                      </a:txBody>
                      <a:tcPr>
                        <a:blipFill>
                          <a:blip r:embed="rId2"/>
                          <a:stretch>
                            <a:fillRect l="-37204" t="-620313" r="-67891" b="-21875"/>
                          </a:stretch>
                        </a:blipFill>
                      </a:tcPr>
                    </a:tc>
                    <a:tc>
                      <a:txBody>
                        <a:bodyPr/>
                        <a:lstStyle/>
                        <a:p>
                          <a:endParaRPr lang="en-SE"/>
                        </a:p>
                      </a:txBody>
                      <a:tcPr>
                        <a:blipFill>
                          <a:blip r:embed="rId2"/>
                          <a:stretch>
                            <a:fillRect l="-203515" t="-620313" r="-703" b="-21875"/>
                          </a:stretch>
                        </a:blipFill>
                      </a:tcPr>
                    </a:tc>
                    <a:extLst>
                      <a:ext uri="{0D108BD9-81ED-4DB2-BD59-A6C34878D82A}">
                        <a16:rowId xmlns:a16="http://schemas.microsoft.com/office/drawing/2014/main" val="2351130060"/>
                      </a:ext>
                    </a:extLst>
                  </a:tr>
                </a:tbl>
              </a:graphicData>
            </a:graphic>
          </p:graphicFrame>
        </mc:Fallback>
      </mc:AlternateContent>
    </p:spTree>
    <p:extLst>
      <p:ext uri="{BB962C8B-B14F-4D97-AF65-F5344CB8AC3E}">
        <p14:creationId xmlns:p14="http://schemas.microsoft.com/office/powerpoint/2010/main" val="29561611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0DA87-B6B5-7D53-50B2-364911CC5130}"/>
              </a:ext>
            </a:extLst>
          </p:cNvPr>
          <p:cNvSpPr>
            <a:spLocks noGrp="1"/>
          </p:cNvSpPr>
          <p:nvPr>
            <p:ph type="title"/>
          </p:nvPr>
        </p:nvSpPr>
        <p:spPr/>
        <p:txBody>
          <a:bodyPr/>
          <a:lstStyle/>
          <a:p>
            <a:r>
              <a:rPr lang="en-SE" dirty="0"/>
              <a:t>Resources</a:t>
            </a:r>
          </a:p>
        </p:txBody>
      </p:sp>
      <p:sp>
        <p:nvSpPr>
          <p:cNvPr id="3" name="Content Placeholder 2">
            <a:extLst>
              <a:ext uri="{FF2B5EF4-FFF2-40B4-BE49-F238E27FC236}">
                <a16:creationId xmlns:a16="http://schemas.microsoft.com/office/drawing/2014/main" id="{E99BBF52-EDF5-3B42-8AFB-FB315CFA749E}"/>
              </a:ext>
            </a:extLst>
          </p:cNvPr>
          <p:cNvSpPr>
            <a:spLocks noGrp="1"/>
          </p:cNvSpPr>
          <p:nvPr>
            <p:ph idx="1"/>
          </p:nvPr>
        </p:nvSpPr>
        <p:spPr>
          <a:xfrm>
            <a:off x="838200" y="1825625"/>
            <a:ext cx="10515600" cy="1120775"/>
          </a:xfrm>
        </p:spPr>
        <p:txBody>
          <a:bodyPr/>
          <a:lstStyle/>
          <a:p>
            <a:pPr marL="0" indent="0">
              <a:buNone/>
            </a:pPr>
            <a:r>
              <a:rPr lang="en-SE" dirty="0"/>
              <a:t>The following resources are the state-of-the-art for learning and applying BDA in practice:</a:t>
            </a:r>
          </a:p>
        </p:txBody>
      </p:sp>
      <p:sp>
        <p:nvSpPr>
          <p:cNvPr id="4" name="Date Placeholder 3">
            <a:extLst>
              <a:ext uri="{FF2B5EF4-FFF2-40B4-BE49-F238E27FC236}">
                <a16:creationId xmlns:a16="http://schemas.microsoft.com/office/drawing/2014/main" id="{285FA83F-046D-4B6D-F857-90584A477A16}"/>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41CBF9CD-8C08-475A-77D8-931C1E7CEE73}"/>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C685D64B-A65E-6DB3-3A6B-8AFCD402E085}"/>
              </a:ext>
            </a:extLst>
          </p:cNvPr>
          <p:cNvSpPr>
            <a:spLocks noGrp="1"/>
          </p:cNvSpPr>
          <p:nvPr>
            <p:ph type="sldNum" sz="quarter" idx="12"/>
          </p:nvPr>
        </p:nvSpPr>
        <p:spPr/>
        <p:txBody>
          <a:bodyPr/>
          <a:lstStyle/>
          <a:p>
            <a:fld id="{271ECC92-9CDE-4EB3-B1C5-F46B9E1FA3C1}" type="slidenum">
              <a:rPr lang="en-SE" smtClean="0"/>
              <a:t>89</a:t>
            </a:fld>
            <a:endParaRPr lang="en-SE"/>
          </a:p>
        </p:txBody>
      </p:sp>
      <p:pic>
        <p:nvPicPr>
          <p:cNvPr id="8" name="Picture 7">
            <a:extLst>
              <a:ext uri="{FF2B5EF4-FFF2-40B4-BE49-F238E27FC236}">
                <a16:creationId xmlns:a16="http://schemas.microsoft.com/office/drawing/2014/main" id="{B89AFD7A-CA8F-7B1E-2D73-68D07614BB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8" y="3581400"/>
            <a:ext cx="1686179" cy="2705100"/>
          </a:xfrm>
          <a:prstGeom prst="rect">
            <a:avLst/>
          </a:prstGeom>
        </p:spPr>
      </p:pic>
      <p:pic>
        <p:nvPicPr>
          <p:cNvPr id="10" name="Picture 9">
            <a:extLst>
              <a:ext uri="{FF2B5EF4-FFF2-40B4-BE49-F238E27FC236}">
                <a16:creationId xmlns:a16="http://schemas.microsoft.com/office/drawing/2014/main" id="{49AFA348-4C40-8460-9DE6-E21C6996DCFF}"/>
              </a:ext>
            </a:extLst>
          </p:cNvPr>
          <p:cNvPicPr>
            <a:picLocks noChangeAspect="1"/>
          </p:cNvPicPr>
          <p:nvPr/>
        </p:nvPicPr>
        <p:blipFill>
          <a:blip r:embed="rId3"/>
          <a:stretch>
            <a:fillRect/>
          </a:stretch>
        </p:blipFill>
        <p:spPr>
          <a:xfrm>
            <a:off x="8833337" y="3581400"/>
            <a:ext cx="2520463" cy="2774950"/>
          </a:xfrm>
          <a:prstGeom prst="rect">
            <a:avLst/>
          </a:prstGeom>
        </p:spPr>
      </p:pic>
      <p:pic>
        <p:nvPicPr>
          <p:cNvPr id="12" name="Picture 11">
            <a:extLst>
              <a:ext uri="{FF2B5EF4-FFF2-40B4-BE49-F238E27FC236}">
                <a16:creationId xmlns:a16="http://schemas.microsoft.com/office/drawing/2014/main" id="{1B51B0EE-CAE2-B276-CCF5-BFAF9FAC042A}"/>
              </a:ext>
            </a:extLst>
          </p:cNvPr>
          <p:cNvPicPr>
            <a:picLocks noChangeAspect="1"/>
          </p:cNvPicPr>
          <p:nvPr/>
        </p:nvPicPr>
        <p:blipFill>
          <a:blip r:embed="rId4"/>
          <a:stretch>
            <a:fillRect/>
          </a:stretch>
        </p:blipFill>
        <p:spPr>
          <a:xfrm>
            <a:off x="4038601" y="3581400"/>
            <a:ext cx="3742672" cy="2705100"/>
          </a:xfrm>
          <a:prstGeom prst="rect">
            <a:avLst/>
          </a:prstGeom>
        </p:spPr>
      </p:pic>
      <p:sp>
        <p:nvSpPr>
          <p:cNvPr id="13" name="TextBox 12">
            <a:extLst>
              <a:ext uri="{FF2B5EF4-FFF2-40B4-BE49-F238E27FC236}">
                <a16:creationId xmlns:a16="http://schemas.microsoft.com/office/drawing/2014/main" id="{0E54F263-59AD-7BB2-E1FF-B06A74234415}"/>
              </a:ext>
            </a:extLst>
          </p:cNvPr>
          <p:cNvSpPr txBox="1"/>
          <p:nvPr/>
        </p:nvSpPr>
        <p:spPr>
          <a:xfrm>
            <a:off x="1110457" y="3104118"/>
            <a:ext cx="1141659" cy="369332"/>
          </a:xfrm>
          <a:prstGeom prst="rect">
            <a:avLst/>
          </a:prstGeom>
          <a:noFill/>
        </p:spPr>
        <p:txBody>
          <a:bodyPr wrap="none" rtlCol="0">
            <a:spAutoFit/>
          </a:bodyPr>
          <a:lstStyle/>
          <a:p>
            <a:pPr algn="ctr"/>
            <a:r>
              <a:rPr lang="en-SE" b="1" dirty="0"/>
              <a:t>The Book</a:t>
            </a:r>
          </a:p>
        </p:txBody>
      </p:sp>
      <p:sp>
        <p:nvSpPr>
          <p:cNvPr id="15" name="TextBox 14">
            <a:extLst>
              <a:ext uri="{FF2B5EF4-FFF2-40B4-BE49-F238E27FC236}">
                <a16:creationId xmlns:a16="http://schemas.microsoft.com/office/drawing/2014/main" id="{E7AA5DF7-520F-7AAF-81B1-48DE5DFA02B1}"/>
              </a:ext>
            </a:extLst>
          </p:cNvPr>
          <p:cNvSpPr txBox="1"/>
          <p:nvPr/>
        </p:nvSpPr>
        <p:spPr>
          <a:xfrm>
            <a:off x="5288151" y="3104118"/>
            <a:ext cx="1615700" cy="369332"/>
          </a:xfrm>
          <a:prstGeom prst="rect">
            <a:avLst/>
          </a:prstGeom>
          <a:noFill/>
        </p:spPr>
        <p:txBody>
          <a:bodyPr wrap="none" rtlCol="0">
            <a:spAutoFit/>
          </a:bodyPr>
          <a:lstStyle/>
          <a:p>
            <a:pPr algn="ctr"/>
            <a:r>
              <a:rPr lang="en-SE" b="1" dirty="0"/>
              <a:t>The Language</a:t>
            </a:r>
          </a:p>
        </p:txBody>
      </p:sp>
      <p:sp>
        <p:nvSpPr>
          <p:cNvPr id="17" name="TextBox 16">
            <a:extLst>
              <a:ext uri="{FF2B5EF4-FFF2-40B4-BE49-F238E27FC236}">
                <a16:creationId xmlns:a16="http://schemas.microsoft.com/office/drawing/2014/main" id="{8F8E4F69-E031-78B3-0AD5-EB94FEE1DCDC}"/>
              </a:ext>
            </a:extLst>
          </p:cNvPr>
          <p:cNvSpPr txBox="1"/>
          <p:nvPr/>
        </p:nvSpPr>
        <p:spPr>
          <a:xfrm>
            <a:off x="9427457" y="3059668"/>
            <a:ext cx="1332224" cy="369332"/>
          </a:xfrm>
          <a:prstGeom prst="rect">
            <a:avLst/>
          </a:prstGeom>
          <a:noFill/>
        </p:spPr>
        <p:txBody>
          <a:bodyPr wrap="none" rtlCol="0">
            <a:spAutoFit/>
          </a:bodyPr>
          <a:lstStyle/>
          <a:p>
            <a:pPr algn="ctr"/>
            <a:r>
              <a:rPr lang="en-SE" b="1" dirty="0"/>
              <a:t>The Library</a:t>
            </a:r>
          </a:p>
        </p:txBody>
      </p:sp>
    </p:spTree>
    <p:extLst>
      <p:ext uri="{BB962C8B-B14F-4D97-AF65-F5344CB8AC3E}">
        <p14:creationId xmlns:p14="http://schemas.microsoft.com/office/powerpoint/2010/main" val="26913135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7"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8A49-BECA-31F2-743C-5C780DBA542D}"/>
              </a:ext>
            </a:extLst>
          </p:cNvPr>
          <p:cNvSpPr>
            <a:spLocks noGrp="1"/>
          </p:cNvSpPr>
          <p:nvPr>
            <p:ph type="title"/>
          </p:nvPr>
        </p:nvSpPr>
        <p:spPr/>
        <p:txBody>
          <a:bodyPr/>
          <a:lstStyle/>
          <a:p>
            <a:r>
              <a:rPr lang="en-US" noProof="0" dirty="0"/>
              <a:t>Resources</a:t>
            </a:r>
          </a:p>
        </p:txBody>
      </p:sp>
      <p:sp>
        <p:nvSpPr>
          <p:cNvPr id="3" name="Content Placeholder 2">
            <a:extLst>
              <a:ext uri="{FF2B5EF4-FFF2-40B4-BE49-F238E27FC236}">
                <a16:creationId xmlns:a16="http://schemas.microsoft.com/office/drawing/2014/main" id="{6DF03F20-C381-EB6F-423D-C8B7CBF362C2}"/>
              </a:ext>
            </a:extLst>
          </p:cNvPr>
          <p:cNvSpPr>
            <a:spLocks noGrp="1"/>
          </p:cNvSpPr>
          <p:nvPr>
            <p:ph idx="1"/>
          </p:nvPr>
        </p:nvSpPr>
        <p:spPr/>
        <p:txBody>
          <a:bodyPr>
            <a:normAutofit/>
          </a:bodyPr>
          <a:lstStyle/>
          <a:p>
            <a:pPr marL="0" indent="0">
              <a:buNone/>
            </a:pPr>
            <a:r>
              <a:rPr lang="en-US" noProof="0" dirty="0"/>
              <a:t>Other useful resources:</a:t>
            </a:r>
          </a:p>
          <a:p>
            <a:r>
              <a:rPr lang="en-US" noProof="0" dirty="0"/>
              <a:t>Blog by Andrew Heiss</a:t>
            </a:r>
            <a:r>
              <a:rPr lang="en-SE" noProof="0" dirty="0"/>
              <a:t>: </a:t>
            </a:r>
            <a:r>
              <a:rPr lang="en-US" noProof="0" dirty="0">
                <a:hlinkClick r:id="rId2"/>
              </a:rPr>
              <a:t>https://www.andrewheiss.com/blog/</a:t>
            </a:r>
            <a:endParaRPr lang="en-SE" noProof="0" dirty="0"/>
          </a:p>
          <a:p>
            <a:r>
              <a:rPr lang="en-SE" noProof="0" dirty="0"/>
              <a:t>Blog by</a:t>
            </a:r>
            <a:r>
              <a:rPr lang="en-US" noProof="0" dirty="0"/>
              <a:t> Solomon Kurz</a:t>
            </a:r>
            <a:r>
              <a:rPr lang="en-SE" noProof="0" dirty="0"/>
              <a:t>: </a:t>
            </a:r>
            <a:r>
              <a:rPr lang="en-US" noProof="0" dirty="0">
                <a:hlinkClick r:id="rId3"/>
              </a:rPr>
              <a:t>https://solomonkurz.netlify.app/blog/</a:t>
            </a:r>
            <a:endParaRPr lang="en-US" noProof="0" dirty="0"/>
          </a:p>
          <a:p>
            <a:r>
              <a:rPr lang="en-US" noProof="0" dirty="0"/>
              <a:t>Follow Richard Torkar</a:t>
            </a:r>
            <a:r>
              <a:rPr lang="en-SE" dirty="0"/>
              <a:t> and Robert Feldt</a:t>
            </a:r>
          </a:p>
          <a:p>
            <a:pPr marL="0" indent="0">
              <a:buNone/>
            </a:pPr>
            <a:r>
              <a:rPr lang="en-SE" dirty="0"/>
              <a:t>…</a:t>
            </a:r>
            <a:endParaRPr lang="en-SE" noProof="0" dirty="0"/>
          </a:p>
        </p:txBody>
      </p:sp>
      <p:sp>
        <p:nvSpPr>
          <p:cNvPr id="4" name="Date Placeholder 3">
            <a:extLst>
              <a:ext uri="{FF2B5EF4-FFF2-40B4-BE49-F238E27FC236}">
                <a16:creationId xmlns:a16="http://schemas.microsoft.com/office/drawing/2014/main" id="{0A24CF21-C4BE-9534-97B0-ACEE52D3E34B}"/>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5492597A-E568-888C-FE1C-F7F21A527E4A}"/>
              </a:ext>
            </a:extLst>
          </p:cNvPr>
          <p:cNvSpPr>
            <a:spLocks noGrp="1"/>
          </p:cNvSpPr>
          <p:nvPr>
            <p:ph type="sldNum" sz="quarter" idx="12"/>
          </p:nvPr>
        </p:nvSpPr>
        <p:spPr/>
        <p:txBody>
          <a:bodyPr/>
          <a:lstStyle/>
          <a:p>
            <a:fld id="{271ECC92-9CDE-4EB3-B1C5-F46B9E1FA3C1}" type="slidenum">
              <a:rPr lang="en-US" noProof="0" smtClean="0"/>
              <a:t>90</a:t>
            </a:fld>
            <a:endParaRPr lang="en-US" noProof="0" dirty="0"/>
          </a:p>
        </p:txBody>
      </p:sp>
      <p:sp>
        <p:nvSpPr>
          <p:cNvPr id="6" name="Footer Placeholder 5">
            <a:extLst>
              <a:ext uri="{FF2B5EF4-FFF2-40B4-BE49-F238E27FC236}">
                <a16:creationId xmlns:a16="http://schemas.microsoft.com/office/drawing/2014/main" id="{C590518B-B541-3778-4CA9-C8D582C7F3DF}"/>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29907096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6DA8C-E453-8A7A-C1E6-7A34D3501FFE}"/>
              </a:ext>
            </a:extLst>
          </p:cNvPr>
          <p:cNvSpPr>
            <a:spLocks noGrp="1"/>
          </p:cNvSpPr>
          <p:nvPr>
            <p:ph type="title"/>
          </p:nvPr>
        </p:nvSpPr>
        <p:spPr/>
        <p:txBody>
          <a:bodyPr/>
          <a:lstStyle/>
          <a:p>
            <a:r>
              <a:rPr lang="en-SE" dirty="0"/>
              <a:t>Opportunities</a:t>
            </a:r>
          </a:p>
        </p:txBody>
      </p:sp>
      <p:sp>
        <p:nvSpPr>
          <p:cNvPr id="3" name="Content Placeholder 2">
            <a:extLst>
              <a:ext uri="{FF2B5EF4-FFF2-40B4-BE49-F238E27FC236}">
                <a16:creationId xmlns:a16="http://schemas.microsoft.com/office/drawing/2014/main" id="{B9794C42-17FD-E85E-AC0E-EC94810873A8}"/>
              </a:ext>
            </a:extLst>
          </p:cNvPr>
          <p:cNvSpPr>
            <a:spLocks noGrp="1"/>
          </p:cNvSpPr>
          <p:nvPr>
            <p:ph idx="1"/>
          </p:nvPr>
        </p:nvSpPr>
        <p:spPr/>
        <p:txBody>
          <a:bodyPr>
            <a:normAutofit lnSpcReduction="10000"/>
          </a:bodyPr>
          <a:lstStyle/>
          <a:p>
            <a:pPr marL="0" indent="0">
              <a:buNone/>
            </a:pPr>
            <a:r>
              <a:rPr lang="en-SE" dirty="0"/>
              <a:t>Beyond the content of this tutorial, BDA has many more advantages that all naturally embed into the presented workflow, like modelling</a:t>
            </a:r>
          </a:p>
          <a:p>
            <a:r>
              <a:rPr lang="en-SE" sz="2400" b="1" dirty="0"/>
              <a:t>missing data</a:t>
            </a:r>
            <a:r>
              <a:rPr lang="en-SE" sz="2400" dirty="0"/>
              <a:t>, e.g., when the data could not be collected or you have partial responses to a survey form,</a:t>
            </a:r>
          </a:p>
          <a:p>
            <a:r>
              <a:rPr lang="en-SE" sz="2400" b="1" dirty="0"/>
              <a:t>mixed distributions</a:t>
            </a:r>
            <a:r>
              <a:rPr lang="en-SE" sz="2400" dirty="0"/>
              <a:t>, e.g., hurdle models describing a data-generation process stemming from two separate processes,</a:t>
            </a:r>
          </a:p>
          <a:p>
            <a:r>
              <a:rPr lang="en-SE" sz="2400" b="1" dirty="0"/>
              <a:t>censored or truncated data</a:t>
            </a:r>
            <a:r>
              <a:rPr lang="en-SE" sz="2400" dirty="0"/>
              <a:t>, e.g., when you have to cut off participants of an experiments as they run out of time,</a:t>
            </a:r>
          </a:p>
          <a:p>
            <a:r>
              <a:rPr lang="en-SE" sz="2400" b="1" dirty="0"/>
              <a:t>hierarchical effects</a:t>
            </a:r>
            <a:r>
              <a:rPr lang="en-SE" sz="2400" dirty="0"/>
              <a:t>, e.g., when you have repeated measures per subject of your study, or</a:t>
            </a:r>
          </a:p>
          <a:p>
            <a:r>
              <a:rPr lang="en-SE" sz="2400" b="1" dirty="0"/>
              <a:t>interaction effects</a:t>
            </a:r>
            <a:r>
              <a:rPr lang="en-SE" sz="2400" dirty="0"/>
              <a:t>, e.g., when an external variable moderates the effect of the main cause on the main effect.</a:t>
            </a:r>
          </a:p>
        </p:txBody>
      </p:sp>
      <p:sp>
        <p:nvSpPr>
          <p:cNvPr id="4" name="Date Placeholder 3">
            <a:extLst>
              <a:ext uri="{FF2B5EF4-FFF2-40B4-BE49-F238E27FC236}">
                <a16:creationId xmlns:a16="http://schemas.microsoft.com/office/drawing/2014/main" id="{A0F9F120-F733-EF9A-D9D6-EC410AC97AEC}"/>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3E2D5151-2AE7-C36C-82F7-8F617EA16FED}"/>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25144F01-3E95-7BCA-24AC-D098729D3C59}"/>
              </a:ext>
            </a:extLst>
          </p:cNvPr>
          <p:cNvSpPr>
            <a:spLocks noGrp="1"/>
          </p:cNvSpPr>
          <p:nvPr>
            <p:ph type="sldNum" sz="quarter" idx="12"/>
          </p:nvPr>
        </p:nvSpPr>
        <p:spPr/>
        <p:txBody>
          <a:bodyPr/>
          <a:lstStyle/>
          <a:p>
            <a:fld id="{271ECC92-9CDE-4EB3-B1C5-F46B9E1FA3C1}" type="slidenum">
              <a:rPr lang="en-SE" smtClean="0"/>
              <a:t>91</a:t>
            </a:fld>
            <a:endParaRPr lang="en-SE"/>
          </a:p>
        </p:txBody>
      </p:sp>
    </p:spTree>
    <p:extLst>
      <p:ext uri="{BB962C8B-B14F-4D97-AF65-F5344CB8AC3E}">
        <p14:creationId xmlns:p14="http://schemas.microsoft.com/office/powerpoint/2010/main" val="3116248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AE91-528F-E721-BB3F-27D587E82F36}"/>
              </a:ext>
            </a:extLst>
          </p:cNvPr>
          <p:cNvSpPr>
            <a:spLocks noGrp="1"/>
          </p:cNvSpPr>
          <p:nvPr>
            <p:ph type="title"/>
          </p:nvPr>
        </p:nvSpPr>
        <p:spPr/>
        <p:txBody>
          <a:bodyPr/>
          <a:lstStyle/>
          <a:p>
            <a:r>
              <a:rPr lang="en-US" noProof="0" dirty="0"/>
              <a:t>Conclusion</a:t>
            </a:r>
          </a:p>
        </p:txBody>
      </p:sp>
      <p:sp>
        <p:nvSpPr>
          <p:cNvPr id="3" name="Text Placeholder 2">
            <a:extLst>
              <a:ext uri="{FF2B5EF4-FFF2-40B4-BE49-F238E27FC236}">
                <a16:creationId xmlns:a16="http://schemas.microsoft.com/office/drawing/2014/main" id="{82EE603E-60DC-A320-529B-A3A3E6529506}"/>
              </a:ext>
            </a:extLst>
          </p:cNvPr>
          <p:cNvSpPr>
            <a:spLocks noGrp="1"/>
          </p:cNvSpPr>
          <p:nvPr>
            <p:ph type="body" idx="1"/>
          </p:nvPr>
        </p:nvSpPr>
        <p:spPr/>
        <p:txBody>
          <a:bodyPr/>
          <a:lstStyle/>
          <a:p>
            <a:r>
              <a:rPr lang="en-US" noProof="0" dirty="0"/>
              <a:t>Reflection, discussion, and closing</a:t>
            </a:r>
          </a:p>
        </p:txBody>
      </p:sp>
      <p:sp>
        <p:nvSpPr>
          <p:cNvPr id="4" name="Date Placeholder 3">
            <a:extLst>
              <a:ext uri="{FF2B5EF4-FFF2-40B4-BE49-F238E27FC236}">
                <a16:creationId xmlns:a16="http://schemas.microsoft.com/office/drawing/2014/main" id="{723B9A07-BD35-FF3E-8F39-6EAD60DF655F}"/>
              </a:ext>
            </a:extLst>
          </p:cNvPr>
          <p:cNvSpPr>
            <a:spLocks noGrp="1"/>
          </p:cNvSpPr>
          <p:nvPr>
            <p:ph type="dt" sz="half" idx="10"/>
          </p:nvPr>
        </p:nvSpPr>
        <p:spPr/>
        <p:txBody>
          <a:bodyPr/>
          <a:lstStyle/>
          <a:p>
            <a:r>
              <a:rPr lang="en-SE" noProof="0"/>
              <a:t>2026-08-17</a:t>
            </a:r>
            <a:endParaRPr lang="en-US" noProof="0" dirty="0"/>
          </a:p>
        </p:txBody>
      </p:sp>
      <p:sp>
        <p:nvSpPr>
          <p:cNvPr id="5" name="Slide Number Placeholder 4">
            <a:extLst>
              <a:ext uri="{FF2B5EF4-FFF2-40B4-BE49-F238E27FC236}">
                <a16:creationId xmlns:a16="http://schemas.microsoft.com/office/drawing/2014/main" id="{9CDD3F13-CA5B-619A-1D88-44D17BA6061E}"/>
              </a:ext>
            </a:extLst>
          </p:cNvPr>
          <p:cNvSpPr>
            <a:spLocks noGrp="1"/>
          </p:cNvSpPr>
          <p:nvPr>
            <p:ph type="sldNum" sz="quarter" idx="12"/>
          </p:nvPr>
        </p:nvSpPr>
        <p:spPr/>
        <p:txBody>
          <a:bodyPr/>
          <a:lstStyle/>
          <a:p>
            <a:fld id="{271ECC92-9CDE-4EB3-B1C5-F46B9E1FA3C1}" type="slidenum">
              <a:rPr lang="en-US" noProof="0" smtClean="0"/>
              <a:t>92</a:t>
            </a:fld>
            <a:endParaRPr lang="en-US" noProof="0" dirty="0"/>
          </a:p>
        </p:txBody>
      </p:sp>
      <p:sp>
        <p:nvSpPr>
          <p:cNvPr id="6" name="Footer Placeholder 5">
            <a:extLst>
              <a:ext uri="{FF2B5EF4-FFF2-40B4-BE49-F238E27FC236}">
                <a16:creationId xmlns:a16="http://schemas.microsoft.com/office/drawing/2014/main" id="{DD136351-7DF2-7A9F-5446-E0B24F95B2D4}"/>
              </a:ext>
            </a:extLst>
          </p:cNvPr>
          <p:cNvSpPr>
            <a:spLocks noGrp="1"/>
          </p:cNvSpPr>
          <p:nvPr>
            <p:ph type="ftr" sz="quarter" idx="11"/>
          </p:nvPr>
        </p:nvSpPr>
        <p:spPr/>
        <p:txBody>
          <a:bodyPr/>
          <a:lstStyle/>
          <a:p>
            <a:r>
              <a:rPr lang="de-DE"/>
              <a:t>Bayesian Data Analysis Tutorial</a:t>
            </a:r>
            <a:endParaRPr lang="en-SE"/>
          </a:p>
        </p:txBody>
      </p:sp>
    </p:spTree>
    <p:extLst>
      <p:ext uri="{BB962C8B-B14F-4D97-AF65-F5344CB8AC3E}">
        <p14:creationId xmlns:p14="http://schemas.microsoft.com/office/powerpoint/2010/main" val="3584315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6615A-30C2-A5DB-E152-4598566970A3}"/>
              </a:ext>
            </a:extLst>
          </p:cNvPr>
          <p:cNvSpPr>
            <a:spLocks noGrp="1"/>
          </p:cNvSpPr>
          <p:nvPr>
            <p:ph type="title"/>
          </p:nvPr>
        </p:nvSpPr>
        <p:spPr/>
        <p:txBody>
          <a:bodyPr/>
          <a:lstStyle/>
          <a:p>
            <a:r>
              <a:rPr lang="en-SE" dirty="0"/>
              <a:t>Bayesian Data Analysis in a Nutshell</a:t>
            </a:r>
          </a:p>
        </p:txBody>
      </p:sp>
      <p:sp>
        <p:nvSpPr>
          <p:cNvPr id="8" name="Content Placeholder 7">
            <a:extLst>
              <a:ext uri="{FF2B5EF4-FFF2-40B4-BE49-F238E27FC236}">
                <a16:creationId xmlns:a16="http://schemas.microsoft.com/office/drawing/2014/main" id="{1140B4C2-298F-A81B-D9C7-A1677D7AEEA7}"/>
              </a:ext>
            </a:extLst>
          </p:cNvPr>
          <p:cNvSpPr>
            <a:spLocks noGrp="1"/>
          </p:cNvSpPr>
          <p:nvPr>
            <p:ph idx="1"/>
          </p:nvPr>
        </p:nvSpPr>
        <p:spPr/>
        <p:txBody>
          <a:bodyPr/>
          <a:lstStyle/>
          <a:p>
            <a:pPr marL="0" indent="0">
              <a:buNone/>
            </a:pPr>
            <a:r>
              <a:rPr lang="en-SE" dirty="0"/>
              <a:t>The Bayesian paradigm provides an alternative to the common frequentist paradigm for data analysis. The steep learning curve is rewarded with more fine-grained insights, control over your analysis, and fewer violations of statistical assumptions.</a:t>
            </a:r>
          </a:p>
        </p:txBody>
      </p:sp>
      <p:sp>
        <p:nvSpPr>
          <p:cNvPr id="4" name="Date Placeholder 3">
            <a:extLst>
              <a:ext uri="{FF2B5EF4-FFF2-40B4-BE49-F238E27FC236}">
                <a16:creationId xmlns:a16="http://schemas.microsoft.com/office/drawing/2014/main" id="{60D284B6-AF18-D308-E6DE-B18161C234A8}"/>
              </a:ext>
            </a:extLst>
          </p:cNvPr>
          <p:cNvSpPr>
            <a:spLocks noGrp="1"/>
          </p:cNvSpPr>
          <p:nvPr>
            <p:ph type="dt" sz="half" idx="10"/>
          </p:nvPr>
        </p:nvSpPr>
        <p:spPr/>
        <p:txBody>
          <a:bodyPr/>
          <a:lstStyle/>
          <a:p>
            <a:r>
              <a:rPr lang="en-SE"/>
              <a:t>2026-08-17</a:t>
            </a:r>
          </a:p>
        </p:txBody>
      </p:sp>
      <p:sp>
        <p:nvSpPr>
          <p:cNvPr id="5" name="Footer Placeholder 4">
            <a:extLst>
              <a:ext uri="{FF2B5EF4-FFF2-40B4-BE49-F238E27FC236}">
                <a16:creationId xmlns:a16="http://schemas.microsoft.com/office/drawing/2014/main" id="{35D513FF-BD8F-1E63-33BE-C83BF4161782}"/>
              </a:ext>
            </a:extLst>
          </p:cNvPr>
          <p:cNvSpPr>
            <a:spLocks noGrp="1"/>
          </p:cNvSpPr>
          <p:nvPr>
            <p:ph type="ftr" sz="quarter" idx="11"/>
          </p:nvPr>
        </p:nvSpPr>
        <p:spPr/>
        <p:txBody>
          <a:bodyPr/>
          <a:lstStyle/>
          <a:p>
            <a:r>
              <a:rPr lang="de-DE"/>
              <a:t>Bayesian Data Analysis Tutorial</a:t>
            </a:r>
            <a:endParaRPr lang="en-SE"/>
          </a:p>
        </p:txBody>
      </p:sp>
      <p:sp>
        <p:nvSpPr>
          <p:cNvPr id="6" name="Slide Number Placeholder 5">
            <a:extLst>
              <a:ext uri="{FF2B5EF4-FFF2-40B4-BE49-F238E27FC236}">
                <a16:creationId xmlns:a16="http://schemas.microsoft.com/office/drawing/2014/main" id="{B6572114-934D-F0DB-1AE4-9343545A2A96}"/>
              </a:ext>
            </a:extLst>
          </p:cNvPr>
          <p:cNvSpPr>
            <a:spLocks noGrp="1"/>
          </p:cNvSpPr>
          <p:nvPr>
            <p:ph type="sldNum" sz="quarter" idx="12"/>
          </p:nvPr>
        </p:nvSpPr>
        <p:spPr/>
        <p:txBody>
          <a:bodyPr/>
          <a:lstStyle/>
          <a:p>
            <a:fld id="{271ECC92-9CDE-4EB3-B1C5-F46B9E1FA3C1}" type="slidenum">
              <a:rPr lang="en-SE" smtClean="0"/>
              <a:t>93</a:t>
            </a:fld>
            <a:endParaRPr lang="en-SE"/>
          </a:p>
        </p:txBody>
      </p:sp>
    </p:spTree>
    <p:extLst>
      <p:ext uri="{BB962C8B-B14F-4D97-AF65-F5344CB8AC3E}">
        <p14:creationId xmlns:p14="http://schemas.microsoft.com/office/powerpoint/2010/main" val="19942525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Chalmers">
      <a:dk1>
        <a:sysClr val="windowText" lastClr="000000"/>
      </a:dk1>
      <a:lt1>
        <a:srgbClr val="FFFFFF"/>
      </a:lt1>
      <a:dk2>
        <a:srgbClr val="003050"/>
      </a:dk2>
      <a:lt2>
        <a:srgbClr val="FFCB05"/>
      </a:lt2>
      <a:accent1>
        <a:srgbClr val="F15A22"/>
      </a:accent1>
      <a:accent2>
        <a:srgbClr val="7FB539"/>
      </a:accent2>
      <a:accent3>
        <a:srgbClr val="006C5C"/>
      </a:accent3>
      <a:accent4>
        <a:srgbClr val="5D6F7A"/>
      </a:accent4>
      <a:accent5>
        <a:srgbClr val="58B0E3"/>
      </a:accent5>
      <a:accent6>
        <a:srgbClr val="270089"/>
      </a:accent6>
      <a:hlink>
        <a:srgbClr val="00A99D"/>
      </a:hlink>
      <a:folHlink>
        <a:srgbClr val="48372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1267</TotalTime>
  <Words>6655</Words>
  <Application>Microsoft Office PowerPoint</Application>
  <PresentationFormat>Widescreen</PresentationFormat>
  <Paragraphs>999</Paragraphs>
  <Slides>93</Slides>
  <Notes>11</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93</vt:i4>
      </vt:variant>
    </vt:vector>
  </HeadingPairs>
  <TitlesOfParts>
    <vt:vector size="100" baseType="lpstr">
      <vt:lpstr>Aptos</vt:lpstr>
      <vt:lpstr>Aptos Display</vt:lpstr>
      <vt:lpstr>Arial</vt:lpstr>
      <vt:lpstr>Cambria Math</vt:lpstr>
      <vt:lpstr>Courier New</vt:lpstr>
      <vt:lpstr>Segoe UI Black</vt:lpstr>
      <vt:lpstr>Office Theme</vt:lpstr>
      <vt:lpstr>Applied Bayesian Data Analysis</vt:lpstr>
      <vt:lpstr>Applied Bayesian Data Analysis  in Requirements Engineering</vt:lpstr>
      <vt:lpstr>Meet your Instructors</vt:lpstr>
      <vt:lpstr>Schedule</vt:lpstr>
      <vt:lpstr>Motivation and Goals</vt:lpstr>
      <vt:lpstr>Good Science</vt:lpstr>
      <vt:lpstr>Conclusion Validity</vt:lpstr>
      <vt:lpstr>Conclusion Validity</vt:lpstr>
      <vt:lpstr>Learning Outcomes</vt:lpstr>
      <vt:lpstr>State of Practice</vt:lpstr>
      <vt:lpstr>Null-Hypothesis Significance Tests</vt:lpstr>
      <vt:lpstr>Null-Hypothesis Significance Tests</vt:lpstr>
      <vt:lpstr>Null-Hypothesis Significance Tests</vt:lpstr>
      <vt:lpstr>Null-Hypothesis Significance Tests</vt:lpstr>
      <vt:lpstr>PowerPoint Presentation</vt:lpstr>
      <vt:lpstr>Null-Hypothesis Significance Tests</vt:lpstr>
      <vt:lpstr>Null-Hypothesis Significance Tests</vt:lpstr>
      <vt:lpstr>Null-Hypothesis Significance Tests</vt:lpstr>
      <vt:lpstr>Origin of the NHST</vt:lpstr>
      <vt:lpstr>Confidence Intervals</vt:lpstr>
      <vt:lpstr>Null-Hypothesis Significance Tests</vt:lpstr>
      <vt:lpstr>The Bayesian Paradigm</vt:lpstr>
      <vt:lpstr>Paradigm of Probability</vt:lpstr>
      <vt:lpstr>Paradigm of Probability</vt:lpstr>
      <vt:lpstr>Bayes’ Theorem</vt:lpstr>
      <vt:lpstr>Bayes’ Theorem</vt:lpstr>
      <vt:lpstr>Bayes’ Theorem</vt:lpstr>
      <vt:lpstr>Bayes’ Theorem</vt:lpstr>
      <vt:lpstr>Bayes’ Theorem</vt:lpstr>
      <vt:lpstr>Example</vt:lpstr>
      <vt:lpstr>Example</vt:lpstr>
      <vt:lpstr>Example</vt:lpstr>
      <vt:lpstr>Example</vt:lpstr>
      <vt:lpstr>Example</vt:lpstr>
      <vt:lpstr>Example</vt:lpstr>
      <vt:lpstr>Example</vt:lpstr>
      <vt:lpstr>Example</vt:lpstr>
      <vt:lpstr>Application I</vt:lpstr>
      <vt:lpstr>The Bayesian Workflow</vt:lpstr>
      <vt:lpstr>Precursor</vt:lpstr>
      <vt:lpstr>Context</vt:lpstr>
      <vt:lpstr>Building a Regression Formula</vt:lpstr>
      <vt:lpstr>Building a Regression Formula</vt:lpstr>
      <vt:lpstr>Building a Regression Formula</vt:lpstr>
      <vt:lpstr>Selecting Priors</vt:lpstr>
      <vt:lpstr>Selecting Priors</vt:lpstr>
      <vt:lpstr>Selecting Priors</vt:lpstr>
      <vt:lpstr>Assessing Priors</vt:lpstr>
      <vt:lpstr>Assessing Priors</vt:lpstr>
      <vt:lpstr>Assessing Priors</vt:lpstr>
      <vt:lpstr>Bayesian Updating</vt:lpstr>
      <vt:lpstr>Bayesian Updating</vt:lpstr>
      <vt:lpstr>Bayesian Updating Engine</vt:lpstr>
      <vt:lpstr>Bayesian Updating Engine</vt:lpstr>
      <vt:lpstr>Bayesian Updating Engine</vt:lpstr>
      <vt:lpstr>Markov chain Monte Carlo Sampling</vt:lpstr>
      <vt:lpstr>Markov chain Monte Carlo Sampling</vt:lpstr>
      <vt:lpstr>Markov chain Monte Carlo Sampling</vt:lpstr>
      <vt:lpstr>Markov chain Monte Carlo Sampling</vt:lpstr>
      <vt:lpstr>Assessing the Training</vt:lpstr>
      <vt:lpstr>Assessing the Training</vt:lpstr>
      <vt:lpstr>Interpreting the Results</vt:lpstr>
      <vt:lpstr>Credible Interval</vt:lpstr>
      <vt:lpstr>Credible Interval</vt:lpstr>
      <vt:lpstr>Effect of Priors</vt:lpstr>
      <vt:lpstr>Application II</vt:lpstr>
      <vt:lpstr>The Bayesian Workflow</vt:lpstr>
      <vt:lpstr>Normal Distribution</vt:lpstr>
      <vt:lpstr>PowerPoint Presentation</vt:lpstr>
      <vt:lpstr>PowerPoint Presentation</vt:lpstr>
      <vt:lpstr>PowerPoint Presentation</vt:lpstr>
      <vt:lpstr>Distribution Families</vt:lpstr>
      <vt:lpstr>Classic Misconception</vt:lpstr>
      <vt:lpstr>Picking the wrong Distribution</vt:lpstr>
      <vt:lpstr>Maximum Entropy</vt:lpstr>
      <vt:lpstr>Maximum Entropy</vt:lpstr>
      <vt:lpstr>Updated Context</vt:lpstr>
      <vt:lpstr>Building a Regression Formula</vt:lpstr>
      <vt:lpstr>Link Functions</vt:lpstr>
      <vt:lpstr>Bayesian Model</vt:lpstr>
      <vt:lpstr>Prior Predictive Checks, Training, and Posterior Predictive Checks</vt:lpstr>
      <vt:lpstr>Model Interpretation</vt:lpstr>
      <vt:lpstr>Marginal Effects</vt:lpstr>
      <vt:lpstr>Marginal Effects</vt:lpstr>
      <vt:lpstr>The Bayesian Workflow</vt:lpstr>
      <vt:lpstr>Learning Path</vt:lpstr>
      <vt:lpstr>Learning Bayesian Data Analysis</vt:lpstr>
      <vt:lpstr>Distributions</vt:lpstr>
      <vt:lpstr>Resources</vt:lpstr>
      <vt:lpstr>Resources</vt:lpstr>
      <vt:lpstr>Opportunities</vt:lpstr>
      <vt:lpstr>Conclusion</vt:lpstr>
      <vt:lpstr>Bayesian Data Analysis in a Nutshell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 Frattini</dc:creator>
  <cp:lastModifiedBy>Julian Frattini</cp:lastModifiedBy>
  <cp:revision>67</cp:revision>
  <dcterms:created xsi:type="dcterms:W3CDTF">2025-05-23T14:20:09Z</dcterms:created>
  <dcterms:modified xsi:type="dcterms:W3CDTF">2026-08-12T14:17:51Z</dcterms:modified>
</cp:coreProperties>
</file>