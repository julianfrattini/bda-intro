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4"/>
  </p:notesMasterIdLst>
  <p:sldIdLst>
    <p:sldId id="256" r:id="rId2"/>
    <p:sldId id="350" r:id="rId3"/>
    <p:sldId id="386" r:id="rId4"/>
    <p:sldId id="394" r:id="rId5"/>
    <p:sldId id="387" r:id="rId6"/>
    <p:sldId id="502" r:id="rId7"/>
    <p:sldId id="457" r:id="rId8"/>
    <p:sldId id="503" r:id="rId9"/>
    <p:sldId id="504" r:id="rId10"/>
    <p:sldId id="388" r:id="rId11"/>
    <p:sldId id="433" r:id="rId12"/>
    <p:sldId id="518" r:id="rId13"/>
    <p:sldId id="519" r:id="rId14"/>
    <p:sldId id="506" r:id="rId15"/>
    <p:sldId id="507" r:id="rId16"/>
    <p:sldId id="437" r:id="rId17"/>
    <p:sldId id="449" r:id="rId18"/>
    <p:sldId id="434" r:id="rId19"/>
    <p:sldId id="520" r:id="rId20"/>
    <p:sldId id="486" r:id="rId21"/>
    <p:sldId id="435" r:id="rId22"/>
    <p:sldId id="397" r:id="rId23"/>
    <p:sldId id="521" r:id="rId24"/>
    <p:sldId id="398" r:id="rId25"/>
    <p:sldId id="399" r:id="rId26"/>
    <p:sldId id="467" r:id="rId27"/>
    <p:sldId id="464" r:id="rId28"/>
    <p:sldId id="466" r:id="rId29"/>
    <p:sldId id="465" r:id="rId30"/>
    <p:sldId id="400" r:id="rId31"/>
    <p:sldId id="401" r:id="rId32"/>
    <p:sldId id="402" r:id="rId33"/>
    <p:sldId id="403" r:id="rId34"/>
    <p:sldId id="404" r:id="rId35"/>
    <p:sldId id="405" r:id="rId36"/>
    <p:sldId id="406" r:id="rId37"/>
    <p:sldId id="407" r:id="rId38"/>
    <p:sldId id="390" r:id="rId39"/>
    <p:sldId id="395" r:id="rId40"/>
    <p:sldId id="531" r:id="rId41"/>
    <p:sldId id="475" r:id="rId42"/>
    <p:sldId id="468" r:id="rId43"/>
    <p:sldId id="535" r:id="rId44"/>
    <p:sldId id="471" r:id="rId45"/>
    <p:sldId id="508" r:id="rId46"/>
    <p:sldId id="510" r:id="rId47"/>
    <p:sldId id="472" r:id="rId48"/>
    <p:sldId id="509" r:id="rId49"/>
    <p:sldId id="511" r:id="rId50"/>
    <p:sldId id="473" r:id="rId51"/>
    <p:sldId id="512" r:id="rId52"/>
    <p:sldId id="513" r:id="rId53"/>
    <p:sldId id="474" r:id="rId54"/>
    <p:sldId id="477" r:id="rId55"/>
    <p:sldId id="478" r:id="rId56"/>
    <p:sldId id="479" r:id="rId57"/>
    <p:sldId id="514" r:id="rId58"/>
    <p:sldId id="480" r:id="rId59"/>
    <p:sldId id="515" r:id="rId60"/>
    <p:sldId id="481" r:id="rId61"/>
    <p:sldId id="482" r:id="rId62"/>
    <p:sldId id="483" r:id="rId63"/>
    <p:sldId id="516" r:id="rId64"/>
    <p:sldId id="532" r:id="rId65"/>
    <p:sldId id="533" r:id="rId66"/>
    <p:sldId id="534" r:id="rId67"/>
    <p:sldId id="536" r:id="rId68"/>
    <p:sldId id="484" r:id="rId69"/>
    <p:sldId id="485" r:id="rId70"/>
    <p:sldId id="517" r:id="rId71"/>
    <p:sldId id="476" r:id="rId72"/>
    <p:sldId id="460" r:id="rId73"/>
    <p:sldId id="469" r:id="rId74"/>
    <p:sldId id="487" r:id="rId75"/>
    <p:sldId id="527" r:id="rId76"/>
    <p:sldId id="528" r:id="rId77"/>
    <p:sldId id="529" r:id="rId78"/>
    <p:sldId id="488" r:id="rId79"/>
    <p:sldId id="489" r:id="rId80"/>
    <p:sldId id="491" r:id="rId81"/>
    <p:sldId id="490" r:id="rId82"/>
    <p:sldId id="492" r:id="rId83"/>
    <p:sldId id="493" r:id="rId84"/>
    <p:sldId id="494" r:id="rId85"/>
    <p:sldId id="495" r:id="rId86"/>
    <p:sldId id="497" r:id="rId87"/>
    <p:sldId id="498" r:id="rId88"/>
    <p:sldId id="499" r:id="rId89"/>
    <p:sldId id="500" r:id="rId90"/>
    <p:sldId id="530" r:id="rId91"/>
    <p:sldId id="470" r:id="rId92"/>
    <p:sldId id="391" r:id="rId93"/>
    <p:sldId id="539" r:id="rId94"/>
    <p:sldId id="522" r:id="rId95"/>
    <p:sldId id="523" r:id="rId96"/>
    <p:sldId id="524" r:id="rId97"/>
    <p:sldId id="462" r:id="rId98"/>
    <p:sldId id="525" r:id="rId99"/>
    <p:sldId id="393" r:id="rId100"/>
    <p:sldId id="526" r:id="rId101"/>
    <p:sldId id="537" r:id="rId102"/>
    <p:sldId id="538" r:id="rId10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CC29449-0C4D-440C-A898-37D5FC755553}">
          <p14:sldIdLst>
            <p14:sldId id="256"/>
            <p14:sldId id="350"/>
            <p14:sldId id="386"/>
            <p14:sldId id="394"/>
          </p14:sldIdLst>
        </p14:section>
        <p14:section name="Motivation" id="{34986FCE-9F3C-4183-BDE2-138525CAECD9}">
          <p14:sldIdLst>
            <p14:sldId id="387"/>
            <p14:sldId id="502"/>
            <p14:sldId id="457"/>
            <p14:sldId id="503"/>
            <p14:sldId id="504"/>
          </p14:sldIdLst>
        </p14:section>
        <p14:section name="Issues with Frequentism" id="{6D84A925-A44D-4C15-9218-E466C68C8781}">
          <p14:sldIdLst>
            <p14:sldId id="388"/>
            <p14:sldId id="433"/>
            <p14:sldId id="518"/>
            <p14:sldId id="519"/>
            <p14:sldId id="506"/>
            <p14:sldId id="507"/>
            <p14:sldId id="437"/>
            <p14:sldId id="449"/>
            <p14:sldId id="434"/>
            <p14:sldId id="520"/>
            <p14:sldId id="486"/>
            <p14:sldId id="435"/>
          </p14:sldIdLst>
        </p14:section>
        <p14:section name="The Bayesian Paradigm" id="{4AFC7822-3206-455D-BBFF-48707FC7FD46}">
          <p14:sldIdLst>
            <p14:sldId id="397"/>
            <p14:sldId id="521"/>
            <p14:sldId id="398"/>
            <p14:sldId id="399"/>
            <p14:sldId id="467"/>
            <p14:sldId id="464"/>
            <p14:sldId id="466"/>
            <p14:sldId id="465"/>
            <p14:sldId id="400"/>
            <p14:sldId id="401"/>
            <p14:sldId id="402"/>
            <p14:sldId id="403"/>
            <p14:sldId id="404"/>
            <p14:sldId id="405"/>
            <p14:sldId id="406"/>
            <p14:sldId id="407"/>
          </p14:sldIdLst>
        </p14:section>
        <p14:section name="BDA Workflow I" id="{CFBB5A7D-BA39-4837-BFD5-9D594E80F3B8}">
          <p14:sldIdLst>
            <p14:sldId id="390"/>
            <p14:sldId id="395"/>
            <p14:sldId id="531"/>
            <p14:sldId id="475"/>
            <p14:sldId id="468"/>
            <p14:sldId id="535"/>
            <p14:sldId id="471"/>
            <p14:sldId id="508"/>
            <p14:sldId id="510"/>
            <p14:sldId id="472"/>
            <p14:sldId id="509"/>
            <p14:sldId id="511"/>
            <p14:sldId id="473"/>
            <p14:sldId id="512"/>
            <p14:sldId id="513"/>
            <p14:sldId id="474"/>
            <p14:sldId id="477"/>
            <p14:sldId id="478"/>
            <p14:sldId id="479"/>
            <p14:sldId id="514"/>
            <p14:sldId id="480"/>
            <p14:sldId id="515"/>
            <p14:sldId id="481"/>
            <p14:sldId id="482"/>
            <p14:sldId id="483"/>
            <p14:sldId id="516"/>
            <p14:sldId id="532"/>
            <p14:sldId id="533"/>
            <p14:sldId id="534"/>
            <p14:sldId id="536"/>
            <p14:sldId id="484"/>
            <p14:sldId id="485"/>
            <p14:sldId id="517"/>
            <p14:sldId id="476"/>
          </p14:sldIdLst>
        </p14:section>
        <p14:section name="BDA Workflow II" id="{7087B3EA-11E2-41D1-8BE9-0A9245BAE2FC}">
          <p14:sldIdLst>
            <p14:sldId id="460"/>
            <p14:sldId id="469"/>
            <p14:sldId id="487"/>
            <p14:sldId id="527"/>
            <p14:sldId id="528"/>
            <p14:sldId id="529"/>
            <p14:sldId id="488"/>
            <p14:sldId id="489"/>
            <p14:sldId id="491"/>
            <p14:sldId id="490"/>
            <p14:sldId id="492"/>
            <p14:sldId id="493"/>
            <p14:sldId id="494"/>
            <p14:sldId id="495"/>
            <p14:sldId id="497"/>
            <p14:sldId id="498"/>
            <p14:sldId id="499"/>
            <p14:sldId id="500"/>
            <p14:sldId id="530"/>
            <p14:sldId id="470"/>
          </p14:sldIdLst>
        </p14:section>
        <p14:section name="Path" id="{8D1EECA8-B8A5-4D13-BCBD-6ACD01349181}">
          <p14:sldIdLst>
            <p14:sldId id="391"/>
            <p14:sldId id="539"/>
            <p14:sldId id="522"/>
            <p14:sldId id="523"/>
            <p14:sldId id="524"/>
            <p14:sldId id="462"/>
            <p14:sldId id="525"/>
          </p14:sldIdLst>
        </p14:section>
        <p14:section name="Conclusion" id="{879C7E9E-8A99-43E5-8558-7F1D3037B43E}">
          <p14:sldIdLst>
            <p14:sldId id="393"/>
            <p14:sldId id="526"/>
            <p14:sldId id="537"/>
            <p14:sldId id="53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D70"/>
    <a:srgbClr val="D0180A"/>
    <a:srgbClr val="663300"/>
    <a:srgbClr val="4300EA"/>
    <a:srgbClr val="4900FE"/>
    <a:srgbClr val="AB8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33" autoAdjust="0"/>
    <p:restoredTop sz="78519" autoAdjust="0"/>
  </p:normalViewPr>
  <p:slideViewPr>
    <p:cSldViewPr snapToGrid="0">
      <p:cViewPr varScale="1">
        <p:scale>
          <a:sx n="65" d="100"/>
          <a:sy n="65" d="100"/>
        </p:scale>
        <p:origin x="797"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28809-A3C0-435B-AC12-B9138744A337}" type="datetimeFigureOut">
              <a:rPr lang="en-SE" smtClean="0"/>
              <a:t>2026-08-17</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EE9047-6757-432F-B3C4-B9B79F30218C}" type="slidenum">
              <a:rPr lang="en-SE" smtClean="0"/>
              <a:t>‹#›</a:t>
            </a:fld>
            <a:endParaRPr lang="en-SE"/>
          </a:p>
        </p:txBody>
      </p:sp>
    </p:spTree>
    <p:extLst>
      <p:ext uri="{BB962C8B-B14F-4D97-AF65-F5344CB8AC3E}">
        <p14:creationId xmlns:p14="http://schemas.microsoft.com/office/powerpoint/2010/main" val="3165615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a:t>
            </a:fld>
            <a:endParaRPr lang="en-SE"/>
          </a:p>
        </p:txBody>
      </p:sp>
    </p:spTree>
    <p:extLst>
      <p:ext uri="{BB962C8B-B14F-4D97-AF65-F5344CB8AC3E}">
        <p14:creationId xmlns:p14="http://schemas.microsoft.com/office/powerpoint/2010/main" val="868431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a:p>
        </p:txBody>
      </p:sp>
      <p:sp>
        <p:nvSpPr>
          <p:cNvPr id="4" name="Slide Number Placeholder 3"/>
          <p:cNvSpPr>
            <a:spLocks noGrp="1"/>
          </p:cNvSpPr>
          <p:nvPr>
            <p:ph type="sldNum" sz="quarter" idx="5"/>
          </p:nvPr>
        </p:nvSpPr>
        <p:spPr/>
        <p:txBody>
          <a:bodyPr/>
          <a:lstStyle/>
          <a:p>
            <a:fld id="{ACC9BBD8-1C1E-4CFA-8C12-0AE7F3A91C3D}" type="slidenum">
              <a:rPr lang="en-US" smtClean="0"/>
              <a:t>2</a:t>
            </a:fld>
            <a:endParaRPr lang="en-US"/>
          </a:p>
        </p:txBody>
      </p:sp>
    </p:spTree>
    <p:extLst>
      <p:ext uri="{BB962C8B-B14F-4D97-AF65-F5344CB8AC3E}">
        <p14:creationId xmlns:p14="http://schemas.microsoft.com/office/powerpoint/2010/main" val="4038752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Disclaimers:</a:t>
            </a:r>
          </a:p>
          <a:p>
            <a:endParaRPr lang="en-SE" dirty="0"/>
          </a:p>
          <a:p>
            <a:pPr marL="171450" indent="-171450">
              <a:buFont typeface="Arial" panose="020B0604020202020204" pitchFamily="34" charset="0"/>
              <a:buChar char="•"/>
            </a:pPr>
            <a:r>
              <a:rPr lang="en-SE" dirty="0"/>
              <a:t>Only attending instructor: but the learning experience is still fresher</a:t>
            </a:r>
          </a:p>
          <a:p>
            <a:pPr marL="171450" indent="-171450">
              <a:buFont typeface="Arial" panose="020B0604020202020204" pitchFamily="34" charset="0"/>
              <a:buChar char="•"/>
            </a:pPr>
            <a:r>
              <a:rPr lang="en-SE" dirty="0"/>
              <a:t>Not a statistician: but that will hopefully make the material more accessible</a:t>
            </a:r>
          </a:p>
        </p:txBody>
      </p:sp>
      <p:sp>
        <p:nvSpPr>
          <p:cNvPr id="4" name="Slide Number Placeholder 3"/>
          <p:cNvSpPr>
            <a:spLocks noGrp="1"/>
          </p:cNvSpPr>
          <p:nvPr>
            <p:ph type="sldNum" sz="quarter" idx="5"/>
          </p:nvPr>
        </p:nvSpPr>
        <p:spPr/>
        <p:txBody>
          <a:bodyPr/>
          <a:lstStyle/>
          <a:p>
            <a:fld id="{FBEE9047-6757-432F-B3C4-B9B79F30218C}" type="slidenum">
              <a:rPr lang="en-SE" smtClean="0"/>
              <a:t>3</a:t>
            </a:fld>
            <a:endParaRPr lang="en-SE"/>
          </a:p>
        </p:txBody>
      </p:sp>
    </p:spTree>
    <p:extLst>
      <p:ext uri="{BB962C8B-B14F-4D97-AF65-F5344CB8AC3E}">
        <p14:creationId xmlns:p14="http://schemas.microsoft.com/office/powerpoint/2010/main" val="1794498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4</a:t>
            </a:fld>
            <a:endParaRPr lang="en-SE"/>
          </a:p>
        </p:txBody>
      </p:sp>
    </p:spTree>
    <p:extLst>
      <p:ext uri="{BB962C8B-B14F-4D97-AF65-F5344CB8AC3E}">
        <p14:creationId xmlns:p14="http://schemas.microsoft.com/office/powerpoint/2010/main" val="40909524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11</a:t>
            </a:fld>
            <a:endParaRPr lang="en-SE"/>
          </a:p>
        </p:txBody>
      </p:sp>
    </p:spTree>
    <p:extLst>
      <p:ext uri="{BB962C8B-B14F-4D97-AF65-F5344CB8AC3E}">
        <p14:creationId xmlns:p14="http://schemas.microsoft.com/office/powerpoint/2010/main" val="9542488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2988F-6464-AACD-037D-54B3B784B5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B5C2C-6603-450B-C97A-B5E233809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2522D7-AD9B-EF7B-B099-799B0E10A0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F73617F9-9B52-5B99-1E59-C6FB0C35D59F}"/>
              </a:ext>
            </a:extLst>
          </p:cNvPr>
          <p:cNvSpPr>
            <a:spLocks noGrp="1"/>
          </p:cNvSpPr>
          <p:nvPr>
            <p:ph type="sldNum" sz="quarter" idx="5"/>
          </p:nvPr>
        </p:nvSpPr>
        <p:spPr/>
        <p:txBody>
          <a:bodyPr/>
          <a:lstStyle/>
          <a:p>
            <a:fld id="{FBEE9047-6757-432F-B3C4-B9B79F30218C}" type="slidenum">
              <a:rPr lang="en-SE" smtClean="0"/>
              <a:t>12</a:t>
            </a:fld>
            <a:endParaRPr lang="en-SE"/>
          </a:p>
        </p:txBody>
      </p:sp>
    </p:spTree>
    <p:extLst>
      <p:ext uri="{BB962C8B-B14F-4D97-AF65-F5344CB8AC3E}">
        <p14:creationId xmlns:p14="http://schemas.microsoft.com/office/powerpoint/2010/main" val="3649425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C2EFB-E03F-D16C-CAA3-BB67B8AA3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7ED3B-E4C1-EF53-16B5-C9ECA32F8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64ED0-B7C9-9441-F91A-3243E6EE3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38718B48-B291-6093-435F-E2055D0F6D3C}"/>
              </a:ext>
            </a:extLst>
          </p:cNvPr>
          <p:cNvSpPr>
            <a:spLocks noGrp="1"/>
          </p:cNvSpPr>
          <p:nvPr>
            <p:ph type="sldNum" sz="quarter" idx="5"/>
          </p:nvPr>
        </p:nvSpPr>
        <p:spPr/>
        <p:txBody>
          <a:bodyPr/>
          <a:lstStyle/>
          <a:p>
            <a:fld id="{FBEE9047-6757-432F-B3C4-B9B79F30218C}" type="slidenum">
              <a:rPr lang="en-SE" smtClean="0"/>
              <a:t>13</a:t>
            </a:fld>
            <a:endParaRPr lang="en-SE"/>
          </a:p>
        </p:txBody>
      </p:sp>
    </p:spTree>
    <p:extLst>
      <p:ext uri="{BB962C8B-B14F-4D97-AF65-F5344CB8AC3E}">
        <p14:creationId xmlns:p14="http://schemas.microsoft.com/office/powerpoint/2010/main" val="34041464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24957-0468-9457-BC4E-73731F56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7DB4BC-4855-8539-5990-6DE197F7CD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39CF5-123F-26CF-D5BB-7DF7A6C3EC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NH + data + appropriate test = p-value</a:t>
            </a:r>
          </a:p>
          <a:p>
            <a:endParaRPr lang="en-SE" dirty="0"/>
          </a:p>
        </p:txBody>
      </p:sp>
      <p:sp>
        <p:nvSpPr>
          <p:cNvPr id="4" name="Slide Number Placeholder 3">
            <a:extLst>
              <a:ext uri="{FF2B5EF4-FFF2-40B4-BE49-F238E27FC236}">
                <a16:creationId xmlns:a16="http://schemas.microsoft.com/office/drawing/2014/main" id="{87CCC264-7CF0-F91D-D279-28C8A8D9987D}"/>
              </a:ext>
            </a:extLst>
          </p:cNvPr>
          <p:cNvSpPr>
            <a:spLocks noGrp="1"/>
          </p:cNvSpPr>
          <p:nvPr>
            <p:ph type="sldNum" sz="quarter" idx="5"/>
          </p:nvPr>
        </p:nvSpPr>
        <p:spPr/>
        <p:txBody>
          <a:bodyPr/>
          <a:lstStyle/>
          <a:p>
            <a:fld id="{FBEE9047-6757-432F-B3C4-B9B79F30218C}" type="slidenum">
              <a:rPr lang="en-SE" smtClean="0"/>
              <a:t>14</a:t>
            </a:fld>
            <a:endParaRPr lang="en-SE"/>
          </a:p>
        </p:txBody>
      </p:sp>
    </p:spTree>
    <p:extLst>
      <p:ext uri="{BB962C8B-B14F-4D97-AF65-F5344CB8AC3E}">
        <p14:creationId xmlns:p14="http://schemas.microsoft.com/office/powerpoint/2010/main" val="41715729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SE" dirty="0"/>
              <a:t>Frequentist: the effect is fixed, but data is hypothetical (i.e., observed data is just a random sample from an infinite process)</a:t>
            </a:r>
          </a:p>
          <a:p>
            <a:pPr marL="171450" indent="-171450">
              <a:buFont typeface="Arial" panose="020B0604020202020204" pitchFamily="34" charset="0"/>
              <a:buChar char="•"/>
            </a:pPr>
            <a:r>
              <a:rPr lang="en-SE" dirty="0"/>
              <a:t>Bayesian: events are factual, but belief is distributed</a:t>
            </a:r>
          </a:p>
        </p:txBody>
      </p:sp>
      <p:sp>
        <p:nvSpPr>
          <p:cNvPr id="4" name="Slide Number Placeholder 3"/>
          <p:cNvSpPr>
            <a:spLocks noGrp="1"/>
          </p:cNvSpPr>
          <p:nvPr>
            <p:ph type="sldNum" sz="quarter" idx="5"/>
          </p:nvPr>
        </p:nvSpPr>
        <p:spPr/>
        <p:txBody>
          <a:bodyPr/>
          <a:lstStyle/>
          <a:p>
            <a:fld id="{FBEE9047-6757-432F-B3C4-B9B79F30218C}" type="slidenum">
              <a:rPr lang="en-SE" smtClean="0"/>
              <a:t>23</a:t>
            </a:fld>
            <a:endParaRPr lang="en-SE"/>
          </a:p>
        </p:txBody>
      </p:sp>
    </p:spTree>
    <p:extLst>
      <p:ext uri="{BB962C8B-B14F-4D97-AF65-F5344CB8AC3E}">
        <p14:creationId xmlns:p14="http://schemas.microsoft.com/office/powerpoint/2010/main" val="35682587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39</a:t>
            </a:fld>
            <a:endParaRPr lang="en-SE"/>
          </a:p>
        </p:txBody>
      </p:sp>
    </p:spTree>
    <p:extLst>
      <p:ext uri="{BB962C8B-B14F-4D97-AF65-F5344CB8AC3E}">
        <p14:creationId xmlns:p14="http://schemas.microsoft.com/office/powerpoint/2010/main" val="881729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41</a:t>
            </a:fld>
            <a:endParaRPr lang="en-SE"/>
          </a:p>
        </p:txBody>
      </p:sp>
    </p:spTree>
    <p:extLst>
      <p:ext uri="{BB962C8B-B14F-4D97-AF65-F5344CB8AC3E}">
        <p14:creationId xmlns:p14="http://schemas.microsoft.com/office/powerpoint/2010/main" val="5058744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60</a:t>
            </a:fld>
            <a:endParaRPr lang="en-SE"/>
          </a:p>
        </p:txBody>
      </p:sp>
    </p:spTree>
    <p:extLst>
      <p:ext uri="{BB962C8B-B14F-4D97-AF65-F5344CB8AC3E}">
        <p14:creationId xmlns:p14="http://schemas.microsoft.com/office/powerpoint/2010/main" val="13979775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SE" dirty="0"/>
                  <a:t>Posterior predictive check</a:t>
                </a:r>
              </a:p>
              <a:p>
                <a:r>
                  <a:rPr lang="en-SE" dirty="0"/>
                  <a:t>Gelman-Rubin Convergence Statistics </a:t>
                </a:r>
                <a14:m>
                  <m:oMath xmlns:m="http://schemas.openxmlformats.org/officeDocument/2006/math">
                    <m:acc>
                      <m:accPr>
                        <m:chr m:val="̂"/>
                        <m:ctrlPr>
                          <a:rPr lang="en-SE" b="0" i="1" smtClean="0">
                            <a:latin typeface="Cambria Math" panose="02040503050406030204" pitchFamily="18" charset="0"/>
                          </a:rPr>
                        </m:ctrlPr>
                      </m:accPr>
                      <m:e>
                        <m:r>
                          <a:rPr lang="en-SE" b="0" i="1" smtClean="0">
                            <a:latin typeface="Cambria Math" panose="02040503050406030204" pitchFamily="18" charset="0"/>
                          </a:rPr>
                          <m:t>𝑅</m:t>
                        </m:r>
                      </m:e>
                    </m:acc>
                  </m:oMath>
                </a14:m>
                <a:endParaRPr lang="en-SE" dirty="0"/>
              </a:p>
              <a:p>
                <a:r>
                  <a:rPr lang="en-SE" dirty="0"/>
                  <a:t>Effective sample sizes</a:t>
                </a:r>
              </a:p>
              <a:p>
                <a:r>
                  <a:rPr lang="en-SE" dirty="0"/>
                  <a:t>Visual assessment (“hairy caterpillar ocular inspection test”)</a:t>
                </a:r>
              </a:p>
              <a:p>
                <a:endParaRPr lang="en-SE" dirty="0"/>
              </a:p>
            </p:txBody>
          </p:sp>
        </mc:Choice>
        <mc:Fallback xmlns="">
          <p:sp>
            <p:nvSpPr>
              <p:cNvPr id="3" name="Notes Placeholder 2"/>
              <p:cNvSpPr>
                <a:spLocks noGrp="1"/>
              </p:cNvSpPr>
              <p:nvPr>
                <p:ph type="body" idx="1"/>
              </p:nvPr>
            </p:nvSpPr>
            <p:spPr/>
            <p:txBody>
              <a:bodyPr/>
              <a:lstStyle/>
              <a:p>
                <a:r>
                  <a:rPr lang="en-SE" dirty="0"/>
                  <a:t>Posterior predictive check</a:t>
                </a:r>
              </a:p>
              <a:p>
                <a:r>
                  <a:rPr lang="en-SE" dirty="0"/>
                  <a:t>Gelman-Rubin Convergence Statistics </a:t>
                </a:r>
                <a:r>
                  <a:rPr lang="en-SE" b="0" i="0">
                    <a:latin typeface="Cambria Math" panose="02040503050406030204" pitchFamily="18" charset="0"/>
                  </a:rPr>
                  <a:t>𝑅 ̂</a:t>
                </a:r>
                <a:endParaRPr lang="en-SE" dirty="0"/>
              </a:p>
              <a:p>
                <a:r>
                  <a:rPr lang="en-SE" dirty="0"/>
                  <a:t>Effective sample sizes</a:t>
                </a:r>
              </a:p>
              <a:p>
                <a:r>
                  <a:rPr lang="en-SE" dirty="0"/>
                  <a:t>Visual assessment (“hairy caterpillar ocular inspection test”)</a:t>
                </a:r>
              </a:p>
              <a:p>
                <a:endParaRPr lang="en-SE" dirty="0"/>
              </a:p>
            </p:txBody>
          </p:sp>
        </mc:Fallback>
      </mc:AlternateContent>
      <p:sp>
        <p:nvSpPr>
          <p:cNvPr id="4" name="Slide Number Placeholder 3"/>
          <p:cNvSpPr>
            <a:spLocks noGrp="1"/>
          </p:cNvSpPr>
          <p:nvPr>
            <p:ph type="sldNum" sz="quarter" idx="5"/>
          </p:nvPr>
        </p:nvSpPr>
        <p:spPr/>
        <p:txBody>
          <a:bodyPr/>
          <a:lstStyle/>
          <a:p>
            <a:fld id="{FBEE9047-6757-432F-B3C4-B9B79F30218C}" type="slidenum">
              <a:rPr lang="en-SE" smtClean="0"/>
              <a:t>62</a:t>
            </a:fld>
            <a:endParaRPr lang="en-SE"/>
          </a:p>
        </p:txBody>
      </p:sp>
    </p:spTree>
    <p:extLst>
      <p:ext uri="{BB962C8B-B14F-4D97-AF65-F5344CB8AC3E}">
        <p14:creationId xmlns:p14="http://schemas.microsoft.com/office/powerpoint/2010/main" val="1102889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C936A-2CA4-675B-59E7-8EFA081D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112A3-DDC2-8D7B-2D70-DE15D1AAA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5F4CB6-226F-F743-0ED9-670FBEC4FE02}"/>
              </a:ext>
            </a:extLst>
          </p:cNvPr>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a:extLst>
              <a:ext uri="{FF2B5EF4-FFF2-40B4-BE49-F238E27FC236}">
                <a16:creationId xmlns:a16="http://schemas.microsoft.com/office/drawing/2014/main" id="{16A1FC37-BA25-BF20-0008-92BA67052CC1}"/>
              </a:ext>
            </a:extLst>
          </p:cNvPr>
          <p:cNvSpPr>
            <a:spLocks noGrp="1"/>
          </p:cNvSpPr>
          <p:nvPr>
            <p:ph type="sldNum" sz="quarter" idx="5"/>
          </p:nvPr>
        </p:nvSpPr>
        <p:spPr/>
        <p:txBody>
          <a:bodyPr/>
          <a:lstStyle/>
          <a:p>
            <a:fld id="{FBEE9047-6757-432F-B3C4-B9B79F30218C}" type="slidenum">
              <a:rPr lang="en-SE" smtClean="0"/>
              <a:t>73</a:t>
            </a:fld>
            <a:endParaRPr lang="en-SE"/>
          </a:p>
        </p:txBody>
      </p:sp>
    </p:spTree>
    <p:extLst>
      <p:ext uri="{BB962C8B-B14F-4D97-AF65-F5344CB8AC3E}">
        <p14:creationId xmlns:p14="http://schemas.microsoft.com/office/powerpoint/2010/main" val="10093273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In a frequentist scenario, you would need to use a Kruskal-Wallis test or a Jonckheere-Terpstra test</a:t>
            </a:r>
          </a:p>
          <a:p>
            <a:pPr marL="171450" indent="-171450">
              <a:buFont typeface="Arial" panose="020B0604020202020204" pitchFamily="34" charset="0"/>
              <a:buChar char="•"/>
            </a:pPr>
            <a:r>
              <a:rPr lang="en-SE" dirty="0"/>
              <a:t>all of these NHST approaches essentially collapse the rich ordinal structure into a monotonic-trend-or-not binary,</a:t>
            </a:r>
          </a:p>
          <a:p>
            <a:pPr marL="171450" indent="-171450">
              <a:buFont typeface="Arial" panose="020B0604020202020204" pitchFamily="34" charset="0"/>
              <a:buChar char="•"/>
            </a:pPr>
            <a:r>
              <a:rPr lang="en-SE" dirty="0"/>
              <a:t>none of them give you an effect size that's naturally interpretable</a:t>
            </a:r>
          </a:p>
        </p:txBody>
      </p:sp>
      <p:sp>
        <p:nvSpPr>
          <p:cNvPr id="4" name="Slide Number Placeholder 3"/>
          <p:cNvSpPr>
            <a:spLocks noGrp="1"/>
          </p:cNvSpPr>
          <p:nvPr>
            <p:ph type="sldNum" sz="quarter" idx="5"/>
          </p:nvPr>
        </p:nvSpPr>
        <p:spPr/>
        <p:txBody>
          <a:bodyPr/>
          <a:lstStyle/>
          <a:p>
            <a:fld id="{FBEE9047-6757-432F-B3C4-B9B79F30218C}" type="slidenum">
              <a:rPr lang="en-SE" smtClean="0"/>
              <a:t>90</a:t>
            </a:fld>
            <a:endParaRPr lang="en-SE"/>
          </a:p>
        </p:txBody>
      </p:sp>
    </p:spTree>
    <p:extLst>
      <p:ext uri="{BB962C8B-B14F-4D97-AF65-F5344CB8AC3E}">
        <p14:creationId xmlns:p14="http://schemas.microsoft.com/office/powerpoint/2010/main" val="8471213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DCFAE-1CD6-8D6E-B63F-5022F3413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F5218A-B8C4-32E3-5536-325F9C276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6FAF6-D8F3-96D5-9162-6CFBAD49D0E2}"/>
              </a:ext>
            </a:extLst>
          </p:cNvPr>
          <p:cNvSpPr>
            <a:spLocks noGrp="1"/>
          </p:cNvSpPr>
          <p:nvPr>
            <p:ph type="body" idx="1"/>
          </p:nvPr>
        </p:nvSpPr>
        <p:spPr/>
        <p:txBody>
          <a:bodyPr/>
          <a:lstStyle/>
          <a:p>
            <a:pPr marL="514350" indent="-514350">
              <a:buFont typeface="+mj-lt"/>
              <a:buAutoNum type="arabicPeriod"/>
            </a:pPr>
            <a:r>
              <a:rPr lang="en-US" noProof="0" dirty="0"/>
              <a:t>(defining a regression formula)</a:t>
            </a:r>
          </a:p>
          <a:p>
            <a:pPr marL="514350" indent="-514350">
              <a:buFont typeface="+mj-lt"/>
              <a:buAutoNum type="arabicPeriod"/>
            </a:pPr>
            <a:r>
              <a:rPr lang="en-US" b="1" noProof="0" dirty="0"/>
              <a:t>Do </a:t>
            </a:r>
            <a:r>
              <a:rPr lang="en-US" noProof="0" dirty="0"/>
              <a:t>select and assess priors: specifying priors, performing and evaluating a prior predictive check</a:t>
            </a:r>
          </a:p>
          <a:p>
            <a:pPr marL="514350" indent="-514350">
              <a:buFont typeface="+mj-lt"/>
              <a:buAutoNum type="arabicPeriod"/>
            </a:pPr>
            <a:r>
              <a:rPr lang="en-US" b="1" noProof="0" dirty="0"/>
              <a:t>Understand</a:t>
            </a:r>
            <a:r>
              <a:rPr lang="en-US" noProof="0" dirty="0"/>
              <a:t> Markov chain Monte Carlo sampling</a:t>
            </a:r>
          </a:p>
          <a:p>
            <a:pPr marL="514350" indent="-514350">
              <a:buFont typeface="+mj-lt"/>
              <a:buAutoNum type="arabicPeriod"/>
            </a:pPr>
            <a:r>
              <a:rPr lang="en-US" b="1" noProof="0" dirty="0"/>
              <a:t>Do </a:t>
            </a:r>
            <a:r>
              <a:rPr lang="en-US" noProof="0" dirty="0"/>
              <a:t>assess model fit: test various diagnostics</a:t>
            </a:r>
          </a:p>
          <a:p>
            <a:pPr marL="514350" indent="-514350">
              <a:buFont typeface="+mj-lt"/>
              <a:buAutoNum type="arabicPeriod"/>
            </a:pPr>
            <a:r>
              <a:rPr lang="en-US" b="1" noProof="0" dirty="0"/>
              <a:t>Do </a:t>
            </a:r>
            <a:r>
              <a:rPr lang="en-US" noProof="0" dirty="0"/>
              <a:t>evaluate models: interpret posteriors</a:t>
            </a:r>
            <a:endParaRPr lang="en-US" b="1" noProof="0" dirty="0"/>
          </a:p>
          <a:p>
            <a:endParaRPr lang="en-SE" dirty="0"/>
          </a:p>
        </p:txBody>
      </p:sp>
      <p:sp>
        <p:nvSpPr>
          <p:cNvPr id="4" name="Slide Number Placeholder 3">
            <a:extLst>
              <a:ext uri="{FF2B5EF4-FFF2-40B4-BE49-F238E27FC236}">
                <a16:creationId xmlns:a16="http://schemas.microsoft.com/office/drawing/2014/main" id="{602E0866-910A-C6DC-E75B-443F69AC831B}"/>
              </a:ext>
            </a:extLst>
          </p:cNvPr>
          <p:cNvSpPr>
            <a:spLocks noGrp="1"/>
          </p:cNvSpPr>
          <p:nvPr>
            <p:ph type="sldNum" sz="quarter" idx="5"/>
          </p:nvPr>
        </p:nvSpPr>
        <p:spPr/>
        <p:txBody>
          <a:bodyPr/>
          <a:lstStyle/>
          <a:p>
            <a:fld id="{FBEE9047-6757-432F-B3C4-B9B79F30218C}" type="slidenum">
              <a:rPr lang="en-SE" smtClean="0"/>
              <a:t>91</a:t>
            </a:fld>
            <a:endParaRPr lang="en-SE"/>
          </a:p>
        </p:txBody>
      </p:sp>
    </p:spTree>
    <p:extLst>
      <p:ext uri="{BB962C8B-B14F-4D97-AF65-F5344CB8AC3E}">
        <p14:creationId xmlns:p14="http://schemas.microsoft.com/office/powerpoint/2010/main" val="30760961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100</a:t>
            </a:fld>
            <a:endParaRPr lang="en-SE"/>
          </a:p>
        </p:txBody>
      </p:sp>
    </p:spTree>
    <p:extLst>
      <p:ext uri="{BB962C8B-B14F-4D97-AF65-F5344CB8AC3E}">
        <p14:creationId xmlns:p14="http://schemas.microsoft.com/office/powerpoint/2010/main" val="33660079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7ECFB-CC92-FB7D-062B-5F840C7CDEF9}"/>
              </a:ext>
            </a:extLst>
          </p:cNvPr>
          <p:cNvSpPr>
            <a:spLocks noGrp="1"/>
          </p:cNvSpPr>
          <p:nvPr>
            <p:ph type="ctrTitle"/>
          </p:nvPr>
        </p:nvSpPr>
        <p:spPr>
          <a:xfrm>
            <a:off x="1524000" y="1600199"/>
            <a:ext cx="9144000" cy="1909763"/>
          </a:xfrm>
        </p:spPr>
        <p:txBody>
          <a:bodyPr anchor="b"/>
          <a:lstStyle>
            <a:lvl1pPr algn="ctr">
              <a:defRPr sz="6000"/>
            </a:lvl1pPr>
          </a:lstStyle>
          <a:p>
            <a:r>
              <a:rPr lang="en-US"/>
              <a:t>Click to edit Master title style</a:t>
            </a:r>
            <a:endParaRPr lang="en-SE"/>
          </a:p>
        </p:txBody>
      </p:sp>
      <p:sp>
        <p:nvSpPr>
          <p:cNvPr id="3" name="Subtitle 2">
            <a:extLst>
              <a:ext uri="{FF2B5EF4-FFF2-40B4-BE49-F238E27FC236}">
                <a16:creationId xmlns:a16="http://schemas.microsoft.com/office/drawing/2014/main" id="{D17DB82B-6165-1C54-C51D-F5D58F23CB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E"/>
          </a:p>
        </p:txBody>
      </p:sp>
      <p:sp>
        <p:nvSpPr>
          <p:cNvPr id="4" name="Date Placeholder 3">
            <a:extLst>
              <a:ext uri="{FF2B5EF4-FFF2-40B4-BE49-F238E27FC236}">
                <a16:creationId xmlns:a16="http://schemas.microsoft.com/office/drawing/2014/main" id="{B37955BD-5E43-FC47-D766-386274FE3FE6}"/>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DAC345E8-8305-94BE-CD1F-E34E302160C0}"/>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159FBD3E-ECCB-B12E-8504-AE90BAE0F46A}"/>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14" name="Picture 13">
            <a:extLst>
              <a:ext uri="{FF2B5EF4-FFF2-40B4-BE49-F238E27FC236}">
                <a16:creationId xmlns:a16="http://schemas.microsoft.com/office/drawing/2014/main" id="{E6BA91CF-13DA-2A0F-EA36-67531A1083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902" y="0"/>
            <a:ext cx="7600298" cy="1909762"/>
          </a:xfrm>
          <a:prstGeom prst="rect">
            <a:avLst/>
          </a:prstGeom>
        </p:spPr>
      </p:pic>
    </p:spTree>
    <p:extLst>
      <p:ext uri="{BB962C8B-B14F-4D97-AF65-F5344CB8AC3E}">
        <p14:creationId xmlns:p14="http://schemas.microsoft.com/office/powerpoint/2010/main" val="2410244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F46C5-11CD-4C87-4B7F-F0A008414468}"/>
              </a:ext>
            </a:extLst>
          </p:cNvPr>
          <p:cNvSpPr>
            <a:spLocks noGrp="1"/>
          </p:cNvSpPr>
          <p:nvPr>
            <p:ph type="title"/>
          </p:nvPr>
        </p:nvSpPr>
        <p:spPr>
          <a:xfrm>
            <a:off x="838198" y="365125"/>
            <a:ext cx="9380975" cy="1325563"/>
          </a:xfrm>
        </p:spPr>
        <p:txBody>
          <a:bodyPr/>
          <a:lstStyle/>
          <a:p>
            <a:r>
              <a:rPr lang="en-US"/>
              <a:t>Click to edit Master title style</a:t>
            </a:r>
            <a:endParaRPr lang="en-SE"/>
          </a:p>
        </p:txBody>
      </p:sp>
      <p:sp>
        <p:nvSpPr>
          <p:cNvPr id="3" name="Content Placeholder 2">
            <a:extLst>
              <a:ext uri="{FF2B5EF4-FFF2-40B4-BE49-F238E27FC236}">
                <a16:creationId xmlns:a16="http://schemas.microsoft.com/office/drawing/2014/main" id="{72567B5C-1FB8-DA82-8443-4DACD45F0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96DB50CE-E3D9-6C15-6C1B-8A30001A38E3}"/>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2E106B3-8DD0-55B3-08A0-DD0591C9848C}"/>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49C494B0-86B7-2B02-AF74-37DFCA78F384}"/>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9" name="Picture 8">
            <a:extLst>
              <a:ext uri="{FF2B5EF4-FFF2-40B4-BE49-F238E27FC236}">
                <a16:creationId xmlns:a16="http://schemas.microsoft.com/office/drawing/2014/main" id="{DD60DCA4-DA14-3BC0-98BC-FCE479BF44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69840" y="365125"/>
            <a:ext cx="1152135" cy="1281113"/>
          </a:xfrm>
          <a:prstGeom prst="rect">
            <a:avLst/>
          </a:prstGeom>
        </p:spPr>
      </p:pic>
    </p:spTree>
    <p:extLst>
      <p:ext uri="{BB962C8B-B14F-4D97-AF65-F5344CB8AC3E}">
        <p14:creationId xmlns:p14="http://schemas.microsoft.com/office/powerpoint/2010/main" val="28118717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A3C64-99A3-C45B-FC04-CD6D7DF0E0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E"/>
          </a:p>
        </p:txBody>
      </p:sp>
      <p:sp>
        <p:nvSpPr>
          <p:cNvPr id="3" name="Text Placeholder 2">
            <a:extLst>
              <a:ext uri="{FF2B5EF4-FFF2-40B4-BE49-F238E27FC236}">
                <a16:creationId xmlns:a16="http://schemas.microsoft.com/office/drawing/2014/main" id="{183CEB3B-F9F7-57EA-A865-FA89E9BE90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1EA0C2-17AA-E8FA-AF35-325A5B6C18D4}"/>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EDC95503-4D40-A4E1-4A17-B8F476149189}"/>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F6C0937-6335-D00A-B738-E03007DFA8B8}"/>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8" name="Picture 7">
            <a:extLst>
              <a:ext uri="{FF2B5EF4-FFF2-40B4-BE49-F238E27FC236}">
                <a16:creationId xmlns:a16="http://schemas.microsoft.com/office/drawing/2014/main" id="{CDA396C0-5271-1D3B-5DE7-8082FB398E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77313" y="-91082"/>
            <a:ext cx="5224673" cy="1312828"/>
          </a:xfrm>
          <a:prstGeom prst="rect">
            <a:avLst/>
          </a:prstGeom>
        </p:spPr>
      </p:pic>
    </p:spTree>
    <p:extLst>
      <p:ext uri="{BB962C8B-B14F-4D97-AF65-F5344CB8AC3E}">
        <p14:creationId xmlns:p14="http://schemas.microsoft.com/office/powerpoint/2010/main" val="1551676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bg>
      <p:bgPr>
        <a:solidFill>
          <a:srgbClr val="472EB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79F13EB-D1B4-1E48-DDC2-70804C08487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69840" y="365125"/>
            <a:ext cx="1152135" cy="1281113"/>
          </a:xfrm>
          <a:prstGeom prst="rect">
            <a:avLst/>
          </a:prstGeom>
        </p:spPr>
      </p:pic>
    </p:spTree>
    <p:extLst>
      <p:ext uri="{BB962C8B-B14F-4D97-AF65-F5344CB8AC3E}">
        <p14:creationId xmlns:p14="http://schemas.microsoft.com/office/powerpoint/2010/main" val="38946130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B84F10-67C5-38A9-9573-9D83950EE145}"/>
              </a:ext>
            </a:extLst>
          </p:cNvPr>
          <p:cNvSpPr>
            <a:spLocks noGrp="1"/>
          </p:cNvSpPr>
          <p:nvPr>
            <p:ph type="title"/>
          </p:nvPr>
        </p:nvSpPr>
        <p:spPr>
          <a:xfrm>
            <a:off x="838199" y="365125"/>
            <a:ext cx="10515600" cy="1325563"/>
          </a:xfrm>
          <a:prstGeom prst="rect">
            <a:avLst/>
          </a:prstGeom>
        </p:spPr>
        <p:txBody>
          <a:bodyPr vert="horz" lIns="91440" tIns="45720" rIns="91440" bIns="45720" rtlCol="0" anchor="ctr">
            <a:normAutofit/>
          </a:bodyPr>
          <a:lstStyle/>
          <a:p>
            <a:r>
              <a:rPr lang="en-US"/>
              <a:t>Click to edit Master title style</a:t>
            </a:r>
            <a:endParaRPr lang="en-SE"/>
          </a:p>
        </p:txBody>
      </p:sp>
      <p:sp>
        <p:nvSpPr>
          <p:cNvPr id="3" name="Text Placeholder 2">
            <a:extLst>
              <a:ext uri="{FF2B5EF4-FFF2-40B4-BE49-F238E27FC236}">
                <a16:creationId xmlns:a16="http://schemas.microsoft.com/office/drawing/2014/main" id="{F94813B2-F0B2-78B0-2431-5AE1C5DC3D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6BCA28DA-366D-4CD9-E1EB-113EAA959D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SE"/>
              <a:t>2026-08-17</a:t>
            </a:r>
          </a:p>
        </p:txBody>
      </p:sp>
      <p:sp>
        <p:nvSpPr>
          <p:cNvPr id="5" name="Footer Placeholder 4">
            <a:extLst>
              <a:ext uri="{FF2B5EF4-FFF2-40B4-BE49-F238E27FC236}">
                <a16:creationId xmlns:a16="http://schemas.microsoft.com/office/drawing/2014/main" id="{9F6E68D1-9044-00B4-ABE4-8F49530AB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F136186-4B45-9116-C243-AC06504DFF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1ECC92-9CDE-4EB3-B1C5-F46B9E1FA3C1}" type="slidenum">
              <a:rPr lang="en-SE" smtClean="0"/>
              <a:t>‹#›</a:t>
            </a:fld>
            <a:endParaRPr lang="en-SE"/>
          </a:p>
        </p:txBody>
      </p:sp>
    </p:spTree>
    <p:extLst>
      <p:ext uri="{BB962C8B-B14F-4D97-AF65-F5344CB8AC3E}">
        <p14:creationId xmlns:p14="http://schemas.microsoft.com/office/powerpoint/2010/main" val="3271141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JulianFrattini/bda4sci" TargetMode="External"/><Relationship Id="rId3" Type="http://schemas.openxmlformats.org/officeDocument/2006/relationships/hyperlink" Target="https://choosealicense.com/licenses/mit/" TargetMode="External"/><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g"/><Relationship Id="rId5" Type="http://schemas.openxmlformats.org/officeDocument/2006/relationships/hyperlink" Target="https://julianfrattini.github.io/" TargetMode="External"/><Relationship Id="rId4" Type="http://schemas.openxmlformats.org/officeDocument/2006/relationships/hyperlink" Target="https://creativecommons.org/licenses/by-nc-sa/4.0/"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www.robertfeldt.net/" TargetMode="External"/><Relationship Id="rId3" Type="http://schemas.openxmlformats.org/officeDocument/2006/relationships/image" Target="../media/image7.jpg"/><Relationship Id="rId7" Type="http://schemas.openxmlformats.org/officeDocument/2006/relationships/hyperlink" Target="https://torkar.github.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9.jpeg"/><Relationship Id="rId10" Type="http://schemas.openxmlformats.org/officeDocument/2006/relationships/hyperlink" Target="https://julianfrattini.github.io/" TargetMode="External"/><Relationship Id="rId4" Type="http://schemas.openxmlformats.org/officeDocument/2006/relationships/image" Target="../media/image8.jpeg"/><Relationship Id="rId9" Type="http://schemas.openxmlformats.org/officeDocument/2006/relationships/hyperlink" Target="https://martinheyn.github.io/"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5.svg"/><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5.svg"/><Relationship Id="rId4"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1.svg"/><Relationship Id="rId4" Type="http://schemas.openxmlformats.org/officeDocument/2006/relationships/image" Target="../media/image20.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4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41.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42.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43.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44.png"/><Relationship Id="rId7" Type="http://schemas.openxmlformats.org/officeDocument/2006/relationships/image" Target="../media/image36.sv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44.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5.svg"/><Relationship Id="rId3" Type="http://schemas.openxmlformats.org/officeDocument/2006/relationships/image" Target="../media/image441.png"/><Relationship Id="rId7" Type="http://schemas.openxmlformats.org/officeDocument/2006/relationships/image" Target="../media/image35.svg"/><Relationship Id="rId12" Type="http://schemas.openxmlformats.org/officeDocument/2006/relationships/image" Target="../media/image46.png"/><Relationship Id="rId2" Type="http://schemas.openxmlformats.org/officeDocument/2006/relationships/image" Target="../media/image430.png"/><Relationship Id="rId1" Type="http://schemas.openxmlformats.org/officeDocument/2006/relationships/slideLayout" Target="../slideLayouts/slideLayout2.xml"/><Relationship Id="rId6" Type="http://schemas.openxmlformats.org/officeDocument/2006/relationships/image" Target="../media/image34.svg"/><Relationship Id="rId11" Type="http://schemas.openxmlformats.org/officeDocument/2006/relationships/image" Target="../media/image450.png"/><Relationship Id="rId5" Type="http://schemas.openxmlformats.org/officeDocument/2006/relationships/image" Target="../media/image33.svg"/><Relationship Id="rId10" Type="http://schemas.openxmlformats.org/officeDocument/2006/relationships/image" Target="../media/image440.png"/><Relationship Id="rId4" Type="http://schemas.openxmlformats.org/officeDocument/2006/relationships/image" Target="../media/image45.png"/><Relationship Id="rId9" Type="http://schemas.openxmlformats.org/officeDocument/2006/relationships/image" Target="../media/image37.svg"/></Relationships>
</file>

<file path=ppt/slides/_rels/slide45.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8.svg"/><Relationship Id="rId3" Type="http://schemas.openxmlformats.org/officeDocument/2006/relationships/image" Target="../media/image48.png"/><Relationship Id="rId7" Type="http://schemas.openxmlformats.org/officeDocument/2006/relationships/image" Target="../media/image36.svg"/><Relationship Id="rId12" Type="http://schemas.openxmlformats.org/officeDocument/2006/relationships/image" Target="../media/image47.svg"/><Relationship Id="rId17" Type="http://schemas.openxmlformats.org/officeDocument/2006/relationships/image" Target="../media/image50.svg"/><Relationship Id="rId2" Type="http://schemas.openxmlformats.org/officeDocument/2006/relationships/image" Target="../media/image430.png"/><Relationship Id="rId16"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35.svg"/><Relationship Id="rId11" Type="http://schemas.openxmlformats.org/officeDocument/2006/relationships/image" Target="../media/image52.png"/><Relationship Id="rId5" Type="http://schemas.openxmlformats.org/officeDocument/2006/relationships/image" Target="../media/image34.svg"/><Relationship Id="rId15" Type="http://schemas.openxmlformats.org/officeDocument/2006/relationships/image" Target="../media/image49.svg"/><Relationship Id="rId10" Type="http://schemas.openxmlformats.org/officeDocument/2006/relationships/image" Target="../media/image46.svg"/><Relationship Id="rId4" Type="http://schemas.openxmlformats.org/officeDocument/2006/relationships/image" Target="../media/image33.svg"/><Relationship Id="rId9" Type="http://schemas.openxmlformats.org/officeDocument/2006/relationships/image" Target="../media/image49.png"/><Relationship Id="rId14" Type="http://schemas.openxmlformats.org/officeDocument/2006/relationships/image" Target="../media/image55.png"/></Relationships>
</file>

<file path=ppt/slides/_rels/slide46.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47.sv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56.png"/><Relationship Id="rId2" Type="http://schemas.openxmlformats.org/officeDocument/2006/relationships/image" Target="../media/image480.pn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59.png"/><Relationship Id="rId5" Type="http://schemas.openxmlformats.org/officeDocument/2006/relationships/image" Target="../media/image35.svg"/><Relationship Id="rId10" Type="http://schemas.openxmlformats.org/officeDocument/2006/relationships/image" Target="../media/image49.svg"/><Relationship Id="rId4" Type="http://schemas.openxmlformats.org/officeDocument/2006/relationships/image" Target="../media/image34.svg"/><Relationship Id="rId9" Type="http://schemas.openxmlformats.org/officeDocument/2006/relationships/image" Target="../media/image48.svg"/><Relationship Id="rId14" Type="http://schemas.openxmlformats.org/officeDocument/2006/relationships/image" Target="../media/image45.svg"/></Relationships>
</file>

<file path=ppt/slides/_rels/slide4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34.svg"/><Relationship Id="rId7" Type="http://schemas.openxmlformats.org/officeDocument/2006/relationships/image" Target="../media/image61.pn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 Id="rId9" Type="http://schemas.openxmlformats.org/officeDocument/2006/relationships/image" Target="../media/image45.svg"/></Relationships>
</file>

<file path=ppt/slides/_rels/slide4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37.svg"/><Relationship Id="rId3" Type="http://schemas.openxmlformats.org/officeDocument/2006/relationships/image" Target="../media/image64.png"/><Relationship Id="rId7" Type="http://schemas.openxmlformats.org/officeDocument/2006/relationships/image" Target="../media/image65.png"/><Relationship Id="rId12" Type="http://schemas.openxmlformats.org/officeDocument/2006/relationships/image" Target="../media/image36.svg"/><Relationship Id="rId2" Type="http://schemas.openxmlformats.org/officeDocument/2006/relationships/image" Target="../media/image51.png"/><Relationship Id="rId16" Type="http://schemas.openxmlformats.org/officeDocument/2006/relationships/image" Target="../media/image45.svg"/><Relationship Id="rId1" Type="http://schemas.openxmlformats.org/officeDocument/2006/relationships/slideLayout" Target="../slideLayouts/slideLayout2.xml"/><Relationship Id="rId6" Type="http://schemas.openxmlformats.org/officeDocument/2006/relationships/image" Target="../media/image63.png"/><Relationship Id="rId11" Type="http://schemas.openxmlformats.org/officeDocument/2006/relationships/image" Target="../media/image35.svg"/><Relationship Id="rId5" Type="http://schemas.openxmlformats.org/officeDocument/2006/relationships/image" Target="../media/image66.png"/><Relationship Id="rId15" Type="http://schemas.openxmlformats.org/officeDocument/2006/relationships/image" Target="../media/image71.png"/><Relationship Id="rId10" Type="http://schemas.openxmlformats.org/officeDocument/2006/relationships/image" Target="../media/image34.svg"/><Relationship Id="rId4" Type="http://schemas.openxmlformats.org/officeDocument/2006/relationships/image" Target="../media/image62.png"/><Relationship Id="rId9" Type="http://schemas.openxmlformats.org/officeDocument/2006/relationships/image" Target="../media/image33.svg"/><Relationship Id="rId14" Type="http://schemas.openxmlformats.org/officeDocument/2006/relationships/image" Target="../media/image70.png"/></Relationships>
</file>

<file path=ppt/slides/_rels/slide49.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45.svg"/><Relationship Id="rId3" Type="http://schemas.openxmlformats.org/officeDocument/2006/relationships/image" Target="../media/image68.png"/><Relationship Id="rId7" Type="http://schemas.openxmlformats.org/officeDocument/2006/relationships/image" Target="../media/image74.png"/><Relationship Id="rId12" Type="http://schemas.openxmlformats.org/officeDocument/2006/relationships/image" Target="../media/image37.svg"/><Relationship Id="rId2" Type="http://schemas.openxmlformats.org/officeDocument/2006/relationships/image" Target="../media/image72.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36.svg"/><Relationship Id="rId5" Type="http://schemas.openxmlformats.org/officeDocument/2006/relationships/image" Target="../media/image69.png"/><Relationship Id="rId10" Type="http://schemas.openxmlformats.org/officeDocument/2006/relationships/image" Target="../media/image35.svg"/><Relationship Id="rId4" Type="http://schemas.openxmlformats.org/officeDocument/2006/relationships/image" Target="../media/image53.png"/><Relationship Id="rId9" Type="http://schemas.openxmlformats.org/officeDocument/2006/relationships/image" Target="../media/image34.svg"/></Relationships>
</file>

<file path=ppt/slides/_rels/slide50.xml.rels><?xml version="1.0" encoding="UTF-8" standalone="yes"?>
<Relationships xmlns="http://schemas.openxmlformats.org/package/2006/relationships"><Relationship Id="rId8" Type="http://schemas.openxmlformats.org/officeDocument/2006/relationships/image" Target="../media/image45.svg"/><Relationship Id="rId13" Type="http://schemas.openxmlformats.org/officeDocument/2006/relationships/image" Target="../media/image76.pn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750.png"/><Relationship Id="rId2" Type="http://schemas.openxmlformats.org/officeDocument/2006/relationships/image" Target="../media/image12.svg"/><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75.png"/><Relationship Id="rId5" Type="http://schemas.openxmlformats.org/officeDocument/2006/relationships/image" Target="../media/image35.svg"/><Relationship Id="rId15" Type="http://schemas.openxmlformats.org/officeDocument/2006/relationships/image" Target="../media/image78.png"/><Relationship Id="rId10" Type="http://schemas.openxmlformats.org/officeDocument/2006/relationships/image" Target="../media/image630.png"/><Relationship Id="rId4" Type="http://schemas.openxmlformats.org/officeDocument/2006/relationships/image" Target="../media/image34.svg"/><Relationship Id="rId9" Type="http://schemas.openxmlformats.org/officeDocument/2006/relationships/image" Target="../media/image22.svg"/><Relationship Id="rId14" Type="http://schemas.openxmlformats.org/officeDocument/2006/relationships/image" Target="../media/image77.png"/></Relationships>
</file>

<file path=ppt/slides/_rels/slide51.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5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34.svg"/><Relationship Id="rId7" Type="http://schemas.openxmlformats.org/officeDocument/2006/relationships/image" Target="../media/image54.pn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10" Type="http://schemas.openxmlformats.org/officeDocument/2006/relationships/image" Target="../media/image60.png"/><Relationship Id="rId4" Type="http://schemas.openxmlformats.org/officeDocument/2006/relationships/image" Target="../media/image35.svg"/><Relationship Id="rId9" Type="http://schemas.openxmlformats.org/officeDocument/2006/relationships/image" Target="../media/image56.svg"/></Relationships>
</file>

<file path=ppt/slides/_rels/slide5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10" Type="http://schemas.openxmlformats.org/officeDocument/2006/relationships/image" Target="../media/image12.svg"/><Relationship Id="rId4" Type="http://schemas.openxmlformats.org/officeDocument/2006/relationships/image" Target="../media/image34.svg"/><Relationship Id="rId9" Type="http://schemas.openxmlformats.org/officeDocument/2006/relationships/image" Target="../media/image22.svg"/></Relationships>
</file>

<file path=ppt/slides/_rels/slide5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13.svg"/><Relationship Id="rId7" Type="http://schemas.openxmlformats.org/officeDocument/2006/relationships/image" Target="../media/image33.svg"/><Relationship Id="rId2" Type="http://schemas.openxmlformats.org/officeDocument/2006/relationships/image" Target="../media/image85.png"/><Relationship Id="rId1" Type="http://schemas.openxmlformats.org/officeDocument/2006/relationships/slideLayout" Target="../slideLayouts/slideLayout2.xml"/><Relationship Id="rId6" Type="http://schemas.openxmlformats.org/officeDocument/2006/relationships/image" Target="../media/image49.svg"/><Relationship Id="rId11" Type="http://schemas.openxmlformats.org/officeDocument/2006/relationships/image" Target="../media/image37.svg"/><Relationship Id="rId5" Type="http://schemas.openxmlformats.org/officeDocument/2006/relationships/image" Target="../media/image62.svg"/><Relationship Id="rId10" Type="http://schemas.openxmlformats.org/officeDocument/2006/relationships/image" Target="../media/image36.svg"/><Relationship Id="rId4" Type="http://schemas.openxmlformats.org/officeDocument/2006/relationships/image" Target="../media/image61.svg"/><Relationship Id="rId9" Type="http://schemas.openxmlformats.org/officeDocument/2006/relationships/image" Target="../media/image35.svg"/></Relationships>
</file>

<file path=ppt/slides/_rels/slide55.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80.png"/><Relationship Id="rId7" Type="http://schemas.openxmlformats.org/officeDocument/2006/relationships/image" Target="../media/image36.svg"/><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56.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90.png"/><Relationship Id="rId7" Type="http://schemas.openxmlformats.org/officeDocument/2006/relationships/image" Target="../media/image36.svg"/><Relationship Id="rId2" Type="http://schemas.openxmlformats.org/officeDocument/2006/relationships/image" Target="../media/image620.png"/><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10" Type="http://schemas.openxmlformats.org/officeDocument/2006/relationships/image" Target="../media/image92.png"/><Relationship Id="rId4" Type="http://schemas.openxmlformats.org/officeDocument/2006/relationships/image" Target="../media/image33.svg"/><Relationship Id="rId9" Type="http://schemas.openxmlformats.org/officeDocument/2006/relationships/image" Target="../media/image91.png"/></Relationships>
</file>

<file path=ppt/slides/_rels/slide57.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58.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59.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101.png"/><Relationship Id="rId3" Type="http://schemas.openxmlformats.org/officeDocument/2006/relationships/image" Target="../media/image34.svg"/><Relationship Id="rId7" Type="http://schemas.openxmlformats.org/officeDocument/2006/relationships/image" Target="../media/image95.png"/><Relationship Id="rId12" Type="http://schemas.openxmlformats.org/officeDocument/2006/relationships/image" Target="../media/image100.png"/><Relationship Id="rId17" Type="http://schemas.openxmlformats.org/officeDocument/2006/relationships/image" Target="../media/image105.png"/><Relationship Id="rId2" Type="http://schemas.openxmlformats.org/officeDocument/2006/relationships/image" Target="../media/image33.svg"/><Relationship Id="rId16" Type="http://schemas.openxmlformats.org/officeDocument/2006/relationships/image" Target="../media/image104.png"/><Relationship Id="rId1" Type="http://schemas.openxmlformats.org/officeDocument/2006/relationships/slideLayout" Target="../slideLayouts/slideLayout2.xml"/><Relationship Id="rId6" Type="http://schemas.openxmlformats.org/officeDocument/2006/relationships/image" Target="../media/image37.svg"/><Relationship Id="rId11" Type="http://schemas.openxmlformats.org/officeDocument/2006/relationships/image" Target="../media/image99.png"/><Relationship Id="rId5" Type="http://schemas.openxmlformats.org/officeDocument/2006/relationships/image" Target="../media/image36.svg"/><Relationship Id="rId15" Type="http://schemas.openxmlformats.org/officeDocument/2006/relationships/image" Target="../media/image103.png"/><Relationship Id="rId10" Type="http://schemas.openxmlformats.org/officeDocument/2006/relationships/image" Target="../media/image98.png"/><Relationship Id="rId4" Type="http://schemas.openxmlformats.org/officeDocument/2006/relationships/image" Target="../media/image35.svg"/><Relationship Id="rId9" Type="http://schemas.openxmlformats.org/officeDocument/2006/relationships/image" Target="../media/image97.png"/><Relationship Id="rId14" Type="http://schemas.openxmlformats.org/officeDocument/2006/relationships/image" Target="../media/image102.png"/></Relationships>
</file>

<file path=ppt/slides/_rels/slide60.xml.rels><?xml version="1.0" encoding="UTF-8" standalone="yes"?>
<Relationships xmlns="http://schemas.openxmlformats.org/package/2006/relationships"><Relationship Id="rId8" Type="http://schemas.openxmlformats.org/officeDocument/2006/relationships/hyperlink" Target="https://chi-feng.github.io/mcmc-demo/app.html" TargetMode="External"/><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image" Target="../media/image81.svg"/></Relationships>
</file>

<file path=ppt/slides/_rels/slide61.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82.pn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62.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56.svg"/><Relationship Id="rId5" Type="http://schemas.openxmlformats.org/officeDocument/2006/relationships/image" Target="../media/image35.svg"/><Relationship Id="rId10" Type="http://schemas.openxmlformats.org/officeDocument/2006/relationships/image" Target="../media/image55.svg"/><Relationship Id="rId4" Type="http://schemas.openxmlformats.org/officeDocument/2006/relationships/image" Target="../media/image34.svg"/><Relationship Id="rId9" Type="http://schemas.openxmlformats.org/officeDocument/2006/relationships/image" Target="../media/image86.png"/></Relationships>
</file>

<file path=ppt/slides/_rels/slide63.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64.xml.rels><?xml version="1.0" encoding="UTF-8" standalone="yes"?>
<Relationships xmlns="http://schemas.openxmlformats.org/package/2006/relationships"><Relationship Id="rId8" Type="http://schemas.openxmlformats.org/officeDocument/2006/relationships/image" Target="../media/image45.svg"/><Relationship Id="rId13" Type="http://schemas.openxmlformats.org/officeDocument/2006/relationships/image" Target="../media/image107.png"/><Relationship Id="rId3" Type="http://schemas.openxmlformats.org/officeDocument/2006/relationships/image" Target="../media/image34.svg"/><Relationship Id="rId7" Type="http://schemas.openxmlformats.org/officeDocument/2006/relationships/image" Target="../media/image12.svg"/><Relationship Id="rId12" Type="http://schemas.openxmlformats.org/officeDocument/2006/relationships/image" Target="../media/image106.png"/><Relationship Id="rId2" Type="http://schemas.openxmlformats.org/officeDocument/2006/relationships/image" Target="../media/image33.svg"/><Relationship Id="rId16" Type="http://schemas.openxmlformats.org/officeDocument/2006/relationships/image" Target="../media/image111.png"/><Relationship Id="rId1" Type="http://schemas.openxmlformats.org/officeDocument/2006/relationships/slideLayout" Target="../slideLayouts/slideLayout2.xml"/><Relationship Id="rId6" Type="http://schemas.openxmlformats.org/officeDocument/2006/relationships/image" Target="../media/image37.svg"/><Relationship Id="rId11" Type="http://schemas.openxmlformats.org/officeDocument/2006/relationships/image" Target="../media/image89.png"/><Relationship Id="rId5" Type="http://schemas.openxmlformats.org/officeDocument/2006/relationships/image" Target="../media/image36.svg"/><Relationship Id="rId15" Type="http://schemas.openxmlformats.org/officeDocument/2006/relationships/image" Target="../media/image109.png"/><Relationship Id="rId10" Type="http://schemas.openxmlformats.org/officeDocument/2006/relationships/image" Target="../media/image88.png"/><Relationship Id="rId4" Type="http://schemas.openxmlformats.org/officeDocument/2006/relationships/image" Target="../media/image35.svg"/><Relationship Id="rId9" Type="http://schemas.openxmlformats.org/officeDocument/2006/relationships/image" Target="../media/image22.svg"/><Relationship Id="rId14" Type="http://schemas.openxmlformats.org/officeDocument/2006/relationships/image" Target="../media/image108.png"/></Relationships>
</file>

<file path=ppt/slides/_rels/slide65.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112.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6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114.pn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67.xml.rels><?xml version="1.0" encoding="UTF-8" standalone="yes"?>
<Relationships xmlns="http://schemas.openxmlformats.org/package/2006/relationships"><Relationship Id="rId8" Type="http://schemas.openxmlformats.org/officeDocument/2006/relationships/image" Target="../media/image116.png"/><Relationship Id="rId13" Type="http://schemas.openxmlformats.org/officeDocument/2006/relationships/image" Target="../media/image45.svg"/><Relationship Id="rId18" Type="http://schemas.openxmlformats.org/officeDocument/2006/relationships/image" Target="../media/image125.png"/><Relationship Id="rId3" Type="http://schemas.openxmlformats.org/officeDocument/2006/relationships/image" Target="../media/image34.svg"/><Relationship Id="rId7" Type="http://schemas.openxmlformats.org/officeDocument/2006/relationships/image" Target="../media/image115.png"/><Relationship Id="rId12" Type="http://schemas.openxmlformats.org/officeDocument/2006/relationships/image" Target="../media/image120.png"/><Relationship Id="rId17" Type="http://schemas.openxmlformats.org/officeDocument/2006/relationships/image" Target="../media/image124.png"/><Relationship Id="rId2" Type="http://schemas.openxmlformats.org/officeDocument/2006/relationships/image" Target="../media/image33.svg"/><Relationship Id="rId16"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37.svg"/><Relationship Id="rId11" Type="http://schemas.openxmlformats.org/officeDocument/2006/relationships/image" Target="../media/image119.png"/><Relationship Id="rId5" Type="http://schemas.openxmlformats.org/officeDocument/2006/relationships/image" Target="../media/image36.svg"/><Relationship Id="rId15" Type="http://schemas.openxmlformats.org/officeDocument/2006/relationships/image" Target="../media/image122.png"/><Relationship Id="rId10" Type="http://schemas.openxmlformats.org/officeDocument/2006/relationships/image" Target="../media/image118.png"/><Relationship Id="rId19" Type="http://schemas.openxmlformats.org/officeDocument/2006/relationships/image" Target="../media/image126.png"/><Relationship Id="rId4" Type="http://schemas.openxmlformats.org/officeDocument/2006/relationships/image" Target="../media/image35.svg"/><Relationship Id="rId9" Type="http://schemas.openxmlformats.org/officeDocument/2006/relationships/image" Target="../media/image117.png"/><Relationship Id="rId14" Type="http://schemas.openxmlformats.org/officeDocument/2006/relationships/image" Target="../media/image121.png"/></Relationships>
</file>

<file path=ppt/slides/_rels/slide68.xml.rels><?xml version="1.0" encoding="UTF-8" standalone="yes"?>
<Relationships xmlns="http://schemas.openxmlformats.org/package/2006/relationships"><Relationship Id="rId8" Type="http://schemas.openxmlformats.org/officeDocument/2006/relationships/image" Target="../media/image128.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10" Type="http://schemas.openxmlformats.org/officeDocument/2006/relationships/image" Target="../media/image1150.png"/><Relationship Id="rId4" Type="http://schemas.openxmlformats.org/officeDocument/2006/relationships/image" Target="../media/image34.svg"/><Relationship Id="rId9" Type="http://schemas.openxmlformats.org/officeDocument/2006/relationships/image" Target="../media/image1120.png"/></Relationships>
</file>

<file path=ppt/slides/_rels/slide6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129.pn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7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71.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22.svg"/><Relationship Id="rId7" Type="http://schemas.openxmlformats.org/officeDocument/2006/relationships/image" Target="../media/image36.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74.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hyperlink" Target="https://www.math.wm.edu/~leemis/chart/UDR/UDR.html" TargetMode="External"/></Relationships>
</file>

<file path=ppt/slides/_rels/slide79.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80.xml.rels><?xml version="1.0" encoding="UTF-8" standalone="yes"?>
<Relationships xmlns="http://schemas.openxmlformats.org/package/2006/relationships"><Relationship Id="rId8" Type="http://schemas.openxmlformats.org/officeDocument/2006/relationships/image" Target="../media/image131.pn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 Id="rId9" Type="http://schemas.openxmlformats.org/officeDocument/2006/relationships/image" Target="../media/image132.png"/></Relationships>
</file>

<file path=ppt/slides/_rels/slide8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82.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83.xml.rels><?xml version="1.0" encoding="UTF-8" standalone="yes"?>
<Relationships xmlns="http://schemas.openxmlformats.org/package/2006/relationships"><Relationship Id="rId13" Type="http://schemas.openxmlformats.org/officeDocument/2006/relationships/image" Target="../media/image35.svg"/><Relationship Id="rId12" Type="http://schemas.openxmlformats.org/officeDocument/2006/relationships/image" Target="../media/image34.svg"/><Relationship Id="rId2" Type="http://schemas.openxmlformats.org/officeDocument/2006/relationships/image" Target="../media/image1180.png"/><Relationship Id="rId1" Type="http://schemas.openxmlformats.org/officeDocument/2006/relationships/slideLayout" Target="../slideLayouts/slideLayout2.xml"/><Relationship Id="rId11" Type="http://schemas.openxmlformats.org/officeDocument/2006/relationships/image" Target="../media/image33.svg"/><Relationship Id="rId15" Type="http://schemas.openxmlformats.org/officeDocument/2006/relationships/image" Target="../media/image37.svg"/><Relationship Id="rId10" Type="http://schemas.openxmlformats.org/officeDocument/2006/relationships/image" Target="../media/image22.svg"/><Relationship Id="rId9" Type="http://schemas.openxmlformats.org/officeDocument/2006/relationships/image" Target="../media/image1190.png"/><Relationship Id="rId14" Type="http://schemas.openxmlformats.org/officeDocument/2006/relationships/image" Target="../media/image36.svg"/></Relationships>
</file>

<file path=ppt/slides/_rels/slide84.xml.rels><?xml version="1.0" encoding="UTF-8" standalone="yes"?>
<Relationships xmlns="http://schemas.openxmlformats.org/package/2006/relationships"><Relationship Id="rId8" Type="http://schemas.openxmlformats.org/officeDocument/2006/relationships/image" Target="../media/image1200.png"/><Relationship Id="rId13" Type="http://schemas.openxmlformats.org/officeDocument/2006/relationships/image" Target="../media/image45.sv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1240.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1230.png"/><Relationship Id="rId5" Type="http://schemas.openxmlformats.org/officeDocument/2006/relationships/image" Target="../media/image35.svg"/><Relationship Id="rId10" Type="http://schemas.openxmlformats.org/officeDocument/2006/relationships/image" Target="../media/image1220.png"/><Relationship Id="rId4" Type="http://schemas.openxmlformats.org/officeDocument/2006/relationships/image" Target="../media/image34.svg"/><Relationship Id="rId9" Type="http://schemas.openxmlformats.org/officeDocument/2006/relationships/image" Target="../media/image1210.png"/></Relationships>
</file>

<file path=ppt/slides/_rels/slide8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1260.png"/><Relationship Id="rId7" Type="http://schemas.openxmlformats.org/officeDocument/2006/relationships/image" Target="../media/image22.svg"/><Relationship Id="rId12" Type="http://schemas.openxmlformats.org/officeDocument/2006/relationships/image" Target="../media/image37.svg"/><Relationship Id="rId2" Type="http://schemas.openxmlformats.org/officeDocument/2006/relationships/image" Target="../media/image1250.png"/><Relationship Id="rId1" Type="http://schemas.openxmlformats.org/officeDocument/2006/relationships/slideLayout" Target="../slideLayouts/slideLayout2.xml"/><Relationship Id="rId6" Type="http://schemas.openxmlformats.org/officeDocument/2006/relationships/image" Target="../media/image133.png"/><Relationship Id="rId11" Type="http://schemas.openxmlformats.org/officeDocument/2006/relationships/image" Target="../media/image36.svg"/><Relationship Id="rId5" Type="http://schemas.openxmlformats.org/officeDocument/2006/relationships/image" Target="../media/image1280.png"/><Relationship Id="rId10" Type="http://schemas.openxmlformats.org/officeDocument/2006/relationships/image" Target="../media/image35.svg"/><Relationship Id="rId4" Type="http://schemas.openxmlformats.org/officeDocument/2006/relationships/image" Target="../media/image1270.png"/><Relationship Id="rId9" Type="http://schemas.openxmlformats.org/officeDocument/2006/relationships/image" Target="../media/image34.svg"/></Relationships>
</file>

<file path=ppt/slides/_rels/slide86.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45.sv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134.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1330.png"/><Relationship Id="rId5" Type="http://schemas.openxmlformats.org/officeDocument/2006/relationships/image" Target="../media/image35.svg"/><Relationship Id="rId10" Type="http://schemas.openxmlformats.org/officeDocument/2006/relationships/image" Target="../media/image1320.png"/><Relationship Id="rId4" Type="http://schemas.openxmlformats.org/officeDocument/2006/relationships/image" Target="../media/image34.svg"/><Relationship Id="rId9" Type="http://schemas.openxmlformats.org/officeDocument/2006/relationships/image" Target="../media/image1310.png"/></Relationships>
</file>

<file path=ppt/slides/_rels/slide87.xml.rels><?xml version="1.0" encoding="UTF-8" standalone="yes"?>
<Relationships xmlns="http://schemas.openxmlformats.org/package/2006/relationships"><Relationship Id="rId8" Type="http://schemas.openxmlformats.org/officeDocument/2006/relationships/image" Target="../media/image135.pn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137.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56.svg"/><Relationship Id="rId5" Type="http://schemas.openxmlformats.org/officeDocument/2006/relationships/image" Target="../media/image35.svg"/><Relationship Id="rId10" Type="http://schemas.openxmlformats.org/officeDocument/2006/relationships/image" Target="../media/image55.svg"/><Relationship Id="rId4" Type="http://schemas.openxmlformats.org/officeDocument/2006/relationships/image" Target="../media/image34.svg"/><Relationship Id="rId9" Type="http://schemas.openxmlformats.org/officeDocument/2006/relationships/image" Target="../media/image136.png"/></Relationships>
</file>

<file path=ppt/slides/_rels/slide88.xml.rels><?xml version="1.0" encoding="UTF-8" standalone="yes"?>
<Relationships xmlns="http://schemas.openxmlformats.org/package/2006/relationships"><Relationship Id="rId8" Type="http://schemas.openxmlformats.org/officeDocument/2006/relationships/image" Target="../media/image138.png"/><Relationship Id="rId13" Type="http://schemas.openxmlformats.org/officeDocument/2006/relationships/image" Target="../media/image143.pn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142.png"/><Relationship Id="rId2" Type="http://schemas.openxmlformats.org/officeDocument/2006/relationships/image" Target="../media/image22.svg"/><Relationship Id="rId1" Type="http://schemas.openxmlformats.org/officeDocument/2006/relationships/slideLayout" Target="../slideLayouts/slideLayout2.xml"/><Relationship Id="rId6" Type="http://schemas.openxmlformats.org/officeDocument/2006/relationships/image" Target="../media/image36.svg"/><Relationship Id="rId11" Type="http://schemas.openxmlformats.org/officeDocument/2006/relationships/image" Target="../media/image141.png"/><Relationship Id="rId5" Type="http://schemas.openxmlformats.org/officeDocument/2006/relationships/image" Target="../media/image35.svg"/><Relationship Id="rId10" Type="http://schemas.openxmlformats.org/officeDocument/2006/relationships/image" Target="../media/image140.png"/><Relationship Id="rId4" Type="http://schemas.openxmlformats.org/officeDocument/2006/relationships/image" Target="../media/image34.svg"/><Relationship Id="rId9" Type="http://schemas.openxmlformats.org/officeDocument/2006/relationships/image" Target="../media/image139.png"/><Relationship Id="rId14" Type="http://schemas.openxmlformats.org/officeDocument/2006/relationships/image" Target="../media/image45.svg"/></Relationships>
</file>

<file path=ppt/slides/_rels/slide89.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22.svg"/><Relationship Id="rId7" Type="http://schemas.openxmlformats.org/officeDocument/2006/relationships/image" Target="../media/image36.svg"/><Relationship Id="rId2" Type="http://schemas.openxmlformats.org/officeDocument/2006/relationships/image" Target="../media/image144.png"/><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90.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22.svg"/><Relationship Id="rId7" Type="http://schemas.openxmlformats.org/officeDocument/2006/relationships/image" Target="../media/image36.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145.png"/></Relationships>
</file>

<file path=ppt/slides/_rels/slide91.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22.svg"/><Relationship Id="rId7" Type="http://schemas.openxmlformats.org/officeDocument/2006/relationships/image" Target="../media/image36.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146.sv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 Id="rId4" Type="http://schemas.openxmlformats.org/officeDocument/2006/relationships/image" Target="../media/image149.png"/></Relationships>
</file>

<file path=ppt/slides/_rels/slide94.xml.rels><?xml version="1.0" encoding="UTF-8" standalone="yes"?>
<Relationships xmlns="http://schemas.openxmlformats.org/package/2006/relationships"><Relationship Id="rId2" Type="http://schemas.openxmlformats.org/officeDocument/2006/relationships/hyperlink" Target="https://mc-stan.org/" TargetMode="Externa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1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 Id="rId4" Type="http://schemas.openxmlformats.org/officeDocument/2006/relationships/image" Target="../media/image152.png"/></Relationships>
</file>

<file path=ppt/slides/_rels/slide97.xml.rels><?xml version="1.0" encoding="UTF-8" standalone="yes"?>
<Relationships xmlns="http://schemas.openxmlformats.org/package/2006/relationships"><Relationship Id="rId3" Type="http://schemas.openxmlformats.org/officeDocument/2006/relationships/hyperlink" Target="https://solomonkurz.netlify.app/blog/" TargetMode="External"/><Relationship Id="rId2" Type="http://schemas.openxmlformats.org/officeDocument/2006/relationships/hyperlink" Target="https://www.andrewheiss.com/blog/"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3" Type="http://schemas.openxmlformats.org/officeDocument/2006/relationships/image" Target="../media/image15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55.svg"/><Relationship Id="rId5" Type="http://schemas.openxmlformats.org/officeDocument/2006/relationships/image" Target="../media/image34.svg"/><Relationship Id="rId4" Type="http://schemas.openxmlformats.org/officeDocument/2006/relationships/image" Target="../media/image154.svg"/></Relationships>
</file>

<file path=ppt/slides/_rels/slide101.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hyperlink" Target="https://github.com/JulianFrattini/bda4sci" TargetMode="Externa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E8D0B-776C-E8F7-4D2E-37BA60724F3A}"/>
              </a:ext>
            </a:extLst>
          </p:cNvPr>
          <p:cNvSpPr>
            <a:spLocks noGrp="1"/>
          </p:cNvSpPr>
          <p:nvPr>
            <p:ph type="ctrTitle"/>
          </p:nvPr>
        </p:nvSpPr>
        <p:spPr/>
        <p:txBody>
          <a:bodyPr>
            <a:normAutofit/>
          </a:bodyPr>
          <a:lstStyle/>
          <a:p>
            <a:r>
              <a:rPr lang="en-US" sz="5400" noProof="0" dirty="0"/>
              <a:t>Applied Bayesian Data Analysis</a:t>
            </a:r>
          </a:p>
        </p:txBody>
      </p:sp>
      <p:sp>
        <p:nvSpPr>
          <p:cNvPr id="3" name="Subtitle 2">
            <a:extLst>
              <a:ext uri="{FF2B5EF4-FFF2-40B4-BE49-F238E27FC236}">
                <a16:creationId xmlns:a16="http://schemas.microsoft.com/office/drawing/2014/main" id="{DAECA751-926C-8553-9E48-80B7DF1A9306}"/>
              </a:ext>
            </a:extLst>
          </p:cNvPr>
          <p:cNvSpPr>
            <a:spLocks noGrp="1"/>
          </p:cNvSpPr>
          <p:nvPr>
            <p:ph type="subTitle" idx="1"/>
          </p:nvPr>
        </p:nvSpPr>
        <p:spPr/>
        <p:txBody>
          <a:bodyPr>
            <a:normAutofit/>
          </a:bodyPr>
          <a:lstStyle/>
          <a:p>
            <a:r>
              <a:rPr lang="en-US" sz="4000" noProof="0" dirty="0"/>
              <a:t>In Requirements Engineering</a:t>
            </a:r>
          </a:p>
        </p:txBody>
      </p:sp>
      <p:sp>
        <p:nvSpPr>
          <p:cNvPr id="4" name="TextBox 3">
            <a:extLst>
              <a:ext uri="{FF2B5EF4-FFF2-40B4-BE49-F238E27FC236}">
                <a16:creationId xmlns:a16="http://schemas.microsoft.com/office/drawing/2014/main" id="{AD75591A-FA02-7123-DF74-EDB9D33C0122}"/>
              </a:ext>
            </a:extLst>
          </p:cNvPr>
          <p:cNvSpPr txBox="1"/>
          <p:nvPr/>
        </p:nvSpPr>
        <p:spPr>
          <a:xfrm>
            <a:off x="7198849" y="5859885"/>
            <a:ext cx="4302589" cy="738664"/>
          </a:xfrm>
          <a:prstGeom prst="rect">
            <a:avLst/>
          </a:prstGeom>
          <a:noFill/>
        </p:spPr>
        <p:txBody>
          <a:bodyPr wrap="none" rtlCol="0">
            <a:spAutoFit/>
          </a:bodyPr>
          <a:lstStyle/>
          <a:p>
            <a:pPr algn="r"/>
            <a:r>
              <a:rPr lang="en-US" sz="1400" noProof="0" dirty="0"/>
              <a:t>Copyright © 2026 Julian Frattini. </a:t>
            </a:r>
          </a:p>
          <a:p>
            <a:pPr algn="r"/>
            <a:r>
              <a:rPr lang="en-US" sz="1400" noProof="0" dirty="0"/>
              <a:t>The source code is licensed under the </a:t>
            </a:r>
            <a:r>
              <a:rPr lang="en-US" sz="1400" noProof="0" dirty="0">
                <a:hlinkClick r:id="rId3"/>
              </a:rPr>
              <a:t>MIT license</a:t>
            </a:r>
            <a:r>
              <a:rPr lang="en-US" sz="1400" noProof="0" dirty="0"/>
              <a:t>.</a:t>
            </a:r>
          </a:p>
          <a:p>
            <a:pPr algn="r"/>
            <a:r>
              <a:rPr lang="en-US" sz="1400" noProof="0" dirty="0"/>
              <a:t>This presentation is licensed under </a:t>
            </a:r>
            <a:r>
              <a:rPr lang="en-US" sz="1400" noProof="0" dirty="0">
                <a:hlinkClick r:id="rId4"/>
              </a:rPr>
              <a:t>CC BY-NC-SA 4.0</a:t>
            </a:r>
            <a:r>
              <a:rPr lang="en-US" sz="1400" noProof="0" dirty="0"/>
              <a:t>.</a:t>
            </a:r>
          </a:p>
        </p:txBody>
      </p:sp>
      <p:sp>
        <p:nvSpPr>
          <p:cNvPr id="11" name="TextBox 10">
            <a:extLst>
              <a:ext uri="{FF2B5EF4-FFF2-40B4-BE49-F238E27FC236}">
                <a16:creationId xmlns:a16="http://schemas.microsoft.com/office/drawing/2014/main" id="{6B4FEC08-B055-2789-C209-ABB868E097B3}"/>
              </a:ext>
            </a:extLst>
          </p:cNvPr>
          <p:cNvSpPr txBox="1"/>
          <p:nvPr/>
        </p:nvSpPr>
        <p:spPr>
          <a:xfrm>
            <a:off x="1866348" y="5398220"/>
            <a:ext cx="4488986" cy="923330"/>
          </a:xfrm>
          <a:prstGeom prst="rect">
            <a:avLst/>
          </a:prstGeom>
          <a:noFill/>
        </p:spPr>
        <p:txBody>
          <a:bodyPr wrap="none" rtlCol="0">
            <a:spAutoFit/>
          </a:bodyPr>
          <a:lstStyle/>
          <a:p>
            <a:r>
              <a:rPr lang="en-US" noProof="0" dirty="0"/>
              <a:t>Julian </a:t>
            </a:r>
            <a:r>
              <a:rPr lang="en-US" b="1" noProof="0" dirty="0"/>
              <a:t>Frattini</a:t>
            </a:r>
            <a:r>
              <a:rPr lang="en-US" noProof="0" dirty="0"/>
              <a:t>, Ph.D.</a:t>
            </a:r>
          </a:p>
          <a:p>
            <a:r>
              <a:rPr lang="en-US" noProof="0" dirty="0">
                <a:solidFill>
                  <a:schemeClr val="tx1">
                    <a:lumMod val="50000"/>
                    <a:lumOff val="50000"/>
                  </a:schemeClr>
                </a:solidFill>
              </a:rPr>
              <a:t>Chalmers University of Technology, Sweden</a:t>
            </a:r>
          </a:p>
          <a:p>
            <a:r>
              <a:rPr lang="en-US" noProof="0" dirty="0">
                <a:hlinkClick r:id="rId5"/>
              </a:rPr>
              <a:t>https://julianfrattini.github.io/</a:t>
            </a:r>
            <a:r>
              <a:rPr lang="en-US" noProof="0" dirty="0"/>
              <a:t> </a:t>
            </a:r>
          </a:p>
        </p:txBody>
      </p:sp>
      <p:sp>
        <p:nvSpPr>
          <p:cNvPr id="12" name="Oval 11">
            <a:extLst>
              <a:ext uri="{FF2B5EF4-FFF2-40B4-BE49-F238E27FC236}">
                <a16:creationId xmlns:a16="http://schemas.microsoft.com/office/drawing/2014/main" id="{492E9483-BEDA-C731-B7BE-ABF0A5518387}"/>
              </a:ext>
            </a:extLst>
          </p:cNvPr>
          <p:cNvSpPr/>
          <p:nvPr/>
        </p:nvSpPr>
        <p:spPr>
          <a:xfrm>
            <a:off x="715676" y="5303105"/>
            <a:ext cx="1080000" cy="1080000"/>
          </a:xfrm>
          <a:prstGeom prst="ellipse">
            <a:avLst/>
          </a:prstGeom>
          <a:blipFill dpi="0" rotWithShape="1">
            <a:blip r:embed="rId6">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5" name="Group 4">
            <a:extLst>
              <a:ext uri="{FF2B5EF4-FFF2-40B4-BE49-F238E27FC236}">
                <a16:creationId xmlns:a16="http://schemas.microsoft.com/office/drawing/2014/main" id="{579BBCC2-696B-4EE1-4FE4-2E4411C0F251}"/>
              </a:ext>
            </a:extLst>
          </p:cNvPr>
          <p:cNvGrpSpPr/>
          <p:nvPr/>
        </p:nvGrpSpPr>
        <p:grpSpPr>
          <a:xfrm>
            <a:off x="7967672" y="5336710"/>
            <a:ext cx="3533766" cy="444265"/>
            <a:chOff x="7967672" y="5336710"/>
            <a:chExt cx="3533766" cy="444265"/>
          </a:xfrm>
        </p:grpSpPr>
        <p:grpSp>
          <p:nvGrpSpPr>
            <p:cNvPr id="6" name="Group 5">
              <a:extLst>
                <a:ext uri="{FF2B5EF4-FFF2-40B4-BE49-F238E27FC236}">
                  <a16:creationId xmlns:a16="http://schemas.microsoft.com/office/drawing/2014/main" id="{ACCE08EC-E9A8-C79D-4C75-8B6A9708A3FB}"/>
                </a:ext>
              </a:extLst>
            </p:cNvPr>
            <p:cNvGrpSpPr/>
            <p:nvPr/>
          </p:nvGrpSpPr>
          <p:grpSpPr>
            <a:xfrm>
              <a:off x="7967672" y="5370114"/>
              <a:ext cx="3508652" cy="369332"/>
              <a:chOff x="7896235" y="5406529"/>
              <a:chExt cx="3508652" cy="369332"/>
            </a:xfrm>
          </p:grpSpPr>
          <p:pic>
            <p:nvPicPr>
              <p:cNvPr id="8" name="Picture 7" descr="A black background with a black square&#10;&#10;Description automatically generated with medium confidence">
                <a:extLst>
                  <a:ext uri="{FF2B5EF4-FFF2-40B4-BE49-F238E27FC236}">
                    <a16:creationId xmlns:a16="http://schemas.microsoft.com/office/drawing/2014/main" id="{865BDC89-0957-2AB2-5308-DA5566DFCF2B}"/>
                  </a:ext>
                </a:extLst>
              </p:cNvPr>
              <p:cNvPicPr>
                <a:picLocks noChangeAspect="1"/>
              </p:cNvPicPr>
              <p:nvPr/>
            </p:nvPicPr>
            <p:blipFill>
              <a:blip r:embed="rId7"/>
              <a:stretch>
                <a:fillRect/>
              </a:stretch>
            </p:blipFill>
            <p:spPr>
              <a:xfrm>
                <a:off x="7896235" y="5422888"/>
                <a:ext cx="344101" cy="344101"/>
              </a:xfrm>
              <a:prstGeom prst="rect">
                <a:avLst/>
              </a:prstGeom>
            </p:spPr>
          </p:pic>
          <p:sp>
            <p:nvSpPr>
              <p:cNvPr id="9" name="TextBox 8">
                <a:extLst>
                  <a:ext uri="{FF2B5EF4-FFF2-40B4-BE49-F238E27FC236}">
                    <a16:creationId xmlns:a16="http://schemas.microsoft.com/office/drawing/2014/main" id="{045BE95E-49F9-842E-7B93-BDF91E09C7D3}"/>
                  </a:ext>
                </a:extLst>
              </p:cNvPr>
              <p:cNvSpPr txBox="1"/>
              <p:nvPr/>
            </p:nvSpPr>
            <p:spPr>
              <a:xfrm>
                <a:off x="8240336" y="5406529"/>
                <a:ext cx="2356992" cy="369332"/>
              </a:xfrm>
              <a:prstGeom prst="rect">
                <a:avLst/>
              </a:prstGeom>
              <a:noFill/>
            </p:spPr>
            <p:txBody>
              <a:bodyPr wrap="none" rtlCol="0">
                <a:spAutoFit/>
              </a:bodyPr>
              <a:lstStyle/>
              <a:p>
                <a:r>
                  <a:rPr lang="en-US" noProof="0" dirty="0" err="1"/>
                  <a:t>JulianFrattini</a:t>
                </a:r>
                <a:r>
                  <a:rPr lang="en-US" noProof="0" dirty="0"/>
                  <a:t>/</a:t>
                </a:r>
                <a:r>
                  <a:rPr lang="en-US" b="1" noProof="0" dirty="0"/>
                  <a:t>bda4sci</a:t>
                </a:r>
              </a:p>
            </p:txBody>
          </p:sp>
          <p:sp>
            <p:nvSpPr>
              <p:cNvPr id="10" name="Rectangle: Rounded Corners 9">
                <a:extLst>
                  <a:ext uri="{FF2B5EF4-FFF2-40B4-BE49-F238E27FC236}">
                    <a16:creationId xmlns:a16="http://schemas.microsoft.com/office/drawing/2014/main" id="{1E137170-F20B-D8DB-3856-32092459914B}"/>
                  </a:ext>
                </a:extLst>
              </p:cNvPr>
              <p:cNvSpPr/>
              <p:nvPr/>
            </p:nvSpPr>
            <p:spPr>
              <a:xfrm>
                <a:off x="10668000" y="5456392"/>
                <a:ext cx="736887" cy="279245"/>
              </a:xfrm>
              <a:prstGeom prst="roundRect">
                <a:avLst>
                  <a:gd name="adj" fmla="val 50000"/>
                </a:avLst>
              </a:prstGeom>
              <a:noFill/>
              <a:ln w="1905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noProof="0" dirty="0">
                    <a:solidFill>
                      <a:schemeClr val="tx1">
                        <a:lumMod val="65000"/>
                        <a:lumOff val="35000"/>
                      </a:schemeClr>
                    </a:solidFill>
                  </a:rPr>
                  <a:t>Public</a:t>
                </a:r>
              </a:p>
            </p:txBody>
          </p:sp>
        </p:grpSp>
        <p:sp>
          <p:nvSpPr>
            <p:cNvPr id="7" name="Rectangle 6">
              <a:hlinkClick r:id="rId8"/>
              <a:extLst>
                <a:ext uri="{FF2B5EF4-FFF2-40B4-BE49-F238E27FC236}">
                  <a16:creationId xmlns:a16="http://schemas.microsoft.com/office/drawing/2014/main" id="{1523D628-A64F-768E-A385-ECA75D071607}"/>
                </a:ext>
              </a:extLst>
            </p:cNvPr>
            <p:cNvSpPr/>
            <p:nvPr/>
          </p:nvSpPr>
          <p:spPr>
            <a:xfrm>
              <a:off x="7967672" y="5336710"/>
              <a:ext cx="3533766" cy="4442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19421989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6734AB-DF0D-F3E4-1566-30DEFCEAF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A68562-32EF-FB9D-C67A-13418AC60DB5}"/>
              </a:ext>
            </a:extLst>
          </p:cNvPr>
          <p:cNvSpPr>
            <a:spLocks noGrp="1"/>
          </p:cNvSpPr>
          <p:nvPr>
            <p:ph type="ctrTitle"/>
          </p:nvPr>
        </p:nvSpPr>
        <p:spPr>
          <a:xfrm>
            <a:off x="1524000" y="1505527"/>
            <a:ext cx="9144000" cy="1835984"/>
          </a:xfrm>
        </p:spPr>
        <p:txBody>
          <a:bodyPr>
            <a:noAutofit/>
          </a:bodyPr>
          <a:lstStyle/>
          <a:p>
            <a:r>
              <a:rPr lang="en-US" sz="4800" noProof="0" dirty="0"/>
              <a:t>Applied Bayesian Data Analysis </a:t>
            </a:r>
            <a:br>
              <a:rPr lang="en-US" sz="4800" noProof="0" dirty="0"/>
            </a:br>
            <a:r>
              <a:rPr lang="en-US" sz="4800" noProof="0" dirty="0"/>
              <a:t>in Requirements Engineering</a:t>
            </a:r>
          </a:p>
        </p:txBody>
      </p:sp>
      <p:sp>
        <p:nvSpPr>
          <p:cNvPr id="3" name="Subtitle 2">
            <a:extLst>
              <a:ext uri="{FF2B5EF4-FFF2-40B4-BE49-F238E27FC236}">
                <a16:creationId xmlns:a16="http://schemas.microsoft.com/office/drawing/2014/main" id="{6CD973BE-BEFF-36BD-36E5-85FA97D52675}"/>
              </a:ext>
            </a:extLst>
          </p:cNvPr>
          <p:cNvSpPr>
            <a:spLocks noGrp="1"/>
          </p:cNvSpPr>
          <p:nvPr>
            <p:ph type="subTitle" idx="1"/>
          </p:nvPr>
        </p:nvSpPr>
        <p:spPr>
          <a:xfrm>
            <a:off x="1524000" y="3431076"/>
            <a:ext cx="9144000" cy="1655762"/>
          </a:xfrm>
        </p:spPr>
        <p:txBody>
          <a:bodyPr/>
          <a:lstStyle/>
          <a:p>
            <a:r>
              <a:rPr lang="en-US" noProof="0" dirty="0"/>
              <a:t>A Gentle Introduction to the Analysis of Quantitative Data within a Bayesian Framework</a:t>
            </a:r>
          </a:p>
        </p:txBody>
      </p:sp>
      <p:sp>
        <p:nvSpPr>
          <p:cNvPr id="5" name="TextBox 4">
            <a:extLst>
              <a:ext uri="{FF2B5EF4-FFF2-40B4-BE49-F238E27FC236}">
                <a16:creationId xmlns:a16="http://schemas.microsoft.com/office/drawing/2014/main" id="{FA84E25B-C3EB-646A-85E7-7BEDA819BF38}"/>
              </a:ext>
            </a:extLst>
          </p:cNvPr>
          <p:cNvSpPr txBox="1"/>
          <p:nvPr/>
        </p:nvSpPr>
        <p:spPr>
          <a:xfrm>
            <a:off x="3393436" y="6378223"/>
            <a:ext cx="5405134" cy="369332"/>
          </a:xfrm>
          <a:prstGeom prst="rect">
            <a:avLst/>
          </a:prstGeom>
          <a:noFill/>
        </p:spPr>
        <p:txBody>
          <a:bodyPr wrap="none" rtlCol="0">
            <a:spAutoFit/>
          </a:bodyPr>
          <a:lstStyle/>
          <a:p>
            <a:pPr algn="ctr"/>
            <a:r>
              <a:rPr lang="en-US" noProof="0" dirty="0"/>
              <a:t>Monday, 17th of August, 13:45-17:15 in Room E-2021</a:t>
            </a:r>
          </a:p>
        </p:txBody>
      </p:sp>
      <p:pic>
        <p:nvPicPr>
          <p:cNvPr id="6" name="Picture 5">
            <a:extLst>
              <a:ext uri="{FF2B5EF4-FFF2-40B4-BE49-F238E27FC236}">
                <a16:creationId xmlns:a16="http://schemas.microsoft.com/office/drawing/2014/main" id="{8ADFC832-2E06-5C1E-05A3-D37E82500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641" y="4632896"/>
            <a:ext cx="1780036" cy="1868428"/>
          </a:xfrm>
          <a:prstGeom prst="rect">
            <a:avLst/>
          </a:prstGeom>
        </p:spPr>
      </p:pic>
      <p:sp>
        <p:nvSpPr>
          <p:cNvPr id="8" name="TextBox 7">
            <a:extLst>
              <a:ext uri="{FF2B5EF4-FFF2-40B4-BE49-F238E27FC236}">
                <a16:creationId xmlns:a16="http://schemas.microsoft.com/office/drawing/2014/main" id="{3F58CC1C-9956-7882-2057-E8CDDD817810}"/>
              </a:ext>
            </a:extLst>
          </p:cNvPr>
          <p:cNvSpPr txBox="1"/>
          <p:nvPr/>
        </p:nvSpPr>
        <p:spPr>
          <a:xfrm>
            <a:off x="5396815" y="5069427"/>
            <a:ext cx="2509020" cy="707886"/>
          </a:xfrm>
          <a:prstGeom prst="rect">
            <a:avLst/>
          </a:prstGeom>
          <a:noFill/>
        </p:spPr>
        <p:txBody>
          <a:bodyPr wrap="none" rtlCol="0">
            <a:spAutoFit/>
          </a:bodyPr>
          <a:lstStyle/>
          <a:p>
            <a:r>
              <a:rPr lang="en-US" sz="2000" noProof="0" dirty="0">
                <a:latin typeface="Segoe UI Black" panose="020B0A02040204020203" pitchFamily="34" charset="0"/>
                <a:ea typeface="Segoe UI Black" panose="020B0A02040204020203" pitchFamily="34" charset="0"/>
              </a:rPr>
              <a:t>17-21 August 2026</a:t>
            </a:r>
          </a:p>
          <a:p>
            <a:r>
              <a:rPr lang="en-US" sz="2000" noProof="0" dirty="0">
                <a:latin typeface="Segoe UI Black" panose="020B0A02040204020203" pitchFamily="34" charset="0"/>
                <a:ea typeface="Segoe UI Black" panose="020B0A02040204020203" pitchFamily="34" charset="0"/>
              </a:rPr>
              <a:t>Montreal, Canada</a:t>
            </a:r>
          </a:p>
        </p:txBody>
      </p:sp>
    </p:spTree>
    <p:extLst>
      <p:ext uri="{BB962C8B-B14F-4D97-AF65-F5344CB8AC3E}">
        <p14:creationId xmlns:p14="http://schemas.microsoft.com/office/powerpoint/2010/main" val="6859279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700">
        <p159:morph option="byObject"/>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C94EE-E4B6-7C4C-9506-4586D0C1979B}"/>
              </a:ext>
            </a:extLst>
          </p:cNvPr>
          <p:cNvSpPr>
            <a:spLocks noGrp="1"/>
          </p:cNvSpPr>
          <p:nvPr>
            <p:ph type="title"/>
          </p:nvPr>
        </p:nvSpPr>
        <p:spPr/>
        <p:txBody>
          <a:bodyPr/>
          <a:lstStyle/>
          <a:p>
            <a:r>
              <a:rPr lang="en-US" noProof="0" dirty="0"/>
              <a:t>Meet your Instructors</a:t>
            </a:r>
          </a:p>
        </p:txBody>
      </p:sp>
      <p:sp>
        <p:nvSpPr>
          <p:cNvPr id="4" name="Date Placeholder 3">
            <a:extLst>
              <a:ext uri="{FF2B5EF4-FFF2-40B4-BE49-F238E27FC236}">
                <a16:creationId xmlns:a16="http://schemas.microsoft.com/office/drawing/2014/main" id="{7B201E64-8B2C-FE3C-D4FA-D7EDA4F868D4}"/>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1F7C18D-24D3-40D4-55A4-FC28DF632D1E}"/>
              </a:ext>
            </a:extLst>
          </p:cNvPr>
          <p:cNvSpPr>
            <a:spLocks noGrp="1"/>
          </p:cNvSpPr>
          <p:nvPr>
            <p:ph type="sldNum" sz="quarter" idx="12"/>
          </p:nvPr>
        </p:nvSpPr>
        <p:spPr/>
        <p:txBody>
          <a:bodyPr/>
          <a:lstStyle/>
          <a:p>
            <a:fld id="{271ECC92-9CDE-4EB3-B1C5-F46B9E1FA3C1}" type="slidenum">
              <a:rPr lang="en-US" noProof="0" smtClean="0"/>
              <a:t>3</a:t>
            </a:fld>
            <a:endParaRPr lang="en-US" noProof="0" dirty="0"/>
          </a:p>
        </p:txBody>
      </p:sp>
      <p:sp>
        <p:nvSpPr>
          <p:cNvPr id="6" name="Oval 5">
            <a:extLst>
              <a:ext uri="{FF2B5EF4-FFF2-40B4-BE49-F238E27FC236}">
                <a16:creationId xmlns:a16="http://schemas.microsoft.com/office/drawing/2014/main" id="{9D835F5B-AF82-8C4A-C086-58D1AAD55F10}"/>
              </a:ext>
            </a:extLst>
          </p:cNvPr>
          <p:cNvSpPr/>
          <p:nvPr/>
        </p:nvSpPr>
        <p:spPr>
          <a:xfrm>
            <a:off x="1081200" y="2223519"/>
            <a:ext cx="1800000" cy="1800000"/>
          </a:xfrm>
          <a:prstGeom prst="ellipse">
            <a:avLst/>
          </a:prstGeom>
          <a:blipFill>
            <a:blip r:embed="rId3"/>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Oval 6">
            <a:extLst>
              <a:ext uri="{FF2B5EF4-FFF2-40B4-BE49-F238E27FC236}">
                <a16:creationId xmlns:a16="http://schemas.microsoft.com/office/drawing/2014/main" id="{1D129F51-811C-A4C5-7240-E386951C5F4D}"/>
              </a:ext>
            </a:extLst>
          </p:cNvPr>
          <p:cNvSpPr/>
          <p:nvPr/>
        </p:nvSpPr>
        <p:spPr>
          <a:xfrm>
            <a:off x="3824400" y="2223519"/>
            <a:ext cx="1800000" cy="1800000"/>
          </a:xfrm>
          <a:prstGeom prst="ellipse">
            <a:avLst/>
          </a:prstGeom>
          <a:blipFill>
            <a:blip r:embed="rId4"/>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Oval 7">
            <a:extLst>
              <a:ext uri="{FF2B5EF4-FFF2-40B4-BE49-F238E27FC236}">
                <a16:creationId xmlns:a16="http://schemas.microsoft.com/office/drawing/2014/main" id="{B4C5E671-26F0-3812-73C5-0045F0375258}"/>
              </a:ext>
            </a:extLst>
          </p:cNvPr>
          <p:cNvSpPr/>
          <p:nvPr/>
        </p:nvSpPr>
        <p:spPr>
          <a:xfrm>
            <a:off x="6567600" y="2223519"/>
            <a:ext cx="1800000" cy="1800000"/>
          </a:xfrm>
          <a:prstGeom prst="ellipse">
            <a:avLst/>
          </a:prstGeom>
          <a:blipFill>
            <a:blip r:embed="rId5"/>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656BB3A9-917A-075F-BEA0-4FD6436B31C1}"/>
              </a:ext>
            </a:extLst>
          </p:cNvPr>
          <p:cNvSpPr/>
          <p:nvPr/>
        </p:nvSpPr>
        <p:spPr>
          <a:xfrm>
            <a:off x="9310800" y="2223519"/>
            <a:ext cx="1800000" cy="1800000"/>
          </a:xfrm>
          <a:prstGeom prst="ellipse">
            <a:avLst/>
          </a:prstGeom>
          <a:blipFill>
            <a:blip r:embed="rId6"/>
            <a:stretch>
              <a:fillRect/>
            </a:stretch>
          </a:blip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TextBox 9">
            <a:extLst>
              <a:ext uri="{FF2B5EF4-FFF2-40B4-BE49-F238E27FC236}">
                <a16:creationId xmlns:a16="http://schemas.microsoft.com/office/drawing/2014/main" id="{A3EEE203-EE40-F0A6-26E3-74E9ABACEFB9}"/>
              </a:ext>
            </a:extLst>
          </p:cNvPr>
          <p:cNvSpPr txBox="1"/>
          <p:nvPr/>
        </p:nvSpPr>
        <p:spPr>
          <a:xfrm>
            <a:off x="703713" y="4260733"/>
            <a:ext cx="2554973" cy="830997"/>
          </a:xfrm>
          <a:prstGeom prst="rect">
            <a:avLst/>
          </a:prstGeom>
          <a:noFill/>
        </p:spPr>
        <p:txBody>
          <a:bodyPr wrap="square" rtlCol="0">
            <a:spAutoFit/>
          </a:bodyPr>
          <a:lstStyle/>
          <a:p>
            <a:pPr algn="ctr"/>
            <a:r>
              <a:rPr lang="en-US" noProof="0" dirty="0"/>
              <a:t>Richard </a:t>
            </a:r>
            <a:r>
              <a:rPr lang="en-US" b="1" noProof="0" dirty="0"/>
              <a:t>Torkar</a:t>
            </a:r>
            <a:endParaRPr lang="en-US" noProof="0" dirty="0"/>
          </a:p>
          <a:p>
            <a:pPr algn="ctr"/>
            <a:r>
              <a:rPr lang="en-US" sz="1600" noProof="0" dirty="0">
                <a:solidFill>
                  <a:schemeClr val="tx1">
                    <a:lumMod val="50000"/>
                    <a:lumOff val="50000"/>
                  </a:schemeClr>
                </a:solidFill>
              </a:rPr>
              <a:t>Full Professor</a:t>
            </a:r>
          </a:p>
          <a:p>
            <a:pPr algn="ctr"/>
            <a:r>
              <a:rPr lang="en-US" sz="1400" noProof="0" dirty="0">
                <a:hlinkClick r:id="rId7"/>
              </a:rPr>
              <a:t>https://torkar.github.io/</a:t>
            </a:r>
            <a:r>
              <a:rPr lang="en-US" sz="1400" noProof="0" dirty="0"/>
              <a:t> </a:t>
            </a:r>
          </a:p>
        </p:txBody>
      </p:sp>
      <p:sp>
        <p:nvSpPr>
          <p:cNvPr id="11" name="TextBox 10">
            <a:extLst>
              <a:ext uri="{FF2B5EF4-FFF2-40B4-BE49-F238E27FC236}">
                <a16:creationId xmlns:a16="http://schemas.microsoft.com/office/drawing/2014/main" id="{442CD4D6-7F6B-F090-4A72-C922BCFC3D7D}"/>
              </a:ext>
            </a:extLst>
          </p:cNvPr>
          <p:cNvSpPr txBox="1"/>
          <p:nvPr/>
        </p:nvSpPr>
        <p:spPr>
          <a:xfrm>
            <a:off x="3446913" y="4260733"/>
            <a:ext cx="2554973" cy="861774"/>
          </a:xfrm>
          <a:prstGeom prst="rect">
            <a:avLst/>
          </a:prstGeom>
          <a:noFill/>
        </p:spPr>
        <p:txBody>
          <a:bodyPr wrap="square" rtlCol="0">
            <a:spAutoFit/>
          </a:bodyPr>
          <a:lstStyle/>
          <a:p>
            <a:pPr algn="ctr"/>
            <a:r>
              <a:rPr lang="en-US" noProof="0" dirty="0"/>
              <a:t>Robert </a:t>
            </a:r>
            <a:r>
              <a:rPr lang="en-US" b="1" noProof="0" dirty="0"/>
              <a:t>Feldt</a:t>
            </a:r>
            <a:endParaRPr lang="en-US" noProof="0" dirty="0"/>
          </a:p>
          <a:p>
            <a:pPr algn="ctr"/>
            <a:r>
              <a:rPr lang="en-US" sz="1600" noProof="0" dirty="0">
                <a:solidFill>
                  <a:schemeClr val="tx1">
                    <a:lumMod val="50000"/>
                    <a:lumOff val="50000"/>
                  </a:schemeClr>
                </a:solidFill>
              </a:rPr>
              <a:t>Full Professor</a:t>
            </a:r>
          </a:p>
          <a:p>
            <a:pPr algn="ctr"/>
            <a:r>
              <a:rPr lang="en-US" sz="1400" noProof="0" dirty="0">
                <a:hlinkClick r:id="rId8"/>
              </a:rPr>
              <a:t>http://www.robertfeldt.net/</a:t>
            </a:r>
            <a:r>
              <a:rPr lang="en-US" sz="1400" noProof="0" dirty="0"/>
              <a:t> </a:t>
            </a:r>
          </a:p>
        </p:txBody>
      </p:sp>
      <p:sp>
        <p:nvSpPr>
          <p:cNvPr id="12" name="TextBox 11">
            <a:extLst>
              <a:ext uri="{FF2B5EF4-FFF2-40B4-BE49-F238E27FC236}">
                <a16:creationId xmlns:a16="http://schemas.microsoft.com/office/drawing/2014/main" id="{2CD43FD4-EEDA-8F30-C74F-0EB66DBDF8B0}"/>
              </a:ext>
            </a:extLst>
          </p:cNvPr>
          <p:cNvSpPr txBox="1"/>
          <p:nvPr/>
        </p:nvSpPr>
        <p:spPr>
          <a:xfrm>
            <a:off x="6190113" y="4260733"/>
            <a:ext cx="2554973" cy="830997"/>
          </a:xfrm>
          <a:prstGeom prst="rect">
            <a:avLst/>
          </a:prstGeom>
          <a:noFill/>
        </p:spPr>
        <p:txBody>
          <a:bodyPr wrap="square" rtlCol="0">
            <a:spAutoFit/>
          </a:bodyPr>
          <a:lstStyle/>
          <a:p>
            <a:pPr algn="ctr"/>
            <a:r>
              <a:rPr lang="en-US" noProof="0" dirty="0"/>
              <a:t>Hans-Martin </a:t>
            </a:r>
            <a:r>
              <a:rPr lang="en-US" b="1" noProof="0" dirty="0"/>
              <a:t>Heyn</a:t>
            </a:r>
            <a:endParaRPr lang="en-US" noProof="0" dirty="0"/>
          </a:p>
          <a:p>
            <a:pPr algn="ctr"/>
            <a:r>
              <a:rPr lang="en-US" sz="1600" noProof="0" dirty="0">
                <a:solidFill>
                  <a:schemeClr val="tx1">
                    <a:lumMod val="50000"/>
                    <a:lumOff val="50000"/>
                  </a:schemeClr>
                </a:solidFill>
              </a:rPr>
              <a:t>Senior Lecturer</a:t>
            </a:r>
          </a:p>
          <a:p>
            <a:pPr algn="ctr"/>
            <a:r>
              <a:rPr lang="en-US" sz="1400" noProof="0" dirty="0">
                <a:hlinkClick r:id="rId9"/>
              </a:rPr>
              <a:t>https://martinheyn.github.io/</a:t>
            </a:r>
            <a:r>
              <a:rPr lang="en-US" sz="1400" noProof="0" dirty="0"/>
              <a:t> </a:t>
            </a:r>
          </a:p>
        </p:txBody>
      </p:sp>
      <p:sp>
        <p:nvSpPr>
          <p:cNvPr id="13" name="TextBox 12">
            <a:extLst>
              <a:ext uri="{FF2B5EF4-FFF2-40B4-BE49-F238E27FC236}">
                <a16:creationId xmlns:a16="http://schemas.microsoft.com/office/drawing/2014/main" id="{F8E926FC-E5BC-D3F1-F977-47F0E8D8AED9}"/>
              </a:ext>
            </a:extLst>
          </p:cNvPr>
          <p:cNvSpPr txBox="1"/>
          <p:nvPr/>
        </p:nvSpPr>
        <p:spPr>
          <a:xfrm>
            <a:off x="8933314" y="4260733"/>
            <a:ext cx="2554973" cy="830997"/>
          </a:xfrm>
          <a:prstGeom prst="rect">
            <a:avLst/>
          </a:prstGeom>
          <a:noFill/>
        </p:spPr>
        <p:txBody>
          <a:bodyPr wrap="square" rtlCol="0">
            <a:spAutoFit/>
          </a:bodyPr>
          <a:lstStyle/>
          <a:p>
            <a:pPr algn="ctr"/>
            <a:r>
              <a:rPr lang="en-US" noProof="0" dirty="0"/>
              <a:t>Julian </a:t>
            </a:r>
            <a:r>
              <a:rPr lang="en-US" b="1" noProof="0" dirty="0"/>
              <a:t>Frattini</a:t>
            </a:r>
          </a:p>
          <a:p>
            <a:pPr algn="ctr"/>
            <a:r>
              <a:rPr lang="en-US" sz="1600" noProof="0" dirty="0">
                <a:solidFill>
                  <a:schemeClr val="tx1">
                    <a:lumMod val="50000"/>
                    <a:lumOff val="50000"/>
                  </a:schemeClr>
                </a:solidFill>
              </a:rPr>
              <a:t>Postdoctoral Researcher</a:t>
            </a:r>
          </a:p>
          <a:p>
            <a:pPr algn="ctr"/>
            <a:r>
              <a:rPr lang="en-US" sz="1400" noProof="0" dirty="0">
                <a:hlinkClick r:id="rId10"/>
              </a:rPr>
              <a:t>https://julianfrattini.github.io/</a:t>
            </a:r>
            <a:r>
              <a:rPr lang="en-US" sz="1400" noProof="0" dirty="0"/>
              <a:t> </a:t>
            </a:r>
          </a:p>
        </p:txBody>
      </p:sp>
      <p:sp>
        <p:nvSpPr>
          <p:cNvPr id="3" name="Footer Placeholder 2">
            <a:extLst>
              <a:ext uri="{FF2B5EF4-FFF2-40B4-BE49-F238E27FC236}">
                <a16:creationId xmlns:a16="http://schemas.microsoft.com/office/drawing/2014/main" id="{A0420817-522D-0DB7-FA3C-9A4FE1C1D82D}"/>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8706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2C1E2-5915-C65F-3740-A65DC3AAD29D}"/>
              </a:ext>
            </a:extLst>
          </p:cNvPr>
          <p:cNvSpPr>
            <a:spLocks noGrp="1"/>
          </p:cNvSpPr>
          <p:nvPr>
            <p:ph type="title"/>
          </p:nvPr>
        </p:nvSpPr>
        <p:spPr/>
        <p:txBody>
          <a:bodyPr/>
          <a:lstStyle/>
          <a:p>
            <a:r>
              <a:rPr lang="en-US" noProof="0" dirty="0"/>
              <a:t>Schedule</a:t>
            </a:r>
          </a:p>
        </p:txBody>
      </p:sp>
      <p:sp>
        <p:nvSpPr>
          <p:cNvPr id="4" name="Date Placeholder 3">
            <a:extLst>
              <a:ext uri="{FF2B5EF4-FFF2-40B4-BE49-F238E27FC236}">
                <a16:creationId xmlns:a16="http://schemas.microsoft.com/office/drawing/2014/main" id="{3B5D4768-0529-433F-5EA2-F46E762C2BB7}"/>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2C0E875-E247-1E7C-6D48-16299C7FD746}"/>
              </a:ext>
            </a:extLst>
          </p:cNvPr>
          <p:cNvSpPr>
            <a:spLocks noGrp="1"/>
          </p:cNvSpPr>
          <p:nvPr>
            <p:ph type="sldNum" sz="quarter" idx="12"/>
          </p:nvPr>
        </p:nvSpPr>
        <p:spPr/>
        <p:txBody>
          <a:bodyPr/>
          <a:lstStyle/>
          <a:p>
            <a:fld id="{271ECC92-9CDE-4EB3-B1C5-F46B9E1FA3C1}" type="slidenum">
              <a:rPr lang="en-US" noProof="0" smtClean="0"/>
              <a:t>4</a:t>
            </a:fld>
            <a:endParaRPr lang="en-US" noProof="0" dirty="0"/>
          </a:p>
        </p:txBody>
      </p:sp>
      <p:graphicFrame>
        <p:nvGraphicFramePr>
          <p:cNvPr id="7" name="Table 6">
            <a:extLst>
              <a:ext uri="{FF2B5EF4-FFF2-40B4-BE49-F238E27FC236}">
                <a16:creationId xmlns:a16="http://schemas.microsoft.com/office/drawing/2014/main" id="{D09C9E24-D13D-C699-FA23-B3A60A1F2155}"/>
              </a:ext>
            </a:extLst>
          </p:cNvPr>
          <p:cNvGraphicFramePr>
            <a:graphicFrameLocks noGrp="1"/>
          </p:cNvGraphicFramePr>
          <p:nvPr>
            <p:extLst>
              <p:ext uri="{D42A27DB-BD31-4B8C-83A1-F6EECF244321}">
                <p14:modId xmlns:p14="http://schemas.microsoft.com/office/powerpoint/2010/main" val="2411158798"/>
              </p:ext>
            </p:extLst>
          </p:nvPr>
        </p:nvGraphicFramePr>
        <p:xfrm>
          <a:off x="1510506" y="1970088"/>
          <a:ext cx="9170988" cy="3606800"/>
        </p:xfrm>
        <a:graphic>
          <a:graphicData uri="http://schemas.openxmlformats.org/drawingml/2006/table">
            <a:tbl>
              <a:tblPr firstRow="1" bandRow="1">
                <a:tableStyleId>{073A0DAA-6AF3-43AB-8588-CEC1D06C72B9}</a:tableStyleId>
              </a:tblPr>
              <a:tblGrid>
                <a:gridCol w="2316331">
                  <a:extLst>
                    <a:ext uri="{9D8B030D-6E8A-4147-A177-3AD203B41FA5}">
                      <a16:colId xmlns:a16="http://schemas.microsoft.com/office/drawing/2014/main" val="4060947080"/>
                    </a:ext>
                  </a:extLst>
                </a:gridCol>
                <a:gridCol w="1572169">
                  <a:extLst>
                    <a:ext uri="{9D8B030D-6E8A-4147-A177-3AD203B41FA5}">
                      <a16:colId xmlns:a16="http://schemas.microsoft.com/office/drawing/2014/main" val="1711192878"/>
                    </a:ext>
                  </a:extLst>
                </a:gridCol>
                <a:gridCol w="5282488">
                  <a:extLst>
                    <a:ext uri="{9D8B030D-6E8A-4147-A177-3AD203B41FA5}">
                      <a16:colId xmlns:a16="http://schemas.microsoft.com/office/drawing/2014/main" val="2617493845"/>
                    </a:ext>
                  </a:extLst>
                </a:gridCol>
              </a:tblGrid>
              <a:tr h="370840">
                <a:tc>
                  <a:txBody>
                    <a:bodyPr/>
                    <a:lstStyle/>
                    <a:p>
                      <a:r>
                        <a:rPr lang="en-US" noProof="0" dirty="0"/>
                        <a:t>Session</a:t>
                      </a:r>
                    </a:p>
                  </a:txBody>
                  <a:tcPr/>
                </a:tc>
                <a:tc>
                  <a:txBody>
                    <a:bodyPr/>
                    <a:lstStyle/>
                    <a:p>
                      <a:r>
                        <a:rPr lang="en-US" noProof="0" dirty="0"/>
                        <a:t>Time</a:t>
                      </a:r>
                    </a:p>
                  </a:txBody>
                  <a:tcPr/>
                </a:tc>
                <a:tc>
                  <a:txBody>
                    <a:bodyPr/>
                    <a:lstStyle/>
                    <a:p>
                      <a:r>
                        <a:rPr lang="en-US" noProof="0" dirty="0"/>
                        <a:t>Content</a:t>
                      </a:r>
                    </a:p>
                  </a:txBody>
                  <a:tcPr/>
                </a:tc>
                <a:extLst>
                  <a:ext uri="{0D108BD9-81ED-4DB2-BD59-A6C34878D82A}">
                    <a16:rowId xmlns:a16="http://schemas.microsoft.com/office/drawing/2014/main" val="3236769831"/>
                  </a:ext>
                </a:extLst>
              </a:tr>
              <a:tr h="370840">
                <a:tc>
                  <a:txBody>
                    <a:bodyPr/>
                    <a:lstStyle/>
                    <a:p>
                      <a:r>
                        <a:rPr lang="en-SE" noProof="0" dirty="0"/>
                        <a:t>Motivation</a:t>
                      </a:r>
                      <a:endParaRPr lang="en-US" noProof="0" dirty="0"/>
                    </a:p>
                  </a:txBody>
                  <a:tcPr/>
                </a:tc>
                <a:tc>
                  <a:txBody>
                    <a:bodyPr/>
                    <a:lstStyle/>
                    <a:p>
                      <a:r>
                        <a:rPr lang="en-US" noProof="0" dirty="0"/>
                        <a:t>1</a:t>
                      </a:r>
                      <a:r>
                        <a:rPr lang="en-SE" noProof="0" dirty="0"/>
                        <a:t>3</a:t>
                      </a:r>
                      <a:r>
                        <a:rPr lang="en-US" noProof="0" dirty="0"/>
                        <a:t>:</a:t>
                      </a:r>
                      <a:r>
                        <a:rPr lang="en-SE" noProof="0" dirty="0"/>
                        <a:t>45</a:t>
                      </a:r>
                      <a:r>
                        <a:rPr lang="en-US" noProof="0" dirty="0"/>
                        <a:t>-1</a:t>
                      </a:r>
                      <a:r>
                        <a:rPr lang="en-SE" noProof="0" dirty="0"/>
                        <a:t>4:00</a:t>
                      </a:r>
                      <a:endParaRPr lang="en-US" noProof="0" dirty="0"/>
                    </a:p>
                  </a:txBody>
                  <a:tcPr/>
                </a:tc>
                <a:tc>
                  <a:txBody>
                    <a:bodyPr/>
                    <a:lstStyle/>
                    <a:p>
                      <a:r>
                        <a:rPr lang="en-SE" noProof="0" dirty="0"/>
                        <a:t>Motivation</a:t>
                      </a:r>
                      <a:r>
                        <a:rPr lang="en-US" noProof="0" dirty="0"/>
                        <a:t> and </a:t>
                      </a:r>
                      <a:r>
                        <a:rPr lang="en-SE" noProof="0" dirty="0"/>
                        <a:t>learning </a:t>
                      </a:r>
                      <a:r>
                        <a:rPr lang="en-US" noProof="0" dirty="0"/>
                        <a:t>goals</a:t>
                      </a:r>
                    </a:p>
                  </a:txBody>
                  <a:tcPr/>
                </a:tc>
                <a:extLst>
                  <a:ext uri="{0D108BD9-81ED-4DB2-BD59-A6C34878D82A}">
                    <a16:rowId xmlns:a16="http://schemas.microsoft.com/office/drawing/2014/main" val="2924862747"/>
                  </a:ext>
                </a:extLst>
              </a:tr>
              <a:tr h="370840">
                <a:tc>
                  <a:txBody>
                    <a:bodyPr/>
                    <a:lstStyle/>
                    <a:p>
                      <a:r>
                        <a:rPr lang="en-SE" noProof="0" dirty="0"/>
                        <a:t>State-of-Practice</a:t>
                      </a:r>
                      <a:endParaRPr lang="en-US" noProof="0" dirty="0"/>
                    </a:p>
                  </a:txBody>
                  <a:tcPr/>
                </a:tc>
                <a:tc>
                  <a:txBody>
                    <a:bodyPr/>
                    <a:lstStyle/>
                    <a:p>
                      <a:r>
                        <a:rPr lang="en-US" noProof="0" dirty="0"/>
                        <a:t>1</a:t>
                      </a:r>
                      <a:r>
                        <a:rPr lang="en-SE" noProof="0" dirty="0"/>
                        <a:t>4:00</a:t>
                      </a:r>
                      <a:r>
                        <a:rPr lang="en-US" noProof="0" dirty="0"/>
                        <a:t>-1</a:t>
                      </a:r>
                      <a:r>
                        <a:rPr lang="en-SE" noProof="0" dirty="0"/>
                        <a:t>4:30</a:t>
                      </a:r>
                      <a:endParaRPr lang="en-US" noProof="0" dirty="0"/>
                    </a:p>
                  </a:txBody>
                  <a:tcPr/>
                </a:tc>
                <a:tc>
                  <a:txBody>
                    <a:bodyPr/>
                    <a:lstStyle/>
                    <a:p>
                      <a:r>
                        <a:rPr lang="en-SE" noProof="0" dirty="0"/>
                        <a:t>Frequentism and its issues</a:t>
                      </a:r>
                      <a:endParaRPr lang="en-US" noProof="0" dirty="0"/>
                    </a:p>
                  </a:txBody>
                  <a:tcPr/>
                </a:tc>
                <a:extLst>
                  <a:ext uri="{0D108BD9-81ED-4DB2-BD59-A6C34878D82A}">
                    <a16:rowId xmlns:a16="http://schemas.microsoft.com/office/drawing/2014/main" val="1795015782"/>
                  </a:ext>
                </a:extLst>
              </a:tr>
              <a:tr h="370840">
                <a:tc>
                  <a:txBody>
                    <a:bodyPr/>
                    <a:lstStyle/>
                    <a:p>
                      <a:r>
                        <a:rPr lang="en-SE" noProof="0" dirty="0"/>
                        <a:t>Bayes’ Theorem</a:t>
                      </a:r>
                      <a:endParaRPr lang="en-US" noProof="0" dirty="0"/>
                    </a:p>
                  </a:txBody>
                  <a:tcPr/>
                </a:tc>
                <a:tc>
                  <a:txBody>
                    <a:bodyPr/>
                    <a:lstStyle/>
                    <a:p>
                      <a:r>
                        <a:rPr lang="en-US" noProof="0" dirty="0"/>
                        <a:t>1</a:t>
                      </a:r>
                      <a:r>
                        <a:rPr lang="en-SE" noProof="0" dirty="0"/>
                        <a:t>4:30</a:t>
                      </a:r>
                      <a:r>
                        <a:rPr lang="en-US" noProof="0" dirty="0"/>
                        <a:t>-1</a:t>
                      </a:r>
                      <a:r>
                        <a:rPr lang="en-SE" noProof="0" dirty="0"/>
                        <a:t>5:15</a:t>
                      </a:r>
                      <a:endParaRPr lang="en-US" noProof="0" dirty="0"/>
                    </a:p>
                  </a:txBody>
                  <a:tcPr/>
                </a:tc>
                <a:tc>
                  <a:txBody>
                    <a:bodyPr/>
                    <a:lstStyle/>
                    <a:p>
                      <a:r>
                        <a:rPr lang="en-SE" noProof="0" dirty="0"/>
                        <a:t>Fundamentals of Bayes’ theorem</a:t>
                      </a:r>
                      <a:endParaRPr lang="en-US" noProof="0" dirty="0"/>
                    </a:p>
                  </a:txBody>
                  <a:tcPr/>
                </a:tc>
                <a:extLst>
                  <a:ext uri="{0D108BD9-81ED-4DB2-BD59-A6C34878D82A}">
                    <a16:rowId xmlns:a16="http://schemas.microsoft.com/office/drawing/2014/main" val="1718220225"/>
                  </a:ext>
                </a:extLst>
              </a:tr>
              <a:tr h="370840">
                <a:tc>
                  <a:txBody>
                    <a:bodyPr/>
                    <a:lstStyle/>
                    <a:p>
                      <a:r>
                        <a:rPr lang="en-US" noProof="0" dirty="0">
                          <a:solidFill>
                            <a:schemeClr val="bg1"/>
                          </a:solidFill>
                        </a:rPr>
                        <a:t>Break</a:t>
                      </a:r>
                    </a:p>
                  </a:txBody>
                  <a:tcPr>
                    <a:solidFill>
                      <a:schemeClr val="bg1">
                        <a:lumMod val="50000"/>
                      </a:schemeClr>
                    </a:solidFill>
                  </a:tcPr>
                </a:tc>
                <a:tc>
                  <a:txBody>
                    <a:bodyPr/>
                    <a:lstStyle/>
                    <a:p>
                      <a:r>
                        <a:rPr lang="en-US" noProof="0" dirty="0">
                          <a:solidFill>
                            <a:schemeClr val="bg1"/>
                          </a:solidFill>
                        </a:rPr>
                        <a:t>1</a:t>
                      </a:r>
                      <a:r>
                        <a:rPr lang="en-SE" noProof="0" dirty="0">
                          <a:solidFill>
                            <a:schemeClr val="bg1"/>
                          </a:solidFill>
                        </a:rPr>
                        <a:t>5</a:t>
                      </a:r>
                      <a:r>
                        <a:rPr lang="en-US" noProof="0" dirty="0">
                          <a:solidFill>
                            <a:schemeClr val="bg1"/>
                          </a:solidFill>
                        </a:rPr>
                        <a:t>:</a:t>
                      </a:r>
                      <a:r>
                        <a:rPr lang="en-SE" noProof="0" dirty="0">
                          <a:solidFill>
                            <a:schemeClr val="bg1"/>
                          </a:solidFill>
                        </a:rPr>
                        <a:t>15</a:t>
                      </a:r>
                      <a:r>
                        <a:rPr lang="en-US" noProof="0" dirty="0">
                          <a:solidFill>
                            <a:schemeClr val="bg1"/>
                          </a:solidFill>
                        </a:rPr>
                        <a:t>-1</a:t>
                      </a:r>
                      <a:r>
                        <a:rPr lang="en-SE" noProof="0" dirty="0">
                          <a:solidFill>
                            <a:schemeClr val="bg1"/>
                          </a:solidFill>
                        </a:rPr>
                        <a:t>7:45</a:t>
                      </a:r>
                      <a:endParaRPr lang="en-US" noProof="0" dirty="0">
                        <a:solidFill>
                          <a:schemeClr val="bg1"/>
                        </a:solidFill>
                      </a:endParaRPr>
                    </a:p>
                  </a:txBody>
                  <a:tcPr>
                    <a:solidFill>
                      <a:schemeClr val="bg1">
                        <a:lumMod val="50000"/>
                      </a:schemeClr>
                    </a:solidFill>
                  </a:tcPr>
                </a:tc>
                <a:tc>
                  <a:txBody>
                    <a:bodyPr/>
                    <a:lstStyle/>
                    <a:p>
                      <a:endParaRPr lang="en-US" noProof="0" dirty="0">
                        <a:solidFill>
                          <a:schemeClr val="bg1"/>
                        </a:solidFill>
                      </a:endParaRPr>
                    </a:p>
                  </a:txBody>
                  <a:tcPr>
                    <a:solidFill>
                      <a:schemeClr val="bg1">
                        <a:lumMod val="50000"/>
                      </a:schemeClr>
                    </a:solidFill>
                  </a:tcPr>
                </a:tc>
                <a:extLst>
                  <a:ext uri="{0D108BD9-81ED-4DB2-BD59-A6C34878D82A}">
                    <a16:rowId xmlns:a16="http://schemas.microsoft.com/office/drawing/2014/main" val="2834851480"/>
                  </a:ext>
                </a:extLst>
              </a:tr>
              <a:tr h="370840">
                <a:tc>
                  <a:txBody>
                    <a:bodyPr/>
                    <a:lstStyle/>
                    <a:p>
                      <a:r>
                        <a:rPr lang="en-SE" noProof="0" dirty="0"/>
                        <a:t>Bayesian Workflow I</a:t>
                      </a:r>
                      <a:endParaRPr lang="en-US" noProof="0" dirty="0"/>
                    </a:p>
                  </a:txBody>
                  <a:tcPr/>
                </a:tc>
                <a:tc>
                  <a:txBody>
                    <a:bodyPr/>
                    <a:lstStyle/>
                    <a:p>
                      <a:r>
                        <a:rPr lang="en-US" noProof="0" dirty="0"/>
                        <a:t>1</a:t>
                      </a:r>
                      <a:r>
                        <a:rPr lang="en-SE" noProof="0" dirty="0"/>
                        <a:t>5:45</a:t>
                      </a:r>
                      <a:r>
                        <a:rPr lang="en-US" noProof="0" dirty="0"/>
                        <a:t>-1</a:t>
                      </a:r>
                      <a:r>
                        <a:rPr lang="en-SE" noProof="0" dirty="0"/>
                        <a:t>6:30</a:t>
                      </a:r>
                      <a:endParaRPr lang="en-US" noProof="0" dirty="0"/>
                    </a:p>
                  </a:txBody>
                  <a:tcPr/>
                </a:tc>
                <a:tc>
                  <a:txBody>
                    <a:bodyPr/>
                    <a:lstStyle/>
                    <a:p>
                      <a:r>
                        <a:rPr lang="en-SE" noProof="0" dirty="0"/>
                        <a:t>Fundamental Bayesian workflow with simple normal data</a:t>
                      </a:r>
                      <a:endParaRPr lang="en-US" noProof="0" dirty="0"/>
                    </a:p>
                  </a:txBody>
                  <a:tcPr/>
                </a:tc>
                <a:extLst>
                  <a:ext uri="{0D108BD9-81ED-4DB2-BD59-A6C34878D82A}">
                    <a16:rowId xmlns:a16="http://schemas.microsoft.com/office/drawing/2014/main" val="266909002"/>
                  </a:ext>
                </a:extLst>
              </a:tr>
              <a:tr h="370840">
                <a:tc>
                  <a:txBody>
                    <a:bodyPr/>
                    <a:lstStyle/>
                    <a:p>
                      <a:r>
                        <a:rPr lang="en-SE" noProof="0" dirty="0"/>
                        <a:t>Bayesian W</a:t>
                      </a:r>
                      <a:r>
                        <a:rPr lang="de-DE" noProof="0" dirty="0"/>
                        <a:t>o</a:t>
                      </a:r>
                      <a:r>
                        <a:rPr lang="en-SE" noProof="0" dirty="0" err="1"/>
                        <a:t>rkflow</a:t>
                      </a:r>
                      <a:r>
                        <a:rPr lang="en-SE" noProof="0" dirty="0"/>
                        <a:t> II</a:t>
                      </a:r>
                      <a:endParaRPr lang="en-US" noProof="0" dirty="0"/>
                    </a:p>
                  </a:txBody>
                  <a:tcPr/>
                </a:tc>
                <a:tc>
                  <a:txBody>
                    <a:bodyPr/>
                    <a:lstStyle/>
                    <a:p>
                      <a:r>
                        <a:rPr lang="en-SE" noProof="0" dirty="0"/>
                        <a:t>16:30-17:00</a:t>
                      </a:r>
                      <a:endParaRPr lang="en-US" noProof="0" dirty="0"/>
                    </a:p>
                  </a:txBody>
                  <a:tcPr/>
                </a:tc>
                <a:tc>
                  <a:txBody>
                    <a:bodyPr/>
                    <a:lstStyle/>
                    <a:p>
                      <a:r>
                        <a:rPr lang="en-SE" noProof="0" dirty="0"/>
                        <a:t>Advanced Bayesian workflow with non-normal data</a:t>
                      </a:r>
                      <a:endParaRPr lang="en-US" noProof="0" dirty="0"/>
                    </a:p>
                  </a:txBody>
                  <a:tcPr/>
                </a:tc>
                <a:extLst>
                  <a:ext uri="{0D108BD9-81ED-4DB2-BD59-A6C34878D82A}">
                    <a16:rowId xmlns:a16="http://schemas.microsoft.com/office/drawing/2014/main" val="2627496988"/>
                  </a:ext>
                </a:extLst>
              </a:tr>
              <a:tr h="370840">
                <a:tc>
                  <a:txBody>
                    <a:bodyPr/>
                    <a:lstStyle/>
                    <a:p>
                      <a:r>
                        <a:rPr lang="en-SE" noProof="0" dirty="0"/>
                        <a:t>Learning Path</a:t>
                      </a:r>
                      <a:endParaRPr lang="en-US" noProof="0" dirty="0"/>
                    </a:p>
                  </a:txBody>
                  <a:tcPr/>
                </a:tc>
                <a:tc>
                  <a:txBody>
                    <a:bodyPr/>
                    <a:lstStyle/>
                    <a:p>
                      <a:r>
                        <a:rPr lang="en-SE" noProof="0" dirty="0"/>
                        <a:t>17:00-17:15</a:t>
                      </a:r>
                      <a:endParaRPr lang="en-US" noProof="0" dirty="0"/>
                    </a:p>
                  </a:txBody>
                  <a:tcPr/>
                </a:tc>
                <a:tc>
                  <a:txBody>
                    <a:bodyPr/>
                    <a:lstStyle/>
                    <a:p>
                      <a:r>
                        <a:rPr lang="en-SE" noProof="0" dirty="0"/>
                        <a:t>Advice for the Bayesian journey</a:t>
                      </a:r>
                      <a:endParaRPr lang="en-US" noProof="0" dirty="0"/>
                    </a:p>
                  </a:txBody>
                  <a:tcPr/>
                </a:tc>
                <a:extLst>
                  <a:ext uri="{0D108BD9-81ED-4DB2-BD59-A6C34878D82A}">
                    <a16:rowId xmlns:a16="http://schemas.microsoft.com/office/drawing/2014/main" val="540603620"/>
                  </a:ext>
                </a:extLst>
              </a:tr>
              <a:tr h="370840">
                <a:tc>
                  <a:txBody>
                    <a:bodyPr/>
                    <a:lstStyle/>
                    <a:p>
                      <a:r>
                        <a:rPr lang="en-US" noProof="0" dirty="0"/>
                        <a:t>Feedback</a:t>
                      </a:r>
                    </a:p>
                  </a:txBody>
                  <a:tcPr/>
                </a:tc>
                <a:tc>
                  <a:txBody>
                    <a:bodyPr/>
                    <a:lstStyle/>
                    <a:p>
                      <a:r>
                        <a:rPr lang="en-SE" noProof="0" dirty="0"/>
                        <a:t>17:15-17:45</a:t>
                      </a:r>
                      <a:endParaRPr lang="en-US" noProof="0" dirty="0"/>
                    </a:p>
                  </a:txBody>
                  <a:tcPr/>
                </a:tc>
                <a:tc>
                  <a:txBody>
                    <a:bodyPr/>
                    <a:lstStyle/>
                    <a:p>
                      <a:r>
                        <a:rPr lang="en-US" noProof="0" dirty="0"/>
                        <a:t>Reflection, discussion, and closing</a:t>
                      </a:r>
                    </a:p>
                  </a:txBody>
                  <a:tcPr/>
                </a:tc>
                <a:extLst>
                  <a:ext uri="{0D108BD9-81ED-4DB2-BD59-A6C34878D82A}">
                    <a16:rowId xmlns:a16="http://schemas.microsoft.com/office/drawing/2014/main" val="1514719542"/>
                  </a:ext>
                </a:extLst>
              </a:tr>
            </a:tbl>
          </a:graphicData>
        </a:graphic>
      </p:graphicFrame>
      <p:sp>
        <p:nvSpPr>
          <p:cNvPr id="3" name="Footer Placeholder 2">
            <a:extLst>
              <a:ext uri="{FF2B5EF4-FFF2-40B4-BE49-F238E27FC236}">
                <a16:creationId xmlns:a16="http://schemas.microsoft.com/office/drawing/2014/main" id="{03E14DDC-4ADD-F72E-5ED8-92E2E3DEE1E2}"/>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512392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81E41D2-7DD9-A35A-103D-D755D6BC983A}"/>
              </a:ext>
            </a:extLst>
          </p:cNvPr>
          <p:cNvSpPr>
            <a:spLocks noGrp="1"/>
          </p:cNvSpPr>
          <p:nvPr>
            <p:ph type="title"/>
          </p:nvPr>
        </p:nvSpPr>
        <p:spPr/>
        <p:txBody>
          <a:bodyPr/>
          <a:lstStyle/>
          <a:p>
            <a:r>
              <a:rPr lang="en-US" noProof="0" dirty="0"/>
              <a:t>Motivation and Goals</a:t>
            </a:r>
          </a:p>
        </p:txBody>
      </p:sp>
      <p:sp>
        <p:nvSpPr>
          <p:cNvPr id="7" name="Text Placeholder 6">
            <a:extLst>
              <a:ext uri="{FF2B5EF4-FFF2-40B4-BE49-F238E27FC236}">
                <a16:creationId xmlns:a16="http://schemas.microsoft.com/office/drawing/2014/main" id="{7E592BEB-4EBB-0AEE-E913-1A16DB477841}"/>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F1657F16-3540-9271-6BE1-31E0E2568053}"/>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C58CFE71-C488-8416-BAE1-0CC7A06FB2B8}"/>
              </a:ext>
            </a:extLst>
          </p:cNvPr>
          <p:cNvSpPr>
            <a:spLocks noGrp="1"/>
          </p:cNvSpPr>
          <p:nvPr>
            <p:ph type="sldNum" sz="quarter" idx="12"/>
          </p:nvPr>
        </p:nvSpPr>
        <p:spPr/>
        <p:txBody>
          <a:bodyPr/>
          <a:lstStyle/>
          <a:p>
            <a:fld id="{271ECC92-9CDE-4EB3-B1C5-F46B9E1FA3C1}" type="slidenum">
              <a:rPr lang="en-US" noProof="0" smtClean="0"/>
              <a:t>5</a:t>
            </a:fld>
            <a:endParaRPr lang="en-US" noProof="0" dirty="0"/>
          </a:p>
        </p:txBody>
      </p:sp>
      <p:sp>
        <p:nvSpPr>
          <p:cNvPr id="2" name="Footer Placeholder 1">
            <a:extLst>
              <a:ext uri="{FF2B5EF4-FFF2-40B4-BE49-F238E27FC236}">
                <a16:creationId xmlns:a16="http://schemas.microsoft.com/office/drawing/2014/main" id="{875DF5DE-7FCB-7B3D-7B42-7AF575E676E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912893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7" name="Straight Connector 26">
            <a:extLst>
              <a:ext uri="{FF2B5EF4-FFF2-40B4-BE49-F238E27FC236}">
                <a16:creationId xmlns:a16="http://schemas.microsoft.com/office/drawing/2014/main" id="{C3F94BC3-E658-C168-9952-C7F8F3A84850}"/>
              </a:ext>
            </a:extLst>
          </p:cNvPr>
          <p:cNvCxnSpPr/>
          <p:nvPr/>
        </p:nvCxnSpPr>
        <p:spPr>
          <a:xfrm>
            <a:off x="1502979" y="4581197"/>
            <a:ext cx="9186041" cy="0"/>
          </a:xfrm>
          <a:prstGeom prst="line">
            <a:avLst/>
          </a:prstGeom>
          <a:ln>
            <a:solidFill>
              <a:schemeClr val="bg1">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 name="Title 6">
            <a:extLst>
              <a:ext uri="{FF2B5EF4-FFF2-40B4-BE49-F238E27FC236}">
                <a16:creationId xmlns:a16="http://schemas.microsoft.com/office/drawing/2014/main" id="{631C72A9-EAE2-62D8-DA2C-4F3AA1F72709}"/>
              </a:ext>
            </a:extLst>
          </p:cNvPr>
          <p:cNvSpPr>
            <a:spLocks noGrp="1"/>
          </p:cNvSpPr>
          <p:nvPr>
            <p:ph type="title"/>
          </p:nvPr>
        </p:nvSpPr>
        <p:spPr/>
        <p:txBody>
          <a:bodyPr/>
          <a:lstStyle/>
          <a:p>
            <a:r>
              <a:rPr lang="en-SE" dirty="0"/>
              <a:t>Good Science</a:t>
            </a:r>
          </a:p>
        </p:txBody>
      </p:sp>
      <p:sp>
        <p:nvSpPr>
          <p:cNvPr id="8" name="Content Placeholder 7">
            <a:extLst>
              <a:ext uri="{FF2B5EF4-FFF2-40B4-BE49-F238E27FC236}">
                <a16:creationId xmlns:a16="http://schemas.microsoft.com/office/drawing/2014/main" id="{28A46E9A-A36A-C529-4CFC-3E470683245A}"/>
              </a:ext>
            </a:extLst>
          </p:cNvPr>
          <p:cNvSpPr>
            <a:spLocks noGrp="1"/>
          </p:cNvSpPr>
          <p:nvPr>
            <p:ph idx="1"/>
          </p:nvPr>
        </p:nvSpPr>
        <p:spPr>
          <a:xfrm>
            <a:off x="838200" y="1825625"/>
            <a:ext cx="10515600" cy="1325563"/>
          </a:xfrm>
        </p:spPr>
        <p:txBody>
          <a:bodyPr/>
          <a:lstStyle/>
          <a:p>
            <a:pPr marL="0" indent="0">
              <a:buNone/>
            </a:pPr>
            <a:r>
              <a:rPr lang="en-SE" dirty="0"/>
              <a:t>If we strive to </a:t>
            </a:r>
            <a:r>
              <a:rPr lang="en-SE" i="1" dirty="0"/>
              <a:t>do good science</a:t>
            </a:r>
            <a:r>
              <a:rPr lang="en-SE" dirty="0"/>
              <a:t>, we aim for </a:t>
            </a:r>
            <a:r>
              <a:rPr lang="en-SE" b="1" dirty="0"/>
              <a:t>rigorous </a:t>
            </a:r>
            <a:r>
              <a:rPr lang="en-SE" dirty="0"/>
              <a:t>and </a:t>
            </a:r>
            <a:r>
              <a:rPr lang="en-SE" b="1" dirty="0"/>
              <a:t>relevant</a:t>
            </a:r>
            <a:r>
              <a:rPr lang="en-SE" dirty="0"/>
              <a:t> empirical research contributions, where a rigorous contribution is a </a:t>
            </a:r>
            <a:r>
              <a:rPr lang="en-SE" b="1" dirty="0"/>
              <a:t>valid </a:t>
            </a:r>
            <a:r>
              <a:rPr lang="en-SE" dirty="0"/>
              <a:t>contribution.</a:t>
            </a:r>
          </a:p>
        </p:txBody>
      </p:sp>
      <p:sp>
        <p:nvSpPr>
          <p:cNvPr id="4" name="Date Placeholder 3">
            <a:extLst>
              <a:ext uri="{FF2B5EF4-FFF2-40B4-BE49-F238E27FC236}">
                <a16:creationId xmlns:a16="http://schemas.microsoft.com/office/drawing/2014/main" id="{6BE051C5-BC9A-28F8-2650-CD434FB66F36}"/>
              </a:ext>
            </a:extLst>
          </p:cNvPr>
          <p:cNvSpPr>
            <a:spLocks noGrp="1"/>
          </p:cNvSpPr>
          <p:nvPr>
            <p:ph type="dt" sz="half" idx="10"/>
          </p:nvPr>
        </p:nvSpPr>
        <p:spPr/>
        <p:txBody>
          <a:bodyPr/>
          <a:lstStyle/>
          <a:p>
            <a:r>
              <a:rPr lang="en-SE"/>
              <a:t>2026-08-17</a:t>
            </a:r>
            <a:endParaRPr lang="en-SE" dirty="0"/>
          </a:p>
        </p:txBody>
      </p:sp>
      <p:sp>
        <p:nvSpPr>
          <p:cNvPr id="5" name="Footer Placeholder 4">
            <a:extLst>
              <a:ext uri="{FF2B5EF4-FFF2-40B4-BE49-F238E27FC236}">
                <a16:creationId xmlns:a16="http://schemas.microsoft.com/office/drawing/2014/main" id="{91D229EE-70A4-C7FB-F6A5-E1D526562ADB}"/>
              </a:ext>
            </a:extLst>
          </p:cNvPr>
          <p:cNvSpPr>
            <a:spLocks noGrp="1"/>
          </p:cNvSpPr>
          <p:nvPr>
            <p:ph type="ftr" sz="quarter" idx="11"/>
          </p:nvPr>
        </p:nvSpPr>
        <p:spPr/>
        <p:txBody>
          <a:bodyPr/>
          <a:lstStyle/>
          <a:p>
            <a:r>
              <a:rPr lang="de-DE"/>
              <a:t>Bayesian Data Analysis Tutorial</a:t>
            </a:r>
            <a:endParaRPr lang="en-SE" dirty="0"/>
          </a:p>
        </p:txBody>
      </p:sp>
      <p:sp>
        <p:nvSpPr>
          <p:cNvPr id="6" name="Slide Number Placeholder 5">
            <a:extLst>
              <a:ext uri="{FF2B5EF4-FFF2-40B4-BE49-F238E27FC236}">
                <a16:creationId xmlns:a16="http://schemas.microsoft.com/office/drawing/2014/main" id="{56BBCFFC-4D57-BBD0-BC44-3E7C11AADB70}"/>
              </a:ext>
            </a:extLst>
          </p:cNvPr>
          <p:cNvSpPr>
            <a:spLocks noGrp="1"/>
          </p:cNvSpPr>
          <p:nvPr>
            <p:ph type="sldNum" sz="quarter" idx="12"/>
          </p:nvPr>
        </p:nvSpPr>
        <p:spPr/>
        <p:txBody>
          <a:bodyPr/>
          <a:lstStyle/>
          <a:p>
            <a:fld id="{271ECC92-9CDE-4EB3-B1C5-F46B9E1FA3C1}" type="slidenum">
              <a:rPr lang="en-SE" smtClean="0"/>
              <a:t>6</a:t>
            </a:fld>
            <a:endParaRPr lang="en-SE"/>
          </a:p>
        </p:txBody>
      </p:sp>
      <p:sp>
        <p:nvSpPr>
          <p:cNvPr id="9" name="Rectangle 8">
            <a:extLst>
              <a:ext uri="{FF2B5EF4-FFF2-40B4-BE49-F238E27FC236}">
                <a16:creationId xmlns:a16="http://schemas.microsoft.com/office/drawing/2014/main" id="{C685D351-6DFB-4B4D-290E-25934C7EB0AD}"/>
              </a:ext>
            </a:extLst>
          </p:cNvPr>
          <p:cNvSpPr/>
          <p:nvPr/>
        </p:nvSpPr>
        <p:spPr>
          <a:xfrm>
            <a:off x="3192517" y="3326196"/>
            <a:ext cx="1692166" cy="5649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Cause Construct</a:t>
            </a:r>
          </a:p>
        </p:txBody>
      </p:sp>
      <p:sp>
        <p:nvSpPr>
          <p:cNvPr id="11" name="Rectangle 10">
            <a:extLst>
              <a:ext uri="{FF2B5EF4-FFF2-40B4-BE49-F238E27FC236}">
                <a16:creationId xmlns:a16="http://schemas.microsoft.com/office/drawing/2014/main" id="{C8535DF8-A560-184A-BD9B-4AA617695672}"/>
              </a:ext>
            </a:extLst>
          </p:cNvPr>
          <p:cNvSpPr/>
          <p:nvPr/>
        </p:nvSpPr>
        <p:spPr>
          <a:xfrm>
            <a:off x="3192517" y="5322778"/>
            <a:ext cx="1692166" cy="564931"/>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Cause Indicator</a:t>
            </a:r>
          </a:p>
        </p:txBody>
      </p:sp>
      <p:sp>
        <p:nvSpPr>
          <p:cNvPr id="13" name="Rectangle 12">
            <a:extLst>
              <a:ext uri="{FF2B5EF4-FFF2-40B4-BE49-F238E27FC236}">
                <a16:creationId xmlns:a16="http://schemas.microsoft.com/office/drawing/2014/main" id="{A33A03C2-4686-149D-2017-08DC5C09ACB7}"/>
              </a:ext>
            </a:extLst>
          </p:cNvPr>
          <p:cNvSpPr/>
          <p:nvPr/>
        </p:nvSpPr>
        <p:spPr>
          <a:xfrm>
            <a:off x="7065580" y="3326195"/>
            <a:ext cx="1692166" cy="564931"/>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Effect Construct</a:t>
            </a:r>
          </a:p>
        </p:txBody>
      </p:sp>
      <p:sp>
        <p:nvSpPr>
          <p:cNvPr id="15" name="Rectangle 14">
            <a:extLst>
              <a:ext uri="{FF2B5EF4-FFF2-40B4-BE49-F238E27FC236}">
                <a16:creationId xmlns:a16="http://schemas.microsoft.com/office/drawing/2014/main" id="{EE8478F5-C048-E3FE-8F90-BDC600BBFC55}"/>
              </a:ext>
            </a:extLst>
          </p:cNvPr>
          <p:cNvSpPr/>
          <p:nvPr/>
        </p:nvSpPr>
        <p:spPr>
          <a:xfrm>
            <a:off x="7065580" y="5322778"/>
            <a:ext cx="1692166" cy="564931"/>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Effect Indicator</a:t>
            </a:r>
          </a:p>
        </p:txBody>
      </p:sp>
      <p:cxnSp>
        <p:nvCxnSpPr>
          <p:cNvPr id="17" name="Straight Arrow Connector 16">
            <a:extLst>
              <a:ext uri="{FF2B5EF4-FFF2-40B4-BE49-F238E27FC236}">
                <a16:creationId xmlns:a16="http://schemas.microsoft.com/office/drawing/2014/main" id="{586A57E4-CBFE-F52F-9A7D-E1C1D653286E}"/>
              </a:ext>
            </a:extLst>
          </p:cNvPr>
          <p:cNvCxnSpPr>
            <a:stCxn id="9" idx="2"/>
            <a:endCxn id="11" idx="0"/>
          </p:cNvCxnSpPr>
          <p:nvPr/>
        </p:nvCxnSpPr>
        <p:spPr>
          <a:xfrm>
            <a:off x="4038600" y="3891127"/>
            <a:ext cx="0" cy="1431651"/>
          </a:xfrm>
          <a:prstGeom prst="straightConnector1">
            <a:avLst/>
          </a:prstGeom>
          <a:ln>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428F97EA-0F22-2FD9-4807-582D54E7EA0F}"/>
              </a:ext>
            </a:extLst>
          </p:cNvPr>
          <p:cNvCxnSpPr>
            <a:cxnSpLocks/>
            <a:stCxn id="13" idx="2"/>
            <a:endCxn id="15" idx="0"/>
          </p:cNvCxnSpPr>
          <p:nvPr/>
        </p:nvCxnSpPr>
        <p:spPr>
          <a:xfrm>
            <a:off x="7911663" y="3891126"/>
            <a:ext cx="0" cy="1431652"/>
          </a:xfrm>
          <a:prstGeom prst="straightConnector1">
            <a:avLst/>
          </a:prstGeom>
          <a:ln>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26BECACD-D6C2-C8C6-0DF4-5DC799666602}"/>
              </a:ext>
            </a:extLst>
          </p:cNvPr>
          <p:cNvSpPr txBox="1"/>
          <p:nvPr/>
        </p:nvSpPr>
        <p:spPr>
          <a:xfrm rot="16200000">
            <a:off x="3196927" y="4481100"/>
            <a:ext cx="1406350" cy="276999"/>
          </a:xfrm>
          <a:prstGeom prst="rect">
            <a:avLst/>
          </a:prstGeom>
          <a:noFill/>
        </p:spPr>
        <p:txBody>
          <a:bodyPr wrap="square" rtlCol="0">
            <a:spAutoFit/>
          </a:bodyPr>
          <a:lstStyle/>
          <a:p>
            <a:pPr algn="ctr"/>
            <a:r>
              <a:rPr lang="de-DE" sz="1200" dirty="0" err="1"/>
              <a:t>operationalized</a:t>
            </a:r>
            <a:r>
              <a:rPr lang="en-SE" sz="1200" dirty="0"/>
              <a:t> as</a:t>
            </a:r>
          </a:p>
        </p:txBody>
      </p:sp>
      <p:sp>
        <p:nvSpPr>
          <p:cNvPr id="25" name="TextBox 24">
            <a:extLst>
              <a:ext uri="{FF2B5EF4-FFF2-40B4-BE49-F238E27FC236}">
                <a16:creationId xmlns:a16="http://schemas.microsoft.com/office/drawing/2014/main" id="{C43FB5A7-12DE-58C2-560A-E27E8694B370}"/>
              </a:ext>
            </a:extLst>
          </p:cNvPr>
          <p:cNvSpPr txBox="1"/>
          <p:nvPr/>
        </p:nvSpPr>
        <p:spPr>
          <a:xfrm rot="16200000">
            <a:off x="7057340" y="4468451"/>
            <a:ext cx="1431650" cy="276999"/>
          </a:xfrm>
          <a:prstGeom prst="rect">
            <a:avLst/>
          </a:prstGeom>
          <a:noFill/>
        </p:spPr>
        <p:txBody>
          <a:bodyPr wrap="square" rtlCol="0">
            <a:spAutoFit/>
          </a:bodyPr>
          <a:lstStyle/>
          <a:p>
            <a:pPr algn="ctr"/>
            <a:r>
              <a:rPr lang="de-DE" sz="1200" dirty="0" err="1"/>
              <a:t>operationalized</a:t>
            </a:r>
            <a:r>
              <a:rPr lang="en-SE" sz="1200" dirty="0"/>
              <a:t> as</a:t>
            </a:r>
          </a:p>
        </p:txBody>
      </p:sp>
      <p:cxnSp>
        <p:nvCxnSpPr>
          <p:cNvPr id="29" name="Straight Arrow Connector 28">
            <a:extLst>
              <a:ext uri="{FF2B5EF4-FFF2-40B4-BE49-F238E27FC236}">
                <a16:creationId xmlns:a16="http://schemas.microsoft.com/office/drawing/2014/main" id="{4B68B51C-D904-D60D-9405-AD086ECB152E}"/>
              </a:ext>
            </a:extLst>
          </p:cNvPr>
          <p:cNvCxnSpPr>
            <a:stCxn id="9" idx="3"/>
            <a:endCxn id="13" idx="1"/>
          </p:cNvCxnSpPr>
          <p:nvPr/>
        </p:nvCxnSpPr>
        <p:spPr>
          <a:xfrm flipV="1">
            <a:off x="4884683" y="3608661"/>
            <a:ext cx="2180897"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E247F8B6-B633-C39E-AA0A-690EB1AEB62F}"/>
              </a:ext>
            </a:extLst>
          </p:cNvPr>
          <p:cNvSpPr txBox="1"/>
          <p:nvPr/>
        </p:nvSpPr>
        <p:spPr>
          <a:xfrm>
            <a:off x="5566558" y="3276098"/>
            <a:ext cx="817147" cy="307777"/>
          </a:xfrm>
          <a:prstGeom prst="rect">
            <a:avLst/>
          </a:prstGeom>
          <a:noFill/>
        </p:spPr>
        <p:txBody>
          <a:bodyPr wrap="none" rtlCol="0">
            <a:spAutoFit/>
          </a:bodyPr>
          <a:lstStyle/>
          <a:p>
            <a:pPr algn="ctr"/>
            <a:r>
              <a:rPr lang="en-SE" sz="1400" dirty="0"/>
              <a:t>impacts</a:t>
            </a:r>
          </a:p>
        </p:txBody>
      </p:sp>
      <p:cxnSp>
        <p:nvCxnSpPr>
          <p:cNvPr id="31" name="Straight Arrow Connector 30">
            <a:extLst>
              <a:ext uri="{FF2B5EF4-FFF2-40B4-BE49-F238E27FC236}">
                <a16:creationId xmlns:a16="http://schemas.microsoft.com/office/drawing/2014/main" id="{76335762-B581-C412-041B-A408F7DD5561}"/>
              </a:ext>
            </a:extLst>
          </p:cNvPr>
          <p:cNvCxnSpPr>
            <a:cxnSpLocks/>
            <a:stCxn id="11" idx="3"/>
            <a:endCxn id="15" idx="1"/>
          </p:cNvCxnSpPr>
          <p:nvPr/>
        </p:nvCxnSpPr>
        <p:spPr>
          <a:xfrm>
            <a:off x="4884683" y="5605244"/>
            <a:ext cx="21808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5" name="TextBox 34">
            <a:extLst>
              <a:ext uri="{FF2B5EF4-FFF2-40B4-BE49-F238E27FC236}">
                <a16:creationId xmlns:a16="http://schemas.microsoft.com/office/drawing/2014/main" id="{73F4B2B4-F234-ECE7-0312-9BB50C0817DB}"/>
              </a:ext>
            </a:extLst>
          </p:cNvPr>
          <p:cNvSpPr txBox="1"/>
          <p:nvPr/>
        </p:nvSpPr>
        <p:spPr>
          <a:xfrm>
            <a:off x="5566558" y="5273664"/>
            <a:ext cx="817147" cy="307777"/>
          </a:xfrm>
          <a:prstGeom prst="rect">
            <a:avLst/>
          </a:prstGeom>
          <a:noFill/>
        </p:spPr>
        <p:txBody>
          <a:bodyPr wrap="none" rtlCol="0">
            <a:spAutoFit/>
          </a:bodyPr>
          <a:lstStyle/>
          <a:p>
            <a:pPr algn="ctr"/>
            <a:r>
              <a:rPr lang="en-SE" sz="1400" dirty="0"/>
              <a:t>impacts</a:t>
            </a:r>
          </a:p>
        </p:txBody>
      </p:sp>
      <p:sp>
        <p:nvSpPr>
          <p:cNvPr id="37" name="TextBox 36">
            <a:extLst>
              <a:ext uri="{FF2B5EF4-FFF2-40B4-BE49-F238E27FC236}">
                <a16:creationId xmlns:a16="http://schemas.microsoft.com/office/drawing/2014/main" id="{27441FF2-BE80-85FE-D189-3285497353E3}"/>
              </a:ext>
            </a:extLst>
          </p:cNvPr>
          <p:cNvSpPr txBox="1"/>
          <p:nvPr/>
        </p:nvSpPr>
        <p:spPr>
          <a:xfrm>
            <a:off x="838198" y="6012722"/>
            <a:ext cx="3930869" cy="338554"/>
          </a:xfrm>
          <a:prstGeom prst="rect">
            <a:avLst/>
          </a:prstGeom>
          <a:noFill/>
        </p:spPr>
        <p:txBody>
          <a:bodyPr wrap="square">
            <a:spAutoFit/>
          </a:bodyPr>
          <a:lstStyle/>
          <a:p>
            <a:pPr>
              <a:buNone/>
            </a:pPr>
            <a:r>
              <a:rPr lang="en-SE" sz="800" dirty="0" err="1"/>
              <a:t>Wohlin</a:t>
            </a:r>
            <a:r>
              <a:rPr lang="en-SE" sz="800" dirty="0"/>
              <a:t>, C., Runeson, P., </a:t>
            </a:r>
            <a:r>
              <a:rPr lang="en-SE" sz="800" dirty="0" err="1"/>
              <a:t>Höst</a:t>
            </a:r>
            <a:r>
              <a:rPr lang="en-SE" sz="800" dirty="0"/>
              <a:t>, M., Ohlsson, M. C., Regnell, B., &amp; </a:t>
            </a:r>
            <a:r>
              <a:rPr lang="en-SE" sz="800" dirty="0" err="1"/>
              <a:t>Wesslén</a:t>
            </a:r>
            <a:r>
              <a:rPr lang="en-SE" sz="800" dirty="0"/>
              <a:t>, A. (2012). Experimentation in software engineering (Vol. 236, p. P3). Berlin: Springer.</a:t>
            </a:r>
          </a:p>
        </p:txBody>
      </p:sp>
      <p:sp>
        <p:nvSpPr>
          <p:cNvPr id="39" name="TextBox 38">
            <a:extLst>
              <a:ext uri="{FF2B5EF4-FFF2-40B4-BE49-F238E27FC236}">
                <a16:creationId xmlns:a16="http://schemas.microsoft.com/office/drawing/2014/main" id="{9C85429A-77A9-8D85-7AAA-1A1C635E988B}"/>
              </a:ext>
            </a:extLst>
          </p:cNvPr>
          <p:cNvSpPr txBox="1"/>
          <p:nvPr/>
        </p:nvSpPr>
        <p:spPr>
          <a:xfrm>
            <a:off x="1502979" y="4218973"/>
            <a:ext cx="782458" cy="338554"/>
          </a:xfrm>
          <a:prstGeom prst="rect">
            <a:avLst/>
          </a:prstGeom>
          <a:noFill/>
        </p:spPr>
        <p:txBody>
          <a:bodyPr wrap="none" rtlCol="0">
            <a:spAutoFit/>
          </a:bodyPr>
          <a:lstStyle/>
          <a:p>
            <a:r>
              <a:rPr lang="en-SE" sz="1600" dirty="0">
                <a:solidFill>
                  <a:schemeClr val="tx1">
                    <a:lumMod val="50000"/>
                    <a:lumOff val="50000"/>
                  </a:schemeClr>
                </a:solidFill>
              </a:rPr>
              <a:t>Theory</a:t>
            </a:r>
          </a:p>
        </p:txBody>
      </p:sp>
      <p:sp>
        <p:nvSpPr>
          <p:cNvPr id="41" name="TextBox 40">
            <a:extLst>
              <a:ext uri="{FF2B5EF4-FFF2-40B4-BE49-F238E27FC236}">
                <a16:creationId xmlns:a16="http://schemas.microsoft.com/office/drawing/2014/main" id="{2F939EB3-0AB8-E283-95D1-1586B886896B}"/>
              </a:ext>
            </a:extLst>
          </p:cNvPr>
          <p:cNvSpPr txBox="1"/>
          <p:nvPr/>
        </p:nvSpPr>
        <p:spPr>
          <a:xfrm>
            <a:off x="1502979" y="4557527"/>
            <a:ext cx="1272080" cy="338554"/>
          </a:xfrm>
          <a:prstGeom prst="rect">
            <a:avLst/>
          </a:prstGeom>
          <a:noFill/>
        </p:spPr>
        <p:txBody>
          <a:bodyPr wrap="none" rtlCol="0">
            <a:spAutoFit/>
          </a:bodyPr>
          <a:lstStyle/>
          <a:p>
            <a:r>
              <a:rPr lang="en-SE" sz="1600" dirty="0">
                <a:solidFill>
                  <a:schemeClr val="tx1">
                    <a:lumMod val="50000"/>
                    <a:lumOff val="50000"/>
                  </a:schemeClr>
                </a:solidFill>
              </a:rPr>
              <a:t>Observation</a:t>
            </a:r>
          </a:p>
        </p:txBody>
      </p:sp>
      <p:sp>
        <p:nvSpPr>
          <p:cNvPr id="3" name="Rectangle 2">
            <a:extLst>
              <a:ext uri="{FF2B5EF4-FFF2-40B4-BE49-F238E27FC236}">
                <a16:creationId xmlns:a16="http://schemas.microsoft.com/office/drawing/2014/main" id="{04F895C2-ADC4-97D8-E600-15D4A01D4CEE}"/>
              </a:ext>
            </a:extLst>
          </p:cNvPr>
          <p:cNvSpPr/>
          <p:nvPr/>
        </p:nvSpPr>
        <p:spPr>
          <a:xfrm>
            <a:off x="5123782" y="3948934"/>
            <a:ext cx="1692166" cy="56493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Moderator</a:t>
            </a:r>
          </a:p>
        </p:txBody>
      </p:sp>
      <p:cxnSp>
        <p:nvCxnSpPr>
          <p:cNvPr id="10" name="Straight Arrow Connector 9">
            <a:extLst>
              <a:ext uri="{FF2B5EF4-FFF2-40B4-BE49-F238E27FC236}">
                <a16:creationId xmlns:a16="http://schemas.microsoft.com/office/drawing/2014/main" id="{94C73575-CD53-446A-04CF-8ADF0B0F0C38}"/>
              </a:ext>
            </a:extLst>
          </p:cNvPr>
          <p:cNvCxnSpPr>
            <a:cxnSpLocks/>
            <a:stCxn id="3" idx="0"/>
          </p:cNvCxnSpPr>
          <p:nvPr/>
        </p:nvCxnSpPr>
        <p:spPr>
          <a:xfrm flipH="1" flipV="1">
            <a:off x="5969863" y="3628715"/>
            <a:ext cx="2" cy="32021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TextBox 19">
            <a:extLst>
              <a:ext uri="{FF2B5EF4-FFF2-40B4-BE49-F238E27FC236}">
                <a16:creationId xmlns:a16="http://schemas.microsoft.com/office/drawing/2014/main" id="{0BD57880-385F-4056-850E-FA3FF42C1DF7}"/>
              </a:ext>
            </a:extLst>
          </p:cNvPr>
          <p:cNvSpPr txBox="1"/>
          <p:nvPr/>
        </p:nvSpPr>
        <p:spPr>
          <a:xfrm>
            <a:off x="5958587" y="3646231"/>
            <a:ext cx="817147" cy="307777"/>
          </a:xfrm>
          <a:prstGeom prst="rect">
            <a:avLst/>
          </a:prstGeom>
          <a:noFill/>
        </p:spPr>
        <p:txBody>
          <a:bodyPr wrap="none" rtlCol="0">
            <a:spAutoFit/>
          </a:bodyPr>
          <a:lstStyle/>
          <a:p>
            <a:r>
              <a:rPr lang="en-SE" sz="1400" dirty="0"/>
              <a:t>impacts</a:t>
            </a:r>
          </a:p>
        </p:txBody>
      </p:sp>
      <p:sp>
        <p:nvSpPr>
          <p:cNvPr id="42" name="Speech Bubble: Rectangle 41">
            <a:extLst>
              <a:ext uri="{FF2B5EF4-FFF2-40B4-BE49-F238E27FC236}">
                <a16:creationId xmlns:a16="http://schemas.microsoft.com/office/drawing/2014/main" id="{444D2C7A-2DEF-77C3-DEA6-2D66D4CFAD56}"/>
              </a:ext>
            </a:extLst>
          </p:cNvPr>
          <p:cNvSpPr/>
          <p:nvPr/>
        </p:nvSpPr>
        <p:spPr>
          <a:xfrm>
            <a:off x="1572928" y="3627164"/>
            <a:ext cx="1579375" cy="607775"/>
          </a:xfrm>
          <a:prstGeom prst="wedgeRectCallout">
            <a:avLst>
              <a:gd name="adj1" fmla="val 88505"/>
              <a:gd name="adj2" fmla="val 50292"/>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Construct Validity</a:t>
            </a:r>
          </a:p>
        </p:txBody>
      </p:sp>
      <p:sp>
        <p:nvSpPr>
          <p:cNvPr id="44" name="Speech Bubble: Rectangle 43">
            <a:extLst>
              <a:ext uri="{FF2B5EF4-FFF2-40B4-BE49-F238E27FC236}">
                <a16:creationId xmlns:a16="http://schemas.microsoft.com/office/drawing/2014/main" id="{1E777681-D89E-5D1A-7342-35903ACD21D0}"/>
              </a:ext>
            </a:extLst>
          </p:cNvPr>
          <p:cNvSpPr/>
          <p:nvPr/>
        </p:nvSpPr>
        <p:spPr>
          <a:xfrm>
            <a:off x="4769067" y="2829034"/>
            <a:ext cx="2522929" cy="429667"/>
          </a:xfrm>
          <a:prstGeom prst="wedgeRectCallout">
            <a:avLst>
              <a:gd name="adj1" fmla="val -29900"/>
              <a:gd name="adj2" fmla="val 112077"/>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Internal Validity</a:t>
            </a:r>
          </a:p>
        </p:txBody>
      </p:sp>
      <p:sp>
        <p:nvSpPr>
          <p:cNvPr id="46" name="Speech Bubble: Rectangle 45">
            <a:extLst>
              <a:ext uri="{FF2B5EF4-FFF2-40B4-BE49-F238E27FC236}">
                <a16:creationId xmlns:a16="http://schemas.microsoft.com/office/drawing/2014/main" id="{62A6A436-8061-833A-9097-E4C812C9C563}"/>
              </a:ext>
            </a:extLst>
          </p:cNvPr>
          <p:cNvSpPr/>
          <p:nvPr/>
        </p:nvSpPr>
        <p:spPr>
          <a:xfrm>
            <a:off x="4769067" y="5956891"/>
            <a:ext cx="2522929" cy="480430"/>
          </a:xfrm>
          <a:prstGeom prst="wedgeRectCallout">
            <a:avLst>
              <a:gd name="adj1" fmla="val -7363"/>
              <a:gd name="adj2" fmla="val -106870"/>
            </a:avLst>
          </a:prstGeom>
          <a:solidFill>
            <a:schemeClr val="bg2">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Conclusion Validity</a:t>
            </a:r>
          </a:p>
        </p:txBody>
      </p:sp>
      <p:sp>
        <p:nvSpPr>
          <p:cNvPr id="23" name="Speech Bubble: Rectangle 22">
            <a:extLst>
              <a:ext uri="{FF2B5EF4-FFF2-40B4-BE49-F238E27FC236}">
                <a16:creationId xmlns:a16="http://schemas.microsoft.com/office/drawing/2014/main" id="{68BD6D2F-8144-A006-5616-D72635D38D94}"/>
              </a:ext>
            </a:extLst>
          </p:cNvPr>
          <p:cNvSpPr/>
          <p:nvPr/>
        </p:nvSpPr>
        <p:spPr>
          <a:xfrm>
            <a:off x="4107844" y="4604423"/>
            <a:ext cx="1579375" cy="659280"/>
          </a:xfrm>
          <a:prstGeom prst="wedgeRectCallout">
            <a:avLst>
              <a:gd name="adj1" fmla="val 30005"/>
              <a:gd name="adj2" fmla="val -95629"/>
            </a:avLst>
          </a:prstGeom>
          <a:solidFill>
            <a:schemeClr val="accent4">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External Validity</a:t>
            </a:r>
          </a:p>
        </p:txBody>
      </p:sp>
    </p:spTree>
    <p:extLst>
      <p:ext uri="{BB962C8B-B14F-4D97-AF65-F5344CB8AC3E}">
        <p14:creationId xmlns:p14="http://schemas.microsoft.com/office/powerpoint/2010/main" val="10617307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4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21" grpId="0"/>
      <p:bldP spid="25" grpId="0"/>
      <p:bldP spid="30" grpId="0"/>
      <p:bldP spid="35" grpId="0"/>
      <p:bldP spid="39" grpId="0"/>
      <p:bldP spid="41" grpId="0"/>
      <p:bldP spid="3" grpId="0" animBg="1"/>
      <p:bldP spid="20" grpId="0"/>
      <p:bldP spid="42" grpId="0" animBg="1"/>
      <p:bldP spid="44" grpId="0" animBg="1"/>
      <p:bldP spid="46"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80809-90CD-498E-EF04-9530D44B4DB0}"/>
              </a:ext>
            </a:extLst>
          </p:cNvPr>
          <p:cNvSpPr>
            <a:spLocks noGrp="1"/>
          </p:cNvSpPr>
          <p:nvPr>
            <p:ph type="title"/>
          </p:nvPr>
        </p:nvSpPr>
        <p:spPr/>
        <p:txBody>
          <a:bodyPr/>
          <a:lstStyle/>
          <a:p>
            <a:r>
              <a:rPr lang="en-US" noProof="0" dirty="0"/>
              <a:t>Conclusion Validity</a:t>
            </a:r>
          </a:p>
        </p:txBody>
      </p:sp>
      <p:sp>
        <p:nvSpPr>
          <p:cNvPr id="3" name="Content Placeholder 2">
            <a:extLst>
              <a:ext uri="{FF2B5EF4-FFF2-40B4-BE49-F238E27FC236}">
                <a16:creationId xmlns:a16="http://schemas.microsoft.com/office/drawing/2014/main" id="{0693E3E5-C4BD-85DE-B981-2C6E3D7B3716}"/>
              </a:ext>
            </a:extLst>
          </p:cNvPr>
          <p:cNvSpPr>
            <a:spLocks noGrp="1"/>
          </p:cNvSpPr>
          <p:nvPr>
            <p:ph idx="1"/>
          </p:nvPr>
        </p:nvSpPr>
        <p:spPr>
          <a:xfrm>
            <a:off x="838200" y="1825625"/>
            <a:ext cx="10515600" cy="1500899"/>
          </a:xfrm>
        </p:spPr>
        <p:txBody>
          <a:bodyPr/>
          <a:lstStyle/>
          <a:p>
            <a:pPr marL="0" indent="0">
              <a:buNone/>
            </a:pPr>
            <a:r>
              <a:rPr lang="en-US" noProof="0" dirty="0"/>
              <a:t>Even if we have ensured the internal, external, and construct validity of our study in the </a:t>
            </a:r>
            <a:r>
              <a:rPr lang="en-US" i="1" noProof="0" dirty="0"/>
              <a:t>data collection phase</a:t>
            </a:r>
            <a:r>
              <a:rPr lang="en-US" noProof="0" dirty="0"/>
              <a:t>, we might still draw the wrong conclusions from it.</a:t>
            </a:r>
          </a:p>
        </p:txBody>
      </p:sp>
      <p:sp>
        <p:nvSpPr>
          <p:cNvPr id="4" name="Date Placeholder 3">
            <a:extLst>
              <a:ext uri="{FF2B5EF4-FFF2-40B4-BE49-F238E27FC236}">
                <a16:creationId xmlns:a16="http://schemas.microsoft.com/office/drawing/2014/main" id="{FF9D5E88-D62E-6473-6556-9644BCB6C447}"/>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1B028F14-F213-1D32-6629-59DBB281852F}"/>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E6144B5E-7A42-A214-C4E3-6746C1A00035}"/>
              </a:ext>
            </a:extLst>
          </p:cNvPr>
          <p:cNvSpPr>
            <a:spLocks noGrp="1"/>
          </p:cNvSpPr>
          <p:nvPr>
            <p:ph type="sldNum" sz="quarter" idx="12"/>
          </p:nvPr>
        </p:nvSpPr>
        <p:spPr/>
        <p:txBody>
          <a:bodyPr/>
          <a:lstStyle/>
          <a:p>
            <a:fld id="{271ECC92-9CDE-4EB3-B1C5-F46B9E1FA3C1}" type="slidenum">
              <a:rPr lang="en-US" noProof="0" smtClean="0"/>
              <a:t>7</a:t>
            </a:fld>
            <a:endParaRPr lang="en-US" noProof="0" dirty="0"/>
          </a:p>
        </p:txBody>
      </p:sp>
      <p:grpSp>
        <p:nvGrpSpPr>
          <p:cNvPr id="7" name="Group 6">
            <a:extLst>
              <a:ext uri="{FF2B5EF4-FFF2-40B4-BE49-F238E27FC236}">
                <a16:creationId xmlns:a16="http://schemas.microsoft.com/office/drawing/2014/main" id="{0816C3A9-4AF2-13FE-1341-3B97FB2A8680}"/>
              </a:ext>
            </a:extLst>
          </p:cNvPr>
          <p:cNvGrpSpPr/>
          <p:nvPr/>
        </p:nvGrpSpPr>
        <p:grpSpPr>
          <a:xfrm>
            <a:off x="1984711" y="3197106"/>
            <a:ext cx="8222578" cy="1958218"/>
            <a:chOff x="3108960" y="4454433"/>
            <a:chExt cx="8222578" cy="1958218"/>
          </a:xfrm>
        </p:grpSpPr>
        <p:sp>
          <p:nvSpPr>
            <p:cNvPr id="8" name="Rectangle: Rounded Corners 7">
              <a:extLst>
                <a:ext uri="{FF2B5EF4-FFF2-40B4-BE49-F238E27FC236}">
                  <a16:creationId xmlns:a16="http://schemas.microsoft.com/office/drawing/2014/main" id="{EF2B764D-8701-4CBC-F39F-CC0995A5E571}"/>
                </a:ext>
              </a:extLst>
            </p:cNvPr>
            <p:cNvSpPr/>
            <p:nvPr/>
          </p:nvSpPr>
          <p:spPr>
            <a:xfrm>
              <a:off x="3108960" y="4454433"/>
              <a:ext cx="8222578" cy="1958218"/>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2400" noProof="0" dirty="0">
                  <a:solidFill>
                    <a:schemeClr val="bg1"/>
                  </a:solidFill>
                </a:rPr>
                <a:t>Conclusion validity affects our “ability to draw the correct conclusion about relations between the treatment and the outcome of an experiment.”</a:t>
              </a:r>
              <a:endParaRPr lang="en-US" sz="2400" noProof="0" dirty="0"/>
            </a:p>
          </p:txBody>
        </p:sp>
        <p:pic>
          <p:nvPicPr>
            <p:cNvPr id="9" name="Graphic 8" descr="Open quotation mark with solid fill">
              <a:extLst>
                <a:ext uri="{FF2B5EF4-FFF2-40B4-BE49-F238E27FC236}">
                  <a16:creationId xmlns:a16="http://schemas.microsoft.com/office/drawing/2014/main" id="{AB403DCE-6BCC-76E6-3520-54815CDBB4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24200" y="4454434"/>
              <a:ext cx="720000" cy="720000"/>
            </a:xfrm>
            <a:prstGeom prst="rect">
              <a:avLst/>
            </a:prstGeom>
          </p:spPr>
        </p:pic>
        <p:sp>
          <p:nvSpPr>
            <p:cNvPr id="10" name="TextBox 9">
              <a:extLst>
                <a:ext uri="{FF2B5EF4-FFF2-40B4-BE49-F238E27FC236}">
                  <a16:creationId xmlns:a16="http://schemas.microsoft.com/office/drawing/2014/main" id="{BA958910-ADD1-64FF-8923-D9CB55AF56F5}"/>
                </a:ext>
              </a:extLst>
            </p:cNvPr>
            <p:cNvSpPr txBox="1"/>
            <p:nvPr/>
          </p:nvSpPr>
          <p:spPr>
            <a:xfrm>
              <a:off x="3859440" y="4598333"/>
              <a:ext cx="7070049" cy="461665"/>
            </a:xfrm>
            <a:prstGeom prst="rect">
              <a:avLst/>
            </a:prstGeom>
            <a:noFill/>
          </p:spPr>
          <p:txBody>
            <a:bodyPr wrap="square">
              <a:spAutoFit/>
            </a:bodyPr>
            <a:lstStyle/>
            <a:p>
              <a:r>
                <a:rPr lang="en-US" sz="1200" noProof="0" dirty="0" err="1">
                  <a:solidFill>
                    <a:schemeClr val="bg1"/>
                  </a:solidFill>
                </a:rPr>
                <a:t>Wohlin</a:t>
              </a:r>
              <a:r>
                <a:rPr lang="en-US" sz="1200" noProof="0" dirty="0">
                  <a:solidFill>
                    <a:schemeClr val="bg1"/>
                  </a:solidFill>
                </a:rPr>
                <a:t>, C., Runeson, P., </a:t>
              </a:r>
              <a:r>
                <a:rPr lang="en-US" sz="1200" noProof="0" dirty="0" err="1">
                  <a:solidFill>
                    <a:schemeClr val="bg1"/>
                  </a:solidFill>
                </a:rPr>
                <a:t>Höst</a:t>
              </a:r>
              <a:r>
                <a:rPr lang="en-US" sz="1200" noProof="0" dirty="0">
                  <a:solidFill>
                    <a:schemeClr val="bg1"/>
                  </a:solidFill>
                </a:rPr>
                <a:t>, M., Ohlsson, M. C., Regnell, B., &amp; </a:t>
              </a:r>
              <a:r>
                <a:rPr lang="en-US" sz="1200" noProof="0" dirty="0" err="1">
                  <a:solidFill>
                    <a:schemeClr val="bg1"/>
                  </a:solidFill>
                </a:rPr>
                <a:t>Wesslén</a:t>
              </a:r>
              <a:r>
                <a:rPr lang="en-US" sz="1200" noProof="0" dirty="0">
                  <a:solidFill>
                    <a:schemeClr val="bg1"/>
                  </a:solidFill>
                </a:rPr>
                <a:t>, A. (2012). Experimentation in software engineering (Vol. 236, p. P3). Berlin: Springer.</a:t>
              </a:r>
            </a:p>
          </p:txBody>
        </p:sp>
      </p:grpSp>
    </p:spTree>
    <p:extLst>
      <p:ext uri="{BB962C8B-B14F-4D97-AF65-F5344CB8AC3E}">
        <p14:creationId xmlns:p14="http://schemas.microsoft.com/office/powerpoint/2010/main" val="14415912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67FB3-EC5A-8FE4-A0D7-77BCF9F29DEB}"/>
              </a:ext>
            </a:extLst>
          </p:cNvPr>
          <p:cNvSpPr>
            <a:spLocks noGrp="1"/>
          </p:cNvSpPr>
          <p:nvPr>
            <p:ph type="title"/>
          </p:nvPr>
        </p:nvSpPr>
        <p:spPr/>
        <p:txBody>
          <a:bodyPr/>
          <a:lstStyle/>
          <a:p>
            <a:r>
              <a:rPr lang="en-SE" dirty="0"/>
              <a:t>Conclusion Validity</a:t>
            </a:r>
          </a:p>
        </p:txBody>
      </p:sp>
      <p:sp>
        <p:nvSpPr>
          <p:cNvPr id="3" name="Content Placeholder 2">
            <a:extLst>
              <a:ext uri="{FF2B5EF4-FFF2-40B4-BE49-F238E27FC236}">
                <a16:creationId xmlns:a16="http://schemas.microsoft.com/office/drawing/2014/main" id="{64A57711-6BB1-7DA3-49CC-AD2C9FCBF8A9}"/>
              </a:ext>
            </a:extLst>
          </p:cNvPr>
          <p:cNvSpPr>
            <a:spLocks noGrp="1"/>
          </p:cNvSpPr>
          <p:nvPr>
            <p:ph idx="1"/>
          </p:nvPr>
        </p:nvSpPr>
        <p:spPr>
          <a:xfrm>
            <a:off x="838200" y="1825625"/>
            <a:ext cx="10515600" cy="1222375"/>
          </a:xfrm>
        </p:spPr>
        <p:txBody>
          <a:bodyPr/>
          <a:lstStyle/>
          <a:p>
            <a:pPr marL="0" indent="0">
              <a:buNone/>
            </a:pPr>
            <a:r>
              <a:rPr lang="en-SE" dirty="0"/>
              <a:t>The conclusion validity is determined by the </a:t>
            </a:r>
            <a:r>
              <a:rPr lang="en-SE" b="1" dirty="0"/>
              <a:t>statistical methods </a:t>
            </a:r>
            <a:r>
              <a:rPr lang="en-SE" dirty="0"/>
              <a:t>researchers apply to derive conclusions from our data.</a:t>
            </a:r>
          </a:p>
        </p:txBody>
      </p:sp>
      <p:sp>
        <p:nvSpPr>
          <p:cNvPr id="4" name="Date Placeholder 3">
            <a:extLst>
              <a:ext uri="{FF2B5EF4-FFF2-40B4-BE49-F238E27FC236}">
                <a16:creationId xmlns:a16="http://schemas.microsoft.com/office/drawing/2014/main" id="{969CD3A2-E662-3AFD-BD38-2CD8851AA941}"/>
              </a:ext>
            </a:extLst>
          </p:cNvPr>
          <p:cNvSpPr>
            <a:spLocks noGrp="1"/>
          </p:cNvSpPr>
          <p:nvPr>
            <p:ph type="dt" sz="half" idx="10"/>
          </p:nvPr>
        </p:nvSpPr>
        <p:spPr/>
        <p:txBody>
          <a:bodyPr/>
          <a:lstStyle/>
          <a:p>
            <a:r>
              <a:rPr lang="en-SE" dirty="0"/>
              <a:t>2026-08-17</a:t>
            </a:r>
          </a:p>
        </p:txBody>
      </p:sp>
      <p:sp>
        <p:nvSpPr>
          <p:cNvPr id="5" name="Footer Placeholder 4">
            <a:extLst>
              <a:ext uri="{FF2B5EF4-FFF2-40B4-BE49-F238E27FC236}">
                <a16:creationId xmlns:a16="http://schemas.microsoft.com/office/drawing/2014/main" id="{802E941E-3848-B7FA-7390-70B1990809B0}"/>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8FBDC076-E597-7605-CBB0-09B3EEF25ED7}"/>
              </a:ext>
            </a:extLst>
          </p:cNvPr>
          <p:cNvSpPr>
            <a:spLocks noGrp="1"/>
          </p:cNvSpPr>
          <p:nvPr>
            <p:ph type="sldNum" sz="quarter" idx="12"/>
          </p:nvPr>
        </p:nvSpPr>
        <p:spPr/>
        <p:txBody>
          <a:bodyPr/>
          <a:lstStyle/>
          <a:p>
            <a:fld id="{271ECC92-9CDE-4EB3-B1C5-F46B9E1FA3C1}" type="slidenum">
              <a:rPr lang="en-SE" smtClean="0"/>
              <a:t>8</a:t>
            </a:fld>
            <a:endParaRPr lang="en-SE"/>
          </a:p>
        </p:txBody>
      </p:sp>
      <p:sp>
        <p:nvSpPr>
          <p:cNvPr id="7" name="Rectangle 6">
            <a:extLst>
              <a:ext uri="{FF2B5EF4-FFF2-40B4-BE49-F238E27FC236}">
                <a16:creationId xmlns:a16="http://schemas.microsoft.com/office/drawing/2014/main" id="{09E1E715-E4CB-8DF6-BC45-6CAF74183657}"/>
              </a:ext>
            </a:extLst>
          </p:cNvPr>
          <p:cNvSpPr/>
          <p:nvPr/>
        </p:nvSpPr>
        <p:spPr>
          <a:xfrm>
            <a:off x="4002164" y="4589990"/>
            <a:ext cx="4114800" cy="1721909"/>
          </a:xfrm>
          <a:prstGeom prst="rect">
            <a:avLst/>
          </a:prstGeom>
          <a:solidFill>
            <a:schemeClr val="bg1"/>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b="1" dirty="0">
                <a:solidFill>
                  <a:schemeClr val="tx1"/>
                </a:solidFill>
              </a:rPr>
              <a:t>Toolbox of s</a:t>
            </a:r>
            <a:r>
              <a:rPr lang="de-DE" b="1" dirty="0">
                <a:solidFill>
                  <a:schemeClr val="tx1"/>
                </a:solidFill>
              </a:rPr>
              <a:t>t</a:t>
            </a:r>
            <a:r>
              <a:rPr lang="en-SE" b="1" dirty="0" err="1">
                <a:solidFill>
                  <a:schemeClr val="tx1"/>
                </a:solidFill>
              </a:rPr>
              <a:t>atistical</a:t>
            </a:r>
            <a:r>
              <a:rPr lang="en-SE" b="1" dirty="0">
                <a:solidFill>
                  <a:schemeClr val="tx1"/>
                </a:solidFill>
              </a:rPr>
              <a:t> methods</a:t>
            </a:r>
          </a:p>
        </p:txBody>
      </p:sp>
      <p:pic>
        <p:nvPicPr>
          <p:cNvPr id="9" name="Graphic 8" descr="Statistics with solid fill">
            <a:extLst>
              <a:ext uri="{FF2B5EF4-FFF2-40B4-BE49-F238E27FC236}">
                <a16:creationId xmlns:a16="http://schemas.microsoft.com/office/drawing/2014/main" id="{2083AFB7-78FA-FC0B-BE7F-27F6400C896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899237" y="2999847"/>
            <a:ext cx="914400" cy="914400"/>
          </a:xfrm>
          <a:prstGeom prst="rect">
            <a:avLst/>
          </a:prstGeom>
        </p:spPr>
      </p:pic>
      <p:pic>
        <p:nvPicPr>
          <p:cNvPr id="11" name="Graphic 10" descr="Database with solid fill">
            <a:extLst>
              <a:ext uri="{FF2B5EF4-FFF2-40B4-BE49-F238E27FC236}">
                <a16:creationId xmlns:a16="http://schemas.microsoft.com/office/drawing/2014/main" id="{8A8AC43A-6C0C-90D0-0659-CFC6C18F8D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5491" y="2999847"/>
            <a:ext cx="914400" cy="914400"/>
          </a:xfrm>
          <a:prstGeom prst="rect">
            <a:avLst/>
          </a:prstGeom>
        </p:spPr>
      </p:pic>
      <p:pic>
        <p:nvPicPr>
          <p:cNvPr id="13" name="Graphic 12" descr="Single gear with solid fill">
            <a:extLst>
              <a:ext uri="{FF2B5EF4-FFF2-40B4-BE49-F238E27FC236}">
                <a16:creationId xmlns:a16="http://schemas.microsoft.com/office/drawing/2014/main" id="{04AE438B-905E-08F2-71A6-4D7A4A81448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02364" y="2999847"/>
            <a:ext cx="914400" cy="914400"/>
          </a:xfrm>
          <a:prstGeom prst="rect">
            <a:avLst/>
          </a:prstGeom>
        </p:spPr>
      </p:pic>
      <p:sp>
        <p:nvSpPr>
          <p:cNvPr id="14" name="TextBox 13">
            <a:extLst>
              <a:ext uri="{FF2B5EF4-FFF2-40B4-BE49-F238E27FC236}">
                <a16:creationId xmlns:a16="http://schemas.microsoft.com/office/drawing/2014/main" id="{EC322EE1-BBB0-EEA0-FE44-B78C303E07FC}"/>
              </a:ext>
            </a:extLst>
          </p:cNvPr>
          <p:cNvSpPr txBox="1"/>
          <p:nvPr/>
        </p:nvSpPr>
        <p:spPr>
          <a:xfrm>
            <a:off x="1795311" y="3899719"/>
            <a:ext cx="1934760" cy="369332"/>
          </a:xfrm>
          <a:prstGeom prst="rect">
            <a:avLst/>
          </a:prstGeom>
          <a:noFill/>
        </p:spPr>
        <p:txBody>
          <a:bodyPr wrap="none" rtlCol="0">
            <a:spAutoFit/>
          </a:bodyPr>
          <a:lstStyle/>
          <a:p>
            <a:r>
              <a:rPr lang="en-SE" dirty="0"/>
              <a:t>Quantitative Data</a:t>
            </a:r>
          </a:p>
        </p:txBody>
      </p:sp>
      <p:sp>
        <p:nvSpPr>
          <p:cNvPr id="16" name="TextBox 15">
            <a:extLst>
              <a:ext uri="{FF2B5EF4-FFF2-40B4-BE49-F238E27FC236}">
                <a16:creationId xmlns:a16="http://schemas.microsoft.com/office/drawing/2014/main" id="{9142ABD3-53AE-85CB-9289-68D5ED73A220}"/>
              </a:ext>
            </a:extLst>
          </p:cNvPr>
          <p:cNvSpPr txBox="1"/>
          <p:nvPr/>
        </p:nvSpPr>
        <p:spPr>
          <a:xfrm>
            <a:off x="5062752" y="3899719"/>
            <a:ext cx="1993623" cy="369332"/>
          </a:xfrm>
          <a:prstGeom prst="rect">
            <a:avLst/>
          </a:prstGeom>
          <a:noFill/>
        </p:spPr>
        <p:txBody>
          <a:bodyPr wrap="none" rtlCol="0">
            <a:spAutoFit/>
          </a:bodyPr>
          <a:lstStyle/>
          <a:p>
            <a:pPr algn="ctr"/>
            <a:r>
              <a:rPr lang="en-SE" dirty="0"/>
              <a:t>Statistical Method</a:t>
            </a:r>
          </a:p>
        </p:txBody>
      </p:sp>
      <p:sp>
        <p:nvSpPr>
          <p:cNvPr id="18" name="TextBox 17">
            <a:extLst>
              <a:ext uri="{FF2B5EF4-FFF2-40B4-BE49-F238E27FC236}">
                <a16:creationId xmlns:a16="http://schemas.microsoft.com/office/drawing/2014/main" id="{E067525B-6FF1-90D7-F396-37DF143B31A2}"/>
              </a:ext>
            </a:extLst>
          </p:cNvPr>
          <p:cNvSpPr txBox="1"/>
          <p:nvPr/>
        </p:nvSpPr>
        <p:spPr>
          <a:xfrm>
            <a:off x="8636530" y="3899719"/>
            <a:ext cx="1439818" cy="369332"/>
          </a:xfrm>
          <a:prstGeom prst="rect">
            <a:avLst/>
          </a:prstGeom>
          <a:noFill/>
        </p:spPr>
        <p:txBody>
          <a:bodyPr wrap="none" rtlCol="0">
            <a:spAutoFit/>
          </a:bodyPr>
          <a:lstStyle/>
          <a:p>
            <a:pPr algn="ctr"/>
            <a:r>
              <a:rPr lang="en-SE" dirty="0"/>
              <a:t>Conclusions</a:t>
            </a:r>
          </a:p>
        </p:txBody>
      </p:sp>
      <p:cxnSp>
        <p:nvCxnSpPr>
          <p:cNvPr id="20" name="Straight Arrow Connector 19">
            <a:extLst>
              <a:ext uri="{FF2B5EF4-FFF2-40B4-BE49-F238E27FC236}">
                <a16:creationId xmlns:a16="http://schemas.microsoft.com/office/drawing/2014/main" id="{740CB096-FE14-AB94-0F8A-CC90AF8AECEF}"/>
              </a:ext>
            </a:extLst>
          </p:cNvPr>
          <p:cNvCxnSpPr>
            <a:cxnSpLocks/>
            <a:stCxn id="11" idx="3"/>
            <a:endCxn id="13" idx="1"/>
          </p:cNvCxnSpPr>
          <p:nvPr/>
        </p:nvCxnSpPr>
        <p:spPr>
          <a:xfrm>
            <a:off x="3219891" y="3457047"/>
            <a:ext cx="238247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B195F4BF-1B0B-ACA4-8CDF-24E427D288B6}"/>
              </a:ext>
            </a:extLst>
          </p:cNvPr>
          <p:cNvCxnSpPr>
            <a:cxnSpLocks/>
            <a:stCxn id="13" idx="3"/>
            <a:endCxn id="9" idx="1"/>
          </p:cNvCxnSpPr>
          <p:nvPr/>
        </p:nvCxnSpPr>
        <p:spPr>
          <a:xfrm>
            <a:off x="6516764" y="3457047"/>
            <a:ext cx="238247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9" name="Group 28">
            <a:extLst>
              <a:ext uri="{FF2B5EF4-FFF2-40B4-BE49-F238E27FC236}">
                <a16:creationId xmlns:a16="http://schemas.microsoft.com/office/drawing/2014/main" id="{70ED6B27-643D-07B2-F920-EB6E2A95386A}"/>
              </a:ext>
            </a:extLst>
          </p:cNvPr>
          <p:cNvGrpSpPr/>
          <p:nvPr/>
        </p:nvGrpSpPr>
        <p:grpSpPr>
          <a:xfrm>
            <a:off x="4151999" y="5032661"/>
            <a:ext cx="2585732" cy="369332"/>
            <a:chOff x="4231127" y="5091113"/>
            <a:chExt cx="2585732" cy="369332"/>
          </a:xfrm>
        </p:grpSpPr>
        <p:pic>
          <p:nvPicPr>
            <p:cNvPr id="26" name="Graphic 25" descr="Single gear with solid fill">
              <a:extLst>
                <a:ext uri="{FF2B5EF4-FFF2-40B4-BE49-F238E27FC236}">
                  <a16:creationId xmlns:a16="http://schemas.microsoft.com/office/drawing/2014/main" id="{720DF741-1133-AFD5-CA88-D7F0C42363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1127" y="5091113"/>
              <a:ext cx="360000" cy="360000"/>
            </a:xfrm>
            <a:prstGeom prst="rect">
              <a:avLst/>
            </a:prstGeom>
          </p:spPr>
        </p:pic>
        <p:sp>
          <p:nvSpPr>
            <p:cNvPr id="28" name="TextBox 27">
              <a:extLst>
                <a:ext uri="{FF2B5EF4-FFF2-40B4-BE49-F238E27FC236}">
                  <a16:creationId xmlns:a16="http://schemas.microsoft.com/office/drawing/2014/main" id="{B4768A05-D557-093D-3E16-E7F4540C2C33}"/>
                </a:ext>
              </a:extLst>
            </p:cNvPr>
            <p:cNvSpPr txBox="1"/>
            <p:nvPr/>
          </p:nvSpPr>
          <p:spPr>
            <a:xfrm>
              <a:off x="4544955" y="5091113"/>
              <a:ext cx="2271904" cy="369332"/>
            </a:xfrm>
            <a:prstGeom prst="rect">
              <a:avLst/>
            </a:prstGeom>
            <a:noFill/>
          </p:spPr>
          <p:txBody>
            <a:bodyPr wrap="none" rtlCol="0">
              <a:spAutoFit/>
            </a:bodyPr>
            <a:lstStyle/>
            <a:p>
              <a:r>
                <a:rPr lang="en-SE" dirty="0"/>
                <a:t>Descriptive statistics</a:t>
              </a:r>
            </a:p>
          </p:txBody>
        </p:sp>
      </p:grpSp>
      <p:grpSp>
        <p:nvGrpSpPr>
          <p:cNvPr id="30" name="Group 29">
            <a:extLst>
              <a:ext uri="{FF2B5EF4-FFF2-40B4-BE49-F238E27FC236}">
                <a16:creationId xmlns:a16="http://schemas.microsoft.com/office/drawing/2014/main" id="{8DB3E1FB-84F8-BC14-F041-DBD2D1BC0AE3}"/>
              </a:ext>
            </a:extLst>
          </p:cNvPr>
          <p:cNvGrpSpPr/>
          <p:nvPr/>
        </p:nvGrpSpPr>
        <p:grpSpPr>
          <a:xfrm>
            <a:off x="4151999" y="5392661"/>
            <a:ext cx="3644548" cy="369332"/>
            <a:chOff x="4231127" y="5091113"/>
            <a:chExt cx="3644548" cy="369332"/>
          </a:xfrm>
        </p:grpSpPr>
        <p:pic>
          <p:nvPicPr>
            <p:cNvPr id="31" name="Graphic 30" descr="Single gear with solid fill">
              <a:extLst>
                <a:ext uri="{FF2B5EF4-FFF2-40B4-BE49-F238E27FC236}">
                  <a16:creationId xmlns:a16="http://schemas.microsoft.com/office/drawing/2014/main" id="{23149351-29E8-2245-4921-661E71C6DC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1127" y="5091113"/>
              <a:ext cx="360000" cy="360000"/>
            </a:xfrm>
            <a:prstGeom prst="rect">
              <a:avLst/>
            </a:prstGeom>
          </p:spPr>
        </p:pic>
        <p:sp>
          <p:nvSpPr>
            <p:cNvPr id="32" name="TextBox 31">
              <a:extLst>
                <a:ext uri="{FF2B5EF4-FFF2-40B4-BE49-F238E27FC236}">
                  <a16:creationId xmlns:a16="http://schemas.microsoft.com/office/drawing/2014/main" id="{007064E4-69CF-B470-EB94-4960A9F56392}"/>
                </a:ext>
              </a:extLst>
            </p:cNvPr>
            <p:cNvSpPr txBox="1"/>
            <p:nvPr/>
          </p:nvSpPr>
          <p:spPr>
            <a:xfrm>
              <a:off x="4544955" y="5091113"/>
              <a:ext cx="3330720" cy="369332"/>
            </a:xfrm>
            <a:prstGeom prst="rect">
              <a:avLst/>
            </a:prstGeom>
            <a:noFill/>
          </p:spPr>
          <p:txBody>
            <a:bodyPr wrap="none" rtlCol="0">
              <a:spAutoFit/>
            </a:bodyPr>
            <a:lstStyle/>
            <a:p>
              <a:r>
                <a:rPr lang="en-SE" dirty="0"/>
                <a:t>Frequentist inferential statistics</a:t>
              </a:r>
            </a:p>
          </p:txBody>
        </p:sp>
      </p:grpSp>
      <p:grpSp>
        <p:nvGrpSpPr>
          <p:cNvPr id="33" name="Group 32">
            <a:extLst>
              <a:ext uri="{FF2B5EF4-FFF2-40B4-BE49-F238E27FC236}">
                <a16:creationId xmlns:a16="http://schemas.microsoft.com/office/drawing/2014/main" id="{48584CF5-11E4-E02E-6C76-F7FD789A3942}"/>
              </a:ext>
            </a:extLst>
          </p:cNvPr>
          <p:cNvGrpSpPr/>
          <p:nvPr/>
        </p:nvGrpSpPr>
        <p:grpSpPr>
          <a:xfrm>
            <a:off x="4151999" y="5752661"/>
            <a:ext cx="3409740" cy="369332"/>
            <a:chOff x="4231127" y="5091113"/>
            <a:chExt cx="3409740" cy="369332"/>
          </a:xfrm>
        </p:grpSpPr>
        <p:pic>
          <p:nvPicPr>
            <p:cNvPr id="34" name="Graphic 33" descr="Single gear with solid fill">
              <a:extLst>
                <a:ext uri="{FF2B5EF4-FFF2-40B4-BE49-F238E27FC236}">
                  <a16:creationId xmlns:a16="http://schemas.microsoft.com/office/drawing/2014/main" id="{DDC852FE-289E-2338-C8FB-2D0EFB76A4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31127" y="5091113"/>
              <a:ext cx="360000" cy="360000"/>
            </a:xfrm>
            <a:prstGeom prst="rect">
              <a:avLst/>
            </a:prstGeom>
          </p:spPr>
        </p:pic>
        <p:sp>
          <p:nvSpPr>
            <p:cNvPr id="35" name="TextBox 34">
              <a:extLst>
                <a:ext uri="{FF2B5EF4-FFF2-40B4-BE49-F238E27FC236}">
                  <a16:creationId xmlns:a16="http://schemas.microsoft.com/office/drawing/2014/main" id="{0BA4E73C-884E-AC73-0D7E-9C17F47EF09D}"/>
                </a:ext>
              </a:extLst>
            </p:cNvPr>
            <p:cNvSpPr txBox="1"/>
            <p:nvPr/>
          </p:nvSpPr>
          <p:spPr>
            <a:xfrm>
              <a:off x="4544955" y="5091113"/>
              <a:ext cx="3095912" cy="369332"/>
            </a:xfrm>
            <a:prstGeom prst="rect">
              <a:avLst/>
            </a:prstGeom>
            <a:noFill/>
          </p:spPr>
          <p:txBody>
            <a:bodyPr wrap="none" rtlCol="0">
              <a:spAutoFit/>
            </a:bodyPr>
            <a:lstStyle/>
            <a:p>
              <a:r>
                <a:rPr lang="en-SE" dirty="0">
                  <a:solidFill>
                    <a:schemeClr val="accent2"/>
                  </a:solidFill>
                </a:rPr>
                <a:t>Bayesian inferential statistics</a:t>
              </a:r>
            </a:p>
          </p:txBody>
        </p:sp>
      </p:grpSp>
      <p:cxnSp>
        <p:nvCxnSpPr>
          <p:cNvPr id="36" name="Straight Arrow Connector 35">
            <a:extLst>
              <a:ext uri="{FF2B5EF4-FFF2-40B4-BE49-F238E27FC236}">
                <a16:creationId xmlns:a16="http://schemas.microsoft.com/office/drawing/2014/main" id="{DCC6116B-A7F8-8161-B266-000B49382CA3}"/>
              </a:ext>
            </a:extLst>
          </p:cNvPr>
          <p:cNvCxnSpPr>
            <a:cxnSpLocks/>
            <a:stCxn id="7" idx="0"/>
            <a:endCxn id="16" idx="2"/>
          </p:cNvCxnSpPr>
          <p:nvPr/>
        </p:nvCxnSpPr>
        <p:spPr>
          <a:xfrm flipV="1">
            <a:off x="6059564" y="4269051"/>
            <a:ext cx="0" cy="32093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870544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0B797-A969-A686-EEC1-514536B66EF6}"/>
              </a:ext>
            </a:extLst>
          </p:cNvPr>
          <p:cNvSpPr>
            <a:spLocks noGrp="1"/>
          </p:cNvSpPr>
          <p:nvPr>
            <p:ph type="title"/>
          </p:nvPr>
        </p:nvSpPr>
        <p:spPr/>
        <p:txBody>
          <a:bodyPr/>
          <a:lstStyle/>
          <a:p>
            <a:r>
              <a:rPr lang="en-SE" dirty="0"/>
              <a:t>Learning Outcomes</a:t>
            </a:r>
          </a:p>
        </p:txBody>
      </p:sp>
      <p:sp>
        <p:nvSpPr>
          <p:cNvPr id="3" name="Content Placeholder 2">
            <a:extLst>
              <a:ext uri="{FF2B5EF4-FFF2-40B4-BE49-F238E27FC236}">
                <a16:creationId xmlns:a16="http://schemas.microsoft.com/office/drawing/2014/main" id="{0D3FB009-7BC8-BAE7-C7E2-B535EA56EACD}"/>
              </a:ext>
            </a:extLst>
          </p:cNvPr>
          <p:cNvSpPr>
            <a:spLocks noGrp="1"/>
          </p:cNvSpPr>
          <p:nvPr>
            <p:ph idx="1"/>
          </p:nvPr>
        </p:nvSpPr>
        <p:spPr/>
        <p:txBody>
          <a:bodyPr/>
          <a:lstStyle/>
          <a:p>
            <a:pPr marL="0" indent="0">
              <a:buNone/>
            </a:pPr>
            <a:r>
              <a:rPr lang="en-SE" dirty="0"/>
              <a:t>After this tutorial, you will be able to</a:t>
            </a:r>
          </a:p>
          <a:p>
            <a:pPr marL="514350" indent="-514350">
              <a:buFont typeface="+mj-lt"/>
              <a:buAutoNum type="arabicPeriod"/>
            </a:pPr>
            <a:r>
              <a:rPr lang="en-SE" dirty="0"/>
              <a:t>Better understand the current state-of-practice in data analysis and its problems,</a:t>
            </a:r>
          </a:p>
          <a:p>
            <a:pPr marL="514350" indent="-514350">
              <a:buFont typeface="+mj-lt"/>
              <a:buAutoNum type="arabicPeriod"/>
            </a:pPr>
            <a:r>
              <a:rPr lang="en-SE" dirty="0"/>
              <a:t>Understand Bayes’ theorem and the Bayesian perspective on probability, and</a:t>
            </a:r>
          </a:p>
          <a:p>
            <a:pPr marL="514350" indent="-514350">
              <a:buFont typeface="+mj-lt"/>
              <a:buAutoNum type="arabicPeriod"/>
            </a:pPr>
            <a:r>
              <a:rPr lang="en-SE" dirty="0"/>
              <a:t>Apply a systematic Bayesian data analysis process.</a:t>
            </a:r>
          </a:p>
        </p:txBody>
      </p:sp>
      <p:sp>
        <p:nvSpPr>
          <p:cNvPr id="4" name="Date Placeholder 3">
            <a:extLst>
              <a:ext uri="{FF2B5EF4-FFF2-40B4-BE49-F238E27FC236}">
                <a16:creationId xmlns:a16="http://schemas.microsoft.com/office/drawing/2014/main" id="{636C6AB1-6DC9-AFE8-CAE3-475728C831EA}"/>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070FA38-D529-C8E2-0EE1-346E42C3923B}"/>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8D4643FF-ED2F-FE83-FA3B-68D7168C76A3}"/>
              </a:ext>
            </a:extLst>
          </p:cNvPr>
          <p:cNvSpPr>
            <a:spLocks noGrp="1"/>
          </p:cNvSpPr>
          <p:nvPr>
            <p:ph type="sldNum" sz="quarter" idx="12"/>
          </p:nvPr>
        </p:nvSpPr>
        <p:spPr/>
        <p:txBody>
          <a:bodyPr/>
          <a:lstStyle/>
          <a:p>
            <a:fld id="{271ECC92-9CDE-4EB3-B1C5-F46B9E1FA3C1}" type="slidenum">
              <a:rPr lang="en-SE" smtClean="0"/>
              <a:t>9</a:t>
            </a:fld>
            <a:endParaRPr lang="en-SE"/>
          </a:p>
        </p:txBody>
      </p:sp>
    </p:spTree>
    <p:extLst>
      <p:ext uri="{BB962C8B-B14F-4D97-AF65-F5344CB8AC3E}">
        <p14:creationId xmlns:p14="http://schemas.microsoft.com/office/powerpoint/2010/main" val="34507316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A6E8241-0276-7FFC-AD51-169D5D656695}"/>
              </a:ext>
            </a:extLst>
          </p:cNvPr>
          <p:cNvSpPr>
            <a:spLocks noGrp="1"/>
          </p:cNvSpPr>
          <p:nvPr>
            <p:ph type="title"/>
          </p:nvPr>
        </p:nvSpPr>
        <p:spPr/>
        <p:txBody>
          <a:bodyPr/>
          <a:lstStyle/>
          <a:p>
            <a:r>
              <a:rPr lang="en-SE" noProof="0" dirty="0"/>
              <a:t>State of Practice</a:t>
            </a:r>
            <a:endParaRPr lang="en-US" noProof="0" dirty="0"/>
          </a:p>
        </p:txBody>
      </p:sp>
      <p:sp>
        <p:nvSpPr>
          <p:cNvPr id="7" name="Text Placeholder 6">
            <a:extLst>
              <a:ext uri="{FF2B5EF4-FFF2-40B4-BE49-F238E27FC236}">
                <a16:creationId xmlns:a16="http://schemas.microsoft.com/office/drawing/2014/main" id="{E7F0FF69-7B8D-5135-26FC-7A309B3CC617}"/>
              </a:ext>
            </a:extLst>
          </p:cNvPr>
          <p:cNvSpPr>
            <a:spLocks noGrp="1"/>
          </p:cNvSpPr>
          <p:nvPr>
            <p:ph type="body" idx="1"/>
          </p:nvPr>
        </p:nvSpPr>
        <p:spPr/>
        <p:txBody>
          <a:bodyPr/>
          <a:lstStyle/>
          <a:p>
            <a:r>
              <a:rPr lang="en-US" noProof="0" dirty="0"/>
              <a:t>Review of frequentist methods and their threats to conclusion validity</a:t>
            </a:r>
          </a:p>
        </p:txBody>
      </p:sp>
      <p:sp>
        <p:nvSpPr>
          <p:cNvPr id="4" name="Date Placeholder 3">
            <a:extLst>
              <a:ext uri="{FF2B5EF4-FFF2-40B4-BE49-F238E27FC236}">
                <a16:creationId xmlns:a16="http://schemas.microsoft.com/office/drawing/2014/main" id="{B3D71684-06D1-6CB6-867A-A1838CBEB764}"/>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819D041-FAE4-5C7C-3A4E-1B35DAC7233A}"/>
              </a:ext>
            </a:extLst>
          </p:cNvPr>
          <p:cNvSpPr>
            <a:spLocks noGrp="1"/>
          </p:cNvSpPr>
          <p:nvPr>
            <p:ph type="sldNum" sz="quarter" idx="12"/>
          </p:nvPr>
        </p:nvSpPr>
        <p:spPr/>
        <p:txBody>
          <a:bodyPr/>
          <a:lstStyle/>
          <a:p>
            <a:fld id="{271ECC92-9CDE-4EB3-B1C5-F46B9E1FA3C1}" type="slidenum">
              <a:rPr lang="en-US" noProof="0" smtClean="0"/>
              <a:t>10</a:t>
            </a:fld>
            <a:endParaRPr lang="en-US" noProof="0" dirty="0"/>
          </a:p>
        </p:txBody>
      </p:sp>
      <p:sp>
        <p:nvSpPr>
          <p:cNvPr id="2" name="Footer Placeholder 1">
            <a:extLst>
              <a:ext uri="{FF2B5EF4-FFF2-40B4-BE49-F238E27FC236}">
                <a16:creationId xmlns:a16="http://schemas.microsoft.com/office/drawing/2014/main" id="{9D3C6995-A15F-FE73-1C68-4A13E2C4046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2764865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4A3F2-AD59-E058-DDA2-3F17C5465CBB}"/>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5ABB2115-C6ED-85E7-2A96-49181659FCD3}"/>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65896BF4-02BA-681C-EC08-A34CED70DA7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4A78666F-30A0-CB44-1FBB-7BF79C10197D}"/>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6F41D8F5-4C9F-38C6-4765-8ADCD93F1D34}"/>
              </a:ext>
            </a:extLst>
          </p:cNvPr>
          <p:cNvSpPr>
            <a:spLocks noGrp="1"/>
          </p:cNvSpPr>
          <p:nvPr>
            <p:ph type="sldNum" sz="quarter" idx="12"/>
          </p:nvPr>
        </p:nvSpPr>
        <p:spPr/>
        <p:txBody>
          <a:bodyPr/>
          <a:lstStyle/>
          <a:p>
            <a:fld id="{271ECC92-9CDE-4EB3-B1C5-F46B9E1FA3C1}" type="slidenum">
              <a:rPr lang="en-US" noProof="0" smtClean="0"/>
              <a:t>11</a:t>
            </a:fld>
            <a:endParaRPr lang="en-US" noProof="0" dirty="0"/>
          </a:p>
        </p:txBody>
      </p:sp>
      <p:pic>
        <p:nvPicPr>
          <p:cNvPr id="14" name="Graphic 13" descr="Question Mark with solid fill">
            <a:extLst>
              <a:ext uri="{FF2B5EF4-FFF2-40B4-BE49-F238E27FC236}">
                <a16:creationId xmlns:a16="http://schemas.microsoft.com/office/drawing/2014/main" id="{1AF5C7E3-6AA2-1422-F764-9500747D9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89DC6593-9B6F-B133-3B69-82158D4E0499}"/>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1" name="TextBox 10">
            <a:extLst>
              <a:ext uri="{FF2B5EF4-FFF2-40B4-BE49-F238E27FC236}">
                <a16:creationId xmlns:a16="http://schemas.microsoft.com/office/drawing/2014/main" id="{406B7EE4-E994-2069-7905-395B6A6C51F9}"/>
              </a:ext>
            </a:extLst>
          </p:cNvPr>
          <p:cNvSpPr txBox="1"/>
          <p:nvPr/>
        </p:nvSpPr>
        <p:spPr>
          <a:xfrm>
            <a:off x="838198" y="6106266"/>
            <a:ext cx="6096000" cy="338554"/>
          </a:xfrm>
          <a:prstGeom prst="rect">
            <a:avLst/>
          </a:prstGeom>
          <a:noFill/>
        </p:spPr>
        <p:txBody>
          <a:bodyPr wrap="square">
            <a:spAutoFit/>
          </a:bodyPr>
          <a:lstStyle/>
          <a:p>
            <a:r>
              <a:rPr lang="en-SE" sz="800" dirty="0"/>
              <a:t>de Oliveira Neto, F. G., Torkar, R., Feldt, R., Gren, L., Furia, C. A., &amp; Huang, Z. (2019). Evolution of statistical analysis in empirical software engineering research: Current state and steps forward. </a:t>
            </a:r>
            <a:r>
              <a:rPr lang="en-SE" sz="800" i="1" dirty="0"/>
              <a:t>Journal of Systems and Software</a:t>
            </a:r>
            <a:r>
              <a:rPr lang="en-SE" sz="800" dirty="0"/>
              <a:t>, </a:t>
            </a:r>
            <a:r>
              <a:rPr lang="en-SE" sz="800" i="1" dirty="0"/>
              <a:t>156</a:t>
            </a:r>
            <a:r>
              <a:rPr lang="en-SE" sz="800" dirty="0"/>
              <a:t>, 246-267.</a:t>
            </a:r>
          </a:p>
        </p:txBody>
      </p: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680B7492-268A-2B35-D1D3-0A69F6F5093C}"/>
                  </a:ext>
                </a:extLst>
              </p:cNvPr>
              <p:cNvSpPr txBox="1">
                <a:spLocks/>
              </p:cNvSpPr>
              <p:nvPr/>
            </p:nvSpPr>
            <p:spPr>
              <a:xfrm>
                <a:off x="838200" y="4586672"/>
                <a:ext cx="10515600" cy="1332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Null-hypotheses are usually formulated such that they encode </a:t>
                </a:r>
                <a:r>
                  <a:rPr lang="en-US" i="1" dirty="0"/>
                  <a:t>no effect</a:t>
                </a:r>
                <a:r>
                  <a:rPr lang="en-US" dirty="0"/>
                  <a:t>, e.g.,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i="1">
                            <a:latin typeface="Cambria Math" panose="02040503050406030204" pitchFamily="18" charset="0"/>
                          </a:rPr>
                          <m:t>0</m:t>
                        </m:r>
                      </m:sub>
                    </m:sSub>
                  </m:oMath>
                </a14:m>
                <a:r>
                  <a:rPr lang="en-US" dirty="0"/>
                  <a:t>: The use of GenAI does not affect a developer’s productivity.”</a:t>
                </a:r>
              </a:p>
              <a:p>
                <a:pPr marL="0" indent="0">
                  <a:buFont typeface="Arial" panose="020B0604020202020204" pitchFamily="34" charset="0"/>
                  <a:buNone/>
                </a:pPr>
                <a:endParaRPr lang="en-SE" dirty="0"/>
              </a:p>
            </p:txBody>
          </p:sp>
        </mc:Choice>
        <mc:Fallback xmlns="">
          <p:sp>
            <p:nvSpPr>
              <p:cNvPr id="13" name="Content Placeholder 2">
                <a:extLst>
                  <a:ext uri="{FF2B5EF4-FFF2-40B4-BE49-F238E27FC236}">
                    <a16:creationId xmlns:a16="http://schemas.microsoft.com/office/drawing/2014/main" id="{680B7492-268A-2B35-D1D3-0A69F6F5093C}"/>
                  </a:ext>
                </a:extLst>
              </p:cNvPr>
              <p:cNvSpPr txBox="1">
                <a:spLocks noRot="1" noChangeAspect="1" noMove="1" noResize="1" noEditPoints="1" noAdjustHandles="1" noChangeArrowheads="1" noChangeShapeType="1" noTextEdit="1"/>
              </p:cNvSpPr>
              <p:nvPr/>
            </p:nvSpPr>
            <p:spPr>
              <a:xfrm>
                <a:off x="838200" y="4586672"/>
                <a:ext cx="10515600" cy="1332400"/>
              </a:xfrm>
              <a:prstGeom prst="rect">
                <a:avLst/>
              </a:prstGeom>
              <a:blipFill>
                <a:blip r:embed="rId4"/>
                <a:stretch>
                  <a:fillRect l="-1217" t="-7763" b="-5936"/>
                </a:stretch>
              </a:blipFill>
            </p:spPr>
            <p:txBody>
              <a:bodyPr/>
              <a:lstStyle/>
              <a:p>
                <a:r>
                  <a:rPr lang="en-SE">
                    <a:noFill/>
                  </a:rPr>
                  <a:t> </a:t>
                </a:r>
              </a:p>
            </p:txBody>
          </p:sp>
        </mc:Fallback>
      </mc:AlternateContent>
    </p:spTree>
    <p:extLst>
      <p:ext uri="{BB962C8B-B14F-4D97-AF65-F5344CB8AC3E}">
        <p14:creationId xmlns:p14="http://schemas.microsoft.com/office/powerpoint/2010/main" val="21755624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CF130-B1AA-5FBD-8276-C98C14B754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301830-7FCF-2334-AE36-BC6914236A77}"/>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328A578C-5BDB-8902-AE37-F307053259ED}"/>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EC1D621D-58DB-4F10-E363-E0C9E472FC2B}"/>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BE327D28-8958-5E80-DD79-8204165ACF89}"/>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20281ED9-98E0-A3F6-CE45-AD95424CFF7A}"/>
              </a:ext>
            </a:extLst>
          </p:cNvPr>
          <p:cNvSpPr>
            <a:spLocks noGrp="1"/>
          </p:cNvSpPr>
          <p:nvPr>
            <p:ph type="sldNum" sz="quarter" idx="12"/>
          </p:nvPr>
        </p:nvSpPr>
        <p:spPr/>
        <p:txBody>
          <a:bodyPr/>
          <a:lstStyle/>
          <a:p>
            <a:fld id="{271ECC92-9CDE-4EB3-B1C5-F46B9E1FA3C1}" type="slidenum">
              <a:rPr lang="en-US" noProof="0" smtClean="0"/>
              <a:t>12</a:t>
            </a:fld>
            <a:endParaRPr lang="en-US" noProof="0" dirty="0"/>
          </a:p>
        </p:txBody>
      </p:sp>
      <p:pic>
        <p:nvPicPr>
          <p:cNvPr id="12" name="Graphic 11" descr="Database with solid fill">
            <a:extLst>
              <a:ext uri="{FF2B5EF4-FFF2-40B4-BE49-F238E27FC236}">
                <a16:creationId xmlns:a16="http://schemas.microsoft.com/office/drawing/2014/main" id="{1029A473-9A13-77EE-620D-3FBE7935E4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6000" y="3210684"/>
            <a:ext cx="720000" cy="720000"/>
          </a:xfrm>
          <a:prstGeom prst="rect">
            <a:avLst/>
          </a:prstGeom>
        </p:spPr>
      </p:pic>
      <p:pic>
        <p:nvPicPr>
          <p:cNvPr id="14" name="Graphic 13" descr="Question Mark with solid fill">
            <a:extLst>
              <a:ext uri="{FF2B5EF4-FFF2-40B4-BE49-F238E27FC236}">
                <a16:creationId xmlns:a16="http://schemas.microsoft.com/office/drawing/2014/main" id="{C522A53E-86D1-3D24-472E-6640AF4241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BBD2E2B5-4476-D98E-415E-E76CAF5EC3ED}"/>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2744B8D2-141E-5FA9-FCC1-50AFFBCD1AF6}"/>
              </a:ext>
            </a:extLst>
          </p:cNvPr>
          <p:cNvSpPr txBox="1"/>
          <p:nvPr/>
        </p:nvSpPr>
        <p:spPr>
          <a:xfrm>
            <a:off x="5764819" y="4067751"/>
            <a:ext cx="662361" cy="369332"/>
          </a:xfrm>
          <a:prstGeom prst="rect">
            <a:avLst/>
          </a:prstGeom>
          <a:noFill/>
        </p:spPr>
        <p:txBody>
          <a:bodyPr wrap="none" rtlCol="0">
            <a:spAutoFit/>
          </a:bodyPr>
          <a:lstStyle/>
          <a:p>
            <a:pPr algn="r"/>
            <a:r>
              <a:rPr lang="en-US" noProof="0" dirty="0"/>
              <a:t>Data</a:t>
            </a:r>
          </a:p>
        </p:txBody>
      </p:sp>
      <p:graphicFrame>
        <p:nvGraphicFramePr>
          <p:cNvPr id="7" name="Table 6">
            <a:extLst>
              <a:ext uri="{FF2B5EF4-FFF2-40B4-BE49-F238E27FC236}">
                <a16:creationId xmlns:a16="http://schemas.microsoft.com/office/drawing/2014/main" id="{8F5D2D8A-72A0-6FE9-B423-9E21AD9832BA}"/>
              </a:ext>
            </a:extLst>
          </p:cNvPr>
          <p:cNvGraphicFramePr>
            <a:graphicFrameLocks noGrp="1"/>
          </p:cNvGraphicFramePr>
          <p:nvPr>
            <p:extLst>
              <p:ext uri="{D42A27DB-BD31-4B8C-83A1-F6EECF244321}">
                <p14:modId xmlns:p14="http://schemas.microsoft.com/office/powerpoint/2010/main" val="3155355202"/>
              </p:ext>
            </p:extLst>
          </p:nvPr>
        </p:nvGraphicFramePr>
        <p:xfrm>
          <a:off x="4038600" y="4673689"/>
          <a:ext cx="4114800" cy="16764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403338866"/>
                    </a:ext>
                  </a:extLst>
                </a:gridCol>
                <a:gridCol w="2057400">
                  <a:extLst>
                    <a:ext uri="{9D8B030D-6E8A-4147-A177-3AD203B41FA5}">
                      <a16:colId xmlns:a16="http://schemas.microsoft.com/office/drawing/2014/main" val="1746838082"/>
                    </a:ext>
                  </a:extLst>
                </a:gridCol>
              </a:tblGrid>
              <a:tr h="303188">
                <a:tc>
                  <a:txBody>
                    <a:bodyPr/>
                    <a:lstStyle/>
                    <a:p>
                      <a:r>
                        <a:rPr lang="en-SE" sz="1600" dirty="0"/>
                        <a:t>GenAI Usage</a:t>
                      </a:r>
                    </a:p>
                  </a:txBody>
                  <a:tcPr/>
                </a:tc>
                <a:tc>
                  <a:txBody>
                    <a:bodyPr/>
                    <a:lstStyle/>
                    <a:p>
                      <a:r>
                        <a:rPr lang="en-SE" sz="1600" dirty="0"/>
                        <a:t>Productivity</a:t>
                      </a:r>
                    </a:p>
                  </a:txBody>
                  <a:tcPr/>
                </a:tc>
                <a:extLst>
                  <a:ext uri="{0D108BD9-81ED-4DB2-BD59-A6C34878D82A}">
                    <a16:rowId xmlns:a16="http://schemas.microsoft.com/office/drawing/2014/main" val="3175705371"/>
                  </a:ext>
                </a:extLst>
              </a:tr>
              <a:tr h="303188">
                <a:tc>
                  <a:txBody>
                    <a:bodyPr/>
                    <a:lstStyle/>
                    <a:p>
                      <a:r>
                        <a:rPr lang="en-SE" sz="1600" dirty="0"/>
                        <a:t>10%</a:t>
                      </a:r>
                    </a:p>
                  </a:txBody>
                  <a:tcPr/>
                </a:tc>
                <a:tc>
                  <a:txBody>
                    <a:bodyPr/>
                    <a:lstStyle/>
                    <a:p>
                      <a:r>
                        <a:rPr lang="en-SE" sz="1600" dirty="0"/>
                        <a:t>3.5</a:t>
                      </a:r>
                    </a:p>
                  </a:txBody>
                  <a:tcPr/>
                </a:tc>
                <a:extLst>
                  <a:ext uri="{0D108BD9-81ED-4DB2-BD59-A6C34878D82A}">
                    <a16:rowId xmlns:a16="http://schemas.microsoft.com/office/drawing/2014/main" val="2496565120"/>
                  </a:ext>
                </a:extLst>
              </a:tr>
              <a:tr h="303188">
                <a:tc>
                  <a:txBody>
                    <a:bodyPr/>
                    <a:lstStyle/>
                    <a:p>
                      <a:r>
                        <a:rPr lang="en-SE" sz="1600" dirty="0"/>
                        <a:t>55%</a:t>
                      </a:r>
                    </a:p>
                  </a:txBody>
                  <a:tcPr/>
                </a:tc>
                <a:tc>
                  <a:txBody>
                    <a:bodyPr/>
                    <a:lstStyle/>
                    <a:p>
                      <a:r>
                        <a:rPr lang="en-SE" sz="1600" dirty="0"/>
                        <a:t>4.2</a:t>
                      </a:r>
                    </a:p>
                  </a:txBody>
                  <a:tcPr/>
                </a:tc>
                <a:extLst>
                  <a:ext uri="{0D108BD9-81ED-4DB2-BD59-A6C34878D82A}">
                    <a16:rowId xmlns:a16="http://schemas.microsoft.com/office/drawing/2014/main" val="961123290"/>
                  </a:ext>
                </a:extLst>
              </a:tr>
              <a:tr h="303188">
                <a:tc>
                  <a:txBody>
                    <a:bodyPr/>
                    <a:lstStyle/>
                    <a:p>
                      <a:r>
                        <a:rPr lang="en-SE" sz="1600" dirty="0"/>
                        <a:t>30%</a:t>
                      </a:r>
                    </a:p>
                  </a:txBody>
                  <a:tcPr/>
                </a:tc>
                <a:tc>
                  <a:txBody>
                    <a:bodyPr/>
                    <a:lstStyle/>
                    <a:p>
                      <a:r>
                        <a:rPr lang="en-SE" sz="1600" dirty="0"/>
                        <a:t>4.0</a:t>
                      </a:r>
                    </a:p>
                  </a:txBody>
                  <a:tcPr/>
                </a:tc>
                <a:extLst>
                  <a:ext uri="{0D108BD9-81ED-4DB2-BD59-A6C34878D82A}">
                    <a16:rowId xmlns:a16="http://schemas.microsoft.com/office/drawing/2014/main" val="1968343564"/>
                  </a:ext>
                </a:extLst>
              </a:tr>
              <a:tr h="303188">
                <a:tc>
                  <a:txBody>
                    <a:bodyPr/>
                    <a:lstStyle/>
                    <a:p>
                      <a:r>
                        <a:rPr lang="en-SE" sz="1600" dirty="0"/>
                        <a:t>...</a:t>
                      </a:r>
                    </a:p>
                  </a:txBody>
                  <a:tcPr/>
                </a:tc>
                <a:tc>
                  <a:txBody>
                    <a:bodyPr/>
                    <a:lstStyle/>
                    <a:p>
                      <a:r>
                        <a:rPr lang="en-SE" sz="1600" dirty="0"/>
                        <a:t>...</a:t>
                      </a:r>
                    </a:p>
                  </a:txBody>
                  <a:tcPr/>
                </a:tc>
                <a:extLst>
                  <a:ext uri="{0D108BD9-81ED-4DB2-BD59-A6C34878D82A}">
                    <a16:rowId xmlns:a16="http://schemas.microsoft.com/office/drawing/2014/main" val="3869527357"/>
                  </a:ext>
                </a:extLst>
              </a:tr>
            </a:tbl>
          </a:graphicData>
        </a:graphic>
      </p:graphicFrame>
    </p:spTree>
    <p:extLst>
      <p:ext uri="{BB962C8B-B14F-4D97-AF65-F5344CB8AC3E}">
        <p14:creationId xmlns:p14="http://schemas.microsoft.com/office/powerpoint/2010/main" val="24579998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58822-22A5-1607-7691-453668364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7CEF7D-AF14-B802-44D6-53571F02985E}"/>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865BB3A0-64FA-B762-D127-155C61CF52BB}"/>
              </a:ext>
            </a:extLst>
          </p:cNvPr>
          <p:cNvSpPr>
            <a:spLocks noGrp="1"/>
          </p:cNvSpPr>
          <p:nvPr>
            <p:ph idx="1"/>
          </p:nvPr>
        </p:nvSpPr>
        <p:spPr>
          <a:xfrm>
            <a:off x="838200" y="1825625"/>
            <a:ext cx="10515600" cy="1332400"/>
          </a:xfrm>
        </p:spPr>
        <p:txBody>
          <a:bodyPr>
            <a:normAutofit/>
          </a:bodyPr>
          <a:lstStyle/>
          <a:p>
            <a:pPr marL="0" indent="0">
              <a:buNone/>
            </a:pPr>
            <a:r>
              <a:rPr lang="en-SE" noProof="0" dirty="0"/>
              <a:t>The state-of-practice for </a:t>
            </a:r>
            <a:r>
              <a:rPr lang="en-SE" noProof="0" dirty="0" err="1"/>
              <a:t>analyzing</a:t>
            </a:r>
            <a:r>
              <a:rPr lang="en-SE" noProof="0" dirty="0"/>
              <a:t> quantitative data in SE research focuses on Null-Hypothesis Significance Testing (NHST) commonly consisting of three components.</a:t>
            </a:r>
            <a:endParaRPr lang="en-US" noProof="0" dirty="0"/>
          </a:p>
        </p:txBody>
      </p:sp>
      <p:sp>
        <p:nvSpPr>
          <p:cNvPr id="4" name="Date Placeholder 3">
            <a:extLst>
              <a:ext uri="{FF2B5EF4-FFF2-40B4-BE49-F238E27FC236}">
                <a16:creationId xmlns:a16="http://schemas.microsoft.com/office/drawing/2014/main" id="{0671D86B-A144-3DFB-A2F9-8BF08D2703C5}"/>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C1B9ECB5-92FE-5755-4E7A-6B9B18D3798B}"/>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C7AF9D63-1EEC-D07C-BBCD-9F0FEA994979}"/>
              </a:ext>
            </a:extLst>
          </p:cNvPr>
          <p:cNvSpPr>
            <a:spLocks noGrp="1"/>
          </p:cNvSpPr>
          <p:nvPr>
            <p:ph type="sldNum" sz="quarter" idx="12"/>
          </p:nvPr>
        </p:nvSpPr>
        <p:spPr/>
        <p:txBody>
          <a:bodyPr/>
          <a:lstStyle/>
          <a:p>
            <a:fld id="{271ECC92-9CDE-4EB3-B1C5-F46B9E1FA3C1}" type="slidenum">
              <a:rPr lang="en-US" noProof="0" smtClean="0"/>
              <a:t>13</a:t>
            </a:fld>
            <a:endParaRPr lang="en-US" noProof="0" dirty="0"/>
          </a:p>
        </p:txBody>
      </p:sp>
      <p:pic>
        <p:nvPicPr>
          <p:cNvPr id="10" name="Graphic 9" descr="Normal Distribution with solid fill">
            <a:extLst>
              <a:ext uri="{FF2B5EF4-FFF2-40B4-BE49-F238E27FC236}">
                <a16:creationId xmlns:a16="http://schemas.microsoft.com/office/drawing/2014/main" id="{70453230-4802-CB5F-8DCD-E68F06E136F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65665" y="3210684"/>
            <a:ext cx="720000" cy="720000"/>
          </a:xfrm>
          <a:prstGeom prst="rect">
            <a:avLst/>
          </a:prstGeom>
        </p:spPr>
      </p:pic>
      <p:pic>
        <p:nvPicPr>
          <p:cNvPr id="12" name="Graphic 11" descr="Database with solid fill">
            <a:extLst>
              <a:ext uri="{FF2B5EF4-FFF2-40B4-BE49-F238E27FC236}">
                <a16:creationId xmlns:a16="http://schemas.microsoft.com/office/drawing/2014/main" id="{C9E8643C-C077-2D25-1976-ADA92FD67C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6000" y="3210684"/>
            <a:ext cx="720000" cy="720000"/>
          </a:xfrm>
          <a:prstGeom prst="rect">
            <a:avLst/>
          </a:prstGeom>
        </p:spPr>
      </p:pic>
      <p:pic>
        <p:nvPicPr>
          <p:cNvPr id="14" name="Graphic 13" descr="Question Mark with solid fill">
            <a:extLst>
              <a:ext uri="{FF2B5EF4-FFF2-40B4-BE49-F238E27FC236}">
                <a16:creationId xmlns:a16="http://schemas.microsoft.com/office/drawing/2014/main" id="{BF99C5F2-13A4-5575-DB4B-5CE61BAF7F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07865" y="3210684"/>
            <a:ext cx="720000" cy="720000"/>
          </a:xfrm>
          <a:prstGeom prst="rect">
            <a:avLst/>
          </a:prstGeom>
        </p:spPr>
      </p:pic>
      <p:sp>
        <p:nvSpPr>
          <p:cNvPr id="15" name="TextBox 14">
            <a:extLst>
              <a:ext uri="{FF2B5EF4-FFF2-40B4-BE49-F238E27FC236}">
                <a16:creationId xmlns:a16="http://schemas.microsoft.com/office/drawing/2014/main" id="{C37F551B-639D-D4C7-200F-C651E34E5621}"/>
              </a:ext>
            </a:extLst>
          </p:cNvPr>
          <p:cNvSpPr txBox="1"/>
          <p:nvPr/>
        </p:nvSpPr>
        <p:spPr>
          <a:xfrm>
            <a:off x="2586053" y="407401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4D7C876E-731A-AD1D-4194-02C8659AE6D7}"/>
              </a:ext>
            </a:extLst>
          </p:cNvPr>
          <p:cNvSpPr txBox="1"/>
          <p:nvPr/>
        </p:nvSpPr>
        <p:spPr>
          <a:xfrm>
            <a:off x="5764819" y="4067751"/>
            <a:ext cx="662361" cy="369332"/>
          </a:xfrm>
          <a:prstGeom prst="rect">
            <a:avLst/>
          </a:prstGeom>
          <a:noFill/>
        </p:spPr>
        <p:txBody>
          <a:bodyPr wrap="none" rtlCol="0">
            <a:spAutoFit/>
          </a:bodyPr>
          <a:lstStyle/>
          <a:p>
            <a:pPr algn="r"/>
            <a:r>
              <a:rPr lang="en-US" noProof="0" dirty="0"/>
              <a:t>Data</a:t>
            </a:r>
          </a:p>
        </p:txBody>
      </p:sp>
      <p:sp>
        <p:nvSpPr>
          <p:cNvPr id="17" name="TextBox 16">
            <a:extLst>
              <a:ext uri="{FF2B5EF4-FFF2-40B4-BE49-F238E27FC236}">
                <a16:creationId xmlns:a16="http://schemas.microsoft.com/office/drawing/2014/main" id="{C1850CF3-8BDD-490F-FD6B-A8F3C97F7ACD}"/>
              </a:ext>
            </a:extLst>
          </p:cNvPr>
          <p:cNvSpPr txBox="1"/>
          <p:nvPr/>
        </p:nvSpPr>
        <p:spPr>
          <a:xfrm>
            <a:off x="7831446" y="4075096"/>
            <a:ext cx="1788438" cy="369332"/>
          </a:xfrm>
          <a:prstGeom prst="rect">
            <a:avLst/>
          </a:prstGeom>
          <a:noFill/>
        </p:spPr>
        <p:txBody>
          <a:bodyPr wrap="none" rtlCol="0">
            <a:spAutoFit/>
          </a:bodyPr>
          <a:lstStyle/>
          <a:p>
            <a:pPr algn="r"/>
            <a:r>
              <a:rPr lang="en-US" noProof="0" dirty="0"/>
              <a:t>Appropriate test</a:t>
            </a:r>
          </a:p>
        </p:txBody>
      </p:sp>
      <p:pic>
        <p:nvPicPr>
          <p:cNvPr id="8" name="Picture 7">
            <a:extLst>
              <a:ext uri="{FF2B5EF4-FFF2-40B4-BE49-F238E27FC236}">
                <a16:creationId xmlns:a16="http://schemas.microsoft.com/office/drawing/2014/main" id="{6C805856-E146-354F-2EF1-9B4A7FDD443F}"/>
              </a:ext>
            </a:extLst>
          </p:cNvPr>
          <p:cNvPicPr>
            <a:picLocks noChangeAspect="1"/>
          </p:cNvPicPr>
          <p:nvPr/>
        </p:nvPicPr>
        <p:blipFill>
          <a:blip r:embed="rId6"/>
          <a:stretch>
            <a:fillRect/>
          </a:stretch>
        </p:blipFill>
        <p:spPr>
          <a:xfrm>
            <a:off x="7363831" y="4599280"/>
            <a:ext cx="4093738" cy="3334753"/>
          </a:xfrm>
          <a:prstGeom prst="rect">
            <a:avLst/>
          </a:prstGeom>
        </p:spPr>
      </p:pic>
      <p:sp>
        <p:nvSpPr>
          <p:cNvPr id="13" name="TextBox 12">
            <a:extLst>
              <a:ext uri="{FF2B5EF4-FFF2-40B4-BE49-F238E27FC236}">
                <a16:creationId xmlns:a16="http://schemas.microsoft.com/office/drawing/2014/main" id="{B8E48C4E-4166-C325-375A-8CDB57B69BC2}"/>
              </a:ext>
            </a:extLst>
          </p:cNvPr>
          <p:cNvSpPr txBox="1"/>
          <p:nvPr/>
        </p:nvSpPr>
        <p:spPr>
          <a:xfrm>
            <a:off x="838198" y="5928103"/>
            <a:ext cx="3425911" cy="338554"/>
          </a:xfrm>
          <a:prstGeom prst="rect">
            <a:avLst/>
          </a:prstGeom>
          <a:noFill/>
        </p:spPr>
        <p:txBody>
          <a:bodyPr wrap="square">
            <a:spAutoFit/>
          </a:bodyPr>
          <a:lstStyle/>
          <a:p>
            <a:r>
              <a:rPr lang="en-US" sz="800" noProof="0" dirty="0"/>
              <a:t>McElreath, Richard. </a:t>
            </a:r>
            <a:r>
              <a:rPr lang="en-US" sz="800" i="1" noProof="0" dirty="0"/>
              <a:t>Statistical rethinking: A Bayesian course with examples in R and Stan</a:t>
            </a:r>
            <a:r>
              <a:rPr lang="en-US" sz="800" noProof="0" dirty="0"/>
              <a:t>. Chapman and Hall/CRC, 2018.</a:t>
            </a:r>
          </a:p>
        </p:txBody>
      </p:sp>
    </p:spTree>
    <p:extLst>
      <p:ext uri="{BB962C8B-B14F-4D97-AF65-F5344CB8AC3E}">
        <p14:creationId xmlns:p14="http://schemas.microsoft.com/office/powerpoint/2010/main" val="26780428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3B01E-92D7-23E6-A8E5-F1B9282CB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E67FA-23EE-72DB-0418-87DD9181588D}"/>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D3FEFB9D-8358-A617-2A99-7AE47D5B2A31}"/>
              </a:ext>
            </a:extLst>
          </p:cNvPr>
          <p:cNvSpPr>
            <a:spLocks noGrp="1"/>
          </p:cNvSpPr>
          <p:nvPr>
            <p:ph idx="1"/>
          </p:nvPr>
        </p:nvSpPr>
        <p:spPr>
          <a:xfrm>
            <a:off x="838200" y="1825625"/>
            <a:ext cx="10515600" cy="679847"/>
          </a:xfrm>
        </p:spPr>
        <p:txBody>
          <a:bodyPr/>
          <a:lstStyle/>
          <a:p>
            <a:pPr marL="0" indent="0">
              <a:buNone/>
            </a:pPr>
            <a:r>
              <a:rPr lang="en-US" noProof="0" dirty="0"/>
              <a:t>Null-hypothesis significance tests (NHSTs) work roughly as follows:</a:t>
            </a:r>
          </a:p>
        </p:txBody>
      </p:sp>
      <p:sp>
        <p:nvSpPr>
          <p:cNvPr id="4" name="Date Placeholder 3">
            <a:extLst>
              <a:ext uri="{FF2B5EF4-FFF2-40B4-BE49-F238E27FC236}">
                <a16:creationId xmlns:a16="http://schemas.microsoft.com/office/drawing/2014/main" id="{53F4B604-FE93-B436-8D3F-F76980D4C6CF}"/>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711B9FDA-48E5-E2EB-C3BC-D2E474A0AABC}"/>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712CEB0B-C1EA-4360-2819-C726C232C0DF}"/>
              </a:ext>
            </a:extLst>
          </p:cNvPr>
          <p:cNvSpPr>
            <a:spLocks noGrp="1"/>
          </p:cNvSpPr>
          <p:nvPr>
            <p:ph type="sldNum" sz="quarter" idx="12"/>
          </p:nvPr>
        </p:nvSpPr>
        <p:spPr/>
        <p:txBody>
          <a:bodyPr/>
          <a:lstStyle/>
          <a:p>
            <a:fld id="{271ECC92-9CDE-4EB3-B1C5-F46B9E1FA3C1}" type="slidenum">
              <a:rPr lang="en-US" noProof="0" smtClean="0"/>
              <a:t>14</a:t>
            </a:fld>
            <a:endParaRPr lang="en-US" noProof="0" dirty="0"/>
          </a:p>
        </p:txBody>
      </p:sp>
      <p:sp>
        <p:nvSpPr>
          <p:cNvPr id="7" name="Arrow: Pentagon 6">
            <a:extLst>
              <a:ext uri="{FF2B5EF4-FFF2-40B4-BE49-F238E27FC236}">
                <a16:creationId xmlns:a16="http://schemas.microsoft.com/office/drawing/2014/main" id="{1147A4D0-E28F-BD7E-13C0-19EBCBC6CF13}"/>
              </a:ext>
            </a:extLst>
          </p:cNvPr>
          <p:cNvSpPr/>
          <p:nvPr/>
        </p:nvSpPr>
        <p:spPr>
          <a:xfrm>
            <a:off x="5066133" y="3300025"/>
            <a:ext cx="2071487" cy="984504"/>
          </a:xfrm>
          <a:prstGeom prst="homePlate">
            <a:avLst/>
          </a:prstGeom>
          <a:solidFill>
            <a:schemeClr val="tx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noProof="0" dirty="0"/>
              <a:t>NHST</a:t>
            </a:r>
            <a:endParaRPr lang="en-US" b="1" noProof="0" dirty="0"/>
          </a:p>
        </p:txBody>
      </p:sp>
      <p:sp>
        <p:nvSpPr>
          <p:cNvPr id="8" name="Right Brace 7">
            <a:extLst>
              <a:ext uri="{FF2B5EF4-FFF2-40B4-BE49-F238E27FC236}">
                <a16:creationId xmlns:a16="http://schemas.microsoft.com/office/drawing/2014/main" id="{562619EE-83A4-5009-0B14-0E067DD232B4}"/>
              </a:ext>
            </a:extLst>
          </p:cNvPr>
          <p:cNvSpPr/>
          <p:nvPr/>
        </p:nvSpPr>
        <p:spPr>
          <a:xfrm>
            <a:off x="4695568" y="2539464"/>
            <a:ext cx="364688" cy="2505627"/>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US" noProof="0" dirty="0"/>
          </a:p>
        </p:txBody>
      </p:sp>
      <p:pic>
        <p:nvPicPr>
          <p:cNvPr id="10" name="Graphic 9" descr="Normal Distribution with solid fill">
            <a:extLst>
              <a:ext uri="{FF2B5EF4-FFF2-40B4-BE49-F238E27FC236}">
                <a16:creationId xmlns:a16="http://schemas.microsoft.com/office/drawing/2014/main" id="{D2617C1D-D939-D0A6-7263-BDD3BBA3FE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096" y="4358344"/>
            <a:ext cx="720000" cy="720000"/>
          </a:xfrm>
          <a:prstGeom prst="rect">
            <a:avLst/>
          </a:prstGeom>
        </p:spPr>
      </p:pic>
      <p:pic>
        <p:nvPicPr>
          <p:cNvPr id="12" name="Graphic 11" descr="Database with solid fill">
            <a:extLst>
              <a:ext uri="{FF2B5EF4-FFF2-40B4-BE49-F238E27FC236}">
                <a16:creationId xmlns:a16="http://schemas.microsoft.com/office/drawing/2014/main" id="{940AEF2A-B072-5D8B-D542-22208AFA15C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49096" y="3434816"/>
            <a:ext cx="720000" cy="720000"/>
          </a:xfrm>
          <a:prstGeom prst="rect">
            <a:avLst/>
          </a:prstGeom>
        </p:spPr>
      </p:pic>
      <p:pic>
        <p:nvPicPr>
          <p:cNvPr id="14" name="Graphic 13" descr="Question Mark with solid fill">
            <a:extLst>
              <a:ext uri="{FF2B5EF4-FFF2-40B4-BE49-F238E27FC236}">
                <a16:creationId xmlns:a16="http://schemas.microsoft.com/office/drawing/2014/main" id="{E8CA4FC5-811F-D1B6-2B57-F66EF5B1A3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49096" y="2511288"/>
            <a:ext cx="720000" cy="720000"/>
          </a:xfrm>
          <a:prstGeom prst="rect">
            <a:avLst/>
          </a:prstGeom>
        </p:spPr>
      </p:pic>
      <p:sp>
        <p:nvSpPr>
          <p:cNvPr id="15" name="TextBox 14">
            <a:extLst>
              <a:ext uri="{FF2B5EF4-FFF2-40B4-BE49-F238E27FC236}">
                <a16:creationId xmlns:a16="http://schemas.microsoft.com/office/drawing/2014/main" id="{0F309B5C-C234-8D08-28A9-3B18905AE623}"/>
              </a:ext>
            </a:extLst>
          </p:cNvPr>
          <p:cNvSpPr txBox="1"/>
          <p:nvPr/>
        </p:nvSpPr>
        <p:spPr>
          <a:xfrm>
            <a:off x="2159000" y="2686622"/>
            <a:ext cx="1763624" cy="369332"/>
          </a:xfrm>
          <a:prstGeom prst="rect">
            <a:avLst/>
          </a:prstGeom>
          <a:noFill/>
        </p:spPr>
        <p:txBody>
          <a:bodyPr wrap="none" rtlCol="0">
            <a:spAutoFit/>
          </a:bodyPr>
          <a:lstStyle/>
          <a:p>
            <a:pPr algn="r"/>
            <a:r>
              <a:rPr lang="en-US" noProof="0" dirty="0"/>
              <a:t>Null-hypothesis</a:t>
            </a:r>
          </a:p>
        </p:txBody>
      </p:sp>
      <p:sp>
        <p:nvSpPr>
          <p:cNvPr id="16" name="TextBox 15">
            <a:extLst>
              <a:ext uri="{FF2B5EF4-FFF2-40B4-BE49-F238E27FC236}">
                <a16:creationId xmlns:a16="http://schemas.microsoft.com/office/drawing/2014/main" id="{B3EA3721-26D5-A4A0-D895-0E6F5443BD66}"/>
              </a:ext>
            </a:extLst>
          </p:cNvPr>
          <p:cNvSpPr txBox="1"/>
          <p:nvPr/>
        </p:nvSpPr>
        <p:spPr>
          <a:xfrm>
            <a:off x="3260263" y="3607611"/>
            <a:ext cx="662361" cy="369332"/>
          </a:xfrm>
          <a:prstGeom prst="rect">
            <a:avLst/>
          </a:prstGeom>
          <a:noFill/>
        </p:spPr>
        <p:txBody>
          <a:bodyPr wrap="none" rtlCol="0">
            <a:spAutoFit/>
          </a:bodyPr>
          <a:lstStyle/>
          <a:p>
            <a:pPr algn="r"/>
            <a:r>
              <a:rPr lang="en-US" noProof="0" dirty="0"/>
              <a:t>Data</a:t>
            </a:r>
          </a:p>
        </p:txBody>
      </p:sp>
      <p:sp>
        <p:nvSpPr>
          <p:cNvPr id="17" name="TextBox 16">
            <a:extLst>
              <a:ext uri="{FF2B5EF4-FFF2-40B4-BE49-F238E27FC236}">
                <a16:creationId xmlns:a16="http://schemas.microsoft.com/office/drawing/2014/main" id="{83986EED-6F24-5067-D0BC-0EDD4D7D2415}"/>
              </a:ext>
            </a:extLst>
          </p:cNvPr>
          <p:cNvSpPr txBox="1"/>
          <p:nvPr/>
        </p:nvSpPr>
        <p:spPr>
          <a:xfrm>
            <a:off x="2124142" y="4533678"/>
            <a:ext cx="1788438" cy="369332"/>
          </a:xfrm>
          <a:prstGeom prst="rect">
            <a:avLst/>
          </a:prstGeom>
          <a:noFill/>
        </p:spPr>
        <p:txBody>
          <a:bodyPr wrap="none" rtlCol="0">
            <a:spAutoFit/>
          </a:bodyPr>
          <a:lstStyle/>
          <a:p>
            <a:pPr algn="r"/>
            <a:r>
              <a:rPr lang="en-US" noProof="0" dirty="0"/>
              <a:t>Appropriate test</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754450F-0AB7-81C0-5EFC-449EF2D1D590}"/>
                  </a:ext>
                </a:extLst>
              </p:cNvPr>
              <p:cNvSpPr txBox="1"/>
              <p:nvPr/>
            </p:nvSpPr>
            <p:spPr>
              <a:xfrm>
                <a:off x="7224107" y="3607611"/>
                <a:ext cx="1882695" cy="369332"/>
              </a:xfrm>
              <a:prstGeom prst="rect">
                <a:avLst/>
              </a:prstGeom>
              <a:noFill/>
            </p:spPr>
            <p:txBody>
              <a:bodyPr wrap="none" rtlCol="0">
                <a:spAutoFit/>
              </a:bodyPr>
              <a:lstStyle/>
              <a:p>
                <a:r>
                  <a:rPr lang="en-US" noProof="0" dirty="0"/>
                  <a:t>p-value </a:t>
                </a:r>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∈[0, 1]</m:t>
                    </m:r>
                  </m:oMath>
                </a14:m>
                <a:endParaRPr lang="en-US" noProof="0" dirty="0"/>
              </a:p>
            </p:txBody>
          </p:sp>
        </mc:Choice>
        <mc:Fallback xmlns="">
          <p:sp>
            <p:nvSpPr>
              <p:cNvPr id="18" name="TextBox 17">
                <a:extLst>
                  <a:ext uri="{FF2B5EF4-FFF2-40B4-BE49-F238E27FC236}">
                    <a16:creationId xmlns:a16="http://schemas.microsoft.com/office/drawing/2014/main" id="{85C5F4FF-A27C-91C4-C79A-03074F8C5F3A}"/>
                  </a:ext>
                </a:extLst>
              </p:cNvPr>
              <p:cNvSpPr txBox="1">
                <a:spLocks noRot="1" noChangeAspect="1" noMove="1" noResize="1" noEditPoints="1" noAdjustHandles="1" noChangeArrowheads="1" noChangeShapeType="1" noTextEdit="1"/>
              </p:cNvSpPr>
              <p:nvPr/>
            </p:nvSpPr>
            <p:spPr>
              <a:xfrm>
                <a:off x="7224107" y="3607611"/>
                <a:ext cx="1882695" cy="369332"/>
              </a:xfrm>
              <a:prstGeom prst="rect">
                <a:avLst/>
              </a:prstGeom>
              <a:blipFill>
                <a:blip r:embed="rId6"/>
                <a:stretch>
                  <a:fillRect l="-2589" t="-8333" r="-324" b="-28333"/>
                </a:stretch>
              </a:blipFill>
            </p:spPr>
            <p:txBody>
              <a:bodyPr/>
              <a:lstStyle/>
              <a:p>
                <a:r>
                  <a:rPr lang="en-SE">
                    <a:noFill/>
                  </a:rPr>
                  <a:t> </a:t>
                </a:r>
              </a:p>
            </p:txBody>
          </p:sp>
        </mc:Fallback>
      </mc:AlternateContent>
    </p:spTree>
    <p:extLst>
      <p:ext uri="{BB962C8B-B14F-4D97-AF65-F5344CB8AC3E}">
        <p14:creationId xmlns:p14="http://schemas.microsoft.com/office/powerpoint/2010/main" val="1634849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0555044-302A-FCB2-7CE7-6E269F0082CF}"/>
              </a:ext>
            </a:extLst>
          </p:cNvPr>
          <p:cNvSpPr txBox="1"/>
          <p:nvPr/>
        </p:nvSpPr>
        <p:spPr>
          <a:xfrm>
            <a:off x="872246" y="2933544"/>
            <a:ext cx="4606389" cy="492443"/>
          </a:xfrm>
          <a:prstGeom prst="rect">
            <a:avLst/>
          </a:prstGeom>
          <a:noFill/>
        </p:spPr>
        <p:txBody>
          <a:bodyPr wrap="none" rtlCol="0">
            <a:spAutoFit/>
          </a:bodyPr>
          <a:lstStyle/>
          <a:p>
            <a:r>
              <a:rPr lang="en-SE" sz="2600" dirty="0">
                <a:solidFill>
                  <a:schemeClr val="bg1"/>
                </a:solidFill>
              </a:rPr>
              <a:t>What exactly is this mysterious</a:t>
            </a:r>
          </a:p>
        </p:txBody>
      </p:sp>
      <p:sp>
        <p:nvSpPr>
          <p:cNvPr id="9" name="TextBox 8">
            <a:extLst>
              <a:ext uri="{FF2B5EF4-FFF2-40B4-BE49-F238E27FC236}">
                <a16:creationId xmlns:a16="http://schemas.microsoft.com/office/drawing/2014/main" id="{A2AB7E8F-11FD-0530-CF76-A0BD43FCC265}"/>
              </a:ext>
            </a:extLst>
          </p:cNvPr>
          <p:cNvSpPr txBox="1"/>
          <p:nvPr/>
        </p:nvSpPr>
        <p:spPr>
          <a:xfrm>
            <a:off x="872246" y="3302876"/>
            <a:ext cx="4734951" cy="1569660"/>
          </a:xfrm>
          <a:prstGeom prst="rect">
            <a:avLst/>
          </a:prstGeom>
          <a:noFill/>
        </p:spPr>
        <p:txBody>
          <a:bodyPr wrap="none" rtlCol="0">
            <a:spAutoFit/>
          </a:bodyPr>
          <a:lstStyle/>
          <a:p>
            <a:r>
              <a:rPr lang="en-SE" sz="9600" dirty="0">
                <a:solidFill>
                  <a:schemeClr val="bg1"/>
                </a:solidFill>
              </a:rPr>
              <a:t>p-value?</a:t>
            </a:r>
          </a:p>
        </p:txBody>
      </p:sp>
    </p:spTree>
    <p:extLst>
      <p:ext uri="{BB962C8B-B14F-4D97-AF65-F5344CB8AC3E}">
        <p14:creationId xmlns:p14="http://schemas.microsoft.com/office/powerpoint/2010/main" val="1285613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907253-D9D0-39A5-A7B9-3E7A15E93EAC}"/>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BE735D05-408F-900C-B77A-4E150D040A7E}"/>
              </a:ext>
            </a:extLst>
          </p:cNvPr>
          <p:cNvSpPr>
            <a:spLocks noGrp="1"/>
          </p:cNvSpPr>
          <p:nvPr>
            <p:ph idx="1"/>
          </p:nvPr>
        </p:nvSpPr>
        <p:spPr>
          <a:xfrm>
            <a:off x="838200" y="1825625"/>
            <a:ext cx="10515600" cy="607824"/>
          </a:xfrm>
        </p:spPr>
        <p:txBody>
          <a:bodyPr/>
          <a:lstStyle/>
          <a:p>
            <a:pPr marL="0" indent="0">
              <a:buNone/>
            </a:pPr>
            <a:r>
              <a:rPr lang="en-US" noProof="0" dirty="0"/>
              <a:t>A p-value is a statement about the observed data.  </a:t>
            </a:r>
          </a:p>
        </p:txBody>
      </p:sp>
      <p:sp>
        <p:nvSpPr>
          <p:cNvPr id="4" name="Date Placeholder 3">
            <a:extLst>
              <a:ext uri="{FF2B5EF4-FFF2-40B4-BE49-F238E27FC236}">
                <a16:creationId xmlns:a16="http://schemas.microsoft.com/office/drawing/2014/main" id="{775D0AA2-1D29-42B8-1725-509FEEC2BD6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5DD4E414-BCF9-CDCF-8F6B-9101A0485695}"/>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9D877388-2517-A1F8-2E33-73C97FF16D95}"/>
              </a:ext>
            </a:extLst>
          </p:cNvPr>
          <p:cNvSpPr>
            <a:spLocks noGrp="1"/>
          </p:cNvSpPr>
          <p:nvPr>
            <p:ph type="sldNum" sz="quarter" idx="12"/>
          </p:nvPr>
        </p:nvSpPr>
        <p:spPr/>
        <p:txBody>
          <a:bodyPr/>
          <a:lstStyle/>
          <a:p>
            <a:fld id="{271ECC92-9CDE-4EB3-B1C5-F46B9E1FA3C1}" type="slidenum">
              <a:rPr lang="en-US" noProof="0" smtClean="0"/>
              <a:t>16</a:t>
            </a:fld>
            <a:endParaRPr lang="en-US" noProof="0" dirty="0"/>
          </a:p>
        </p:txBody>
      </p:sp>
      <p:grpSp>
        <p:nvGrpSpPr>
          <p:cNvPr id="7" name="Group 6">
            <a:extLst>
              <a:ext uri="{FF2B5EF4-FFF2-40B4-BE49-F238E27FC236}">
                <a16:creationId xmlns:a16="http://schemas.microsoft.com/office/drawing/2014/main" id="{9DB51363-D305-37BA-5252-7F557A7B3263}"/>
              </a:ext>
            </a:extLst>
          </p:cNvPr>
          <p:cNvGrpSpPr/>
          <p:nvPr/>
        </p:nvGrpSpPr>
        <p:grpSpPr>
          <a:xfrm>
            <a:off x="2056539" y="2573945"/>
            <a:ext cx="8078921" cy="903701"/>
            <a:chOff x="3108960" y="4454434"/>
            <a:chExt cx="8078921" cy="903701"/>
          </a:xfrm>
        </p:grpSpPr>
        <p:sp>
          <p:nvSpPr>
            <p:cNvPr id="8" name="Rectangle: Rounded Corners 7">
              <a:extLst>
                <a:ext uri="{FF2B5EF4-FFF2-40B4-BE49-F238E27FC236}">
                  <a16:creationId xmlns:a16="http://schemas.microsoft.com/office/drawing/2014/main" id="{69CDCB1A-7BD9-5733-9730-EE65A7D96537}"/>
                </a:ext>
              </a:extLst>
            </p:cNvPr>
            <p:cNvSpPr/>
            <p:nvPr/>
          </p:nvSpPr>
          <p:spPr>
            <a:xfrm>
              <a:off x="3108960" y="4454434"/>
              <a:ext cx="8078921" cy="903701"/>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20000" rtlCol="0" anchor="ctr"/>
            <a:lstStyle/>
            <a:p>
              <a:r>
                <a:rPr lang="en-US" sz="2000" noProof="0" dirty="0">
                  <a:solidFill>
                    <a:schemeClr val="bg1"/>
                  </a:solidFill>
                </a:rPr>
                <a:t>A p-value is </a:t>
              </a:r>
              <a:r>
                <a:rPr lang="en-US" sz="2000" noProof="0" dirty="0"/>
                <a:t>the probability of observing data </a:t>
              </a:r>
              <a:r>
                <a:rPr lang="en-US" sz="2000" b="1" noProof="0" dirty="0"/>
                <a:t>at least as extreme as what you actually got</a:t>
              </a:r>
              <a:r>
                <a:rPr lang="en-US" sz="2000" noProof="0" dirty="0"/>
                <a:t>, </a:t>
              </a:r>
              <a:r>
                <a:rPr lang="en-US" sz="2000" i="1" noProof="0" dirty="0"/>
                <a:t>assuming the null hypothesis is true</a:t>
              </a:r>
              <a:r>
                <a:rPr lang="en-US" sz="2000" noProof="0" dirty="0"/>
                <a:t>.</a:t>
              </a:r>
              <a:endParaRPr lang="en-US" sz="2000" noProof="0" dirty="0">
                <a:solidFill>
                  <a:schemeClr val="bg1"/>
                </a:solidFill>
              </a:endParaRPr>
            </a:p>
          </p:txBody>
        </p:sp>
        <p:pic>
          <p:nvPicPr>
            <p:cNvPr id="9" name="Graphic 8" descr="Open quotation mark with solid fill">
              <a:extLst>
                <a:ext uri="{FF2B5EF4-FFF2-40B4-BE49-F238E27FC236}">
                  <a16:creationId xmlns:a16="http://schemas.microsoft.com/office/drawing/2014/main" id="{D642FF49-49D8-22D8-3282-C12D9661C05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09536" y="4546284"/>
              <a:ext cx="720000" cy="720000"/>
            </a:xfrm>
            <a:prstGeom prst="rect">
              <a:avLst/>
            </a:prstGeom>
          </p:spPr>
        </p:pic>
      </p:grpSp>
      <p:sp>
        <p:nvSpPr>
          <p:cNvPr id="10" name="Content Placeholder 2">
            <a:extLst>
              <a:ext uri="{FF2B5EF4-FFF2-40B4-BE49-F238E27FC236}">
                <a16:creationId xmlns:a16="http://schemas.microsoft.com/office/drawing/2014/main" id="{79E0819C-6750-7174-DAEE-E640340B4A13}"/>
              </a:ext>
            </a:extLst>
          </p:cNvPr>
          <p:cNvSpPr txBox="1">
            <a:spLocks/>
          </p:cNvSpPr>
          <p:nvPr/>
        </p:nvSpPr>
        <p:spPr>
          <a:xfrm>
            <a:off x="838200" y="3899759"/>
            <a:ext cx="10515600" cy="1893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i="1" noProof="0" dirty="0"/>
              <a:t>In other words:</a:t>
            </a:r>
            <a:r>
              <a:rPr lang="en-US" b="1" noProof="0" dirty="0"/>
              <a:t> </a:t>
            </a:r>
            <a:r>
              <a:rPr lang="en-US" noProof="0" dirty="0"/>
              <a:t>A null-hypothesis (describing “no effect”) receiving a p-value of 4% on observed data implies that – if that null-hypothesis were true and there is indeed no effect – there is a 4% chance we would observe the collected data.</a:t>
            </a:r>
          </a:p>
        </p:txBody>
      </p:sp>
    </p:spTree>
    <p:extLst>
      <p:ext uri="{BB962C8B-B14F-4D97-AF65-F5344CB8AC3E}">
        <p14:creationId xmlns:p14="http://schemas.microsoft.com/office/powerpoint/2010/main" val="5637864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7AFE1-F11D-7833-A637-E9226048DE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C8048-9672-9DFF-BBA4-63840B275CF4}"/>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A5B1A5AA-F0D1-2BB5-FD1C-1220CF0BD566}"/>
              </a:ext>
            </a:extLst>
          </p:cNvPr>
          <p:cNvSpPr>
            <a:spLocks noGrp="1"/>
          </p:cNvSpPr>
          <p:nvPr>
            <p:ph idx="1"/>
          </p:nvPr>
        </p:nvSpPr>
        <p:spPr>
          <a:xfrm>
            <a:off x="838200" y="1825625"/>
            <a:ext cx="10515600" cy="607824"/>
          </a:xfrm>
        </p:spPr>
        <p:txBody>
          <a:bodyPr/>
          <a:lstStyle/>
          <a:p>
            <a:pPr marL="0" indent="0">
              <a:buNone/>
            </a:pPr>
            <a:r>
              <a:rPr lang="en-US" noProof="0" dirty="0"/>
              <a:t>A p-value is a </a:t>
            </a:r>
            <a:r>
              <a:rPr lang="en-US" b="1" noProof="0" dirty="0"/>
              <a:t>not</a:t>
            </a:r>
            <a:r>
              <a:rPr lang="en-US" noProof="0" dirty="0"/>
              <a:t> statement about the formulated hypothesis.  </a:t>
            </a:r>
          </a:p>
        </p:txBody>
      </p:sp>
      <p:sp>
        <p:nvSpPr>
          <p:cNvPr id="4" name="Date Placeholder 3">
            <a:extLst>
              <a:ext uri="{FF2B5EF4-FFF2-40B4-BE49-F238E27FC236}">
                <a16:creationId xmlns:a16="http://schemas.microsoft.com/office/drawing/2014/main" id="{CF206C35-E420-DD1F-D2BB-9166621CC967}"/>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A41DE533-2D02-F19A-5FDB-429D7BA83D07}"/>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AB23A006-434C-1784-F251-DA17EBD3A2F2}"/>
              </a:ext>
            </a:extLst>
          </p:cNvPr>
          <p:cNvSpPr>
            <a:spLocks noGrp="1"/>
          </p:cNvSpPr>
          <p:nvPr>
            <p:ph type="sldNum" sz="quarter" idx="12"/>
          </p:nvPr>
        </p:nvSpPr>
        <p:spPr/>
        <p:txBody>
          <a:bodyPr/>
          <a:lstStyle/>
          <a:p>
            <a:fld id="{271ECC92-9CDE-4EB3-B1C5-F46B9E1FA3C1}" type="slidenum">
              <a:rPr lang="en-US" noProof="0" smtClean="0"/>
              <a:t>17</a:t>
            </a:fld>
            <a:endParaRPr lang="en-US" noProof="0" dirty="0"/>
          </a:p>
        </p:txBody>
      </p:sp>
      <p:grpSp>
        <p:nvGrpSpPr>
          <p:cNvPr id="7" name="Group 6">
            <a:extLst>
              <a:ext uri="{FF2B5EF4-FFF2-40B4-BE49-F238E27FC236}">
                <a16:creationId xmlns:a16="http://schemas.microsoft.com/office/drawing/2014/main" id="{E9CA851A-6F79-F76D-E52C-DBCD1C4BCAE4}"/>
              </a:ext>
            </a:extLst>
          </p:cNvPr>
          <p:cNvGrpSpPr/>
          <p:nvPr/>
        </p:nvGrpSpPr>
        <p:grpSpPr>
          <a:xfrm>
            <a:off x="2056539" y="2568284"/>
            <a:ext cx="8078921" cy="903701"/>
            <a:chOff x="3108960" y="4454434"/>
            <a:chExt cx="8078921" cy="903701"/>
          </a:xfrm>
        </p:grpSpPr>
        <p:sp>
          <p:nvSpPr>
            <p:cNvPr id="8" name="Rectangle: Rounded Corners 7">
              <a:extLst>
                <a:ext uri="{FF2B5EF4-FFF2-40B4-BE49-F238E27FC236}">
                  <a16:creationId xmlns:a16="http://schemas.microsoft.com/office/drawing/2014/main" id="{5BBE872A-1DA6-FC64-8244-5B7ABC53F0EC}"/>
                </a:ext>
              </a:extLst>
            </p:cNvPr>
            <p:cNvSpPr/>
            <p:nvPr/>
          </p:nvSpPr>
          <p:spPr>
            <a:xfrm>
              <a:off x="3108960" y="4454434"/>
              <a:ext cx="8078921" cy="903701"/>
            </a:xfrm>
            <a:prstGeom prst="roundRect">
              <a:avLst/>
            </a:prstGeom>
            <a:solidFill>
              <a:srgbClr val="C0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20000" rtlCol="0" anchor="ctr"/>
            <a:lstStyle/>
            <a:p>
              <a:r>
                <a:rPr lang="en-US" sz="2000" noProof="0" dirty="0">
                  <a:solidFill>
                    <a:schemeClr val="bg1"/>
                  </a:solidFill>
                </a:rPr>
                <a:t>A p-value is</a:t>
              </a:r>
              <a:r>
                <a:rPr lang="en-US" sz="2000" b="1" noProof="0" dirty="0">
                  <a:solidFill>
                    <a:schemeClr val="bg1"/>
                  </a:solidFill>
                </a:rPr>
                <a:t> not </a:t>
              </a:r>
              <a:r>
                <a:rPr lang="en-US" sz="2000" noProof="0" dirty="0"/>
                <a:t>the probability that the null hypothesis is correct, given what they observed.</a:t>
              </a:r>
              <a:endParaRPr lang="en-US" sz="2000" noProof="0" dirty="0">
                <a:solidFill>
                  <a:schemeClr val="bg1"/>
                </a:solidFill>
              </a:endParaRPr>
            </a:p>
          </p:txBody>
        </p:sp>
        <p:pic>
          <p:nvPicPr>
            <p:cNvPr id="9" name="Graphic 8" descr="Open quotation mark with solid fill">
              <a:extLst>
                <a:ext uri="{FF2B5EF4-FFF2-40B4-BE49-F238E27FC236}">
                  <a16:creationId xmlns:a16="http://schemas.microsoft.com/office/drawing/2014/main" id="{BF85F609-F705-1AC9-D34C-EDDB6CA6DEA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0800000">
              <a:off x="3109536" y="4546284"/>
              <a:ext cx="720000" cy="720000"/>
            </a:xfrm>
            <a:prstGeom prst="rect">
              <a:avLst/>
            </a:prstGeom>
          </p:spPr>
        </p:pic>
      </p:grpSp>
      <p:sp>
        <p:nvSpPr>
          <p:cNvPr id="10" name="Content Placeholder 2">
            <a:extLst>
              <a:ext uri="{FF2B5EF4-FFF2-40B4-BE49-F238E27FC236}">
                <a16:creationId xmlns:a16="http://schemas.microsoft.com/office/drawing/2014/main" id="{28BB8CD6-E990-C2C9-DD2D-F9B70688C624}"/>
              </a:ext>
            </a:extLst>
          </p:cNvPr>
          <p:cNvSpPr txBox="1">
            <a:spLocks/>
          </p:cNvSpPr>
          <p:nvPr/>
        </p:nvSpPr>
        <p:spPr>
          <a:xfrm>
            <a:off x="838200" y="3762896"/>
            <a:ext cx="10515600" cy="18939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However, this is usually the question of interest: how likely is there no/an effect of one variable on another? </a:t>
            </a:r>
            <a:r>
              <a:rPr lang="en-US" b="1" noProof="0" dirty="0"/>
              <a:t>NHSTs do not answer this question.</a:t>
            </a:r>
          </a:p>
        </p:txBody>
      </p:sp>
    </p:spTree>
    <p:extLst>
      <p:ext uri="{BB962C8B-B14F-4D97-AF65-F5344CB8AC3E}">
        <p14:creationId xmlns:p14="http://schemas.microsoft.com/office/powerpoint/2010/main" val="34217948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32553-30C1-8B93-01AF-9662FD7A8622}"/>
              </a:ext>
            </a:extLst>
          </p:cNvPr>
          <p:cNvSpPr>
            <a:spLocks noGrp="1"/>
          </p:cNvSpPr>
          <p:nvPr>
            <p:ph type="title"/>
          </p:nvPr>
        </p:nvSpPr>
        <p:spPr/>
        <p:txBody>
          <a:bodyPr/>
          <a:lstStyle/>
          <a:p>
            <a:r>
              <a:rPr lang="en-US" noProof="0" dirty="0"/>
              <a:t>Null-Hypothesis Significance Tests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BC1F8FB-CAC1-1F89-EB2D-C2E3F527446F}"/>
                  </a:ext>
                </a:extLst>
              </p:cNvPr>
              <p:cNvSpPr>
                <a:spLocks noGrp="1"/>
              </p:cNvSpPr>
              <p:nvPr>
                <p:ph idx="1"/>
              </p:nvPr>
            </p:nvSpPr>
            <p:spPr>
              <a:xfrm>
                <a:off x="838200" y="1825624"/>
                <a:ext cx="10515600" cy="2177965"/>
              </a:xfrm>
            </p:spPr>
            <p:txBody>
              <a:bodyPr/>
              <a:lstStyle/>
              <a:p>
                <a:pPr marL="0" indent="0">
                  <a:buNone/>
                </a:pPr>
                <a:r>
                  <a:rPr lang="en-US" noProof="0" dirty="0"/>
                  <a:t>To make a decision based on an NHST, the resulting p-value is compared with a significance level </a:t>
                </a:r>
                <a14:m>
                  <m:oMath xmlns:m="http://schemas.openxmlformats.org/officeDocument/2006/math">
                    <m:r>
                      <a:rPr lang="en-US" b="0" i="1" noProof="0" smtClean="0">
                        <a:latin typeface="Cambria Math" panose="02040503050406030204" pitchFamily="18" charset="0"/>
                      </a:rPr>
                      <m:t>𝛼</m:t>
                    </m:r>
                  </m:oMath>
                </a14:m>
                <a:r>
                  <a:rPr lang="en-US" noProof="0" dirty="0"/>
                  <a:t>:</a:t>
                </a:r>
              </a:p>
              <a:p>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&lt;</m:t>
                    </m:r>
                    <m:r>
                      <a:rPr lang="en-US" b="0" i="1" noProof="0" smtClean="0">
                        <a:latin typeface="Cambria Math" panose="02040503050406030204" pitchFamily="18" charset="0"/>
                      </a:rPr>
                      <m:t>𝛼</m:t>
                    </m:r>
                  </m:oMath>
                </a14:m>
                <a:r>
                  <a:rPr lang="en-US" noProof="0" dirty="0"/>
                  <a:t> represents a </a:t>
                </a:r>
                <a:r>
                  <a:rPr lang="en-US" i="1" noProof="0" dirty="0"/>
                  <a:t>statistically significant</a:t>
                </a:r>
                <a:r>
                  <a:rPr lang="en-US" noProof="0" dirty="0"/>
                  <a:t> result</a:t>
                </a:r>
              </a:p>
              <a:p>
                <a14:m>
                  <m:oMath xmlns:m="http://schemas.openxmlformats.org/officeDocument/2006/math">
                    <m:r>
                      <a:rPr lang="en-US" b="0" i="1" noProof="0" smtClean="0">
                        <a:latin typeface="Cambria Math" panose="02040503050406030204" pitchFamily="18" charset="0"/>
                      </a:rPr>
                      <m:t>𝑝</m:t>
                    </m:r>
                    <m:r>
                      <a:rPr lang="en-US" b="0" i="1" noProof="0" smtClean="0">
                        <a:latin typeface="Cambria Math" panose="02040503050406030204" pitchFamily="18" charset="0"/>
                      </a:rPr>
                      <m:t>≥</m:t>
                    </m:r>
                    <m:r>
                      <a:rPr lang="en-US" b="0" i="1" noProof="0" smtClean="0">
                        <a:latin typeface="Cambria Math" panose="02040503050406030204" pitchFamily="18" charset="0"/>
                      </a:rPr>
                      <m:t>𝛼</m:t>
                    </m:r>
                  </m:oMath>
                </a14:m>
                <a:r>
                  <a:rPr lang="en-US" noProof="0" dirty="0"/>
                  <a:t> represents </a:t>
                </a:r>
                <a:r>
                  <a:rPr lang="en-US" i="1" noProof="0" dirty="0"/>
                  <a:t>no </a:t>
                </a:r>
                <a:r>
                  <a:rPr lang="en-US" noProof="0" dirty="0"/>
                  <a:t>statistically significant result</a:t>
                </a:r>
              </a:p>
            </p:txBody>
          </p:sp>
        </mc:Choice>
        <mc:Fallback xmlns="">
          <p:sp>
            <p:nvSpPr>
              <p:cNvPr id="3" name="Content Placeholder 2">
                <a:extLst>
                  <a:ext uri="{FF2B5EF4-FFF2-40B4-BE49-F238E27FC236}">
                    <a16:creationId xmlns:a16="http://schemas.microsoft.com/office/drawing/2014/main" id="{DBC1F8FB-CAC1-1F89-EB2D-C2E3F527446F}"/>
                  </a:ext>
                </a:extLst>
              </p:cNvPr>
              <p:cNvSpPr>
                <a:spLocks noGrp="1" noRot="1" noChangeAspect="1" noMove="1" noResize="1" noEditPoints="1" noAdjustHandles="1" noChangeArrowheads="1" noChangeShapeType="1" noTextEdit="1"/>
              </p:cNvSpPr>
              <p:nvPr>
                <p:ph idx="1"/>
              </p:nvPr>
            </p:nvSpPr>
            <p:spPr>
              <a:xfrm>
                <a:off x="838200" y="1825624"/>
                <a:ext cx="10515600" cy="2177965"/>
              </a:xfrm>
              <a:blipFill>
                <a:blip r:embed="rId2"/>
                <a:stretch>
                  <a:fillRect l="-1217" t="-474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841F60D9-32C5-7993-ECFC-6B33ABE8A195}"/>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A64D5F1E-77CF-9637-D092-272BC912A88B}"/>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89F84418-E541-373D-6927-3242F6CB51D6}"/>
              </a:ext>
            </a:extLst>
          </p:cNvPr>
          <p:cNvSpPr>
            <a:spLocks noGrp="1"/>
          </p:cNvSpPr>
          <p:nvPr>
            <p:ph type="sldNum" sz="quarter" idx="12"/>
          </p:nvPr>
        </p:nvSpPr>
        <p:spPr/>
        <p:txBody>
          <a:bodyPr/>
          <a:lstStyle/>
          <a:p>
            <a:fld id="{271ECC92-9CDE-4EB3-B1C5-F46B9E1FA3C1}" type="slidenum">
              <a:rPr lang="en-US" noProof="0" smtClean="0"/>
              <a:t>18</a:t>
            </a:fld>
            <a:endParaRPr lang="en-US" noProof="0" dirty="0"/>
          </a:p>
        </p:txBody>
      </p:sp>
      <p:sp>
        <p:nvSpPr>
          <p:cNvPr id="7" name="Content Placeholder 2">
            <a:extLst>
              <a:ext uri="{FF2B5EF4-FFF2-40B4-BE49-F238E27FC236}">
                <a16:creationId xmlns:a16="http://schemas.microsoft.com/office/drawing/2014/main" id="{2DD2335A-E435-5E00-EDC6-5250B0A10B2B}"/>
              </a:ext>
            </a:extLst>
          </p:cNvPr>
          <p:cNvSpPr txBox="1">
            <a:spLocks/>
          </p:cNvSpPr>
          <p:nvPr/>
        </p:nvSpPr>
        <p:spPr>
          <a:xfrm>
            <a:off x="838198" y="4003589"/>
            <a:ext cx="10515600" cy="21779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Statistically significant results imply that two distributions are </a:t>
            </a:r>
            <a:r>
              <a:rPr lang="en-US" b="1" noProof="0" dirty="0"/>
              <a:t>statistically unlikely </a:t>
            </a:r>
            <a:r>
              <a:rPr lang="en-US" noProof="0" dirty="0"/>
              <a:t>to have come from the same population.</a:t>
            </a:r>
          </a:p>
        </p:txBody>
      </p:sp>
    </p:spTree>
    <p:extLst>
      <p:ext uri="{BB962C8B-B14F-4D97-AF65-F5344CB8AC3E}">
        <p14:creationId xmlns:p14="http://schemas.microsoft.com/office/powerpoint/2010/main" val="689315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51279-F247-118E-658A-D8CF0B5DF015}"/>
              </a:ext>
            </a:extLst>
          </p:cNvPr>
          <p:cNvSpPr>
            <a:spLocks noGrp="1"/>
          </p:cNvSpPr>
          <p:nvPr>
            <p:ph type="title"/>
          </p:nvPr>
        </p:nvSpPr>
        <p:spPr/>
        <p:txBody>
          <a:bodyPr/>
          <a:lstStyle/>
          <a:p>
            <a:r>
              <a:rPr lang="en-SE" dirty="0"/>
              <a:t>Origin of the NHST</a:t>
            </a:r>
          </a:p>
        </p:txBody>
      </p:sp>
      <p:sp>
        <p:nvSpPr>
          <p:cNvPr id="3" name="Content Placeholder 2">
            <a:extLst>
              <a:ext uri="{FF2B5EF4-FFF2-40B4-BE49-F238E27FC236}">
                <a16:creationId xmlns:a16="http://schemas.microsoft.com/office/drawing/2014/main" id="{E172D0D0-1267-D69B-A157-1ED160EAAEBC}"/>
              </a:ext>
            </a:extLst>
          </p:cNvPr>
          <p:cNvSpPr>
            <a:spLocks noGrp="1"/>
          </p:cNvSpPr>
          <p:nvPr>
            <p:ph idx="1"/>
          </p:nvPr>
        </p:nvSpPr>
        <p:spPr>
          <a:xfrm>
            <a:off x="838200" y="1825625"/>
            <a:ext cx="10515600" cy="1031875"/>
          </a:xfrm>
        </p:spPr>
        <p:txBody>
          <a:bodyPr/>
          <a:lstStyle/>
          <a:p>
            <a:pPr marL="0" indent="0">
              <a:buNone/>
            </a:pPr>
            <a:r>
              <a:rPr lang="en-SE" dirty="0"/>
              <a:t>The Null-Hypothesis Significance Test is actually an improper hybrid of two separate techniques:</a:t>
            </a:r>
          </a:p>
        </p:txBody>
      </p:sp>
      <p:sp>
        <p:nvSpPr>
          <p:cNvPr id="4" name="Date Placeholder 3">
            <a:extLst>
              <a:ext uri="{FF2B5EF4-FFF2-40B4-BE49-F238E27FC236}">
                <a16:creationId xmlns:a16="http://schemas.microsoft.com/office/drawing/2014/main" id="{2A51A9E0-16E2-ED48-94FF-CAEBF2E1F635}"/>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13A08F06-ED11-9387-3DAB-B03735DF2FE1}"/>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4C4C2B19-1095-24AC-A7C6-3070FD58AAFD}"/>
              </a:ext>
            </a:extLst>
          </p:cNvPr>
          <p:cNvSpPr>
            <a:spLocks noGrp="1"/>
          </p:cNvSpPr>
          <p:nvPr>
            <p:ph type="sldNum" sz="quarter" idx="12"/>
          </p:nvPr>
        </p:nvSpPr>
        <p:spPr/>
        <p:txBody>
          <a:bodyPr/>
          <a:lstStyle/>
          <a:p>
            <a:fld id="{271ECC92-9CDE-4EB3-B1C5-F46B9E1FA3C1}" type="slidenum">
              <a:rPr lang="en-SE" smtClean="0"/>
              <a:t>19</a:t>
            </a:fld>
            <a:endParaRPr lang="en-SE"/>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CA2A34B-E850-8213-257E-CAE0E70B381B}"/>
                  </a:ext>
                </a:extLst>
              </p:cNvPr>
              <p:cNvSpPr txBox="1"/>
              <p:nvPr/>
            </p:nvSpPr>
            <p:spPr>
              <a:xfrm>
                <a:off x="838198" y="3158213"/>
                <a:ext cx="5156202" cy="2031325"/>
              </a:xfrm>
              <a:prstGeom prst="rect">
                <a:avLst/>
              </a:prstGeom>
              <a:noFill/>
            </p:spPr>
            <p:txBody>
              <a:bodyPr wrap="square" rtlCol="0">
                <a:spAutoFit/>
              </a:bodyPr>
              <a:lstStyle/>
              <a:p>
                <a:r>
                  <a:rPr lang="en-SE" b="1" dirty="0"/>
                  <a:t>Significance Tests </a:t>
                </a:r>
                <a:r>
                  <a:rPr lang="en-SE" dirty="0"/>
                  <a:t>(by R. A. Fischer)</a:t>
                </a:r>
              </a:p>
              <a:p>
                <a:pPr marL="285750" indent="-285750">
                  <a:buFont typeface="Arial" panose="020B0604020202020204" pitchFamily="34" charset="0"/>
                  <a:buChar char="•"/>
                </a:pPr>
                <a:r>
                  <a:rPr lang="en-SE" dirty="0"/>
                  <a:t>Tests a single null hypothesis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h</m:t>
                        </m:r>
                      </m:e>
                      <m:sub>
                        <m:r>
                          <a:rPr lang="en-SE" b="0" i="1" smtClean="0">
                            <a:latin typeface="Cambria Math" panose="02040503050406030204" pitchFamily="18" charset="0"/>
                          </a:rPr>
                          <m:t>0</m:t>
                        </m:r>
                      </m:sub>
                    </m:sSub>
                  </m:oMath>
                </a14:m>
                <a:r>
                  <a:rPr lang="en-SE" dirty="0"/>
                  <a:t> against no alternative</a:t>
                </a:r>
              </a:p>
              <a:p>
                <a:pPr marL="285750" indent="-285750">
                  <a:buFont typeface="Arial" panose="020B0604020202020204" pitchFamily="34" charset="0"/>
                  <a:buChar char="•"/>
                </a:pPr>
                <a:r>
                  <a:rPr lang="en-SE" dirty="0"/>
                  <a:t>Produces a p-value</a:t>
                </a:r>
              </a:p>
              <a:p>
                <a:pPr marL="285750" indent="-285750">
                  <a:buFont typeface="Arial" panose="020B0604020202020204" pitchFamily="34" charset="0"/>
                  <a:buChar char="•"/>
                </a:pPr>
                <a:r>
                  <a:rPr lang="en-SE" dirty="0"/>
                  <a:t>Aims to quantify evidence </a:t>
                </a:r>
                <a:r>
                  <a:rPr lang="en-SE" i="1" dirty="0"/>
                  <a:t>against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h</m:t>
                        </m:r>
                      </m:e>
                      <m:sub>
                        <m:r>
                          <a:rPr lang="en-SE" b="0" i="1" smtClean="0">
                            <a:latin typeface="Cambria Math" panose="02040503050406030204" pitchFamily="18" charset="0"/>
                          </a:rPr>
                          <m:t>0</m:t>
                        </m:r>
                      </m:sub>
                    </m:sSub>
                  </m:oMath>
                </a14:m>
                <a:endParaRPr lang="en-SE" dirty="0"/>
              </a:p>
              <a:p>
                <a:pPr marL="285750" indent="-285750">
                  <a:buFont typeface="Arial" panose="020B0604020202020204" pitchFamily="34" charset="0"/>
                  <a:buChar char="•"/>
                </a:pPr>
                <a:r>
                  <a:rPr lang="en-SE" dirty="0"/>
                  <a:t>There is no fixed decision threshold (p-values are treated continuously)</a:t>
                </a:r>
              </a:p>
            </p:txBody>
          </p:sp>
        </mc:Choice>
        <mc:Fallback xmlns="">
          <p:sp>
            <p:nvSpPr>
              <p:cNvPr id="7" name="TextBox 6">
                <a:extLst>
                  <a:ext uri="{FF2B5EF4-FFF2-40B4-BE49-F238E27FC236}">
                    <a16:creationId xmlns:a16="http://schemas.microsoft.com/office/drawing/2014/main" id="{ECA2A34B-E850-8213-257E-CAE0E70B381B}"/>
                  </a:ext>
                </a:extLst>
              </p:cNvPr>
              <p:cNvSpPr txBox="1">
                <a:spLocks noRot="1" noChangeAspect="1" noMove="1" noResize="1" noEditPoints="1" noAdjustHandles="1" noChangeArrowheads="1" noChangeShapeType="1" noTextEdit="1"/>
              </p:cNvSpPr>
              <p:nvPr/>
            </p:nvSpPr>
            <p:spPr>
              <a:xfrm>
                <a:off x="838198" y="3158213"/>
                <a:ext cx="5156202" cy="2031325"/>
              </a:xfrm>
              <a:prstGeom prst="rect">
                <a:avLst/>
              </a:prstGeom>
              <a:blipFill>
                <a:blip r:embed="rId2"/>
                <a:stretch>
                  <a:fillRect l="-946" t="-1201" b="-420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A45B8B-C8FD-79A0-3FEA-5DF93BB03385}"/>
                  </a:ext>
                </a:extLst>
              </p:cNvPr>
              <p:cNvSpPr txBox="1"/>
              <p:nvPr/>
            </p:nvSpPr>
            <p:spPr>
              <a:xfrm>
                <a:off x="6096000" y="3158213"/>
                <a:ext cx="5156202" cy="2031325"/>
              </a:xfrm>
              <a:prstGeom prst="rect">
                <a:avLst/>
              </a:prstGeom>
              <a:noFill/>
            </p:spPr>
            <p:txBody>
              <a:bodyPr wrap="square" rtlCol="0">
                <a:spAutoFit/>
              </a:bodyPr>
              <a:lstStyle/>
              <a:p>
                <a:r>
                  <a:rPr lang="en-SE" b="1" dirty="0"/>
                  <a:t>Hypothesis Test </a:t>
                </a:r>
                <a:r>
                  <a:rPr lang="en-SE" dirty="0"/>
                  <a:t>(by Neyman and Pearson)</a:t>
                </a:r>
              </a:p>
              <a:p>
                <a:pPr marL="285750" indent="-285750">
                  <a:buFont typeface="Arial" panose="020B0604020202020204" pitchFamily="34" charset="0"/>
                  <a:buChar char="•"/>
                </a:pPr>
                <a:r>
                  <a:rPr lang="en-SE" dirty="0"/>
                  <a:t>Tests null hypothesis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oMath>
                </a14:m>
                <a:r>
                  <a:rPr lang="en-SE" dirty="0"/>
                  <a:t> against an alternative hypothesis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b="0" i="1" smtClean="0">
                            <a:latin typeface="Cambria Math" panose="02040503050406030204" pitchFamily="18" charset="0"/>
                          </a:rPr>
                          <m:t>1</m:t>
                        </m:r>
                      </m:sub>
                    </m:sSub>
                  </m:oMath>
                </a14:m>
                <a:endParaRPr lang="en-SE" dirty="0"/>
              </a:p>
              <a:p>
                <a:pPr marL="285750" indent="-285750">
                  <a:buFont typeface="Arial" panose="020B0604020202020204" pitchFamily="34" charset="0"/>
                  <a:buChar char="•"/>
                </a:pPr>
                <a:r>
                  <a:rPr lang="en-SE" dirty="0"/>
                  <a:t>Defines a decision rule in advance to reject </a:t>
                </a:r>
                <a14:m>
                  <m:oMath xmlns:m="http://schemas.openxmlformats.org/officeDocument/2006/math">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oMath>
                </a14:m>
                <a:r>
                  <a:rPr lang="en-SE" dirty="0"/>
                  <a:t> based on a significance level </a:t>
                </a:r>
                <a14:m>
                  <m:oMath xmlns:m="http://schemas.openxmlformats.org/officeDocument/2006/math">
                    <m:r>
                      <a:rPr lang="en-SE" b="0" i="1" smtClean="0">
                        <a:latin typeface="Cambria Math" panose="02040503050406030204" pitchFamily="18" charset="0"/>
                      </a:rPr>
                      <m:t>𝛼</m:t>
                    </m:r>
                  </m:oMath>
                </a14:m>
                <a:r>
                  <a:rPr lang="en-SE" dirty="0"/>
                  <a:t> and a power </a:t>
                </a:r>
                <a14:m>
                  <m:oMath xmlns:m="http://schemas.openxmlformats.org/officeDocument/2006/math">
                    <m:r>
                      <a:rPr lang="en-SE" b="0" i="1" smtClean="0">
                        <a:latin typeface="Cambria Math" panose="02040503050406030204" pitchFamily="18" charset="0"/>
                      </a:rPr>
                      <m:t>𝛽</m:t>
                    </m:r>
                  </m:oMath>
                </a14:m>
                <a:endParaRPr lang="en-SE" dirty="0"/>
              </a:p>
              <a:p>
                <a:pPr marL="285750" indent="-285750">
                  <a:buFont typeface="Arial" panose="020B0604020202020204" pitchFamily="34" charset="0"/>
                  <a:buChar char="•"/>
                </a:pPr>
                <a:r>
                  <a:rPr lang="en-SE" dirty="0"/>
                  <a:t>Aims to control errors in the long run across repeated decisions </a:t>
                </a:r>
              </a:p>
            </p:txBody>
          </p:sp>
        </mc:Choice>
        <mc:Fallback xmlns="">
          <p:sp>
            <p:nvSpPr>
              <p:cNvPr id="9" name="TextBox 8">
                <a:extLst>
                  <a:ext uri="{FF2B5EF4-FFF2-40B4-BE49-F238E27FC236}">
                    <a16:creationId xmlns:a16="http://schemas.microsoft.com/office/drawing/2014/main" id="{ABA45B8B-C8FD-79A0-3FEA-5DF93BB03385}"/>
                  </a:ext>
                </a:extLst>
              </p:cNvPr>
              <p:cNvSpPr txBox="1">
                <a:spLocks noRot="1" noChangeAspect="1" noMove="1" noResize="1" noEditPoints="1" noAdjustHandles="1" noChangeArrowheads="1" noChangeShapeType="1" noTextEdit="1"/>
              </p:cNvSpPr>
              <p:nvPr/>
            </p:nvSpPr>
            <p:spPr>
              <a:xfrm>
                <a:off x="6096000" y="3158213"/>
                <a:ext cx="5156202" cy="2031325"/>
              </a:xfrm>
              <a:prstGeom prst="rect">
                <a:avLst/>
              </a:prstGeom>
              <a:blipFill>
                <a:blip r:embed="rId3"/>
                <a:stretch>
                  <a:fillRect l="-946" t="-1201" b="-4204"/>
                </a:stretch>
              </a:blipFill>
            </p:spPr>
            <p:txBody>
              <a:bodyPr/>
              <a:lstStyle/>
              <a:p>
                <a:r>
                  <a:rPr lang="en-SE">
                    <a:noFill/>
                  </a:rPr>
                  <a:t> </a:t>
                </a:r>
              </a:p>
            </p:txBody>
          </p:sp>
        </mc:Fallback>
      </mc:AlternateContent>
    </p:spTree>
    <p:extLst>
      <p:ext uri="{BB962C8B-B14F-4D97-AF65-F5344CB8AC3E}">
        <p14:creationId xmlns:p14="http://schemas.microsoft.com/office/powerpoint/2010/main" val="23957628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C2EAB-C576-7018-B715-B522ECDFD9B6}"/>
              </a:ext>
            </a:extLst>
          </p:cNvPr>
          <p:cNvSpPr>
            <a:spLocks noGrp="1"/>
          </p:cNvSpPr>
          <p:nvPr>
            <p:ph type="title"/>
          </p:nvPr>
        </p:nvSpPr>
        <p:spPr/>
        <p:txBody>
          <a:bodyPr/>
          <a:lstStyle/>
          <a:p>
            <a:r>
              <a:rPr lang="en-SE" dirty="0"/>
              <a:t>Confidence Intervals</a:t>
            </a:r>
          </a:p>
        </p:txBody>
      </p:sp>
      <p:sp>
        <p:nvSpPr>
          <p:cNvPr id="3" name="Content Placeholder 2">
            <a:extLst>
              <a:ext uri="{FF2B5EF4-FFF2-40B4-BE49-F238E27FC236}">
                <a16:creationId xmlns:a16="http://schemas.microsoft.com/office/drawing/2014/main" id="{FA4F287A-C9EC-0217-1DE1-7A8B25CEC2B8}"/>
              </a:ext>
            </a:extLst>
          </p:cNvPr>
          <p:cNvSpPr>
            <a:spLocks noGrp="1"/>
          </p:cNvSpPr>
          <p:nvPr>
            <p:ph idx="1"/>
          </p:nvPr>
        </p:nvSpPr>
        <p:spPr/>
        <p:txBody>
          <a:bodyPr/>
          <a:lstStyle/>
          <a:p>
            <a:pPr marL="0" indent="0">
              <a:buNone/>
            </a:pPr>
            <a:r>
              <a:rPr lang="en-SE" dirty="0"/>
              <a:t>Interpretation: even more unnatural</a:t>
            </a:r>
          </a:p>
        </p:txBody>
      </p:sp>
      <p:sp>
        <p:nvSpPr>
          <p:cNvPr id="4" name="Date Placeholder 3">
            <a:extLst>
              <a:ext uri="{FF2B5EF4-FFF2-40B4-BE49-F238E27FC236}">
                <a16:creationId xmlns:a16="http://schemas.microsoft.com/office/drawing/2014/main" id="{7D704F57-2F8D-4B46-A8AB-69DD2C99D2A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C34F820-B886-CEFD-17F7-896CD823D415}"/>
              </a:ext>
            </a:extLst>
          </p:cNvPr>
          <p:cNvSpPr>
            <a:spLocks noGrp="1"/>
          </p:cNvSpPr>
          <p:nvPr>
            <p:ph type="sldNum" sz="quarter" idx="12"/>
          </p:nvPr>
        </p:nvSpPr>
        <p:spPr/>
        <p:txBody>
          <a:bodyPr/>
          <a:lstStyle/>
          <a:p>
            <a:fld id="{271ECC92-9CDE-4EB3-B1C5-F46B9E1FA3C1}" type="slidenum">
              <a:rPr lang="en-SE" smtClean="0"/>
              <a:t>20</a:t>
            </a:fld>
            <a:endParaRPr lang="en-SE"/>
          </a:p>
        </p:txBody>
      </p:sp>
      <p:sp>
        <p:nvSpPr>
          <p:cNvPr id="6" name="Footer Placeholder 5">
            <a:extLst>
              <a:ext uri="{FF2B5EF4-FFF2-40B4-BE49-F238E27FC236}">
                <a16:creationId xmlns:a16="http://schemas.microsoft.com/office/drawing/2014/main" id="{8155B5F7-0023-0242-A4BE-DBA1F02D04EB}"/>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813246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074D-788A-11AE-5209-D113768C74D9}"/>
              </a:ext>
            </a:extLst>
          </p:cNvPr>
          <p:cNvSpPr>
            <a:spLocks noGrp="1"/>
          </p:cNvSpPr>
          <p:nvPr>
            <p:ph type="title"/>
          </p:nvPr>
        </p:nvSpPr>
        <p:spPr/>
        <p:txBody>
          <a:bodyPr/>
          <a:lstStyle/>
          <a:p>
            <a:r>
              <a:rPr lang="en-US" noProof="0" dirty="0"/>
              <a:t>Null-Hypothesis Significance Tests</a:t>
            </a:r>
          </a:p>
        </p:txBody>
      </p:sp>
      <p:sp>
        <p:nvSpPr>
          <p:cNvPr id="3" name="Content Placeholder 2">
            <a:extLst>
              <a:ext uri="{FF2B5EF4-FFF2-40B4-BE49-F238E27FC236}">
                <a16:creationId xmlns:a16="http://schemas.microsoft.com/office/drawing/2014/main" id="{1EF6E790-1F2A-DA3C-D43A-4014B5386A7C}"/>
              </a:ext>
            </a:extLst>
          </p:cNvPr>
          <p:cNvSpPr>
            <a:spLocks noGrp="1"/>
          </p:cNvSpPr>
          <p:nvPr>
            <p:ph idx="1"/>
          </p:nvPr>
        </p:nvSpPr>
        <p:spPr>
          <a:xfrm>
            <a:off x="838200" y="1825625"/>
            <a:ext cx="10515600" cy="707510"/>
          </a:xfrm>
        </p:spPr>
        <p:txBody>
          <a:bodyPr/>
          <a:lstStyle/>
          <a:p>
            <a:pPr marL="0" indent="0">
              <a:buNone/>
            </a:pPr>
            <a:r>
              <a:rPr lang="en-US" noProof="0" dirty="0"/>
              <a:t>Analyzing data using only NHSTs has several issues:</a:t>
            </a:r>
          </a:p>
        </p:txBody>
      </p:sp>
      <p:sp>
        <p:nvSpPr>
          <p:cNvPr id="4" name="Date Placeholder 3">
            <a:extLst>
              <a:ext uri="{FF2B5EF4-FFF2-40B4-BE49-F238E27FC236}">
                <a16:creationId xmlns:a16="http://schemas.microsoft.com/office/drawing/2014/main" id="{E49521C9-3453-F504-4DEF-955A156B78CE}"/>
              </a:ext>
            </a:extLst>
          </p:cNvPr>
          <p:cNvSpPr>
            <a:spLocks noGrp="1"/>
          </p:cNvSpPr>
          <p:nvPr>
            <p:ph type="dt" sz="half" idx="10"/>
          </p:nvPr>
        </p:nvSpPr>
        <p:spPr/>
        <p:txBody>
          <a:bodyPr/>
          <a:lstStyle/>
          <a:p>
            <a:r>
              <a:rPr lang="en-SE" noProof="0"/>
              <a:t>2026-08-17</a:t>
            </a:r>
            <a:endParaRPr lang="en-US" noProof="0" dirty="0"/>
          </a:p>
        </p:txBody>
      </p:sp>
      <p:sp>
        <p:nvSpPr>
          <p:cNvPr id="5" name="Footer Placeholder 4">
            <a:extLst>
              <a:ext uri="{FF2B5EF4-FFF2-40B4-BE49-F238E27FC236}">
                <a16:creationId xmlns:a16="http://schemas.microsoft.com/office/drawing/2014/main" id="{1733C060-4693-0DC5-D6DD-0E4E6980F40A}"/>
              </a:ext>
            </a:extLst>
          </p:cNvPr>
          <p:cNvSpPr>
            <a:spLocks noGrp="1"/>
          </p:cNvSpPr>
          <p:nvPr>
            <p:ph type="ftr" sz="quarter" idx="11"/>
          </p:nvPr>
        </p:nvSpPr>
        <p:spPr/>
        <p:txBody>
          <a:bodyPr/>
          <a:lstStyle/>
          <a:p>
            <a:r>
              <a:rPr lang="en-US" noProof="0"/>
              <a:t>Bayesian Data Analysis Tutorial</a:t>
            </a:r>
            <a:endParaRPr lang="en-US" noProof="0" dirty="0"/>
          </a:p>
        </p:txBody>
      </p:sp>
      <p:sp>
        <p:nvSpPr>
          <p:cNvPr id="6" name="Slide Number Placeholder 5">
            <a:extLst>
              <a:ext uri="{FF2B5EF4-FFF2-40B4-BE49-F238E27FC236}">
                <a16:creationId xmlns:a16="http://schemas.microsoft.com/office/drawing/2014/main" id="{00043433-7682-FEDC-A0E8-6889BC9340B1}"/>
              </a:ext>
            </a:extLst>
          </p:cNvPr>
          <p:cNvSpPr>
            <a:spLocks noGrp="1"/>
          </p:cNvSpPr>
          <p:nvPr>
            <p:ph type="sldNum" sz="quarter" idx="12"/>
          </p:nvPr>
        </p:nvSpPr>
        <p:spPr/>
        <p:txBody>
          <a:bodyPr/>
          <a:lstStyle/>
          <a:p>
            <a:fld id="{271ECC92-9CDE-4EB3-B1C5-F46B9E1FA3C1}" type="slidenum">
              <a:rPr lang="en-US" noProof="0" smtClean="0"/>
              <a:t>21</a:t>
            </a:fld>
            <a:endParaRPr lang="en-US" noProof="0" dirty="0"/>
          </a:p>
        </p:txBody>
      </p:sp>
      <p:grpSp>
        <p:nvGrpSpPr>
          <p:cNvPr id="7" name="Group 6">
            <a:extLst>
              <a:ext uri="{FF2B5EF4-FFF2-40B4-BE49-F238E27FC236}">
                <a16:creationId xmlns:a16="http://schemas.microsoft.com/office/drawing/2014/main" id="{B3547F4A-C973-120E-5CC3-541264B39361}"/>
              </a:ext>
            </a:extLst>
          </p:cNvPr>
          <p:cNvGrpSpPr/>
          <p:nvPr/>
        </p:nvGrpSpPr>
        <p:grpSpPr>
          <a:xfrm>
            <a:off x="955244" y="2922370"/>
            <a:ext cx="2403652" cy="2348074"/>
            <a:chOff x="4894174" y="3429000"/>
            <a:chExt cx="2403652" cy="2348074"/>
          </a:xfrm>
        </p:grpSpPr>
        <p:grpSp>
          <p:nvGrpSpPr>
            <p:cNvPr id="8" name="Group 7">
              <a:extLst>
                <a:ext uri="{FF2B5EF4-FFF2-40B4-BE49-F238E27FC236}">
                  <a16:creationId xmlns:a16="http://schemas.microsoft.com/office/drawing/2014/main" id="{52880667-FAC8-0E79-3FDB-23D597F6A11B}"/>
                </a:ext>
              </a:extLst>
            </p:cNvPr>
            <p:cNvGrpSpPr/>
            <p:nvPr/>
          </p:nvGrpSpPr>
          <p:grpSpPr>
            <a:xfrm>
              <a:off x="5556000" y="3429000"/>
              <a:ext cx="1080000" cy="1080000"/>
              <a:chOff x="3313786" y="3686861"/>
              <a:chExt cx="1080000" cy="1080000"/>
            </a:xfrm>
          </p:grpSpPr>
          <p:sp>
            <p:nvSpPr>
              <p:cNvPr id="10" name="Oval 9">
                <a:extLst>
                  <a:ext uri="{FF2B5EF4-FFF2-40B4-BE49-F238E27FC236}">
                    <a16:creationId xmlns:a16="http://schemas.microsoft.com/office/drawing/2014/main" id="{8CCF56FA-2920-C687-DA5B-617920F36039}"/>
                  </a:ext>
                </a:extLst>
              </p:cNvPr>
              <p:cNvSpPr/>
              <p:nvPr/>
            </p:nvSpPr>
            <p:spPr>
              <a:xfrm>
                <a:off x="3313786" y="3686861"/>
                <a:ext cx="1080000" cy="1080000"/>
              </a:xfrm>
              <a:prstGeom prst="ellipse">
                <a:avLst/>
              </a:prstGeom>
              <a:solidFill>
                <a:schemeClr val="accent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1" name="Graphic 10" descr="Flying Money with solid fill">
                <a:extLst>
                  <a:ext uri="{FF2B5EF4-FFF2-40B4-BE49-F238E27FC236}">
                    <a16:creationId xmlns:a16="http://schemas.microsoft.com/office/drawing/2014/main" id="{32E9DB73-AE27-F4B0-5CF0-6C8B31E22AA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96586" y="3769661"/>
                <a:ext cx="914400" cy="914400"/>
              </a:xfrm>
              <a:prstGeom prst="rect">
                <a:avLst/>
              </a:prstGeom>
            </p:spPr>
          </p:pic>
        </p:grpSp>
        <p:sp>
          <p:nvSpPr>
            <p:cNvPr id="9" name="TextBox 8">
              <a:extLst>
                <a:ext uri="{FF2B5EF4-FFF2-40B4-BE49-F238E27FC236}">
                  <a16:creationId xmlns:a16="http://schemas.microsoft.com/office/drawing/2014/main" id="{FA3358EE-5CA2-53AF-A525-390D339A8994}"/>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Binary</a:t>
              </a:r>
            </a:p>
            <a:p>
              <a:pPr algn="ctr"/>
              <a:r>
                <a:rPr lang="en-US" sz="1600" noProof="0" dirty="0"/>
                <a:t>NHSTs reduce complex data to binary, seemingly certain results</a:t>
              </a:r>
            </a:p>
          </p:txBody>
        </p:sp>
      </p:grpSp>
      <p:grpSp>
        <p:nvGrpSpPr>
          <p:cNvPr id="12" name="Group 11">
            <a:extLst>
              <a:ext uri="{FF2B5EF4-FFF2-40B4-BE49-F238E27FC236}">
                <a16:creationId xmlns:a16="http://schemas.microsoft.com/office/drawing/2014/main" id="{D00BB230-55AB-56D7-D5F7-54B489048C1F}"/>
              </a:ext>
            </a:extLst>
          </p:cNvPr>
          <p:cNvGrpSpPr/>
          <p:nvPr/>
        </p:nvGrpSpPr>
        <p:grpSpPr>
          <a:xfrm>
            <a:off x="3492902" y="2922370"/>
            <a:ext cx="2403652" cy="2348074"/>
            <a:chOff x="4894174" y="3429000"/>
            <a:chExt cx="2403652" cy="2348074"/>
          </a:xfrm>
        </p:grpSpPr>
        <p:grpSp>
          <p:nvGrpSpPr>
            <p:cNvPr id="13" name="Group 12">
              <a:extLst>
                <a:ext uri="{FF2B5EF4-FFF2-40B4-BE49-F238E27FC236}">
                  <a16:creationId xmlns:a16="http://schemas.microsoft.com/office/drawing/2014/main" id="{BF0DCEBD-1D66-4187-2804-3FB53B657B15}"/>
                </a:ext>
              </a:extLst>
            </p:cNvPr>
            <p:cNvGrpSpPr/>
            <p:nvPr/>
          </p:nvGrpSpPr>
          <p:grpSpPr>
            <a:xfrm>
              <a:off x="5556000" y="3429000"/>
              <a:ext cx="1080000" cy="1080000"/>
              <a:chOff x="3313786" y="3686861"/>
              <a:chExt cx="1080000" cy="1080000"/>
            </a:xfrm>
          </p:grpSpPr>
          <p:sp>
            <p:nvSpPr>
              <p:cNvPr id="15" name="Oval 14">
                <a:extLst>
                  <a:ext uri="{FF2B5EF4-FFF2-40B4-BE49-F238E27FC236}">
                    <a16:creationId xmlns:a16="http://schemas.microsoft.com/office/drawing/2014/main" id="{CD7543E5-CAB0-81DE-A603-2BA51A2622E0}"/>
                  </a:ext>
                </a:extLst>
              </p:cNvPr>
              <p:cNvSpPr/>
              <p:nvPr/>
            </p:nvSpPr>
            <p:spPr>
              <a:xfrm>
                <a:off x="3313786" y="3686861"/>
                <a:ext cx="1080000" cy="1080000"/>
              </a:xfrm>
              <a:prstGeom prst="ellipse">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6" name="Graphic 15" descr="Forest scene with solid fill">
                <a:extLst>
                  <a:ext uri="{FF2B5EF4-FFF2-40B4-BE49-F238E27FC236}">
                    <a16:creationId xmlns:a16="http://schemas.microsoft.com/office/drawing/2014/main" id="{EFA39AE7-7FC7-B483-B527-20D6B8212C3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96586" y="3769661"/>
                <a:ext cx="914400" cy="914400"/>
              </a:xfrm>
              <a:prstGeom prst="rect">
                <a:avLst/>
              </a:prstGeom>
            </p:spPr>
          </p:pic>
        </p:grpSp>
        <p:sp>
          <p:nvSpPr>
            <p:cNvPr id="14" name="TextBox 13">
              <a:extLst>
                <a:ext uri="{FF2B5EF4-FFF2-40B4-BE49-F238E27FC236}">
                  <a16:creationId xmlns:a16="http://schemas.microsoft.com/office/drawing/2014/main" id="{40241AB0-5511-DCCE-394A-35E108837DE5}"/>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Normal</a:t>
              </a:r>
            </a:p>
            <a:p>
              <a:pPr algn="ctr"/>
              <a:r>
                <a:rPr lang="en-US" sz="1600" noProof="0" dirty="0"/>
                <a:t>NHSTs distinguish only normal from non-normal data</a:t>
              </a:r>
            </a:p>
          </p:txBody>
        </p:sp>
      </p:grpSp>
      <p:grpSp>
        <p:nvGrpSpPr>
          <p:cNvPr id="17" name="Group 16">
            <a:extLst>
              <a:ext uri="{FF2B5EF4-FFF2-40B4-BE49-F238E27FC236}">
                <a16:creationId xmlns:a16="http://schemas.microsoft.com/office/drawing/2014/main" id="{1B17E48D-5070-A206-C0CA-D0B7E8B9EAC7}"/>
              </a:ext>
            </a:extLst>
          </p:cNvPr>
          <p:cNvGrpSpPr/>
          <p:nvPr/>
        </p:nvGrpSpPr>
        <p:grpSpPr>
          <a:xfrm>
            <a:off x="6030560" y="2922370"/>
            <a:ext cx="2403652" cy="2101852"/>
            <a:chOff x="4894174" y="3429000"/>
            <a:chExt cx="2403652" cy="2101852"/>
          </a:xfrm>
        </p:grpSpPr>
        <p:grpSp>
          <p:nvGrpSpPr>
            <p:cNvPr id="18" name="Group 17">
              <a:extLst>
                <a:ext uri="{FF2B5EF4-FFF2-40B4-BE49-F238E27FC236}">
                  <a16:creationId xmlns:a16="http://schemas.microsoft.com/office/drawing/2014/main" id="{B8630516-7C27-457D-2009-5C7D6AE48C0B}"/>
                </a:ext>
              </a:extLst>
            </p:cNvPr>
            <p:cNvGrpSpPr/>
            <p:nvPr/>
          </p:nvGrpSpPr>
          <p:grpSpPr>
            <a:xfrm>
              <a:off x="5556000" y="3429000"/>
              <a:ext cx="1080000" cy="1080000"/>
              <a:chOff x="3313786" y="3686861"/>
              <a:chExt cx="1080000" cy="1080000"/>
            </a:xfrm>
          </p:grpSpPr>
          <p:sp>
            <p:nvSpPr>
              <p:cNvPr id="20" name="Oval 19">
                <a:extLst>
                  <a:ext uri="{FF2B5EF4-FFF2-40B4-BE49-F238E27FC236}">
                    <a16:creationId xmlns:a16="http://schemas.microsoft.com/office/drawing/2014/main" id="{4D36847A-0DF9-7120-8006-47C00EE89031}"/>
                  </a:ext>
                </a:extLst>
              </p:cNvPr>
              <p:cNvSpPr/>
              <p:nvPr/>
            </p:nvSpPr>
            <p:spPr>
              <a:xfrm>
                <a:off x="3313786" y="3686861"/>
                <a:ext cx="1080000" cy="1080000"/>
              </a:xfrm>
              <a:prstGeom prst="ellipse">
                <a:avLst/>
              </a:prstGeom>
              <a:solidFill>
                <a:schemeClr val="accent1">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1" name="Graphic 20" descr="Right Brain with solid fill">
                <a:extLst>
                  <a:ext uri="{FF2B5EF4-FFF2-40B4-BE49-F238E27FC236}">
                    <a16:creationId xmlns:a16="http://schemas.microsoft.com/office/drawing/2014/main" id="{770848BA-F466-B5B3-8DF8-D35C570C805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396586" y="3769661"/>
                <a:ext cx="914400" cy="914400"/>
              </a:xfrm>
              <a:prstGeom prst="rect">
                <a:avLst/>
              </a:prstGeom>
            </p:spPr>
          </p:pic>
        </p:grpSp>
        <p:sp>
          <p:nvSpPr>
            <p:cNvPr id="19" name="TextBox 18">
              <a:extLst>
                <a:ext uri="{FF2B5EF4-FFF2-40B4-BE49-F238E27FC236}">
                  <a16:creationId xmlns:a16="http://schemas.microsoft.com/office/drawing/2014/main" id="{928CE341-A53E-78F6-7146-C80E2FBF9348}"/>
                </a:ext>
              </a:extLst>
            </p:cNvPr>
            <p:cNvSpPr txBox="1"/>
            <p:nvPr/>
          </p:nvSpPr>
          <p:spPr>
            <a:xfrm>
              <a:off x="4894174" y="4669078"/>
              <a:ext cx="2403652" cy="861774"/>
            </a:xfrm>
            <a:prstGeom prst="rect">
              <a:avLst/>
            </a:prstGeom>
            <a:noFill/>
          </p:spPr>
          <p:txBody>
            <a:bodyPr wrap="square" rtlCol="0">
              <a:spAutoFit/>
            </a:bodyPr>
            <a:lstStyle/>
            <a:p>
              <a:pPr algn="ctr"/>
              <a:r>
                <a:rPr lang="en-US" b="1" noProof="0" dirty="0"/>
                <a:t>Interpretability</a:t>
              </a:r>
            </a:p>
            <a:p>
              <a:pPr algn="ctr"/>
              <a:r>
                <a:rPr lang="en-US" sz="1600" noProof="0" dirty="0"/>
                <a:t>The p-value is often misinterpreted</a:t>
              </a:r>
            </a:p>
          </p:txBody>
        </p:sp>
      </p:grpSp>
      <p:grpSp>
        <p:nvGrpSpPr>
          <p:cNvPr id="22" name="Group 21">
            <a:extLst>
              <a:ext uri="{FF2B5EF4-FFF2-40B4-BE49-F238E27FC236}">
                <a16:creationId xmlns:a16="http://schemas.microsoft.com/office/drawing/2014/main" id="{C8972C38-66FE-8381-EDC7-CA07D1397655}"/>
              </a:ext>
            </a:extLst>
          </p:cNvPr>
          <p:cNvGrpSpPr/>
          <p:nvPr/>
        </p:nvGrpSpPr>
        <p:grpSpPr>
          <a:xfrm>
            <a:off x="8568218" y="2922370"/>
            <a:ext cx="2403652" cy="2348074"/>
            <a:chOff x="4894174" y="3429000"/>
            <a:chExt cx="2403652" cy="2348074"/>
          </a:xfrm>
        </p:grpSpPr>
        <p:grpSp>
          <p:nvGrpSpPr>
            <p:cNvPr id="23" name="Group 22">
              <a:extLst>
                <a:ext uri="{FF2B5EF4-FFF2-40B4-BE49-F238E27FC236}">
                  <a16:creationId xmlns:a16="http://schemas.microsoft.com/office/drawing/2014/main" id="{2D5038C8-1F56-BEF5-DE33-A8D8FD785380}"/>
                </a:ext>
              </a:extLst>
            </p:cNvPr>
            <p:cNvGrpSpPr/>
            <p:nvPr/>
          </p:nvGrpSpPr>
          <p:grpSpPr>
            <a:xfrm>
              <a:off x="5556000" y="3429000"/>
              <a:ext cx="1080000" cy="1080000"/>
              <a:chOff x="3313786" y="3686861"/>
              <a:chExt cx="1080000" cy="1080000"/>
            </a:xfrm>
          </p:grpSpPr>
          <p:sp>
            <p:nvSpPr>
              <p:cNvPr id="25" name="Oval 24">
                <a:extLst>
                  <a:ext uri="{FF2B5EF4-FFF2-40B4-BE49-F238E27FC236}">
                    <a16:creationId xmlns:a16="http://schemas.microsoft.com/office/drawing/2014/main" id="{CF88B521-1567-DA41-9A0F-3334ED78113E}"/>
                  </a:ext>
                </a:extLst>
              </p:cNvPr>
              <p:cNvSpPr/>
              <p:nvPr/>
            </p:nvSpPr>
            <p:spPr>
              <a:xfrm>
                <a:off x="3313786" y="3686861"/>
                <a:ext cx="1080000" cy="1080000"/>
              </a:xfrm>
              <a:prstGeom prst="ellipse">
                <a:avLst/>
              </a:prstGeom>
              <a:solidFill>
                <a:schemeClr val="accent1">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6" name="Graphic 25" descr="Bar chart with solid fill">
                <a:extLst>
                  <a:ext uri="{FF2B5EF4-FFF2-40B4-BE49-F238E27FC236}">
                    <a16:creationId xmlns:a16="http://schemas.microsoft.com/office/drawing/2014/main" id="{939228E3-1635-8390-62E1-7FB106A5B7F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396586" y="3769661"/>
                <a:ext cx="914400" cy="914400"/>
              </a:xfrm>
              <a:prstGeom prst="rect">
                <a:avLst/>
              </a:prstGeom>
            </p:spPr>
          </p:pic>
        </p:gr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A6034A0-BF97-FC9C-25D9-7454EEB81C0D}"/>
                    </a:ext>
                  </a:extLst>
                </p:cNvPr>
                <p:cNvSpPr txBox="1"/>
                <p:nvPr/>
              </p:nvSpPr>
              <p:spPr>
                <a:xfrm>
                  <a:off x="4894174" y="4669078"/>
                  <a:ext cx="2403652" cy="1107996"/>
                </a:xfrm>
                <a:prstGeom prst="rect">
                  <a:avLst/>
                </a:prstGeom>
                <a:noFill/>
              </p:spPr>
              <p:txBody>
                <a:bodyPr wrap="square" rtlCol="0">
                  <a:spAutoFit/>
                </a:bodyPr>
                <a:lstStyle/>
                <a:p>
                  <a:pPr algn="ctr"/>
                  <a:r>
                    <a:rPr lang="en-US" b="1" noProof="0" dirty="0"/>
                    <a:t>Arbitrary</a:t>
                  </a:r>
                </a:p>
                <a:p>
                  <a:pPr algn="ctr"/>
                  <a:r>
                    <a:rPr lang="en-US" sz="1600" noProof="0" dirty="0"/>
                    <a:t>There is nothing special about the significance level </a:t>
                  </a:r>
                  <a14:m>
                    <m:oMath xmlns:m="http://schemas.openxmlformats.org/officeDocument/2006/math">
                      <m:r>
                        <a:rPr lang="en-US" sz="1600" b="0" i="1" noProof="0" smtClean="0">
                          <a:latin typeface="Cambria Math" panose="02040503050406030204" pitchFamily="18" charset="0"/>
                        </a:rPr>
                        <m:t>𝛼</m:t>
                      </m:r>
                      <m:r>
                        <a:rPr lang="en-US" sz="1600" b="0" i="1" noProof="0" smtClean="0">
                          <a:latin typeface="Cambria Math" panose="02040503050406030204" pitchFamily="18" charset="0"/>
                        </a:rPr>
                        <m:t>=5%</m:t>
                      </m:r>
                    </m:oMath>
                  </a14:m>
                  <a:endParaRPr lang="en-US" sz="1600" noProof="0" dirty="0"/>
                </a:p>
              </p:txBody>
            </p:sp>
          </mc:Choice>
          <mc:Fallback xmlns="">
            <p:sp>
              <p:nvSpPr>
                <p:cNvPr id="24" name="TextBox 23">
                  <a:extLst>
                    <a:ext uri="{FF2B5EF4-FFF2-40B4-BE49-F238E27FC236}">
                      <a16:creationId xmlns:a16="http://schemas.microsoft.com/office/drawing/2014/main" id="{2A6034A0-BF97-FC9C-25D9-7454EEB81C0D}"/>
                    </a:ext>
                  </a:extLst>
                </p:cNvPr>
                <p:cNvSpPr txBox="1">
                  <a:spLocks noRot="1" noChangeAspect="1" noMove="1" noResize="1" noEditPoints="1" noAdjustHandles="1" noChangeArrowheads="1" noChangeShapeType="1" noTextEdit="1"/>
                </p:cNvSpPr>
                <p:nvPr/>
              </p:nvSpPr>
              <p:spPr>
                <a:xfrm>
                  <a:off x="4894174" y="4669078"/>
                  <a:ext cx="2403652" cy="1107996"/>
                </a:xfrm>
                <a:prstGeom prst="rect">
                  <a:avLst/>
                </a:prstGeom>
                <a:blipFill>
                  <a:blip r:embed="rId6"/>
                  <a:stretch>
                    <a:fillRect t="-2747" b="-6044"/>
                  </a:stretch>
                </a:blipFill>
              </p:spPr>
              <p:txBody>
                <a:bodyPr/>
                <a:lstStyle/>
                <a:p>
                  <a:r>
                    <a:rPr lang="en-SE">
                      <a:noFill/>
                    </a:rPr>
                    <a:t> </a:t>
                  </a:r>
                </a:p>
              </p:txBody>
            </p:sp>
          </mc:Fallback>
        </mc:AlternateContent>
      </p:grpSp>
    </p:spTree>
    <p:extLst>
      <p:ext uri="{BB962C8B-B14F-4D97-AF65-F5344CB8AC3E}">
        <p14:creationId xmlns:p14="http://schemas.microsoft.com/office/powerpoint/2010/main" val="5798650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5D6EA02-FA7F-0B21-3F0C-A63AD8309AA3}"/>
              </a:ext>
            </a:extLst>
          </p:cNvPr>
          <p:cNvSpPr>
            <a:spLocks noGrp="1"/>
          </p:cNvSpPr>
          <p:nvPr>
            <p:ph type="title"/>
          </p:nvPr>
        </p:nvSpPr>
        <p:spPr/>
        <p:txBody>
          <a:bodyPr/>
          <a:lstStyle/>
          <a:p>
            <a:r>
              <a:rPr lang="en-US" noProof="0" dirty="0"/>
              <a:t>The Bayesian Paradigm</a:t>
            </a:r>
          </a:p>
        </p:txBody>
      </p:sp>
      <p:sp>
        <p:nvSpPr>
          <p:cNvPr id="7" name="Text Placeholder 6">
            <a:extLst>
              <a:ext uri="{FF2B5EF4-FFF2-40B4-BE49-F238E27FC236}">
                <a16:creationId xmlns:a16="http://schemas.microsoft.com/office/drawing/2014/main" id="{3AC3EA37-D7D0-2274-48DD-A9364DF80A25}"/>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883BBCE-FA0F-1071-4848-F8195279C0CD}"/>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3546F33-75E1-43C7-3840-0A6F389428C0}"/>
              </a:ext>
            </a:extLst>
          </p:cNvPr>
          <p:cNvSpPr>
            <a:spLocks noGrp="1"/>
          </p:cNvSpPr>
          <p:nvPr>
            <p:ph type="sldNum" sz="quarter" idx="12"/>
          </p:nvPr>
        </p:nvSpPr>
        <p:spPr/>
        <p:txBody>
          <a:bodyPr/>
          <a:lstStyle/>
          <a:p>
            <a:fld id="{271ECC92-9CDE-4EB3-B1C5-F46B9E1FA3C1}" type="slidenum">
              <a:rPr lang="en-US" noProof="0" smtClean="0"/>
              <a:t>22</a:t>
            </a:fld>
            <a:endParaRPr lang="en-US" noProof="0" dirty="0"/>
          </a:p>
        </p:txBody>
      </p:sp>
      <p:sp>
        <p:nvSpPr>
          <p:cNvPr id="2" name="Footer Placeholder 1">
            <a:extLst>
              <a:ext uri="{FF2B5EF4-FFF2-40B4-BE49-F238E27FC236}">
                <a16:creationId xmlns:a16="http://schemas.microsoft.com/office/drawing/2014/main" id="{7825D41C-54A4-8F8D-3CA8-D2EB934EC97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351654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C69AD-5471-08C9-8D54-AD5E5E9F07EC}"/>
              </a:ext>
            </a:extLst>
          </p:cNvPr>
          <p:cNvSpPr>
            <a:spLocks noGrp="1"/>
          </p:cNvSpPr>
          <p:nvPr>
            <p:ph type="title"/>
          </p:nvPr>
        </p:nvSpPr>
        <p:spPr/>
        <p:txBody>
          <a:bodyPr/>
          <a:lstStyle/>
          <a:p>
            <a:r>
              <a:rPr lang="en-SE" dirty="0"/>
              <a:t>Paradigm of Probability</a:t>
            </a:r>
          </a:p>
        </p:txBody>
      </p:sp>
      <p:sp>
        <p:nvSpPr>
          <p:cNvPr id="3" name="Content Placeholder 2">
            <a:extLst>
              <a:ext uri="{FF2B5EF4-FFF2-40B4-BE49-F238E27FC236}">
                <a16:creationId xmlns:a16="http://schemas.microsoft.com/office/drawing/2014/main" id="{5E4F23DB-DC6B-A6A8-186B-715F63D4E288}"/>
              </a:ext>
            </a:extLst>
          </p:cNvPr>
          <p:cNvSpPr>
            <a:spLocks noGrp="1"/>
          </p:cNvSpPr>
          <p:nvPr>
            <p:ph idx="1"/>
          </p:nvPr>
        </p:nvSpPr>
        <p:spPr>
          <a:xfrm>
            <a:off x="838200" y="1825625"/>
            <a:ext cx="10515600" cy="1022975"/>
          </a:xfrm>
        </p:spPr>
        <p:txBody>
          <a:bodyPr/>
          <a:lstStyle/>
          <a:p>
            <a:pPr marL="0" indent="0">
              <a:buNone/>
            </a:pPr>
            <a:r>
              <a:rPr lang="en-US" dirty="0"/>
              <a:t>Next to the </a:t>
            </a:r>
            <a:r>
              <a:rPr lang="en-US" b="1" dirty="0"/>
              <a:t>frequentist </a:t>
            </a:r>
            <a:r>
              <a:rPr lang="en-US" dirty="0"/>
              <a:t>paradigm, the </a:t>
            </a:r>
            <a:r>
              <a:rPr lang="en-US" b="1" dirty="0"/>
              <a:t>Bayesian </a:t>
            </a:r>
            <a:r>
              <a:rPr lang="en-US" dirty="0"/>
              <a:t>paradigm of statistics assigns a different meaning to </a:t>
            </a:r>
            <a:r>
              <a:rPr lang="en-US" i="1" dirty="0"/>
              <a:t>probability</a:t>
            </a:r>
            <a:r>
              <a:rPr lang="en-US" dirty="0"/>
              <a:t>:</a:t>
            </a:r>
          </a:p>
        </p:txBody>
      </p:sp>
      <p:sp>
        <p:nvSpPr>
          <p:cNvPr id="4" name="Date Placeholder 3">
            <a:extLst>
              <a:ext uri="{FF2B5EF4-FFF2-40B4-BE49-F238E27FC236}">
                <a16:creationId xmlns:a16="http://schemas.microsoft.com/office/drawing/2014/main" id="{B6DE6AC4-96F0-079E-C4F3-3D1B68C09821}"/>
              </a:ext>
            </a:extLst>
          </p:cNvPr>
          <p:cNvSpPr>
            <a:spLocks noGrp="1"/>
          </p:cNvSpPr>
          <p:nvPr>
            <p:ph type="dt" sz="half" idx="10"/>
          </p:nvPr>
        </p:nvSpPr>
        <p:spPr/>
        <p:txBody>
          <a:bodyPr/>
          <a:lstStyle/>
          <a:p>
            <a:r>
              <a:rPr lang="en-SE"/>
              <a:t>2026-08-17</a:t>
            </a:r>
          </a:p>
        </p:txBody>
      </p:sp>
      <p:sp>
        <p:nvSpPr>
          <p:cNvPr id="6" name="Slide Number Placeholder 5">
            <a:extLst>
              <a:ext uri="{FF2B5EF4-FFF2-40B4-BE49-F238E27FC236}">
                <a16:creationId xmlns:a16="http://schemas.microsoft.com/office/drawing/2014/main" id="{5ECC4C87-F9F9-0CB9-741A-5C4F5091FEFF}"/>
              </a:ext>
            </a:extLst>
          </p:cNvPr>
          <p:cNvSpPr>
            <a:spLocks noGrp="1"/>
          </p:cNvSpPr>
          <p:nvPr>
            <p:ph type="sldNum" sz="quarter" idx="12"/>
          </p:nvPr>
        </p:nvSpPr>
        <p:spPr/>
        <p:txBody>
          <a:bodyPr/>
          <a:lstStyle/>
          <a:p>
            <a:fld id="{271ECC92-9CDE-4EB3-B1C5-F46B9E1FA3C1}" type="slidenum">
              <a:rPr lang="en-SE" smtClean="0"/>
              <a:t>23</a:t>
            </a:fld>
            <a:endParaRPr lang="en-SE"/>
          </a:p>
        </p:txBody>
      </p:sp>
      <p:grpSp>
        <p:nvGrpSpPr>
          <p:cNvPr id="24" name="Group 23">
            <a:extLst>
              <a:ext uri="{FF2B5EF4-FFF2-40B4-BE49-F238E27FC236}">
                <a16:creationId xmlns:a16="http://schemas.microsoft.com/office/drawing/2014/main" id="{E228000E-7B28-EA53-403C-017BFC9651BA}"/>
              </a:ext>
            </a:extLst>
          </p:cNvPr>
          <p:cNvGrpSpPr/>
          <p:nvPr/>
        </p:nvGrpSpPr>
        <p:grpSpPr>
          <a:xfrm>
            <a:off x="939800" y="2812563"/>
            <a:ext cx="4762500" cy="2514600"/>
            <a:chOff x="939800" y="3429000"/>
            <a:chExt cx="4762500" cy="2514600"/>
          </a:xfrm>
        </p:grpSpPr>
        <p:sp>
          <p:nvSpPr>
            <p:cNvPr id="7" name="Rectangle: Rounded Corners 6">
              <a:extLst>
                <a:ext uri="{FF2B5EF4-FFF2-40B4-BE49-F238E27FC236}">
                  <a16:creationId xmlns:a16="http://schemas.microsoft.com/office/drawing/2014/main" id="{6715050D-E2AE-ED7C-8ABE-69838F62B174}"/>
                </a:ext>
              </a:extLst>
            </p:cNvPr>
            <p:cNvSpPr/>
            <p:nvPr/>
          </p:nvSpPr>
          <p:spPr>
            <a:xfrm>
              <a:off x="939800" y="3429000"/>
              <a:ext cx="4762500" cy="2514600"/>
            </a:xfrm>
            <a:prstGeom prst="roundRect">
              <a:avLst/>
            </a:prstGeom>
            <a:solidFill>
              <a:schemeClr val="accent4">
                <a:lumMod val="20000"/>
                <a:lumOff val="8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8" name="TextBox 7">
              <a:extLst>
                <a:ext uri="{FF2B5EF4-FFF2-40B4-BE49-F238E27FC236}">
                  <a16:creationId xmlns:a16="http://schemas.microsoft.com/office/drawing/2014/main" id="{56B757EF-A316-F03B-754B-56E0BFB2CBFB}"/>
                </a:ext>
              </a:extLst>
            </p:cNvPr>
            <p:cNvSpPr txBox="1"/>
            <p:nvPr/>
          </p:nvSpPr>
          <p:spPr>
            <a:xfrm>
              <a:off x="1632927" y="3561853"/>
              <a:ext cx="3376245" cy="461665"/>
            </a:xfrm>
            <a:prstGeom prst="rect">
              <a:avLst/>
            </a:prstGeom>
            <a:noFill/>
          </p:spPr>
          <p:txBody>
            <a:bodyPr wrap="none" rtlCol="0">
              <a:spAutoFit/>
            </a:bodyPr>
            <a:lstStyle/>
            <a:p>
              <a:r>
                <a:rPr lang="en-SE" sz="2400" b="1" dirty="0"/>
                <a:t>Frequentist Probability</a:t>
              </a:r>
            </a:p>
          </p:txBody>
        </p:sp>
        <p:pic>
          <p:nvPicPr>
            <p:cNvPr id="12" name="Graphic 11" descr="Bar chart with solid fill">
              <a:extLst>
                <a:ext uri="{FF2B5EF4-FFF2-40B4-BE49-F238E27FC236}">
                  <a16:creationId xmlns:a16="http://schemas.microsoft.com/office/drawing/2014/main" id="{CC309B4F-E915-82C2-393E-EF95F8F6A5A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6427" y="3522685"/>
              <a:ext cx="540000" cy="540000"/>
            </a:xfrm>
            <a:prstGeom prst="rect">
              <a:avLst/>
            </a:prstGeom>
          </p:spPr>
        </p:pic>
        <p:sp>
          <p:nvSpPr>
            <p:cNvPr id="15" name="TextBox 14">
              <a:extLst>
                <a:ext uri="{FF2B5EF4-FFF2-40B4-BE49-F238E27FC236}">
                  <a16:creationId xmlns:a16="http://schemas.microsoft.com/office/drawing/2014/main" id="{E26B780C-28E9-9509-D7AD-D7A7FC2635E5}"/>
                </a:ext>
              </a:extLst>
            </p:cNvPr>
            <p:cNvSpPr txBox="1"/>
            <p:nvPr/>
          </p:nvSpPr>
          <p:spPr>
            <a:xfrm>
              <a:off x="1156427" y="4146718"/>
              <a:ext cx="4368073" cy="1631216"/>
            </a:xfrm>
            <a:prstGeom prst="rect">
              <a:avLst/>
            </a:prstGeom>
            <a:noFill/>
          </p:spPr>
          <p:txBody>
            <a:bodyPr wrap="square">
              <a:spAutoFit/>
            </a:bodyPr>
            <a:lstStyle/>
            <a:p>
              <a:r>
                <a:rPr lang="en-SE" sz="2000" noProof="0" dirty="0"/>
                <a:t>T</a:t>
              </a:r>
              <a:r>
                <a:rPr lang="en-US" sz="2000" noProof="0" dirty="0"/>
                <a:t>he proportion of times it would occur if you repeated the experiment an infinite number of times under identical conditions</a:t>
              </a:r>
              <a:r>
                <a:rPr lang="en-SE" sz="2000" noProof="0" dirty="0"/>
                <a:t>.</a:t>
              </a:r>
            </a:p>
            <a:p>
              <a:r>
                <a:rPr lang="en-SE" sz="2000" dirty="0"/>
                <a:t>→ Probability applies to </a:t>
              </a:r>
              <a:r>
                <a:rPr lang="en-SE" sz="2000" b="1" dirty="0"/>
                <a:t>events</a:t>
              </a:r>
              <a:endParaRPr lang="en-SE" sz="2000" dirty="0"/>
            </a:p>
          </p:txBody>
        </p:sp>
      </p:grpSp>
      <p:grpSp>
        <p:nvGrpSpPr>
          <p:cNvPr id="25" name="Group 24">
            <a:extLst>
              <a:ext uri="{FF2B5EF4-FFF2-40B4-BE49-F238E27FC236}">
                <a16:creationId xmlns:a16="http://schemas.microsoft.com/office/drawing/2014/main" id="{422803A3-D87D-7137-1A12-3FE45075CEC0}"/>
              </a:ext>
            </a:extLst>
          </p:cNvPr>
          <p:cNvGrpSpPr/>
          <p:nvPr/>
        </p:nvGrpSpPr>
        <p:grpSpPr>
          <a:xfrm>
            <a:off x="6489700" y="2848600"/>
            <a:ext cx="4762500" cy="2806700"/>
            <a:chOff x="6489702" y="3429000"/>
            <a:chExt cx="4762500" cy="2806700"/>
          </a:xfrm>
        </p:grpSpPr>
        <p:sp>
          <p:nvSpPr>
            <p:cNvPr id="17" name="Rectangle: Rounded Corners 16">
              <a:extLst>
                <a:ext uri="{FF2B5EF4-FFF2-40B4-BE49-F238E27FC236}">
                  <a16:creationId xmlns:a16="http://schemas.microsoft.com/office/drawing/2014/main" id="{CB6C2CF3-C9C0-2D73-1EFE-7CCE7AD72708}"/>
                </a:ext>
              </a:extLst>
            </p:cNvPr>
            <p:cNvSpPr/>
            <p:nvPr/>
          </p:nvSpPr>
          <p:spPr>
            <a:xfrm>
              <a:off x="6489702" y="3429000"/>
              <a:ext cx="4762500" cy="2806700"/>
            </a:xfrm>
            <a:prstGeom prst="roundRect">
              <a:avLst/>
            </a:prstGeom>
            <a:solidFill>
              <a:schemeClr val="accent4">
                <a:lumMod val="20000"/>
                <a:lumOff val="80000"/>
              </a:schemeClr>
            </a:solid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9" name="TextBox 18">
              <a:extLst>
                <a:ext uri="{FF2B5EF4-FFF2-40B4-BE49-F238E27FC236}">
                  <a16:creationId xmlns:a16="http://schemas.microsoft.com/office/drawing/2014/main" id="{7E26E147-77C9-A336-CC0F-1FD386695E90}"/>
                </a:ext>
              </a:extLst>
            </p:cNvPr>
            <p:cNvSpPr txBox="1"/>
            <p:nvPr/>
          </p:nvSpPr>
          <p:spPr>
            <a:xfrm>
              <a:off x="7182829" y="3561853"/>
              <a:ext cx="3033907" cy="461665"/>
            </a:xfrm>
            <a:prstGeom prst="rect">
              <a:avLst/>
            </a:prstGeom>
            <a:noFill/>
          </p:spPr>
          <p:txBody>
            <a:bodyPr wrap="none" rtlCol="0">
              <a:spAutoFit/>
            </a:bodyPr>
            <a:lstStyle/>
            <a:p>
              <a:r>
                <a:rPr lang="en-SE" sz="2400" b="1" dirty="0"/>
                <a:t>Bayesian Probability</a:t>
              </a:r>
            </a:p>
          </p:txBody>
        </p:sp>
        <p:pic>
          <p:nvPicPr>
            <p:cNvPr id="21" name="Graphic 20">
              <a:extLst>
                <a:ext uri="{FF2B5EF4-FFF2-40B4-BE49-F238E27FC236}">
                  <a16:creationId xmlns:a16="http://schemas.microsoft.com/office/drawing/2014/main" id="{D02DDCF6-E06A-55B3-19D4-05210BC2EA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706329" y="3522685"/>
              <a:ext cx="540000" cy="540000"/>
            </a:xfrm>
            <a:prstGeom prst="rect">
              <a:avLst/>
            </a:prstGeom>
          </p:spPr>
        </p:pic>
        <p:sp>
          <p:nvSpPr>
            <p:cNvPr id="23" name="TextBox 22">
              <a:extLst>
                <a:ext uri="{FF2B5EF4-FFF2-40B4-BE49-F238E27FC236}">
                  <a16:creationId xmlns:a16="http://schemas.microsoft.com/office/drawing/2014/main" id="{3FCDD058-DE98-B95E-1E07-C8F7719BF0E6}"/>
                </a:ext>
              </a:extLst>
            </p:cNvPr>
            <p:cNvSpPr txBox="1"/>
            <p:nvPr/>
          </p:nvSpPr>
          <p:spPr>
            <a:xfrm>
              <a:off x="6706329" y="4146718"/>
              <a:ext cx="4368073" cy="1938992"/>
            </a:xfrm>
            <a:prstGeom prst="rect">
              <a:avLst/>
            </a:prstGeom>
            <a:noFill/>
          </p:spPr>
          <p:txBody>
            <a:bodyPr wrap="square">
              <a:spAutoFit/>
            </a:bodyPr>
            <a:lstStyle/>
            <a:p>
              <a:r>
                <a:rPr lang="en-SE" sz="2000" dirty="0"/>
                <a:t>A</a:t>
              </a:r>
              <a:r>
                <a:rPr lang="en-US" sz="2000" dirty="0"/>
                <a:t> statement about </a:t>
              </a:r>
              <a:r>
                <a:rPr lang="en-US" sz="2000" i="1" dirty="0"/>
                <a:t>the state of knowledge of an observer </a:t>
              </a:r>
              <a:r>
                <a:rPr lang="en-SE" sz="2000" i="1" dirty="0"/>
                <a:t>that </a:t>
              </a:r>
              <a:r>
                <a:rPr lang="en-US" sz="2000" dirty="0"/>
                <a:t>quantifies how confident a rational agent is that something is true, given their current information</a:t>
              </a:r>
              <a:r>
                <a:rPr lang="en-SE" sz="2000" dirty="0"/>
                <a:t>.</a:t>
              </a:r>
              <a:endParaRPr lang="en-SE" sz="2000" i="1" dirty="0"/>
            </a:p>
            <a:p>
              <a:r>
                <a:rPr lang="en-SE" sz="2000" dirty="0"/>
                <a:t>→ Probability applies to </a:t>
              </a:r>
              <a:r>
                <a:rPr lang="en-SE" sz="2000" b="1" dirty="0"/>
                <a:t>hypotheses</a:t>
              </a:r>
              <a:endParaRPr lang="en-SE" sz="2000" dirty="0"/>
            </a:p>
          </p:txBody>
        </p:sp>
      </p:grpSp>
      <p:sp>
        <p:nvSpPr>
          <p:cNvPr id="10" name="TextBox 9">
            <a:extLst>
              <a:ext uri="{FF2B5EF4-FFF2-40B4-BE49-F238E27FC236}">
                <a16:creationId xmlns:a16="http://schemas.microsoft.com/office/drawing/2014/main" id="{6B74CB8B-17F6-9FC4-D728-9F28857A0423}"/>
              </a:ext>
            </a:extLst>
          </p:cNvPr>
          <p:cNvSpPr txBox="1"/>
          <p:nvPr/>
        </p:nvSpPr>
        <p:spPr>
          <a:xfrm>
            <a:off x="939798" y="5433020"/>
            <a:ext cx="4762500" cy="923330"/>
          </a:xfrm>
          <a:prstGeom prst="rect">
            <a:avLst/>
          </a:prstGeom>
          <a:noFill/>
        </p:spPr>
        <p:txBody>
          <a:bodyPr wrap="square">
            <a:spAutoFit/>
          </a:bodyPr>
          <a:lstStyle/>
          <a:p>
            <a:r>
              <a:rPr lang="en-SE" dirty="0"/>
              <a:t>"What is the probability of observing productivity data at least as extreme as ours, </a:t>
            </a:r>
            <a:r>
              <a:rPr lang="en-SE" i="1" dirty="0"/>
              <a:t>assuming GenAI usage has no effect</a:t>
            </a:r>
            <a:r>
              <a:rPr lang="en-SE" dirty="0"/>
              <a:t>?"</a:t>
            </a:r>
          </a:p>
        </p:txBody>
      </p:sp>
      <p:sp>
        <p:nvSpPr>
          <p:cNvPr id="13" name="TextBox 12">
            <a:extLst>
              <a:ext uri="{FF2B5EF4-FFF2-40B4-BE49-F238E27FC236}">
                <a16:creationId xmlns:a16="http://schemas.microsoft.com/office/drawing/2014/main" id="{0700E56D-2A83-F202-553F-DD618DEB5111}"/>
              </a:ext>
            </a:extLst>
          </p:cNvPr>
          <p:cNvSpPr txBox="1"/>
          <p:nvPr/>
        </p:nvSpPr>
        <p:spPr>
          <a:xfrm>
            <a:off x="6489702" y="5761661"/>
            <a:ext cx="4864098" cy="923330"/>
          </a:xfrm>
          <a:prstGeom prst="rect">
            <a:avLst/>
          </a:prstGeom>
          <a:noFill/>
        </p:spPr>
        <p:txBody>
          <a:bodyPr wrap="square">
            <a:spAutoFit/>
          </a:bodyPr>
          <a:lstStyle/>
          <a:p>
            <a:r>
              <a:rPr lang="en-SE" dirty="0"/>
              <a:t>"What is the probability that the hypothesis 'GenAI usage improves productivity' is true, given our data?"</a:t>
            </a:r>
          </a:p>
        </p:txBody>
      </p:sp>
    </p:spTree>
    <p:extLst>
      <p:ext uri="{BB962C8B-B14F-4D97-AF65-F5344CB8AC3E}">
        <p14:creationId xmlns:p14="http://schemas.microsoft.com/office/powerpoint/2010/main" val="23788546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E1F2CA-9F24-EAB7-0296-A0BD30EC1B6F}"/>
              </a:ext>
            </a:extLst>
          </p:cNvPr>
          <p:cNvSpPr>
            <a:spLocks noGrp="1"/>
          </p:cNvSpPr>
          <p:nvPr>
            <p:ph type="title"/>
          </p:nvPr>
        </p:nvSpPr>
        <p:spPr/>
        <p:txBody>
          <a:bodyPr/>
          <a:lstStyle/>
          <a:p>
            <a:r>
              <a:rPr lang="en-US" noProof="0" dirty="0"/>
              <a:t>Paradigm of Probability</a:t>
            </a:r>
          </a:p>
        </p:txBody>
      </p:sp>
      <p:sp>
        <p:nvSpPr>
          <p:cNvPr id="7" name="Content Placeholder 6">
            <a:extLst>
              <a:ext uri="{FF2B5EF4-FFF2-40B4-BE49-F238E27FC236}">
                <a16:creationId xmlns:a16="http://schemas.microsoft.com/office/drawing/2014/main" id="{FE277A17-8ABA-93CB-97E1-61DFA5915655}"/>
              </a:ext>
            </a:extLst>
          </p:cNvPr>
          <p:cNvSpPr>
            <a:spLocks noGrp="1"/>
          </p:cNvSpPr>
          <p:nvPr>
            <p:ph idx="1"/>
          </p:nvPr>
        </p:nvSpPr>
        <p:spPr/>
        <p:txBody>
          <a:bodyPr>
            <a:normAutofit fontScale="92500" lnSpcReduction="10000"/>
          </a:bodyPr>
          <a:lstStyle/>
          <a:p>
            <a:pPr marL="0" indent="0">
              <a:buNone/>
            </a:pPr>
            <a:r>
              <a:rPr lang="en-US" noProof="0" dirty="0"/>
              <a:t>Next to the </a:t>
            </a:r>
            <a:r>
              <a:rPr lang="en-US" b="1" noProof="0" dirty="0"/>
              <a:t>frequentist </a:t>
            </a:r>
            <a:r>
              <a:rPr lang="en-US" noProof="0" dirty="0"/>
              <a:t>paradigm, the </a:t>
            </a:r>
            <a:r>
              <a:rPr lang="en-US" b="1" noProof="0" dirty="0"/>
              <a:t>Bayesian </a:t>
            </a:r>
            <a:r>
              <a:rPr lang="en-US" noProof="0" dirty="0"/>
              <a:t>paradigm of statistics assigns a different meaning to </a:t>
            </a:r>
            <a:r>
              <a:rPr lang="en-US" i="1" noProof="0" dirty="0"/>
              <a:t>probability</a:t>
            </a:r>
            <a:r>
              <a:rPr lang="en-US" noProof="0" dirty="0"/>
              <a:t>:</a:t>
            </a:r>
          </a:p>
          <a:p>
            <a:r>
              <a:rPr lang="en-US" noProof="0" dirty="0"/>
              <a:t>In the </a:t>
            </a:r>
            <a:r>
              <a:rPr lang="en-US" b="1" noProof="0" dirty="0"/>
              <a:t>frequentist </a:t>
            </a:r>
            <a:r>
              <a:rPr lang="en-US" noProof="0" dirty="0"/>
              <a:t>paradigm, probability is a property of a repeatable random process. The probability of an event is the proportion of times it would occur if you repeated the experiment an infinite number of times under identical conditions. </a:t>
            </a:r>
            <a:r>
              <a:rPr lang="en-US" b="1" noProof="0" dirty="0"/>
              <a:t>Probability only assigns to random events, not hypotheses.</a:t>
            </a:r>
            <a:endParaRPr lang="en-US" noProof="0" dirty="0"/>
          </a:p>
          <a:p>
            <a:r>
              <a:rPr lang="en-US" noProof="0" dirty="0"/>
              <a:t>In the </a:t>
            </a:r>
            <a:r>
              <a:rPr lang="en-US" b="1" noProof="0" dirty="0"/>
              <a:t>Bayesian </a:t>
            </a:r>
            <a:r>
              <a:rPr lang="en-US" noProof="0" dirty="0"/>
              <a:t>paradigm, probability is a statement about </a:t>
            </a:r>
            <a:r>
              <a:rPr lang="en-US" i="1" noProof="0" dirty="0"/>
              <a:t>the state of knowledge of an observer</a:t>
            </a:r>
            <a:r>
              <a:rPr lang="en-US" noProof="0" dirty="0"/>
              <a:t>, not about physical processes in the world. A probability quantifies how confident a rational agent is that something is true, given their current information. </a:t>
            </a:r>
            <a:r>
              <a:rPr lang="en-US" b="1" noProof="0" dirty="0"/>
              <a:t>Probability assigns to belief, not to events </a:t>
            </a:r>
            <a:r>
              <a:rPr lang="en-US" noProof="0" dirty="0"/>
              <a:t>(as these are factual).</a:t>
            </a:r>
          </a:p>
        </p:txBody>
      </p:sp>
      <p:sp>
        <p:nvSpPr>
          <p:cNvPr id="4" name="Date Placeholder 3">
            <a:extLst>
              <a:ext uri="{FF2B5EF4-FFF2-40B4-BE49-F238E27FC236}">
                <a16:creationId xmlns:a16="http://schemas.microsoft.com/office/drawing/2014/main" id="{50499087-2F29-DE0E-7290-F1629E081BB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E68915C-4FD9-8001-532A-E07462A367F2}"/>
              </a:ext>
            </a:extLst>
          </p:cNvPr>
          <p:cNvSpPr>
            <a:spLocks noGrp="1"/>
          </p:cNvSpPr>
          <p:nvPr>
            <p:ph type="sldNum" sz="quarter" idx="12"/>
          </p:nvPr>
        </p:nvSpPr>
        <p:spPr/>
        <p:txBody>
          <a:bodyPr/>
          <a:lstStyle/>
          <a:p>
            <a:fld id="{271ECC92-9CDE-4EB3-B1C5-F46B9E1FA3C1}" type="slidenum">
              <a:rPr lang="en-US" noProof="0" smtClean="0"/>
              <a:t>24</a:t>
            </a:fld>
            <a:endParaRPr lang="en-US" noProof="0" dirty="0"/>
          </a:p>
        </p:txBody>
      </p:sp>
      <p:sp>
        <p:nvSpPr>
          <p:cNvPr id="2" name="Footer Placeholder 1">
            <a:extLst>
              <a:ext uri="{FF2B5EF4-FFF2-40B4-BE49-F238E27FC236}">
                <a16:creationId xmlns:a16="http://schemas.microsoft.com/office/drawing/2014/main" id="{06371B51-F56E-4DAB-5281-8E342CD9A8EA}"/>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627531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FA25E-475B-9D1C-A6CA-EE6428896571}"/>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684C1CC0-B44D-87D6-513F-85795DA7CB4D}"/>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A9D297EA-C27B-1D41-9615-17CB59F8F01D}"/>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4F9D08-A2F3-6320-DAC4-6A83A4D2D3AA}"/>
              </a:ext>
            </a:extLst>
          </p:cNvPr>
          <p:cNvSpPr>
            <a:spLocks noGrp="1"/>
          </p:cNvSpPr>
          <p:nvPr>
            <p:ph type="sldNum" sz="quarter" idx="12"/>
          </p:nvPr>
        </p:nvSpPr>
        <p:spPr/>
        <p:txBody>
          <a:bodyPr/>
          <a:lstStyle/>
          <a:p>
            <a:fld id="{271ECC92-9CDE-4EB3-B1C5-F46B9E1FA3C1}" type="slidenum">
              <a:rPr lang="en-US" noProof="0" smtClean="0"/>
              <a:t>25</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1F217EE-FB34-CDB4-DE93-8C133EB5BF2A}"/>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latin typeface="Cambria Math" panose="02040503050406030204" pitchFamily="18" charset="0"/>
                        </a:rPr>
                        <m:t>𝑃</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h</m:t>
                          </m:r>
                        </m:e>
                        <m:e>
                          <m:r>
                            <a:rPr lang="en-US" b="0" i="1" noProof="0" smtClean="0">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𝑃</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𝑑</m:t>
                              </m:r>
                            </m:e>
                            <m:e>
                              <m:r>
                                <a:rPr lang="en-US" b="0" i="1" noProof="0" smtClean="0">
                                  <a:latin typeface="Cambria Math" panose="02040503050406030204" pitchFamily="18" charset="0"/>
                                </a:rPr>
                                <m:t>h</m:t>
                              </m:r>
                            </m:e>
                          </m:d>
                          <m:r>
                            <a:rPr lang="en-US" b="0" i="1" noProof="0" smtClean="0">
                              <a:latin typeface="Cambria Math" panose="02040503050406030204" pitchFamily="18" charset="0"/>
                            </a:rPr>
                            <m:t>⋅</m:t>
                          </m:r>
                          <m:r>
                            <a:rPr lang="en-US" b="0" i="1" noProof="0" smtClean="0">
                              <a:latin typeface="Cambria Math" panose="02040503050406030204" pitchFamily="18" charset="0"/>
                            </a:rPr>
                            <m:t>𝑃</m:t>
                          </m:r>
                          <m:r>
                            <a:rPr lang="en-US" b="0" i="1" noProof="0" smtClean="0">
                              <a:latin typeface="Cambria Math" panose="02040503050406030204" pitchFamily="18" charset="0"/>
                            </a:rPr>
                            <m:t>(</m:t>
                          </m:r>
                          <m:r>
                            <a:rPr lang="en-US" b="0" i="1" noProof="0" smtClean="0">
                              <a:latin typeface="Cambria Math" panose="02040503050406030204" pitchFamily="18" charset="0"/>
                            </a:rPr>
                            <m:t>h</m:t>
                          </m:r>
                          <m:r>
                            <a:rPr lang="en-US" b="0" i="1" noProof="0" smtClean="0">
                              <a:latin typeface="Cambria Math" panose="02040503050406030204" pitchFamily="18" charset="0"/>
                            </a:rPr>
                            <m:t>)</m:t>
                          </m:r>
                        </m:num>
                        <m:den>
                          <m:r>
                            <a:rPr lang="en-US" b="0" i="1" noProof="0" smtClean="0">
                              <a:latin typeface="Cambria Math" panose="02040503050406030204" pitchFamily="18" charset="0"/>
                            </a:rPr>
                            <m:t>𝑃</m:t>
                          </m:r>
                          <m:r>
                            <a:rPr lang="en-US" b="0" i="1" noProof="0" smtClean="0">
                              <a:latin typeface="Cambria Math" panose="02040503050406030204" pitchFamily="18" charset="0"/>
                            </a:rPr>
                            <m:t>(</m:t>
                          </m:r>
                          <m:r>
                            <a:rPr lang="en-US" b="0" i="1" noProof="0" smtClean="0">
                              <a:latin typeface="Cambria Math" panose="02040503050406030204" pitchFamily="18" charset="0"/>
                            </a:rPr>
                            <m:t>𝑑</m:t>
                          </m:r>
                          <m:r>
                            <a:rPr lang="en-US" b="0" i="1" noProof="0" smtClean="0">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B1F217EE-FB34-CDB4-DE93-8C133EB5BF2A}"/>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08D0F64-D267-6C85-310F-512A70CE63E6}"/>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138593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ABE4C-5507-34E5-0E06-DD0186CE5C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CC920A-5FC6-4F62-B3E4-461ABD59D9BB}"/>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678DB5CC-4AF0-9005-0B54-7D62E5011859}"/>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5F46D5F3-5ACF-2093-0954-E99CF9AB3E81}"/>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B0530F7-9C4B-C875-ECC7-FC9652B0BE6A}"/>
              </a:ext>
            </a:extLst>
          </p:cNvPr>
          <p:cNvSpPr>
            <a:spLocks noGrp="1"/>
          </p:cNvSpPr>
          <p:nvPr>
            <p:ph type="sldNum" sz="quarter" idx="12"/>
          </p:nvPr>
        </p:nvSpPr>
        <p:spPr/>
        <p:txBody>
          <a:bodyPr/>
          <a:lstStyle/>
          <a:p>
            <a:fld id="{271ECC92-9CDE-4EB3-B1C5-F46B9E1FA3C1}" type="slidenum">
              <a:rPr lang="en-US" noProof="0" smtClean="0"/>
              <a:t>26</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4AC37F01-10A7-2729-1DB1-CDF6DF9CEEE4}"/>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tx1"/>
                              </a:solidFill>
                              <a:latin typeface="Cambria Math" panose="02040503050406030204" pitchFamily="18" charset="0"/>
                            </a:rPr>
                            <m:t>𝑃</m:t>
                          </m:r>
                          <m:d>
                            <m:dPr>
                              <m:ctrlPr>
                                <a:rPr lang="en-US" b="0" i="1" noProof="0" smtClean="0">
                                  <a:solidFill>
                                    <a:schemeClr val="tx1"/>
                                  </a:solidFill>
                                  <a:latin typeface="Cambria Math" panose="02040503050406030204" pitchFamily="18" charset="0"/>
                                </a:rPr>
                              </m:ctrlPr>
                            </m:dPr>
                            <m:e>
                              <m:r>
                                <a:rPr lang="en-US" b="0" i="1" noProof="0" smtClean="0">
                                  <a:solidFill>
                                    <a:schemeClr val="tx1"/>
                                  </a:solidFill>
                                  <a:latin typeface="Cambria Math" panose="02040503050406030204" pitchFamily="18" charset="0"/>
                                </a:rPr>
                                <m:t>𝑑</m:t>
                              </m:r>
                            </m:e>
                            <m:e>
                              <m:r>
                                <a:rPr lang="en-US" b="0" i="1" noProof="0" smtClean="0">
                                  <a:solidFill>
                                    <a:schemeClr val="tx1"/>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h</m:t>
                          </m:r>
                          <m:r>
                            <a:rPr lang="en-US" b="0" i="1" noProof="0" smtClean="0">
                              <a:solidFill>
                                <a:schemeClr val="tx1"/>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4AC37F01-10A7-2729-1DB1-CDF6DF9CEEE4}"/>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8B7A2A5-EDB8-61EF-A133-97D4CCFE1C25}"/>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546F5601-058D-9052-2B4F-2AEF06E61838}"/>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9084668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4E4D3-C91B-0834-A3AD-8910CD2C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AA1AA-7A15-9885-E296-7CAF72D36D57}"/>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0B2E5C48-8EBD-0787-36CD-29EA1F6043D7}"/>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753EA0C2-A6EF-FD97-101F-AA591DAD728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A0E8BA8-14C7-BFA7-C213-C80C9FAD55B2}"/>
              </a:ext>
            </a:extLst>
          </p:cNvPr>
          <p:cNvSpPr>
            <a:spLocks noGrp="1"/>
          </p:cNvSpPr>
          <p:nvPr>
            <p:ph type="sldNum" sz="quarter" idx="12"/>
          </p:nvPr>
        </p:nvSpPr>
        <p:spPr/>
        <p:txBody>
          <a:bodyPr/>
          <a:lstStyle/>
          <a:p>
            <a:fld id="{271ECC92-9CDE-4EB3-B1C5-F46B9E1FA3C1}" type="slidenum">
              <a:rPr lang="en-US" noProof="0" smtClean="0"/>
              <a:t>27</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9154FF78-2756-3341-7386-A09CF2C06E3D}"/>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h</m:t>
                          </m:r>
                          <m:r>
                            <a:rPr lang="en-US" b="0" i="1" noProof="0" smtClean="0">
                              <a:solidFill>
                                <a:schemeClr val="tx1"/>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9154FF78-2756-3341-7386-A09CF2C06E3D}"/>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248079E-FA42-B10A-BCAD-A17FB040E01A}"/>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BAA115D-CCDF-E7F9-8A61-0F1FDF8CA73A}"/>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BAC325D4-45D5-E7B6-A800-8668A0FCF87D}"/>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27886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4032-F7EA-01A6-C597-E5819A9F2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C7ECA-32DF-EC5C-B97B-1A06F0DCBE7B}"/>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0411B139-4205-EABD-6AAC-3175A5242966}"/>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2143B8FD-3074-07F3-D7C9-C98276F48EFC}"/>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12F2CC6-56A1-0F94-94DC-45AE1E0D1444}"/>
              </a:ext>
            </a:extLst>
          </p:cNvPr>
          <p:cNvSpPr>
            <a:spLocks noGrp="1"/>
          </p:cNvSpPr>
          <p:nvPr>
            <p:ph type="sldNum" sz="quarter" idx="12"/>
          </p:nvPr>
        </p:nvSpPr>
        <p:spPr/>
        <p:txBody>
          <a:bodyPr/>
          <a:lstStyle/>
          <a:p>
            <a:fld id="{271ECC92-9CDE-4EB3-B1C5-F46B9E1FA3C1}" type="slidenum">
              <a:rPr lang="en-US" noProof="0" smtClean="0"/>
              <a:t>28</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09DBA7A-C81A-1E34-2F99-58681D3C0054}"/>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tx1"/>
                              </a:solidFill>
                              <a:latin typeface="Cambria Math" panose="02040503050406030204" pitchFamily="18" charset="0"/>
                            </a:rPr>
                            <m:t>𝑃</m:t>
                          </m:r>
                          <m:r>
                            <a:rPr lang="en-US" b="0" i="1" noProof="0" smtClean="0">
                              <a:solidFill>
                                <a:schemeClr val="tx1"/>
                              </a:solidFill>
                              <a:latin typeface="Cambria Math" panose="02040503050406030204" pitchFamily="18" charset="0"/>
                            </a:rPr>
                            <m:t>(</m:t>
                          </m:r>
                          <m:r>
                            <a:rPr lang="en-US" b="0" i="1" noProof="0" smtClean="0">
                              <a:solidFill>
                                <a:schemeClr val="tx1"/>
                              </a:solidFill>
                              <a:latin typeface="Cambria Math" panose="02040503050406030204" pitchFamily="18" charset="0"/>
                            </a:rPr>
                            <m:t>𝑑</m:t>
                          </m:r>
                          <m:r>
                            <a:rPr lang="en-US" b="0" i="1" noProof="0" smtClean="0">
                              <a:solidFill>
                                <a:schemeClr val="tx1"/>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309DBA7A-C81A-1E34-2F99-58681D3C0054}"/>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20BA324-9DA7-E0B9-1000-60F9A1BD2905}"/>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C2C66F1-2E6D-2C9B-8B8A-A2BFFB8B1D25}"/>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69F7D82-789E-8360-5800-CB47A965F3AC}"/>
                  </a:ext>
                </a:extLst>
              </p:cNvPr>
              <p:cNvSpPr txBox="1"/>
              <p:nvPr/>
            </p:nvSpPr>
            <p:spPr>
              <a:xfrm>
                <a:off x="7045960" y="2593998"/>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9AFE48FF-FDDA-C5D8-0E0A-DBF451536203}"/>
                  </a:ext>
                </a:extLst>
              </p:cNvPr>
              <p:cNvSpPr txBox="1">
                <a:spLocks noRot="1" noChangeAspect="1" noMove="1" noResize="1" noEditPoints="1" noAdjustHandles="1" noChangeArrowheads="1" noChangeShapeType="1" noTextEdit="1"/>
              </p:cNvSpPr>
              <p:nvPr/>
            </p:nvSpPr>
            <p:spPr>
              <a:xfrm>
                <a:off x="7045960" y="2593998"/>
                <a:ext cx="3129280" cy="923330"/>
              </a:xfrm>
              <a:prstGeom prst="rect">
                <a:avLst/>
              </a:prstGeom>
              <a:blipFill>
                <a:blip r:embed="rId5"/>
                <a:stretch>
                  <a:fillRect l="-1754" t="-3311" b="-10596"/>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0E74950-9A78-D7F0-C9FF-7AE343A8514B}"/>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616898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B4E19-A0BB-B705-3E43-17C7C8A647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11910-FA9D-1082-E2F5-FD689B6AF264}"/>
              </a:ext>
            </a:extLst>
          </p:cNvPr>
          <p:cNvSpPr>
            <a:spLocks noGrp="1"/>
          </p:cNvSpPr>
          <p:nvPr>
            <p:ph type="title"/>
          </p:nvPr>
        </p:nvSpPr>
        <p:spPr/>
        <p:txBody>
          <a:bodyPr/>
          <a:lstStyle/>
          <a:p>
            <a:r>
              <a:rPr lang="en-US" noProof="0" dirty="0"/>
              <a:t>Bayes’ Theorem</a:t>
            </a:r>
          </a:p>
        </p:txBody>
      </p:sp>
      <p:sp>
        <p:nvSpPr>
          <p:cNvPr id="3" name="Content Placeholder 2">
            <a:extLst>
              <a:ext uri="{FF2B5EF4-FFF2-40B4-BE49-F238E27FC236}">
                <a16:creationId xmlns:a16="http://schemas.microsoft.com/office/drawing/2014/main" id="{29E2C1F1-3C0F-D4BF-00A6-2F55D7FC0176}"/>
              </a:ext>
            </a:extLst>
          </p:cNvPr>
          <p:cNvSpPr>
            <a:spLocks noGrp="1"/>
          </p:cNvSpPr>
          <p:nvPr>
            <p:ph idx="1"/>
          </p:nvPr>
        </p:nvSpPr>
        <p:spPr>
          <a:xfrm>
            <a:off x="838200" y="1825625"/>
            <a:ext cx="10515600" cy="829085"/>
          </a:xfrm>
        </p:spPr>
        <p:txBody>
          <a:bodyPr/>
          <a:lstStyle/>
          <a:p>
            <a:pPr marL="0" indent="0">
              <a:buNone/>
            </a:pPr>
            <a:r>
              <a:rPr lang="en-US" noProof="0" dirty="0"/>
              <a:t>The Bayesian paradigm is based on </a:t>
            </a:r>
            <a:r>
              <a:rPr lang="en-US" b="1" noProof="0" dirty="0"/>
              <a:t>Bayes’ Theorem:</a:t>
            </a:r>
          </a:p>
        </p:txBody>
      </p:sp>
      <p:sp>
        <p:nvSpPr>
          <p:cNvPr id="4" name="Date Placeholder 3">
            <a:extLst>
              <a:ext uri="{FF2B5EF4-FFF2-40B4-BE49-F238E27FC236}">
                <a16:creationId xmlns:a16="http://schemas.microsoft.com/office/drawing/2014/main" id="{391794DC-9999-2AB8-BEA9-04E89BECDC9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AEE13E-D44C-C03A-AC51-E4983554F25E}"/>
              </a:ext>
            </a:extLst>
          </p:cNvPr>
          <p:cNvSpPr>
            <a:spLocks noGrp="1"/>
          </p:cNvSpPr>
          <p:nvPr>
            <p:ph type="sldNum" sz="quarter" idx="12"/>
          </p:nvPr>
        </p:nvSpPr>
        <p:spPr/>
        <p:txBody>
          <a:bodyPr/>
          <a:lstStyle/>
          <a:p>
            <a:fld id="{271ECC92-9CDE-4EB3-B1C5-F46B9E1FA3C1}" type="slidenum">
              <a:rPr lang="en-US" noProof="0" smtClean="0"/>
              <a:t>29</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3D08A6EE-5A08-C2EE-97E3-CD31D369CF7D}"/>
                  </a:ext>
                </a:extLst>
              </p:cNvPr>
              <p:cNvSpPr txBox="1">
                <a:spLocks/>
              </p:cNvSpPr>
              <p:nvPr/>
            </p:nvSpPr>
            <p:spPr>
              <a:xfrm>
                <a:off x="3963428" y="376045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3D08A6EE-5A08-C2EE-97E3-CD31D369CF7D}"/>
                  </a:ext>
                </a:extLst>
              </p:cNvPr>
              <p:cNvSpPr txBox="1">
                <a:spLocks noRot="1" noChangeAspect="1" noMove="1" noResize="1" noEditPoints="1" noAdjustHandles="1" noChangeArrowheads="1" noChangeShapeType="1" noTextEdit="1"/>
              </p:cNvSpPr>
              <p:nvPr/>
            </p:nvSpPr>
            <p:spPr>
              <a:xfrm>
                <a:off x="3963428" y="3760455"/>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828DE2D-9523-21FC-7BEC-46A398004B33}"/>
                  </a:ext>
                </a:extLst>
              </p:cNvPr>
              <p:cNvSpPr txBox="1"/>
              <p:nvPr/>
            </p:nvSpPr>
            <p:spPr>
              <a:xfrm>
                <a:off x="1027188" y="3614038"/>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9A8A87C2-E91D-7CEB-650C-5CF8FBDFE9D4}"/>
                  </a:ext>
                </a:extLst>
              </p:cNvPr>
              <p:cNvSpPr txBox="1">
                <a:spLocks noRot="1" noChangeAspect="1" noMove="1" noResize="1" noEditPoints="1" noAdjustHandles="1" noChangeArrowheads="1" noChangeShapeType="1" noTextEdit="1"/>
              </p:cNvSpPr>
              <p:nvPr/>
            </p:nvSpPr>
            <p:spPr>
              <a:xfrm>
                <a:off x="1027188" y="3614038"/>
                <a:ext cx="2936240" cy="1200329"/>
              </a:xfrm>
              <a:prstGeom prst="rect">
                <a:avLst/>
              </a:prstGeom>
              <a:blipFill>
                <a:blip r:embed="rId3"/>
                <a:stretch>
                  <a:fillRect t="-2538"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FF0A5A8-03F8-442E-41D5-2D2960FFFEB2}"/>
                  </a:ext>
                </a:extLst>
              </p:cNvPr>
              <p:cNvSpPr txBox="1"/>
              <p:nvPr/>
            </p:nvSpPr>
            <p:spPr>
              <a:xfrm>
                <a:off x="4038600" y="2600497"/>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7094E750-F12A-8CE9-EEF7-519010B03271}"/>
                  </a:ext>
                </a:extLst>
              </p:cNvPr>
              <p:cNvSpPr txBox="1">
                <a:spLocks noRot="1" noChangeAspect="1" noMove="1" noResize="1" noEditPoints="1" noAdjustHandles="1" noChangeArrowheads="1" noChangeShapeType="1" noTextEdit="1"/>
              </p:cNvSpPr>
              <p:nvPr/>
            </p:nvSpPr>
            <p:spPr>
              <a:xfrm>
                <a:off x="4038600" y="2600497"/>
                <a:ext cx="2936240" cy="923330"/>
              </a:xfrm>
              <a:prstGeom prst="rect">
                <a:avLst/>
              </a:prstGeom>
              <a:blipFill>
                <a:blip r:embed="rId4"/>
                <a:stretch>
                  <a:fillRect t="-3311" r="-3326"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FAE754D-5895-8B3F-A7C3-47F239554C2C}"/>
                  </a:ext>
                </a:extLst>
              </p:cNvPr>
              <p:cNvSpPr txBox="1"/>
              <p:nvPr/>
            </p:nvSpPr>
            <p:spPr>
              <a:xfrm>
                <a:off x="7045960" y="2593998"/>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9AFE48FF-FDDA-C5D8-0E0A-DBF451536203}"/>
                  </a:ext>
                </a:extLst>
              </p:cNvPr>
              <p:cNvSpPr txBox="1">
                <a:spLocks noRot="1" noChangeAspect="1" noMove="1" noResize="1" noEditPoints="1" noAdjustHandles="1" noChangeArrowheads="1" noChangeShapeType="1" noTextEdit="1"/>
              </p:cNvSpPr>
              <p:nvPr/>
            </p:nvSpPr>
            <p:spPr>
              <a:xfrm>
                <a:off x="7045960" y="2593998"/>
                <a:ext cx="3129280" cy="923330"/>
              </a:xfrm>
              <a:prstGeom prst="rect">
                <a:avLst/>
              </a:prstGeom>
              <a:blipFill>
                <a:blip r:embed="rId5"/>
                <a:stretch>
                  <a:fillRect l="-1754" t="-3311" b="-1059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38774A4-D2F9-BE79-7398-C2C550433C05}"/>
                  </a:ext>
                </a:extLst>
              </p:cNvPr>
              <p:cNvSpPr txBox="1"/>
              <p:nvPr/>
            </p:nvSpPr>
            <p:spPr>
              <a:xfrm>
                <a:off x="6370320" y="4770871"/>
                <a:ext cx="3129280" cy="1200329"/>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DE8A9FC-E340-E9E8-1D59-FD96051A7E00}"/>
                  </a:ext>
                </a:extLst>
              </p:cNvPr>
              <p:cNvSpPr txBox="1">
                <a:spLocks noRot="1" noChangeAspect="1" noMove="1" noResize="1" noEditPoints="1" noAdjustHandles="1" noChangeArrowheads="1" noChangeShapeType="1" noTextEdit="1"/>
              </p:cNvSpPr>
              <p:nvPr/>
            </p:nvSpPr>
            <p:spPr>
              <a:xfrm>
                <a:off x="6370320" y="4770871"/>
                <a:ext cx="3129280" cy="1200329"/>
              </a:xfrm>
              <a:prstGeom prst="rect">
                <a:avLst/>
              </a:prstGeom>
              <a:blipFill>
                <a:blip r:embed="rId6"/>
                <a:stretch>
                  <a:fillRect l="-1559" t="-2538" r="-1559" b="-7614"/>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F20ECC44-F439-107D-9092-2CE4725437D3}"/>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5402415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3F8C9-132D-8AC9-52DB-5F2C57DE4A1F}"/>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B4988406-637F-7F3F-D74A-ECC07C11B951}"/>
              </a:ext>
            </a:extLst>
          </p:cNvPr>
          <p:cNvSpPr>
            <a:spLocks noGrp="1"/>
          </p:cNvSpPr>
          <p:nvPr>
            <p:ph idx="1"/>
          </p:nvPr>
        </p:nvSpPr>
        <p:spPr>
          <a:xfrm>
            <a:off x="838200" y="1825625"/>
            <a:ext cx="10515600" cy="1603375"/>
          </a:xfrm>
        </p:spPr>
        <p:txBody>
          <a:bodyPr/>
          <a:lstStyle/>
          <a:p>
            <a:pPr marL="0" indent="0">
              <a:buNone/>
            </a:pPr>
            <a:r>
              <a:rPr lang="en-US" noProof="0" dirty="0"/>
              <a:t>We are investigating a static code analysis tool. The tool has 90% sensitivity</a:t>
            </a:r>
            <a:r>
              <a:rPr lang="en-SE" baseline="30000" noProof="0" dirty="0"/>
              <a:t>1</a:t>
            </a:r>
            <a:r>
              <a:rPr lang="en-US" noProof="0" dirty="0"/>
              <a:t> and 10% false positive rate. Only 5% of files actually have bugs.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F86F8A52-03A6-EAA2-E82A-DBEB7CB178B1}"/>
              </a:ext>
            </a:extLst>
          </p:cNvPr>
          <p:cNvSpPr>
            <a:spLocks noGrp="1"/>
          </p:cNvSpPr>
          <p:nvPr>
            <p:ph type="dt" sz="half" idx="10"/>
          </p:nvPr>
        </p:nvSpPr>
        <p:spPr/>
        <p:txBody>
          <a:bodyPr/>
          <a:lstStyle/>
          <a:p>
            <a:r>
              <a:rPr lang="en-SE" noProof="0" dirty="0"/>
              <a:t>2026-08-17</a:t>
            </a:r>
            <a:endParaRPr lang="en-US" noProof="0" dirty="0"/>
          </a:p>
        </p:txBody>
      </p:sp>
      <p:sp>
        <p:nvSpPr>
          <p:cNvPr id="5" name="Slide Number Placeholder 4">
            <a:extLst>
              <a:ext uri="{FF2B5EF4-FFF2-40B4-BE49-F238E27FC236}">
                <a16:creationId xmlns:a16="http://schemas.microsoft.com/office/drawing/2014/main" id="{E5391887-1A00-B45E-BBC9-2CF0EACA0136}"/>
              </a:ext>
            </a:extLst>
          </p:cNvPr>
          <p:cNvSpPr>
            <a:spLocks noGrp="1"/>
          </p:cNvSpPr>
          <p:nvPr>
            <p:ph type="sldNum" sz="quarter" idx="12"/>
          </p:nvPr>
        </p:nvSpPr>
        <p:spPr/>
        <p:txBody>
          <a:bodyPr/>
          <a:lstStyle/>
          <a:p>
            <a:fld id="{271ECC92-9CDE-4EB3-B1C5-F46B9E1FA3C1}" type="slidenum">
              <a:rPr lang="en-US" noProof="0" smtClean="0"/>
              <a:t>30</a:t>
            </a:fld>
            <a:endParaRPr lang="en-US" noProof="0" dirty="0"/>
          </a:p>
        </p:txBody>
      </p:sp>
      <p:sp>
        <p:nvSpPr>
          <p:cNvPr id="6" name="Footer Placeholder 5">
            <a:extLst>
              <a:ext uri="{FF2B5EF4-FFF2-40B4-BE49-F238E27FC236}">
                <a16:creationId xmlns:a16="http://schemas.microsoft.com/office/drawing/2014/main" id="{3BC830DE-FB98-5175-8C70-CBC549727EF5}"/>
              </a:ext>
            </a:extLst>
          </p:cNvPr>
          <p:cNvSpPr>
            <a:spLocks noGrp="1"/>
          </p:cNvSpPr>
          <p:nvPr>
            <p:ph type="ftr" sz="quarter" idx="11"/>
          </p:nvPr>
        </p:nvSpPr>
        <p:spPr/>
        <p:txBody>
          <a:bodyPr/>
          <a:lstStyle/>
          <a:p>
            <a:r>
              <a:rPr lang="de-DE"/>
              <a:t>Bayesian Data Analysis Tutorial</a:t>
            </a:r>
            <a:endParaRPr lang="en-SE"/>
          </a:p>
        </p:txBody>
      </p:sp>
      <p:sp>
        <p:nvSpPr>
          <p:cNvPr id="7" name="Content Placeholder 2">
            <a:extLst>
              <a:ext uri="{FF2B5EF4-FFF2-40B4-BE49-F238E27FC236}">
                <a16:creationId xmlns:a16="http://schemas.microsoft.com/office/drawing/2014/main" id="{7EA911C6-107B-360A-EAF9-DAF0512B8B3B}"/>
              </a:ext>
            </a:extLst>
          </p:cNvPr>
          <p:cNvSpPr txBox="1">
            <a:spLocks/>
          </p:cNvSpPr>
          <p:nvPr/>
        </p:nvSpPr>
        <p:spPr>
          <a:xfrm>
            <a:off x="838200" y="5908430"/>
            <a:ext cx="10515600" cy="4479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2000" baseline="30000" dirty="0"/>
              <a:t>1</a:t>
            </a:r>
            <a:r>
              <a:rPr lang="en-US" sz="2000" dirty="0"/>
              <a:t> </a:t>
            </a:r>
            <a:r>
              <a:rPr lang="en-SE" sz="2000" dirty="0"/>
              <a:t>sensitivity = precision, i.e., TP/(TP+FP)</a:t>
            </a:r>
            <a:endParaRPr lang="en-US" sz="2000" i="1" dirty="0"/>
          </a:p>
        </p:txBody>
      </p:sp>
    </p:spTree>
    <p:extLst>
      <p:ext uri="{BB962C8B-B14F-4D97-AF65-F5344CB8AC3E}">
        <p14:creationId xmlns:p14="http://schemas.microsoft.com/office/powerpoint/2010/main" val="30656396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C27997-8130-F5AD-F13C-C2CAC5A9A542}"/>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5A4CDFBB-AE0D-0C60-33C5-0B4840335F63}"/>
              </a:ext>
            </a:extLst>
          </p:cNvPr>
          <p:cNvSpPr>
            <a:spLocks noGrp="1"/>
          </p:cNvSpPr>
          <p:nvPr>
            <p:ph idx="1"/>
          </p:nvPr>
        </p:nvSpPr>
        <p:spPr>
          <a:xfrm>
            <a:off x="838200" y="1825625"/>
            <a:ext cx="10515600" cy="1448517"/>
          </a:xfrm>
        </p:spPr>
        <p:txBody>
          <a:bodyPr/>
          <a:lstStyle/>
          <a:p>
            <a:pPr marL="0" indent="0">
              <a:buNone/>
            </a:pPr>
            <a:r>
              <a:rPr lang="en-US" noProof="0" dirty="0"/>
              <a:t>We are investigating a static code analysis tool. The tool has 90% sensitivity and 10% false positive rate. Only 5% of files actually have bugs. </a:t>
            </a:r>
            <a:r>
              <a:rPr lang="en-US" i="1" noProof="0" dirty="0"/>
              <a:t>What's the probability that a flagged file is buggy?</a:t>
            </a:r>
          </a:p>
          <a:p>
            <a:pPr marL="0" indent="0">
              <a:buNone/>
            </a:pPr>
            <a:endParaRPr lang="en-US" noProof="0" dirty="0"/>
          </a:p>
        </p:txBody>
      </p:sp>
      <p:sp>
        <p:nvSpPr>
          <p:cNvPr id="4" name="Date Placeholder 3">
            <a:extLst>
              <a:ext uri="{FF2B5EF4-FFF2-40B4-BE49-F238E27FC236}">
                <a16:creationId xmlns:a16="http://schemas.microsoft.com/office/drawing/2014/main" id="{7C3C7BDD-2CBC-3618-B830-969AD960C1C7}"/>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A19DD116-A88B-CB6A-DBEB-0DF944D51720}"/>
              </a:ext>
            </a:extLst>
          </p:cNvPr>
          <p:cNvSpPr>
            <a:spLocks noGrp="1"/>
          </p:cNvSpPr>
          <p:nvPr>
            <p:ph type="sldNum" sz="quarter" idx="12"/>
          </p:nvPr>
        </p:nvSpPr>
        <p:spPr/>
        <p:txBody>
          <a:bodyPr/>
          <a:lstStyle/>
          <a:p>
            <a:fld id="{271ECC92-9CDE-4EB3-B1C5-F46B9E1FA3C1}" type="slidenum">
              <a:rPr lang="en-US" noProof="0" smtClean="0"/>
              <a:t>31</a:t>
            </a:fld>
            <a:endParaRPr lang="en-US" noProof="0" dirty="0"/>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2533FD6-BBD4-0063-1BA0-427558CD0C33}"/>
                  </a:ext>
                </a:extLst>
              </p:cNvPr>
              <p:cNvSpPr txBox="1"/>
              <p:nvPr/>
            </p:nvSpPr>
            <p:spPr>
              <a:xfrm>
                <a:off x="2412009" y="3379771"/>
                <a:ext cx="2338782" cy="707886"/>
              </a:xfrm>
              <a:prstGeom prst="rect">
                <a:avLst/>
              </a:prstGeom>
              <a:noFill/>
            </p:spPr>
            <p:txBody>
              <a:bodyPr wrap="none" rtlCol="0">
                <a:spAutoFit/>
              </a:bodyPr>
              <a:lstStyle/>
              <a:p>
                <a:pPr algn="ctr"/>
                <a:r>
                  <a:rPr lang="en-SE" sz="2000" b="1" noProof="0" dirty="0"/>
                  <a:t>Hypothesis</a:t>
                </a:r>
                <a:r>
                  <a:rPr lang="en-SE" sz="2000" b="0" noProof="0" dirty="0"/>
                  <a:t> </a:t>
                </a:r>
                <a14:m>
                  <m:oMath xmlns:m="http://schemas.openxmlformats.org/officeDocument/2006/math">
                    <m:r>
                      <a:rPr lang="en-US" sz="2000" b="0" i="1" noProof="0" smtClean="0">
                        <a:latin typeface="Cambria Math" panose="02040503050406030204" pitchFamily="18" charset="0"/>
                      </a:rPr>
                      <m:t>h</m:t>
                    </m:r>
                  </m:oMath>
                </a14:m>
                <a:r>
                  <a:rPr lang="en-US" sz="2000" noProof="0" dirty="0"/>
                  <a:t> </a:t>
                </a:r>
                <a:endParaRPr lang="en-SE" sz="2000" noProof="0" dirty="0"/>
              </a:p>
              <a:p>
                <a:pPr algn="ctr"/>
                <a:r>
                  <a:rPr lang="en-SE" sz="2000" noProof="0" dirty="0"/>
                  <a:t>“T</a:t>
                </a:r>
                <a:r>
                  <a:rPr lang="en-US" sz="2000" noProof="0" dirty="0"/>
                  <a:t>he file has a bug</a:t>
                </a:r>
                <a:r>
                  <a:rPr lang="en-SE" sz="2000" noProof="0" dirty="0"/>
                  <a:t>.”</a:t>
                </a:r>
                <a:endParaRPr lang="en-US" sz="2000" noProof="0" dirty="0"/>
              </a:p>
            </p:txBody>
          </p:sp>
        </mc:Choice>
        <mc:Fallback>
          <p:sp>
            <p:nvSpPr>
              <p:cNvPr id="6" name="TextBox 5">
                <a:extLst>
                  <a:ext uri="{FF2B5EF4-FFF2-40B4-BE49-F238E27FC236}">
                    <a16:creationId xmlns:a16="http://schemas.microsoft.com/office/drawing/2014/main" id="{F2533FD6-BBD4-0063-1BA0-427558CD0C33}"/>
                  </a:ext>
                </a:extLst>
              </p:cNvPr>
              <p:cNvSpPr txBox="1">
                <a:spLocks noRot="1" noChangeAspect="1" noMove="1" noResize="1" noEditPoints="1" noAdjustHandles="1" noChangeArrowheads="1" noChangeShapeType="1" noTextEdit="1"/>
              </p:cNvSpPr>
              <p:nvPr/>
            </p:nvSpPr>
            <p:spPr>
              <a:xfrm>
                <a:off x="2412009" y="3379771"/>
                <a:ext cx="2338782" cy="707886"/>
              </a:xfrm>
              <a:prstGeom prst="rect">
                <a:avLst/>
              </a:prstGeom>
              <a:blipFill>
                <a:blip r:embed="rId2"/>
                <a:stretch>
                  <a:fillRect l="-2872" t="-3419" r="-2872" b="-13675"/>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DBE8491-4E69-5252-D070-29D51B3D0C70}"/>
                  </a:ext>
                </a:extLst>
              </p:cNvPr>
              <p:cNvSpPr txBox="1"/>
              <p:nvPr/>
            </p:nvSpPr>
            <p:spPr>
              <a:xfrm>
                <a:off x="6753585" y="3429000"/>
                <a:ext cx="3714030" cy="707886"/>
              </a:xfrm>
              <a:prstGeom prst="rect">
                <a:avLst/>
              </a:prstGeom>
              <a:noFill/>
            </p:spPr>
            <p:txBody>
              <a:bodyPr wrap="none" rtlCol="0">
                <a:spAutoFit/>
              </a:bodyPr>
              <a:lstStyle/>
              <a:p>
                <a:pPr algn="ctr"/>
                <a:r>
                  <a:rPr lang="en-SE" sz="2000" b="1" noProof="0" dirty="0"/>
                  <a:t>Data</a:t>
                </a:r>
                <a:r>
                  <a:rPr lang="en-SE" sz="2000" b="0" noProof="0" dirty="0"/>
                  <a:t> </a:t>
                </a:r>
                <a14:m>
                  <m:oMath xmlns:m="http://schemas.openxmlformats.org/officeDocument/2006/math">
                    <m:r>
                      <a:rPr lang="en-US" sz="2000" b="0" i="1" noProof="0" smtClean="0">
                        <a:latin typeface="Cambria Math" panose="02040503050406030204" pitchFamily="18" charset="0"/>
                      </a:rPr>
                      <m:t>𝑑</m:t>
                    </m:r>
                  </m:oMath>
                </a14:m>
                <a:endParaRPr lang="en-SE" sz="2000" b="0" noProof="0" dirty="0"/>
              </a:p>
              <a:p>
                <a:pPr algn="ctr"/>
                <a:r>
                  <a:rPr lang="en-SE" sz="2000" noProof="0" dirty="0"/>
                  <a:t>“</a:t>
                </a:r>
                <a:r>
                  <a:rPr lang="en-SE" sz="2000" dirty="0"/>
                  <a:t>T</a:t>
                </a:r>
                <a:r>
                  <a:rPr lang="en-US" sz="2000" noProof="0" dirty="0"/>
                  <a:t>he tool flags the file as buggy</a:t>
                </a:r>
                <a:r>
                  <a:rPr lang="en-SE" sz="2000" noProof="0" dirty="0"/>
                  <a:t>.”</a:t>
                </a:r>
                <a:endParaRPr lang="en-US" sz="2000" noProof="0" dirty="0"/>
              </a:p>
            </p:txBody>
          </p:sp>
        </mc:Choice>
        <mc:Fallback>
          <p:sp>
            <p:nvSpPr>
              <p:cNvPr id="7" name="TextBox 6">
                <a:extLst>
                  <a:ext uri="{FF2B5EF4-FFF2-40B4-BE49-F238E27FC236}">
                    <a16:creationId xmlns:a16="http://schemas.microsoft.com/office/drawing/2014/main" id="{8DBE8491-4E69-5252-D070-29D51B3D0C70}"/>
                  </a:ext>
                </a:extLst>
              </p:cNvPr>
              <p:cNvSpPr txBox="1">
                <a:spLocks noRot="1" noChangeAspect="1" noMove="1" noResize="1" noEditPoints="1" noAdjustHandles="1" noChangeArrowheads="1" noChangeShapeType="1" noTextEdit="1"/>
              </p:cNvSpPr>
              <p:nvPr/>
            </p:nvSpPr>
            <p:spPr>
              <a:xfrm>
                <a:off x="6753585" y="3429000"/>
                <a:ext cx="3714030" cy="707886"/>
              </a:xfrm>
              <a:prstGeom prst="rect">
                <a:avLst/>
              </a:prstGeom>
              <a:blipFill>
                <a:blip r:embed="rId3"/>
                <a:stretch>
                  <a:fillRect l="-1642" t="-4310" r="-1478" b="-13793"/>
                </a:stretch>
              </a:blipFill>
            </p:spPr>
            <p:txBody>
              <a:bodyPr/>
              <a:lstStyle/>
              <a:p>
                <a:r>
                  <a:rPr lang="en-SE">
                    <a:noFill/>
                  </a:rPr>
                  <a:t> </a:t>
                </a:r>
              </a:p>
            </p:txBody>
          </p:sp>
        </mc:Fallback>
      </mc:AlternateContent>
      <p:sp>
        <p:nvSpPr>
          <p:cNvPr id="8" name="Footer Placeholder 7">
            <a:extLst>
              <a:ext uri="{FF2B5EF4-FFF2-40B4-BE49-F238E27FC236}">
                <a16:creationId xmlns:a16="http://schemas.microsoft.com/office/drawing/2014/main" id="{CF8AFB32-25F9-1A42-7CCA-3366A73588F7}"/>
              </a:ext>
            </a:extLst>
          </p:cNvPr>
          <p:cNvSpPr>
            <a:spLocks noGrp="1"/>
          </p:cNvSpPr>
          <p:nvPr>
            <p:ph type="ftr" sz="quarter" idx="11"/>
          </p:nvPr>
        </p:nvSpPr>
        <p:spPr/>
        <p:txBody>
          <a:bodyPr/>
          <a:lstStyle/>
          <a:p>
            <a:r>
              <a:rPr lang="de-DE"/>
              <a:t>Bayesian Data Analysis Tutorial</a:t>
            </a:r>
            <a:endParaRPr lang="en-SE"/>
          </a:p>
        </p:txBody>
      </p:sp>
      <p:pic>
        <p:nvPicPr>
          <p:cNvPr id="10" name="Graphic 9" descr="Warning with solid fill">
            <a:extLst>
              <a:ext uri="{FF2B5EF4-FFF2-40B4-BE49-F238E27FC236}">
                <a16:creationId xmlns:a16="http://schemas.microsoft.com/office/drawing/2014/main" id="{555E716E-73BE-6233-CABA-F195D50765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53400" y="4222594"/>
            <a:ext cx="914400" cy="914400"/>
          </a:xfrm>
          <a:prstGeom prst="rect">
            <a:avLst/>
          </a:prstGeom>
        </p:spPr>
      </p:pic>
      <p:pic>
        <p:nvPicPr>
          <p:cNvPr id="12" name="Graphic 11" descr="Bug with solid fill">
            <a:extLst>
              <a:ext uri="{FF2B5EF4-FFF2-40B4-BE49-F238E27FC236}">
                <a16:creationId xmlns:a16="http://schemas.microsoft.com/office/drawing/2014/main" id="{80DAC718-A43B-7F32-B962-18EB5520F4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24200" y="4222594"/>
            <a:ext cx="914400" cy="914400"/>
          </a:xfrm>
          <a:prstGeom prst="rect">
            <a:avLst/>
          </a:prstGeom>
        </p:spPr>
      </p:pic>
      <p:cxnSp>
        <p:nvCxnSpPr>
          <p:cNvPr id="14" name="Straight Arrow Connector 13">
            <a:extLst>
              <a:ext uri="{FF2B5EF4-FFF2-40B4-BE49-F238E27FC236}">
                <a16:creationId xmlns:a16="http://schemas.microsoft.com/office/drawing/2014/main" id="{8C4E685D-C2D4-323C-0013-890069E8E245}"/>
              </a:ext>
            </a:extLst>
          </p:cNvPr>
          <p:cNvCxnSpPr>
            <a:cxnSpLocks/>
            <a:stCxn id="12" idx="3"/>
            <a:endCxn id="10" idx="1"/>
          </p:cNvCxnSpPr>
          <p:nvPr/>
        </p:nvCxnSpPr>
        <p:spPr>
          <a:xfrm>
            <a:off x="4038600" y="4679794"/>
            <a:ext cx="41148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184403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841DF-591F-63A3-FA29-EC4B5578F068}"/>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C76A5CFD-8EA2-2172-73FD-607639BBB12C}"/>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5% of files actually have bugs. </a:t>
            </a:r>
            <a:r>
              <a:rPr lang="en-US" i="1" noProof="0" dirty="0"/>
              <a:t>What's the probability that a flagged file is buggy?</a:t>
            </a:r>
          </a:p>
          <a:p>
            <a:pPr marL="0" indent="0">
              <a:buNone/>
            </a:pPr>
            <a:endParaRPr lang="en-US" noProof="0" dirty="0"/>
          </a:p>
        </p:txBody>
      </p:sp>
      <p:sp>
        <p:nvSpPr>
          <p:cNvPr id="4" name="Date Placeholder 3">
            <a:extLst>
              <a:ext uri="{FF2B5EF4-FFF2-40B4-BE49-F238E27FC236}">
                <a16:creationId xmlns:a16="http://schemas.microsoft.com/office/drawing/2014/main" id="{6F3F9F50-F322-EE4B-AFB0-321A53A9D5CC}"/>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371762D8-5202-3676-552B-75054FFC86F2}"/>
              </a:ext>
            </a:extLst>
          </p:cNvPr>
          <p:cNvSpPr>
            <a:spLocks noGrp="1"/>
          </p:cNvSpPr>
          <p:nvPr>
            <p:ph type="sldNum" sz="quarter" idx="12"/>
          </p:nvPr>
        </p:nvSpPr>
        <p:spPr/>
        <p:txBody>
          <a:bodyPr/>
          <a:lstStyle/>
          <a:p>
            <a:fld id="{271ECC92-9CDE-4EB3-B1C5-F46B9E1FA3C1}" type="slidenum">
              <a:rPr lang="en-US" noProof="0" smtClean="0"/>
              <a:t>32</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09E194BA-5445-C49A-D352-10E9C99C8693}"/>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09E194BA-5445-C49A-D352-10E9C99C8693}"/>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AFD8AA8-BDFE-AC34-6641-62C855D6AFFA}"/>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1AFD8AA8-BDFE-AC34-6641-62C855D6AFFA}"/>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404EA54-6B17-D76E-9498-333028333B67}"/>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8404EA54-6B17-D76E-9498-333028333B67}"/>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D8366B6-53E0-4077-91DD-409930929855}"/>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5D8366B6-53E0-4077-91DD-409930929855}"/>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8B31A80-120F-1947-6A24-80053F065F08}"/>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8B31A80-120F-1947-6A24-80053F065F08}"/>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798E8092-9917-1A4A-CB9A-68BE7FB979C2}"/>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992055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2D09F-3827-51F0-989B-E854C9B10F0F}"/>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2CC8C239-A31C-45E4-55E7-30433280E4C6}"/>
              </a:ext>
            </a:extLst>
          </p:cNvPr>
          <p:cNvSpPr>
            <a:spLocks noGrp="1"/>
          </p:cNvSpPr>
          <p:nvPr>
            <p:ph idx="1"/>
          </p:nvPr>
        </p:nvSpPr>
        <p:spPr>
          <a:xfrm>
            <a:off x="838200" y="1825625"/>
            <a:ext cx="10515600" cy="1419020"/>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50BECF0B-94D7-E885-22B3-A735C4B53FC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BCBE637F-BD17-D045-93E6-4CB47FC7A61B}"/>
              </a:ext>
            </a:extLst>
          </p:cNvPr>
          <p:cNvSpPr>
            <a:spLocks noGrp="1"/>
          </p:cNvSpPr>
          <p:nvPr>
            <p:ph type="sldNum" sz="quarter" idx="12"/>
          </p:nvPr>
        </p:nvSpPr>
        <p:spPr/>
        <p:txBody>
          <a:bodyPr/>
          <a:lstStyle/>
          <a:p>
            <a:fld id="{271ECC92-9CDE-4EB3-B1C5-F46B9E1FA3C1}" type="slidenum">
              <a:rPr lang="en-US" noProof="0" smtClean="0"/>
              <a:t>33</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F3908B4-E90F-CB44-31EE-A10DDE40DE8F}"/>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BF3908B4-E90F-CB44-31EE-A10DDE40DE8F}"/>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5B9BE2-F518-C92F-486C-545A33037166}"/>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F05B9BE2-F518-C92F-486C-545A33037166}"/>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E4AFB1D-824C-7DF1-A969-2ACE8587E1CA}"/>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0E4AFB1D-824C-7DF1-A969-2ACE8587E1CA}"/>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A22237-B17C-3945-BA5C-5FC278BA4A32}"/>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D9A22237-B17C-3945-BA5C-5FC278BA4A32}"/>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B76B3C8-862F-CFAD-6D5B-1A952ECE6DFC}"/>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5B76B3C8-862F-CFAD-6D5B-1A952ECE6DFC}"/>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9CA8D684-7AC6-370D-385E-43BBCF9C50CE}"/>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058252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02159-AFCF-9FD4-BEA0-DAFF468392FE}"/>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3B49054C-3243-E2B6-CC93-CE8F28D3EF2A}"/>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04CA73F2-84DE-F313-FA1B-52EF1985E332}"/>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F16E253F-E8C5-AA36-81E8-F6CF799E0224}"/>
              </a:ext>
            </a:extLst>
          </p:cNvPr>
          <p:cNvSpPr>
            <a:spLocks noGrp="1"/>
          </p:cNvSpPr>
          <p:nvPr>
            <p:ph type="sldNum" sz="quarter" idx="12"/>
          </p:nvPr>
        </p:nvSpPr>
        <p:spPr/>
        <p:txBody>
          <a:bodyPr/>
          <a:lstStyle/>
          <a:p>
            <a:fld id="{271ECC92-9CDE-4EB3-B1C5-F46B9E1FA3C1}" type="slidenum">
              <a:rPr lang="en-US" noProof="0" smtClean="0"/>
              <a:t>34</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DE9E8732-FD7E-BAA1-CF02-EC3BB33B2CD5}"/>
                  </a:ext>
                </a:extLst>
              </p:cNvPr>
              <p:cNvSpPr txBox="1">
                <a:spLocks/>
              </p:cNvSpPr>
              <p:nvPr/>
            </p:nvSpPr>
            <p:spPr>
              <a:xfrm>
                <a:off x="3963428" y="442260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i="1">
                          <a:solidFill>
                            <a:schemeClr val="bg2">
                              <a:lumMod val="50000"/>
                            </a:schemeClr>
                          </a:solidFill>
                          <a:latin typeface="Cambria Math" panose="02040503050406030204" pitchFamily="18" charset="0"/>
                        </a:rPr>
                        <m:t>𝑃</m:t>
                      </m:r>
                      <m:d>
                        <m:dPr>
                          <m:ctrlPr>
                            <a:rPr lang="en-US" i="1">
                              <a:solidFill>
                                <a:schemeClr val="bg2">
                                  <a:lumMod val="50000"/>
                                </a:schemeClr>
                              </a:solidFill>
                              <a:latin typeface="Cambria Math" panose="02040503050406030204" pitchFamily="18" charset="0"/>
                            </a:rPr>
                          </m:ctrlPr>
                        </m:dPr>
                        <m:e>
                          <m:r>
                            <a:rPr lang="en-US" i="1">
                              <a:solidFill>
                                <a:schemeClr val="bg2">
                                  <a:lumMod val="50000"/>
                                </a:schemeClr>
                              </a:solidFill>
                              <a:latin typeface="Cambria Math" panose="02040503050406030204" pitchFamily="18" charset="0"/>
                            </a:rPr>
                            <m:t>h</m:t>
                          </m:r>
                        </m:e>
                        <m:e>
                          <m:r>
                            <a:rPr lang="en-US" i="1">
                              <a:solidFill>
                                <a:schemeClr val="bg2">
                                  <a:lumMod val="50000"/>
                                </a:schemeClr>
                              </a:solidFill>
                              <a:latin typeface="Cambria Math" panose="02040503050406030204" pitchFamily="18" charset="0"/>
                            </a:rPr>
                            <m:t>𝑑</m:t>
                          </m:r>
                        </m:e>
                      </m:d>
                      <m:r>
                        <a:rPr lang="en-US" i="1">
                          <a:latin typeface="Cambria Math" panose="02040503050406030204" pitchFamily="18" charset="0"/>
                        </a:rPr>
                        <m:t>=</m:t>
                      </m:r>
                      <m:f>
                        <m:fPr>
                          <m:ctrlPr>
                            <a:rPr lang="en-US" i="1">
                              <a:latin typeface="Cambria Math" panose="02040503050406030204" pitchFamily="18" charset="0"/>
                            </a:rPr>
                          </m:ctrlPr>
                        </m:fPr>
                        <m:num>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num>
                        <m:den>
                          <m:r>
                            <a:rPr lang="en-US" i="1">
                              <a:solidFill>
                                <a:schemeClr val="accent6">
                                  <a:lumMod val="50000"/>
                                </a:schemeClr>
                              </a:solidFill>
                              <a:latin typeface="Cambria Math" panose="02040503050406030204" pitchFamily="18" charset="0"/>
                            </a:rPr>
                            <m:t>𝑃</m:t>
                          </m:r>
                          <m:r>
                            <a:rPr lang="en-US" i="1">
                              <a:solidFill>
                                <a:schemeClr val="accent6">
                                  <a:lumMod val="50000"/>
                                </a:schemeClr>
                              </a:solidFill>
                              <a:latin typeface="Cambria Math" panose="02040503050406030204" pitchFamily="18" charset="0"/>
                            </a:rPr>
                            <m:t>(</m:t>
                          </m:r>
                          <m:r>
                            <a:rPr lang="en-US" i="1">
                              <a:solidFill>
                                <a:schemeClr val="accent6">
                                  <a:lumMod val="50000"/>
                                </a:schemeClr>
                              </a:solidFill>
                              <a:latin typeface="Cambria Math" panose="02040503050406030204" pitchFamily="18" charset="0"/>
                            </a:rPr>
                            <m:t>𝑑</m:t>
                          </m:r>
                          <m:r>
                            <a:rPr lang="en-US" i="1">
                              <a:solidFill>
                                <a:schemeClr val="accent6">
                                  <a:lumMod val="50000"/>
                                </a:schemeClr>
                              </a:solidFill>
                              <a:latin typeface="Cambria Math" panose="02040503050406030204" pitchFamily="18" charset="0"/>
                            </a:rPr>
                            <m:t>)</m:t>
                          </m:r>
                        </m:den>
                      </m:f>
                    </m:oMath>
                  </m:oMathPara>
                </a14:m>
                <a:endParaRPr lang="en-US" dirty="0"/>
              </a:p>
            </p:txBody>
          </p:sp>
        </mc:Choice>
        <mc:Fallback xmlns="">
          <p:sp>
            <p:nvSpPr>
              <p:cNvPr id="6" name="Content Placeholder 2">
                <a:extLst>
                  <a:ext uri="{FF2B5EF4-FFF2-40B4-BE49-F238E27FC236}">
                    <a16:creationId xmlns:a16="http://schemas.microsoft.com/office/drawing/2014/main" id="{DE9E8732-FD7E-BAA1-CF02-EC3BB33B2CD5}"/>
                  </a:ext>
                </a:extLst>
              </p:cNvPr>
              <p:cNvSpPr txBox="1">
                <a:spLocks noRot="1" noChangeAspect="1" noMove="1" noResize="1" noEditPoints="1" noAdjustHandles="1" noChangeArrowheads="1" noChangeShapeType="1" noTextEdit="1"/>
              </p:cNvSpPr>
              <p:nvPr/>
            </p:nvSpPr>
            <p:spPr>
              <a:xfrm>
                <a:off x="3963428" y="4422604"/>
                <a:ext cx="4265143"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0386749-FDF6-8846-9563-0D54167E9E98}"/>
                  </a:ext>
                </a:extLst>
              </p:cNvPr>
              <p:cNvSpPr txBox="1"/>
              <p:nvPr/>
            </p:nvSpPr>
            <p:spPr>
              <a:xfrm>
                <a:off x="1027188" y="4276187"/>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C0386749-FDF6-8846-9563-0D54167E9E98}"/>
                  </a:ext>
                </a:extLst>
              </p:cNvPr>
              <p:cNvSpPr txBox="1">
                <a:spLocks noRot="1" noChangeAspect="1" noMove="1" noResize="1" noEditPoints="1" noAdjustHandles="1" noChangeArrowheads="1" noChangeShapeType="1" noTextEdit="1"/>
              </p:cNvSpPr>
              <p:nvPr/>
            </p:nvSpPr>
            <p:spPr>
              <a:xfrm>
                <a:off x="1027188" y="4276187"/>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1E88B76-CD92-B99A-645A-0819F4DB03C4}"/>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A1E88B76-CD92-B99A-645A-0819F4DB03C4}"/>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8EF7F8B-BA22-18F6-E223-52885670D9E1}"/>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08EF7F8B-BA22-18F6-E223-52885670D9E1}"/>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651C0DE-32AB-0FB8-2FB8-AC3FE7D82F9F}"/>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2651C0DE-32AB-0FB8-2FB8-AC3FE7D82F9F}"/>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9D383A83-5B86-BE4C-0A22-E4C26EE618F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4514468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358D-D863-9A82-DB9B-727C3675E0E7}"/>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230ECF30-CABB-70BD-8599-5BD5773C345A}"/>
              </a:ext>
            </a:extLst>
          </p:cNvPr>
          <p:cNvSpPr>
            <a:spLocks noGrp="1"/>
          </p:cNvSpPr>
          <p:nvPr>
            <p:ph idx="1"/>
          </p:nvPr>
        </p:nvSpPr>
        <p:spPr>
          <a:xfrm>
            <a:off x="838200" y="1825625"/>
            <a:ext cx="10515600" cy="1468181"/>
          </a:xfrm>
        </p:spPr>
        <p:txBody>
          <a:bodyPr/>
          <a:lstStyle/>
          <a:p>
            <a:pPr marL="0" indent="0">
              <a:buNone/>
            </a:pPr>
            <a:r>
              <a:rPr lang="en-US" noProof="0" dirty="0"/>
              <a:t>We are investigating a static code analysis tool. The tool has 90% sensitivity and 10% false positive rate. Only 5% of files actually have bugs. </a:t>
            </a:r>
            <a:r>
              <a:rPr lang="en-US" i="1" noProof="0" dirty="0"/>
              <a:t>What's the probability that a flagged file is buggy?</a:t>
            </a:r>
          </a:p>
        </p:txBody>
      </p:sp>
      <p:sp>
        <p:nvSpPr>
          <p:cNvPr id="4" name="Date Placeholder 3">
            <a:extLst>
              <a:ext uri="{FF2B5EF4-FFF2-40B4-BE49-F238E27FC236}">
                <a16:creationId xmlns:a16="http://schemas.microsoft.com/office/drawing/2014/main" id="{474ED58D-EFE4-7C8E-285D-1D82376E4E06}"/>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9E8BF09-6F56-5C92-86E5-2593A6C619CF}"/>
              </a:ext>
            </a:extLst>
          </p:cNvPr>
          <p:cNvSpPr>
            <a:spLocks noGrp="1"/>
          </p:cNvSpPr>
          <p:nvPr>
            <p:ph type="sldNum" sz="quarter" idx="12"/>
          </p:nvPr>
        </p:nvSpPr>
        <p:spPr/>
        <p:txBody>
          <a:bodyPr/>
          <a:lstStyle/>
          <a:p>
            <a:fld id="{271ECC92-9CDE-4EB3-B1C5-F46B9E1FA3C1}" type="slidenum">
              <a:rPr lang="en-US" noProof="0" smtClean="0"/>
              <a:t>35</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FE726958-BC07-4614-CBCD-80E635E5E89C}"/>
                  </a:ext>
                </a:extLst>
              </p:cNvPr>
              <p:cNvSpPr txBox="1">
                <a:spLocks/>
              </p:cNvSpPr>
              <p:nvPr/>
            </p:nvSpPr>
            <p:spPr>
              <a:xfrm>
                <a:off x="838198" y="3375848"/>
                <a:ext cx="10515600" cy="64056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The </a:t>
                </a:r>
                <a:r>
                  <a:rPr lang="en-US" b="1" noProof="0" dirty="0">
                    <a:solidFill>
                      <a:schemeClr val="accent6"/>
                    </a:solidFill>
                  </a:rPr>
                  <a:t>marginal likelihood </a:t>
                </a:r>
                <a14:m>
                  <m:oMath xmlns:m="http://schemas.openxmlformats.org/officeDocument/2006/math">
                    <m:r>
                      <a:rPr lang="en-US" b="1" i="1" noProof="0" smtClean="0">
                        <a:solidFill>
                          <a:schemeClr val="accent6"/>
                        </a:solidFill>
                        <a:latin typeface="Cambria Math" panose="02040503050406030204" pitchFamily="18" charset="0"/>
                      </a:rPr>
                      <m:t>𝑷</m:t>
                    </m:r>
                    <m:r>
                      <a:rPr lang="en-US" b="1" i="1" noProof="0" smtClean="0">
                        <a:solidFill>
                          <a:schemeClr val="accent6"/>
                        </a:solidFill>
                        <a:latin typeface="Cambria Math" panose="02040503050406030204" pitchFamily="18" charset="0"/>
                      </a:rPr>
                      <m:t>(</m:t>
                    </m:r>
                    <m:r>
                      <a:rPr lang="en-US" b="1" i="1" noProof="0" smtClean="0">
                        <a:solidFill>
                          <a:schemeClr val="accent6"/>
                        </a:solidFill>
                        <a:latin typeface="Cambria Math" panose="02040503050406030204" pitchFamily="18" charset="0"/>
                      </a:rPr>
                      <m:t>𝒅</m:t>
                    </m:r>
                    <m:r>
                      <a:rPr lang="en-US" b="1" i="1" noProof="0" smtClean="0">
                        <a:solidFill>
                          <a:schemeClr val="accent6"/>
                        </a:solidFill>
                        <a:latin typeface="Cambria Math" panose="02040503050406030204" pitchFamily="18" charset="0"/>
                      </a:rPr>
                      <m:t>)</m:t>
                    </m:r>
                  </m:oMath>
                </a14:m>
                <a:r>
                  <a:rPr lang="en-US" b="1" noProof="0" dirty="0">
                    <a:solidFill>
                      <a:schemeClr val="accent6"/>
                    </a:solidFill>
                  </a:rPr>
                  <a:t> </a:t>
                </a:r>
                <a:r>
                  <a:rPr lang="en-US" noProof="0" dirty="0"/>
                  <a:t>can be calculated from the other data: </a:t>
                </a:r>
                <a:endParaRPr lang="en-US" i="1" noProof="0" dirty="0"/>
              </a:p>
            </p:txBody>
          </p:sp>
        </mc:Choice>
        <mc:Fallback xmlns="">
          <p:sp>
            <p:nvSpPr>
              <p:cNvPr id="6" name="Content Placeholder 2">
                <a:extLst>
                  <a:ext uri="{FF2B5EF4-FFF2-40B4-BE49-F238E27FC236}">
                    <a16:creationId xmlns:a16="http://schemas.microsoft.com/office/drawing/2014/main" id="{FE726958-BC07-4614-CBCD-80E635E5E89C}"/>
                  </a:ext>
                </a:extLst>
              </p:cNvPr>
              <p:cNvSpPr txBox="1">
                <a:spLocks noRot="1" noChangeAspect="1" noMove="1" noResize="1" noEditPoints="1" noAdjustHandles="1" noChangeArrowheads="1" noChangeShapeType="1" noTextEdit="1"/>
              </p:cNvSpPr>
              <p:nvPr/>
            </p:nvSpPr>
            <p:spPr>
              <a:xfrm>
                <a:off x="838198" y="3375848"/>
                <a:ext cx="10515600" cy="640567"/>
              </a:xfrm>
              <a:prstGeom prst="rect">
                <a:avLst/>
              </a:prstGeom>
              <a:blipFill>
                <a:blip r:embed="rId2"/>
                <a:stretch>
                  <a:fillRect l="-986" t="-1428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1E19852-D80D-374D-7CBE-79E948086926}"/>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7" name="TextBox 6">
                <a:extLst>
                  <a:ext uri="{FF2B5EF4-FFF2-40B4-BE49-F238E27FC236}">
                    <a16:creationId xmlns:a16="http://schemas.microsoft.com/office/drawing/2014/main" id="{B1E19852-D80D-374D-7CBE-79E948086926}"/>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3"/>
                <a:stretch>
                  <a:fillRect l="-1223" t="-2632" r="-1223"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20995B6-1619-F9E8-7974-8154EDE76DDF}"/>
                  </a:ext>
                </a:extLst>
              </p:cNvPr>
              <p:cNvSpPr txBox="1"/>
              <p:nvPr/>
            </p:nvSpPr>
            <p:spPr>
              <a:xfrm>
                <a:off x="3248060" y="4164241"/>
                <a:ext cx="45612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e>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d>
                        <m:dPr>
                          <m:ctrlPr>
                            <a:rPr lang="en-US" sz="2000" b="0" i="1" noProof="0" smtClean="0">
                              <a:latin typeface="Cambria Math" panose="02040503050406030204" pitchFamily="18" charset="0"/>
                            </a:rPr>
                          </m:ctrlPr>
                        </m:dPr>
                        <m:e>
                          <m:r>
                            <a:rPr lang="en-US" sz="2000" b="0" i="1" noProof="0" smtClean="0">
                              <a:latin typeface="Cambria Math" panose="02040503050406030204" pitchFamily="18" charset="0"/>
                            </a:rPr>
                            <m:t>𝑑</m:t>
                          </m:r>
                        </m:e>
                        <m:e>
                          <m:r>
                            <a:rPr lang="en-US" sz="2000" b="0" i="1" noProof="0" smtClean="0">
                              <a:latin typeface="Cambria Math" panose="02040503050406030204" pitchFamily="18" charset="0"/>
                            </a:rPr>
                            <m:t>¬</m:t>
                          </m:r>
                          <m:r>
                            <a:rPr lang="en-US" sz="2000" b="0" i="1" noProof="0" smtClean="0">
                              <a:latin typeface="Cambria Math" panose="02040503050406030204" pitchFamily="18" charset="0"/>
                            </a:rPr>
                            <m:t>h</m:t>
                          </m:r>
                        </m:e>
                      </m:d>
                      <m:r>
                        <a:rPr lang="en-US" sz="2000" b="0" i="1" noProof="0" smtClean="0">
                          <a:latin typeface="Cambria Math" panose="02040503050406030204" pitchFamily="18" charset="0"/>
                        </a:rPr>
                        <m:t>⋅</m:t>
                      </m:r>
                      <m:r>
                        <a:rPr lang="en-US" sz="2000" b="0" i="1" noProof="0" smtClean="0">
                          <a:latin typeface="Cambria Math" panose="02040503050406030204" pitchFamily="18" charset="0"/>
                        </a:rPr>
                        <m:t>𝑃</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h</m:t>
                      </m:r>
                      <m:r>
                        <a:rPr lang="en-US" sz="2000" b="0" i="1" noProof="0" smtClean="0">
                          <a:latin typeface="Cambria Math" panose="02040503050406030204" pitchFamily="18" charset="0"/>
                        </a:rPr>
                        <m:t>)</m:t>
                      </m:r>
                    </m:oMath>
                  </m:oMathPara>
                </a14:m>
                <a:endParaRPr lang="en-US" noProof="0" dirty="0"/>
              </a:p>
            </p:txBody>
          </p:sp>
        </mc:Choice>
        <mc:Fallback xmlns="">
          <p:sp>
            <p:nvSpPr>
              <p:cNvPr id="8" name="TextBox 7">
                <a:extLst>
                  <a:ext uri="{FF2B5EF4-FFF2-40B4-BE49-F238E27FC236}">
                    <a16:creationId xmlns:a16="http://schemas.microsoft.com/office/drawing/2014/main" id="{820995B6-1619-F9E8-7974-8154EDE76DDF}"/>
                  </a:ext>
                </a:extLst>
              </p:cNvPr>
              <p:cNvSpPr txBox="1">
                <a:spLocks noRot="1" noChangeAspect="1" noMove="1" noResize="1" noEditPoints="1" noAdjustHandles="1" noChangeArrowheads="1" noChangeShapeType="1" noTextEdit="1"/>
              </p:cNvSpPr>
              <p:nvPr/>
            </p:nvSpPr>
            <p:spPr>
              <a:xfrm>
                <a:off x="3248060" y="4164241"/>
                <a:ext cx="4561249" cy="307777"/>
              </a:xfrm>
              <a:prstGeom prst="rect">
                <a:avLst/>
              </a:prstGeom>
              <a:blipFill>
                <a:blip r:embed="rId4"/>
                <a:stretch>
                  <a:fillRect l="-936" t="-1961" r="-1604"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0290149-43FC-FEEA-7114-98BA8F11E9B0}"/>
                  </a:ext>
                </a:extLst>
              </p:cNvPr>
              <p:cNvSpPr txBox="1"/>
              <p:nvPr/>
            </p:nvSpPr>
            <p:spPr>
              <a:xfrm>
                <a:off x="3866678" y="4619844"/>
                <a:ext cx="344914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000" b="0" i="1" noProof="0" smtClean="0">
                          <a:latin typeface="Cambria Math" panose="02040503050406030204" pitchFamily="18" charset="0"/>
                        </a:rPr>
                        <m:t>=</m:t>
                      </m:r>
                      <m:r>
                        <a:rPr lang="en-US" sz="2000" b="0" i="1" noProof="0" smtClean="0">
                          <a:latin typeface="Cambria Math" panose="02040503050406030204" pitchFamily="18" charset="0"/>
                        </a:rPr>
                        <m:t>0.9⋅0.05+0.1⋅0.95=</m:t>
                      </m:r>
                      <m:r>
                        <a:rPr lang="en-US" sz="2000" b="0" i="1" noProof="0" smtClean="0">
                          <a:solidFill>
                            <a:schemeClr val="accent6">
                              <a:lumMod val="75000"/>
                            </a:schemeClr>
                          </a:solidFill>
                          <a:latin typeface="Cambria Math" panose="02040503050406030204" pitchFamily="18" charset="0"/>
                        </a:rPr>
                        <m:t>0.14</m:t>
                      </m:r>
                    </m:oMath>
                  </m:oMathPara>
                </a14:m>
                <a:endParaRPr lang="en-US" noProof="0" dirty="0"/>
              </a:p>
            </p:txBody>
          </p:sp>
        </mc:Choice>
        <mc:Fallback xmlns="">
          <p:sp>
            <p:nvSpPr>
              <p:cNvPr id="9" name="TextBox 8">
                <a:extLst>
                  <a:ext uri="{FF2B5EF4-FFF2-40B4-BE49-F238E27FC236}">
                    <a16:creationId xmlns:a16="http://schemas.microsoft.com/office/drawing/2014/main" id="{10290149-43FC-FEEA-7114-98BA8F11E9B0}"/>
                  </a:ext>
                </a:extLst>
              </p:cNvPr>
              <p:cNvSpPr txBox="1">
                <a:spLocks noRot="1" noChangeAspect="1" noMove="1" noResize="1" noEditPoints="1" noAdjustHandles="1" noChangeArrowheads="1" noChangeShapeType="1" noTextEdit="1"/>
              </p:cNvSpPr>
              <p:nvPr/>
            </p:nvSpPr>
            <p:spPr>
              <a:xfrm>
                <a:off x="3866678" y="4619844"/>
                <a:ext cx="3449149" cy="307777"/>
              </a:xfrm>
              <a:prstGeom prst="rect">
                <a:avLst/>
              </a:prstGeom>
              <a:blipFill>
                <a:blip r:embed="rId5"/>
                <a:stretch>
                  <a:fillRect l="-353" r="-1413" b="-8000"/>
                </a:stretch>
              </a:blipFill>
            </p:spPr>
            <p:txBody>
              <a:bodyPr/>
              <a:lstStyle/>
              <a:p>
                <a:r>
                  <a:rPr lang="en-SE">
                    <a:noFill/>
                  </a:rPr>
                  <a:t> </a:t>
                </a:r>
              </a:p>
            </p:txBody>
          </p:sp>
        </mc:Fallback>
      </mc:AlternateContent>
      <p:sp>
        <p:nvSpPr>
          <p:cNvPr id="10" name="Footer Placeholder 9">
            <a:extLst>
              <a:ext uri="{FF2B5EF4-FFF2-40B4-BE49-F238E27FC236}">
                <a16:creationId xmlns:a16="http://schemas.microsoft.com/office/drawing/2014/main" id="{FB2D69D5-A96E-939B-8CEC-04B03365171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1772143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213BB-07D1-EFD2-4F82-E76DD9FDD992}"/>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695419E9-62F7-5968-82DD-D50BB436B101}"/>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0B05249A-18BF-9B60-3AD3-D4F107ABAE69}"/>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8F76CF38-D26A-E160-0F33-29D727A14F11}"/>
              </a:ext>
            </a:extLst>
          </p:cNvPr>
          <p:cNvSpPr>
            <a:spLocks noGrp="1"/>
          </p:cNvSpPr>
          <p:nvPr>
            <p:ph type="sldNum" sz="quarter" idx="12"/>
          </p:nvPr>
        </p:nvSpPr>
        <p:spPr/>
        <p:txBody>
          <a:bodyPr/>
          <a:lstStyle/>
          <a:p>
            <a:fld id="{271ECC92-9CDE-4EB3-B1C5-F46B9E1FA3C1}" type="slidenum">
              <a:rPr lang="en-US" noProof="0" smtClean="0"/>
              <a:t>36</a:t>
            </a:fld>
            <a:endParaRPr lang="en-US" noProof="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BA30F260-1EDF-B12C-B09A-73BCCB43C019}"/>
                  </a:ext>
                </a:extLst>
              </p:cNvPr>
              <p:cNvSpPr txBox="1">
                <a:spLocks/>
              </p:cNvSpPr>
              <p:nvPr/>
            </p:nvSpPr>
            <p:spPr>
              <a:xfrm>
                <a:off x="3963428" y="4422604"/>
                <a:ext cx="4266172"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0.90</m:t>
                          </m:r>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0.05</m:t>
                          </m:r>
                        </m:num>
                        <m:den>
                          <m:r>
                            <a:rPr lang="en-US" b="0" i="1" noProof="0" smtClean="0">
                              <a:solidFill>
                                <a:schemeClr val="accent6">
                                  <a:lumMod val="50000"/>
                                </a:schemeClr>
                              </a:solidFill>
                              <a:latin typeface="Cambria Math" panose="02040503050406030204" pitchFamily="18" charset="0"/>
                            </a:rPr>
                            <m:t>0.14</m:t>
                          </m:r>
                        </m:den>
                      </m:f>
                    </m:oMath>
                  </m:oMathPara>
                </a14:m>
                <a:endParaRPr lang="en-US" noProof="0" dirty="0"/>
              </a:p>
            </p:txBody>
          </p:sp>
        </mc:Choice>
        <mc:Fallback xmlns="">
          <p:sp>
            <p:nvSpPr>
              <p:cNvPr id="6" name="Content Placeholder 2">
                <a:extLst>
                  <a:ext uri="{FF2B5EF4-FFF2-40B4-BE49-F238E27FC236}">
                    <a16:creationId xmlns:a16="http://schemas.microsoft.com/office/drawing/2014/main" id="{BA30F260-1EDF-B12C-B09A-73BCCB43C019}"/>
                  </a:ext>
                </a:extLst>
              </p:cNvPr>
              <p:cNvSpPr txBox="1">
                <a:spLocks noRot="1" noChangeAspect="1" noMove="1" noResize="1" noEditPoints="1" noAdjustHandles="1" noChangeArrowheads="1" noChangeShapeType="1" noTextEdit="1"/>
              </p:cNvSpPr>
              <p:nvPr/>
            </p:nvSpPr>
            <p:spPr>
              <a:xfrm>
                <a:off x="3963428" y="4422604"/>
                <a:ext cx="4266172"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6224C76-10D2-A50D-0933-538BA223E83A}"/>
                  </a:ext>
                </a:extLst>
              </p:cNvPr>
              <p:cNvSpPr txBox="1"/>
              <p:nvPr/>
            </p:nvSpPr>
            <p:spPr>
              <a:xfrm>
                <a:off x="1302512" y="4300423"/>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8" name="TextBox 7">
                <a:extLst>
                  <a:ext uri="{FF2B5EF4-FFF2-40B4-BE49-F238E27FC236}">
                    <a16:creationId xmlns:a16="http://schemas.microsoft.com/office/drawing/2014/main" id="{16224C76-10D2-A50D-0933-538BA223E83A}"/>
                  </a:ext>
                </a:extLst>
              </p:cNvPr>
              <p:cNvSpPr txBox="1">
                <a:spLocks noRot="1" noChangeAspect="1" noMove="1" noResize="1" noEditPoints="1" noAdjustHandles="1" noChangeArrowheads="1" noChangeShapeType="1" noTextEdit="1"/>
              </p:cNvSpPr>
              <p:nvPr/>
            </p:nvSpPr>
            <p:spPr>
              <a:xfrm>
                <a:off x="1302512" y="4300423"/>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F962B1-48B0-246E-E0E4-C910C9F8335E}"/>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0" name="TextBox 9">
                <a:extLst>
                  <a:ext uri="{FF2B5EF4-FFF2-40B4-BE49-F238E27FC236}">
                    <a16:creationId xmlns:a16="http://schemas.microsoft.com/office/drawing/2014/main" id="{6DF962B1-48B0-246E-E0E4-C910C9F8335E}"/>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EF23848-5539-4B0F-1D3B-BF76E1C5C715}"/>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12" name="TextBox 11">
                <a:extLst>
                  <a:ext uri="{FF2B5EF4-FFF2-40B4-BE49-F238E27FC236}">
                    <a16:creationId xmlns:a16="http://schemas.microsoft.com/office/drawing/2014/main" id="{BEF23848-5539-4B0F-1D3B-BF76E1C5C715}"/>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200C165-3084-C17A-F134-DB659C1EFD18}"/>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14" name="TextBox 13">
                <a:extLst>
                  <a:ext uri="{FF2B5EF4-FFF2-40B4-BE49-F238E27FC236}">
                    <a16:creationId xmlns:a16="http://schemas.microsoft.com/office/drawing/2014/main" id="{E200C165-3084-C17A-F134-DB659C1EFD18}"/>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E14278F6-3F41-8958-19E2-117D94968A31}"/>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60431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54274-EF83-CD81-471A-BFA4057355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D403E-CFB4-B377-452A-70C64F9D7B33}"/>
              </a:ext>
            </a:extLst>
          </p:cNvPr>
          <p:cNvSpPr>
            <a:spLocks noGrp="1"/>
          </p:cNvSpPr>
          <p:nvPr>
            <p:ph type="title"/>
          </p:nvPr>
        </p:nvSpPr>
        <p:spPr/>
        <p:txBody>
          <a:bodyPr/>
          <a:lstStyle/>
          <a:p>
            <a:r>
              <a:rPr lang="en-US" noProof="0" dirty="0"/>
              <a:t>Example</a:t>
            </a:r>
          </a:p>
        </p:txBody>
      </p:sp>
      <p:sp>
        <p:nvSpPr>
          <p:cNvPr id="3" name="Content Placeholder 2">
            <a:extLst>
              <a:ext uri="{FF2B5EF4-FFF2-40B4-BE49-F238E27FC236}">
                <a16:creationId xmlns:a16="http://schemas.microsoft.com/office/drawing/2014/main" id="{B522405D-CC0F-0A72-EF52-07C9A1F13CBA}"/>
              </a:ext>
            </a:extLst>
          </p:cNvPr>
          <p:cNvSpPr>
            <a:spLocks noGrp="1"/>
          </p:cNvSpPr>
          <p:nvPr>
            <p:ph idx="1"/>
          </p:nvPr>
        </p:nvSpPr>
        <p:spPr>
          <a:xfrm>
            <a:off x="838200" y="1825625"/>
            <a:ext cx="10515600" cy="1325563"/>
          </a:xfrm>
        </p:spPr>
        <p:txBody>
          <a:bodyPr/>
          <a:lstStyle/>
          <a:p>
            <a:pPr marL="0" indent="0">
              <a:buNone/>
            </a:pPr>
            <a:r>
              <a:rPr lang="en-US" noProof="0" dirty="0"/>
              <a:t>We are investigating a static code analysis tool. The tool has </a:t>
            </a:r>
            <a:r>
              <a:rPr lang="en-US" b="1" noProof="0" dirty="0">
                <a:solidFill>
                  <a:schemeClr val="accent1">
                    <a:lumMod val="50000"/>
                  </a:schemeClr>
                </a:solidFill>
              </a:rPr>
              <a:t>90% sensitivity and 10% false positive rate</a:t>
            </a:r>
            <a:r>
              <a:rPr lang="en-US" noProof="0" dirty="0"/>
              <a:t>. Only </a:t>
            </a:r>
            <a:r>
              <a:rPr lang="en-US" b="1" noProof="0" dirty="0">
                <a:solidFill>
                  <a:schemeClr val="accent2">
                    <a:lumMod val="75000"/>
                  </a:schemeClr>
                </a:solidFill>
              </a:rPr>
              <a:t>5% of files actually have bugs</a:t>
            </a:r>
            <a:r>
              <a:rPr lang="en-US" noProof="0" dirty="0"/>
              <a:t>. </a:t>
            </a:r>
            <a:r>
              <a:rPr lang="en-US" i="1" noProof="0" dirty="0"/>
              <a:t>What's the </a:t>
            </a:r>
            <a:r>
              <a:rPr lang="en-US" b="1" i="1" noProof="0" dirty="0">
                <a:solidFill>
                  <a:schemeClr val="bg2">
                    <a:lumMod val="50000"/>
                  </a:schemeClr>
                </a:solidFill>
              </a:rPr>
              <a:t>probability that a flagged file is buggy</a:t>
            </a:r>
            <a:r>
              <a:rPr lang="en-US" i="1" noProof="0" dirty="0"/>
              <a:t>?</a:t>
            </a:r>
          </a:p>
        </p:txBody>
      </p:sp>
      <p:sp>
        <p:nvSpPr>
          <p:cNvPr id="4" name="Date Placeholder 3">
            <a:extLst>
              <a:ext uri="{FF2B5EF4-FFF2-40B4-BE49-F238E27FC236}">
                <a16:creationId xmlns:a16="http://schemas.microsoft.com/office/drawing/2014/main" id="{D866FCD7-C803-AF46-FC80-7870CF5EC483}"/>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A12DED34-620E-BC2E-3B02-705655816531}"/>
              </a:ext>
            </a:extLst>
          </p:cNvPr>
          <p:cNvSpPr>
            <a:spLocks noGrp="1"/>
          </p:cNvSpPr>
          <p:nvPr>
            <p:ph type="sldNum" sz="quarter" idx="12"/>
          </p:nvPr>
        </p:nvSpPr>
        <p:spPr/>
        <p:txBody>
          <a:bodyPr/>
          <a:lstStyle/>
          <a:p>
            <a:fld id="{271ECC92-9CDE-4EB3-B1C5-F46B9E1FA3C1}" type="slidenum">
              <a:rPr lang="en-US" noProof="0" smtClean="0"/>
              <a:t>37</a:t>
            </a:fld>
            <a:endParaRPr lang="en-US" noProof="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093B05A3-2539-0873-4BF9-783B8E6CBD45}"/>
                  </a:ext>
                </a:extLst>
              </p:cNvPr>
              <p:cNvSpPr txBox="1">
                <a:spLocks/>
              </p:cNvSpPr>
              <p:nvPr/>
            </p:nvSpPr>
            <p:spPr>
              <a:xfrm>
                <a:off x="3963428" y="4422604"/>
                <a:ext cx="5584432"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0.90</m:t>
                          </m:r>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0.05</m:t>
                          </m:r>
                        </m:num>
                        <m:den>
                          <m:r>
                            <a:rPr lang="en-US" b="0" i="1" noProof="0" smtClean="0">
                              <a:solidFill>
                                <a:schemeClr val="accent6">
                                  <a:lumMod val="50000"/>
                                </a:schemeClr>
                              </a:solidFill>
                              <a:latin typeface="Cambria Math" panose="02040503050406030204" pitchFamily="18" charset="0"/>
                            </a:rPr>
                            <m:t>0.14</m:t>
                          </m:r>
                        </m:den>
                      </m:f>
                      <m:r>
                        <a:rPr lang="en-US" b="0" i="1" noProof="0" smtClean="0">
                          <a:latin typeface="Cambria Math" panose="02040503050406030204" pitchFamily="18" charset="0"/>
                        </a:rPr>
                        <m:t>=</m:t>
                      </m:r>
                      <m:r>
                        <a:rPr lang="en-US" b="0" i="1" noProof="0" smtClean="0">
                          <a:solidFill>
                            <a:schemeClr val="bg2">
                              <a:lumMod val="50000"/>
                            </a:schemeClr>
                          </a:solidFill>
                          <a:latin typeface="Cambria Math" panose="02040503050406030204" pitchFamily="18" charset="0"/>
                        </a:rPr>
                        <m:t>0.321</m:t>
                      </m:r>
                    </m:oMath>
                  </m:oMathPara>
                </a14:m>
                <a:endParaRPr lang="en-US" noProof="0" dirty="0"/>
              </a:p>
            </p:txBody>
          </p:sp>
        </mc:Choice>
        <mc:Fallback xmlns="">
          <p:sp>
            <p:nvSpPr>
              <p:cNvPr id="15" name="Content Placeholder 2">
                <a:extLst>
                  <a:ext uri="{FF2B5EF4-FFF2-40B4-BE49-F238E27FC236}">
                    <a16:creationId xmlns:a16="http://schemas.microsoft.com/office/drawing/2014/main" id="{093B05A3-2539-0873-4BF9-783B8E6CBD45}"/>
                  </a:ext>
                </a:extLst>
              </p:cNvPr>
              <p:cNvSpPr txBox="1">
                <a:spLocks noRot="1" noChangeAspect="1" noMove="1" noResize="1" noEditPoints="1" noAdjustHandles="1" noChangeArrowheads="1" noChangeShapeType="1" noTextEdit="1"/>
              </p:cNvSpPr>
              <p:nvPr/>
            </p:nvSpPr>
            <p:spPr>
              <a:xfrm>
                <a:off x="3963428" y="4422604"/>
                <a:ext cx="5584432" cy="99409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9E047B0-C056-D939-AC77-B6048F71AAFC}"/>
                  </a:ext>
                </a:extLst>
              </p:cNvPr>
              <p:cNvSpPr txBox="1"/>
              <p:nvPr/>
            </p:nvSpPr>
            <p:spPr>
              <a:xfrm>
                <a:off x="1302512" y="4300423"/>
                <a:ext cx="2936240" cy="1200329"/>
              </a:xfrm>
              <a:prstGeom prst="rect">
                <a:avLst/>
              </a:prstGeom>
              <a:noFill/>
            </p:spPr>
            <p:txBody>
              <a:bodyPr wrap="square" rtlCol="0">
                <a:spAutoFit/>
              </a:bodyPr>
              <a:lstStyle/>
              <a:p>
                <a:pPr algn="r"/>
                <a:r>
                  <a:rPr lang="en-US" b="1" noProof="0" dirty="0">
                    <a:solidFill>
                      <a:schemeClr val="bg2">
                        <a:lumMod val="50000"/>
                      </a:schemeClr>
                    </a:solidFill>
                  </a:rPr>
                  <a:t>Posterior</a:t>
                </a:r>
              </a:p>
              <a:p>
                <a:pPr algn="r"/>
                <a:r>
                  <a:rPr lang="en-US" noProof="0" dirty="0"/>
                  <a:t>Probability that the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the observed data </a:t>
                </a:r>
                <a14:m>
                  <m:oMath xmlns:m="http://schemas.openxmlformats.org/officeDocument/2006/math">
                    <m:r>
                      <a:rPr lang="en-US" b="0" i="1" noProof="0" smtClean="0">
                        <a:latin typeface="Cambria Math" panose="02040503050406030204" pitchFamily="18" charset="0"/>
                      </a:rPr>
                      <m:t>𝑑</m:t>
                    </m:r>
                  </m:oMath>
                </a14:m>
                <a:endParaRPr lang="en-US" noProof="0" dirty="0"/>
              </a:p>
            </p:txBody>
          </p:sp>
        </mc:Choice>
        <mc:Fallback xmlns="">
          <p:sp>
            <p:nvSpPr>
              <p:cNvPr id="17" name="TextBox 16">
                <a:extLst>
                  <a:ext uri="{FF2B5EF4-FFF2-40B4-BE49-F238E27FC236}">
                    <a16:creationId xmlns:a16="http://schemas.microsoft.com/office/drawing/2014/main" id="{89E047B0-C056-D939-AC77-B6048F71AAFC}"/>
                  </a:ext>
                </a:extLst>
              </p:cNvPr>
              <p:cNvSpPr txBox="1">
                <a:spLocks noRot="1" noChangeAspect="1" noMove="1" noResize="1" noEditPoints="1" noAdjustHandles="1" noChangeArrowheads="1" noChangeShapeType="1" noTextEdit="1"/>
              </p:cNvSpPr>
              <p:nvPr/>
            </p:nvSpPr>
            <p:spPr>
              <a:xfrm>
                <a:off x="1302512" y="4300423"/>
                <a:ext cx="2936240" cy="1200329"/>
              </a:xfrm>
              <a:prstGeom prst="rect">
                <a:avLst/>
              </a:prstGeom>
              <a:blipFill>
                <a:blip r:embed="rId3"/>
                <a:stretch>
                  <a:fillRect t="-2030" r="-3534" b="-761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5D5D61B-1777-5A44-0AD2-0FC3F973B16B}"/>
                  </a:ext>
                </a:extLst>
              </p:cNvPr>
              <p:cNvSpPr txBox="1"/>
              <p:nvPr/>
            </p:nvSpPr>
            <p:spPr>
              <a:xfrm>
                <a:off x="4038600" y="3262646"/>
                <a:ext cx="2936240" cy="923330"/>
              </a:xfrm>
              <a:prstGeom prst="rect">
                <a:avLst/>
              </a:prstGeom>
              <a:noFill/>
            </p:spPr>
            <p:txBody>
              <a:bodyPr wrap="square" rtlCol="0">
                <a:spAutoFit/>
              </a:bodyPr>
              <a:lstStyle/>
              <a:p>
                <a:pPr algn="r"/>
                <a:r>
                  <a:rPr lang="en-US" b="1" noProof="0" dirty="0">
                    <a:solidFill>
                      <a:schemeClr val="accent1">
                        <a:lumMod val="50000"/>
                      </a:schemeClr>
                    </a:solidFill>
                  </a:rPr>
                  <a:t>Likelihood</a:t>
                </a:r>
              </a:p>
              <a:p>
                <a:pPr algn="r"/>
                <a:r>
                  <a:rPr lang="en-US" noProof="0" dirty="0"/>
                  <a:t>of observing data </a:t>
                </a:r>
                <a14:m>
                  <m:oMath xmlns:m="http://schemas.openxmlformats.org/officeDocument/2006/math">
                    <m:r>
                      <a:rPr lang="en-US" b="0" i="1" noProof="0" smtClean="0">
                        <a:latin typeface="Cambria Math" panose="02040503050406030204" pitchFamily="18" charset="0"/>
                      </a:rPr>
                      <m:t>𝑑</m:t>
                    </m:r>
                  </m:oMath>
                </a14:m>
                <a:r>
                  <a:rPr lang="en-US" noProof="0" dirty="0"/>
                  <a:t> if the hypothesis </a:t>
                </a:r>
                <a14:m>
                  <m:oMath xmlns:m="http://schemas.openxmlformats.org/officeDocument/2006/math">
                    <m:r>
                      <a:rPr lang="en-US" i="1" noProof="0" smtClean="0">
                        <a:latin typeface="Cambria Math" panose="02040503050406030204" pitchFamily="18" charset="0"/>
                      </a:rPr>
                      <m:t>h</m:t>
                    </m:r>
                  </m:oMath>
                </a14:m>
                <a:r>
                  <a:rPr lang="en-US" noProof="0" dirty="0"/>
                  <a:t> were true</a:t>
                </a:r>
              </a:p>
            </p:txBody>
          </p:sp>
        </mc:Choice>
        <mc:Fallback xmlns="">
          <p:sp>
            <p:nvSpPr>
              <p:cNvPr id="19" name="TextBox 18">
                <a:extLst>
                  <a:ext uri="{FF2B5EF4-FFF2-40B4-BE49-F238E27FC236}">
                    <a16:creationId xmlns:a16="http://schemas.microsoft.com/office/drawing/2014/main" id="{75D5D61B-1777-5A44-0AD2-0FC3F973B16B}"/>
                  </a:ext>
                </a:extLst>
              </p:cNvPr>
              <p:cNvSpPr txBox="1">
                <a:spLocks noRot="1" noChangeAspect="1" noMove="1" noResize="1" noEditPoints="1" noAdjustHandles="1" noChangeArrowheads="1" noChangeShapeType="1" noTextEdit="1"/>
              </p:cNvSpPr>
              <p:nvPr/>
            </p:nvSpPr>
            <p:spPr>
              <a:xfrm>
                <a:off x="4038600" y="3262646"/>
                <a:ext cx="2936240" cy="923330"/>
              </a:xfrm>
              <a:prstGeom prst="rect">
                <a:avLst/>
              </a:prstGeom>
              <a:blipFill>
                <a:blip r:embed="rId4"/>
                <a:stretch>
                  <a:fillRect t="-2632" r="-3326"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D9E4922-293F-009A-EA53-547AD45E4481}"/>
                  </a:ext>
                </a:extLst>
              </p:cNvPr>
              <p:cNvSpPr txBox="1"/>
              <p:nvPr/>
            </p:nvSpPr>
            <p:spPr>
              <a:xfrm>
                <a:off x="7045960" y="3256147"/>
                <a:ext cx="3129280" cy="923330"/>
              </a:xfrm>
              <a:prstGeom prst="rect">
                <a:avLst/>
              </a:prstGeom>
              <a:noFill/>
            </p:spPr>
            <p:txBody>
              <a:bodyPr wrap="square" rtlCol="0">
                <a:spAutoFit/>
              </a:bodyPr>
              <a:lstStyle/>
              <a:p>
                <a:r>
                  <a:rPr lang="en-US" b="1" noProof="0" dirty="0">
                    <a:solidFill>
                      <a:schemeClr val="accent2">
                        <a:lumMod val="50000"/>
                      </a:schemeClr>
                    </a:solidFill>
                  </a:rPr>
                  <a:t>Prior</a:t>
                </a:r>
              </a:p>
              <a:p>
                <a:r>
                  <a:rPr lang="en-US" noProof="0" dirty="0"/>
                  <a:t>probability that hypothesis </a:t>
                </a:r>
                <a14:m>
                  <m:oMath xmlns:m="http://schemas.openxmlformats.org/officeDocument/2006/math">
                    <m:r>
                      <a:rPr lang="en-US" b="0" i="1" noProof="0" smtClean="0">
                        <a:latin typeface="Cambria Math" panose="02040503050406030204" pitchFamily="18" charset="0"/>
                      </a:rPr>
                      <m:t>h</m:t>
                    </m:r>
                  </m:oMath>
                </a14:m>
                <a:r>
                  <a:rPr lang="en-US" noProof="0" dirty="0"/>
                  <a:t> is true given no information</a:t>
                </a:r>
              </a:p>
            </p:txBody>
          </p:sp>
        </mc:Choice>
        <mc:Fallback xmlns="">
          <p:sp>
            <p:nvSpPr>
              <p:cNvPr id="21" name="TextBox 20">
                <a:extLst>
                  <a:ext uri="{FF2B5EF4-FFF2-40B4-BE49-F238E27FC236}">
                    <a16:creationId xmlns:a16="http://schemas.microsoft.com/office/drawing/2014/main" id="{9D9E4922-293F-009A-EA53-547AD45E4481}"/>
                  </a:ext>
                </a:extLst>
              </p:cNvPr>
              <p:cNvSpPr txBox="1">
                <a:spLocks noRot="1" noChangeAspect="1" noMove="1" noResize="1" noEditPoints="1" noAdjustHandles="1" noChangeArrowheads="1" noChangeShapeType="1" noTextEdit="1"/>
              </p:cNvSpPr>
              <p:nvPr/>
            </p:nvSpPr>
            <p:spPr>
              <a:xfrm>
                <a:off x="7045960" y="3256147"/>
                <a:ext cx="3129280" cy="923330"/>
              </a:xfrm>
              <a:prstGeom prst="rect">
                <a:avLst/>
              </a:prstGeom>
              <a:blipFill>
                <a:blip r:embed="rId5"/>
                <a:stretch>
                  <a:fillRect l="-1754" t="-2632"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65C4D64-5BB7-51AF-6AA6-53D915F4FFB3}"/>
                  </a:ext>
                </a:extLst>
              </p:cNvPr>
              <p:cNvSpPr txBox="1"/>
              <p:nvPr/>
            </p:nvSpPr>
            <p:spPr>
              <a:xfrm>
                <a:off x="6370320" y="5433020"/>
                <a:ext cx="3989022" cy="923330"/>
              </a:xfrm>
              <a:prstGeom prst="rect">
                <a:avLst/>
              </a:prstGeom>
              <a:noFill/>
            </p:spPr>
            <p:txBody>
              <a:bodyPr wrap="square" rtlCol="0">
                <a:spAutoFit/>
              </a:bodyPr>
              <a:lstStyle/>
              <a:p>
                <a:r>
                  <a:rPr lang="en-US" b="1" noProof="0" dirty="0">
                    <a:solidFill>
                      <a:schemeClr val="accent6">
                        <a:lumMod val="50000"/>
                      </a:schemeClr>
                    </a:solidFill>
                  </a:rPr>
                  <a:t>Marginal likelihood</a:t>
                </a:r>
              </a:p>
              <a:p>
                <a:r>
                  <a:rPr lang="en-US" noProof="0" dirty="0"/>
                  <a:t>i.e., the probability to observe the data </a:t>
                </a:r>
                <a14:m>
                  <m:oMath xmlns:m="http://schemas.openxmlformats.org/officeDocument/2006/math">
                    <m:r>
                      <a:rPr lang="en-US" b="0" i="1" noProof="0" smtClean="0">
                        <a:latin typeface="Cambria Math" panose="02040503050406030204" pitchFamily="18" charset="0"/>
                      </a:rPr>
                      <m:t>𝑑</m:t>
                    </m:r>
                  </m:oMath>
                </a14:m>
                <a:r>
                  <a:rPr lang="en-US" noProof="0" dirty="0"/>
                  <a:t> under all possible hypotheses</a:t>
                </a:r>
              </a:p>
            </p:txBody>
          </p:sp>
        </mc:Choice>
        <mc:Fallback xmlns="">
          <p:sp>
            <p:nvSpPr>
              <p:cNvPr id="23" name="TextBox 22">
                <a:extLst>
                  <a:ext uri="{FF2B5EF4-FFF2-40B4-BE49-F238E27FC236}">
                    <a16:creationId xmlns:a16="http://schemas.microsoft.com/office/drawing/2014/main" id="{165C4D64-5BB7-51AF-6AA6-53D915F4FFB3}"/>
                  </a:ext>
                </a:extLst>
              </p:cNvPr>
              <p:cNvSpPr txBox="1">
                <a:spLocks noRot="1" noChangeAspect="1" noMove="1" noResize="1" noEditPoints="1" noAdjustHandles="1" noChangeArrowheads="1" noChangeShapeType="1" noTextEdit="1"/>
              </p:cNvSpPr>
              <p:nvPr/>
            </p:nvSpPr>
            <p:spPr>
              <a:xfrm>
                <a:off x="6370320" y="5433020"/>
                <a:ext cx="3989022" cy="923330"/>
              </a:xfrm>
              <a:prstGeom prst="rect">
                <a:avLst/>
              </a:prstGeom>
              <a:blipFill>
                <a:blip r:embed="rId6"/>
                <a:stretch>
                  <a:fillRect l="-1223" t="-2632" r="-1223" b="-9868"/>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C6E75D32-AA15-C17C-4BB5-1DECCE213ECF}"/>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6715820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98B-D947-BDD0-27BE-D9A573652F97}"/>
              </a:ext>
            </a:extLst>
          </p:cNvPr>
          <p:cNvSpPr>
            <a:spLocks noGrp="1"/>
          </p:cNvSpPr>
          <p:nvPr>
            <p:ph type="title"/>
          </p:nvPr>
        </p:nvSpPr>
        <p:spPr/>
        <p:txBody>
          <a:bodyPr/>
          <a:lstStyle/>
          <a:p>
            <a:r>
              <a:rPr lang="en-US" noProof="0" dirty="0"/>
              <a:t>Application I</a:t>
            </a:r>
          </a:p>
        </p:txBody>
      </p:sp>
      <p:sp>
        <p:nvSpPr>
          <p:cNvPr id="3" name="Text Placeholder 2">
            <a:extLst>
              <a:ext uri="{FF2B5EF4-FFF2-40B4-BE49-F238E27FC236}">
                <a16:creationId xmlns:a16="http://schemas.microsoft.com/office/drawing/2014/main" id="{D905D937-6E43-50FA-C7C7-0332DDD29F9D}"/>
              </a:ext>
            </a:extLst>
          </p:cNvPr>
          <p:cNvSpPr>
            <a:spLocks noGrp="1"/>
          </p:cNvSpPr>
          <p:nvPr>
            <p:ph type="body" idx="1"/>
          </p:nvPr>
        </p:nvSpPr>
        <p:spPr/>
        <p:txBody>
          <a:bodyPr/>
          <a:lstStyle/>
          <a:p>
            <a:r>
              <a:rPr lang="en-SE" noProof="0" dirty="0"/>
              <a:t>Using Bayesian Data Analysis in Practice</a:t>
            </a:r>
            <a:endParaRPr lang="en-US" noProof="0" dirty="0"/>
          </a:p>
        </p:txBody>
      </p:sp>
      <p:sp>
        <p:nvSpPr>
          <p:cNvPr id="4" name="Date Placeholder 3">
            <a:extLst>
              <a:ext uri="{FF2B5EF4-FFF2-40B4-BE49-F238E27FC236}">
                <a16:creationId xmlns:a16="http://schemas.microsoft.com/office/drawing/2014/main" id="{93DB0261-5EF8-81A2-08FD-03B2B0FE97C8}"/>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7F08A1E-83CB-9886-1B75-2BA285C6C54A}"/>
              </a:ext>
            </a:extLst>
          </p:cNvPr>
          <p:cNvSpPr>
            <a:spLocks noGrp="1"/>
          </p:cNvSpPr>
          <p:nvPr>
            <p:ph type="sldNum" sz="quarter" idx="12"/>
          </p:nvPr>
        </p:nvSpPr>
        <p:spPr/>
        <p:txBody>
          <a:bodyPr/>
          <a:lstStyle/>
          <a:p>
            <a:fld id="{271ECC92-9CDE-4EB3-B1C5-F46B9E1FA3C1}" type="slidenum">
              <a:rPr lang="en-US" noProof="0" smtClean="0"/>
              <a:t>38</a:t>
            </a:fld>
            <a:endParaRPr lang="en-US" noProof="0" dirty="0"/>
          </a:p>
        </p:txBody>
      </p:sp>
      <p:sp>
        <p:nvSpPr>
          <p:cNvPr id="6" name="Footer Placeholder 5">
            <a:extLst>
              <a:ext uri="{FF2B5EF4-FFF2-40B4-BE49-F238E27FC236}">
                <a16:creationId xmlns:a16="http://schemas.microsoft.com/office/drawing/2014/main" id="{1C439F41-AA96-407F-8377-8BD23EAFD689}"/>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566049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235B755-6151-7B6F-E063-CFA8D1224C15}"/>
              </a:ext>
            </a:extLst>
          </p:cNvPr>
          <p:cNvSpPr>
            <a:spLocks noGrp="1"/>
          </p:cNvSpPr>
          <p:nvPr>
            <p:ph type="title"/>
          </p:nvPr>
        </p:nvSpPr>
        <p:spPr/>
        <p:txBody>
          <a:bodyPr/>
          <a:lstStyle/>
          <a:p>
            <a:r>
              <a:rPr lang="en-US" noProof="0" dirty="0"/>
              <a:t>The Bayesian Workflow</a:t>
            </a:r>
          </a:p>
        </p:txBody>
      </p:sp>
      <p:sp>
        <p:nvSpPr>
          <p:cNvPr id="7" name="Content Placeholder 6">
            <a:extLst>
              <a:ext uri="{FF2B5EF4-FFF2-40B4-BE49-F238E27FC236}">
                <a16:creationId xmlns:a16="http://schemas.microsoft.com/office/drawing/2014/main" id="{5BA859F7-9B9B-8A71-B498-A064E1946BC8}"/>
              </a:ext>
            </a:extLst>
          </p:cNvPr>
          <p:cNvSpPr>
            <a:spLocks noGrp="1"/>
          </p:cNvSpPr>
          <p:nvPr>
            <p:ph idx="1"/>
          </p:nvPr>
        </p:nvSpPr>
        <p:spPr>
          <a:xfrm>
            <a:off x="838200" y="1825625"/>
            <a:ext cx="10515600" cy="967002"/>
          </a:xfrm>
        </p:spPr>
        <p:txBody>
          <a:bodyPr/>
          <a:lstStyle/>
          <a:p>
            <a:pPr marL="0" indent="0">
              <a:buNone/>
            </a:pPr>
            <a:r>
              <a:rPr lang="en-US" noProof="0" dirty="0"/>
              <a:t>The </a:t>
            </a:r>
            <a:r>
              <a:rPr lang="en-SE" noProof="0" dirty="0"/>
              <a:t>upcoming</a:t>
            </a:r>
            <a:r>
              <a:rPr lang="en-US" noProof="0" dirty="0"/>
              <a:t> demonstration will teach </a:t>
            </a:r>
            <a:r>
              <a:rPr lang="en-SE" noProof="0" dirty="0"/>
              <a:t>you to </a:t>
            </a:r>
            <a:r>
              <a:rPr lang="en-SE" i="1" noProof="0" dirty="0"/>
              <a:t>understand </a:t>
            </a:r>
            <a:r>
              <a:rPr lang="en-SE" noProof="0" dirty="0"/>
              <a:t>or </a:t>
            </a:r>
            <a:r>
              <a:rPr lang="en-SE" b="1" noProof="0" dirty="0"/>
              <a:t>do </a:t>
            </a:r>
            <a:r>
              <a:rPr lang="en-SE" noProof="0" dirty="0"/>
              <a:t>the following steps of a practical Bayesian workflow:</a:t>
            </a:r>
            <a:endParaRPr lang="en-US" noProof="0" dirty="0"/>
          </a:p>
        </p:txBody>
      </p:sp>
      <p:sp>
        <p:nvSpPr>
          <p:cNvPr id="4" name="Date Placeholder 3">
            <a:extLst>
              <a:ext uri="{FF2B5EF4-FFF2-40B4-BE49-F238E27FC236}">
                <a16:creationId xmlns:a16="http://schemas.microsoft.com/office/drawing/2014/main" id="{35165FF1-E30A-12F1-C094-5E5BE00226D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79777C7-4C0B-5F58-A75C-788C2C15F472}"/>
              </a:ext>
            </a:extLst>
          </p:cNvPr>
          <p:cNvSpPr>
            <a:spLocks noGrp="1"/>
          </p:cNvSpPr>
          <p:nvPr>
            <p:ph type="sldNum" sz="quarter" idx="12"/>
          </p:nvPr>
        </p:nvSpPr>
        <p:spPr/>
        <p:txBody>
          <a:bodyPr/>
          <a:lstStyle/>
          <a:p>
            <a:fld id="{271ECC92-9CDE-4EB3-B1C5-F46B9E1FA3C1}" type="slidenum">
              <a:rPr lang="en-US" noProof="0" smtClean="0"/>
              <a:t>39</a:t>
            </a:fld>
            <a:endParaRPr lang="en-US" noProof="0" dirty="0"/>
          </a:p>
        </p:txBody>
      </p:sp>
      <p:sp>
        <p:nvSpPr>
          <p:cNvPr id="51" name="TextBox 50">
            <a:extLst>
              <a:ext uri="{FF2B5EF4-FFF2-40B4-BE49-F238E27FC236}">
                <a16:creationId xmlns:a16="http://schemas.microsoft.com/office/drawing/2014/main" id="{1FE5C911-2568-9BE3-93DC-6E3FCCDD7FA3}"/>
              </a:ext>
            </a:extLst>
          </p:cNvPr>
          <p:cNvSpPr txBox="1"/>
          <p:nvPr/>
        </p:nvSpPr>
        <p:spPr>
          <a:xfrm>
            <a:off x="2131182" y="3113727"/>
            <a:ext cx="2804357" cy="369332"/>
          </a:xfrm>
          <a:prstGeom prst="rect">
            <a:avLst/>
          </a:prstGeom>
          <a:noFill/>
        </p:spPr>
        <p:txBody>
          <a:bodyPr wrap="none" rtlCol="0">
            <a:spAutoFit/>
          </a:bodyPr>
          <a:lstStyle/>
          <a:p>
            <a:r>
              <a:rPr lang="en-SE" b="1" dirty="0"/>
              <a:t>Build</a:t>
            </a:r>
            <a:r>
              <a:rPr lang="en-SE" dirty="0"/>
              <a:t> a regression formula</a:t>
            </a:r>
            <a:endParaRPr lang="en-SE" i="1" dirty="0"/>
          </a:p>
        </p:txBody>
      </p:sp>
      <p:sp>
        <p:nvSpPr>
          <p:cNvPr id="53" name="TextBox 52">
            <a:extLst>
              <a:ext uri="{FF2B5EF4-FFF2-40B4-BE49-F238E27FC236}">
                <a16:creationId xmlns:a16="http://schemas.microsoft.com/office/drawing/2014/main" id="{785E26E6-3C1A-C55D-0A68-843CD2BAF812}"/>
              </a:ext>
            </a:extLst>
          </p:cNvPr>
          <p:cNvSpPr txBox="1"/>
          <p:nvPr/>
        </p:nvSpPr>
        <p:spPr>
          <a:xfrm>
            <a:off x="2131182" y="37236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3167BDAA-C9EA-6F57-A9B8-2FF38F64966E}"/>
              </a:ext>
            </a:extLst>
          </p:cNvPr>
          <p:cNvSpPr txBox="1"/>
          <p:nvPr/>
        </p:nvSpPr>
        <p:spPr>
          <a:xfrm>
            <a:off x="2131182" y="43291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A199CD00-1E44-70A1-A66F-4D998A032710}"/>
              </a:ext>
            </a:extLst>
          </p:cNvPr>
          <p:cNvSpPr txBox="1"/>
          <p:nvPr/>
        </p:nvSpPr>
        <p:spPr>
          <a:xfrm>
            <a:off x="2131182" y="49490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B66615E1-548F-0E81-35D9-F07F3BEDB5FF}"/>
              </a:ext>
            </a:extLst>
          </p:cNvPr>
          <p:cNvSpPr txBox="1"/>
          <p:nvPr/>
        </p:nvSpPr>
        <p:spPr>
          <a:xfrm>
            <a:off x="2131182" y="5571019"/>
            <a:ext cx="8025915" cy="369332"/>
          </a:xfrm>
          <a:prstGeom prst="rect">
            <a:avLst/>
          </a:prstGeom>
          <a:noFill/>
        </p:spPr>
        <p:txBody>
          <a:bodyPr wrap="none" rtlCol="0">
            <a:spAutoFit/>
          </a:bodyPr>
          <a:lstStyle/>
          <a:p>
            <a:r>
              <a:rPr lang="en-SE" b="1" dirty="0"/>
              <a:t>Interpret </a:t>
            </a:r>
            <a:r>
              <a:rPr lang="en-SE" dirty="0"/>
              <a:t>posterior distributions to draw conclusions from the Bayesian model</a:t>
            </a:r>
            <a:endParaRPr lang="en-SE" b="1" dirty="0"/>
          </a:p>
        </p:txBody>
      </p:sp>
      <p:grpSp>
        <p:nvGrpSpPr>
          <p:cNvPr id="63" name="Group 62">
            <a:extLst>
              <a:ext uri="{FF2B5EF4-FFF2-40B4-BE49-F238E27FC236}">
                <a16:creationId xmlns:a16="http://schemas.microsoft.com/office/drawing/2014/main" id="{24D446E9-291A-024F-B185-51770AE99AB2}"/>
              </a:ext>
            </a:extLst>
          </p:cNvPr>
          <p:cNvGrpSpPr/>
          <p:nvPr/>
        </p:nvGrpSpPr>
        <p:grpSpPr>
          <a:xfrm>
            <a:off x="1485898" y="3035562"/>
            <a:ext cx="504000" cy="504000"/>
            <a:chOff x="977950" y="2729564"/>
            <a:chExt cx="504000" cy="504000"/>
          </a:xfrm>
        </p:grpSpPr>
        <p:sp>
          <p:nvSpPr>
            <p:cNvPr id="64" name="Oval 63">
              <a:extLst>
                <a:ext uri="{FF2B5EF4-FFF2-40B4-BE49-F238E27FC236}">
                  <a16:creationId xmlns:a16="http://schemas.microsoft.com/office/drawing/2014/main" id="{2D8F5C8C-A3A3-DA45-A00E-FC50FBCC670D}"/>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C63CA868-B993-A46C-C9CF-D073D83A3F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439F9489-3E9B-59D8-CCFC-5D3EDB24193E}"/>
              </a:ext>
            </a:extLst>
          </p:cNvPr>
          <p:cNvGrpSpPr/>
          <p:nvPr/>
        </p:nvGrpSpPr>
        <p:grpSpPr>
          <a:xfrm>
            <a:off x="1485898" y="3649259"/>
            <a:ext cx="504000" cy="504000"/>
            <a:chOff x="977950" y="2729564"/>
            <a:chExt cx="504000" cy="504000"/>
          </a:xfrm>
        </p:grpSpPr>
        <p:sp>
          <p:nvSpPr>
            <p:cNvPr id="67" name="Oval 66">
              <a:extLst>
                <a:ext uri="{FF2B5EF4-FFF2-40B4-BE49-F238E27FC236}">
                  <a16:creationId xmlns:a16="http://schemas.microsoft.com/office/drawing/2014/main" id="{52E1F466-60AC-2DBC-E1DF-153A0564F60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86742266-3C2B-B33C-9C7D-B30E0AE02FD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0BD5E363-6C5D-AFA6-272A-34304C1286B1}"/>
              </a:ext>
            </a:extLst>
          </p:cNvPr>
          <p:cNvGrpSpPr/>
          <p:nvPr/>
        </p:nvGrpSpPr>
        <p:grpSpPr>
          <a:xfrm>
            <a:off x="1485898" y="4262956"/>
            <a:ext cx="504000" cy="504000"/>
            <a:chOff x="977950" y="2729564"/>
            <a:chExt cx="504000" cy="504000"/>
          </a:xfrm>
        </p:grpSpPr>
        <p:sp>
          <p:nvSpPr>
            <p:cNvPr id="70" name="Oval 69">
              <a:extLst>
                <a:ext uri="{FF2B5EF4-FFF2-40B4-BE49-F238E27FC236}">
                  <a16:creationId xmlns:a16="http://schemas.microsoft.com/office/drawing/2014/main" id="{308F4A7C-651E-2F9E-4FD8-97E80325491E}"/>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DF716D14-F208-8476-9ACF-1E3057337FA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4381D27F-BD6A-2448-42EB-14894B96FF8E}"/>
              </a:ext>
            </a:extLst>
          </p:cNvPr>
          <p:cNvGrpSpPr/>
          <p:nvPr/>
        </p:nvGrpSpPr>
        <p:grpSpPr>
          <a:xfrm>
            <a:off x="1485898" y="4876653"/>
            <a:ext cx="504000" cy="504000"/>
            <a:chOff x="977950" y="2729564"/>
            <a:chExt cx="504000" cy="504000"/>
          </a:xfrm>
        </p:grpSpPr>
        <p:sp>
          <p:nvSpPr>
            <p:cNvPr id="73" name="Oval 72">
              <a:extLst>
                <a:ext uri="{FF2B5EF4-FFF2-40B4-BE49-F238E27FC236}">
                  <a16:creationId xmlns:a16="http://schemas.microsoft.com/office/drawing/2014/main" id="{E8710B18-0521-B670-6C1D-D1E1FC8E97BB}"/>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DD2A4659-85F0-D9C0-DF3B-0CE761F25BB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E94446DB-9423-049F-D74C-E0084537236C}"/>
              </a:ext>
            </a:extLst>
          </p:cNvPr>
          <p:cNvGrpSpPr/>
          <p:nvPr/>
        </p:nvGrpSpPr>
        <p:grpSpPr>
          <a:xfrm>
            <a:off x="1485898" y="5490351"/>
            <a:ext cx="504000" cy="504000"/>
            <a:chOff x="977950" y="2729564"/>
            <a:chExt cx="504000" cy="504000"/>
          </a:xfrm>
        </p:grpSpPr>
        <p:sp>
          <p:nvSpPr>
            <p:cNvPr id="79" name="Oval 78">
              <a:extLst>
                <a:ext uri="{FF2B5EF4-FFF2-40B4-BE49-F238E27FC236}">
                  <a16:creationId xmlns:a16="http://schemas.microsoft.com/office/drawing/2014/main" id="{AF7BF01D-E022-E6A6-F925-BCCA3EF32219}"/>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8EB98D5D-BFAC-45BD-9BD1-0BDC06AFFDB2}"/>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83" name="Straight Arrow Connector 82">
            <a:extLst>
              <a:ext uri="{FF2B5EF4-FFF2-40B4-BE49-F238E27FC236}">
                <a16:creationId xmlns:a16="http://schemas.microsoft.com/office/drawing/2014/main" id="{DFFE139A-4617-76C0-DBB0-500702640C5B}"/>
              </a:ext>
            </a:extLst>
          </p:cNvPr>
          <p:cNvCxnSpPr>
            <a:cxnSpLocks/>
            <a:stCxn id="64" idx="4"/>
            <a:endCxn id="67" idx="0"/>
          </p:cNvCxnSpPr>
          <p:nvPr/>
        </p:nvCxnSpPr>
        <p:spPr>
          <a:xfrm>
            <a:off x="1737898" y="35395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D1D2BD9C-6CA7-44C4-DD7A-BB820FBA0E63}"/>
              </a:ext>
            </a:extLst>
          </p:cNvPr>
          <p:cNvCxnSpPr>
            <a:cxnSpLocks/>
            <a:stCxn id="67" idx="4"/>
            <a:endCxn id="70" idx="0"/>
          </p:cNvCxnSpPr>
          <p:nvPr/>
        </p:nvCxnSpPr>
        <p:spPr>
          <a:xfrm>
            <a:off x="1737898" y="41532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588923CE-9C7F-AAAA-87AD-07C9C0EE00E9}"/>
              </a:ext>
            </a:extLst>
          </p:cNvPr>
          <p:cNvCxnSpPr>
            <a:cxnSpLocks/>
            <a:stCxn id="70" idx="4"/>
            <a:endCxn id="73" idx="0"/>
          </p:cNvCxnSpPr>
          <p:nvPr/>
        </p:nvCxnSpPr>
        <p:spPr>
          <a:xfrm>
            <a:off x="1737898" y="47669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5606489D-517C-239C-1518-4E79D2F975AE}"/>
              </a:ext>
            </a:extLst>
          </p:cNvPr>
          <p:cNvCxnSpPr>
            <a:cxnSpLocks/>
            <a:stCxn id="73" idx="4"/>
            <a:endCxn id="79" idx="0"/>
          </p:cNvCxnSpPr>
          <p:nvPr/>
        </p:nvCxnSpPr>
        <p:spPr>
          <a:xfrm>
            <a:off x="1737898" y="53806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 name="Footer Placeholder 1">
            <a:extLst>
              <a:ext uri="{FF2B5EF4-FFF2-40B4-BE49-F238E27FC236}">
                <a16:creationId xmlns:a16="http://schemas.microsoft.com/office/drawing/2014/main" id="{1B552757-82CE-E746-AF84-0F5D94E64FFA}"/>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2298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P spid="53" grpId="0"/>
      <p:bldP spid="55" grpId="0"/>
      <p:bldP spid="57" grpId="0"/>
      <p:bldP spid="5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43956-13BF-FF88-D580-13C704FEA026}"/>
              </a:ext>
            </a:extLst>
          </p:cNvPr>
          <p:cNvSpPr>
            <a:spLocks noGrp="1"/>
          </p:cNvSpPr>
          <p:nvPr>
            <p:ph type="title"/>
          </p:nvPr>
        </p:nvSpPr>
        <p:spPr/>
        <p:txBody>
          <a:bodyPr/>
          <a:lstStyle/>
          <a:p>
            <a:r>
              <a:rPr lang="en-SE" dirty="0"/>
              <a:t>Code Snippets</a:t>
            </a:r>
          </a:p>
        </p:txBody>
      </p:sp>
      <p:sp>
        <p:nvSpPr>
          <p:cNvPr id="3" name="Content Placeholder 2">
            <a:extLst>
              <a:ext uri="{FF2B5EF4-FFF2-40B4-BE49-F238E27FC236}">
                <a16:creationId xmlns:a16="http://schemas.microsoft.com/office/drawing/2014/main" id="{2C21B633-3126-E09B-498B-9B76FB45C6E7}"/>
              </a:ext>
            </a:extLst>
          </p:cNvPr>
          <p:cNvSpPr>
            <a:spLocks noGrp="1"/>
          </p:cNvSpPr>
          <p:nvPr>
            <p:ph idx="1"/>
          </p:nvPr>
        </p:nvSpPr>
        <p:spPr>
          <a:xfrm>
            <a:off x="838200" y="1825625"/>
            <a:ext cx="10515600" cy="1603375"/>
          </a:xfrm>
        </p:spPr>
        <p:txBody>
          <a:bodyPr>
            <a:normAutofit/>
          </a:bodyPr>
          <a:lstStyle/>
          <a:p>
            <a:pPr marL="0" indent="0">
              <a:buNone/>
            </a:pPr>
            <a:r>
              <a:rPr lang="en-SE" dirty="0"/>
              <a:t>The process will be illustrated both on a theoretical, mathematical and on a practical, code level. </a:t>
            </a:r>
          </a:p>
          <a:p>
            <a:pPr marL="0" indent="0">
              <a:buNone/>
            </a:pPr>
            <a:r>
              <a:rPr lang="en-SE" dirty="0"/>
              <a:t>All code-level snippets will be written in R.</a:t>
            </a:r>
          </a:p>
        </p:txBody>
      </p:sp>
      <p:sp>
        <p:nvSpPr>
          <p:cNvPr id="4" name="Date Placeholder 3">
            <a:extLst>
              <a:ext uri="{FF2B5EF4-FFF2-40B4-BE49-F238E27FC236}">
                <a16:creationId xmlns:a16="http://schemas.microsoft.com/office/drawing/2014/main" id="{BE58C5A6-7799-BF0C-74DB-B7DD7A7A6361}"/>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712A930-2216-DB45-5A8C-9109CE2DEA23}"/>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51817887-E4CE-ACE6-45A2-FCF8531007E7}"/>
              </a:ext>
            </a:extLst>
          </p:cNvPr>
          <p:cNvSpPr>
            <a:spLocks noGrp="1"/>
          </p:cNvSpPr>
          <p:nvPr>
            <p:ph type="sldNum" sz="quarter" idx="12"/>
          </p:nvPr>
        </p:nvSpPr>
        <p:spPr/>
        <p:txBody>
          <a:bodyPr/>
          <a:lstStyle/>
          <a:p>
            <a:fld id="{271ECC92-9CDE-4EB3-B1C5-F46B9E1FA3C1}" type="slidenum">
              <a:rPr lang="en-SE" smtClean="0"/>
              <a:t>40</a:t>
            </a:fld>
            <a:endParaRPr lang="en-SE"/>
          </a:p>
        </p:txBody>
      </p:sp>
      <p:grpSp>
        <p:nvGrpSpPr>
          <p:cNvPr id="9" name="Group 8">
            <a:extLst>
              <a:ext uri="{FF2B5EF4-FFF2-40B4-BE49-F238E27FC236}">
                <a16:creationId xmlns:a16="http://schemas.microsoft.com/office/drawing/2014/main" id="{7DC47284-0622-9B14-27A6-8E042C4809B3}"/>
              </a:ext>
            </a:extLst>
          </p:cNvPr>
          <p:cNvGrpSpPr/>
          <p:nvPr/>
        </p:nvGrpSpPr>
        <p:grpSpPr>
          <a:xfrm>
            <a:off x="3294993" y="3803284"/>
            <a:ext cx="5602013" cy="1657794"/>
            <a:chOff x="3722077" y="3943961"/>
            <a:chExt cx="5602013" cy="1657794"/>
          </a:xfrm>
        </p:grpSpPr>
        <p:sp>
          <p:nvSpPr>
            <p:cNvPr id="7" name="Rectangle 6">
              <a:extLst>
                <a:ext uri="{FF2B5EF4-FFF2-40B4-BE49-F238E27FC236}">
                  <a16:creationId xmlns:a16="http://schemas.microsoft.com/office/drawing/2014/main" id="{0C153500-59C1-9818-2DC1-0DADF9EB2EBD}"/>
                </a:ext>
              </a:extLst>
            </p:cNvPr>
            <p:cNvSpPr/>
            <p:nvPr/>
          </p:nvSpPr>
          <p:spPr>
            <a:xfrm>
              <a:off x="3722077" y="4301433"/>
              <a:ext cx="5602013" cy="1300322"/>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library(brms)</a:t>
              </a:r>
            </a:p>
            <a:p>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d &lt;- </a:t>
              </a:r>
              <a:r>
                <a:rPr lang="en-SE" dirty="0" err="1">
                  <a:solidFill>
                    <a:schemeClr val="tx1"/>
                  </a:solidFill>
                  <a:latin typeface="Courier New" panose="02070309020205020404" pitchFamily="49" charset="0"/>
                  <a:cs typeface="Courier New" panose="02070309020205020404" pitchFamily="49" charset="0"/>
                </a:rPr>
                <a:t>read_csv</a:t>
              </a:r>
              <a:r>
                <a:rPr lang="en-SE" dirty="0">
                  <a:solidFill>
                    <a:schemeClr val="tx1"/>
                  </a:solidFill>
                  <a:latin typeface="Courier New" panose="02070309020205020404" pitchFamily="49" charset="0"/>
                  <a:cs typeface="Courier New" panose="02070309020205020404" pitchFamily="49" charset="0"/>
                </a:rPr>
                <a:t>(“data_file.csv”)</a:t>
              </a:r>
            </a:p>
          </p:txBody>
        </p:sp>
        <p:sp>
          <p:nvSpPr>
            <p:cNvPr id="8" name="Rectangle 7">
              <a:extLst>
                <a:ext uri="{FF2B5EF4-FFF2-40B4-BE49-F238E27FC236}">
                  <a16:creationId xmlns:a16="http://schemas.microsoft.com/office/drawing/2014/main" id="{3B0074F5-4FF8-5DAE-06FB-B2D4F0060D7D}"/>
                </a:ext>
              </a:extLst>
            </p:cNvPr>
            <p:cNvSpPr/>
            <p:nvPr/>
          </p:nvSpPr>
          <p:spPr>
            <a:xfrm>
              <a:off x="3722077" y="3943961"/>
              <a:ext cx="5602013"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a:t>
              </a:r>
            </a:p>
          </p:txBody>
        </p:sp>
      </p:grpSp>
      <p:grpSp>
        <p:nvGrpSpPr>
          <p:cNvPr id="10" name="Group 9">
            <a:extLst>
              <a:ext uri="{FF2B5EF4-FFF2-40B4-BE49-F238E27FC236}">
                <a16:creationId xmlns:a16="http://schemas.microsoft.com/office/drawing/2014/main" id="{D740B083-9934-02EB-256D-2E89694C1025}"/>
              </a:ext>
            </a:extLst>
          </p:cNvPr>
          <p:cNvGrpSpPr/>
          <p:nvPr/>
        </p:nvGrpSpPr>
        <p:grpSpPr>
          <a:xfrm>
            <a:off x="203635" y="1825625"/>
            <a:ext cx="504000" cy="504000"/>
            <a:chOff x="977950" y="2729564"/>
            <a:chExt cx="504000" cy="504000"/>
          </a:xfrm>
        </p:grpSpPr>
        <p:sp>
          <p:nvSpPr>
            <p:cNvPr id="11" name="Oval 10">
              <a:extLst>
                <a:ext uri="{FF2B5EF4-FFF2-40B4-BE49-F238E27FC236}">
                  <a16:creationId xmlns:a16="http://schemas.microsoft.com/office/drawing/2014/main" id="{8A7B0D1B-B71B-EED0-AFEA-AF56832D6DC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A24884C5-1D2F-FDB0-F86E-5702C277927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35316C49-254F-27FC-0040-31CAB7178C70}"/>
              </a:ext>
            </a:extLst>
          </p:cNvPr>
          <p:cNvGrpSpPr/>
          <p:nvPr/>
        </p:nvGrpSpPr>
        <p:grpSpPr>
          <a:xfrm>
            <a:off x="203635" y="2439322"/>
            <a:ext cx="504000" cy="504000"/>
            <a:chOff x="977950" y="2729564"/>
            <a:chExt cx="504000" cy="504000"/>
          </a:xfrm>
        </p:grpSpPr>
        <p:sp>
          <p:nvSpPr>
            <p:cNvPr id="14" name="Oval 13">
              <a:extLst>
                <a:ext uri="{FF2B5EF4-FFF2-40B4-BE49-F238E27FC236}">
                  <a16:creationId xmlns:a16="http://schemas.microsoft.com/office/drawing/2014/main" id="{07919D3B-8EA3-FF07-1193-BA29983494A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8B8A027-D7FE-DCE5-DADC-5D0B6BA1391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BF510FC2-D533-2105-4427-3B92DA9C41D0}"/>
              </a:ext>
            </a:extLst>
          </p:cNvPr>
          <p:cNvGrpSpPr/>
          <p:nvPr/>
        </p:nvGrpSpPr>
        <p:grpSpPr>
          <a:xfrm>
            <a:off x="203635" y="3053019"/>
            <a:ext cx="504000" cy="504000"/>
            <a:chOff x="977950" y="2729564"/>
            <a:chExt cx="504000" cy="504000"/>
          </a:xfrm>
        </p:grpSpPr>
        <p:sp>
          <p:nvSpPr>
            <p:cNvPr id="17" name="Oval 16">
              <a:extLst>
                <a:ext uri="{FF2B5EF4-FFF2-40B4-BE49-F238E27FC236}">
                  <a16:creationId xmlns:a16="http://schemas.microsoft.com/office/drawing/2014/main" id="{A1BE6B89-1F10-A5ED-8137-6D44AF1EF4E3}"/>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D0A4BACE-32DB-D14B-4758-F9F96DA50C9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9CD4AB2C-2676-BD93-26FD-0D27C5BF98A4}"/>
              </a:ext>
            </a:extLst>
          </p:cNvPr>
          <p:cNvGrpSpPr/>
          <p:nvPr/>
        </p:nvGrpSpPr>
        <p:grpSpPr>
          <a:xfrm>
            <a:off x="203635" y="3666716"/>
            <a:ext cx="504000" cy="504000"/>
            <a:chOff x="977950" y="2729564"/>
            <a:chExt cx="504000" cy="504000"/>
          </a:xfrm>
        </p:grpSpPr>
        <p:sp>
          <p:nvSpPr>
            <p:cNvPr id="20" name="Oval 19">
              <a:extLst>
                <a:ext uri="{FF2B5EF4-FFF2-40B4-BE49-F238E27FC236}">
                  <a16:creationId xmlns:a16="http://schemas.microsoft.com/office/drawing/2014/main" id="{6AC55DF6-0F85-68C9-D6CC-80F059292D73}"/>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8BB25C78-23A1-918F-828B-02C3CAB09E9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3BE14524-E2A3-A02D-BCDD-AE4C29F8278B}"/>
              </a:ext>
            </a:extLst>
          </p:cNvPr>
          <p:cNvGrpSpPr/>
          <p:nvPr/>
        </p:nvGrpSpPr>
        <p:grpSpPr>
          <a:xfrm>
            <a:off x="203635" y="4280414"/>
            <a:ext cx="504000" cy="504000"/>
            <a:chOff x="977950" y="2729564"/>
            <a:chExt cx="504000" cy="504000"/>
          </a:xfrm>
        </p:grpSpPr>
        <p:sp>
          <p:nvSpPr>
            <p:cNvPr id="23" name="Oval 22">
              <a:extLst>
                <a:ext uri="{FF2B5EF4-FFF2-40B4-BE49-F238E27FC236}">
                  <a16:creationId xmlns:a16="http://schemas.microsoft.com/office/drawing/2014/main" id="{349B40F7-4ED9-B70B-FBC4-FD5C8F24257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A95508E4-8EF6-ADE7-DF0D-16741BFD4F1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47D8FFD5-FD74-B9D8-3EB0-EA821A852313}"/>
              </a:ext>
            </a:extLst>
          </p:cNvPr>
          <p:cNvCxnSpPr>
            <a:cxnSpLocks/>
            <a:stCxn id="11" idx="4"/>
            <a:endCxn id="14"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1E0C1740-FCF6-ADB9-DDCB-21961DC4A1B6}"/>
              </a:ext>
            </a:extLst>
          </p:cNvPr>
          <p:cNvCxnSpPr>
            <a:cxnSpLocks/>
            <a:stCxn id="14" idx="4"/>
            <a:endCxn id="17"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49972B4-D0DC-D487-82B0-A2054704EEBB}"/>
              </a:ext>
            </a:extLst>
          </p:cNvPr>
          <p:cNvCxnSpPr>
            <a:cxnSpLocks/>
            <a:stCxn id="17" idx="4"/>
            <a:endCxn id="20"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B6104E7A-43BB-F5A7-98F7-98482262F530}"/>
              </a:ext>
            </a:extLst>
          </p:cNvPr>
          <p:cNvCxnSpPr>
            <a:cxnSpLocks/>
            <a:stCxn id="20" idx="4"/>
            <a:endCxn id="23"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497735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E5268-BE5E-E1FE-00F4-041CA485648D}"/>
              </a:ext>
            </a:extLst>
          </p:cNvPr>
          <p:cNvSpPr>
            <a:spLocks noGrp="1"/>
          </p:cNvSpPr>
          <p:nvPr>
            <p:ph type="title"/>
          </p:nvPr>
        </p:nvSpPr>
        <p:spPr/>
        <p:txBody>
          <a:bodyPr/>
          <a:lstStyle/>
          <a:p>
            <a:r>
              <a:rPr lang="en-SE" dirty="0"/>
              <a:t>Precursor</a:t>
            </a:r>
          </a:p>
        </p:txBody>
      </p:sp>
      <p:sp>
        <p:nvSpPr>
          <p:cNvPr id="3" name="Content Placeholder 2">
            <a:extLst>
              <a:ext uri="{FF2B5EF4-FFF2-40B4-BE49-F238E27FC236}">
                <a16:creationId xmlns:a16="http://schemas.microsoft.com/office/drawing/2014/main" id="{5E165D60-EE4A-E65E-9DE9-2683825DC4FD}"/>
              </a:ext>
            </a:extLst>
          </p:cNvPr>
          <p:cNvSpPr>
            <a:spLocks noGrp="1"/>
          </p:cNvSpPr>
          <p:nvPr>
            <p:ph idx="1"/>
          </p:nvPr>
        </p:nvSpPr>
        <p:spPr/>
        <p:txBody>
          <a:bodyPr/>
          <a:lstStyle/>
          <a:p>
            <a:pPr marL="0" indent="0">
              <a:buNone/>
            </a:pPr>
            <a:r>
              <a:rPr lang="en-SE" dirty="0"/>
              <a:t>Prior to the now presented workflow, we assume that</a:t>
            </a:r>
          </a:p>
          <a:p>
            <a:pPr marL="514350" indent="-514350">
              <a:buFont typeface="+mj-lt"/>
              <a:buAutoNum type="arabicPeriod"/>
            </a:pPr>
            <a:r>
              <a:rPr lang="en-SE" dirty="0"/>
              <a:t>we have </a:t>
            </a:r>
            <a:r>
              <a:rPr lang="en-SE" b="1" dirty="0"/>
              <a:t>modelled our causal assumptions</a:t>
            </a:r>
            <a:r>
              <a:rPr lang="en-SE" dirty="0"/>
              <a:t>, e.g., in a directed, acyclic graph (DAG), and</a:t>
            </a:r>
          </a:p>
          <a:p>
            <a:pPr marL="514350" indent="-514350">
              <a:buFont typeface="+mj-lt"/>
              <a:buAutoNum type="arabicPeriod"/>
            </a:pPr>
            <a:r>
              <a:rPr lang="en-SE" dirty="0"/>
              <a:t>we have </a:t>
            </a:r>
            <a:r>
              <a:rPr lang="en-SE" b="1" dirty="0"/>
              <a:t>collected data </a:t>
            </a:r>
            <a:r>
              <a:rPr lang="en-SE" dirty="0"/>
              <a:t>on all relevant variables.</a:t>
            </a:r>
          </a:p>
        </p:txBody>
      </p:sp>
      <p:sp>
        <p:nvSpPr>
          <p:cNvPr id="4" name="Date Placeholder 3">
            <a:extLst>
              <a:ext uri="{FF2B5EF4-FFF2-40B4-BE49-F238E27FC236}">
                <a16:creationId xmlns:a16="http://schemas.microsoft.com/office/drawing/2014/main" id="{58137F97-D1CE-4D45-DD41-FAE2C282A64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EA61416-C1B8-1DDC-56C9-4C9E7001F1F8}"/>
              </a:ext>
            </a:extLst>
          </p:cNvPr>
          <p:cNvSpPr>
            <a:spLocks noGrp="1"/>
          </p:cNvSpPr>
          <p:nvPr>
            <p:ph type="sldNum" sz="quarter" idx="12"/>
          </p:nvPr>
        </p:nvSpPr>
        <p:spPr/>
        <p:txBody>
          <a:bodyPr/>
          <a:lstStyle/>
          <a:p>
            <a:fld id="{271ECC92-9CDE-4EB3-B1C5-F46B9E1FA3C1}" type="slidenum">
              <a:rPr lang="en-SE" smtClean="0"/>
              <a:t>41</a:t>
            </a:fld>
            <a:endParaRPr lang="en-SE"/>
          </a:p>
        </p:txBody>
      </p:sp>
      <p:sp>
        <p:nvSpPr>
          <p:cNvPr id="6" name="Footer Placeholder 5">
            <a:extLst>
              <a:ext uri="{FF2B5EF4-FFF2-40B4-BE49-F238E27FC236}">
                <a16:creationId xmlns:a16="http://schemas.microsoft.com/office/drawing/2014/main" id="{85C5583B-47E6-6DBC-FDE4-91B01ADB42A2}"/>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20EB4231-261B-540D-8652-3D392D3E2B43}"/>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3B94FB01-107C-4D0A-BA99-F2717A67F42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7F6BF469-0A1F-CE95-9BF9-921139394C1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168EFBD1-67F5-887D-BB3E-1546019CF153}"/>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BB2E3245-C8A2-9EAD-F766-AF133AD52019}"/>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47C8D292-AB12-AFC6-E0BB-09E2E2C4DC8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D91A62A3-9E72-D99F-FC5B-7A8E72E4B0E7}"/>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AF34742-8C65-4E24-9D71-070E1155A38D}"/>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47923EDD-1C0D-AC20-723A-CF717B1FA68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CDFF6380-CCDF-516C-C669-7D058D42BF0E}"/>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56EF7E83-15DA-4735-0A78-EE6FF49BDAC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766AA4DA-F33A-1196-50C7-E112BAC3E27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B75696EF-BB89-7F2E-8C22-5D89FAD4A0E7}"/>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D15AD459-8082-21A9-9030-B0658A2696F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E9849FF4-7329-4936-A3D6-34DD07FE9DF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4FD0A176-7F17-74DB-952F-78D90157377C}"/>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D6C958C0-85AA-D99F-CAC5-C53F4672E32B}"/>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7AE0FFC7-FEE3-1D59-96FE-85279ECF2986}"/>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1B274FDF-FED9-69DE-AC04-9E31AD8ED35B}"/>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6" name="Rectangle 25">
            <a:extLst>
              <a:ext uri="{FF2B5EF4-FFF2-40B4-BE49-F238E27FC236}">
                <a16:creationId xmlns:a16="http://schemas.microsoft.com/office/drawing/2014/main" id="{4FE8E60F-53BE-1D4A-79F1-D270A5BECB1B}"/>
              </a:ext>
            </a:extLst>
          </p:cNvPr>
          <p:cNvSpPr/>
          <p:nvPr/>
        </p:nvSpPr>
        <p:spPr>
          <a:xfrm>
            <a:off x="6611816" y="4532414"/>
            <a:ext cx="5685692" cy="720000"/>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t>If you participated in last year’s tutorial on </a:t>
            </a:r>
            <a:r>
              <a:rPr lang="en-SE" b="1" dirty="0"/>
              <a:t>statistical causal inference</a:t>
            </a:r>
            <a:r>
              <a:rPr lang="en-SE" dirty="0"/>
              <a:t>, this here is the interface.</a:t>
            </a:r>
          </a:p>
        </p:txBody>
      </p:sp>
    </p:spTree>
    <p:extLst>
      <p:ext uri="{BB962C8B-B14F-4D97-AF65-F5344CB8AC3E}">
        <p14:creationId xmlns:p14="http://schemas.microsoft.com/office/powerpoint/2010/main" val="11087673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4D281-3C12-6D9B-18D0-688D48E6A98B}"/>
              </a:ext>
            </a:extLst>
          </p:cNvPr>
          <p:cNvSpPr>
            <a:spLocks noGrp="1"/>
          </p:cNvSpPr>
          <p:nvPr>
            <p:ph type="title"/>
          </p:nvPr>
        </p:nvSpPr>
        <p:spPr/>
        <p:txBody>
          <a:bodyPr/>
          <a:lstStyle/>
          <a:p>
            <a:r>
              <a:rPr lang="de-DE" dirty="0" err="1"/>
              <a:t>Context</a:t>
            </a:r>
            <a:endParaRPr lang="en-SE" dirty="0"/>
          </a:p>
        </p:txBody>
      </p:sp>
      <p:sp>
        <p:nvSpPr>
          <p:cNvPr id="3" name="Content Placeholder 2">
            <a:extLst>
              <a:ext uri="{FF2B5EF4-FFF2-40B4-BE49-F238E27FC236}">
                <a16:creationId xmlns:a16="http://schemas.microsoft.com/office/drawing/2014/main" id="{F82AF692-AF23-C6B8-29FA-0AF0B1166A3D}"/>
              </a:ext>
            </a:extLst>
          </p:cNvPr>
          <p:cNvSpPr>
            <a:spLocks noGrp="1"/>
          </p:cNvSpPr>
          <p:nvPr>
            <p:ph idx="1"/>
          </p:nvPr>
        </p:nvSpPr>
        <p:spPr>
          <a:xfrm>
            <a:off x="838200" y="1825625"/>
            <a:ext cx="10515600" cy="1184275"/>
          </a:xfrm>
        </p:spPr>
        <p:txBody>
          <a:bodyPr/>
          <a:lstStyle/>
          <a:p>
            <a:pPr marL="0" indent="0">
              <a:buNone/>
            </a:pPr>
            <a:r>
              <a:rPr lang="en-SE" dirty="0"/>
              <a:t>Research question: Does </a:t>
            </a:r>
            <a:r>
              <a:rPr lang="en-SE" dirty="0">
                <a:solidFill>
                  <a:srgbClr val="C00000"/>
                </a:solidFill>
              </a:rPr>
              <a:t>increased AI usage </a:t>
            </a:r>
            <a:r>
              <a:rPr lang="en-SE" dirty="0"/>
              <a:t>affect the </a:t>
            </a:r>
            <a:r>
              <a:rPr lang="en-SE" dirty="0">
                <a:solidFill>
                  <a:srgbClr val="006D70"/>
                </a:solidFill>
              </a:rPr>
              <a:t>ability to identify bugs</a:t>
            </a:r>
            <a:r>
              <a:rPr lang="en-SE" dirty="0"/>
              <a:t> (adjusting for </a:t>
            </a:r>
            <a:r>
              <a:rPr lang="en-SE" dirty="0">
                <a:solidFill>
                  <a:schemeClr val="tx1">
                    <a:lumMod val="65000"/>
                    <a:lumOff val="35000"/>
                  </a:schemeClr>
                </a:solidFill>
              </a:rPr>
              <a:t>reviewer skill</a:t>
            </a:r>
            <a:r>
              <a:rPr lang="en-SE" dirty="0"/>
              <a:t>)?</a:t>
            </a:r>
          </a:p>
        </p:txBody>
      </p:sp>
      <p:sp>
        <p:nvSpPr>
          <p:cNvPr id="4" name="Date Placeholder 3">
            <a:extLst>
              <a:ext uri="{FF2B5EF4-FFF2-40B4-BE49-F238E27FC236}">
                <a16:creationId xmlns:a16="http://schemas.microsoft.com/office/drawing/2014/main" id="{A8251955-8E1E-8E46-EE65-862C368CE0B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4A65B2F-0FE0-78BC-A76A-275074FB18AB}"/>
              </a:ext>
            </a:extLst>
          </p:cNvPr>
          <p:cNvSpPr>
            <a:spLocks noGrp="1"/>
          </p:cNvSpPr>
          <p:nvPr>
            <p:ph type="sldNum" sz="quarter" idx="12"/>
          </p:nvPr>
        </p:nvSpPr>
        <p:spPr/>
        <p:txBody>
          <a:bodyPr/>
          <a:lstStyle/>
          <a:p>
            <a:fld id="{271ECC92-9CDE-4EB3-B1C5-F46B9E1FA3C1}" type="slidenum">
              <a:rPr lang="en-SE" smtClean="0"/>
              <a:t>42</a:t>
            </a:fld>
            <a:endParaRPr lang="en-SE"/>
          </a:p>
        </p:txBody>
      </p:sp>
      <p:sp>
        <p:nvSpPr>
          <p:cNvPr id="8" name="Oval 7">
            <a:extLst>
              <a:ext uri="{FF2B5EF4-FFF2-40B4-BE49-F238E27FC236}">
                <a16:creationId xmlns:a16="http://schemas.microsoft.com/office/drawing/2014/main" id="{B1BC58EB-FAFE-B65E-A67D-6F2079481A90}"/>
              </a:ext>
            </a:extLst>
          </p:cNvPr>
          <p:cNvSpPr/>
          <p:nvPr/>
        </p:nvSpPr>
        <p:spPr>
          <a:xfrm>
            <a:off x="1463978" y="3931051"/>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9" name="Oval 8">
            <a:extLst>
              <a:ext uri="{FF2B5EF4-FFF2-40B4-BE49-F238E27FC236}">
                <a16:creationId xmlns:a16="http://schemas.microsoft.com/office/drawing/2014/main" id="{B1FC548E-16F3-8586-11DF-677D4D5E5E83}"/>
              </a:ext>
            </a:extLst>
          </p:cNvPr>
          <p:cNvSpPr/>
          <p:nvPr/>
        </p:nvSpPr>
        <p:spPr>
          <a:xfrm>
            <a:off x="3955358" y="3931051"/>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0" name="Straight Arrow Connector 9">
            <a:extLst>
              <a:ext uri="{FF2B5EF4-FFF2-40B4-BE49-F238E27FC236}">
                <a16:creationId xmlns:a16="http://schemas.microsoft.com/office/drawing/2014/main" id="{A7A9B9DE-7F7B-C922-E8D3-5C560D006F09}"/>
              </a:ext>
            </a:extLst>
          </p:cNvPr>
          <p:cNvCxnSpPr>
            <a:stCxn id="8" idx="6"/>
            <a:endCxn id="9" idx="2"/>
          </p:cNvCxnSpPr>
          <p:nvPr/>
        </p:nvCxnSpPr>
        <p:spPr>
          <a:xfrm>
            <a:off x="1823978" y="4111051"/>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1" name="TextBox 10">
            <a:extLst>
              <a:ext uri="{FF2B5EF4-FFF2-40B4-BE49-F238E27FC236}">
                <a16:creationId xmlns:a16="http://schemas.microsoft.com/office/drawing/2014/main" id="{F41FF248-22EF-09E5-F71B-753602BC2B5B}"/>
              </a:ext>
            </a:extLst>
          </p:cNvPr>
          <p:cNvSpPr txBox="1"/>
          <p:nvPr/>
        </p:nvSpPr>
        <p:spPr>
          <a:xfrm>
            <a:off x="1279593" y="3503019"/>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12" name="TextBox 11">
            <a:extLst>
              <a:ext uri="{FF2B5EF4-FFF2-40B4-BE49-F238E27FC236}">
                <a16:creationId xmlns:a16="http://schemas.microsoft.com/office/drawing/2014/main" id="{79B92B74-A04A-13CF-EB4E-13B47AC743DD}"/>
              </a:ext>
            </a:extLst>
          </p:cNvPr>
          <p:cNvSpPr txBox="1"/>
          <p:nvPr/>
        </p:nvSpPr>
        <p:spPr>
          <a:xfrm>
            <a:off x="3356236" y="3514406"/>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14" name="Oval 13">
            <a:extLst>
              <a:ext uri="{FF2B5EF4-FFF2-40B4-BE49-F238E27FC236}">
                <a16:creationId xmlns:a16="http://schemas.microsoft.com/office/drawing/2014/main" id="{6D973BF4-07E3-E5BD-7AE3-1F46CE39917E}"/>
              </a:ext>
            </a:extLst>
          </p:cNvPr>
          <p:cNvSpPr/>
          <p:nvPr/>
        </p:nvSpPr>
        <p:spPr>
          <a:xfrm>
            <a:off x="2709668" y="4697372"/>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15" name="TextBox 14">
            <a:extLst>
              <a:ext uri="{FF2B5EF4-FFF2-40B4-BE49-F238E27FC236}">
                <a16:creationId xmlns:a16="http://schemas.microsoft.com/office/drawing/2014/main" id="{B441272A-B081-9794-262B-BEE94035E421}"/>
              </a:ext>
            </a:extLst>
          </p:cNvPr>
          <p:cNvSpPr txBox="1"/>
          <p:nvPr/>
        </p:nvSpPr>
        <p:spPr>
          <a:xfrm>
            <a:off x="3196572" y="4697372"/>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17" name="Straight Arrow Connector 16">
            <a:extLst>
              <a:ext uri="{FF2B5EF4-FFF2-40B4-BE49-F238E27FC236}">
                <a16:creationId xmlns:a16="http://schemas.microsoft.com/office/drawing/2014/main" id="{152744F3-1B96-F40F-392E-0584577D1AD0}"/>
              </a:ext>
            </a:extLst>
          </p:cNvPr>
          <p:cNvCxnSpPr>
            <a:cxnSpLocks/>
            <a:stCxn id="14" idx="7"/>
            <a:endCxn id="9" idx="3"/>
          </p:cNvCxnSpPr>
          <p:nvPr/>
        </p:nvCxnSpPr>
        <p:spPr>
          <a:xfrm flipV="1">
            <a:off x="3016947" y="4238330"/>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54B2795E-3A4A-34C4-2D38-431298B6ECB6}"/>
              </a:ext>
            </a:extLst>
          </p:cNvPr>
          <p:cNvCxnSpPr>
            <a:cxnSpLocks/>
            <a:stCxn id="14" idx="1"/>
            <a:endCxn id="8" idx="5"/>
          </p:cNvCxnSpPr>
          <p:nvPr/>
        </p:nvCxnSpPr>
        <p:spPr>
          <a:xfrm flipH="1" flipV="1">
            <a:off x="1771257" y="4238330"/>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23" name="Table 22">
            <a:extLst>
              <a:ext uri="{FF2B5EF4-FFF2-40B4-BE49-F238E27FC236}">
                <a16:creationId xmlns:a16="http://schemas.microsoft.com/office/drawing/2014/main" id="{0BB45B16-C0F6-A7D9-011E-6C752BC35171}"/>
              </a:ext>
            </a:extLst>
          </p:cNvPr>
          <p:cNvGraphicFramePr>
            <a:graphicFrameLocks noGrp="1"/>
          </p:cNvGraphicFramePr>
          <p:nvPr>
            <p:extLst>
              <p:ext uri="{D42A27DB-BD31-4B8C-83A1-F6EECF244321}">
                <p14:modId xmlns:p14="http://schemas.microsoft.com/office/powerpoint/2010/main" val="951143990"/>
              </p:ext>
            </p:extLst>
          </p:nvPr>
        </p:nvGraphicFramePr>
        <p:xfrm>
          <a:off x="5598324" y="3088220"/>
          <a:ext cx="5755476" cy="2291080"/>
        </p:xfrm>
        <a:graphic>
          <a:graphicData uri="http://schemas.openxmlformats.org/drawingml/2006/table">
            <a:tbl>
              <a:tblPr firstRow="1" bandRow="1">
                <a:tableStyleId>{073A0DAA-6AF3-43AB-8588-CEC1D06C72B9}</a:tableStyleId>
              </a:tblPr>
              <a:tblGrid>
                <a:gridCol w="586576">
                  <a:extLst>
                    <a:ext uri="{9D8B030D-6E8A-4147-A177-3AD203B41FA5}">
                      <a16:colId xmlns:a16="http://schemas.microsoft.com/office/drawing/2014/main" val="895537892"/>
                    </a:ext>
                  </a:extLst>
                </a:gridCol>
                <a:gridCol w="2565400">
                  <a:extLst>
                    <a:ext uri="{9D8B030D-6E8A-4147-A177-3AD203B41FA5}">
                      <a16:colId xmlns:a16="http://schemas.microsoft.com/office/drawing/2014/main" val="1260121988"/>
                    </a:ext>
                  </a:extLst>
                </a:gridCol>
                <a:gridCol w="2603500">
                  <a:extLst>
                    <a:ext uri="{9D8B030D-6E8A-4147-A177-3AD203B41FA5}">
                      <a16:colId xmlns:a16="http://schemas.microsoft.com/office/drawing/2014/main" val="4016704642"/>
                    </a:ext>
                  </a:extLst>
                </a:gridCol>
              </a:tblGrid>
              <a:tr h="370840">
                <a:tc>
                  <a:txBody>
                    <a:bodyPr/>
                    <a:lstStyle/>
                    <a:p>
                      <a:r>
                        <a:rPr lang="en-SE" dirty="0"/>
                        <a:t>Var</a:t>
                      </a:r>
                    </a:p>
                  </a:txBody>
                  <a:tcPr/>
                </a:tc>
                <a:tc>
                  <a:txBody>
                    <a:bodyPr/>
                    <a:lstStyle/>
                    <a:p>
                      <a:r>
                        <a:rPr lang="en-SE" dirty="0"/>
                        <a:t>Name</a:t>
                      </a:r>
                    </a:p>
                  </a:txBody>
                  <a:tcPr/>
                </a:tc>
                <a:tc>
                  <a:txBody>
                    <a:bodyPr/>
                    <a:lstStyle/>
                    <a:p>
                      <a:r>
                        <a:rPr lang="en-SE" dirty="0"/>
                        <a:t>Type</a:t>
                      </a:r>
                    </a:p>
                  </a:txBody>
                  <a:tcPr/>
                </a:tc>
                <a:extLst>
                  <a:ext uri="{0D108BD9-81ED-4DB2-BD59-A6C34878D82A}">
                    <a16:rowId xmlns:a16="http://schemas.microsoft.com/office/drawing/2014/main" val="3359954214"/>
                  </a:ext>
                </a:extLst>
              </a:tr>
              <a:tr h="370840">
                <a:tc>
                  <a:txBody>
                    <a:bodyPr/>
                    <a:lstStyle/>
                    <a:p>
                      <a:r>
                        <a:rPr lang="en-SE" dirty="0">
                          <a:solidFill>
                            <a:srgbClr val="D0180A"/>
                          </a:solidFill>
                        </a:rPr>
                        <a:t>x</a:t>
                      </a:r>
                    </a:p>
                  </a:txBody>
                  <a:tcPr/>
                </a:tc>
                <a:tc>
                  <a:txBody>
                    <a:bodyPr/>
                    <a:lstStyle/>
                    <a:p>
                      <a:r>
                        <a:rPr lang="en-SE" dirty="0">
                          <a:solidFill>
                            <a:srgbClr val="D0180A"/>
                          </a:solidFill>
                        </a:rPr>
                        <a:t>Measure of AI usage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624395363"/>
                  </a:ext>
                </a:extLst>
              </a:tr>
              <a:tr h="370840">
                <a:tc>
                  <a:txBody>
                    <a:bodyPr/>
                    <a:lstStyle/>
                    <a:p>
                      <a:r>
                        <a:rPr lang="en-SE" dirty="0">
                          <a:solidFill>
                            <a:srgbClr val="006D70"/>
                          </a:solidFill>
                        </a:rPr>
                        <a:t>y</a:t>
                      </a:r>
                    </a:p>
                  </a:txBody>
                  <a:tcPr/>
                </a:tc>
                <a:tc>
                  <a:txBody>
                    <a:bodyPr/>
                    <a:lstStyle/>
                    <a:p>
                      <a:r>
                        <a:rPr lang="en-SE" dirty="0">
                          <a:solidFill>
                            <a:srgbClr val="006D70"/>
                          </a:solidFill>
                        </a:rPr>
                        <a:t>Ability of identifying bugs in a code snippet</a:t>
                      </a:r>
                    </a:p>
                  </a:txBody>
                  <a:tcPr/>
                </a:tc>
                <a:tc>
                  <a:txBody>
                    <a:bodyPr/>
                    <a:lstStyle/>
                    <a:p>
                      <a:r>
                        <a:rPr lang="en-SE" dirty="0"/>
                        <a:t>Continuous, Gaussian-distributed</a:t>
                      </a:r>
                    </a:p>
                  </a:txBody>
                  <a:tcPr/>
                </a:tc>
                <a:extLst>
                  <a:ext uri="{0D108BD9-81ED-4DB2-BD59-A6C34878D82A}">
                    <a16:rowId xmlns:a16="http://schemas.microsoft.com/office/drawing/2014/main" val="3142312279"/>
                  </a:ext>
                </a:extLst>
              </a:tr>
              <a:tr h="370840">
                <a:tc>
                  <a:txBody>
                    <a:bodyPr/>
                    <a:lstStyle/>
                    <a:p>
                      <a:r>
                        <a:rPr lang="en-SE" dirty="0"/>
                        <a:t>z</a:t>
                      </a:r>
                    </a:p>
                  </a:txBody>
                  <a:tcPr/>
                </a:tc>
                <a:tc>
                  <a:txBody>
                    <a:bodyPr/>
                    <a:lstStyle/>
                    <a:p>
                      <a:r>
                        <a:rPr lang="en-SE" dirty="0"/>
                        <a:t>Skill of a code reviewer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763837834"/>
                  </a:ext>
                </a:extLst>
              </a:tr>
            </a:tbl>
          </a:graphicData>
        </a:graphic>
      </p:graphicFrame>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2ECAD05-0C98-041B-3D30-323E2187A642}"/>
                  </a:ext>
                </a:extLst>
              </p:cNvPr>
              <p:cNvSpPr txBox="1"/>
              <p:nvPr/>
            </p:nvSpPr>
            <p:spPr>
              <a:xfrm>
                <a:off x="2751040" y="370677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m:oMathPara>
                </a14:m>
                <a:endParaRPr lang="en-SE" dirty="0"/>
              </a:p>
            </p:txBody>
          </p:sp>
        </mc:Choice>
        <mc:Fallback xmlns="">
          <p:sp>
            <p:nvSpPr>
              <p:cNvPr id="24" name="TextBox 23">
                <a:extLst>
                  <a:ext uri="{FF2B5EF4-FFF2-40B4-BE49-F238E27FC236}">
                    <a16:creationId xmlns:a16="http://schemas.microsoft.com/office/drawing/2014/main" id="{72ECAD05-0C98-041B-3D30-323E2187A642}"/>
                  </a:ext>
                </a:extLst>
              </p:cNvPr>
              <p:cNvSpPr txBox="1">
                <a:spLocks noRot="1" noChangeAspect="1" noMove="1" noResize="1" noEditPoints="1" noAdjustHandles="1" noChangeArrowheads="1" noChangeShapeType="1" noTextEdit="1"/>
              </p:cNvSpPr>
              <p:nvPr/>
            </p:nvSpPr>
            <p:spPr>
              <a:xfrm>
                <a:off x="2751040" y="3706774"/>
                <a:ext cx="284693" cy="276999"/>
              </a:xfrm>
              <a:prstGeom prst="rect">
                <a:avLst/>
              </a:prstGeom>
              <a:blipFill>
                <a:blip r:embed="rId2"/>
                <a:stretch>
                  <a:fillRect l="-29787" t="-2174" r="-2128" b="-32609"/>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A176A0E7-F2E9-74EA-22F5-7927A87557DD}"/>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6C5B0B51-3FC0-8248-EE6A-54474A187C74}"/>
              </a:ext>
            </a:extLst>
          </p:cNvPr>
          <p:cNvGrpSpPr/>
          <p:nvPr/>
        </p:nvGrpSpPr>
        <p:grpSpPr>
          <a:xfrm>
            <a:off x="203635" y="1825625"/>
            <a:ext cx="504000" cy="504000"/>
            <a:chOff x="977950" y="2729564"/>
            <a:chExt cx="504000" cy="504000"/>
          </a:xfrm>
        </p:grpSpPr>
        <p:sp>
          <p:nvSpPr>
            <p:cNvPr id="13" name="Oval 12">
              <a:extLst>
                <a:ext uri="{FF2B5EF4-FFF2-40B4-BE49-F238E27FC236}">
                  <a16:creationId xmlns:a16="http://schemas.microsoft.com/office/drawing/2014/main" id="{EDB0A644-B95F-7C0D-97AE-409E59D2F1A6}"/>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6" name="Graphic 15" descr="Golden Ratio with solid fill">
              <a:extLst>
                <a:ext uri="{FF2B5EF4-FFF2-40B4-BE49-F238E27FC236}">
                  <a16:creationId xmlns:a16="http://schemas.microsoft.com/office/drawing/2014/main" id="{3353EB88-A3C7-B20E-5CA4-C1FB1C5483B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F5721E80-58E1-1486-F813-A93DBA5D5EE4}"/>
              </a:ext>
            </a:extLst>
          </p:cNvPr>
          <p:cNvGrpSpPr/>
          <p:nvPr/>
        </p:nvGrpSpPr>
        <p:grpSpPr>
          <a:xfrm>
            <a:off x="203635" y="2439322"/>
            <a:ext cx="504000" cy="504000"/>
            <a:chOff x="977950" y="2729564"/>
            <a:chExt cx="504000" cy="504000"/>
          </a:xfrm>
        </p:grpSpPr>
        <p:sp>
          <p:nvSpPr>
            <p:cNvPr id="19" name="Oval 18">
              <a:extLst>
                <a:ext uri="{FF2B5EF4-FFF2-40B4-BE49-F238E27FC236}">
                  <a16:creationId xmlns:a16="http://schemas.microsoft.com/office/drawing/2014/main" id="{1138D2B6-0457-B527-0636-9B320EFBA23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Normal Distribution with solid fill">
              <a:extLst>
                <a:ext uri="{FF2B5EF4-FFF2-40B4-BE49-F238E27FC236}">
                  <a16:creationId xmlns:a16="http://schemas.microsoft.com/office/drawing/2014/main" id="{FF06081B-AF84-2517-F469-D2B9C743277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B240C5C4-E11F-E12B-DACD-68138BED4969}"/>
              </a:ext>
            </a:extLst>
          </p:cNvPr>
          <p:cNvGrpSpPr/>
          <p:nvPr/>
        </p:nvGrpSpPr>
        <p:grpSpPr>
          <a:xfrm>
            <a:off x="203635" y="3053019"/>
            <a:ext cx="504000" cy="504000"/>
            <a:chOff x="977950" y="2729564"/>
            <a:chExt cx="504000" cy="504000"/>
          </a:xfrm>
        </p:grpSpPr>
        <p:sp>
          <p:nvSpPr>
            <p:cNvPr id="25" name="Oval 24">
              <a:extLst>
                <a:ext uri="{FF2B5EF4-FFF2-40B4-BE49-F238E27FC236}">
                  <a16:creationId xmlns:a16="http://schemas.microsoft.com/office/drawing/2014/main" id="{6C32B941-4AAA-93DE-6BFA-B0035F96D15E}"/>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6" name="Graphic 25" descr="Abacus with solid fill">
              <a:extLst>
                <a:ext uri="{FF2B5EF4-FFF2-40B4-BE49-F238E27FC236}">
                  <a16:creationId xmlns:a16="http://schemas.microsoft.com/office/drawing/2014/main" id="{4D409F9A-8A1A-21C3-0A21-E74677994E22}"/>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7" name="Group 26">
            <a:extLst>
              <a:ext uri="{FF2B5EF4-FFF2-40B4-BE49-F238E27FC236}">
                <a16:creationId xmlns:a16="http://schemas.microsoft.com/office/drawing/2014/main" id="{C5AF505E-9423-1C19-D37E-F79E460B9C36}"/>
              </a:ext>
            </a:extLst>
          </p:cNvPr>
          <p:cNvGrpSpPr/>
          <p:nvPr/>
        </p:nvGrpSpPr>
        <p:grpSpPr>
          <a:xfrm>
            <a:off x="203635" y="3666716"/>
            <a:ext cx="504000" cy="504000"/>
            <a:chOff x="977950" y="2729564"/>
            <a:chExt cx="504000" cy="504000"/>
          </a:xfrm>
        </p:grpSpPr>
        <p:sp>
          <p:nvSpPr>
            <p:cNvPr id="28" name="Oval 27">
              <a:extLst>
                <a:ext uri="{FF2B5EF4-FFF2-40B4-BE49-F238E27FC236}">
                  <a16:creationId xmlns:a16="http://schemas.microsoft.com/office/drawing/2014/main" id="{27D9C29F-03D2-75D9-E952-2C103D6F4F18}"/>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9" name="Graphic 28" descr="Trigonometry with solid fill">
              <a:extLst>
                <a:ext uri="{FF2B5EF4-FFF2-40B4-BE49-F238E27FC236}">
                  <a16:creationId xmlns:a16="http://schemas.microsoft.com/office/drawing/2014/main" id="{33B823E1-C017-725C-8206-C1D1A3E68D1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0" name="Group 29">
            <a:extLst>
              <a:ext uri="{FF2B5EF4-FFF2-40B4-BE49-F238E27FC236}">
                <a16:creationId xmlns:a16="http://schemas.microsoft.com/office/drawing/2014/main" id="{E3B9E24E-3049-5CAF-65EB-FBDC4F025AB2}"/>
              </a:ext>
            </a:extLst>
          </p:cNvPr>
          <p:cNvGrpSpPr/>
          <p:nvPr/>
        </p:nvGrpSpPr>
        <p:grpSpPr>
          <a:xfrm>
            <a:off x="203635" y="4280414"/>
            <a:ext cx="504000" cy="504000"/>
            <a:chOff x="977950" y="2729564"/>
            <a:chExt cx="504000" cy="504000"/>
          </a:xfrm>
        </p:grpSpPr>
        <p:sp>
          <p:nvSpPr>
            <p:cNvPr id="31" name="Oval 30">
              <a:extLst>
                <a:ext uri="{FF2B5EF4-FFF2-40B4-BE49-F238E27FC236}">
                  <a16:creationId xmlns:a16="http://schemas.microsoft.com/office/drawing/2014/main" id="{A6D3D19A-8B48-E9D4-012C-B9CC6A2644A4}"/>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Scatterplot with solid fill">
              <a:extLst>
                <a:ext uri="{FF2B5EF4-FFF2-40B4-BE49-F238E27FC236}">
                  <a16:creationId xmlns:a16="http://schemas.microsoft.com/office/drawing/2014/main" id="{1AF5C602-3E63-C8CE-7260-4C528712398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33" name="Straight Arrow Connector 32">
            <a:extLst>
              <a:ext uri="{FF2B5EF4-FFF2-40B4-BE49-F238E27FC236}">
                <a16:creationId xmlns:a16="http://schemas.microsoft.com/office/drawing/2014/main" id="{F6035C20-0270-7B2B-75A3-6AD01A36B7A3}"/>
              </a:ext>
            </a:extLst>
          </p:cNvPr>
          <p:cNvCxnSpPr>
            <a:cxnSpLocks/>
            <a:stCxn id="13" idx="4"/>
            <a:endCxn id="19"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3D20AA06-FB9C-E423-EC30-1C707AE4AB6D}"/>
              </a:ext>
            </a:extLst>
          </p:cNvPr>
          <p:cNvCxnSpPr>
            <a:cxnSpLocks/>
            <a:stCxn id="19" idx="4"/>
            <a:endCxn id="25"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FB991836-A9D9-94D1-B4FB-FCC0628027F6}"/>
              </a:ext>
            </a:extLst>
          </p:cNvPr>
          <p:cNvCxnSpPr>
            <a:cxnSpLocks/>
            <a:stCxn id="25" idx="4"/>
            <a:endCxn id="28"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C1EDF1CF-3D1F-FE2C-DAF6-265CE4309B84}"/>
              </a:ext>
            </a:extLst>
          </p:cNvPr>
          <p:cNvCxnSpPr>
            <a:cxnSpLocks/>
            <a:stCxn id="28" idx="4"/>
            <a:endCxn id="31"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8612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p:bldP spid="12" grpId="0"/>
      <p:bldP spid="14" grpId="0" animBg="1"/>
      <p:bldP spid="15" grpId="0"/>
      <p:bldP spid="2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11776-00CD-4332-1C8C-91089BC01FAC}"/>
              </a:ext>
            </a:extLst>
          </p:cNvPr>
          <p:cNvSpPr>
            <a:spLocks noGrp="1"/>
          </p:cNvSpPr>
          <p:nvPr>
            <p:ph type="title"/>
          </p:nvPr>
        </p:nvSpPr>
        <p:spPr/>
        <p:txBody>
          <a:bodyPr/>
          <a:lstStyle/>
          <a:p>
            <a:r>
              <a:rPr lang="en-SE" dirty="0"/>
              <a:t>Context</a:t>
            </a:r>
          </a:p>
        </p:txBody>
      </p:sp>
      <p:sp>
        <p:nvSpPr>
          <p:cNvPr id="3" name="Content Placeholder 2">
            <a:extLst>
              <a:ext uri="{FF2B5EF4-FFF2-40B4-BE49-F238E27FC236}">
                <a16:creationId xmlns:a16="http://schemas.microsoft.com/office/drawing/2014/main" id="{B36EB099-837A-AE5D-1046-17968F2AC010}"/>
              </a:ext>
            </a:extLst>
          </p:cNvPr>
          <p:cNvSpPr>
            <a:spLocks noGrp="1"/>
          </p:cNvSpPr>
          <p:nvPr>
            <p:ph idx="1"/>
          </p:nvPr>
        </p:nvSpPr>
        <p:spPr>
          <a:xfrm>
            <a:off x="838200" y="1825625"/>
            <a:ext cx="10515600" cy="1034806"/>
          </a:xfrm>
        </p:spPr>
        <p:txBody>
          <a:bodyPr/>
          <a:lstStyle/>
          <a:p>
            <a:pPr marL="0" indent="0">
              <a:buNone/>
            </a:pPr>
            <a:r>
              <a:rPr lang="en-SE" dirty="0"/>
              <a:t>For pedagogical purposes, we </a:t>
            </a:r>
            <a:r>
              <a:rPr lang="en-SE" b="1" dirty="0"/>
              <a:t>simulate a data set</a:t>
            </a:r>
            <a:r>
              <a:rPr lang="en-SE" dirty="0"/>
              <a:t> with known effect strengths.</a:t>
            </a:r>
          </a:p>
        </p:txBody>
      </p:sp>
      <p:sp>
        <p:nvSpPr>
          <p:cNvPr id="4" name="Date Placeholder 3">
            <a:extLst>
              <a:ext uri="{FF2B5EF4-FFF2-40B4-BE49-F238E27FC236}">
                <a16:creationId xmlns:a16="http://schemas.microsoft.com/office/drawing/2014/main" id="{B62B19E8-C5F9-8288-B964-93C4B7DF8747}"/>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66F8C2EF-FF10-413E-5C61-2C5F2AA6E5F4}"/>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306803CA-74B8-4DFF-DA5D-F3A0A2020DDD}"/>
              </a:ext>
            </a:extLst>
          </p:cNvPr>
          <p:cNvSpPr>
            <a:spLocks noGrp="1"/>
          </p:cNvSpPr>
          <p:nvPr>
            <p:ph type="sldNum" sz="quarter" idx="12"/>
          </p:nvPr>
        </p:nvSpPr>
        <p:spPr/>
        <p:txBody>
          <a:bodyPr/>
          <a:lstStyle/>
          <a:p>
            <a:fld id="{271ECC92-9CDE-4EB3-B1C5-F46B9E1FA3C1}" type="slidenum">
              <a:rPr lang="en-SE" smtClean="0"/>
              <a:t>43</a:t>
            </a:fld>
            <a:endParaRPr lang="en-SE"/>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F54FDD3-BE20-4B8F-A104-0D0FFC941BA6}"/>
                  </a:ext>
                </a:extLst>
              </p:cNvPr>
              <p:cNvSpPr txBox="1"/>
              <p:nvPr/>
            </p:nvSpPr>
            <p:spPr>
              <a:xfrm>
                <a:off x="5773952" y="3491821"/>
                <a:ext cx="8906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=0.5</m:t>
                      </m:r>
                    </m:oMath>
                  </m:oMathPara>
                </a14:m>
                <a:endParaRPr lang="en-SE" dirty="0"/>
              </a:p>
            </p:txBody>
          </p:sp>
        </mc:Choice>
        <mc:Fallback>
          <p:sp>
            <p:nvSpPr>
              <p:cNvPr id="13" name="TextBox 12">
                <a:extLst>
                  <a:ext uri="{FF2B5EF4-FFF2-40B4-BE49-F238E27FC236}">
                    <a16:creationId xmlns:a16="http://schemas.microsoft.com/office/drawing/2014/main" id="{9F54FDD3-BE20-4B8F-A104-0D0FFC941BA6}"/>
                  </a:ext>
                </a:extLst>
              </p:cNvPr>
              <p:cNvSpPr txBox="1">
                <a:spLocks noRot="1" noChangeAspect="1" noMove="1" noResize="1" noEditPoints="1" noAdjustHandles="1" noChangeArrowheads="1" noChangeShapeType="1" noTextEdit="1"/>
              </p:cNvSpPr>
              <p:nvPr/>
            </p:nvSpPr>
            <p:spPr>
              <a:xfrm>
                <a:off x="5773952" y="3491821"/>
                <a:ext cx="890628" cy="276999"/>
              </a:xfrm>
              <a:prstGeom prst="rect">
                <a:avLst/>
              </a:prstGeom>
              <a:blipFill>
                <a:blip r:embed="rId2"/>
                <a:stretch>
                  <a:fillRect l="-9589" t="-2222" r="-6849"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D2FBC387-EB2B-9B34-A472-A00F885CF938}"/>
                  </a:ext>
                </a:extLst>
              </p:cNvPr>
              <p:cNvSpPr txBox="1"/>
              <p:nvPr/>
            </p:nvSpPr>
            <p:spPr>
              <a:xfrm>
                <a:off x="7154751" y="4151562"/>
                <a:ext cx="880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=1.2</m:t>
                      </m:r>
                    </m:oMath>
                  </m:oMathPara>
                </a14:m>
                <a:endParaRPr lang="en-SE" dirty="0"/>
              </a:p>
            </p:txBody>
          </p:sp>
        </mc:Choice>
        <mc:Fallback>
          <p:sp>
            <p:nvSpPr>
              <p:cNvPr id="14" name="TextBox 13">
                <a:extLst>
                  <a:ext uri="{FF2B5EF4-FFF2-40B4-BE49-F238E27FC236}">
                    <a16:creationId xmlns:a16="http://schemas.microsoft.com/office/drawing/2014/main" id="{D2FBC387-EB2B-9B34-A472-A00F885CF938}"/>
                  </a:ext>
                </a:extLst>
              </p:cNvPr>
              <p:cNvSpPr txBox="1">
                <a:spLocks noRot="1" noChangeAspect="1" noMove="1" noResize="1" noEditPoints="1" noAdjustHandles="1" noChangeArrowheads="1" noChangeShapeType="1" noTextEdit="1"/>
              </p:cNvSpPr>
              <p:nvPr/>
            </p:nvSpPr>
            <p:spPr>
              <a:xfrm>
                <a:off x="7154751" y="4151562"/>
                <a:ext cx="880241" cy="276999"/>
              </a:xfrm>
              <a:prstGeom prst="rect">
                <a:avLst/>
              </a:prstGeom>
              <a:blipFill>
                <a:blip r:embed="rId3"/>
                <a:stretch>
                  <a:fillRect l="-9722" t="-2222" r="-6250" b="-35556"/>
                </a:stretch>
              </a:blipFill>
            </p:spPr>
            <p:txBody>
              <a:bodyPr/>
              <a:lstStyle/>
              <a:p>
                <a:r>
                  <a:rPr lang="en-SE">
                    <a:noFill/>
                  </a:rPr>
                  <a:t> </a:t>
                </a:r>
              </a:p>
            </p:txBody>
          </p:sp>
        </mc:Fallback>
      </mc:AlternateContent>
      <p:sp>
        <p:nvSpPr>
          <p:cNvPr id="15" name="Content Placeholder 2">
            <a:extLst>
              <a:ext uri="{FF2B5EF4-FFF2-40B4-BE49-F238E27FC236}">
                <a16:creationId xmlns:a16="http://schemas.microsoft.com/office/drawing/2014/main" id="{42EE3E41-2AAB-39DF-549F-0F4B31B20E9D}"/>
              </a:ext>
            </a:extLst>
          </p:cNvPr>
          <p:cNvSpPr txBox="1">
            <a:spLocks/>
          </p:cNvSpPr>
          <p:nvPr/>
        </p:nvSpPr>
        <p:spPr>
          <a:xfrm>
            <a:off x="838198" y="5199906"/>
            <a:ext cx="10515600" cy="10348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With our Bayesian data analysis, we aim to recover these effect strengths.</a:t>
            </a:r>
          </a:p>
        </p:txBody>
      </p:sp>
      <p:grpSp>
        <p:nvGrpSpPr>
          <p:cNvPr id="16" name="Group 15">
            <a:extLst>
              <a:ext uri="{FF2B5EF4-FFF2-40B4-BE49-F238E27FC236}">
                <a16:creationId xmlns:a16="http://schemas.microsoft.com/office/drawing/2014/main" id="{E232B8BE-6C59-5826-F216-7C3692F72CEE}"/>
              </a:ext>
            </a:extLst>
          </p:cNvPr>
          <p:cNvGrpSpPr/>
          <p:nvPr/>
        </p:nvGrpSpPr>
        <p:grpSpPr>
          <a:xfrm>
            <a:off x="203635" y="1825625"/>
            <a:ext cx="504000" cy="504000"/>
            <a:chOff x="977950" y="2729564"/>
            <a:chExt cx="504000" cy="504000"/>
          </a:xfrm>
        </p:grpSpPr>
        <p:sp>
          <p:nvSpPr>
            <p:cNvPr id="17" name="Oval 16">
              <a:extLst>
                <a:ext uri="{FF2B5EF4-FFF2-40B4-BE49-F238E27FC236}">
                  <a16:creationId xmlns:a16="http://schemas.microsoft.com/office/drawing/2014/main" id="{0BA77210-878A-7E26-94D7-D39EABB62961}"/>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Golden Ratio with solid fill">
              <a:extLst>
                <a:ext uri="{FF2B5EF4-FFF2-40B4-BE49-F238E27FC236}">
                  <a16:creationId xmlns:a16="http://schemas.microsoft.com/office/drawing/2014/main" id="{E86EB946-5C42-C14B-AEFE-2411CEB203F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B06032ED-B479-CC0A-5048-9F8F565E86E0}"/>
              </a:ext>
            </a:extLst>
          </p:cNvPr>
          <p:cNvGrpSpPr/>
          <p:nvPr/>
        </p:nvGrpSpPr>
        <p:grpSpPr>
          <a:xfrm>
            <a:off x="203635" y="2439322"/>
            <a:ext cx="504000" cy="504000"/>
            <a:chOff x="977950" y="2729564"/>
            <a:chExt cx="504000" cy="504000"/>
          </a:xfrm>
        </p:grpSpPr>
        <p:sp>
          <p:nvSpPr>
            <p:cNvPr id="20" name="Oval 19">
              <a:extLst>
                <a:ext uri="{FF2B5EF4-FFF2-40B4-BE49-F238E27FC236}">
                  <a16:creationId xmlns:a16="http://schemas.microsoft.com/office/drawing/2014/main" id="{DBF59D2D-D297-6202-287F-5A2E73C6053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Normal Distribution with solid fill">
              <a:extLst>
                <a:ext uri="{FF2B5EF4-FFF2-40B4-BE49-F238E27FC236}">
                  <a16:creationId xmlns:a16="http://schemas.microsoft.com/office/drawing/2014/main" id="{EB90EE49-E656-2522-27E2-2D9DA0A9021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78E46ACA-EA66-B596-7AC5-1BDC13D7B11E}"/>
              </a:ext>
            </a:extLst>
          </p:cNvPr>
          <p:cNvGrpSpPr/>
          <p:nvPr/>
        </p:nvGrpSpPr>
        <p:grpSpPr>
          <a:xfrm>
            <a:off x="203635" y="3053019"/>
            <a:ext cx="504000" cy="504000"/>
            <a:chOff x="977950" y="2729564"/>
            <a:chExt cx="504000" cy="504000"/>
          </a:xfrm>
        </p:grpSpPr>
        <p:sp>
          <p:nvSpPr>
            <p:cNvPr id="23" name="Oval 22">
              <a:extLst>
                <a:ext uri="{FF2B5EF4-FFF2-40B4-BE49-F238E27FC236}">
                  <a16:creationId xmlns:a16="http://schemas.microsoft.com/office/drawing/2014/main" id="{30765793-E927-1643-9DD0-2B2CD6E3ADF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Abacus with solid fill">
              <a:extLst>
                <a:ext uri="{FF2B5EF4-FFF2-40B4-BE49-F238E27FC236}">
                  <a16:creationId xmlns:a16="http://schemas.microsoft.com/office/drawing/2014/main" id="{49B8C299-387C-06DD-35F0-4EDB5BA8C46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5" name="Group 24">
            <a:extLst>
              <a:ext uri="{FF2B5EF4-FFF2-40B4-BE49-F238E27FC236}">
                <a16:creationId xmlns:a16="http://schemas.microsoft.com/office/drawing/2014/main" id="{1D385767-C0F1-0345-C8BE-25FE46D97C32}"/>
              </a:ext>
            </a:extLst>
          </p:cNvPr>
          <p:cNvGrpSpPr/>
          <p:nvPr/>
        </p:nvGrpSpPr>
        <p:grpSpPr>
          <a:xfrm>
            <a:off x="203635" y="3666716"/>
            <a:ext cx="504000" cy="504000"/>
            <a:chOff x="977950" y="2729564"/>
            <a:chExt cx="504000" cy="504000"/>
          </a:xfrm>
        </p:grpSpPr>
        <p:sp>
          <p:nvSpPr>
            <p:cNvPr id="26" name="Oval 25">
              <a:extLst>
                <a:ext uri="{FF2B5EF4-FFF2-40B4-BE49-F238E27FC236}">
                  <a16:creationId xmlns:a16="http://schemas.microsoft.com/office/drawing/2014/main" id="{340779FD-450F-532E-5A61-BA41C43D769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7" name="Graphic 26" descr="Trigonometry with solid fill">
              <a:extLst>
                <a:ext uri="{FF2B5EF4-FFF2-40B4-BE49-F238E27FC236}">
                  <a16:creationId xmlns:a16="http://schemas.microsoft.com/office/drawing/2014/main" id="{AC49C5A7-285A-BB1B-4BE1-83DDC8FF58B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28" name="Group 27">
            <a:extLst>
              <a:ext uri="{FF2B5EF4-FFF2-40B4-BE49-F238E27FC236}">
                <a16:creationId xmlns:a16="http://schemas.microsoft.com/office/drawing/2014/main" id="{CDBA3B74-902D-106E-4A5B-3AD770C4AA99}"/>
              </a:ext>
            </a:extLst>
          </p:cNvPr>
          <p:cNvGrpSpPr/>
          <p:nvPr/>
        </p:nvGrpSpPr>
        <p:grpSpPr>
          <a:xfrm>
            <a:off x="203635" y="4280414"/>
            <a:ext cx="504000" cy="504000"/>
            <a:chOff x="977950" y="2729564"/>
            <a:chExt cx="504000" cy="504000"/>
          </a:xfrm>
        </p:grpSpPr>
        <p:sp>
          <p:nvSpPr>
            <p:cNvPr id="29" name="Oval 28">
              <a:extLst>
                <a:ext uri="{FF2B5EF4-FFF2-40B4-BE49-F238E27FC236}">
                  <a16:creationId xmlns:a16="http://schemas.microsoft.com/office/drawing/2014/main" id="{D3EE7FE5-3439-74B0-29B9-0F14C99DB68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0" name="Graphic 29" descr="Scatterplot with solid fill">
              <a:extLst>
                <a:ext uri="{FF2B5EF4-FFF2-40B4-BE49-F238E27FC236}">
                  <a16:creationId xmlns:a16="http://schemas.microsoft.com/office/drawing/2014/main" id="{72EFE3DC-9924-8CBD-3EE6-F2FE44E8C45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31" name="Straight Arrow Connector 30">
            <a:extLst>
              <a:ext uri="{FF2B5EF4-FFF2-40B4-BE49-F238E27FC236}">
                <a16:creationId xmlns:a16="http://schemas.microsoft.com/office/drawing/2014/main" id="{8F36CA44-EF08-69D9-1CC5-976AA7B841B2}"/>
              </a:ext>
            </a:extLst>
          </p:cNvPr>
          <p:cNvCxnSpPr>
            <a:cxnSpLocks/>
            <a:stCxn id="17" idx="4"/>
            <a:endCxn id="2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04F43ADE-11F0-444C-BEC7-DA95EEA146D7}"/>
              </a:ext>
            </a:extLst>
          </p:cNvPr>
          <p:cNvCxnSpPr>
            <a:cxnSpLocks/>
            <a:stCxn id="20" idx="4"/>
            <a:endCxn id="2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97A75A33-90F3-169F-7CFB-5284F59D4EDD}"/>
              </a:ext>
            </a:extLst>
          </p:cNvPr>
          <p:cNvCxnSpPr>
            <a:cxnSpLocks/>
            <a:stCxn id="23" idx="4"/>
            <a:endCxn id="2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DB2950EF-5FD2-17E2-B358-011ABB083EC8}"/>
              </a:ext>
            </a:extLst>
          </p:cNvPr>
          <p:cNvCxnSpPr>
            <a:cxnSpLocks/>
            <a:stCxn id="26" idx="4"/>
            <a:endCxn id="2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Oval 37">
            <a:extLst>
              <a:ext uri="{FF2B5EF4-FFF2-40B4-BE49-F238E27FC236}">
                <a16:creationId xmlns:a16="http://schemas.microsoft.com/office/drawing/2014/main" id="{FB2C0F02-7E7E-4E75-5260-0AB4B941558D}"/>
              </a:ext>
            </a:extLst>
          </p:cNvPr>
          <p:cNvSpPr/>
          <p:nvPr/>
        </p:nvSpPr>
        <p:spPr>
          <a:xfrm>
            <a:off x="4796213" y="367882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9" name="Oval 38">
            <a:extLst>
              <a:ext uri="{FF2B5EF4-FFF2-40B4-BE49-F238E27FC236}">
                <a16:creationId xmlns:a16="http://schemas.microsoft.com/office/drawing/2014/main" id="{27661E14-5197-1ACD-10E8-333FF3456B74}"/>
              </a:ext>
            </a:extLst>
          </p:cNvPr>
          <p:cNvSpPr/>
          <p:nvPr/>
        </p:nvSpPr>
        <p:spPr>
          <a:xfrm>
            <a:off x="7287593" y="367882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40" name="Straight Arrow Connector 39">
            <a:extLst>
              <a:ext uri="{FF2B5EF4-FFF2-40B4-BE49-F238E27FC236}">
                <a16:creationId xmlns:a16="http://schemas.microsoft.com/office/drawing/2014/main" id="{5104D28E-ACD0-DB65-5522-95264BF02BD3}"/>
              </a:ext>
            </a:extLst>
          </p:cNvPr>
          <p:cNvCxnSpPr>
            <a:stCxn id="38" idx="6"/>
            <a:endCxn id="39" idx="2"/>
          </p:cNvCxnSpPr>
          <p:nvPr/>
        </p:nvCxnSpPr>
        <p:spPr>
          <a:xfrm>
            <a:off x="5156213" y="3858820"/>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1" name="TextBox 40">
            <a:extLst>
              <a:ext uri="{FF2B5EF4-FFF2-40B4-BE49-F238E27FC236}">
                <a16:creationId xmlns:a16="http://schemas.microsoft.com/office/drawing/2014/main" id="{46A83AE0-3409-F378-7DE9-FA73DDE34C1C}"/>
              </a:ext>
            </a:extLst>
          </p:cNvPr>
          <p:cNvSpPr txBox="1"/>
          <p:nvPr/>
        </p:nvSpPr>
        <p:spPr>
          <a:xfrm>
            <a:off x="4611828" y="3250788"/>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42" name="TextBox 41">
            <a:extLst>
              <a:ext uri="{FF2B5EF4-FFF2-40B4-BE49-F238E27FC236}">
                <a16:creationId xmlns:a16="http://schemas.microsoft.com/office/drawing/2014/main" id="{76703569-3FD4-9158-F806-4C4AB44871BB}"/>
              </a:ext>
            </a:extLst>
          </p:cNvPr>
          <p:cNvSpPr txBox="1"/>
          <p:nvPr/>
        </p:nvSpPr>
        <p:spPr>
          <a:xfrm>
            <a:off x="6688471" y="3262175"/>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43" name="Oval 42">
            <a:extLst>
              <a:ext uri="{FF2B5EF4-FFF2-40B4-BE49-F238E27FC236}">
                <a16:creationId xmlns:a16="http://schemas.microsoft.com/office/drawing/2014/main" id="{D409E3DF-8A9E-7F63-DF9B-202F45838ACA}"/>
              </a:ext>
            </a:extLst>
          </p:cNvPr>
          <p:cNvSpPr/>
          <p:nvPr/>
        </p:nvSpPr>
        <p:spPr>
          <a:xfrm>
            <a:off x="6041903" y="444514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44" name="TextBox 43">
            <a:extLst>
              <a:ext uri="{FF2B5EF4-FFF2-40B4-BE49-F238E27FC236}">
                <a16:creationId xmlns:a16="http://schemas.microsoft.com/office/drawing/2014/main" id="{0E6E8522-DA75-3AC9-AD88-B231FC303F4A}"/>
              </a:ext>
            </a:extLst>
          </p:cNvPr>
          <p:cNvSpPr txBox="1"/>
          <p:nvPr/>
        </p:nvSpPr>
        <p:spPr>
          <a:xfrm>
            <a:off x="6528807" y="4445141"/>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45" name="Straight Arrow Connector 44">
            <a:extLst>
              <a:ext uri="{FF2B5EF4-FFF2-40B4-BE49-F238E27FC236}">
                <a16:creationId xmlns:a16="http://schemas.microsoft.com/office/drawing/2014/main" id="{9D495E15-C536-7AFA-FCE0-63F6FF95C414}"/>
              </a:ext>
            </a:extLst>
          </p:cNvPr>
          <p:cNvCxnSpPr>
            <a:cxnSpLocks/>
            <a:stCxn id="43" idx="7"/>
            <a:endCxn id="39" idx="3"/>
          </p:cNvCxnSpPr>
          <p:nvPr/>
        </p:nvCxnSpPr>
        <p:spPr>
          <a:xfrm flipV="1">
            <a:off x="6349182" y="3986099"/>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EEC4BEDE-4EF5-A41E-85AD-4DF4D57D4D48}"/>
              </a:ext>
            </a:extLst>
          </p:cNvPr>
          <p:cNvCxnSpPr>
            <a:cxnSpLocks/>
            <a:stCxn id="43" idx="1"/>
            <a:endCxn id="38" idx="5"/>
          </p:cNvCxnSpPr>
          <p:nvPr/>
        </p:nvCxnSpPr>
        <p:spPr>
          <a:xfrm flipH="1" flipV="1">
            <a:off x="5103492" y="3986099"/>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12483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18FA7-BDBF-2058-2338-93F04D5FF90C}"/>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5F6352-5684-87F5-E25B-62DEFB582C69}"/>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FC5F6352-5684-87F5-E25B-62DEFB582C69}"/>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FBFC4A0F-0696-4EB7-B344-E3706D2C3D2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2069D3E-A325-A19B-BB2C-0D81677E095B}"/>
              </a:ext>
            </a:extLst>
          </p:cNvPr>
          <p:cNvSpPr>
            <a:spLocks noGrp="1"/>
          </p:cNvSpPr>
          <p:nvPr>
            <p:ph type="sldNum" sz="quarter" idx="12"/>
          </p:nvPr>
        </p:nvSpPr>
        <p:spPr/>
        <p:txBody>
          <a:bodyPr/>
          <a:lstStyle/>
          <a:p>
            <a:fld id="{271ECC92-9CDE-4EB3-B1C5-F46B9E1FA3C1}" type="slidenum">
              <a:rPr lang="en-SE" smtClean="0"/>
              <a:t>44</a:t>
            </a:fld>
            <a:endParaRPr lang="en-SE"/>
          </a:p>
        </p:txBody>
      </p:sp>
      <p:sp>
        <p:nvSpPr>
          <p:cNvPr id="76" name="Rectangle: Rounded Corners 75">
            <a:extLst>
              <a:ext uri="{FF2B5EF4-FFF2-40B4-BE49-F238E27FC236}">
                <a16:creationId xmlns:a16="http://schemas.microsoft.com/office/drawing/2014/main" id="{BB6F1785-510B-3C71-4CE2-A1A568D171E0}"/>
              </a:ext>
            </a:extLst>
          </p:cNvPr>
          <p:cNvSpPr/>
          <p:nvPr/>
        </p:nvSpPr>
        <p:spPr>
          <a:xfrm>
            <a:off x="3993931" y="3611867"/>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21D5309-3C95-C91C-056F-58983DD46352}"/>
                  </a:ext>
                </a:extLst>
              </p:cNvPr>
              <p:cNvSpPr txBox="1"/>
              <p:nvPr/>
            </p:nvSpPr>
            <p:spPr>
              <a:xfrm>
                <a:off x="4464705" y="4213920"/>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16" name="TextBox 15">
                <a:extLst>
                  <a:ext uri="{FF2B5EF4-FFF2-40B4-BE49-F238E27FC236}">
                    <a16:creationId xmlns:a16="http://schemas.microsoft.com/office/drawing/2014/main" id="{521D5309-3C95-C91C-056F-58983DD46352}"/>
                  </a:ext>
                </a:extLst>
              </p:cNvPr>
              <p:cNvSpPr txBox="1">
                <a:spLocks noRot="1" noChangeAspect="1" noMove="1" noResize="1" noEditPoints="1" noAdjustHandles="1" noChangeArrowheads="1" noChangeShapeType="1" noTextEdit="1"/>
              </p:cNvSpPr>
              <p:nvPr/>
            </p:nvSpPr>
            <p:spPr>
              <a:xfrm>
                <a:off x="4464705" y="4213920"/>
                <a:ext cx="1561005" cy="369332"/>
              </a:xfrm>
              <a:prstGeom prst="rect">
                <a:avLst/>
              </a:prstGeom>
              <a:blipFill>
                <a:blip r:embed="rId3"/>
                <a:stretch>
                  <a:fillRect l="-4688" t="-1639" r="-7031"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BD9A13-B038-4F1C-1377-277D447B37C2}"/>
                  </a:ext>
                </a:extLst>
              </p:cNvPr>
              <p:cNvSpPr txBox="1"/>
              <p:nvPr/>
            </p:nvSpPr>
            <p:spPr>
              <a:xfrm>
                <a:off x="4405594" y="4611422"/>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18" name="TextBox 17">
                <a:extLst>
                  <a:ext uri="{FF2B5EF4-FFF2-40B4-BE49-F238E27FC236}">
                    <a16:creationId xmlns:a16="http://schemas.microsoft.com/office/drawing/2014/main" id="{82BD9A13-B038-4F1C-1377-277D447B37C2}"/>
                  </a:ext>
                </a:extLst>
              </p:cNvPr>
              <p:cNvSpPr txBox="1">
                <a:spLocks noRot="1" noChangeAspect="1" noMove="1" noResize="1" noEditPoints="1" noAdjustHandles="1" noChangeArrowheads="1" noChangeShapeType="1" noTextEdit="1"/>
              </p:cNvSpPr>
              <p:nvPr/>
            </p:nvSpPr>
            <p:spPr>
              <a:xfrm>
                <a:off x="4405594" y="4611422"/>
                <a:ext cx="3053849" cy="369332"/>
              </a:xfrm>
              <a:prstGeom prst="rect">
                <a:avLst/>
              </a:prstGeom>
              <a:blipFill>
                <a:blip r:embed="rId4"/>
                <a:stretch>
                  <a:fillRect l="-998" t="-1639" b="-32787"/>
                </a:stretch>
              </a:blipFill>
            </p:spPr>
            <p:txBody>
              <a:bodyPr/>
              <a:lstStyle/>
              <a:p>
                <a:r>
                  <a:rPr lang="en-SE">
                    <a:noFill/>
                  </a:rPr>
                  <a:t> </a:t>
                </a:r>
              </a:p>
            </p:txBody>
          </p:sp>
        </mc:Fallback>
      </mc:AlternateContent>
      <p:sp>
        <p:nvSpPr>
          <p:cNvPr id="17" name="Footer Placeholder 16">
            <a:extLst>
              <a:ext uri="{FF2B5EF4-FFF2-40B4-BE49-F238E27FC236}">
                <a16:creationId xmlns:a16="http://schemas.microsoft.com/office/drawing/2014/main" id="{DCC16559-74D3-FA7B-56F1-C440D672F044}"/>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61EC8DBA-CFEB-6EB6-7A2E-2CD40B24F33E}"/>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67D7D4C7-CA5B-144E-7B78-267D5B2AFCA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E7B4058B-B471-242D-CDDB-E769D175284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1408F4B5-B3E2-5432-C2A9-1052DDCE3445}"/>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D42D1476-7C34-D5AD-F739-A43CE7BFB9F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C962A06C-8363-BAA6-3D01-CA686395DC25}"/>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219690D1-A9FD-D8AF-9297-8D728C63C823}"/>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F9EBD610-E9C3-575E-BE29-1335B62BBC5A}"/>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671EBB1B-4CF2-76A2-BFC0-9EB646A5983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913D716E-DF8A-796E-6B8B-98220CA758B1}"/>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2A0EB8E2-77D3-7CD9-CAC9-9EED369CF13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A0BBC543-BFE1-2B94-CA6D-B0F689AA0FF1}"/>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60C3F261-08C5-D04B-93E1-3D4D2827260B}"/>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D8E20FB6-2810-36A6-BF69-E210B29D541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6EC358FA-9E5A-AB8B-CFAE-A94BF94C59A9}"/>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F58818D8-ED7D-1598-C399-587383990536}"/>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6CDB01F4-0A96-C36A-D951-57495227C404}"/>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1FFD40EF-1741-07B6-3073-7A1F3D016DC5}"/>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F2D16287-66CC-59BB-032B-1F4A22AC77D3}"/>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C0B2F4EE-7CAD-1A3C-7470-352E8FDE8521}"/>
                  </a:ext>
                </a:extLst>
              </p:cNvPr>
              <p:cNvSpPr txBox="1"/>
              <p:nvPr/>
            </p:nvSpPr>
            <p:spPr>
              <a:xfrm>
                <a:off x="1149541" y="3179853"/>
                <a:ext cx="2654483" cy="646331"/>
              </a:xfrm>
              <a:prstGeom prst="rect">
                <a:avLst/>
              </a:prstGeom>
              <a:noFill/>
            </p:spPr>
            <p:txBody>
              <a:bodyPr wrap="square" rtlCol="0">
                <a:spAutoFit/>
              </a:bodyPr>
              <a:lstStyle/>
              <a:p>
                <a:r>
                  <a:rPr lang="en-SE" dirty="0"/>
                  <a:t>Observations about the outcome variable </a:t>
                </a:r>
                <a14:m>
                  <m:oMath xmlns:m="http://schemas.openxmlformats.org/officeDocument/2006/math">
                    <m:r>
                      <a:rPr lang="en-SE" b="0" i="1" smtClean="0">
                        <a:latin typeface="Cambria Math" panose="02040503050406030204" pitchFamily="18" charset="0"/>
                      </a:rPr>
                      <m:t>𝑦</m:t>
                    </m:r>
                  </m:oMath>
                </a14:m>
                <a:r>
                  <a:rPr lang="en-SE" dirty="0"/>
                  <a:t>  ...</a:t>
                </a:r>
              </a:p>
            </p:txBody>
          </p:sp>
        </mc:Choice>
        <mc:Fallback xmlns="">
          <p:sp>
            <p:nvSpPr>
              <p:cNvPr id="78" name="TextBox 77">
                <a:extLst>
                  <a:ext uri="{FF2B5EF4-FFF2-40B4-BE49-F238E27FC236}">
                    <a16:creationId xmlns:a16="http://schemas.microsoft.com/office/drawing/2014/main" id="{C0B2F4EE-7CAD-1A3C-7470-352E8FDE8521}"/>
                  </a:ext>
                </a:extLst>
              </p:cNvPr>
              <p:cNvSpPr txBox="1">
                <a:spLocks noRot="1" noChangeAspect="1" noMove="1" noResize="1" noEditPoints="1" noAdjustHandles="1" noChangeArrowheads="1" noChangeShapeType="1" noTextEdit="1"/>
              </p:cNvSpPr>
              <p:nvPr/>
            </p:nvSpPr>
            <p:spPr>
              <a:xfrm>
                <a:off x="1149541" y="3179853"/>
                <a:ext cx="2654483" cy="646331"/>
              </a:xfrm>
              <a:prstGeom prst="rect">
                <a:avLst/>
              </a:prstGeom>
              <a:blipFill>
                <a:blip r:embed="rId10"/>
                <a:stretch>
                  <a:fillRect l="-2069" t="-4717" b="-15094"/>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0A5580A-2F37-4055-8F7B-1A22AA3C13B9}"/>
                  </a:ext>
                </a:extLst>
              </p:cNvPr>
              <p:cNvSpPr txBox="1"/>
              <p:nvPr/>
            </p:nvSpPr>
            <p:spPr>
              <a:xfrm>
                <a:off x="8387976" y="2910688"/>
                <a:ext cx="2654483" cy="923330"/>
              </a:xfrm>
              <a:prstGeom prst="rect">
                <a:avLst/>
              </a:prstGeom>
              <a:noFill/>
            </p:spPr>
            <p:txBody>
              <a:bodyPr wrap="square" rtlCol="0">
                <a:spAutoFit/>
              </a:bodyPr>
              <a:lstStyle/>
              <a:p>
                <a:r>
                  <a:rPr lang="en-SE" dirty="0"/>
                  <a:t>... follow a normal distribution </a:t>
                </a:r>
                <a14:m>
                  <m:oMath xmlns:m="http://schemas.openxmlformats.org/officeDocument/2006/math">
                    <m:r>
                      <a:rPr lang="en-SE" b="0" i="1" smtClean="0">
                        <a:latin typeface="Cambria Math" panose="02040503050406030204" pitchFamily="18" charset="0"/>
                      </a:rPr>
                      <m:t>𝑁</m:t>
                    </m:r>
                  </m:oMath>
                </a14:m>
                <a:r>
                  <a:rPr lang="en-SE" dirty="0"/>
                  <a:t> defined by parameters </a:t>
                </a:r>
                <a14:m>
                  <m:oMath xmlns:m="http://schemas.openxmlformats.org/officeDocument/2006/math">
                    <m:r>
                      <a:rPr lang="en-SE" b="0" i="1" smtClean="0">
                        <a:latin typeface="Cambria Math" panose="02040503050406030204" pitchFamily="18" charset="0"/>
                      </a:rPr>
                      <m:t>𝜇</m:t>
                    </m:r>
                  </m:oMath>
                </a14:m>
                <a:r>
                  <a:rPr lang="en-SE" dirty="0"/>
                  <a:t> and </a:t>
                </a:r>
                <a14:m>
                  <m:oMath xmlns:m="http://schemas.openxmlformats.org/officeDocument/2006/math">
                    <m:r>
                      <a:rPr lang="en-SE" b="0" i="1" smtClean="0">
                        <a:latin typeface="Cambria Math" panose="02040503050406030204" pitchFamily="18" charset="0"/>
                      </a:rPr>
                      <m:t>𝜎</m:t>
                    </m:r>
                  </m:oMath>
                </a14:m>
                <a:r>
                  <a:rPr lang="en-SE" dirty="0"/>
                  <a:t>.</a:t>
                </a:r>
              </a:p>
            </p:txBody>
          </p:sp>
        </mc:Choice>
        <mc:Fallback xmlns="">
          <p:sp>
            <p:nvSpPr>
              <p:cNvPr id="82" name="TextBox 81">
                <a:extLst>
                  <a:ext uri="{FF2B5EF4-FFF2-40B4-BE49-F238E27FC236}">
                    <a16:creationId xmlns:a16="http://schemas.microsoft.com/office/drawing/2014/main" id="{D0A5580A-2F37-4055-8F7B-1A22AA3C13B9}"/>
                  </a:ext>
                </a:extLst>
              </p:cNvPr>
              <p:cNvSpPr txBox="1">
                <a:spLocks noRot="1" noChangeAspect="1" noMove="1" noResize="1" noEditPoints="1" noAdjustHandles="1" noChangeArrowheads="1" noChangeShapeType="1" noTextEdit="1"/>
              </p:cNvSpPr>
              <p:nvPr/>
            </p:nvSpPr>
            <p:spPr>
              <a:xfrm>
                <a:off x="8387976" y="2910688"/>
                <a:ext cx="2654483" cy="923330"/>
              </a:xfrm>
              <a:prstGeom prst="rect">
                <a:avLst/>
              </a:prstGeom>
              <a:blipFill>
                <a:blip r:embed="rId11"/>
                <a:stretch>
                  <a:fillRect l="-2069" t="-2632" r="-1609" b="-986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4B64912C-78F5-B3F9-C865-603888EF30F4}"/>
                  </a:ext>
                </a:extLst>
              </p:cNvPr>
              <p:cNvSpPr txBox="1"/>
              <p:nvPr/>
            </p:nvSpPr>
            <p:spPr>
              <a:xfrm>
                <a:off x="1149541" y="4784414"/>
                <a:ext cx="2654483" cy="923330"/>
              </a:xfrm>
              <a:prstGeom prst="rect">
                <a:avLst/>
              </a:prstGeom>
              <a:noFill/>
            </p:spPr>
            <p:txBody>
              <a:bodyPr wrap="square" rtlCol="0">
                <a:spAutoFit/>
              </a:bodyPr>
              <a:lstStyle/>
              <a:p>
                <a:r>
                  <a:rPr lang="en-SE" dirty="0"/>
                  <a:t>The shape defining parameter </a:t>
                </a:r>
                <a14:m>
                  <m:oMath xmlns:m="http://schemas.openxmlformats.org/officeDocument/2006/math">
                    <m:r>
                      <a:rPr lang="en-SE" b="0" i="1" smtClean="0">
                        <a:latin typeface="Cambria Math" panose="02040503050406030204" pitchFamily="18" charset="0"/>
                      </a:rPr>
                      <m:t>𝜇</m:t>
                    </m:r>
                  </m:oMath>
                </a14:m>
                <a:r>
                  <a:rPr lang="en-SE" dirty="0"/>
                  <a:t>, the mean of the distribution,  ...</a:t>
                </a:r>
              </a:p>
            </p:txBody>
          </p:sp>
        </mc:Choice>
        <mc:Fallback xmlns="">
          <p:sp>
            <p:nvSpPr>
              <p:cNvPr id="84" name="TextBox 83">
                <a:extLst>
                  <a:ext uri="{FF2B5EF4-FFF2-40B4-BE49-F238E27FC236}">
                    <a16:creationId xmlns:a16="http://schemas.microsoft.com/office/drawing/2014/main" id="{4B64912C-78F5-B3F9-C865-603888EF30F4}"/>
                  </a:ext>
                </a:extLst>
              </p:cNvPr>
              <p:cNvSpPr txBox="1">
                <a:spLocks noRot="1" noChangeAspect="1" noMove="1" noResize="1" noEditPoints="1" noAdjustHandles="1" noChangeArrowheads="1" noChangeShapeType="1" noTextEdit="1"/>
              </p:cNvSpPr>
              <p:nvPr/>
            </p:nvSpPr>
            <p:spPr>
              <a:xfrm>
                <a:off x="1149541" y="4784414"/>
                <a:ext cx="2654483" cy="923330"/>
              </a:xfrm>
              <a:prstGeom prst="rect">
                <a:avLst/>
              </a:prstGeom>
              <a:blipFill>
                <a:blip r:embed="rId12"/>
                <a:stretch>
                  <a:fillRect l="-2069" t="-3311" b="-10596"/>
                </a:stretch>
              </a:blipFill>
            </p:spPr>
            <p:txBody>
              <a:bodyPr/>
              <a:lstStyle/>
              <a:p>
                <a:r>
                  <a:rPr lang="en-SE">
                    <a:noFill/>
                  </a:rPr>
                  <a:t> </a:t>
                </a:r>
              </a:p>
            </p:txBody>
          </p:sp>
        </mc:Fallback>
      </mc:AlternateContent>
      <p:sp>
        <p:nvSpPr>
          <p:cNvPr id="86" name="TextBox 85">
            <a:extLst>
              <a:ext uri="{FF2B5EF4-FFF2-40B4-BE49-F238E27FC236}">
                <a16:creationId xmlns:a16="http://schemas.microsoft.com/office/drawing/2014/main" id="{7CA5CFE6-FFAD-5761-6950-B00384AE568D}"/>
              </a:ext>
            </a:extLst>
          </p:cNvPr>
          <p:cNvSpPr txBox="1"/>
          <p:nvPr/>
        </p:nvSpPr>
        <p:spPr>
          <a:xfrm>
            <a:off x="8387975" y="4730414"/>
            <a:ext cx="2654483" cy="646331"/>
          </a:xfrm>
          <a:prstGeom prst="rect">
            <a:avLst/>
          </a:prstGeom>
          <a:noFill/>
        </p:spPr>
        <p:txBody>
          <a:bodyPr wrap="square" rtlCol="0">
            <a:spAutoFit/>
          </a:bodyPr>
          <a:lstStyle/>
          <a:p>
            <a:r>
              <a:rPr lang="en-SE" dirty="0"/>
              <a:t>... emerges from the sum of several factors.</a:t>
            </a:r>
          </a:p>
        </p:txBody>
      </p:sp>
      <p:pic>
        <p:nvPicPr>
          <p:cNvPr id="7" name="Graphic 6" descr="Robot with solid fill">
            <a:extLst>
              <a:ext uri="{FF2B5EF4-FFF2-40B4-BE49-F238E27FC236}">
                <a16:creationId xmlns:a16="http://schemas.microsoft.com/office/drawing/2014/main" id="{12E9F538-6FB3-4796-A69C-549E9D7BC17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04705" y="3679623"/>
            <a:ext cx="360000" cy="360000"/>
          </a:xfrm>
          <a:prstGeom prst="rect">
            <a:avLst/>
          </a:prstGeom>
        </p:spPr>
      </p:pic>
    </p:spTree>
    <p:extLst>
      <p:ext uri="{BB962C8B-B14F-4D97-AF65-F5344CB8AC3E}">
        <p14:creationId xmlns:p14="http://schemas.microsoft.com/office/powerpoint/2010/main" val="2835804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16" grpId="0"/>
      <p:bldP spid="18" grpId="0"/>
      <p:bldP spid="78" grpId="0"/>
      <p:bldP spid="82" grpId="0"/>
      <p:bldP spid="84" grpId="0"/>
      <p:bldP spid="8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76186-F45A-FF97-C69C-DAFA084E4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1BEED-1A24-22FC-0D41-7872E719DF7C}"/>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7A36B4-415A-A010-31CB-CDE509BFE7D7}"/>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C37A36B4-415A-A010-31CB-CDE509BFE7D7}"/>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099A7F98-5A28-AED2-88D4-4B05FCA3D69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A4909E0-35D4-1BA0-71AC-DC8E274951D8}"/>
              </a:ext>
            </a:extLst>
          </p:cNvPr>
          <p:cNvSpPr>
            <a:spLocks noGrp="1"/>
          </p:cNvSpPr>
          <p:nvPr>
            <p:ph type="sldNum" sz="quarter" idx="12"/>
          </p:nvPr>
        </p:nvSpPr>
        <p:spPr/>
        <p:txBody>
          <a:bodyPr/>
          <a:lstStyle/>
          <a:p>
            <a:fld id="{271ECC92-9CDE-4EB3-B1C5-F46B9E1FA3C1}" type="slidenum">
              <a:rPr lang="en-SE" smtClean="0"/>
              <a:t>45</a:t>
            </a:fld>
            <a:endParaRPr lang="en-SE"/>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9034C6E-28B8-C100-8C1A-4103A84D03E6}"/>
                  </a:ext>
                </a:extLst>
              </p:cNvPr>
              <p:cNvSpPr txBox="1"/>
              <p:nvPr/>
            </p:nvSpPr>
            <p:spPr>
              <a:xfrm>
                <a:off x="4341796" y="3371203"/>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18" name="TextBox 17">
                <a:extLst>
                  <a:ext uri="{FF2B5EF4-FFF2-40B4-BE49-F238E27FC236}">
                    <a16:creationId xmlns:a16="http://schemas.microsoft.com/office/drawing/2014/main" id="{A9034C6E-28B8-C100-8C1A-4103A84D03E6}"/>
                  </a:ext>
                </a:extLst>
              </p:cNvPr>
              <p:cNvSpPr txBox="1">
                <a:spLocks noRot="1" noChangeAspect="1" noMove="1" noResize="1" noEditPoints="1" noAdjustHandles="1" noChangeArrowheads="1" noChangeShapeType="1" noTextEdit="1"/>
              </p:cNvSpPr>
              <p:nvPr/>
            </p:nvSpPr>
            <p:spPr>
              <a:xfrm>
                <a:off x="4341796" y="3371203"/>
                <a:ext cx="3053849" cy="369332"/>
              </a:xfrm>
              <a:prstGeom prst="rect">
                <a:avLst/>
              </a:prstGeom>
              <a:blipFill>
                <a:blip r:embed="rId3"/>
                <a:stretch>
                  <a:fillRect l="-798" t="-1639" b="-32787"/>
                </a:stretch>
              </a:blipFill>
            </p:spPr>
            <p:txBody>
              <a:bodyPr/>
              <a:lstStyle/>
              <a:p>
                <a:r>
                  <a:rPr lang="en-SE">
                    <a:noFill/>
                  </a:rPr>
                  <a:t> </a:t>
                </a:r>
              </a:p>
            </p:txBody>
          </p:sp>
        </mc:Fallback>
      </mc:AlternateContent>
      <p:sp>
        <p:nvSpPr>
          <p:cNvPr id="17" name="Footer Placeholder 16">
            <a:extLst>
              <a:ext uri="{FF2B5EF4-FFF2-40B4-BE49-F238E27FC236}">
                <a16:creationId xmlns:a16="http://schemas.microsoft.com/office/drawing/2014/main" id="{BBC06CB8-C728-A295-5A64-A372B5020A7D}"/>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3F090A1F-7FCF-3B80-6492-2B8A80CF7658}"/>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1E8F6417-C71B-208E-5912-B785CD0D3B73}"/>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669A76CB-0D4C-623B-0AF6-D4B53BDB4B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4158F1C0-A633-E844-B24E-EF9A02CA3D81}"/>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6FA3E783-F0A2-09C2-6779-F8FD47568F5B}"/>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62F8EC65-5485-FBDD-9A85-F44B15630B5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E8786840-876B-BD2D-B566-ADBA6ACB14C4}"/>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0239C46C-494C-C8AC-8AC7-9AE631862FA6}"/>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CA1BB1F4-B493-D302-5480-BB91CF8CAA5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03E11107-3CDC-448E-30A0-AE894467FD95}"/>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A4261E48-2880-222B-7878-B53B9596B1E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3A37F906-0C97-050B-01E2-C1EBAB85F9D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B38ACEA3-3FA1-B0F7-57FE-A334E1F8A3ED}"/>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541FEBF3-C201-696F-830E-07A1C34BFA0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A3901F53-84AE-6FDC-26BE-7658076FA344}"/>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D8F2052C-B60F-4F60-90C9-31FCEA015D7B}"/>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A319EB45-25E3-0FC0-1F5C-3E2C81C7D731}"/>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A586E6C1-0632-A228-972E-D19A42F48F2D}"/>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2F23D165-FFE1-4BB3-A8D0-EED92D95DF8D}"/>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B7AA3672-84A2-39A0-853D-63416CDDB65A}"/>
                  </a:ext>
                </a:extLst>
              </p:cNvPr>
              <p:cNvSpPr txBox="1"/>
              <p:nvPr/>
            </p:nvSpPr>
            <p:spPr>
              <a:xfrm>
                <a:off x="1384117" y="3153388"/>
                <a:ext cx="2654483" cy="923330"/>
              </a:xfrm>
              <a:prstGeom prst="rect">
                <a:avLst/>
              </a:prstGeom>
              <a:noFill/>
            </p:spPr>
            <p:txBody>
              <a:bodyPr wrap="square" rtlCol="0">
                <a:spAutoFit/>
              </a:bodyPr>
              <a:lstStyle/>
              <a:p>
                <a:r>
                  <a:rPr lang="en-SE" dirty="0"/>
                  <a:t>The shape defining parameter </a:t>
                </a:r>
                <a14:m>
                  <m:oMath xmlns:m="http://schemas.openxmlformats.org/officeDocument/2006/math">
                    <m:r>
                      <a:rPr lang="en-SE" b="0" i="1" smtClean="0">
                        <a:latin typeface="Cambria Math" panose="02040503050406030204" pitchFamily="18" charset="0"/>
                      </a:rPr>
                      <m:t>𝜇</m:t>
                    </m:r>
                  </m:oMath>
                </a14:m>
                <a:r>
                  <a:rPr lang="en-SE" dirty="0"/>
                  <a:t>, the mean of the distribution,  ...</a:t>
                </a:r>
              </a:p>
            </p:txBody>
          </p:sp>
        </mc:Choice>
        <mc:Fallback xmlns="">
          <p:sp>
            <p:nvSpPr>
              <p:cNvPr id="84" name="TextBox 83">
                <a:extLst>
                  <a:ext uri="{FF2B5EF4-FFF2-40B4-BE49-F238E27FC236}">
                    <a16:creationId xmlns:a16="http://schemas.microsoft.com/office/drawing/2014/main" id="{B7AA3672-84A2-39A0-853D-63416CDDB65A}"/>
                  </a:ext>
                </a:extLst>
              </p:cNvPr>
              <p:cNvSpPr txBox="1">
                <a:spLocks noRot="1" noChangeAspect="1" noMove="1" noResize="1" noEditPoints="1" noAdjustHandles="1" noChangeArrowheads="1" noChangeShapeType="1" noTextEdit="1"/>
              </p:cNvSpPr>
              <p:nvPr/>
            </p:nvSpPr>
            <p:spPr>
              <a:xfrm>
                <a:off x="1384117" y="3153388"/>
                <a:ext cx="2654483" cy="923330"/>
              </a:xfrm>
              <a:prstGeom prst="rect">
                <a:avLst/>
              </a:prstGeom>
              <a:blipFill>
                <a:blip r:embed="rId9"/>
                <a:stretch>
                  <a:fillRect l="-1835" t="-2632" b="-9868"/>
                </a:stretch>
              </a:blipFill>
            </p:spPr>
            <p:txBody>
              <a:bodyPr/>
              <a:lstStyle/>
              <a:p>
                <a:r>
                  <a:rPr lang="en-SE">
                    <a:noFill/>
                  </a:rPr>
                  <a:t> </a:t>
                </a:r>
              </a:p>
            </p:txBody>
          </p:sp>
        </mc:Fallback>
      </mc:AlternateContent>
      <p:sp>
        <p:nvSpPr>
          <p:cNvPr id="86" name="TextBox 85">
            <a:extLst>
              <a:ext uri="{FF2B5EF4-FFF2-40B4-BE49-F238E27FC236}">
                <a16:creationId xmlns:a16="http://schemas.microsoft.com/office/drawing/2014/main" id="{F524783F-B4C9-BAEB-FEBA-2B71A5E7F247}"/>
              </a:ext>
            </a:extLst>
          </p:cNvPr>
          <p:cNvSpPr txBox="1"/>
          <p:nvPr/>
        </p:nvSpPr>
        <p:spPr>
          <a:xfrm>
            <a:off x="8366954" y="3232703"/>
            <a:ext cx="2654483" cy="646331"/>
          </a:xfrm>
          <a:prstGeom prst="rect">
            <a:avLst/>
          </a:prstGeom>
          <a:noFill/>
        </p:spPr>
        <p:txBody>
          <a:bodyPr wrap="square" rtlCol="0">
            <a:spAutoFit/>
          </a:bodyPr>
          <a:lstStyle/>
          <a:p>
            <a:r>
              <a:rPr lang="en-SE" dirty="0"/>
              <a:t>... emerges from the sum of several factors.</a:t>
            </a:r>
          </a:p>
        </p:txBody>
      </p:sp>
      <p:grpSp>
        <p:nvGrpSpPr>
          <p:cNvPr id="24" name="Group 23">
            <a:extLst>
              <a:ext uri="{FF2B5EF4-FFF2-40B4-BE49-F238E27FC236}">
                <a16:creationId xmlns:a16="http://schemas.microsoft.com/office/drawing/2014/main" id="{F69CA6BE-B916-CC94-D51A-F2368EF9FBDA}"/>
              </a:ext>
            </a:extLst>
          </p:cNvPr>
          <p:cNvGrpSpPr/>
          <p:nvPr/>
        </p:nvGrpSpPr>
        <p:grpSpPr>
          <a:xfrm>
            <a:off x="1384117" y="4431440"/>
            <a:ext cx="3442138" cy="1091638"/>
            <a:chOff x="1384117" y="4431440"/>
            <a:chExt cx="3442138" cy="1091638"/>
          </a:xfrm>
        </p:grpSpPr>
        <p:pic>
          <p:nvPicPr>
            <p:cNvPr id="7" name="Graphic 6" descr="Bar chart with solid fill">
              <a:extLst>
                <a:ext uri="{FF2B5EF4-FFF2-40B4-BE49-F238E27FC236}">
                  <a16:creationId xmlns:a16="http://schemas.microsoft.com/office/drawing/2014/main" id="{36F325B9-BAEA-0400-1B96-1E3EAC87D8B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87214" y="4436106"/>
              <a:ext cx="360000" cy="360000"/>
            </a:xfrm>
            <a:prstGeom prst="rect">
              <a:avLst/>
            </a:prstGeom>
          </p:spPr>
        </p:pic>
        <p:sp>
          <p:nvSpPr>
            <p:cNvPr id="8" name="TextBox 7">
              <a:extLst>
                <a:ext uri="{FF2B5EF4-FFF2-40B4-BE49-F238E27FC236}">
                  <a16:creationId xmlns:a16="http://schemas.microsoft.com/office/drawing/2014/main" id="{3286933D-8F25-0B86-2A60-88F7201E404A}"/>
                </a:ext>
              </a:extLst>
            </p:cNvPr>
            <p:cNvSpPr txBox="1"/>
            <p:nvPr/>
          </p:nvSpPr>
          <p:spPr>
            <a:xfrm>
              <a:off x="1847214" y="4431440"/>
              <a:ext cx="1194045" cy="369332"/>
            </a:xfrm>
            <a:prstGeom prst="rect">
              <a:avLst/>
            </a:prstGeom>
            <a:noFill/>
          </p:spPr>
          <p:txBody>
            <a:bodyPr wrap="none" rtlCol="0">
              <a:spAutoFit/>
            </a:bodyPr>
            <a:lstStyle/>
            <a:p>
              <a:r>
                <a:rPr lang="en-SE" b="1" dirty="0">
                  <a:solidFill>
                    <a:schemeClr val="bg2">
                      <a:lumMod val="75000"/>
                    </a:schemeClr>
                  </a:solidFill>
                </a:rPr>
                <a:t>Intercept</a:t>
              </a:r>
              <a:r>
                <a:rPr lang="en-SE" b="1" dirty="0"/>
                <a:t> </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F46A98-6FCC-31FA-F1A5-8AA40C38AE9B}"/>
                    </a:ext>
                  </a:extLst>
                </p:cNvPr>
                <p:cNvSpPr txBox="1"/>
                <p:nvPr/>
              </p:nvSpPr>
              <p:spPr>
                <a:xfrm>
                  <a:off x="1384117" y="4784414"/>
                  <a:ext cx="3442138" cy="738664"/>
                </a:xfrm>
                <a:prstGeom prst="rect">
                  <a:avLst/>
                </a:prstGeom>
                <a:noFill/>
              </p:spPr>
              <p:txBody>
                <a:bodyPr wrap="square" rtlCol="0">
                  <a:spAutoFit/>
                </a:bodyPr>
                <a:lstStyle/>
                <a:p>
                  <a:r>
                    <a:rPr lang="en-SE" sz="1400" dirty="0"/>
                    <a:t>represents the likely “baseline” values for </a:t>
                  </a:r>
                  <a14:m>
                    <m:oMath xmlns:m="http://schemas.openxmlformats.org/officeDocument/2006/math">
                      <m:r>
                        <a:rPr lang="en-SE" sz="1400" b="0" i="1" smtClean="0">
                          <a:latin typeface="Cambria Math" panose="02040503050406030204" pitchFamily="18" charset="0"/>
                        </a:rPr>
                        <m:t>𝜇</m:t>
                      </m:r>
                    </m:oMath>
                  </a14:m>
                  <a:r>
                    <a:rPr lang="en-SE" sz="1400" dirty="0"/>
                    <a:t>, i.e., the mean of </a:t>
                  </a:r>
                  <a14:m>
                    <m:oMath xmlns:m="http://schemas.openxmlformats.org/officeDocument/2006/math">
                      <m:r>
                        <a:rPr lang="en-SE" sz="1400" b="0" i="1" smtClean="0">
                          <a:latin typeface="Cambria Math" panose="02040503050406030204" pitchFamily="18" charset="0"/>
                        </a:rPr>
                        <m:t>𝑦</m:t>
                      </m:r>
                    </m:oMath>
                  </a14:m>
                  <a:r>
                    <a:rPr lang="en-SE" sz="1400" dirty="0"/>
                    <a:t> without the influence of any other variables like </a:t>
                  </a:r>
                  <a14:m>
                    <m:oMath xmlns:m="http://schemas.openxmlformats.org/officeDocument/2006/math">
                      <m:r>
                        <a:rPr lang="en-SE" sz="1400" b="0" i="1" smtClean="0">
                          <a:latin typeface="Cambria Math" panose="02040503050406030204" pitchFamily="18" charset="0"/>
                        </a:rPr>
                        <m:t>𝑥</m:t>
                      </m:r>
                    </m:oMath>
                  </a14:m>
                  <a:r>
                    <a:rPr lang="en-SE" sz="1400" dirty="0"/>
                    <a:t> or </a:t>
                  </a:r>
                  <a14:m>
                    <m:oMath xmlns:m="http://schemas.openxmlformats.org/officeDocument/2006/math">
                      <m:r>
                        <a:rPr lang="en-SE" sz="1400" b="0" i="1" smtClean="0">
                          <a:latin typeface="Cambria Math" panose="02040503050406030204" pitchFamily="18" charset="0"/>
                        </a:rPr>
                        <m:t>𝑧</m:t>
                      </m:r>
                    </m:oMath>
                  </a14:m>
                  <a:r>
                    <a:rPr lang="en-SE" sz="1400" dirty="0"/>
                    <a:t>. </a:t>
                  </a:r>
                </a:p>
              </p:txBody>
            </p:sp>
          </mc:Choice>
          <mc:Fallback xmlns="">
            <p:sp>
              <p:nvSpPr>
                <p:cNvPr id="10" name="TextBox 9">
                  <a:extLst>
                    <a:ext uri="{FF2B5EF4-FFF2-40B4-BE49-F238E27FC236}">
                      <a16:creationId xmlns:a16="http://schemas.microsoft.com/office/drawing/2014/main" id="{E6F46A98-6FCC-31FA-F1A5-8AA40C38AE9B}"/>
                    </a:ext>
                  </a:extLst>
                </p:cNvPr>
                <p:cNvSpPr txBox="1">
                  <a:spLocks noRot="1" noChangeAspect="1" noMove="1" noResize="1" noEditPoints="1" noAdjustHandles="1" noChangeArrowheads="1" noChangeShapeType="1" noTextEdit="1"/>
                </p:cNvSpPr>
                <p:nvPr/>
              </p:nvSpPr>
              <p:spPr>
                <a:xfrm>
                  <a:off x="1384117" y="4784414"/>
                  <a:ext cx="3442138" cy="738664"/>
                </a:xfrm>
                <a:prstGeom prst="rect">
                  <a:avLst/>
                </a:prstGeom>
                <a:blipFill>
                  <a:blip r:embed="rId11"/>
                  <a:stretch>
                    <a:fillRect l="-531" t="-1653" r="-531" b="-7438"/>
                  </a:stretch>
                </a:blipFill>
              </p:spPr>
              <p:txBody>
                <a:bodyPr/>
                <a:lstStyle/>
                <a:p>
                  <a:r>
                    <a:rPr lang="en-SE">
                      <a:noFill/>
                    </a:rPr>
                    <a:t> </a:t>
                  </a:r>
                </a:p>
              </p:txBody>
            </p:sp>
          </mc:Fallback>
        </mc:AlternateContent>
      </p:grpSp>
      <p:pic>
        <p:nvPicPr>
          <p:cNvPr id="19" name="Graphic 18" descr="Trigonometry with solid fill">
            <a:extLst>
              <a:ext uri="{FF2B5EF4-FFF2-40B4-BE49-F238E27FC236}">
                <a16:creationId xmlns:a16="http://schemas.microsoft.com/office/drawing/2014/main" id="{A879CFAB-AE77-3F38-FA6C-D08B4F216365}"/>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6265928" y="4436106"/>
            <a:ext cx="360000" cy="360000"/>
          </a:xfrm>
          <a:prstGeom prst="rect">
            <a:avLst/>
          </a:prstGeom>
        </p:spPr>
      </p:pic>
      <p:sp>
        <p:nvSpPr>
          <p:cNvPr id="21" name="TextBox 20">
            <a:extLst>
              <a:ext uri="{FF2B5EF4-FFF2-40B4-BE49-F238E27FC236}">
                <a16:creationId xmlns:a16="http://schemas.microsoft.com/office/drawing/2014/main" id="{427D589D-15E8-91D9-E6C9-3B562FA9BB7D}"/>
              </a:ext>
            </a:extLst>
          </p:cNvPr>
          <p:cNvSpPr txBox="1"/>
          <p:nvPr/>
        </p:nvSpPr>
        <p:spPr>
          <a:xfrm>
            <a:off x="6625928" y="4431440"/>
            <a:ext cx="866712" cy="369332"/>
          </a:xfrm>
          <a:prstGeom prst="rect">
            <a:avLst/>
          </a:prstGeom>
          <a:noFill/>
        </p:spPr>
        <p:txBody>
          <a:bodyPr wrap="none" rtlCol="0">
            <a:spAutoFit/>
          </a:bodyPr>
          <a:lstStyle/>
          <a:p>
            <a:r>
              <a:rPr lang="en-SE" b="1" dirty="0">
                <a:solidFill>
                  <a:schemeClr val="accent6"/>
                </a:solidFill>
              </a:rPr>
              <a:t>Terms</a:t>
            </a:r>
            <a:r>
              <a:rPr lang="en-SE" b="1" dirty="0"/>
              <a:t> </a:t>
            </a:r>
          </a:p>
        </p:txBody>
      </p:sp>
      <p:sp>
        <p:nvSpPr>
          <p:cNvPr id="23" name="TextBox 22">
            <a:extLst>
              <a:ext uri="{FF2B5EF4-FFF2-40B4-BE49-F238E27FC236}">
                <a16:creationId xmlns:a16="http://schemas.microsoft.com/office/drawing/2014/main" id="{6C024A03-CB96-3D16-20A0-94707576BCFC}"/>
              </a:ext>
            </a:extLst>
          </p:cNvPr>
          <p:cNvSpPr txBox="1"/>
          <p:nvPr/>
        </p:nvSpPr>
        <p:spPr>
          <a:xfrm>
            <a:off x="6162831" y="4784414"/>
            <a:ext cx="3442138" cy="307777"/>
          </a:xfrm>
          <a:prstGeom prst="rect">
            <a:avLst/>
          </a:prstGeom>
          <a:noFill/>
        </p:spPr>
        <p:txBody>
          <a:bodyPr wrap="square" rtlCol="0">
            <a:spAutoFit/>
          </a:bodyPr>
          <a:lstStyle/>
          <a:p>
            <a:r>
              <a:rPr lang="en-SE" sz="1400" dirty="0"/>
              <a:t>consisting of a combination of</a:t>
            </a:r>
          </a:p>
        </p:txBody>
      </p:sp>
      <p:grpSp>
        <p:nvGrpSpPr>
          <p:cNvPr id="25" name="Group 24">
            <a:extLst>
              <a:ext uri="{FF2B5EF4-FFF2-40B4-BE49-F238E27FC236}">
                <a16:creationId xmlns:a16="http://schemas.microsoft.com/office/drawing/2014/main" id="{A3B50B33-3D0B-3615-9C4D-8E171B47741A}"/>
              </a:ext>
            </a:extLst>
          </p:cNvPr>
          <p:cNvGrpSpPr/>
          <p:nvPr/>
        </p:nvGrpSpPr>
        <p:grpSpPr>
          <a:xfrm>
            <a:off x="4939862" y="5264712"/>
            <a:ext cx="3442138" cy="1091638"/>
            <a:chOff x="1384117" y="4431440"/>
            <a:chExt cx="3442138" cy="1091638"/>
          </a:xfrm>
        </p:grpSpPr>
        <p:pic>
          <p:nvPicPr>
            <p:cNvPr id="26" name="Graphic 25" descr="Bar chart with solid fill">
              <a:extLst>
                <a:ext uri="{FF2B5EF4-FFF2-40B4-BE49-F238E27FC236}">
                  <a16:creationId xmlns:a16="http://schemas.microsoft.com/office/drawing/2014/main" id="{1D21981F-5D92-84B0-A3CF-C0522909FBE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487214" y="4436106"/>
              <a:ext cx="360000" cy="360000"/>
            </a:xfrm>
            <a:prstGeom prst="rect">
              <a:avLst/>
            </a:prstGeom>
          </p:spPr>
        </p:pic>
        <p:sp>
          <p:nvSpPr>
            <p:cNvPr id="27" name="TextBox 26">
              <a:extLst>
                <a:ext uri="{FF2B5EF4-FFF2-40B4-BE49-F238E27FC236}">
                  <a16:creationId xmlns:a16="http://schemas.microsoft.com/office/drawing/2014/main" id="{FB942235-8558-DAA7-BB8A-62CB4D29BBFA}"/>
                </a:ext>
              </a:extLst>
            </p:cNvPr>
            <p:cNvSpPr txBox="1"/>
            <p:nvPr/>
          </p:nvSpPr>
          <p:spPr>
            <a:xfrm>
              <a:off x="1847214" y="4431440"/>
              <a:ext cx="1404552" cy="369332"/>
            </a:xfrm>
            <a:prstGeom prst="rect">
              <a:avLst/>
            </a:prstGeom>
            <a:noFill/>
          </p:spPr>
          <p:txBody>
            <a:bodyPr wrap="none" rtlCol="0">
              <a:spAutoFit/>
            </a:bodyPr>
            <a:lstStyle/>
            <a:p>
              <a:r>
                <a:rPr lang="en-SE" b="1" dirty="0">
                  <a:solidFill>
                    <a:srgbClr val="C00000"/>
                  </a:solidFill>
                </a:rPr>
                <a:t>Coefficient</a:t>
              </a:r>
              <a:r>
                <a:rPr lang="en-SE" b="1" dirty="0"/>
                <a:t> </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8FF1609-6FFF-F0C7-5579-60D463DDFE9A}"/>
                    </a:ext>
                  </a:extLst>
                </p:cNvPr>
                <p:cNvSpPr txBox="1"/>
                <p:nvPr/>
              </p:nvSpPr>
              <p:spPr>
                <a:xfrm>
                  <a:off x="1384117" y="4784414"/>
                  <a:ext cx="3442138" cy="738664"/>
                </a:xfrm>
                <a:prstGeom prst="rect">
                  <a:avLst/>
                </a:prstGeom>
                <a:noFill/>
              </p:spPr>
              <p:txBody>
                <a:bodyPr wrap="square" rtlCol="0">
                  <a:spAutoFit/>
                </a:bodyPr>
                <a:lstStyle/>
                <a:p>
                  <a:r>
                    <a:rPr lang="en-SE" sz="1400" dirty="0"/>
                    <a:t>represents the effect that a variable has on the parameter </a:t>
                  </a:r>
                  <a14:m>
                    <m:oMath xmlns:m="http://schemas.openxmlformats.org/officeDocument/2006/math">
                      <m:r>
                        <a:rPr lang="en-SE" sz="1400" b="0" i="1" smtClean="0">
                          <a:latin typeface="Cambria Math" panose="02040503050406030204" pitchFamily="18" charset="0"/>
                        </a:rPr>
                        <m:t>𝜇</m:t>
                      </m:r>
                    </m:oMath>
                  </a14:m>
                  <a:r>
                    <a:rPr lang="en-SE" sz="1400" dirty="0"/>
                    <a:t>, i.e., the change in </a:t>
                  </a:r>
                  <a14:m>
                    <m:oMath xmlns:m="http://schemas.openxmlformats.org/officeDocument/2006/math">
                      <m:r>
                        <a:rPr lang="en-SE" sz="1400" i="1">
                          <a:latin typeface="Cambria Math" panose="02040503050406030204" pitchFamily="18" charset="0"/>
                        </a:rPr>
                        <m:t>𝜇</m:t>
                      </m:r>
                    </m:oMath>
                  </a14:m>
                  <a:r>
                    <a:rPr lang="en-SE" sz="1400" dirty="0"/>
                    <a:t> when changing the variable by one unit.</a:t>
                  </a:r>
                </a:p>
              </p:txBody>
            </p:sp>
          </mc:Choice>
          <mc:Fallback xmlns="">
            <p:sp>
              <p:nvSpPr>
                <p:cNvPr id="28" name="TextBox 27">
                  <a:extLst>
                    <a:ext uri="{FF2B5EF4-FFF2-40B4-BE49-F238E27FC236}">
                      <a16:creationId xmlns:a16="http://schemas.microsoft.com/office/drawing/2014/main" id="{B8FF1609-6FFF-F0C7-5579-60D463DDFE9A}"/>
                    </a:ext>
                  </a:extLst>
                </p:cNvPr>
                <p:cNvSpPr txBox="1">
                  <a:spLocks noRot="1" noChangeAspect="1" noMove="1" noResize="1" noEditPoints="1" noAdjustHandles="1" noChangeArrowheads="1" noChangeShapeType="1" noTextEdit="1"/>
                </p:cNvSpPr>
                <p:nvPr/>
              </p:nvSpPr>
              <p:spPr>
                <a:xfrm>
                  <a:off x="1384117" y="4784414"/>
                  <a:ext cx="3442138" cy="738664"/>
                </a:xfrm>
                <a:prstGeom prst="rect">
                  <a:avLst/>
                </a:prstGeom>
                <a:blipFill>
                  <a:blip r:embed="rId14"/>
                  <a:stretch>
                    <a:fillRect l="-531" t="-1653" r="-1593" b="-7438"/>
                  </a:stretch>
                </a:blipFill>
              </p:spPr>
              <p:txBody>
                <a:bodyPr/>
                <a:lstStyle/>
                <a:p>
                  <a:r>
                    <a:rPr lang="en-SE">
                      <a:noFill/>
                    </a:rPr>
                    <a:t> </a:t>
                  </a:r>
                </a:p>
              </p:txBody>
            </p:sp>
          </mc:Fallback>
        </mc:AlternateContent>
      </p:grpSp>
      <p:grpSp>
        <p:nvGrpSpPr>
          <p:cNvPr id="29" name="Group 28">
            <a:extLst>
              <a:ext uri="{FF2B5EF4-FFF2-40B4-BE49-F238E27FC236}">
                <a16:creationId xmlns:a16="http://schemas.microsoft.com/office/drawing/2014/main" id="{BDA82DD2-4CD0-D0B3-B95B-9BFB284B500B}"/>
              </a:ext>
            </a:extLst>
          </p:cNvPr>
          <p:cNvGrpSpPr/>
          <p:nvPr/>
        </p:nvGrpSpPr>
        <p:grpSpPr>
          <a:xfrm>
            <a:off x="8451789" y="5264712"/>
            <a:ext cx="3442138" cy="876194"/>
            <a:chOff x="1384117" y="4431440"/>
            <a:chExt cx="3442138" cy="876194"/>
          </a:xfrm>
        </p:grpSpPr>
        <p:pic>
          <p:nvPicPr>
            <p:cNvPr id="30" name="Graphic 29" descr="Bar chart with solid fill">
              <a:extLst>
                <a:ext uri="{FF2B5EF4-FFF2-40B4-BE49-F238E27FC236}">
                  <a16:creationId xmlns:a16="http://schemas.microsoft.com/office/drawing/2014/main" id="{BD5AF4C0-195E-57EB-6EC6-ABBF782C988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487214" y="4436106"/>
              <a:ext cx="360000" cy="360000"/>
            </a:xfrm>
            <a:prstGeom prst="rect">
              <a:avLst/>
            </a:prstGeom>
          </p:spPr>
        </p:pic>
        <p:sp>
          <p:nvSpPr>
            <p:cNvPr id="31" name="TextBox 30">
              <a:extLst>
                <a:ext uri="{FF2B5EF4-FFF2-40B4-BE49-F238E27FC236}">
                  <a16:creationId xmlns:a16="http://schemas.microsoft.com/office/drawing/2014/main" id="{00F45ABA-7B2B-98F5-4113-1EFE068C3689}"/>
                </a:ext>
              </a:extLst>
            </p:cNvPr>
            <p:cNvSpPr txBox="1"/>
            <p:nvPr/>
          </p:nvSpPr>
          <p:spPr>
            <a:xfrm>
              <a:off x="1847214" y="4431440"/>
              <a:ext cx="727122" cy="369332"/>
            </a:xfrm>
            <a:prstGeom prst="rect">
              <a:avLst/>
            </a:prstGeom>
            <a:noFill/>
          </p:spPr>
          <p:txBody>
            <a:bodyPr wrap="none" rtlCol="0">
              <a:spAutoFit/>
            </a:bodyPr>
            <a:lstStyle/>
            <a:p>
              <a:r>
                <a:rPr lang="en-SE" b="1" dirty="0">
                  <a:solidFill>
                    <a:schemeClr val="accent2"/>
                  </a:solidFill>
                </a:rPr>
                <a:t>Data</a:t>
              </a:r>
              <a:r>
                <a:rPr lang="en-SE" b="1" dirty="0"/>
                <a:t> </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EB5F560-E18E-E328-3A8C-F811102841A5}"/>
                    </a:ext>
                  </a:extLst>
                </p:cNvPr>
                <p:cNvSpPr txBox="1"/>
                <p:nvPr/>
              </p:nvSpPr>
              <p:spPr>
                <a:xfrm>
                  <a:off x="1384117" y="4784414"/>
                  <a:ext cx="3442138" cy="523220"/>
                </a:xfrm>
                <a:prstGeom prst="rect">
                  <a:avLst/>
                </a:prstGeom>
                <a:noFill/>
              </p:spPr>
              <p:txBody>
                <a:bodyPr wrap="square" rtlCol="0">
                  <a:spAutoFit/>
                </a:bodyPr>
                <a:lstStyle/>
                <a:p>
                  <a:r>
                    <a:rPr lang="en-SE" sz="1400" dirty="0"/>
                    <a:t>are the actual values collected for the variables </a:t>
                  </a:r>
                  <a14:m>
                    <m:oMath xmlns:m="http://schemas.openxmlformats.org/officeDocument/2006/math">
                      <m:r>
                        <a:rPr lang="en-SE" sz="1400" b="0" i="1" smtClean="0">
                          <a:latin typeface="Cambria Math" panose="02040503050406030204" pitchFamily="18" charset="0"/>
                        </a:rPr>
                        <m:t>𝑥</m:t>
                      </m:r>
                    </m:oMath>
                  </a14:m>
                  <a:r>
                    <a:rPr lang="en-SE" sz="1400" dirty="0"/>
                    <a:t> and </a:t>
                  </a:r>
                  <a14:m>
                    <m:oMath xmlns:m="http://schemas.openxmlformats.org/officeDocument/2006/math">
                      <m:r>
                        <a:rPr lang="en-SE" sz="1400" b="0" i="1" smtClean="0">
                          <a:latin typeface="Cambria Math" panose="02040503050406030204" pitchFamily="18" charset="0"/>
                        </a:rPr>
                        <m:t>𝑧</m:t>
                      </m:r>
                    </m:oMath>
                  </a14:m>
                  <a:r>
                    <a:rPr lang="en-SE" sz="1400" dirty="0"/>
                    <a:t>. </a:t>
                  </a:r>
                </a:p>
              </p:txBody>
            </p:sp>
          </mc:Choice>
          <mc:Fallback xmlns="">
            <p:sp>
              <p:nvSpPr>
                <p:cNvPr id="32" name="TextBox 31">
                  <a:extLst>
                    <a:ext uri="{FF2B5EF4-FFF2-40B4-BE49-F238E27FC236}">
                      <a16:creationId xmlns:a16="http://schemas.microsoft.com/office/drawing/2014/main" id="{AEB5F560-E18E-E328-3A8C-F811102841A5}"/>
                    </a:ext>
                  </a:extLst>
                </p:cNvPr>
                <p:cNvSpPr txBox="1">
                  <a:spLocks noRot="1" noChangeAspect="1" noMove="1" noResize="1" noEditPoints="1" noAdjustHandles="1" noChangeArrowheads="1" noChangeShapeType="1" noTextEdit="1"/>
                </p:cNvSpPr>
                <p:nvPr/>
              </p:nvSpPr>
              <p:spPr>
                <a:xfrm>
                  <a:off x="1384117" y="4784414"/>
                  <a:ext cx="3442138" cy="523220"/>
                </a:xfrm>
                <a:prstGeom prst="rect">
                  <a:avLst/>
                </a:prstGeom>
                <a:blipFill>
                  <a:blip r:embed="rId16"/>
                  <a:stretch>
                    <a:fillRect l="-531" t="-2353" b="-11765"/>
                  </a:stretch>
                </a:blipFill>
              </p:spPr>
              <p:txBody>
                <a:bodyPr/>
                <a:lstStyle/>
                <a:p>
                  <a:r>
                    <a:rPr lang="en-SE">
                      <a:noFill/>
                    </a:rPr>
                    <a:t> </a:t>
                  </a:r>
                </a:p>
              </p:txBody>
            </p:sp>
          </mc:Fallback>
        </mc:AlternateContent>
      </p:grpSp>
      <p:pic>
        <p:nvPicPr>
          <p:cNvPr id="34" name="Graphic 33" descr="Close with solid fill">
            <a:extLst>
              <a:ext uri="{FF2B5EF4-FFF2-40B4-BE49-F238E27FC236}">
                <a16:creationId xmlns:a16="http://schemas.microsoft.com/office/drawing/2014/main" id="{AD134139-DA1C-8EF4-254B-323BDBDCC9D9}"/>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197338" y="5323378"/>
            <a:ext cx="252000" cy="252000"/>
          </a:xfrm>
          <a:prstGeom prst="rect">
            <a:avLst/>
          </a:prstGeom>
        </p:spPr>
      </p:pic>
      <p:sp>
        <p:nvSpPr>
          <p:cNvPr id="35" name="Rectangle 34">
            <a:extLst>
              <a:ext uri="{FF2B5EF4-FFF2-40B4-BE49-F238E27FC236}">
                <a16:creationId xmlns:a16="http://schemas.microsoft.com/office/drawing/2014/main" id="{50879A44-815C-3B04-8AFA-2D455AD3B5FE}"/>
              </a:ext>
            </a:extLst>
          </p:cNvPr>
          <p:cNvSpPr/>
          <p:nvPr/>
        </p:nvSpPr>
        <p:spPr>
          <a:xfrm>
            <a:off x="4967080" y="3371203"/>
            <a:ext cx="332781" cy="37974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37" name="Straight Connector 36">
            <a:extLst>
              <a:ext uri="{FF2B5EF4-FFF2-40B4-BE49-F238E27FC236}">
                <a16:creationId xmlns:a16="http://schemas.microsoft.com/office/drawing/2014/main" id="{A5969536-6514-39C0-6229-2ACC48C66C2A}"/>
              </a:ext>
            </a:extLst>
          </p:cNvPr>
          <p:cNvCxnSpPr>
            <a:stCxn id="35" idx="2"/>
            <a:endCxn id="7" idx="0"/>
          </p:cNvCxnSpPr>
          <p:nvPr/>
        </p:nvCxnSpPr>
        <p:spPr>
          <a:xfrm rot="5400000">
            <a:off x="3057766" y="2360400"/>
            <a:ext cx="685155" cy="3466257"/>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sp>
        <p:nvSpPr>
          <p:cNvPr id="39" name="Rectangle 38">
            <a:extLst>
              <a:ext uri="{FF2B5EF4-FFF2-40B4-BE49-F238E27FC236}">
                <a16:creationId xmlns:a16="http://schemas.microsoft.com/office/drawing/2014/main" id="{A052CED6-0117-FB01-6E3A-337130CCD84B}"/>
              </a:ext>
            </a:extLst>
          </p:cNvPr>
          <p:cNvSpPr/>
          <p:nvPr/>
        </p:nvSpPr>
        <p:spPr>
          <a:xfrm>
            <a:off x="5552000" y="3371203"/>
            <a:ext cx="332781" cy="37974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1" name="Rectangle 40">
            <a:extLst>
              <a:ext uri="{FF2B5EF4-FFF2-40B4-BE49-F238E27FC236}">
                <a16:creationId xmlns:a16="http://schemas.microsoft.com/office/drawing/2014/main" id="{22831A2D-218D-01D7-DC43-A276119B2AE5}"/>
              </a:ext>
            </a:extLst>
          </p:cNvPr>
          <p:cNvSpPr/>
          <p:nvPr/>
        </p:nvSpPr>
        <p:spPr>
          <a:xfrm>
            <a:off x="6061952" y="3371203"/>
            <a:ext cx="281506" cy="379748"/>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3" name="Rectangle 42">
            <a:extLst>
              <a:ext uri="{FF2B5EF4-FFF2-40B4-BE49-F238E27FC236}">
                <a16:creationId xmlns:a16="http://schemas.microsoft.com/office/drawing/2014/main" id="{3C8095E2-FED1-19A9-E7CB-80A5CD0C7574}"/>
              </a:ext>
            </a:extLst>
          </p:cNvPr>
          <p:cNvSpPr/>
          <p:nvPr/>
        </p:nvSpPr>
        <p:spPr>
          <a:xfrm>
            <a:off x="6621377" y="3371203"/>
            <a:ext cx="332781" cy="37974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5" name="Rectangle 44">
            <a:extLst>
              <a:ext uri="{FF2B5EF4-FFF2-40B4-BE49-F238E27FC236}">
                <a16:creationId xmlns:a16="http://schemas.microsoft.com/office/drawing/2014/main" id="{1245004B-3154-7884-5246-C655CC3E6A53}"/>
              </a:ext>
            </a:extLst>
          </p:cNvPr>
          <p:cNvSpPr/>
          <p:nvPr/>
        </p:nvSpPr>
        <p:spPr>
          <a:xfrm>
            <a:off x="7131329" y="3371203"/>
            <a:ext cx="281506" cy="379748"/>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7" name="Rectangle 46">
            <a:extLst>
              <a:ext uri="{FF2B5EF4-FFF2-40B4-BE49-F238E27FC236}">
                <a16:creationId xmlns:a16="http://schemas.microsoft.com/office/drawing/2014/main" id="{493716FF-9173-31C3-31DD-E10C2BAFA61A}"/>
              </a:ext>
            </a:extLst>
          </p:cNvPr>
          <p:cNvSpPr/>
          <p:nvPr/>
        </p:nvSpPr>
        <p:spPr>
          <a:xfrm>
            <a:off x="5500466" y="3319495"/>
            <a:ext cx="884459" cy="484155"/>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9" name="Rectangle 48">
            <a:extLst>
              <a:ext uri="{FF2B5EF4-FFF2-40B4-BE49-F238E27FC236}">
                <a16:creationId xmlns:a16="http://schemas.microsoft.com/office/drawing/2014/main" id="{82CFFDA0-E5AB-0D6D-695D-CA0B9FD103BD}"/>
              </a:ext>
            </a:extLst>
          </p:cNvPr>
          <p:cNvSpPr/>
          <p:nvPr/>
        </p:nvSpPr>
        <p:spPr>
          <a:xfrm>
            <a:off x="6579811" y="3317940"/>
            <a:ext cx="884459" cy="484155"/>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50" name="Straight Connector 36">
            <a:extLst>
              <a:ext uri="{FF2B5EF4-FFF2-40B4-BE49-F238E27FC236}">
                <a16:creationId xmlns:a16="http://schemas.microsoft.com/office/drawing/2014/main" id="{01ABE7C6-9F9B-A9CF-63C7-7B24A031F03F}"/>
              </a:ext>
            </a:extLst>
          </p:cNvPr>
          <p:cNvCxnSpPr>
            <a:cxnSpLocks/>
            <a:stCxn id="47" idx="2"/>
            <a:endCxn id="21" idx="0"/>
          </p:cNvCxnSpPr>
          <p:nvPr/>
        </p:nvCxnSpPr>
        <p:spPr>
          <a:xfrm rot="16200000" flipH="1">
            <a:off x="6187095" y="3559251"/>
            <a:ext cx="627790" cy="1116588"/>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cxnSp>
        <p:nvCxnSpPr>
          <p:cNvPr id="53" name="Straight Connector 36">
            <a:extLst>
              <a:ext uri="{FF2B5EF4-FFF2-40B4-BE49-F238E27FC236}">
                <a16:creationId xmlns:a16="http://schemas.microsoft.com/office/drawing/2014/main" id="{C16BCE37-9B3D-BDDA-71A5-1D116864025F}"/>
              </a:ext>
            </a:extLst>
          </p:cNvPr>
          <p:cNvCxnSpPr>
            <a:cxnSpLocks/>
            <a:stCxn id="49" idx="2"/>
            <a:endCxn id="21" idx="0"/>
          </p:cNvCxnSpPr>
          <p:nvPr/>
        </p:nvCxnSpPr>
        <p:spPr>
          <a:xfrm rot="16200000" flipH="1">
            <a:off x="6725990" y="4098145"/>
            <a:ext cx="629345" cy="37243"/>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cxnSp>
        <p:nvCxnSpPr>
          <p:cNvPr id="56" name="Straight Connector 36">
            <a:extLst>
              <a:ext uri="{FF2B5EF4-FFF2-40B4-BE49-F238E27FC236}">
                <a16:creationId xmlns:a16="http://schemas.microsoft.com/office/drawing/2014/main" id="{16BA0455-7FA9-F851-10F4-6FE56B303904}"/>
              </a:ext>
            </a:extLst>
          </p:cNvPr>
          <p:cNvCxnSpPr>
            <a:cxnSpLocks/>
            <a:stCxn id="26" idx="0"/>
            <a:endCxn id="19" idx="1"/>
          </p:cNvCxnSpPr>
          <p:nvPr/>
        </p:nvCxnSpPr>
        <p:spPr>
          <a:xfrm rot="5400000" flipH="1" flipV="1">
            <a:off x="5417807" y="4421258"/>
            <a:ext cx="653272" cy="1042969"/>
          </a:xfrm>
          <a:prstGeom prst="bentConnector2">
            <a:avLst/>
          </a:prstGeom>
        </p:spPr>
        <p:style>
          <a:lnRef idx="2">
            <a:schemeClr val="dk1"/>
          </a:lnRef>
          <a:fillRef idx="0">
            <a:schemeClr val="dk1"/>
          </a:fillRef>
          <a:effectRef idx="1">
            <a:schemeClr val="dk1"/>
          </a:effectRef>
          <a:fontRef idx="minor">
            <a:schemeClr val="tx1"/>
          </a:fontRef>
        </p:style>
      </p:cxnSp>
      <p:cxnSp>
        <p:nvCxnSpPr>
          <p:cNvPr id="81" name="Straight Connector 36">
            <a:extLst>
              <a:ext uri="{FF2B5EF4-FFF2-40B4-BE49-F238E27FC236}">
                <a16:creationId xmlns:a16="http://schemas.microsoft.com/office/drawing/2014/main" id="{FC619824-C801-5AF7-2125-8920EEF95F89}"/>
              </a:ext>
            </a:extLst>
          </p:cNvPr>
          <p:cNvCxnSpPr>
            <a:cxnSpLocks/>
            <a:stCxn id="30" idx="0"/>
            <a:endCxn id="21" idx="3"/>
          </p:cNvCxnSpPr>
          <p:nvPr/>
        </p:nvCxnSpPr>
        <p:spPr>
          <a:xfrm rot="16200000" flipV="1">
            <a:off x="7787127" y="4321619"/>
            <a:ext cx="653272" cy="1242246"/>
          </a:xfrm>
          <a:prstGeom prst="bentConnector2">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395045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3" grpId="0"/>
      <p:bldP spid="35" grpId="0" animBg="1"/>
      <p:bldP spid="39" grpId="0" animBg="1"/>
      <p:bldP spid="41" grpId="0" animBg="1"/>
      <p:bldP spid="43" grpId="0" animBg="1"/>
      <p:bldP spid="45" grpId="0" animBg="1"/>
      <p:bldP spid="47" grpId="0" animBg="1"/>
      <p:bldP spid="4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27E0F-851D-8480-1C4D-5C370A26A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0B41B-03C7-5E59-1134-4637170F7E6E}"/>
              </a:ext>
            </a:extLst>
          </p:cNvPr>
          <p:cNvSpPr>
            <a:spLocks noGrp="1"/>
          </p:cNvSpPr>
          <p:nvPr>
            <p:ph type="title"/>
          </p:nvPr>
        </p:nvSpPr>
        <p:spPr/>
        <p:txBody>
          <a:bodyPr/>
          <a:lstStyle/>
          <a:p>
            <a:r>
              <a:rPr lang="en-SE" dirty="0"/>
              <a:t>Building a Regression Formula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28CFEBB-F0F1-FDAF-944C-FECF9FC24E42}"/>
                  </a:ext>
                </a:extLst>
              </p:cNvPr>
              <p:cNvSpPr>
                <a:spLocks noGrp="1"/>
              </p:cNvSpPr>
              <p:nvPr>
                <p:ph idx="1"/>
              </p:nvPr>
            </p:nvSpPr>
            <p:spPr>
              <a:xfrm>
                <a:off x="838200" y="1825625"/>
                <a:ext cx="10515600" cy="968375"/>
              </a:xfrm>
            </p:spPr>
            <p:txBody>
              <a:bodyPr/>
              <a:lstStyle/>
              <a:p>
                <a:pPr marL="0" indent="0">
                  <a:buNone/>
                </a:pPr>
                <a:r>
                  <a:rPr lang="en-SE" dirty="0"/>
                  <a:t>To determine the target quantity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𝑒</m:t>
                        </m:r>
                      </m:sub>
                    </m:sSub>
                  </m:oMath>
                </a14:m>
                <a:r>
                  <a:rPr lang="en-SE" dirty="0"/>
                  <a:t>, we can describe the relationship between variables in a regression formula.</a:t>
                </a:r>
              </a:p>
            </p:txBody>
          </p:sp>
        </mc:Choice>
        <mc:Fallback xmlns="">
          <p:sp>
            <p:nvSpPr>
              <p:cNvPr id="3" name="Content Placeholder 2">
                <a:extLst>
                  <a:ext uri="{FF2B5EF4-FFF2-40B4-BE49-F238E27FC236}">
                    <a16:creationId xmlns:a16="http://schemas.microsoft.com/office/drawing/2014/main" id="{FC5F6352-5684-87F5-E25B-62DEFB582C69}"/>
                  </a:ext>
                </a:extLst>
              </p:cNvPr>
              <p:cNvSpPr>
                <a:spLocks noGrp="1" noRot="1" noChangeAspect="1" noMove="1" noResize="1" noEditPoints="1" noAdjustHandles="1" noChangeArrowheads="1" noChangeShapeType="1" noTextEdit="1"/>
              </p:cNvSpPr>
              <p:nvPr>
                <p:ph idx="1"/>
              </p:nvPr>
            </p:nvSpPr>
            <p:spPr>
              <a:xfrm>
                <a:off x="838200" y="1825625"/>
                <a:ext cx="10515600" cy="968375"/>
              </a:xfrm>
              <a:blipFill>
                <a:blip r:embed="rId2"/>
                <a:stretch>
                  <a:fillRect l="-1217" t="-10692" b="-628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47A1687C-E1FB-FAA4-638D-7D32291F16D7}"/>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2646E43-7482-7BCF-780B-1A5BA37AD490}"/>
              </a:ext>
            </a:extLst>
          </p:cNvPr>
          <p:cNvSpPr>
            <a:spLocks noGrp="1"/>
          </p:cNvSpPr>
          <p:nvPr>
            <p:ph type="sldNum" sz="quarter" idx="12"/>
          </p:nvPr>
        </p:nvSpPr>
        <p:spPr/>
        <p:txBody>
          <a:bodyPr/>
          <a:lstStyle/>
          <a:p>
            <a:fld id="{271ECC92-9CDE-4EB3-B1C5-F46B9E1FA3C1}" type="slidenum">
              <a:rPr lang="en-SE" smtClean="0"/>
              <a:t>46</a:t>
            </a:fld>
            <a:endParaRPr lang="en-SE"/>
          </a:p>
        </p:txBody>
      </p:sp>
      <p:sp>
        <p:nvSpPr>
          <p:cNvPr id="17" name="Footer Placeholder 16">
            <a:extLst>
              <a:ext uri="{FF2B5EF4-FFF2-40B4-BE49-F238E27FC236}">
                <a16:creationId xmlns:a16="http://schemas.microsoft.com/office/drawing/2014/main" id="{8D427DBE-EF42-9EF3-7764-BCF2EB2E746D}"/>
              </a:ext>
            </a:extLst>
          </p:cNvPr>
          <p:cNvSpPr>
            <a:spLocks noGrp="1"/>
          </p:cNvSpPr>
          <p:nvPr>
            <p:ph type="ftr" sz="quarter" idx="11"/>
          </p:nvPr>
        </p:nvSpPr>
        <p:spPr/>
        <p:txBody>
          <a:bodyPr/>
          <a:lstStyle/>
          <a:p>
            <a:r>
              <a:rPr lang="de-DE"/>
              <a:t>Bayesian Data Analysis Tutorial</a:t>
            </a:r>
            <a:endParaRPr lang="en-SE"/>
          </a:p>
        </p:txBody>
      </p:sp>
      <p:grpSp>
        <p:nvGrpSpPr>
          <p:cNvPr id="57" name="Group 56">
            <a:extLst>
              <a:ext uri="{FF2B5EF4-FFF2-40B4-BE49-F238E27FC236}">
                <a16:creationId xmlns:a16="http://schemas.microsoft.com/office/drawing/2014/main" id="{E8A79C4E-E1CF-EDF8-705D-A712940D32A0}"/>
              </a:ext>
            </a:extLst>
          </p:cNvPr>
          <p:cNvGrpSpPr/>
          <p:nvPr/>
        </p:nvGrpSpPr>
        <p:grpSpPr>
          <a:xfrm>
            <a:off x="203635" y="1825625"/>
            <a:ext cx="504000" cy="504000"/>
            <a:chOff x="977950" y="2729564"/>
            <a:chExt cx="504000" cy="504000"/>
          </a:xfrm>
        </p:grpSpPr>
        <p:sp>
          <p:nvSpPr>
            <p:cNvPr id="58" name="Oval 57">
              <a:extLst>
                <a:ext uri="{FF2B5EF4-FFF2-40B4-BE49-F238E27FC236}">
                  <a16:creationId xmlns:a16="http://schemas.microsoft.com/office/drawing/2014/main" id="{43196EAA-2CF7-C383-D9A6-E2CF007BDB4C}"/>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Golden Ratio with solid fill">
              <a:extLst>
                <a:ext uri="{FF2B5EF4-FFF2-40B4-BE49-F238E27FC236}">
                  <a16:creationId xmlns:a16="http://schemas.microsoft.com/office/drawing/2014/main" id="{5EEFE00A-055E-AF1D-1EEF-555FA1A039E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F8E40E0D-2FF9-AD46-E40D-094D699BCC12}"/>
              </a:ext>
            </a:extLst>
          </p:cNvPr>
          <p:cNvGrpSpPr/>
          <p:nvPr/>
        </p:nvGrpSpPr>
        <p:grpSpPr>
          <a:xfrm>
            <a:off x="203635" y="2439322"/>
            <a:ext cx="504000" cy="504000"/>
            <a:chOff x="977950" y="2729564"/>
            <a:chExt cx="504000" cy="504000"/>
          </a:xfrm>
        </p:grpSpPr>
        <p:sp>
          <p:nvSpPr>
            <p:cNvPr id="61" name="Oval 60">
              <a:extLst>
                <a:ext uri="{FF2B5EF4-FFF2-40B4-BE49-F238E27FC236}">
                  <a16:creationId xmlns:a16="http://schemas.microsoft.com/office/drawing/2014/main" id="{03B5999D-8354-9A2A-7DC5-DC4BB5E1F349}"/>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Normal Distribution with solid fill">
              <a:extLst>
                <a:ext uri="{FF2B5EF4-FFF2-40B4-BE49-F238E27FC236}">
                  <a16:creationId xmlns:a16="http://schemas.microsoft.com/office/drawing/2014/main" id="{BC0306E6-261D-82ED-5433-B9F4FB50B23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3" name="Group 62">
            <a:extLst>
              <a:ext uri="{FF2B5EF4-FFF2-40B4-BE49-F238E27FC236}">
                <a16:creationId xmlns:a16="http://schemas.microsoft.com/office/drawing/2014/main" id="{17F137F2-3AB8-265C-1F99-01C19CFEC339}"/>
              </a:ext>
            </a:extLst>
          </p:cNvPr>
          <p:cNvGrpSpPr/>
          <p:nvPr/>
        </p:nvGrpSpPr>
        <p:grpSpPr>
          <a:xfrm>
            <a:off x="203635" y="3053019"/>
            <a:ext cx="504000" cy="504000"/>
            <a:chOff x="977950" y="2729564"/>
            <a:chExt cx="504000" cy="504000"/>
          </a:xfrm>
        </p:grpSpPr>
        <p:sp>
          <p:nvSpPr>
            <p:cNvPr id="64" name="Oval 63">
              <a:extLst>
                <a:ext uri="{FF2B5EF4-FFF2-40B4-BE49-F238E27FC236}">
                  <a16:creationId xmlns:a16="http://schemas.microsoft.com/office/drawing/2014/main" id="{0E63B0E4-FE64-2BD1-33C2-66F1D24F00B2}"/>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Abacus with solid fill">
              <a:extLst>
                <a:ext uri="{FF2B5EF4-FFF2-40B4-BE49-F238E27FC236}">
                  <a16:creationId xmlns:a16="http://schemas.microsoft.com/office/drawing/2014/main" id="{C5A55A9F-5B21-81B2-3863-10DC74287E4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D9E44A45-A0C7-C681-8E9F-88D93C02002F}"/>
              </a:ext>
            </a:extLst>
          </p:cNvPr>
          <p:cNvGrpSpPr/>
          <p:nvPr/>
        </p:nvGrpSpPr>
        <p:grpSpPr>
          <a:xfrm>
            <a:off x="203635" y="3666716"/>
            <a:ext cx="504000" cy="504000"/>
            <a:chOff x="977950" y="2729564"/>
            <a:chExt cx="504000" cy="504000"/>
          </a:xfrm>
        </p:grpSpPr>
        <p:sp>
          <p:nvSpPr>
            <p:cNvPr id="67" name="Oval 66">
              <a:extLst>
                <a:ext uri="{FF2B5EF4-FFF2-40B4-BE49-F238E27FC236}">
                  <a16:creationId xmlns:a16="http://schemas.microsoft.com/office/drawing/2014/main" id="{30374923-F681-E08E-3C94-FD2AB9FD5B8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Trigonometry with solid fill">
              <a:extLst>
                <a:ext uri="{FF2B5EF4-FFF2-40B4-BE49-F238E27FC236}">
                  <a16:creationId xmlns:a16="http://schemas.microsoft.com/office/drawing/2014/main" id="{9E7B81BC-08C3-F40E-8FD0-D7EEDB782AD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5838EC2A-70D1-BEFA-4118-DEEF77D7392D}"/>
              </a:ext>
            </a:extLst>
          </p:cNvPr>
          <p:cNvGrpSpPr/>
          <p:nvPr/>
        </p:nvGrpSpPr>
        <p:grpSpPr>
          <a:xfrm>
            <a:off x="203635" y="4280414"/>
            <a:ext cx="504000" cy="504000"/>
            <a:chOff x="977950" y="2729564"/>
            <a:chExt cx="504000" cy="504000"/>
          </a:xfrm>
        </p:grpSpPr>
        <p:sp>
          <p:nvSpPr>
            <p:cNvPr id="70" name="Oval 69">
              <a:extLst>
                <a:ext uri="{FF2B5EF4-FFF2-40B4-BE49-F238E27FC236}">
                  <a16:creationId xmlns:a16="http://schemas.microsoft.com/office/drawing/2014/main" id="{47208ACB-C3A2-060D-089F-E6E4AABFEA0C}"/>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Scatterplot with solid fill">
              <a:extLst>
                <a:ext uri="{FF2B5EF4-FFF2-40B4-BE49-F238E27FC236}">
                  <a16:creationId xmlns:a16="http://schemas.microsoft.com/office/drawing/2014/main" id="{8F7DABD9-A82A-4E61-437A-6B2378970B9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72" name="Straight Arrow Connector 71">
            <a:extLst>
              <a:ext uri="{FF2B5EF4-FFF2-40B4-BE49-F238E27FC236}">
                <a16:creationId xmlns:a16="http://schemas.microsoft.com/office/drawing/2014/main" id="{8CFEC462-8624-7B22-22FB-D232B23B151E}"/>
              </a:ext>
            </a:extLst>
          </p:cNvPr>
          <p:cNvCxnSpPr>
            <a:cxnSpLocks/>
            <a:stCxn id="58" idx="4"/>
            <a:endCxn id="6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128A399E-2458-355F-1157-CACD5C4CE74F}"/>
              </a:ext>
            </a:extLst>
          </p:cNvPr>
          <p:cNvCxnSpPr>
            <a:cxnSpLocks/>
            <a:stCxn id="61" idx="4"/>
            <a:endCxn id="6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DE7BD258-32B8-7A2E-C817-0E6A1078DD4D}"/>
              </a:ext>
            </a:extLst>
          </p:cNvPr>
          <p:cNvCxnSpPr>
            <a:cxnSpLocks/>
            <a:stCxn id="64" idx="4"/>
            <a:endCxn id="6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B9CECA3C-C16C-DE71-88F8-505802BBA4CF}"/>
              </a:ext>
            </a:extLst>
          </p:cNvPr>
          <p:cNvCxnSpPr>
            <a:cxnSpLocks/>
            <a:stCxn id="67" idx="4"/>
            <a:endCxn id="7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4" name="Group 23">
            <a:extLst>
              <a:ext uri="{FF2B5EF4-FFF2-40B4-BE49-F238E27FC236}">
                <a16:creationId xmlns:a16="http://schemas.microsoft.com/office/drawing/2014/main" id="{8DA02DD3-9380-22A7-5875-62D84B6055E4}"/>
              </a:ext>
            </a:extLst>
          </p:cNvPr>
          <p:cNvGrpSpPr/>
          <p:nvPr/>
        </p:nvGrpSpPr>
        <p:grpSpPr>
          <a:xfrm>
            <a:off x="2062921" y="4784444"/>
            <a:ext cx="1554045" cy="369332"/>
            <a:chOff x="1487214" y="4431440"/>
            <a:chExt cx="1554045" cy="369332"/>
          </a:xfrm>
        </p:grpSpPr>
        <p:pic>
          <p:nvPicPr>
            <p:cNvPr id="7" name="Graphic 6" descr="Bar chart with solid fill">
              <a:extLst>
                <a:ext uri="{FF2B5EF4-FFF2-40B4-BE49-F238E27FC236}">
                  <a16:creationId xmlns:a16="http://schemas.microsoft.com/office/drawing/2014/main" id="{562DD7D2-3022-EA0C-3FDE-5FFF0D0B44C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87214" y="4436106"/>
              <a:ext cx="360000" cy="360000"/>
            </a:xfrm>
            <a:prstGeom prst="rect">
              <a:avLst/>
            </a:prstGeom>
          </p:spPr>
        </p:pic>
        <p:sp>
          <p:nvSpPr>
            <p:cNvPr id="8" name="TextBox 7">
              <a:extLst>
                <a:ext uri="{FF2B5EF4-FFF2-40B4-BE49-F238E27FC236}">
                  <a16:creationId xmlns:a16="http://schemas.microsoft.com/office/drawing/2014/main" id="{F1E41B0F-2B87-8501-76CC-3B51D2BA6F28}"/>
                </a:ext>
              </a:extLst>
            </p:cNvPr>
            <p:cNvSpPr txBox="1"/>
            <p:nvPr/>
          </p:nvSpPr>
          <p:spPr>
            <a:xfrm>
              <a:off x="1847214" y="4431440"/>
              <a:ext cx="1194045" cy="369332"/>
            </a:xfrm>
            <a:prstGeom prst="rect">
              <a:avLst/>
            </a:prstGeom>
            <a:noFill/>
          </p:spPr>
          <p:txBody>
            <a:bodyPr wrap="none" rtlCol="0">
              <a:spAutoFit/>
            </a:bodyPr>
            <a:lstStyle/>
            <a:p>
              <a:r>
                <a:rPr lang="en-SE" b="1" dirty="0">
                  <a:solidFill>
                    <a:schemeClr val="bg2">
                      <a:lumMod val="75000"/>
                    </a:schemeClr>
                  </a:solidFill>
                </a:rPr>
                <a:t>Intercept</a:t>
              </a:r>
              <a:r>
                <a:rPr lang="en-SE" b="1" dirty="0"/>
                <a:t> </a:t>
              </a:r>
            </a:p>
          </p:txBody>
        </p:sp>
      </p:grpSp>
      <p:grpSp>
        <p:nvGrpSpPr>
          <p:cNvPr id="25" name="Group 24">
            <a:extLst>
              <a:ext uri="{FF2B5EF4-FFF2-40B4-BE49-F238E27FC236}">
                <a16:creationId xmlns:a16="http://schemas.microsoft.com/office/drawing/2014/main" id="{7ECD9CCB-1098-213A-B6FC-F9BD07CAD6AA}"/>
              </a:ext>
            </a:extLst>
          </p:cNvPr>
          <p:cNvGrpSpPr/>
          <p:nvPr/>
        </p:nvGrpSpPr>
        <p:grpSpPr>
          <a:xfrm>
            <a:off x="2062921" y="5674318"/>
            <a:ext cx="1764552" cy="369332"/>
            <a:chOff x="1487214" y="4431440"/>
            <a:chExt cx="1764552" cy="369332"/>
          </a:xfrm>
        </p:grpSpPr>
        <p:pic>
          <p:nvPicPr>
            <p:cNvPr id="26" name="Graphic 25" descr="Bar chart with solid fill">
              <a:extLst>
                <a:ext uri="{FF2B5EF4-FFF2-40B4-BE49-F238E27FC236}">
                  <a16:creationId xmlns:a16="http://schemas.microsoft.com/office/drawing/2014/main" id="{E3096B16-91A0-8BEF-DB0C-354921903B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7214" y="4436106"/>
              <a:ext cx="360000" cy="360000"/>
            </a:xfrm>
            <a:prstGeom prst="rect">
              <a:avLst/>
            </a:prstGeom>
          </p:spPr>
        </p:pic>
        <p:sp>
          <p:nvSpPr>
            <p:cNvPr id="27" name="TextBox 26">
              <a:extLst>
                <a:ext uri="{FF2B5EF4-FFF2-40B4-BE49-F238E27FC236}">
                  <a16:creationId xmlns:a16="http://schemas.microsoft.com/office/drawing/2014/main" id="{EA63EBD6-5596-26ED-3702-7852BB1682D9}"/>
                </a:ext>
              </a:extLst>
            </p:cNvPr>
            <p:cNvSpPr txBox="1"/>
            <p:nvPr/>
          </p:nvSpPr>
          <p:spPr>
            <a:xfrm>
              <a:off x="1847214" y="4431440"/>
              <a:ext cx="1404552" cy="369332"/>
            </a:xfrm>
            <a:prstGeom prst="rect">
              <a:avLst/>
            </a:prstGeom>
            <a:noFill/>
          </p:spPr>
          <p:txBody>
            <a:bodyPr wrap="none" rtlCol="0">
              <a:spAutoFit/>
            </a:bodyPr>
            <a:lstStyle/>
            <a:p>
              <a:r>
                <a:rPr lang="en-SE" b="1" dirty="0">
                  <a:solidFill>
                    <a:srgbClr val="C00000"/>
                  </a:solidFill>
                </a:rPr>
                <a:t>Coefficient</a:t>
              </a:r>
              <a:r>
                <a:rPr lang="en-SE" b="1" dirty="0"/>
                <a:t> </a:t>
              </a:r>
            </a:p>
          </p:txBody>
        </p:sp>
      </p:grpSp>
      <p:grpSp>
        <p:nvGrpSpPr>
          <p:cNvPr id="29" name="Group 28">
            <a:extLst>
              <a:ext uri="{FF2B5EF4-FFF2-40B4-BE49-F238E27FC236}">
                <a16:creationId xmlns:a16="http://schemas.microsoft.com/office/drawing/2014/main" id="{1130A479-6CBE-5531-A93F-01C1A530F5DA}"/>
              </a:ext>
            </a:extLst>
          </p:cNvPr>
          <p:cNvGrpSpPr/>
          <p:nvPr/>
        </p:nvGrpSpPr>
        <p:grpSpPr>
          <a:xfrm>
            <a:off x="2062921" y="6119254"/>
            <a:ext cx="1087122" cy="369332"/>
            <a:chOff x="1487214" y="4431440"/>
            <a:chExt cx="1087122" cy="369332"/>
          </a:xfrm>
        </p:grpSpPr>
        <p:pic>
          <p:nvPicPr>
            <p:cNvPr id="30" name="Graphic 29" descr="Bar chart with solid fill">
              <a:extLst>
                <a:ext uri="{FF2B5EF4-FFF2-40B4-BE49-F238E27FC236}">
                  <a16:creationId xmlns:a16="http://schemas.microsoft.com/office/drawing/2014/main" id="{3FF39BD2-C5B7-042A-2D55-74BDE059E9E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87214" y="4436106"/>
              <a:ext cx="360000" cy="360000"/>
            </a:xfrm>
            <a:prstGeom prst="rect">
              <a:avLst/>
            </a:prstGeom>
          </p:spPr>
        </p:pic>
        <p:sp>
          <p:nvSpPr>
            <p:cNvPr id="31" name="TextBox 30">
              <a:extLst>
                <a:ext uri="{FF2B5EF4-FFF2-40B4-BE49-F238E27FC236}">
                  <a16:creationId xmlns:a16="http://schemas.microsoft.com/office/drawing/2014/main" id="{28510C31-F8AF-8DB4-A5EF-962A734D48FA}"/>
                </a:ext>
              </a:extLst>
            </p:cNvPr>
            <p:cNvSpPr txBox="1"/>
            <p:nvPr/>
          </p:nvSpPr>
          <p:spPr>
            <a:xfrm>
              <a:off x="1847214" y="4431440"/>
              <a:ext cx="727122" cy="369332"/>
            </a:xfrm>
            <a:prstGeom prst="rect">
              <a:avLst/>
            </a:prstGeom>
            <a:noFill/>
          </p:spPr>
          <p:txBody>
            <a:bodyPr wrap="none" rtlCol="0">
              <a:spAutoFit/>
            </a:bodyPr>
            <a:lstStyle/>
            <a:p>
              <a:r>
                <a:rPr lang="en-SE" b="1" dirty="0">
                  <a:solidFill>
                    <a:schemeClr val="accent2"/>
                  </a:solidFill>
                </a:rPr>
                <a:t>Data</a:t>
              </a:r>
              <a:r>
                <a:rPr lang="en-SE" b="1" dirty="0"/>
                <a:t> </a:t>
              </a:r>
            </a:p>
          </p:txBody>
        </p:sp>
      </p:grpSp>
      <p:grpSp>
        <p:nvGrpSpPr>
          <p:cNvPr id="6" name="Group 5">
            <a:extLst>
              <a:ext uri="{FF2B5EF4-FFF2-40B4-BE49-F238E27FC236}">
                <a16:creationId xmlns:a16="http://schemas.microsoft.com/office/drawing/2014/main" id="{1B55ECF7-A0D3-36ED-6C07-B62FAFFF4FE0}"/>
              </a:ext>
            </a:extLst>
          </p:cNvPr>
          <p:cNvGrpSpPr/>
          <p:nvPr/>
        </p:nvGrpSpPr>
        <p:grpSpPr>
          <a:xfrm>
            <a:off x="1324547" y="2998170"/>
            <a:ext cx="4204138" cy="1657793"/>
            <a:chOff x="3342291" y="2794000"/>
            <a:chExt cx="4204138" cy="1657793"/>
          </a:xfrm>
        </p:grpSpPr>
        <p:sp>
          <p:nvSpPr>
            <p:cNvPr id="9" name="Rectangle: Rounded Corners 8">
              <a:extLst>
                <a:ext uri="{FF2B5EF4-FFF2-40B4-BE49-F238E27FC236}">
                  <a16:creationId xmlns:a16="http://schemas.microsoft.com/office/drawing/2014/main" id="{E514D9BF-7BB2-F068-AACB-C2495A52A29E}"/>
                </a:ext>
              </a:extLst>
            </p:cNvPr>
            <p:cNvSpPr/>
            <p:nvPr/>
          </p:nvSpPr>
          <p:spPr>
            <a:xfrm>
              <a:off x="3342291" y="2794000"/>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AB5F5D1-DCE1-A77A-2B14-8F0F4B15468D}"/>
                    </a:ext>
                  </a:extLst>
                </p:cNvPr>
                <p:cNvSpPr txBox="1"/>
                <p:nvPr/>
              </p:nvSpPr>
              <p:spPr>
                <a:xfrm>
                  <a:off x="3813065" y="3396053"/>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11" name="TextBox 10">
                  <a:extLst>
                    <a:ext uri="{FF2B5EF4-FFF2-40B4-BE49-F238E27FC236}">
                      <a16:creationId xmlns:a16="http://schemas.microsoft.com/office/drawing/2014/main" id="{6AB5F5D1-DCE1-A77A-2B14-8F0F4B15468D}"/>
                    </a:ext>
                  </a:extLst>
                </p:cNvPr>
                <p:cNvSpPr txBox="1">
                  <a:spLocks noRot="1" noChangeAspect="1" noMove="1" noResize="1" noEditPoints="1" noAdjustHandles="1" noChangeArrowheads="1" noChangeShapeType="1" noTextEdit="1"/>
                </p:cNvSpPr>
                <p:nvPr/>
              </p:nvSpPr>
              <p:spPr>
                <a:xfrm>
                  <a:off x="3813065" y="3396053"/>
                  <a:ext cx="1561005" cy="369332"/>
                </a:xfrm>
                <a:prstGeom prst="rect">
                  <a:avLst/>
                </a:prstGeom>
                <a:blipFill>
                  <a:blip r:embed="rId11"/>
                  <a:stretch>
                    <a:fillRect l="-4688" t="-1667" r="-664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0F022FB-A230-121C-BFC0-828BFC01EAD4}"/>
                    </a:ext>
                  </a:extLst>
                </p:cNvPr>
                <p:cNvSpPr txBox="1"/>
                <p:nvPr/>
              </p:nvSpPr>
              <p:spPr>
                <a:xfrm>
                  <a:off x="3753954" y="3793555"/>
                  <a:ext cx="305384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solidFill>
                              <a:schemeClr val="bg2">
                                <a:lumMod val="75000"/>
                              </a:schemeClr>
                            </a:solidFill>
                            <a:latin typeface="Cambria Math" panose="02040503050406030204" pitchFamily="18" charset="0"/>
                          </a:rPr>
                          <m:t>𝛼</m:t>
                        </m:r>
                        <m:r>
                          <a:rPr lang="en-SE" sz="2400" b="0" i="1" smtClean="0">
                            <a:latin typeface="Cambria Math" panose="02040503050406030204" pitchFamily="18" charset="0"/>
                          </a:rPr>
                          <m:t>+</m:t>
                        </m:r>
                        <m:sSub>
                          <m:sSubPr>
                            <m:ctrlPr>
                              <a:rPr lang="en-SE" sz="2400" b="0" i="1" smtClean="0">
                                <a:solidFill>
                                  <a:srgbClr val="C00000"/>
                                </a:solidFill>
                                <a:latin typeface="Cambria Math" panose="02040503050406030204" pitchFamily="18" charset="0"/>
                              </a:rPr>
                            </m:ctrlPr>
                          </m:sSubPr>
                          <m:e>
                            <m:r>
                              <a:rPr lang="en-SE" sz="2400" b="0" i="1" smtClean="0">
                                <a:solidFill>
                                  <a:srgbClr val="C00000"/>
                                </a:solidFill>
                                <a:latin typeface="Cambria Math" panose="02040503050406030204" pitchFamily="18" charset="0"/>
                              </a:rPr>
                              <m:t>𝛽</m:t>
                            </m:r>
                          </m:e>
                          <m:sub>
                            <m:r>
                              <a:rPr lang="en-SE" sz="2400" b="0" i="1" smtClean="0">
                                <a:solidFill>
                                  <a:srgbClr val="C00000"/>
                                </a:solidFill>
                                <a:latin typeface="Cambria Math" panose="02040503050406030204" pitchFamily="18" charset="0"/>
                              </a:rPr>
                              <m:t>𝑥</m:t>
                            </m:r>
                          </m:sub>
                        </m:sSub>
                        <m:r>
                          <a:rPr lang="en-SE" sz="2400" b="0" i="1" smtClean="0">
                            <a:latin typeface="Cambria Math" panose="02040503050406030204" pitchFamily="18" charset="0"/>
                          </a:rPr>
                          <m:t>⋅</m:t>
                        </m:r>
                        <m:r>
                          <a:rPr lang="en-SE" sz="2400" b="0" i="1" smtClean="0">
                            <a:solidFill>
                              <a:schemeClr val="accent2"/>
                            </a:solidFill>
                            <a:latin typeface="Cambria Math" panose="02040503050406030204" pitchFamily="18" charset="0"/>
                          </a:rPr>
                          <m:t>𝑥</m:t>
                        </m:r>
                        <m:r>
                          <a:rPr lang="en-SE" sz="2400" b="0" i="1" smtClean="0">
                            <a:latin typeface="Cambria Math" panose="02040503050406030204" pitchFamily="18" charset="0"/>
                          </a:rPr>
                          <m:t>+</m:t>
                        </m:r>
                        <m:sSub>
                          <m:sSubPr>
                            <m:ctrlPr>
                              <a:rPr lang="en-SE" sz="2400" b="0" i="1" smtClean="0">
                                <a:solidFill>
                                  <a:srgbClr val="C00000"/>
                                </a:solidFill>
                                <a:latin typeface="Cambria Math" panose="02040503050406030204" pitchFamily="18" charset="0"/>
                              </a:rPr>
                            </m:ctrlPr>
                          </m:sSubPr>
                          <m:e>
                            <m:r>
                              <a:rPr lang="en-SE" sz="2400" b="0" i="1" smtClean="0">
                                <a:solidFill>
                                  <a:srgbClr val="C00000"/>
                                </a:solidFill>
                                <a:latin typeface="Cambria Math" panose="02040503050406030204" pitchFamily="18" charset="0"/>
                              </a:rPr>
                              <m:t>𝛽</m:t>
                            </m:r>
                          </m:e>
                          <m:sub>
                            <m:r>
                              <a:rPr lang="en-SE" sz="2400" b="0" i="1" smtClean="0">
                                <a:solidFill>
                                  <a:srgbClr val="C00000"/>
                                </a:solidFill>
                                <a:latin typeface="Cambria Math" panose="02040503050406030204" pitchFamily="18" charset="0"/>
                              </a:rPr>
                              <m:t>𝑧</m:t>
                            </m:r>
                          </m:sub>
                        </m:sSub>
                        <m:r>
                          <a:rPr lang="en-SE" sz="2400" b="0" i="1" smtClean="0">
                            <a:latin typeface="Cambria Math" panose="02040503050406030204" pitchFamily="18" charset="0"/>
                          </a:rPr>
                          <m:t>⋅</m:t>
                        </m:r>
                        <m:r>
                          <a:rPr lang="en-SE" sz="2400" b="0" i="1" smtClean="0">
                            <a:solidFill>
                              <a:schemeClr val="accent2"/>
                            </a:solidFill>
                            <a:latin typeface="Cambria Math" panose="02040503050406030204" pitchFamily="18" charset="0"/>
                          </a:rPr>
                          <m:t>𝑧</m:t>
                        </m:r>
                      </m:oMath>
                    </m:oMathPara>
                  </a14:m>
                  <a:endParaRPr lang="en-SE" sz="2400" dirty="0"/>
                </a:p>
              </p:txBody>
            </p:sp>
          </mc:Choice>
          <mc:Fallback xmlns="">
            <p:sp>
              <p:nvSpPr>
                <p:cNvPr id="12" name="TextBox 11">
                  <a:extLst>
                    <a:ext uri="{FF2B5EF4-FFF2-40B4-BE49-F238E27FC236}">
                      <a16:creationId xmlns:a16="http://schemas.microsoft.com/office/drawing/2014/main" id="{70F022FB-A230-121C-BFC0-828BFC01EAD4}"/>
                    </a:ext>
                  </a:extLst>
                </p:cNvPr>
                <p:cNvSpPr txBox="1">
                  <a:spLocks noRot="1" noChangeAspect="1" noMove="1" noResize="1" noEditPoints="1" noAdjustHandles="1" noChangeArrowheads="1" noChangeShapeType="1" noTextEdit="1"/>
                </p:cNvSpPr>
                <p:nvPr/>
              </p:nvSpPr>
              <p:spPr>
                <a:xfrm>
                  <a:off x="3753954" y="3793555"/>
                  <a:ext cx="3053849" cy="369332"/>
                </a:xfrm>
                <a:prstGeom prst="rect">
                  <a:avLst/>
                </a:prstGeom>
                <a:blipFill>
                  <a:blip r:embed="rId12"/>
                  <a:stretch>
                    <a:fillRect l="-998" t="-1667" b="-33333"/>
                  </a:stretch>
                </a:blipFill>
              </p:spPr>
              <p:txBody>
                <a:bodyPr/>
                <a:lstStyle/>
                <a:p>
                  <a:r>
                    <a:rPr lang="en-SE">
                      <a:noFill/>
                    </a:rPr>
                    <a:t> </a:t>
                  </a:r>
                </a:p>
              </p:txBody>
            </p:sp>
          </mc:Fallback>
        </mc:AlternateContent>
      </p:grpSp>
      <p:sp>
        <p:nvSpPr>
          <p:cNvPr id="13" name="Rectangle 12">
            <a:extLst>
              <a:ext uri="{FF2B5EF4-FFF2-40B4-BE49-F238E27FC236}">
                <a16:creationId xmlns:a16="http://schemas.microsoft.com/office/drawing/2014/main" id="{E05CBB66-D1C1-1E81-92D1-CCB974D35A8A}"/>
              </a:ext>
            </a:extLst>
          </p:cNvPr>
          <p:cNvSpPr/>
          <p:nvPr/>
        </p:nvSpPr>
        <p:spPr>
          <a:xfrm>
            <a:off x="6161446" y="3355642"/>
            <a:ext cx="5602013" cy="1300322"/>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a:t>
            </a:r>
          </a:p>
        </p:txBody>
      </p:sp>
      <p:grpSp>
        <p:nvGrpSpPr>
          <p:cNvPr id="22" name="Group 21">
            <a:extLst>
              <a:ext uri="{FF2B5EF4-FFF2-40B4-BE49-F238E27FC236}">
                <a16:creationId xmlns:a16="http://schemas.microsoft.com/office/drawing/2014/main" id="{F06F366B-A417-0FD0-6EBF-D67A01EDCAD5}"/>
              </a:ext>
            </a:extLst>
          </p:cNvPr>
          <p:cNvGrpSpPr/>
          <p:nvPr/>
        </p:nvGrpSpPr>
        <p:grpSpPr>
          <a:xfrm>
            <a:off x="2062921" y="5229381"/>
            <a:ext cx="1226712" cy="369332"/>
            <a:chOff x="6265928" y="4431440"/>
            <a:chExt cx="1226712" cy="369332"/>
          </a:xfrm>
        </p:grpSpPr>
        <p:pic>
          <p:nvPicPr>
            <p:cNvPr id="15" name="Graphic 14" descr="Trigonometry with solid fill">
              <a:extLst>
                <a:ext uri="{FF2B5EF4-FFF2-40B4-BE49-F238E27FC236}">
                  <a16:creationId xmlns:a16="http://schemas.microsoft.com/office/drawing/2014/main" id="{D9EAE2F3-042A-170D-8469-F53B7CB7AC9D}"/>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6265928" y="4436106"/>
              <a:ext cx="360000" cy="360000"/>
            </a:xfrm>
            <a:prstGeom prst="rect">
              <a:avLst/>
            </a:prstGeom>
          </p:spPr>
        </p:pic>
        <p:sp>
          <p:nvSpPr>
            <p:cNvPr id="20" name="TextBox 19">
              <a:extLst>
                <a:ext uri="{FF2B5EF4-FFF2-40B4-BE49-F238E27FC236}">
                  <a16:creationId xmlns:a16="http://schemas.microsoft.com/office/drawing/2014/main" id="{45D30B6A-F43C-BEB7-9767-3A522E0DA9D4}"/>
                </a:ext>
              </a:extLst>
            </p:cNvPr>
            <p:cNvSpPr txBox="1"/>
            <p:nvPr/>
          </p:nvSpPr>
          <p:spPr>
            <a:xfrm>
              <a:off x="6625928" y="4431440"/>
              <a:ext cx="866712" cy="369332"/>
            </a:xfrm>
            <a:prstGeom prst="rect">
              <a:avLst/>
            </a:prstGeom>
            <a:noFill/>
          </p:spPr>
          <p:txBody>
            <a:bodyPr wrap="none" rtlCol="0">
              <a:spAutoFit/>
            </a:bodyPr>
            <a:lstStyle/>
            <a:p>
              <a:r>
                <a:rPr lang="en-SE" b="1" dirty="0">
                  <a:solidFill>
                    <a:schemeClr val="accent6"/>
                  </a:solidFill>
                </a:rPr>
                <a:t>Terms</a:t>
              </a:r>
              <a:r>
                <a:rPr lang="en-SE" b="1" dirty="0"/>
                <a:t> </a:t>
              </a:r>
            </a:p>
          </p:txBody>
        </p:sp>
      </p:grpSp>
      <p:sp>
        <p:nvSpPr>
          <p:cNvPr id="14" name="Rectangle 13">
            <a:extLst>
              <a:ext uri="{FF2B5EF4-FFF2-40B4-BE49-F238E27FC236}">
                <a16:creationId xmlns:a16="http://schemas.microsoft.com/office/drawing/2014/main" id="{72256F35-064A-4878-9B65-ABBD825575AD}"/>
              </a:ext>
            </a:extLst>
          </p:cNvPr>
          <p:cNvSpPr/>
          <p:nvPr/>
        </p:nvSpPr>
        <p:spPr>
          <a:xfrm>
            <a:off x="6161446" y="2998170"/>
            <a:ext cx="5602013"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18" name="Graphic 17" descr="Robot with solid fill">
            <a:extLst>
              <a:ext uri="{FF2B5EF4-FFF2-40B4-BE49-F238E27FC236}">
                <a16:creationId xmlns:a16="http://schemas.microsoft.com/office/drawing/2014/main" id="{1556B0B7-20B6-5A5D-04A1-F663FBC6272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56210" y="3121675"/>
            <a:ext cx="360000" cy="360000"/>
          </a:xfrm>
          <a:prstGeom prst="rect">
            <a:avLst/>
          </a:prstGeom>
        </p:spPr>
      </p:pic>
    </p:spTree>
    <p:extLst>
      <p:ext uri="{BB962C8B-B14F-4D97-AF65-F5344CB8AC3E}">
        <p14:creationId xmlns:p14="http://schemas.microsoft.com/office/powerpoint/2010/main" val="42592306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D48FC-5056-FDA4-FA31-6AF33C5A1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A37252-A5F4-643C-1DE8-CFC7E7118279}"/>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4112A20C-6310-6DDD-DE12-F243D1741473}"/>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E132B29C-6E9A-9796-3AEC-4D7B69AF093D}"/>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B46D448-77D6-2AFF-309F-E98F43D3F532}"/>
              </a:ext>
            </a:extLst>
          </p:cNvPr>
          <p:cNvSpPr>
            <a:spLocks noGrp="1"/>
          </p:cNvSpPr>
          <p:nvPr>
            <p:ph type="sldNum" sz="quarter" idx="12"/>
          </p:nvPr>
        </p:nvSpPr>
        <p:spPr/>
        <p:txBody>
          <a:bodyPr/>
          <a:lstStyle/>
          <a:p>
            <a:fld id="{271ECC92-9CDE-4EB3-B1C5-F46B9E1FA3C1}" type="slidenum">
              <a:rPr lang="en-SE" smtClean="0"/>
              <a:t>47</a:t>
            </a:fld>
            <a:endParaRPr lang="en-SE"/>
          </a:p>
        </p:txBody>
      </p:sp>
      <p:sp>
        <p:nvSpPr>
          <p:cNvPr id="6" name="Footer Placeholder 5">
            <a:extLst>
              <a:ext uri="{FF2B5EF4-FFF2-40B4-BE49-F238E27FC236}">
                <a16:creationId xmlns:a16="http://schemas.microsoft.com/office/drawing/2014/main" id="{A14A8337-06A0-D5AD-6457-C68FFCDF200F}"/>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B19DCF2-B7F5-ACE9-62FE-8D1778278629}"/>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A0860289-7D5F-691E-CC03-DDE9643BE2B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2ABA5761-4719-12DA-649F-203A2323A3B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3D676AA9-3694-99CF-00EB-DF79DD578756}"/>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6FF36D4C-9C3A-2E95-BDDA-ECD8F574353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7E61691A-4CE1-EEB8-62A6-1EA5506AA6E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494A8AB4-0C27-E351-5466-25467DFBE0B6}"/>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8696D56-8515-664D-F1B4-7D096C37980B}"/>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8EC37E81-4488-21DA-4922-FC84082D2CE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7" name="Group 16">
            <a:extLst>
              <a:ext uri="{FF2B5EF4-FFF2-40B4-BE49-F238E27FC236}">
                <a16:creationId xmlns:a16="http://schemas.microsoft.com/office/drawing/2014/main" id="{502ED654-AFF7-D49B-2D24-F38FF61A7DA5}"/>
              </a:ext>
            </a:extLst>
          </p:cNvPr>
          <p:cNvGrpSpPr/>
          <p:nvPr/>
        </p:nvGrpSpPr>
        <p:grpSpPr>
          <a:xfrm>
            <a:off x="203635" y="3666716"/>
            <a:ext cx="504000" cy="504000"/>
            <a:chOff x="977950" y="2729564"/>
            <a:chExt cx="504000" cy="504000"/>
          </a:xfrm>
        </p:grpSpPr>
        <p:sp>
          <p:nvSpPr>
            <p:cNvPr id="20" name="Oval 19">
              <a:extLst>
                <a:ext uri="{FF2B5EF4-FFF2-40B4-BE49-F238E27FC236}">
                  <a16:creationId xmlns:a16="http://schemas.microsoft.com/office/drawing/2014/main" id="{4A70A0EE-FCDF-AFE9-82D3-0DF1D40CF72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2" name="Graphic 21" descr="Trigonometry with solid fill">
              <a:extLst>
                <a:ext uri="{FF2B5EF4-FFF2-40B4-BE49-F238E27FC236}">
                  <a16:creationId xmlns:a16="http://schemas.microsoft.com/office/drawing/2014/main" id="{78746CDC-B7EE-0B8B-4615-F881F46287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3" name="Group 22">
            <a:extLst>
              <a:ext uri="{FF2B5EF4-FFF2-40B4-BE49-F238E27FC236}">
                <a16:creationId xmlns:a16="http://schemas.microsoft.com/office/drawing/2014/main" id="{BF598831-BA0E-F08B-C68D-BA2607130C12}"/>
              </a:ext>
            </a:extLst>
          </p:cNvPr>
          <p:cNvGrpSpPr/>
          <p:nvPr/>
        </p:nvGrpSpPr>
        <p:grpSpPr>
          <a:xfrm>
            <a:off x="203635" y="4280414"/>
            <a:ext cx="504000" cy="504000"/>
            <a:chOff x="977950" y="2729564"/>
            <a:chExt cx="504000" cy="504000"/>
          </a:xfrm>
        </p:grpSpPr>
        <p:sp>
          <p:nvSpPr>
            <p:cNvPr id="24" name="Oval 23">
              <a:extLst>
                <a:ext uri="{FF2B5EF4-FFF2-40B4-BE49-F238E27FC236}">
                  <a16:creationId xmlns:a16="http://schemas.microsoft.com/office/drawing/2014/main" id="{4D52397F-4D07-C21C-014D-FA99F3A4B401}"/>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5" name="Graphic 24" descr="Scatterplot with solid fill">
              <a:extLst>
                <a:ext uri="{FF2B5EF4-FFF2-40B4-BE49-F238E27FC236}">
                  <a16:creationId xmlns:a16="http://schemas.microsoft.com/office/drawing/2014/main" id="{F0A5DD77-1556-AEEF-3CFA-78072922B5A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6" name="Straight Arrow Connector 25">
            <a:extLst>
              <a:ext uri="{FF2B5EF4-FFF2-40B4-BE49-F238E27FC236}">
                <a16:creationId xmlns:a16="http://schemas.microsoft.com/office/drawing/2014/main" id="{6C54033A-16E8-65FD-C3B5-2705A8FE7A15}"/>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B590B2FB-C23E-3028-6298-07E67121C888}"/>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518C0697-A03F-56D9-DCDC-D507A2459718}"/>
              </a:ext>
            </a:extLst>
          </p:cNvPr>
          <p:cNvCxnSpPr>
            <a:cxnSpLocks/>
            <a:stCxn id="14" idx="4"/>
            <a:endCxn id="20"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B051AACB-54B5-12A9-9165-C510A5E42E4A}"/>
              </a:ext>
            </a:extLst>
          </p:cNvPr>
          <p:cNvCxnSpPr>
            <a:cxnSpLocks/>
            <a:stCxn id="20" idx="4"/>
            <a:endCxn id="24"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5" name="Rectangle: Rounded Corners 34">
            <a:extLst>
              <a:ext uri="{FF2B5EF4-FFF2-40B4-BE49-F238E27FC236}">
                <a16:creationId xmlns:a16="http://schemas.microsoft.com/office/drawing/2014/main" id="{19761FB8-FA26-C03F-AA34-FF0FFF5E9A34}"/>
              </a:ext>
            </a:extLst>
          </p:cNvPr>
          <p:cNvSpPr/>
          <p:nvPr/>
        </p:nvSpPr>
        <p:spPr>
          <a:xfrm>
            <a:off x="3993931" y="2943322"/>
            <a:ext cx="4204138" cy="1657793"/>
          </a:xfrm>
          <a:prstGeom prst="roundRect">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33F70F3-2013-D3B0-4E91-98C19167A9B6}"/>
                  </a:ext>
                </a:extLst>
              </p:cNvPr>
              <p:cNvSpPr txBox="1"/>
              <p:nvPr/>
            </p:nvSpPr>
            <p:spPr>
              <a:xfrm>
                <a:off x="44647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1" i="1" smtClean="0">
                          <a:latin typeface="Cambria Math" panose="02040503050406030204" pitchFamily="18" charset="0"/>
                        </a:rPr>
                        <m:t>𝝈</m:t>
                      </m:r>
                      <m:r>
                        <a:rPr lang="en-SE" sz="2400" b="0" i="1" smtClean="0">
                          <a:latin typeface="Cambria Math" panose="02040503050406030204" pitchFamily="18" charset="0"/>
                        </a:rPr>
                        <m:t>)</m:t>
                      </m:r>
                    </m:oMath>
                  </m:oMathPara>
                </a14:m>
                <a:endParaRPr lang="en-SE" sz="2400" dirty="0"/>
              </a:p>
            </p:txBody>
          </p:sp>
        </mc:Choice>
        <mc:Fallback xmlns="">
          <p:sp>
            <p:nvSpPr>
              <p:cNvPr id="36" name="TextBox 35">
                <a:extLst>
                  <a:ext uri="{FF2B5EF4-FFF2-40B4-BE49-F238E27FC236}">
                    <a16:creationId xmlns:a16="http://schemas.microsoft.com/office/drawing/2014/main" id="{733F70F3-2013-D3B0-4E91-98C19167A9B6}"/>
                  </a:ext>
                </a:extLst>
              </p:cNvPr>
              <p:cNvSpPr txBox="1">
                <a:spLocks noRot="1" noChangeAspect="1" noMove="1" noResize="1" noEditPoints="1" noAdjustHandles="1" noChangeArrowheads="1" noChangeShapeType="1" noTextEdit="1"/>
              </p:cNvSpPr>
              <p:nvPr/>
            </p:nvSpPr>
            <p:spPr>
              <a:xfrm>
                <a:off x="4464705" y="3545375"/>
                <a:ext cx="1561005" cy="369332"/>
              </a:xfrm>
              <a:prstGeom prst="rect">
                <a:avLst/>
              </a:prstGeom>
              <a:blipFill>
                <a:blip r:embed="rId7"/>
                <a:stretch>
                  <a:fillRect l="-4688" t="-1667" r="-7422"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A388D03-2809-AB50-ADF4-B503616DCF71}"/>
                  </a:ext>
                </a:extLst>
              </p:cNvPr>
              <p:cNvSpPr txBox="1"/>
              <p:nvPr/>
            </p:nvSpPr>
            <p:spPr>
              <a:xfrm>
                <a:off x="4370869" y="3942877"/>
                <a:ext cx="3159904"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1" i="1" smtClean="0">
                          <a:latin typeface="Cambria Math" panose="02040503050406030204" pitchFamily="18" charset="0"/>
                        </a:rPr>
                        <m:t>𝜶</m:t>
                      </m:r>
                      <m:r>
                        <a:rPr lang="en-SE" sz="2400" b="0" i="1" smtClean="0">
                          <a:latin typeface="Cambria Math" panose="02040503050406030204" pitchFamily="18" charset="0"/>
                        </a:rPr>
                        <m:t>+</m:t>
                      </m:r>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𝒙</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𝒛</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7" name="TextBox 36">
                <a:extLst>
                  <a:ext uri="{FF2B5EF4-FFF2-40B4-BE49-F238E27FC236}">
                    <a16:creationId xmlns:a16="http://schemas.microsoft.com/office/drawing/2014/main" id="{FA388D03-2809-AB50-ADF4-B503616DCF71}"/>
                  </a:ext>
                </a:extLst>
              </p:cNvPr>
              <p:cNvSpPr txBox="1">
                <a:spLocks noRot="1" noChangeAspect="1" noMove="1" noResize="1" noEditPoints="1" noAdjustHandles="1" noChangeArrowheads="1" noChangeShapeType="1" noTextEdit="1"/>
              </p:cNvSpPr>
              <p:nvPr/>
            </p:nvSpPr>
            <p:spPr>
              <a:xfrm>
                <a:off x="4370869" y="3942877"/>
                <a:ext cx="3159904" cy="369332"/>
              </a:xfrm>
              <a:prstGeom prst="rect">
                <a:avLst/>
              </a:prstGeom>
              <a:blipFill>
                <a:blip r:embed="rId8"/>
                <a:stretch>
                  <a:fillRect l="-386" t="-1667" b="-33333"/>
                </a:stretch>
              </a:blipFill>
            </p:spPr>
            <p:txBody>
              <a:bodyPr/>
              <a:lstStyle/>
              <a:p>
                <a:r>
                  <a:rPr lang="en-SE">
                    <a:noFill/>
                  </a:rPr>
                  <a:t> </a:t>
                </a:r>
              </a:p>
            </p:txBody>
          </p:sp>
        </mc:Fallback>
      </mc:AlternateContent>
      <p:pic>
        <p:nvPicPr>
          <p:cNvPr id="18" name="Graphic 17" descr="Robot with solid fill">
            <a:extLst>
              <a:ext uri="{FF2B5EF4-FFF2-40B4-BE49-F238E27FC236}">
                <a16:creationId xmlns:a16="http://schemas.microsoft.com/office/drawing/2014/main" id="{0F1D8A8F-4333-F932-DACB-5D66799170A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225594" y="3064349"/>
            <a:ext cx="360000" cy="360000"/>
          </a:xfrm>
          <a:prstGeom prst="rect">
            <a:avLst/>
          </a:prstGeom>
        </p:spPr>
      </p:pic>
    </p:spTree>
    <p:extLst>
      <p:ext uri="{BB962C8B-B14F-4D97-AF65-F5344CB8AC3E}">
        <p14:creationId xmlns:p14="http://schemas.microsoft.com/office/powerpoint/2010/main" val="22624356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6D3-CED4-4353-62D4-34E8BBB4304D}"/>
            </a:ext>
          </a:extLst>
        </p:cNvPr>
        <p:cNvGrpSpPr/>
        <p:nvPr/>
      </p:nvGrpSpPr>
      <p:grpSpPr>
        <a:xfrm>
          <a:off x="0" y="0"/>
          <a:ext cx="0" cy="0"/>
          <a:chOff x="0" y="0"/>
          <a:chExt cx="0" cy="0"/>
        </a:xfrm>
      </p:grpSpPr>
      <p:pic>
        <p:nvPicPr>
          <p:cNvPr id="78" name="Picture 77">
            <a:extLst>
              <a:ext uri="{FF2B5EF4-FFF2-40B4-BE49-F238E27FC236}">
                <a16:creationId xmlns:a16="http://schemas.microsoft.com/office/drawing/2014/main" id="{34B881E3-165A-D4F2-DE53-F9B452101C4C}"/>
              </a:ext>
            </a:extLst>
          </p:cNvPr>
          <p:cNvPicPr>
            <a:picLocks noChangeAspect="1"/>
          </p:cNvPicPr>
          <p:nvPr/>
        </p:nvPicPr>
        <p:blipFill>
          <a:blip r:embed="rId2"/>
          <a:stretch>
            <a:fillRect/>
          </a:stretch>
        </p:blipFill>
        <p:spPr>
          <a:xfrm>
            <a:off x="8507991" y="4368593"/>
            <a:ext cx="2865368" cy="1607959"/>
          </a:xfrm>
          <a:prstGeom prst="rect">
            <a:avLst/>
          </a:prstGeom>
        </p:spPr>
      </p:pic>
      <p:sp>
        <p:nvSpPr>
          <p:cNvPr id="2" name="Title 1">
            <a:extLst>
              <a:ext uri="{FF2B5EF4-FFF2-40B4-BE49-F238E27FC236}">
                <a16:creationId xmlns:a16="http://schemas.microsoft.com/office/drawing/2014/main" id="{DC7A01C4-3A87-ED82-B942-28A4E6D538D5}"/>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5693E55E-04B7-9F7B-603C-87A443A2E2A7}"/>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FC31A6B3-3F93-0EC0-075E-9FB9D073538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C4596FD-9554-3D8B-1361-050D51526E52}"/>
              </a:ext>
            </a:extLst>
          </p:cNvPr>
          <p:cNvSpPr>
            <a:spLocks noGrp="1"/>
          </p:cNvSpPr>
          <p:nvPr>
            <p:ph type="sldNum" sz="quarter" idx="12"/>
          </p:nvPr>
        </p:nvSpPr>
        <p:spPr/>
        <p:txBody>
          <a:bodyPr/>
          <a:lstStyle/>
          <a:p>
            <a:fld id="{271ECC92-9CDE-4EB3-B1C5-F46B9E1FA3C1}" type="slidenum">
              <a:rPr lang="en-SE" smtClean="0"/>
              <a:t>48</a:t>
            </a:fld>
            <a:endParaRPr lang="en-SE"/>
          </a:p>
        </p:txBody>
      </p:sp>
      <p:sp>
        <p:nvSpPr>
          <p:cNvPr id="6" name="Footer Placeholder 5">
            <a:extLst>
              <a:ext uri="{FF2B5EF4-FFF2-40B4-BE49-F238E27FC236}">
                <a16:creationId xmlns:a16="http://schemas.microsoft.com/office/drawing/2014/main" id="{6CA63757-DF70-4CD1-7538-FE0DBE55472B}"/>
              </a:ext>
            </a:extLst>
          </p:cNvPr>
          <p:cNvSpPr>
            <a:spLocks noGrp="1"/>
          </p:cNvSpPr>
          <p:nvPr>
            <p:ph type="ftr" sz="quarter" idx="11"/>
          </p:nvPr>
        </p:nvSpPr>
        <p:spPr/>
        <p:txBody>
          <a:bodyPr/>
          <a:lstStyle/>
          <a:p>
            <a:r>
              <a:rPr lang="de-DE"/>
              <a:t>Bayesian Data Analysis Tutorial</a:t>
            </a:r>
            <a:endParaRPr lang="en-SE"/>
          </a:p>
        </p:txBody>
      </p:sp>
      <p:sp>
        <p:nvSpPr>
          <p:cNvPr id="31" name="Rectangle: Rounded Corners 30">
            <a:extLst>
              <a:ext uri="{FF2B5EF4-FFF2-40B4-BE49-F238E27FC236}">
                <a16:creationId xmlns:a16="http://schemas.microsoft.com/office/drawing/2014/main" id="{70A4AADE-95E5-39AE-B425-9860D5BF86E0}"/>
              </a:ext>
            </a:extLst>
          </p:cNvPr>
          <p:cNvSpPr/>
          <p:nvPr/>
        </p:nvSpPr>
        <p:spPr>
          <a:xfrm>
            <a:off x="3993931" y="2943322"/>
            <a:ext cx="4204138" cy="326697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BB7C671-8D8C-E274-EED4-45B410566AE7}"/>
                  </a:ext>
                </a:extLst>
              </p:cNvPr>
              <p:cNvSpPr txBox="1"/>
              <p:nvPr/>
            </p:nvSpPr>
            <p:spPr>
              <a:xfrm>
                <a:off x="44647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6BB7C671-8D8C-E274-EED4-45B410566AE7}"/>
                  </a:ext>
                </a:extLst>
              </p:cNvPr>
              <p:cNvSpPr txBox="1">
                <a:spLocks noRot="1" noChangeAspect="1" noMove="1" noResize="1" noEditPoints="1" noAdjustHandles="1" noChangeArrowheads="1" noChangeShapeType="1" noTextEdit="1"/>
              </p:cNvSpPr>
              <p:nvPr/>
            </p:nvSpPr>
            <p:spPr>
              <a:xfrm>
                <a:off x="4464705" y="3545375"/>
                <a:ext cx="1561005" cy="369332"/>
              </a:xfrm>
              <a:prstGeom prst="rect">
                <a:avLst/>
              </a:prstGeom>
              <a:blipFill>
                <a:blip r:embed="rId3"/>
                <a:stretch>
                  <a:fillRect l="-4688" t="-1667" r="-703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073FE7D-9D55-6987-C51A-84ABD8D3B54D}"/>
                  </a:ext>
                </a:extLst>
              </p:cNvPr>
              <p:cNvSpPr txBox="1"/>
              <p:nvPr/>
            </p:nvSpPr>
            <p:spPr>
              <a:xfrm>
                <a:off x="4415119" y="3942877"/>
                <a:ext cx="30432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7073FE7D-9D55-6987-C51A-84ABD8D3B54D}"/>
                  </a:ext>
                </a:extLst>
              </p:cNvPr>
              <p:cNvSpPr txBox="1">
                <a:spLocks noRot="1" noChangeAspect="1" noMove="1" noResize="1" noEditPoints="1" noAdjustHandles="1" noChangeArrowheads="1" noChangeShapeType="1" noTextEdit="1"/>
              </p:cNvSpPr>
              <p:nvPr/>
            </p:nvSpPr>
            <p:spPr>
              <a:xfrm>
                <a:off x="4415119" y="3942877"/>
                <a:ext cx="3043205" cy="369332"/>
              </a:xfrm>
              <a:prstGeom prst="rect">
                <a:avLst/>
              </a:prstGeom>
              <a:blipFill>
                <a:blip r:embed="rId4"/>
                <a:stretch>
                  <a:fillRect l="-1002" t="-16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D82269A-BF9C-A5B6-BB88-31078E39A0C1}"/>
                  </a:ext>
                </a:extLst>
              </p:cNvPr>
              <p:cNvSpPr txBox="1"/>
              <p:nvPr/>
            </p:nvSpPr>
            <p:spPr>
              <a:xfrm>
                <a:off x="4435338" y="4361082"/>
                <a:ext cx="159037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(3, 1)</m:t>
                      </m:r>
                    </m:oMath>
                  </m:oMathPara>
                </a14:m>
                <a:endParaRPr lang="en-SE" sz="2400" dirty="0"/>
              </a:p>
            </p:txBody>
          </p:sp>
        </mc:Choice>
        <mc:Fallback xmlns="">
          <p:sp>
            <p:nvSpPr>
              <p:cNvPr id="37" name="TextBox 36">
                <a:extLst>
                  <a:ext uri="{FF2B5EF4-FFF2-40B4-BE49-F238E27FC236}">
                    <a16:creationId xmlns:a16="http://schemas.microsoft.com/office/drawing/2014/main" id="{5D82269A-BF9C-A5B6-BB88-31078E39A0C1}"/>
                  </a:ext>
                </a:extLst>
              </p:cNvPr>
              <p:cNvSpPr txBox="1">
                <a:spLocks noRot="1" noChangeAspect="1" noMove="1" noResize="1" noEditPoints="1" noAdjustHandles="1" noChangeArrowheads="1" noChangeShapeType="1" noTextEdit="1"/>
              </p:cNvSpPr>
              <p:nvPr/>
            </p:nvSpPr>
            <p:spPr>
              <a:xfrm>
                <a:off x="4435338" y="4361082"/>
                <a:ext cx="1590372" cy="369332"/>
              </a:xfrm>
              <a:prstGeom prst="rect">
                <a:avLst/>
              </a:prstGeom>
              <a:blipFill>
                <a:blip r:embed="rId5"/>
                <a:stretch>
                  <a:fillRect l="-2692" t="-1639" r="-6923"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61E4C22B-93BE-2F9A-97AF-3ECF1086EB61}"/>
                  </a:ext>
                </a:extLst>
              </p:cNvPr>
              <p:cNvSpPr txBox="1"/>
              <p:nvPr/>
            </p:nvSpPr>
            <p:spPr>
              <a:xfrm>
                <a:off x="4289885" y="4803241"/>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39" name="TextBox 38">
                <a:extLst>
                  <a:ext uri="{FF2B5EF4-FFF2-40B4-BE49-F238E27FC236}">
                    <a16:creationId xmlns:a16="http://schemas.microsoft.com/office/drawing/2014/main" id="{61E4C22B-93BE-2F9A-97AF-3ECF1086EB61}"/>
                  </a:ext>
                </a:extLst>
              </p:cNvPr>
              <p:cNvSpPr txBox="1">
                <a:spLocks noRot="1" noChangeAspect="1" noMove="1" noResize="1" noEditPoints="1" noAdjustHandles="1" noChangeArrowheads="1" noChangeShapeType="1" noTextEdit="1"/>
              </p:cNvSpPr>
              <p:nvPr/>
            </p:nvSpPr>
            <p:spPr>
              <a:xfrm>
                <a:off x="4289885" y="4803241"/>
                <a:ext cx="2015103" cy="369332"/>
              </a:xfrm>
              <a:prstGeom prst="rect">
                <a:avLst/>
              </a:prstGeom>
              <a:blipFill>
                <a:blip r:embed="rId6"/>
                <a:stretch>
                  <a:fillRect l="-3636" t="-1639" r="-3636" b="-3114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FE22C00-AAFA-9E68-BD19-E1FDB2978783}"/>
                  </a:ext>
                </a:extLst>
              </p:cNvPr>
              <p:cNvSpPr txBox="1"/>
              <p:nvPr/>
            </p:nvSpPr>
            <p:spPr>
              <a:xfrm>
                <a:off x="4317509" y="5233423"/>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41" name="TextBox 40">
                <a:extLst>
                  <a:ext uri="{FF2B5EF4-FFF2-40B4-BE49-F238E27FC236}">
                    <a16:creationId xmlns:a16="http://schemas.microsoft.com/office/drawing/2014/main" id="{DFE22C00-AAFA-9E68-BD19-E1FDB2978783}"/>
                  </a:ext>
                </a:extLst>
              </p:cNvPr>
              <p:cNvSpPr txBox="1">
                <a:spLocks noRot="1" noChangeAspect="1" noMove="1" noResize="1" noEditPoints="1" noAdjustHandles="1" noChangeArrowheads="1" noChangeShapeType="1" noTextEdit="1"/>
              </p:cNvSpPr>
              <p:nvPr/>
            </p:nvSpPr>
            <p:spPr>
              <a:xfrm>
                <a:off x="4317509" y="5233423"/>
                <a:ext cx="1931875" cy="369332"/>
              </a:xfrm>
              <a:prstGeom prst="rect">
                <a:avLst/>
              </a:prstGeom>
              <a:blipFill>
                <a:blip r:embed="rId7"/>
                <a:stretch>
                  <a:fillRect l="-5363" t="-1667" r="-5678"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0D4E651-9ED9-8CE2-7BA4-6A8812E04F47}"/>
                  </a:ext>
                </a:extLst>
              </p:cNvPr>
              <p:cNvSpPr txBox="1"/>
              <p:nvPr/>
            </p:nvSpPr>
            <p:spPr>
              <a:xfrm>
                <a:off x="4434059" y="5633180"/>
                <a:ext cx="155760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𝜎</m:t>
                      </m:r>
                      <m:r>
                        <a:rPr lang="en-SE" sz="2400" b="0" i="1" smtClean="0">
                          <a:latin typeface="Cambria Math" panose="02040503050406030204" pitchFamily="18" charset="0"/>
                        </a:rPr>
                        <m:t>∼</m:t>
                      </m:r>
                      <m:r>
                        <a:rPr lang="en-SE" sz="2400" b="0" i="1" smtClean="0">
                          <a:latin typeface="Cambria Math" panose="02040503050406030204" pitchFamily="18" charset="0"/>
                        </a:rPr>
                        <m:t>𝑒𝑥𝑝</m:t>
                      </m:r>
                      <m:r>
                        <a:rPr lang="en-SE" sz="2400" b="0" i="1" smtClean="0">
                          <a:latin typeface="Cambria Math" panose="02040503050406030204" pitchFamily="18" charset="0"/>
                        </a:rPr>
                        <m:t>(1)</m:t>
                      </m:r>
                    </m:oMath>
                  </m:oMathPara>
                </a14:m>
                <a:endParaRPr lang="en-SE" sz="2400" dirty="0"/>
              </a:p>
            </p:txBody>
          </p:sp>
        </mc:Choice>
        <mc:Fallback xmlns="">
          <p:sp>
            <p:nvSpPr>
              <p:cNvPr id="43" name="TextBox 42">
                <a:extLst>
                  <a:ext uri="{FF2B5EF4-FFF2-40B4-BE49-F238E27FC236}">
                    <a16:creationId xmlns:a16="http://schemas.microsoft.com/office/drawing/2014/main" id="{10D4E651-9ED9-8CE2-7BA4-6A8812E04F47}"/>
                  </a:ext>
                </a:extLst>
              </p:cNvPr>
              <p:cNvSpPr txBox="1">
                <a:spLocks noRot="1" noChangeAspect="1" noMove="1" noResize="1" noEditPoints="1" noAdjustHandles="1" noChangeArrowheads="1" noChangeShapeType="1" noTextEdit="1"/>
              </p:cNvSpPr>
              <p:nvPr/>
            </p:nvSpPr>
            <p:spPr>
              <a:xfrm>
                <a:off x="4434059" y="5633180"/>
                <a:ext cx="1557606" cy="369332"/>
              </a:xfrm>
              <a:prstGeom prst="rect">
                <a:avLst/>
              </a:prstGeom>
              <a:blipFill>
                <a:blip r:embed="rId8"/>
                <a:stretch>
                  <a:fillRect l="-2344" t="-1639" r="-7031" b="-32787"/>
                </a:stretch>
              </a:blipFill>
            </p:spPr>
            <p:txBody>
              <a:bodyPr/>
              <a:lstStyle/>
              <a:p>
                <a:r>
                  <a:rPr lang="en-SE">
                    <a:noFill/>
                  </a:rPr>
                  <a:t> </a:t>
                </a:r>
              </a:p>
            </p:txBody>
          </p:sp>
        </mc:Fallback>
      </mc:AlternateContent>
      <p:grpSp>
        <p:nvGrpSpPr>
          <p:cNvPr id="44" name="Group 43">
            <a:extLst>
              <a:ext uri="{FF2B5EF4-FFF2-40B4-BE49-F238E27FC236}">
                <a16:creationId xmlns:a16="http://schemas.microsoft.com/office/drawing/2014/main" id="{C8DA3A0A-C6BE-B308-CEC0-51DB49AFA4AC}"/>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F6FF0A92-F1B8-C1A2-4D7B-8D477442F34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88EBAD92-678E-9E23-A11E-7E4DD720A30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4542846C-89E7-89F0-00D1-E64B19582CA9}"/>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27031AAC-D3B3-78B5-0FAE-3FC2BADA1817}"/>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69050779-9FEF-A215-7285-152807CF6BF5}"/>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A440BC66-095B-B82F-E200-40B8A63804BE}"/>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476C0A83-70D2-BCB8-FB07-AF8D004F19B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4FE34AB0-0C7E-00DF-9736-9BA068881161}"/>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C15BF547-1F66-7C33-ED58-F721FE97F9DB}"/>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D6038D69-85C5-37F1-26E8-FACF1B3C541C}"/>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76BCDBB2-DA80-E033-7900-85DA75961B37}"/>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A9183267-5B54-D676-616F-0A6A94823A32}"/>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B6B10C42-62CA-A94E-4A8E-C47CD43774E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26DD6634-93E2-3EE1-4109-97E4E190F27E}"/>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C01DDCB3-3782-936D-3BE8-94CB728FDE13}"/>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ED9894D9-E18F-74D0-179F-256217607D07}"/>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4A3DF78C-D017-5E81-C670-3ED4D79336CA}"/>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528BE7E7-7D3B-27B0-D128-15AE5AE302B9}"/>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8E344A72-9CED-4538-4E76-3A0A843FE0E2}"/>
                  </a:ext>
                </a:extLst>
              </p:cNvPr>
              <p:cNvSpPr txBox="1"/>
              <p:nvPr/>
            </p:nvSpPr>
            <p:spPr>
              <a:xfrm>
                <a:off x="926410" y="2970387"/>
                <a:ext cx="2980291" cy="1200329"/>
              </a:xfrm>
              <a:prstGeom prst="rect">
                <a:avLst/>
              </a:prstGeom>
              <a:noFill/>
            </p:spPr>
            <p:txBody>
              <a:bodyPr wrap="square" rtlCol="0">
                <a:spAutoFit/>
              </a:bodyPr>
              <a:lstStyle/>
              <a:p>
                <a:r>
                  <a:rPr lang="en-SE" dirty="0"/>
                  <a:t>“On average, the value of </a:t>
                </a:r>
                <a14:m>
                  <m:oMath xmlns:m="http://schemas.openxmlformats.org/officeDocument/2006/math">
                    <m:r>
                      <a:rPr lang="en-SE" b="0" i="1" smtClean="0">
                        <a:latin typeface="Cambria Math" panose="02040503050406030204" pitchFamily="18" charset="0"/>
                      </a:rPr>
                      <m:t>𝜇</m:t>
                    </m:r>
                  </m:oMath>
                </a14:m>
                <a:r>
                  <a:rPr lang="en-SE" dirty="0"/>
                  <a:t> (i.e., the mean of </a:t>
                </a:r>
                <a14:m>
                  <m:oMath xmlns:m="http://schemas.openxmlformats.org/officeDocument/2006/math">
                    <m:r>
                      <m:rPr>
                        <m:sty m:val="p"/>
                      </m:rPr>
                      <a:rPr lang="en-SE" b="0" i="0" smtClean="0">
                        <a:latin typeface="Cambria Math" panose="02040503050406030204" pitchFamily="18" charset="0"/>
                      </a:rPr>
                      <m:t>y</m:t>
                    </m:r>
                  </m:oMath>
                </a14:m>
                <a:r>
                  <a:rPr lang="en-SE" dirty="0"/>
                  <a:t>) is around 3 with a standard deviation of 1.”</a:t>
                </a:r>
              </a:p>
            </p:txBody>
          </p:sp>
        </mc:Choice>
        <mc:Fallback xmlns="">
          <p:sp>
            <p:nvSpPr>
              <p:cNvPr id="63" name="TextBox 62">
                <a:extLst>
                  <a:ext uri="{FF2B5EF4-FFF2-40B4-BE49-F238E27FC236}">
                    <a16:creationId xmlns:a16="http://schemas.microsoft.com/office/drawing/2014/main" id="{8E344A72-9CED-4538-4E76-3A0A843FE0E2}"/>
                  </a:ext>
                </a:extLst>
              </p:cNvPr>
              <p:cNvSpPr txBox="1">
                <a:spLocks noRot="1" noChangeAspect="1" noMove="1" noResize="1" noEditPoints="1" noAdjustHandles="1" noChangeArrowheads="1" noChangeShapeType="1" noTextEdit="1"/>
              </p:cNvSpPr>
              <p:nvPr/>
            </p:nvSpPr>
            <p:spPr>
              <a:xfrm>
                <a:off x="926410" y="2970387"/>
                <a:ext cx="2980291" cy="1200329"/>
              </a:xfrm>
              <a:prstGeom prst="rect">
                <a:avLst/>
              </a:prstGeom>
              <a:blipFill>
                <a:blip r:embed="rId14"/>
                <a:stretch>
                  <a:fillRect l="-1840" t="-2030" b="-7614"/>
                </a:stretch>
              </a:blipFill>
            </p:spPr>
            <p:txBody>
              <a:bodyPr/>
              <a:lstStyle/>
              <a:p>
                <a:r>
                  <a:rPr lang="en-SE">
                    <a:noFill/>
                  </a:rPr>
                  <a:t> </a:t>
                </a:r>
              </a:p>
            </p:txBody>
          </p:sp>
        </mc:Fallback>
      </mc:AlternateContent>
      <p:sp>
        <p:nvSpPr>
          <p:cNvPr id="64" name="Rectangle 63">
            <a:extLst>
              <a:ext uri="{FF2B5EF4-FFF2-40B4-BE49-F238E27FC236}">
                <a16:creationId xmlns:a16="http://schemas.microsoft.com/office/drawing/2014/main" id="{FB95F627-E8D5-E769-01B5-1891A0DDD66B}"/>
              </a:ext>
            </a:extLst>
          </p:cNvPr>
          <p:cNvSpPr/>
          <p:nvPr/>
        </p:nvSpPr>
        <p:spPr>
          <a:xfrm>
            <a:off x="4347937" y="4351147"/>
            <a:ext cx="1794540" cy="411734"/>
          </a:xfrm>
          <a:prstGeom prst="rect">
            <a:avLst/>
          </a:prstGeom>
          <a:noFill/>
          <a:ln w="28575">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66" name="Connector: Curved 65">
            <a:extLst>
              <a:ext uri="{FF2B5EF4-FFF2-40B4-BE49-F238E27FC236}">
                <a16:creationId xmlns:a16="http://schemas.microsoft.com/office/drawing/2014/main" id="{2AA7B092-8069-275A-702C-08ECD5B7014C}"/>
              </a:ext>
            </a:extLst>
          </p:cNvPr>
          <p:cNvCxnSpPr>
            <a:stCxn id="63" idx="2"/>
            <a:endCxn id="64" idx="1"/>
          </p:cNvCxnSpPr>
          <p:nvPr/>
        </p:nvCxnSpPr>
        <p:spPr>
          <a:xfrm rot="16200000" flipH="1">
            <a:off x="3189097" y="3398174"/>
            <a:ext cx="386298" cy="1931381"/>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69" name="Rectangle 68">
            <a:extLst>
              <a:ext uri="{FF2B5EF4-FFF2-40B4-BE49-F238E27FC236}">
                <a16:creationId xmlns:a16="http://schemas.microsoft.com/office/drawing/2014/main" id="{3E69A956-B4C3-9AEE-F6B5-376E0567AAB0}"/>
              </a:ext>
            </a:extLst>
          </p:cNvPr>
          <p:cNvSpPr/>
          <p:nvPr/>
        </p:nvSpPr>
        <p:spPr>
          <a:xfrm>
            <a:off x="4231170" y="4793108"/>
            <a:ext cx="2035572" cy="411734"/>
          </a:xfrm>
          <a:prstGeom prst="rect">
            <a:avLst/>
          </a:prstGeom>
          <a:noFill/>
          <a:ln w="28575">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5213423-D76B-9FA3-DF62-FC366E9A05E1}"/>
                  </a:ext>
                </a:extLst>
              </p:cNvPr>
              <p:cNvSpPr txBox="1"/>
              <p:nvPr/>
            </p:nvSpPr>
            <p:spPr>
              <a:xfrm>
                <a:off x="8373509" y="2998170"/>
                <a:ext cx="2980291" cy="1200329"/>
              </a:xfrm>
              <a:prstGeom prst="rect">
                <a:avLst/>
              </a:prstGeom>
              <a:noFill/>
            </p:spPr>
            <p:txBody>
              <a:bodyPr wrap="square" rtlCol="0">
                <a:spAutoFit/>
              </a:bodyPr>
              <a:lstStyle/>
              <a:p>
                <a:r>
                  <a:rPr lang="en-SE" dirty="0"/>
                  <a:t>“Before seeing any data, we assume that </a:t>
                </a:r>
                <a14:m>
                  <m:oMath xmlns:m="http://schemas.openxmlformats.org/officeDocument/2006/math">
                    <m:r>
                      <a:rPr lang="en-SE" b="0" i="1" smtClean="0">
                        <a:latin typeface="Cambria Math" panose="02040503050406030204" pitchFamily="18" charset="0"/>
                      </a:rPr>
                      <m:t>𝑥</m:t>
                    </m:r>
                  </m:oMath>
                </a14:m>
                <a:r>
                  <a:rPr lang="en-SE" dirty="0"/>
                  <a:t> can either have a positive, negative, or no effect on </a:t>
                </a:r>
                <a14:m>
                  <m:oMath xmlns:m="http://schemas.openxmlformats.org/officeDocument/2006/math">
                    <m:r>
                      <a:rPr lang="en-SE" b="0" i="1" smtClean="0">
                        <a:latin typeface="Cambria Math" panose="02040503050406030204" pitchFamily="18" charset="0"/>
                      </a:rPr>
                      <m:t>𝜇</m:t>
                    </m:r>
                  </m:oMath>
                </a14:m>
                <a:r>
                  <a:rPr lang="en-SE" dirty="0"/>
                  <a:t>.”</a:t>
                </a:r>
              </a:p>
            </p:txBody>
          </p:sp>
        </mc:Choice>
        <mc:Fallback xmlns="">
          <p:sp>
            <p:nvSpPr>
              <p:cNvPr id="71" name="TextBox 70">
                <a:extLst>
                  <a:ext uri="{FF2B5EF4-FFF2-40B4-BE49-F238E27FC236}">
                    <a16:creationId xmlns:a16="http://schemas.microsoft.com/office/drawing/2014/main" id="{85213423-D76B-9FA3-DF62-FC366E9A05E1}"/>
                  </a:ext>
                </a:extLst>
              </p:cNvPr>
              <p:cNvSpPr txBox="1">
                <a:spLocks noRot="1" noChangeAspect="1" noMove="1" noResize="1" noEditPoints="1" noAdjustHandles="1" noChangeArrowheads="1" noChangeShapeType="1" noTextEdit="1"/>
              </p:cNvSpPr>
              <p:nvPr/>
            </p:nvSpPr>
            <p:spPr>
              <a:xfrm>
                <a:off x="8373509" y="2998170"/>
                <a:ext cx="2980291" cy="1200329"/>
              </a:xfrm>
              <a:prstGeom prst="rect">
                <a:avLst/>
              </a:prstGeom>
              <a:blipFill>
                <a:blip r:embed="rId15"/>
                <a:stretch>
                  <a:fillRect l="-1840" t="-2538" r="-409" b="-7614"/>
                </a:stretch>
              </a:blipFill>
            </p:spPr>
            <p:txBody>
              <a:bodyPr/>
              <a:lstStyle/>
              <a:p>
                <a:r>
                  <a:rPr lang="en-SE">
                    <a:noFill/>
                  </a:rPr>
                  <a:t> </a:t>
                </a:r>
              </a:p>
            </p:txBody>
          </p:sp>
        </mc:Fallback>
      </mc:AlternateContent>
      <p:cxnSp>
        <p:nvCxnSpPr>
          <p:cNvPr id="72" name="Connector: Curved 71">
            <a:extLst>
              <a:ext uri="{FF2B5EF4-FFF2-40B4-BE49-F238E27FC236}">
                <a16:creationId xmlns:a16="http://schemas.microsoft.com/office/drawing/2014/main" id="{42EC7E41-243C-87BA-EF14-872CC0E9FF26}"/>
              </a:ext>
            </a:extLst>
          </p:cNvPr>
          <p:cNvCxnSpPr>
            <a:cxnSpLocks/>
            <a:stCxn id="71" idx="2"/>
            <a:endCxn id="69" idx="3"/>
          </p:cNvCxnSpPr>
          <p:nvPr/>
        </p:nvCxnSpPr>
        <p:spPr>
          <a:xfrm rot="5400000">
            <a:off x="7664961" y="2800281"/>
            <a:ext cx="800476" cy="359691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pic>
        <p:nvPicPr>
          <p:cNvPr id="10" name="Graphic 9" descr="Robot with solid fill">
            <a:extLst>
              <a:ext uri="{FF2B5EF4-FFF2-40B4-BE49-F238E27FC236}">
                <a16:creationId xmlns:a16="http://schemas.microsoft.com/office/drawing/2014/main" id="{EF4A5C79-0F27-0C89-D9B5-5EB3FC6AF958}"/>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225594" y="3064349"/>
            <a:ext cx="360000" cy="360000"/>
          </a:xfrm>
          <a:prstGeom prst="rect">
            <a:avLst/>
          </a:prstGeom>
        </p:spPr>
      </p:pic>
    </p:spTree>
    <p:extLst>
      <p:ext uri="{BB962C8B-B14F-4D97-AF65-F5344CB8AC3E}">
        <p14:creationId xmlns:p14="http://schemas.microsoft.com/office/powerpoint/2010/main" val="15738843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64" grpId="0" animBg="1"/>
      <p:bldP spid="69" grpId="0" animBg="1"/>
      <p:bldP spid="7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DEFBD-F87D-08E2-D937-66E3BED4FF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CED48-B77D-1BF3-ED20-487DC162B7D0}"/>
              </a:ext>
            </a:extLst>
          </p:cNvPr>
          <p:cNvSpPr>
            <a:spLocks noGrp="1"/>
          </p:cNvSpPr>
          <p:nvPr>
            <p:ph type="title"/>
          </p:nvPr>
        </p:nvSpPr>
        <p:spPr/>
        <p:txBody>
          <a:bodyPr/>
          <a:lstStyle/>
          <a:p>
            <a:r>
              <a:rPr lang="en-SE" dirty="0"/>
              <a:t>Selecting Priors</a:t>
            </a:r>
          </a:p>
        </p:txBody>
      </p:sp>
      <p:sp>
        <p:nvSpPr>
          <p:cNvPr id="3" name="Content Placeholder 2">
            <a:extLst>
              <a:ext uri="{FF2B5EF4-FFF2-40B4-BE49-F238E27FC236}">
                <a16:creationId xmlns:a16="http://schemas.microsoft.com/office/drawing/2014/main" id="{87F8A6E2-867B-82B4-1EBA-26AC259ABE96}"/>
              </a:ext>
            </a:extLst>
          </p:cNvPr>
          <p:cNvSpPr>
            <a:spLocks noGrp="1"/>
          </p:cNvSpPr>
          <p:nvPr>
            <p:ph idx="1"/>
          </p:nvPr>
        </p:nvSpPr>
        <p:spPr>
          <a:xfrm>
            <a:off x="838200" y="1825625"/>
            <a:ext cx="10515600" cy="968375"/>
          </a:xfrm>
        </p:spPr>
        <p:txBody>
          <a:bodyPr/>
          <a:lstStyle/>
          <a:p>
            <a:pPr marL="0" indent="0">
              <a:buNone/>
            </a:pPr>
            <a:r>
              <a:rPr lang="en-SE" dirty="0"/>
              <a:t>Every intercept and path coefficient is a </a:t>
            </a:r>
            <a:r>
              <a:rPr lang="en-SE" b="1" dirty="0"/>
              <a:t>probability distribution</a:t>
            </a:r>
            <a:r>
              <a:rPr lang="en-SE" dirty="0"/>
              <a:t> that we need to initialize with domain knowledge.</a:t>
            </a:r>
          </a:p>
        </p:txBody>
      </p:sp>
      <p:sp>
        <p:nvSpPr>
          <p:cNvPr id="4" name="Date Placeholder 3">
            <a:extLst>
              <a:ext uri="{FF2B5EF4-FFF2-40B4-BE49-F238E27FC236}">
                <a16:creationId xmlns:a16="http://schemas.microsoft.com/office/drawing/2014/main" id="{AC0EB14B-3ECE-D1B7-B81F-D4CCC6BF670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DF0EB62E-6141-D0F5-DDBF-AD047D0BAED0}"/>
              </a:ext>
            </a:extLst>
          </p:cNvPr>
          <p:cNvSpPr>
            <a:spLocks noGrp="1"/>
          </p:cNvSpPr>
          <p:nvPr>
            <p:ph type="sldNum" sz="quarter" idx="12"/>
          </p:nvPr>
        </p:nvSpPr>
        <p:spPr/>
        <p:txBody>
          <a:bodyPr/>
          <a:lstStyle/>
          <a:p>
            <a:fld id="{271ECC92-9CDE-4EB3-B1C5-F46B9E1FA3C1}" type="slidenum">
              <a:rPr lang="en-SE" smtClean="0"/>
              <a:t>49</a:t>
            </a:fld>
            <a:endParaRPr lang="en-SE"/>
          </a:p>
        </p:txBody>
      </p:sp>
      <p:sp>
        <p:nvSpPr>
          <p:cNvPr id="6" name="Footer Placeholder 5">
            <a:extLst>
              <a:ext uri="{FF2B5EF4-FFF2-40B4-BE49-F238E27FC236}">
                <a16:creationId xmlns:a16="http://schemas.microsoft.com/office/drawing/2014/main" id="{5AF82697-C07B-5F06-8E30-F0C03EC77085}"/>
              </a:ext>
            </a:extLst>
          </p:cNvPr>
          <p:cNvSpPr>
            <a:spLocks noGrp="1"/>
          </p:cNvSpPr>
          <p:nvPr>
            <p:ph type="ftr" sz="quarter" idx="11"/>
          </p:nvPr>
        </p:nvSpPr>
        <p:spPr/>
        <p:txBody>
          <a:bodyPr/>
          <a:lstStyle/>
          <a:p>
            <a:r>
              <a:rPr lang="de-DE"/>
              <a:t>Bayesian Data Analysis Tutorial</a:t>
            </a:r>
            <a:endParaRPr lang="en-SE"/>
          </a:p>
        </p:txBody>
      </p:sp>
      <p:sp>
        <p:nvSpPr>
          <p:cNvPr id="31" name="Rectangle: Rounded Corners 30">
            <a:extLst>
              <a:ext uri="{FF2B5EF4-FFF2-40B4-BE49-F238E27FC236}">
                <a16:creationId xmlns:a16="http://schemas.microsoft.com/office/drawing/2014/main" id="{5263BE8F-98C7-9923-234C-021889ED8BE7}"/>
              </a:ext>
            </a:extLst>
          </p:cNvPr>
          <p:cNvSpPr/>
          <p:nvPr/>
        </p:nvSpPr>
        <p:spPr>
          <a:xfrm>
            <a:off x="1040531" y="2943322"/>
            <a:ext cx="4204138" cy="326697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5F5A7475-03B7-2699-1B3B-E9540EB4EA2B}"/>
                  </a:ext>
                </a:extLst>
              </p:cNvPr>
              <p:cNvSpPr txBox="1"/>
              <p:nvPr/>
            </p:nvSpPr>
            <p:spPr>
              <a:xfrm>
                <a:off x="1511305" y="3545375"/>
                <a:ext cx="15610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𝑁</m:t>
                      </m:r>
                      <m:r>
                        <a:rPr lang="en-SE" sz="2400" b="0" i="1" smtClean="0">
                          <a:latin typeface="Cambria Math" panose="02040503050406030204" pitchFamily="18" charset="0"/>
                        </a:rPr>
                        <m:t>(</m:t>
                      </m:r>
                      <m:r>
                        <a:rPr lang="en-SE" sz="2400" b="0" i="1" smtClean="0">
                          <a:latin typeface="Cambria Math" panose="02040503050406030204" pitchFamily="18" charset="0"/>
                        </a:rPr>
                        <m:t>𝜇</m:t>
                      </m:r>
                      <m:r>
                        <a:rPr lang="en-SE" sz="2400" b="0" i="1" smtClean="0">
                          <a:latin typeface="Cambria Math" panose="02040503050406030204" pitchFamily="18" charset="0"/>
                        </a:rPr>
                        <m:t>, </m:t>
                      </m:r>
                      <m:r>
                        <a:rPr lang="en-SE" sz="2400" b="0" i="1" smtClean="0">
                          <a:latin typeface="Cambria Math" panose="02040503050406030204" pitchFamily="18" charset="0"/>
                        </a:rPr>
                        <m:t>𝜎</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5F5A7475-03B7-2699-1B3B-E9540EB4EA2B}"/>
                  </a:ext>
                </a:extLst>
              </p:cNvPr>
              <p:cNvSpPr txBox="1">
                <a:spLocks noRot="1" noChangeAspect="1" noMove="1" noResize="1" noEditPoints="1" noAdjustHandles="1" noChangeArrowheads="1" noChangeShapeType="1" noTextEdit="1"/>
              </p:cNvSpPr>
              <p:nvPr/>
            </p:nvSpPr>
            <p:spPr>
              <a:xfrm>
                <a:off x="1511305" y="3545375"/>
                <a:ext cx="1561005" cy="369332"/>
              </a:xfrm>
              <a:prstGeom prst="rect">
                <a:avLst/>
              </a:prstGeom>
              <a:blipFill>
                <a:blip r:embed="rId2"/>
                <a:stretch>
                  <a:fillRect l="-4688" t="-1667" r="-664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C2FB51F-39C9-C4BE-588C-85E215588DBF}"/>
                  </a:ext>
                </a:extLst>
              </p:cNvPr>
              <p:cNvSpPr txBox="1"/>
              <p:nvPr/>
            </p:nvSpPr>
            <p:spPr>
              <a:xfrm>
                <a:off x="1461719" y="3942877"/>
                <a:ext cx="304320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𝜇</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CC2FB51F-39C9-C4BE-588C-85E215588DBF}"/>
                  </a:ext>
                </a:extLst>
              </p:cNvPr>
              <p:cNvSpPr txBox="1">
                <a:spLocks noRot="1" noChangeAspect="1" noMove="1" noResize="1" noEditPoints="1" noAdjustHandles="1" noChangeArrowheads="1" noChangeShapeType="1" noTextEdit="1"/>
              </p:cNvSpPr>
              <p:nvPr/>
            </p:nvSpPr>
            <p:spPr>
              <a:xfrm>
                <a:off x="1461719" y="3942877"/>
                <a:ext cx="3043205" cy="369332"/>
              </a:xfrm>
              <a:prstGeom prst="rect">
                <a:avLst/>
              </a:prstGeom>
              <a:blipFill>
                <a:blip r:embed="rId3"/>
                <a:stretch>
                  <a:fillRect l="-1202" t="-16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308037D-B27A-ADEA-A6A2-6F83F6B8B539}"/>
                  </a:ext>
                </a:extLst>
              </p:cNvPr>
              <p:cNvSpPr txBox="1"/>
              <p:nvPr/>
            </p:nvSpPr>
            <p:spPr>
              <a:xfrm>
                <a:off x="1481938" y="4361082"/>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1" i="1" smtClean="0">
                          <a:latin typeface="Cambria Math" panose="02040503050406030204" pitchFamily="18" charset="0"/>
                        </a:rPr>
                        <m:t>𝜶</m:t>
                      </m:r>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𝟑</m:t>
                      </m:r>
                      <m:r>
                        <a:rPr lang="en-SE" sz="2400" b="1" i="1" smtClean="0">
                          <a:latin typeface="Cambria Math" panose="02040503050406030204" pitchFamily="18" charset="0"/>
                        </a:rPr>
                        <m:t>, </m:t>
                      </m:r>
                      <m:r>
                        <a:rPr lang="en-SE" sz="2400" b="1" i="1" smtClean="0">
                          <a:latin typeface="Cambria Math" panose="02040503050406030204" pitchFamily="18" charset="0"/>
                        </a:rPr>
                        <m:t>𝟏</m:t>
                      </m:r>
                      <m:r>
                        <a:rPr lang="en-SE" sz="2400" b="1" i="1" smtClean="0">
                          <a:latin typeface="Cambria Math" panose="02040503050406030204" pitchFamily="18" charset="0"/>
                        </a:rPr>
                        <m:t>)</m:t>
                      </m:r>
                    </m:oMath>
                  </m:oMathPara>
                </a14:m>
                <a:endParaRPr lang="en-SE" sz="2400" b="1" dirty="0"/>
              </a:p>
            </p:txBody>
          </p:sp>
        </mc:Choice>
        <mc:Fallback xmlns="">
          <p:sp>
            <p:nvSpPr>
              <p:cNvPr id="37" name="TextBox 36">
                <a:extLst>
                  <a:ext uri="{FF2B5EF4-FFF2-40B4-BE49-F238E27FC236}">
                    <a16:creationId xmlns:a16="http://schemas.microsoft.com/office/drawing/2014/main" id="{9308037D-B27A-ADEA-A6A2-6F83F6B8B539}"/>
                  </a:ext>
                </a:extLst>
              </p:cNvPr>
              <p:cNvSpPr txBox="1">
                <a:spLocks noRot="1" noChangeAspect="1" noMove="1" noResize="1" noEditPoints="1" noAdjustHandles="1" noChangeArrowheads="1" noChangeShapeType="1" noTextEdit="1"/>
              </p:cNvSpPr>
              <p:nvPr/>
            </p:nvSpPr>
            <p:spPr>
              <a:xfrm>
                <a:off x="1481938" y="4361082"/>
                <a:ext cx="1632883" cy="369332"/>
              </a:xfrm>
              <a:prstGeom prst="rect">
                <a:avLst/>
              </a:prstGeom>
              <a:blipFill>
                <a:blip r:embed="rId4"/>
                <a:stretch>
                  <a:fillRect l="-2612" t="-1639" r="-6716"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0BFC4EF-1B14-CAA6-55F4-CD50B0321EEF}"/>
                  </a:ext>
                </a:extLst>
              </p:cNvPr>
              <p:cNvSpPr txBox="1"/>
              <p:nvPr/>
            </p:nvSpPr>
            <p:spPr>
              <a:xfrm>
                <a:off x="1348060" y="4803241"/>
                <a:ext cx="215219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𝒙</m:t>
                          </m:r>
                        </m:sub>
                      </m:sSub>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𝟎</m:t>
                      </m:r>
                      <m:r>
                        <a:rPr lang="en-SE" sz="2400" b="1" i="1" smtClean="0">
                          <a:latin typeface="Cambria Math" panose="02040503050406030204" pitchFamily="18" charset="0"/>
                        </a:rPr>
                        <m:t>, </m:t>
                      </m:r>
                      <m:r>
                        <a:rPr lang="en-SE" sz="2400" b="1" i="1" smtClean="0">
                          <a:latin typeface="Cambria Math" panose="02040503050406030204" pitchFamily="18" charset="0"/>
                        </a:rPr>
                        <m:t>𝟎</m:t>
                      </m:r>
                      <m:r>
                        <a:rPr lang="en-SE" sz="2400" b="1" i="1" smtClean="0">
                          <a:latin typeface="Cambria Math" panose="02040503050406030204" pitchFamily="18" charset="0"/>
                        </a:rPr>
                        <m:t>.</m:t>
                      </m:r>
                      <m:r>
                        <a:rPr lang="en-SE" sz="2400" b="1" i="1" smtClean="0">
                          <a:latin typeface="Cambria Math" panose="02040503050406030204" pitchFamily="18" charset="0"/>
                        </a:rPr>
                        <m:t>𝟓</m:t>
                      </m:r>
                      <m:r>
                        <a:rPr lang="en-SE" sz="2400" b="1" i="1" smtClean="0">
                          <a:latin typeface="Cambria Math" panose="02040503050406030204" pitchFamily="18" charset="0"/>
                        </a:rPr>
                        <m:t>)</m:t>
                      </m:r>
                    </m:oMath>
                  </m:oMathPara>
                </a14:m>
                <a:endParaRPr lang="en-SE" sz="2400" b="1" dirty="0"/>
              </a:p>
            </p:txBody>
          </p:sp>
        </mc:Choice>
        <mc:Fallback xmlns="">
          <p:sp>
            <p:nvSpPr>
              <p:cNvPr id="39" name="TextBox 38">
                <a:extLst>
                  <a:ext uri="{FF2B5EF4-FFF2-40B4-BE49-F238E27FC236}">
                    <a16:creationId xmlns:a16="http://schemas.microsoft.com/office/drawing/2014/main" id="{70BFC4EF-1B14-CAA6-55F4-CD50B0321EEF}"/>
                  </a:ext>
                </a:extLst>
              </p:cNvPr>
              <p:cNvSpPr txBox="1">
                <a:spLocks noRot="1" noChangeAspect="1" noMove="1" noResize="1" noEditPoints="1" noAdjustHandles="1" noChangeArrowheads="1" noChangeShapeType="1" noTextEdit="1"/>
              </p:cNvSpPr>
              <p:nvPr/>
            </p:nvSpPr>
            <p:spPr>
              <a:xfrm>
                <a:off x="1348060" y="4803241"/>
                <a:ext cx="2152192" cy="369332"/>
              </a:xfrm>
              <a:prstGeom prst="rect">
                <a:avLst/>
              </a:prstGeom>
              <a:blipFill>
                <a:blip r:embed="rId5"/>
                <a:stretch>
                  <a:fillRect l="-2833" t="-1639" r="-3116" b="-3114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67C2D857-9F0E-628F-285E-E8758D1C4E31}"/>
                  </a:ext>
                </a:extLst>
              </p:cNvPr>
              <p:cNvSpPr txBox="1"/>
              <p:nvPr/>
            </p:nvSpPr>
            <p:spPr>
              <a:xfrm>
                <a:off x="1364109" y="5233423"/>
                <a:ext cx="206082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b="1" i="1" smtClean="0">
                              <a:latin typeface="Cambria Math" panose="02040503050406030204" pitchFamily="18" charset="0"/>
                            </a:rPr>
                          </m:ctrlPr>
                        </m:sSubPr>
                        <m:e>
                          <m:r>
                            <a:rPr lang="en-SE" sz="2400" b="1" i="1" smtClean="0">
                              <a:latin typeface="Cambria Math" panose="02040503050406030204" pitchFamily="18" charset="0"/>
                            </a:rPr>
                            <m:t>𝜷</m:t>
                          </m:r>
                        </m:e>
                        <m:sub>
                          <m:r>
                            <a:rPr lang="en-SE" sz="2400" b="1" i="1" smtClean="0">
                              <a:latin typeface="Cambria Math" panose="02040503050406030204" pitchFamily="18" charset="0"/>
                            </a:rPr>
                            <m:t>𝒛</m:t>
                          </m:r>
                        </m:sub>
                      </m:sSub>
                      <m:r>
                        <a:rPr lang="en-SE" sz="2400" b="1" i="1" smtClean="0">
                          <a:latin typeface="Cambria Math" panose="02040503050406030204" pitchFamily="18" charset="0"/>
                        </a:rPr>
                        <m:t>∼</m:t>
                      </m:r>
                      <m:r>
                        <a:rPr lang="en-SE" sz="2400" b="1" i="1" smtClean="0">
                          <a:latin typeface="Cambria Math" panose="02040503050406030204" pitchFamily="18" charset="0"/>
                        </a:rPr>
                        <m:t>𝑵</m:t>
                      </m:r>
                      <m:r>
                        <a:rPr lang="en-SE" sz="2400" b="1" i="1" smtClean="0">
                          <a:latin typeface="Cambria Math" panose="02040503050406030204" pitchFamily="18" charset="0"/>
                        </a:rPr>
                        <m:t>(</m:t>
                      </m:r>
                      <m:r>
                        <a:rPr lang="en-SE" sz="2400" b="1" i="1" smtClean="0">
                          <a:latin typeface="Cambria Math" panose="02040503050406030204" pitchFamily="18" charset="0"/>
                        </a:rPr>
                        <m:t>𝟎</m:t>
                      </m:r>
                      <m:r>
                        <a:rPr lang="en-SE" sz="2400" b="1" i="1" smtClean="0">
                          <a:latin typeface="Cambria Math" panose="02040503050406030204" pitchFamily="18" charset="0"/>
                        </a:rPr>
                        <m:t>, </m:t>
                      </m:r>
                      <m:r>
                        <a:rPr lang="en-SE" sz="2400" b="1" i="1" smtClean="0">
                          <a:latin typeface="Cambria Math" panose="02040503050406030204" pitchFamily="18" charset="0"/>
                        </a:rPr>
                        <m:t>𝟎</m:t>
                      </m:r>
                      <m:r>
                        <a:rPr lang="en-SE" sz="2400" b="1" i="1" smtClean="0">
                          <a:latin typeface="Cambria Math" panose="02040503050406030204" pitchFamily="18" charset="0"/>
                        </a:rPr>
                        <m:t>.</m:t>
                      </m:r>
                      <m:r>
                        <a:rPr lang="en-SE" sz="2400" b="1" i="1" smtClean="0">
                          <a:latin typeface="Cambria Math" panose="02040503050406030204" pitchFamily="18" charset="0"/>
                        </a:rPr>
                        <m:t>𝟓</m:t>
                      </m:r>
                      <m:r>
                        <a:rPr lang="en-SE" sz="2400" b="1" i="1" smtClean="0">
                          <a:latin typeface="Cambria Math" panose="02040503050406030204" pitchFamily="18" charset="0"/>
                        </a:rPr>
                        <m:t>)</m:t>
                      </m:r>
                    </m:oMath>
                  </m:oMathPara>
                </a14:m>
                <a:endParaRPr lang="en-SE" sz="2400" b="1" dirty="0"/>
              </a:p>
            </p:txBody>
          </p:sp>
        </mc:Choice>
        <mc:Fallback xmlns="">
          <p:sp>
            <p:nvSpPr>
              <p:cNvPr id="41" name="TextBox 40">
                <a:extLst>
                  <a:ext uri="{FF2B5EF4-FFF2-40B4-BE49-F238E27FC236}">
                    <a16:creationId xmlns:a16="http://schemas.microsoft.com/office/drawing/2014/main" id="{67C2D857-9F0E-628F-285E-E8758D1C4E31}"/>
                  </a:ext>
                </a:extLst>
              </p:cNvPr>
              <p:cNvSpPr txBox="1">
                <a:spLocks noRot="1" noChangeAspect="1" noMove="1" noResize="1" noEditPoints="1" noAdjustHandles="1" noChangeArrowheads="1" noChangeShapeType="1" noTextEdit="1"/>
              </p:cNvSpPr>
              <p:nvPr/>
            </p:nvSpPr>
            <p:spPr>
              <a:xfrm>
                <a:off x="1364109" y="5233423"/>
                <a:ext cx="2060821" cy="369332"/>
              </a:xfrm>
              <a:prstGeom prst="rect">
                <a:avLst/>
              </a:prstGeom>
              <a:blipFill>
                <a:blip r:embed="rId6"/>
                <a:stretch>
                  <a:fillRect l="-5030" t="-1667" r="-5030"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3B039B25-D8EB-2DB4-A0B1-1D0C14B6D54C}"/>
                  </a:ext>
                </a:extLst>
              </p:cNvPr>
              <p:cNvSpPr txBox="1"/>
              <p:nvPr/>
            </p:nvSpPr>
            <p:spPr>
              <a:xfrm>
                <a:off x="1503809" y="5633180"/>
                <a:ext cx="162486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1" i="1" smtClean="0">
                          <a:latin typeface="Cambria Math" panose="02040503050406030204" pitchFamily="18" charset="0"/>
                        </a:rPr>
                        <m:t>𝝈</m:t>
                      </m:r>
                      <m:r>
                        <a:rPr lang="en-SE" sz="2400" b="1" i="1" smtClean="0">
                          <a:latin typeface="Cambria Math" panose="02040503050406030204" pitchFamily="18" charset="0"/>
                        </a:rPr>
                        <m:t>∼</m:t>
                      </m:r>
                      <m:r>
                        <a:rPr lang="en-SE" sz="2400" b="1" i="1" smtClean="0">
                          <a:latin typeface="Cambria Math" panose="02040503050406030204" pitchFamily="18" charset="0"/>
                        </a:rPr>
                        <m:t>𝒆𝒙𝒑</m:t>
                      </m:r>
                      <m:r>
                        <a:rPr lang="en-SE" sz="2400" b="1" i="1" smtClean="0">
                          <a:latin typeface="Cambria Math" panose="02040503050406030204" pitchFamily="18" charset="0"/>
                        </a:rPr>
                        <m:t>(</m:t>
                      </m:r>
                      <m:r>
                        <a:rPr lang="en-SE" sz="2400" b="1" i="1" smtClean="0">
                          <a:latin typeface="Cambria Math" panose="02040503050406030204" pitchFamily="18" charset="0"/>
                        </a:rPr>
                        <m:t>𝟏</m:t>
                      </m:r>
                      <m:r>
                        <a:rPr lang="en-SE" sz="2400" b="1" i="1" smtClean="0">
                          <a:latin typeface="Cambria Math" panose="02040503050406030204" pitchFamily="18" charset="0"/>
                        </a:rPr>
                        <m:t>)</m:t>
                      </m:r>
                    </m:oMath>
                  </m:oMathPara>
                </a14:m>
                <a:endParaRPr lang="en-SE" sz="2400" b="1" dirty="0"/>
              </a:p>
            </p:txBody>
          </p:sp>
        </mc:Choice>
        <mc:Fallback xmlns="">
          <p:sp>
            <p:nvSpPr>
              <p:cNvPr id="43" name="TextBox 42">
                <a:extLst>
                  <a:ext uri="{FF2B5EF4-FFF2-40B4-BE49-F238E27FC236}">
                    <a16:creationId xmlns:a16="http://schemas.microsoft.com/office/drawing/2014/main" id="{3B039B25-D8EB-2DB4-A0B1-1D0C14B6D54C}"/>
                  </a:ext>
                </a:extLst>
              </p:cNvPr>
              <p:cNvSpPr txBox="1">
                <a:spLocks noRot="1" noChangeAspect="1" noMove="1" noResize="1" noEditPoints="1" noAdjustHandles="1" noChangeArrowheads="1" noChangeShapeType="1" noTextEdit="1"/>
              </p:cNvSpPr>
              <p:nvPr/>
            </p:nvSpPr>
            <p:spPr>
              <a:xfrm>
                <a:off x="1503809" y="5633180"/>
                <a:ext cx="1624867" cy="369332"/>
              </a:xfrm>
              <a:prstGeom prst="rect">
                <a:avLst/>
              </a:prstGeom>
              <a:blipFill>
                <a:blip r:embed="rId7"/>
                <a:stretch>
                  <a:fillRect l="-2632" t="-1639" r="-6391" b="-32787"/>
                </a:stretch>
              </a:blipFill>
            </p:spPr>
            <p:txBody>
              <a:bodyPr/>
              <a:lstStyle/>
              <a:p>
                <a:r>
                  <a:rPr lang="en-SE">
                    <a:noFill/>
                  </a:rPr>
                  <a:t> </a:t>
                </a:r>
              </a:p>
            </p:txBody>
          </p:sp>
        </mc:Fallback>
      </mc:AlternateContent>
      <p:grpSp>
        <p:nvGrpSpPr>
          <p:cNvPr id="44" name="Group 43">
            <a:extLst>
              <a:ext uri="{FF2B5EF4-FFF2-40B4-BE49-F238E27FC236}">
                <a16:creationId xmlns:a16="http://schemas.microsoft.com/office/drawing/2014/main" id="{6E14FB78-10DB-9822-8363-F420BD274530}"/>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95BEBD13-3504-BCBC-5DCE-B8BF88E4EA2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94468FE1-3D1E-41B6-F8AC-A6E55521D3A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728D74AC-3923-3038-CFDE-4596BD000340}"/>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A2F30D73-D460-5C3F-4B08-65F2E340302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E33A2F6F-633A-E83B-3C28-C9B23C23D8E6}"/>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C322B7AB-9917-9281-541E-D6DE6F44D68A}"/>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608C5D5D-4DDD-3CDD-74FC-703B984EA6D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BBE01F02-3A8C-3E9A-896B-F4FAC35AD103}"/>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84631BAE-909D-CE3A-8F64-BE85F58B5F5D}"/>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04818C90-71EE-6924-49FB-15CE35953FBE}"/>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B4F9F487-8489-8C8E-318C-45285B823934}"/>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12575089-17CB-4FE1-2D55-F8A30284E306}"/>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8A837B61-37D1-9EB5-706F-0B6AD11CF133}"/>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9C8F6AF5-470F-A70B-E207-9027E591949C}"/>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87B7F5E2-B621-7CA6-B25A-8B333BF59C7F}"/>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B53B27AE-4769-75DF-7B11-D20EFD5F4BBC}"/>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5D337D7D-2DC5-1B05-15C8-BD931F0A5487}"/>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E9239794-97B0-18A7-4EEA-20AA6DED843E}"/>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8" name="Rectangle 7">
            <a:extLst>
              <a:ext uri="{FF2B5EF4-FFF2-40B4-BE49-F238E27FC236}">
                <a16:creationId xmlns:a16="http://schemas.microsoft.com/office/drawing/2014/main" id="{D49754D0-1F8D-B4EF-ABE5-DDF7D04EE777}"/>
              </a:ext>
            </a:extLst>
          </p:cNvPr>
          <p:cNvSpPr/>
          <p:nvPr/>
        </p:nvSpPr>
        <p:spPr>
          <a:xfrm>
            <a:off x="5696372" y="3314519"/>
            <a:ext cx="6067087" cy="2895780"/>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a:t>
            </a:r>
            <a:r>
              <a:rPr lang="en-SE" b="1" dirty="0">
                <a:solidFill>
                  <a:schemeClr val="tx1"/>
                </a:solidFill>
                <a:latin typeface="Courier New" panose="02070309020205020404" pitchFamily="49" charset="0"/>
                <a:cs typeface="Courier New" panose="02070309020205020404" pitchFamily="49" charset="0"/>
              </a:rPr>
              <a:t>priors = c(</a:t>
            </a: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(normal(</a:t>
            </a:r>
            <a:r>
              <a:rPr lang="en-SE" b="1" dirty="0">
                <a:solidFill>
                  <a:schemeClr val="tx1"/>
                </a:solidFill>
                <a:latin typeface="Courier New" panose="02070309020205020404" pitchFamily="49" charset="0"/>
                <a:cs typeface="Courier New" panose="02070309020205020404" pitchFamily="49" charset="0"/>
              </a:rPr>
              <a:t>3</a:t>
            </a:r>
            <a:r>
              <a:rPr lang="de-DE" b="1" dirty="0">
                <a:solidFill>
                  <a:schemeClr val="tx1"/>
                </a:solidFill>
                <a:latin typeface="Courier New" panose="02070309020205020404" pitchFamily="49" charset="0"/>
                <a:cs typeface="Courier New" panose="02070309020205020404" pitchFamily="49" charset="0"/>
              </a:rPr>
              <a:t>, 1),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a:t>
            </a:r>
            <a:r>
              <a:rPr lang="de-DE" b="1" dirty="0" err="1">
                <a:solidFill>
                  <a:schemeClr val="tx1"/>
                </a:solidFill>
                <a:latin typeface="Courier New" panose="02070309020205020404" pitchFamily="49" charset="0"/>
                <a:cs typeface="Courier New" panose="02070309020205020404" pitchFamily="49" charset="0"/>
              </a:rPr>
              <a:t>Intercept</a:t>
            </a:r>
            <a:r>
              <a:rPr lang="de-DE" b="1" dirty="0">
                <a:solidFill>
                  <a:schemeClr val="tx1"/>
                </a:solidFill>
                <a:latin typeface="Courier New" panose="02070309020205020404" pitchFamily="49" charset="0"/>
                <a:cs typeface="Courier New" panose="02070309020205020404" pitchFamily="49" charset="0"/>
              </a:rPr>
              <a:t>),</a:t>
            </a:r>
            <a:endParaRPr lang="en-SE" b="1" dirty="0">
              <a:solidFill>
                <a:schemeClr val="tx1"/>
              </a:solidFill>
              <a:latin typeface="Courier New" panose="02070309020205020404" pitchFamily="49" charset="0"/>
              <a:cs typeface="Courier New" panose="02070309020205020404" pitchFamily="49" charset="0"/>
            </a:endParaRP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(normal(0, </a:t>
            </a:r>
            <a:r>
              <a:rPr lang="en-SE" b="1" dirty="0">
                <a:solidFill>
                  <a:schemeClr val="tx1"/>
                </a:solidFill>
                <a:latin typeface="Courier New" panose="02070309020205020404" pitchFamily="49" charset="0"/>
                <a:cs typeface="Courier New" panose="02070309020205020404" pitchFamily="49" charset="0"/>
              </a:rPr>
              <a:t>0.5</a:t>
            </a:r>
            <a:r>
              <a:rPr lang="de-D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b)</a:t>
            </a:r>
            <a:r>
              <a:rPr lang="en-SE" b="1" dirty="0">
                <a:solidFill>
                  <a:schemeClr val="tx1"/>
                </a:solidFill>
                <a:latin typeface="Courier New" panose="02070309020205020404" pitchFamily="49" charset="0"/>
                <a:cs typeface="Courier New" panose="02070309020205020404" pitchFamily="49" charset="0"/>
              </a:rPr>
              <a:t>,</a:t>
            </a:r>
          </a:p>
          <a:p>
            <a:r>
              <a:rPr lang="en-S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prior</a:t>
            </a:r>
            <a:r>
              <a:rPr lang="de-DE" b="1" dirty="0">
                <a:solidFill>
                  <a:schemeClr val="tx1"/>
                </a:solidFill>
                <a:latin typeface="Courier New" panose="02070309020205020404" pitchFamily="49" charset="0"/>
                <a:cs typeface="Courier New" panose="02070309020205020404" pitchFamily="49" charset="0"/>
              </a:rPr>
              <a:t>(</a:t>
            </a:r>
            <a:r>
              <a:rPr lang="en-SE" b="1" dirty="0">
                <a:solidFill>
                  <a:schemeClr val="tx1"/>
                </a:solidFill>
                <a:latin typeface="Courier New" panose="02070309020205020404" pitchFamily="49" charset="0"/>
                <a:cs typeface="Courier New" panose="02070309020205020404" pitchFamily="49" charset="0"/>
              </a:rPr>
              <a:t>exp</a:t>
            </a:r>
            <a:r>
              <a:rPr lang="de-DE" b="1" dirty="0">
                <a:solidFill>
                  <a:schemeClr val="tx1"/>
                </a:solidFill>
                <a:latin typeface="Courier New" panose="02070309020205020404" pitchFamily="49" charset="0"/>
                <a:cs typeface="Courier New" panose="02070309020205020404" pitchFamily="49" charset="0"/>
              </a:rPr>
              <a:t>(</a:t>
            </a:r>
            <a:r>
              <a:rPr lang="en-SE" b="1" dirty="0">
                <a:solidFill>
                  <a:schemeClr val="tx1"/>
                </a:solidFill>
                <a:latin typeface="Courier New" panose="02070309020205020404" pitchFamily="49" charset="0"/>
                <a:cs typeface="Courier New" panose="02070309020205020404" pitchFamily="49" charset="0"/>
              </a:rPr>
              <a:t>1</a:t>
            </a:r>
            <a:r>
              <a:rPr lang="de-DE" b="1" dirty="0">
                <a:solidFill>
                  <a:schemeClr val="tx1"/>
                </a:solidFill>
                <a:latin typeface="Courier New" panose="02070309020205020404" pitchFamily="49" charset="0"/>
                <a:cs typeface="Courier New" panose="02070309020205020404" pitchFamily="49" charset="0"/>
              </a:rPr>
              <a:t>), </a:t>
            </a:r>
            <a:r>
              <a:rPr lang="de-DE" b="1" dirty="0" err="1">
                <a:solidFill>
                  <a:schemeClr val="tx1"/>
                </a:solidFill>
                <a:latin typeface="Courier New" panose="02070309020205020404" pitchFamily="49" charset="0"/>
                <a:cs typeface="Courier New" panose="02070309020205020404" pitchFamily="49" charset="0"/>
              </a:rPr>
              <a:t>class</a:t>
            </a:r>
            <a:r>
              <a:rPr lang="de-DE" b="1" dirty="0">
                <a:solidFill>
                  <a:schemeClr val="tx1"/>
                </a:solidFill>
                <a:latin typeface="Courier New" panose="02070309020205020404" pitchFamily="49" charset="0"/>
                <a:cs typeface="Courier New" panose="02070309020205020404" pitchFamily="49" charset="0"/>
              </a:rPr>
              <a:t> = </a:t>
            </a:r>
            <a:r>
              <a:rPr lang="en-SE" b="1" dirty="0">
                <a:solidFill>
                  <a:schemeClr val="tx1"/>
                </a:solidFill>
                <a:latin typeface="Courier New" panose="02070309020205020404" pitchFamily="49" charset="0"/>
                <a:cs typeface="Courier New" panose="02070309020205020404" pitchFamily="49" charset="0"/>
              </a:rPr>
              <a:t>sigma</a:t>
            </a:r>
            <a:r>
              <a:rPr lang="de-DE" b="1" dirty="0">
                <a:solidFill>
                  <a:schemeClr val="tx1"/>
                </a:solidFill>
                <a:latin typeface="Courier New" panose="02070309020205020404" pitchFamily="49" charset="0"/>
                <a:cs typeface="Courier New" panose="02070309020205020404" pitchFamily="49" charset="0"/>
              </a:rPr>
              <a:t>))</a:t>
            </a:r>
            <a:endParaRPr lang="en-SE" b="1"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7" name="Rectangle 6">
            <a:extLst>
              <a:ext uri="{FF2B5EF4-FFF2-40B4-BE49-F238E27FC236}">
                <a16:creationId xmlns:a16="http://schemas.microsoft.com/office/drawing/2014/main" id="{4786D5EE-5A7F-E454-929B-B390E660B903}"/>
              </a:ext>
            </a:extLst>
          </p:cNvPr>
          <p:cNvSpPr/>
          <p:nvPr/>
        </p:nvSpPr>
        <p:spPr>
          <a:xfrm>
            <a:off x="5696372" y="2949394"/>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10" name="Graphic 9" descr="Robot with solid fill">
            <a:extLst>
              <a:ext uri="{FF2B5EF4-FFF2-40B4-BE49-F238E27FC236}">
                <a16:creationId xmlns:a16="http://schemas.microsoft.com/office/drawing/2014/main" id="{76DE9509-5944-615F-BAFC-9C8E60D6398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281676" y="3064349"/>
            <a:ext cx="360000" cy="360000"/>
          </a:xfrm>
          <a:prstGeom prst="rect">
            <a:avLst/>
          </a:prstGeom>
        </p:spPr>
      </p:pic>
    </p:spTree>
    <p:extLst>
      <p:ext uri="{BB962C8B-B14F-4D97-AF65-F5344CB8AC3E}">
        <p14:creationId xmlns:p14="http://schemas.microsoft.com/office/powerpoint/2010/main" val="21294827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C2D6920F-563A-73C1-1AC5-D86B6DBD4146}"/>
              </a:ext>
            </a:extLst>
          </p:cNvPr>
          <p:cNvSpPr>
            <a:spLocks noGrp="1"/>
          </p:cNvSpPr>
          <p:nvPr>
            <p:ph type="ftr" sz="quarter" idx="11"/>
          </p:nvPr>
        </p:nvSpPr>
        <p:spPr/>
        <p:txBody>
          <a:bodyPr/>
          <a:lstStyle/>
          <a:p>
            <a:r>
              <a:rPr lang="de-DE" dirty="0" err="1"/>
              <a:t>Bayesian</a:t>
            </a:r>
            <a:r>
              <a:rPr lang="de-DE" dirty="0"/>
              <a:t> Data Analysis Tutorial</a:t>
            </a:r>
            <a:endParaRPr lang="en-SE" dirty="0"/>
          </a:p>
        </p:txBody>
      </p:sp>
      <p:sp>
        <p:nvSpPr>
          <p:cNvPr id="20" name="TextBox 19">
            <a:extLst>
              <a:ext uri="{FF2B5EF4-FFF2-40B4-BE49-F238E27FC236}">
                <a16:creationId xmlns:a16="http://schemas.microsoft.com/office/drawing/2014/main" id="{AA1A9A82-DD64-BDD7-4651-D93F14FBA825}"/>
              </a:ext>
            </a:extLst>
          </p:cNvPr>
          <p:cNvSpPr txBox="1"/>
          <p:nvPr/>
        </p:nvSpPr>
        <p:spPr>
          <a:xfrm>
            <a:off x="5212402" y="4066432"/>
            <a:ext cx="1754712" cy="369332"/>
          </a:xfrm>
          <a:prstGeom prst="rect">
            <a:avLst/>
          </a:prstGeom>
          <a:noFill/>
        </p:spPr>
        <p:txBody>
          <a:bodyPr wrap="none" rtlCol="0">
            <a:spAutoFit/>
          </a:bodyPr>
          <a:lstStyle/>
          <a:p>
            <a:pPr algn="ctr"/>
            <a:r>
              <a:rPr lang="en-SE" dirty="0"/>
              <a:t>Bayesian Model</a:t>
            </a:r>
          </a:p>
        </p:txBody>
      </p:sp>
      <p:sp>
        <p:nvSpPr>
          <p:cNvPr id="53" name="Rectangle: Rounded Corners 52">
            <a:extLst>
              <a:ext uri="{FF2B5EF4-FFF2-40B4-BE49-F238E27FC236}">
                <a16:creationId xmlns:a16="http://schemas.microsoft.com/office/drawing/2014/main" id="{228CDFCD-9708-76D1-8610-87E133BFB958}"/>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p:sp>
        <p:nvSpPr>
          <p:cNvPr id="2" name="Title 1">
            <a:extLst>
              <a:ext uri="{FF2B5EF4-FFF2-40B4-BE49-F238E27FC236}">
                <a16:creationId xmlns:a16="http://schemas.microsoft.com/office/drawing/2014/main" id="{C24241B2-E9F1-FF3E-E72F-C1CE1D5F0B66}"/>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7E7B9D6F-299E-1CAA-DCF5-C40F91223B31}"/>
              </a:ext>
            </a:extLst>
          </p:cNvPr>
          <p:cNvSpPr>
            <a:spLocks noGrp="1"/>
          </p:cNvSpPr>
          <p:nvPr>
            <p:ph idx="1"/>
          </p:nvPr>
        </p:nvSpPr>
        <p:spPr>
          <a:xfrm>
            <a:off x="838200" y="1825625"/>
            <a:ext cx="10515600" cy="1325563"/>
          </a:xfrm>
        </p:spPr>
        <p:txBody>
          <a:bodyPr/>
          <a:lstStyle/>
          <a:p>
            <a:pPr marL="0" indent="0">
              <a:buNone/>
            </a:pPr>
            <a:r>
              <a:rPr lang="en-SE" dirty="0"/>
              <a:t>The actually observed data should be </a:t>
            </a:r>
            <a:r>
              <a:rPr lang="en-SE" b="1" dirty="0"/>
              <a:t>plausible</a:t>
            </a:r>
            <a:r>
              <a:rPr lang="en-SE" dirty="0"/>
              <a:t> given the prior probability distributions.  We can assess this via a </a:t>
            </a:r>
            <a:r>
              <a:rPr lang="en-SE" b="1" dirty="0"/>
              <a:t>prior predictive check</a:t>
            </a:r>
            <a:r>
              <a:rPr lang="en-SE" dirty="0"/>
              <a:t>.</a:t>
            </a:r>
          </a:p>
        </p:txBody>
      </p:sp>
      <p:sp>
        <p:nvSpPr>
          <p:cNvPr id="4" name="Date Placeholder 3">
            <a:extLst>
              <a:ext uri="{FF2B5EF4-FFF2-40B4-BE49-F238E27FC236}">
                <a16:creationId xmlns:a16="http://schemas.microsoft.com/office/drawing/2014/main" id="{93B9AB00-9454-9A92-C193-8D1846BD45D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222FA38-F405-05AD-A3EC-76FB788F89E8}"/>
              </a:ext>
            </a:extLst>
          </p:cNvPr>
          <p:cNvSpPr>
            <a:spLocks noGrp="1"/>
          </p:cNvSpPr>
          <p:nvPr>
            <p:ph type="sldNum" sz="quarter" idx="12"/>
          </p:nvPr>
        </p:nvSpPr>
        <p:spPr/>
        <p:txBody>
          <a:bodyPr/>
          <a:lstStyle/>
          <a:p>
            <a:fld id="{271ECC92-9CDE-4EB3-B1C5-F46B9E1FA3C1}" type="slidenum">
              <a:rPr lang="en-SE" smtClean="0"/>
              <a:t>50</a:t>
            </a:fld>
            <a:endParaRPr lang="en-SE" dirty="0"/>
          </a:p>
        </p:txBody>
      </p:sp>
      <p:pic>
        <p:nvPicPr>
          <p:cNvPr id="16" name="Graphic 15" descr="Database with solid fill">
            <a:extLst>
              <a:ext uri="{FF2B5EF4-FFF2-40B4-BE49-F238E27FC236}">
                <a16:creationId xmlns:a16="http://schemas.microsoft.com/office/drawing/2014/main" id="{6550367A-46BB-F89F-EC28-4AEF775A42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618" y="3154667"/>
            <a:ext cx="914400" cy="914400"/>
          </a:xfrm>
          <a:prstGeom prst="rect">
            <a:avLst/>
          </a:prstGeom>
        </p:spPr>
      </p:pic>
      <p:grpSp>
        <p:nvGrpSpPr>
          <p:cNvPr id="34" name="Group 33">
            <a:extLst>
              <a:ext uri="{FF2B5EF4-FFF2-40B4-BE49-F238E27FC236}">
                <a16:creationId xmlns:a16="http://schemas.microsoft.com/office/drawing/2014/main" id="{BA87A224-5BA2-EA55-32DC-1822357F341F}"/>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8CCDBF27-70FA-A7AB-A45C-15032FAB1EBE}"/>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A0C26A0A-0221-FD0E-1E52-738D682E7B0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1FBE98E6-ACD5-71D5-80AB-85E16940DC6C}"/>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0C864083-1502-AA1D-4EB0-DD22093F8C30}"/>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285015A6-2AD1-8DF9-B95D-C4AAAE7AB61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7F6BDB87-EF3D-B7E1-0936-4E3D80BCD70D}"/>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D96B0876-9E42-5EF1-1B41-B5F157E4CC0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94439D3E-B29F-1BC6-C17F-D60A04E1E308}"/>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CD86D27D-F898-7A05-824A-7DF47D2088F0}"/>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7E2DA005-2410-F372-13B6-9F757CB5C1B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E4B1D01B-196B-8B52-7C76-237ACBBB101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1B61EEFA-398F-B93D-A44E-7EDD2D8E3543}"/>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5DC38C0A-4D03-3568-6C9E-6F46187815A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C227F6D3-4D69-CD29-32BB-93AD25FDF0DD}"/>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2B75E30C-677C-2FA4-ED57-F60CDE22A872}"/>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ACDE55C2-13AF-66C3-D3E7-FC21AF90428D}"/>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C5F7FE8E-9019-F660-A365-57A20B740D45}"/>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0C90A370-5E29-C0D0-347F-910CDA7CE1C7}"/>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10" name="Graphic 9" descr="Robot with solid fill">
            <a:extLst>
              <a:ext uri="{FF2B5EF4-FFF2-40B4-BE49-F238E27FC236}">
                <a16:creationId xmlns:a16="http://schemas.microsoft.com/office/drawing/2014/main" id="{7EF211F0-02A5-3E5B-D835-1BAC1FE8CB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38800" y="3154667"/>
            <a:ext cx="914400" cy="914400"/>
          </a:xfrm>
          <a:prstGeom prst="rect">
            <a:avLst/>
          </a:prstGeom>
        </p:spPr>
      </p:pic>
      <p:pic>
        <p:nvPicPr>
          <p:cNvPr id="15" name="Graphic 14" descr="Bar chart with solid fill">
            <a:extLst>
              <a:ext uri="{FF2B5EF4-FFF2-40B4-BE49-F238E27FC236}">
                <a16:creationId xmlns:a16="http://schemas.microsoft.com/office/drawing/2014/main" id="{03E60791-2D86-DB38-F0E3-5EC4F16CF20B}"/>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154667"/>
            <a:ext cx="914400" cy="914400"/>
          </a:xfrm>
          <a:prstGeom prst="rect">
            <a:avLst/>
          </a:prstGeom>
        </p:spPr>
      </p:pic>
      <p:sp>
        <p:nvSpPr>
          <p:cNvPr id="18" name="TextBox 17">
            <a:extLst>
              <a:ext uri="{FF2B5EF4-FFF2-40B4-BE49-F238E27FC236}">
                <a16:creationId xmlns:a16="http://schemas.microsoft.com/office/drawing/2014/main" id="{9410C7D2-5847-0282-D75A-11FCE5C948C1}"/>
              </a:ext>
            </a:extLst>
          </p:cNvPr>
          <p:cNvSpPr txBox="1"/>
          <p:nvPr/>
        </p:nvSpPr>
        <p:spPr>
          <a:xfrm>
            <a:off x="1797856" y="4040899"/>
            <a:ext cx="1683923" cy="369332"/>
          </a:xfrm>
          <a:prstGeom prst="rect">
            <a:avLst/>
          </a:prstGeom>
          <a:noFill/>
        </p:spPr>
        <p:txBody>
          <a:bodyPr wrap="none" rtlCol="0">
            <a:spAutoFit/>
          </a:bodyPr>
          <a:lstStyle/>
          <a:p>
            <a:pPr algn="ctr"/>
            <a:r>
              <a:rPr lang="en-SE" dirty="0"/>
              <a:t>Collected Data</a:t>
            </a:r>
          </a:p>
        </p:txBody>
      </p:sp>
      <p:sp>
        <p:nvSpPr>
          <p:cNvPr id="22" name="TextBox 21">
            <a:extLst>
              <a:ext uri="{FF2B5EF4-FFF2-40B4-BE49-F238E27FC236}">
                <a16:creationId xmlns:a16="http://schemas.microsoft.com/office/drawing/2014/main" id="{50B2D32E-B436-38DE-0DE3-1B8A53ADBB20}"/>
              </a:ext>
            </a:extLst>
          </p:cNvPr>
          <p:cNvSpPr txBox="1"/>
          <p:nvPr/>
        </p:nvSpPr>
        <p:spPr>
          <a:xfrm>
            <a:off x="8365932" y="4040899"/>
            <a:ext cx="2372509" cy="369332"/>
          </a:xfrm>
          <a:prstGeom prst="rect">
            <a:avLst/>
          </a:prstGeom>
          <a:noFill/>
        </p:spPr>
        <p:txBody>
          <a:bodyPr wrap="none" rtlCol="0">
            <a:spAutoFit/>
          </a:bodyPr>
          <a:lstStyle/>
          <a:p>
            <a:pPr algn="ctr"/>
            <a:r>
              <a:rPr lang="en-SE" dirty="0"/>
              <a:t>Prior Predictive Check</a:t>
            </a:r>
          </a:p>
        </p:txBody>
      </p:sp>
      <p:cxnSp>
        <p:nvCxnSpPr>
          <p:cNvPr id="24" name="Straight Arrow Connector 23">
            <a:extLst>
              <a:ext uri="{FF2B5EF4-FFF2-40B4-BE49-F238E27FC236}">
                <a16:creationId xmlns:a16="http://schemas.microsoft.com/office/drawing/2014/main" id="{60CCD1F8-023D-3585-3DD0-D88E659EA7A9}"/>
              </a:ext>
            </a:extLst>
          </p:cNvPr>
          <p:cNvCxnSpPr>
            <a:cxnSpLocks/>
            <a:stCxn id="16" idx="3"/>
            <a:endCxn id="10" idx="1"/>
          </p:cNvCxnSpPr>
          <p:nvPr/>
        </p:nvCxnSpPr>
        <p:spPr>
          <a:xfrm>
            <a:off x="3097018"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6F48ED93-4E19-749D-C189-8B77CABD423D}"/>
              </a:ext>
            </a:extLst>
          </p:cNvPr>
          <p:cNvCxnSpPr>
            <a:cxnSpLocks/>
            <a:stCxn id="10" idx="3"/>
            <a:endCxn id="15" idx="1"/>
          </p:cNvCxnSpPr>
          <p:nvPr/>
        </p:nvCxnSpPr>
        <p:spPr>
          <a:xfrm>
            <a:off x="6553200"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0" name="Table 29">
            <a:extLst>
              <a:ext uri="{FF2B5EF4-FFF2-40B4-BE49-F238E27FC236}">
                <a16:creationId xmlns:a16="http://schemas.microsoft.com/office/drawing/2014/main" id="{25A70B87-FCBF-3380-BB4D-714BB73A5C71}"/>
              </a:ext>
            </a:extLst>
          </p:cNvPr>
          <p:cNvGraphicFramePr>
            <a:graphicFrameLocks noGrp="1"/>
          </p:cNvGraphicFramePr>
          <p:nvPr>
            <p:extLst>
              <p:ext uri="{D42A27DB-BD31-4B8C-83A1-F6EECF244321}">
                <p14:modId xmlns:p14="http://schemas.microsoft.com/office/powerpoint/2010/main" val="1710651356"/>
              </p:ext>
            </p:extLst>
          </p:nvPr>
        </p:nvGraphicFramePr>
        <p:xfrm>
          <a:off x="1358727" y="4464859"/>
          <a:ext cx="2534907" cy="1524000"/>
        </p:xfrm>
        <a:graphic>
          <a:graphicData uri="http://schemas.openxmlformats.org/drawingml/2006/table">
            <a:tbl>
              <a:tblPr firstRow="1" bandRow="1">
                <a:tableStyleId>{00A15C55-8517-42AA-B614-E9B94910E393}</a:tableStyleId>
              </a:tblPr>
              <a:tblGrid>
                <a:gridCol w="844969">
                  <a:extLst>
                    <a:ext uri="{9D8B030D-6E8A-4147-A177-3AD203B41FA5}">
                      <a16:colId xmlns:a16="http://schemas.microsoft.com/office/drawing/2014/main" val="453030250"/>
                    </a:ext>
                  </a:extLst>
                </a:gridCol>
                <a:gridCol w="844969">
                  <a:extLst>
                    <a:ext uri="{9D8B030D-6E8A-4147-A177-3AD203B41FA5}">
                      <a16:colId xmlns:a16="http://schemas.microsoft.com/office/drawing/2014/main" val="1779535849"/>
                    </a:ext>
                  </a:extLst>
                </a:gridCol>
                <a:gridCol w="844969">
                  <a:extLst>
                    <a:ext uri="{9D8B030D-6E8A-4147-A177-3AD203B41FA5}">
                      <a16:colId xmlns:a16="http://schemas.microsoft.com/office/drawing/2014/main" val="528605536"/>
                    </a:ext>
                  </a:extLst>
                </a:gridCol>
              </a:tblGrid>
              <a:tr h="289662">
                <a:tc>
                  <a:txBody>
                    <a:bodyPr/>
                    <a:lstStyle/>
                    <a:p>
                      <a:r>
                        <a:rPr lang="en-SE" sz="1400" dirty="0"/>
                        <a:t>x</a:t>
                      </a:r>
                    </a:p>
                  </a:txBody>
                  <a:tcPr/>
                </a:tc>
                <a:tc>
                  <a:txBody>
                    <a:bodyPr/>
                    <a:lstStyle/>
                    <a:p>
                      <a:r>
                        <a:rPr lang="en-SE" sz="1400" dirty="0"/>
                        <a:t>z</a:t>
                      </a:r>
                    </a:p>
                  </a:txBody>
                  <a:tcPr/>
                </a:tc>
                <a:tc>
                  <a:txBody>
                    <a:bodyPr/>
                    <a:lstStyle/>
                    <a:p>
                      <a:r>
                        <a:rPr lang="en-SE" sz="1400" dirty="0"/>
                        <a:t>y</a:t>
                      </a:r>
                    </a:p>
                  </a:txBody>
                  <a:tcPr/>
                </a:tc>
                <a:extLst>
                  <a:ext uri="{0D108BD9-81ED-4DB2-BD59-A6C34878D82A}">
                    <a16:rowId xmlns:a16="http://schemas.microsoft.com/office/drawing/2014/main" val="4231852891"/>
                  </a:ext>
                </a:extLst>
              </a:tr>
              <a:tr h="289662">
                <a:tc>
                  <a:txBody>
                    <a:bodyPr/>
                    <a:lstStyle/>
                    <a:p>
                      <a:pPr algn="r"/>
                      <a:r>
                        <a:rPr lang="en-SE" sz="1400" b="1" dirty="0"/>
                        <a:t>-0.63</a:t>
                      </a:r>
                    </a:p>
                  </a:txBody>
                  <a:tcPr/>
                </a:tc>
                <a:tc>
                  <a:txBody>
                    <a:bodyPr/>
                    <a:lstStyle/>
                    <a:p>
                      <a:pPr algn="r"/>
                      <a:r>
                        <a:rPr lang="en-SE" sz="1400" b="1" dirty="0"/>
                        <a:t>0.95</a:t>
                      </a:r>
                    </a:p>
                  </a:txBody>
                  <a:tcPr/>
                </a:tc>
                <a:tc>
                  <a:txBody>
                    <a:bodyPr/>
                    <a:lstStyle/>
                    <a:p>
                      <a:pPr algn="r"/>
                      <a:r>
                        <a:rPr lang="en-SE" sz="1400" b="1" dirty="0"/>
                        <a:t>3.35</a:t>
                      </a:r>
                    </a:p>
                  </a:txBody>
                  <a:tcPr/>
                </a:tc>
                <a:extLst>
                  <a:ext uri="{0D108BD9-81ED-4DB2-BD59-A6C34878D82A}">
                    <a16:rowId xmlns:a16="http://schemas.microsoft.com/office/drawing/2014/main" val="2645506403"/>
                  </a:ext>
                </a:extLst>
              </a:tr>
              <a:tr h="289662">
                <a:tc>
                  <a:txBody>
                    <a:bodyPr/>
                    <a:lstStyle/>
                    <a:p>
                      <a:pPr algn="r"/>
                      <a:r>
                        <a:rPr lang="en-SE" sz="1400" dirty="0"/>
                        <a:t>0.24</a:t>
                      </a:r>
                    </a:p>
                  </a:txBody>
                  <a:tcPr/>
                </a:tc>
                <a:tc>
                  <a:txBody>
                    <a:bodyPr/>
                    <a:lstStyle/>
                    <a:p>
                      <a:pPr algn="r"/>
                      <a:r>
                        <a:rPr lang="en-SE" sz="1400" dirty="0"/>
                        <a:t>1.00</a:t>
                      </a:r>
                    </a:p>
                  </a:txBody>
                  <a:tcPr/>
                </a:tc>
                <a:tc>
                  <a:txBody>
                    <a:bodyPr/>
                    <a:lstStyle/>
                    <a:p>
                      <a:pPr algn="r"/>
                      <a:r>
                        <a:rPr lang="en-SE" sz="1400" dirty="0"/>
                        <a:t>4.00</a:t>
                      </a:r>
                    </a:p>
                  </a:txBody>
                  <a:tcPr/>
                </a:tc>
                <a:extLst>
                  <a:ext uri="{0D108BD9-81ED-4DB2-BD59-A6C34878D82A}">
                    <a16:rowId xmlns:a16="http://schemas.microsoft.com/office/drawing/2014/main" val="28183331"/>
                  </a:ext>
                </a:extLst>
              </a:tr>
              <a:tr h="289662">
                <a:tc>
                  <a:txBody>
                    <a:bodyPr/>
                    <a:lstStyle/>
                    <a:p>
                      <a:pPr algn="r"/>
                      <a:r>
                        <a:rPr lang="en-SE" sz="1400" dirty="0"/>
                        <a:t>-1.06</a:t>
                      </a:r>
                    </a:p>
                  </a:txBody>
                  <a:tcPr/>
                </a:tc>
                <a:tc>
                  <a:txBody>
                    <a:bodyPr/>
                    <a:lstStyle/>
                    <a:p>
                      <a:pPr algn="r"/>
                      <a:r>
                        <a:rPr lang="en-SE" sz="1400" dirty="0"/>
                        <a:t>-0.28</a:t>
                      </a:r>
                    </a:p>
                  </a:txBody>
                  <a:tcPr/>
                </a:tc>
                <a:tc>
                  <a:txBody>
                    <a:bodyPr/>
                    <a:lstStyle/>
                    <a:p>
                      <a:pPr algn="r"/>
                      <a:r>
                        <a:rPr lang="en-SE" sz="1400" dirty="0"/>
                        <a:t>2.78</a:t>
                      </a:r>
                    </a:p>
                  </a:txBody>
                  <a:tcPr/>
                </a:tc>
                <a:extLst>
                  <a:ext uri="{0D108BD9-81ED-4DB2-BD59-A6C34878D82A}">
                    <a16:rowId xmlns:a16="http://schemas.microsoft.com/office/drawing/2014/main" val="3889692607"/>
                  </a:ext>
                </a:extLst>
              </a:tr>
              <a:tr h="289662">
                <a:tc>
                  <a:txBody>
                    <a:bodyPr/>
                    <a:lstStyle/>
                    <a:p>
                      <a:pPr algn="r"/>
                      <a:r>
                        <a:rPr lang="en-SE" sz="1400" dirty="0"/>
                        <a:t>...</a:t>
                      </a:r>
                    </a:p>
                  </a:txBody>
                  <a:tcPr/>
                </a:tc>
                <a:tc>
                  <a:txBody>
                    <a:bodyPr/>
                    <a:lstStyle/>
                    <a:p>
                      <a:pPr algn="r"/>
                      <a:r>
                        <a:rPr lang="en-SE" sz="1400" dirty="0"/>
                        <a:t>...</a:t>
                      </a:r>
                    </a:p>
                  </a:txBody>
                  <a:tcPr/>
                </a:tc>
                <a:tc>
                  <a:txBody>
                    <a:bodyPr/>
                    <a:lstStyle/>
                    <a:p>
                      <a:pPr algn="r"/>
                      <a:r>
                        <a:rPr lang="en-SE" sz="1400" dirty="0"/>
                        <a:t>...</a:t>
                      </a:r>
                    </a:p>
                  </a:txBody>
                  <a:tcPr/>
                </a:tc>
                <a:extLst>
                  <a:ext uri="{0D108BD9-81ED-4DB2-BD59-A6C34878D82A}">
                    <a16:rowId xmlns:a16="http://schemas.microsoft.com/office/drawing/2014/main" val="172891185"/>
                  </a:ext>
                </a:extLst>
              </a:tr>
            </a:tbl>
          </a:graphicData>
        </a:graphic>
      </p:graphicFrame>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56D50E-5057-9CBE-6073-666D71B5214F}"/>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xmlns="">
          <p:sp>
            <p:nvSpPr>
              <p:cNvPr id="55" name="TextBox 54">
                <a:extLst>
                  <a:ext uri="{FF2B5EF4-FFF2-40B4-BE49-F238E27FC236}">
                    <a16:creationId xmlns:a16="http://schemas.microsoft.com/office/drawing/2014/main" id="{5256D50E-5057-9CBE-6073-666D71B5214F}"/>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0"/>
                <a:stretch>
                  <a:fillRect l="-4663" t="-4444" r="-6736"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83B345C5-BE4F-E9C8-9C5C-042C902F0D54}"/>
                  </a:ext>
                </a:extLst>
              </p:cNvPr>
              <p:cNvSpPr txBox="1"/>
              <p:nvPr/>
            </p:nvSpPr>
            <p:spPr>
              <a:xfrm>
                <a:off x="4685494" y="4956544"/>
                <a:ext cx="34146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𝟔𝟑</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𝟗𝟓</m:t>
                      </m:r>
                    </m:oMath>
                  </m:oMathPara>
                </a14:m>
                <a:endParaRPr lang="en-SE" b="1" dirty="0"/>
              </a:p>
            </p:txBody>
          </p:sp>
        </mc:Choice>
        <mc:Fallback xmlns="">
          <p:sp>
            <p:nvSpPr>
              <p:cNvPr id="57" name="TextBox 56">
                <a:extLst>
                  <a:ext uri="{FF2B5EF4-FFF2-40B4-BE49-F238E27FC236}">
                    <a16:creationId xmlns:a16="http://schemas.microsoft.com/office/drawing/2014/main" id="{83B345C5-BE4F-E9C8-9C5C-042C902F0D54}"/>
                  </a:ext>
                </a:extLst>
              </p:cNvPr>
              <p:cNvSpPr txBox="1">
                <a:spLocks noRot="1" noChangeAspect="1" noMove="1" noResize="1" noEditPoints="1" noAdjustHandles="1" noChangeArrowheads="1" noChangeShapeType="1" noTextEdit="1"/>
              </p:cNvSpPr>
              <p:nvPr/>
            </p:nvSpPr>
            <p:spPr>
              <a:xfrm>
                <a:off x="4685494" y="4956544"/>
                <a:ext cx="3414653" cy="276999"/>
              </a:xfrm>
              <a:prstGeom prst="rect">
                <a:avLst/>
              </a:prstGeom>
              <a:blipFill>
                <a:blip r:embed="rId11"/>
                <a:stretch>
                  <a:fillRect l="-714" t="-2174" r="-893"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17975593-0D4C-B3EF-D940-772004A3EB5F}"/>
                  </a:ext>
                </a:extLst>
              </p:cNvPr>
              <p:cNvSpPr txBox="1"/>
              <p:nvPr/>
            </p:nvSpPr>
            <p:spPr>
              <a:xfrm>
                <a:off x="4714067" y="5270136"/>
                <a:ext cx="12246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𝛼</m:t>
                      </m:r>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(3, 1)</m:t>
                      </m:r>
                    </m:oMath>
                  </m:oMathPara>
                </a14:m>
                <a:endParaRPr lang="en-SE" dirty="0"/>
              </a:p>
            </p:txBody>
          </p:sp>
        </mc:Choice>
        <mc:Fallback xmlns="">
          <p:sp>
            <p:nvSpPr>
              <p:cNvPr id="59" name="TextBox 58">
                <a:extLst>
                  <a:ext uri="{FF2B5EF4-FFF2-40B4-BE49-F238E27FC236}">
                    <a16:creationId xmlns:a16="http://schemas.microsoft.com/office/drawing/2014/main" id="{17975593-0D4C-B3EF-D940-772004A3EB5F}"/>
                  </a:ext>
                </a:extLst>
              </p:cNvPr>
              <p:cNvSpPr txBox="1">
                <a:spLocks noRot="1" noChangeAspect="1" noMove="1" noResize="1" noEditPoints="1" noAdjustHandles="1" noChangeArrowheads="1" noChangeShapeType="1" noTextEdit="1"/>
              </p:cNvSpPr>
              <p:nvPr/>
            </p:nvSpPr>
            <p:spPr>
              <a:xfrm>
                <a:off x="4714067" y="5270136"/>
                <a:ext cx="1224694" cy="276999"/>
              </a:xfrm>
              <a:prstGeom prst="rect">
                <a:avLst/>
              </a:prstGeom>
              <a:blipFill>
                <a:blip r:embed="rId12"/>
                <a:stretch>
                  <a:fillRect l="-1493" t="-4444" r="-5473"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712C4DED-02AC-1FAC-2878-BD0E3BBD15AC}"/>
                  </a:ext>
                </a:extLst>
              </p:cNvPr>
              <p:cNvSpPr txBox="1"/>
              <p:nvPr/>
            </p:nvSpPr>
            <p:spPr>
              <a:xfrm>
                <a:off x="4623942" y="5583728"/>
                <a:ext cx="15153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𝑥</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61" name="TextBox 60">
                <a:extLst>
                  <a:ext uri="{FF2B5EF4-FFF2-40B4-BE49-F238E27FC236}">
                    <a16:creationId xmlns:a16="http://schemas.microsoft.com/office/drawing/2014/main" id="{712C4DED-02AC-1FAC-2878-BD0E3BBD15AC}"/>
                  </a:ext>
                </a:extLst>
              </p:cNvPr>
              <p:cNvSpPr txBox="1">
                <a:spLocks noRot="1" noChangeAspect="1" noMove="1" noResize="1" noEditPoints="1" noAdjustHandles="1" noChangeArrowheads="1" noChangeShapeType="1" noTextEdit="1"/>
              </p:cNvSpPr>
              <p:nvPr/>
            </p:nvSpPr>
            <p:spPr>
              <a:xfrm>
                <a:off x="4623942" y="5583728"/>
                <a:ext cx="1515351" cy="276999"/>
              </a:xfrm>
              <a:prstGeom prst="rect">
                <a:avLst/>
              </a:prstGeom>
              <a:blipFill>
                <a:blip r:embed="rId13"/>
                <a:stretch>
                  <a:fillRect l="-3629" t="-2222" r="-4032"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7089E068-5022-FFC9-94F1-C10A11BD90DC}"/>
                  </a:ext>
                </a:extLst>
              </p:cNvPr>
              <p:cNvSpPr txBox="1"/>
              <p:nvPr/>
            </p:nvSpPr>
            <p:spPr>
              <a:xfrm>
                <a:off x="4651192" y="5897320"/>
                <a:ext cx="145334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𝑧</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xmlns="">
          <p:sp>
            <p:nvSpPr>
              <p:cNvPr id="63" name="TextBox 62">
                <a:extLst>
                  <a:ext uri="{FF2B5EF4-FFF2-40B4-BE49-F238E27FC236}">
                    <a16:creationId xmlns:a16="http://schemas.microsoft.com/office/drawing/2014/main" id="{7089E068-5022-FFC9-94F1-C10A11BD90DC}"/>
                  </a:ext>
                </a:extLst>
              </p:cNvPr>
              <p:cNvSpPr txBox="1">
                <a:spLocks noRot="1" noChangeAspect="1" noMove="1" noResize="1" noEditPoints="1" noAdjustHandles="1" noChangeArrowheads="1" noChangeShapeType="1" noTextEdit="1"/>
              </p:cNvSpPr>
              <p:nvPr/>
            </p:nvSpPr>
            <p:spPr>
              <a:xfrm>
                <a:off x="4651192" y="5897320"/>
                <a:ext cx="1453347" cy="276999"/>
              </a:xfrm>
              <a:prstGeom prst="rect">
                <a:avLst/>
              </a:prstGeom>
              <a:blipFill>
                <a:blip r:embed="rId14"/>
                <a:stretch>
                  <a:fillRect l="-5462" t="-2174" r="-5882"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E5FC46D6-F08B-7719-A74D-FBC05355713C}"/>
                  </a:ext>
                </a:extLst>
              </p:cNvPr>
              <p:cNvSpPr txBox="1"/>
              <p:nvPr/>
            </p:nvSpPr>
            <p:spPr>
              <a:xfrm>
                <a:off x="4720479" y="6210912"/>
                <a:ext cx="11690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𝜎</m:t>
                      </m:r>
                      <m:r>
                        <a:rPr lang="en-SE" i="1" smtClean="0">
                          <a:latin typeface="Cambria Math" panose="02040503050406030204" pitchFamily="18" charset="0"/>
                        </a:rPr>
                        <m:t>∼</m:t>
                      </m:r>
                      <m:r>
                        <a:rPr lang="en-SE" i="1" smtClean="0">
                          <a:latin typeface="Cambria Math" panose="02040503050406030204" pitchFamily="18" charset="0"/>
                        </a:rPr>
                        <m:t>𝑒𝑥𝑝</m:t>
                      </m:r>
                      <m:r>
                        <a:rPr lang="en-SE" i="1" smtClean="0">
                          <a:latin typeface="Cambria Math" panose="02040503050406030204" pitchFamily="18" charset="0"/>
                        </a:rPr>
                        <m:t>(1)</m:t>
                      </m:r>
                    </m:oMath>
                  </m:oMathPara>
                </a14:m>
                <a:endParaRPr lang="en-SE" dirty="0"/>
              </a:p>
            </p:txBody>
          </p:sp>
        </mc:Choice>
        <mc:Fallback xmlns="">
          <p:sp>
            <p:nvSpPr>
              <p:cNvPr id="65" name="TextBox 64">
                <a:extLst>
                  <a:ext uri="{FF2B5EF4-FFF2-40B4-BE49-F238E27FC236}">
                    <a16:creationId xmlns:a16="http://schemas.microsoft.com/office/drawing/2014/main" id="{E5FC46D6-F08B-7719-A74D-FBC05355713C}"/>
                  </a:ext>
                </a:extLst>
              </p:cNvPr>
              <p:cNvSpPr txBox="1">
                <a:spLocks noRot="1" noChangeAspect="1" noMove="1" noResize="1" noEditPoints="1" noAdjustHandles="1" noChangeArrowheads="1" noChangeShapeType="1" noTextEdit="1"/>
              </p:cNvSpPr>
              <p:nvPr/>
            </p:nvSpPr>
            <p:spPr>
              <a:xfrm>
                <a:off x="4720479" y="6210912"/>
                <a:ext cx="1169038" cy="276999"/>
              </a:xfrm>
              <a:prstGeom prst="rect">
                <a:avLst/>
              </a:prstGeom>
              <a:blipFill>
                <a:blip r:embed="rId15"/>
                <a:stretch>
                  <a:fillRect l="-2604" t="-2222" r="-7292" b="-35556"/>
                </a:stretch>
              </a:blipFill>
            </p:spPr>
            <p:txBody>
              <a:bodyPr/>
              <a:lstStyle/>
              <a:p>
                <a:r>
                  <a:rPr lang="en-SE">
                    <a:noFill/>
                  </a:rPr>
                  <a:t> </a:t>
                </a:r>
              </a:p>
            </p:txBody>
          </p:sp>
        </mc:Fallback>
      </mc:AlternateContent>
      <p:pic>
        <p:nvPicPr>
          <p:cNvPr id="67" name="Graphic 66" descr="Robot with solid fill">
            <a:extLst>
              <a:ext uri="{FF2B5EF4-FFF2-40B4-BE49-F238E27FC236}">
                <a16:creationId xmlns:a16="http://schemas.microsoft.com/office/drawing/2014/main" id="{6E6D7D6F-1D83-338E-AC88-D0E658F0854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58370" y="4119905"/>
            <a:ext cx="360000" cy="360000"/>
          </a:xfrm>
          <a:prstGeom prst="rect">
            <a:avLst/>
          </a:prstGeom>
        </p:spPr>
      </p:pic>
      <p:pic>
        <p:nvPicPr>
          <p:cNvPr id="71" name="Picture 70">
            <a:extLst>
              <a:ext uri="{FF2B5EF4-FFF2-40B4-BE49-F238E27FC236}">
                <a16:creationId xmlns:a16="http://schemas.microsoft.com/office/drawing/2014/main" id="{24AA729B-086A-83D1-907D-7C3055F82678}"/>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8369737" y="4337241"/>
            <a:ext cx="3431028" cy="2055801"/>
          </a:xfrm>
          <a:prstGeom prst="rect">
            <a:avLst/>
          </a:prstGeom>
        </p:spPr>
      </p:pic>
    </p:spTree>
    <p:extLst>
      <p:ext uri="{BB962C8B-B14F-4D97-AF65-F5344CB8AC3E}">
        <p14:creationId xmlns:p14="http://schemas.microsoft.com/office/powerpoint/2010/main" val="3938972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6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53" grpId="0" animBg="1"/>
      <p:bldP spid="18" grpId="0"/>
      <p:bldP spid="22" grpId="0"/>
      <p:bldP spid="55" grpId="0"/>
      <p:bldP spid="57" grpId="0"/>
      <p:bldP spid="59" grpId="0"/>
      <p:bldP spid="61" grpId="0"/>
      <p:bldP spid="63" grpId="0"/>
      <p:bldP spid="6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290D0-7DBD-B291-DB1F-ECC0DA7FE7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15B02-856A-E1B1-BE49-3F0F4D5F8C2B}"/>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478AE0A4-442F-8C10-27B6-4DBBA3EF0659}"/>
              </a:ext>
            </a:extLst>
          </p:cNvPr>
          <p:cNvSpPr>
            <a:spLocks noGrp="1"/>
          </p:cNvSpPr>
          <p:nvPr>
            <p:ph idx="1"/>
          </p:nvPr>
        </p:nvSpPr>
        <p:spPr>
          <a:xfrm>
            <a:off x="838200" y="1825625"/>
            <a:ext cx="10515600" cy="1325563"/>
          </a:xfrm>
        </p:spPr>
        <p:txBody>
          <a:bodyPr/>
          <a:lstStyle/>
          <a:p>
            <a:pPr marL="0" indent="0">
              <a:buNone/>
            </a:pPr>
            <a:r>
              <a:rPr lang="en-SE" dirty="0"/>
              <a:t>The actually observed data should be </a:t>
            </a:r>
            <a:r>
              <a:rPr lang="en-SE" b="1" dirty="0"/>
              <a:t>plausible</a:t>
            </a:r>
            <a:r>
              <a:rPr lang="en-SE" dirty="0"/>
              <a:t> given the prior probability distributions.  We can assess this via a </a:t>
            </a:r>
            <a:r>
              <a:rPr lang="en-SE" b="1" dirty="0"/>
              <a:t>prior predictive check</a:t>
            </a:r>
            <a:r>
              <a:rPr lang="en-SE" dirty="0"/>
              <a:t>.</a:t>
            </a:r>
          </a:p>
        </p:txBody>
      </p:sp>
      <p:sp>
        <p:nvSpPr>
          <p:cNvPr id="4" name="Date Placeholder 3">
            <a:extLst>
              <a:ext uri="{FF2B5EF4-FFF2-40B4-BE49-F238E27FC236}">
                <a16:creationId xmlns:a16="http://schemas.microsoft.com/office/drawing/2014/main" id="{3D7D0212-005C-1B0E-FFB2-F07BA8830058}"/>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62FBCD9A-AB27-4F62-AED9-651BBAFCFFB5}"/>
              </a:ext>
            </a:extLst>
          </p:cNvPr>
          <p:cNvSpPr>
            <a:spLocks noGrp="1"/>
          </p:cNvSpPr>
          <p:nvPr>
            <p:ph type="sldNum" sz="quarter" idx="12"/>
          </p:nvPr>
        </p:nvSpPr>
        <p:spPr/>
        <p:txBody>
          <a:bodyPr/>
          <a:lstStyle/>
          <a:p>
            <a:fld id="{271ECC92-9CDE-4EB3-B1C5-F46B9E1FA3C1}" type="slidenum">
              <a:rPr lang="en-SE" smtClean="0"/>
              <a:t>51</a:t>
            </a:fld>
            <a:endParaRPr lang="en-SE" dirty="0"/>
          </a:p>
        </p:txBody>
      </p:sp>
      <p:sp>
        <p:nvSpPr>
          <p:cNvPr id="6" name="Footer Placeholder 5">
            <a:extLst>
              <a:ext uri="{FF2B5EF4-FFF2-40B4-BE49-F238E27FC236}">
                <a16:creationId xmlns:a16="http://schemas.microsoft.com/office/drawing/2014/main" id="{0BB089BD-FA56-F23F-8EA2-0426AB549B7C}"/>
              </a:ext>
            </a:extLst>
          </p:cNvPr>
          <p:cNvSpPr>
            <a:spLocks noGrp="1"/>
          </p:cNvSpPr>
          <p:nvPr>
            <p:ph type="ftr" sz="quarter" idx="11"/>
          </p:nvPr>
        </p:nvSpPr>
        <p:spPr/>
        <p:txBody>
          <a:bodyPr/>
          <a:lstStyle/>
          <a:p>
            <a:r>
              <a:rPr lang="de-DE"/>
              <a:t>Bayesian Data Analysis Tutorial</a:t>
            </a:r>
            <a:endParaRPr lang="en-SE"/>
          </a:p>
        </p:txBody>
      </p:sp>
      <p:grpSp>
        <p:nvGrpSpPr>
          <p:cNvPr id="34" name="Group 33">
            <a:extLst>
              <a:ext uri="{FF2B5EF4-FFF2-40B4-BE49-F238E27FC236}">
                <a16:creationId xmlns:a16="http://schemas.microsoft.com/office/drawing/2014/main" id="{2ABDD72E-B937-5F31-F95A-FE8BAD493DEA}"/>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004401BB-55FC-6AB8-BD35-F06E2DA5A35D}"/>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E0546AAB-C2F5-3601-3C26-9A507706DB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49D54AD5-FF0F-DD12-C0AA-502DAC426476}"/>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62D24E35-B254-D4C6-AACF-A514F3844C3F}"/>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7B4A4396-5877-5864-5F58-2342DA4D470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8EFF032D-2E4E-9E53-DCF8-BF18457D3E3A}"/>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AAE8B60A-4B88-3600-78FE-F3327C8A30F5}"/>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C06DF55E-72F3-4C2B-968B-04E343BBD7C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A06FDDE3-242C-666C-326E-EF5501844D26}"/>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31E7B407-0C28-2A36-B9CF-DF139DA618B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EDBFA1F1-8379-DD6F-6F11-72FCF04022A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9EF9E619-B6E7-044B-80BD-275BBB7F86B7}"/>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03603191-6140-6F06-F065-45ECAC14FCE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48FB7AF1-0733-41DC-F336-FDFB47EE1C4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24E52E16-DDEA-CDD4-43A4-96B4D7D0FEBF}"/>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0EEF3CE6-CD89-84E6-1488-7C30D2004EDB}"/>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AAA57F8C-6849-59BF-26EA-0EFDE042D798}"/>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C57389AE-F440-B947-5E5F-BF0831CE62DD}"/>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8" name="Rectangle 7">
            <a:extLst>
              <a:ext uri="{FF2B5EF4-FFF2-40B4-BE49-F238E27FC236}">
                <a16:creationId xmlns:a16="http://schemas.microsoft.com/office/drawing/2014/main" id="{F470CD92-9A30-5833-C20D-607AC48751F1}"/>
              </a:ext>
            </a:extLst>
          </p:cNvPr>
          <p:cNvSpPr/>
          <p:nvPr/>
        </p:nvSpPr>
        <p:spPr>
          <a:xfrm>
            <a:off x="3062456" y="3262665"/>
            <a:ext cx="6067087" cy="3074731"/>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3</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exp</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1</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en-SE" dirty="0">
                <a:solidFill>
                  <a:schemeClr val="tx1"/>
                </a:solidFill>
                <a:latin typeface="Courier New" panose="02070309020205020404" pitchFamily="49" charset="0"/>
                <a:cs typeface="Courier New" panose="02070309020205020404" pitchFamily="49" charset="0"/>
              </a:rPr>
              <a:t>sigma</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sample_prior</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only</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11" name="Rectangle 10">
            <a:extLst>
              <a:ext uri="{FF2B5EF4-FFF2-40B4-BE49-F238E27FC236}">
                <a16:creationId xmlns:a16="http://schemas.microsoft.com/office/drawing/2014/main" id="{DBA6FB1E-CDE4-CF54-47DC-3575A4243DA0}"/>
              </a:ext>
            </a:extLst>
          </p:cNvPr>
          <p:cNvSpPr/>
          <p:nvPr/>
        </p:nvSpPr>
        <p:spPr>
          <a:xfrm>
            <a:off x="3062456" y="2897541"/>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
        <p:nvSpPr>
          <p:cNvPr id="14" name="Rectangle 13">
            <a:extLst>
              <a:ext uri="{FF2B5EF4-FFF2-40B4-BE49-F238E27FC236}">
                <a16:creationId xmlns:a16="http://schemas.microsoft.com/office/drawing/2014/main" id="{41A8FD7C-529B-9169-D370-E534766E0979}"/>
              </a:ext>
            </a:extLst>
          </p:cNvPr>
          <p:cNvSpPr/>
          <p:nvPr/>
        </p:nvSpPr>
        <p:spPr>
          <a:xfrm>
            <a:off x="3386138" y="5519739"/>
            <a:ext cx="5319712" cy="509586"/>
          </a:xfrm>
          <a:prstGeom prst="rect">
            <a:avLst/>
          </a:prstGeom>
          <a:noFill/>
          <a:ln w="285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2" name="Rectangle 11">
            <a:extLst>
              <a:ext uri="{FF2B5EF4-FFF2-40B4-BE49-F238E27FC236}">
                <a16:creationId xmlns:a16="http://schemas.microsoft.com/office/drawing/2014/main" id="{2AAC976D-3EA0-BFE1-FD22-C76AA828AE0C}"/>
              </a:ext>
            </a:extLst>
          </p:cNvPr>
          <p:cNvSpPr/>
          <p:nvPr/>
        </p:nvSpPr>
        <p:spPr>
          <a:xfrm>
            <a:off x="3386138" y="5243513"/>
            <a:ext cx="3078162" cy="276226"/>
          </a:xfrm>
          <a:prstGeom prst="rect">
            <a:avLst/>
          </a:prstGeom>
          <a:noFill/>
          <a:ln w="28575">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17" name="TextBox 16">
            <a:extLst>
              <a:ext uri="{FF2B5EF4-FFF2-40B4-BE49-F238E27FC236}">
                <a16:creationId xmlns:a16="http://schemas.microsoft.com/office/drawing/2014/main" id="{2CAF6DC2-0B4E-9C4B-0BD6-014A3A8BF536}"/>
              </a:ext>
            </a:extLst>
          </p:cNvPr>
          <p:cNvSpPr txBox="1"/>
          <p:nvPr/>
        </p:nvSpPr>
        <p:spPr>
          <a:xfrm>
            <a:off x="838198" y="3720716"/>
            <a:ext cx="2170258" cy="923330"/>
          </a:xfrm>
          <a:prstGeom prst="rect">
            <a:avLst/>
          </a:prstGeom>
          <a:noFill/>
        </p:spPr>
        <p:txBody>
          <a:bodyPr wrap="square" rtlCol="0">
            <a:spAutoFit/>
          </a:bodyPr>
          <a:lstStyle/>
          <a:p>
            <a:r>
              <a:rPr lang="en-SE" dirty="0"/>
              <a:t>Force the model to sample from the priors directly</a:t>
            </a:r>
          </a:p>
        </p:txBody>
      </p:sp>
      <p:sp>
        <p:nvSpPr>
          <p:cNvPr id="21" name="TextBox 20">
            <a:extLst>
              <a:ext uri="{FF2B5EF4-FFF2-40B4-BE49-F238E27FC236}">
                <a16:creationId xmlns:a16="http://schemas.microsoft.com/office/drawing/2014/main" id="{436A82A0-C249-A138-519E-2B59E6F2BB15}"/>
              </a:ext>
            </a:extLst>
          </p:cNvPr>
          <p:cNvSpPr txBox="1"/>
          <p:nvPr/>
        </p:nvSpPr>
        <p:spPr>
          <a:xfrm>
            <a:off x="9183544" y="4130249"/>
            <a:ext cx="2170258" cy="1200329"/>
          </a:xfrm>
          <a:prstGeom prst="rect">
            <a:avLst/>
          </a:prstGeom>
          <a:noFill/>
        </p:spPr>
        <p:txBody>
          <a:bodyPr wrap="square" rtlCol="0">
            <a:spAutoFit/>
          </a:bodyPr>
          <a:lstStyle/>
          <a:p>
            <a:r>
              <a:rPr lang="en-SE" dirty="0"/>
              <a:t>Additional configuration of the model (not important here)</a:t>
            </a:r>
          </a:p>
        </p:txBody>
      </p:sp>
      <p:cxnSp>
        <p:nvCxnSpPr>
          <p:cNvPr id="25" name="Connector: Curved 24">
            <a:extLst>
              <a:ext uri="{FF2B5EF4-FFF2-40B4-BE49-F238E27FC236}">
                <a16:creationId xmlns:a16="http://schemas.microsoft.com/office/drawing/2014/main" id="{6A1259DE-850C-27C3-59B1-66CBEF13D054}"/>
              </a:ext>
            </a:extLst>
          </p:cNvPr>
          <p:cNvCxnSpPr>
            <a:stCxn id="17" idx="2"/>
            <a:endCxn id="12" idx="1"/>
          </p:cNvCxnSpPr>
          <p:nvPr/>
        </p:nvCxnSpPr>
        <p:spPr>
          <a:xfrm rot="16200000" flipH="1">
            <a:off x="2285942" y="4281430"/>
            <a:ext cx="737580" cy="1462811"/>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26" name="Connector: Curved 25">
            <a:extLst>
              <a:ext uri="{FF2B5EF4-FFF2-40B4-BE49-F238E27FC236}">
                <a16:creationId xmlns:a16="http://schemas.microsoft.com/office/drawing/2014/main" id="{9099FF6F-D409-7CAF-5A80-1C8E88132C21}"/>
              </a:ext>
            </a:extLst>
          </p:cNvPr>
          <p:cNvCxnSpPr>
            <a:cxnSpLocks/>
            <a:stCxn id="21" idx="2"/>
            <a:endCxn id="14" idx="3"/>
          </p:cNvCxnSpPr>
          <p:nvPr/>
        </p:nvCxnSpPr>
        <p:spPr>
          <a:xfrm rot="5400000">
            <a:off x="9265285" y="4771144"/>
            <a:ext cx="443954" cy="156282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6349536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2" grpId="0" animBg="1"/>
      <p:bldP spid="17" grpId="0"/>
      <p:bldP spid="2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04A2D-9033-B6C2-3C8D-894CED4116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6225BA-A78C-79CC-76A5-1D8844BF6344}"/>
              </a:ext>
            </a:extLst>
          </p:cNvPr>
          <p:cNvSpPr>
            <a:spLocks noGrp="1"/>
          </p:cNvSpPr>
          <p:nvPr>
            <p:ph type="title"/>
          </p:nvPr>
        </p:nvSpPr>
        <p:spPr/>
        <p:txBody>
          <a:bodyPr/>
          <a:lstStyle/>
          <a:p>
            <a:r>
              <a:rPr lang="en-SE" dirty="0"/>
              <a:t>Assessing Priors</a:t>
            </a:r>
          </a:p>
        </p:txBody>
      </p:sp>
      <p:sp>
        <p:nvSpPr>
          <p:cNvPr id="3" name="Content Placeholder 2">
            <a:extLst>
              <a:ext uri="{FF2B5EF4-FFF2-40B4-BE49-F238E27FC236}">
                <a16:creationId xmlns:a16="http://schemas.microsoft.com/office/drawing/2014/main" id="{CFBAD7DF-E669-537E-F183-F2DED6A76109}"/>
              </a:ext>
            </a:extLst>
          </p:cNvPr>
          <p:cNvSpPr>
            <a:spLocks noGrp="1"/>
          </p:cNvSpPr>
          <p:nvPr>
            <p:ph idx="1"/>
          </p:nvPr>
        </p:nvSpPr>
        <p:spPr>
          <a:xfrm>
            <a:off x="838200" y="1825625"/>
            <a:ext cx="10515600" cy="1325563"/>
          </a:xfrm>
        </p:spPr>
        <p:txBody>
          <a:bodyPr/>
          <a:lstStyle/>
          <a:p>
            <a:pPr marL="0" indent="0">
              <a:buNone/>
            </a:pPr>
            <a:r>
              <a:rPr lang="en-SE" dirty="0"/>
              <a:t>A successful prior probability check shows t</a:t>
            </a:r>
            <a:r>
              <a:rPr lang="de-DE" dirty="0"/>
              <a:t>ha</a:t>
            </a:r>
            <a:r>
              <a:rPr lang="en-SE" dirty="0"/>
              <a:t>t sampling from the priors yields data </a:t>
            </a:r>
            <a:r>
              <a:rPr lang="en-SE" b="1" dirty="0"/>
              <a:t>encompassing</a:t>
            </a:r>
            <a:r>
              <a:rPr lang="en-SE" dirty="0"/>
              <a:t> the actual data while </a:t>
            </a:r>
            <a:r>
              <a:rPr lang="en-SE" b="1" dirty="0"/>
              <a:t>leaving variance around it</a:t>
            </a:r>
            <a:r>
              <a:rPr lang="en-SE" dirty="0"/>
              <a:t>.</a:t>
            </a:r>
          </a:p>
        </p:txBody>
      </p:sp>
      <p:sp>
        <p:nvSpPr>
          <p:cNvPr id="4" name="Date Placeholder 3">
            <a:extLst>
              <a:ext uri="{FF2B5EF4-FFF2-40B4-BE49-F238E27FC236}">
                <a16:creationId xmlns:a16="http://schemas.microsoft.com/office/drawing/2014/main" id="{2B333C2D-8352-DD9F-6C4F-38E0D0FBF9B8}"/>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1450C94D-D7EA-845E-E5F0-597382593680}"/>
              </a:ext>
            </a:extLst>
          </p:cNvPr>
          <p:cNvSpPr>
            <a:spLocks noGrp="1"/>
          </p:cNvSpPr>
          <p:nvPr>
            <p:ph type="sldNum" sz="quarter" idx="12"/>
          </p:nvPr>
        </p:nvSpPr>
        <p:spPr/>
        <p:txBody>
          <a:bodyPr/>
          <a:lstStyle/>
          <a:p>
            <a:fld id="{271ECC92-9CDE-4EB3-B1C5-F46B9E1FA3C1}" type="slidenum">
              <a:rPr lang="en-SE" smtClean="0"/>
              <a:t>52</a:t>
            </a:fld>
            <a:endParaRPr lang="en-SE" dirty="0"/>
          </a:p>
        </p:txBody>
      </p:sp>
      <p:sp>
        <p:nvSpPr>
          <p:cNvPr id="6" name="Footer Placeholder 5">
            <a:extLst>
              <a:ext uri="{FF2B5EF4-FFF2-40B4-BE49-F238E27FC236}">
                <a16:creationId xmlns:a16="http://schemas.microsoft.com/office/drawing/2014/main" id="{DACDC725-CDE9-F2CA-877F-C4FCCF58CFEF}"/>
              </a:ext>
            </a:extLst>
          </p:cNvPr>
          <p:cNvSpPr>
            <a:spLocks noGrp="1"/>
          </p:cNvSpPr>
          <p:nvPr>
            <p:ph type="ftr" sz="quarter" idx="11"/>
          </p:nvPr>
        </p:nvSpPr>
        <p:spPr/>
        <p:txBody>
          <a:bodyPr/>
          <a:lstStyle/>
          <a:p>
            <a:r>
              <a:rPr lang="de-DE"/>
              <a:t>Bayesian Data Analysis Tutorial</a:t>
            </a:r>
            <a:endParaRPr lang="en-SE"/>
          </a:p>
        </p:txBody>
      </p:sp>
      <p:grpSp>
        <p:nvGrpSpPr>
          <p:cNvPr id="34" name="Group 33">
            <a:extLst>
              <a:ext uri="{FF2B5EF4-FFF2-40B4-BE49-F238E27FC236}">
                <a16:creationId xmlns:a16="http://schemas.microsoft.com/office/drawing/2014/main" id="{FD32E93B-BEFE-CD69-4F3D-50EFAC6C594C}"/>
              </a:ext>
            </a:extLst>
          </p:cNvPr>
          <p:cNvGrpSpPr/>
          <p:nvPr/>
        </p:nvGrpSpPr>
        <p:grpSpPr>
          <a:xfrm>
            <a:off x="203635" y="1825625"/>
            <a:ext cx="504000" cy="504000"/>
            <a:chOff x="977950" y="2729564"/>
            <a:chExt cx="504000" cy="504000"/>
          </a:xfrm>
        </p:grpSpPr>
        <p:sp>
          <p:nvSpPr>
            <p:cNvPr id="35" name="Oval 34">
              <a:extLst>
                <a:ext uri="{FF2B5EF4-FFF2-40B4-BE49-F238E27FC236}">
                  <a16:creationId xmlns:a16="http://schemas.microsoft.com/office/drawing/2014/main" id="{30A2BB5A-A65A-5E8E-4B61-5E672DC8124F}"/>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6" name="Graphic 35" descr="Golden Ratio with solid fill">
              <a:extLst>
                <a:ext uri="{FF2B5EF4-FFF2-40B4-BE49-F238E27FC236}">
                  <a16:creationId xmlns:a16="http://schemas.microsoft.com/office/drawing/2014/main" id="{93936079-5670-88A8-AF9F-2FDFCE5AF0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7" name="Group 36">
            <a:extLst>
              <a:ext uri="{FF2B5EF4-FFF2-40B4-BE49-F238E27FC236}">
                <a16:creationId xmlns:a16="http://schemas.microsoft.com/office/drawing/2014/main" id="{611DDDFF-D685-DC85-21E0-8796554B2683}"/>
              </a:ext>
            </a:extLst>
          </p:cNvPr>
          <p:cNvGrpSpPr/>
          <p:nvPr/>
        </p:nvGrpSpPr>
        <p:grpSpPr>
          <a:xfrm>
            <a:off x="203635" y="2439322"/>
            <a:ext cx="504000" cy="504000"/>
            <a:chOff x="977950" y="2729564"/>
            <a:chExt cx="504000" cy="504000"/>
          </a:xfrm>
        </p:grpSpPr>
        <p:sp>
          <p:nvSpPr>
            <p:cNvPr id="38" name="Oval 37">
              <a:extLst>
                <a:ext uri="{FF2B5EF4-FFF2-40B4-BE49-F238E27FC236}">
                  <a16:creationId xmlns:a16="http://schemas.microsoft.com/office/drawing/2014/main" id="{DD555C61-31EE-C951-6769-1A1C2348DDFC}"/>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Normal Distribution with solid fill">
              <a:extLst>
                <a:ext uri="{FF2B5EF4-FFF2-40B4-BE49-F238E27FC236}">
                  <a16:creationId xmlns:a16="http://schemas.microsoft.com/office/drawing/2014/main" id="{77FBA2FF-F562-0DFC-EFCE-9209DBE4ADB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40" name="Group 39">
            <a:extLst>
              <a:ext uri="{FF2B5EF4-FFF2-40B4-BE49-F238E27FC236}">
                <a16:creationId xmlns:a16="http://schemas.microsoft.com/office/drawing/2014/main" id="{514A355D-B87C-5CC2-54F1-6448C6D05041}"/>
              </a:ext>
            </a:extLst>
          </p:cNvPr>
          <p:cNvGrpSpPr/>
          <p:nvPr/>
        </p:nvGrpSpPr>
        <p:grpSpPr>
          <a:xfrm>
            <a:off x="203635" y="3053019"/>
            <a:ext cx="504000" cy="504000"/>
            <a:chOff x="977950" y="2729564"/>
            <a:chExt cx="504000" cy="504000"/>
          </a:xfrm>
        </p:grpSpPr>
        <p:sp>
          <p:nvSpPr>
            <p:cNvPr id="41" name="Oval 40">
              <a:extLst>
                <a:ext uri="{FF2B5EF4-FFF2-40B4-BE49-F238E27FC236}">
                  <a16:creationId xmlns:a16="http://schemas.microsoft.com/office/drawing/2014/main" id="{CE77FDE2-D87B-7672-ED15-EEC292B41C7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Abacus with solid fill">
              <a:extLst>
                <a:ext uri="{FF2B5EF4-FFF2-40B4-BE49-F238E27FC236}">
                  <a16:creationId xmlns:a16="http://schemas.microsoft.com/office/drawing/2014/main" id="{B8888E28-714B-CABB-E9C9-EA28C7FD6E8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F8DF6653-29A5-CC73-775C-35F8599F1C4C}"/>
              </a:ext>
            </a:extLst>
          </p:cNvPr>
          <p:cNvGrpSpPr/>
          <p:nvPr/>
        </p:nvGrpSpPr>
        <p:grpSpPr>
          <a:xfrm>
            <a:off x="203635" y="3666716"/>
            <a:ext cx="504000" cy="504000"/>
            <a:chOff x="977950" y="2729564"/>
            <a:chExt cx="504000" cy="504000"/>
          </a:xfrm>
        </p:grpSpPr>
        <p:sp>
          <p:nvSpPr>
            <p:cNvPr id="44" name="Oval 43">
              <a:extLst>
                <a:ext uri="{FF2B5EF4-FFF2-40B4-BE49-F238E27FC236}">
                  <a16:creationId xmlns:a16="http://schemas.microsoft.com/office/drawing/2014/main" id="{736E5E1D-FF80-B8D3-930D-C906361D97C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Trigonometry with solid fill">
              <a:extLst>
                <a:ext uri="{FF2B5EF4-FFF2-40B4-BE49-F238E27FC236}">
                  <a16:creationId xmlns:a16="http://schemas.microsoft.com/office/drawing/2014/main" id="{3913F3DE-07AE-E6DB-1B55-4330174AE8D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74FC750E-B409-55B6-40DA-B60BCA64A71F}"/>
              </a:ext>
            </a:extLst>
          </p:cNvPr>
          <p:cNvGrpSpPr/>
          <p:nvPr/>
        </p:nvGrpSpPr>
        <p:grpSpPr>
          <a:xfrm>
            <a:off x="203635" y="4280414"/>
            <a:ext cx="504000" cy="504000"/>
            <a:chOff x="977950" y="2729564"/>
            <a:chExt cx="504000" cy="504000"/>
          </a:xfrm>
        </p:grpSpPr>
        <p:sp>
          <p:nvSpPr>
            <p:cNvPr id="47" name="Oval 46">
              <a:extLst>
                <a:ext uri="{FF2B5EF4-FFF2-40B4-BE49-F238E27FC236}">
                  <a16:creationId xmlns:a16="http://schemas.microsoft.com/office/drawing/2014/main" id="{58E91BB4-C582-D2BB-1B0B-0DEF10AA47D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Scatterplot with solid fill">
              <a:extLst>
                <a:ext uri="{FF2B5EF4-FFF2-40B4-BE49-F238E27FC236}">
                  <a16:creationId xmlns:a16="http://schemas.microsoft.com/office/drawing/2014/main" id="{8DF7D06C-C994-E9FC-27FA-735C8CCF8FF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9" name="Straight Arrow Connector 48">
            <a:extLst>
              <a:ext uri="{FF2B5EF4-FFF2-40B4-BE49-F238E27FC236}">
                <a16:creationId xmlns:a16="http://schemas.microsoft.com/office/drawing/2014/main" id="{E128A331-36F9-7294-7BFC-F90E5ABC61B6}"/>
              </a:ext>
            </a:extLst>
          </p:cNvPr>
          <p:cNvCxnSpPr>
            <a:cxnSpLocks/>
            <a:stCxn id="35" idx="4"/>
            <a:endCxn id="3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26807937-8EAF-C165-DDE1-3BD9DC9C19DF}"/>
              </a:ext>
            </a:extLst>
          </p:cNvPr>
          <p:cNvCxnSpPr>
            <a:cxnSpLocks/>
            <a:stCxn id="38" idx="4"/>
            <a:endCxn id="4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5C16762-4122-ECE3-3368-09B23DD5B4DD}"/>
              </a:ext>
            </a:extLst>
          </p:cNvPr>
          <p:cNvCxnSpPr>
            <a:cxnSpLocks/>
            <a:stCxn id="41" idx="4"/>
            <a:endCxn id="4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9436D420-7ECB-36F4-E713-5188ED5E3757}"/>
              </a:ext>
            </a:extLst>
          </p:cNvPr>
          <p:cNvCxnSpPr>
            <a:cxnSpLocks/>
            <a:stCxn id="44" idx="4"/>
            <a:endCxn id="4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9" name="Picture 8">
            <a:extLst>
              <a:ext uri="{FF2B5EF4-FFF2-40B4-BE49-F238E27FC236}">
                <a16:creationId xmlns:a16="http://schemas.microsoft.com/office/drawing/2014/main" id="{B47E8402-B6C3-C050-1611-7E3A0C499D25}"/>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599201" y="3880143"/>
            <a:ext cx="4105667" cy="2460031"/>
          </a:xfrm>
          <a:prstGeom prst="rect">
            <a:avLst/>
          </a:prstGeom>
        </p:spPr>
      </p:pic>
      <p:grpSp>
        <p:nvGrpSpPr>
          <p:cNvPr id="20" name="Group 19">
            <a:extLst>
              <a:ext uri="{FF2B5EF4-FFF2-40B4-BE49-F238E27FC236}">
                <a16:creationId xmlns:a16="http://schemas.microsoft.com/office/drawing/2014/main" id="{2F00FDB9-0856-A644-FC3F-2964D93E261F}"/>
              </a:ext>
            </a:extLst>
          </p:cNvPr>
          <p:cNvGrpSpPr/>
          <p:nvPr/>
        </p:nvGrpSpPr>
        <p:grpSpPr>
          <a:xfrm>
            <a:off x="959635" y="3238749"/>
            <a:ext cx="4787911" cy="584775"/>
            <a:chOff x="1497300" y="3249000"/>
            <a:chExt cx="4787911" cy="584775"/>
          </a:xfrm>
        </p:grpSpPr>
        <p:grpSp>
          <p:nvGrpSpPr>
            <p:cNvPr id="16" name="Group 15">
              <a:extLst>
                <a:ext uri="{FF2B5EF4-FFF2-40B4-BE49-F238E27FC236}">
                  <a16:creationId xmlns:a16="http://schemas.microsoft.com/office/drawing/2014/main" id="{DA88B974-7C78-7BDD-F16D-DF05D2391121}"/>
                </a:ext>
              </a:extLst>
            </p:cNvPr>
            <p:cNvGrpSpPr/>
            <p:nvPr/>
          </p:nvGrpSpPr>
          <p:grpSpPr>
            <a:xfrm>
              <a:off x="1497300" y="3307387"/>
              <a:ext cx="468000" cy="468000"/>
              <a:chOff x="7505700" y="4334414"/>
              <a:chExt cx="468000" cy="468000"/>
            </a:xfrm>
          </p:grpSpPr>
          <p:sp>
            <p:nvSpPr>
              <p:cNvPr id="15" name="Oval 14">
                <a:extLst>
                  <a:ext uri="{FF2B5EF4-FFF2-40B4-BE49-F238E27FC236}">
                    <a16:creationId xmlns:a16="http://schemas.microsoft.com/office/drawing/2014/main" id="{510211F9-442A-202B-FF82-E1E1BEA4D20E}"/>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3" name="Graphic 12" descr="Checkmark with solid fill">
                <a:extLst>
                  <a:ext uri="{FF2B5EF4-FFF2-40B4-BE49-F238E27FC236}">
                    <a16:creationId xmlns:a16="http://schemas.microsoft.com/office/drawing/2014/main" id="{26360414-1A38-F665-C5DC-22E9F1BC67A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59700" y="4388414"/>
                <a:ext cx="360000" cy="360000"/>
              </a:xfrm>
              <a:prstGeom prst="rect">
                <a:avLst/>
              </a:prstGeom>
            </p:spPr>
          </p:pic>
        </p:grpSp>
        <p:sp>
          <p:nvSpPr>
            <p:cNvPr id="19" name="TextBox 18">
              <a:extLst>
                <a:ext uri="{FF2B5EF4-FFF2-40B4-BE49-F238E27FC236}">
                  <a16:creationId xmlns:a16="http://schemas.microsoft.com/office/drawing/2014/main" id="{525B6262-F9B7-9B30-1012-78C457672DF9}"/>
                </a:ext>
              </a:extLst>
            </p:cNvPr>
            <p:cNvSpPr txBox="1"/>
            <p:nvPr/>
          </p:nvSpPr>
          <p:spPr>
            <a:xfrm>
              <a:off x="2019300" y="3249000"/>
              <a:ext cx="4265911" cy="584775"/>
            </a:xfrm>
            <a:prstGeom prst="rect">
              <a:avLst/>
            </a:prstGeom>
            <a:noFill/>
          </p:spPr>
          <p:txBody>
            <a:bodyPr wrap="none" rtlCol="0">
              <a:spAutoFit/>
            </a:bodyPr>
            <a:lstStyle/>
            <a:p>
              <a:r>
                <a:rPr lang="en-SE" b="1" dirty="0"/>
                <a:t>Successful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solidFill>
                    <a:schemeClr val="accent2"/>
                  </a:solidFill>
                  <a:latin typeface="Courier New" panose="02070309020205020404" pitchFamily="49" charset="0"/>
                  <a:cs typeface="Courier New" panose="02070309020205020404" pitchFamily="49" charset="0"/>
                </a:rPr>
                <a:t>3</a:t>
              </a:r>
              <a:r>
                <a:rPr lang="de-DE" sz="1400" dirty="0">
                  <a:latin typeface="Courier New" panose="02070309020205020404" pitchFamily="49" charset="0"/>
                  <a:cs typeface="Courier New" panose="02070309020205020404" pitchFamily="49" charset="0"/>
                </a:rPr>
                <a:t>, 1),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de-DE" sz="1400" dirty="0" err="1">
                  <a:latin typeface="Courier New" panose="02070309020205020404" pitchFamily="49" charset="0"/>
                  <a:cs typeface="Courier New" panose="02070309020205020404" pitchFamily="49" charset="0"/>
                </a:rPr>
                <a:t>Intercept</a:t>
              </a:r>
              <a:r>
                <a:rPr lang="de-DE" sz="1400" dirty="0">
                  <a:latin typeface="Courier New" panose="02070309020205020404" pitchFamily="49" charset="0"/>
                  <a:cs typeface="Courier New" panose="02070309020205020404" pitchFamily="49" charset="0"/>
                </a:rPr>
                <a:t>)</a:t>
              </a:r>
              <a:endParaRPr lang="en-SE" sz="1400" dirty="0"/>
            </a:p>
          </p:txBody>
        </p:sp>
      </p:grpSp>
      <p:grpSp>
        <p:nvGrpSpPr>
          <p:cNvPr id="22" name="Group 21">
            <a:extLst>
              <a:ext uri="{FF2B5EF4-FFF2-40B4-BE49-F238E27FC236}">
                <a16:creationId xmlns:a16="http://schemas.microsoft.com/office/drawing/2014/main" id="{05B82B48-C767-6BD5-E775-9F83B5689597}"/>
              </a:ext>
            </a:extLst>
          </p:cNvPr>
          <p:cNvGrpSpPr/>
          <p:nvPr/>
        </p:nvGrpSpPr>
        <p:grpSpPr>
          <a:xfrm>
            <a:off x="6096000" y="3238749"/>
            <a:ext cx="4954047" cy="584775"/>
            <a:chOff x="1497300" y="3249000"/>
            <a:chExt cx="4954047" cy="584775"/>
          </a:xfrm>
        </p:grpSpPr>
        <p:grpSp>
          <p:nvGrpSpPr>
            <p:cNvPr id="23" name="Group 22">
              <a:extLst>
                <a:ext uri="{FF2B5EF4-FFF2-40B4-BE49-F238E27FC236}">
                  <a16:creationId xmlns:a16="http://schemas.microsoft.com/office/drawing/2014/main" id="{EFFCE341-B111-E8DA-AB2F-334E484E13E5}"/>
                </a:ext>
              </a:extLst>
            </p:cNvPr>
            <p:cNvGrpSpPr/>
            <p:nvPr/>
          </p:nvGrpSpPr>
          <p:grpSpPr>
            <a:xfrm>
              <a:off x="1497300" y="3307387"/>
              <a:ext cx="468000" cy="468000"/>
              <a:chOff x="7505700" y="4334414"/>
              <a:chExt cx="468000" cy="468000"/>
            </a:xfrm>
          </p:grpSpPr>
          <p:sp>
            <p:nvSpPr>
              <p:cNvPr id="27" name="Oval 26">
                <a:extLst>
                  <a:ext uri="{FF2B5EF4-FFF2-40B4-BE49-F238E27FC236}">
                    <a16:creationId xmlns:a16="http://schemas.microsoft.com/office/drawing/2014/main" id="{63BEB74C-86AA-C82A-80C1-0B9F3373EF81}"/>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Close with solid fill">
                <a:extLst>
                  <a:ext uri="{FF2B5EF4-FFF2-40B4-BE49-F238E27FC236}">
                    <a16:creationId xmlns:a16="http://schemas.microsoft.com/office/drawing/2014/main" id="{888A0DF0-E70A-192D-C0A9-D6F22F2F37C7}"/>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7559700" y="4388414"/>
                <a:ext cx="360000" cy="360000"/>
              </a:xfrm>
              <a:prstGeom prst="rect">
                <a:avLst/>
              </a:prstGeom>
            </p:spPr>
          </p:pic>
        </p:grpSp>
        <p:sp>
          <p:nvSpPr>
            <p:cNvPr id="24" name="TextBox 23">
              <a:extLst>
                <a:ext uri="{FF2B5EF4-FFF2-40B4-BE49-F238E27FC236}">
                  <a16:creationId xmlns:a16="http://schemas.microsoft.com/office/drawing/2014/main" id="{C2820CC5-BE8F-6238-B1EA-675220EB7E0A}"/>
                </a:ext>
              </a:extLst>
            </p:cNvPr>
            <p:cNvSpPr txBox="1"/>
            <p:nvPr/>
          </p:nvSpPr>
          <p:spPr>
            <a:xfrm>
              <a:off x="2019300" y="3249000"/>
              <a:ext cx="4432047" cy="584775"/>
            </a:xfrm>
            <a:prstGeom prst="rect">
              <a:avLst/>
            </a:prstGeom>
            <a:noFill/>
          </p:spPr>
          <p:txBody>
            <a:bodyPr wrap="none" rtlCol="0">
              <a:spAutoFit/>
            </a:bodyPr>
            <a:lstStyle/>
            <a:p>
              <a:r>
                <a:rPr lang="en-SE" b="1" dirty="0"/>
                <a:t>Unsuccessful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solidFill>
                    <a:srgbClr val="C00000"/>
                  </a:solidFill>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1),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de-DE" sz="1400" dirty="0" err="1">
                  <a:latin typeface="Courier New" panose="02070309020205020404" pitchFamily="49" charset="0"/>
                  <a:cs typeface="Courier New" panose="02070309020205020404" pitchFamily="49" charset="0"/>
                </a:rPr>
                <a:t>Intercept</a:t>
              </a:r>
              <a:r>
                <a:rPr lang="de-DE" sz="1400" dirty="0">
                  <a:latin typeface="Courier New" panose="02070309020205020404" pitchFamily="49" charset="0"/>
                  <a:cs typeface="Courier New" panose="02070309020205020404" pitchFamily="49" charset="0"/>
                </a:rPr>
                <a:t>)</a:t>
              </a:r>
              <a:endParaRPr lang="en-SE" sz="1400" dirty="0"/>
            </a:p>
          </p:txBody>
        </p:sp>
      </p:grpSp>
      <p:pic>
        <p:nvPicPr>
          <p:cNvPr id="30" name="Picture 29">
            <a:extLst>
              <a:ext uri="{FF2B5EF4-FFF2-40B4-BE49-F238E27FC236}">
                <a16:creationId xmlns:a16="http://schemas.microsoft.com/office/drawing/2014/main" id="{9AEAA6BF-196A-E5D8-04A7-1AA0BAC1C2F1}"/>
              </a:ext>
            </a:extLst>
          </p:cNvPr>
          <p:cNvPicPr>
            <a:picLocks noChangeAspect="1"/>
          </p:cNvPicPr>
          <p:nvPr/>
        </p:nvPicPr>
        <p:blipFill>
          <a:blip r:embed="rId10"/>
          <a:stretch>
            <a:fillRect/>
          </a:stretch>
        </p:blipFill>
        <p:spPr>
          <a:xfrm>
            <a:off x="6731000" y="3877524"/>
            <a:ext cx="4114640" cy="2460030"/>
          </a:xfrm>
          <a:prstGeom prst="rect">
            <a:avLst/>
          </a:prstGeom>
        </p:spPr>
      </p:pic>
    </p:spTree>
    <p:extLst>
      <p:ext uri="{BB962C8B-B14F-4D97-AF65-F5344CB8AC3E}">
        <p14:creationId xmlns:p14="http://schemas.microsoft.com/office/powerpoint/2010/main" val="14935193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F4DE6-8C05-7587-C5DC-DC0A2D8E3167}"/>
              </a:ext>
            </a:extLst>
          </p:cNvPr>
          <p:cNvSpPr>
            <a:spLocks noGrp="1"/>
          </p:cNvSpPr>
          <p:nvPr>
            <p:ph type="title"/>
          </p:nvPr>
        </p:nvSpPr>
        <p:spPr/>
        <p:txBody>
          <a:bodyPr/>
          <a:lstStyle/>
          <a:p>
            <a:r>
              <a:rPr lang="en-SE" dirty="0"/>
              <a:t>Bayesian Updating</a:t>
            </a:r>
          </a:p>
        </p:txBody>
      </p:sp>
      <p:sp>
        <p:nvSpPr>
          <p:cNvPr id="3" name="Content Placeholder 2">
            <a:extLst>
              <a:ext uri="{FF2B5EF4-FFF2-40B4-BE49-F238E27FC236}">
                <a16:creationId xmlns:a16="http://schemas.microsoft.com/office/drawing/2014/main" id="{7DAC16EA-513B-AB40-1BC4-BF3BE98758D5}"/>
              </a:ext>
            </a:extLst>
          </p:cNvPr>
          <p:cNvSpPr>
            <a:spLocks noGrp="1"/>
          </p:cNvSpPr>
          <p:nvPr>
            <p:ph idx="1"/>
          </p:nvPr>
        </p:nvSpPr>
        <p:spPr>
          <a:xfrm>
            <a:off x="838200" y="1825625"/>
            <a:ext cx="10515600" cy="1209675"/>
          </a:xfrm>
        </p:spPr>
        <p:txBody>
          <a:bodyPr/>
          <a:lstStyle/>
          <a:p>
            <a:pPr marL="0" indent="0">
              <a:buNone/>
            </a:pPr>
            <a:r>
              <a:rPr lang="en-SE" dirty="0"/>
              <a:t>With the prior probability distributions confirmed as plausible, we can perform the actual model training.</a:t>
            </a:r>
          </a:p>
        </p:txBody>
      </p:sp>
      <p:sp>
        <p:nvSpPr>
          <p:cNvPr id="4" name="Date Placeholder 3">
            <a:extLst>
              <a:ext uri="{FF2B5EF4-FFF2-40B4-BE49-F238E27FC236}">
                <a16:creationId xmlns:a16="http://schemas.microsoft.com/office/drawing/2014/main" id="{1B64227F-45A3-5004-0C2E-A77C0BECFB5D}"/>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B305E0F7-F7F4-8A6A-A495-E528C8FD1528}"/>
              </a:ext>
            </a:extLst>
          </p:cNvPr>
          <p:cNvSpPr>
            <a:spLocks noGrp="1"/>
          </p:cNvSpPr>
          <p:nvPr>
            <p:ph type="sldNum" sz="quarter" idx="12"/>
          </p:nvPr>
        </p:nvSpPr>
        <p:spPr/>
        <p:txBody>
          <a:bodyPr/>
          <a:lstStyle/>
          <a:p>
            <a:fld id="{271ECC92-9CDE-4EB3-B1C5-F46B9E1FA3C1}" type="slidenum">
              <a:rPr lang="en-SE" smtClean="0"/>
              <a:t>53</a:t>
            </a:fld>
            <a:endParaRPr lang="en-SE"/>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AFB34D5E-F8F4-81EF-AC81-50D53C5E96B7}"/>
                  </a:ext>
                </a:extLst>
              </p:cNvPr>
              <p:cNvSpPr txBox="1">
                <a:spLocks/>
              </p:cNvSpPr>
              <p:nvPr/>
            </p:nvSpPr>
            <p:spPr>
              <a:xfrm>
                <a:off x="838198" y="5029220"/>
                <a:ext cx="10515600"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At the end of this process, all probability distributions (</a:t>
                </a:r>
                <a14:m>
                  <m:oMath xmlns:m="http://schemas.openxmlformats.org/officeDocument/2006/math">
                    <m:r>
                      <a:rPr lang="en-SE" b="0" i="1" smtClean="0">
                        <a:latin typeface="Cambria Math" panose="02040503050406030204" pitchFamily="18" charset="0"/>
                      </a:rPr>
                      <m:t>𝛼</m:t>
                    </m:r>
                  </m:oMath>
                </a14:m>
                <a:r>
                  <a:rPr lang="en-SE" dirty="0"/>
                  <a:t>, </a:t>
                </a:r>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𝑒</m:t>
                        </m:r>
                      </m:sub>
                    </m:sSub>
                  </m:oMath>
                </a14:m>
                <a:r>
                  <a:rPr lang="en-SE" dirty="0"/>
                  <a:t>, ...) will be updated to </a:t>
                </a:r>
                <a:r>
                  <a:rPr lang="en-SE" b="1" dirty="0"/>
                  <a:t>better reflect the relationships</a:t>
                </a:r>
                <a:r>
                  <a:rPr lang="en-SE" dirty="0"/>
                  <a:t> between the variables. This way, we </a:t>
                </a:r>
                <a:r>
                  <a:rPr lang="en-SE" b="1" dirty="0"/>
                  <a:t>estimate the effects</a:t>
                </a:r>
                <a:r>
                  <a:rPr lang="en-SE" dirty="0"/>
                  <a:t> between variables.</a:t>
                </a:r>
              </a:p>
            </p:txBody>
          </p:sp>
        </mc:Choice>
        <mc:Fallback xmlns="">
          <p:sp>
            <p:nvSpPr>
              <p:cNvPr id="22" name="Content Placeholder 2">
                <a:extLst>
                  <a:ext uri="{FF2B5EF4-FFF2-40B4-BE49-F238E27FC236}">
                    <a16:creationId xmlns:a16="http://schemas.microsoft.com/office/drawing/2014/main" id="{AFB34D5E-F8F4-81EF-AC81-50D53C5E96B7}"/>
                  </a:ext>
                </a:extLst>
              </p:cNvPr>
              <p:cNvSpPr txBox="1">
                <a:spLocks noRot="1" noChangeAspect="1" noMove="1" noResize="1" noEditPoints="1" noAdjustHandles="1" noChangeArrowheads="1" noChangeShapeType="1" noTextEdit="1"/>
              </p:cNvSpPr>
              <p:nvPr/>
            </p:nvSpPr>
            <p:spPr>
              <a:xfrm>
                <a:off x="838198" y="5029220"/>
                <a:ext cx="10515600" cy="1325563"/>
              </a:xfrm>
              <a:prstGeom prst="rect">
                <a:avLst/>
              </a:prstGeom>
              <a:blipFill>
                <a:blip r:embed="rId2"/>
                <a:stretch>
                  <a:fillRect l="-1159" t="-7834" r="-1101" b="-6912"/>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EB319D68-8E23-B8FA-ABB8-B69039FCA2C5}"/>
              </a:ext>
            </a:extLst>
          </p:cNvPr>
          <p:cNvSpPr>
            <a:spLocks noGrp="1"/>
          </p:cNvSpPr>
          <p:nvPr>
            <p:ph type="ftr" sz="quarter" idx="11"/>
          </p:nvPr>
        </p:nvSpPr>
        <p:spPr/>
        <p:txBody>
          <a:bodyPr/>
          <a:lstStyle/>
          <a:p>
            <a:r>
              <a:rPr lang="de-DE"/>
              <a:t>Bayesian Data Analysis Tutorial</a:t>
            </a:r>
            <a:endParaRPr lang="en-SE"/>
          </a:p>
        </p:txBody>
      </p:sp>
      <p:grpSp>
        <p:nvGrpSpPr>
          <p:cNvPr id="9" name="Group 8">
            <a:extLst>
              <a:ext uri="{FF2B5EF4-FFF2-40B4-BE49-F238E27FC236}">
                <a16:creationId xmlns:a16="http://schemas.microsoft.com/office/drawing/2014/main" id="{699C67C3-111F-8EC6-B168-2F306936E7F8}"/>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13673AA0-C883-45D6-6666-FB05AB86242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2DDD74E-7910-AA4D-0D0A-A757E18C41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4" name="Group 13">
            <a:extLst>
              <a:ext uri="{FF2B5EF4-FFF2-40B4-BE49-F238E27FC236}">
                <a16:creationId xmlns:a16="http://schemas.microsoft.com/office/drawing/2014/main" id="{0D68D6CC-8649-325B-AFB1-9220D28DA786}"/>
              </a:ext>
            </a:extLst>
          </p:cNvPr>
          <p:cNvGrpSpPr/>
          <p:nvPr/>
        </p:nvGrpSpPr>
        <p:grpSpPr>
          <a:xfrm>
            <a:off x="203635" y="2439322"/>
            <a:ext cx="504000" cy="504000"/>
            <a:chOff x="977950" y="2729564"/>
            <a:chExt cx="504000" cy="504000"/>
          </a:xfrm>
        </p:grpSpPr>
        <p:sp>
          <p:nvSpPr>
            <p:cNvPr id="17" name="Oval 16">
              <a:extLst>
                <a:ext uri="{FF2B5EF4-FFF2-40B4-BE49-F238E27FC236}">
                  <a16:creationId xmlns:a16="http://schemas.microsoft.com/office/drawing/2014/main" id="{BDD0753A-870E-0954-31E2-B2E06826F5B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Normal Distribution with solid fill">
              <a:extLst>
                <a:ext uri="{FF2B5EF4-FFF2-40B4-BE49-F238E27FC236}">
                  <a16:creationId xmlns:a16="http://schemas.microsoft.com/office/drawing/2014/main" id="{D930B17B-0491-C7F6-90A1-416B29A3FA7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20" name="Group 19">
            <a:extLst>
              <a:ext uri="{FF2B5EF4-FFF2-40B4-BE49-F238E27FC236}">
                <a16:creationId xmlns:a16="http://schemas.microsoft.com/office/drawing/2014/main" id="{90DEFC14-AC1E-68FF-7477-FB9AF566FAA1}"/>
              </a:ext>
            </a:extLst>
          </p:cNvPr>
          <p:cNvGrpSpPr/>
          <p:nvPr/>
        </p:nvGrpSpPr>
        <p:grpSpPr>
          <a:xfrm>
            <a:off x="203635" y="3053019"/>
            <a:ext cx="504000" cy="504000"/>
            <a:chOff x="977950" y="2729564"/>
            <a:chExt cx="504000" cy="504000"/>
          </a:xfrm>
        </p:grpSpPr>
        <p:sp>
          <p:nvSpPr>
            <p:cNvPr id="21" name="Oval 20">
              <a:extLst>
                <a:ext uri="{FF2B5EF4-FFF2-40B4-BE49-F238E27FC236}">
                  <a16:creationId xmlns:a16="http://schemas.microsoft.com/office/drawing/2014/main" id="{87B2C03D-D70C-7308-A686-68784339B15C}"/>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Abacus with solid fill">
              <a:extLst>
                <a:ext uri="{FF2B5EF4-FFF2-40B4-BE49-F238E27FC236}">
                  <a16:creationId xmlns:a16="http://schemas.microsoft.com/office/drawing/2014/main" id="{DD0BA174-3B98-595E-73C4-268FF1CAE82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4" name="Group 23">
            <a:extLst>
              <a:ext uri="{FF2B5EF4-FFF2-40B4-BE49-F238E27FC236}">
                <a16:creationId xmlns:a16="http://schemas.microsoft.com/office/drawing/2014/main" id="{5FAB3A9D-9676-FB96-A8CF-2C4ADFA5F36B}"/>
              </a:ext>
            </a:extLst>
          </p:cNvPr>
          <p:cNvGrpSpPr/>
          <p:nvPr/>
        </p:nvGrpSpPr>
        <p:grpSpPr>
          <a:xfrm>
            <a:off x="203635" y="3666716"/>
            <a:ext cx="504000" cy="504000"/>
            <a:chOff x="977950" y="2729564"/>
            <a:chExt cx="504000" cy="504000"/>
          </a:xfrm>
        </p:grpSpPr>
        <p:sp>
          <p:nvSpPr>
            <p:cNvPr id="25" name="Oval 24">
              <a:extLst>
                <a:ext uri="{FF2B5EF4-FFF2-40B4-BE49-F238E27FC236}">
                  <a16:creationId xmlns:a16="http://schemas.microsoft.com/office/drawing/2014/main" id="{09BCCE7B-A171-2874-FC79-13F6E959DD4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6" name="Graphic 25" descr="Trigonometry with solid fill">
              <a:extLst>
                <a:ext uri="{FF2B5EF4-FFF2-40B4-BE49-F238E27FC236}">
                  <a16:creationId xmlns:a16="http://schemas.microsoft.com/office/drawing/2014/main" id="{4DCA6A5D-8A2B-1EC7-0A2B-AAAC8FF02F7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7" name="Group 26">
            <a:extLst>
              <a:ext uri="{FF2B5EF4-FFF2-40B4-BE49-F238E27FC236}">
                <a16:creationId xmlns:a16="http://schemas.microsoft.com/office/drawing/2014/main" id="{407A6633-72B2-2D12-952F-321A1883DBBA}"/>
              </a:ext>
            </a:extLst>
          </p:cNvPr>
          <p:cNvGrpSpPr/>
          <p:nvPr/>
        </p:nvGrpSpPr>
        <p:grpSpPr>
          <a:xfrm>
            <a:off x="203635" y="4280414"/>
            <a:ext cx="504000" cy="504000"/>
            <a:chOff x="977950" y="2729564"/>
            <a:chExt cx="504000" cy="504000"/>
          </a:xfrm>
        </p:grpSpPr>
        <p:sp>
          <p:nvSpPr>
            <p:cNvPr id="28" name="Oval 27">
              <a:extLst>
                <a:ext uri="{FF2B5EF4-FFF2-40B4-BE49-F238E27FC236}">
                  <a16:creationId xmlns:a16="http://schemas.microsoft.com/office/drawing/2014/main" id="{36D03C24-7877-0F01-8326-9CD2C9845A9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9" name="Graphic 28" descr="Scatterplot with solid fill">
              <a:extLst>
                <a:ext uri="{FF2B5EF4-FFF2-40B4-BE49-F238E27FC236}">
                  <a16:creationId xmlns:a16="http://schemas.microsoft.com/office/drawing/2014/main" id="{9E4159D3-B523-17B6-0E76-74B99064BB8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30" name="Straight Arrow Connector 29">
            <a:extLst>
              <a:ext uri="{FF2B5EF4-FFF2-40B4-BE49-F238E27FC236}">
                <a16:creationId xmlns:a16="http://schemas.microsoft.com/office/drawing/2014/main" id="{A9C40CD8-F08D-9CBA-58F8-77CC509C8D77}"/>
              </a:ext>
            </a:extLst>
          </p:cNvPr>
          <p:cNvCxnSpPr>
            <a:cxnSpLocks/>
            <a:stCxn id="10" idx="4"/>
            <a:endCxn id="17"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1" name="Straight Arrow Connector 30">
            <a:extLst>
              <a:ext uri="{FF2B5EF4-FFF2-40B4-BE49-F238E27FC236}">
                <a16:creationId xmlns:a16="http://schemas.microsoft.com/office/drawing/2014/main" id="{F65451EB-F6D8-4B02-49DB-4FF343492667}"/>
              </a:ext>
            </a:extLst>
          </p:cNvPr>
          <p:cNvCxnSpPr>
            <a:cxnSpLocks/>
            <a:stCxn id="17" idx="4"/>
            <a:endCxn id="2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8684F6E7-DF01-4B5D-5D8D-CA323D1946A2}"/>
              </a:ext>
            </a:extLst>
          </p:cNvPr>
          <p:cNvCxnSpPr>
            <a:cxnSpLocks/>
            <a:stCxn id="21" idx="4"/>
            <a:endCxn id="25"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3" name="Straight Arrow Connector 32">
            <a:extLst>
              <a:ext uri="{FF2B5EF4-FFF2-40B4-BE49-F238E27FC236}">
                <a16:creationId xmlns:a16="http://schemas.microsoft.com/office/drawing/2014/main" id="{196481EB-367E-672D-D7DA-6ECA9378AF31}"/>
              </a:ext>
            </a:extLst>
          </p:cNvPr>
          <p:cNvCxnSpPr>
            <a:cxnSpLocks/>
            <a:stCxn id="25" idx="4"/>
            <a:endCxn id="28"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43" name="Graphic 42" descr="Single gear with solid fill">
            <a:extLst>
              <a:ext uri="{FF2B5EF4-FFF2-40B4-BE49-F238E27FC236}">
                <a16:creationId xmlns:a16="http://schemas.microsoft.com/office/drawing/2014/main" id="{FB52D375-0414-C556-C06D-6876A57075E7}"/>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638800" y="3268967"/>
            <a:ext cx="914400" cy="914400"/>
          </a:xfrm>
          <a:prstGeom prst="rect">
            <a:avLst/>
          </a:prstGeom>
        </p:spPr>
      </p:pic>
      <p:pic>
        <p:nvPicPr>
          <p:cNvPr id="44" name="Graphic 43" descr="Bar chart with solid fill">
            <a:extLst>
              <a:ext uri="{FF2B5EF4-FFF2-40B4-BE49-F238E27FC236}">
                <a16:creationId xmlns:a16="http://schemas.microsoft.com/office/drawing/2014/main" id="{E62CF94C-2538-19E5-58A5-C1D41FC63F64}"/>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268967"/>
            <a:ext cx="914400" cy="914400"/>
          </a:xfrm>
          <a:prstGeom prst="rect">
            <a:avLst/>
          </a:prstGeom>
        </p:spPr>
      </p:pic>
      <p:grpSp>
        <p:nvGrpSpPr>
          <p:cNvPr id="58" name="Group 57">
            <a:extLst>
              <a:ext uri="{FF2B5EF4-FFF2-40B4-BE49-F238E27FC236}">
                <a16:creationId xmlns:a16="http://schemas.microsoft.com/office/drawing/2014/main" id="{8730AC5D-20C5-D154-9E9E-B6348BC37504}"/>
              </a:ext>
            </a:extLst>
          </p:cNvPr>
          <p:cNvGrpSpPr/>
          <p:nvPr/>
        </p:nvGrpSpPr>
        <p:grpSpPr>
          <a:xfrm>
            <a:off x="1218983" y="3781425"/>
            <a:ext cx="2652323" cy="914400"/>
            <a:chOff x="1218983" y="3781425"/>
            <a:chExt cx="2652323" cy="914400"/>
          </a:xfrm>
        </p:grpSpPr>
        <p:pic>
          <p:nvPicPr>
            <p:cNvPr id="42" name="Graphic 41" descr="Database with solid fill">
              <a:extLst>
                <a:ext uri="{FF2B5EF4-FFF2-40B4-BE49-F238E27FC236}">
                  <a16:creationId xmlns:a16="http://schemas.microsoft.com/office/drawing/2014/main" id="{776FDD46-4B52-94BF-DA49-5F59EA1C04F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56906" y="3781425"/>
              <a:ext cx="914400" cy="914400"/>
            </a:xfrm>
            <a:prstGeom prst="rect">
              <a:avLst/>
            </a:prstGeom>
          </p:spPr>
        </p:pic>
        <p:sp>
          <p:nvSpPr>
            <p:cNvPr id="45" name="TextBox 44">
              <a:extLst>
                <a:ext uri="{FF2B5EF4-FFF2-40B4-BE49-F238E27FC236}">
                  <a16:creationId xmlns:a16="http://schemas.microsoft.com/office/drawing/2014/main" id="{1EBAD454-76ED-93AF-1656-C9AE2DD3BFBA}"/>
                </a:ext>
              </a:extLst>
            </p:cNvPr>
            <p:cNvSpPr txBox="1"/>
            <p:nvPr/>
          </p:nvSpPr>
          <p:spPr>
            <a:xfrm>
              <a:off x="1218983" y="4069067"/>
              <a:ext cx="1683923" cy="369332"/>
            </a:xfrm>
            <a:prstGeom prst="rect">
              <a:avLst/>
            </a:prstGeom>
            <a:noFill/>
          </p:spPr>
          <p:txBody>
            <a:bodyPr wrap="none" rtlCol="0">
              <a:spAutoFit/>
            </a:bodyPr>
            <a:lstStyle/>
            <a:p>
              <a:pPr algn="r"/>
              <a:r>
                <a:rPr lang="en-SE" dirty="0"/>
                <a:t>Collected Data</a:t>
              </a:r>
            </a:p>
          </p:txBody>
        </p:sp>
      </p:grpSp>
      <p:sp>
        <p:nvSpPr>
          <p:cNvPr id="46" name="TextBox 45">
            <a:extLst>
              <a:ext uri="{FF2B5EF4-FFF2-40B4-BE49-F238E27FC236}">
                <a16:creationId xmlns:a16="http://schemas.microsoft.com/office/drawing/2014/main" id="{210BA341-2718-2BDC-7B4B-C607D8F6AB59}"/>
              </a:ext>
            </a:extLst>
          </p:cNvPr>
          <p:cNvSpPr txBox="1"/>
          <p:nvPr/>
        </p:nvSpPr>
        <p:spPr>
          <a:xfrm>
            <a:off x="5075404" y="4182898"/>
            <a:ext cx="2041200" cy="646331"/>
          </a:xfrm>
          <a:prstGeom prst="rect">
            <a:avLst/>
          </a:prstGeom>
          <a:noFill/>
        </p:spPr>
        <p:txBody>
          <a:bodyPr wrap="none" rtlCol="0">
            <a:spAutoFit/>
          </a:bodyPr>
          <a:lstStyle/>
          <a:p>
            <a:pPr algn="ctr"/>
            <a:r>
              <a:rPr lang="en-SE" dirty="0"/>
              <a:t>Bayesian Updating</a:t>
            </a:r>
            <a:br>
              <a:rPr lang="en-SE" dirty="0"/>
            </a:br>
            <a:r>
              <a:rPr lang="en-SE" dirty="0"/>
              <a:t>Engine</a:t>
            </a:r>
          </a:p>
        </p:txBody>
      </p:sp>
      <p:sp>
        <p:nvSpPr>
          <p:cNvPr id="47" name="TextBox 46">
            <a:extLst>
              <a:ext uri="{FF2B5EF4-FFF2-40B4-BE49-F238E27FC236}">
                <a16:creationId xmlns:a16="http://schemas.microsoft.com/office/drawing/2014/main" id="{B1DB5BDB-B804-A3D1-7BEE-8C7837FEC988}"/>
              </a:ext>
            </a:extLst>
          </p:cNvPr>
          <p:cNvSpPr txBox="1"/>
          <p:nvPr/>
        </p:nvSpPr>
        <p:spPr>
          <a:xfrm>
            <a:off x="8348016" y="4155199"/>
            <a:ext cx="2408352" cy="369332"/>
          </a:xfrm>
          <a:prstGeom prst="rect">
            <a:avLst/>
          </a:prstGeom>
          <a:noFill/>
        </p:spPr>
        <p:txBody>
          <a:bodyPr wrap="none" rtlCol="0">
            <a:spAutoFit/>
          </a:bodyPr>
          <a:lstStyle/>
          <a:p>
            <a:pPr algn="ctr"/>
            <a:r>
              <a:rPr lang="en-SE" dirty="0"/>
              <a:t>Posterior Distributions</a:t>
            </a:r>
          </a:p>
        </p:txBody>
      </p:sp>
      <p:cxnSp>
        <p:nvCxnSpPr>
          <p:cNvPr id="48" name="Straight Arrow Connector 47">
            <a:extLst>
              <a:ext uri="{FF2B5EF4-FFF2-40B4-BE49-F238E27FC236}">
                <a16:creationId xmlns:a16="http://schemas.microsoft.com/office/drawing/2014/main" id="{C8F696E3-FB13-BCE0-2AA9-989D07148339}"/>
              </a:ext>
            </a:extLst>
          </p:cNvPr>
          <p:cNvCxnSpPr>
            <a:cxnSpLocks/>
            <a:stCxn id="42" idx="3"/>
            <a:endCxn id="43" idx="1"/>
          </p:cNvCxnSpPr>
          <p:nvPr/>
        </p:nvCxnSpPr>
        <p:spPr>
          <a:xfrm flipV="1">
            <a:off x="3871306" y="3726167"/>
            <a:ext cx="1767494" cy="512458"/>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DEB0FD3E-E50F-AA49-D182-406AB0CBA8C6}"/>
              </a:ext>
            </a:extLst>
          </p:cNvPr>
          <p:cNvCxnSpPr>
            <a:cxnSpLocks/>
            <a:stCxn id="43" idx="3"/>
            <a:endCxn id="44" idx="1"/>
          </p:cNvCxnSpPr>
          <p:nvPr/>
        </p:nvCxnSpPr>
        <p:spPr>
          <a:xfrm>
            <a:off x="6553200" y="37261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9" name="Group 58">
            <a:extLst>
              <a:ext uri="{FF2B5EF4-FFF2-40B4-BE49-F238E27FC236}">
                <a16:creationId xmlns:a16="http://schemas.microsoft.com/office/drawing/2014/main" id="{B58545E2-F09A-163F-0DA4-0CE99C1763A4}"/>
              </a:ext>
            </a:extLst>
          </p:cNvPr>
          <p:cNvGrpSpPr/>
          <p:nvPr/>
        </p:nvGrpSpPr>
        <p:grpSpPr>
          <a:xfrm>
            <a:off x="1215456" y="2806316"/>
            <a:ext cx="2655850" cy="914400"/>
            <a:chOff x="1215456" y="3781425"/>
            <a:chExt cx="2655850" cy="914400"/>
          </a:xfrm>
        </p:grpSpPr>
        <p:pic>
          <p:nvPicPr>
            <p:cNvPr id="60" name="Graphic 59" descr="Bar chart with solid fill">
              <a:extLst>
                <a:ext uri="{FF2B5EF4-FFF2-40B4-BE49-F238E27FC236}">
                  <a16:creationId xmlns:a16="http://schemas.microsoft.com/office/drawing/2014/main" id="{C3C08899-D662-C97F-4B1E-81283B6EC211}"/>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2956906" y="3781425"/>
              <a:ext cx="914400" cy="914400"/>
            </a:xfrm>
            <a:prstGeom prst="rect">
              <a:avLst/>
            </a:prstGeom>
          </p:spPr>
        </p:pic>
        <p:sp>
          <p:nvSpPr>
            <p:cNvPr id="61" name="TextBox 60">
              <a:extLst>
                <a:ext uri="{FF2B5EF4-FFF2-40B4-BE49-F238E27FC236}">
                  <a16:creationId xmlns:a16="http://schemas.microsoft.com/office/drawing/2014/main" id="{DED49120-13F1-79B6-1E94-12D9ED40A761}"/>
                </a:ext>
              </a:extLst>
            </p:cNvPr>
            <p:cNvSpPr txBox="1"/>
            <p:nvPr/>
          </p:nvSpPr>
          <p:spPr>
            <a:xfrm>
              <a:off x="1215456" y="4069067"/>
              <a:ext cx="1687450" cy="369332"/>
            </a:xfrm>
            <a:prstGeom prst="rect">
              <a:avLst/>
            </a:prstGeom>
            <a:noFill/>
          </p:spPr>
          <p:txBody>
            <a:bodyPr wrap="none" rtlCol="0">
              <a:spAutoFit/>
            </a:bodyPr>
            <a:lstStyle/>
            <a:p>
              <a:pPr algn="r"/>
              <a:r>
                <a:rPr lang="en-SE" dirty="0"/>
                <a:t>Selected Priors</a:t>
              </a:r>
            </a:p>
          </p:txBody>
        </p:sp>
      </p:grpSp>
      <p:cxnSp>
        <p:nvCxnSpPr>
          <p:cNvPr id="62" name="Straight Arrow Connector 47">
            <a:extLst>
              <a:ext uri="{FF2B5EF4-FFF2-40B4-BE49-F238E27FC236}">
                <a16:creationId xmlns:a16="http://schemas.microsoft.com/office/drawing/2014/main" id="{33BE28E9-BE10-9318-DFB8-C1547F4630FB}"/>
              </a:ext>
            </a:extLst>
          </p:cNvPr>
          <p:cNvCxnSpPr>
            <a:cxnSpLocks/>
            <a:stCxn id="60" idx="3"/>
            <a:endCxn id="43" idx="1"/>
          </p:cNvCxnSpPr>
          <p:nvPr/>
        </p:nvCxnSpPr>
        <p:spPr>
          <a:xfrm>
            <a:off x="3871306" y="3263516"/>
            <a:ext cx="1767494" cy="46265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9912268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46" grpId="0"/>
      <p:bldP spid="4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41D21-AB8A-B566-186C-D8AD1F1AA8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1674DF-BF37-E18B-5FDC-ECB56D146629}"/>
              </a:ext>
            </a:extLst>
          </p:cNvPr>
          <p:cNvSpPr>
            <a:spLocks noGrp="1"/>
          </p:cNvSpPr>
          <p:nvPr>
            <p:ph type="title"/>
          </p:nvPr>
        </p:nvSpPr>
        <p:spPr/>
        <p:txBody>
          <a:bodyPr/>
          <a:lstStyle/>
          <a:p>
            <a:r>
              <a:rPr lang="en-SE" dirty="0"/>
              <a:t>Bayesian Updating</a:t>
            </a:r>
          </a:p>
        </p:txBody>
      </p:sp>
      <p:sp>
        <p:nvSpPr>
          <p:cNvPr id="3" name="Content Placeholder 2">
            <a:extLst>
              <a:ext uri="{FF2B5EF4-FFF2-40B4-BE49-F238E27FC236}">
                <a16:creationId xmlns:a16="http://schemas.microsoft.com/office/drawing/2014/main" id="{EEBC999B-C85A-B5DF-C280-942E0311B28E}"/>
              </a:ext>
            </a:extLst>
          </p:cNvPr>
          <p:cNvSpPr>
            <a:spLocks noGrp="1"/>
          </p:cNvSpPr>
          <p:nvPr>
            <p:ph idx="1"/>
          </p:nvPr>
        </p:nvSpPr>
        <p:spPr>
          <a:xfrm>
            <a:off x="838200" y="1825625"/>
            <a:ext cx="10515600" cy="1209675"/>
          </a:xfrm>
        </p:spPr>
        <p:txBody>
          <a:bodyPr/>
          <a:lstStyle/>
          <a:p>
            <a:pPr marL="0" indent="0">
              <a:buNone/>
            </a:pPr>
            <a:r>
              <a:rPr lang="en-SE" dirty="0"/>
              <a:t>The model training is based on Bayes’ Theorem.</a:t>
            </a:r>
          </a:p>
        </p:txBody>
      </p:sp>
      <p:sp>
        <p:nvSpPr>
          <p:cNvPr id="4" name="Date Placeholder 3">
            <a:extLst>
              <a:ext uri="{FF2B5EF4-FFF2-40B4-BE49-F238E27FC236}">
                <a16:creationId xmlns:a16="http://schemas.microsoft.com/office/drawing/2014/main" id="{8FBBB7C9-555D-8A01-84ED-3B058AD6A2D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28EFFA5C-18F9-2D90-3B51-31F90731F488}"/>
              </a:ext>
            </a:extLst>
          </p:cNvPr>
          <p:cNvSpPr>
            <a:spLocks noGrp="1"/>
          </p:cNvSpPr>
          <p:nvPr>
            <p:ph type="sldNum" sz="quarter" idx="12"/>
          </p:nvPr>
        </p:nvSpPr>
        <p:spPr/>
        <p:txBody>
          <a:bodyPr/>
          <a:lstStyle/>
          <a:p>
            <a:fld id="{271ECC92-9CDE-4EB3-B1C5-F46B9E1FA3C1}" type="slidenum">
              <a:rPr lang="en-SE" smtClean="0"/>
              <a:t>54</a:t>
            </a:fld>
            <a:endParaRPr lang="en-SE"/>
          </a:p>
        </p:txBody>
      </p:sp>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799A8272-01D4-7F79-9A70-14615797AB2C}"/>
                  </a:ext>
                </a:extLst>
              </p:cNvPr>
              <p:cNvSpPr txBox="1">
                <a:spLocks/>
              </p:cNvSpPr>
              <p:nvPr/>
            </p:nvSpPr>
            <p:spPr>
              <a:xfrm>
                <a:off x="4038600" y="5306995"/>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9" name="Content Placeholder 2">
                <a:extLst>
                  <a:ext uri="{FF2B5EF4-FFF2-40B4-BE49-F238E27FC236}">
                    <a16:creationId xmlns:a16="http://schemas.microsoft.com/office/drawing/2014/main" id="{799A8272-01D4-7F79-9A70-14615797AB2C}"/>
                  </a:ext>
                </a:extLst>
              </p:cNvPr>
              <p:cNvSpPr txBox="1">
                <a:spLocks noRot="1" noChangeAspect="1" noMove="1" noResize="1" noEditPoints="1" noAdjustHandles="1" noChangeArrowheads="1" noChangeShapeType="1" noTextEdit="1"/>
              </p:cNvSpPr>
              <p:nvPr/>
            </p:nvSpPr>
            <p:spPr>
              <a:xfrm>
                <a:off x="4038600" y="5306995"/>
                <a:ext cx="4265143" cy="994097"/>
              </a:xfrm>
              <a:prstGeom prst="rect">
                <a:avLst/>
              </a:prstGeom>
              <a:blipFill>
                <a:blip r:embed="rId2"/>
                <a:stretch>
                  <a:fillRect/>
                </a:stretch>
              </a:blipFill>
            </p:spPr>
            <p:txBody>
              <a:bodyPr/>
              <a:lstStyle/>
              <a:p>
                <a:r>
                  <a:rPr lang="en-SE">
                    <a:noFill/>
                  </a:rPr>
                  <a:t> </a:t>
                </a:r>
              </a:p>
            </p:txBody>
          </p:sp>
        </mc:Fallback>
      </mc:AlternateContent>
      <p:sp>
        <p:nvSpPr>
          <p:cNvPr id="7" name="Footer Placeholder 6">
            <a:extLst>
              <a:ext uri="{FF2B5EF4-FFF2-40B4-BE49-F238E27FC236}">
                <a16:creationId xmlns:a16="http://schemas.microsoft.com/office/drawing/2014/main" id="{FD4BDFFE-8686-240D-0619-DFC5C5EFB8B0}"/>
              </a:ext>
            </a:extLst>
          </p:cNvPr>
          <p:cNvSpPr>
            <a:spLocks noGrp="1"/>
          </p:cNvSpPr>
          <p:nvPr>
            <p:ph type="ftr" sz="quarter" idx="11"/>
          </p:nvPr>
        </p:nvSpPr>
        <p:spPr/>
        <p:txBody>
          <a:bodyPr/>
          <a:lstStyle/>
          <a:p>
            <a:r>
              <a:rPr lang="de-DE"/>
              <a:t>Bayesian Data Analysis Tutorial</a:t>
            </a:r>
            <a:endParaRPr lang="en-SE"/>
          </a:p>
        </p:txBody>
      </p:sp>
      <p:pic>
        <p:nvPicPr>
          <p:cNvPr id="34" name="Graphic 33" descr="Single gear with solid fill">
            <a:extLst>
              <a:ext uri="{FF2B5EF4-FFF2-40B4-BE49-F238E27FC236}">
                <a16:creationId xmlns:a16="http://schemas.microsoft.com/office/drawing/2014/main" id="{83285186-3C25-5D56-9E3C-E0353FCC796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638800" y="3268967"/>
            <a:ext cx="914400" cy="914400"/>
          </a:xfrm>
          <a:prstGeom prst="rect">
            <a:avLst/>
          </a:prstGeom>
        </p:spPr>
      </p:pic>
      <p:pic>
        <p:nvPicPr>
          <p:cNvPr id="35" name="Graphic 34" descr="Bar chart with solid fill">
            <a:extLst>
              <a:ext uri="{FF2B5EF4-FFF2-40B4-BE49-F238E27FC236}">
                <a16:creationId xmlns:a16="http://schemas.microsoft.com/office/drawing/2014/main" id="{0E711BE2-BD7D-5B67-67E7-BE61111AB6A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094982" y="3268967"/>
            <a:ext cx="914400" cy="914400"/>
          </a:xfrm>
          <a:prstGeom prst="rect">
            <a:avLst/>
          </a:prstGeom>
        </p:spPr>
      </p:pic>
      <p:grpSp>
        <p:nvGrpSpPr>
          <p:cNvPr id="36" name="Group 35">
            <a:extLst>
              <a:ext uri="{FF2B5EF4-FFF2-40B4-BE49-F238E27FC236}">
                <a16:creationId xmlns:a16="http://schemas.microsoft.com/office/drawing/2014/main" id="{89D17C12-BD4E-9D25-8261-7CFE1952C26D}"/>
              </a:ext>
            </a:extLst>
          </p:cNvPr>
          <p:cNvGrpSpPr/>
          <p:nvPr/>
        </p:nvGrpSpPr>
        <p:grpSpPr>
          <a:xfrm>
            <a:off x="1218983" y="3781425"/>
            <a:ext cx="2652323" cy="914400"/>
            <a:chOff x="1218983" y="3781425"/>
            <a:chExt cx="2652323" cy="914400"/>
          </a:xfrm>
        </p:grpSpPr>
        <p:pic>
          <p:nvPicPr>
            <p:cNvPr id="37" name="Graphic 36" descr="Database with solid fill">
              <a:extLst>
                <a:ext uri="{FF2B5EF4-FFF2-40B4-BE49-F238E27FC236}">
                  <a16:creationId xmlns:a16="http://schemas.microsoft.com/office/drawing/2014/main" id="{BA39A028-9E24-B584-B801-F00B6DBCD5E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56906" y="3781425"/>
              <a:ext cx="914400" cy="914400"/>
            </a:xfrm>
            <a:prstGeom prst="rect">
              <a:avLst/>
            </a:prstGeom>
          </p:spPr>
        </p:pic>
        <p:sp>
          <p:nvSpPr>
            <p:cNvPr id="38" name="TextBox 37">
              <a:extLst>
                <a:ext uri="{FF2B5EF4-FFF2-40B4-BE49-F238E27FC236}">
                  <a16:creationId xmlns:a16="http://schemas.microsoft.com/office/drawing/2014/main" id="{0DE05873-77FF-B9E6-D9D6-F047D0070966}"/>
                </a:ext>
              </a:extLst>
            </p:cNvPr>
            <p:cNvSpPr txBox="1"/>
            <p:nvPr/>
          </p:nvSpPr>
          <p:spPr>
            <a:xfrm>
              <a:off x="1218983" y="4069067"/>
              <a:ext cx="1683923" cy="369332"/>
            </a:xfrm>
            <a:prstGeom prst="rect">
              <a:avLst/>
            </a:prstGeom>
            <a:noFill/>
          </p:spPr>
          <p:txBody>
            <a:bodyPr wrap="none" rtlCol="0">
              <a:spAutoFit/>
            </a:bodyPr>
            <a:lstStyle/>
            <a:p>
              <a:pPr algn="r"/>
              <a:r>
                <a:rPr lang="en-SE" dirty="0">
                  <a:solidFill>
                    <a:schemeClr val="accent1">
                      <a:lumMod val="50000"/>
                    </a:schemeClr>
                  </a:solidFill>
                </a:rPr>
                <a:t>Collected Data</a:t>
              </a:r>
            </a:p>
          </p:txBody>
        </p:sp>
      </p:grpSp>
      <p:sp>
        <p:nvSpPr>
          <p:cNvPr id="39" name="TextBox 38">
            <a:extLst>
              <a:ext uri="{FF2B5EF4-FFF2-40B4-BE49-F238E27FC236}">
                <a16:creationId xmlns:a16="http://schemas.microsoft.com/office/drawing/2014/main" id="{7ACE5E68-823D-D37B-E193-309191002CF2}"/>
              </a:ext>
            </a:extLst>
          </p:cNvPr>
          <p:cNvSpPr txBox="1"/>
          <p:nvPr/>
        </p:nvSpPr>
        <p:spPr>
          <a:xfrm>
            <a:off x="5075404" y="4182898"/>
            <a:ext cx="2041200" cy="646331"/>
          </a:xfrm>
          <a:prstGeom prst="rect">
            <a:avLst/>
          </a:prstGeom>
          <a:noFill/>
        </p:spPr>
        <p:txBody>
          <a:bodyPr wrap="none" rtlCol="0">
            <a:spAutoFit/>
          </a:bodyPr>
          <a:lstStyle/>
          <a:p>
            <a:pPr algn="ctr"/>
            <a:r>
              <a:rPr lang="en-SE" dirty="0"/>
              <a:t>Bayesian Updating</a:t>
            </a:r>
            <a:br>
              <a:rPr lang="en-SE" dirty="0"/>
            </a:br>
            <a:r>
              <a:rPr lang="en-SE" dirty="0"/>
              <a:t>Engine</a:t>
            </a:r>
          </a:p>
        </p:txBody>
      </p:sp>
      <p:sp>
        <p:nvSpPr>
          <p:cNvPr id="40" name="TextBox 39">
            <a:extLst>
              <a:ext uri="{FF2B5EF4-FFF2-40B4-BE49-F238E27FC236}">
                <a16:creationId xmlns:a16="http://schemas.microsoft.com/office/drawing/2014/main" id="{7DDF19C1-786F-4F30-0DFA-0B6C415B911B}"/>
              </a:ext>
            </a:extLst>
          </p:cNvPr>
          <p:cNvSpPr txBox="1"/>
          <p:nvPr/>
        </p:nvSpPr>
        <p:spPr>
          <a:xfrm>
            <a:off x="8348016" y="4155199"/>
            <a:ext cx="2408352" cy="369332"/>
          </a:xfrm>
          <a:prstGeom prst="rect">
            <a:avLst/>
          </a:prstGeom>
          <a:noFill/>
        </p:spPr>
        <p:txBody>
          <a:bodyPr wrap="none" rtlCol="0">
            <a:spAutoFit/>
          </a:bodyPr>
          <a:lstStyle/>
          <a:p>
            <a:pPr algn="ctr"/>
            <a:r>
              <a:rPr lang="en-SE" dirty="0">
                <a:solidFill>
                  <a:schemeClr val="bg2">
                    <a:lumMod val="50000"/>
                  </a:schemeClr>
                </a:solidFill>
              </a:rPr>
              <a:t>Posterior Distributions</a:t>
            </a:r>
          </a:p>
        </p:txBody>
      </p:sp>
      <p:cxnSp>
        <p:nvCxnSpPr>
          <p:cNvPr id="41" name="Straight Arrow Connector 47">
            <a:extLst>
              <a:ext uri="{FF2B5EF4-FFF2-40B4-BE49-F238E27FC236}">
                <a16:creationId xmlns:a16="http://schemas.microsoft.com/office/drawing/2014/main" id="{BA9F251E-53A9-048D-C2A8-1F0B27DD4FCA}"/>
              </a:ext>
            </a:extLst>
          </p:cNvPr>
          <p:cNvCxnSpPr>
            <a:cxnSpLocks/>
            <a:stCxn id="37" idx="3"/>
            <a:endCxn id="34" idx="1"/>
          </p:cNvCxnSpPr>
          <p:nvPr/>
        </p:nvCxnSpPr>
        <p:spPr>
          <a:xfrm flipV="1">
            <a:off x="3871306" y="3726167"/>
            <a:ext cx="1767494" cy="512458"/>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1405A8B2-4875-6DC8-5C71-E32178B76276}"/>
              </a:ext>
            </a:extLst>
          </p:cNvPr>
          <p:cNvCxnSpPr>
            <a:cxnSpLocks/>
            <a:stCxn id="34" idx="3"/>
            <a:endCxn id="35" idx="1"/>
          </p:cNvCxnSpPr>
          <p:nvPr/>
        </p:nvCxnSpPr>
        <p:spPr>
          <a:xfrm>
            <a:off x="6553200" y="37261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43" name="Group 42">
            <a:extLst>
              <a:ext uri="{FF2B5EF4-FFF2-40B4-BE49-F238E27FC236}">
                <a16:creationId xmlns:a16="http://schemas.microsoft.com/office/drawing/2014/main" id="{A7E6EC63-C5F3-F356-B221-6A59872B3961}"/>
              </a:ext>
            </a:extLst>
          </p:cNvPr>
          <p:cNvGrpSpPr/>
          <p:nvPr/>
        </p:nvGrpSpPr>
        <p:grpSpPr>
          <a:xfrm>
            <a:off x="1215456" y="2806316"/>
            <a:ext cx="2655850" cy="914400"/>
            <a:chOff x="1215456" y="3781425"/>
            <a:chExt cx="2655850" cy="914400"/>
          </a:xfrm>
        </p:grpSpPr>
        <p:pic>
          <p:nvPicPr>
            <p:cNvPr id="44" name="Graphic 43" descr="Bar chart with solid fill">
              <a:extLst>
                <a:ext uri="{FF2B5EF4-FFF2-40B4-BE49-F238E27FC236}">
                  <a16:creationId xmlns:a16="http://schemas.microsoft.com/office/drawing/2014/main" id="{AC351CD8-B174-54B0-67D5-3B3A1E55DF2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956906" y="3781425"/>
              <a:ext cx="914400" cy="914400"/>
            </a:xfrm>
            <a:prstGeom prst="rect">
              <a:avLst/>
            </a:prstGeom>
          </p:spPr>
        </p:pic>
        <p:sp>
          <p:nvSpPr>
            <p:cNvPr id="45" name="TextBox 44">
              <a:extLst>
                <a:ext uri="{FF2B5EF4-FFF2-40B4-BE49-F238E27FC236}">
                  <a16:creationId xmlns:a16="http://schemas.microsoft.com/office/drawing/2014/main" id="{A21C2AC7-FC4F-1760-3029-FDD9E655415E}"/>
                </a:ext>
              </a:extLst>
            </p:cNvPr>
            <p:cNvSpPr txBox="1"/>
            <p:nvPr/>
          </p:nvSpPr>
          <p:spPr>
            <a:xfrm>
              <a:off x="1215456" y="4069067"/>
              <a:ext cx="1687450" cy="369332"/>
            </a:xfrm>
            <a:prstGeom prst="rect">
              <a:avLst/>
            </a:prstGeom>
            <a:noFill/>
          </p:spPr>
          <p:txBody>
            <a:bodyPr wrap="none" rtlCol="0">
              <a:spAutoFit/>
            </a:bodyPr>
            <a:lstStyle/>
            <a:p>
              <a:pPr algn="r"/>
              <a:r>
                <a:rPr lang="en-SE" dirty="0">
                  <a:solidFill>
                    <a:schemeClr val="accent2">
                      <a:lumMod val="50000"/>
                    </a:schemeClr>
                  </a:solidFill>
                </a:rPr>
                <a:t>Selected Priors</a:t>
              </a:r>
            </a:p>
          </p:txBody>
        </p:sp>
      </p:grpSp>
      <p:cxnSp>
        <p:nvCxnSpPr>
          <p:cNvPr id="46" name="Straight Arrow Connector 47">
            <a:extLst>
              <a:ext uri="{FF2B5EF4-FFF2-40B4-BE49-F238E27FC236}">
                <a16:creationId xmlns:a16="http://schemas.microsoft.com/office/drawing/2014/main" id="{F94C4543-E7FC-5298-1C92-1C665C6CB33E}"/>
              </a:ext>
            </a:extLst>
          </p:cNvPr>
          <p:cNvCxnSpPr>
            <a:cxnSpLocks/>
            <a:stCxn id="44" idx="3"/>
            <a:endCxn id="34" idx="1"/>
          </p:cNvCxnSpPr>
          <p:nvPr/>
        </p:nvCxnSpPr>
        <p:spPr>
          <a:xfrm>
            <a:off x="3871306" y="3263516"/>
            <a:ext cx="1767494" cy="46265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47" name="Right Brace 46">
            <a:extLst>
              <a:ext uri="{FF2B5EF4-FFF2-40B4-BE49-F238E27FC236}">
                <a16:creationId xmlns:a16="http://schemas.microsoft.com/office/drawing/2014/main" id="{978AE15D-45F6-B2AC-BC72-2547D9020BFC}"/>
              </a:ext>
            </a:extLst>
          </p:cNvPr>
          <p:cNvSpPr/>
          <p:nvPr/>
        </p:nvSpPr>
        <p:spPr>
          <a:xfrm rot="16200000">
            <a:off x="5917766" y="3078862"/>
            <a:ext cx="356467" cy="3947211"/>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SE"/>
          </a:p>
        </p:txBody>
      </p:sp>
      <p:grpSp>
        <p:nvGrpSpPr>
          <p:cNvPr id="48" name="Group 47">
            <a:extLst>
              <a:ext uri="{FF2B5EF4-FFF2-40B4-BE49-F238E27FC236}">
                <a16:creationId xmlns:a16="http://schemas.microsoft.com/office/drawing/2014/main" id="{DEFCB802-C35D-3729-97B7-625EC838CAE6}"/>
              </a:ext>
            </a:extLst>
          </p:cNvPr>
          <p:cNvGrpSpPr/>
          <p:nvPr/>
        </p:nvGrpSpPr>
        <p:grpSpPr>
          <a:xfrm>
            <a:off x="203635" y="1825625"/>
            <a:ext cx="504000" cy="504000"/>
            <a:chOff x="977950" y="2729564"/>
            <a:chExt cx="504000" cy="504000"/>
          </a:xfrm>
        </p:grpSpPr>
        <p:sp>
          <p:nvSpPr>
            <p:cNvPr id="49" name="Oval 48">
              <a:extLst>
                <a:ext uri="{FF2B5EF4-FFF2-40B4-BE49-F238E27FC236}">
                  <a16:creationId xmlns:a16="http://schemas.microsoft.com/office/drawing/2014/main" id="{5BEEE94C-7DAF-F6B7-19DD-71070718BCF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Golden Ratio with solid fill">
              <a:extLst>
                <a:ext uri="{FF2B5EF4-FFF2-40B4-BE49-F238E27FC236}">
                  <a16:creationId xmlns:a16="http://schemas.microsoft.com/office/drawing/2014/main" id="{FC678AB8-F575-037A-2071-DD669FF617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ACE508B0-C140-3556-3522-D0C4FC453666}"/>
              </a:ext>
            </a:extLst>
          </p:cNvPr>
          <p:cNvGrpSpPr/>
          <p:nvPr/>
        </p:nvGrpSpPr>
        <p:grpSpPr>
          <a:xfrm>
            <a:off x="203635" y="2439322"/>
            <a:ext cx="504000" cy="504000"/>
            <a:chOff x="977950" y="2729564"/>
            <a:chExt cx="504000" cy="504000"/>
          </a:xfrm>
        </p:grpSpPr>
        <p:sp>
          <p:nvSpPr>
            <p:cNvPr id="52" name="Oval 51">
              <a:extLst>
                <a:ext uri="{FF2B5EF4-FFF2-40B4-BE49-F238E27FC236}">
                  <a16:creationId xmlns:a16="http://schemas.microsoft.com/office/drawing/2014/main" id="{ECF56ECD-59D7-706F-7002-F2F8E03B588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Normal Distribution with solid fill">
              <a:extLst>
                <a:ext uri="{FF2B5EF4-FFF2-40B4-BE49-F238E27FC236}">
                  <a16:creationId xmlns:a16="http://schemas.microsoft.com/office/drawing/2014/main" id="{41224E94-F170-5273-9D26-7FF0441C6615}"/>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grpSp>
        <p:nvGrpSpPr>
          <p:cNvPr id="54" name="Group 53">
            <a:extLst>
              <a:ext uri="{FF2B5EF4-FFF2-40B4-BE49-F238E27FC236}">
                <a16:creationId xmlns:a16="http://schemas.microsoft.com/office/drawing/2014/main" id="{C7AE7D84-ED12-C0BE-E50C-CF2A574ED4C4}"/>
              </a:ext>
            </a:extLst>
          </p:cNvPr>
          <p:cNvGrpSpPr/>
          <p:nvPr/>
        </p:nvGrpSpPr>
        <p:grpSpPr>
          <a:xfrm>
            <a:off x="203635" y="3053019"/>
            <a:ext cx="504000" cy="504000"/>
            <a:chOff x="977950" y="2729564"/>
            <a:chExt cx="504000" cy="504000"/>
          </a:xfrm>
        </p:grpSpPr>
        <p:sp>
          <p:nvSpPr>
            <p:cNvPr id="55" name="Oval 54">
              <a:extLst>
                <a:ext uri="{FF2B5EF4-FFF2-40B4-BE49-F238E27FC236}">
                  <a16:creationId xmlns:a16="http://schemas.microsoft.com/office/drawing/2014/main" id="{FD8FCC1E-82F7-02CA-17FD-D63036855A4E}"/>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6" name="Graphic 55" descr="Abacus with solid fill">
              <a:extLst>
                <a:ext uri="{FF2B5EF4-FFF2-40B4-BE49-F238E27FC236}">
                  <a16:creationId xmlns:a16="http://schemas.microsoft.com/office/drawing/2014/main" id="{53E08DEC-D423-7CB2-ED06-25B97654288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57" name="Group 56">
            <a:extLst>
              <a:ext uri="{FF2B5EF4-FFF2-40B4-BE49-F238E27FC236}">
                <a16:creationId xmlns:a16="http://schemas.microsoft.com/office/drawing/2014/main" id="{632961FC-BA6D-C19E-1F86-99906D705327}"/>
              </a:ext>
            </a:extLst>
          </p:cNvPr>
          <p:cNvGrpSpPr/>
          <p:nvPr/>
        </p:nvGrpSpPr>
        <p:grpSpPr>
          <a:xfrm>
            <a:off x="203635" y="3666716"/>
            <a:ext cx="504000" cy="504000"/>
            <a:chOff x="977950" y="2729564"/>
            <a:chExt cx="504000" cy="504000"/>
          </a:xfrm>
        </p:grpSpPr>
        <p:sp>
          <p:nvSpPr>
            <p:cNvPr id="58" name="Oval 57">
              <a:extLst>
                <a:ext uri="{FF2B5EF4-FFF2-40B4-BE49-F238E27FC236}">
                  <a16:creationId xmlns:a16="http://schemas.microsoft.com/office/drawing/2014/main" id="{3D445849-5485-147E-7141-CF3DD910F7CE}"/>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Trigonometry with solid fill">
              <a:extLst>
                <a:ext uri="{FF2B5EF4-FFF2-40B4-BE49-F238E27FC236}">
                  <a16:creationId xmlns:a16="http://schemas.microsoft.com/office/drawing/2014/main" id="{ECA40A61-7EE2-5877-1009-D8DCF9A8E5C7}"/>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60" name="Group 59">
            <a:extLst>
              <a:ext uri="{FF2B5EF4-FFF2-40B4-BE49-F238E27FC236}">
                <a16:creationId xmlns:a16="http://schemas.microsoft.com/office/drawing/2014/main" id="{2D9E2391-D1C1-52A9-E37D-D2D7BE5A94B8}"/>
              </a:ext>
            </a:extLst>
          </p:cNvPr>
          <p:cNvGrpSpPr/>
          <p:nvPr/>
        </p:nvGrpSpPr>
        <p:grpSpPr>
          <a:xfrm>
            <a:off x="203635" y="4280414"/>
            <a:ext cx="504000" cy="504000"/>
            <a:chOff x="977950" y="2729564"/>
            <a:chExt cx="504000" cy="504000"/>
          </a:xfrm>
        </p:grpSpPr>
        <p:sp>
          <p:nvSpPr>
            <p:cNvPr id="61" name="Oval 60">
              <a:extLst>
                <a:ext uri="{FF2B5EF4-FFF2-40B4-BE49-F238E27FC236}">
                  <a16:creationId xmlns:a16="http://schemas.microsoft.com/office/drawing/2014/main" id="{CE2635FC-9CFB-8496-F26C-6CFF87DB622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2" name="Graphic 61" descr="Scatterplot with solid fill">
              <a:extLst>
                <a:ext uri="{FF2B5EF4-FFF2-40B4-BE49-F238E27FC236}">
                  <a16:creationId xmlns:a16="http://schemas.microsoft.com/office/drawing/2014/main" id="{CF4BA563-1B59-7FDD-6A16-84947665BFC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cxnSp>
        <p:nvCxnSpPr>
          <p:cNvPr id="63" name="Straight Arrow Connector 62">
            <a:extLst>
              <a:ext uri="{FF2B5EF4-FFF2-40B4-BE49-F238E27FC236}">
                <a16:creationId xmlns:a16="http://schemas.microsoft.com/office/drawing/2014/main" id="{5DE69137-E4A0-1E8E-D5C1-B997310B4CA5}"/>
              </a:ext>
            </a:extLst>
          </p:cNvPr>
          <p:cNvCxnSpPr>
            <a:cxnSpLocks/>
            <a:stCxn id="49" idx="4"/>
            <a:endCxn id="52"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4" name="Straight Arrow Connector 63">
            <a:extLst>
              <a:ext uri="{FF2B5EF4-FFF2-40B4-BE49-F238E27FC236}">
                <a16:creationId xmlns:a16="http://schemas.microsoft.com/office/drawing/2014/main" id="{6FA5E7F6-7604-5522-2F08-AE65C331552C}"/>
              </a:ext>
            </a:extLst>
          </p:cNvPr>
          <p:cNvCxnSpPr>
            <a:cxnSpLocks/>
            <a:stCxn id="52" idx="4"/>
            <a:endCxn id="55"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5" name="Straight Arrow Connector 64">
            <a:extLst>
              <a:ext uri="{FF2B5EF4-FFF2-40B4-BE49-F238E27FC236}">
                <a16:creationId xmlns:a16="http://schemas.microsoft.com/office/drawing/2014/main" id="{FAB3E0AE-504A-4694-F1ED-C832988A84A3}"/>
              </a:ext>
            </a:extLst>
          </p:cNvPr>
          <p:cNvCxnSpPr>
            <a:cxnSpLocks/>
            <a:stCxn id="55" idx="4"/>
            <a:endCxn id="58"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6" name="Straight Arrow Connector 65">
            <a:extLst>
              <a:ext uri="{FF2B5EF4-FFF2-40B4-BE49-F238E27FC236}">
                <a16:creationId xmlns:a16="http://schemas.microsoft.com/office/drawing/2014/main" id="{968823FD-B5BC-529E-9318-B64038E12420}"/>
              </a:ext>
            </a:extLst>
          </p:cNvPr>
          <p:cNvCxnSpPr>
            <a:cxnSpLocks/>
            <a:stCxn id="58" idx="4"/>
            <a:endCxn id="61"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8119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37A32-7971-2661-3119-A5FA89D371C5}"/>
              </a:ext>
            </a:extLst>
          </p:cNvPr>
          <p:cNvSpPr>
            <a:spLocks noGrp="1"/>
          </p:cNvSpPr>
          <p:nvPr>
            <p:ph type="title"/>
          </p:nvPr>
        </p:nvSpPr>
        <p:spPr/>
        <p:txBody>
          <a:bodyPr/>
          <a:lstStyle/>
          <a:p>
            <a:r>
              <a:rPr lang="en-SE" dirty="0"/>
              <a:t>Bayesian Updating Engine</a:t>
            </a:r>
          </a:p>
        </p:txBody>
      </p:sp>
      <p:pic>
        <p:nvPicPr>
          <p:cNvPr id="7" name="Content Placeholder 6">
            <a:extLst>
              <a:ext uri="{FF2B5EF4-FFF2-40B4-BE49-F238E27FC236}">
                <a16:creationId xmlns:a16="http://schemas.microsoft.com/office/drawing/2014/main" id="{6F32E14F-B96D-EA5A-6821-2BF013ADD3B0}"/>
              </a:ext>
            </a:extLst>
          </p:cNvPr>
          <p:cNvPicPr>
            <a:picLocks noGrp="1" noChangeAspect="1"/>
          </p:cNvPicPr>
          <p:nvPr>
            <p:ph idx="1"/>
          </p:nvPr>
        </p:nvPicPr>
        <p:blipFill>
          <a:blip r:embed="rId2"/>
          <a:stretch>
            <a:fillRect/>
          </a:stretch>
        </p:blipFill>
        <p:spPr>
          <a:xfrm>
            <a:off x="7670644" y="1825625"/>
            <a:ext cx="3813721" cy="4351338"/>
          </a:xfrm>
          <a:prstGeom prst="rect">
            <a:avLst/>
          </a:prstGeom>
        </p:spPr>
      </p:pic>
      <p:sp>
        <p:nvSpPr>
          <p:cNvPr id="4" name="Date Placeholder 3">
            <a:extLst>
              <a:ext uri="{FF2B5EF4-FFF2-40B4-BE49-F238E27FC236}">
                <a16:creationId xmlns:a16="http://schemas.microsoft.com/office/drawing/2014/main" id="{0AD68158-1955-382C-1F94-0223CEE81384}"/>
              </a:ext>
            </a:extLst>
          </p:cNvPr>
          <p:cNvSpPr>
            <a:spLocks noGrp="1"/>
          </p:cNvSpPr>
          <p:nvPr>
            <p:ph type="dt" sz="half" idx="10"/>
          </p:nvPr>
        </p:nvSpPr>
        <p:spPr/>
        <p:txBody>
          <a:bodyPr/>
          <a:lstStyle/>
          <a:p>
            <a:r>
              <a:rPr lang="en-SE"/>
              <a:t>2026-08-17</a:t>
            </a:r>
          </a:p>
        </p:txBody>
      </p:sp>
      <p:sp>
        <p:nvSpPr>
          <p:cNvPr id="3" name="Footer Placeholder 2">
            <a:extLst>
              <a:ext uri="{FF2B5EF4-FFF2-40B4-BE49-F238E27FC236}">
                <a16:creationId xmlns:a16="http://schemas.microsoft.com/office/drawing/2014/main" id="{C5E281B7-82C9-84A6-DA08-D8FCACD8B941}"/>
              </a:ext>
            </a:extLst>
          </p:cNvPr>
          <p:cNvSpPr>
            <a:spLocks noGrp="1"/>
          </p:cNvSpPr>
          <p:nvPr>
            <p:ph type="ftr" sz="quarter" idx="11"/>
          </p:nvPr>
        </p:nvSpPr>
        <p:spPr/>
        <p:txBody>
          <a:bodyPr/>
          <a:lstStyle/>
          <a:p>
            <a:r>
              <a:rPr lang="de-DE"/>
              <a:t>Bayesian Data Analysis Tutorial</a:t>
            </a:r>
            <a:endParaRPr lang="en-SE"/>
          </a:p>
        </p:txBody>
      </p:sp>
      <p:sp>
        <p:nvSpPr>
          <p:cNvPr id="5" name="Slide Number Placeholder 4">
            <a:extLst>
              <a:ext uri="{FF2B5EF4-FFF2-40B4-BE49-F238E27FC236}">
                <a16:creationId xmlns:a16="http://schemas.microsoft.com/office/drawing/2014/main" id="{EF511769-ADC8-D18E-3C9C-C44DC965C344}"/>
              </a:ext>
            </a:extLst>
          </p:cNvPr>
          <p:cNvSpPr>
            <a:spLocks noGrp="1"/>
          </p:cNvSpPr>
          <p:nvPr>
            <p:ph type="sldNum" sz="quarter" idx="12"/>
          </p:nvPr>
        </p:nvSpPr>
        <p:spPr/>
        <p:txBody>
          <a:bodyPr/>
          <a:lstStyle/>
          <a:p>
            <a:fld id="{271ECC92-9CDE-4EB3-B1C5-F46B9E1FA3C1}" type="slidenum">
              <a:rPr lang="en-SE" smtClean="0"/>
              <a:t>55</a:t>
            </a:fld>
            <a:endParaRPr lang="en-SE"/>
          </a:p>
        </p:txBody>
      </p:sp>
      <p:pic>
        <p:nvPicPr>
          <p:cNvPr id="31" name="Picture 30">
            <a:extLst>
              <a:ext uri="{FF2B5EF4-FFF2-40B4-BE49-F238E27FC236}">
                <a16:creationId xmlns:a16="http://schemas.microsoft.com/office/drawing/2014/main" id="{B623F022-D2F5-2F29-DF1E-EA4E62A17382}"/>
              </a:ext>
            </a:extLst>
          </p:cNvPr>
          <p:cNvPicPr>
            <a:picLocks noChangeAspect="1"/>
          </p:cNvPicPr>
          <p:nvPr/>
        </p:nvPicPr>
        <p:blipFill>
          <a:blip r:embed="rId3"/>
          <a:stretch>
            <a:fillRect/>
          </a:stretch>
        </p:blipFill>
        <p:spPr>
          <a:xfrm>
            <a:off x="1110835" y="4580736"/>
            <a:ext cx="2872989" cy="1775614"/>
          </a:xfrm>
          <a:prstGeom prst="rect">
            <a:avLst/>
          </a:prstGeom>
        </p:spPr>
      </p:pic>
      <p:sp>
        <p:nvSpPr>
          <p:cNvPr id="32" name="Content Placeholder 2">
            <a:extLst>
              <a:ext uri="{FF2B5EF4-FFF2-40B4-BE49-F238E27FC236}">
                <a16:creationId xmlns:a16="http://schemas.microsoft.com/office/drawing/2014/main" id="{4AA235AE-30AE-9634-4EB6-ABE93DCE21AC}"/>
              </a:ext>
            </a:extLst>
          </p:cNvPr>
          <p:cNvSpPr txBox="1">
            <a:spLocks/>
          </p:cNvSpPr>
          <p:nvPr/>
        </p:nvSpPr>
        <p:spPr>
          <a:xfrm>
            <a:off x="838200" y="1825625"/>
            <a:ext cx="6778443" cy="22910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Imagine estimating the proportion of water on an unknown planet with zero prior knowledge. Every data point is a random probe from the planet’s surface, reporting either </a:t>
            </a:r>
            <a:r>
              <a:rPr lang="en-SE" b="1" dirty="0">
                <a:solidFill>
                  <a:schemeClr val="accent5"/>
                </a:solidFill>
              </a:rPr>
              <a:t>W</a:t>
            </a:r>
            <a:r>
              <a:rPr lang="en-SE" dirty="0">
                <a:solidFill>
                  <a:schemeClr val="accent5"/>
                </a:solidFill>
              </a:rPr>
              <a:t>ater</a:t>
            </a:r>
            <a:r>
              <a:rPr lang="en-SE" dirty="0"/>
              <a:t> or </a:t>
            </a:r>
            <a:r>
              <a:rPr lang="en-SE" b="1" dirty="0">
                <a:solidFill>
                  <a:srgbClr val="663300"/>
                </a:solidFill>
              </a:rPr>
              <a:t>L</a:t>
            </a:r>
            <a:r>
              <a:rPr lang="en-SE" dirty="0">
                <a:solidFill>
                  <a:srgbClr val="663300"/>
                </a:solidFill>
              </a:rPr>
              <a:t>and</a:t>
            </a:r>
            <a:r>
              <a:rPr lang="en-SE" dirty="0"/>
              <a:t>. </a:t>
            </a:r>
            <a:endParaRPr lang="en-SE" dirty="0">
              <a:solidFill>
                <a:srgbClr val="663300"/>
              </a:solidFill>
            </a:endParaRPr>
          </a:p>
        </p:txBody>
      </p:sp>
      <p:sp>
        <p:nvSpPr>
          <p:cNvPr id="33" name="TextBox 32">
            <a:extLst>
              <a:ext uri="{FF2B5EF4-FFF2-40B4-BE49-F238E27FC236}">
                <a16:creationId xmlns:a16="http://schemas.microsoft.com/office/drawing/2014/main" id="{2B9EA344-8396-398C-A1F8-B52E02DA9C2B}"/>
              </a:ext>
            </a:extLst>
          </p:cNvPr>
          <p:cNvSpPr txBox="1"/>
          <p:nvPr/>
        </p:nvSpPr>
        <p:spPr>
          <a:xfrm>
            <a:off x="1249683" y="4095748"/>
            <a:ext cx="2977738" cy="369332"/>
          </a:xfrm>
          <a:prstGeom prst="rect">
            <a:avLst/>
          </a:prstGeom>
          <a:noFill/>
        </p:spPr>
        <p:txBody>
          <a:bodyPr wrap="none" rtlCol="0">
            <a:spAutoFit/>
          </a:bodyPr>
          <a:lstStyle/>
          <a:p>
            <a:pPr algn="ctr"/>
            <a:r>
              <a:rPr lang="en-SE" dirty="0"/>
              <a:t>Prior Probability Distribution</a:t>
            </a:r>
          </a:p>
        </p:txBody>
      </p:sp>
      <p:sp>
        <p:nvSpPr>
          <p:cNvPr id="35" name="TextBox 34">
            <a:extLst>
              <a:ext uri="{FF2B5EF4-FFF2-40B4-BE49-F238E27FC236}">
                <a16:creationId xmlns:a16="http://schemas.microsoft.com/office/drawing/2014/main" id="{0E057998-BF9E-E14C-BB5E-1FA1D180A723}"/>
              </a:ext>
            </a:extLst>
          </p:cNvPr>
          <p:cNvSpPr txBox="1"/>
          <p:nvPr/>
        </p:nvSpPr>
        <p:spPr>
          <a:xfrm>
            <a:off x="5231496" y="4095748"/>
            <a:ext cx="1683924" cy="369332"/>
          </a:xfrm>
          <a:prstGeom prst="rect">
            <a:avLst/>
          </a:prstGeom>
          <a:noFill/>
        </p:spPr>
        <p:txBody>
          <a:bodyPr wrap="none" rtlCol="0">
            <a:spAutoFit/>
          </a:bodyPr>
          <a:lstStyle/>
          <a:p>
            <a:pPr algn="ctr"/>
            <a:r>
              <a:rPr lang="en-SE" dirty="0"/>
              <a:t>Collected Data</a:t>
            </a:r>
          </a:p>
        </p:txBody>
      </p:sp>
      <p:sp>
        <p:nvSpPr>
          <p:cNvPr id="36" name="TextBox 35">
            <a:extLst>
              <a:ext uri="{FF2B5EF4-FFF2-40B4-BE49-F238E27FC236}">
                <a16:creationId xmlns:a16="http://schemas.microsoft.com/office/drawing/2014/main" id="{A612BCAC-AC96-B7BF-F186-70FB7F6FCAB0}"/>
              </a:ext>
            </a:extLst>
          </p:cNvPr>
          <p:cNvSpPr txBox="1"/>
          <p:nvPr/>
        </p:nvSpPr>
        <p:spPr>
          <a:xfrm>
            <a:off x="4733447" y="4589950"/>
            <a:ext cx="2725105" cy="369332"/>
          </a:xfrm>
          <a:prstGeom prst="rect">
            <a:avLst/>
          </a:prstGeom>
          <a:noFill/>
        </p:spPr>
        <p:txBody>
          <a:bodyPr wrap="none" rtlCol="0">
            <a:spAutoFit/>
          </a:bodyPr>
          <a:lstStyle/>
          <a:p>
            <a:r>
              <a:rPr lang="en-SE" dirty="0"/>
              <a:t>{</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 </a:t>
            </a:r>
            <a:r>
              <a:rPr lang="en-SE" dirty="0">
                <a:solidFill>
                  <a:schemeClr val="accent5"/>
                </a:solidFill>
              </a:rPr>
              <a:t>W</a:t>
            </a:r>
            <a:r>
              <a:rPr lang="en-SE" dirty="0"/>
              <a:t>, </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 </a:t>
            </a:r>
            <a:r>
              <a:rPr lang="en-SE" dirty="0">
                <a:solidFill>
                  <a:srgbClr val="663300"/>
                </a:solidFill>
              </a:rPr>
              <a:t>L</a:t>
            </a:r>
            <a:r>
              <a:rPr lang="en-SE" dirty="0"/>
              <a:t>, </a:t>
            </a:r>
            <a:r>
              <a:rPr lang="en-SE" dirty="0">
                <a:solidFill>
                  <a:schemeClr val="accent5"/>
                </a:solidFill>
              </a:rPr>
              <a:t>W</a:t>
            </a:r>
            <a:r>
              <a:rPr lang="en-SE" dirty="0"/>
              <a:t>}</a:t>
            </a:r>
          </a:p>
        </p:txBody>
      </p:sp>
      <p:sp>
        <p:nvSpPr>
          <p:cNvPr id="37" name="Rectangle 36">
            <a:extLst>
              <a:ext uri="{FF2B5EF4-FFF2-40B4-BE49-F238E27FC236}">
                <a16:creationId xmlns:a16="http://schemas.microsoft.com/office/drawing/2014/main" id="{A3D505D8-780A-8D58-2846-58E128E0C8C2}"/>
              </a:ext>
            </a:extLst>
          </p:cNvPr>
          <p:cNvSpPr/>
          <p:nvPr/>
        </p:nvSpPr>
        <p:spPr>
          <a:xfrm>
            <a:off x="7616643" y="1690688"/>
            <a:ext cx="1413057"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39" name="Rectangle 38">
            <a:extLst>
              <a:ext uri="{FF2B5EF4-FFF2-40B4-BE49-F238E27FC236}">
                <a16:creationId xmlns:a16="http://schemas.microsoft.com/office/drawing/2014/main" id="{9AEB99EE-06FD-2032-9CD9-D3F794160C3F}"/>
              </a:ext>
            </a:extLst>
          </p:cNvPr>
          <p:cNvSpPr/>
          <p:nvPr/>
        </p:nvSpPr>
        <p:spPr>
          <a:xfrm>
            <a:off x="9029700" y="1690688"/>
            <a:ext cx="1189473"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1" name="Rectangle 40">
            <a:extLst>
              <a:ext uri="{FF2B5EF4-FFF2-40B4-BE49-F238E27FC236}">
                <a16:creationId xmlns:a16="http://schemas.microsoft.com/office/drawing/2014/main" id="{7DDC9A2C-7A8E-2007-5A8C-7364DB647403}"/>
              </a:ext>
            </a:extLst>
          </p:cNvPr>
          <p:cNvSpPr/>
          <p:nvPr/>
        </p:nvSpPr>
        <p:spPr>
          <a:xfrm>
            <a:off x="10219173" y="1690688"/>
            <a:ext cx="1189473" cy="15097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3" name="Rectangle 42">
            <a:extLst>
              <a:ext uri="{FF2B5EF4-FFF2-40B4-BE49-F238E27FC236}">
                <a16:creationId xmlns:a16="http://schemas.microsoft.com/office/drawing/2014/main" id="{20B7FE45-DD6B-F3E8-4A14-97A2FBFF9AE4}"/>
              </a:ext>
            </a:extLst>
          </p:cNvPr>
          <p:cNvSpPr/>
          <p:nvPr/>
        </p:nvSpPr>
        <p:spPr>
          <a:xfrm>
            <a:off x="7616642" y="3200399"/>
            <a:ext cx="3792003" cy="29765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grpSp>
        <p:nvGrpSpPr>
          <p:cNvPr id="44" name="Group 43">
            <a:extLst>
              <a:ext uri="{FF2B5EF4-FFF2-40B4-BE49-F238E27FC236}">
                <a16:creationId xmlns:a16="http://schemas.microsoft.com/office/drawing/2014/main" id="{364D282D-C882-B545-7F01-B0C21BAADE1A}"/>
              </a:ext>
            </a:extLst>
          </p:cNvPr>
          <p:cNvGrpSpPr/>
          <p:nvPr/>
        </p:nvGrpSpPr>
        <p:grpSpPr>
          <a:xfrm>
            <a:off x="203635" y="1825625"/>
            <a:ext cx="504000" cy="504000"/>
            <a:chOff x="977950" y="2729564"/>
            <a:chExt cx="504000" cy="504000"/>
          </a:xfrm>
        </p:grpSpPr>
        <p:sp>
          <p:nvSpPr>
            <p:cNvPr id="45" name="Oval 44">
              <a:extLst>
                <a:ext uri="{FF2B5EF4-FFF2-40B4-BE49-F238E27FC236}">
                  <a16:creationId xmlns:a16="http://schemas.microsoft.com/office/drawing/2014/main" id="{087EA8A4-B5FA-BAC3-559E-3F7485D260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Golden Ratio with solid fill">
              <a:extLst>
                <a:ext uri="{FF2B5EF4-FFF2-40B4-BE49-F238E27FC236}">
                  <a16:creationId xmlns:a16="http://schemas.microsoft.com/office/drawing/2014/main" id="{8A497BA8-649C-CA83-51BC-F0237EE7EF2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7" name="Group 46">
            <a:extLst>
              <a:ext uri="{FF2B5EF4-FFF2-40B4-BE49-F238E27FC236}">
                <a16:creationId xmlns:a16="http://schemas.microsoft.com/office/drawing/2014/main" id="{181FD94A-129B-89D8-8ADD-64622EEB3C44}"/>
              </a:ext>
            </a:extLst>
          </p:cNvPr>
          <p:cNvGrpSpPr/>
          <p:nvPr/>
        </p:nvGrpSpPr>
        <p:grpSpPr>
          <a:xfrm>
            <a:off x="203635" y="2439322"/>
            <a:ext cx="504000" cy="504000"/>
            <a:chOff x="977950" y="2729564"/>
            <a:chExt cx="504000" cy="504000"/>
          </a:xfrm>
        </p:grpSpPr>
        <p:sp>
          <p:nvSpPr>
            <p:cNvPr id="48" name="Oval 47">
              <a:extLst>
                <a:ext uri="{FF2B5EF4-FFF2-40B4-BE49-F238E27FC236}">
                  <a16:creationId xmlns:a16="http://schemas.microsoft.com/office/drawing/2014/main" id="{5C78332D-F479-A423-5982-E411E5D59E90}"/>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9" name="Graphic 48" descr="Normal Distribution with solid fill">
              <a:extLst>
                <a:ext uri="{FF2B5EF4-FFF2-40B4-BE49-F238E27FC236}">
                  <a16:creationId xmlns:a16="http://schemas.microsoft.com/office/drawing/2014/main" id="{C41BF514-9A2E-3099-821A-A3ACD9D27FD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50" name="Group 49">
            <a:extLst>
              <a:ext uri="{FF2B5EF4-FFF2-40B4-BE49-F238E27FC236}">
                <a16:creationId xmlns:a16="http://schemas.microsoft.com/office/drawing/2014/main" id="{C1EA66B7-136E-B55E-6511-C1542F426538}"/>
              </a:ext>
            </a:extLst>
          </p:cNvPr>
          <p:cNvGrpSpPr/>
          <p:nvPr/>
        </p:nvGrpSpPr>
        <p:grpSpPr>
          <a:xfrm>
            <a:off x="203635" y="3053019"/>
            <a:ext cx="504000" cy="504000"/>
            <a:chOff x="977950" y="2729564"/>
            <a:chExt cx="504000" cy="504000"/>
          </a:xfrm>
        </p:grpSpPr>
        <p:sp>
          <p:nvSpPr>
            <p:cNvPr id="51" name="Oval 50">
              <a:extLst>
                <a:ext uri="{FF2B5EF4-FFF2-40B4-BE49-F238E27FC236}">
                  <a16:creationId xmlns:a16="http://schemas.microsoft.com/office/drawing/2014/main" id="{561C7E88-D92E-E43D-9E94-672B89A84019}"/>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2" name="Graphic 51" descr="Abacus with solid fill">
              <a:extLst>
                <a:ext uri="{FF2B5EF4-FFF2-40B4-BE49-F238E27FC236}">
                  <a16:creationId xmlns:a16="http://schemas.microsoft.com/office/drawing/2014/main" id="{0DF55888-686B-9CA8-3CDD-6D1A8AD8253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53" name="Group 52">
            <a:extLst>
              <a:ext uri="{FF2B5EF4-FFF2-40B4-BE49-F238E27FC236}">
                <a16:creationId xmlns:a16="http://schemas.microsoft.com/office/drawing/2014/main" id="{0D8924B2-07BB-9D93-5F75-B01AF442B401}"/>
              </a:ext>
            </a:extLst>
          </p:cNvPr>
          <p:cNvGrpSpPr/>
          <p:nvPr/>
        </p:nvGrpSpPr>
        <p:grpSpPr>
          <a:xfrm>
            <a:off x="203635" y="3666716"/>
            <a:ext cx="504000" cy="504000"/>
            <a:chOff x="977950" y="2729564"/>
            <a:chExt cx="504000" cy="504000"/>
          </a:xfrm>
        </p:grpSpPr>
        <p:sp>
          <p:nvSpPr>
            <p:cNvPr id="54" name="Oval 53">
              <a:extLst>
                <a:ext uri="{FF2B5EF4-FFF2-40B4-BE49-F238E27FC236}">
                  <a16:creationId xmlns:a16="http://schemas.microsoft.com/office/drawing/2014/main" id="{0CC1C6D2-7543-D8A6-FBCB-A0311CFE824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Trigonometry with solid fill">
              <a:extLst>
                <a:ext uri="{FF2B5EF4-FFF2-40B4-BE49-F238E27FC236}">
                  <a16:creationId xmlns:a16="http://schemas.microsoft.com/office/drawing/2014/main" id="{2E4D2A12-1CBF-1EC2-EC76-1644F7C59B1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A0BDF179-5C89-FB39-63FD-67B8342020D1}"/>
              </a:ext>
            </a:extLst>
          </p:cNvPr>
          <p:cNvGrpSpPr/>
          <p:nvPr/>
        </p:nvGrpSpPr>
        <p:grpSpPr>
          <a:xfrm>
            <a:off x="203635" y="4280414"/>
            <a:ext cx="504000" cy="504000"/>
            <a:chOff x="977950" y="2729564"/>
            <a:chExt cx="504000" cy="504000"/>
          </a:xfrm>
        </p:grpSpPr>
        <p:sp>
          <p:nvSpPr>
            <p:cNvPr id="57" name="Oval 56">
              <a:extLst>
                <a:ext uri="{FF2B5EF4-FFF2-40B4-BE49-F238E27FC236}">
                  <a16:creationId xmlns:a16="http://schemas.microsoft.com/office/drawing/2014/main" id="{6452A6E2-4FB4-019A-2E9C-36AC84C2637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Scatterplot with solid fill">
              <a:extLst>
                <a:ext uri="{FF2B5EF4-FFF2-40B4-BE49-F238E27FC236}">
                  <a16:creationId xmlns:a16="http://schemas.microsoft.com/office/drawing/2014/main" id="{01510AF7-2C5D-FE3B-57EF-4970BFA12DD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9" name="Straight Arrow Connector 58">
            <a:extLst>
              <a:ext uri="{FF2B5EF4-FFF2-40B4-BE49-F238E27FC236}">
                <a16:creationId xmlns:a16="http://schemas.microsoft.com/office/drawing/2014/main" id="{492810B0-74F8-848C-8D54-4AD22E582446}"/>
              </a:ext>
            </a:extLst>
          </p:cNvPr>
          <p:cNvCxnSpPr>
            <a:cxnSpLocks/>
            <a:stCxn id="45" idx="4"/>
            <a:endCxn id="48"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9068A560-12DE-5D8B-F105-6D4BD71B2F6D}"/>
              </a:ext>
            </a:extLst>
          </p:cNvPr>
          <p:cNvCxnSpPr>
            <a:cxnSpLocks/>
            <a:stCxn id="48" idx="4"/>
            <a:endCxn id="51"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14EF9D17-C3AE-0BC6-8339-3B6B078C43F1}"/>
              </a:ext>
            </a:extLst>
          </p:cNvPr>
          <p:cNvCxnSpPr>
            <a:cxnSpLocks/>
            <a:stCxn id="51" idx="4"/>
            <a:endCxn id="54"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F3119D26-1522-F2B7-D8A6-C58CD78AF7C7}"/>
              </a:ext>
            </a:extLst>
          </p:cNvPr>
          <p:cNvCxnSpPr>
            <a:cxnSpLocks/>
            <a:stCxn id="54" idx="4"/>
            <a:endCxn id="57"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5084133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39"/>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4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5" grpId="0"/>
      <p:bldP spid="36" grpId="0"/>
      <p:bldP spid="37" grpId="0" animBg="1"/>
      <p:bldP spid="39" grpId="0" animBg="1"/>
      <p:bldP spid="41" grpId="0" animBg="1"/>
      <p:bldP spid="4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CF4B6-7329-D600-B92C-5086E7608913}"/>
              </a:ext>
            </a:extLst>
          </p:cNvPr>
          <p:cNvSpPr>
            <a:spLocks noGrp="1"/>
          </p:cNvSpPr>
          <p:nvPr>
            <p:ph type="title"/>
          </p:nvPr>
        </p:nvSpPr>
        <p:spPr/>
        <p:txBody>
          <a:bodyPr/>
          <a:lstStyle/>
          <a:p>
            <a:r>
              <a:rPr lang="en-SE" dirty="0"/>
              <a:t>Bayesian Updating Engine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162823-C5C5-6F95-6B83-144A74E93BD7}"/>
                  </a:ext>
                </a:extLst>
              </p:cNvPr>
              <p:cNvSpPr>
                <a:spLocks noGrp="1"/>
              </p:cNvSpPr>
              <p:nvPr>
                <p:ph idx="1"/>
              </p:nvPr>
            </p:nvSpPr>
            <p:spPr>
              <a:xfrm>
                <a:off x="838200" y="1825625"/>
                <a:ext cx="10515600" cy="955675"/>
              </a:xfrm>
            </p:spPr>
            <p:txBody>
              <a:bodyPr/>
              <a:lstStyle/>
              <a:p>
                <a:pPr marL="0" indent="0">
                  <a:buNone/>
                </a:pPr>
                <a:r>
                  <a:rPr lang="en-SE" dirty="0"/>
                  <a:t>The computational challenge with this process is estimating the </a:t>
                </a:r>
                <a:r>
                  <a:rPr lang="en-US" b="1" dirty="0">
                    <a:solidFill>
                      <a:schemeClr val="accent6">
                        <a:lumMod val="50000"/>
                      </a:schemeClr>
                    </a:solidFill>
                  </a:rPr>
                  <a:t>Marginal likelihood</a:t>
                </a:r>
                <a:r>
                  <a:rPr lang="en-SE" b="1" dirty="0">
                    <a:solidFill>
                      <a:schemeClr val="accent6">
                        <a:lumMod val="50000"/>
                      </a:schemeClr>
                    </a:solidFill>
                  </a:rPr>
                  <a:t> </a:t>
                </a:r>
                <a14:m>
                  <m:oMath xmlns:m="http://schemas.openxmlformats.org/officeDocument/2006/math">
                    <m:r>
                      <a:rPr lang="en-SE" b="1" i="1" smtClean="0">
                        <a:solidFill>
                          <a:schemeClr val="accent6">
                            <a:lumMod val="50000"/>
                          </a:schemeClr>
                        </a:solidFill>
                        <a:latin typeface="Cambria Math" panose="02040503050406030204" pitchFamily="18" charset="0"/>
                      </a:rPr>
                      <m:t>𝑷</m:t>
                    </m:r>
                    <m:r>
                      <a:rPr lang="en-SE" b="1" i="1" smtClean="0">
                        <a:solidFill>
                          <a:schemeClr val="accent6">
                            <a:lumMod val="50000"/>
                          </a:schemeClr>
                        </a:solidFill>
                        <a:latin typeface="Cambria Math" panose="02040503050406030204" pitchFamily="18" charset="0"/>
                      </a:rPr>
                      <m:t>(</m:t>
                    </m:r>
                    <m:r>
                      <a:rPr lang="en-SE" b="1" i="1" smtClean="0">
                        <a:solidFill>
                          <a:schemeClr val="accent6">
                            <a:lumMod val="50000"/>
                          </a:schemeClr>
                        </a:solidFill>
                        <a:latin typeface="Cambria Math" panose="02040503050406030204" pitchFamily="18" charset="0"/>
                      </a:rPr>
                      <m:t>𝒅</m:t>
                    </m:r>
                    <m:r>
                      <a:rPr lang="en-SE" b="1" i="1" smtClean="0">
                        <a:solidFill>
                          <a:schemeClr val="accent6">
                            <a:lumMod val="50000"/>
                          </a:schemeClr>
                        </a:solidFill>
                        <a:latin typeface="Cambria Math" panose="02040503050406030204" pitchFamily="18" charset="0"/>
                      </a:rPr>
                      <m:t>)</m:t>
                    </m:r>
                  </m:oMath>
                </a14:m>
                <a:r>
                  <a:rPr lang="en-SE" b="1" dirty="0">
                    <a:solidFill>
                      <a:schemeClr val="accent6">
                        <a:lumMod val="50000"/>
                      </a:schemeClr>
                    </a:solidFill>
                  </a:rPr>
                  <a:t>.</a:t>
                </a:r>
              </a:p>
            </p:txBody>
          </p:sp>
        </mc:Choice>
        <mc:Fallback xmlns="">
          <p:sp>
            <p:nvSpPr>
              <p:cNvPr id="3" name="Content Placeholder 2">
                <a:extLst>
                  <a:ext uri="{FF2B5EF4-FFF2-40B4-BE49-F238E27FC236}">
                    <a16:creationId xmlns:a16="http://schemas.microsoft.com/office/drawing/2014/main" id="{BE162823-C5C5-6F95-6B83-144A74E93BD7}"/>
                  </a:ext>
                </a:extLst>
              </p:cNvPr>
              <p:cNvSpPr>
                <a:spLocks noGrp="1" noRot="1" noChangeAspect="1" noMove="1" noResize="1" noEditPoints="1" noAdjustHandles="1" noChangeArrowheads="1" noChangeShapeType="1" noTextEdit="1"/>
              </p:cNvSpPr>
              <p:nvPr>
                <p:ph idx="1"/>
              </p:nvPr>
            </p:nvSpPr>
            <p:spPr>
              <a:xfrm>
                <a:off x="838200" y="1825625"/>
                <a:ext cx="10515600" cy="955675"/>
              </a:xfrm>
              <a:blipFill>
                <a:blip r:embed="rId2"/>
                <a:stretch>
                  <a:fillRect l="-1217" t="-10828" b="-7643"/>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134528B8-259F-EE10-C758-62D834483D7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0AE34EF1-1992-641A-0218-3AA79F6A252A}"/>
              </a:ext>
            </a:extLst>
          </p:cNvPr>
          <p:cNvSpPr>
            <a:spLocks noGrp="1"/>
          </p:cNvSpPr>
          <p:nvPr>
            <p:ph type="sldNum" sz="quarter" idx="12"/>
          </p:nvPr>
        </p:nvSpPr>
        <p:spPr/>
        <p:txBody>
          <a:bodyPr/>
          <a:lstStyle/>
          <a:p>
            <a:fld id="{271ECC92-9CDE-4EB3-B1C5-F46B9E1FA3C1}" type="slidenum">
              <a:rPr lang="en-SE" smtClean="0"/>
              <a:t>56</a:t>
            </a:fld>
            <a:endParaRPr lang="en-SE"/>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27CA517-A29C-B252-8A12-BEF6ED6AF9F7}"/>
                  </a:ext>
                </a:extLst>
              </p:cNvPr>
              <p:cNvSpPr txBox="1"/>
              <p:nvPr/>
            </p:nvSpPr>
            <p:spPr>
              <a:xfrm>
                <a:off x="838200" y="3720716"/>
                <a:ext cx="10515600" cy="1815882"/>
              </a:xfrm>
              <a:prstGeom prst="rect">
                <a:avLst/>
              </a:prstGeom>
              <a:noFill/>
            </p:spPr>
            <p:txBody>
              <a:bodyPr wrap="square">
                <a:spAutoFit/>
              </a:bodyPr>
              <a:lstStyle/>
              <a:p>
                <a:r>
                  <a:rPr lang="en-SE" sz="2800" dirty="0"/>
                  <a:t>When not dividing the product </a:t>
                </a:r>
                <a14:m>
                  <m:oMath xmlns:m="http://schemas.openxmlformats.org/officeDocument/2006/math">
                    <m:r>
                      <a:rPr lang="en-US" sz="2800" i="1">
                        <a:solidFill>
                          <a:schemeClr val="accent1">
                            <a:lumMod val="50000"/>
                          </a:schemeClr>
                        </a:solidFill>
                        <a:latin typeface="Cambria Math" panose="02040503050406030204" pitchFamily="18" charset="0"/>
                      </a:rPr>
                      <m:t>𝑃</m:t>
                    </m:r>
                    <m:d>
                      <m:dPr>
                        <m:ctrlPr>
                          <a:rPr lang="en-US" sz="2800" i="1">
                            <a:solidFill>
                              <a:schemeClr val="accent1">
                                <a:lumMod val="50000"/>
                              </a:schemeClr>
                            </a:solidFill>
                            <a:latin typeface="Cambria Math" panose="02040503050406030204" pitchFamily="18" charset="0"/>
                          </a:rPr>
                        </m:ctrlPr>
                      </m:dPr>
                      <m:e>
                        <m:r>
                          <a:rPr lang="en-US" sz="2800" i="1">
                            <a:solidFill>
                              <a:schemeClr val="accent1">
                                <a:lumMod val="50000"/>
                              </a:schemeClr>
                            </a:solidFill>
                            <a:latin typeface="Cambria Math" panose="02040503050406030204" pitchFamily="18" charset="0"/>
                          </a:rPr>
                          <m:t>𝑑</m:t>
                        </m:r>
                      </m:e>
                      <m:e>
                        <m:r>
                          <a:rPr lang="en-US" sz="2800" i="1">
                            <a:solidFill>
                              <a:schemeClr val="accent1">
                                <a:lumMod val="50000"/>
                              </a:schemeClr>
                            </a:solidFill>
                            <a:latin typeface="Cambria Math" panose="02040503050406030204" pitchFamily="18" charset="0"/>
                          </a:rPr>
                          <m:t>h</m:t>
                        </m:r>
                      </m:e>
                    </m:d>
                    <m:r>
                      <a:rPr lang="en-US" sz="2800" i="1">
                        <a:latin typeface="Cambria Math" panose="02040503050406030204" pitchFamily="18" charset="0"/>
                      </a:rPr>
                      <m:t>⋅</m:t>
                    </m:r>
                    <m:r>
                      <a:rPr lang="en-US" sz="2800" i="1">
                        <a:solidFill>
                          <a:schemeClr val="accent2">
                            <a:lumMod val="50000"/>
                          </a:schemeClr>
                        </a:solidFill>
                        <a:latin typeface="Cambria Math" panose="02040503050406030204" pitchFamily="18" charset="0"/>
                      </a:rPr>
                      <m:t>𝑃</m:t>
                    </m:r>
                    <m:r>
                      <a:rPr lang="en-US" sz="2800" i="1">
                        <a:solidFill>
                          <a:schemeClr val="accent2">
                            <a:lumMod val="50000"/>
                          </a:schemeClr>
                        </a:solidFill>
                        <a:latin typeface="Cambria Math" panose="02040503050406030204" pitchFamily="18" charset="0"/>
                      </a:rPr>
                      <m:t>(</m:t>
                    </m:r>
                    <m:r>
                      <a:rPr lang="en-US" sz="2800" i="1">
                        <a:solidFill>
                          <a:schemeClr val="accent2">
                            <a:lumMod val="50000"/>
                          </a:schemeClr>
                        </a:solidFill>
                        <a:latin typeface="Cambria Math" panose="02040503050406030204" pitchFamily="18" charset="0"/>
                      </a:rPr>
                      <m:t>h</m:t>
                    </m:r>
                    <m:r>
                      <a:rPr lang="en-US" sz="2800" i="1">
                        <a:solidFill>
                          <a:schemeClr val="accent2">
                            <a:lumMod val="50000"/>
                          </a:schemeClr>
                        </a:solidFill>
                        <a:latin typeface="Cambria Math" panose="02040503050406030204" pitchFamily="18" charset="0"/>
                      </a:rPr>
                      <m:t>)</m:t>
                    </m:r>
                  </m:oMath>
                </a14:m>
                <a:r>
                  <a:rPr lang="en-SE" sz="2800" dirty="0"/>
                  <a:t> by the marginal likelihood </a:t>
                </a:r>
                <a14:m>
                  <m:oMath xmlns:m="http://schemas.openxmlformats.org/officeDocument/2006/math">
                    <m:r>
                      <a:rPr lang="en-US" sz="2800" i="1">
                        <a:solidFill>
                          <a:schemeClr val="accent6">
                            <a:lumMod val="50000"/>
                          </a:schemeClr>
                        </a:solidFill>
                        <a:latin typeface="Cambria Math" panose="02040503050406030204" pitchFamily="18" charset="0"/>
                      </a:rPr>
                      <m:t>𝑃</m:t>
                    </m:r>
                    <m:r>
                      <a:rPr lang="en-US" sz="2800" i="1">
                        <a:solidFill>
                          <a:schemeClr val="accent6">
                            <a:lumMod val="50000"/>
                          </a:schemeClr>
                        </a:solidFill>
                        <a:latin typeface="Cambria Math" panose="02040503050406030204" pitchFamily="18" charset="0"/>
                      </a:rPr>
                      <m:t>(</m:t>
                    </m:r>
                    <m:r>
                      <a:rPr lang="en-US" sz="2800" i="1">
                        <a:solidFill>
                          <a:schemeClr val="accent6">
                            <a:lumMod val="50000"/>
                          </a:schemeClr>
                        </a:solidFill>
                        <a:latin typeface="Cambria Math" panose="02040503050406030204" pitchFamily="18" charset="0"/>
                      </a:rPr>
                      <m:t>𝑑</m:t>
                    </m:r>
                    <m:r>
                      <a:rPr lang="en-US" sz="2800" i="1">
                        <a:solidFill>
                          <a:schemeClr val="accent6">
                            <a:lumMod val="50000"/>
                          </a:schemeClr>
                        </a:solidFill>
                        <a:latin typeface="Cambria Math" panose="02040503050406030204" pitchFamily="18" charset="0"/>
                      </a:rPr>
                      <m:t>)</m:t>
                    </m:r>
                  </m:oMath>
                </a14:m>
                <a:r>
                  <a:rPr lang="en-SE" sz="2800" dirty="0"/>
                  <a:t>, it </a:t>
                </a:r>
                <a:r>
                  <a:rPr lang="en-SE" sz="2800" b="1" dirty="0"/>
                  <a:t>will still be proportional </a:t>
                </a:r>
                <a:r>
                  <a:rPr lang="en-SE" sz="2800" dirty="0"/>
                  <a:t>(</a:t>
                </a:r>
                <a14:m>
                  <m:oMath xmlns:m="http://schemas.openxmlformats.org/officeDocument/2006/math">
                    <m:r>
                      <a:rPr lang="en-US" sz="2800" i="1">
                        <a:latin typeface="Cambria Math" panose="02040503050406030204" pitchFamily="18" charset="0"/>
                        <a:ea typeface="Cambria Math" panose="02040503050406030204" pitchFamily="18" charset="0"/>
                      </a:rPr>
                      <m:t>∝ </m:t>
                    </m:r>
                  </m:oMath>
                </a14:m>
                <a:r>
                  <a:rPr lang="en-SE" sz="2800" dirty="0"/>
                  <a:t>) but not be a probability distribution bounded within </a:t>
                </a:r>
                <a14:m>
                  <m:oMath xmlns:m="http://schemas.openxmlformats.org/officeDocument/2006/math">
                    <m:r>
                      <a:rPr lang="en-SE" sz="2800" b="0" i="1" smtClean="0">
                        <a:latin typeface="Cambria Math" panose="02040503050406030204" pitchFamily="18" charset="0"/>
                      </a:rPr>
                      <m:t>[0, 1]</m:t>
                    </m:r>
                  </m:oMath>
                </a14:m>
                <a:r>
                  <a:rPr lang="en-SE" sz="2800" dirty="0"/>
                  <a:t> and we cannot update it further after one round.</a:t>
                </a:r>
              </a:p>
            </p:txBody>
          </p:sp>
        </mc:Choice>
        <mc:Fallback xmlns="">
          <p:sp>
            <p:nvSpPr>
              <p:cNvPr id="11" name="TextBox 10">
                <a:extLst>
                  <a:ext uri="{FF2B5EF4-FFF2-40B4-BE49-F238E27FC236}">
                    <a16:creationId xmlns:a16="http://schemas.microsoft.com/office/drawing/2014/main" id="{627CA517-A29C-B252-8A12-BEF6ED6AF9F7}"/>
                  </a:ext>
                </a:extLst>
              </p:cNvPr>
              <p:cNvSpPr txBox="1">
                <a:spLocks noRot="1" noChangeAspect="1" noMove="1" noResize="1" noEditPoints="1" noAdjustHandles="1" noChangeArrowheads="1" noChangeShapeType="1" noTextEdit="1"/>
              </p:cNvSpPr>
              <p:nvPr/>
            </p:nvSpPr>
            <p:spPr>
              <a:xfrm>
                <a:off x="838200" y="3720716"/>
                <a:ext cx="10515600" cy="1815882"/>
              </a:xfrm>
              <a:prstGeom prst="rect">
                <a:avLst/>
              </a:prstGeom>
              <a:blipFill>
                <a:blip r:embed="rId3"/>
                <a:stretch>
                  <a:fillRect l="-1217" t="-3356" r="-1043" b="-8389"/>
                </a:stretch>
              </a:blipFill>
            </p:spPr>
            <p:txBody>
              <a:bodyPr/>
              <a:lstStyle/>
              <a:p>
                <a:r>
                  <a:rPr lang="en-SE">
                    <a:noFill/>
                  </a:rPr>
                  <a:t> </a:t>
                </a:r>
              </a:p>
            </p:txBody>
          </p:sp>
        </mc:Fallback>
      </mc:AlternateContent>
      <p:sp>
        <p:nvSpPr>
          <p:cNvPr id="6" name="Footer Placeholder 5">
            <a:extLst>
              <a:ext uri="{FF2B5EF4-FFF2-40B4-BE49-F238E27FC236}">
                <a16:creationId xmlns:a16="http://schemas.microsoft.com/office/drawing/2014/main" id="{29AE4ED0-66CC-A412-C413-99D53BE50EFE}"/>
              </a:ext>
            </a:extLst>
          </p:cNvPr>
          <p:cNvSpPr>
            <a:spLocks noGrp="1"/>
          </p:cNvSpPr>
          <p:nvPr>
            <p:ph type="ftr" sz="quarter" idx="11"/>
          </p:nvPr>
        </p:nvSpPr>
        <p:spPr/>
        <p:txBody>
          <a:bodyPr/>
          <a:lstStyle/>
          <a:p>
            <a:r>
              <a:rPr lang="de-DE"/>
              <a:t>Bayesian Data Analysis Tutorial</a:t>
            </a:r>
            <a:endParaRPr lang="en-SE"/>
          </a:p>
        </p:txBody>
      </p:sp>
      <p:grpSp>
        <p:nvGrpSpPr>
          <p:cNvPr id="29" name="Group 28">
            <a:extLst>
              <a:ext uri="{FF2B5EF4-FFF2-40B4-BE49-F238E27FC236}">
                <a16:creationId xmlns:a16="http://schemas.microsoft.com/office/drawing/2014/main" id="{4BA697F5-0D10-3DAE-BF7D-63473DE1B965}"/>
              </a:ext>
            </a:extLst>
          </p:cNvPr>
          <p:cNvGrpSpPr/>
          <p:nvPr/>
        </p:nvGrpSpPr>
        <p:grpSpPr>
          <a:xfrm>
            <a:off x="203635" y="1825625"/>
            <a:ext cx="504000" cy="504000"/>
            <a:chOff x="977950" y="2729564"/>
            <a:chExt cx="504000" cy="504000"/>
          </a:xfrm>
        </p:grpSpPr>
        <p:sp>
          <p:nvSpPr>
            <p:cNvPr id="30" name="Oval 29">
              <a:extLst>
                <a:ext uri="{FF2B5EF4-FFF2-40B4-BE49-F238E27FC236}">
                  <a16:creationId xmlns:a16="http://schemas.microsoft.com/office/drawing/2014/main" id="{19132144-759E-33CF-7D29-64585FBA560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Golden Ratio with solid fill">
              <a:extLst>
                <a:ext uri="{FF2B5EF4-FFF2-40B4-BE49-F238E27FC236}">
                  <a16:creationId xmlns:a16="http://schemas.microsoft.com/office/drawing/2014/main" id="{B646B9BC-AB46-9F19-3EB5-45687805BB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EFF1FFD0-0AF1-2D9B-D825-5A37BB174816}"/>
              </a:ext>
            </a:extLst>
          </p:cNvPr>
          <p:cNvGrpSpPr/>
          <p:nvPr/>
        </p:nvGrpSpPr>
        <p:grpSpPr>
          <a:xfrm>
            <a:off x="203635" y="2439322"/>
            <a:ext cx="504000" cy="504000"/>
            <a:chOff x="977950" y="2729564"/>
            <a:chExt cx="504000" cy="504000"/>
          </a:xfrm>
        </p:grpSpPr>
        <p:sp>
          <p:nvSpPr>
            <p:cNvPr id="33" name="Oval 32">
              <a:extLst>
                <a:ext uri="{FF2B5EF4-FFF2-40B4-BE49-F238E27FC236}">
                  <a16:creationId xmlns:a16="http://schemas.microsoft.com/office/drawing/2014/main" id="{2BBA6B86-0BD6-A18C-B77D-DA48EAC76E9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Normal Distribution with solid fill">
              <a:extLst>
                <a:ext uri="{FF2B5EF4-FFF2-40B4-BE49-F238E27FC236}">
                  <a16:creationId xmlns:a16="http://schemas.microsoft.com/office/drawing/2014/main" id="{4A16C959-779F-A7A3-C442-60D1DD76D2F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D9481805-B466-7AA6-34A3-81F1466CBE63}"/>
              </a:ext>
            </a:extLst>
          </p:cNvPr>
          <p:cNvGrpSpPr/>
          <p:nvPr/>
        </p:nvGrpSpPr>
        <p:grpSpPr>
          <a:xfrm>
            <a:off x="203635" y="3053019"/>
            <a:ext cx="504000" cy="504000"/>
            <a:chOff x="977950" y="2729564"/>
            <a:chExt cx="504000" cy="504000"/>
          </a:xfrm>
        </p:grpSpPr>
        <p:sp>
          <p:nvSpPr>
            <p:cNvPr id="36" name="Oval 35">
              <a:extLst>
                <a:ext uri="{FF2B5EF4-FFF2-40B4-BE49-F238E27FC236}">
                  <a16:creationId xmlns:a16="http://schemas.microsoft.com/office/drawing/2014/main" id="{19F81C7D-DC36-B16A-3BFB-632E75246AA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Abacus with solid fill">
              <a:extLst>
                <a:ext uri="{FF2B5EF4-FFF2-40B4-BE49-F238E27FC236}">
                  <a16:creationId xmlns:a16="http://schemas.microsoft.com/office/drawing/2014/main" id="{A4719612-EE14-43E4-F742-89C5569787F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C0B747EA-AD93-581E-D632-64DB96CB47AF}"/>
              </a:ext>
            </a:extLst>
          </p:cNvPr>
          <p:cNvGrpSpPr/>
          <p:nvPr/>
        </p:nvGrpSpPr>
        <p:grpSpPr>
          <a:xfrm>
            <a:off x="203635" y="3666716"/>
            <a:ext cx="504000" cy="504000"/>
            <a:chOff x="977950" y="2729564"/>
            <a:chExt cx="504000" cy="504000"/>
          </a:xfrm>
        </p:grpSpPr>
        <p:sp>
          <p:nvSpPr>
            <p:cNvPr id="39" name="Oval 38">
              <a:extLst>
                <a:ext uri="{FF2B5EF4-FFF2-40B4-BE49-F238E27FC236}">
                  <a16:creationId xmlns:a16="http://schemas.microsoft.com/office/drawing/2014/main" id="{1C5863E6-E68E-2B23-6283-BEAB6CDBB48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Trigonometry with solid fill">
              <a:extLst>
                <a:ext uri="{FF2B5EF4-FFF2-40B4-BE49-F238E27FC236}">
                  <a16:creationId xmlns:a16="http://schemas.microsoft.com/office/drawing/2014/main" id="{AB5A6016-FE5A-0054-4D9A-6645F4E6940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58DE5695-6B05-3691-C87C-9086A7CABAE3}"/>
              </a:ext>
            </a:extLst>
          </p:cNvPr>
          <p:cNvGrpSpPr/>
          <p:nvPr/>
        </p:nvGrpSpPr>
        <p:grpSpPr>
          <a:xfrm>
            <a:off x="203635" y="4280414"/>
            <a:ext cx="504000" cy="504000"/>
            <a:chOff x="977950" y="2729564"/>
            <a:chExt cx="504000" cy="504000"/>
          </a:xfrm>
        </p:grpSpPr>
        <p:sp>
          <p:nvSpPr>
            <p:cNvPr id="42" name="Oval 41">
              <a:extLst>
                <a:ext uri="{FF2B5EF4-FFF2-40B4-BE49-F238E27FC236}">
                  <a16:creationId xmlns:a16="http://schemas.microsoft.com/office/drawing/2014/main" id="{28AEFCE0-3305-2235-0D15-AF29B8ED7831}"/>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Scatterplot with solid fill">
              <a:extLst>
                <a:ext uri="{FF2B5EF4-FFF2-40B4-BE49-F238E27FC236}">
                  <a16:creationId xmlns:a16="http://schemas.microsoft.com/office/drawing/2014/main" id="{6417D034-75A7-FFDF-78FD-4E9F362CB692}"/>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44" name="Straight Arrow Connector 43">
            <a:extLst>
              <a:ext uri="{FF2B5EF4-FFF2-40B4-BE49-F238E27FC236}">
                <a16:creationId xmlns:a16="http://schemas.microsoft.com/office/drawing/2014/main" id="{21E9B22D-5914-2A2D-7DEA-2B2457E028B4}"/>
              </a:ext>
            </a:extLst>
          </p:cNvPr>
          <p:cNvCxnSpPr>
            <a:cxnSpLocks/>
            <a:stCxn id="30" idx="4"/>
            <a:endCxn id="3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58BB3986-4829-03CB-59D1-68B3A21900A3}"/>
              </a:ext>
            </a:extLst>
          </p:cNvPr>
          <p:cNvCxnSpPr>
            <a:cxnSpLocks/>
            <a:stCxn id="33" idx="4"/>
            <a:endCxn id="3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DD0DAF8E-02E4-C327-2F55-C0A47C750195}"/>
              </a:ext>
            </a:extLst>
          </p:cNvPr>
          <p:cNvCxnSpPr>
            <a:cxnSpLocks/>
            <a:stCxn id="36" idx="4"/>
            <a:endCxn id="3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6813DB60-2C1E-00B7-1230-45EF16D00417}"/>
              </a:ext>
            </a:extLst>
          </p:cNvPr>
          <p:cNvCxnSpPr>
            <a:cxnSpLocks/>
            <a:stCxn id="39" idx="4"/>
            <a:endCxn id="4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1" name="Content Placeholder 2">
                <a:extLst>
                  <a:ext uri="{FF2B5EF4-FFF2-40B4-BE49-F238E27FC236}">
                    <a16:creationId xmlns:a16="http://schemas.microsoft.com/office/drawing/2014/main" id="{0AA77AF7-3664-91C0-6143-AC008BE49C89}"/>
                  </a:ext>
                </a:extLst>
              </p:cNvPr>
              <p:cNvSpPr txBox="1">
                <a:spLocks/>
              </p:cNvSpPr>
              <p:nvPr/>
            </p:nvSpPr>
            <p:spPr>
              <a:xfrm>
                <a:off x="3963426" y="2753744"/>
                <a:ext cx="4265143" cy="9940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solidFill>
                                <a:schemeClr val="accent1">
                                  <a:lumMod val="50000"/>
                                </a:schemeClr>
                              </a:solidFill>
                              <a:latin typeface="Cambria Math" panose="02040503050406030204" pitchFamily="18" charset="0"/>
                            </a:rPr>
                            <m:t>𝑃</m:t>
                          </m:r>
                          <m:d>
                            <m:dPr>
                              <m:ctrlPr>
                                <a:rPr lang="en-US" b="0" i="1" noProof="0" smtClean="0">
                                  <a:solidFill>
                                    <a:schemeClr val="accent1">
                                      <a:lumMod val="50000"/>
                                    </a:schemeClr>
                                  </a:solidFill>
                                  <a:latin typeface="Cambria Math" panose="02040503050406030204" pitchFamily="18" charset="0"/>
                                </a:rPr>
                              </m:ctrlPr>
                            </m:dPr>
                            <m:e>
                              <m:r>
                                <a:rPr lang="en-US" b="0" i="1" noProof="0" smtClean="0">
                                  <a:solidFill>
                                    <a:schemeClr val="accent1">
                                      <a:lumMod val="50000"/>
                                    </a:schemeClr>
                                  </a:solidFill>
                                  <a:latin typeface="Cambria Math" panose="02040503050406030204" pitchFamily="18" charset="0"/>
                                </a:rPr>
                                <m:t>𝑑</m:t>
                              </m:r>
                            </m:e>
                            <m:e>
                              <m:r>
                                <a:rPr lang="en-US" b="0" i="1" noProof="0" smtClean="0">
                                  <a:solidFill>
                                    <a:schemeClr val="accent1">
                                      <a:lumMod val="50000"/>
                                    </a:schemeClr>
                                  </a:solidFill>
                                  <a:latin typeface="Cambria Math" panose="02040503050406030204" pitchFamily="18" charset="0"/>
                                </a:rPr>
                                <m:t>h</m:t>
                              </m:r>
                            </m:e>
                          </m:d>
                          <m:r>
                            <a:rPr lang="en-US" b="0" i="1" noProof="0" smtClean="0">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𝑃</m:t>
                          </m:r>
                          <m:r>
                            <a:rPr lang="en-US" b="0" i="1" noProof="0" smtClean="0">
                              <a:solidFill>
                                <a:schemeClr val="accent2">
                                  <a:lumMod val="50000"/>
                                </a:schemeClr>
                              </a:solidFill>
                              <a:latin typeface="Cambria Math" panose="02040503050406030204" pitchFamily="18" charset="0"/>
                            </a:rPr>
                            <m:t>(</m:t>
                          </m:r>
                          <m:r>
                            <a:rPr lang="en-US" b="0" i="1" noProof="0" smtClean="0">
                              <a:solidFill>
                                <a:schemeClr val="accent2">
                                  <a:lumMod val="50000"/>
                                </a:schemeClr>
                              </a:solidFill>
                              <a:latin typeface="Cambria Math" panose="02040503050406030204" pitchFamily="18" charset="0"/>
                            </a:rPr>
                            <m:t>h</m:t>
                          </m:r>
                          <m:r>
                            <a:rPr lang="en-US" b="0" i="1" noProof="0" smtClean="0">
                              <a:solidFill>
                                <a:schemeClr val="accent2">
                                  <a:lumMod val="50000"/>
                                </a:schemeClr>
                              </a:solidFill>
                              <a:latin typeface="Cambria Math" panose="02040503050406030204" pitchFamily="18" charset="0"/>
                            </a:rPr>
                            <m:t>)</m:t>
                          </m:r>
                        </m:num>
                        <m:den>
                          <m:r>
                            <a:rPr lang="en-US" b="0" i="1" noProof="0" smtClean="0">
                              <a:solidFill>
                                <a:schemeClr val="accent6">
                                  <a:lumMod val="50000"/>
                                </a:schemeClr>
                              </a:solidFill>
                              <a:latin typeface="Cambria Math" panose="02040503050406030204" pitchFamily="18" charset="0"/>
                            </a:rPr>
                            <m:t>𝑃</m:t>
                          </m:r>
                          <m:r>
                            <a:rPr lang="en-US" b="0" i="1" noProof="0" smtClean="0">
                              <a:solidFill>
                                <a:schemeClr val="accent6">
                                  <a:lumMod val="50000"/>
                                </a:schemeClr>
                              </a:solidFill>
                              <a:latin typeface="Cambria Math" panose="02040503050406030204" pitchFamily="18" charset="0"/>
                            </a:rPr>
                            <m:t>(</m:t>
                          </m:r>
                          <m:r>
                            <a:rPr lang="en-US" b="0" i="1" noProof="0" smtClean="0">
                              <a:solidFill>
                                <a:schemeClr val="accent6">
                                  <a:lumMod val="50000"/>
                                </a:schemeClr>
                              </a:solidFill>
                              <a:latin typeface="Cambria Math" panose="02040503050406030204" pitchFamily="18" charset="0"/>
                            </a:rPr>
                            <m:t>𝑑</m:t>
                          </m:r>
                          <m:r>
                            <a:rPr lang="en-US" b="0" i="1" noProof="0" smtClean="0">
                              <a:solidFill>
                                <a:schemeClr val="accent6">
                                  <a:lumMod val="50000"/>
                                </a:schemeClr>
                              </a:solidFill>
                              <a:latin typeface="Cambria Math" panose="02040503050406030204" pitchFamily="18" charset="0"/>
                            </a:rPr>
                            <m:t>)</m:t>
                          </m:r>
                        </m:den>
                      </m:f>
                    </m:oMath>
                  </m:oMathPara>
                </a14:m>
                <a:endParaRPr lang="en-US" noProof="0" dirty="0"/>
              </a:p>
            </p:txBody>
          </p:sp>
        </mc:Choice>
        <mc:Fallback xmlns="">
          <p:sp>
            <p:nvSpPr>
              <p:cNvPr id="51" name="Content Placeholder 2">
                <a:extLst>
                  <a:ext uri="{FF2B5EF4-FFF2-40B4-BE49-F238E27FC236}">
                    <a16:creationId xmlns:a16="http://schemas.microsoft.com/office/drawing/2014/main" id="{0AA77AF7-3664-91C0-6143-AC008BE49C89}"/>
                  </a:ext>
                </a:extLst>
              </p:cNvPr>
              <p:cNvSpPr txBox="1">
                <a:spLocks noRot="1" noChangeAspect="1" noMove="1" noResize="1" noEditPoints="1" noAdjustHandles="1" noChangeArrowheads="1" noChangeShapeType="1" noTextEdit="1"/>
              </p:cNvSpPr>
              <p:nvPr/>
            </p:nvSpPr>
            <p:spPr>
              <a:xfrm>
                <a:off x="3963426" y="2753744"/>
                <a:ext cx="4265143" cy="994097"/>
              </a:xfrm>
              <a:prstGeom prst="rect">
                <a:avLst/>
              </a:prstGeom>
              <a:blipFill>
                <a:blip r:embed="rId9"/>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3" name="Content Placeholder 2">
                <a:extLst>
                  <a:ext uri="{FF2B5EF4-FFF2-40B4-BE49-F238E27FC236}">
                    <a16:creationId xmlns:a16="http://schemas.microsoft.com/office/drawing/2014/main" id="{5FCC1C25-147A-C96C-0FFF-2C33E29EB7EF}"/>
                  </a:ext>
                </a:extLst>
              </p:cNvPr>
              <p:cNvSpPr txBox="1">
                <a:spLocks/>
              </p:cNvSpPr>
              <p:nvPr/>
            </p:nvSpPr>
            <p:spPr>
              <a:xfrm>
                <a:off x="3963425" y="5668500"/>
                <a:ext cx="4265143" cy="55594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14:m>
                  <m:oMathPara xmlns:m="http://schemas.openxmlformats.org/officeDocument/2006/math">
                    <m:oMathParaPr>
                      <m:jc m:val="centerGroup"/>
                    </m:oMathParaPr>
                    <m:oMath xmlns:m="http://schemas.openxmlformats.org/officeDocument/2006/math">
                      <m:r>
                        <a:rPr lang="en-US" b="0" i="1" noProof="0" smtClean="0">
                          <a:solidFill>
                            <a:schemeClr val="bg2">
                              <a:lumMod val="50000"/>
                            </a:schemeClr>
                          </a:solidFill>
                          <a:latin typeface="Cambria Math" panose="02040503050406030204" pitchFamily="18" charset="0"/>
                        </a:rPr>
                        <m:t>𝑃</m:t>
                      </m:r>
                      <m:d>
                        <m:dPr>
                          <m:ctrlPr>
                            <a:rPr lang="en-US" b="0" i="1" noProof="0" smtClean="0">
                              <a:solidFill>
                                <a:schemeClr val="bg2">
                                  <a:lumMod val="50000"/>
                                </a:schemeClr>
                              </a:solidFill>
                              <a:latin typeface="Cambria Math" panose="02040503050406030204" pitchFamily="18" charset="0"/>
                            </a:rPr>
                          </m:ctrlPr>
                        </m:dPr>
                        <m:e>
                          <m:r>
                            <a:rPr lang="en-US" b="0" i="1" noProof="0" smtClean="0">
                              <a:solidFill>
                                <a:schemeClr val="bg2">
                                  <a:lumMod val="50000"/>
                                </a:schemeClr>
                              </a:solidFill>
                              <a:latin typeface="Cambria Math" panose="02040503050406030204" pitchFamily="18" charset="0"/>
                            </a:rPr>
                            <m:t>h</m:t>
                          </m:r>
                        </m:e>
                        <m:e>
                          <m:r>
                            <a:rPr lang="en-US" b="0" i="1" noProof="0" smtClean="0">
                              <a:solidFill>
                                <a:schemeClr val="bg2">
                                  <a:lumMod val="50000"/>
                                </a:schemeClr>
                              </a:solidFill>
                              <a:latin typeface="Cambria Math" panose="02040503050406030204" pitchFamily="18" charset="0"/>
                            </a:rPr>
                            <m:t>𝑑</m:t>
                          </m:r>
                        </m:e>
                      </m:d>
                      <m:r>
                        <a:rPr lang="en-US" b="0" i="1" noProof="0" smtClean="0">
                          <a:latin typeface="Cambria Math" panose="02040503050406030204" pitchFamily="18" charset="0"/>
                          <a:ea typeface="Cambria Math" panose="02040503050406030204" pitchFamily="18" charset="0"/>
                        </a:rPr>
                        <m:t>∝</m:t>
                      </m:r>
                      <m:r>
                        <a:rPr lang="en-US" i="1">
                          <a:solidFill>
                            <a:schemeClr val="accent1">
                              <a:lumMod val="50000"/>
                            </a:schemeClr>
                          </a:solidFill>
                          <a:latin typeface="Cambria Math" panose="02040503050406030204" pitchFamily="18" charset="0"/>
                        </a:rPr>
                        <m:t>𝑃</m:t>
                      </m:r>
                      <m:d>
                        <m:dPr>
                          <m:ctrlPr>
                            <a:rPr lang="en-US" i="1">
                              <a:solidFill>
                                <a:schemeClr val="accent1">
                                  <a:lumMod val="50000"/>
                                </a:schemeClr>
                              </a:solidFill>
                              <a:latin typeface="Cambria Math" panose="02040503050406030204" pitchFamily="18" charset="0"/>
                            </a:rPr>
                          </m:ctrlPr>
                        </m:dPr>
                        <m:e>
                          <m:r>
                            <a:rPr lang="en-US" i="1">
                              <a:solidFill>
                                <a:schemeClr val="accent1">
                                  <a:lumMod val="50000"/>
                                </a:schemeClr>
                              </a:solidFill>
                              <a:latin typeface="Cambria Math" panose="02040503050406030204" pitchFamily="18" charset="0"/>
                            </a:rPr>
                            <m:t>𝑑</m:t>
                          </m:r>
                        </m:e>
                        <m:e>
                          <m:r>
                            <a:rPr lang="en-US" i="1">
                              <a:solidFill>
                                <a:schemeClr val="accent1">
                                  <a:lumMod val="50000"/>
                                </a:schemeClr>
                              </a:solidFill>
                              <a:latin typeface="Cambria Math" panose="02040503050406030204" pitchFamily="18" charset="0"/>
                            </a:rPr>
                            <m:t>h</m:t>
                          </m:r>
                        </m:e>
                      </m:d>
                      <m:r>
                        <a:rPr lang="en-US" i="1">
                          <a:latin typeface="Cambria Math" panose="02040503050406030204" pitchFamily="18" charset="0"/>
                        </a:rPr>
                        <m:t>⋅</m:t>
                      </m:r>
                      <m:r>
                        <a:rPr lang="en-US" i="1">
                          <a:solidFill>
                            <a:schemeClr val="accent2">
                              <a:lumMod val="50000"/>
                            </a:schemeClr>
                          </a:solidFill>
                          <a:latin typeface="Cambria Math" panose="02040503050406030204" pitchFamily="18" charset="0"/>
                        </a:rPr>
                        <m:t>𝑃</m:t>
                      </m:r>
                      <m:r>
                        <a:rPr lang="en-US" i="1">
                          <a:solidFill>
                            <a:schemeClr val="accent2">
                              <a:lumMod val="50000"/>
                            </a:schemeClr>
                          </a:solidFill>
                          <a:latin typeface="Cambria Math" panose="02040503050406030204" pitchFamily="18" charset="0"/>
                        </a:rPr>
                        <m:t>(</m:t>
                      </m:r>
                      <m:r>
                        <a:rPr lang="en-US" i="1">
                          <a:solidFill>
                            <a:schemeClr val="accent2">
                              <a:lumMod val="50000"/>
                            </a:schemeClr>
                          </a:solidFill>
                          <a:latin typeface="Cambria Math" panose="02040503050406030204" pitchFamily="18" charset="0"/>
                        </a:rPr>
                        <m:t>h</m:t>
                      </m:r>
                      <m:r>
                        <a:rPr lang="en-US" i="1">
                          <a:solidFill>
                            <a:schemeClr val="accent2">
                              <a:lumMod val="50000"/>
                            </a:schemeClr>
                          </a:solidFill>
                          <a:latin typeface="Cambria Math" panose="02040503050406030204" pitchFamily="18" charset="0"/>
                        </a:rPr>
                        <m:t>)</m:t>
                      </m:r>
                    </m:oMath>
                  </m:oMathPara>
                </a14:m>
                <a:endParaRPr lang="en-US" noProof="0" dirty="0"/>
              </a:p>
            </p:txBody>
          </p:sp>
        </mc:Choice>
        <mc:Fallback xmlns="">
          <p:sp>
            <p:nvSpPr>
              <p:cNvPr id="53" name="Content Placeholder 2">
                <a:extLst>
                  <a:ext uri="{FF2B5EF4-FFF2-40B4-BE49-F238E27FC236}">
                    <a16:creationId xmlns:a16="http://schemas.microsoft.com/office/drawing/2014/main" id="{5FCC1C25-147A-C96C-0FFF-2C33E29EB7EF}"/>
                  </a:ext>
                </a:extLst>
              </p:cNvPr>
              <p:cNvSpPr txBox="1">
                <a:spLocks noRot="1" noChangeAspect="1" noMove="1" noResize="1" noEditPoints="1" noAdjustHandles="1" noChangeArrowheads="1" noChangeShapeType="1" noTextEdit="1"/>
              </p:cNvSpPr>
              <p:nvPr/>
            </p:nvSpPr>
            <p:spPr>
              <a:xfrm>
                <a:off x="3963425" y="5668500"/>
                <a:ext cx="4265143" cy="555947"/>
              </a:xfrm>
              <a:prstGeom prst="rect">
                <a:avLst/>
              </a:prstGeom>
              <a:blipFill>
                <a:blip r:embed="rId10"/>
                <a:stretch>
                  <a:fillRect t="-1099" b="-4396"/>
                </a:stretch>
              </a:blipFill>
            </p:spPr>
            <p:txBody>
              <a:bodyPr/>
              <a:lstStyle/>
              <a:p>
                <a:r>
                  <a:rPr lang="en-SE">
                    <a:noFill/>
                  </a:rPr>
                  <a:t> </a:t>
                </a:r>
              </a:p>
            </p:txBody>
          </p:sp>
        </mc:Fallback>
      </mc:AlternateContent>
    </p:spTree>
    <p:extLst>
      <p:ext uri="{BB962C8B-B14F-4D97-AF65-F5344CB8AC3E}">
        <p14:creationId xmlns:p14="http://schemas.microsoft.com/office/powerpoint/2010/main" val="961211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5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0955D-DC81-F185-BB66-B8E3503939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6E7F41-430A-6099-80C5-298B929CD7DB}"/>
              </a:ext>
            </a:extLst>
          </p:cNvPr>
          <p:cNvSpPr>
            <a:spLocks noGrp="1"/>
          </p:cNvSpPr>
          <p:nvPr>
            <p:ph type="title"/>
          </p:nvPr>
        </p:nvSpPr>
        <p:spPr/>
        <p:txBody>
          <a:bodyPr/>
          <a:lstStyle/>
          <a:p>
            <a:r>
              <a:rPr lang="en-SE" dirty="0"/>
              <a:t>Bayesian Updating Engine</a:t>
            </a:r>
          </a:p>
        </p:txBody>
      </p:sp>
      <p:sp>
        <p:nvSpPr>
          <p:cNvPr id="4" name="Date Placeholder 3">
            <a:extLst>
              <a:ext uri="{FF2B5EF4-FFF2-40B4-BE49-F238E27FC236}">
                <a16:creationId xmlns:a16="http://schemas.microsoft.com/office/drawing/2014/main" id="{12C8BD62-48A0-3177-8478-318863D714C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0D0E8D1-1138-41E2-C746-A99378ADCD5E}"/>
              </a:ext>
            </a:extLst>
          </p:cNvPr>
          <p:cNvSpPr>
            <a:spLocks noGrp="1"/>
          </p:cNvSpPr>
          <p:nvPr>
            <p:ph type="sldNum" sz="quarter" idx="12"/>
          </p:nvPr>
        </p:nvSpPr>
        <p:spPr/>
        <p:txBody>
          <a:bodyPr/>
          <a:lstStyle/>
          <a:p>
            <a:fld id="{271ECC92-9CDE-4EB3-B1C5-F46B9E1FA3C1}" type="slidenum">
              <a:rPr lang="en-SE" smtClean="0"/>
              <a:t>57</a:t>
            </a:fld>
            <a:endParaRPr lang="en-SE"/>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A646E71-9A3C-8BB8-9CFF-414D601BC87F}"/>
                  </a:ext>
                </a:extLst>
              </p:cNvPr>
              <p:cNvSpPr txBox="1"/>
              <p:nvPr/>
            </p:nvSpPr>
            <p:spPr>
              <a:xfrm>
                <a:off x="2330450" y="3143496"/>
                <a:ext cx="7531100" cy="523220"/>
              </a:xfrm>
              <a:prstGeom prst="rect">
                <a:avLst/>
              </a:prstGeom>
              <a:noFill/>
            </p:spPr>
            <p:txBody>
              <a:bodyPr wrap="square">
                <a:spAutoFit/>
              </a:bodyPr>
              <a:lstStyle/>
              <a:p>
                <a:pPr marL="0" indent="0" algn="ctr">
                  <a:buNone/>
                </a:pPr>
                <a14:m>
                  <m:oMathPara xmlns:m="http://schemas.openxmlformats.org/officeDocument/2006/math">
                    <m:oMathParaPr>
                      <m:jc m:val="centerGroup"/>
                    </m:oMathParaPr>
                    <m:oMath xmlns:m="http://schemas.openxmlformats.org/officeDocument/2006/math">
                      <m:r>
                        <a:rPr lang="en-SE" sz="2800" b="0" i="1" smtClean="0">
                          <a:latin typeface="Cambria Math" panose="02040503050406030204" pitchFamily="18" charset="0"/>
                        </a:rPr>
                        <m:t>𝑃</m:t>
                      </m:r>
                      <m:d>
                        <m:dPr>
                          <m:ctrlPr>
                            <a:rPr lang="en-SE" sz="2800" b="0" i="1" smtClean="0">
                              <a:latin typeface="Cambria Math" panose="02040503050406030204" pitchFamily="18" charset="0"/>
                            </a:rPr>
                          </m:ctrlPr>
                        </m:dPr>
                        <m:e>
                          <m:r>
                            <a:rPr lang="en-SE" sz="2800" b="0" i="1" smtClean="0">
                              <a:latin typeface="Cambria Math" panose="02040503050406030204" pitchFamily="18" charset="0"/>
                            </a:rPr>
                            <m:t>𝑑</m:t>
                          </m:r>
                        </m:e>
                      </m:d>
                      <m:r>
                        <a:rPr lang="en-SE" sz="2800" b="0" i="1" smtClean="0">
                          <a:latin typeface="Cambria Math" panose="02040503050406030204" pitchFamily="18" charset="0"/>
                        </a:rPr>
                        <m:t>= </m:t>
                      </m:r>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rPr>
                            <m:t>𝑑</m:t>
                          </m:r>
                        </m:e>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0</m:t>
                              </m:r>
                            </m:sub>
                          </m:sSub>
                        </m:e>
                      </m:d>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0</m:t>
                              </m:r>
                            </m:sub>
                          </m:sSub>
                        </m:e>
                      </m:d>
                      <m:r>
                        <a:rPr lang="en-US" sz="2800" i="1">
                          <a:latin typeface="Cambria Math" panose="02040503050406030204" pitchFamily="18" charset="0"/>
                        </a:rPr>
                        <m:t>+</m:t>
                      </m:r>
                      <m:r>
                        <a:rPr lang="en-US" sz="2800" i="1">
                          <a:latin typeface="Cambria Math" panose="02040503050406030204" pitchFamily="18" charset="0"/>
                        </a:rPr>
                        <m:t>𝑃</m:t>
                      </m:r>
                      <m:d>
                        <m:dPr>
                          <m:ctrlPr>
                            <a:rPr lang="en-US" sz="2800" i="1">
                              <a:latin typeface="Cambria Math" panose="02040503050406030204" pitchFamily="18" charset="0"/>
                            </a:rPr>
                          </m:ctrlPr>
                        </m:dPr>
                        <m:e>
                          <m:r>
                            <a:rPr lang="en-US" sz="2800" i="1">
                              <a:latin typeface="Cambria Math" panose="02040503050406030204" pitchFamily="18" charset="0"/>
                            </a:rPr>
                            <m:t>𝑑</m:t>
                          </m:r>
                        </m:e>
                        <m:e>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1</m:t>
                              </m:r>
                            </m:sub>
                          </m:sSub>
                        </m:e>
                      </m:d>
                      <m:r>
                        <a:rPr lang="en-US" sz="2800" i="1">
                          <a:latin typeface="Cambria Math" panose="02040503050406030204" pitchFamily="18" charset="0"/>
                        </a:rPr>
                        <m:t>⋅</m:t>
                      </m:r>
                      <m:r>
                        <a:rPr lang="en-US" sz="2800" i="1">
                          <a:latin typeface="Cambria Math" panose="02040503050406030204" pitchFamily="18" charset="0"/>
                        </a:rPr>
                        <m:t>𝑃</m:t>
                      </m:r>
                      <m:r>
                        <a:rPr lang="en-US" sz="2800" i="1">
                          <a:latin typeface="Cambria Math" panose="02040503050406030204" pitchFamily="18" charset="0"/>
                        </a:rPr>
                        <m:t>(</m:t>
                      </m:r>
                      <m:sSub>
                        <m:sSubPr>
                          <m:ctrlPr>
                            <a:rPr lang="en-SE" sz="2800" b="0" i="1" smtClean="0">
                              <a:latin typeface="Cambria Math" panose="02040503050406030204" pitchFamily="18" charset="0"/>
                            </a:rPr>
                          </m:ctrlPr>
                        </m:sSubPr>
                        <m:e>
                          <m:r>
                            <a:rPr lang="en-US" sz="2800" i="1">
                              <a:latin typeface="Cambria Math" panose="02040503050406030204" pitchFamily="18" charset="0"/>
                            </a:rPr>
                            <m:t>h</m:t>
                          </m:r>
                        </m:e>
                        <m:sub>
                          <m:r>
                            <a:rPr lang="en-SE" sz="2800" b="0" i="1" smtClean="0">
                              <a:latin typeface="Cambria Math" panose="02040503050406030204" pitchFamily="18" charset="0"/>
                            </a:rPr>
                            <m:t>1</m:t>
                          </m:r>
                        </m:sub>
                      </m:sSub>
                      <m:r>
                        <a:rPr lang="en-US" sz="2800" i="1">
                          <a:latin typeface="Cambria Math" panose="02040503050406030204" pitchFamily="18" charset="0"/>
                        </a:rPr>
                        <m:t>)</m:t>
                      </m:r>
                    </m:oMath>
                  </m:oMathPara>
                </a14:m>
                <a:endParaRPr lang="en-US" sz="2800" dirty="0"/>
              </a:p>
            </p:txBody>
          </p:sp>
        </mc:Choice>
        <mc:Fallback xmlns="">
          <p:sp>
            <p:nvSpPr>
              <p:cNvPr id="7" name="TextBox 6">
                <a:extLst>
                  <a:ext uri="{FF2B5EF4-FFF2-40B4-BE49-F238E27FC236}">
                    <a16:creationId xmlns:a16="http://schemas.microsoft.com/office/drawing/2014/main" id="{0A646E71-9A3C-8BB8-9CFF-414D601BC87F}"/>
                  </a:ext>
                </a:extLst>
              </p:cNvPr>
              <p:cNvSpPr txBox="1">
                <a:spLocks noRot="1" noChangeAspect="1" noMove="1" noResize="1" noEditPoints="1" noAdjustHandles="1" noChangeArrowheads="1" noChangeShapeType="1" noTextEdit="1"/>
              </p:cNvSpPr>
              <p:nvPr/>
            </p:nvSpPr>
            <p:spPr>
              <a:xfrm>
                <a:off x="2330450" y="3143496"/>
                <a:ext cx="7531100" cy="523220"/>
              </a:xfrm>
              <a:prstGeom prst="rect">
                <a:avLst/>
              </a:prstGeom>
              <a:blipFill>
                <a:blip r:embed="rId2"/>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B8568D73-028F-685E-AE13-5EC36C959062}"/>
              </a:ext>
            </a:extLst>
          </p:cNvPr>
          <p:cNvSpPr txBox="1"/>
          <p:nvPr/>
        </p:nvSpPr>
        <p:spPr>
          <a:xfrm>
            <a:off x="838200" y="3924730"/>
            <a:ext cx="10515600" cy="1384995"/>
          </a:xfrm>
          <a:prstGeom prst="rect">
            <a:avLst/>
          </a:prstGeom>
          <a:noFill/>
        </p:spPr>
        <p:txBody>
          <a:bodyPr wrap="square">
            <a:spAutoFit/>
          </a:bodyPr>
          <a:lstStyle/>
          <a:p>
            <a:pPr marL="0" indent="0">
              <a:buNone/>
            </a:pPr>
            <a:r>
              <a:rPr lang="en-SE" sz="2800" dirty="0"/>
              <a:t>But now our hypotheses are </a:t>
            </a:r>
            <a:r>
              <a:rPr lang="en-SE" sz="2800" b="1" dirty="0"/>
              <a:t>continuous</a:t>
            </a:r>
            <a:r>
              <a:rPr lang="en-SE" sz="2800" dirty="0"/>
              <a:t>, requiring to integrate over a complex parameter space. These integrals often have no closed form.</a:t>
            </a:r>
          </a:p>
        </p:txBody>
      </p:sp>
      <p:sp>
        <p:nvSpPr>
          <p:cNvPr id="6" name="Footer Placeholder 5">
            <a:extLst>
              <a:ext uri="{FF2B5EF4-FFF2-40B4-BE49-F238E27FC236}">
                <a16:creationId xmlns:a16="http://schemas.microsoft.com/office/drawing/2014/main" id="{B1EFDE5D-0C56-FF13-0C48-0BAB6BE658D5}"/>
              </a:ext>
            </a:extLst>
          </p:cNvPr>
          <p:cNvSpPr>
            <a:spLocks noGrp="1"/>
          </p:cNvSpPr>
          <p:nvPr>
            <p:ph type="ftr" sz="quarter" idx="11"/>
          </p:nvPr>
        </p:nvSpPr>
        <p:spPr/>
        <p:txBody>
          <a:bodyPr/>
          <a:lstStyle/>
          <a:p>
            <a:r>
              <a:rPr lang="de-DE"/>
              <a:t>Bayesian Data Analysis Tutorial</a:t>
            </a:r>
            <a:endParaRPr lang="en-SE"/>
          </a:p>
        </p:txBody>
      </p:sp>
      <p:grpSp>
        <p:nvGrpSpPr>
          <p:cNvPr id="29" name="Group 28">
            <a:extLst>
              <a:ext uri="{FF2B5EF4-FFF2-40B4-BE49-F238E27FC236}">
                <a16:creationId xmlns:a16="http://schemas.microsoft.com/office/drawing/2014/main" id="{316FE2A4-9F6E-BE15-AA28-DEC0D821108E}"/>
              </a:ext>
            </a:extLst>
          </p:cNvPr>
          <p:cNvGrpSpPr/>
          <p:nvPr/>
        </p:nvGrpSpPr>
        <p:grpSpPr>
          <a:xfrm>
            <a:off x="203635" y="1825625"/>
            <a:ext cx="504000" cy="504000"/>
            <a:chOff x="977950" y="2729564"/>
            <a:chExt cx="504000" cy="504000"/>
          </a:xfrm>
        </p:grpSpPr>
        <p:sp>
          <p:nvSpPr>
            <p:cNvPr id="30" name="Oval 29">
              <a:extLst>
                <a:ext uri="{FF2B5EF4-FFF2-40B4-BE49-F238E27FC236}">
                  <a16:creationId xmlns:a16="http://schemas.microsoft.com/office/drawing/2014/main" id="{CC5F8FEB-9610-B4AA-B4D3-4DA76E664897}"/>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Golden Ratio with solid fill">
              <a:extLst>
                <a:ext uri="{FF2B5EF4-FFF2-40B4-BE49-F238E27FC236}">
                  <a16:creationId xmlns:a16="http://schemas.microsoft.com/office/drawing/2014/main" id="{38694088-7BE3-A9F1-B9E5-C50E272667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C34A7239-D40F-B738-E2ED-CE8555A07180}"/>
              </a:ext>
            </a:extLst>
          </p:cNvPr>
          <p:cNvGrpSpPr/>
          <p:nvPr/>
        </p:nvGrpSpPr>
        <p:grpSpPr>
          <a:xfrm>
            <a:off x="203635" y="2439322"/>
            <a:ext cx="504000" cy="504000"/>
            <a:chOff x="977950" y="2729564"/>
            <a:chExt cx="504000" cy="504000"/>
          </a:xfrm>
        </p:grpSpPr>
        <p:sp>
          <p:nvSpPr>
            <p:cNvPr id="33" name="Oval 32">
              <a:extLst>
                <a:ext uri="{FF2B5EF4-FFF2-40B4-BE49-F238E27FC236}">
                  <a16:creationId xmlns:a16="http://schemas.microsoft.com/office/drawing/2014/main" id="{30BE5CF7-0CB4-7A0E-D101-E95DEE39FAA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Normal Distribution with solid fill">
              <a:extLst>
                <a:ext uri="{FF2B5EF4-FFF2-40B4-BE49-F238E27FC236}">
                  <a16:creationId xmlns:a16="http://schemas.microsoft.com/office/drawing/2014/main" id="{561561F4-B964-56AD-C30A-885A571EB2A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A237276F-4D5D-0613-7D80-5761D1ACF937}"/>
              </a:ext>
            </a:extLst>
          </p:cNvPr>
          <p:cNvGrpSpPr/>
          <p:nvPr/>
        </p:nvGrpSpPr>
        <p:grpSpPr>
          <a:xfrm>
            <a:off x="203635" y="3053019"/>
            <a:ext cx="504000" cy="504000"/>
            <a:chOff x="977950" y="2729564"/>
            <a:chExt cx="504000" cy="504000"/>
          </a:xfrm>
        </p:grpSpPr>
        <p:sp>
          <p:nvSpPr>
            <p:cNvPr id="36" name="Oval 35">
              <a:extLst>
                <a:ext uri="{FF2B5EF4-FFF2-40B4-BE49-F238E27FC236}">
                  <a16:creationId xmlns:a16="http://schemas.microsoft.com/office/drawing/2014/main" id="{7214D530-F861-350B-88E1-114E163C609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Abacus with solid fill">
              <a:extLst>
                <a:ext uri="{FF2B5EF4-FFF2-40B4-BE49-F238E27FC236}">
                  <a16:creationId xmlns:a16="http://schemas.microsoft.com/office/drawing/2014/main" id="{35A88F31-4EF9-8AC5-5AAE-B9F4DCB3F2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55D3B64B-A12B-5761-923D-135D0E9C68B1}"/>
              </a:ext>
            </a:extLst>
          </p:cNvPr>
          <p:cNvGrpSpPr/>
          <p:nvPr/>
        </p:nvGrpSpPr>
        <p:grpSpPr>
          <a:xfrm>
            <a:off x="203635" y="3666716"/>
            <a:ext cx="504000" cy="504000"/>
            <a:chOff x="977950" y="2729564"/>
            <a:chExt cx="504000" cy="504000"/>
          </a:xfrm>
        </p:grpSpPr>
        <p:sp>
          <p:nvSpPr>
            <p:cNvPr id="39" name="Oval 38">
              <a:extLst>
                <a:ext uri="{FF2B5EF4-FFF2-40B4-BE49-F238E27FC236}">
                  <a16:creationId xmlns:a16="http://schemas.microsoft.com/office/drawing/2014/main" id="{3B89413A-2650-4E17-DD37-88BE07C1FDF5}"/>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Trigonometry with solid fill">
              <a:extLst>
                <a:ext uri="{FF2B5EF4-FFF2-40B4-BE49-F238E27FC236}">
                  <a16:creationId xmlns:a16="http://schemas.microsoft.com/office/drawing/2014/main" id="{F550109C-BB84-6A57-7594-DF698BA3EB2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B5803690-0F01-5BA4-757C-DC671794DD33}"/>
              </a:ext>
            </a:extLst>
          </p:cNvPr>
          <p:cNvGrpSpPr/>
          <p:nvPr/>
        </p:nvGrpSpPr>
        <p:grpSpPr>
          <a:xfrm>
            <a:off x="203635" y="4280414"/>
            <a:ext cx="504000" cy="504000"/>
            <a:chOff x="977950" y="2729564"/>
            <a:chExt cx="504000" cy="504000"/>
          </a:xfrm>
        </p:grpSpPr>
        <p:sp>
          <p:nvSpPr>
            <p:cNvPr id="42" name="Oval 41">
              <a:extLst>
                <a:ext uri="{FF2B5EF4-FFF2-40B4-BE49-F238E27FC236}">
                  <a16:creationId xmlns:a16="http://schemas.microsoft.com/office/drawing/2014/main" id="{D84A5E6D-7BE5-ACE3-F61D-262A25D8EF27}"/>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Scatterplot with solid fill">
              <a:extLst>
                <a:ext uri="{FF2B5EF4-FFF2-40B4-BE49-F238E27FC236}">
                  <a16:creationId xmlns:a16="http://schemas.microsoft.com/office/drawing/2014/main" id="{6B9E39C2-D462-C1E8-0ADA-B7E7336C5BC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4" name="Straight Arrow Connector 43">
            <a:extLst>
              <a:ext uri="{FF2B5EF4-FFF2-40B4-BE49-F238E27FC236}">
                <a16:creationId xmlns:a16="http://schemas.microsoft.com/office/drawing/2014/main" id="{0E12B3FA-3E49-DF1D-6B38-A94F583B40B5}"/>
              </a:ext>
            </a:extLst>
          </p:cNvPr>
          <p:cNvCxnSpPr>
            <a:cxnSpLocks/>
            <a:stCxn id="30" idx="4"/>
            <a:endCxn id="3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5BD388F4-ED29-6717-6F0A-608F0045C041}"/>
              </a:ext>
            </a:extLst>
          </p:cNvPr>
          <p:cNvCxnSpPr>
            <a:cxnSpLocks/>
            <a:stCxn id="33" idx="4"/>
            <a:endCxn id="3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52D9A773-9AB5-6F38-2683-B5C2F940139A}"/>
              </a:ext>
            </a:extLst>
          </p:cNvPr>
          <p:cNvCxnSpPr>
            <a:cxnSpLocks/>
            <a:stCxn id="36" idx="4"/>
            <a:endCxn id="3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73073284-B8A5-B22E-50C2-3F7B9B7042FE}"/>
              </a:ext>
            </a:extLst>
          </p:cNvPr>
          <p:cNvCxnSpPr>
            <a:cxnSpLocks/>
            <a:stCxn id="39" idx="4"/>
            <a:endCxn id="4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74658914-0331-5CDC-A265-09D2A18ED870}"/>
                  </a:ext>
                </a:extLst>
              </p:cNvPr>
              <p:cNvSpPr>
                <a:spLocks noGrp="1"/>
              </p:cNvSpPr>
              <p:nvPr>
                <p:ph idx="1"/>
              </p:nvPr>
            </p:nvSpPr>
            <p:spPr>
              <a:xfrm>
                <a:off x="838200" y="1825625"/>
                <a:ext cx="10515600" cy="1049665"/>
              </a:xfrm>
            </p:spPr>
            <p:txBody>
              <a:bodyPr/>
              <a:lstStyle/>
              <a:p>
                <a:pPr marL="0" indent="0">
                  <a:buNone/>
                </a:pPr>
                <a:r>
                  <a:rPr lang="en-SE" dirty="0"/>
                  <a:t>Estimating the </a:t>
                </a:r>
                <a:r>
                  <a:rPr lang="en-SE" dirty="0">
                    <a:solidFill>
                      <a:schemeClr val="accent6">
                        <a:lumMod val="50000"/>
                      </a:schemeClr>
                    </a:solidFill>
                  </a:rPr>
                  <a:t>m</a:t>
                </a:r>
                <a:r>
                  <a:rPr lang="en-US" dirty="0" err="1">
                    <a:solidFill>
                      <a:schemeClr val="accent6">
                        <a:lumMod val="50000"/>
                      </a:schemeClr>
                    </a:solidFill>
                  </a:rPr>
                  <a:t>arginal</a:t>
                </a:r>
                <a:r>
                  <a:rPr lang="en-US" dirty="0">
                    <a:solidFill>
                      <a:schemeClr val="accent6">
                        <a:lumMod val="50000"/>
                      </a:schemeClr>
                    </a:solidFill>
                  </a:rPr>
                  <a:t> likelihood</a:t>
                </a:r>
                <a:r>
                  <a:rPr lang="en-SE" dirty="0">
                    <a:solidFill>
                      <a:schemeClr val="accent6">
                        <a:lumMod val="50000"/>
                      </a:schemeClr>
                    </a:solidFill>
                  </a:rPr>
                  <a:t> </a:t>
                </a:r>
                <a14:m>
                  <m:oMath xmlns:m="http://schemas.openxmlformats.org/officeDocument/2006/math">
                    <m:r>
                      <a:rPr lang="en-SE" i="1">
                        <a:solidFill>
                          <a:schemeClr val="accent6">
                            <a:lumMod val="50000"/>
                          </a:schemeClr>
                        </a:solidFill>
                        <a:latin typeface="Cambria Math" panose="02040503050406030204" pitchFamily="18" charset="0"/>
                      </a:rPr>
                      <m:t>𝑃</m:t>
                    </m:r>
                    <m:r>
                      <a:rPr lang="en-SE" i="1">
                        <a:solidFill>
                          <a:schemeClr val="accent6">
                            <a:lumMod val="50000"/>
                          </a:schemeClr>
                        </a:solidFill>
                        <a:latin typeface="Cambria Math" panose="02040503050406030204" pitchFamily="18" charset="0"/>
                      </a:rPr>
                      <m:t>(</m:t>
                    </m:r>
                    <m:r>
                      <a:rPr lang="en-SE" i="1">
                        <a:solidFill>
                          <a:schemeClr val="accent6">
                            <a:lumMod val="50000"/>
                          </a:schemeClr>
                        </a:solidFill>
                        <a:latin typeface="Cambria Math" panose="02040503050406030204" pitchFamily="18" charset="0"/>
                      </a:rPr>
                      <m:t>𝑑</m:t>
                    </m:r>
                    <m:r>
                      <a:rPr lang="en-SE" i="1">
                        <a:solidFill>
                          <a:schemeClr val="accent6">
                            <a:lumMod val="50000"/>
                          </a:schemeClr>
                        </a:solidFill>
                        <a:latin typeface="Cambria Math" panose="02040503050406030204" pitchFamily="18" charset="0"/>
                      </a:rPr>
                      <m:t>)</m:t>
                    </m:r>
                  </m:oMath>
                </a14:m>
                <a:r>
                  <a:rPr lang="en-SE" b="1" dirty="0">
                    <a:solidFill>
                      <a:schemeClr val="accent6">
                        <a:lumMod val="50000"/>
                      </a:schemeClr>
                    </a:solidFill>
                  </a:rPr>
                  <a:t> </a:t>
                </a:r>
                <a:r>
                  <a:rPr lang="en-SE" dirty="0"/>
                  <a:t>for </a:t>
                </a:r>
                <a:r>
                  <a:rPr lang="en-SE" b="1" dirty="0"/>
                  <a:t>binary</a:t>
                </a:r>
                <a:r>
                  <a:rPr lang="en-SE" dirty="0"/>
                  <a:t> </a:t>
                </a:r>
                <a:r>
                  <a:rPr lang="en-SE" b="1" dirty="0"/>
                  <a:t>hypotheses</a:t>
                </a:r>
                <a:r>
                  <a:rPr lang="en-SE" dirty="0"/>
                  <a:t> </a:t>
                </a:r>
                <a14:m>
                  <m:oMath xmlns:m="http://schemas.openxmlformats.org/officeDocument/2006/math">
                    <m:r>
                      <a:rPr lang="en-SE" i="1">
                        <a:latin typeface="Cambria Math" panose="02040503050406030204" pitchFamily="18" charset="0"/>
                      </a:rPr>
                      <m:t>𝐻</m:t>
                    </m:r>
                    <m:r>
                      <a:rPr lang="en-SE" i="1">
                        <a:latin typeface="Cambria Math" panose="02040503050406030204" pitchFamily="18" charset="0"/>
                      </a:rPr>
                      <m:t>={</m:t>
                    </m:r>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0</m:t>
                        </m:r>
                      </m:sub>
                    </m:sSub>
                    <m:r>
                      <a:rPr lang="en-SE" i="1">
                        <a:latin typeface="Cambria Math" panose="02040503050406030204" pitchFamily="18" charset="0"/>
                      </a:rPr>
                      <m:t>,</m:t>
                    </m:r>
                    <m:sSub>
                      <m:sSubPr>
                        <m:ctrlPr>
                          <a:rPr lang="en-SE" i="1">
                            <a:latin typeface="Cambria Math" panose="02040503050406030204" pitchFamily="18" charset="0"/>
                          </a:rPr>
                        </m:ctrlPr>
                      </m:sSubPr>
                      <m:e>
                        <m:r>
                          <a:rPr lang="en-SE" i="1">
                            <a:latin typeface="Cambria Math" panose="02040503050406030204" pitchFamily="18" charset="0"/>
                          </a:rPr>
                          <m:t>h</m:t>
                        </m:r>
                      </m:e>
                      <m:sub>
                        <m:r>
                          <a:rPr lang="en-SE" i="1">
                            <a:latin typeface="Cambria Math" panose="02040503050406030204" pitchFamily="18" charset="0"/>
                          </a:rPr>
                          <m:t>1</m:t>
                        </m:r>
                      </m:sub>
                    </m:sSub>
                    <m:r>
                      <a:rPr lang="en-SE" i="1">
                        <a:latin typeface="Cambria Math" panose="02040503050406030204" pitchFamily="18" charset="0"/>
                      </a:rPr>
                      <m:t>}</m:t>
                    </m:r>
                  </m:oMath>
                </a14:m>
                <a:r>
                  <a:rPr lang="en-SE" dirty="0"/>
                  <a:t>, this was simply</a:t>
                </a:r>
              </a:p>
            </p:txBody>
          </p:sp>
        </mc:Choice>
        <mc:Fallback xmlns="">
          <p:sp>
            <p:nvSpPr>
              <p:cNvPr id="10" name="Content Placeholder 9">
                <a:extLst>
                  <a:ext uri="{FF2B5EF4-FFF2-40B4-BE49-F238E27FC236}">
                    <a16:creationId xmlns:a16="http://schemas.microsoft.com/office/drawing/2014/main" id="{74658914-0331-5CDC-A265-09D2A18ED870}"/>
                  </a:ext>
                </a:extLst>
              </p:cNvPr>
              <p:cNvSpPr>
                <a:spLocks noGrp="1" noRot="1" noChangeAspect="1" noMove="1" noResize="1" noEditPoints="1" noAdjustHandles="1" noChangeArrowheads="1" noChangeShapeType="1" noTextEdit="1"/>
              </p:cNvSpPr>
              <p:nvPr>
                <p:ph idx="1"/>
              </p:nvPr>
            </p:nvSpPr>
            <p:spPr>
              <a:xfrm>
                <a:off x="838200" y="1825625"/>
                <a:ext cx="10515600" cy="1049665"/>
              </a:xfrm>
              <a:blipFill>
                <a:blip r:embed="rId8"/>
                <a:stretch>
                  <a:fillRect l="-1217" t="-9827"/>
                </a:stretch>
              </a:blipFill>
            </p:spPr>
            <p:txBody>
              <a:bodyPr/>
              <a:lstStyle/>
              <a:p>
                <a:r>
                  <a:rPr lang="en-SE">
                    <a:noFill/>
                  </a:rPr>
                  <a:t> </a:t>
                </a:r>
              </a:p>
            </p:txBody>
          </p:sp>
        </mc:Fallback>
      </mc:AlternateContent>
    </p:spTree>
    <p:extLst>
      <p:ext uri="{BB962C8B-B14F-4D97-AF65-F5344CB8AC3E}">
        <p14:creationId xmlns:p14="http://schemas.microsoft.com/office/powerpoint/2010/main" val="40464005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121A9-3218-824F-674F-E78EAA889A45}"/>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C78C0655-8A80-8994-3ADB-7B53D99B1C9A}"/>
              </a:ext>
            </a:extLst>
          </p:cNvPr>
          <p:cNvSpPr>
            <a:spLocks noGrp="1"/>
          </p:cNvSpPr>
          <p:nvPr>
            <p:ph idx="1"/>
          </p:nvPr>
        </p:nvSpPr>
        <p:spPr/>
        <p:txBody>
          <a:bodyPr/>
          <a:lstStyle/>
          <a:p>
            <a:pPr marL="0" indent="0">
              <a:buNone/>
            </a:pPr>
            <a:r>
              <a:rPr lang="en-SE" dirty="0"/>
              <a:t>We can sidestep computing the posterior directly by </a:t>
            </a:r>
            <a:r>
              <a:rPr lang="en-SE" b="1" dirty="0"/>
              <a:t>drawing samples from the posterior</a:t>
            </a:r>
            <a:r>
              <a:rPr lang="en-SE" dirty="0"/>
              <a:t> without knowing its normalizing constant. Sampling proportionally to the </a:t>
            </a:r>
            <a:r>
              <a:rPr lang="en-SE" i="1" dirty="0"/>
              <a:t>relative</a:t>
            </a:r>
            <a:r>
              <a:rPr lang="en-SE" b="1" i="1" dirty="0"/>
              <a:t> </a:t>
            </a:r>
            <a:r>
              <a:rPr lang="en-SE" dirty="0"/>
              <a:t>posterior density approximates the true posterior.</a:t>
            </a:r>
          </a:p>
          <a:p>
            <a:pPr marL="0" indent="0">
              <a:buNone/>
            </a:pPr>
            <a:r>
              <a:rPr lang="en-SE" dirty="0"/>
              <a:t>This can be realized via Markov chain algorithms, e.g., Markov chain Monte Carlo sampling.   </a:t>
            </a:r>
          </a:p>
        </p:txBody>
      </p:sp>
      <p:sp>
        <p:nvSpPr>
          <p:cNvPr id="4" name="Date Placeholder 3">
            <a:extLst>
              <a:ext uri="{FF2B5EF4-FFF2-40B4-BE49-F238E27FC236}">
                <a16:creationId xmlns:a16="http://schemas.microsoft.com/office/drawing/2014/main" id="{F47D521F-E4D7-2A76-6B8F-11EF7721969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BA1D5C2B-D600-D254-2F3D-21E8E8CF6EF3}"/>
              </a:ext>
            </a:extLst>
          </p:cNvPr>
          <p:cNvSpPr>
            <a:spLocks noGrp="1"/>
          </p:cNvSpPr>
          <p:nvPr>
            <p:ph type="sldNum" sz="quarter" idx="12"/>
          </p:nvPr>
        </p:nvSpPr>
        <p:spPr/>
        <p:txBody>
          <a:bodyPr/>
          <a:lstStyle/>
          <a:p>
            <a:fld id="{271ECC92-9CDE-4EB3-B1C5-F46B9E1FA3C1}" type="slidenum">
              <a:rPr lang="en-SE" smtClean="0"/>
              <a:t>58</a:t>
            </a:fld>
            <a:endParaRPr lang="en-SE"/>
          </a:p>
        </p:txBody>
      </p:sp>
      <p:sp>
        <p:nvSpPr>
          <p:cNvPr id="6" name="Footer Placeholder 5">
            <a:extLst>
              <a:ext uri="{FF2B5EF4-FFF2-40B4-BE49-F238E27FC236}">
                <a16:creationId xmlns:a16="http://schemas.microsoft.com/office/drawing/2014/main" id="{C2482682-54CC-DBFC-40BE-B13F545337F2}"/>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8AFE046A-84EB-C137-D94A-37BFEFC2E4B0}"/>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7DBB9FC5-D7B4-61FB-D7AC-018EA3EEB6F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63481112-F25B-EBDF-4A95-C11CAB4A5F5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BFD462D1-A8C9-C46D-349D-85A13207F817}"/>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87C79C9C-CE33-A514-8F33-35C82BC9B07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C1E72237-6C91-52E8-6044-E310FD43A9F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1922E623-B892-CC8C-F6D4-9F47DAE4B6FD}"/>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AD671DFA-2425-0011-CFA5-11AEDD22DDE7}"/>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9E7D86C8-6EF9-5F95-DC9F-55196D86B1A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C7599CCB-8A87-A5A4-5383-8C4F457F377C}"/>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77344E30-2AAF-6F43-B78F-A2E95895CF95}"/>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E6B6C7B5-1F74-6701-5837-3A950E4D4762}"/>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1FCB6CCC-89D5-5BC2-833E-08B51A0C166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1D403B39-50A4-4AEB-B6D1-6B0F7FC81DB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7E1C1323-C938-D66D-A01E-41299800F1D5}"/>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73905A0C-E5BB-93A2-8951-E89C714C72E7}"/>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DF308D16-C3E7-81AD-D832-803776C126A4}"/>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47017670-9157-3FD0-0E03-CDC0C07F8B17}"/>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79FBDF2-1EA8-9F77-80EC-9C0BE5496E1E}"/>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021061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EB8AA-6EE4-A0FD-51BB-2E61B84B628D}"/>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52D606D5-F842-2E0C-5047-B0EB95C9EFDC}"/>
              </a:ext>
            </a:extLst>
          </p:cNvPr>
          <p:cNvSpPr/>
          <p:nvPr/>
        </p:nvSpPr>
        <p:spPr>
          <a:xfrm>
            <a:off x="3106536" y="4089401"/>
            <a:ext cx="292086" cy="788640"/>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1" name="Rectangle 20">
            <a:extLst>
              <a:ext uri="{FF2B5EF4-FFF2-40B4-BE49-F238E27FC236}">
                <a16:creationId xmlns:a16="http://schemas.microsoft.com/office/drawing/2014/main" id="{7D5B4002-BC97-EE4B-5543-1FA0C4CCFFB2}"/>
              </a:ext>
            </a:extLst>
          </p:cNvPr>
          <p:cNvSpPr/>
          <p:nvPr/>
        </p:nvSpPr>
        <p:spPr>
          <a:xfrm>
            <a:off x="3892557" y="3557019"/>
            <a:ext cx="292086" cy="1321022"/>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sp>
        <p:nvSpPr>
          <p:cNvPr id="23" name="Rectangle 22">
            <a:extLst>
              <a:ext uri="{FF2B5EF4-FFF2-40B4-BE49-F238E27FC236}">
                <a16:creationId xmlns:a16="http://schemas.microsoft.com/office/drawing/2014/main" id="{597F517D-E8A9-D5C0-7B06-9E1E5D5058ED}"/>
              </a:ext>
            </a:extLst>
          </p:cNvPr>
          <p:cNvSpPr/>
          <p:nvPr/>
        </p:nvSpPr>
        <p:spPr>
          <a:xfrm>
            <a:off x="4678578" y="4465320"/>
            <a:ext cx="292086" cy="412721"/>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5" name="Rectangle 24">
            <a:extLst>
              <a:ext uri="{FF2B5EF4-FFF2-40B4-BE49-F238E27FC236}">
                <a16:creationId xmlns:a16="http://schemas.microsoft.com/office/drawing/2014/main" id="{9CDBDCF9-22FA-7926-B435-B98391C3049F}"/>
              </a:ext>
            </a:extLst>
          </p:cNvPr>
          <p:cNvSpPr/>
          <p:nvPr/>
        </p:nvSpPr>
        <p:spPr>
          <a:xfrm>
            <a:off x="5464599" y="3843695"/>
            <a:ext cx="292086" cy="1034346"/>
          </a:xfrm>
          <a:prstGeom prst="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46" name="Rectangle 45">
            <a:extLst>
              <a:ext uri="{FF2B5EF4-FFF2-40B4-BE49-F238E27FC236}">
                <a16:creationId xmlns:a16="http://schemas.microsoft.com/office/drawing/2014/main" id="{8F52BA14-9E15-D864-CE40-0F051496925D}"/>
              </a:ext>
            </a:extLst>
          </p:cNvPr>
          <p:cNvSpPr/>
          <p:nvPr/>
        </p:nvSpPr>
        <p:spPr>
          <a:xfrm>
            <a:off x="6250620" y="3429000"/>
            <a:ext cx="292086" cy="1449041"/>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CEEA61A6-1DB0-0A27-9B18-293A6008FAC5}"/>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5ADF381D-E66B-A7EA-605B-FE4D9E4E577A}"/>
              </a:ext>
            </a:extLst>
          </p:cNvPr>
          <p:cNvSpPr>
            <a:spLocks noGrp="1"/>
          </p:cNvSpPr>
          <p:nvPr>
            <p:ph idx="1"/>
          </p:nvPr>
        </p:nvSpPr>
        <p:spPr>
          <a:xfrm>
            <a:off x="838200" y="1825625"/>
            <a:ext cx="10515600" cy="942975"/>
          </a:xfrm>
        </p:spPr>
        <p:txBody>
          <a:bodyPr/>
          <a:lstStyle/>
          <a:p>
            <a:pPr marL="0" indent="0">
              <a:buNone/>
            </a:pPr>
            <a:r>
              <a:rPr lang="en-SE" dirty="0"/>
              <a:t>Markov chain Monte Carlo samplers travel between adjacent parameter values based on their </a:t>
            </a:r>
            <a:r>
              <a:rPr lang="en-SE" b="1" dirty="0"/>
              <a:t>relative density</a:t>
            </a:r>
            <a:r>
              <a:rPr lang="en-SE" dirty="0"/>
              <a:t>:</a:t>
            </a:r>
          </a:p>
        </p:txBody>
      </p:sp>
      <p:sp>
        <p:nvSpPr>
          <p:cNvPr id="4" name="Date Placeholder 3">
            <a:extLst>
              <a:ext uri="{FF2B5EF4-FFF2-40B4-BE49-F238E27FC236}">
                <a16:creationId xmlns:a16="http://schemas.microsoft.com/office/drawing/2014/main" id="{32BD12CE-2749-215E-7B6B-70469B63914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67414D4-647A-B8B3-2A15-64F06A08C2DA}"/>
              </a:ext>
            </a:extLst>
          </p:cNvPr>
          <p:cNvSpPr>
            <a:spLocks noGrp="1"/>
          </p:cNvSpPr>
          <p:nvPr>
            <p:ph type="sldNum" sz="quarter" idx="12"/>
          </p:nvPr>
        </p:nvSpPr>
        <p:spPr/>
        <p:txBody>
          <a:bodyPr/>
          <a:lstStyle/>
          <a:p>
            <a:fld id="{271ECC92-9CDE-4EB3-B1C5-F46B9E1FA3C1}" type="slidenum">
              <a:rPr lang="en-SE" smtClean="0"/>
              <a:t>59</a:t>
            </a:fld>
            <a:endParaRPr lang="en-SE"/>
          </a:p>
        </p:txBody>
      </p:sp>
      <p:sp>
        <p:nvSpPr>
          <p:cNvPr id="6" name="Footer Placeholder 5">
            <a:extLst>
              <a:ext uri="{FF2B5EF4-FFF2-40B4-BE49-F238E27FC236}">
                <a16:creationId xmlns:a16="http://schemas.microsoft.com/office/drawing/2014/main" id="{D71CB7A9-EFC2-1DB7-F87C-0A9E6F28D54A}"/>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49763C8F-9DF8-03EE-75E0-8F3FB42ECA3A}"/>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21A48FC5-3860-71E8-9FC3-795B41B8711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D4341960-57A8-34EE-E03B-D8A214A82C6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B5B0EF32-CFB9-0493-1E56-348D073D47A2}"/>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8D339B10-B524-295E-D0D0-E5E9E38CF1D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70263E60-9F15-F3F3-AF32-638374872DF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067AFE82-F1D1-F950-9EA7-A86ADE354E0A}"/>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B17FCD47-5F37-DC96-3C69-ADDAE0E38AE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4D2BFDDD-2C41-7AD8-1B97-D46F3056545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8679DEDC-DEAA-F8F4-F610-97E8CF7F5D7E}"/>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23155580-59D1-0A58-6876-C727EF54F52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0B45611F-369D-8D2C-923C-328B567F62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2CED6321-9103-BBBE-43BE-EF0FF376B8B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F8BDE34F-823E-EF48-7858-45D32CBAB67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6D9CF706-CAD2-AC8E-DFC4-24CB6F1078B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16E83836-FFB6-3EA3-ADA3-E8BFCBEB5795}"/>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B1EA126E-4EC0-4F90-182F-E609635E3F7F}"/>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94925CFE-E480-578C-1A13-CE5697096187}"/>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85A4F793-B970-AF9C-A476-CCCA86E70BE3}"/>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F65DA65-9C4F-505E-FDB0-B24DB9F646C0}"/>
              </a:ext>
            </a:extLst>
          </p:cNvPr>
          <p:cNvSpPr txBox="1"/>
          <p:nvPr/>
        </p:nvSpPr>
        <p:spPr>
          <a:xfrm>
            <a:off x="939800" y="4905620"/>
            <a:ext cx="1933158" cy="369332"/>
          </a:xfrm>
          <a:prstGeom prst="rect">
            <a:avLst/>
          </a:prstGeom>
          <a:noFill/>
        </p:spPr>
        <p:txBody>
          <a:bodyPr wrap="none" rtlCol="0">
            <a:spAutoFit/>
          </a:bodyPr>
          <a:lstStyle/>
          <a:p>
            <a:pPr algn="r"/>
            <a:r>
              <a:rPr lang="en-SE" dirty="0"/>
              <a:t>Parameter Values</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53D6A597-F6C7-DA05-C1C9-28957DBCE338}"/>
                  </a:ext>
                </a:extLst>
              </p:cNvPr>
              <p:cNvSpPr/>
              <p:nvPr/>
            </p:nvSpPr>
            <p:spPr>
              <a:xfrm>
                <a:off x="2923758" y="4857046"/>
                <a:ext cx="657642" cy="466480"/>
              </a:xfrm>
              <a:prstGeom prst="rect">
                <a:avLst/>
              </a:prstGeom>
              <a:solidFill>
                <a:schemeClr val="accent5">
                  <a:lumMod val="5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𝜃</m:t>
                          </m:r>
                        </m:e>
                        <m:sub>
                          <m:r>
                            <a:rPr lang="en-SE" b="0" i="1" smtClean="0">
                              <a:latin typeface="Cambria Math" panose="02040503050406030204" pitchFamily="18" charset="0"/>
                            </a:rPr>
                            <m:t>0</m:t>
                          </m:r>
                        </m:sub>
                      </m:sSub>
                    </m:oMath>
                  </m:oMathPara>
                </a14:m>
                <a:endParaRPr lang="en-SE" dirty="0"/>
              </a:p>
            </p:txBody>
          </p:sp>
        </mc:Choice>
        <mc:Fallback xmlns="">
          <p:sp>
            <p:nvSpPr>
              <p:cNvPr id="8" name="Rectangle 7">
                <a:extLst>
                  <a:ext uri="{FF2B5EF4-FFF2-40B4-BE49-F238E27FC236}">
                    <a16:creationId xmlns:a16="http://schemas.microsoft.com/office/drawing/2014/main" id="{53D6A597-F6C7-DA05-C1C9-28957DBCE338}"/>
                  </a:ext>
                </a:extLst>
              </p:cNvPr>
              <p:cNvSpPr>
                <a:spLocks noRot="1" noChangeAspect="1" noMove="1" noResize="1" noEditPoints="1" noAdjustHandles="1" noChangeArrowheads="1" noChangeShapeType="1" noTextEdit="1"/>
              </p:cNvSpPr>
              <p:nvPr/>
            </p:nvSpPr>
            <p:spPr>
              <a:xfrm>
                <a:off x="2923758" y="4857046"/>
                <a:ext cx="657642" cy="466480"/>
              </a:xfrm>
              <a:prstGeom prst="rect">
                <a:avLst/>
              </a:prstGeom>
              <a:blipFill>
                <a:blip r:embed="rId7"/>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13FFB9D4-6BBA-D73E-DB40-3E088E8F67EE}"/>
                  </a:ext>
                </a:extLst>
              </p:cNvPr>
              <p:cNvSpPr/>
              <p:nvPr/>
            </p:nvSpPr>
            <p:spPr>
              <a:xfrm>
                <a:off x="3709779" y="4857046"/>
                <a:ext cx="657642" cy="466480"/>
              </a:xfrm>
              <a:prstGeom prst="rect">
                <a:avLst/>
              </a:prstGeom>
              <a:solidFill>
                <a:schemeClr val="accent5">
                  <a:lumMod val="75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𝜃</m:t>
                          </m:r>
                        </m:e>
                        <m:sub>
                          <m:r>
                            <a:rPr lang="en-SE" b="0" i="1" smtClean="0">
                              <a:latin typeface="Cambria Math" panose="02040503050406030204" pitchFamily="18" charset="0"/>
                            </a:rPr>
                            <m:t>1</m:t>
                          </m:r>
                        </m:sub>
                      </m:sSub>
                    </m:oMath>
                  </m:oMathPara>
                </a14:m>
                <a:endParaRPr lang="en-SE" dirty="0"/>
              </a:p>
            </p:txBody>
          </p:sp>
        </mc:Choice>
        <mc:Fallback xmlns="">
          <p:sp>
            <p:nvSpPr>
              <p:cNvPr id="12" name="Rectangle 11">
                <a:extLst>
                  <a:ext uri="{FF2B5EF4-FFF2-40B4-BE49-F238E27FC236}">
                    <a16:creationId xmlns:a16="http://schemas.microsoft.com/office/drawing/2014/main" id="{13FFB9D4-6BBA-D73E-DB40-3E088E8F67EE}"/>
                  </a:ext>
                </a:extLst>
              </p:cNvPr>
              <p:cNvSpPr>
                <a:spLocks noRot="1" noChangeAspect="1" noMove="1" noResize="1" noEditPoints="1" noAdjustHandles="1" noChangeArrowheads="1" noChangeShapeType="1" noTextEdit="1"/>
              </p:cNvSpPr>
              <p:nvPr/>
            </p:nvSpPr>
            <p:spPr>
              <a:xfrm>
                <a:off x="3709779" y="4857046"/>
                <a:ext cx="657642" cy="466480"/>
              </a:xfrm>
              <a:prstGeom prst="rect">
                <a:avLst/>
              </a:prstGeom>
              <a:blipFill>
                <a:blip r:embed="rId8"/>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EDAF55A7-F23A-569A-4452-C70674EC6385}"/>
                  </a:ext>
                </a:extLst>
              </p:cNvPr>
              <p:cNvSpPr/>
              <p:nvPr/>
            </p:nvSpPr>
            <p:spPr>
              <a:xfrm>
                <a:off x="4495800" y="4857046"/>
                <a:ext cx="657642" cy="466480"/>
              </a:xfrm>
              <a:prstGeom prst="rect">
                <a:avLst/>
              </a:prstGeom>
              <a:solidFill>
                <a:schemeClr val="accent5">
                  <a:lumMod val="60000"/>
                  <a:lumOff val="4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2</m:t>
                          </m:r>
                        </m:sub>
                      </m:sSub>
                    </m:oMath>
                  </m:oMathPara>
                </a14:m>
                <a:endParaRPr lang="en-SE" dirty="0">
                  <a:solidFill>
                    <a:schemeClr val="tx1"/>
                  </a:solidFill>
                </a:endParaRPr>
              </a:p>
            </p:txBody>
          </p:sp>
        </mc:Choice>
        <mc:Fallback xmlns="">
          <p:sp>
            <p:nvSpPr>
              <p:cNvPr id="14" name="Rectangle 13">
                <a:extLst>
                  <a:ext uri="{FF2B5EF4-FFF2-40B4-BE49-F238E27FC236}">
                    <a16:creationId xmlns:a16="http://schemas.microsoft.com/office/drawing/2014/main" id="{EDAF55A7-F23A-569A-4452-C70674EC6385}"/>
                  </a:ext>
                </a:extLst>
              </p:cNvPr>
              <p:cNvSpPr>
                <a:spLocks noRot="1" noChangeAspect="1" noMove="1" noResize="1" noEditPoints="1" noAdjustHandles="1" noChangeArrowheads="1" noChangeShapeType="1" noTextEdit="1"/>
              </p:cNvSpPr>
              <p:nvPr/>
            </p:nvSpPr>
            <p:spPr>
              <a:xfrm>
                <a:off x="4495800" y="4857046"/>
                <a:ext cx="657642" cy="466480"/>
              </a:xfrm>
              <a:prstGeom prst="rect">
                <a:avLst/>
              </a:prstGeom>
              <a:blipFill>
                <a:blip r:embed="rId9"/>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6EDD3963-82E5-FF14-D9CA-381662702710}"/>
                  </a:ext>
                </a:extLst>
              </p:cNvPr>
              <p:cNvSpPr/>
              <p:nvPr/>
            </p:nvSpPr>
            <p:spPr>
              <a:xfrm>
                <a:off x="5281821" y="4857046"/>
                <a:ext cx="657642" cy="466480"/>
              </a:xfrm>
              <a:prstGeom prst="rect">
                <a:avLst/>
              </a:prstGeom>
              <a:solidFill>
                <a:schemeClr val="accent5">
                  <a:lumMod val="40000"/>
                  <a:lumOff val="6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3</m:t>
                          </m:r>
                        </m:sub>
                      </m:sSub>
                    </m:oMath>
                  </m:oMathPara>
                </a14:m>
                <a:endParaRPr lang="en-SE" dirty="0">
                  <a:solidFill>
                    <a:schemeClr val="tx1"/>
                  </a:solidFill>
                </a:endParaRPr>
              </a:p>
            </p:txBody>
          </p:sp>
        </mc:Choice>
        <mc:Fallback xmlns="">
          <p:sp>
            <p:nvSpPr>
              <p:cNvPr id="16" name="Rectangle 15">
                <a:extLst>
                  <a:ext uri="{FF2B5EF4-FFF2-40B4-BE49-F238E27FC236}">
                    <a16:creationId xmlns:a16="http://schemas.microsoft.com/office/drawing/2014/main" id="{6EDD3963-82E5-FF14-D9CA-381662702710}"/>
                  </a:ext>
                </a:extLst>
              </p:cNvPr>
              <p:cNvSpPr>
                <a:spLocks noRot="1" noChangeAspect="1" noMove="1" noResize="1" noEditPoints="1" noAdjustHandles="1" noChangeArrowheads="1" noChangeShapeType="1" noTextEdit="1"/>
              </p:cNvSpPr>
              <p:nvPr/>
            </p:nvSpPr>
            <p:spPr>
              <a:xfrm>
                <a:off x="5281821" y="4857046"/>
                <a:ext cx="657642" cy="466480"/>
              </a:xfrm>
              <a:prstGeom prst="rect">
                <a:avLst/>
              </a:prstGeom>
              <a:blipFill>
                <a:blip r:embed="rId10"/>
                <a:stretch>
                  <a:fillRect/>
                </a:stretch>
              </a:blipFill>
              <a:ln>
                <a:solidFill>
                  <a:schemeClr val="accent4">
                    <a:lumMod val="50000"/>
                  </a:schemeClr>
                </a:solidFill>
              </a:ln>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4AF0B261-94C0-4972-5669-47C243626B74}"/>
                  </a:ext>
                </a:extLst>
              </p:cNvPr>
              <p:cNvSpPr/>
              <p:nvPr/>
            </p:nvSpPr>
            <p:spPr>
              <a:xfrm>
                <a:off x="6067842" y="4857046"/>
                <a:ext cx="657642" cy="466480"/>
              </a:xfrm>
              <a:prstGeom prst="rect">
                <a:avLst/>
              </a:prstGeom>
              <a:solidFill>
                <a:schemeClr val="accent5">
                  <a:lumMod val="20000"/>
                  <a:lumOff val="80000"/>
                </a:schemeClr>
              </a:solidFill>
              <a:ln>
                <a:solidFill>
                  <a:schemeClr val="accent4">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SE" b="0" i="1" smtClean="0">
                              <a:solidFill>
                                <a:schemeClr val="tx1"/>
                              </a:solidFill>
                              <a:latin typeface="Cambria Math" panose="02040503050406030204" pitchFamily="18" charset="0"/>
                            </a:rPr>
                          </m:ctrlPr>
                        </m:sSubPr>
                        <m:e>
                          <m:r>
                            <a:rPr lang="en-SE" b="0" i="1" smtClean="0">
                              <a:solidFill>
                                <a:schemeClr val="tx1"/>
                              </a:solidFill>
                              <a:latin typeface="Cambria Math" panose="02040503050406030204" pitchFamily="18" charset="0"/>
                            </a:rPr>
                            <m:t>𝜃</m:t>
                          </m:r>
                        </m:e>
                        <m:sub>
                          <m:r>
                            <a:rPr lang="en-SE" b="0" i="1" smtClean="0">
                              <a:solidFill>
                                <a:schemeClr val="tx1"/>
                              </a:solidFill>
                              <a:latin typeface="Cambria Math" panose="02040503050406030204" pitchFamily="18" charset="0"/>
                            </a:rPr>
                            <m:t>4</m:t>
                          </m:r>
                        </m:sub>
                      </m:sSub>
                    </m:oMath>
                  </m:oMathPara>
                </a14:m>
                <a:endParaRPr lang="en-SE" dirty="0">
                  <a:solidFill>
                    <a:schemeClr val="tx1"/>
                  </a:solidFill>
                </a:endParaRPr>
              </a:p>
            </p:txBody>
          </p:sp>
        </mc:Choice>
        <mc:Fallback xmlns="">
          <p:sp>
            <p:nvSpPr>
              <p:cNvPr id="18" name="Rectangle 17">
                <a:extLst>
                  <a:ext uri="{FF2B5EF4-FFF2-40B4-BE49-F238E27FC236}">
                    <a16:creationId xmlns:a16="http://schemas.microsoft.com/office/drawing/2014/main" id="{4AF0B261-94C0-4972-5669-47C243626B74}"/>
                  </a:ext>
                </a:extLst>
              </p:cNvPr>
              <p:cNvSpPr>
                <a:spLocks noRot="1" noChangeAspect="1" noMove="1" noResize="1" noEditPoints="1" noAdjustHandles="1" noChangeArrowheads="1" noChangeShapeType="1" noTextEdit="1"/>
              </p:cNvSpPr>
              <p:nvPr/>
            </p:nvSpPr>
            <p:spPr>
              <a:xfrm>
                <a:off x="6067842" y="4857046"/>
                <a:ext cx="657642" cy="466480"/>
              </a:xfrm>
              <a:prstGeom prst="rect">
                <a:avLst/>
              </a:prstGeom>
              <a:blipFill>
                <a:blip r:embed="rId11"/>
                <a:stretch>
                  <a:fillRect/>
                </a:stretch>
              </a:blipFill>
              <a:ln>
                <a:solidFill>
                  <a:schemeClr val="accent4">
                    <a:lumMod val="50000"/>
                  </a:schemeClr>
                </a:solidFill>
              </a:ln>
            </p:spPr>
            <p:txBody>
              <a:bodyPr/>
              <a:lstStyle/>
              <a:p>
                <a:r>
                  <a:rPr lang="en-SE">
                    <a:noFill/>
                  </a:rPr>
                  <a:t> </a:t>
                </a:r>
              </a:p>
            </p:txBody>
          </p:sp>
        </mc:Fallback>
      </mc:AlternateContent>
      <p:sp>
        <p:nvSpPr>
          <p:cNvPr id="48" name="TextBox 47">
            <a:extLst>
              <a:ext uri="{FF2B5EF4-FFF2-40B4-BE49-F238E27FC236}">
                <a16:creationId xmlns:a16="http://schemas.microsoft.com/office/drawing/2014/main" id="{BB532988-3E05-FBAE-5314-7B9AE8FDB056}"/>
              </a:ext>
            </a:extLst>
          </p:cNvPr>
          <p:cNvSpPr txBox="1"/>
          <p:nvPr/>
        </p:nvSpPr>
        <p:spPr>
          <a:xfrm>
            <a:off x="939800" y="3886083"/>
            <a:ext cx="1933157" cy="646331"/>
          </a:xfrm>
          <a:prstGeom prst="rect">
            <a:avLst/>
          </a:prstGeom>
          <a:noFill/>
        </p:spPr>
        <p:txBody>
          <a:bodyPr wrap="square" rtlCol="0">
            <a:spAutoFit/>
          </a:bodyPr>
          <a:lstStyle/>
          <a:p>
            <a:pPr algn="r"/>
            <a:r>
              <a:rPr lang="en-SE" dirty="0"/>
              <a:t>Unnormalized posterior density</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6A7F08E-23A6-7218-1DD0-5EF0938200F8}"/>
                  </a:ext>
                </a:extLst>
              </p:cNvPr>
              <p:cNvSpPr txBox="1"/>
              <p:nvPr/>
            </p:nvSpPr>
            <p:spPr>
              <a:xfrm>
                <a:off x="3016810" y="3701417"/>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0</m:t>
                          </m:r>
                        </m:sub>
                      </m:sSub>
                    </m:oMath>
                  </m:oMathPara>
                </a14:m>
                <a:endParaRPr lang="en-SE" dirty="0"/>
              </a:p>
            </p:txBody>
          </p:sp>
        </mc:Choice>
        <mc:Fallback xmlns="">
          <p:sp>
            <p:nvSpPr>
              <p:cNvPr id="49" name="TextBox 48">
                <a:extLst>
                  <a:ext uri="{FF2B5EF4-FFF2-40B4-BE49-F238E27FC236}">
                    <a16:creationId xmlns:a16="http://schemas.microsoft.com/office/drawing/2014/main" id="{86A7F08E-23A6-7218-1DD0-5EF0938200F8}"/>
                  </a:ext>
                </a:extLst>
              </p:cNvPr>
              <p:cNvSpPr txBox="1">
                <a:spLocks noRot="1" noChangeAspect="1" noMove="1" noResize="1" noEditPoints="1" noAdjustHandles="1" noChangeArrowheads="1" noChangeShapeType="1" noTextEdit="1"/>
              </p:cNvSpPr>
              <p:nvPr/>
            </p:nvSpPr>
            <p:spPr>
              <a:xfrm>
                <a:off x="3016810" y="3701417"/>
                <a:ext cx="471539" cy="369332"/>
              </a:xfrm>
              <a:prstGeom prst="rect">
                <a:avLst/>
              </a:prstGeom>
              <a:blipFill>
                <a:blip r:embed="rId1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7ACDD79-0CEA-18E3-43ED-0CC96A019CA2}"/>
                  </a:ext>
                </a:extLst>
              </p:cNvPr>
              <p:cNvSpPr txBox="1"/>
              <p:nvPr/>
            </p:nvSpPr>
            <p:spPr>
              <a:xfrm>
                <a:off x="3802830" y="3187687"/>
                <a:ext cx="466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1</m:t>
                          </m:r>
                        </m:sub>
                      </m:sSub>
                    </m:oMath>
                  </m:oMathPara>
                </a14:m>
                <a:endParaRPr lang="en-SE" dirty="0"/>
              </a:p>
            </p:txBody>
          </p:sp>
        </mc:Choice>
        <mc:Fallback xmlns="">
          <p:sp>
            <p:nvSpPr>
              <p:cNvPr id="51" name="TextBox 50">
                <a:extLst>
                  <a:ext uri="{FF2B5EF4-FFF2-40B4-BE49-F238E27FC236}">
                    <a16:creationId xmlns:a16="http://schemas.microsoft.com/office/drawing/2014/main" id="{97ACDD79-0CEA-18E3-43ED-0CC96A019CA2}"/>
                  </a:ext>
                </a:extLst>
              </p:cNvPr>
              <p:cNvSpPr txBox="1">
                <a:spLocks noRot="1" noChangeAspect="1" noMove="1" noResize="1" noEditPoints="1" noAdjustHandles="1" noChangeArrowheads="1" noChangeShapeType="1" noTextEdit="1"/>
              </p:cNvSpPr>
              <p:nvPr/>
            </p:nvSpPr>
            <p:spPr>
              <a:xfrm>
                <a:off x="3802830" y="3187687"/>
                <a:ext cx="466218" cy="369332"/>
              </a:xfrm>
              <a:prstGeom prst="rect">
                <a:avLst/>
              </a:prstGeom>
              <a:blipFill>
                <a:blip r:embed="rId13"/>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1564AD-4D6A-5B94-BE5A-8D370D3A24E3}"/>
                  </a:ext>
                </a:extLst>
              </p:cNvPr>
              <p:cNvSpPr txBox="1"/>
              <p:nvPr/>
            </p:nvSpPr>
            <p:spPr>
              <a:xfrm>
                <a:off x="4601712" y="4101205"/>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2</m:t>
                          </m:r>
                        </m:sub>
                      </m:sSub>
                    </m:oMath>
                  </m:oMathPara>
                </a14:m>
                <a:endParaRPr lang="en-SE" dirty="0"/>
              </a:p>
            </p:txBody>
          </p:sp>
        </mc:Choice>
        <mc:Fallback xmlns="">
          <p:sp>
            <p:nvSpPr>
              <p:cNvPr id="53" name="TextBox 52">
                <a:extLst>
                  <a:ext uri="{FF2B5EF4-FFF2-40B4-BE49-F238E27FC236}">
                    <a16:creationId xmlns:a16="http://schemas.microsoft.com/office/drawing/2014/main" id="{5B1564AD-4D6A-5B94-BE5A-8D370D3A24E3}"/>
                  </a:ext>
                </a:extLst>
              </p:cNvPr>
              <p:cNvSpPr txBox="1">
                <a:spLocks noRot="1" noChangeAspect="1" noMove="1" noResize="1" noEditPoints="1" noAdjustHandles="1" noChangeArrowheads="1" noChangeShapeType="1" noTextEdit="1"/>
              </p:cNvSpPr>
              <p:nvPr/>
            </p:nvSpPr>
            <p:spPr>
              <a:xfrm>
                <a:off x="4601712" y="4101205"/>
                <a:ext cx="471539" cy="369332"/>
              </a:xfrm>
              <a:prstGeom prst="rect">
                <a:avLst/>
              </a:prstGeom>
              <a:blipFill>
                <a:blip r:embed="rId1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3EFAA90-F3B2-F02E-F449-192077983C95}"/>
                  </a:ext>
                </a:extLst>
              </p:cNvPr>
              <p:cNvSpPr txBox="1"/>
              <p:nvPr/>
            </p:nvSpPr>
            <p:spPr>
              <a:xfrm>
                <a:off x="5387733" y="3482050"/>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3</m:t>
                          </m:r>
                        </m:sub>
                      </m:sSub>
                    </m:oMath>
                  </m:oMathPara>
                </a14:m>
                <a:endParaRPr lang="en-SE" dirty="0"/>
              </a:p>
            </p:txBody>
          </p:sp>
        </mc:Choice>
        <mc:Fallback xmlns="">
          <p:sp>
            <p:nvSpPr>
              <p:cNvPr id="55" name="TextBox 54">
                <a:extLst>
                  <a:ext uri="{FF2B5EF4-FFF2-40B4-BE49-F238E27FC236}">
                    <a16:creationId xmlns:a16="http://schemas.microsoft.com/office/drawing/2014/main" id="{43EFAA90-F3B2-F02E-F449-192077983C95}"/>
                  </a:ext>
                </a:extLst>
              </p:cNvPr>
              <p:cNvSpPr txBox="1">
                <a:spLocks noRot="1" noChangeAspect="1" noMove="1" noResize="1" noEditPoints="1" noAdjustHandles="1" noChangeArrowheads="1" noChangeShapeType="1" noTextEdit="1"/>
              </p:cNvSpPr>
              <p:nvPr/>
            </p:nvSpPr>
            <p:spPr>
              <a:xfrm>
                <a:off x="5387733" y="3482050"/>
                <a:ext cx="471539" cy="369332"/>
              </a:xfrm>
              <a:prstGeom prst="rect">
                <a:avLst/>
              </a:prstGeom>
              <a:blipFill>
                <a:blip r:embed="rId15"/>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5EF031E-8D1E-E45E-5986-9929FC3A7E0F}"/>
                  </a:ext>
                </a:extLst>
              </p:cNvPr>
              <p:cNvSpPr txBox="1"/>
              <p:nvPr/>
            </p:nvSpPr>
            <p:spPr>
              <a:xfrm>
                <a:off x="6160893" y="3065570"/>
                <a:ext cx="4715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4</m:t>
                          </m:r>
                        </m:sub>
                      </m:sSub>
                    </m:oMath>
                  </m:oMathPara>
                </a14:m>
                <a:endParaRPr lang="en-SE" dirty="0"/>
              </a:p>
            </p:txBody>
          </p:sp>
        </mc:Choice>
        <mc:Fallback xmlns="">
          <p:sp>
            <p:nvSpPr>
              <p:cNvPr id="57" name="TextBox 56">
                <a:extLst>
                  <a:ext uri="{FF2B5EF4-FFF2-40B4-BE49-F238E27FC236}">
                    <a16:creationId xmlns:a16="http://schemas.microsoft.com/office/drawing/2014/main" id="{05EF031E-8D1E-E45E-5986-9929FC3A7E0F}"/>
                  </a:ext>
                </a:extLst>
              </p:cNvPr>
              <p:cNvSpPr txBox="1">
                <a:spLocks noRot="1" noChangeAspect="1" noMove="1" noResize="1" noEditPoints="1" noAdjustHandles="1" noChangeArrowheads="1" noChangeShapeType="1" noTextEdit="1"/>
              </p:cNvSpPr>
              <p:nvPr/>
            </p:nvSpPr>
            <p:spPr>
              <a:xfrm>
                <a:off x="6160893" y="3065570"/>
                <a:ext cx="471539" cy="369332"/>
              </a:xfrm>
              <a:prstGeom prst="rect">
                <a:avLst/>
              </a:prstGeom>
              <a:blipFill>
                <a:blip r:embed="rId16"/>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3D7AD7C1-3971-69DD-51AF-A6DF37BEB73A}"/>
                  </a:ext>
                </a:extLst>
              </p:cNvPr>
              <p:cNvSpPr txBox="1"/>
              <p:nvPr/>
            </p:nvSpPr>
            <p:spPr>
              <a:xfrm>
                <a:off x="7181760" y="3003021"/>
                <a:ext cx="4172039" cy="1910523"/>
              </a:xfrm>
              <a:prstGeom prst="rect">
                <a:avLst/>
              </a:prstGeom>
              <a:noFill/>
            </p:spPr>
            <p:txBody>
              <a:bodyPr wrap="square" rtlCol="0">
                <a:spAutoFit/>
              </a:bodyPr>
              <a:lstStyle/>
              <a:p>
                <a:pPr marL="342900" indent="-342900">
                  <a:buFont typeface="+mj-lt"/>
                  <a:buAutoNum type="arabicPeriod"/>
                </a:pPr>
                <a:r>
                  <a:rPr lang="en-SE" dirty="0"/>
                  <a:t>Initialize a Markov chain at random </a:t>
                </a:r>
                <a14:m>
                  <m:oMath xmlns:m="http://schemas.openxmlformats.org/officeDocument/2006/math">
                    <m:r>
                      <a:rPr lang="en-SE" b="0" i="1" smtClean="0">
                        <a:latin typeface="Cambria Math" panose="02040503050406030204" pitchFamily="18" charset="0"/>
                      </a:rPr>
                      <m:t>𝑥</m:t>
                    </m:r>
                  </m:oMath>
                </a14:m>
                <a:endParaRPr lang="en-SE" dirty="0"/>
              </a:p>
              <a:p>
                <a:pPr marL="342900" indent="-342900">
                  <a:buFont typeface="+mj-lt"/>
                  <a:buAutoNum type="arabicPeriod"/>
                </a:pPr>
                <a:r>
                  <a:rPr lang="en-SE" dirty="0"/>
                  <a:t>Randomly decide in which direction to move  from the starting point</a:t>
                </a:r>
              </a:p>
              <a:p>
                <a:pPr marL="342900" indent="-342900">
                  <a:buFont typeface="+mj-lt"/>
                  <a:buAutoNum type="arabicPeriod"/>
                </a:pPr>
                <a:r>
                  <a:rPr lang="en-SE" dirty="0"/>
                  <a:t>Move to the adjacent value with probability </a:t>
                </a:r>
                <a14:m>
                  <m:oMath xmlns:m="http://schemas.openxmlformats.org/officeDocument/2006/math">
                    <m:r>
                      <a:rPr lang="en-SE" b="0" i="1" smtClean="0">
                        <a:latin typeface="Cambria Math" panose="02040503050406030204" pitchFamily="18" charset="0"/>
                      </a:rPr>
                      <m:t>𝑝</m:t>
                    </m:r>
                    <m:r>
                      <a:rPr lang="en-SE" b="0" i="1" smtClean="0">
                        <a:latin typeface="Cambria Math" panose="02040503050406030204" pitchFamily="18" charset="0"/>
                      </a:rPr>
                      <m:t>=</m:t>
                    </m:r>
                    <m:f>
                      <m:fPr>
                        <m:ctrlPr>
                          <a:rPr lang="en-SE" b="0" i="1" smtClean="0">
                            <a:latin typeface="Cambria Math" panose="02040503050406030204" pitchFamily="18" charset="0"/>
                          </a:rPr>
                        </m:ctrlPr>
                      </m:fPr>
                      <m:num>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𝑥</m:t>
                            </m:r>
                            <m:r>
                              <a:rPr lang="en-SE" b="0" i="1" smtClean="0">
                                <a:latin typeface="Cambria Math" panose="02040503050406030204" pitchFamily="18" charset="0"/>
                              </a:rPr>
                              <m:t>+1</m:t>
                            </m:r>
                          </m:sub>
                        </m:sSub>
                      </m:num>
                      <m:den>
                        <m:sSub>
                          <m:sSubPr>
                            <m:ctrlPr>
                              <a:rPr lang="en-SE" b="0" i="1" smtClean="0">
                                <a:latin typeface="Cambria Math" panose="02040503050406030204" pitchFamily="18" charset="0"/>
                              </a:rPr>
                            </m:ctrlPr>
                          </m:sSubPr>
                          <m:e>
                            <m:r>
                              <a:rPr lang="en-SE" b="0" i="1" smtClean="0">
                                <a:latin typeface="Cambria Math" panose="02040503050406030204" pitchFamily="18" charset="0"/>
                              </a:rPr>
                              <m:t>𝑑</m:t>
                            </m:r>
                          </m:e>
                          <m:sub>
                            <m:r>
                              <a:rPr lang="en-SE" b="0" i="1" smtClean="0">
                                <a:latin typeface="Cambria Math" panose="02040503050406030204" pitchFamily="18" charset="0"/>
                              </a:rPr>
                              <m:t>𝑥</m:t>
                            </m:r>
                          </m:sub>
                        </m:sSub>
                      </m:den>
                    </m:f>
                  </m:oMath>
                </a14:m>
                <a:r>
                  <a:rPr lang="en-SE" dirty="0"/>
                  <a:t> (or </a:t>
                </a:r>
                <a14:m>
                  <m:oMath xmlns:m="http://schemas.openxmlformats.org/officeDocument/2006/math">
                    <m:f>
                      <m:fPr>
                        <m:ctrlPr>
                          <a:rPr lang="en-SE" i="1">
                            <a:latin typeface="Cambria Math" panose="02040503050406030204" pitchFamily="18" charset="0"/>
                          </a:rPr>
                        </m:ctrlPr>
                      </m:fPr>
                      <m:num>
                        <m:sSub>
                          <m:sSubPr>
                            <m:ctrlPr>
                              <a:rPr lang="en-SE" i="1">
                                <a:latin typeface="Cambria Math" panose="02040503050406030204" pitchFamily="18" charset="0"/>
                              </a:rPr>
                            </m:ctrlPr>
                          </m:sSubPr>
                          <m:e>
                            <m:r>
                              <a:rPr lang="en-SE" i="1">
                                <a:latin typeface="Cambria Math" panose="02040503050406030204" pitchFamily="18" charset="0"/>
                              </a:rPr>
                              <m:t>𝑑</m:t>
                            </m:r>
                          </m:e>
                          <m:sub>
                            <m:r>
                              <a:rPr lang="en-SE" i="1">
                                <a:latin typeface="Cambria Math" panose="02040503050406030204" pitchFamily="18" charset="0"/>
                              </a:rPr>
                              <m:t>𝑥</m:t>
                            </m:r>
                            <m:r>
                              <a:rPr lang="en-SE" b="0" i="1" smtClean="0">
                                <a:latin typeface="Cambria Math" panose="02040503050406030204" pitchFamily="18" charset="0"/>
                              </a:rPr>
                              <m:t>−1</m:t>
                            </m:r>
                          </m:sub>
                        </m:sSub>
                      </m:num>
                      <m:den>
                        <m:sSub>
                          <m:sSubPr>
                            <m:ctrlPr>
                              <a:rPr lang="en-SE" i="1">
                                <a:latin typeface="Cambria Math" panose="02040503050406030204" pitchFamily="18" charset="0"/>
                              </a:rPr>
                            </m:ctrlPr>
                          </m:sSubPr>
                          <m:e>
                            <m:r>
                              <a:rPr lang="en-SE" i="1">
                                <a:latin typeface="Cambria Math" panose="02040503050406030204" pitchFamily="18" charset="0"/>
                              </a:rPr>
                              <m:t>𝑑</m:t>
                            </m:r>
                          </m:e>
                          <m:sub>
                            <m:r>
                              <a:rPr lang="en-SE" i="1">
                                <a:latin typeface="Cambria Math" panose="02040503050406030204" pitchFamily="18" charset="0"/>
                              </a:rPr>
                              <m:t>𝑥</m:t>
                            </m:r>
                          </m:sub>
                        </m:sSub>
                      </m:den>
                    </m:f>
                  </m:oMath>
                </a14:m>
                <a:r>
                  <a:rPr lang="en-SE" dirty="0"/>
                  <a:t>)</a:t>
                </a:r>
              </a:p>
              <a:p>
                <a:pPr marL="342900" indent="-342900">
                  <a:buFont typeface="+mj-lt"/>
                  <a:buAutoNum type="arabicPeriod"/>
                </a:pPr>
                <a:r>
                  <a:rPr lang="en-SE" dirty="0"/>
                  <a:t>Repeat from (2)</a:t>
                </a:r>
              </a:p>
            </p:txBody>
          </p:sp>
        </mc:Choice>
        <mc:Fallback xmlns="">
          <p:sp>
            <p:nvSpPr>
              <p:cNvPr id="58" name="TextBox 57">
                <a:extLst>
                  <a:ext uri="{FF2B5EF4-FFF2-40B4-BE49-F238E27FC236}">
                    <a16:creationId xmlns:a16="http://schemas.microsoft.com/office/drawing/2014/main" id="{3D7AD7C1-3971-69DD-51AF-A6DF37BEB73A}"/>
                  </a:ext>
                </a:extLst>
              </p:cNvPr>
              <p:cNvSpPr txBox="1">
                <a:spLocks noRot="1" noChangeAspect="1" noMove="1" noResize="1" noEditPoints="1" noAdjustHandles="1" noChangeArrowheads="1" noChangeShapeType="1" noTextEdit="1"/>
              </p:cNvSpPr>
              <p:nvPr/>
            </p:nvSpPr>
            <p:spPr>
              <a:xfrm>
                <a:off x="7181760" y="3003021"/>
                <a:ext cx="4172039" cy="1910523"/>
              </a:xfrm>
              <a:prstGeom prst="rect">
                <a:avLst/>
              </a:prstGeom>
              <a:blipFill>
                <a:blip r:embed="rId17"/>
                <a:stretch>
                  <a:fillRect l="-1316" t="-1917" b="-4473"/>
                </a:stretch>
              </a:blipFill>
            </p:spPr>
            <p:txBody>
              <a:bodyPr/>
              <a:lstStyle/>
              <a:p>
                <a:r>
                  <a:rPr lang="en-SE">
                    <a:noFill/>
                  </a:rPr>
                  <a:t> </a:t>
                </a:r>
              </a:p>
            </p:txBody>
          </p:sp>
        </mc:Fallback>
      </mc:AlternateContent>
      <p:sp>
        <p:nvSpPr>
          <p:cNvPr id="59" name="Oval 58">
            <a:extLst>
              <a:ext uri="{FF2B5EF4-FFF2-40B4-BE49-F238E27FC236}">
                <a16:creationId xmlns:a16="http://schemas.microsoft.com/office/drawing/2014/main" id="{007CB052-F08D-BD29-6A4C-74B483BB42C5}"/>
              </a:ext>
            </a:extLst>
          </p:cNvPr>
          <p:cNvSpPr/>
          <p:nvPr/>
        </p:nvSpPr>
        <p:spPr>
          <a:xfrm>
            <a:off x="4657481" y="5479938"/>
            <a:ext cx="360000" cy="360000"/>
          </a:xfrm>
          <a:prstGeom prst="ellipse">
            <a:avLst/>
          </a:prstGeom>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61" name="Oval 60">
            <a:extLst>
              <a:ext uri="{FF2B5EF4-FFF2-40B4-BE49-F238E27FC236}">
                <a16:creationId xmlns:a16="http://schemas.microsoft.com/office/drawing/2014/main" id="{33983D0D-0881-0B0E-D975-8DB908261D10}"/>
              </a:ext>
            </a:extLst>
          </p:cNvPr>
          <p:cNvSpPr/>
          <p:nvPr/>
        </p:nvSpPr>
        <p:spPr>
          <a:xfrm>
            <a:off x="5430642" y="5479938"/>
            <a:ext cx="360000" cy="360000"/>
          </a:xfrm>
          <a:prstGeom prst="ellipse">
            <a:avLst/>
          </a:prstGeom>
          <a:solidFill>
            <a:schemeClr val="bg1">
              <a:lumMod val="95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63" name="Connector: Curved 62">
            <a:extLst>
              <a:ext uri="{FF2B5EF4-FFF2-40B4-BE49-F238E27FC236}">
                <a16:creationId xmlns:a16="http://schemas.microsoft.com/office/drawing/2014/main" id="{5E96965A-43E0-9113-14B9-CB535C8675CA}"/>
              </a:ext>
            </a:extLst>
          </p:cNvPr>
          <p:cNvCxnSpPr>
            <a:stCxn id="59" idx="5"/>
            <a:endCxn id="61" idx="3"/>
          </p:cNvCxnSpPr>
          <p:nvPr/>
        </p:nvCxnSpPr>
        <p:spPr>
          <a:xfrm rot="16200000" flipH="1">
            <a:off x="5224061" y="5527915"/>
            <a:ext cx="12700" cy="518603"/>
          </a:xfrm>
          <a:prstGeom prst="curvedConnector3">
            <a:avLst>
              <a:gd name="adj1" fmla="val 2215126"/>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4230288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8">
                                            <p:txEl>
                                              <p:pRg st="0" end="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txEl>
                                              <p:pRg st="1" end="1"/>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5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3" grpId="0" animBg="1"/>
      <p:bldP spid="25" grpId="0" animBg="1"/>
      <p:bldP spid="46" grpId="0" animBg="1"/>
      <p:bldP spid="7" grpId="0"/>
      <p:bldP spid="8" grpId="0" animBg="1"/>
      <p:bldP spid="12" grpId="0" animBg="1"/>
      <p:bldP spid="14" grpId="0" animBg="1"/>
      <p:bldP spid="16" grpId="0" animBg="1"/>
      <p:bldP spid="18" grpId="0" animBg="1"/>
      <p:bldP spid="48" grpId="0"/>
      <p:bldP spid="49" grpId="0"/>
      <p:bldP spid="51" grpId="0"/>
      <p:bldP spid="53" grpId="0"/>
      <p:bldP spid="55" grpId="0"/>
      <p:bldP spid="57" grpId="0"/>
      <p:bldP spid="58" grpId="0" uiExpand="1" build="p"/>
      <p:bldP spid="59" grpId="0" animBg="1"/>
      <p:bldP spid="6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E8D9B-B4F3-A1BE-2336-8EDD8DF64C64}"/>
              </a:ext>
            </a:extLst>
          </p:cNvPr>
          <p:cNvSpPr>
            <a:spLocks noGrp="1"/>
          </p:cNvSpPr>
          <p:nvPr>
            <p:ph type="title"/>
          </p:nvPr>
        </p:nvSpPr>
        <p:spPr/>
        <p:txBody>
          <a:bodyPr/>
          <a:lstStyle/>
          <a:p>
            <a:r>
              <a:rPr lang="en-SE" dirty="0"/>
              <a:t>Markov chain Monte Carlo Sampling</a:t>
            </a:r>
          </a:p>
        </p:txBody>
      </p:sp>
      <p:sp>
        <p:nvSpPr>
          <p:cNvPr id="3" name="Content Placeholder 2">
            <a:extLst>
              <a:ext uri="{FF2B5EF4-FFF2-40B4-BE49-F238E27FC236}">
                <a16:creationId xmlns:a16="http://schemas.microsoft.com/office/drawing/2014/main" id="{E60C4F28-AAFC-E9EB-72FC-979EE1DDD53A}"/>
              </a:ext>
            </a:extLst>
          </p:cNvPr>
          <p:cNvSpPr>
            <a:spLocks noGrp="1"/>
          </p:cNvSpPr>
          <p:nvPr>
            <p:ph idx="1"/>
          </p:nvPr>
        </p:nvSpPr>
        <p:spPr>
          <a:xfrm>
            <a:off x="838200" y="1825625"/>
            <a:ext cx="10515600" cy="1675697"/>
          </a:xfrm>
        </p:spPr>
        <p:txBody>
          <a:bodyPr/>
          <a:lstStyle/>
          <a:p>
            <a:pPr marL="0" indent="0">
              <a:buNone/>
            </a:pPr>
            <a:r>
              <a:rPr lang="en-SE" dirty="0"/>
              <a:t>Over time, the chain wanders through the parameter space drawing more samples from high-density regions. Since only the </a:t>
            </a:r>
            <a:r>
              <a:rPr lang="en-SE" b="1" dirty="0"/>
              <a:t>ratio of densities </a:t>
            </a:r>
            <a:r>
              <a:rPr lang="en-SE" dirty="0"/>
              <a:t>matters at each step, the (unknown) normalizing constant becomes irrelevant.</a:t>
            </a:r>
          </a:p>
        </p:txBody>
      </p:sp>
      <p:sp>
        <p:nvSpPr>
          <p:cNvPr id="4" name="Date Placeholder 3">
            <a:extLst>
              <a:ext uri="{FF2B5EF4-FFF2-40B4-BE49-F238E27FC236}">
                <a16:creationId xmlns:a16="http://schemas.microsoft.com/office/drawing/2014/main" id="{073D3492-8415-6E02-FDE4-C4912548791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15A0F28F-B75A-D738-824E-B69F6E66039C}"/>
              </a:ext>
            </a:extLst>
          </p:cNvPr>
          <p:cNvSpPr>
            <a:spLocks noGrp="1"/>
          </p:cNvSpPr>
          <p:nvPr>
            <p:ph type="sldNum" sz="quarter" idx="12"/>
          </p:nvPr>
        </p:nvSpPr>
        <p:spPr/>
        <p:txBody>
          <a:bodyPr/>
          <a:lstStyle/>
          <a:p>
            <a:fld id="{271ECC92-9CDE-4EB3-B1C5-F46B9E1FA3C1}" type="slidenum">
              <a:rPr lang="en-SE" smtClean="0"/>
              <a:t>60</a:t>
            </a:fld>
            <a:endParaRPr lang="en-SE"/>
          </a:p>
        </p:txBody>
      </p:sp>
      <p:sp>
        <p:nvSpPr>
          <p:cNvPr id="6" name="Footer Placeholder 5">
            <a:extLst>
              <a:ext uri="{FF2B5EF4-FFF2-40B4-BE49-F238E27FC236}">
                <a16:creationId xmlns:a16="http://schemas.microsoft.com/office/drawing/2014/main" id="{9F839353-2C35-E4A5-F29C-48475C856CB9}"/>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D9E59F90-072F-06DC-6692-118F2CB75444}"/>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F3959510-0991-0B0B-3B3D-EEE0C828F3F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58092143-81A2-49D3-F71F-03D97056EC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F05566FE-B866-ECB1-B2F5-0E7EDCF2499B}"/>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59B02D2A-D613-E172-2087-18D5F263AE9B}"/>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0EC4F2BC-6540-A0AC-3525-9F48D2D760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7D0FD906-2C73-DE40-E0CA-344B78625EEE}"/>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BE4F49F1-E98B-2959-B246-0A78A52D9158}"/>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B91A8D2E-F8D6-C3C6-2C9E-C279D3EB073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4D86F921-F31F-DFB5-A61A-B7C4D00982B1}"/>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1F0771E0-CCF6-0AB5-58CC-D2DED7078CC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17B1766E-2723-82D4-9DC7-45C28B81C8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56B5134D-DD20-A903-1DE2-CBE897B3C3FA}"/>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DF38371D-AF75-2EC2-A8A5-F175778C5FA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98EA29DC-F170-517E-F4B3-B4292B22D09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99EB80FA-5FD5-11EE-FBFB-88615953F34F}"/>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55461B1F-C99A-770D-3581-E8C0E21D5D21}"/>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F08F467E-CB92-0719-17DF-CA7C612109AC}"/>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E54DE6B-BA3C-A3BC-C7CD-0B4B4F82616C}"/>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6" name="TextBox 45">
            <a:extLst>
              <a:ext uri="{FF2B5EF4-FFF2-40B4-BE49-F238E27FC236}">
                <a16:creationId xmlns:a16="http://schemas.microsoft.com/office/drawing/2014/main" id="{38DCB36E-3372-66E4-0CB0-D05597E5A781}"/>
              </a:ext>
            </a:extLst>
          </p:cNvPr>
          <p:cNvSpPr txBox="1"/>
          <p:nvPr/>
        </p:nvSpPr>
        <p:spPr>
          <a:xfrm>
            <a:off x="1807335" y="3657106"/>
            <a:ext cx="9743730" cy="523220"/>
          </a:xfrm>
          <a:prstGeom prst="rect">
            <a:avLst/>
          </a:prstGeom>
          <a:noFill/>
        </p:spPr>
        <p:txBody>
          <a:bodyPr wrap="square">
            <a:spAutoFit/>
          </a:bodyPr>
          <a:lstStyle/>
          <a:p>
            <a:pPr marL="0" indent="0">
              <a:buNone/>
            </a:pPr>
            <a:r>
              <a:rPr lang="en-SE" sz="2800" dirty="0"/>
              <a:t>Visualization: </a:t>
            </a:r>
            <a:r>
              <a:rPr lang="de-DE" sz="2800" dirty="0">
                <a:hlinkClick r:id="rId8"/>
              </a:rPr>
              <a:t>https://chi-feng.github.io/mcmc-demo/app.html</a:t>
            </a:r>
            <a:r>
              <a:rPr lang="en-SE" sz="2800" dirty="0"/>
              <a:t> </a:t>
            </a:r>
          </a:p>
        </p:txBody>
      </p:sp>
      <p:pic>
        <p:nvPicPr>
          <p:cNvPr id="48" name="Graphic 47" descr="Periodic Graph with solid fill">
            <a:extLst>
              <a:ext uri="{FF2B5EF4-FFF2-40B4-BE49-F238E27FC236}">
                <a16:creationId xmlns:a16="http://schemas.microsoft.com/office/drawing/2014/main" id="{181A5267-4606-47D4-9C2D-9674A3E0074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2935" y="3501322"/>
            <a:ext cx="914400" cy="914400"/>
          </a:xfrm>
          <a:prstGeom prst="rect">
            <a:avLst/>
          </a:prstGeom>
        </p:spPr>
      </p:pic>
      <p:sp>
        <p:nvSpPr>
          <p:cNvPr id="49" name="Content Placeholder 2">
            <a:extLst>
              <a:ext uri="{FF2B5EF4-FFF2-40B4-BE49-F238E27FC236}">
                <a16:creationId xmlns:a16="http://schemas.microsoft.com/office/drawing/2014/main" id="{092FB800-7660-8A41-864B-7028D8515101}"/>
              </a:ext>
            </a:extLst>
          </p:cNvPr>
          <p:cNvSpPr txBox="1">
            <a:spLocks/>
          </p:cNvSpPr>
          <p:nvPr/>
        </p:nvSpPr>
        <p:spPr>
          <a:xfrm>
            <a:off x="838198" y="4604478"/>
            <a:ext cx="10515600" cy="167569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nSpc>
                <a:spcPct val="100000"/>
              </a:lnSpc>
              <a:spcBef>
                <a:spcPts val="0"/>
              </a:spcBef>
              <a:buNone/>
              <a:defRPr/>
            </a:pPr>
            <a:r>
              <a:rPr lang="en-SE" dirty="0"/>
              <a:t>This is also the reason why BDA has only been adopted so recently: these MCMC sampling algorithms were computationally infeasible just until recently.</a:t>
            </a:r>
          </a:p>
        </p:txBody>
      </p:sp>
    </p:spTree>
    <p:extLst>
      <p:ext uri="{BB962C8B-B14F-4D97-AF65-F5344CB8AC3E}">
        <p14:creationId xmlns:p14="http://schemas.microsoft.com/office/powerpoint/2010/main" val="27334650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49"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AC482-44E0-DC13-5F36-889A032CF176}"/>
              </a:ext>
            </a:extLst>
          </p:cNvPr>
          <p:cNvSpPr>
            <a:spLocks noGrp="1"/>
          </p:cNvSpPr>
          <p:nvPr>
            <p:ph type="title"/>
          </p:nvPr>
        </p:nvSpPr>
        <p:spPr/>
        <p:txBody>
          <a:bodyPr/>
          <a:lstStyle/>
          <a:p>
            <a:r>
              <a:rPr lang="en-SE" dirty="0"/>
              <a:t>Markov chain Monte Carlo Sampling</a:t>
            </a:r>
          </a:p>
        </p:txBody>
      </p:sp>
      <p:sp>
        <p:nvSpPr>
          <p:cNvPr id="4" name="Date Placeholder 3">
            <a:extLst>
              <a:ext uri="{FF2B5EF4-FFF2-40B4-BE49-F238E27FC236}">
                <a16:creationId xmlns:a16="http://schemas.microsoft.com/office/drawing/2014/main" id="{0CEC84E9-FE4E-4298-B3C2-A7917B6D647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3BC65AFE-6B6C-51A2-A077-25BC1EC427CF}"/>
              </a:ext>
            </a:extLst>
          </p:cNvPr>
          <p:cNvSpPr>
            <a:spLocks noGrp="1"/>
          </p:cNvSpPr>
          <p:nvPr>
            <p:ph type="sldNum" sz="quarter" idx="12"/>
          </p:nvPr>
        </p:nvSpPr>
        <p:spPr/>
        <p:txBody>
          <a:bodyPr/>
          <a:lstStyle/>
          <a:p>
            <a:fld id="{271ECC92-9CDE-4EB3-B1C5-F46B9E1FA3C1}" type="slidenum">
              <a:rPr lang="en-SE" smtClean="0"/>
              <a:t>61</a:t>
            </a:fld>
            <a:endParaRPr lang="en-SE"/>
          </a:p>
        </p:txBody>
      </p:sp>
      <p:sp>
        <p:nvSpPr>
          <p:cNvPr id="6" name="Footer Placeholder 5">
            <a:extLst>
              <a:ext uri="{FF2B5EF4-FFF2-40B4-BE49-F238E27FC236}">
                <a16:creationId xmlns:a16="http://schemas.microsoft.com/office/drawing/2014/main" id="{8D9F0B26-E02F-D2DA-57CC-AC0FD4842034}"/>
              </a:ext>
            </a:extLst>
          </p:cNvPr>
          <p:cNvSpPr>
            <a:spLocks noGrp="1"/>
          </p:cNvSpPr>
          <p:nvPr>
            <p:ph type="ftr" sz="quarter" idx="11"/>
          </p:nvPr>
        </p:nvSpPr>
        <p:spPr/>
        <p:txBody>
          <a:bodyPr/>
          <a:lstStyle/>
          <a:p>
            <a:r>
              <a:rPr lang="de-DE"/>
              <a:t>Bayesian Data Analysis Tutorial</a:t>
            </a:r>
            <a:endParaRPr lang="en-SE"/>
          </a:p>
        </p:txBody>
      </p:sp>
      <p:sp>
        <p:nvSpPr>
          <p:cNvPr id="27" name="Content Placeholder 26">
            <a:extLst>
              <a:ext uri="{FF2B5EF4-FFF2-40B4-BE49-F238E27FC236}">
                <a16:creationId xmlns:a16="http://schemas.microsoft.com/office/drawing/2014/main" id="{CABCE323-E848-2143-61CE-F9E6B1785B4E}"/>
              </a:ext>
            </a:extLst>
          </p:cNvPr>
          <p:cNvSpPr>
            <a:spLocks noGrp="1"/>
          </p:cNvSpPr>
          <p:nvPr>
            <p:ph idx="1"/>
          </p:nvPr>
        </p:nvSpPr>
        <p:spPr>
          <a:xfrm>
            <a:off x="838200" y="1825625"/>
            <a:ext cx="10515600" cy="1281394"/>
          </a:xfrm>
        </p:spPr>
        <p:txBody>
          <a:bodyPr/>
          <a:lstStyle/>
          <a:p>
            <a:pPr marL="0" indent="0">
              <a:buNone/>
            </a:pPr>
            <a:r>
              <a:rPr lang="en-SE" dirty="0"/>
              <a:t>Executing the MCMC sampler is similar to the prior predictive check, simply removing the </a:t>
            </a:r>
            <a:r>
              <a:rPr lang="en-US" dirty="0" err="1">
                <a:latin typeface="Courier New" panose="02070309020205020404" pitchFamily="49" charset="0"/>
                <a:cs typeface="Courier New" panose="02070309020205020404" pitchFamily="49" charset="0"/>
              </a:rPr>
              <a:t>sample_prior</a:t>
            </a:r>
            <a:r>
              <a:rPr lang="en-SE"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a:t>
            </a:r>
            <a:r>
              <a:rPr lang="en-SE" dirty="0">
                <a:latin typeface="Courier New" panose="02070309020205020404" pitchFamily="49" charset="0"/>
                <a:cs typeface="Courier New" panose="02070309020205020404" pitchFamily="49" charset="0"/>
              </a:rPr>
              <a:t> “</a:t>
            </a:r>
            <a:r>
              <a:rPr lang="en-US" dirty="0">
                <a:latin typeface="Courier New" panose="02070309020205020404" pitchFamily="49" charset="0"/>
                <a:cs typeface="Courier New" panose="02070309020205020404" pitchFamily="49" charset="0"/>
              </a:rPr>
              <a:t>only</a:t>
            </a:r>
            <a:r>
              <a:rPr lang="en-SE" dirty="0">
                <a:latin typeface="Courier New" panose="02070309020205020404" pitchFamily="49" charset="0"/>
                <a:cs typeface="Courier New" panose="02070309020205020404" pitchFamily="49" charset="0"/>
              </a:rPr>
              <a:t>” </a:t>
            </a:r>
            <a:r>
              <a:rPr lang="en-SE" dirty="0"/>
              <a:t>configuration.</a:t>
            </a:r>
          </a:p>
        </p:txBody>
      </p:sp>
      <p:sp>
        <p:nvSpPr>
          <p:cNvPr id="29" name="Rectangle 28">
            <a:extLst>
              <a:ext uri="{FF2B5EF4-FFF2-40B4-BE49-F238E27FC236}">
                <a16:creationId xmlns:a16="http://schemas.microsoft.com/office/drawing/2014/main" id="{AB3FC50E-9C09-3F16-8F8E-B271738AA0F9}"/>
              </a:ext>
            </a:extLst>
          </p:cNvPr>
          <p:cNvSpPr/>
          <p:nvPr/>
        </p:nvSpPr>
        <p:spPr>
          <a:xfrm>
            <a:off x="1474956" y="3399166"/>
            <a:ext cx="6067087" cy="2914298"/>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Gaussian,</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3</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exp</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1</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en-SE" dirty="0">
                <a:solidFill>
                  <a:schemeClr val="tx1"/>
                </a:solidFill>
                <a:latin typeface="Courier New" panose="02070309020205020404" pitchFamily="49" charset="0"/>
                <a:cs typeface="Courier New" panose="02070309020205020404" pitchFamily="49" charset="0"/>
              </a:rPr>
              <a:t>sigma</a:t>
            </a:r>
            <a:r>
              <a:rPr lang="de-DE" dirty="0">
                <a:solidFill>
                  <a:schemeClr val="tx1"/>
                </a:solidFill>
                <a:latin typeface="Courier New" panose="02070309020205020404" pitchFamily="49" charset="0"/>
                <a:cs typeface="Courier New" panose="02070309020205020404" pitchFamily="49" charset="0"/>
              </a:rPr>
              <a: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31" name="Rectangle 30">
            <a:extLst>
              <a:ext uri="{FF2B5EF4-FFF2-40B4-BE49-F238E27FC236}">
                <a16:creationId xmlns:a16="http://schemas.microsoft.com/office/drawing/2014/main" id="{9AEF166D-6DB2-5733-9010-AF164247F872}"/>
              </a:ext>
            </a:extLst>
          </p:cNvPr>
          <p:cNvSpPr/>
          <p:nvPr/>
        </p:nvSpPr>
        <p:spPr>
          <a:xfrm>
            <a:off x="1474956" y="3034041"/>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grpSp>
        <p:nvGrpSpPr>
          <p:cNvPr id="32" name="Group 31">
            <a:extLst>
              <a:ext uri="{FF2B5EF4-FFF2-40B4-BE49-F238E27FC236}">
                <a16:creationId xmlns:a16="http://schemas.microsoft.com/office/drawing/2014/main" id="{9BF52D36-C931-652F-1B11-4F2C65679CA1}"/>
              </a:ext>
            </a:extLst>
          </p:cNvPr>
          <p:cNvGrpSpPr/>
          <p:nvPr/>
        </p:nvGrpSpPr>
        <p:grpSpPr>
          <a:xfrm>
            <a:off x="203635" y="1825625"/>
            <a:ext cx="504000" cy="504000"/>
            <a:chOff x="977950" y="2729564"/>
            <a:chExt cx="504000" cy="504000"/>
          </a:xfrm>
        </p:grpSpPr>
        <p:sp>
          <p:nvSpPr>
            <p:cNvPr id="33" name="Oval 32">
              <a:extLst>
                <a:ext uri="{FF2B5EF4-FFF2-40B4-BE49-F238E27FC236}">
                  <a16:creationId xmlns:a16="http://schemas.microsoft.com/office/drawing/2014/main" id="{6FE81445-92EE-6CFB-EE16-90B2899667E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Golden Ratio with solid fill">
              <a:extLst>
                <a:ext uri="{FF2B5EF4-FFF2-40B4-BE49-F238E27FC236}">
                  <a16:creationId xmlns:a16="http://schemas.microsoft.com/office/drawing/2014/main" id="{128B0105-A6A9-F379-73FA-578D8E3D6B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223FA822-BFE7-085E-38A8-8AA713143376}"/>
              </a:ext>
            </a:extLst>
          </p:cNvPr>
          <p:cNvGrpSpPr/>
          <p:nvPr/>
        </p:nvGrpSpPr>
        <p:grpSpPr>
          <a:xfrm>
            <a:off x="203635" y="2439322"/>
            <a:ext cx="504000" cy="504000"/>
            <a:chOff x="977950" y="2729564"/>
            <a:chExt cx="504000" cy="504000"/>
          </a:xfrm>
        </p:grpSpPr>
        <p:sp>
          <p:nvSpPr>
            <p:cNvPr id="36" name="Oval 35">
              <a:extLst>
                <a:ext uri="{FF2B5EF4-FFF2-40B4-BE49-F238E27FC236}">
                  <a16:creationId xmlns:a16="http://schemas.microsoft.com/office/drawing/2014/main" id="{93FDE035-EDA9-A107-FC62-3E9672E1B5E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Normal Distribution with solid fill">
              <a:extLst>
                <a:ext uri="{FF2B5EF4-FFF2-40B4-BE49-F238E27FC236}">
                  <a16:creationId xmlns:a16="http://schemas.microsoft.com/office/drawing/2014/main" id="{69111C31-786C-3B57-C89A-E90D85ED313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9E290E54-61AB-3FD8-BBA0-13C9CE4CE1D6}"/>
              </a:ext>
            </a:extLst>
          </p:cNvPr>
          <p:cNvGrpSpPr/>
          <p:nvPr/>
        </p:nvGrpSpPr>
        <p:grpSpPr>
          <a:xfrm>
            <a:off x="203635" y="3053019"/>
            <a:ext cx="504000" cy="504000"/>
            <a:chOff x="977950" y="2729564"/>
            <a:chExt cx="504000" cy="504000"/>
          </a:xfrm>
        </p:grpSpPr>
        <p:sp>
          <p:nvSpPr>
            <p:cNvPr id="39" name="Oval 38">
              <a:extLst>
                <a:ext uri="{FF2B5EF4-FFF2-40B4-BE49-F238E27FC236}">
                  <a16:creationId xmlns:a16="http://schemas.microsoft.com/office/drawing/2014/main" id="{C6E7ED61-6B83-66CB-93B4-221D833FAD87}"/>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Abacus with solid fill">
              <a:extLst>
                <a:ext uri="{FF2B5EF4-FFF2-40B4-BE49-F238E27FC236}">
                  <a16:creationId xmlns:a16="http://schemas.microsoft.com/office/drawing/2014/main" id="{253E6E53-160B-F130-DA95-6DEECB4F5E4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41" name="Group 40">
            <a:extLst>
              <a:ext uri="{FF2B5EF4-FFF2-40B4-BE49-F238E27FC236}">
                <a16:creationId xmlns:a16="http://schemas.microsoft.com/office/drawing/2014/main" id="{4F2AFEC0-B20B-907B-A44C-ECAAC26AEE6D}"/>
              </a:ext>
            </a:extLst>
          </p:cNvPr>
          <p:cNvGrpSpPr/>
          <p:nvPr/>
        </p:nvGrpSpPr>
        <p:grpSpPr>
          <a:xfrm>
            <a:off x="203635" y="3666716"/>
            <a:ext cx="504000" cy="504000"/>
            <a:chOff x="977950" y="2729564"/>
            <a:chExt cx="504000" cy="504000"/>
          </a:xfrm>
        </p:grpSpPr>
        <p:sp>
          <p:nvSpPr>
            <p:cNvPr id="42" name="Oval 41">
              <a:extLst>
                <a:ext uri="{FF2B5EF4-FFF2-40B4-BE49-F238E27FC236}">
                  <a16:creationId xmlns:a16="http://schemas.microsoft.com/office/drawing/2014/main" id="{5C375479-6BAF-9146-16AD-AA9DAD2086D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Trigonometry with solid fill">
              <a:extLst>
                <a:ext uri="{FF2B5EF4-FFF2-40B4-BE49-F238E27FC236}">
                  <a16:creationId xmlns:a16="http://schemas.microsoft.com/office/drawing/2014/main" id="{4B1CB257-3EC7-E13A-D67B-8404B73724A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4" name="Group 43">
            <a:extLst>
              <a:ext uri="{FF2B5EF4-FFF2-40B4-BE49-F238E27FC236}">
                <a16:creationId xmlns:a16="http://schemas.microsoft.com/office/drawing/2014/main" id="{B01DFC25-3067-D683-163F-C9EF87E0FDAC}"/>
              </a:ext>
            </a:extLst>
          </p:cNvPr>
          <p:cNvGrpSpPr/>
          <p:nvPr/>
        </p:nvGrpSpPr>
        <p:grpSpPr>
          <a:xfrm>
            <a:off x="203635" y="4280414"/>
            <a:ext cx="504000" cy="504000"/>
            <a:chOff x="977950" y="2729564"/>
            <a:chExt cx="504000" cy="504000"/>
          </a:xfrm>
        </p:grpSpPr>
        <p:sp>
          <p:nvSpPr>
            <p:cNvPr id="45" name="Oval 44">
              <a:extLst>
                <a:ext uri="{FF2B5EF4-FFF2-40B4-BE49-F238E27FC236}">
                  <a16:creationId xmlns:a16="http://schemas.microsoft.com/office/drawing/2014/main" id="{EAF5DB1A-3678-5D2F-0A5A-CD72E5A38FE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6" name="Graphic 45" descr="Scatterplot with solid fill">
              <a:extLst>
                <a:ext uri="{FF2B5EF4-FFF2-40B4-BE49-F238E27FC236}">
                  <a16:creationId xmlns:a16="http://schemas.microsoft.com/office/drawing/2014/main" id="{92FC2570-829A-7AA0-41AE-54F8E20EA2A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7" name="Straight Arrow Connector 46">
            <a:extLst>
              <a:ext uri="{FF2B5EF4-FFF2-40B4-BE49-F238E27FC236}">
                <a16:creationId xmlns:a16="http://schemas.microsoft.com/office/drawing/2014/main" id="{F3D76506-9171-2370-DDA5-2BDA6A5390F9}"/>
              </a:ext>
            </a:extLst>
          </p:cNvPr>
          <p:cNvCxnSpPr>
            <a:cxnSpLocks/>
            <a:stCxn id="33" idx="4"/>
            <a:endCxn id="36"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8" name="Straight Arrow Connector 47">
            <a:extLst>
              <a:ext uri="{FF2B5EF4-FFF2-40B4-BE49-F238E27FC236}">
                <a16:creationId xmlns:a16="http://schemas.microsoft.com/office/drawing/2014/main" id="{FB607FCB-CC5C-9FF6-372C-F4884B203B07}"/>
              </a:ext>
            </a:extLst>
          </p:cNvPr>
          <p:cNvCxnSpPr>
            <a:cxnSpLocks/>
            <a:stCxn id="36" idx="4"/>
            <a:endCxn id="39"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FDAEBFB2-79FC-002A-E47D-4149783A4D5E}"/>
              </a:ext>
            </a:extLst>
          </p:cNvPr>
          <p:cNvCxnSpPr>
            <a:cxnSpLocks/>
            <a:stCxn id="39" idx="4"/>
            <a:endCxn id="42"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DB787FC7-301F-A2F2-8C3E-73D0ADFB75AB}"/>
              </a:ext>
            </a:extLst>
          </p:cNvPr>
          <p:cNvCxnSpPr>
            <a:cxnSpLocks/>
            <a:stCxn id="42" idx="4"/>
            <a:endCxn id="45"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52" name="Picture 51">
            <a:extLst>
              <a:ext uri="{FF2B5EF4-FFF2-40B4-BE49-F238E27FC236}">
                <a16:creationId xmlns:a16="http://schemas.microsoft.com/office/drawing/2014/main" id="{5C9515DB-B0BB-98BD-BFFC-1BF088FAD2B8}"/>
              </a:ext>
            </a:extLst>
          </p:cNvPr>
          <p:cNvPicPr>
            <a:picLocks noChangeAspect="1"/>
          </p:cNvPicPr>
          <p:nvPr/>
        </p:nvPicPr>
        <p:blipFill>
          <a:blip r:embed="rId7"/>
          <a:stretch>
            <a:fillRect/>
          </a:stretch>
        </p:blipFill>
        <p:spPr>
          <a:xfrm>
            <a:off x="7924607" y="2998170"/>
            <a:ext cx="2057593" cy="4115186"/>
          </a:xfrm>
          <a:prstGeom prst="rect">
            <a:avLst/>
          </a:prstGeom>
        </p:spPr>
      </p:pic>
    </p:spTree>
    <p:extLst>
      <p:ext uri="{BB962C8B-B14F-4D97-AF65-F5344CB8AC3E}">
        <p14:creationId xmlns:p14="http://schemas.microsoft.com/office/powerpoint/2010/main" val="12729188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CCA9-D8DB-4B7D-4A26-7A99D8253BFC}"/>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F67EA90B-6555-20BD-03E3-F59798BB49AD}"/>
              </a:ext>
            </a:extLst>
          </p:cNvPr>
          <p:cNvSpPr>
            <a:spLocks noGrp="1"/>
          </p:cNvSpPr>
          <p:nvPr>
            <p:ph idx="1"/>
          </p:nvPr>
        </p:nvSpPr>
        <p:spPr>
          <a:xfrm>
            <a:off x="838200" y="1825625"/>
            <a:ext cx="10515600" cy="1841091"/>
          </a:xfrm>
        </p:spPr>
        <p:txBody>
          <a:bodyPr/>
          <a:lstStyle/>
          <a:p>
            <a:pPr marL="0" indent="0">
              <a:buNone/>
            </a:pPr>
            <a:r>
              <a:rPr lang="en-SE" dirty="0"/>
              <a:t>Bayesian data analysis excels at indicating when the training process has went wrong. To assess the training, there are several statistics we can consult, for example </a:t>
            </a:r>
            <a:r>
              <a:rPr lang="en-SE" b="1" dirty="0"/>
              <a:t>visual assessment</a:t>
            </a:r>
            <a:r>
              <a:rPr lang="en-SE" dirty="0"/>
              <a:t> (dubbed the “hairy caterpillar ocular inspection test” by Richard McElreath).</a:t>
            </a:r>
          </a:p>
        </p:txBody>
      </p:sp>
      <p:sp>
        <p:nvSpPr>
          <p:cNvPr id="4" name="Date Placeholder 3">
            <a:extLst>
              <a:ext uri="{FF2B5EF4-FFF2-40B4-BE49-F238E27FC236}">
                <a16:creationId xmlns:a16="http://schemas.microsoft.com/office/drawing/2014/main" id="{221A8E9B-5FDB-5475-29DD-31E87F0FEDC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68F2765F-8839-7B61-2FBD-213DA9E4D650}"/>
              </a:ext>
            </a:extLst>
          </p:cNvPr>
          <p:cNvSpPr>
            <a:spLocks noGrp="1"/>
          </p:cNvSpPr>
          <p:nvPr>
            <p:ph type="sldNum" sz="quarter" idx="12"/>
          </p:nvPr>
        </p:nvSpPr>
        <p:spPr/>
        <p:txBody>
          <a:bodyPr/>
          <a:lstStyle/>
          <a:p>
            <a:fld id="{271ECC92-9CDE-4EB3-B1C5-F46B9E1FA3C1}" type="slidenum">
              <a:rPr lang="en-SE" smtClean="0"/>
              <a:t>62</a:t>
            </a:fld>
            <a:endParaRPr lang="en-SE"/>
          </a:p>
        </p:txBody>
      </p:sp>
      <p:sp>
        <p:nvSpPr>
          <p:cNvPr id="6" name="Footer Placeholder 5">
            <a:extLst>
              <a:ext uri="{FF2B5EF4-FFF2-40B4-BE49-F238E27FC236}">
                <a16:creationId xmlns:a16="http://schemas.microsoft.com/office/drawing/2014/main" id="{10C3EC8E-64E6-504E-42F2-5FA9B0B8202A}"/>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6BCD03E-0B74-DC3C-CD2B-A90D43F5C283}"/>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65C2732E-3D84-858A-6472-ECCA04A7D1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23128F3F-4BDD-5113-F3B7-369B38C977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8273EF5D-EC27-533D-BDD6-0D30A9203233}"/>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143D5EEF-E215-A066-58EE-7CBB3394E100}"/>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2420221A-1AC6-6E36-8BD3-B94B5BB1D32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458E6D51-3F9A-534C-1FCD-4071A526F377}"/>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0F769FD3-B7DF-A302-2D10-3CB62BE290C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78228498-9DB9-8391-CD60-7026F4E8D67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0AACFBF7-4EDC-D0BB-76D6-B294E015776B}"/>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3CB04681-19D9-5730-C4BE-02463D2210DB}"/>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0DCBB84D-08C9-1CF6-457E-F91F8395044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1C8AE1AF-05E7-6F76-11C5-F67DF05D5DFE}"/>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B3669437-2F1C-604D-A6AD-82A3A87D6D3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AB1C9292-F800-4809-F577-20EAADB62F5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C1FE0BEB-3246-F0CA-04A5-243DC71A10CB}"/>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F2226EF0-4C42-6BCF-F8C9-E40DB39B1098}"/>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14CDA450-2A81-6039-8199-51CA44755CAC}"/>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C08384AF-6CF9-1C5D-E1C0-21F41FFF4D4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7" name="Picture 26">
            <a:extLst>
              <a:ext uri="{FF2B5EF4-FFF2-40B4-BE49-F238E27FC236}">
                <a16:creationId xmlns:a16="http://schemas.microsoft.com/office/drawing/2014/main" id="{827B579A-0AE2-FF91-B88F-6F5B7EA25059}"/>
              </a:ext>
            </a:extLst>
          </p:cNvPr>
          <p:cNvPicPr>
            <a:picLocks noChangeAspect="1"/>
          </p:cNvPicPr>
          <p:nvPr/>
        </p:nvPicPr>
        <p:blipFill>
          <a:blip r:embed="rId8"/>
          <a:stretch>
            <a:fillRect/>
          </a:stretch>
        </p:blipFill>
        <p:spPr>
          <a:xfrm>
            <a:off x="2209797" y="4116716"/>
            <a:ext cx="2568163" cy="3238781"/>
          </a:xfrm>
          <a:prstGeom prst="rect">
            <a:avLst/>
          </a:prstGeom>
        </p:spPr>
      </p:pic>
      <p:pic>
        <p:nvPicPr>
          <p:cNvPr id="29" name="Picture 28">
            <a:extLst>
              <a:ext uri="{FF2B5EF4-FFF2-40B4-BE49-F238E27FC236}">
                <a16:creationId xmlns:a16="http://schemas.microsoft.com/office/drawing/2014/main" id="{48BA11F3-68FA-4BC1-8A5D-2A67581CA10B}"/>
              </a:ext>
            </a:extLst>
          </p:cNvPr>
          <p:cNvPicPr>
            <a:picLocks noChangeAspect="1"/>
          </p:cNvPicPr>
          <p:nvPr/>
        </p:nvPicPr>
        <p:blipFill>
          <a:blip r:embed="rId9"/>
          <a:stretch>
            <a:fillRect/>
          </a:stretch>
        </p:blipFill>
        <p:spPr>
          <a:xfrm>
            <a:off x="7414042" y="4116716"/>
            <a:ext cx="2568163" cy="3246401"/>
          </a:xfrm>
          <a:prstGeom prst="rect">
            <a:avLst/>
          </a:prstGeom>
        </p:spPr>
      </p:pic>
      <p:grpSp>
        <p:nvGrpSpPr>
          <p:cNvPr id="30" name="Group 29">
            <a:extLst>
              <a:ext uri="{FF2B5EF4-FFF2-40B4-BE49-F238E27FC236}">
                <a16:creationId xmlns:a16="http://schemas.microsoft.com/office/drawing/2014/main" id="{488780EB-6D03-7C40-207B-76B4B7B35DA6}"/>
              </a:ext>
            </a:extLst>
          </p:cNvPr>
          <p:cNvGrpSpPr/>
          <p:nvPr/>
        </p:nvGrpSpPr>
        <p:grpSpPr>
          <a:xfrm>
            <a:off x="1895015" y="3486716"/>
            <a:ext cx="3372770" cy="468000"/>
            <a:chOff x="1497300" y="3307387"/>
            <a:chExt cx="3372770" cy="468000"/>
          </a:xfrm>
        </p:grpSpPr>
        <p:grpSp>
          <p:nvGrpSpPr>
            <p:cNvPr id="31" name="Group 30">
              <a:extLst>
                <a:ext uri="{FF2B5EF4-FFF2-40B4-BE49-F238E27FC236}">
                  <a16:creationId xmlns:a16="http://schemas.microsoft.com/office/drawing/2014/main" id="{774EC32E-CBE1-8F7F-CFAB-823C0404D8CE}"/>
                </a:ext>
              </a:extLst>
            </p:cNvPr>
            <p:cNvGrpSpPr/>
            <p:nvPr/>
          </p:nvGrpSpPr>
          <p:grpSpPr>
            <a:xfrm>
              <a:off x="1497300" y="3307387"/>
              <a:ext cx="468000" cy="468000"/>
              <a:chOff x="7505700" y="4334414"/>
              <a:chExt cx="468000" cy="468000"/>
            </a:xfrm>
          </p:grpSpPr>
          <p:sp>
            <p:nvSpPr>
              <p:cNvPr id="33" name="Oval 32">
                <a:extLst>
                  <a:ext uri="{FF2B5EF4-FFF2-40B4-BE49-F238E27FC236}">
                    <a16:creationId xmlns:a16="http://schemas.microsoft.com/office/drawing/2014/main" id="{2A15F07E-29DC-8C46-EE6F-2AF10165C003}"/>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Checkmark with solid fill">
                <a:extLst>
                  <a:ext uri="{FF2B5EF4-FFF2-40B4-BE49-F238E27FC236}">
                    <a16:creationId xmlns:a16="http://schemas.microsoft.com/office/drawing/2014/main" id="{8D6A126F-CC4D-6341-B86B-074C3725B7A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559700" y="4388414"/>
                <a:ext cx="360000" cy="360000"/>
              </a:xfrm>
              <a:prstGeom prst="rect">
                <a:avLst/>
              </a:prstGeom>
            </p:spPr>
          </p:pic>
        </p:grpSp>
        <p:sp>
          <p:nvSpPr>
            <p:cNvPr id="32" name="TextBox 31">
              <a:extLst>
                <a:ext uri="{FF2B5EF4-FFF2-40B4-BE49-F238E27FC236}">
                  <a16:creationId xmlns:a16="http://schemas.microsoft.com/office/drawing/2014/main" id="{99F0DA49-03D4-C0E0-F2EA-B260FF4CCCDC}"/>
                </a:ext>
              </a:extLst>
            </p:cNvPr>
            <p:cNvSpPr txBox="1"/>
            <p:nvPr/>
          </p:nvSpPr>
          <p:spPr>
            <a:xfrm>
              <a:off x="1965300" y="3361635"/>
              <a:ext cx="2904770" cy="369332"/>
            </a:xfrm>
            <a:prstGeom prst="rect">
              <a:avLst/>
            </a:prstGeom>
            <a:noFill/>
          </p:spPr>
          <p:txBody>
            <a:bodyPr wrap="none" rtlCol="0">
              <a:spAutoFit/>
            </a:bodyPr>
            <a:lstStyle/>
            <a:p>
              <a:r>
                <a:rPr lang="en-SE" b="1" dirty="0"/>
                <a:t>Positive </a:t>
              </a:r>
              <a:r>
                <a:rPr lang="en-SE" dirty="0"/>
                <a:t>visual assessment</a:t>
              </a:r>
              <a:endParaRPr lang="en-SE" sz="1400" dirty="0"/>
            </a:p>
          </p:txBody>
        </p:sp>
      </p:grpSp>
      <p:grpSp>
        <p:nvGrpSpPr>
          <p:cNvPr id="35" name="Group 34">
            <a:extLst>
              <a:ext uri="{FF2B5EF4-FFF2-40B4-BE49-F238E27FC236}">
                <a16:creationId xmlns:a16="http://schemas.microsoft.com/office/drawing/2014/main" id="{DB79EAB2-1DF5-E13B-66AF-B9C5D321FFAF}"/>
              </a:ext>
            </a:extLst>
          </p:cNvPr>
          <p:cNvGrpSpPr/>
          <p:nvPr/>
        </p:nvGrpSpPr>
        <p:grpSpPr>
          <a:xfrm>
            <a:off x="6924217" y="3450716"/>
            <a:ext cx="3398799" cy="468000"/>
            <a:chOff x="1497300" y="3307387"/>
            <a:chExt cx="3398799" cy="468000"/>
          </a:xfrm>
        </p:grpSpPr>
        <p:grpSp>
          <p:nvGrpSpPr>
            <p:cNvPr id="36" name="Group 35">
              <a:extLst>
                <a:ext uri="{FF2B5EF4-FFF2-40B4-BE49-F238E27FC236}">
                  <a16:creationId xmlns:a16="http://schemas.microsoft.com/office/drawing/2014/main" id="{A17DB0DC-53A5-7117-351A-36228747BBEE}"/>
                </a:ext>
              </a:extLst>
            </p:cNvPr>
            <p:cNvGrpSpPr/>
            <p:nvPr/>
          </p:nvGrpSpPr>
          <p:grpSpPr>
            <a:xfrm>
              <a:off x="1497300" y="3307387"/>
              <a:ext cx="468000" cy="468000"/>
              <a:chOff x="7505700" y="4334414"/>
              <a:chExt cx="468000" cy="468000"/>
            </a:xfrm>
          </p:grpSpPr>
          <p:sp>
            <p:nvSpPr>
              <p:cNvPr id="38" name="Oval 37">
                <a:extLst>
                  <a:ext uri="{FF2B5EF4-FFF2-40B4-BE49-F238E27FC236}">
                    <a16:creationId xmlns:a16="http://schemas.microsoft.com/office/drawing/2014/main" id="{8A4EE781-B7E7-12AA-DCDA-8BF3FD8402A4}"/>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9" name="Graphic 38" descr="Close with solid fill">
                <a:extLst>
                  <a:ext uri="{FF2B5EF4-FFF2-40B4-BE49-F238E27FC236}">
                    <a16:creationId xmlns:a16="http://schemas.microsoft.com/office/drawing/2014/main" id="{54789655-D0B7-F897-9822-D1E00F1E6F24}"/>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7559700" y="4388414"/>
                <a:ext cx="360000" cy="360000"/>
              </a:xfrm>
              <a:prstGeom prst="rect">
                <a:avLst/>
              </a:prstGeom>
            </p:spPr>
          </p:pic>
        </p:grpSp>
        <p:sp>
          <p:nvSpPr>
            <p:cNvPr id="37" name="TextBox 36">
              <a:extLst>
                <a:ext uri="{FF2B5EF4-FFF2-40B4-BE49-F238E27FC236}">
                  <a16:creationId xmlns:a16="http://schemas.microsoft.com/office/drawing/2014/main" id="{652F0E61-358A-9BCE-D1F6-9A041E00C1BF}"/>
                </a:ext>
              </a:extLst>
            </p:cNvPr>
            <p:cNvSpPr txBox="1"/>
            <p:nvPr/>
          </p:nvSpPr>
          <p:spPr>
            <a:xfrm>
              <a:off x="2013707" y="3324005"/>
              <a:ext cx="2882392" cy="369332"/>
            </a:xfrm>
            <a:prstGeom prst="rect">
              <a:avLst/>
            </a:prstGeom>
            <a:noFill/>
          </p:spPr>
          <p:txBody>
            <a:bodyPr wrap="none" rtlCol="0">
              <a:spAutoFit/>
            </a:bodyPr>
            <a:lstStyle/>
            <a:p>
              <a:r>
                <a:rPr lang="en-SE" b="1" dirty="0"/>
                <a:t>Negative </a:t>
              </a:r>
              <a:r>
                <a:rPr lang="en-SE" dirty="0"/>
                <a:t>visual </a:t>
              </a:r>
              <a:r>
                <a:rPr lang="en-SE" dirty="0" err="1"/>
                <a:t>assesment</a:t>
              </a:r>
              <a:endParaRPr lang="en-SE" sz="1400" dirty="0"/>
            </a:p>
          </p:txBody>
        </p:sp>
      </p:grpSp>
    </p:spTree>
    <p:extLst>
      <p:ext uri="{BB962C8B-B14F-4D97-AF65-F5344CB8AC3E}">
        <p14:creationId xmlns:p14="http://schemas.microsoft.com/office/powerpoint/2010/main" val="35267276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6077-7156-CD43-49A8-A28BACEE0435}"/>
              </a:ext>
            </a:extLst>
          </p:cNvPr>
          <p:cNvSpPr>
            <a:spLocks noGrp="1"/>
          </p:cNvSpPr>
          <p:nvPr>
            <p:ph type="title"/>
          </p:nvPr>
        </p:nvSpPr>
        <p:spPr/>
        <p:txBody>
          <a:bodyPr/>
          <a:lstStyle/>
          <a:p>
            <a:r>
              <a:rPr lang="en-SE" dirty="0"/>
              <a:t>Assessing the Training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69244E-B0FB-6E22-C930-CE713F36DB4D}"/>
                  </a:ext>
                </a:extLst>
              </p:cNvPr>
              <p:cNvSpPr>
                <a:spLocks noGrp="1"/>
              </p:cNvSpPr>
              <p:nvPr>
                <p:ph idx="1"/>
              </p:nvPr>
            </p:nvSpPr>
            <p:spPr>
              <a:xfrm>
                <a:off x="838200" y="1825625"/>
                <a:ext cx="10515600" cy="1325563"/>
              </a:xfrm>
            </p:spPr>
            <p:txBody>
              <a:bodyPr/>
              <a:lstStyle/>
              <a:p>
                <a:pPr marL="0" indent="0">
                  <a:buNone/>
                </a:pPr>
                <a:r>
                  <a:rPr lang="en-SE" dirty="0"/>
                  <a:t>Another evaluation is the </a:t>
                </a:r>
                <a:r>
                  <a:rPr lang="en-SE" b="1" dirty="0"/>
                  <a:t>Gelman-Rubin Conversion Statistic</a:t>
                </a:r>
                <a:r>
                  <a:rPr lang="en-SE" dirty="0"/>
                  <a:t> </a:t>
                </a:r>
                <a14:m>
                  <m:oMath xmlns:m="http://schemas.openxmlformats.org/officeDocument/2006/math">
                    <m:acc>
                      <m:accPr>
                        <m:chr m:val="̂"/>
                        <m:ctrlPr>
                          <a:rPr lang="en-SE" b="0" i="1" smtClean="0">
                            <a:latin typeface="Cambria Math" panose="02040503050406030204" pitchFamily="18" charset="0"/>
                          </a:rPr>
                        </m:ctrlPr>
                      </m:accPr>
                      <m:e>
                        <m:r>
                          <a:rPr lang="en-SE" b="0" i="1" smtClean="0">
                            <a:latin typeface="Cambria Math" panose="02040503050406030204" pitchFamily="18" charset="0"/>
                          </a:rPr>
                          <m:t>𝑅</m:t>
                        </m:r>
                      </m:e>
                    </m:acc>
                  </m:oMath>
                </a14:m>
                <a:r>
                  <a:rPr lang="en-SE" dirty="0"/>
                  <a:t> calculated from the within- and </a:t>
                </a:r>
                <a:r>
                  <a:rPr lang="en-SE" dirty="0" err="1"/>
                  <a:t>betwee</a:t>
                </a:r>
                <a:r>
                  <a:rPr lang="de-DE" dirty="0"/>
                  <a:t>n</a:t>
                </a:r>
                <a:r>
                  <a:rPr lang="en-SE" dirty="0"/>
                  <a:t>-chain variance. It quantifies how well </a:t>
                </a:r>
                <a:r>
                  <a:rPr lang="en-SE" i="1" dirty="0"/>
                  <a:t>multiple chains have converged</a:t>
                </a:r>
                <a:r>
                  <a:rPr lang="en-SE" dirty="0"/>
                  <a:t>.</a:t>
                </a:r>
              </a:p>
            </p:txBody>
          </p:sp>
        </mc:Choice>
        <mc:Fallback xmlns="">
          <p:sp>
            <p:nvSpPr>
              <p:cNvPr id="3" name="Content Placeholder 2">
                <a:extLst>
                  <a:ext uri="{FF2B5EF4-FFF2-40B4-BE49-F238E27FC236}">
                    <a16:creationId xmlns:a16="http://schemas.microsoft.com/office/drawing/2014/main" id="{0469244E-B0FB-6E22-C930-CE713F36DB4D}"/>
                  </a:ext>
                </a:extLst>
              </p:cNvPr>
              <p:cNvSpPr>
                <a:spLocks noGrp="1" noRot="1" noChangeAspect="1" noMove="1" noResize="1" noEditPoints="1" noAdjustHandles="1" noChangeArrowheads="1" noChangeShapeType="1" noTextEdit="1"/>
              </p:cNvSpPr>
              <p:nvPr>
                <p:ph idx="1"/>
              </p:nvPr>
            </p:nvSpPr>
            <p:spPr>
              <a:xfrm>
                <a:off x="838200" y="1825625"/>
                <a:ext cx="10515600" cy="1325563"/>
              </a:xfrm>
              <a:blipFill>
                <a:blip r:embed="rId2"/>
                <a:stretch>
                  <a:fillRect l="-1217" t="-6881" b="-7339"/>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DD4BC843-D4A4-C952-C28F-42635366E195}"/>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D14B35D0-4743-3C90-4618-03B3241CFB7F}"/>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60F46909-E916-08C3-BF1F-0C44408FAB94}"/>
              </a:ext>
            </a:extLst>
          </p:cNvPr>
          <p:cNvSpPr>
            <a:spLocks noGrp="1"/>
          </p:cNvSpPr>
          <p:nvPr>
            <p:ph type="sldNum" sz="quarter" idx="12"/>
          </p:nvPr>
        </p:nvSpPr>
        <p:spPr/>
        <p:txBody>
          <a:bodyPr/>
          <a:lstStyle/>
          <a:p>
            <a:fld id="{271ECC92-9CDE-4EB3-B1C5-F46B9E1FA3C1}" type="slidenum">
              <a:rPr lang="en-SE" smtClean="0"/>
              <a:t>63</a:t>
            </a:fld>
            <a:endParaRPr lang="en-SE"/>
          </a:p>
        </p:txBody>
      </p:sp>
      <p:grpSp>
        <p:nvGrpSpPr>
          <p:cNvPr id="7" name="Group 6">
            <a:extLst>
              <a:ext uri="{FF2B5EF4-FFF2-40B4-BE49-F238E27FC236}">
                <a16:creationId xmlns:a16="http://schemas.microsoft.com/office/drawing/2014/main" id="{30728A9E-A582-9759-E5F5-D87D95424A15}"/>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58CA7E52-085F-E3F4-14E4-8257D211773D}"/>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B4E53D93-457E-2481-6536-165C52D57D5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239A9FDA-23A8-0C04-9795-B5C33AE2B375}"/>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5785C3D7-3617-E1BA-5044-633E1E49B9B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63265B04-DBB4-311B-4951-EB25981AA1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C0D25C0C-73D9-F59A-F4E8-0CAE37B41AFC}"/>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FE66E16C-272E-0EB8-0100-6380CE08358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D5C4DE33-3347-A0E9-2D4E-C954A0F5A98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8B01B24E-CE60-34BF-6E70-2E7AC9A06AA1}"/>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E9B1CE14-A448-078D-8A7F-8DB87FADB69F}"/>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B7844885-BB46-9ED3-1639-35B39F66C6A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E0C348A3-E825-AF6F-B834-C6A8A3CCDFD2}"/>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FF38ACC8-8E71-BEC3-C1FB-EE671514A3F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0F8242F0-01C0-C8F6-3EB1-4D6053AB853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8821BFD5-99C1-5FA9-2E15-9F65293AB457}"/>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306C7B22-180B-9122-A303-86698F6CEF8C}"/>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E4729852-C39A-32FB-9BB4-979657725957}"/>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0F3F4044-DACB-D7EC-63B7-502E24DD2B43}"/>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7" name="Rectangle 26">
            <a:extLst>
              <a:ext uri="{FF2B5EF4-FFF2-40B4-BE49-F238E27FC236}">
                <a16:creationId xmlns:a16="http://schemas.microsoft.com/office/drawing/2014/main" id="{CB738BA0-216E-730C-5D24-091240DE099A}"/>
              </a:ext>
            </a:extLst>
          </p:cNvPr>
          <p:cNvSpPr/>
          <p:nvPr/>
        </p:nvSpPr>
        <p:spPr>
          <a:xfrm>
            <a:off x="1703556" y="3739581"/>
            <a:ext cx="6067087"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summary(model)</a:t>
            </a:r>
          </a:p>
        </p:txBody>
      </p:sp>
      <p:sp>
        <p:nvSpPr>
          <p:cNvPr id="29" name="Rectangle 28">
            <a:extLst>
              <a:ext uri="{FF2B5EF4-FFF2-40B4-BE49-F238E27FC236}">
                <a16:creationId xmlns:a16="http://schemas.microsoft.com/office/drawing/2014/main" id="{4E0A4B7C-1B7E-1BC6-EA81-457B569013FA}"/>
              </a:ext>
            </a:extLst>
          </p:cNvPr>
          <p:cNvSpPr/>
          <p:nvPr/>
        </p:nvSpPr>
        <p:spPr>
          <a:xfrm>
            <a:off x="1703556" y="3374456"/>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31" name="Picture 30">
            <a:extLst>
              <a:ext uri="{FF2B5EF4-FFF2-40B4-BE49-F238E27FC236}">
                <a16:creationId xmlns:a16="http://schemas.microsoft.com/office/drawing/2014/main" id="{A614F381-A8A8-F3EF-7280-14361AC9EA9B}"/>
              </a:ext>
            </a:extLst>
          </p:cNvPr>
          <p:cNvPicPr>
            <a:picLocks noChangeAspect="1"/>
          </p:cNvPicPr>
          <p:nvPr/>
        </p:nvPicPr>
        <p:blipFill>
          <a:blip r:embed="rId8"/>
          <a:srcRect t="34084" b="15461"/>
          <a:stretch>
            <a:fillRect/>
          </a:stretch>
        </p:blipFill>
        <p:spPr>
          <a:xfrm>
            <a:off x="1703556" y="4116716"/>
            <a:ext cx="6067085" cy="1638301"/>
          </a:xfrm>
          <a:prstGeom prst="rect">
            <a:avLst/>
          </a:prstGeom>
          <a:ln>
            <a:solidFill>
              <a:schemeClr val="tx1">
                <a:lumMod val="50000"/>
                <a:lumOff val="50000"/>
              </a:schemeClr>
            </a:solidFill>
          </a:ln>
        </p:spPr>
      </p:pic>
      <p:sp>
        <p:nvSpPr>
          <p:cNvPr id="33" name="Rectangle 32">
            <a:extLst>
              <a:ext uri="{FF2B5EF4-FFF2-40B4-BE49-F238E27FC236}">
                <a16:creationId xmlns:a16="http://schemas.microsoft.com/office/drawing/2014/main" id="{D9A39211-B5AB-D681-10E9-D384BC8E4DF5}"/>
              </a:ext>
            </a:extLst>
          </p:cNvPr>
          <p:cNvSpPr/>
          <p:nvPr/>
        </p:nvSpPr>
        <p:spPr>
          <a:xfrm>
            <a:off x="5473700" y="4307457"/>
            <a:ext cx="457200" cy="723386"/>
          </a:xfrm>
          <a:prstGeom prst="rect">
            <a:avLst/>
          </a:prstGeom>
          <a:no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941425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9" grpId="0" animBg="1"/>
      <p:bldP spid="3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B589C-1256-7477-6187-BC8652D629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2B3B11-295B-A82D-89C6-C65C5B3463B5}"/>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B4D9F1A3-4CC2-FB45-C0E7-6132A09980C0}"/>
              </a:ext>
            </a:extLst>
          </p:cNvPr>
          <p:cNvSpPr>
            <a:spLocks noGrp="1"/>
          </p:cNvSpPr>
          <p:nvPr>
            <p:ph idx="1"/>
          </p:nvPr>
        </p:nvSpPr>
        <p:spPr>
          <a:xfrm>
            <a:off x="838200" y="1825625"/>
            <a:ext cx="10515600" cy="1325563"/>
          </a:xfrm>
        </p:spPr>
        <p:txBody>
          <a:bodyPr/>
          <a:lstStyle/>
          <a:p>
            <a:pPr marL="0" indent="0">
              <a:buNone/>
            </a:pPr>
            <a:r>
              <a:rPr lang="en-SE" dirty="0"/>
              <a:t>Similarly to the prior predictive check, we can run a </a:t>
            </a:r>
            <a:r>
              <a:rPr lang="en-SE" b="1" dirty="0"/>
              <a:t>posterior predictive check</a:t>
            </a:r>
            <a:r>
              <a:rPr lang="en-SE" dirty="0"/>
              <a:t> using the updated path coefficients.</a:t>
            </a:r>
          </a:p>
        </p:txBody>
      </p:sp>
      <p:sp>
        <p:nvSpPr>
          <p:cNvPr id="4" name="Date Placeholder 3">
            <a:extLst>
              <a:ext uri="{FF2B5EF4-FFF2-40B4-BE49-F238E27FC236}">
                <a16:creationId xmlns:a16="http://schemas.microsoft.com/office/drawing/2014/main" id="{C2EFEA28-E8D4-59E6-456D-FEEF2AE88396}"/>
              </a:ext>
            </a:extLst>
          </p:cNvPr>
          <p:cNvSpPr>
            <a:spLocks noGrp="1"/>
          </p:cNvSpPr>
          <p:nvPr>
            <p:ph type="dt" sz="half" idx="10"/>
          </p:nvPr>
        </p:nvSpPr>
        <p:spPr/>
        <p:txBody>
          <a:bodyPr/>
          <a:lstStyle/>
          <a:p>
            <a:r>
              <a:rPr lang="en-SE" dirty="0"/>
              <a:t>2026-08-17</a:t>
            </a:r>
          </a:p>
        </p:txBody>
      </p:sp>
      <p:sp>
        <p:nvSpPr>
          <p:cNvPr id="5" name="Footer Placeholder 4">
            <a:extLst>
              <a:ext uri="{FF2B5EF4-FFF2-40B4-BE49-F238E27FC236}">
                <a16:creationId xmlns:a16="http://schemas.microsoft.com/office/drawing/2014/main" id="{4CC7ACE6-B71B-A31A-C7AA-2CF7F5D4CB9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F0815BE-0652-EC47-CB02-BBA38B260D07}"/>
              </a:ext>
            </a:extLst>
          </p:cNvPr>
          <p:cNvSpPr>
            <a:spLocks noGrp="1"/>
          </p:cNvSpPr>
          <p:nvPr>
            <p:ph type="sldNum" sz="quarter" idx="12"/>
          </p:nvPr>
        </p:nvSpPr>
        <p:spPr/>
        <p:txBody>
          <a:bodyPr/>
          <a:lstStyle/>
          <a:p>
            <a:fld id="{271ECC92-9CDE-4EB3-B1C5-F46B9E1FA3C1}" type="slidenum">
              <a:rPr lang="en-SE" smtClean="0"/>
              <a:t>64</a:t>
            </a:fld>
            <a:endParaRPr lang="en-SE"/>
          </a:p>
        </p:txBody>
      </p:sp>
      <p:grpSp>
        <p:nvGrpSpPr>
          <p:cNvPr id="7" name="Group 6">
            <a:extLst>
              <a:ext uri="{FF2B5EF4-FFF2-40B4-BE49-F238E27FC236}">
                <a16:creationId xmlns:a16="http://schemas.microsoft.com/office/drawing/2014/main" id="{8FC100B2-E8FF-60A8-59D3-50ED1C222BEE}"/>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7EED570E-B088-998F-6434-0DFEB3F7D60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Golden Ratio with solid fill">
              <a:extLst>
                <a:ext uri="{FF2B5EF4-FFF2-40B4-BE49-F238E27FC236}">
                  <a16:creationId xmlns:a16="http://schemas.microsoft.com/office/drawing/2014/main" id="{17181387-97F0-0FE9-07E5-8D7847092F3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00220E47-ABE7-4ADE-DA20-FE2C6F3FBFB2}"/>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7CE2619D-B7C1-9823-7F50-327F83E2CDB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D792FB7E-BC91-CF42-3B2B-876DB120823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155C6FD3-6A57-B915-8D96-B03757848E59}"/>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BC6B7786-4D9F-3639-7566-1CCCBFD46FAE}"/>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B82FF70E-600D-E31E-C2A0-A09D5EBF04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4AC8B8FE-7A6C-8FC3-1860-71D9819DFE03}"/>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88BC3A00-A44E-687F-6E55-9E0C4CFC0DB5}"/>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83E84FF7-4FF2-7D2A-EC8F-43E384DE017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D9E5FED7-42A3-9AB6-EBE3-6A3CF6431441}"/>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E1537532-D8FE-8FF4-AF1D-FACE6A850EE5}"/>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C71D51F9-92AE-99A2-F028-5CD83D153C4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65E4A75D-FD05-82CF-E74F-42109D62996A}"/>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1855A090-FE2A-35F7-4538-7CA7FCD1C166}"/>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EB900C1D-56FB-7973-1DB8-D1E430D1D613}"/>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B03663BC-F442-B0FE-3CB9-9BB11D040312}"/>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6" name="TextBox 25">
            <a:extLst>
              <a:ext uri="{FF2B5EF4-FFF2-40B4-BE49-F238E27FC236}">
                <a16:creationId xmlns:a16="http://schemas.microsoft.com/office/drawing/2014/main" id="{428BD38F-ADAF-5F36-3BAB-220A77A4048B}"/>
              </a:ext>
            </a:extLst>
          </p:cNvPr>
          <p:cNvSpPr txBox="1"/>
          <p:nvPr/>
        </p:nvSpPr>
        <p:spPr>
          <a:xfrm>
            <a:off x="5212402" y="4066432"/>
            <a:ext cx="1754712" cy="369332"/>
          </a:xfrm>
          <a:prstGeom prst="rect">
            <a:avLst/>
          </a:prstGeom>
          <a:noFill/>
        </p:spPr>
        <p:txBody>
          <a:bodyPr wrap="none" rtlCol="0">
            <a:spAutoFit/>
          </a:bodyPr>
          <a:lstStyle/>
          <a:p>
            <a:pPr algn="ctr"/>
            <a:r>
              <a:rPr lang="en-SE" dirty="0"/>
              <a:t>Bayesian Model</a:t>
            </a:r>
          </a:p>
        </p:txBody>
      </p:sp>
      <p:sp>
        <p:nvSpPr>
          <p:cNvPr id="28" name="Rectangle: Rounded Corners 27">
            <a:extLst>
              <a:ext uri="{FF2B5EF4-FFF2-40B4-BE49-F238E27FC236}">
                <a16:creationId xmlns:a16="http://schemas.microsoft.com/office/drawing/2014/main" id="{F3AE9FF5-BE97-FAC6-BB69-8DDE3785F5FD}"/>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p:pic>
        <p:nvPicPr>
          <p:cNvPr id="30" name="Graphic 29" descr="Database with solid fill">
            <a:extLst>
              <a:ext uri="{FF2B5EF4-FFF2-40B4-BE49-F238E27FC236}">
                <a16:creationId xmlns:a16="http://schemas.microsoft.com/office/drawing/2014/main" id="{AFFB6F30-1270-CAB8-A12A-30C3434BD6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2618" y="3154667"/>
            <a:ext cx="914400" cy="914400"/>
          </a:xfrm>
          <a:prstGeom prst="rect">
            <a:avLst/>
          </a:prstGeom>
        </p:spPr>
      </p:pic>
      <p:pic>
        <p:nvPicPr>
          <p:cNvPr id="32" name="Graphic 31" descr="Robot with solid fill">
            <a:extLst>
              <a:ext uri="{FF2B5EF4-FFF2-40B4-BE49-F238E27FC236}">
                <a16:creationId xmlns:a16="http://schemas.microsoft.com/office/drawing/2014/main" id="{5A214CC0-23D8-4205-6C14-34BD7D95FF9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38800" y="3154667"/>
            <a:ext cx="914400" cy="914400"/>
          </a:xfrm>
          <a:prstGeom prst="rect">
            <a:avLst/>
          </a:prstGeom>
        </p:spPr>
      </p:pic>
      <p:pic>
        <p:nvPicPr>
          <p:cNvPr id="34" name="Graphic 33" descr="Bar chart with solid fill">
            <a:extLst>
              <a:ext uri="{FF2B5EF4-FFF2-40B4-BE49-F238E27FC236}">
                <a16:creationId xmlns:a16="http://schemas.microsoft.com/office/drawing/2014/main" id="{94345A8D-9594-F73B-1044-A94784B5E3B2}"/>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9094982" y="3154667"/>
            <a:ext cx="914400" cy="914400"/>
          </a:xfrm>
          <a:prstGeom prst="rect">
            <a:avLst/>
          </a:prstGeom>
        </p:spPr>
      </p:pic>
      <p:sp>
        <p:nvSpPr>
          <p:cNvPr id="35" name="TextBox 34">
            <a:extLst>
              <a:ext uri="{FF2B5EF4-FFF2-40B4-BE49-F238E27FC236}">
                <a16:creationId xmlns:a16="http://schemas.microsoft.com/office/drawing/2014/main" id="{A78C1210-47F1-A4FD-CD2F-49D2F417BA43}"/>
              </a:ext>
            </a:extLst>
          </p:cNvPr>
          <p:cNvSpPr txBox="1"/>
          <p:nvPr/>
        </p:nvSpPr>
        <p:spPr>
          <a:xfrm>
            <a:off x="1797856" y="4040899"/>
            <a:ext cx="1683923" cy="369332"/>
          </a:xfrm>
          <a:prstGeom prst="rect">
            <a:avLst/>
          </a:prstGeom>
          <a:noFill/>
        </p:spPr>
        <p:txBody>
          <a:bodyPr wrap="none" rtlCol="0">
            <a:spAutoFit/>
          </a:bodyPr>
          <a:lstStyle/>
          <a:p>
            <a:pPr algn="ctr"/>
            <a:r>
              <a:rPr lang="en-SE" dirty="0"/>
              <a:t>Collected Data</a:t>
            </a:r>
          </a:p>
        </p:txBody>
      </p:sp>
      <p:sp>
        <p:nvSpPr>
          <p:cNvPr id="36" name="TextBox 35">
            <a:extLst>
              <a:ext uri="{FF2B5EF4-FFF2-40B4-BE49-F238E27FC236}">
                <a16:creationId xmlns:a16="http://schemas.microsoft.com/office/drawing/2014/main" id="{5AF8A9E0-161F-D88A-0E1A-BDF5C5D8DDEF}"/>
              </a:ext>
            </a:extLst>
          </p:cNvPr>
          <p:cNvSpPr txBox="1"/>
          <p:nvPr/>
        </p:nvSpPr>
        <p:spPr>
          <a:xfrm>
            <a:off x="8152381" y="4040899"/>
            <a:ext cx="2799614" cy="369332"/>
          </a:xfrm>
          <a:prstGeom prst="rect">
            <a:avLst/>
          </a:prstGeom>
          <a:noFill/>
        </p:spPr>
        <p:txBody>
          <a:bodyPr wrap="none" rtlCol="0">
            <a:spAutoFit/>
          </a:bodyPr>
          <a:lstStyle/>
          <a:p>
            <a:pPr algn="ctr"/>
            <a:r>
              <a:rPr lang="en-SE" dirty="0"/>
              <a:t>Posterior Predictive Check</a:t>
            </a:r>
          </a:p>
        </p:txBody>
      </p:sp>
      <p:cxnSp>
        <p:nvCxnSpPr>
          <p:cNvPr id="37" name="Straight Arrow Connector 36">
            <a:extLst>
              <a:ext uri="{FF2B5EF4-FFF2-40B4-BE49-F238E27FC236}">
                <a16:creationId xmlns:a16="http://schemas.microsoft.com/office/drawing/2014/main" id="{8C9BE1F4-CDC7-9464-A497-DF08AA11532A}"/>
              </a:ext>
            </a:extLst>
          </p:cNvPr>
          <p:cNvCxnSpPr>
            <a:cxnSpLocks/>
            <a:stCxn id="30" idx="3"/>
            <a:endCxn id="32" idx="1"/>
          </p:cNvCxnSpPr>
          <p:nvPr/>
        </p:nvCxnSpPr>
        <p:spPr>
          <a:xfrm>
            <a:off x="3097018"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F2A1858D-E2CC-7CBA-E5AD-F50C6952A35F}"/>
              </a:ext>
            </a:extLst>
          </p:cNvPr>
          <p:cNvCxnSpPr>
            <a:cxnSpLocks/>
            <a:stCxn id="32" idx="3"/>
            <a:endCxn id="34" idx="1"/>
          </p:cNvCxnSpPr>
          <p:nvPr/>
        </p:nvCxnSpPr>
        <p:spPr>
          <a:xfrm>
            <a:off x="6553200" y="3611867"/>
            <a:ext cx="254178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9" name="Table 38">
            <a:extLst>
              <a:ext uri="{FF2B5EF4-FFF2-40B4-BE49-F238E27FC236}">
                <a16:creationId xmlns:a16="http://schemas.microsoft.com/office/drawing/2014/main" id="{9C040D19-7EAB-0E4C-13D4-84FC01FC4BB6}"/>
              </a:ext>
            </a:extLst>
          </p:cNvPr>
          <p:cNvGraphicFramePr>
            <a:graphicFrameLocks noGrp="1"/>
          </p:cNvGraphicFramePr>
          <p:nvPr>
            <p:extLst>
              <p:ext uri="{D42A27DB-BD31-4B8C-83A1-F6EECF244321}">
                <p14:modId xmlns:p14="http://schemas.microsoft.com/office/powerpoint/2010/main" val="510711767"/>
              </p:ext>
            </p:extLst>
          </p:nvPr>
        </p:nvGraphicFramePr>
        <p:xfrm>
          <a:off x="1358727" y="4464859"/>
          <a:ext cx="2534907" cy="1524000"/>
        </p:xfrm>
        <a:graphic>
          <a:graphicData uri="http://schemas.openxmlformats.org/drawingml/2006/table">
            <a:tbl>
              <a:tblPr firstRow="1" bandRow="1">
                <a:tableStyleId>{00A15C55-8517-42AA-B614-E9B94910E393}</a:tableStyleId>
              </a:tblPr>
              <a:tblGrid>
                <a:gridCol w="844969">
                  <a:extLst>
                    <a:ext uri="{9D8B030D-6E8A-4147-A177-3AD203B41FA5}">
                      <a16:colId xmlns:a16="http://schemas.microsoft.com/office/drawing/2014/main" val="453030250"/>
                    </a:ext>
                  </a:extLst>
                </a:gridCol>
                <a:gridCol w="844969">
                  <a:extLst>
                    <a:ext uri="{9D8B030D-6E8A-4147-A177-3AD203B41FA5}">
                      <a16:colId xmlns:a16="http://schemas.microsoft.com/office/drawing/2014/main" val="1779535849"/>
                    </a:ext>
                  </a:extLst>
                </a:gridCol>
                <a:gridCol w="844969">
                  <a:extLst>
                    <a:ext uri="{9D8B030D-6E8A-4147-A177-3AD203B41FA5}">
                      <a16:colId xmlns:a16="http://schemas.microsoft.com/office/drawing/2014/main" val="528605536"/>
                    </a:ext>
                  </a:extLst>
                </a:gridCol>
              </a:tblGrid>
              <a:tr h="289662">
                <a:tc>
                  <a:txBody>
                    <a:bodyPr/>
                    <a:lstStyle/>
                    <a:p>
                      <a:r>
                        <a:rPr lang="en-SE" sz="1400" dirty="0"/>
                        <a:t>x</a:t>
                      </a:r>
                    </a:p>
                  </a:txBody>
                  <a:tcPr/>
                </a:tc>
                <a:tc>
                  <a:txBody>
                    <a:bodyPr/>
                    <a:lstStyle/>
                    <a:p>
                      <a:r>
                        <a:rPr lang="en-SE" sz="1400" dirty="0"/>
                        <a:t>z</a:t>
                      </a:r>
                    </a:p>
                  </a:txBody>
                  <a:tcPr/>
                </a:tc>
                <a:tc>
                  <a:txBody>
                    <a:bodyPr/>
                    <a:lstStyle/>
                    <a:p>
                      <a:r>
                        <a:rPr lang="en-SE" sz="1400" dirty="0"/>
                        <a:t>y</a:t>
                      </a:r>
                    </a:p>
                  </a:txBody>
                  <a:tcPr/>
                </a:tc>
                <a:extLst>
                  <a:ext uri="{0D108BD9-81ED-4DB2-BD59-A6C34878D82A}">
                    <a16:rowId xmlns:a16="http://schemas.microsoft.com/office/drawing/2014/main" val="4231852891"/>
                  </a:ext>
                </a:extLst>
              </a:tr>
              <a:tr h="289662">
                <a:tc>
                  <a:txBody>
                    <a:bodyPr/>
                    <a:lstStyle/>
                    <a:p>
                      <a:pPr algn="r"/>
                      <a:r>
                        <a:rPr lang="en-SE" sz="1400" b="1" dirty="0"/>
                        <a:t>-0.63</a:t>
                      </a:r>
                    </a:p>
                  </a:txBody>
                  <a:tcPr/>
                </a:tc>
                <a:tc>
                  <a:txBody>
                    <a:bodyPr/>
                    <a:lstStyle/>
                    <a:p>
                      <a:pPr algn="r"/>
                      <a:r>
                        <a:rPr lang="en-SE" sz="1400" b="1" dirty="0"/>
                        <a:t>0.95</a:t>
                      </a:r>
                    </a:p>
                  </a:txBody>
                  <a:tcPr/>
                </a:tc>
                <a:tc>
                  <a:txBody>
                    <a:bodyPr/>
                    <a:lstStyle/>
                    <a:p>
                      <a:pPr algn="r"/>
                      <a:r>
                        <a:rPr lang="en-SE" sz="1400" b="1" dirty="0"/>
                        <a:t>3.35</a:t>
                      </a:r>
                    </a:p>
                  </a:txBody>
                  <a:tcPr/>
                </a:tc>
                <a:extLst>
                  <a:ext uri="{0D108BD9-81ED-4DB2-BD59-A6C34878D82A}">
                    <a16:rowId xmlns:a16="http://schemas.microsoft.com/office/drawing/2014/main" val="2645506403"/>
                  </a:ext>
                </a:extLst>
              </a:tr>
              <a:tr h="289662">
                <a:tc>
                  <a:txBody>
                    <a:bodyPr/>
                    <a:lstStyle/>
                    <a:p>
                      <a:pPr algn="r"/>
                      <a:r>
                        <a:rPr lang="en-SE" sz="1400" dirty="0"/>
                        <a:t>0.24</a:t>
                      </a:r>
                    </a:p>
                  </a:txBody>
                  <a:tcPr/>
                </a:tc>
                <a:tc>
                  <a:txBody>
                    <a:bodyPr/>
                    <a:lstStyle/>
                    <a:p>
                      <a:pPr algn="r"/>
                      <a:r>
                        <a:rPr lang="en-SE" sz="1400" dirty="0"/>
                        <a:t>1.00</a:t>
                      </a:r>
                    </a:p>
                  </a:txBody>
                  <a:tcPr/>
                </a:tc>
                <a:tc>
                  <a:txBody>
                    <a:bodyPr/>
                    <a:lstStyle/>
                    <a:p>
                      <a:pPr algn="r"/>
                      <a:r>
                        <a:rPr lang="en-SE" sz="1400" dirty="0"/>
                        <a:t>4.00</a:t>
                      </a:r>
                    </a:p>
                  </a:txBody>
                  <a:tcPr/>
                </a:tc>
                <a:extLst>
                  <a:ext uri="{0D108BD9-81ED-4DB2-BD59-A6C34878D82A}">
                    <a16:rowId xmlns:a16="http://schemas.microsoft.com/office/drawing/2014/main" val="28183331"/>
                  </a:ext>
                </a:extLst>
              </a:tr>
              <a:tr h="289662">
                <a:tc>
                  <a:txBody>
                    <a:bodyPr/>
                    <a:lstStyle/>
                    <a:p>
                      <a:pPr algn="r"/>
                      <a:r>
                        <a:rPr lang="en-SE" sz="1400" dirty="0"/>
                        <a:t>-1.06</a:t>
                      </a:r>
                    </a:p>
                  </a:txBody>
                  <a:tcPr/>
                </a:tc>
                <a:tc>
                  <a:txBody>
                    <a:bodyPr/>
                    <a:lstStyle/>
                    <a:p>
                      <a:pPr algn="r"/>
                      <a:r>
                        <a:rPr lang="en-SE" sz="1400" dirty="0"/>
                        <a:t>-0.28</a:t>
                      </a:r>
                    </a:p>
                  </a:txBody>
                  <a:tcPr/>
                </a:tc>
                <a:tc>
                  <a:txBody>
                    <a:bodyPr/>
                    <a:lstStyle/>
                    <a:p>
                      <a:pPr algn="r"/>
                      <a:r>
                        <a:rPr lang="en-SE" sz="1400" dirty="0"/>
                        <a:t>2.78</a:t>
                      </a:r>
                    </a:p>
                  </a:txBody>
                  <a:tcPr/>
                </a:tc>
                <a:extLst>
                  <a:ext uri="{0D108BD9-81ED-4DB2-BD59-A6C34878D82A}">
                    <a16:rowId xmlns:a16="http://schemas.microsoft.com/office/drawing/2014/main" val="3889692607"/>
                  </a:ext>
                </a:extLst>
              </a:tr>
              <a:tr h="289662">
                <a:tc>
                  <a:txBody>
                    <a:bodyPr/>
                    <a:lstStyle/>
                    <a:p>
                      <a:pPr algn="r"/>
                      <a:r>
                        <a:rPr lang="en-SE" sz="1400" dirty="0"/>
                        <a:t>...</a:t>
                      </a:r>
                    </a:p>
                  </a:txBody>
                  <a:tcPr/>
                </a:tc>
                <a:tc>
                  <a:txBody>
                    <a:bodyPr/>
                    <a:lstStyle/>
                    <a:p>
                      <a:pPr algn="r"/>
                      <a:r>
                        <a:rPr lang="en-SE" sz="1400" dirty="0"/>
                        <a:t>...</a:t>
                      </a:r>
                    </a:p>
                  </a:txBody>
                  <a:tcPr/>
                </a:tc>
                <a:tc>
                  <a:txBody>
                    <a:bodyPr/>
                    <a:lstStyle/>
                    <a:p>
                      <a:pPr algn="r"/>
                      <a:r>
                        <a:rPr lang="en-SE" sz="1400" dirty="0"/>
                        <a:t>...</a:t>
                      </a:r>
                    </a:p>
                  </a:txBody>
                  <a:tcPr/>
                </a:tc>
                <a:extLst>
                  <a:ext uri="{0D108BD9-81ED-4DB2-BD59-A6C34878D82A}">
                    <a16:rowId xmlns:a16="http://schemas.microsoft.com/office/drawing/2014/main" val="172891185"/>
                  </a:ext>
                </a:extLst>
              </a:tr>
            </a:tbl>
          </a:graphicData>
        </a:graphic>
      </p:graphicFrame>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1500BDF-1D69-FBE8-14AF-267B9A2773DB}"/>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p:sp>
            <p:nvSpPr>
              <p:cNvPr id="40" name="TextBox 39">
                <a:extLst>
                  <a:ext uri="{FF2B5EF4-FFF2-40B4-BE49-F238E27FC236}">
                    <a16:creationId xmlns:a16="http://schemas.microsoft.com/office/drawing/2014/main" id="{E1500BDF-1D69-FBE8-14AF-267B9A2773DB}"/>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0"/>
                <a:stretch>
                  <a:fillRect l="-4663" t="-4444" r="-6736"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2699D244-4F8B-33FB-A3B8-5FC725EB588E}"/>
                  </a:ext>
                </a:extLst>
              </p:cNvPr>
              <p:cNvSpPr txBox="1"/>
              <p:nvPr/>
            </p:nvSpPr>
            <p:spPr>
              <a:xfrm>
                <a:off x="4685494" y="4956544"/>
                <a:ext cx="323159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1" i="1" smtClean="0">
                          <a:latin typeface="Cambria Math" panose="02040503050406030204" pitchFamily="18" charset="0"/>
                        </a:rPr>
                        <m:t>−</m:t>
                      </m:r>
                      <m:r>
                        <a:rPr lang="en-SE" b="0" i="1" smtClean="0">
                          <a:latin typeface="Cambria Math" panose="02040503050406030204" pitchFamily="18" charset="0"/>
                        </a:rPr>
                        <m:t>0.63)+</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⋅0.95</m:t>
                      </m:r>
                    </m:oMath>
                  </m:oMathPara>
                </a14:m>
                <a:endParaRPr lang="en-SE" dirty="0"/>
              </a:p>
            </p:txBody>
          </p:sp>
        </mc:Choice>
        <mc:Fallback>
          <p:sp>
            <p:nvSpPr>
              <p:cNvPr id="41" name="TextBox 40">
                <a:extLst>
                  <a:ext uri="{FF2B5EF4-FFF2-40B4-BE49-F238E27FC236}">
                    <a16:creationId xmlns:a16="http://schemas.microsoft.com/office/drawing/2014/main" id="{2699D244-4F8B-33FB-A3B8-5FC725EB588E}"/>
                  </a:ext>
                </a:extLst>
              </p:cNvPr>
              <p:cNvSpPr txBox="1">
                <a:spLocks noRot="1" noChangeAspect="1" noMove="1" noResize="1" noEditPoints="1" noAdjustHandles="1" noChangeArrowheads="1" noChangeShapeType="1" noTextEdit="1"/>
              </p:cNvSpPr>
              <p:nvPr/>
            </p:nvSpPr>
            <p:spPr>
              <a:xfrm>
                <a:off x="4685494" y="4956544"/>
                <a:ext cx="3231590" cy="276999"/>
              </a:xfrm>
              <a:prstGeom prst="rect">
                <a:avLst/>
              </a:prstGeom>
              <a:blipFill>
                <a:blip r:embed="rId11"/>
                <a:stretch>
                  <a:fillRect l="-1509" t="-2174" r="-1509"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C9130B73-0E31-B4BE-C2F8-F8C21BE5FDEF}"/>
                  </a:ext>
                </a:extLst>
              </p:cNvPr>
              <p:cNvSpPr txBox="1"/>
              <p:nvPr/>
            </p:nvSpPr>
            <p:spPr>
              <a:xfrm>
                <a:off x="4690621" y="5270136"/>
                <a:ext cx="16735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𝜶</m:t>
                      </m:r>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oMath>
                  </m:oMathPara>
                </a14:m>
                <a:endParaRPr lang="en-SE" b="1" dirty="0"/>
              </a:p>
            </p:txBody>
          </p:sp>
        </mc:Choice>
        <mc:Fallback>
          <p:sp>
            <p:nvSpPr>
              <p:cNvPr id="42" name="TextBox 41">
                <a:extLst>
                  <a:ext uri="{FF2B5EF4-FFF2-40B4-BE49-F238E27FC236}">
                    <a16:creationId xmlns:a16="http://schemas.microsoft.com/office/drawing/2014/main" id="{C9130B73-0E31-B4BE-C2F8-F8C21BE5FDEF}"/>
                  </a:ext>
                </a:extLst>
              </p:cNvPr>
              <p:cNvSpPr txBox="1">
                <a:spLocks noRot="1" noChangeAspect="1" noMove="1" noResize="1" noEditPoints="1" noAdjustHandles="1" noChangeArrowheads="1" noChangeShapeType="1" noTextEdit="1"/>
              </p:cNvSpPr>
              <p:nvPr/>
            </p:nvSpPr>
            <p:spPr>
              <a:xfrm>
                <a:off x="4690621" y="5270136"/>
                <a:ext cx="1673535" cy="276999"/>
              </a:xfrm>
              <a:prstGeom prst="rect">
                <a:avLst/>
              </a:prstGeom>
              <a:blipFill>
                <a:blip r:embed="rId12"/>
                <a:stretch>
                  <a:fillRect l="-1818" t="-4444" r="-4727"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D2581E29-E2B1-03E0-6D05-FC964E9CF14F}"/>
                  </a:ext>
                </a:extLst>
              </p:cNvPr>
              <p:cNvSpPr txBox="1"/>
              <p:nvPr/>
            </p:nvSpPr>
            <p:spPr>
              <a:xfrm>
                <a:off x="4600496" y="5583728"/>
                <a:ext cx="205819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𝒙</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𝟒𝟒</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𝟎𝟗</m:t>
                      </m:r>
                      <m:r>
                        <a:rPr lang="en-SE" b="1" i="1" smtClean="0">
                          <a:latin typeface="Cambria Math" panose="02040503050406030204" pitchFamily="18" charset="0"/>
                        </a:rPr>
                        <m:t>)</m:t>
                      </m:r>
                    </m:oMath>
                  </m:oMathPara>
                </a14:m>
                <a:endParaRPr lang="en-SE" b="1" dirty="0"/>
              </a:p>
            </p:txBody>
          </p:sp>
        </mc:Choice>
        <mc:Fallback>
          <p:sp>
            <p:nvSpPr>
              <p:cNvPr id="43" name="TextBox 42">
                <a:extLst>
                  <a:ext uri="{FF2B5EF4-FFF2-40B4-BE49-F238E27FC236}">
                    <a16:creationId xmlns:a16="http://schemas.microsoft.com/office/drawing/2014/main" id="{D2581E29-E2B1-03E0-6D05-FC964E9CF14F}"/>
                  </a:ext>
                </a:extLst>
              </p:cNvPr>
              <p:cNvSpPr txBox="1">
                <a:spLocks noRot="1" noChangeAspect="1" noMove="1" noResize="1" noEditPoints="1" noAdjustHandles="1" noChangeArrowheads="1" noChangeShapeType="1" noTextEdit="1"/>
              </p:cNvSpPr>
              <p:nvPr/>
            </p:nvSpPr>
            <p:spPr>
              <a:xfrm>
                <a:off x="4600496" y="5583728"/>
                <a:ext cx="2058192" cy="276999"/>
              </a:xfrm>
              <a:prstGeom prst="rect">
                <a:avLst/>
              </a:prstGeom>
              <a:blipFill>
                <a:blip r:embed="rId13"/>
                <a:stretch>
                  <a:fillRect l="-3858" t="-2222" r="-4154"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DB637757-D17D-EBAE-1865-7AFF5586A80C}"/>
                  </a:ext>
                </a:extLst>
              </p:cNvPr>
              <p:cNvSpPr txBox="1"/>
              <p:nvPr/>
            </p:nvSpPr>
            <p:spPr>
              <a:xfrm>
                <a:off x="4616023" y="5897320"/>
                <a:ext cx="20469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𝒛</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𝟐𝟔</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𝟏𝟎</m:t>
                      </m:r>
                      <m:r>
                        <a:rPr lang="en-SE" b="1" i="1" smtClean="0">
                          <a:latin typeface="Cambria Math" panose="02040503050406030204" pitchFamily="18" charset="0"/>
                        </a:rPr>
                        <m:t>)</m:t>
                      </m:r>
                    </m:oMath>
                  </m:oMathPara>
                </a14:m>
                <a:endParaRPr lang="en-SE" b="1" dirty="0"/>
              </a:p>
            </p:txBody>
          </p:sp>
        </mc:Choice>
        <mc:Fallback>
          <p:sp>
            <p:nvSpPr>
              <p:cNvPr id="44" name="TextBox 43">
                <a:extLst>
                  <a:ext uri="{FF2B5EF4-FFF2-40B4-BE49-F238E27FC236}">
                    <a16:creationId xmlns:a16="http://schemas.microsoft.com/office/drawing/2014/main" id="{DB637757-D17D-EBAE-1865-7AFF5586A80C}"/>
                  </a:ext>
                </a:extLst>
              </p:cNvPr>
              <p:cNvSpPr txBox="1">
                <a:spLocks noRot="1" noChangeAspect="1" noMove="1" noResize="1" noEditPoints="1" noAdjustHandles="1" noChangeArrowheads="1" noChangeShapeType="1" noTextEdit="1"/>
              </p:cNvSpPr>
              <p:nvPr/>
            </p:nvSpPr>
            <p:spPr>
              <a:xfrm>
                <a:off x="4616023" y="5897320"/>
                <a:ext cx="2046971" cy="276999"/>
              </a:xfrm>
              <a:prstGeom prst="rect">
                <a:avLst/>
              </a:prstGeom>
              <a:blipFill>
                <a:blip r:embed="rId14"/>
                <a:stretch>
                  <a:fillRect l="-3869" t="-2174" r="-3869"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7D693DAF-99D9-E3C3-4A64-3F51EDAE92AE}"/>
                  </a:ext>
                </a:extLst>
              </p:cNvPr>
              <p:cNvSpPr txBox="1"/>
              <p:nvPr/>
            </p:nvSpPr>
            <p:spPr>
              <a:xfrm>
                <a:off x="4732202" y="6210912"/>
                <a:ext cx="158056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𝝈</m:t>
                      </m:r>
                      <m:r>
                        <a:rPr lang="en-SE" b="1" i="1" smtClean="0">
                          <a:latin typeface="Cambria Math" panose="02040503050406030204" pitchFamily="18" charset="0"/>
                        </a:rPr>
                        <m:t>∼</m:t>
                      </m:r>
                      <m:r>
                        <a:rPr lang="en-SE" b="1" i="1" smtClean="0">
                          <a:latin typeface="Cambria Math" panose="02040503050406030204" pitchFamily="18" charset="0"/>
                        </a:rPr>
                        <m:t>𝒆𝒙𝒑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𝟎𝟏</m:t>
                      </m:r>
                      <m:r>
                        <a:rPr lang="en-SE" b="1" i="1" smtClean="0">
                          <a:latin typeface="Cambria Math" panose="02040503050406030204" pitchFamily="18" charset="0"/>
                        </a:rPr>
                        <m:t>)</m:t>
                      </m:r>
                    </m:oMath>
                  </m:oMathPara>
                </a14:m>
                <a:endParaRPr lang="en-SE" b="1" dirty="0"/>
              </a:p>
            </p:txBody>
          </p:sp>
        </mc:Choice>
        <mc:Fallback>
          <p:sp>
            <p:nvSpPr>
              <p:cNvPr id="45" name="TextBox 44">
                <a:extLst>
                  <a:ext uri="{FF2B5EF4-FFF2-40B4-BE49-F238E27FC236}">
                    <a16:creationId xmlns:a16="http://schemas.microsoft.com/office/drawing/2014/main" id="{7D693DAF-99D9-E3C3-4A64-3F51EDAE92AE}"/>
                  </a:ext>
                </a:extLst>
              </p:cNvPr>
              <p:cNvSpPr txBox="1">
                <a:spLocks noRot="1" noChangeAspect="1" noMove="1" noResize="1" noEditPoints="1" noAdjustHandles="1" noChangeArrowheads="1" noChangeShapeType="1" noTextEdit="1"/>
              </p:cNvSpPr>
              <p:nvPr/>
            </p:nvSpPr>
            <p:spPr>
              <a:xfrm>
                <a:off x="4732202" y="6210912"/>
                <a:ext cx="1580561" cy="276999"/>
              </a:xfrm>
              <a:prstGeom prst="rect">
                <a:avLst/>
              </a:prstGeom>
              <a:blipFill>
                <a:blip r:embed="rId15"/>
                <a:stretch>
                  <a:fillRect l="-1923" t="-2222" r="-5000" b="-35556"/>
                </a:stretch>
              </a:blipFill>
            </p:spPr>
            <p:txBody>
              <a:bodyPr/>
              <a:lstStyle/>
              <a:p>
                <a:r>
                  <a:rPr lang="en-SE">
                    <a:noFill/>
                  </a:rPr>
                  <a:t> </a:t>
                </a:r>
              </a:p>
            </p:txBody>
          </p:sp>
        </mc:Fallback>
      </mc:AlternateContent>
      <p:pic>
        <p:nvPicPr>
          <p:cNvPr id="46" name="Graphic 45" descr="Robot with solid fill">
            <a:extLst>
              <a:ext uri="{FF2B5EF4-FFF2-40B4-BE49-F238E27FC236}">
                <a16:creationId xmlns:a16="http://schemas.microsoft.com/office/drawing/2014/main" id="{04B5A0DC-5295-1117-D5E8-994B6CAA860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58370" y="4119905"/>
            <a:ext cx="360000" cy="360000"/>
          </a:xfrm>
          <a:prstGeom prst="rect">
            <a:avLst/>
          </a:prstGeom>
        </p:spPr>
      </p:pic>
      <p:pic>
        <p:nvPicPr>
          <p:cNvPr id="47" name="Picture 46">
            <a:extLst>
              <a:ext uri="{FF2B5EF4-FFF2-40B4-BE49-F238E27FC236}">
                <a16:creationId xmlns:a16="http://schemas.microsoft.com/office/drawing/2014/main" id="{F49C00B2-5171-2CFE-E433-4C43D3FFC744}"/>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8380611" y="4337241"/>
            <a:ext cx="3409280" cy="2055801"/>
          </a:xfrm>
          <a:prstGeom prst="rect">
            <a:avLst/>
          </a:prstGeom>
        </p:spPr>
      </p:pic>
    </p:spTree>
    <p:extLst>
      <p:ext uri="{BB962C8B-B14F-4D97-AF65-F5344CB8AC3E}">
        <p14:creationId xmlns:p14="http://schemas.microsoft.com/office/powerpoint/2010/main" val="29201571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8" grpId="0" animBg="1"/>
      <p:bldP spid="35" grpId="0"/>
      <p:bldP spid="36" grpId="0"/>
      <p:bldP spid="40" grpId="0"/>
      <p:bldP spid="41" grpId="0"/>
      <p:bldP spid="42" grpId="0"/>
      <p:bldP spid="43" grpId="0"/>
      <p:bldP spid="44" grpId="0"/>
      <p:bldP spid="45"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850B4-DAFD-ABF0-3CEB-F9C1592DC528}"/>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F8733AA2-03B3-20D8-3A98-EFDDDC3A7F32}"/>
              </a:ext>
            </a:extLst>
          </p:cNvPr>
          <p:cNvSpPr>
            <a:spLocks noGrp="1"/>
          </p:cNvSpPr>
          <p:nvPr>
            <p:ph idx="1"/>
          </p:nvPr>
        </p:nvSpPr>
        <p:spPr>
          <a:xfrm>
            <a:off x="838200" y="1825625"/>
            <a:ext cx="10515600" cy="1325563"/>
          </a:xfrm>
        </p:spPr>
        <p:txBody>
          <a:bodyPr/>
          <a:lstStyle/>
          <a:p>
            <a:pPr marL="0" indent="0">
              <a:buNone/>
            </a:pPr>
            <a:r>
              <a:rPr lang="en-SE" dirty="0"/>
              <a:t>C</a:t>
            </a:r>
            <a:r>
              <a:rPr lang="de-DE" dirty="0"/>
              <a:t>o</a:t>
            </a:r>
            <a:r>
              <a:rPr lang="en-SE" dirty="0" err="1"/>
              <a:t>mparing</a:t>
            </a:r>
            <a:r>
              <a:rPr lang="en-SE" dirty="0"/>
              <a:t> the prior with the posterior predictive check should show that the predictions of the model </a:t>
            </a:r>
            <a:r>
              <a:rPr lang="en-SE" b="1" dirty="0"/>
              <a:t>grew closer </a:t>
            </a:r>
            <a:r>
              <a:rPr lang="en-SE" dirty="0"/>
              <a:t>to the actually observed data.</a:t>
            </a:r>
          </a:p>
        </p:txBody>
      </p:sp>
      <p:sp>
        <p:nvSpPr>
          <p:cNvPr id="4" name="Date Placeholder 3">
            <a:extLst>
              <a:ext uri="{FF2B5EF4-FFF2-40B4-BE49-F238E27FC236}">
                <a16:creationId xmlns:a16="http://schemas.microsoft.com/office/drawing/2014/main" id="{F373A110-0C39-D638-6D5A-E0ED4EC720A0}"/>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EE2F7113-A0C0-280F-1D2F-0E8297863521}"/>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B954FB9D-CC93-1D3E-A6AC-1145111F5D33}"/>
              </a:ext>
            </a:extLst>
          </p:cNvPr>
          <p:cNvSpPr>
            <a:spLocks noGrp="1"/>
          </p:cNvSpPr>
          <p:nvPr>
            <p:ph type="sldNum" sz="quarter" idx="12"/>
          </p:nvPr>
        </p:nvSpPr>
        <p:spPr/>
        <p:txBody>
          <a:bodyPr/>
          <a:lstStyle/>
          <a:p>
            <a:fld id="{271ECC92-9CDE-4EB3-B1C5-F46B9E1FA3C1}" type="slidenum">
              <a:rPr lang="en-SE" smtClean="0"/>
              <a:t>65</a:t>
            </a:fld>
            <a:endParaRPr lang="en-SE"/>
          </a:p>
        </p:txBody>
      </p:sp>
      <p:pic>
        <p:nvPicPr>
          <p:cNvPr id="8" name="Picture 7">
            <a:extLst>
              <a:ext uri="{FF2B5EF4-FFF2-40B4-BE49-F238E27FC236}">
                <a16:creationId xmlns:a16="http://schemas.microsoft.com/office/drawing/2014/main" id="{649FB102-8774-6CF2-86CB-094457524DED}"/>
              </a:ext>
            </a:extLst>
          </p:cNvPr>
          <p:cNvPicPr>
            <a:picLocks noChangeAspect="1"/>
          </p:cNvPicPr>
          <p:nvPr/>
        </p:nvPicPr>
        <p:blipFill>
          <a:blip r:embed="rId2"/>
          <a:stretch>
            <a:fillRect/>
          </a:stretch>
        </p:blipFill>
        <p:spPr>
          <a:xfrm>
            <a:off x="1430623" y="3778949"/>
            <a:ext cx="4301553" cy="2577401"/>
          </a:xfrm>
          <a:prstGeom prst="rect">
            <a:avLst/>
          </a:prstGeom>
        </p:spPr>
      </p:pic>
      <p:grpSp>
        <p:nvGrpSpPr>
          <p:cNvPr id="9" name="Group 8">
            <a:extLst>
              <a:ext uri="{FF2B5EF4-FFF2-40B4-BE49-F238E27FC236}">
                <a16:creationId xmlns:a16="http://schemas.microsoft.com/office/drawing/2014/main" id="{C62D30F8-D943-506F-01DA-255C44A8ED27}"/>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9C20140A-D5EE-4955-994B-2E30DF894B4B}"/>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1" name="Graphic 10" descr="Golden Ratio with solid fill">
              <a:extLst>
                <a:ext uri="{FF2B5EF4-FFF2-40B4-BE49-F238E27FC236}">
                  <a16:creationId xmlns:a16="http://schemas.microsoft.com/office/drawing/2014/main" id="{9987CA1E-F7D9-BB21-95F2-E6351D73E0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2" name="Group 11">
            <a:extLst>
              <a:ext uri="{FF2B5EF4-FFF2-40B4-BE49-F238E27FC236}">
                <a16:creationId xmlns:a16="http://schemas.microsoft.com/office/drawing/2014/main" id="{386B094B-85C5-6D35-69BF-89F6E17B5684}"/>
              </a:ext>
            </a:extLst>
          </p:cNvPr>
          <p:cNvGrpSpPr/>
          <p:nvPr/>
        </p:nvGrpSpPr>
        <p:grpSpPr>
          <a:xfrm>
            <a:off x="203635" y="2439322"/>
            <a:ext cx="504000" cy="504000"/>
            <a:chOff x="977950" y="2729564"/>
            <a:chExt cx="504000" cy="504000"/>
          </a:xfrm>
        </p:grpSpPr>
        <p:sp>
          <p:nvSpPr>
            <p:cNvPr id="13" name="Oval 12">
              <a:extLst>
                <a:ext uri="{FF2B5EF4-FFF2-40B4-BE49-F238E27FC236}">
                  <a16:creationId xmlns:a16="http://schemas.microsoft.com/office/drawing/2014/main" id="{4A51AE3B-3C4B-8A03-39F5-D16DB7A4D17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4" name="Graphic 13" descr="Normal Distribution with solid fill">
              <a:extLst>
                <a:ext uri="{FF2B5EF4-FFF2-40B4-BE49-F238E27FC236}">
                  <a16:creationId xmlns:a16="http://schemas.microsoft.com/office/drawing/2014/main" id="{D95141DB-E1A2-4811-7F89-276E2BB1105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5" name="Group 14">
            <a:extLst>
              <a:ext uri="{FF2B5EF4-FFF2-40B4-BE49-F238E27FC236}">
                <a16:creationId xmlns:a16="http://schemas.microsoft.com/office/drawing/2014/main" id="{17C94087-97A8-E59D-F22B-7CE6117BE25F}"/>
              </a:ext>
            </a:extLst>
          </p:cNvPr>
          <p:cNvGrpSpPr/>
          <p:nvPr/>
        </p:nvGrpSpPr>
        <p:grpSpPr>
          <a:xfrm>
            <a:off x="203635" y="3053019"/>
            <a:ext cx="504000" cy="504000"/>
            <a:chOff x="977950" y="2729564"/>
            <a:chExt cx="504000" cy="504000"/>
          </a:xfrm>
        </p:grpSpPr>
        <p:sp>
          <p:nvSpPr>
            <p:cNvPr id="16" name="Oval 15">
              <a:extLst>
                <a:ext uri="{FF2B5EF4-FFF2-40B4-BE49-F238E27FC236}">
                  <a16:creationId xmlns:a16="http://schemas.microsoft.com/office/drawing/2014/main" id="{C1D42669-2F1B-2EAC-4EEB-DEF9C831D16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7" name="Graphic 16" descr="Abacus with solid fill">
              <a:extLst>
                <a:ext uri="{FF2B5EF4-FFF2-40B4-BE49-F238E27FC236}">
                  <a16:creationId xmlns:a16="http://schemas.microsoft.com/office/drawing/2014/main" id="{AE4636E4-E601-1E20-6AF4-E450672DB34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E9D73184-EE3D-D5EB-9102-1C2B5B0732F3}"/>
              </a:ext>
            </a:extLst>
          </p:cNvPr>
          <p:cNvGrpSpPr/>
          <p:nvPr/>
        </p:nvGrpSpPr>
        <p:grpSpPr>
          <a:xfrm>
            <a:off x="203635" y="3666716"/>
            <a:ext cx="504000" cy="504000"/>
            <a:chOff x="977950" y="2729564"/>
            <a:chExt cx="504000" cy="504000"/>
          </a:xfrm>
        </p:grpSpPr>
        <p:sp>
          <p:nvSpPr>
            <p:cNvPr id="19" name="Oval 18">
              <a:extLst>
                <a:ext uri="{FF2B5EF4-FFF2-40B4-BE49-F238E27FC236}">
                  <a16:creationId xmlns:a16="http://schemas.microsoft.com/office/drawing/2014/main" id="{F93AE58B-61A1-49C0-D278-6AF5F1E5A3EA}"/>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0" name="Graphic 19" descr="Trigonometry with solid fill">
              <a:extLst>
                <a:ext uri="{FF2B5EF4-FFF2-40B4-BE49-F238E27FC236}">
                  <a16:creationId xmlns:a16="http://schemas.microsoft.com/office/drawing/2014/main" id="{793B4210-4470-D4AE-E779-7CBB932AF2E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1" name="Group 20">
            <a:extLst>
              <a:ext uri="{FF2B5EF4-FFF2-40B4-BE49-F238E27FC236}">
                <a16:creationId xmlns:a16="http://schemas.microsoft.com/office/drawing/2014/main" id="{62C5CF54-62AB-1954-11B8-C06ECC6CB71C}"/>
              </a:ext>
            </a:extLst>
          </p:cNvPr>
          <p:cNvGrpSpPr/>
          <p:nvPr/>
        </p:nvGrpSpPr>
        <p:grpSpPr>
          <a:xfrm>
            <a:off x="203635" y="4280414"/>
            <a:ext cx="504000" cy="504000"/>
            <a:chOff x="977950" y="2729564"/>
            <a:chExt cx="504000" cy="504000"/>
          </a:xfrm>
        </p:grpSpPr>
        <p:sp>
          <p:nvSpPr>
            <p:cNvPr id="22" name="Oval 21">
              <a:extLst>
                <a:ext uri="{FF2B5EF4-FFF2-40B4-BE49-F238E27FC236}">
                  <a16:creationId xmlns:a16="http://schemas.microsoft.com/office/drawing/2014/main" id="{BBB8352D-302D-C448-CECA-7C19F14EB7EA}"/>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Scatterplot with solid fill">
              <a:extLst>
                <a:ext uri="{FF2B5EF4-FFF2-40B4-BE49-F238E27FC236}">
                  <a16:creationId xmlns:a16="http://schemas.microsoft.com/office/drawing/2014/main" id="{C2C17329-7E02-CCA6-7139-A6DC5FC0CA6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4" name="Straight Arrow Connector 23">
            <a:extLst>
              <a:ext uri="{FF2B5EF4-FFF2-40B4-BE49-F238E27FC236}">
                <a16:creationId xmlns:a16="http://schemas.microsoft.com/office/drawing/2014/main" id="{EDCCDE8F-019C-1533-A943-BA3EE8660BE8}"/>
              </a:ext>
            </a:extLst>
          </p:cNvPr>
          <p:cNvCxnSpPr>
            <a:cxnSpLocks/>
            <a:stCxn id="10" idx="4"/>
            <a:endCxn id="1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EBA55A66-5D7E-2178-173C-33A60EB1967A}"/>
              </a:ext>
            </a:extLst>
          </p:cNvPr>
          <p:cNvCxnSpPr>
            <a:cxnSpLocks/>
            <a:stCxn id="13" idx="4"/>
            <a:endCxn id="1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D50F1967-0A8C-0C1F-0F69-F6723682B63A}"/>
              </a:ext>
            </a:extLst>
          </p:cNvPr>
          <p:cNvCxnSpPr>
            <a:cxnSpLocks/>
            <a:stCxn id="16" idx="4"/>
            <a:endCxn id="1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BAF0007B-7E43-631A-8B38-B3E289689EAF}"/>
              </a:ext>
            </a:extLst>
          </p:cNvPr>
          <p:cNvCxnSpPr>
            <a:cxnSpLocks/>
            <a:stCxn id="19" idx="4"/>
            <a:endCxn id="2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78B9E57B-8D22-5FEF-6F51-4CF123C3077A}"/>
              </a:ext>
            </a:extLst>
          </p:cNvPr>
          <p:cNvSpPr txBox="1"/>
          <p:nvPr/>
        </p:nvSpPr>
        <p:spPr>
          <a:xfrm>
            <a:off x="1781908" y="3331440"/>
            <a:ext cx="2774349" cy="400110"/>
          </a:xfrm>
          <a:prstGeom prst="rect">
            <a:avLst/>
          </a:prstGeom>
          <a:noFill/>
        </p:spPr>
        <p:txBody>
          <a:bodyPr wrap="none" rtlCol="0">
            <a:spAutoFit/>
          </a:bodyPr>
          <a:lstStyle/>
          <a:p>
            <a:pPr algn="ctr"/>
            <a:r>
              <a:rPr lang="en-SE" sz="2000" b="1" dirty="0"/>
              <a:t>Prior Predictive Check</a:t>
            </a:r>
          </a:p>
        </p:txBody>
      </p:sp>
      <p:sp>
        <p:nvSpPr>
          <p:cNvPr id="30" name="TextBox 29">
            <a:extLst>
              <a:ext uri="{FF2B5EF4-FFF2-40B4-BE49-F238E27FC236}">
                <a16:creationId xmlns:a16="http://schemas.microsoft.com/office/drawing/2014/main" id="{492444BB-ADA2-B782-8D8E-35FC89D37297}"/>
              </a:ext>
            </a:extLst>
          </p:cNvPr>
          <p:cNvSpPr txBox="1"/>
          <p:nvPr/>
        </p:nvSpPr>
        <p:spPr>
          <a:xfrm>
            <a:off x="7136338" y="3331440"/>
            <a:ext cx="3279616" cy="400110"/>
          </a:xfrm>
          <a:prstGeom prst="rect">
            <a:avLst/>
          </a:prstGeom>
          <a:noFill/>
        </p:spPr>
        <p:txBody>
          <a:bodyPr wrap="none" rtlCol="0">
            <a:spAutoFit/>
          </a:bodyPr>
          <a:lstStyle/>
          <a:p>
            <a:pPr algn="ctr"/>
            <a:r>
              <a:rPr lang="en-SE" sz="2000" b="1" dirty="0"/>
              <a:t>Posterior Predictive Check</a:t>
            </a:r>
          </a:p>
        </p:txBody>
      </p:sp>
      <p:pic>
        <p:nvPicPr>
          <p:cNvPr id="32" name="Picture 31">
            <a:extLst>
              <a:ext uri="{FF2B5EF4-FFF2-40B4-BE49-F238E27FC236}">
                <a16:creationId xmlns:a16="http://schemas.microsoft.com/office/drawing/2014/main" id="{A79CAA81-00CF-C71A-CC12-FC59BB61A4DE}"/>
              </a:ext>
            </a:extLst>
          </p:cNvPr>
          <p:cNvPicPr>
            <a:picLocks noChangeAspect="1"/>
          </p:cNvPicPr>
          <p:nvPr/>
        </p:nvPicPr>
        <p:blipFill>
          <a:blip r:embed="rId8"/>
          <a:stretch>
            <a:fillRect/>
          </a:stretch>
        </p:blipFill>
        <p:spPr>
          <a:xfrm>
            <a:off x="6894779" y="3666716"/>
            <a:ext cx="4459021" cy="2688796"/>
          </a:xfrm>
          <a:prstGeom prst="rect">
            <a:avLst/>
          </a:prstGeom>
        </p:spPr>
      </p:pic>
    </p:spTree>
    <p:extLst>
      <p:ext uri="{BB962C8B-B14F-4D97-AF65-F5344CB8AC3E}">
        <p14:creationId xmlns:p14="http://schemas.microsoft.com/office/powerpoint/2010/main" val="240535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EB07F-FF70-B3DE-6F6F-4ED3EBB0B6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6DD8E-51A8-2E27-E097-560204EA6F4F}"/>
              </a:ext>
            </a:extLst>
          </p:cNvPr>
          <p:cNvSpPr>
            <a:spLocks noGrp="1"/>
          </p:cNvSpPr>
          <p:nvPr>
            <p:ph type="title"/>
          </p:nvPr>
        </p:nvSpPr>
        <p:spPr/>
        <p:txBody>
          <a:bodyPr/>
          <a:lstStyle/>
          <a:p>
            <a:r>
              <a:rPr lang="en-SE" dirty="0"/>
              <a:t>Assessing the Training</a:t>
            </a:r>
          </a:p>
        </p:txBody>
      </p:sp>
      <p:sp>
        <p:nvSpPr>
          <p:cNvPr id="3" name="Content Placeholder 2">
            <a:extLst>
              <a:ext uri="{FF2B5EF4-FFF2-40B4-BE49-F238E27FC236}">
                <a16:creationId xmlns:a16="http://schemas.microsoft.com/office/drawing/2014/main" id="{41A5F983-5824-27E8-0D5D-7CCED5B1B8B8}"/>
              </a:ext>
            </a:extLst>
          </p:cNvPr>
          <p:cNvSpPr>
            <a:spLocks noGrp="1"/>
          </p:cNvSpPr>
          <p:nvPr>
            <p:ph idx="1"/>
          </p:nvPr>
        </p:nvSpPr>
        <p:spPr>
          <a:xfrm>
            <a:off x="838200" y="1825625"/>
            <a:ext cx="10515600" cy="1325563"/>
          </a:xfrm>
        </p:spPr>
        <p:txBody>
          <a:bodyPr/>
          <a:lstStyle/>
          <a:p>
            <a:pPr marL="0" indent="0">
              <a:buNone/>
            </a:pPr>
            <a:r>
              <a:rPr lang="en-SE" dirty="0"/>
              <a:t>C</a:t>
            </a:r>
            <a:r>
              <a:rPr lang="de-DE" dirty="0"/>
              <a:t>o</a:t>
            </a:r>
            <a:r>
              <a:rPr lang="en-SE" dirty="0" err="1"/>
              <a:t>mparing</a:t>
            </a:r>
            <a:r>
              <a:rPr lang="en-SE" dirty="0"/>
              <a:t> the prior with the posterior predictive check should show that the predictions of the model </a:t>
            </a:r>
            <a:r>
              <a:rPr lang="en-SE" b="1" dirty="0"/>
              <a:t>grew closer </a:t>
            </a:r>
            <a:r>
              <a:rPr lang="en-SE" dirty="0"/>
              <a:t>to the actually observed data.</a:t>
            </a:r>
          </a:p>
        </p:txBody>
      </p:sp>
      <p:sp>
        <p:nvSpPr>
          <p:cNvPr id="4" name="Date Placeholder 3">
            <a:extLst>
              <a:ext uri="{FF2B5EF4-FFF2-40B4-BE49-F238E27FC236}">
                <a16:creationId xmlns:a16="http://schemas.microsoft.com/office/drawing/2014/main" id="{B59E4353-BFD6-0E7B-7FAD-9B1B9177FAF2}"/>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924DD3FC-827D-18D0-FED1-FFF59EA8A81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6ACED708-F4C9-B91E-E21C-15867C908F9C}"/>
              </a:ext>
            </a:extLst>
          </p:cNvPr>
          <p:cNvSpPr>
            <a:spLocks noGrp="1"/>
          </p:cNvSpPr>
          <p:nvPr>
            <p:ph type="sldNum" sz="quarter" idx="12"/>
          </p:nvPr>
        </p:nvSpPr>
        <p:spPr/>
        <p:txBody>
          <a:bodyPr/>
          <a:lstStyle/>
          <a:p>
            <a:fld id="{271ECC92-9CDE-4EB3-B1C5-F46B9E1FA3C1}" type="slidenum">
              <a:rPr lang="en-SE" smtClean="0"/>
              <a:t>66</a:t>
            </a:fld>
            <a:endParaRPr lang="en-SE"/>
          </a:p>
        </p:txBody>
      </p:sp>
      <p:grpSp>
        <p:nvGrpSpPr>
          <p:cNvPr id="9" name="Group 8">
            <a:extLst>
              <a:ext uri="{FF2B5EF4-FFF2-40B4-BE49-F238E27FC236}">
                <a16:creationId xmlns:a16="http://schemas.microsoft.com/office/drawing/2014/main" id="{4385A601-E24B-85DA-9918-D306EE77D9D5}"/>
              </a:ext>
            </a:extLst>
          </p:cNvPr>
          <p:cNvGrpSpPr/>
          <p:nvPr/>
        </p:nvGrpSpPr>
        <p:grpSpPr>
          <a:xfrm>
            <a:off x="203635" y="1825625"/>
            <a:ext cx="504000" cy="504000"/>
            <a:chOff x="977950" y="2729564"/>
            <a:chExt cx="504000" cy="504000"/>
          </a:xfrm>
        </p:grpSpPr>
        <p:sp>
          <p:nvSpPr>
            <p:cNvPr id="10" name="Oval 9">
              <a:extLst>
                <a:ext uri="{FF2B5EF4-FFF2-40B4-BE49-F238E27FC236}">
                  <a16:creationId xmlns:a16="http://schemas.microsoft.com/office/drawing/2014/main" id="{73DC2CB9-2DE4-AF88-977C-353AB9DEFBB8}"/>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1" name="Graphic 10" descr="Golden Ratio with solid fill">
              <a:extLst>
                <a:ext uri="{FF2B5EF4-FFF2-40B4-BE49-F238E27FC236}">
                  <a16:creationId xmlns:a16="http://schemas.microsoft.com/office/drawing/2014/main" id="{8BF823B3-BC7B-59C7-E2A4-442DB38410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2" name="Group 11">
            <a:extLst>
              <a:ext uri="{FF2B5EF4-FFF2-40B4-BE49-F238E27FC236}">
                <a16:creationId xmlns:a16="http://schemas.microsoft.com/office/drawing/2014/main" id="{869AEC8D-260A-8C69-7605-6A0CF7C0694E}"/>
              </a:ext>
            </a:extLst>
          </p:cNvPr>
          <p:cNvGrpSpPr/>
          <p:nvPr/>
        </p:nvGrpSpPr>
        <p:grpSpPr>
          <a:xfrm>
            <a:off x="203635" y="2439322"/>
            <a:ext cx="504000" cy="504000"/>
            <a:chOff x="977950" y="2729564"/>
            <a:chExt cx="504000" cy="504000"/>
          </a:xfrm>
        </p:grpSpPr>
        <p:sp>
          <p:nvSpPr>
            <p:cNvPr id="13" name="Oval 12">
              <a:extLst>
                <a:ext uri="{FF2B5EF4-FFF2-40B4-BE49-F238E27FC236}">
                  <a16:creationId xmlns:a16="http://schemas.microsoft.com/office/drawing/2014/main" id="{8384E804-181C-2CF3-96ED-CDBBF4BAE4E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4" name="Graphic 13" descr="Normal Distribution with solid fill">
              <a:extLst>
                <a:ext uri="{FF2B5EF4-FFF2-40B4-BE49-F238E27FC236}">
                  <a16:creationId xmlns:a16="http://schemas.microsoft.com/office/drawing/2014/main" id="{40D428A2-42F3-37A9-F7DE-18230BB4683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5" name="Group 14">
            <a:extLst>
              <a:ext uri="{FF2B5EF4-FFF2-40B4-BE49-F238E27FC236}">
                <a16:creationId xmlns:a16="http://schemas.microsoft.com/office/drawing/2014/main" id="{349AD791-4A28-D4D0-219C-558544C0B4DF}"/>
              </a:ext>
            </a:extLst>
          </p:cNvPr>
          <p:cNvGrpSpPr/>
          <p:nvPr/>
        </p:nvGrpSpPr>
        <p:grpSpPr>
          <a:xfrm>
            <a:off x="203635" y="3053019"/>
            <a:ext cx="504000" cy="504000"/>
            <a:chOff x="977950" y="2729564"/>
            <a:chExt cx="504000" cy="504000"/>
          </a:xfrm>
        </p:grpSpPr>
        <p:sp>
          <p:nvSpPr>
            <p:cNvPr id="16" name="Oval 15">
              <a:extLst>
                <a:ext uri="{FF2B5EF4-FFF2-40B4-BE49-F238E27FC236}">
                  <a16:creationId xmlns:a16="http://schemas.microsoft.com/office/drawing/2014/main" id="{E3546CC7-5B63-D5F2-C824-95C1B91A952C}"/>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7" name="Graphic 16" descr="Abacus with solid fill">
              <a:extLst>
                <a:ext uri="{FF2B5EF4-FFF2-40B4-BE49-F238E27FC236}">
                  <a16:creationId xmlns:a16="http://schemas.microsoft.com/office/drawing/2014/main" id="{5D1416F5-13B9-DC8B-2380-9610A1C1006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8" name="Group 17">
            <a:extLst>
              <a:ext uri="{FF2B5EF4-FFF2-40B4-BE49-F238E27FC236}">
                <a16:creationId xmlns:a16="http://schemas.microsoft.com/office/drawing/2014/main" id="{06415814-0F5F-0BF5-E6BA-8CBBD768855A}"/>
              </a:ext>
            </a:extLst>
          </p:cNvPr>
          <p:cNvGrpSpPr/>
          <p:nvPr/>
        </p:nvGrpSpPr>
        <p:grpSpPr>
          <a:xfrm>
            <a:off x="203635" y="3666716"/>
            <a:ext cx="504000" cy="504000"/>
            <a:chOff x="977950" y="2729564"/>
            <a:chExt cx="504000" cy="504000"/>
          </a:xfrm>
        </p:grpSpPr>
        <p:sp>
          <p:nvSpPr>
            <p:cNvPr id="19" name="Oval 18">
              <a:extLst>
                <a:ext uri="{FF2B5EF4-FFF2-40B4-BE49-F238E27FC236}">
                  <a16:creationId xmlns:a16="http://schemas.microsoft.com/office/drawing/2014/main" id="{154DEE4B-70AB-5A95-5D68-3E1BAB7D4DCC}"/>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0" name="Graphic 19" descr="Trigonometry with solid fill">
              <a:extLst>
                <a:ext uri="{FF2B5EF4-FFF2-40B4-BE49-F238E27FC236}">
                  <a16:creationId xmlns:a16="http://schemas.microsoft.com/office/drawing/2014/main" id="{FAA81248-DF84-BD35-3856-1247FF86C7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21" name="Group 20">
            <a:extLst>
              <a:ext uri="{FF2B5EF4-FFF2-40B4-BE49-F238E27FC236}">
                <a16:creationId xmlns:a16="http://schemas.microsoft.com/office/drawing/2014/main" id="{B17B399C-3105-AF3E-50D0-A38EAD0F07CC}"/>
              </a:ext>
            </a:extLst>
          </p:cNvPr>
          <p:cNvGrpSpPr/>
          <p:nvPr/>
        </p:nvGrpSpPr>
        <p:grpSpPr>
          <a:xfrm>
            <a:off x="203635" y="4280414"/>
            <a:ext cx="504000" cy="504000"/>
            <a:chOff x="977950" y="2729564"/>
            <a:chExt cx="504000" cy="504000"/>
          </a:xfrm>
        </p:grpSpPr>
        <p:sp>
          <p:nvSpPr>
            <p:cNvPr id="22" name="Oval 21">
              <a:extLst>
                <a:ext uri="{FF2B5EF4-FFF2-40B4-BE49-F238E27FC236}">
                  <a16:creationId xmlns:a16="http://schemas.microsoft.com/office/drawing/2014/main" id="{A149DCDB-10D1-4080-0247-DBD3DAAFD3E6}"/>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3" name="Graphic 22" descr="Scatterplot with solid fill">
              <a:extLst>
                <a:ext uri="{FF2B5EF4-FFF2-40B4-BE49-F238E27FC236}">
                  <a16:creationId xmlns:a16="http://schemas.microsoft.com/office/drawing/2014/main" id="{D5D536A4-DD6A-1DD8-CE29-76467455F4D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4" name="Straight Arrow Connector 23">
            <a:extLst>
              <a:ext uri="{FF2B5EF4-FFF2-40B4-BE49-F238E27FC236}">
                <a16:creationId xmlns:a16="http://schemas.microsoft.com/office/drawing/2014/main" id="{2789692D-B8CA-2DA2-1A4C-2FAF3EF17BC1}"/>
              </a:ext>
            </a:extLst>
          </p:cNvPr>
          <p:cNvCxnSpPr>
            <a:cxnSpLocks/>
            <a:stCxn id="10" idx="4"/>
            <a:endCxn id="13"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36683BB2-80C7-4D18-C55A-C72C7951DF0B}"/>
              </a:ext>
            </a:extLst>
          </p:cNvPr>
          <p:cNvCxnSpPr>
            <a:cxnSpLocks/>
            <a:stCxn id="13" idx="4"/>
            <a:endCxn id="16"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C8EB3318-7723-1469-F9B8-D11C8B58DDAD}"/>
              </a:ext>
            </a:extLst>
          </p:cNvPr>
          <p:cNvCxnSpPr>
            <a:cxnSpLocks/>
            <a:stCxn id="16" idx="4"/>
            <a:endCxn id="19"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31E1045-F475-B218-2F0C-A9F04B8A181A}"/>
              </a:ext>
            </a:extLst>
          </p:cNvPr>
          <p:cNvCxnSpPr>
            <a:cxnSpLocks/>
            <a:stCxn id="19" idx="4"/>
            <a:endCxn id="22"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2" name="Picture 31">
            <a:extLst>
              <a:ext uri="{FF2B5EF4-FFF2-40B4-BE49-F238E27FC236}">
                <a16:creationId xmlns:a16="http://schemas.microsoft.com/office/drawing/2014/main" id="{237A4467-850D-0A8B-7CB5-5F0AF974D4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34008" y="3163902"/>
            <a:ext cx="6548192" cy="3241024"/>
          </a:xfrm>
          <a:prstGeom prst="rect">
            <a:avLst/>
          </a:prstGeom>
        </p:spPr>
      </p:pic>
    </p:spTree>
    <p:extLst>
      <p:ext uri="{BB962C8B-B14F-4D97-AF65-F5344CB8AC3E}">
        <p14:creationId xmlns:p14="http://schemas.microsoft.com/office/powerpoint/2010/main" val="1061785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2C109-FB89-C91E-D251-03761A117AF0}"/>
              </a:ext>
            </a:extLst>
          </p:cNvPr>
          <p:cNvSpPr>
            <a:spLocks noGrp="1"/>
          </p:cNvSpPr>
          <p:nvPr>
            <p:ph type="title"/>
          </p:nvPr>
        </p:nvSpPr>
        <p:spPr/>
        <p:txBody>
          <a:bodyPr/>
          <a:lstStyle/>
          <a:p>
            <a:r>
              <a:rPr lang="en-SE" dirty="0"/>
              <a:t>Interpreting the Results</a:t>
            </a:r>
          </a:p>
        </p:txBody>
      </p:sp>
      <p:sp>
        <p:nvSpPr>
          <p:cNvPr id="3" name="Content Placeholder 2">
            <a:extLst>
              <a:ext uri="{FF2B5EF4-FFF2-40B4-BE49-F238E27FC236}">
                <a16:creationId xmlns:a16="http://schemas.microsoft.com/office/drawing/2014/main" id="{7CA3E558-1671-389D-80CE-AFC2CCBC20C9}"/>
              </a:ext>
            </a:extLst>
          </p:cNvPr>
          <p:cNvSpPr>
            <a:spLocks noGrp="1"/>
          </p:cNvSpPr>
          <p:nvPr>
            <p:ph idx="1"/>
          </p:nvPr>
        </p:nvSpPr>
        <p:spPr>
          <a:xfrm>
            <a:off x="838200" y="1825625"/>
            <a:ext cx="10515600" cy="1063697"/>
          </a:xfrm>
        </p:spPr>
        <p:txBody>
          <a:bodyPr/>
          <a:lstStyle/>
          <a:p>
            <a:pPr marL="0" indent="0">
              <a:buNone/>
            </a:pPr>
            <a:r>
              <a:rPr lang="en-SE" dirty="0"/>
              <a:t>After the Bayesian updating, the prior probability distributions have been updated to better reflect the observed data.</a:t>
            </a:r>
          </a:p>
        </p:txBody>
      </p:sp>
      <p:sp>
        <p:nvSpPr>
          <p:cNvPr id="4" name="Date Placeholder 3">
            <a:extLst>
              <a:ext uri="{FF2B5EF4-FFF2-40B4-BE49-F238E27FC236}">
                <a16:creationId xmlns:a16="http://schemas.microsoft.com/office/drawing/2014/main" id="{F1F14D9B-BD08-3BF5-CF8D-AA3B0D343BEB}"/>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8751681-5D08-55CB-D5BC-901A35D2E894}"/>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EA5893C4-1FA9-664F-02CA-ECC18985D67B}"/>
              </a:ext>
            </a:extLst>
          </p:cNvPr>
          <p:cNvSpPr>
            <a:spLocks noGrp="1"/>
          </p:cNvSpPr>
          <p:nvPr>
            <p:ph type="sldNum" sz="quarter" idx="12"/>
          </p:nvPr>
        </p:nvSpPr>
        <p:spPr/>
        <p:txBody>
          <a:bodyPr/>
          <a:lstStyle/>
          <a:p>
            <a:fld id="{271ECC92-9CDE-4EB3-B1C5-F46B9E1FA3C1}" type="slidenum">
              <a:rPr lang="en-SE" smtClean="0"/>
              <a:t>67</a:t>
            </a:fld>
            <a:endParaRPr lang="en-SE"/>
          </a:p>
        </p:txBody>
      </p:sp>
      <p:grpSp>
        <p:nvGrpSpPr>
          <p:cNvPr id="7" name="Group 6">
            <a:extLst>
              <a:ext uri="{FF2B5EF4-FFF2-40B4-BE49-F238E27FC236}">
                <a16:creationId xmlns:a16="http://schemas.microsoft.com/office/drawing/2014/main" id="{BB5B1D52-383A-B9AA-94ED-4588C3418147}"/>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AA47B2EF-BCF0-41D6-BA3F-E8D9C743D5EB}"/>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E9F3A5EB-9B0A-9397-DC18-A849BD05E0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05668E17-62DD-D4D1-A7F6-943A7869269F}"/>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28AEF51D-669F-870B-B57A-EC3C3A601E8E}"/>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5644B27F-88B7-61B0-B574-434B1686407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6A265283-7F0C-B9D8-F267-E7DE4139DBBD}"/>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B87C4F0B-EE3D-E396-6A4F-E7494DA99EB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DC142258-BB3B-31E3-A802-CBDBC879FB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6AEB191D-C314-FD8F-6C1C-C1E616D09D6C}"/>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480B1AA1-BD5F-39AD-61B3-ACD89477A18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D9B94ACB-323C-582F-1505-066D614B768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C82EA1C8-8739-74F6-7517-5E00AB1C607D}"/>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3111539B-22E5-2C85-84C8-E3E2084782CF}"/>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C964D241-53F2-3100-6F7D-D6CBFA07A77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C685EF79-9586-F5D4-FAC7-8C6233F97857}"/>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81EE9806-2A4D-9C05-C575-9B28E8D994E9}"/>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483A13B8-0FC3-3EFB-AB07-BBF77C2ECAE6}"/>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B1E3215D-49E8-6630-BDDF-77812911A440}"/>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34" name="Group 33">
            <a:extLst>
              <a:ext uri="{FF2B5EF4-FFF2-40B4-BE49-F238E27FC236}">
                <a16:creationId xmlns:a16="http://schemas.microsoft.com/office/drawing/2014/main" id="{D722DEF1-1BA0-6D6A-81D5-FE1FADD5EDDD}"/>
              </a:ext>
            </a:extLst>
          </p:cNvPr>
          <p:cNvGrpSpPr/>
          <p:nvPr/>
        </p:nvGrpSpPr>
        <p:grpSpPr>
          <a:xfrm>
            <a:off x="7195195" y="3449338"/>
            <a:ext cx="3626251" cy="2483604"/>
            <a:chOff x="4526136" y="4040899"/>
            <a:chExt cx="3626251" cy="2483604"/>
          </a:xfrm>
        </p:grpSpPr>
        <p:sp>
          <p:nvSpPr>
            <p:cNvPr id="26" name="Rectangle: Rounded Corners 25">
              <a:extLst>
                <a:ext uri="{FF2B5EF4-FFF2-40B4-BE49-F238E27FC236}">
                  <a16:creationId xmlns:a16="http://schemas.microsoft.com/office/drawing/2014/main" id="{5564CE98-6005-64EE-5F8F-C2CE1076EF07}"/>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 (posterior)</a:t>
              </a:r>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520ABF6C-D302-BB89-C22B-71EA256AF8A3}"/>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p:sp>
              <p:nvSpPr>
                <p:cNvPr id="27" name="TextBox 26">
                  <a:extLst>
                    <a:ext uri="{FF2B5EF4-FFF2-40B4-BE49-F238E27FC236}">
                      <a16:creationId xmlns:a16="http://schemas.microsoft.com/office/drawing/2014/main" id="{520ABF6C-D302-BB89-C22B-71EA256AF8A3}"/>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7"/>
                  <a:stretch>
                    <a:fillRect l="-4663" t="-4444" r="-6736"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30D05707-537F-C257-F97B-D068F304B924}"/>
                    </a:ext>
                  </a:extLst>
                </p:cNvPr>
                <p:cNvSpPr txBox="1"/>
                <p:nvPr/>
              </p:nvSpPr>
              <p:spPr>
                <a:xfrm>
                  <a:off x="4685494" y="4956544"/>
                  <a:ext cx="224708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0" i="1" smtClean="0">
                            <a:latin typeface="Cambria Math" panose="02040503050406030204" pitchFamily="18" charset="0"/>
                          </a:rPr>
                          <m:t>𝑥</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r>
                          <a:rPr lang="en-SE" b="0" i="1" smtClean="0">
                            <a:latin typeface="Cambria Math" panose="02040503050406030204" pitchFamily="18" charset="0"/>
                          </a:rPr>
                          <m:t>𝑧</m:t>
                        </m:r>
                      </m:oMath>
                    </m:oMathPara>
                  </a14:m>
                  <a:endParaRPr lang="en-SE" dirty="0"/>
                </a:p>
              </p:txBody>
            </p:sp>
          </mc:Choice>
          <mc:Fallback>
            <p:sp>
              <p:nvSpPr>
                <p:cNvPr id="28" name="TextBox 27">
                  <a:extLst>
                    <a:ext uri="{FF2B5EF4-FFF2-40B4-BE49-F238E27FC236}">
                      <a16:creationId xmlns:a16="http://schemas.microsoft.com/office/drawing/2014/main" id="{30D05707-537F-C257-F97B-D068F304B924}"/>
                    </a:ext>
                  </a:extLst>
                </p:cNvPr>
                <p:cNvSpPr txBox="1">
                  <a:spLocks noRot="1" noChangeAspect="1" noMove="1" noResize="1" noEditPoints="1" noAdjustHandles="1" noChangeArrowheads="1" noChangeShapeType="1" noTextEdit="1"/>
                </p:cNvSpPr>
                <p:nvPr/>
              </p:nvSpPr>
              <p:spPr>
                <a:xfrm>
                  <a:off x="4685494" y="4956544"/>
                  <a:ext cx="2247089" cy="276999"/>
                </a:xfrm>
                <a:prstGeom prst="rect">
                  <a:avLst/>
                </a:prstGeom>
                <a:blipFill>
                  <a:blip r:embed="rId8"/>
                  <a:stretch>
                    <a:fillRect l="-2168" t="-2222" r="-813"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05FFAFDF-5127-303B-C8E9-BAFBCCD8FF3C}"/>
                    </a:ext>
                  </a:extLst>
                </p:cNvPr>
                <p:cNvSpPr txBox="1"/>
                <p:nvPr/>
              </p:nvSpPr>
              <p:spPr>
                <a:xfrm>
                  <a:off x="4690621" y="5270136"/>
                  <a:ext cx="16735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𝜶</m:t>
                        </m:r>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oMath>
                    </m:oMathPara>
                  </a14:m>
                  <a:endParaRPr lang="en-SE" b="1" dirty="0"/>
                </a:p>
              </p:txBody>
            </p:sp>
          </mc:Choice>
          <mc:Fallback>
            <p:sp>
              <p:nvSpPr>
                <p:cNvPr id="29" name="TextBox 28">
                  <a:extLst>
                    <a:ext uri="{FF2B5EF4-FFF2-40B4-BE49-F238E27FC236}">
                      <a16:creationId xmlns:a16="http://schemas.microsoft.com/office/drawing/2014/main" id="{05FFAFDF-5127-303B-C8E9-BAFBCCD8FF3C}"/>
                    </a:ext>
                  </a:extLst>
                </p:cNvPr>
                <p:cNvSpPr txBox="1">
                  <a:spLocks noRot="1" noChangeAspect="1" noMove="1" noResize="1" noEditPoints="1" noAdjustHandles="1" noChangeArrowheads="1" noChangeShapeType="1" noTextEdit="1"/>
                </p:cNvSpPr>
                <p:nvPr/>
              </p:nvSpPr>
              <p:spPr>
                <a:xfrm>
                  <a:off x="4690621" y="5270136"/>
                  <a:ext cx="1673535" cy="276999"/>
                </a:xfrm>
                <a:prstGeom prst="rect">
                  <a:avLst/>
                </a:prstGeom>
                <a:blipFill>
                  <a:blip r:embed="rId9"/>
                  <a:stretch>
                    <a:fillRect l="-1818" t="-2174" r="-4727"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894E81A-125A-F990-19B3-30BD47853D9E}"/>
                    </a:ext>
                  </a:extLst>
                </p:cNvPr>
                <p:cNvSpPr txBox="1"/>
                <p:nvPr/>
              </p:nvSpPr>
              <p:spPr>
                <a:xfrm>
                  <a:off x="4600496" y="5583728"/>
                  <a:ext cx="205819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𝒙</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𝟒𝟒</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𝟎𝟗</m:t>
                        </m:r>
                        <m:r>
                          <a:rPr lang="en-SE" b="1" i="1" smtClean="0">
                            <a:latin typeface="Cambria Math" panose="02040503050406030204" pitchFamily="18" charset="0"/>
                          </a:rPr>
                          <m:t>)</m:t>
                        </m:r>
                      </m:oMath>
                    </m:oMathPara>
                  </a14:m>
                  <a:endParaRPr lang="en-SE" b="1" dirty="0"/>
                </a:p>
              </p:txBody>
            </p:sp>
          </mc:Choice>
          <mc:Fallback>
            <p:sp>
              <p:nvSpPr>
                <p:cNvPr id="30" name="TextBox 29">
                  <a:extLst>
                    <a:ext uri="{FF2B5EF4-FFF2-40B4-BE49-F238E27FC236}">
                      <a16:creationId xmlns:a16="http://schemas.microsoft.com/office/drawing/2014/main" id="{A894E81A-125A-F990-19B3-30BD47853D9E}"/>
                    </a:ext>
                  </a:extLst>
                </p:cNvPr>
                <p:cNvSpPr txBox="1">
                  <a:spLocks noRot="1" noChangeAspect="1" noMove="1" noResize="1" noEditPoints="1" noAdjustHandles="1" noChangeArrowheads="1" noChangeShapeType="1" noTextEdit="1"/>
                </p:cNvSpPr>
                <p:nvPr/>
              </p:nvSpPr>
              <p:spPr>
                <a:xfrm>
                  <a:off x="4600496" y="5583728"/>
                  <a:ext cx="2058192" cy="276999"/>
                </a:xfrm>
                <a:prstGeom prst="rect">
                  <a:avLst/>
                </a:prstGeom>
                <a:blipFill>
                  <a:blip r:embed="rId10"/>
                  <a:stretch>
                    <a:fillRect l="-3858" t="-2222" r="-4154"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F257BF47-4899-1C37-4B33-0AB7517C4393}"/>
                    </a:ext>
                  </a:extLst>
                </p:cNvPr>
                <p:cNvSpPr txBox="1"/>
                <p:nvPr/>
              </p:nvSpPr>
              <p:spPr>
                <a:xfrm>
                  <a:off x="4616023" y="5897320"/>
                  <a:ext cx="20469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1" i="1" smtClean="0">
                                <a:latin typeface="Cambria Math" panose="02040503050406030204" pitchFamily="18" charset="0"/>
                              </a:rPr>
                            </m:ctrlPr>
                          </m:sSubPr>
                          <m:e>
                            <m:r>
                              <a:rPr lang="en-SE" b="1" i="1" smtClean="0">
                                <a:latin typeface="Cambria Math" panose="02040503050406030204" pitchFamily="18" charset="0"/>
                              </a:rPr>
                              <m:t>𝜷</m:t>
                            </m:r>
                          </m:e>
                          <m:sub>
                            <m:r>
                              <a:rPr lang="en-SE" b="1" i="1" smtClean="0">
                                <a:latin typeface="Cambria Math" panose="02040503050406030204" pitchFamily="18" charset="0"/>
                              </a:rPr>
                              <m:t>𝒛</m:t>
                            </m:r>
                          </m:sub>
                        </m:sSub>
                        <m:r>
                          <a:rPr lang="en-SE" b="1" i="1" smtClean="0">
                            <a:latin typeface="Cambria Math" panose="02040503050406030204" pitchFamily="18" charset="0"/>
                          </a:rPr>
                          <m:t>∼</m:t>
                        </m:r>
                        <m:r>
                          <a:rPr lang="en-SE" b="1" i="1" smtClean="0">
                            <a:latin typeface="Cambria Math" panose="02040503050406030204" pitchFamily="18" charset="0"/>
                          </a:rPr>
                          <m:t>𝑵</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𝟐𝟔</m:t>
                        </m:r>
                        <m:r>
                          <a:rPr lang="en-SE" b="1" i="1" smtClean="0">
                            <a:latin typeface="Cambria Math" panose="02040503050406030204" pitchFamily="18" charset="0"/>
                          </a:rPr>
                          <m:t>, </m:t>
                        </m:r>
                        <m:r>
                          <a:rPr lang="en-SE" b="1" i="1" smtClean="0">
                            <a:latin typeface="Cambria Math" panose="02040503050406030204" pitchFamily="18" charset="0"/>
                          </a:rPr>
                          <m:t>𝟎</m:t>
                        </m:r>
                        <m:r>
                          <a:rPr lang="en-SE" b="1" i="1" smtClean="0">
                            <a:latin typeface="Cambria Math" panose="02040503050406030204" pitchFamily="18" charset="0"/>
                          </a:rPr>
                          <m:t>.</m:t>
                        </m:r>
                        <m:r>
                          <a:rPr lang="en-SE" b="1" i="1" smtClean="0">
                            <a:latin typeface="Cambria Math" panose="02040503050406030204" pitchFamily="18" charset="0"/>
                          </a:rPr>
                          <m:t>𝟏𝟎</m:t>
                        </m:r>
                        <m:r>
                          <a:rPr lang="en-SE" b="1" i="1" smtClean="0">
                            <a:latin typeface="Cambria Math" panose="02040503050406030204" pitchFamily="18" charset="0"/>
                          </a:rPr>
                          <m:t>)</m:t>
                        </m:r>
                      </m:oMath>
                    </m:oMathPara>
                  </a14:m>
                  <a:endParaRPr lang="en-SE" b="1" dirty="0"/>
                </a:p>
              </p:txBody>
            </p:sp>
          </mc:Choice>
          <mc:Fallback>
            <p:sp>
              <p:nvSpPr>
                <p:cNvPr id="31" name="TextBox 30">
                  <a:extLst>
                    <a:ext uri="{FF2B5EF4-FFF2-40B4-BE49-F238E27FC236}">
                      <a16:creationId xmlns:a16="http://schemas.microsoft.com/office/drawing/2014/main" id="{F257BF47-4899-1C37-4B33-0AB7517C4393}"/>
                    </a:ext>
                  </a:extLst>
                </p:cNvPr>
                <p:cNvSpPr txBox="1">
                  <a:spLocks noRot="1" noChangeAspect="1" noMove="1" noResize="1" noEditPoints="1" noAdjustHandles="1" noChangeArrowheads="1" noChangeShapeType="1" noTextEdit="1"/>
                </p:cNvSpPr>
                <p:nvPr/>
              </p:nvSpPr>
              <p:spPr>
                <a:xfrm>
                  <a:off x="4616023" y="5897320"/>
                  <a:ext cx="2046971" cy="276999"/>
                </a:xfrm>
                <a:prstGeom prst="rect">
                  <a:avLst/>
                </a:prstGeom>
                <a:blipFill>
                  <a:blip r:embed="rId11"/>
                  <a:stretch>
                    <a:fillRect l="-3869" t="-2174" r="-3869"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09709CF-F2D8-3016-D596-B748AC5E8C77}"/>
                    </a:ext>
                  </a:extLst>
                </p:cNvPr>
                <p:cNvSpPr txBox="1"/>
                <p:nvPr/>
              </p:nvSpPr>
              <p:spPr>
                <a:xfrm>
                  <a:off x="4732202" y="6210912"/>
                  <a:ext cx="158056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1" i="1" smtClean="0">
                            <a:latin typeface="Cambria Math" panose="02040503050406030204" pitchFamily="18" charset="0"/>
                          </a:rPr>
                          <m:t>𝝈</m:t>
                        </m:r>
                        <m:r>
                          <a:rPr lang="en-SE" b="1" i="1" smtClean="0">
                            <a:latin typeface="Cambria Math" panose="02040503050406030204" pitchFamily="18" charset="0"/>
                          </a:rPr>
                          <m:t>∼</m:t>
                        </m:r>
                        <m:r>
                          <a:rPr lang="en-SE" b="1" i="1" smtClean="0">
                            <a:latin typeface="Cambria Math" panose="02040503050406030204" pitchFamily="18" charset="0"/>
                          </a:rPr>
                          <m:t>𝒆𝒙𝒑</m:t>
                        </m:r>
                        <m:r>
                          <a:rPr lang="en-SE" b="1" i="1" smtClean="0">
                            <a:latin typeface="Cambria Math" panose="02040503050406030204" pitchFamily="18" charset="0"/>
                          </a:rPr>
                          <m:t>(</m:t>
                        </m:r>
                        <m:r>
                          <a:rPr lang="en-SE" b="1" i="1" smtClean="0">
                            <a:latin typeface="Cambria Math" panose="02040503050406030204" pitchFamily="18" charset="0"/>
                          </a:rPr>
                          <m:t>𝟏</m:t>
                        </m:r>
                        <m:r>
                          <a:rPr lang="en-SE" b="1" i="1" smtClean="0">
                            <a:latin typeface="Cambria Math" panose="02040503050406030204" pitchFamily="18" charset="0"/>
                          </a:rPr>
                          <m:t>.</m:t>
                        </m:r>
                        <m:r>
                          <a:rPr lang="en-SE" b="1" i="1" smtClean="0">
                            <a:latin typeface="Cambria Math" panose="02040503050406030204" pitchFamily="18" charset="0"/>
                          </a:rPr>
                          <m:t>𝟎𝟏</m:t>
                        </m:r>
                        <m:r>
                          <a:rPr lang="en-SE" b="1" i="1" smtClean="0">
                            <a:latin typeface="Cambria Math" panose="02040503050406030204" pitchFamily="18" charset="0"/>
                          </a:rPr>
                          <m:t>)</m:t>
                        </m:r>
                      </m:oMath>
                    </m:oMathPara>
                  </a14:m>
                  <a:endParaRPr lang="en-SE" b="1" dirty="0"/>
                </a:p>
              </p:txBody>
            </p:sp>
          </mc:Choice>
          <mc:Fallback>
            <p:sp>
              <p:nvSpPr>
                <p:cNvPr id="32" name="TextBox 31">
                  <a:extLst>
                    <a:ext uri="{FF2B5EF4-FFF2-40B4-BE49-F238E27FC236}">
                      <a16:creationId xmlns:a16="http://schemas.microsoft.com/office/drawing/2014/main" id="{E09709CF-F2D8-3016-D596-B748AC5E8C77}"/>
                    </a:ext>
                  </a:extLst>
                </p:cNvPr>
                <p:cNvSpPr txBox="1">
                  <a:spLocks noRot="1" noChangeAspect="1" noMove="1" noResize="1" noEditPoints="1" noAdjustHandles="1" noChangeArrowheads="1" noChangeShapeType="1" noTextEdit="1"/>
                </p:cNvSpPr>
                <p:nvPr/>
              </p:nvSpPr>
              <p:spPr>
                <a:xfrm>
                  <a:off x="4732202" y="6210912"/>
                  <a:ext cx="1580561" cy="276999"/>
                </a:xfrm>
                <a:prstGeom prst="rect">
                  <a:avLst/>
                </a:prstGeom>
                <a:blipFill>
                  <a:blip r:embed="rId12"/>
                  <a:stretch>
                    <a:fillRect l="-1931" t="-2222" r="-5405" b="-35556"/>
                  </a:stretch>
                </a:blipFill>
              </p:spPr>
              <p:txBody>
                <a:bodyPr/>
                <a:lstStyle/>
                <a:p>
                  <a:r>
                    <a:rPr lang="en-SE">
                      <a:noFill/>
                    </a:rPr>
                    <a:t> </a:t>
                  </a:r>
                </a:p>
              </p:txBody>
            </p:sp>
          </mc:Fallback>
        </mc:AlternateContent>
        <p:pic>
          <p:nvPicPr>
            <p:cNvPr id="33" name="Graphic 32" descr="Robot with solid fill">
              <a:extLst>
                <a:ext uri="{FF2B5EF4-FFF2-40B4-BE49-F238E27FC236}">
                  <a16:creationId xmlns:a16="http://schemas.microsoft.com/office/drawing/2014/main" id="{1E55D3E2-B533-8569-F817-59BE07593EC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658370" y="4119905"/>
              <a:ext cx="360000" cy="360000"/>
            </a:xfrm>
            <a:prstGeom prst="rect">
              <a:avLst/>
            </a:prstGeom>
          </p:spPr>
        </p:pic>
      </p:grpSp>
      <p:grpSp>
        <p:nvGrpSpPr>
          <p:cNvPr id="43" name="Group 42">
            <a:extLst>
              <a:ext uri="{FF2B5EF4-FFF2-40B4-BE49-F238E27FC236}">
                <a16:creationId xmlns:a16="http://schemas.microsoft.com/office/drawing/2014/main" id="{1CE3B47D-4F12-759A-65EB-680589B5B420}"/>
              </a:ext>
            </a:extLst>
          </p:cNvPr>
          <p:cNvGrpSpPr/>
          <p:nvPr/>
        </p:nvGrpSpPr>
        <p:grpSpPr>
          <a:xfrm>
            <a:off x="1727146" y="3449338"/>
            <a:ext cx="3626251" cy="2483604"/>
            <a:chOff x="4526136" y="4040899"/>
            <a:chExt cx="3626251" cy="2483604"/>
          </a:xfrm>
        </p:grpSpPr>
        <p:sp>
          <p:nvSpPr>
            <p:cNvPr id="35" name="Rectangle: Rounded Corners 34">
              <a:extLst>
                <a:ext uri="{FF2B5EF4-FFF2-40B4-BE49-F238E27FC236}">
                  <a16:creationId xmlns:a16="http://schemas.microsoft.com/office/drawing/2014/main" id="{3D7240DD-767E-215E-5C6A-C6DA7B78D34F}"/>
                </a:ext>
              </a:extLst>
            </p:cNvPr>
            <p:cNvSpPr/>
            <p:nvPr/>
          </p:nvSpPr>
          <p:spPr>
            <a:xfrm>
              <a:off x="4526136" y="4040899"/>
              <a:ext cx="3626251" cy="2483604"/>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 (prior)</a:t>
              </a:r>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3D13C4E-61D1-0F0A-190E-FB4875CC03E1}"/>
                    </a:ext>
                  </a:extLst>
                </p:cNvPr>
                <p:cNvSpPr txBox="1"/>
                <p:nvPr/>
              </p:nvSpPr>
              <p:spPr>
                <a:xfrm>
                  <a:off x="4744413" y="4642952"/>
                  <a:ext cx="11740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b="0" i="1" smtClean="0">
                            <a:latin typeface="Cambria Math" panose="02040503050406030204" pitchFamily="18" charset="0"/>
                          </a:rPr>
                          <m:t>𝑦</m:t>
                        </m:r>
                        <m:r>
                          <a:rPr lang="en-SE" b="0" i="1" smtClean="0">
                            <a:latin typeface="Cambria Math" panose="02040503050406030204" pitchFamily="18" charset="0"/>
                          </a:rPr>
                          <m:t> ~ </m:t>
                        </m:r>
                        <m:r>
                          <a:rPr lang="en-SE" b="0" i="1" smtClean="0">
                            <a:latin typeface="Cambria Math" panose="02040503050406030204" pitchFamily="18" charset="0"/>
                          </a:rPr>
                          <m:t>𝑁</m:t>
                        </m:r>
                        <m:r>
                          <a:rPr lang="en-SE" b="0" i="1" smtClean="0">
                            <a:latin typeface="Cambria Math" panose="02040503050406030204" pitchFamily="18" charset="0"/>
                          </a:rPr>
                          <m:t>(</m:t>
                        </m:r>
                        <m:r>
                          <a:rPr lang="en-SE" b="0" i="1" smtClean="0">
                            <a:latin typeface="Cambria Math" panose="02040503050406030204" pitchFamily="18" charset="0"/>
                          </a:rPr>
                          <m:t>𝜇</m:t>
                        </m:r>
                        <m:r>
                          <a:rPr lang="en-SE" b="0" i="1" smtClean="0">
                            <a:latin typeface="Cambria Math" panose="02040503050406030204" pitchFamily="18" charset="0"/>
                          </a:rPr>
                          <m:t>, </m:t>
                        </m:r>
                        <m:r>
                          <a:rPr lang="en-SE" b="0" i="1" smtClean="0">
                            <a:latin typeface="Cambria Math" panose="02040503050406030204" pitchFamily="18" charset="0"/>
                          </a:rPr>
                          <m:t>𝜎</m:t>
                        </m:r>
                        <m:r>
                          <a:rPr lang="en-SE" b="0" i="1" smtClean="0">
                            <a:latin typeface="Cambria Math" panose="02040503050406030204" pitchFamily="18" charset="0"/>
                          </a:rPr>
                          <m:t>)</m:t>
                        </m:r>
                      </m:oMath>
                    </m:oMathPara>
                  </a14:m>
                  <a:endParaRPr lang="en-SE" dirty="0"/>
                </a:p>
              </p:txBody>
            </p:sp>
          </mc:Choice>
          <mc:Fallback>
            <p:sp>
              <p:nvSpPr>
                <p:cNvPr id="36" name="TextBox 35">
                  <a:extLst>
                    <a:ext uri="{FF2B5EF4-FFF2-40B4-BE49-F238E27FC236}">
                      <a16:creationId xmlns:a16="http://schemas.microsoft.com/office/drawing/2014/main" id="{13D13C4E-61D1-0F0A-190E-FB4875CC03E1}"/>
                    </a:ext>
                  </a:extLst>
                </p:cNvPr>
                <p:cNvSpPr txBox="1">
                  <a:spLocks noRot="1" noChangeAspect="1" noMove="1" noResize="1" noEditPoints="1" noAdjustHandles="1" noChangeArrowheads="1" noChangeShapeType="1" noTextEdit="1"/>
                </p:cNvSpPr>
                <p:nvPr/>
              </p:nvSpPr>
              <p:spPr>
                <a:xfrm>
                  <a:off x="4744413" y="4642952"/>
                  <a:ext cx="1174039" cy="276999"/>
                </a:xfrm>
                <a:prstGeom prst="rect">
                  <a:avLst/>
                </a:prstGeom>
                <a:blipFill>
                  <a:blip r:embed="rId14"/>
                  <a:stretch>
                    <a:fillRect l="-4663" t="-4444" r="-6736"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94F5219-1060-55B4-271C-C9C3AC761DEE}"/>
                    </a:ext>
                  </a:extLst>
                </p:cNvPr>
                <p:cNvSpPr txBox="1"/>
                <p:nvPr/>
              </p:nvSpPr>
              <p:spPr>
                <a:xfrm>
                  <a:off x="4685494" y="4956544"/>
                  <a:ext cx="2140522" cy="276999"/>
                </a:xfrm>
                <a:prstGeom prst="rect">
                  <a:avLst/>
                </a:prstGeom>
                <a:noFill/>
              </p:spPr>
              <p:txBody>
                <a:bodyPr wrap="none" lIns="0" tIns="0" rIns="0" bIns="0" rtlCol="0">
                  <a:spAutoFit/>
                </a:bodyPr>
                <a:lstStyle/>
                <a:p>
                  <a:pPr/>
                  <a14:m>
                    <m:oMath xmlns:m="http://schemas.openxmlformats.org/officeDocument/2006/math">
                      <m:r>
                        <a:rPr lang="en-SE" b="0" i="1" smtClean="0">
                          <a:latin typeface="Cambria Math" panose="02040503050406030204" pitchFamily="18" charset="0"/>
                        </a:rPr>
                        <m:t>𝜇</m:t>
                      </m:r>
                      <m:r>
                        <a:rPr lang="en-SE" b="0" i="1" smtClean="0">
                          <a:latin typeface="Cambria Math" panose="02040503050406030204" pitchFamily="18" charset="0"/>
                        </a:rPr>
                        <m:t>←</m:t>
                      </m:r>
                      <m:r>
                        <a:rPr lang="en-SE" b="0" i="1" smtClean="0">
                          <a:latin typeface="Cambria Math" panose="02040503050406030204" pitchFamily="18" charset="0"/>
                        </a:rPr>
                        <m:t>𝛼</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m:t>
                      </m:r>
                      <m:r>
                        <a:rPr lang="en-SE" b="0" i="1" smtClean="0">
                          <a:latin typeface="Cambria Math" panose="02040503050406030204" pitchFamily="18" charset="0"/>
                        </a:rPr>
                        <m:t>𝑥</m:t>
                      </m:r>
                      <m:r>
                        <a:rPr lang="en-SE" b="0" i="1" smtClean="0">
                          <a:latin typeface="Cambria Math" panose="02040503050406030204" pitchFamily="18" charset="0"/>
                        </a:rPr>
                        <m:t>+</m:t>
                      </m:r>
                      <m:sSub>
                        <m:sSubPr>
                          <m:ctrlPr>
                            <a:rPr lang="en-SE"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m:t>
                      </m:r>
                    </m:oMath>
                  </a14:m>
                  <a:r>
                    <a:rPr lang="en-SE" dirty="0"/>
                    <a:t>z</a:t>
                  </a:r>
                </a:p>
              </p:txBody>
            </p:sp>
          </mc:Choice>
          <mc:Fallback>
            <p:sp>
              <p:nvSpPr>
                <p:cNvPr id="37" name="TextBox 36">
                  <a:extLst>
                    <a:ext uri="{FF2B5EF4-FFF2-40B4-BE49-F238E27FC236}">
                      <a16:creationId xmlns:a16="http://schemas.microsoft.com/office/drawing/2014/main" id="{B94F5219-1060-55B4-271C-C9C3AC761DEE}"/>
                    </a:ext>
                  </a:extLst>
                </p:cNvPr>
                <p:cNvSpPr txBox="1">
                  <a:spLocks noRot="1" noChangeAspect="1" noMove="1" noResize="1" noEditPoints="1" noAdjustHandles="1" noChangeArrowheads="1" noChangeShapeType="1" noTextEdit="1"/>
                </p:cNvSpPr>
                <p:nvPr/>
              </p:nvSpPr>
              <p:spPr>
                <a:xfrm>
                  <a:off x="4685494" y="4956544"/>
                  <a:ext cx="2140522" cy="276999"/>
                </a:xfrm>
                <a:prstGeom prst="rect">
                  <a:avLst/>
                </a:prstGeom>
                <a:blipFill>
                  <a:blip r:embed="rId15"/>
                  <a:stretch>
                    <a:fillRect l="-3693" t="-26667" r="-5398" b="-5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781A4565-600F-FC9D-99F2-A3D3C3CA4921}"/>
                    </a:ext>
                  </a:extLst>
                </p:cNvPr>
                <p:cNvSpPr txBox="1"/>
                <p:nvPr/>
              </p:nvSpPr>
              <p:spPr>
                <a:xfrm>
                  <a:off x="4714067" y="5270136"/>
                  <a:ext cx="122469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𝛼</m:t>
                        </m:r>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(3, 1)</m:t>
                        </m:r>
                      </m:oMath>
                    </m:oMathPara>
                  </a14:m>
                  <a:endParaRPr lang="en-SE" dirty="0"/>
                </a:p>
              </p:txBody>
            </p:sp>
          </mc:Choice>
          <mc:Fallback>
            <p:sp>
              <p:nvSpPr>
                <p:cNvPr id="38" name="TextBox 37">
                  <a:extLst>
                    <a:ext uri="{FF2B5EF4-FFF2-40B4-BE49-F238E27FC236}">
                      <a16:creationId xmlns:a16="http://schemas.microsoft.com/office/drawing/2014/main" id="{781A4565-600F-FC9D-99F2-A3D3C3CA4921}"/>
                    </a:ext>
                  </a:extLst>
                </p:cNvPr>
                <p:cNvSpPr txBox="1">
                  <a:spLocks noRot="1" noChangeAspect="1" noMove="1" noResize="1" noEditPoints="1" noAdjustHandles="1" noChangeArrowheads="1" noChangeShapeType="1" noTextEdit="1"/>
                </p:cNvSpPr>
                <p:nvPr/>
              </p:nvSpPr>
              <p:spPr>
                <a:xfrm>
                  <a:off x="4714067" y="5270136"/>
                  <a:ext cx="1224694" cy="276999"/>
                </a:xfrm>
                <a:prstGeom prst="rect">
                  <a:avLst/>
                </a:prstGeom>
                <a:blipFill>
                  <a:blip r:embed="rId16"/>
                  <a:stretch>
                    <a:fillRect l="-1493" t="-2174" r="-5473"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EF9C7271-1847-C7BA-EE3A-2CC4F7AD6E52}"/>
                    </a:ext>
                  </a:extLst>
                </p:cNvPr>
                <p:cNvSpPr txBox="1"/>
                <p:nvPr/>
              </p:nvSpPr>
              <p:spPr>
                <a:xfrm>
                  <a:off x="4623942" y="5583728"/>
                  <a:ext cx="15153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𝑥</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p:sp>
              <p:nvSpPr>
                <p:cNvPr id="39" name="TextBox 38">
                  <a:extLst>
                    <a:ext uri="{FF2B5EF4-FFF2-40B4-BE49-F238E27FC236}">
                      <a16:creationId xmlns:a16="http://schemas.microsoft.com/office/drawing/2014/main" id="{EF9C7271-1847-C7BA-EE3A-2CC4F7AD6E52}"/>
                    </a:ext>
                  </a:extLst>
                </p:cNvPr>
                <p:cNvSpPr txBox="1">
                  <a:spLocks noRot="1" noChangeAspect="1" noMove="1" noResize="1" noEditPoints="1" noAdjustHandles="1" noChangeArrowheads="1" noChangeShapeType="1" noTextEdit="1"/>
                </p:cNvSpPr>
                <p:nvPr/>
              </p:nvSpPr>
              <p:spPr>
                <a:xfrm>
                  <a:off x="4623942" y="5583728"/>
                  <a:ext cx="1515351" cy="276999"/>
                </a:xfrm>
                <a:prstGeom prst="rect">
                  <a:avLst/>
                </a:prstGeom>
                <a:blipFill>
                  <a:blip r:embed="rId17"/>
                  <a:stretch>
                    <a:fillRect l="-3614" t="-2222" r="-3614" b="-35556"/>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8C045A98-4715-8FBF-0741-E1E10560B978}"/>
                    </a:ext>
                  </a:extLst>
                </p:cNvPr>
                <p:cNvSpPr txBox="1"/>
                <p:nvPr/>
              </p:nvSpPr>
              <p:spPr>
                <a:xfrm>
                  <a:off x="4651192" y="5897320"/>
                  <a:ext cx="145334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i="1" smtClean="0">
                                <a:latin typeface="Cambria Math" panose="02040503050406030204" pitchFamily="18" charset="0"/>
                              </a:rPr>
                            </m:ctrlPr>
                          </m:sSubPr>
                          <m:e>
                            <m:r>
                              <a:rPr lang="en-SE" i="1" smtClean="0">
                                <a:latin typeface="Cambria Math" panose="02040503050406030204" pitchFamily="18" charset="0"/>
                              </a:rPr>
                              <m:t>𝛽</m:t>
                            </m:r>
                          </m:e>
                          <m:sub>
                            <m:r>
                              <a:rPr lang="en-SE" b="0" i="1" smtClean="0">
                                <a:latin typeface="Cambria Math" panose="02040503050406030204" pitchFamily="18" charset="0"/>
                              </a:rPr>
                              <m:t>𝑧</m:t>
                            </m:r>
                          </m:sub>
                        </m:sSub>
                        <m:r>
                          <a:rPr lang="en-SE" i="1" smtClean="0">
                            <a:latin typeface="Cambria Math" panose="02040503050406030204" pitchFamily="18" charset="0"/>
                          </a:rPr>
                          <m:t>∼</m:t>
                        </m:r>
                        <m:r>
                          <a:rPr lang="en-SE" i="1" smtClean="0">
                            <a:latin typeface="Cambria Math" panose="02040503050406030204" pitchFamily="18" charset="0"/>
                          </a:rPr>
                          <m:t>𝑁</m:t>
                        </m:r>
                        <m:r>
                          <a:rPr lang="en-SE" i="1" smtClean="0">
                            <a:latin typeface="Cambria Math" panose="02040503050406030204" pitchFamily="18" charset="0"/>
                          </a:rPr>
                          <m:t>(0, 0.5)</m:t>
                        </m:r>
                      </m:oMath>
                    </m:oMathPara>
                  </a14:m>
                  <a:endParaRPr lang="en-SE" dirty="0"/>
                </a:p>
              </p:txBody>
            </p:sp>
          </mc:Choice>
          <mc:Fallback>
            <p:sp>
              <p:nvSpPr>
                <p:cNvPr id="40" name="TextBox 39">
                  <a:extLst>
                    <a:ext uri="{FF2B5EF4-FFF2-40B4-BE49-F238E27FC236}">
                      <a16:creationId xmlns:a16="http://schemas.microsoft.com/office/drawing/2014/main" id="{8C045A98-4715-8FBF-0741-E1E10560B978}"/>
                    </a:ext>
                  </a:extLst>
                </p:cNvPr>
                <p:cNvSpPr txBox="1">
                  <a:spLocks noRot="1" noChangeAspect="1" noMove="1" noResize="1" noEditPoints="1" noAdjustHandles="1" noChangeArrowheads="1" noChangeShapeType="1" noTextEdit="1"/>
                </p:cNvSpPr>
                <p:nvPr/>
              </p:nvSpPr>
              <p:spPr>
                <a:xfrm>
                  <a:off x="4651192" y="5897320"/>
                  <a:ext cx="1453347" cy="276999"/>
                </a:xfrm>
                <a:prstGeom prst="rect">
                  <a:avLst/>
                </a:prstGeom>
                <a:blipFill>
                  <a:blip r:embed="rId18"/>
                  <a:stretch>
                    <a:fillRect l="-5462" t="-2174" r="-5882"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E59D2862-FC2D-F3DC-0A3C-BE6D2F9C23A2}"/>
                    </a:ext>
                  </a:extLst>
                </p:cNvPr>
                <p:cNvSpPr txBox="1"/>
                <p:nvPr/>
              </p:nvSpPr>
              <p:spPr>
                <a:xfrm>
                  <a:off x="4720479" y="6210912"/>
                  <a:ext cx="11690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i="1" smtClean="0">
                            <a:latin typeface="Cambria Math" panose="02040503050406030204" pitchFamily="18" charset="0"/>
                          </a:rPr>
                          <m:t>𝜎</m:t>
                        </m:r>
                        <m:r>
                          <a:rPr lang="en-SE" i="1" smtClean="0">
                            <a:latin typeface="Cambria Math" panose="02040503050406030204" pitchFamily="18" charset="0"/>
                          </a:rPr>
                          <m:t>∼</m:t>
                        </m:r>
                        <m:r>
                          <a:rPr lang="en-SE" i="1" smtClean="0">
                            <a:latin typeface="Cambria Math" panose="02040503050406030204" pitchFamily="18" charset="0"/>
                          </a:rPr>
                          <m:t>𝑒𝑥𝑝</m:t>
                        </m:r>
                        <m:r>
                          <a:rPr lang="en-SE" i="1" smtClean="0">
                            <a:latin typeface="Cambria Math" panose="02040503050406030204" pitchFamily="18" charset="0"/>
                          </a:rPr>
                          <m:t>(1)</m:t>
                        </m:r>
                      </m:oMath>
                    </m:oMathPara>
                  </a14:m>
                  <a:endParaRPr lang="en-SE" dirty="0"/>
                </a:p>
              </p:txBody>
            </p:sp>
          </mc:Choice>
          <mc:Fallback>
            <p:sp>
              <p:nvSpPr>
                <p:cNvPr id="41" name="TextBox 40">
                  <a:extLst>
                    <a:ext uri="{FF2B5EF4-FFF2-40B4-BE49-F238E27FC236}">
                      <a16:creationId xmlns:a16="http://schemas.microsoft.com/office/drawing/2014/main" id="{E59D2862-FC2D-F3DC-0A3C-BE6D2F9C23A2}"/>
                    </a:ext>
                  </a:extLst>
                </p:cNvPr>
                <p:cNvSpPr txBox="1">
                  <a:spLocks noRot="1" noChangeAspect="1" noMove="1" noResize="1" noEditPoints="1" noAdjustHandles="1" noChangeArrowheads="1" noChangeShapeType="1" noTextEdit="1"/>
                </p:cNvSpPr>
                <p:nvPr/>
              </p:nvSpPr>
              <p:spPr>
                <a:xfrm>
                  <a:off x="4720479" y="6210912"/>
                  <a:ext cx="1169038" cy="276999"/>
                </a:xfrm>
                <a:prstGeom prst="rect">
                  <a:avLst/>
                </a:prstGeom>
                <a:blipFill>
                  <a:blip r:embed="rId19"/>
                  <a:stretch>
                    <a:fillRect l="-2604" t="-2222" r="-7292" b="-35556"/>
                  </a:stretch>
                </a:blipFill>
              </p:spPr>
              <p:txBody>
                <a:bodyPr/>
                <a:lstStyle/>
                <a:p>
                  <a:r>
                    <a:rPr lang="en-SE">
                      <a:noFill/>
                    </a:rPr>
                    <a:t> </a:t>
                  </a:r>
                </a:p>
              </p:txBody>
            </p:sp>
          </mc:Fallback>
        </mc:AlternateContent>
        <p:pic>
          <p:nvPicPr>
            <p:cNvPr id="42" name="Graphic 41" descr="Robot with solid fill">
              <a:extLst>
                <a:ext uri="{FF2B5EF4-FFF2-40B4-BE49-F238E27FC236}">
                  <a16:creationId xmlns:a16="http://schemas.microsoft.com/office/drawing/2014/main" id="{29793FB8-8DEF-42D2-9A4B-872EBF15E1F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658370" y="4119905"/>
              <a:ext cx="360000" cy="360000"/>
            </a:xfrm>
            <a:prstGeom prst="rect">
              <a:avLst/>
            </a:prstGeom>
          </p:spPr>
        </p:pic>
      </p:grpSp>
      <p:cxnSp>
        <p:nvCxnSpPr>
          <p:cNvPr id="45" name="Straight Arrow Connector 44">
            <a:extLst>
              <a:ext uri="{FF2B5EF4-FFF2-40B4-BE49-F238E27FC236}">
                <a16:creationId xmlns:a16="http://schemas.microsoft.com/office/drawing/2014/main" id="{58115F17-1737-A165-9430-88D1D72E9D48}"/>
              </a:ext>
            </a:extLst>
          </p:cNvPr>
          <p:cNvCxnSpPr>
            <a:stCxn id="35" idx="3"/>
            <a:endCxn id="26" idx="1"/>
          </p:cNvCxnSpPr>
          <p:nvPr/>
        </p:nvCxnSpPr>
        <p:spPr>
          <a:xfrm>
            <a:off x="5353397" y="4691140"/>
            <a:ext cx="18417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66321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83063-7ED0-02F8-B370-2B659787370A}"/>
              </a:ext>
            </a:extLst>
          </p:cNvPr>
          <p:cNvSpPr>
            <a:spLocks noGrp="1"/>
          </p:cNvSpPr>
          <p:nvPr>
            <p:ph type="title"/>
          </p:nvPr>
        </p:nvSpPr>
        <p:spPr/>
        <p:txBody>
          <a:bodyPr/>
          <a:lstStyle/>
          <a:p>
            <a:r>
              <a:rPr lang="en-SE" dirty="0"/>
              <a:t>Interpreting the Results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CE394FB-ACF2-F3F7-7E69-682A4231D6C7}"/>
                  </a:ext>
                </a:extLst>
              </p:cNvPr>
              <p:cNvSpPr>
                <a:spLocks noGrp="1"/>
              </p:cNvSpPr>
              <p:nvPr>
                <p:ph idx="1"/>
              </p:nvPr>
            </p:nvSpPr>
            <p:spPr>
              <a:xfrm>
                <a:off x="838200" y="1825625"/>
                <a:ext cx="10515600" cy="1470937"/>
              </a:xfrm>
            </p:spPr>
            <p:txBody>
              <a:bodyPr/>
              <a:lstStyle/>
              <a:p>
                <a:pPr marL="0" indent="0">
                  <a:buNone/>
                </a:pPr>
                <a:r>
                  <a:rPr lang="en-SE" dirty="0"/>
                  <a:t>After Bayesian updating, the posterior distributions represent the </a:t>
                </a:r>
                <a:r>
                  <a:rPr lang="en-SE" b="1" dirty="0"/>
                  <a:t>effect that changing a variable </a:t>
                </a:r>
                <a:r>
                  <a:rPr lang="en-SE" dirty="0"/>
                  <a:t>by one unit has on the (mean </a:t>
                </a:r>
                <a14:m>
                  <m:oMath xmlns:m="http://schemas.openxmlformats.org/officeDocument/2006/math">
                    <m:r>
                      <a:rPr lang="en-SE" b="0" i="1" smtClean="0">
                        <a:latin typeface="Cambria Math" panose="02040503050406030204" pitchFamily="18" charset="0"/>
                      </a:rPr>
                      <m:t>𝜇</m:t>
                    </m:r>
                  </m:oMath>
                </a14:m>
                <a:r>
                  <a:rPr lang="en-SE" dirty="0"/>
                  <a:t> of the) outcome variable.</a:t>
                </a:r>
              </a:p>
            </p:txBody>
          </p:sp>
        </mc:Choice>
        <mc:Fallback>
          <p:sp>
            <p:nvSpPr>
              <p:cNvPr id="3" name="Content Placeholder 2">
                <a:extLst>
                  <a:ext uri="{FF2B5EF4-FFF2-40B4-BE49-F238E27FC236}">
                    <a16:creationId xmlns:a16="http://schemas.microsoft.com/office/drawing/2014/main" id="{3CE394FB-ACF2-F3F7-7E69-682A4231D6C7}"/>
                  </a:ext>
                </a:extLst>
              </p:cNvPr>
              <p:cNvSpPr>
                <a:spLocks noGrp="1" noRot="1" noChangeAspect="1" noMove="1" noResize="1" noEditPoints="1" noAdjustHandles="1" noChangeArrowheads="1" noChangeShapeType="1" noTextEdit="1"/>
              </p:cNvSpPr>
              <p:nvPr>
                <p:ph idx="1"/>
              </p:nvPr>
            </p:nvSpPr>
            <p:spPr>
              <a:xfrm>
                <a:off x="838200" y="1825625"/>
                <a:ext cx="10515600" cy="1470937"/>
              </a:xfrm>
              <a:blipFill>
                <a:blip r:embed="rId2"/>
                <a:stretch>
                  <a:fillRect l="-1217" t="-7025"/>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A93F25C7-1F66-37B8-C723-4490F1AE06AC}"/>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2F2421A-F962-E792-2C42-BE4038A86AF2}"/>
              </a:ext>
            </a:extLst>
          </p:cNvPr>
          <p:cNvSpPr>
            <a:spLocks noGrp="1"/>
          </p:cNvSpPr>
          <p:nvPr>
            <p:ph type="sldNum" sz="quarter" idx="12"/>
          </p:nvPr>
        </p:nvSpPr>
        <p:spPr/>
        <p:txBody>
          <a:bodyPr/>
          <a:lstStyle/>
          <a:p>
            <a:fld id="{271ECC92-9CDE-4EB3-B1C5-F46B9E1FA3C1}" type="slidenum">
              <a:rPr lang="en-SE" smtClean="0"/>
              <a:t>68</a:t>
            </a:fld>
            <a:endParaRPr lang="en-SE"/>
          </a:p>
        </p:txBody>
      </p:sp>
      <p:sp>
        <p:nvSpPr>
          <p:cNvPr id="6" name="Footer Placeholder 5">
            <a:extLst>
              <a:ext uri="{FF2B5EF4-FFF2-40B4-BE49-F238E27FC236}">
                <a16:creationId xmlns:a16="http://schemas.microsoft.com/office/drawing/2014/main" id="{34F35D3F-3270-5C4B-83D2-4385EF59B888}"/>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B9839F0C-B855-2FF6-A657-3A58AB28ADD5}"/>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733AB407-EFE2-CEFE-DD19-1790879BDC03}"/>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B279CF73-01FA-7EAE-5B87-C42E9A279F9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CEEAAD29-F2DE-9AFB-4824-13D7EC0174AA}"/>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23F45D2E-6632-8B3C-840C-B77D77E6387C}"/>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1B48F4B7-C6AF-CD28-9183-BF5535D6FA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D574DD3E-F63E-8AAB-EAB4-2416655F3644}"/>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D7162123-5A63-A73A-080E-DF806F82543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A59DDFC1-BF6E-764A-1515-A6085FB5440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96728FDF-F78B-0C4C-22E4-8370D236D1C3}"/>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7D603A8A-BC80-2FBB-9D3F-4F0FB302F56D}"/>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A2EC1D1B-CA73-F1E9-C548-B0FD089A705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DADF6A29-95EB-6BD4-CFFB-A53E5A01476C}"/>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BE63F226-5D05-5FD0-9287-C4B79BA5D0BB}"/>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675F02E0-749C-AD08-8233-0B74FB5101B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EB30F2B2-E9E9-17E8-8F69-860F20BE426F}"/>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8F6F2050-163F-458D-E464-01971BECFDA7}"/>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316078D0-80EC-EA0D-44E5-1AB3F34CA029}"/>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D5B4CA28-9B63-0B76-C19B-8B410DD3E38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27" name="Picture 26">
            <a:extLst>
              <a:ext uri="{FF2B5EF4-FFF2-40B4-BE49-F238E27FC236}">
                <a16:creationId xmlns:a16="http://schemas.microsoft.com/office/drawing/2014/main" id="{60E9889E-33DA-26D7-BAF3-03110C251B84}"/>
              </a:ext>
            </a:extLst>
          </p:cNvPr>
          <p:cNvPicPr>
            <a:picLocks noChangeAspect="1"/>
          </p:cNvPicPr>
          <p:nvPr/>
        </p:nvPicPr>
        <p:blipFill>
          <a:blip r:embed="rId8"/>
          <a:stretch>
            <a:fillRect/>
          </a:stretch>
        </p:blipFill>
        <p:spPr>
          <a:xfrm>
            <a:off x="6016958" y="3929812"/>
            <a:ext cx="4734347" cy="1871718"/>
          </a:xfrm>
          <a:prstGeom prst="rect">
            <a:avLst/>
          </a:prstGeom>
        </p:spPr>
      </p:pic>
      <p:sp>
        <p:nvSpPr>
          <p:cNvPr id="28" name="Oval 27">
            <a:extLst>
              <a:ext uri="{FF2B5EF4-FFF2-40B4-BE49-F238E27FC236}">
                <a16:creationId xmlns:a16="http://schemas.microsoft.com/office/drawing/2014/main" id="{15B41CAD-03DF-28C8-C5C0-303409E9D213}"/>
              </a:ext>
            </a:extLst>
          </p:cNvPr>
          <p:cNvSpPr/>
          <p:nvPr/>
        </p:nvSpPr>
        <p:spPr>
          <a:xfrm>
            <a:off x="1841242" y="4326935"/>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9" name="Oval 28">
            <a:extLst>
              <a:ext uri="{FF2B5EF4-FFF2-40B4-BE49-F238E27FC236}">
                <a16:creationId xmlns:a16="http://schemas.microsoft.com/office/drawing/2014/main" id="{48036020-A813-72A7-70F6-02D1B2C8EFDE}"/>
              </a:ext>
            </a:extLst>
          </p:cNvPr>
          <p:cNvSpPr/>
          <p:nvPr/>
        </p:nvSpPr>
        <p:spPr>
          <a:xfrm>
            <a:off x="4332622" y="4326935"/>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0" name="Straight Arrow Connector 29">
            <a:extLst>
              <a:ext uri="{FF2B5EF4-FFF2-40B4-BE49-F238E27FC236}">
                <a16:creationId xmlns:a16="http://schemas.microsoft.com/office/drawing/2014/main" id="{FEC61D02-A8D4-34F2-6D11-97E36AB7FCBE}"/>
              </a:ext>
            </a:extLst>
          </p:cNvPr>
          <p:cNvCxnSpPr>
            <a:stCxn id="28" idx="6"/>
            <a:endCxn id="29" idx="2"/>
          </p:cNvCxnSpPr>
          <p:nvPr/>
        </p:nvCxnSpPr>
        <p:spPr>
          <a:xfrm>
            <a:off x="2201242" y="4506935"/>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 name="Oval 32">
            <a:extLst>
              <a:ext uri="{FF2B5EF4-FFF2-40B4-BE49-F238E27FC236}">
                <a16:creationId xmlns:a16="http://schemas.microsoft.com/office/drawing/2014/main" id="{400FBBC5-4C09-B04B-4E15-C08B6C5EFF9A}"/>
              </a:ext>
            </a:extLst>
          </p:cNvPr>
          <p:cNvSpPr/>
          <p:nvPr/>
        </p:nvSpPr>
        <p:spPr>
          <a:xfrm>
            <a:off x="3086932" y="5093256"/>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35" name="Straight Arrow Connector 34">
            <a:extLst>
              <a:ext uri="{FF2B5EF4-FFF2-40B4-BE49-F238E27FC236}">
                <a16:creationId xmlns:a16="http://schemas.microsoft.com/office/drawing/2014/main" id="{92ED3AC1-B678-C8DF-5123-2FF7410336D9}"/>
              </a:ext>
            </a:extLst>
          </p:cNvPr>
          <p:cNvCxnSpPr>
            <a:cxnSpLocks/>
            <a:stCxn id="33" idx="7"/>
            <a:endCxn id="29" idx="3"/>
          </p:cNvCxnSpPr>
          <p:nvPr/>
        </p:nvCxnSpPr>
        <p:spPr>
          <a:xfrm flipV="1">
            <a:off x="3394211" y="4634214"/>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EA055642-312C-1F9C-4CA4-D2F11ACFF452}"/>
              </a:ext>
            </a:extLst>
          </p:cNvPr>
          <p:cNvCxnSpPr>
            <a:cxnSpLocks/>
            <a:stCxn id="33" idx="1"/>
            <a:endCxn id="28" idx="5"/>
          </p:cNvCxnSpPr>
          <p:nvPr/>
        </p:nvCxnSpPr>
        <p:spPr>
          <a:xfrm flipH="1" flipV="1">
            <a:off x="2148521" y="4634214"/>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F9E639E-53E0-E582-0C4A-4B2AFDAE178F}"/>
                  </a:ext>
                </a:extLst>
              </p:cNvPr>
              <p:cNvSpPr txBox="1"/>
              <p:nvPr/>
            </p:nvSpPr>
            <p:spPr>
              <a:xfrm>
                <a:off x="2825337" y="4102658"/>
                <a:ext cx="8906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r>
                        <a:rPr lang="en-SE" b="0" i="1" smtClean="0">
                          <a:latin typeface="Cambria Math" panose="02040503050406030204" pitchFamily="18" charset="0"/>
                        </a:rPr>
                        <m:t>=0.5</m:t>
                      </m:r>
                    </m:oMath>
                  </m:oMathPara>
                </a14:m>
                <a:endParaRPr lang="en-SE" dirty="0"/>
              </a:p>
            </p:txBody>
          </p:sp>
        </mc:Choice>
        <mc:Fallback xmlns="">
          <p:sp>
            <p:nvSpPr>
              <p:cNvPr id="37" name="TextBox 36">
                <a:extLst>
                  <a:ext uri="{FF2B5EF4-FFF2-40B4-BE49-F238E27FC236}">
                    <a16:creationId xmlns:a16="http://schemas.microsoft.com/office/drawing/2014/main" id="{2F9E639E-53E0-E582-0C4A-4B2AFDAE178F}"/>
                  </a:ext>
                </a:extLst>
              </p:cNvPr>
              <p:cNvSpPr txBox="1">
                <a:spLocks noRot="1" noChangeAspect="1" noMove="1" noResize="1" noEditPoints="1" noAdjustHandles="1" noChangeArrowheads="1" noChangeShapeType="1" noTextEdit="1"/>
              </p:cNvSpPr>
              <p:nvPr/>
            </p:nvSpPr>
            <p:spPr>
              <a:xfrm>
                <a:off x="2825337" y="4102658"/>
                <a:ext cx="890628" cy="276999"/>
              </a:xfrm>
              <a:prstGeom prst="rect">
                <a:avLst/>
              </a:prstGeom>
              <a:blipFill>
                <a:blip r:embed="rId9"/>
                <a:stretch>
                  <a:fillRect l="-9524" t="-2222" r="-6122"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9151D4B-B719-E47B-C8AE-277547A2FBF6}"/>
                  </a:ext>
                </a:extLst>
              </p:cNvPr>
              <p:cNvSpPr txBox="1"/>
              <p:nvPr/>
            </p:nvSpPr>
            <p:spPr>
              <a:xfrm>
                <a:off x="3943748" y="4925428"/>
                <a:ext cx="88024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𝑧</m:t>
                          </m:r>
                        </m:sub>
                      </m:sSub>
                      <m:r>
                        <a:rPr lang="en-SE" b="0" i="1" smtClean="0">
                          <a:latin typeface="Cambria Math" panose="02040503050406030204" pitchFamily="18" charset="0"/>
                        </a:rPr>
                        <m:t>=1.2</m:t>
                      </m:r>
                    </m:oMath>
                  </m:oMathPara>
                </a14:m>
                <a:endParaRPr lang="en-SE" dirty="0"/>
              </a:p>
            </p:txBody>
          </p:sp>
        </mc:Choice>
        <mc:Fallback xmlns="">
          <p:sp>
            <p:nvSpPr>
              <p:cNvPr id="39" name="TextBox 38">
                <a:extLst>
                  <a:ext uri="{FF2B5EF4-FFF2-40B4-BE49-F238E27FC236}">
                    <a16:creationId xmlns:a16="http://schemas.microsoft.com/office/drawing/2014/main" id="{89151D4B-B719-E47B-C8AE-277547A2FBF6}"/>
                  </a:ext>
                </a:extLst>
              </p:cNvPr>
              <p:cNvSpPr txBox="1">
                <a:spLocks noRot="1" noChangeAspect="1" noMove="1" noResize="1" noEditPoints="1" noAdjustHandles="1" noChangeArrowheads="1" noChangeShapeType="1" noTextEdit="1"/>
              </p:cNvSpPr>
              <p:nvPr/>
            </p:nvSpPr>
            <p:spPr>
              <a:xfrm>
                <a:off x="3943748" y="4925428"/>
                <a:ext cx="880241" cy="276999"/>
              </a:xfrm>
              <a:prstGeom prst="rect">
                <a:avLst/>
              </a:prstGeom>
              <a:blipFill>
                <a:blip r:embed="rId10"/>
                <a:stretch>
                  <a:fillRect l="-9722" t="-2222" r="-6250" b="-35556"/>
                </a:stretch>
              </a:blipFill>
            </p:spPr>
            <p:txBody>
              <a:bodyPr/>
              <a:lstStyle/>
              <a:p>
                <a:r>
                  <a:rPr lang="en-SE">
                    <a:noFill/>
                  </a:rPr>
                  <a:t> </a:t>
                </a:r>
              </a:p>
            </p:txBody>
          </p:sp>
        </mc:Fallback>
      </mc:AlternateContent>
      <p:sp>
        <p:nvSpPr>
          <p:cNvPr id="40" name="TextBox 39">
            <a:extLst>
              <a:ext uri="{FF2B5EF4-FFF2-40B4-BE49-F238E27FC236}">
                <a16:creationId xmlns:a16="http://schemas.microsoft.com/office/drawing/2014/main" id="{7FD14344-A3DF-D57A-5042-E7860083C2BA}"/>
              </a:ext>
            </a:extLst>
          </p:cNvPr>
          <p:cNvSpPr txBox="1"/>
          <p:nvPr/>
        </p:nvSpPr>
        <p:spPr>
          <a:xfrm>
            <a:off x="2242421" y="3482050"/>
            <a:ext cx="2049022" cy="369332"/>
          </a:xfrm>
          <a:prstGeom prst="rect">
            <a:avLst/>
          </a:prstGeom>
          <a:noFill/>
        </p:spPr>
        <p:txBody>
          <a:bodyPr wrap="none" rtlCol="0">
            <a:spAutoFit/>
          </a:bodyPr>
          <a:lstStyle/>
          <a:p>
            <a:pPr algn="ctr"/>
            <a:r>
              <a:rPr lang="en-SE" b="1" dirty="0"/>
              <a:t>Simulated Effects</a:t>
            </a:r>
          </a:p>
        </p:txBody>
      </p:sp>
      <p:sp>
        <p:nvSpPr>
          <p:cNvPr id="42" name="TextBox 41">
            <a:extLst>
              <a:ext uri="{FF2B5EF4-FFF2-40B4-BE49-F238E27FC236}">
                <a16:creationId xmlns:a16="http://schemas.microsoft.com/office/drawing/2014/main" id="{1EA34D47-F56E-CA21-884B-5549E4F17955}"/>
              </a:ext>
            </a:extLst>
          </p:cNvPr>
          <p:cNvSpPr txBox="1"/>
          <p:nvPr/>
        </p:nvSpPr>
        <p:spPr>
          <a:xfrm>
            <a:off x="7591058" y="3482050"/>
            <a:ext cx="2039084" cy="369332"/>
          </a:xfrm>
          <a:prstGeom prst="rect">
            <a:avLst/>
          </a:prstGeom>
          <a:noFill/>
        </p:spPr>
        <p:txBody>
          <a:bodyPr wrap="none" rtlCol="0">
            <a:spAutoFit/>
          </a:bodyPr>
          <a:lstStyle/>
          <a:p>
            <a:pPr algn="ctr"/>
            <a:r>
              <a:rPr lang="en-SE" b="1" dirty="0"/>
              <a:t>Estimated Effects</a:t>
            </a:r>
          </a:p>
        </p:txBody>
      </p:sp>
    </p:spTree>
    <p:extLst>
      <p:ext uri="{BB962C8B-B14F-4D97-AF65-F5344CB8AC3E}">
        <p14:creationId xmlns:p14="http://schemas.microsoft.com/office/powerpoint/2010/main" val="646645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3" grpId="0" animBg="1"/>
      <p:bldP spid="37" grpId="0"/>
      <p:bldP spid="39" grpId="0"/>
      <p:bldP spid="40" grpId="0"/>
      <p:bldP spid="4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ED691-BBA8-C207-D40A-74E2F331B1A9}"/>
              </a:ext>
            </a:extLst>
          </p:cNvPr>
          <p:cNvSpPr>
            <a:spLocks noGrp="1"/>
          </p:cNvSpPr>
          <p:nvPr>
            <p:ph type="title"/>
          </p:nvPr>
        </p:nvSpPr>
        <p:spPr/>
        <p:txBody>
          <a:bodyPr/>
          <a:lstStyle/>
          <a:p>
            <a:r>
              <a:rPr lang="en-SE" dirty="0"/>
              <a:t>Credible Interval</a:t>
            </a:r>
          </a:p>
        </p:txBody>
      </p:sp>
      <p:sp>
        <p:nvSpPr>
          <p:cNvPr id="3" name="Content Placeholder 2">
            <a:extLst>
              <a:ext uri="{FF2B5EF4-FFF2-40B4-BE49-F238E27FC236}">
                <a16:creationId xmlns:a16="http://schemas.microsoft.com/office/drawing/2014/main" id="{B898204B-55AA-E5FB-BBEF-05CDCF573C7E}"/>
              </a:ext>
            </a:extLst>
          </p:cNvPr>
          <p:cNvSpPr>
            <a:spLocks noGrp="1"/>
          </p:cNvSpPr>
          <p:nvPr>
            <p:ph idx="1"/>
          </p:nvPr>
        </p:nvSpPr>
        <p:spPr>
          <a:xfrm>
            <a:off x="838200" y="1825625"/>
            <a:ext cx="10515600" cy="1731394"/>
          </a:xfrm>
        </p:spPr>
        <p:txBody>
          <a:bodyPr/>
          <a:lstStyle/>
          <a:p>
            <a:pPr marL="0" indent="0">
              <a:buNone/>
            </a:pPr>
            <a:r>
              <a:rPr lang="en-SE" dirty="0"/>
              <a:t>The uncertainty around the estimation is a </a:t>
            </a:r>
            <a:r>
              <a:rPr lang="en-SE" b="1" dirty="0"/>
              <a:t>credible interval</a:t>
            </a:r>
            <a:r>
              <a:rPr lang="en-SE" dirty="0"/>
              <a:t>, not a </a:t>
            </a:r>
            <a:r>
              <a:rPr lang="en-SE" i="1" dirty="0"/>
              <a:t>confidence interval</a:t>
            </a:r>
            <a:r>
              <a:rPr lang="en-SE" dirty="0"/>
              <a:t>. It can be interpreted naturally: a 95% credible interval has a 95% chance of containing the true value of the parameter.</a:t>
            </a:r>
          </a:p>
        </p:txBody>
      </p:sp>
      <p:sp>
        <p:nvSpPr>
          <p:cNvPr id="4" name="Date Placeholder 3">
            <a:extLst>
              <a:ext uri="{FF2B5EF4-FFF2-40B4-BE49-F238E27FC236}">
                <a16:creationId xmlns:a16="http://schemas.microsoft.com/office/drawing/2014/main" id="{C2407F65-369D-97FA-6575-47684D948180}"/>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4D8BA8C-31A1-F3DB-CB4E-C7C10897FB03}"/>
              </a:ext>
            </a:extLst>
          </p:cNvPr>
          <p:cNvSpPr>
            <a:spLocks noGrp="1"/>
          </p:cNvSpPr>
          <p:nvPr>
            <p:ph type="sldNum" sz="quarter" idx="12"/>
          </p:nvPr>
        </p:nvSpPr>
        <p:spPr/>
        <p:txBody>
          <a:bodyPr/>
          <a:lstStyle/>
          <a:p>
            <a:fld id="{271ECC92-9CDE-4EB3-B1C5-F46B9E1FA3C1}" type="slidenum">
              <a:rPr lang="en-SE" smtClean="0"/>
              <a:t>69</a:t>
            </a:fld>
            <a:endParaRPr lang="en-SE"/>
          </a:p>
        </p:txBody>
      </p:sp>
      <p:sp>
        <p:nvSpPr>
          <p:cNvPr id="6" name="Footer Placeholder 5">
            <a:extLst>
              <a:ext uri="{FF2B5EF4-FFF2-40B4-BE49-F238E27FC236}">
                <a16:creationId xmlns:a16="http://schemas.microsoft.com/office/drawing/2014/main" id="{29186AF1-E820-EC7F-FD91-1D823789E18B}"/>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613BC91E-FEE7-00EC-9D3E-2DF73CD102E4}"/>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55F018D8-EC04-2FA0-5909-095A02EEC4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28" name="Graphic 27" descr="Golden Ratio with solid fill">
              <a:extLst>
                <a:ext uri="{FF2B5EF4-FFF2-40B4-BE49-F238E27FC236}">
                  <a16:creationId xmlns:a16="http://schemas.microsoft.com/office/drawing/2014/main" id="{8199BF84-3688-BDAF-C10D-2EEBAB8D07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48B76AEE-A35C-A96D-7B72-C7BE6300D297}"/>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97E0D087-4946-D7FF-3209-91541AA88291}"/>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D4E28B34-F0B2-1E64-D241-0DCC92F94C2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3A074E34-38B2-D137-8E88-8880118860E5}"/>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DD9852CE-3C4D-4F20-0ACD-3CF835E705EB}"/>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AEA0DBD4-1E80-960F-BA81-ABF0E96A48B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10312D0D-F45C-D2BA-1DAE-5A9D59CFA35C}"/>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2C3441A9-CA7F-36AD-1A6D-F3AD6672A8E2}"/>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0A33CDD5-8EED-97B6-713F-2358B83C610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71575CE8-C5D0-B573-D076-2867FF5A6721}"/>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E697444C-CD4E-4FDD-6BC7-640C299E5DB2}"/>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D92F9CC9-6F3D-46BC-81D5-84930AF4715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97DD9DB1-645E-AD3D-206D-974D961B9FE0}"/>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597FC437-020D-3865-E770-E985480A4308}"/>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B74D3550-B0B9-1060-8DB6-679A34885146}"/>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9CF4B509-00AB-88B5-CCF8-724A6F195D98}"/>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46" name="Picture 45">
            <a:extLst>
              <a:ext uri="{FF2B5EF4-FFF2-40B4-BE49-F238E27FC236}">
                <a16:creationId xmlns:a16="http://schemas.microsoft.com/office/drawing/2014/main" id="{75752D9A-50AF-468D-6E62-B47E525AB329}"/>
              </a:ext>
            </a:extLst>
          </p:cNvPr>
          <p:cNvPicPr>
            <a:picLocks noChangeAspect="1"/>
          </p:cNvPicPr>
          <p:nvPr/>
        </p:nvPicPr>
        <p:blipFill>
          <a:blip r:embed="rId7"/>
          <a:stretch>
            <a:fillRect/>
          </a:stretch>
        </p:blipFill>
        <p:spPr>
          <a:xfrm>
            <a:off x="3032603" y="3305019"/>
            <a:ext cx="4992164" cy="1920875"/>
          </a:xfrm>
          <a:prstGeom prst="rect">
            <a:avLst/>
          </a:prstGeom>
        </p:spPr>
      </p:pic>
      <p:sp>
        <p:nvSpPr>
          <p:cNvPr id="47" name="Content Placeholder 2">
            <a:extLst>
              <a:ext uri="{FF2B5EF4-FFF2-40B4-BE49-F238E27FC236}">
                <a16:creationId xmlns:a16="http://schemas.microsoft.com/office/drawing/2014/main" id="{47EAFD30-B438-C33D-7402-7B2C73DA367B}"/>
              </a:ext>
            </a:extLst>
          </p:cNvPr>
          <p:cNvSpPr txBox="1">
            <a:spLocks/>
          </p:cNvSpPr>
          <p:nvPr/>
        </p:nvSpPr>
        <p:spPr>
          <a:xfrm>
            <a:off x="838200" y="5225894"/>
            <a:ext cx="10515600" cy="92090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The further a CI is from 0.0, the </a:t>
            </a:r>
            <a:r>
              <a:rPr lang="en-SE" i="1" dirty="0"/>
              <a:t>stronger</a:t>
            </a:r>
            <a:r>
              <a:rPr lang="en-SE" dirty="0"/>
              <a:t> the effect. The narrower a CI, the </a:t>
            </a:r>
            <a:r>
              <a:rPr lang="en-SE" i="1" dirty="0"/>
              <a:t>more certain </a:t>
            </a:r>
            <a:r>
              <a:rPr lang="en-SE" dirty="0"/>
              <a:t>the effect. </a:t>
            </a:r>
          </a:p>
        </p:txBody>
      </p:sp>
    </p:spTree>
    <p:extLst>
      <p:ext uri="{BB962C8B-B14F-4D97-AF65-F5344CB8AC3E}">
        <p14:creationId xmlns:p14="http://schemas.microsoft.com/office/powerpoint/2010/main" val="11894149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AC121-E4B2-C10C-FAF9-4DA6C8FB82E4}"/>
              </a:ext>
            </a:extLst>
          </p:cNvPr>
          <p:cNvSpPr>
            <a:spLocks noGrp="1"/>
          </p:cNvSpPr>
          <p:nvPr>
            <p:ph type="title"/>
          </p:nvPr>
        </p:nvSpPr>
        <p:spPr/>
        <p:txBody>
          <a:bodyPr/>
          <a:lstStyle/>
          <a:p>
            <a:r>
              <a:rPr lang="en-SE" dirty="0"/>
              <a:t>Credible Interval</a:t>
            </a:r>
          </a:p>
        </p:txBody>
      </p:sp>
      <p:sp>
        <p:nvSpPr>
          <p:cNvPr id="3" name="Content Placeholder 2">
            <a:extLst>
              <a:ext uri="{FF2B5EF4-FFF2-40B4-BE49-F238E27FC236}">
                <a16:creationId xmlns:a16="http://schemas.microsoft.com/office/drawing/2014/main" id="{AD6E6AA3-2D33-51D9-382A-FA124EB48306}"/>
              </a:ext>
            </a:extLst>
          </p:cNvPr>
          <p:cNvSpPr>
            <a:spLocks noGrp="1"/>
          </p:cNvSpPr>
          <p:nvPr>
            <p:ph idx="1"/>
          </p:nvPr>
        </p:nvSpPr>
        <p:spPr/>
        <p:txBody>
          <a:bodyPr/>
          <a:lstStyle/>
          <a:p>
            <a:pPr marL="0" indent="0">
              <a:buNone/>
            </a:pPr>
            <a:r>
              <a:rPr lang="en-SE" dirty="0"/>
              <a:t>Credible interval consistent with 0 -&gt; no significant effect.</a:t>
            </a:r>
          </a:p>
        </p:txBody>
      </p:sp>
      <p:sp>
        <p:nvSpPr>
          <p:cNvPr id="4" name="Date Placeholder 3">
            <a:extLst>
              <a:ext uri="{FF2B5EF4-FFF2-40B4-BE49-F238E27FC236}">
                <a16:creationId xmlns:a16="http://schemas.microsoft.com/office/drawing/2014/main" id="{7B070613-DC6B-AE75-63F8-DCA187B69510}"/>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C1AAB19D-A82A-D708-0BC8-FE173EE3FFD5}"/>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1D654215-9763-A857-CF66-69ECCBC1E967}"/>
              </a:ext>
            </a:extLst>
          </p:cNvPr>
          <p:cNvSpPr>
            <a:spLocks noGrp="1"/>
          </p:cNvSpPr>
          <p:nvPr>
            <p:ph type="sldNum" sz="quarter" idx="12"/>
          </p:nvPr>
        </p:nvSpPr>
        <p:spPr/>
        <p:txBody>
          <a:bodyPr/>
          <a:lstStyle/>
          <a:p>
            <a:fld id="{271ECC92-9CDE-4EB3-B1C5-F46B9E1FA3C1}" type="slidenum">
              <a:rPr lang="en-SE" smtClean="0"/>
              <a:t>70</a:t>
            </a:fld>
            <a:endParaRPr lang="en-SE"/>
          </a:p>
        </p:txBody>
      </p:sp>
      <p:grpSp>
        <p:nvGrpSpPr>
          <p:cNvPr id="7" name="Group 6">
            <a:extLst>
              <a:ext uri="{FF2B5EF4-FFF2-40B4-BE49-F238E27FC236}">
                <a16:creationId xmlns:a16="http://schemas.microsoft.com/office/drawing/2014/main" id="{404DD072-F6E0-BEFA-0C20-A13897DEE981}"/>
              </a:ext>
            </a:extLst>
          </p:cNvPr>
          <p:cNvGrpSpPr/>
          <p:nvPr/>
        </p:nvGrpSpPr>
        <p:grpSpPr>
          <a:xfrm>
            <a:off x="203635" y="1825625"/>
            <a:ext cx="504000" cy="504000"/>
            <a:chOff x="977950" y="2729564"/>
            <a:chExt cx="504000" cy="504000"/>
          </a:xfrm>
        </p:grpSpPr>
        <p:sp>
          <p:nvSpPr>
            <p:cNvPr id="8" name="Oval 7">
              <a:extLst>
                <a:ext uri="{FF2B5EF4-FFF2-40B4-BE49-F238E27FC236}">
                  <a16:creationId xmlns:a16="http://schemas.microsoft.com/office/drawing/2014/main" id="{F1375E9C-33A3-C696-76A7-206393A9565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dirty="0"/>
            </a:p>
          </p:txBody>
        </p:sp>
        <p:pic>
          <p:nvPicPr>
            <p:cNvPr id="9" name="Graphic 8" descr="Golden Ratio with solid fill">
              <a:extLst>
                <a:ext uri="{FF2B5EF4-FFF2-40B4-BE49-F238E27FC236}">
                  <a16:creationId xmlns:a16="http://schemas.microsoft.com/office/drawing/2014/main" id="{60553B27-5697-3B19-33C7-8C3150280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E6146752-18F2-7A22-B7B3-EB6A26272A7B}"/>
              </a:ext>
            </a:extLst>
          </p:cNvPr>
          <p:cNvGrpSpPr/>
          <p:nvPr/>
        </p:nvGrpSpPr>
        <p:grpSpPr>
          <a:xfrm>
            <a:off x="203635" y="2439322"/>
            <a:ext cx="504000" cy="504000"/>
            <a:chOff x="977950" y="2729564"/>
            <a:chExt cx="504000" cy="504000"/>
          </a:xfrm>
        </p:grpSpPr>
        <p:sp>
          <p:nvSpPr>
            <p:cNvPr id="11" name="Oval 10">
              <a:extLst>
                <a:ext uri="{FF2B5EF4-FFF2-40B4-BE49-F238E27FC236}">
                  <a16:creationId xmlns:a16="http://schemas.microsoft.com/office/drawing/2014/main" id="{E846C001-015D-B1EA-5B41-20700683A63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Normal Distribution with solid fill">
              <a:extLst>
                <a:ext uri="{FF2B5EF4-FFF2-40B4-BE49-F238E27FC236}">
                  <a16:creationId xmlns:a16="http://schemas.microsoft.com/office/drawing/2014/main" id="{74C4F56D-5573-3AFB-A6DF-3C244D72E58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904B40D9-24D4-EB8C-6AE2-8C7472EEC0FC}"/>
              </a:ext>
            </a:extLst>
          </p:cNvPr>
          <p:cNvGrpSpPr/>
          <p:nvPr/>
        </p:nvGrpSpPr>
        <p:grpSpPr>
          <a:xfrm>
            <a:off x="203635" y="3053019"/>
            <a:ext cx="504000" cy="504000"/>
            <a:chOff x="977950" y="2729564"/>
            <a:chExt cx="504000" cy="504000"/>
          </a:xfrm>
        </p:grpSpPr>
        <p:sp>
          <p:nvSpPr>
            <p:cNvPr id="14" name="Oval 13">
              <a:extLst>
                <a:ext uri="{FF2B5EF4-FFF2-40B4-BE49-F238E27FC236}">
                  <a16:creationId xmlns:a16="http://schemas.microsoft.com/office/drawing/2014/main" id="{F5B26744-FA4D-C08B-6A2A-6DC57324F80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Abacus with solid fill">
              <a:extLst>
                <a:ext uri="{FF2B5EF4-FFF2-40B4-BE49-F238E27FC236}">
                  <a16:creationId xmlns:a16="http://schemas.microsoft.com/office/drawing/2014/main" id="{2565DAD0-751B-B8B7-293A-607E615DD4E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24EBF898-3FE6-D47B-BCD9-28BE7DE1F2F2}"/>
              </a:ext>
            </a:extLst>
          </p:cNvPr>
          <p:cNvGrpSpPr/>
          <p:nvPr/>
        </p:nvGrpSpPr>
        <p:grpSpPr>
          <a:xfrm>
            <a:off x="203635" y="3666716"/>
            <a:ext cx="504000" cy="504000"/>
            <a:chOff x="977950" y="2729564"/>
            <a:chExt cx="504000" cy="504000"/>
          </a:xfrm>
        </p:grpSpPr>
        <p:sp>
          <p:nvSpPr>
            <p:cNvPr id="17" name="Oval 16">
              <a:extLst>
                <a:ext uri="{FF2B5EF4-FFF2-40B4-BE49-F238E27FC236}">
                  <a16:creationId xmlns:a16="http://schemas.microsoft.com/office/drawing/2014/main" id="{E2001405-FCF9-AAF3-BD55-8EA58BC6354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Trigonometry with solid fill">
              <a:extLst>
                <a:ext uri="{FF2B5EF4-FFF2-40B4-BE49-F238E27FC236}">
                  <a16:creationId xmlns:a16="http://schemas.microsoft.com/office/drawing/2014/main" id="{C1114A87-9447-851B-03D5-A95F189D261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7D0648E4-F5A1-4D98-F5E0-9D13984238DD}"/>
              </a:ext>
            </a:extLst>
          </p:cNvPr>
          <p:cNvGrpSpPr/>
          <p:nvPr/>
        </p:nvGrpSpPr>
        <p:grpSpPr>
          <a:xfrm>
            <a:off x="203635" y="4280414"/>
            <a:ext cx="504000" cy="504000"/>
            <a:chOff x="977950" y="2729564"/>
            <a:chExt cx="504000" cy="504000"/>
          </a:xfrm>
        </p:grpSpPr>
        <p:sp>
          <p:nvSpPr>
            <p:cNvPr id="20" name="Oval 19">
              <a:extLst>
                <a:ext uri="{FF2B5EF4-FFF2-40B4-BE49-F238E27FC236}">
                  <a16:creationId xmlns:a16="http://schemas.microsoft.com/office/drawing/2014/main" id="{7548A5AA-09A6-388F-56A6-92D009A823CA}"/>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Scatterplot with solid fill">
              <a:extLst>
                <a:ext uri="{FF2B5EF4-FFF2-40B4-BE49-F238E27FC236}">
                  <a16:creationId xmlns:a16="http://schemas.microsoft.com/office/drawing/2014/main" id="{0D12DC52-8241-0587-0884-E4339FE3926A}"/>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22" name="Straight Arrow Connector 21">
            <a:extLst>
              <a:ext uri="{FF2B5EF4-FFF2-40B4-BE49-F238E27FC236}">
                <a16:creationId xmlns:a16="http://schemas.microsoft.com/office/drawing/2014/main" id="{4056B11C-ABC3-2ACF-2A69-8D2B2648962C}"/>
              </a:ext>
            </a:extLst>
          </p:cNvPr>
          <p:cNvCxnSpPr>
            <a:cxnSpLocks/>
            <a:stCxn id="8" idx="4"/>
            <a:endCxn id="11"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E7ABDCC2-64D1-8CA7-5CBD-CE916534B16E}"/>
              </a:ext>
            </a:extLst>
          </p:cNvPr>
          <p:cNvCxnSpPr>
            <a:cxnSpLocks/>
            <a:stCxn id="11" idx="4"/>
            <a:endCxn id="14"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F194AA67-E008-D6EC-1C2A-B6F4AA46AA0A}"/>
              </a:ext>
            </a:extLst>
          </p:cNvPr>
          <p:cNvCxnSpPr>
            <a:cxnSpLocks/>
            <a:stCxn id="14" idx="4"/>
            <a:endCxn id="17"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EECDDE17-6EEC-3E91-4DAB-AB2EB235F3C5}"/>
              </a:ext>
            </a:extLst>
          </p:cNvPr>
          <p:cNvCxnSpPr>
            <a:cxnSpLocks/>
            <a:stCxn id="17" idx="4"/>
            <a:endCxn id="20"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72523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6CB14-8B57-DEEB-3CE8-4030B2C1610D}"/>
              </a:ext>
            </a:extLst>
          </p:cNvPr>
          <p:cNvSpPr>
            <a:spLocks noGrp="1"/>
          </p:cNvSpPr>
          <p:nvPr>
            <p:ph type="title"/>
          </p:nvPr>
        </p:nvSpPr>
        <p:spPr/>
        <p:txBody>
          <a:bodyPr/>
          <a:lstStyle/>
          <a:p>
            <a:r>
              <a:rPr lang="en-SE" dirty="0"/>
              <a:t>Effect of Priors</a:t>
            </a:r>
          </a:p>
        </p:txBody>
      </p:sp>
      <p:sp>
        <p:nvSpPr>
          <p:cNvPr id="3" name="Content Placeholder 2">
            <a:extLst>
              <a:ext uri="{FF2B5EF4-FFF2-40B4-BE49-F238E27FC236}">
                <a16:creationId xmlns:a16="http://schemas.microsoft.com/office/drawing/2014/main" id="{30E85F1B-53C5-3AA0-3090-2863000C45B6}"/>
              </a:ext>
            </a:extLst>
          </p:cNvPr>
          <p:cNvSpPr>
            <a:spLocks noGrp="1"/>
          </p:cNvSpPr>
          <p:nvPr>
            <p:ph idx="1"/>
          </p:nvPr>
        </p:nvSpPr>
        <p:spPr/>
        <p:txBody>
          <a:bodyPr/>
          <a:lstStyle/>
          <a:p>
            <a:pPr marL="0" indent="0">
              <a:buNone/>
            </a:pPr>
            <a:r>
              <a:rPr lang="en-SE" dirty="0"/>
              <a:t>By carefully selecting and assessing prior probability distributions, they act as a </a:t>
            </a:r>
            <a:r>
              <a:rPr lang="en-SE" b="1" dirty="0"/>
              <a:t>regularization</a:t>
            </a:r>
            <a:r>
              <a:rPr lang="en-SE" dirty="0"/>
              <a:t>: extreme results require extreme evidence.</a:t>
            </a:r>
          </a:p>
        </p:txBody>
      </p:sp>
      <p:sp>
        <p:nvSpPr>
          <p:cNvPr id="4" name="Date Placeholder 3">
            <a:extLst>
              <a:ext uri="{FF2B5EF4-FFF2-40B4-BE49-F238E27FC236}">
                <a16:creationId xmlns:a16="http://schemas.microsoft.com/office/drawing/2014/main" id="{9E328AD6-B6D3-2382-7E56-F79C19570026}"/>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B745933-19D0-FEB2-C3CD-B06B06083365}"/>
              </a:ext>
            </a:extLst>
          </p:cNvPr>
          <p:cNvSpPr>
            <a:spLocks noGrp="1"/>
          </p:cNvSpPr>
          <p:nvPr>
            <p:ph type="sldNum" sz="quarter" idx="12"/>
          </p:nvPr>
        </p:nvSpPr>
        <p:spPr/>
        <p:txBody>
          <a:bodyPr/>
          <a:lstStyle/>
          <a:p>
            <a:fld id="{271ECC92-9CDE-4EB3-B1C5-F46B9E1FA3C1}" type="slidenum">
              <a:rPr lang="en-SE" smtClean="0"/>
              <a:t>71</a:t>
            </a:fld>
            <a:endParaRPr lang="en-SE"/>
          </a:p>
        </p:txBody>
      </p:sp>
      <p:sp>
        <p:nvSpPr>
          <p:cNvPr id="6" name="Footer Placeholder 5">
            <a:extLst>
              <a:ext uri="{FF2B5EF4-FFF2-40B4-BE49-F238E27FC236}">
                <a16:creationId xmlns:a16="http://schemas.microsoft.com/office/drawing/2014/main" id="{356B1790-C85F-D37F-BD86-A831C9046E30}"/>
              </a:ext>
            </a:extLst>
          </p:cNvPr>
          <p:cNvSpPr>
            <a:spLocks noGrp="1"/>
          </p:cNvSpPr>
          <p:nvPr>
            <p:ph type="ftr" sz="quarter" idx="11"/>
          </p:nvPr>
        </p:nvSpPr>
        <p:spPr/>
        <p:txBody>
          <a:bodyPr/>
          <a:lstStyle/>
          <a:p>
            <a:r>
              <a:rPr lang="de-DE"/>
              <a:t>Bayesian Data Analysis Tutorial</a:t>
            </a:r>
            <a:endParaRPr lang="en-SE"/>
          </a:p>
        </p:txBody>
      </p:sp>
      <p:grpSp>
        <p:nvGrpSpPr>
          <p:cNvPr id="26" name="Group 25">
            <a:extLst>
              <a:ext uri="{FF2B5EF4-FFF2-40B4-BE49-F238E27FC236}">
                <a16:creationId xmlns:a16="http://schemas.microsoft.com/office/drawing/2014/main" id="{3AF67F4D-D0E3-4DF6-B6F1-0107813F1C4A}"/>
              </a:ext>
            </a:extLst>
          </p:cNvPr>
          <p:cNvGrpSpPr/>
          <p:nvPr/>
        </p:nvGrpSpPr>
        <p:grpSpPr>
          <a:xfrm>
            <a:off x="203635" y="1825625"/>
            <a:ext cx="504000" cy="504000"/>
            <a:chOff x="977950" y="2729564"/>
            <a:chExt cx="504000" cy="504000"/>
          </a:xfrm>
        </p:grpSpPr>
        <p:sp>
          <p:nvSpPr>
            <p:cNvPr id="27" name="Oval 26">
              <a:extLst>
                <a:ext uri="{FF2B5EF4-FFF2-40B4-BE49-F238E27FC236}">
                  <a16:creationId xmlns:a16="http://schemas.microsoft.com/office/drawing/2014/main" id="{9C44F3DB-11FD-842C-5CB0-7F486F8CFCB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8" name="Graphic 27" descr="Golden Ratio with solid fill">
              <a:extLst>
                <a:ext uri="{FF2B5EF4-FFF2-40B4-BE49-F238E27FC236}">
                  <a16:creationId xmlns:a16="http://schemas.microsoft.com/office/drawing/2014/main" id="{97C2AA39-70C7-DEE6-568B-BF0AFF13993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1950" y="2783564"/>
              <a:ext cx="396000" cy="396000"/>
            </a:xfrm>
            <a:prstGeom prst="rect">
              <a:avLst/>
            </a:prstGeom>
          </p:spPr>
        </p:pic>
      </p:grpSp>
      <p:grpSp>
        <p:nvGrpSpPr>
          <p:cNvPr id="29" name="Group 28">
            <a:extLst>
              <a:ext uri="{FF2B5EF4-FFF2-40B4-BE49-F238E27FC236}">
                <a16:creationId xmlns:a16="http://schemas.microsoft.com/office/drawing/2014/main" id="{6E120F12-6606-27BC-05DB-6E445AF1F115}"/>
              </a:ext>
            </a:extLst>
          </p:cNvPr>
          <p:cNvGrpSpPr/>
          <p:nvPr/>
        </p:nvGrpSpPr>
        <p:grpSpPr>
          <a:xfrm>
            <a:off x="203635" y="2439322"/>
            <a:ext cx="504000" cy="504000"/>
            <a:chOff x="977950" y="2729564"/>
            <a:chExt cx="504000" cy="504000"/>
          </a:xfrm>
        </p:grpSpPr>
        <p:sp>
          <p:nvSpPr>
            <p:cNvPr id="30" name="Oval 29">
              <a:extLst>
                <a:ext uri="{FF2B5EF4-FFF2-40B4-BE49-F238E27FC236}">
                  <a16:creationId xmlns:a16="http://schemas.microsoft.com/office/drawing/2014/main" id="{4B023C20-0998-3079-8A19-13131A50A149}"/>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1" name="Graphic 30" descr="Normal Distribution with solid fill">
              <a:extLst>
                <a:ext uri="{FF2B5EF4-FFF2-40B4-BE49-F238E27FC236}">
                  <a16:creationId xmlns:a16="http://schemas.microsoft.com/office/drawing/2014/main" id="{47781159-05E5-633F-9F6C-7060B3DB690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2" name="Group 31">
            <a:extLst>
              <a:ext uri="{FF2B5EF4-FFF2-40B4-BE49-F238E27FC236}">
                <a16:creationId xmlns:a16="http://schemas.microsoft.com/office/drawing/2014/main" id="{4C85CC18-CCC9-4505-FE0D-FA061F5A2176}"/>
              </a:ext>
            </a:extLst>
          </p:cNvPr>
          <p:cNvGrpSpPr/>
          <p:nvPr/>
        </p:nvGrpSpPr>
        <p:grpSpPr>
          <a:xfrm>
            <a:off x="203635" y="3053019"/>
            <a:ext cx="504000" cy="504000"/>
            <a:chOff x="977950" y="2729564"/>
            <a:chExt cx="504000" cy="504000"/>
          </a:xfrm>
        </p:grpSpPr>
        <p:sp>
          <p:nvSpPr>
            <p:cNvPr id="33" name="Oval 32">
              <a:extLst>
                <a:ext uri="{FF2B5EF4-FFF2-40B4-BE49-F238E27FC236}">
                  <a16:creationId xmlns:a16="http://schemas.microsoft.com/office/drawing/2014/main" id="{7BDB14D6-5040-E25A-A0A5-F2C46A65EAB8}"/>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4" name="Graphic 33" descr="Abacus with solid fill">
              <a:extLst>
                <a:ext uri="{FF2B5EF4-FFF2-40B4-BE49-F238E27FC236}">
                  <a16:creationId xmlns:a16="http://schemas.microsoft.com/office/drawing/2014/main" id="{51974BC8-FFC6-3CFF-4061-F2A2D607DE2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5" name="Group 34">
            <a:extLst>
              <a:ext uri="{FF2B5EF4-FFF2-40B4-BE49-F238E27FC236}">
                <a16:creationId xmlns:a16="http://schemas.microsoft.com/office/drawing/2014/main" id="{B293B4F9-7A4D-2208-386F-E2052BEE44E5}"/>
              </a:ext>
            </a:extLst>
          </p:cNvPr>
          <p:cNvGrpSpPr/>
          <p:nvPr/>
        </p:nvGrpSpPr>
        <p:grpSpPr>
          <a:xfrm>
            <a:off x="203635" y="3666716"/>
            <a:ext cx="504000" cy="504000"/>
            <a:chOff x="977950" y="2729564"/>
            <a:chExt cx="504000" cy="504000"/>
          </a:xfrm>
        </p:grpSpPr>
        <p:sp>
          <p:nvSpPr>
            <p:cNvPr id="36" name="Oval 35">
              <a:extLst>
                <a:ext uri="{FF2B5EF4-FFF2-40B4-BE49-F238E27FC236}">
                  <a16:creationId xmlns:a16="http://schemas.microsoft.com/office/drawing/2014/main" id="{5B6266BA-FF79-7CB0-91B9-7609D48FB3DA}"/>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7" name="Graphic 36" descr="Trigonometry with solid fill">
              <a:extLst>
                <a:ext uri="{FF2B5EF4-FFF2-40B4-BE49-F238E27FC236}">
                  <a16:creationId xmlns:a16="http://schemas.microsoft.com/office/drawing/2014/main" id="{20066EFC-670E-E071-8505-319E8E1F122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38" name="Group 37">
            <a:extLst>
              <a:ext uri="{FF2B5EF4-FFF2-40B4-BE49-F238E27FC236}">
                <a16:creationId xmlns:a16="http://schemas.microsoft.com/office/drawing/2014/main" id="{EC14C572-6F29-F81F-658D-A04B703FCAE5}"/>
              </a:ext>
            </a:extLst>
          </p:cNvPr>
          <p:cNvGrpSpPr/>
          <p:nvPr/>
        </p:nvGrpSpPr>
        <p:grpSpPr>
          <a:xfrm>
            <a:off x="203635" y="4280414"/>
            <a:ext cx="504000" cy="504000"/>
            <a:chOff x="977950" y="2729564"/>
            <a:chExt cx="504000" cy="504000"/>
          </a:xfrm>
        </p:grpSpPr>
        <p:sp>
          <p:nvSpPr>
            <p:cNvPr id="39" name="Oval 38">
              <a:extLst>
                <a:ext uri="{FF2B5EF4-FFF2-40B4-BE49-F238E27FC236}">
                  <a16:creationId xmlns:a16="http://schemas.microsoft.com/office/drawing/2014/main" id="{C253F73C-0656-0CFF-1692-F1279016CB64}"/>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0" name="Graphic 39" descr="Scatterplot with solid fill">
              <a:extLst>
                <a:ext uri="{FF2B5EF4-FFF2-40B4-BE49-F238E27FC236}">
                  <a16:creationId xmlns:a16="http://schemas.microsoft.com/office/drawing/2014/main" id="{31599B58-8C08-1690-8946-98EF21BDBA4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cxnSp>
        <p:nvCxnSpPr>
          <p:cNvPr id="41" name="Straight Arrow Connector 40">
            <a:extLst>
              <a:ext uri="{FF2B5EF4-FFF2-40B4-BE49-F238E27FC236}">
                <a16:creationId xmlns:a16="http://schemas.microsoft.com/office/drawing/2014/main" id="{CDC0AED0-0F6A-0BE7-97B4-AC8C20AF71DF}"/>
              </a:ext>
            </a:extLst>
          </p:cNvPr>
          <p:cNvCxnSpPr>
            <a:cxnSpLocks/>
            <a:stCxn id="27" idx="4"/>
            <a:endCxn id="30" idx="0"/>
          </p:cNvCxnSpPr>
          <p:nvPr/>
        </p:nvCxnSpPr>
        <p:spPr>
          <a:xfrm>
            <a:off x="455635"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Straight Arrow Connector 41">
            <a:extLst>
              <a:ext uri="{FF2B5EF4-FFF2-40B4-BE49-F238E27FC236}">
                <a16:creationId xmlns:a16="http://schemas.microsoft.com/office/drawing/2014/main" id="{0587D46E-6A71-7B02-66A3-97BC942E3FEB}"/>
              </a:ext>
            </a:extLst>
          </p:cNvPr>
          <p:cNvCxnSpPr>
            <a:cxnSpLocks/>
            <a:stCxn id="30" idx="4"/>
            <a:endCxn id="33" idx="0"/>
          </p:cNvCxnSpPr>
          <p:nvPr/>
        </p:nvCxnSpPr>
        <p:spPr>
          <a:xfrm>
            <a:off x="455635"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EF94FEA1-22FC-1E64-E807-48032342F5D4}"/>
              </a:ext>
            </a:extLst>
          </p:cNvPr>
          <p:cNvCxnSpPr>
            <a:cxnSpLocks/>
            <a:stCxn id="33" idx="4"/>
            <a:endCxn id="36" idx="0"/>
          </p:cNvCxnSpPr>
          <p:nvPr/>
        </p:nvCxnSpPr>
        <p:spPr>
          <a:xfrm>
            <a:off x="455635"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541BC83B-5D0C-8E9D-75F1-C2D90BB65D4B}"/>
              </a:ext>
            </a:extLst>
          </p:cNvPr>
          <p:cNvCxnSpPr>
            <a:cxnSpLocks/>
            <a:stCxn id="36" idx="4"/>
            <a:endCxn id="39" idx="0"/>
          </p:cNvCxnSpPr>
          <p:nvPr/>
        </p:nvCxnSpPr>
        <p:spPr>
          <a:xfrm>
            <a:off x="455635" y="4170716"/>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4235517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796B-39B9-148E-B0E2-A9B9C9D32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7AA4C-511A-1B8F-6FF5-0783BF01601D}"/>
              </a:ext>
            </a:extLst>
          </p:cNvPr>
          <p:cNvSpPr>
            <a:spLocks noGrp="1"/>
          </p:cNvSpPr>
          <p:nvPr>
            <p:ph type="title"/>
          </p:nvPr>
        </p:nvSpPr>
        <p:spPr/>
        <p:txBody>
          <a:bodyPr/>
          <a:lstStyle/>
          <a:p>
            <a:r>
              <a:rPr lang="en-US" noProof="0" dirty="0"/>
              <a:t>Application II</a:t>
            </a:r>
          </a:p>
        </p:txBody>
      </p:sp>
      <p:sp>
        <p:nvSpPr>
          <p:cNvPr id="3" name="Text Placeholder 2">
            <a:extLst>
              <a:ext uri="{FF2B5EF4-FFF2-40B4-BE49-F238E27FC236}">
                <a16:creationId xmlns:a16="http://schemas.microsoft.com/office/drawing/2014/main" id="{F241831A-6D50-3713-BA7F-C674C3E723B4}"/>
              </a:ext>
            </a:extLst>
          </p:cNvPr>
          <p:cNvSpPr>
            <a:spLocks noGrp="1"/>
          </p:cNvSpPr>
          <p:nvPr>
            <p:ph type="body" idx="1"/>
          </p:nvPr>
        </p:nvSpPr>
        <p:spPr/>
        <p:txBody>
          <a:bodyPr/>
          <a:lstStyle/>
          <a:p>
            <a:r>
              <a:rPr lang="en-US" noProof="0" dirty="0"/>
              <a:t>Live demonstration of a BDA workflow in practice</a:t>
            </a:r>
          </a:p>
        </p:txBody>
      </p:sp>
      <p:sp>
        <p:nvSpPr>
          <p:cNvPr id="4" name="Date Placeholder 3">
            <a:extLst>
              <a:ext uri="{FF2B5EF4-FFF2-40B4-BE49-F238E27FC236}">
                <a16:creationId xmlns:a16="http://schemas.microsoft.com/office/drawing/2014/main" id="{BDE1CD9A-0D7A-860D-7B58-116E016AE5F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CD4E333-B965-76AC-13E9-7D61992AE4F1}"/>
              </a:ext>
            </a:extLst>
          </p:cNvPr>
          <p:cNvSpPr>
            <a:spLocks noGrp="1"/>
          </p:cNvSpPr>
          <p:nvPr>
            <p:ph type="sldNum" sz="quarter" idx="12"/>
          </p:nvPr>
        </p:nvSpPr>
        <p:spPr/>
        <p:txBody>
          <a:bodyPr/>
          <a:lstStyle/>
          <a:p>
            <a:fld id="{271ECC92-9CDE-4EB3-B1C5-F46B9E1FA3C1}" type="slidenum">
              <a:rPr lang="en-US" noProof="0" smtClean="0"/>
              <a:t>72</a:t>
            </a:fld>
            <a:endParaRPr lang="en-US" noProof="0" dirty="0"/>
          </a:p>
        </p:txBody>
      </p:sp>
      <p:sp>
        <p:nvSpPr>
          <p:cNvPr id="6" name="Footer Placeholder 5">
            <a:extLst>
              <a:ext uri="{FF2B5EF4-FFF2-40B4-BE49-F238E27FC236}">
                <a16:creationId xmlns:a16="http://schemas.microsoft.com/office/drawing/2014/main" id="{6F1BF6DC-2364-E4EB-0953-76F365254A53}"/>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8807067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DB01BB-E5D8-884B-920D-3A31E49EC4B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3902B27-3F81-2645-DA95-88B3A4D4517E}"/>
              </a:ext>
            </a:extLst>
          </p:cNvPr>
          <p:cNvSpPr>
            <a:spLocks noGrp="1"/>
          </p:cNvSpPr>
          <p:nvPr>
            <p:ph type="title"/>
          </p:nvPr>
        </p:nvSpPr>
        <p:spPr/>
        <p:txBody>
          <a:bodyPr/>
          <a:lstStyle/>
          <a:p>
            <a:r>
              <a:rPr lang="en-US" noProof="0" dirty="0"/>
              <a:t>The Bayesian Workflow</a:t>
            </a:r>
          </a:p>
        </p:txBody>
      </p:sp>
      <p:sp>
        <p:nvSpPr>
          <p:cNvPr id="7" name="Content Placeholder 6">
            <a:extLst>
              <a:ext uri="{FF2B5EF4-FFF2-40B4-BE49-F238E27FC236}">
                <a16:creationId xmlns:a16="http://schemas.microsoft.com/office/drawing/2014/main" id="{E471C867-D589-249B-F81E-AABAD8D27CBD}"/>
              </a:ext>
            </a:extLst>
          </p:cNvPr>
          <p:cNvSpPr>
            <a:spLocks noGrp="1"/>
          </p:cNvSpPr>
          <p:nvPr>
            <p:ph idx="1"/>
          </p:nvPr>
        </p:nvSpPr>
        <p:spPr>
          <a:xfrm>
            <a:off x="838200" y="1825625"/>
            <a:ext cx="10515600" cy="967002"/>
          </a:xfrm>
        </p:spPr>
        <p:txBody>
          <a:bodyPr/>
          <a:lstStyle/>
          <a:p>
            <a:pPr marL="0" indent="0">
              <a:buNone/>
            </a:pPr>
            <a:r>
              <a:rPr lang="en-US" noProof="0" dirty="0"/>
              <a:t>The </a:t>
            </a:r>
            <a:r>
              <a:rPr lang="en-SE" noProof="0" dirty="0"/>
              <a:t>upcoming</a:t>
            </a:r>
            <a:r>
              <a:rPr lang="en-US" noProof="0" dirty="0"/>
              <a:t> demonstration will teach </a:t>
            </a:r>
            <a:r>
              <a:rPr lang="en-SE" noProof="0" dirty="0"/>
              <a:t>you to </a:t>
            </a:r>
            <a:r>
              <a:rPr lang="en-SE" i="1" noProof="0" dirty="0"/>
              <a:t>understand </a:t>
            </a:r>
            <a:r>
              <a:rPr lang="en-SE" noProof="0" dirty="0"/>
              <a:t>or </a:t>
            </a:r>
            <a:r>
              <a:rPr lang="en-SE" b="1" noProof="0" dirty="0"/>
              <a:t>do </a:t>
            </a:r>
            <a:r>
              <a:rPr lang="en-SE" noProof="0" dirty="0"/>
              <a:t>the following </a:t>
            </a:r>
            <a:r>
              <a:rPr lang="en-SE" noProof="0" dirty="0">
                <a:solidFill>
                  <a:schemeClr val="accent1">
                    <a:lumMod val="75000"/>
                  </a:schemeClr>
                </a:solidFill>
              </a:rPr>
              <a:t>new</a:t>
            </a:r>
            <a:r>
              <a:rPr lang="en-SE" noProof="0" dirty="0"/>
              <a:t> steps of a practical Bayesian workflow:</a:t>
            </a:r>
            <a:endParaRPr lang="en-US" noProof="0" dirty="0"/>
          </a:p>
        </p:txBody>
      </p:sp>
      <p:sp>
        <p:nvSpPr>
          <p:cNvPr id="4" name="Date Placeholder 3">
            <a:extLst>
              <a:ext uri="{FF2B5EF4-FFF2-40B4-BE49-F238E27FC236}">
                <a16:creationId xmlns:a16="http://schemas.microsoft.com/office/drawing/2014/main" id="{22ED4378-D163-4529-C572-F5912D183051}"/>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3147270-1A8F-3493-65FF-588301391AA3}"/>
              </a:ext>
            </a:extLst>
          </p:cNvPr>
          <p:cNvSpPr>
            <a:spLocks noGrp="1"/>
          </p:cNvSpPr>
          <p:nvPr>
            <p:ph type="sldNum" sz="quarter" idx="12"/>
          </p:nvPr>
        </p:nvSpPr>
        <p:spPr/>
        <p:txBody>
          <a:bodyPr/>
          <a:lstStyle/>
          <a:p>
            <a:fld id="{271ECC92-9CDE-4EB3-B1C5-F46B9E1FA3C1}" type="slidenum">
              <a:rPr lang="en-US" noProof="0" smtClean="0"/>
              <a:t>73</a:t>
            </a:fld>
            <a:endParaRPr lang="en-US" noProof="0" dirty="0"/>
          </a:p>
        </p:txBody>
      </p:sp>
      <p:grpSp>
        <p:nvGrpSpPr>
          <p:cNvPr id="62" name="Group 61">
            <a:extLst>
              <a:ext uri="{FF2B5EF4-FFF2-40B4-BE49-F238E27FC236}">
                <a16:creationId xmlns:a16="http://schemas.microsoft.com/office/drawing/2014/main" id="{75B4F6DD-60F4-1459-06AC-712D93B5AC3E}"/>
              </a:ext>
            </a:extLst>
          </p:cNvPr>
          <p:cNvGrpSpPr/>
          <p:nvPr/>
        </p:nvGrpSpPr>
        <p:grpSpPr>
          <a:xfrm>
            <a:off x="1485898" y="2752065"/>
            <a:ext cx="504000" cy="504000"/>
            <a:chOff x="977950" y="2729564"/>
            <a:chExt cx="504000" cy="504000"/>
          </a:xfrm>
        </p:grpSpPr>
        <p:sp>
          <p:nvSpPr>
            <p:cNvPr id="2" name="Oval 1">
              <a:extLst>
                <a:ext uri="{FF2B5EF4-FFF2-40B4-BE49-F238E27FC236}">
                  <a16:creationId xmlns:a16="http://schemas.microsoft.com/office/drawing/2014/main" id="{3351391F-61EF-3E4A-8549-A01403E5338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Bar chart with solid fill">
              <a:extLst>
                <a:ext uri="{FF2B5EF4-FFF2-40B4-BE49-F238E27FC236}">
                  <a16:creationId xmlns:a16="http://schemas.microsoft.com/office/drawing/2014/main" id="{B93401DE-4526-C739-F172-9479D6ABE09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sp>
        <p:nvSpPr>
          <p:cNvPr id="49" name="TextBox 48">
            <a:extLst>
              <a:ext uri="{FF2B5EF4-FFF2-40B4-BE49-F238E27FC236}">
                <a16:creationId xmlns:a16="http://schemas.microsoft.com/office/drawing/2014/main" id="{420559E4-0598-F04B-D7B7-C8B0847CE6D7}"/>
              </a:ext>
            </a:extLst>
          </p:cNvPr>
          <p:cNvSpPr txBox="1"/>
          <p:nvPr/>
        </p:nvSpPr>
        <p:spPr>
          <a:xfrm>
            <a:off x="2131182" y="2830229"/>
            <a:ext cx="5142818" cy="369332"/>
          </a:xfrm>
          <a:prstGeom prst="rect">
            <a:avLst/>
          </a:prstGeom>
          <a:noFill/>
        </p:spPr>
        <p:txBody>
          <a:bodyPr wrap="none" rtlCol="0">
            <a:spAutoFit/>
          </a:bodyPr>
          <a:lstStyle/>
          <a:p>
            <a:r>
              <a:rPr lang="en-SE" b="1" dirty="0">
                <a:solidFill>
                  <a:schemeClr val="accent1">
                    <a:lumMod val="75000"/>
                  </a:schemeClr>
                </a:solidFill>
              </a:rPr>
              <a:t>Select</a:t>
            </a:r>
            <a:r>
              <a:rPr lang="en-SE" dirty="0">
                <a:solidFill>
                  <a:schemeClr val="accent1">
                    <a:lumMod val="75000"/>
                  </a:schemeClr>
                </a:solidFill>
              </a:rPr>
              <a:t> a distribution family with maximum entropy</a:t>
            </a:r>
          </a:p>
        </p:txBody>
      </p:sp>
      <p:sp>
        <p:nvSpPr>
          <p:cNvPr id="51" name="TextBox 50">
            <a:extLst>
              <a:ext uri="{FF2B5EF4-FFF2-40B4-BE49-F238E27FC236}">
                <a16:creationId xmlns:a16="http://schemas.microsoft.com/office/drawing/2014/main" id="{DD5EB5B5-E7FB-DA22-33A9-0AE3A2C1CDF6}"/>
              </a:ext>
            </a:extLst>
          </p:cNvPr>
          <p:cNvSpPr txBox="1"/>
          <p:nvPr/>
        </p:nvSpPr>
        <p:spPr>
          <a:xfrm>
            <a:off x="2131182" y="3443927"/>
            <a:ext cx="6021648" cy="369332"/>
          </a:xfrm>
          <a:prstGeom prst="rect">
            <a:avLst/>
          </a:prstGeom>
          <a:noFill/>
        </p:spPr>
        <p:txBody>
          <a:bodyPr wrap="none" rtlCol="0">
            <a:spAutoFit/>
          </a:bodyPr>
          <a:lstStyle/>
          <a:p>
            <a:r>
              <a:rPr lang="en-SE" b="1" dirty="0"/>
              <a:t>Build</a:t>
            </a:r>
            <a:r>
              <a:rPr lang="en-SE" dirty="0"/>
              <a:t> a regression formula </a:t>
            </a:r>
            <a:r>
              <a:rPr lang="en-SE" dirty="0">
                <a:solidFill>
                  <a:schemeClr val="accent1">
                    <a:lumMod val="75000"/>
                  </a:schemeClr>
                </a:solidFill>
              </a:rPr>
              <a:t>with an appropriate </a:t>
            </a:r>
            <a:r>
              <a:rPr lang="en-SE" i="1" dirty="0">
                <a:solidFill>
                  <a:schemeClr val="accent1">
                    <a:lumMod val="75000"/>
                  </a:schemeClr>
                </a:solidFill>
              </a:rPr>
              <a:t>link function</a:t>
            </a:r>
          </a:p>
        </p:txBody>
      </p:sp>
      <p:sp>
        <p:nvSpPr>
          <p:cNvPr id="53" name="TextBox 52">
            <a:extLst>
              <a:ext uri="{FF2B5EF4-FFF2-40B4-BE49-F238E27FC236}">
                <a16:creationId xmlns:a16="http://schemas.microsoft.com/office/drawing/2014/main" id="{157FA3D4-7603-03DB-CB9A-B2CCB311B029}"/>
              </a:ext>
            </a:extLst>
          </p:cNvPr>
          <p:cNvSpPr txBox="1"/>
          <p:nvPr/>
        </p:nvSpPr>
        <p:spPr>
          <a:xfrm>
            <a:off x="2131182" y="40538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3A26E227-8042-67CF-54B4-5F5E25E8538A}"/>
              </a:ext>
            </a:extLst>
          </p:cNvPr>
          <p:cNvSpPr txBox="1"/>
          <p:nvPr/>
        </p:nvSpPr>
        <p:spPr>
          <a:xfrm>
            <a:off x="2131182" y="46593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B7C1A9AF-7C36-4302-FA29-104B88202E82}"/>
              </a:ext>
            </a:extLst>
          </p:cNvPr>
          <p:cNvSpPr txBox="1"/>
          <p:nvPr/>
        </p:nvSpPr>
        <p:spPr>
          <a:xfrm>
            <a:off x="2131182" y="52792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6F2F4A68-F7AC-B1C5-C393-A1AA089061AC}"/>
              </a:ext>
            </a:extLst>
          </p:cNvPr>
          <p:cNvSpPr txBox="1"/>
          <p:nvPr/>
        </p:nvSpPr>
        <p:spPr>
          <a:xfrm>
            <a:off x="2131182" y="5901219"/>
            <a:ext cx="6560450" cy="369332"/>
          </a:xfrm>
          <a:prstGeom prst="rect">
            <a:avLst/>
          </a:prstGeom>
          <a:noFill/>
        </p:spPr>
        <p:txBody>
          <a:bodyPr wrap="none" rtlCol="0">
            <a:spAutoFit/>
          </a:bodyPr>
          <a:lstStyle/>
          <a:p>
            <a:r>
              <a:rPr lang="en-SE" b="1" dirty="0">
                <a:solidFill>
                  <a:schemeClr val="accent1">
                    <a:lumMod val="75000"/>
                  </a:schemeClr>
                </a:solidFill>
              </a:rPr>
              <a:t>Plot </a:t>
            </a:r>
            <a:r>
              <a:rPr lang="en-SE" dirty="0">
                <a:solidFill>
                  <a:schemeClr val="accent1">
                    <a:lumMod val="75000"/>
                  </a:schemeClr>
                </a:solidFill>
              </a:rPr>
              <a:t>marginal effects to draw conclusions from Bayesian models</a:t>
            </a:r>
          </a:p>
        </p:txBody>
      </p:sp>
      <p:grpSp>
        <p:nvGrpSpPr>
          <p:cNvPr id="63" name="Group 62">
            <a:extLst>
              <a:ext uri="{FF2B5EF4-FFF2-40B4-BE49-F238E27FC236}">
                <a16:creationId xmlns:a16="http://schemas.microsoft.com/office/drawing/2014/main" id="{5B078E37-A869-B4A2-6114-58CC6215A200}"/>
              </a:ext>
            </a:extLst>
          </p:cNvPr>
          <p:cNvGrpSpPr/>
          <p:nvPr/>
        </p:nvGrpSpPr>
        <p:grpSpPr>
          <a:xfrm>
            <a:off x="1485898" y="3365762"/>
            <a:ext cx="504000" cy="504000"/>
            <a:chOff x="977950" y="2729564"/>
            <a:chExt cx="504000" cy="504000"/>
          </a:xfrm>
        </p:grpSpPr>
        <p:sp>
          <p:nvSpPr>
            <p:cNvPr id="64" name="Oval 63">
              <a:extLst>
                <a:ext uri="{FF2B5EF4-FFF2-40B4-BE49-F238E27FC236}">
                  <a16:creationId xmlns:a16="http://schemas.microsoft.com/office/drawing/2014/main" id="{B9A58820-7108-6BB7-163D-F33B40E83F6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CBE68CAC-F78F-1E89-56FF-53B42DC9ED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079165FE-F388-9D3C-A745-6F22C21E3EEA}"/>
              </a:ext>
            </a:extLst>
          </p:cNvPr>
          <p:cNvGrpSpPr/>
          <p:nvPr/>
        </p:nvGrpSpPr>
        <p:grpSpPr>
          <a:xfrm>
            <a:off x="1485898" y="3979459"/>
            <a:ext cx="504000" cy="504000"/>
            <a:chOff x="977950" y="2729564"/>
            <a:chExt cx="504000" cy="504000"/>
          </a:xfrm>
        </p:grpSpPr>
        <p:sp>
          <p:nvSpPr>
            <p:cNvPr id="67" name="Oval 66">
              <a:extLst>
                <a:ext uri="{FF2B5EF4-FFF2-40B4-BE49-F238E27FC236}">
                  <a16:creationId xmlns:a16="http://schemas.microsoft.com/office/drawing/2014/main" id="{77E4CF87-74F8-42AE-D71F-3C82B5F9194F}"/>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5209CB58-E628-1B91-DA82-BC5CEB38256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7F068E32-617E-B2AC-3C69-D898A4A51B98}"/>
              </a:ext>
            </a:extLst>
          </p:cNvPr>
          <p:cNvGrpSpPr/>
          <p:nvPr/>
        </p:nvGrpSpPr>
        <p:grpSpPr>
          <a:xfrm>
            <a:off x="1485898" y="4593156"/>
            <a:ext cx="504000" cy="504000"/>
            <a:chOff x="977950" y="2729564"/>
            <a:chExt cx="504000" cy="504000"/>
          </a:xfrm>
        </p:grpSpPr>
        <p:sp>
          <p:nvSpPr>
            <p:cNvPr id="70" name="Oval 69">
              <a:extLst>
                <a:ext uri="{FF2B5EF4-FFF2-40B4-BE49-F238E27FC236}">
                  <a16:creationId xmlns:a16="http://schemas.microsoft.com/office/drawing/2014/main" id="{537935C3-F93C-9B33-2541-3B7FDBEC83ED}"/>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E696FA13-D871-A44D-19BA-D1DAF689883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CC471B81-8B62-DA98-F531-F0F66895E41D}"/>
              </a:ext>
            </a:extLst>
          </p:cNvPr>
          <p:cNvGrpSpPr/>
          <p:nvPr/>
        </p:nvGrpSpPr>
        <p:grpSpPr>
          <a:xfrm>
            <a:off x="1485898" y="5206853"/>
            <a:ext cx="504000" cy="504000"/>
            <a:chOff x="977950" y="2729564"/>
            <a:chExt cx="504000" cy="504000"/>
          </a:xfrm>
        </p:grpSpPr>
        <p:sp>
          <p:nvSpPr>
            <p:cNvPr id="73" name="Oval 72">
              <a:extLst>
                <a:ext uri="{FF2B5EF4-FFF2-40B4-BE49-F238E27FC236}">
                  <a16:creationId xmlns:a16="http://schemas.microsoft.com/office/drawing/2014/main" id="{AFF6F107-50B7-A5F6-974F-45DDCED01AEA}"/>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6347BCD4-5AE5-EA2D-4CEF-66E6EA97DB0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B69C473E-9D27-A333-D161-F74C518F0538}"/>
              </a:ext>
            </a:extLst>
          </p:cNvPr>
          <p:cNvGrpSpPr/>
          <p:nvPr/>
        </p:nvGrpSpPr>
        <p:grpSpPr>
          <a:xfrm>
            <a:off x="1485898" y="5820551"/>
            <a:ext cx="504000" cy="504000"/>
            <a:chOff x="977950" y="2729564"/>
            <a:chExt cx="504000" cy="504000"/>
          </a:xfrm>
        </p:grpSpPr>
        <p:sp>
          <p:nvSpPr>
            <p:cNvPr id="79" name="Oval 78">
              <a:extLst>
                <a:ext uri="{FF2B5EF4-FFF2-40B4-BE49-F238E27FC236}">
                  <a16:creationId xmlns:a16="http://schemas.microsoft.com/office/drawing/2014/main" id="{244B4ED1-6FF6-F023-4274-9EAE3508CA1B}"/>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AB9E71E9-C326-DFC6-1F6B-5AB00931701F}"/>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82" name="Straight Arrow Connector 81">
            <a:extLst>
              <a:ext uri="{FF2B5EF4-FFF2-40B4-BE49-F238E27FC236}">
                <a16:creationId xmlns:a16="http://schemas.microsoft.com/office/drawing/2014/main" id="{6C1334B9-E60B-07C7-8C73-BBC4C39A1650}"/>
              </a:ext>
            </a:extLst>
          </p:cNvPr>
          <p:cNvCxnSpPr>
            <a:stCxn id="2" idx="4"/>
            <a:endCxn id="64" idx="0"/>
          </p:cNvCxnSpPr>
          <p:nvPr/>
        </p:nvCxnSpPr>
        <p:spPr>
          <a:xfrm>
            <a:off x="1737898" y="325606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3" name="Straight Arrow Connector 82">
            <a:extLst>
              <a:ext uri="{FF2B5EF4-FFF2-40B4-BE49-F238E27FC236}">
                <a16:creationId xmlns:a16="http://schemas.microsoft.com/office/drawing/2014/main" id="{9432F0B0-2980-C8C3-081A-2B1FED4EFD56}"/>
              </a:ext>
            </a:extLst>
          </p:cNvPr>
          <p:cNvCxnSpPr>
            <a:cxnSpLocks/>
            <a:stCxn id="64" idx="4"/>
            <a:endCxn id="67" idx="0"/>
          </p:cNvCxnSpPr>
          <p:nvPr/>
        </p:nvCxnSpPr>
        <p:spPr>
          <a:xfrm>
            <a:off x="1737898" y="38697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A9E1F840-FA86-C947-655E-66E6796110AB}"/>
              </a:ext>
            </a:extLst>
          </p:cNvPr>
          <p:cNvCxnSpPr>
            <a:cxnSpLocks/>
            <a:stCxn id="67" idx="4"/>
            <a:endCxn id="70" idx="0"/>
          </p:cNvCxnSpPr>
          <p:nvPr/>
        </p:nvCxnSpPr>
        <p:spPr>
          <a:xfrm>
            <a:off x="1737898" y="44834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EFE0C89A-4AA4-A1D0-A212-152D93B98277}"/>
              </a:ext>
            </a:extLst>
          </p:cNvPr>
          <p:cNvCxnSpPr>
            <a:cxnSpLocks/>
            <a:stCxn id="70" idx="4"/>
            <a:endCxn id="73" idx="0"/>
          </p:cNvCxnSpPr>
          <p:nvPr/>
        </p:nvCxnSpPr>
        <p:spPr>
          <a:xfrm>
            <a:off x="1737898" y="50971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6DD102DB-E6B9-AB8E-DE27-1AAE29D3EA43}"/>
              </a:ext>
            </a:extLst>
          </p:cNvPr>
          <p:cNvCxnSpPr>
            <a:cxnSpLocks/>
            <a:stCxn id="73" idx="4"/>
            <a:endCxn id="79" idx="0"/>
          </p:cNvCxnSpPr>
          <p:nvPr/>
        </p:nvCxnSpPr>
        <p:spPr>
          <a:xfrm>
            <a:off x="1737898" y="57108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Footer Placeholder 2">
            <a:extLst>
              <a:ext uri="{FF2B5EF4-FFF2-40B4-BE49-F238E27FC236}">
                <a16:creationId xmlns:a16="http://schemas.microsoft.com/office/drawing/2014/main" id="{11812235-7F76-86CD-98D8-CDDA1DFC7E60}"/>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0274232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CCE91-75D3-23BE-D55C-41C08B08E2FC}"/>
              </a:ext>
            </a:extLst>
          </p:cNvPr>
          <p:cNvSpPr>
            <a:spLocks noGrp="1"/>
          </p:cNvSpPr>
          <p:nvPr>
            <p:ph type="title"/>
          </p:nvPr>
        </p:nvSpPr>
        <p:spPr/>
        <p:txBody>
          <a:bodyPr/>
          <a:lstStyle/>
          <a:p>
            <a:r>
              <a:rPr lang="en-SE" dirty="0"/>
              <a:t>Normal Distribution</a:t>
            </a:r>
          </a:p>
        </p:txBody>
      </p:sp>
      <p:sp>
        <p:nvSpPr>
          <p:cNvPr id="3" name="Content Placeholder 2">
            <a:extLst>
              <a:ext uri="{FF2B5EF4-FFF2-40B4-BE49-F238E27FC236}">
                <a16:creationId xmlns:a16="http://schemas.microsoft.com/office/drawing/2014/main" id="{F90981A3-257E-B1EF-0244-DE9EA9BA0951}"/>
              </a:ext>
            </a:extLst>
          </p:cNvPr>
          <p:cNvSpPr>
            <a:spLocks noGrp="1"/>
          </p:cNvSpPr>
          <p:nvPr>
            <p:ph idx="1"/>
          </p:nvPr>
        </p:nvSpPr>
        <p:spPr>
          <a:xfrm>
            <a:off x="838200" y="1825625"/>
            <a:ext cx="10515600" cy="1731394"/>
          </a:xfrm>
        </p:spPr>
        <p:txBody>
          <a:bodyPr/>
          <a:lstStyle/>
          <a:p>
            <a:pPr marL="0" indent="0">
              <a:buNone/>
            </a:pPr>
            <a:r>
              <a:rPr lang="en-SE" dirty="0"/>
              <a:t>In Requirements and Software Engineering, </a:t>
            </a:r>
            <a:r>
              <a:rPr lang="en-SE" b="1" dirty="0"/>
              <a:t>not many variables follow a normal</a:t>
            </a:r>
            <a:r>
              <a:rPr lang="en-SE" dirty="0"/>
              <a:t> (i.e., Gaussian) </a:t>
            </a:r>
            <a:r>
              <a:rPr lang="en-SE" b="1" dirty="0"/>
              <a:t>distribution</a:t>
            </a:r>
            <a:r>
              <a:rPr lang="en-SE" dirty="0"/>
              <a:t>. Most frequentist data analyses only distinguishes between normal and non-normal distributions (via a simply Shapiro-Wilk test).</a:t>
            </a:r>
          </a:p>
        </p:txBody>
      </p:sp>
      <p:sp>
        <p:nvSpPr>
          <p:cNvPr id="4" name="Date Placeholder 3">
            <a:extLst>
              <a:ext uri="{FF2B5EF4-FFF2-40B4-BE49-F238E27FC236}">
                <a16:creationId xmlns:a16="http://schemas.microsoft.com/office/drawing/2014/main" id="{137089AC-4FB6-81AC-F6BA-BCD946D20C7E}"/>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AE44FFC6-E0E7-CCAE-55E5-32876DC4C832}"/>
              </a:ext>
            </a:extLst>
          </p:cNvPr>
          <p:cNvSpPr>
            <a:spLocks noGrp="1"/>
          </p:cNvSpPr>
          <p:nvPr>
            <p:ph type="sldNum" sz="quarter" idx="12"/>
          </p:nvPr>
        </p:nvSpPr>
        <p:spPr/>
        <p:txBody>
          <a:bodyPr/>
          <a:lstStyle/>
          <a:p>
            <a:fld id="{271ECC92-9CDE-4EB3-B1C5-F46B9E1FA3C1}" type="slidenum">
              <a:rPr lang="en-SE" smtClean="0"/>
              <a:t>74</a:t>
            </a:fld>
            <a:endParaRPr lang="en-SE"/>
          </a:p>
        </p:txBody>
      </p:sp>
      <p:sp>
        <p:nvSpPr>
          <p:cNvPr id="6" name="Footer Placeholder 5">
            <a:extLst>
              <a:ext uri="{FF2B5EF4-FFF2-40B4-BE49-F238E27FC236}">
                <a16:creationId xmlns:a16="http://schemas.microsoft.com/office/drawing/2014/main" id="{2D237843-8828-6D3C-4792-3E6E1DE34C72}"/>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219D1C3F-FEEC-FFE3-9F2A-581F42E09420}"/>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205101E1-A5B9-4842-AEB9-96D0B16F0BCF}"/>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B21DE223-021E-E808-AE54-B183CED8175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217B6792-5C29-94B0-8038-F1D35393B8AE}"/>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B240D5A5-307B-113F-2829-EF61F6BC11FF}"/>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65966F78-F654-5404-1FC3-E0597C8F085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5550AF13-BDED-14B7-479D-420B9182FB05}"/>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2DD40CAF-EAA0-C92D-1EAE-F4BB0F69E212}"/>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041A92E-8C8D-68A6-3C0D-EC1B40E536F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FFAABC8C-6EFF-E76D-E383-5D99BDC1B8CC}"/>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DA91BD4D-1BC4-F8E0-428F-3E19E42D6D00}"/>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59C40B87-6D9C-EB96-4FC4-5EF4DB67001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CBE7C056-C8B1-44AC-36AD-A5FB518EF3C7}"/>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955843E3-F20B-5332-8B4E-F3DE3AB5804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6B94221B-4C97-B8E2-E12B-EEB39A20624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8AD83435-84A8-534B-5B3E-189EA3675602}"/>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60FEBE80-421C-29E2-3A38-ADA3575B152E}"/>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239A2956-73CA-5DD9-DFBF-1D9159E5395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C7A4B8AC-CC0B-5FC9-B600-5D608F5F2103}"/>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B9E611A3-22C4-81AD-EA5E-E329D314290E}"/>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E4FBA77-2BC0-9F40-62C2-6F46030A8EFB}"/>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262AC813-50A1-81C0-C15D-380BBFAD4506}"/>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5F0D9E2A-1B2C-4122-D889-AB27E33E9C45}"/>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30" name="Group 29">
            <a:extLst>
              <a:ext uri="{FF2B5EF4-FFF2-40B4-BE49-F238E27FC236}">
                <a16:creationId xmlns:a16="http://schemas.microsoft.com/office/drawing/2014/main" id="{0AE44253-23BC-D4A3-6F88-2A8795361177}"/>
              </a:ext>
            </a:extLst>
          </p:cNvPr>
          <p:cNvGrpSpPr/>
          <p:nvPr/>
        </p:nvGrpSpPr>
        <p:grpSpPr>
          <a:xfrm>
            <a:off x="2056539" y="3720716"/>
            <a:ext cx="8078921" cy="2248284"/>
            <a:chOff x="3108960" y="4454434"/>
            <a:chExt cx="8078921" cy="2248284"/>
          </a:xfrm>
        </p:grpSpPr>
        <p:sp>
          <p:nvSpPr>
            <p:cNvPr id="31" name="Rectangle: Rounded Corners 30">
              <a:extLst>
                <a:ext uri="{FF2B5EF4-FFF2-40B4-BE49-F238E27FC236}">
                  <a16:creationId xmlns:a16="http://schemas.microsoft.com/office/drawing/2014/main" id="{58D247DC-B11A-DE12-9EDD-5BFEDF61EDF4}"/>
                </a:ext>
              </a:extLst>
            </p:cNvPr>
            <p:cNvSpPr/>
            <p:nvPr/>
          </p:nvSpPr>
          <p:spPr>
            <a:xfrm>
              <a:off x="3108960" y="4454434"/>
              <a:ext cx="8078921" cy="2248284"/>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SE" dirty="0"/>
                <a:t>In most software engineering research, this distribution if often assumed to be normal (i.e. Gaussian), and if not, assumed to not exist and instead researchers use statistical tests based on ranks. However, </a:t>
              </a:r>
              <a:r>
                <a:rPr lang="en-SE" b="1" dirty="0"/>
                <a:t>this is a pity since there are many probability distributions that could create much better models for the collected data.</a:t>
              </a:r>
              <a:endParaRPr lang="en-SE" dirty="0"/>
            </a:p>
          </p:txBody>
        </p:sp>
        <p:pic>
          <p:nvPicPr>
            <p:cNvPr id="32" name="Graphic 31" descr="Open quotation mark with solid fill">
              <a:extLst>
                <a:ext uri="{FF2B5EF4-FFF2-40B4-BE49-F238E27FC236}">
                  <a16:creationId xmlns:a16="http://schemas.microsoft.com/office/drawing/2014/main" id="{5205F156-6E3C-BD2E-DB31-AD9C044464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rot="10800000">
              <a:off x="3124200" y="4454434"/>
              <a:ext cx="720000" cy="720000"/>
            </a:xfrm>
            <a:prstGeom prst="rect">
              <a:avLst/>
            </a:prstGeom>
          </p:spPr>
        </p:pic>
        <p:sp>
          <p:nvSpPr>
            <p:cNvPr id="33" name="TextBox 32">
              <a:extLst>
                <a:ext uri="{FF2B5EF4-FFF2-40B4-BE49-F238E27FC236}">
                  <a16:creationId xmlns:a16="http://schemas.microsoft.com/office/drawing/2014/main" id="{177891AE-5267-2BD5-6A07-EC093DDC64F8}"/>
                </a:ext>
              </a:extLst>
            </p:cNvPr>
            <p:cNvSpPr txBox="1"/>
            <p:nvPr/>
          </p:nvSpPr>
          <p:spPr>
            <a:xfrm>
              <a:off x="3859440" y="4598333"/>
              <a:ext cx="7070049" cy="461665"/>
            </a:xfrm>
            <a:prstGeom prst="rect">
              <a:avLst/>
            </a:prstGeom>
            <a:noFill/>
          </p:spPr>
          <p:txBody>
            <a:bodyPr wrap="square">
              <a:spAutoFit/>
            </a:bodyPr>
            <a:lstStyle/>
            <a:p>
              <a:r>
                <a:rPr lang="en-SE" sz="1200" dirty="0">
                  <a:solidFill>
                    <a:schemeClr val="bg1"/>
                  </a:solidFill>
                </a:rPr>
                <a:t>Gren, L., &amp; Berntsson Svensson, R. (2021). Is it possible to disregard obsolete requirements? a family of experiments in software effort estimation. </a:t>
              </a:r>
              <a:r>
                <a:rPr lang="en-SE" sz="1200" i="1" dirty="0">
                  <a:solidFill>
                    <a:schemeClr val="bg1"/>
                  </a:solidFill>
                </a:rPr>
                <a:t>Requirements Engineering</a:t>
              </a:r>
              <a:r>
                <a:rPr lang="en-SE" sz="1200" dirty="0">
                  <a:solidFill>
                    <a:schemeClr val="bg1"/>
                  </a:solidFill>
                </a:rPr>
                <a:t>, </a:t>
              </a:r>
              <a:r>
                <a:rPr lang="en-SE" sz="1200" i="1" dirty="0">
                  <a:solidFill>
                    <a:schemeClr val="bg1"/>
                  </a:solidFill>
                </a:rPr>
                <a:t>26</a:t>
              </a:r>
              <a:r>
                <a:rPr lang="en-SE" sz="1200" dirty="0">
                  <a:solidFill>
                    <a:schemeClr val="bg1"/>
                  </a:solidFill>
                </a:rPr>
                <a:t>(3), 459-480.</a:t>
              </a:r>
              <a:endParaRPr lang="en-US" sz="1200" noProof="0" dirty="0">
                <a:solidFill>
                  <a:schemeClr val="bg1"/>
                </a:solidFill>
              </a:endParaRPr>
            </a:p>
          </p:txBody>
        </p:sp>
      </p:grpSp>
    </p:spTree>
    <p:extLst>
      <p:ext uri="{BB962C8B-B14F-4D97-AF65-F5344CB8AC3E}">
        <p14:creationId xmlns:p14="http://schemas.microsoft.com/office/powerpoint/2010/main" val="10842461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84DA7-11FF-FE10-14E2-F83B73AAAC92}"/>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4260562-4197-2029-07E6-1D1DC3EBC4F1}"/>
              </a:ext>
            </a:extLst>
          </p:cNvPr>
          <p:cNvSpPr txBox="1"/>
          <p:nvPr/>
        </p:nvSpPr>
        <p:spPr>
          <a:xfrm>
            <a:off x="872246" y="2902767"/>
            <a:ext cx="6833730" cy="523220"/>
          </a:xfrm>
          <a:prstGeom prst="rect">
            <a:avLst/>
          </a:prstGeom>
          <a:noFill/>
        </p:spPr>
        <p:txBody>
          <a:bodyPr wrap="none" rtlCol="0" anchor="b">
            <a:spAutoFit/>
          </a:bodyPr>
          <a:lstStyle/>
          <a:p>
            <a:r>
              <a:rPr lang="en-SE" sz="2800" dirty="0">
                <a:solidFill>
                  <a:schemeClr val="bg1"/>
                </a:solidFill>
              </a:rPr>
              <a:t>Besides the “normal” Gaussian, what other</a:t>
            </a:r>
          </a:p>
        </p:txBody>
      </p:sp>
      <p:sp>
        <p:nvSpPr>
          <p:cNvPr id="9" name="TextBox 8">
            <a:extLst>
              <a:ext uri="{FF2B5EF4-FFF2-40B4-BE49-F238E27FC236}">
                <a16:creationId xmlns:a16="http://schemas.microsoft.com/office/drawing/2014/main" id="{145F09DA-A6D2-519E-0635-A022D9C0B151}"/>
              </a:ext>
            </a:extLst>
          </p:cNvPr>
          <p:cNvSpPr txBox="1"/>
          <p:nvPr/>
        </p:nvSpPr>
        <p:spPr>
          <a:xfrm>
            <a:off x="872246" y="3302876"/>
            <a:ext cx="7041479" cy="1569660"/>
          </a:xfrm>
          <a:prstGeom prst="rect">
            <a:avLst/>
          </a:prstGeom>
          <a:noFill/>
        </p:spPr>
        <p:txBody>
          <a:bodyPr wrap="none" rtlCol="0">
            <a:spAutoFit/>
          </a:bodyPr>
          <a:lstStyle/>
          <a:p>
            <a:r>
              <a:rPr lang="en-SE" sz="9600" dirty="0">
                <a:solidFill>
                  <a:schemeClr val="bg1"/>
                </a:solidFill>
              </a:rPr>
              <a:t>Distributions</a:t>
            </a:r>
          </a:p>
        </p:txBody>
      </p:sp>
      <p:sp>
        <p:nvSpPr>
          <p:cNvPr id="3" name="TextBox 2">
            <a:extLst>
              <a:ext uri="{FF2B5EF4-FFF2-40B4-BE49-F238E27FC236}">
                <a16:creationId xmlns:a16="http://schemas.microsoft.com/office/drawing/2014/main" id="{72693F82-093F-D5C4-E5B2-4A270AF006A1}"/>
              </a:ext>
            </a:extLst>
          </p:cNvPr>
          <p:cNvSpPr txBox="1"/>
          <p:nvPr/>
        </p:nvSpPr>
        <p:spPr>
          <a:xfrm>
            <a:off x="872246" y="4749425"/>
            <a:ext cx="2596352" cy="584775"/>
          </a:xfrm>
          <a:prstGeom prst="rect">
            <a:avLst/>
          </a:prstGeom>
          <a:noFill/>
        </p:spPr>
        <p:txBody>
          <a:bodyPr wrap="none" rtlCol="0">
            <a:spAutoFit/>
          </a:bodyPr>
          <a:lstStyle/>
          <a:p>
            <a:r>
              <a:rPr lang="en-SE" sz="3200" dirty="0">
                <a:solidFill>
                  <a:schemeClr val="bg1"/>
                </a:solidFill>
              </a:rPr>
              <a:t>do </a:t>
            </a:r>
            <a:r>
              <a:rPr lang="en-SE" sz="3200" i="1" dirty="0">
                <a:solidFill>
                  <a:schemeClr val="bg1"/>
                </a:solidFill>
              </a:rPr>
              <a:t>you</a:t>
            </a:r>
            <a:r>
              <a:rPr lang="en-SE" sz="3200" dirty="0">
                <a:solidFill>
                  <a:schemeClr val="bg1"/>
                </a:solidFill>
              </a:rPr>
              <a:t> know?</a:t>
            </a:r>
          </a:p>
        </p:txBody>
      </p:sp>
    </p:spTree>
    <p:extLst>
      <p:ext uri="{BB962C8B-B14F-4D97-AF65-F5344CB8AC3E}">
        <p14:creationId xmlns:p14="http://schemas.microsoft.com/office/powerpoint/2010/main" val="2784648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8E2748-E93B-835F-9921-CF777DE7E342}"/>
              </a:ext>
            </a:extLst>
          </p:cNvPr>
          <p:cNvPicPr>
            <a:picLocks noChangeAspect="1"/>
          </p:cNvPicPr>
          <p:nvPr/>
        </p:nvPicPr>
        <p:blipFill>
          <a:blip r:embed="rId2"/>
          <a:stretch>
            <a:fillRect/>
          </a:stretch>
        </p:blipFill>
        <p:spPr>
          <a:xfrm>
            <a:off x="0" y="0"/>
            <a:ext cx="12191999" cy="14376456"/>
          </a:xfrm>
          <a:prstGeom prst="rect">
            <a:avLst/>
          </a:prstGeom>
        </p:spPr>
      </p:pic>
    </p:spTree>
    <p:extLst>
      <p:ext uri="{BB962C8B-B14F-4D97-AF65-F5344CB8AC3E}">
        <p14:creationId xmlns:p14="http://schemas.microsoft.com/office/powerpoint/2010/main" val="16748141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CC90-FC65-C3D6-9AC1-7C69921FBD9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7390FC7-8053-37D5-25AF-50640ACECDFB}"/>
              </a:ext>
            </a:extLst>
          </p:cNvPr>
          <p:cNvPicPr>
            <a:picLocks noChangeAspect="1"/>
          </p:cNvPicPr>
          <p:nvPr/>
        </p:nvPicPr>
        <p:blipFill>
          <a:blip r:embed="rId2"/>
          <a:stretch>
            <a:fillRect/>
          </a:stretch>
        </p:blipFill>
        <p:spPr>
          <a:xfrm>
            <a:off x="1" y="-7518456"/>
            <a:ext cx="12191999" cy="14376456"/>
          </a:xfrm>
          <a:prstGeom prst="rect">
            <a:avLst/>
          </a:prstGeom>
        </p:spPr>
      </p:pic>
    </p:spTree>
    <p:extLst>
      <p:ext uri="{BB962C8B-B14F-4D97-AF65-F5344CB8AC3E}">
        <p14:creationId xmlns:p14="http://schemas.microsoft.com/office/powerpoint/2010/main" val="633806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EE917-ECB9-DDB0-042D-94ED6FDAD6BE}"/>
              </a:ext>
            </a:extLst>
          </p:cNvPr>
          <p:cNvSpPr>
            <a:spLocks noGrp="1"/>
          </p:cNvSpPr>
          <p:nvPr>
            <p:ph type="title"/>
          </p:nvPr>
        </p:nvSpPr>
        <p:spPr/>
        <p:txBody>
          <a:bodyPr/>
          <a:lstStyle/>
          <a:p>
            <a:r>
              <a:rPr lang="en-SE" dirty="0"/>
              <a:t>Distribution Families</a:t>
            </a:r>
          </a:p>
        </p:txBody>
      </p:sp>
      <p:sp>
        <p:nvSpPr>
          <p:cNvPr id="3" name="Content Placeholder 2">
            <a:extLst>
              <a:ext uri="{FF2B5EF4-FFF2-40B4-BE49-F238E27FC236}">
                <a16:creationId xmlns:a16="http://schemas.microsoft.com/office/drawing/2014/main" id="{149ADA6F-02AE-BB3A-F014-767746475471}"/>
              </a:ext>
            </a:extLst>
          </p:cNvPr>
          <p:cNvSpPr>
            <a:spLocks noGrp="1"/>
          </p:cNvSpPr>
          <p:nvPr>
            <p:ph idx="1"/>
          </p:nvPr>
        </p:nvSpPr>
        <p:spPr/>
        <p:txBody>
          <a:bodyPr/>
          <a:lstStyle/>
          <a:p>
            <a:pPr marL="0" indent="0">
              <a:buNone/>
            </a:pPr>
            <a:r>
              <a:rPr lang="en-SE" dirty="0"/>
              <a:t>There are plenty of distribution families, each with its own assumption about how data is distributed</a:t>
            </a:r>
          </a:p>
        </p:txBody>
      </p:sp>
      <p:sp>
        <p:nvSpPr>
          <p:cNvPr id="4" name="Date Placeholder 3">
            <a:extLst>
              <a:ext uri="{FF2B5EF4-FFF2-40B4-BE49-F238E27FC236}">
                <a16:creationId xmlns:a16="http://schemas.microsoft.com/office/drawing/2014/main" id="{3EE5AE21-6A90-D477-C895-626DAB93BB3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57B109F0-4D70-5871-CE19-BF9D0996850B}"/>
              </a:ext>
            </a:extLst>
          </p:cNvPr>
          <p:cNvSpPr>
            <a:spLocks noGrp="1"/>
          </p:cNvSpPr>
          <p:nvPr>
            <p:ph type="sldNum" sz="quarter" idx="12"/>
          </p:nvPr>
        </p:nvSpPr>
        <p:spPr/>
        <p:txBody>
          <a:bodyPr/>
          <a:lstStyle/>
          <a:p>
            <a:fld id="{271ECC92-9CDE-4EB3-B1C5-F46B9E1FA3C1}" type="slidenum">
              <a:rPr lang="en-SE" smtClean="0"/>
              <a:t>78</a:t>
            </a:fld>
            <a:endParaRPr lang="en-SE"/>
          </a:p>
        </p:txBody>
      </p:sp>
      <p:sp>
        <p:nvSpPr>
          <p:cNvPr id="6" name="Footer Placeholder 5">
            <a:extLst>
              <a:ext uri="{FF2B5EF4-FFF2-40B4-BE49-F238E27FC236}">
                <a16:creationId xmlns:a16="http://schemas.microsoft.com/office/drawing/2014/main" id="{6F46101D-4BAB-E746-0A66-B176A138281D}"/>
              </a:ext>
            </a:extLst>
          </p:cNvPr>
          <p:cNvSpPr>
            <a:spLocks noGrp="1"/>
          </p:cNvSpPr>
          <p:nvPr>
            <p:ph type="ftr" sz="quarter" idx="11"/>
          </p:nvPr>
        </p:nvSpPr>
        <p:spPr/>
        <p:txBody>
          <a:bodyPr/>
          <a:lstStyle/>
          <a:p>
            <a:r>
              <a:rPr lang="de-DE"/>
              <a:t>Bayesian Data Analysis Tutorial</a:t>
            </a:r>
            <a:endParaRPr lang="en-SE"/>
          </a:p>
        </p:txBody>
      </p:sp>
      <p:grpSp>
        <p:nvGrpSpPr>
          <p:cNvPr id="53" name="Group 52">
            <a:extLst>
              <a:ext uri="{FF2B5EF4-FFF2-40B4-BE49-F238E27FC236}">
                <a16:creationId xmlns:a16="http://schemas.microsoft.com/office/drawing/2014/main" id="{00CEEF42-F603-FA04-3922-29BCDFC2287C}"/>
              </a:ext>
            </a:extLst>
          </p:cNvPr>
          <p:cNvGrpSpPr/>
          <p:nvPr/>
        </p:nvGrpSpPr>
        <p:grpSpPr>
          <a:xfrm>
            <a:off x="228598" y="1825625"/>
            <a:ext cx="504000" cy="504000"/>
            <a:chOff x="977950" y="2729564"/>
            <a:chExt cx="504000" cy="504000"/>
          </a:xfrm>
        </p:grpSpPr>
        <p:sp>
          <p:nvSpPr>
            <p:cNvPr id="54" name="Oval 53">
              <a:extLst>
                <a:ext uri="{FF2B5EF4-FFF2-40B4-BE49-F238E27FC236}">
                  <a16:creationId xmlns:a16="http://schemas.microsoft.com/office/drawing/2014/main" id="{27DC44A4-F479-F333-EE69-B47447F786A1}"/>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5" name="Graphic 54" descr="Bar chart with solid fill">
              <a:extLst>
                <a:ext uri="{FF2B5EF4-FFF2-40B4-BE49-F238E27FC236}">
                  <a16:creationId xmlns:a16="http://schemas.microsoft.com/office/drawing/2014/main" id="{74C46CA5-7AFC-CC4C-FA61-40ABAB1781A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56" name="Group 55">
            <a:extLst>
              <a:ext uri="{FF2B5EF4-FFF2-40B4-BE49-F238E27FC236}">
                <a16:creationId xmlns:a16="http://schemas.microsoft.com/office/drawing/2014/main" id="{4654A075-2C70-568A-AC4F-0DBBBAD7A055}"/>
              </a:ext>
            </a:extLst>
          </p:cNvPr>
          <p:cNvGrpSpPr/>
          <p:nvPr/>
        </p:nvGrpSpPr>
        <p:grpSpPr>
          <a:xfrm>
            <a:off x="228598" y="2439322"/>
            <a:ext cx="504000" cy="504000"/>
            <a:chOff x="977950" y="2729564"/>
            <a:chExt cx="504000" cy="504000"/>
          </a:xfrm>
        </p:grpSpPr>
        <p:sp>
          <p:nvSpPr>
            <p:cNvPr id="57" name="Oval 56">
              <a:extLst>
                <a:ext uri="{FF2B5EF4-FFF2-40B4-BE49-F238E27FC236}">
                  <a16:creationId xmlns:a16="http://schemas.microsoft.com/office/drawing/2014/main" id="{99642C54-052C-CFA8-6A32-10D14099664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8" name="Graphic 57" descr="Golden Ratio with solid fill">
              <a:extLst>
                <a:ext uri="{FF2B5EF4-FFF2-40B4-BE49-F238E27FC236}">
                  <a16:creationId xmlns:a16="http://schemas.microsoft.com/office/drawing/2014/main" id="{7257F09A-1E3E-F168-44A7-3E6D37A1C4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59" name="Group 58">
            <a:extLst>
              <a:ext uri="{FF2B5EF4-FFF2-40B4-BE49-F238E27FC236}">
                <a16:creationId xmlns:a16="http://schemas.microsoft.com/office/drawing/2014/main" id="{94C2495E-A5CB-2737-A1E1-5A4C1DEA5EE8}"/>
              </a:ext>
            </a:extLst>
          </p:cNvPr>
          <p:cNvGrpSpPr/>
          <p:nvPr/>
        </p:nvGrpSpPr>
        <p:grpSpPr>
          <a:xfrm>
            <a:off x="228598" y="3053019"/>
            <a:ext cx="504000" cy="504000"/>
            <a:chOff x="977950" y="2729564"/>
            <a:chExt cx="504000" cy="504000"/>
          </a:xfrm>
        </p:grpSpPr>
        <p:sp>
          <p:nvSpPr>
            <p:cNvPr id="60" name="Oval 59">
              <a:extLst>
                <a:ext uri="{FF2B5EF4-FFF2-40B4-BE49-F238E27FC236}">
                  <a16:creationId xmlns:a16="http://schemas.microsoft.com/office/drawing/2014/main" id="{619706C3-5AA4-42CF-3621-8E20F589C8C7}"/>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1" name="Graphic 60" descr="Normal Distribution with solid fill">
              <a:extLst>
                <a:ext uri="{FF2B5EF4-FFF2-40B4-BE49-F238E27FC236}">
                  <a16:creationId xmlns:a16="http://schemas.microsoft.com/office/drawing/2014/main" id="{46AEF9C2-9E75-819D-E64A-DE8503AA9B5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62" name="Group 61">
            <a:extLst>
              <a:ext uri="{FF2B5EF4-FFF2-40B4-BE49-F238E27FC236}">
                <a16:creationId xmlns:a16="http://schemas.microsoft.com/office/drawing/2014/main" id="{6D1A86E3-96B5-F58C-7EE7-0845CD491B96}"/>
              </a:ext>
            </a:extLst>
          </p:cNvPr>
          <p:cNvGrpSpPr/>
          <p:nvPr/>
        </p:nvGrpSpPr>
        <p:grpSpPr>
          <a:xfrm>
            <a:off x="228598" y="3666716"/>
            <a:ext cx="504000" cy="504000"/>
            <a:chOff x="977950" y="2729564"/>
            <a:chExt cx="504000" cy="504000"/>
          </a:xfrm>
        </p:grpSpPr>
        <p:sp>
          <p:nvSpPr>
            <p:cNvPr id="63" name="Oval 62">
              <a:extLst>
                <a:ext uri="{FF2B5EF4-FFF2-40B4-BE49-F238E27FC236}">
                  <a16:creationId xmlns:a16="http://schemas.microsoft.com/office/drawing/2014/main" id="{7F8F4D5A-D0C7-C0D5-BA0A-11FF3CD3217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4" name="Graphic 63" descr="Abacus with solid fill">
              <a:extLst>
                <a:ext uri="{FF2B5EF4-FFF2-40B4-BE49-F238E27FC236}">
                  <a16:creationId xmlns:a16="http://schemas.microsoft.com/office/drawing/2014/main" id="{58C2498B-F9B5-4F5D-0649-E99E0C6F209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5" name="Group 64">
            <a:extLst>
              <a:ext uri="{FF2B5EF4-FFF2-40B4-BE49-F238E27FC236}">
                <a16:creationId xmlns:a16="http://schemas.microsoft.com/office/drawing/2014/main" id="{DED09896-58BA-ACC1-651F-9E04ACC6EDA2}"/>
              </a:ext>
            </a:extLst>
          </p:cNvPr>
          <p:cNvGrpSpPr/>
          <p:nvPr/>
        </p:nvGrpSpPr>
        <p:grpSpPr>
          <a:xfrm>
            <a:off x="228598" y="4280413"/>
            <a:ext cx="504000" cy="504000"/>
            <a:chOff x="977950" y="2729564"/>
            <a:chExt cx="504000" cy="504000"/>
          </a:xfrm>
        </p:grpSpPr>
        <p:sp>
          <p:nvSpPr>
            <p:cNvPr id="66" name="Oval 65">
              <a:extLst>
                <a:ext uri="{FF2B5EF4-FFF2-40B4-BE49-F238E27FC236}">
                  <a16:creationId xmlns:a16="http://schemas.microsoft.com/office/drawing/2014/main" id="{66A4B3B1-BFE4-411E-639E-A86992E650D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7" name="Graphic 66" descr="Trigonometry with solid fill">
              <a:extLst>
                <a:ext uri="{FF2B5EF4-FFF2-40B4-BE49-F238E27FC236}">
                  <a16:creationId xmlns:a16="http://schemas.microsoft.com/office/drawing/2014/main" id="{95B3778C-1D63-39D4-DA56-FB0DC875B9B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68" name="Group 67">
            <a:extLst>
              <a:ext uri="{FF2B5EF4-FFF2-40B4-BE49-F238E27FC236}">
                <a16:creationId xmlns:a16="http://schemas.microsoft.com/office/drawing/2014/main" id="{1A0E0674-48F0-8904-F302-1D2DA7DD9875}"/>
              </a:ext>
            </a:extLst>
          </p:cNvPr>
          <p:cNvGrpSpPr/>
          <p:nvPr/>
        </p:nvGrpSpPr>
        <p:grpSpPr>
          <a:xfrm>
            <a:off x="228598" y="4894111"/>
            <a:ext cx="504000" cy="504000"/>
            <a:chOff x="977950" y="2729564"/>
            <a:chExt cx="504000" cy="504000"/>
          </a:xfrm>
        </p:grpSpPr>
        <p:sp>
          <p:nvSpPr>
            <p:cNvPr id="69" name="Oval 68">
              <a:extLst>
                <a:ext uri="{FF2B5EF4-FFF2-40B4-BE49-F238E27FC236}">
                  <a16:creationId xmlns:a16="http://schemas.microsoft.com/office/drawing/2014/main" id="{646215FC-3E56-6354-0476-28D8BDBAF4B5}"/>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0" name="Graphic 69" descr="Scatterplot with solid fill">
              <a:extLst>
                <a:ext uri="{FF2B5EF4-FFF2-40B4-BE49-F238E27FC236}">
                  <a16:creationId xmlns:a16="http://schemas.microsoft.com/office/drawing/2014/main" id="{F396678E-EB80-FD2E-0D2E-B01F2C4CCDE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71" name="Straight Arrow Connector 70">
            <a:extLst>
              <a:ext uri="{FF2B5EF4-FFF2-40B4-BE49-F238E27FC236}">
                <a16:creationId xmlns:a16="http://schemas.microsoft.com/office/drawing/2014/main" id="{72823CA3-17B7-6AE3-2EBB-E4AC6E8691FB}"/>
              </a:ext>
            </a:extLst>
          </p:cNvPr>
          <p:cNvCxnSpPr>
            <a:stCxn id="54" idx="4"/>
            <a:endCxn id="57"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2" name="Straight Arrow Connector 71">
            <a:extLst>
              <a:ext uri="{FF2B5EF4-FFF2-40B4-BE49-F238E27FC236}">
                <a16:creationId xmlns:a16="http://schemas.microsoft.com/office/drawing/2014/main" id="{93BAA15F-AA78-F7AF-7B71-5CAAFD982761}"/>
              </a:ext>
            </a:extLst>
          </p:cNvPr>
          <p:cNvCxnSpPr>
            <a:cxnSpLocks/>
            <a:stCxn id="57" idx="4"/>
            <a:endCxn id="60"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6F733E7C-AAB9-BFC4-4254-200A00A8062C}"/>
              </a:ext>
            </a:extLst>
          </p:cNvPr>
          <p:cNvCxnSpPr>
            <a:cxnSpLocks/>
            <a:stCxn id="60" idx="4"/>
            <a:endCxn id="63"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4" name="Straight Arrow Connector 73">
            <a:extLst>
              <a:ext uri="{FF2B5EF4-FFF2-40B4-BE49-F238E27FC236}">
                <a16:creationId xmlns:a16="http://schemas.microsoft.com/office/drawing/2014/main" id="{221C06A5-8ADA-C03C-342E-D9E300C41D29}"/>
              </a:ext>
            </a:extLst>
          </p:cNvPr>
          <p:cNvCxnSpPr>
            <a:cxnSpLocks/>
            <a:stCxn id="63" idx="4"/>
            <a:endCxn id="66"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5" name="Straight Arrow Connector 74">
            <a:extLst>
              <a:ext uri="{FF2B5EF4-FFF2-40B4-BE49-F238E27FC236}">
                <a16:creationId xmlns:a16="http://schemas.microsoft.com/office/drawing/2014/main" id="{1E3C989E-BD56-5A66-DAC8-0664FCF8D02F}"/>
              </a:ext>
            </a:extLst>
          </p:cNvPr>
          <p:cNvCxnSpPr>
            <a:cxnSpLocks/>
            <a:stCxn id="66" idx="4"/>
            <a:endCxn id="69"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81" name="Picture 80">
            <a:extLst>
              <a:ext uri="{FF2B5EF4-FFF2-40B4-BE49-F238E27FC236}">
                <a16:creationId xmlns:a16="http://schemas.microsoft.com/office/drawing/2014/main" id="{CA8A8C7B-15C1-98E8-5E50-E53192B6B0BE}"/>
              </a:ext>
            </a:extLst>
          </p:cNvPr>
          <p:cNvPicPr>
            <a:picLocks noChangeAspect="1"/>
          </p:cNvPicPr>
          <p:nvPr/>
        </p:nvPicPr>
        <p:blipFill>
          <a:blip r:embed="rId8"/>
          <a:stretch>
            <a:fillRect/>
          </a:stretch>
        </p:blipFill>
        <p:spPr>
          <a:xfrm>
            <a:off x="2073278" y="2889322"/>
            <a:ext cx="8045443" cy="9486956"/>
          </a:xfrm>
          <a:prstGeom prst="rect">
            <a:avLst/>
          </a:prstGeom>
        </p:spPr>
      </p:pic>
      <p:sp>
        <p:nvSpPr>
          <p:cNvPr id="82" name="Rectangle 81">
            <a:extLst>
              <a:ext uri="{FF2B5EF4-FFF2-40B4-BE49-F238E27FC236}">
                <a16:creationId xmlns:a16="http://schemas.microsoft.com/office/drawing/2014/main" id="{C036B7EB-3687-CA82-8E51-98548153DDCB}"/>
              </a:ext>
            </a:extLst>
          </p:cNvPr>
          <p:cNvSpPr/>
          <p:nvPr/>
        </p:nvSpPr>
        <p:spPr>
          <a:xfrm>
            <a:off x="2082800" y="5344111"/>
            <a:ext cx="8026400" cy="1513889"/>
          </a:xfrm>
          <a:prstGeom prst="rect">
            <a:avLst/>
          </a:prstGeom>
          <a:gradFill>
            <a:gsLst>
              <a:gs pos="54000">
                <a:srgbClr val="FFFDFD"/>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de-DE" dirty="0">
                <a:hlinkClick r:id="rId9"/>
              </a:rPr>
              <a:t>https://www.math.wm.edu/~leemis/chart/UDR/UDR.html</a:t>
            </a:r>
            <a:r>
              <a:rPr lang="en-SE" dirty="0"/>
              <a:t> </a:t>
            </a:r>
          </a:p>
        </p:txBody>
      </p:sp>
    </p:spTree>
    <p:extLst>
      <p:ext uri="{BB962C8B-B14F-4D97-AF65-F5344CB8AC3E}">
        <p14:creationId xmlns:p14="http://schemas.microsoft.com/office/powerpoint/2010/main" val="39169722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2E5F5-5D76-5DB6-23DA-B8335D9E0C61}"/>
              </a:ext>
            </a:extLst>
          </p:cNvPr>
          <p:cNvSpPr>
            <a:spLocks noGrp="1"/>
          </p:cNvSpPr>
          <p:nvPr>
            <p:ph type="title"/>
          </p:nvPr>
        </p:nvSpPr>
        <p:spPr/>
        <p:txBody>
          <a:bodyPr/>
          <a:lstStyle/>
          <a:p>
            <a:r>
              <a:rPr lang="en-SE" dirty="0"/>
              <a:t>Classic Misconception</a:t>
            </a:r>
          </a:p>
        </p:txBody>
      </p:sp>
      <p:sp>
        <p:nvSpPr>
          <p:cNvPr id="3" name="Content Placeholder 2">
            <a:extLst>
              <a:ext uri="{FF2B5EF4-FFF2-40B4-BE49-F238E27FC236}">
                <a16:creationId xmlns:a16="http://schemas.microsoft.com/office/drawing/2014/main" id="{BCB9EB96-6C07-0B57-B967-6CDDA30F0D9F}"/>
              </a:ext>
            </a:extLst>
          </p:cNvPr>
          <p:cNvSpPr>
            <a:spLocks noGrp="1"/>
          </p:cNvSpPr>
          <p:nvPr>
            <p:ph idx="1"/>
          </p:nvPr>
        </p:nvSpPr>
        <p:spPr>
          <a:xfrm>
            <a:off x="838200" y="1825625"/>
            <a:ext cx="10515600" cy="1117697"/>
          </a:xfrm>
        </p:spPr>
        <p:txBody>
          <a:bodyPr/>
          <a:lstStyle/>
          <a:p>
            <a:pPr marL="0" indent="0">
              <a:buNone/>
            </a:pPr>
            <a:r>
              <a:rPr lang="en-SE" dirty="0"/>
              <a:t>One of the most common forms of statistical malpractice is </a:t>
            </a:r>
            <a:r>
              <a:rPr lang="en-SE" b="1" dirty="0"/>
              <a:t>treating ordinal data as continuous</a:t>
            </a:r>
            <a:r>
              <a:rPr lang="en-SE" dirty="0"/>
              <a:t>.</a:t>
            </a:r>
          </a:p>
        </p:txBody>
      </p:sp>
      <p:sp>
        <p:nvSpPr>
          <p:cNvPr id="4" name="Date Placeholder 3">
            <a:extLst>
              <a:ext uri="{FF2B5EF4-FFF2-40B4-BE49-F238E27FC236}">
                <a16:creationId xmlns:a16="http://schemas.microsoft.com/office/drawing/2014/main" id="{B1CCA90B-D730-0E55-C5BF-E2CC70B8BD86}"/>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17BF089-0DE5-EFFA-4E18-C98081E5C996}"/>
              </a:ext>
            </a:extLst>
          </p:cNvPr>
          <p:cNvSpPr>
            <a:spLocks noGrp="1"/>
          </p:cNvSpPr>
          <p:nvPr>
            <p:ph type="sldNum" sz="quarter" idx="12"/>
          </p:nvPr>
        </p:nvSpPr>
        <p:spPr/>
        <p:txBody>
          <a:bodyPr/>
          <a:lstStyle/>
          <a:p>
            <a:fld id="{271ECC92-9CDE-4EB3-B1C5-F46B9E1FA3C1}" type="slidenum">
              <a:rPr lang="en-SE" smtClean="0"/>
              <a:t>79</a:t>
            </a:fld>
            <a:endParaRPr lang="en-SE"/>
          </a:p>
        </p:txBody>
      </p:sp>
      <p:sp>
        <p:nvSpPr>
          <p:cNvPr id="6" name="Footer Placeholder 5">
            <a:extLst>
              <a:ext uri="{FF2B5EF4-FFF2-40B4-BE49-F238E27FC236}">
                <a16:creationId xmlns:a16="http://schemas.microsoft.com/office/drawing/2014/main" id="{87AAE671-708D-037B-9610-E8570C267C07}"/>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4C38547C-E015-0975-C4AF-DDA456ABF12B}"/>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91D0E2A7-D5E0-AB95-3A72-E022AC1A8C3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E8B28CC4-26DA-D313-D85D-62EF1EDCAB83}"/>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96CFAC20-4A5B-1EE3-3CDE-E9F2A0926C6E}"/>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AF067D27-E73B-25B5-DDB0-B8672051ABCA}"/>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A210CEF7-E1AA-2EAD-7445-1D42045AFA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F800384D-4A84-2911-4FB0-1D6FCC641250}"/>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D9E2D09B-CE44-FF4C-EB3C-D32A26FB00C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68D3C518-04FD-5198-7899-A7EACBCAF1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54234D8D-F3A8-1FD5-6609-0472034E8C25}"/>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3D473F91-4701-EC80-74C3-088104F5075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D25463E9-0812-E79E-39A7-FB660C58BDD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7885200C-FC83-D576-230C-35C6E51FE14B}"/>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2FC456E2-DCFF-FDE9-5A4E-DFA62620AC3F}"/>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ABC3D35A-6C78-A08C-B818-E3407CE3DE3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24E9848A-18F6-0D5D-C398-759D8F7DA033}"/>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6A936FE1-8DBE-65E6-E8F0-36B7FA44B9E7}"/>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361DC27B-9E10-71F6-3DBA-56BAFBA9D2A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936795E6-5AA9-7345-180F-85C79CD76A57}"/>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77A5468A-A5EB-C999-5659-05F5D811E066}"/>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4490F14B-0E8F-A537-67B8-7511ADC013F8}"/>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08057BD-2E91-D94B-E6D2-05708045A5BF}"/>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52831F4C-C1DE-636E-C187-509DBE56C10F}"/>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5" name="Rectangle 54">
            <a:extLst>
              <a:ext uri="{FF2B5EF4-FFF2-40B4-BE49-F238E27FC236}">
                <a16:creationId xmlns:a16="http://schemas.microsoft.com/office/drawing/2014/main" id="{28F9620F-16A4-EC6E-BD88-415BEC1A88A3}"/>
              </a:ext>
            </a:extLst>
          </p:cNvPr>
          <p:cNvSpPr/>
          <p:nvPr/>
        </p:nvSpPr>
        <p:spPr>
          <a:xfrm>
            <a:off x="5058011" y="3222889"/>
            <a:ext cx="2031358" cy="543716"/>
          </a:xfrm>
          <a:prstGeom prst="rect">
            <a:avLst/>
          </a:prstGeom>
          <a:solidFill>
            <a:srgbClr val="FFC000"/>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N</a:t>
            </a:r>
            <a:r>
              <a:rPr lang="en-SE" dirty="0">
                <a:solidFill>
                  <a:schemeClr val="tx1"/>
                </a:solidFill>
              </a:rPr>
              <a:t>either agree nor disagree</a:t>
            </a:r>
          </a:p>
        </p:txBody>
      </p:sp>
      <p:sp>
        <p:nvSpPr>
          <p:cNvPr id="57" name="Rectangle 56">
            <a:extLst>
              <a:ext uri="{FF2B5EF4-FFF2-40B4-BE49-F238E27FC236}">
                <a16:creationId xmlns:a16="http://schemas.microsoft.com/office/drawing/2014/main" id="{DF98B393-2788-F916-379F-64DD722B1A2F}"/>
              </a:ext>
            </a:extLst>
          </p:cNvPr>
          <p:cNvSpPr/>
          <p:nvPr/>
        </p:nvSpPr>
        <p:spPr>
          <a:xfrm>
            <a:off x="7229774" y="3222889"/>
            <a:ext cx="1369671" cy="543716"/>
          </a:xfrm>
          <a:prstGeom prst="rect">
            <a:avLst/>
          </a:prstGeom>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solidFill>
                  <a:schemeClr val="tx1"/>
                </a:solidFill>
              </a:rPr>
              <a:t>disagree</a:t>
            </a:r>
          </a:p>
        </p:txBody>
      </p:sp>
      <p:sp>
        <p:nvSpPr>
          <p:cNvPr id="59" name="Rectangle 58">
            <a:extLst>
              <a:ext uri="{FF2B5EF4-FFF2-40B4-BE49-F238E27FC236}">
                <a16:creationId xmlns:a16="http://schemas.microsoft.com/office/drawing/2014/main" id="{B2640A51-14DF-F6BA-5613-96E46C0230EF}"/>
              </a:ext>
            </a:extLst>
          </p:cNvPr>
          <p:cNvSpPr/>
          <p:nvPr/>
        </p:nvSpPr>
        <p:spPr>
          <a:xfrm>
            <a:off x="8739850" y="3222889"/>
            <a:ext cx="1369671" cy="543716"/>
          </a:xfrm>
          <a:prstGeom prst="rect">
            <a:avLst/>
          </a:prstGeom>
          <a:solidFill>
            <a:srgbClr val="C00000"/>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strongly</a:t>
            </a:r>
            <a:r>
              <a:rPr lang="en-SE" dirty="0"/>
              <a:t> disagree</a:t>
            </a:r>
          </a:p>
        </p:txBody>
      </p:sp>
      <p:sp>
        <p:nvSpPr>
          <p:cNvPr id="61" name="Rectangle 60">
            <a:extLst>
              <a:ext uri="{FF2B5EF4-FFF2-40B4-BE49-F238E27FC236}">
                <a16:creationId xmlns:a16="http://schemas.microsoft.com/office/drawing/2014/main" id="{E600DF84-FB21-E541-B378-0B8E900F8F32}"/>
              </a:ext>
            </a:extLst>
          </p:cNvPr>
          <p:cNvSpPr/>
          <p:nvPr/>
        </p:nvSpPr>
        <p:spPr>
          <a:xfrm>
            <a:off x="3547935" y="3222889"/>
            <a:ext cx="1369671" cy="543716"/>
          </a:xfrm>
          <a:prstGeom prst="rect">
            <a:avLst/>
          </a:prstGeom>
          <a:solidFill>
            <a:schemeClr val="accent2">
              <a:lumMod val="75000"/>
            </a:schemeClr>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t>agree</a:t>
            </a:r>
          </a:p>
        </p:txBody>
      </p:sp>
      <p:sp>
        <p:nvSpPr>
          <p:cNvPr id="63" name="Rectangle 62">
            <a:extLst>
              <a:ext uri="{FF2B5EF4-FFF2-40B4-BE49-F238E27FC236}">
                <a16:creationId xmlns:a16="http://schemas.microsoft.com/office/drawing/2014/main" id="{20C19C5B-85CE-0EE9-4AF4-1718C67A148D}"/>
              </a:ext>
            </a:extLst>
          </p:cNvPr>
          <p:cNvSpPr/>
          <p:nvPr/>
        </p:nvSpPr>
        <p:spPr>
          <a:xfrm>
            <a:off x="2037859" y="3222889"/>
            <a:ext cx="1369671" cy="543716"/>
          </a:xfrm>
          <a:prstGeom prst="rect">
            <a:avLst/>
          </a:prstGeom>
          <a:solidFill>
            <a:schemeClr val="accent2">
              <a:lumMod val="50000"/>
            </a:schemeClr>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strongly</a:t>
            </a:r>
            <a:r>
              <a:rPr lang="en-SE" dirty="0"/>
              <a:t> agree</a:t>
            </a:r>
          </a:p>
        </p:txBody>
      </p:sp>
      <p:sp>
        <p:nvSpPr>
          <p:cNvPr id="64" name="TextBox 63">
            <a:extLst>
              <a:ext uri="{FF2B5EF4-FFF2-40B4-BE49-F238E27FC236}">
                <a16:creationId xmlns:a16="http://schemas.microsoft.com/office/drawing/2014/main" id="{126CA673-38E5-EA3B-C951-6605B192F2E8}"/>
              </a:ext>
            </a:extLst>
          </p:cNvPr>
          <p:cNvSpPr txBox="1"/>
          <p:nvPr/>
        </p:nvSpPr>
        <p:spPr>
          <a:xfrm>
            <a:off x="2568645" y="5103716"/>
            <a:ext cx="308098" cy="369332"/>
          </a:xfrm>
          <a:prstGeom prst="rect">
            <a:avLst/>
          </a:prstGeom>
          <a:noFill/>
        </p:spPr>
        <p:txBody>
          <a:bodyPr wrap="none" rtlCol="0">
            <a:spAutoFit/>
          </a:bodyPr>
          <a:lstStyle/>
          <a:p>
            <a:r>
              <a:rPr lang="en-SE" dirty="0"/>
              <a:t>5</a:t>
            </a:r>
          </a:p>
        </p:txBody>
      </p:sp>
      <p:sp>
        <p:nvSpPr>
          <p:cNvPr id="66" name="TextBox 65">
            <a:extLst>
              <a:ext uri="{FF2B5EF4-FFF2-40B4-BE49-F238E27FC236}">
                <a16:creationId xmlns:a16="http://schemas.microsoft.com/office/drawing/2014/main" id="{5CAE90CF-CF9C-0072-5E09-A4BA89676661}"/>
              </a:ext>
            </a:extLst>
          </p:cNvPr>
          <p:cNvSpPr txBox="1"/>
          <p:nvPr/>
        </p:nvSpPr>
        <p:spPr>
          <a:xfrm>
            <a:off x="4078721" y="5103716"/>
            <a:ext cx="308098" cy="369332"/>
          </a:xfrm>
          <a:prstGeom prst="rect">
            <a:avLst/>
          </a:prstGeom>
          <a:noFill/>
        </p:spPr>
        <p:txBody>
          <a:bodyPr wrap="none" rtlCol="0">
            <a:spAutoFit/>
          </a:bodyPr>
          <a:lstStyle/>
          <a:p>
            <a:r>
              <a:rPr lang="en-SE" dirty="0"/>
              <a:t>4</a:t>
            </a:r>
          </a:p>
        </p:txBody>
      </p:sp>
      <p:sp>
        <p:nvSpPr>
          <p:cNvPr id="68" name="TextBox 67">
            <a:extLst>
              <a:ext uri="{FF2B5EF4-FFF2-40B4-BE49-F238E27FC236}">
                <a16:creationId xmlns:a16="http://schemas.microsoft.com/office/drawing/2014/main" id="{EF2843D0-FC87-3A4F-1712-ECF917D4495F}"/>
              </a:ext>
            </a:extLst>
          </p:cNvPr>
          <p:cNvSpPr txBox="1"/>
          <p:nvPr/>
        </p:nvSpPr>
        <p:spPr>
          <a:xfrm>
            <a:off x="5919641" y="5103716"/>
            <a:ext cx="308098" cy="369332"/>
          </a:xfrm>
          <a:prstGeom prst="rect">
            <a:avLst/>
          </a:prstGeom>
          <a:noFill/>
        </p:spPr>
        <p:txBody>
          <a:bodyPr wrap="none" rtlCol="0">
            <a:spAutoFit/>
          </a:bodyPr>
          <a:lstStyle/>
          <a:p>
            <a:r>
              <a:rPr lang="en-SE" dirty="0"/>
              <a:t>3</a:t>
            </a:r>
          </a:p>
        </p:txBody>
      </p:sp>
      <p:sp>
        <p:nvSpPr>
          <p:cNvPr id="70" name="TextBox 69">
            <a:extLst>
              <a:ext uri="{FF2B5EF4-FFF2-40B4-BE49-F238E27FC236}">
                <a16:creationId xmlns:a16="http://schemas.microsoft.com/office/drawing/2014/main" id="{55B7859D-FDFC-39DF-A1EC-1E2781C75152}"/>
              </a:ext>
            </a:extLst>
          </p:cNvPr>
          <p:cNvSpPr txBox="1"/>
          <p:nvPr/>
        </p:nvSpPr>
        <p:spPr>
          <a:xfrm>
            <a:off x="7760560" y="5103716"/>
            <a:ext cx="308098" cy="369332"/>
          </a:xfrm>
          <a:prstGeom prst="rect">
            <a:avLst/>
          </a:prstGeom>
          <a:noFill/>
        </p:spPr>
        <p:txBody>
          <a:bodyPr wrap="none" rtlCol="0">
            <a:spAutoFit/>
          </a:bodyPr>
          <a:lstStyle/>
          <a:p>
            <a:r>
              <a:rPr lang="en-SE" dirty="0"/>
              <a:t>2</a:t>
            </a:r>
          </a:p>
        </p:txBody>
      </p:sp>
      <p:sp>
        <p:nvSpPr>
          <p:cNvPr id="72" name="TextBox 71">
            <a:extLst>
              <a:ext uri="{FF2B5EF4-FFF2-40B4-BE49-F238E27FC236}">
                <a16:creationId xmlns:a16="http://schemas.microsoft.com/office/drawing/2014/main" id="{89E189D7-80E9-D7D8-64EF-8461746D5AAC}"/>
              </a:ext>
            </a:extLst>
          </p:cNvPr>
          <p:cNvSpPr txBox="1"/>
          <p:nvPr/>
        </p:nvSpPr>
        <p:spPr>
          <a:xfrm>
            <a:off x="9270636" y="5103716"/>
            <a:ext cx="308098" cy="369332"/>
          </a:xfrm>
          <a:prstGeom prst="rect">
            <a:avLst/>
          </a:prstGeom>
          <a:noFill/>
        </p:spPr>
        <p:txBody>
          <a:bodyPr wrap="none" rtlCol="0">
            <a:spAutoFit/>
          </a:bodyPr>
          <a:lstStyle/>
          <a:p>
            <a:r>
              <a:rPr lang="en-SE" dirty="0"/>
              <a:t>1</a:t>
            </a:r>
          </a:p>
        </p:txBody>
      </p:sp>
      <p:sp>
        <p:nvSpPr>
          <p:cNvPr id="73" name="Rectangle 72">
            <a:extLst>
              <a:ext uri="{FF2B5EF4-FFF2-40B4-BE49-F238E27FC236}">
                <a16:creationId xmlns:a16="http://schemas.microsoft.com/office/drawing/2014/main" id="{F356C85A-D940-F5C1-36A3-5F6D166E9B9C}"/>
              </a:ext>
            </a:extLst>
          </p:cNvPr>
          <p:cNvSpPr/>
          <p:nvPr/>
        </p:nvSpPr>
        <p:spPr>
          <a:xfrm>
            <a:off x="2037859" y="5533067"/>
            <a:ext cx="8071662" cy="309313"/>
          </a:xfrm>
          <a:prstGeom prst="rect">
            <a:avLst/>
          </a:prstGeom>
          <a:solidFill>
            <a:schemeClr val="bg1"/>
          </a:solidFill>
          <a:ln>
            <a:solidFill>
              <a:schemeClr val="tx1">
                <a:lumMod val="50000"/>
                <a:lumOff val="50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cxnSp>
        <p:nvCxnSpPr>
          <p:cNvPr id="75" name="Straight Connector 74">
            <a:extLst>
              <a:ext uri="{FF2B5EF4-FFF2-40B4-BE49-F238E27FC236}">
                <a16:creationId xmlns:a16="http://schemas.microsoft.com/office/drawing/2014/main" id="{56F568AA-3B10-797E-2D92-9D762A9FD183}"/>
              </a:ext>
            </a:extLst>
          </p:cNvPr>
          <p:cNvCxnSpPr>
            <a:endCxn id="64" idx="2"/>
          </p:cNvCxnSpPr>
          <p:nvPr/>
        </p:nvCxnSpPr>
        <p:spPr>
          <a:xfrm flipV="1">
            <a:off x="2722694"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76" name="Straight Connector 75">
            <a:extLst>
              <a:ext uri="{FF2B5EF4-FFF2-40B4-BE49-F238E27FC236}">
                <a16:creationId xmlns:a16="http://schemas.microsoft.com/office/drawing/2014/main" id="{3F4F6D3F-369C-E996-DED4-32BDE32CAC53}"/>
              </a:ext>
            </a:extLst>
          </p:cNvPr>
          <p:cNvCxnSpPr>
            <a:cxnSpLocks/>
            <a:stCxn id="66" idx="2"/>
          </p:cNvCxnSpPr>
          <p:nvPr/>
        </p:nvCxnSpPr>
        <p:spPr>
          <a:xfrm>
            <a:off x="4232770"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79" name="Straight Connector 78">
            <a:extLst>
              <a:ext uri="{FF2B5EF4-FFF2-40B4-BE49-F238E27FC236}">
                <a16:creationId xmlns:a16="http://schemas.microsoft.com/office/drawing/2014/main" id="{72054C97-7331-5D99-5115-DDCD30E582E6}"/>
              </a:ext>
            </a:extLst>
          </p:cNvPr>
          <p:cNvCxnSpPr>
            <a:cxnSpLocks/>
            <a:stCxn id="68" idx="2"/>
            <a:endCxn id="73" idx="0"/>
          </p:cNvCxnSpPr>
          <p:nvPr/>
        </p:nvCxnSpPr>
        <p:spPr>
          <a:xfrm>
            <a:off x="6073690"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82" name="Straight Connector 81">
            <a:extLst>
              <a:ext uri="{FF2B5EF4-FFF2-40B4-BE49-F238E27FC236}">
                <a16:creationId xmlns:a16="http://schemas.microsoft.com/office/drawing/2014/main" id="{1B879B92-6CF1-E4FA-AA76-82138E465114}"/>
              </a:ext>
            </a:extLst>
          </p:cNvPr>
          <p:cNvCxnSpPr>
            <a:cxnSpLocks/>
            <a:stCxn id="70" idx="2"/>
          </p:cNvCxnSpPr>
          <p:nvPr/>
        </p:nvCxnSpPr>
        <p:spPr>
          <a:xfrm>
            <a:off x="7914609"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86" name="Straight Connector 85">
            <a:extLst>
              <a:ext uri="{FF2B5EF4-FFF2-40B4-BE49-F238E27FC236}">
                <a16:creationId xmlns:a16="http://schemas.microsoft.com/office/drawing/2014/main" id="{875FAF13-9139-8D54-5102-639BFB3F81D9}"/>
              </a:ext>
            </a:extLst>
          </p:cNvPr>
          <p:cNvCxnSpPr>
            <a:cxnSpLocks/>
            <a:stCxn id="72" idx="2"/>
          </p:cNvCxnSpPr>
          <p:nvPr/>
        </p:nvCxnSpPr>
        <p:spPr>
          <a:xfrm>
            <a:off x="9424685" y="5473048"/>
            <a:ext cx="0" cy="60019"/>
          </a:xfrm>
          <a:prstGeom prst="line">
            <a:avLst/>
          </a:prstGeom>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B0F44D99-7788-AAE3-0011-115E59B98896}"/>
              </a:ext>
            </a:extLst>
          </p:cNvPr>
          <p:cNvCxnSpPr>
            <a:stCxn id="63" idx="2"/>
            <a:endCxn id="64" idx="0"/>
          </p:cNvCxnSpPr>
          <p:nvPr/>
        </p:nvCxnSpPr>
        <p:spPr>
          <a:xfrm flipH="1">
            <a:off x="2722694"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E07ACCA-7B9F-A75D-36ED-56D98654F859}"/>
              </a:ext>
            </a:extLst>
          </p:cNvPr>
          <p:cNvCxnSpPr>
            <a:cxnSpLocks/>
            <a:stCxn id="61" idx="2"/>
            <a:endCxn id="66" idx="0"/>
          </p:cNvCxnSpPr>
          <p:nvPr/>
        </p:nvCxnSpPr>
        <p:spPr>
          <a:xfrm flipH="1">
            <a:off x="4232770"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F930C87-842E-77DA-4372-A2B9AB79DCDA}"/>
              </a:ext>
            </a:extLst>
          </p:cNvPr>
          <p:cNvCxnSpPr>
            <a:cxnSpLocks/>
            <a:stCxn id="55" idx="2"/>
            <a:endCxn id="68" idx="0"/>
          </p:cNvCxnSpPr>
          <p:nvPr/>
        </p:nvCxnSpPr>
        <p:spPr>
          <a:xfrm>
            <a:off x="6073690" y="3766605"/>
            <a:ext cx="0"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DAD4E9D-F303-79EE-7415-D9B565011CB1}"/>
              </a:ext>
            </a:extLst>
          </p:cNvPr>
          <p:cNvCxnSpPr>
            <a:cxnSpLocks/>
            <a:stCxn id="57" idx="2"/>
            <a:endCxn id="70" idx="0"/>
          </p:cNvCxnSpPr>
          <p:nvPr/>
        </p:nvCxnSpPr>
        <p:spPr>
          <a:xfrm flipH="1">
            <a:off x="7914609"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5A4DC9F8-F985-5A4C-66D4-1CC389C3ACD6}"/>
              </a:ext>
            </a:extLst>
          </p:cNvPr>
          <p:cNvCxnSpPr>
            <a:cxnSpLocks/>
            <a:stCxn id="59" idx="2"/>
            <a:endCxn id="72" idx="0"/>
          </p:cNvCxnSpPr>
          <p:nvPr/>
        </p:nvCxnSpPr>
        <p:spPr>
          <a:xfrm flipH="1">
            <a:off x="9424685" y="3766605"/>
            <a:ext cx="1" cy="1337111"/>
          </a:xfrm>
          <a:prstGeom prst="straightConnector1">
            <a:avLst/>
          </a:prstGeom>
          <a:ln>
            <a:solidFill>
              <a:schemeClr val="tx1">
                <a:lumMod val="50000"/>
                <a:lumOff val="50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5A4C1D72-7A3D-24DE-E4A2-897FCF067D6A}"/>
              </a:ext>
            </a:extLst>
          </p:cNvPr>
          <p:cNvSpPr txBox="1"/>
          <p:nvPr/>
        </p:nvSpPr>
        <p:spPr>
          <a:xfrm>
            <a:off x="1888682" y="4372766"/>
            <a:ext cx="3889094" cy="646331"/>
          </a:xfrm>
          <a:prstGeom prst="rect">
            <a:avLst/>
          </a:prstGeom>
          <a:noFill/>
        </p:spPr>
        <p:txBody>
          <a:bodyPr wrap="square" rtlCol="0">
            <a:spAutoFit/>
          </a:bodyPr>
          <a:lstStyle/>
          <a:p>
            <a:r>
              <a:rPr lang="en-SE" dirty="0"/>
              <a:t>Adjacent values on a continuous interval scale are </a:t>
            </a:r>
            <a:r>
              <a:rPr lang="en-SE" b="1" dirty="0"/>
              <a:t>equidistant ...</a:t>
            </a:r>
            <a:endParaRPr lang="en-SE" dirty="0"/>
          </a:p>
        </p:txBody>
      </p:sp>
      <p:sp>
        <p:nvSpPr>
          <p:cNvPr id="107" name="TextBox 106">
            <a:extLst>
              <a:ext uri="{FF2B5EF4-FFF2-40B4-BE49-F238E27FC236}">
                <a16:creationId xmlns:a16="http://schemas.microsoft.com/office/drawing/2014/main" id="{08EB2720-1205-05AE-7989-E21B7D0E8C22}"/>
              </a:ext>
            </a:extLst>
          </p:cNvPr>
          <p:cNvSpPr txBox="1"/>
          <p:nvPr/>
        </p:nvSpPr>
        <p:spPr>
          <a:xfrm>
            <a:off x="7035851" y="3902398"/>
            <a:ext cx="2977353" cy="646331"/>
          </a:xfrm>
          <a:prstGeom prst="rect">
            <a:avLst/>
          </a:prstGeom>
          <a:noFill/>
        </p:spPr>
        <p:txBody>
          <a:bodyPr wrap="square" rtlCol="0">
            <a:spAutoFit/>
          </a:bodyPr>
          <a:lstStyle/>
          <a:p>
            <a:pPr algn="r"/>
            <a:r>
              <a:rPr lang="en-SE" dirty="0"/>
              <a:t>... but on an ordinal scale </a:t>
            </a:r>
            <a:r>
              <a:rPr lang="en-SE" b="1" dirty="0">
                <a:solidFill>
                  <a:srgbClr val="C00000"/>
                </a:solidFill>
              </a:rPr>
              <a:t>they are not</a:t>
            </a:r>
            <a:r>
              <a:rPr lang="en-SE" dirty="0"/>
              <a:t>!</a:t>
            </a:r>
          </a:p>
        </p:txBody>
      </p:sp>
    </p:spTree>
    <p:extLst>
      <p:ext uri="{BB962C8B-B14F-4D97-AF65-F5344CB8AC3E}">
        <p14:creationId xmlns:p14="http://schemas.microsoft.com/office/powerpoint/2010/main" val="21141458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8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8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7" grpId="0" animBg="1"/>
      <p:bldP spid="59" grpId="0" animBg="1"/>
      <p:bldP spid="61" grpId="0" animBg="1"/>
      <p:bldP spid="63" grpId="0" animBg="1"/>
      <p:bldP spid="64" grpId="0"/>
      <p:bldP spid="66" grpId="0"/>
      <p:bldP spid="68" grpId="0"/>
      <p:bldP spid="70" grpId="0"/>
      <p:bldP spid="72" grpId="0"/>
      <p:bldP spid="73" grpId="0" animBg="1"/>
      <p:bldP spid="105" grpId="0"/>
      <p:bldP spid="107"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829FF-4515-AB3D-5B2B-678A6662BF1F}"/>
              </a:ext>
            </a:extLst>
          </p:cNvPr>
          <p:cNvSpPr>
            <a:spLocks noGrp="1"/>
          </p:cNvSpPr>
          <p:nvPr>
            <p:ph type="title"/>
          </p:nvPr>
        </p:nvSpPr>
        <p:spPr/>
        <p:txBody>
          <a:bodyPr/>
          <a:lstStyle/>
          <a:p>
            <a:r>
              <a:rPr lang="en-SE" dirty="0"/>
              <a:t>Picking the wrong Distribution</a:t>
            </a:r>
          </a:p>
        </p:txBody>
      </p:sp>
      <p:sp>
        <p:nvSpPr>
          <p:cNvPr id="3" name="Content Placeholder 2">
            <a:extLst>
              <a:ext uri="{FF2B5EF4-FFF2-40B4-BE49-F238E27FC236}">
                <a16:creationId xmlns:a16="http://schemas.microsoft.com/office/drawing/2014/main" id="{1086F7E4-47D8-D5C5-76D3-F941E8D77EFA}"/>
              </a:ext>
            </a:extLst>
          </p:cNvPr>
          <p:cNvSpPr>
            <a:spLocks noGrp="1"/>
          </p:cNvSpPr>
          <p:nvPr>
            <p:ph idx="1"/>
          </p:nvPr>
        </p:nvSpPr>
        <p:spPr>
          <a:xfrm>
            <a:off x="838200" y="1825625"/>
            <a:ext cx="10515600" cy="954000"/>
          </a:xfrm>
        </p:spPr>
        <p:txBody>
          <a:bodyPr/>
          <a:lstStyle/>
          <a:p>
            <a:pPr marL="0" indent="0">
              <a:buNone/>
            </a:pPr>
            <a:r>
              <a:rPr lang="en-SE" dirty="0"/>
              <a:t>When we model our outcome variable with the wrong distribution family, we risk </a:t>
            </a:r>
            <a:r>
              <a:rPr lang="en-SE" b="1" dirty="0"/>
              <a:t>omitting important properties</a:t>
            </a:r>
            <a:r>
              <a:rPr lang="en-SE" dirty="0"/>
              <a:t> of the data.</a:t>
            </a:r>
          </a:p>
        </p:txBody>
      </p:sp>
      <p:sp>
        <p:nvSpPr>
          <p:cNvPr id="4" name="Date Placeholder 3">
            <a:extLst>
              <a:ext uri="{FF2B5EF4-FFF2-40B4-BE49-F238E27FC236}">
                <a16:creationId xmlns:a16="http://schemas.microsoft.com/office/drawing/2014/main" id="{C5CE51C7-06F0-65AF-7736-ABB375089D33}"/>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E4F8464D-1920-CCB6-C5E5-BBF96D686381}"/>
              </a:ext>
            </a:extLst>
          </p:cNvPr>
          <p:cNvSpPr>
            <a:spLocks noGrp="1"/>
          </p:cNvSpPr>
          <p:nvPr>
            <p:ph type="sldNum" sz="quarter" idx="12"/>
          </p:nvPr>
        </p:nvSpPr>
        <p:spPr/>
        <p:txBody>
          <a:bodyPr/>
          <a:lstStyle/>
          <a:p>
            <a:fld id="{271ECC92-9CDE-4EB3-B1C5-F46B9E1FA3C1}" type="slidenum">
              <a:rPr lang="en-SE" smtClean="0"/>
              <a:t>80</a:t>
            </a:fld>
            <a:endParaRPr lang="en-SE"/>
          </a:p>
        </p:txBody>
      </p:sp>
      <p:sp>
        <p:nvSpPr>
          <p:cNvPr id="6" name="Footer Placeholder 5">
            <a:extLst>
              <a:ext uri="{FF2B5EF4-FFF2-40B4-BE49-F238E27FC236}">
                <a16:creationId xmlns:a16="http://schemas.microsoft.com/office/drawing/2014/main" id="{A1490F39-CA7C-5323-AFC9-96A0C5CC70E2}"/>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2A453559-4C02-8AA9-8164-ED90C75F9DFB}"/>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7E0A7D1D-190F-67F6-B398-551C0F5112AD}"/>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1286F637-9D8D-0CD6-2BB4-D29F24340135}"/>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A12888D3-3E07-CD22-452B-DAB49725041F}"/>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618D753F-2916-8CC8-9638-79D20257498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DFE33EBF-ED89-B1EB-F16D-D20F8E1693D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398A7DFB-A863-9D51-2735-0EED78317314}"/>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75AE4D4D-ACBD-30B3-1E41-6520FF299118}"/>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F9DE88BB-4336-D848-9D69-E39B3D1953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49BA406D-3288-902D-AB72-CE23F1DEA393}"/>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F0D1AAE6-144B-FA97-D80A-5E6126D2FAF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23A4C5CE-B1DC-046C-7E10-48217B88047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FA1427A5-132A-A2BB-B53D-8E8F0EF3BA38}"/>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04FF3E2F-14FA-DB7A-F5F1-18FBC21268E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3BF09B46-8665-8EAE-0785-B0C6E3239F8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7954E169-4547-5511-FF34-AE89112844E7}"/>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A97D821F-DBBE-F454-A69C-9529765ACAA6}"/>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D51E9908-4F59-7492-0BF5-3039E1702AF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24569A86-2829-F63F-9DA7-505F4B8ED1C4}"/>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74172712-3D9B-1ED0-9081-5F7D1F80A001}"/>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D7A3312F-3A7F-050D-1BD9-76478C2FE824}"/>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2A4CD665-02D9-0FEB-C20B-B9D230F36E96}"/>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69D06CD0-84C3-6636-2BD2-1FA6F313FC0E}"/>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54" name="Picture 53">
            <a:extLst>
              <a:ext uri="{FF2B5EF4-FFF2-40B4-BE49-F238E27FC236}">
                <a16:creationId xmlns:a16="http://schemas.microsoft.com/office/drawing/2014/main" id="{6778CEAC-8F12-DFD7-63A0-610AD3C50130}"/>
              </a:ext>
            </a:extLst>
          </p:cNvPr>
          <p:cNvPicPr>
            <a:picLocks noChangeAspect="1"/>
          </p:cNvPicPr>
          <p:nvPr/>
        </p:nvPicPr>
        <p:blipFill>
          <a:blip r:embed="rId8"/>
          <a:stretch>
            <a:fillRect/>
          </a:stretch>
        </p:blipFill>
        <p:spPr>
          <a:xfrm>
            <a:off x="984598" y="2998170"/>
            <a:ext cx="5258256" cy="3185436"/>
          </a:xfrm>
          <a:prstGeom prst="rect">
            <a:avLst/>
          </a:prstGeom>
        </p:spPr>
      </p:pic>
      <p:pic>
        <p:nvPicPr>
          <p:cNvPr id="56" name="Picture 55">
            <a:extLst>
              <a:ext uri="{FF2B5EF4-FFF2-40B4-BE49-F238E27FC236}">
                <a16:creationId xmlns:a16="http://schemas.microsoft.com/office/drawing/2014/main" id="{18A1C088-D764-E373-AEE5-7FB2E04EB06C}"/>
              </a:ext>
            </a:extLst>
          </p:cNvPr>
          <p:cNvPicPr>
            <a:picLocks noChangeAspect="1"/>
          </p:cNvPicPr>
          <p:nvPr/>
        </p:nvPicPr>
        <p:blipFill>
          <a:blip r:embed="rId9"/>
          <a:stretch>
            <a:fillRect/>
          </a:stretch>
        </p:blipFill>
        <p:spPr>
          <a:xfrm>
            <a:off x="6468388" y="2975472"/>
            <a:ext cx="5243014" cy="3223539"/>
          </a:xfrm>
          <a:prstGeom prst="rect">
            <a:avLst/>
          </a:prstGeom>
        </p:spPr>
      </p:pic>
    </p:spTree>
    <p:extLst>
      <p:ext uri="{BB962C8B-B14F-4D97-AF65-F5344CB8AC3E}">
        <p14:creationId xmlns:p14="http://schemas.microsoft.com/office/powerpoint/2010/main" val="1365886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A63F0-1BDA-8965-03CA-3903AE413DD7}"/>
              </a:ext>
            </a:extLst>
          </p:cNvPr>
          <p:cNvSpPr>
            <a:spLocks noGrp="1"/>
          </p:cNvSpPr>
          <p:nvPr>
            <p:ph type="title"/>
          </p:nvPr>
        </p:nvSpPr>
        <p:spPr/>
        <p:txBody>
          <a:bodyPr/>
          <a:lstStyle/>
          <a:p>
            <a:r>
              <a:rPr lang="en-SE" dirty="0"/>
              <a:t>Maximum Entropy</a:t>
            </a:r>
          </a:p>
        </p:txBody>
      </p:sp>
      <p:sp>
        <p:nvSpPr>
          <p:cNvPr id="3" name="Content Placeholder 2">
            <a:extLst>
              <a:ext uri="{FF2B5EF4-FFF2-40B4-BE49-F238E27FC236}">
                <a16:creationId xmlns:a16="http://schemas.microsoft.com/office/drawing/2014/main" id="{1E4B8248-F5A7-08B8-62FD-C8F63FA4119D}"/>
              </a:ext>
            </a:extLst>
          </p:cNvPr>
          <p:cNvSpPr>
            <a:spLocks noGrp="1"/>
          </p:cNvSpPr>
          <p:nvPr>
            <p:ph idx="1"/>
          </p:nvPr>
        </p:nvSpPr>
        <p:spPr>
          <a:xfrm>
            <a:off x="838200" y="1825625"/>
            <a:ext cx="10515600" cy="1063697"/>
          </a:xfrm>
        </p:spPr>
        <p:txBody>
          <a:bodyPr/>
          <a:lstStyle/>
          <a:p>
            <a:pPr marL="0" indent="0">
              <a:buNone/>
            </a:pPr>
            <a:r>
              <a:rPr lang="en-SE" dirty="0"/>
              <a:t>In order to decide, which distribution family to pick when modelling an outcome variable, we can use the </a:t>
            </a:r>
            <a:r>
              <a:rPr lang="en-SE" b="1" dirty="0"/>
              <a:t>maximum entropy criterion:</a:t>
            </a:r>
            <a:r>
              <a:rPr lang="en-SE" dirty="0"/>
              <a:t> </a:t>
            </a:r>
          </a:p>
        </p:txBody>
      </p:sp>
      <p:sp>
        <p:nvSpPr>
          <p:cNvPr id="4" name="Date Placeholder 3">
            <a:extLst>
              <a:ext uri="{FF2B5EF4-FFF2-40B4-BE49-F238E27FC236}">
                <a16:creationId xmlns:a16="http://schemas.microsoft.com/office/drawing/2014/main" id="{ED04D470-6A5A-A1C7-E4DF-25A0DB697FE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A98A594-41DC-19A2-E2C5-0DB5CD1BF509}"/>
              </a:ext>
            </a:extLst>
          </p:cNvPr>
          <p:cNvSpPr>
            <a:spLocks noGrp="1"/>
          </p:cNvSpPr>
          <p:nvPr>
            <p:ph type="sldNum" sz="quarter" idx="12"/>
          </p:nvPr>
        </p:nvSpPr>
        <p:spPr/>
        <p:txBody>
          <a:bodyPr/>
          <a:lstStyle/>
          <a:p>
            <a:fld id="{271ECC92-9CDE-4EB3-B1C5-F46B9E1FA3C1}" type="slidenum">
              <a:rPr lang="en-SE" smtClean="0"/>
              <a:t>81</a:t>
            </a:fld>
            <a:endParaRPr lang="en-SE"/>
          </a:p>
        </p:txBody>
      </p:sp>
      <p:sp>
        <p:nvSpPr>
          <p:cNvPr id="6" name="Footer Placeholder 5">
            <a:extLst>
              <a:ext uri="{FF2B5EF4-FFF2-40B4-BE49-F238E27FC236}">
                <a16:creationId xmlns:a16="http://schemas.microsoft.com/office/drawing/2014/main" id="{A2547FBD-25AF-A3E4-BDD5-4315EB1B9024}"/>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ADD780DE-052C-A822-74FF-9A11896BEB3D}"/>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27892544-E6FC-651D-242D-6DA08ED25669}"/>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18C098F8-729E-BA4D-F4A0-150FBCB9393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2EE0B03A-0635-9C9A-49F6-A72B6D3E8F7D}"/>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A299DFA0-5206-BB6E-E160-DB0297A0F70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73BD2BF0-08F2-F8EE-C0CF-7EB92E10C6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B9DA4AEA-01F4-B2C1-C462-E5415AC5C51E}"/>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38F69A02-B9F3-93C8-927A-C26C0648C7A3}"/>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43BA335-8B25-BC84-2BB2-FF94FDC1B6F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CF0D3A6D-0E3E-F183-05A9-0EEA0919EF97}"/>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58A69412-492B-5E38-7F7B-26585ECC5F61}"/>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61FDEEED-0CF5-3582-2757-BF10474DF29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9E49E3D8-0A35-F662-9667-6A568621F366}"/>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49596841-34DF-6AA7-9EEB-5D465F0AA9CB}"/>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E5C1F58A-4F89-11C7-6EDF-6CE81E76147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8F11E019-A83B-5F7A-E9B4-DC998A63858C}"/>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7B02456F-6200-8525-BE92-D465E36B588F}"/>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3AEF6BF3-A126-ECF1-2152-43E9699239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3D06F376-7186-122E-C20B-8B6342BE8166}"/>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14A6FAF2-3B9D-80A9-02BF-89C0A605F9CA}"/>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64F49F74-BC5F-80EF-96A6-4102F92C7AEA}"/>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63EB8C8C-5948-B4A2-86E9-54A2217AA116}"/>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AA0028F9-C17E-BD53-4E7B-6DB328AD56DB}"/>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3" name="Group 52">
            <a:extLst>
              <a:ext uri="{FF2B5EF4-FFF2-40B4-BE49-F238E27FC236}">
                <a16:creationId xmlns:a16="http://schemas.microsoft.com/office/drawing/2014/main" id="{E917543F-3B52-5CE3-4161-EC1D2ADE5465}"/>
              </a:ext>
            </a:extLst>
          </p:cNvPr>
          <p:cNvGrpSpPr/>
          <p:nvPr/>
        </p:nvGrpSpPr>
        <p:grpSpPr>
          <a:xfrm>
            <a:off x="1984711" y="2845213"/>
            <a:ext cx="8222578" cy="2147005"/>
            <a:chOff x="3108960" y="4454432"/>
            <a:chExt cx="8222578" cy="2147005"/>
          </a:xfrm>
        </p:grpSpPr>
        <p:sp>
          <p:nvSpPr>
            <p:cNvPr id="54" name="Rectangle: Rounded Corners 53">
              <a:extLst>
                <a:ext uri="{FF2B5EF4-FFF2-40B4-BE49-F238E27FC236}">
                  <a16:creationId xmlns:a16="http://schemas.microsoft.com/office/drawing/2014/main" id="{28C0EC19-2A73-F2D5-AEBD-38E9E14F676A}"/>
                </a:ext>
              </a:extLst>
            </p:cNvPr>
            <p:cNvSpPr/>
            <p:nvPr/>
          </p:nvSpPr>
          <p:spPr>
            <a:xfrm>
              <a:off x="3108960" y="4454432"/>
              <a:ext cx="8222578" cy="2147005"/>
            </a:xfrm>
            <a:prstGeom prst="roundRect">
              <a:avLst/>
            </a:prstGeom>
            <a:solidFill>
              <a:schemeClr val="tx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SE" sz="2400" dirty="0">
                  <a:solidFill>
                    <a:schemeClr val="bg1"/>
                  </a:solidFill>
                </a:rPr>
                <a:t>[The maximum entropy distribution]</a:t>
              </a:r>
              <a:r>
                <a:rPr lang="en-US" sz="2400" dirty="0">
                  <a:solidFill>
                    <a:schemeClr val="bg1"/>
                  </a:solidFill>
                </a:rPr>
                <a:t> is the least biased estimate</a:t>
              </a:r>
              <a:r>
                <a:rPr lang="en-SE" sz="2400" dirty="0">
                  <a:solidFill>
                    <a:schemeClr val="bg1"/>
                  </a:solidFill>
                </a:rPr>
                <a:t> </a:t>
              </a:r>
              <a:r>
                <a:rPr lang="en-US" sz="2400" dirty="0">
                  <a:solidFill>
                    <a:schemeClr val="bg1"/>
                  </a:solidFill>
                </a:rPr>
                <a:t>possible on the given information; i.e., it is maximally noncommittal with regard to missing information. </a:t>
              </a:r>
              <a:endParaRPr lang="en-US" sz="2400" noProof="0" dirty="0"/>
            </a:p>
          </p:txBody>
        </p:sp>
        <p:pic>
          <p:nvPicPr>
            <p:cNvPr id="55" name="Graphic 54" descr="Open quotation mark with solid fill">
              <a:extLst>
                <a:ext uri="{FF2B5EF4-FFF2-40B4-BE49-F238E27FC236}">
                  <a16:creationId xmlns:a16="http://schemas.microsoft.com/office/drawing/2014/main" id="{9A85BC73-6F3E-4E2E-5DCF-219FDF38A22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rot="10800000">
              <a:off x="3124200" y="4454434"/>
              <a:ext cx="720000" cy="720000"/>
            </a:xfrm>
            <a:prstGeom prst="rect">
              <a:avLst/>
            </a:prstGeom>
          </p:spPr>
        </p:pic>
        <p:sp>
          <p:nvSpPr>
            <p:cNvPr id="56" name="TextBox 55">
              <a:extLst>
                <a:ext uri="{FF2B5EF4-FFF2-40B4-BE49-F238E27FC236}">
                  <a16:creationId xmlns:a16="http://schemas.microsoft.com/office/drawing/2014/main" id="{1FEA7755-D32B-9B96-D349-C07B2AB2E7C8}"/>
                </a:ext>
              </a:extLst>
            </p:cNvPr>
            <p:cNvSpPr txBox="1"/>
            <p:nvPr/>
          </p:nvSpPr>
          <p:spPr>
            <a:xfrm>
              <a:off x="3859439" y="4675846"/>
              <a:ext cx="7070049" cy="276999"/>
            </a:xfrm>
            <a:prstGeom prst="rect">
              <a:avLst/>
            </a:prstGeom>
            <a:noFill/>
          </p:spPr>
          <p:txBody>
            <a:bodyPr wrap="square">
              <a:spAutoFit/>
            </a:bodyPr>
            <a:lstStyle/>
            <a:p>
              <a:r>
                <a:rPr lang="en-SE" sz="1200" dirty="0">
                  <a:solidFill>
                    <a:schemeClr val="bg1"/>
                  </a:solidFill>
                </a:rPr>
                <a:t>Jaynes, E. T. (1957). Information theory and statistical mechanics. </a:t>
              </a:r>
              <a:r>
                <a:rPr lang="en-SE" sz="1200" i="1" dirty="0">
                  <a:solidFill>
                    <a:schemeClr val="bg1"/>
                  </a:solidFill>
                </a:rPr>
                <a:t>Physical review</a:t>
              </a:r>
              <a:r>
                <a:rPr lang="en-SE" sz="1200" dirty="0">
                  <a:solidFill>
                    <a:schemeClr val="bg1"/>
                  </a:solidFill>
                </a:rPr>
                <a:t>, </a:t>
              </a:r>
              <a:r>
                <a:rPr lang="en-SE" sz="1200" i="1" dirty="0">
                  <a:solidFill>
                    <a:schemeClr val="bg1"/>
                  </a:solidFill>
                </a:rPr>
                <a:t>106</a:t>
              </a:r>
              <a:r>
                <a:rPr lang="en-SE" sz="1200" dirty="0">
                  <a:solidFill>
                    <a:schemeClr val="bg1"/>
                  </a:solidFill>
                </a:rPr>
                <a:t>(4), 620.</a:t>
              </a:r>
              <a:endParaRPr lang="en-US" sz="1200" noProof="0" dirty="0">
                <a:solidFill>
                  <a:schemeClr val="bg1"/>
                </a:solidFill>
              </a:endParaRPr>
            </a:p>
          </p:txBody>
        </p:sp>
      </p:grpSp>
      <p:sp>
        <p:nvSpPr>
          <p:cNvPr id="58" name="TextBox 57">
            <a:extLst>
              <a:ext uri="{FF2B5EF4-FFF2-40B4-BE49-F238E27FC236}">
                <a16:creationId xmlns:a16="http://schemas.microsoft.com/office/drawing/2014/main" id="{3DC2C929-58FD-4D49-BA0E-0266F57EADB1}"/>
              </a:ext>
            </a:extLst>
          </p:cNvPr>
          <p:cNvSpPr txBox="1"/>
          <p:nvPr/>
        </p:nvSpPr>
        <p:spPr>
          <a:xfrm>
            <a:off x="838197" y="5169523"/>
            <a:ext cx="10515599" cy="1015663"/>
          </a:xfrm>
          <a:prstGeom prst="rect">
            <a:avLst/>
          </a:prstGeom>
          <a:noFill/>
        </p:spPr>
        <p:txBody>
          <a:bodyPr wrap="square">
            <a:spAutoFit/>
          </a:bodyPr>
          <a:lstStyle/>
          <a:p>
            <a:r>
              <a:rPr lang="en-SE" sz="2000" dirty="0"/>
              <a:t>Among all probability distributions consistent with what you actually know about a variable, the "best" distribution to use is the one with </a:t>
            </a:r>
            <a:r>
              <a:rPr lang="en-SE" sz="2000" b="1" dirty="0"/>
              <a:t>the largest entropy</a:t>
            </a:r>
            <a:r>
              <a:rPr lang="en-SE" sz="2000" dirty="0"/>
              <a:t>, i.e., the one that is </a:t>
            </a:r>
            <a:r>
              <a:rPr lang="en-SE" sz="2000" b="1" dirty="0"/>
              <a:t>maximally spread out </a:t>
            </a:r>
            <a:r>
              <a:rPr lang="en-SE" sz="2000" dirty="0"/>
              <a:t>and </a:t>
            </a:r>
            <a:r>
              <a:rPr lang="en-SE" sz="2000" b="1" dirty="0"/>
              <a:t>non-committal</a:t>
            </a:r>
            <a:r>
              <a:rPr lang="en-SE" sz="2000" dirty="0"/>
              <a:t> beyond those constraints.</a:t>
            </a:r>
          </a:p>
        </p:txBody>
      </p:sp>
    </p:spTree>
    <p:extLst>
      <p:ext uri="{BB962C8B-B14F-4D97-AF65-F5344CB8AC3E}">
        <p14:creationId xmlns:p14="http://schemas.microsoft.com/office/powerpoint/2010/main" val="3764133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0A6E1-0F78-7EE9-F327-336E66033CA4}"/>
              </a:ext>
            </a:extLst>
          </p:cNvPr>
          <p:cNvSpPr>
            <a:spLocks noGrp="1"/>
          </p:cNvSpPr>
          <p:nvPr>
            <p:ph type="title"/>
          </p:nvPr>
        </p:nvSpPr>
        <p:spPr/>
        <p:txBody>
          <a:bodyPr/>
          <a:lstStyle/>
          <a:p>
            <a:r>
              <a:rPr lang="en-SE" dirty="0"/>
              <a:t>Maximum Entropy</a:t>
            </a:r>
          </a:p>
        </p:txBody>
      </p:sp>
      <p:sp>
        <p:nvSpPr>
          <p:cNvPr id="3" name="Content Placeholder 2">
            <a:extLst>
              <a:ext uri="{FF2B5EF4-FFF2-40B4-BE49-F238E27FC236}">
                <a16:creationId xmlns:a16="http://schemas.microsoft.com/office/drawing/2014/main" id="{75A35DDF-C773-E864-18E2-D6D513C99EC8}"/>
              </a:ext>
            </a:extLst>
          </p:cNvPr>
          <p:cNvSpPr>
            <a:spLocks noGrp="1"/>
          </p:cNvSpPr>
          <p:nvPr>
            <p:ph idx="1"/>
          </p:nvPr>
        </p:nvSpPr>
        <p:spPr/>
        <p:txBody>
          <a:bodyPr/>
          <a:lstStyle/>
          <a:p>
            <a:pPr marL="0" indent="0">
              <a:buNone/>
            </a:pPr>
            <a:r>
              <a:rPr lang="en-SE" dirty="0"/>
              <a:t>Examples of the maximum entropy criterion:</a:t>
            </a:r>
          </a:p>
          <a:p>
            <a:r>
              <a:rPr lang="en-SE" b="1" dirty="0"/>
              <a:t>Normal distribution</a:t>
            </a:r>
            <a:r>
              <a:rPr lang="en-SE" dirty="0"/>
              <a:t>: continuous variable with fixed mean and variance</a:t>
            </a:r>
          </a:p>
          <a:p>
            <a:r>
              <a:rPr lang="en-SE" b="1" dirty="0"/>
              <a:t>Binomial</a:t>
            </a:r>
            <a:r>
              <a:rPr lang="en-SE" dirty="0"/>
              <a:t>: fixed number of trials and probability of success</a:t>
            </a:r>
          </a:p>
          <a:p>
            <a:r>
              <a:rPr lang="en-SE" b="1" dirty="0"/>
              <a:t>Beta-binomial</a:t>
            </a:r>
            <a:r>
              <a:rPr lang="en-SE" dirty="0"/>
              <a:t>: fixed number of trials but </a:t>
            </a:r>
            <a:r>
              <a:rPr lang="en-SE" i="1" dirty="0"/>
              <a:t>varying probability of success</a:t>
            </a:r>
            <a:endParaRPr lang="en-SE" b="1" i="1" dirty="0"/>
          </a:p>
          <a:p>
            <a:r>
              <a:rPr lang="en-SE" b="1" dirty="0"/>
              <a:t>Poisson</a:t>
            </a:r>
            <a:r>
              <a:rPr lang="en-SE" dirty="0"/>
              <a:t>: unbounded count with fixed mean at a constant rate</a:t>
            </a:r>
          </a:p>
          <a:p>
            <a:r>
              <a:rPr lang="en-SE" b="1" dirty="0"/>
              <a:t>Pascal</a:t>
            </a:r>
            <a:r>
              <a:rPr lang="en-SE" dirty="0"/>
              <a:t>: unbounded count with fixed mean but </a:t>
            </a:r>
            <a:r>
              <a:rPr lang="en-SE" i="1" dirty="0"/>
              <a:t>at a non-constant rate </a:t>
            </a:r>
            <a:r>
              <a:rPr lang="en-SE" dirty="0"/>
              <a:t>(i.e., with a larger variance)</a:t>
            </a:r>
          </a:p>
        </p:txBody>
      </p:sp>
      <p:sp>
        <p:nvSpPr>
          <p:cNvPr id="4" name="Date Placeholder 3">
            <a:extLst>
              <a:ext uri="{FF2B5EF4-FFF2-40B4-BE49-F238E27FC236}">
                <a16:creationId xmlns:a16="http://schemas.microsoft.com/office/drawing/2014/main" id="{E87959CF-A87C-3F66-1F9E-2C8C0A85168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84CCDA08-4CF5-0B13-B39B-D9480B9DCB1E}"/>
              </a:ext>
            </a:extLst>
          </p:cNvPr>
          <p:cNvSpPr>
            <a:spLocks noGrp="1"/>
          </p:cNvSpPr>
          <p:nvPr>
            <p:ph type="sldNum" sz="quarter" idx="12"/>
          </p:nvPr>
        </p:nvSpPr>
        <p:spPr/>
        <p:txBody>
          <a:bodyPr/>
          <a:lstStyle/>
          <a:p>
            <a:fld id="{271ECC92-9CDE-4EB3-B1C5-F46B9E1FA3C1}" type="slidenum">
              <a:rPr lang="en-SE" smtClean="0"/>
              <a:t>82</a:t>
            </a:fld>
            <a:endParaRPr lang="en-SE"/>
          </a:p>
        </p:txBody>
      </p:sp>
      <p:sp>
        <p:nvSpPr>
          <p:cNvPr id="6" name="Footer Placeholder 5">
            <a:extLst>
              <a:ext uri="{FF2B5EF4-FFF2-40B4-BE49-F238E27FC236}">
                <a16:creationId xmlns:a16="http://schemas.microsoft.com/office/drawing/2014/main" id="{B44F1E9B-B41E-630E-F100-C2C26E03397F}"/>
              </a:ext>
            </a:extLst>
          </p:cNvPr>
          <p:cNvSpPr>
            <a:spLocks noGrp="1"/>
          </p:cNvSpPr>
          <p:nvPr>
            <p:ph type="ftr" sz="quarter" idx="11"/>
          </p:nvPr>
        </p:nvSpPr>
        <p:spPr/>
        <p:txBody>
          <a:bodyPr/>
          <a:lstStyle/>
          <a:p>
            <a:r>
              <a:rPr lang="de-DE"/>
              <a:t>Bayesian Data Analysis Tutorial</a:t>
            </a:r>
            <a:endParaRPr lang="en-SE"/>
          </a:p>
        </p:txBody>
      </p:sp>
      <p:grpSp>
        <p:nvGrpSpPr>
          <p:cNvPr id="30" name="Group 29">
            <a:extLst>
              <a:ext uri="{FF2B5EF4-FFF2-40B4-BE49-F238E27FC236}">
                <a16:creationId xmlns:a16="http://schemas.microsoft.com/office/drawing/2014/main" id="{0F50BD2B-77E4-5445-A18A-E3F963D80C20}"/>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FAB48BD4-1042-DCED-CFFE-3F39F1AF1EBC}"/>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9656F884-B00E-39CD-B79D-30ED4C867CB6}"/>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C72D13A5-1757-D3DA-B7A5-1900D5F5938C}"/>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EEC13412-EBBA-4AC0-8535-CA516482D592}"/>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BC67F0A9-44C6-4A5D-ED8C-9E234DFF48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09C913CA-80A8-2CF7-4EE7-1624CB8D7911}"/>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5FB738E3-81B9-33EC-341F-683D8DFF163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58CDED2-0B64-FDD2-5F3C-C2BDE08F400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46D63124-1559-E4F1-E591-8979E8A05700}"/>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D184EAD7-E34D-3381-F578-F395CE561CC0}"/>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B06E9A44-3AB8-4F52-2997-F55C9F7F009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274BE6AB-ACEC-3F71-0871-50DCB39ABB42}"/>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CEDB6BF8-7A7E-9D67-8437-577E7DFD4560}"/>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32E8DA43-15F0-6443-76FE-67775003E8E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0F62280B-E0F6-DA15-ACC2-E585663B2B9C}"/>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CBA8EF24-8815-ADA7-7149-5D777D4604C4}"/>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EF8528BA-2ECE-27F8-BB69-87CE96761A81}"/>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F5ACF721-290F-3B24-69A7-66D822628EF7}"/>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157112D8-FE0A-E604-AE4C-E73D5F067EFC}"/>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19BB16B9-0F5B-2960-C292-5B6AD9BAB3ED}"/>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EB775A5B-F982-4712-26FC-25962F440D55}"/>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A28E64BE-83CE-0EB7-4076-E2DBFC55E73C}"/>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102789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16521-F1ED-C788-5CA1-DFA2A952D624}"/>
              </a:ext>
            </a:extLst>
          </p:cNvPr>
          <p:cNvSpPr>
            <a:spLocks noGrp="1"/>
          </p:cNvSpPr>
          <p:nvPr>
            <p:ph type="title"/>
          </p:nvPr>
        </p:nvSpPr>
        <p:spPr/>
        <p:txBody>
          <a:bodyPr/>
          <a:lstStyle/>
          <a:p>
            <a:r>
              <a:rPr lang="en-SE" dirty="0"/>
              <a:t>Updated Context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50AED5-53C3-1342-5E07-BC8C3D4072A3}"/>
                  </a:ext>
                </a:extLst>
              </p:cNvPr>
              <p:cNvSpPr>
                <a:spLocks noGrp="1"/>
              </p:cNvSpPr>
              <p:nvPr>
                <p:ph idx="1"/>
              </p:nvPr>
            </p:nvSpPr>
            <p:spPr>
              <a:xfrm>
                <a:off x="838200" y="1825624"/>
                <a:ext cx="10515600" cy="1350415"/>
              </a:xfrm>
            </p:spPr>
            <p:txBody>
              <a:bodyPr/>
              <a:lstStyle/>
              <a:p>
                <a:pPr marL="0" indent="0">
                  <a:buNone/>
                </a:pPr>
                <a:r>
                  <a:rPr lang="en-SE" dirty="0"/>
                  <a:t>Considering the same research question, but now measuring the </a:t>
                </a:r>
                <a:r>
                  <a:rPr lang="en-SE" dirty="0">
                    <a:solidFill>
                      <a:srgbClr val="006D70"/>
                    </a:solidFill>
                  </a:rPr>
                  <a:t>outcome variable </a:t>
                </a:r>
                <a14:m>
                  <m:oMath xmlns:m="http://schemas.openxmlformats.org/officeDocument/2006/math">
                    <m:r>
                      <a:rPr lang="en-SE" b="0" i="1" smtClean="0">
                        <a:solidFill>
                          <a:srgbClr val="006D70"/>
                        </a:solidFill>
                        <a:latin typeface="Cambria Math" panose="02040503050406030204" pitchFamily="18" charset="0"/>
                      </a:rPr>
                      <m:t>𝑦</m:t>
                    </m:r>
                  </m:oMath>
                </a14:m>
                <a:r>
                  <a:rPr lang="en-SE" dirty="0"/>
                  <a:t> as the </a:t>
                </a:r>
                <a:r>
                  <a:rPr lang="en-SE" i="1" dirty="0"/>
                  <a:t>number of times a code reviewer found the one bug in a code snippet</a:t>
                </a:r>
                <a:r>
                  <a:rPr lang="en-SE" dirty="0"/>
                  <a:t>.</a:t>
                </a:r>
              </a:p>
            </p:txBody>
          </p:sp>
        </mc:Choice>
        <mc:Fallback xmlns="">
          <p:sp>
            <p:nvSpPr>
              <p:cNvPr id="3" name="Content Placeholder 2">
                <a:extLst>
                  <a:ext uri="{FF2B5EF4-FFF2-40B4-BE49-F238E27FC236}">
                    <a16:creationId xmlns:a16="http://schemas.microsoft.com/office/drawing/2014/main" id="{9A50AED5-53C3-1342-5E07-BC8C3D4072A3}"/>
                  </a:ext>
                </a:extLst>
              </p:cNvPr>
              <p:cNvSpPr>
                <a:spLocks noGrp="1" noRot="1" noChangeAspect="1" noMove="1" noResize="1" noEditPoints="1" noAdjustHandles="1" noChangeArrowheads="1" noChangeShapeType="1" noTextEdit="1"/>
              </p:cNvSpPr>
              <p:nvPr>
                <p:ph idx="1"/>
              </p:nvPr>
            </p:nvSpPr>
            <p:spPr>
              <a:xfrm>
                <a:off x="838200" y="1825624"/>
                <a:ext cx="10515600" cy="1350415"/>
              </a:xfrm>
              <a:blipFill>
                <a:blip r:embed="rId2"/>
                <a:stretch>
                  <a:fillRect l="-1217" t="-7658" b="-4505"/>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DAAD62AC-1A57-09A8-9BCE-1D556E8E9BB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94390A8-A059-A777-B630-ADD38726C99F}"/>
              </a:ext>
            </a:extLst>
          </p:cNvPr>
          <p:cNvSpPr>
            <a:spLocks noGrp="1"/>
          </p:cNvSpPr>
          <p:nvPr>
            <p:ph type="sldNum" sz="quarter" idx="12"/>
          </p:nvPr>
        </p:nvSpPr>
        <p:spPr/>
        <p:txBody>
          <a:bodyPr/>
          <a:lstStyle/>
          <a:p>
            <a:fld id="{271ECC92-9CDE-4EB3-B1C5-F46B9E1FA3C1}" type="slidenum">
              <a:rPr lang="en-SE" smtClean="0"/>
              <a:t>83</a:t>
            </a:fld>
            <a:endParaRPr lang="en-SE"/>
          </a:p>
        </p:txBody>
      </p:sp>
      <p:sp>
        <p:nvSpPr>
          <p:cNvPr id="6" name="Footer Placeholder 5">
            <a:extLst>
              <a:ext uri="{FF2B5EF4-FFF2-40B4-BE49-F238E27FC236}">
                <a16:creationId xmlns:a16="http://schemas.microsoft.com/office/drawing/2014/main" id="{D65A8057-3BA1-7B9F-DF2A-19F4CF0C12CC}"/>
              </a:ext>
            </a:extLst>
          </p:cNvPr>
          <p:cNvSpPr>
            <a:spLocks noGrp="1"/>
          </p:cNvSpPr>
          <p:nvPr>
            <p:ph type="ftr" sz="quarter" idx="11"/>
          </p:nvPr>
        </p:nvSpPr>
        <p:spPr/>
        <p:txBody>
          <a:bodyPr/>
          <a:lstStyle/>
          <a:p>
            <a:r>
              <a:rPr lang="de-DE"/>
              <a:t>Bayesian Data Analysis Tutorial</a:t>
            </a:r>
            <a:endParaRPr lang="en-SE"/>
          </a:p>
        </p:txBody>
      </p:sp>
      <p:sp>
        <p:nvSpPr>
          <p:cNvPr id="30" name="Oval 29">
            <a:extLst>
              <a:ext uri="{FF2B5EF4-FFF2-40B4-BE49-F238E27FC236}">
                <a16:creationId xmlns:a16="http://schemas.microsoft.com/office/drawing/2014/main" id="{C23F50FE-FFC2-C657-3A7A-799ED846C109}"/>
              </a:ext>
            </a:extLst>
          </p:cNvPr>
          <p:cNvSpPr/>
          <p:nvPr/>
        </p:nvSpPr>
        <p:spPr>
          <a:xfrm>
            <a:off x="1463978" y="3889088"/>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1" name="Oval 30">
            <a:extLst>
              <a:ext uri="{FF2B5EF4-FFF2-40B4-BE49-F238E27FC236}">
                <a16:creationId xmlns:a16="http://schemas.microsoft.com/office/drawing/2014/main" id="{A9AA1FC4-F7DE-EC67-47A9-E3D8CBF72D3D}"/>
              </a:ext>
            </a:extLst>
          </p:cNvPr>
          <p:cNvSpPr/>
          <p:nvPr/>
        </p:nvSpPr>
        <p:spPr>
          <a:xfrm>
            <a:off x="3955358" y="3889088"/>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2" name="Straight Arrow Connector 31">
            <a:extLst>
              <a:ext uri="{FF2B5EF4-FFF2-40B4-BE49-F238E27FC236}">
                <a16:creationId xmlns:a16="http://schemas.microsoft.com/office/drawing/2014/main" id="{FE66BFB0-25AF-4894-ED72-D39EBE910B83}"/>
              </a:ext>
            </a:extLst>
          </p:cNvPr>
          <p:cNvCxnSpPr>
            <a:stCxn id="30" idx="6"/>
            <a:endCxn id="31" idx="2"/>
          </p:cNvCxnSpPr>
          <p:nvPr/>
        </p:nvCxnSpPr>
        <p:spPr>
          <a:xfrm>
            <a:off x="1823978" y="4069088"/>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 name="TextBox 32">
            <a:extLst>
              <a:ext uri="{FF2B5EF4-FFF2-40B4-BE49-F238E27FC236}">
                <a16:creationId xmlns:a16="http://schemas.microsoft.com/office/drawing/2014/main" id="{944284B5-53F3-C14B-1E33-E550AA91C92C}"/>
              </a:ext>
            </a:extLst>
          </p:cNvPr>
          <p:cNvSpPr txBox="1"/>
          <p:nvPr/>
        </p:nvSpPr>
        <p:spPr>
          <a:xfrm>
            <a:off x="1279593" y="3461056"/>
            <a:ext cx="1022972" cy="369332"/>
          </a:xfrm>
          <a:prstGeom prst="rect">
            <a:avLst/>
          </a:prstGeom>
          <a:noFill/>
        </p:spPr>
        <p:txBody>
          <a:bodyPr wrap="none" rtlCol="0">
            <a:spAutoFit/>
          </a:bodyPr>
          <a:lstStyle/>
          <a:p>
            <a:r>
              <a:rPr lang="en-SE" dirty="0">
                <a:solidFill>
                  <a:srgbClr val="D0180A"/>
                </a:solidFill>
              </a:rPr>
              <a:t>AI usage</a:t>
            </a:r>
            <a:endParaRPr lang="en-US" noProof="0" dirty="0">
              <a:solidFill>
                <a:srgbClr val="D0180A"/>
              </a:solidFill>
            </a:endParaRPr>
          </a:p>
        </p:txBody>
      </p:sp>
      <p:sp>
        <p:nvSpPr>
          <p:cNvPr id="34" name="TextBox 33">
            <a:extLst>
              <a:ext uri="{FF2B5EF4-FFF2-40B4-BE49-F238E27FC236}">
                <a16:creationId xmlns:a16="http://schemas.microsoft.com/office/drawing/2014/main" id="{C514BFE6-1F3D-F774-E88B-237E639F4199}"/>
              </a:ext>
            </a:extLst>
          </p:cNvPr>
          <p:cNvSpPr txBox="1"/>
          <p:nvPr/>
        </p:nvSpPr>
        <p:spPr>
          <a:xfrm>
            <a:off x="3356236" y="3472443"/>
            <a:ext cx="1922129" cy="369332"/>
          </a:xfrm>
          <a:prstGeom prst="rect">
            <a:avLst/>
          </a:prstGeom>
          <a:noFill/>
        </p:spPr>
        <p:txBody>
          <a:bodyPr wrap="none" rtlCol="0">
            <a:spAutoFit/>
          </a:bodyPr>
          <a:lstStyle/>
          <a:p>
            <a:r>
              <a:rPr lang="de-DE" noProof="0" dirty="0">
                <a:solidFill>
                  <a:srgbClr val="006D70"/>
                </a:solidFill>
              </a:rPr>
              <a:t>B</a:t>
            </a:r>
            <a:r>
              <a:rPr lang="en-SE" noProof="0" dirty="0">
                <a:solidFill>
                  <a:srgbClr val="006D70"/>
                </a:solidFill>
              </a:rPr>
              <a:t>ug identification</a:t>
            </a:r>
          </a:p>
        </p:txBody>
      </p:sp>
      <p:sp>
        <p:nvSpPr>
          <p:cNvPr id="35" name="Oval 34">
            <a:extLst>
              <a:ext uri="{FF2B5EF4-FFF2-40B4-BE49-F238E27FC236}">
                <a16:creationId xmlns:a16="http://schemas.microsoft.com/office/drawing/2014/main" id="{44AE8E21-9EE5-7AB0-4E91-0507232074EB}"/>
              </a:ext>
            </a:extLst>
          </p:cNvPr>
          <p:cNvSpPr/>
          <p:nvPr/>
        </p:nvSpPr>
        <p:spPr>
          <a:xfrm>
            <a:off x="2709668" y="4655409"/>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36" name="TextBox 35">
            <a:extLst>
              <a:ext uri="{FF2B5EF4-FFF2-40B4-BE49-F238E27FC236}">
                <a16:creationId xmlns:a16="http://schemas.microsoft.com/office/drawing/2014/main" id="{33D0ED3D-F66D-7F75-B254-F3E36A7EDF28}"/>
              </a:ext>
            </a:extLst>
          </p:cNvPr>
          <p:cNvSpPr txBox="1"/>
          <p:nvPr/>
        </p:nvSpPr>
        <p:spPr>
          <a:xfrm>
            <a:off x="3196572" y="4655409"/>
            <a:ext cx="64633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 </a:t>
            </a:r>
            <a:endParaRPr lang="en-US" noProof="0" dirty="0">
              <a:solidFill>
                <a:schemeClr val="tx1">
                  <a:lumMod val="65000"/>
                  <a:lumOff val="35000"/>
                </a:schemeClr>
              </a:solidFill>
            </a:endParaRPr>
          </a:p>
        </p:txBody>
      </p:sp>
      <p:cxnSp>
        <p:nvCxnSpPr>
          <p:cNvPr id="37" name="Straight Arrow Connector 36">
            <a:extLst>
              <a:ext uri="{FF2B5EF4-FFF2-40B4-BE49-F238E27FC236}">
                <a16:creationId xmlns:a16="http://schemas.microsoft.com/office/drawing/2014/main" id="{4BB427DE-FA27-9ABC-822C-11AE04D7F65E}"/>
              </a:ext>
            </a:extLst>
          </p:cNvPr>
          <p:cNvCxnSpPr>
            <a:cxnSpLocks/>
            <a:stCxn id="35" idx="7"/>
            <a:endCxn id="31" idx="3"/>
          </p:cNvCxnSpPr>
          <p:nvPr/>
        </p:nvCxnSpPr>
        <p:spPr>
          <a:xfrm flipV="1">
            <a:off x="3016947" y="4196367"/>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5AC07EC1-46C9-1153-4261-0E2D84B20B4C}"/>
              </a:ext>
            </a:extLst>
          </p:cNvPr>
          <p:cNvCxnSpPr>
            <a:cxnSpLocks/>
            <a:stCxn id="35" idx="1"/>
            <a:endCxn id="30" idx="5"/>
          </p:cNvCxnSpPr>
          <p:nvPr/>
        </p:nvCxnSpPr>
        <p:spPr>
          <a:xfrm flipH="1" flipV="1">
            <a:off x="1771257" y="4196367"/>
            <a:ext cx="991132"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39" name="Table 38">
            <a:extLst>
              <a:ext uri="{FF2B5EF4-FFF2-40B4-BE49-F238E27FC236}">
                <a16:creationId xmlns:a16="http://schemas.microsoft.com/office/drawing/2014/main" id="{71BA1863-0B3A-D1DF-7153-3EF4DA86CC21}"/>
              </a:ext>
            </a:extLst>
          </p:cNvPr>
          <p:cNvGraphicFramePr>
            <a:graphicFrameLocks noGrp="1"/>
          </p:cNvGraphicFramePr>
          <p:nvPr>
            <p:extLst>
              <p:ext uri="{D42A27DB-BD31-4B8C-83A1-F6EECF244321}">
                <p14:modId xmlns:p14="http://schemas.microsoft.com/office/powerpoint/2010/main" val="562743638"/>
              </p:ext>
            </p:extLst>
          </p:nvPr>
        </p:nvGraphicFramePr>
        <p:xfrm>
          <a:off x="5598324" y="3046257"/>
          <a:ext cx="5755476" cy="2291080"/>
        </p:xfrm>
        <a:graphic>
          <a:graphicData uri="http://schemas.openxmlformats.org/drawingml/2006/table">
            <a:tbl>
              <a:tblPr firstRow="1" bandRow="1">
                <a:tableStyleId>{073A0DAA-6AF3-43AB-8588-CEC1D06C72B9}</a:tableStyleId>
              </a:tblPr>
              <a:tblGrid>
                <a:gridCol w="586576">
                  <a:extLst>
                    <a:ext uri="{9D8B030D-6E8A-4147-A177-3AD203B41FA5}">
                      <a16:colId xmlns:a16="http://schemas.microsoft.com/office/drawing/2014/main" val="895537892"/>
                    </a:ext>
                  </a:extLst>
                </a:gridCol>
                <a:gridCol w="2831778">
                  <a:extLst>
                    <a:ext uri="{9D8B030D-6E8A-4147-A177-3AD203B41FA5}">
                      <a16:colId xmlns:a16="http://schemas.microsoft.com/office/drawing/2014/main" val="1260121988"/>
                    </a:ext>
                  </a:extLst>
                </a:gridCol>
                <a:gridCol w="2337122">
                  <a:extLst>
                    <a:ext uri="{9D8B030D-6E8A-4147-A177-3AD203B41FA5}">
                      <a16:colId xmlns:a16="http://schemas.microsoft.com/office/drawing/2014/main" val="4016704642"/>
                    </a:ext>
                  </a:extLst>
                </a:gridCol>
              </a:tblGrid>
              <a:tr h="370840">
                <a:tc>
                  <a:txBody>
                    <a:bodyPr/>
                    <a:lstStyle/>
                    <a:p>
                      <a:r>
                        <a:rPr lang="en-SE" dirty="0"/>
                        <a:t>Var</a:t>
                      </a:r>
                    </a:p>
                  </a:txBody>
                  <a:tcPr/>
                </a:tc>
                <a:tc>
                  <a:txBody>
                    <a:bodyPr/>
                    <a:lstStyle/>
                    <a:p>
                      <a:r>
                        <a:rPr lang="en-SE" dirty="0"/>
                        <a:t>Name</a:t>
                      </a:r>
                    </a:p>
                  </a:txBody>
                  <a:tcPr/>
                </a:tc>
                <a:tc>
                  <a:txBody>
                    <a:bodyPr/>
                    <a:lstStyle/>
                    <a:p>
                      <a:r>
                        <a:rPr lang="en-SE" dirty="0"/>
                        <a:t>Type</a:t>
                      </a:r>
                    </a:p>
                  </a:txBody>
                  <a:tcPr/>
                </a:tc>
                <a:extLst>
                  <a:ext uri="{0D108BD9-81ED-4DB2-BD59-A6C34878D82A}">
                    <a16:rowId xmlns:a16="http://schemas.microsoft.com/office/drawing/2014/main" val="3359954214"/>
                  </a:ext>
                </a:extLst>
              </a:tr>
              <a:tr h="370840">
                <a:tc>
                  <a:txBody>
                    <a:bodyPr/>
                    <a:lstStyle/>
                    <a:p>
                      <a:r>
                        <a:rPr lang="en-SE" dirty="0">
                          <a:solidFill>
                            <a:srgbClr val="D0180A"/>
                          </a:solidFill>
                        </a:rPr>
                        <a:t>x</a:t>
                      </a:r>
                    </a:p>
                  </a:txBody>
                  <a:tcPr/>
                </a:tc>
                <a:tc>
                  <a:txBody>
                    <a:bodyPr/>
                    <a:lstStyle/>
                    <a:p>
                      <a:r>
                        <a:rPr lang="en-SE" dirty="0">
                          <a:solidFill>
                            <a:srgbClr val="D0180A"/>
                          </a:solidFill>
                        </a:rPr>
                        <a:t>Measure of AI usage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624395363"/>
                  </a:ext>
                </a:extLst>
              </a:tr>
              <a:tr h="370840">
                <a:tc>
                  <a:txBody>
                    <a:bodyPr/>
                    <a:lstStyle/>
                    <a:p>
                      <a:r>
                        <a:rPr lang="en-SE" dirty="0">
                          <a:solidFill>
                            <a:srgbClr val="006D70"/>
                          </a:solidFill>
                        </a:rPr>
                        <a:t>y</a:t>
                      </a:r>
                    </a:p>
                  </a:txBody>
                  <a:tcPr/>
                </a:tc>
                <a:tc>
                  <a:txBody>
                    <a:bodyPr/>
                    <a:lstStyle/>
                    <a:p>
                      <a:r>
                        <a:rPr lang="en-SE" dirty="0">
                          <a:solidFill>
                            <a:srgbClr val="006D70"/>
                          </a:solidFill>
                        </a:rPr>
                        <a:t>Number of code snippet where a bug was identified</a:t>
                      </a:r>
                    </a:p>
                  </a:txBody>
                  <a:tcPr/>
                </a:tc>
                <a:tc>
                  <a:txBody>
                    <a:bodyPr/>
                    <a:lstStyle/>
                    <a:p>
                      <a:r>
                        <a:rPr lang="en-SE" dirty="0"/>
                        <a:t>Positive count of successful trials</a:t>
                      </a:r>
                    </a:p>
                  </a:txBody>
                  <a:tcPr>
                    <a:solidFill>
                      <a:schemeClr val="bg2">
                        <a:lumMod val="40000"/>
                        <a:lumOff val="60000"/>
                      </a:schemeClr>
                    </a:solidFill>
                  </a:tcPr>
                </a:tc>
                <a:extLst>
                  <a:ext uri="{0D108BD9-81ED-4DB2-BD59-A6C34878D82A}">
                    <a16:rowId xmlns:a16="http://schemas.microsoft.com/office/drawing/2014/main" val="3142312279"/>
                  </a:ext>
                </a:extLst>
              </a:tr>
              <a:tr h="370840">
                <a:tc>
                  <a:txBody>
                    <a:bodyPr/>
                    <a:lstStyle/>
                    <a:p>
                      <a:r>
                        <a:rPr lang="en-SE" dirty="0"/>
                        <a:t>z</a:t>
                      </a:r>
                    </a:p>
                  </a:txBody>
                  <a:tcPr/>
                </a:tc>
                <a:tc>
                  <a:txBody>
                    <a:bodyPr/>
                    <a:lstStyle/>
                    <a:p>
                      <a:r>
                        <a:rPr lang="en-SE" dirty="0"/>
                        <a:t>Skill of a code reviewer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dirty="0"/>
                        <a:t>Continuous, Gaussian-distributed</a:t>
                      </a:r>
                    </a:p>
                  </a:txBody>
                  <a:tcPr/>
                </a:tc>
                <a:extLst>
                  <a:ext uri="{0D108BD9-81ED-4DB2-BD59-A6C34878D82A}">
                    <a16:rowId xmlns:a16="http://schemas.microsoft.com/office/drawing/2014/main" val="1763837834"/>
                  </a:ext>
                </a:extLst>
              </a:tr>
            </a:tbl>
          </a:graphicData>
        </a:graphic>
      </p:graphicFrame>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DB06102-3B60-CBEB-A0A7-36F185F7C971}"/>
                  </a:ext>
                </a:extLst>
              </p:cNvPr>
              <p:cNvSpPr txBox="1"/>
              <p:nvPr/>
            </p:nvSpPr>
            <p:spPr>
              <a:xfrm>
                <a:off x="2751040" y="3664811"/>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𝛽</m:t>
                          </m:r>
                        </m:e>
                        <m:sub>
                          <m:r>
                            <a:rPr lang="en-SE" b="0" i="1" smtClean="0">
                              <a:latin typeface="Cambria Math" panose="02040503050406030204" pitchFamily="18" charset="0"/>
                            </a:rPr>
                            <m:t>𝑥</m:t>
                          </m:r>
                        </m:sub>
                      </m:sSub>
                    </m:oMath>
                  </m:oMathPara>
                </a14:m>
                <a:endParaRPr lang="en-SE" dirty="0"/>
              </a:p>
            </p:txBody>
          </p:sp>
        </mc:Choice>
        <mc:Fallback xmlns="">
          <p:sp>
            <p:nvSpPr>
              <p:cNvPr id="40" name="TextBox 39">
                <a:extLst>
                  <a:ext uri="{FF2B5EF4-FFF2-40B4-BE49-F238E27FC236}">
                    <a16:creationId xmlns:a16="http://schemas.microsoft.com/office/drawing/2014/main" id="{7DB06102-3B60-CBEB-A0A7-36F185F7C971}"/>
                  </a:ext>
                </a:extLst>
              </p:cNvPr>
              <p:cNvSpPr txBox="1">
                <a:spLocks noRot="1" noChangeAspect="1" noMove="1" noResize="1" noEditPoints="1" noAdjustHandles="1" noChangeArrowheads="1" noChangeShapeType="1" noTextEdit="1"/>
              </p:cNvSpPr>
              <p:nvPr/>
            </p:nvSpPr>
            <p:spPr>
              <a:xfrm>
                <a:off x="2751040" y="3664811"/>
                <a:ext cx="284693" cy="276999"/>
              </a:xfrm>
              <a:prstGeom prst="rect">
                <a:avLst/>
              </a:prstGeom>
              <a:blipFill>
                <a:blip r:embed="rId9"/>
                <a:stretch>
                  <a:fillRect l="-29787" t="-2174" r="-2128" b="-32609"/>
                </a:stretch>
              </a:blipFill>
            </p:spPr>
            <p:txBody>
              <a:bodyPr/>
              <a:lstStyle/>
              <a:p>
                <a:r>
                  <a:rPr lang="en-SE">
                    <a:noFill/>
                  </a:rPr>
                  <a:t> </a:t>
                </a:r>
              </a:p>
            </p:txBody>
          </p:sp>
        </mc:Fallback>
      </mc:AlternateContent>
      <p:sp>
        <p:nvSpPr>
          <p:cNvPr id="41" name="Content Placeholder 2">
            <a:extLst>
              <a:ext uri="{FF2B5EF4-FFF2-40B4-BE49-F238E27FC236}">
                <a16:creationId xmlns:a16="http://schemas.microsoft.com/office/drawing/2014/main" id="{EBA7FA89-9912-4823-DD77-1C5C7B83614D}"/>
              </a:ext>
            </a:extLst>
          </p:cNvPr>
          <p:cNvSpPr txBox="1">
            <a:spLocks/>
          </p:cNvSpPr>
          <p:nvPr/>
        </p:nvSpPr>
        <p:spPr>
          <a:xfrm>
            <a:off x="838198" y="5420760"/>
            <a:ext cx="10515600" cy="93559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The </a:t>
            </a:r>
            <a:r>
              <a:rPr lang="en-SE" b="1" dirty="0"/>
              <a:t>binomial distribution </a:t>
            </a:r>
            <a:r>
              <a:rPr lang="en-SE" dirty="0"/>
              <a:t>has maximum entropy under these constraints.</a:t>
            </a:r>
          </a:p>
        </p:txBody>
      </p:sp>
      <p:grpSp>
        <p:nvGrpSpPr>
          <p:cNvPr id="42" name="Group 41">
            <a:extLst>
              <a:ext uri="{FF2B5EF4-FFF2-40B4-BE49-F238E27FC236}">
                <a16:creationId xmlns:a16="http://schemas.microsoft.com/office/drawing/2014/main" id="{178A4571-2BB6-76C3-67FB-F679E21A2C85}"/>
              </a:ext>
            </a:extLst>
          </p:cNvPr>
          <p:cNvGrpSpPr/>
          <p:nvPr/>
        </p:nvGrpSpPr>
        <p:grpSpPr>
          <a:xfrm>
            <a:off x="228598" y="1825625"/>
            <a:ext cx="504000" cy="504000"/>
            <a:chOff x="977950" y="2729564"/>
            <a:chExt cx="504000" cy="504000"/>
          </a:xfrm>
        </p:grpSpPr>
        <p:sp>
          <p:nvSpPr>
            <p:cNvPr id="43" name="Oval 42">
              <a:extLst>
                <a:ext uri="{FF2B5EF4-FFF2-40B4-BE49-F238E27FC236}">
                  <a16:creationId xmlns:a16="http://schemas.microsoft.com/office/drawing/2014/main" id="{5964C05A-3668-A8F3-0789-5214302353E6}"/>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Bar chart with solid fill">
              <a:extLst>
                <a:ext uri="{FF2B5EF4-FFF2-40B4-BE49-F238E27FC236}">
                  <a16:creationId xmlns:a16="http://schemas.microsoft.com/office/drawing/2014/main" id="{E470F5EB-EDAA-6469-FEE7-61EEF20D2B0F}"/>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2AA4417C-CF11-42B8-609D-2D6B74EC631D}"/>
              </a:ext>
            </a:extLst>
          </p:cNvPr>
          <p:cNvGrpSpPr/>
          <p:nvPr/>
        </p:nvGrpSpPr>
        <p:grpSpPr>
          <a:xfrm>
            <a:off x="228598" y="2439322"/>
            <a:ext cx="504000" cy="504000"/>
            <a:chOff x="977950" y="2729564"/>
            <a:chExt cx="504000" cy="504000"/>
          </a:xfrm>
        </p:grpSpPr>
        <p:sp>
          <p:nvSpPr>
            <p:cNvPr id="46" name="Oval 45">
              <a:extLst>
                <a:ext uri="{FF2B5EF4-FFF2-40B4-BE49-F238E27FC236}">
                  <a16:creationId xmlns:a16="http://schemas.microsoft.com/office/drawing/2014/main" id="{601C727A-E672-1DD6-0947-279FAA60E9C7}"/>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Golden Ratio with solid fill">
              <a:extLst>
                <a:ext uri="{FF2B5EF4-FFF2-40B4-BE49-F238E27FC236}">
                  <a16:creationId xmlns:a16="http://schemas.microsoft.com/office/drawing/2014/main" id="{FCAA68C0-6C75-A8DC-B552-135F609C01C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57AEE1CE-E0DA-875E-CC17-3EACD46165D3}"/>
              </a:ext>
            </a:extLst>
          </p:cNvPr>
          <p:cNvGrpSpPr/>
          <p:nvPr/>
        </p:nvGrpSpPr>
        <p:grpSpPr>
          <a:xfrm>
            <a:off x="228598" y="3053019"/>
            <a:ext cx="504000" cy="504000"/>
            <a:chOff x="977950" y="2729564"/>
            <a:chExt cx="504000" cy="504000"/>
          </a:xfrm>
        </p:grpSpPr>
        <p:sp>
          <p:nvSpPr>
            <p:cNvPr id="49" name="Oval 48">
              <a:extLst>
                <a:ext uri="{FF2B5EF4-FFF2-40B4-BE49-F238E27FC236}">
                  <a16:creationId xmlns:a16="http://schemas.microsoft.com/office/drawing/2014/main" id="{FBDE6CF4-AC1D-FFB9-C546-2EABCA3BAF2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Normal Distribution with solid fill">
              <a:extLst>
                <a:ext uri="{FF2B5EF4-FFF2-40B4-BE49-F238E27FC236}">
                  <a16:creationId xmlns:a16="http://schemas.microsoft.com/office/drawing/2014/main" id="{EBA2FC0A-373E-F3B7-8BCE-112CF6754993}"/>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12F020B7-41BC-F0E6-2690-A65843AB51CB}"/>
              </a:ext>
            </a:extLst>
          </p:cNvPr>
          <p:cNvGrpSpPr/>
          <p:nvPr/>
        </p:nvGrpSpPr>
        <p:grpSpPr>
          <a:xfrm>
            <a:off x="228598" y="3666716"/>
            <a:ext cx="504000" cy="504000"/>
            <a:chOff x="977950" y="2729564"/>
            <a:chExt cx="504000" cy="504000"/>
          </a:xfrm>
        </p:grpSpPr>
        <p:sp>
          <p:nvSpPr>
            <p:cNvPr id="52" name="Oval 51">
              <a:extLst>
                <a:ext uri="{FF2B5EF4-FFF2-40B4-BE49-F238E27FC236}">
                  <a16:creationId xmlns:a16="http://schemas.microsoft.com/office/drawing/2014/main" id="{851CEE8D-2D68-8A95-DB5B-4D14DA0FEEB1}"/>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Abacus with solid fill">
              <a:extLst>
                <a:ext uri="{FF2B5EF4-FFF2-40B4-BE49-F238E27FC236}">
                  <a16:creationId xmlns:a16="http://schemas.microsoft.com/office/drawing/2014/main" id="{E3234575-EC32-C2BD-86E9-D206E58B39E2}"/>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1031950" y="2783564"/>
              <a:ext cx="396000" cy="396000"/>
            </a:xfrm>
            <a:prstGeom prst="rect">
              <a:avLst/>
            </a:prstGeom>
          </p:spPr>
        </p:pic>
      </p:grpSp>
      <p:grpSp>
        <p:nvGrpSpPr>
          <p:cNvPr id="54" name="Group 53">
            <a:extLst>
              <a:ext uri="{FF2B5EF4-FFF2-40B4-BE49-F238E27FC236}">
                <a16:creationId xmlns:a16="http://schemas.microsoft.com/office/drawing/2014/main" id="{AF970B37-EB33-A3A5-B676-BA6A228CFFF6}"/>
              </a:ext>
            </a:extLst>
          </p:cNvPr>
          <p:cNvGrpSpPr/>
          <p:nvPr/>
        </p:nvGrpSpPr>
        <p:grpSpPr>
          <a:xfrm>
            <a:off x="228598" y="4280413"/>
            <a:ext cx="504000" cy="504000"/>
            <a:chOff x="977950" y="2729564"/>
            <a:chExt cx="504000" cy="504000"/>
          </a:xfrm>
        </p:grpSpPr>
        <p:sp>
          <p:nvSpPr>
            <p:cNvPr id="55" name="Oval 54">
              <a:extLst>
                <a:ext uri="{FF2B5EF4-FFF2-40B4-BE49-F238E27FC236}">
                  <a16:creationId xmlns:a16="http://schemas.microsoft.com/office/drawing/2014/main" id="{2E88C675-4D4A-6ADB-9ACD-5D661EA06D3D}"/>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6" name="Graphic 55" descr="Trigonometry with solid fill">
              <a:extLst>
                <a:ext uri="{FF2B5EF4-FFF2-40B4-BE49-F238E27FC236}">
                  <a16:creationId xmlns:a16="http://schemas.microsoft.com/office/drawing/2014/main" id="{1E515DB4-8F5C-9015-8ACD-405661BD9EFC}"/>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1031950" y="2783564"/>
              <a:ext cx="396000" cy="396000"/>
            </a:xfrm>
            <a:prstGeom prst="rect">
              <a:avLst/>
            </a:prstGeom>
          </p:spPr>
        </p:pic>
      </p:grpSp>
      <p:grpSp>
        <p:nvGrpSpPr>
          <p:cNvPr id="57" name="Group 56">
            <a:extLst>
              <a:ext uri="{FF2B5EF4-FFF2-40B4-BE49-F238E27FC236}">
                <a16:creationId xmlns:a16="http://schemas.microsoft.com/office/drawing/2014/main" id="{9C36172B-5EA4-D395-43B9-E769C0ED50E7}"/>
              </a:ext>
            </a:extLst>
          </p:cNvPr>
          <p:cNvGrpSpPr/>
          <p:nvPr/>
        </p:nvGrpSpPr>
        <p:grpSpPr>
          <a:xfrm>
            <a:off x="228598" y="4894111"/>
            <a:ext cx="504000" cy="504000"/>
            <a:chOff x="977950" y="2729564"/>
            <a:chExt cx="504000" cy="504000"/>
          </a:xfrm>
        </p:grpSpPr>
        <p:sp>
          <p:nvSpPr>
            <p:cNvPr id="58" name="Oval 57">
              <a:extLst>
                <a:ext uri="{FF2B5EF4-FFF2-40B4-BE49-F238E27FC236}">
                  <a16:creationId xmlns:a16="http://schemas.microsoft.com/office/drawing/2014/main" id="{F509C94E-9B2B-E323-4B63-9B0ADB0D65A7}"/>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9" name="Graphic 58" descr="Scatterplot with solid fill">
              <a:extLst>
                <a:ext uri="{FF2B5EF4-FFF2-40B4-BE49-F238E27FC236}">
                  <a16:creationId xmlns:a16="http://schemas.microsoft.com/office/drawing/2014/main" id="{DDE75AFB-560E-EDFE-EE0E-6EA5007242B0}"/>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031950" y="2783564"/>
              <a:ext cx="396000" cy="396000"/>
            </a:xfrm>
            <a:prstGeom prst="rect">
              <a:avLst/>
            </a:prstGeom>
          </p:spPr>
        </p:pic>
      </p:grpSp>
      <p:cxnSp>
        <p:nvCxnSpPr>
          <p:cNvPr id="60" name="Straight Arrow Connector 59">
            <a:extLst>
              <a:ext uri="{FF2B5EF4-FFF2-40B4-BE49-F238E27FC236}">
                <a16:creationId xmlns:a16="http://schemas.microsoft.com/office/drawing/2014/main" id="{0153215D-772E-10D3-4604-E8B1379D571A}"/>
              </a:ext>
            </a:extLst>
          </p:cNvPr>
          <p:cNvCxnSpPr>
            <a:stCxn id="43" idx="4"/>
            <a:endCxn id="46"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AC496BEB-315C-375A-93C3-0C92D17D83D2}"/>
              </a:ext>
            </a:extLst>
          </p:cNvPr>
          <p:cNvCxnSpPr>
            <a:cxnSpLocks/>
            <a:stCxn id="46" idx="4"/>
            <a:endCxn id="49"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64764FD2-84C9-564F-B150-872B3A5A7F80}"/>
              </a:ext>
            </a:extLst>
          </p:cNvPr>
          <p:cNvCxnSpPr>
            <a:cxnSpLocks/>
            <a:stCxn id="49" idx="4"/>
            <a:endCxn id="52"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3" name="Straight Arrow Connector 62">
            <a:extLst>
              <a:ext uri="{FF2B5EF4-FFF2-40B4-BE49-F238E27FC236}">
                <a16:creationId xmlns:a16="http://schemas.microsoft.com/office/drawing/2014/main" id="{9F87BC05-0372-7183-AA4A-80BDAB62D661}"/>
              </a:ext>
            </a:extLst>
          </p:cNvPr>
          <p:cNvCxnSpPr>
            <a:cxnSpLocks/>
            <a:stCxn id="52" idx="4"/>
            <a:endCxn id="55"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4" name="Straight Arrow Connector 63">
            <a:extLst>
              <a:ext uri="{FF2B5EF4-FFF2-40B4-BE49-F238E27FC236}">
                <a16:creationId xmlns:a16="http://schemas.microsoft.com/office/drawing/2014/main" id="{4853ACB8-CE4E-7E90-18F2-0462FFBAA3A5}"/>
              </a:ext>
            </a:extLst>
          </p:cNvPr>
          <p:cNvCxnSpPr>
            <a:cxnSpLocks/>
            <a:stCxn id="55" idx="4"/>
            <a:endCxn id="58"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808992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AE02C-AE26-0AEE-E8E0-1AEB4BE9A47D}"/>
              </a:ext>
            </a:extLst>
          </p:cNvPr>
          <p:cNvSpPr>
            <a:spLocks noGrp="1"/>
          </p:cNvSpPr>
          <p:nvPr>
            <p:ph type="title"/>
          </p:nvPr>
        </p:nvSpPr>
        <p:spPr/>
        <p:txBody>
          <a:bodyPr/>
          <a:lstStyle/>
          <a:p>
            <a:r>
              <a:rPr lang="en-SE" dirty="0"/>
              <a:t>Building a Regression Formula</a:t>
            </a:r>
          </a:p>
        </p:txBody>
      </p:sp>
      <p:sp>
        <p:nvSpPr>
          <p:cNvPr id="3" name="Content Placeholder 2">
            <a:extLst>
              <a:ext uri="{FF2B5EF4-FFF2-40B4-BE49-F238E27FC236}">
                <a16:creationId xmlns:a16="http://schemas.microsoft.com/office/drawing/2014/main" id="{BDC1009D-D062-389E-9CFB-D7FE04683BD6}"/>
              </a:ext>
            </a:extLst>
          </p:cNvPr>
          <p:cNvSpPr>
            <a:spLocks noGrp="1"/>
          </p:cNvSpPr>
          <p:nvPr>
            <p:ph idx="1"/>
          </p:nvPr>
        </p:nvSpPr>
        <p:spPr>
          <a:xfrm>
            <a:off x="838200" y="1825625"/>
            <a:ext cx="10515600" cy="991204"/>
          </a:xfrm>
        </p:spPr>
        <p:txBody>
          <a:bodyPr/>
          <a:lstStyle/>
          <a:p>
            <a:pPr marL="0" indent="0">
              <a:buNone/>
            </a:pPr>
            <a:r>
              <a:rPr lang="en-SE" dirty="0"/>
              <a:t>Modelling the outcome variable y with the Binomial distribution requires updating our Bayesian model:</a:t>
            </a:r>
          </a:p>
        </p:txBody>
      </p:sp>
      <p:sp>
        <p:nvSpPr>
          <p:cNvPr id="4" name="Date Placeholder 3">
            <a:extLst>
              <a:ext uri="{FF2B5EF4-FFF2-40B4-BE49-F238E27FC236}">
                <a16:creationId xmlns:a16="http://schemas.microsoft.com/office/drawing/2014/main" id="{E49D4FFD-0D8C-D010-9D62-A9460A5313A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00E6C0A4-9771-E20F-8E03-15D3A688F846}"/>
              </a:ext>
            </a:extLst>
          </p:cNvPr>
          <p:cNvSpPr>
            <a:spLocks noGrp="1"/>
          </p:cNvSpPr>
          <p:nvPr>
            <p:ph type="sldNum" sz="quarter" idx="12"/>
          </p:nvPr>
        </p:nvSpPr>
        <p:spPr/>
        <p:txBody>
          <a:bodyPr/>
          <a:lstStyle/>
          <a:p>
            <a:fld id="{271ECC92-9CDE-4EB3-B1C5-F46B9E1FA3C1}" type="slidenum">
              <a:rPr lang="en-SE" smtClean="0"/>
              <a:t>84</a:t>
            </a:fld>
            <a:endParaRPr lang="en-SE"/>
          </a:p>
        </p:txBody>
      </p:sp>
      <p:sp>
        <p:nvSpPr>
          <p:cNvPr id="6" name="Footer Placeholder 5">
            <a:extLst>
              <a:ext uri="{FF2B5EF4-FFF2-40B4-BE49-F238E27FC236}">
                <a16:creationId xmlns:a16="http://schemas.microsoft.com/office/drawing/2014/main" id="{E0C9D4EE-2068-80D0-D1AD-511A80B7AC45}"/>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774DCB0C-8594-7756-3682-59807044F3E5}"/>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FD72144A-26FD-BE79-B9EC-F6CFCE3FD886}"/>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06EF9796-8C25-86DD-CDFA-EBEBE6A229B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71CD6650-9650-6592-2E9B-462F8D89BACD}"/>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878648A6-6621-93BA-6A3D-D27EDA88A965}"/>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8D24CC9-2C2E-337D-60E0-C90B1D0D9D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7E6D347D-0E3B-215F-5B71-F06D6FCEDD5B}"/>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3332E926-4E11-D7D6-2251-0EC20B60B914}"/>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DF20F16B-13C2-7DA0-5F0D-03303EF295B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77C6B1D3-8096-AB96-6D53-62E2B194F75C}"/>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8051D73B-3C08-38CD-62B6-2641BC121C6F}"/>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BDB45C4D-DDEA-9E6C-D477-CE3049A0711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A8276C18-1143-31A6-2E94-2C3A1F345DB5}"/>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90420207-F17F-CD17-07C9-492C90620E62}"/>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B3D8BEE1-F53D-6A18-6541-1852AF60AAD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849BBFC7-E316-BD49-A996-B1CC5886D1D6}"/>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D32CFA2A-2F02-1069-BF5A-41D1E91A2D5A}"/>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A19CB34C-E5EE-43B6-43B0-F6D9CA9B0C83}"/>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E2E99CD1-5A79-B520-20D7-A68C19C7F8DE}"/>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7BCC371E-ECBC-7DFF-DA6B-0C4C3C114BEC}"/>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D0D01A4-A429-9465-CA08-0CFD01DD5663}"/>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0FB8B7D9-4B3B-C1D9-A926-CDCF0C7D2E42}"/>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9D323FF9-A82A-9FE8-0D3C-9AB885838D5A}"/>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1" name="Rectangle: Rounded Corners 30">
            <a:extLst>
              <a:ext uri="{FF2B5EF4-FFF2-40B4-BE49-F238E27FC236}">
                <a16:creationId xmlns:a16="http://schemas.microsoft.com/office/drawing/2014/main" id="{E2CCBB4F-B124-C90A-984C-F1EA339666F8}"/>
              </a:ext>
            </a:extLst>
          </p:cNvPr>
          <p:cNvSpPr/>
          <p:nvPr/>
        </p:nvSpPr>
        <p:spPr>
          <a:xfrm>
            <a:off x="838198" y="2947129"/>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A14A3F2B-B6A4-6637-980D-53AFB736C13E}"/>
                  </a:ext>
                </a:extLst>
              </p:cNvPr>
              <p:cNvSpPr txBox="1"/>
              <p:nvPr/>
            </p:nvSpPr>
            <p:spPr>
              <a:xfrm>
                <a:off x="1308972" y="3549182"/>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A14A3F2B-B6A4-6637-980D-53AFB736C13E}"/>
                  </a:ext>
                </a:extLst>
              </p:cNvPr>
              <p:cNvSpPr txBox="1">
                <a:spLocks noRot="1" noChangeAspect="1" noMove="1" noResize="1" noEditPoints="1" noAdjustHandles="1" noChangeArrowheads="1" noChangeShapeType="1" noTextEdit="1"/>
              </p:cNvSpPr>
              <p:nvPr/>
            </p:nvSpPr>
            <p:spPr>
              <a:xfrm>
                <a:off x="1308972" y="3549182"/>
                <a:ext cx="2595262" cy="369332"/>
              </a:xfrm>
              <a:prstGeom prst="rect">
                <a:avLst/>
              </a:prstGeom>
              <a:blipFill>
                <a:blip r:embed="rId8"/>
                <a:stretch>
                  <a:fillRect l="-2588" t="-1639" r="-4000"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BCB9A6D-0DB8-FD49-03B0-894502878BA9}"/>
                  </a:ext>
                </a:extLst>
              </p:cNvPr>
              <p:cNvSpPr txBox="1"/>
              <p:nvPr/>
            </p:nvSpPr>
            <p:spPr>
              <a:xfrm>
                <a:off x="1224661" y="3946684"/>
                <a:ext cx="310129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FBCB9A6D-0DB8-FD49-03B0-894502878BA9}"/>
                  </a:ext>
                </a:extLst>
              </p:cNvPr>
              <p:cNvSpPr txBox="1">
                <a:spLocks noRot="1" noChangeAspect="1" noMove="1" noResize="1" noEditPoints="1" noAdjustHandles="1" noChangeArrowheads="1" noChangeShapeType="1" noTextEdit="1"/>
              </p:cNvSpPr>
              <p:nvPr/>
            </p:nvSpPr>
            <p:spPr>
              <a:xfrm>
                <a:off x="1224661" y="3946684"/>
                <a:ext cx="3101297" cy="369332"/>
              </a:xfrm>
              <a:prstGeom prst="rect">
                <a:avLst/>
              </a:prstGeom>
              <a:blipFill>
                <a:blip r:embed="rId9"/>
                <a:stretch>
                  <a:fillRect l="-196" t="-1639"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9911B27-FA61-516E-8C9A-49AF10349778}"/>
                  </a:ext>
                </a:extLst>
              </p:cNvPr>
              <p:cNvSpPr txBox="1"/>
              <p:nvPr/>
            </p:nvSpPr>
            <p:spPr>
              <a:xfrm>
                <a:off x="1279605" y="4364889"/>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37" name="TextBox 36">
                <a:extLst>
                  <a:ext uri="{FF2B5EF4-FFF2-40B4-BE49-F238E27FC236}">
                    <a16:creationId xmlns:a16="http://schemas.microsoft.com/office/drawing/2014/main" id="{59911B27-FA61-516E-8C9A-49AF10349778}"/>
                  </a:ext>
                </a:extLst>
              </p:cNvPr>
              <p:cNvSpPr txBox="1">
                <a:spLocks noRot="1" noChangeAspect="1" noMove="1" noResize="1" noEditPoints="1" noAdjustHandles="1" noChangeArrowheads="1" noChangeShapeType="1" noTextEdit="1"/>
              </p:cNvSpPr>
              <p:nvPr/>
            </p:nvSpPr>
            <p:spPr>
              <a:xfrm>
                <a:off x="1279605" y="4364889"/>
                <a:ext cx="1632883" cy="369332"/>
              </a:xfrm>
              <a:prstGeom prst="rect">
                <a:avLst/>
              </a:prstGeom>
              <a:blipFill>
                <a:blip r:embed="rId10"/>
                <a:stretch>
                  <a:fillRect l="-1119" t="-1639" r="-5224"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24F37D7-ECAF-6855-82C6-20C3966B4953}"/>
                  </a:ext>
                </a:extLst>
              </p:cNvPr>
              <p:cNvSpPr txBox="1"/>
              <p:nvPr/>
            </p:nvSpPr>
            <p:spPr>
              <a:xfrm>
                <a:off x="1145727" y="4807048"/>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39" name="TextBox 38">
                <a:extLst>
                  <a:ext uri="{FF2B5EF4-FFF2-40B4-BE49-F238E27FC236}">
                    <a16:creationId xmlns:a16="http://schemas.microsoft.com/office/drawing/2014/main" id="{824F37D7-ECAF-6855-82C6-20C3966B4953}"/>
                  </a:ext>
                </a:extLst>
              </p:cNvPr>
              <p:cNvSpPr txBox="1">
                <a:spLocks noRot="1" noChangeAspect="1" noMove="1" noResize="1" noEditPoints="1" noAdjustHandles="1" noChangeArrowheads="1" noChangeShapeType="1" noTextEdit="1"/>
              </p:cNvSpPr>
              <p:nvPr/>
            </p:nvSpPr>
            <p:spPr>
              <a:xfrm>
                <a:off x="1145727" y="4807048"/>
                <a:ext cx="2015103" cy="369332"/>
              </a:xfrm>
              <a:prstGeom prst="rect">
                <a:avLst/>
              </a:prstGeom>
              <a:blipFill>
                <a:blip r:embed="rId11"/>
                <a:stretch>
                  <a:fillRect l="-3625" t="-1667" r="-3323"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D63670AA-3BF6-AF4A-A0AB-8118B8CC266C}"/>
                  </a:ext>
                </a:extLst>
              </p:cNvPr>
              <p:cNvSpPr txBox="1"/>
              <p:nvPr/>
            </p:nvSpPr>
            <p:spPr>
              <a:xfrm>
                <a:off x="1184926" y="5237230"/>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41" name="TextBox 40">
                <a:extLst>
                  <a:ext uri="{FF2B5EF4-FFF2-40B4-BE49-F238E27FC236}">
                    <a16:creationId xmlns:a16="http://schemas.microsoft.com/office/drawing/2014/main" id="{D63670AA-3BF6-AF4A-A0AB-8118B8CC266C}"/>
                  </a:ext>
                </a:extLst>
              </p:cNvPr>
              <p:cNvSpPr txBox="1">
                <a:spLocks noRot="1" noChangeAspect="1" noMove="1" noResize="1" noEditPoints="1" noAdjustHandles="1" noChangeArrowheads="1" noChangeShapeType="1" noTextEdit="1"/>
              </p:cNvSpPr>
              <p:nvPr/>
            </p:nvSpPr>
            <p:spPr>
              <a:xfrm>
                <a:off x="1184926" y="5237230"/>
                <a:ext cx="1931875" cy="369332"/>
              </a:xfrm>
              <a:prstGeom prst="rect">
                <a:avLst/>
              </a:prstGeom>
              <a:blipFill>
                <a:blip r:embed="rId12"/>
                <a:stretch>
                  <a:fillRect l="-5363" t="-1639" r="-5678" b="-32787"/>
                </a:stretch>
              </a:blipFill>
            </p:spPr>
            <p:txBody>
              <a:bodyPr/>
              <a:lstStyle/>
              <a:p>
                <a:r>
                  <a:rPr lang="en-SE">
                    <a:noFill/>
                  </a:rPr>
                  <a:t> </a:t>
                </a:r>
              </a:p>
            </p:txBody>
          </p:sp>
        </mc:Fallback>
      </mc:AlternateContent>
      <p:pic>
        <p:nvPicPr>
          <p:cNvPr id="45" name="Graphic 44" descr="Robot with solid fill">
            <a:extLst>
              <a:ext uri="{FF2B5EF4-FFF2-40B4-BE49-F238E27FC236}">
                <a16:creationId xmlns:a16="http://schemas.microsoft.com/office/drawing/2014/main" id="{ED74B29D-67B7-FCE2-EC72-60AF0B57744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9343" y="3068156"/>
            <a:ext cx="360000" cy="360000"/>
          </a:xfrm>
          <a:prstGeom prst="rect">
            <a:avLst/>
          </a:prstGeom>
        </p:spPr>
      </p:pic>
      <p:sp>
        <p:nvSpPr>
          <p:cNvPr id="47" name="Rectangle 46">
            <a:extLst>
              <a:ext uri="{FF2B5EF4-FFF2-40B4-BE49-F238E27FC236}">
                <a16:creationId xmlns:a16="http://schemas.microsoft.com/office/drawing/2014/main" id="{594EF38F-05BA-24CD-12BD-6710F8F0A36E}"/>
              </a:ext>
            </a:extLst>
          </p:cNvPr>
          <p:cNvSpPr/>
          <p:nvPr/>
        </p:nvSpPr>
        <p:spPr>
          <a:xfrm>
            <a:off x="5286713" y="3349698"/>
            <a:ext cx="6067087" cy="2510899"/>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a:t>
            </a:r>
            <a:r>
              <a:rPr lang="en-SE" b="1" dirty="0">
                <a:solidFill>
                  <a:schemeClr val="tx1"/>
                </a:solidFill>
                <a:latin typeface="Courier New" panose="02070309020205020404" pitchFamily="49" charset="0"/>
                <a:cs typeface="Courier New" panose="02070309020205020404" pitchFamily="49" charset="0"/>
              </a:rPr>
              <a:t>| trials(n)</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a:t>
            </a:r>
            <a:r>
              <a:rPr lang="en-SE" b="1" dirty="0">
                <a:solidFill>
                  <a:schemeClr val="tx1"/>
                </a:solidFill>
                <a:latin typeface="Courier New" panose="02070309020205020404" pitchFamily="49" charset="0"/>
                <a:cs typeface="Courier New" panose="02070309020205020404" pitchFamily="49" charset="0"/>
              </a:rPr>
              <a:t>binomial</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0</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49" name="Rectangle 48">
            <a:extLst>
              <a:ext uri="{FF2B5EF4-FFF2-40B4-BE49-F238E27FC236}">
                <a16:creationId xmlns:a16="http://schemas.microsoft.com/office/drawing/2014/main" id="{CE6353AD-5E85-6DF8-F0A3-4CA34C5A5BEE}"/>
              </a:ext>
            </a:extLst>
          </p:cNvPr>
          <p:cNvSpPr/>
          <p:nvPr/>
        </p:nvSpPr>
        <p:spPr>
          <a:xfrm>
            <a:off x="5286713" y="2984573"/>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Tree>
    <p:extLst>
      <p:ext uri="{BB962C8B-B14F-4D97-AF65-F5344CB8AC3E}">
        <p14:creationId xmlns:p14="http://schemas.microsoft.com/office/powerpoint/2010/main" val="1965320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8966154C-74BE-ED59-AFDB-7BEFCEA955F8}"/>
                  </a:ext>
                </a:extLst>
              </p:cNvPr>
              <p:cNvSpPr txBox="1"/>
              <p:nvPr/>
            </p:nvSpPr>
            <p:spPr>
              <a:xfrm>
                <a:off x="2092754" y="4103337"/>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7" name="TextBox 36">
                <a:extLst>
                  <a:ext uri="{FF2B5EF4-FFF2-40B4-BE49-F238E27FC236}">
                    <a16:creationId xmlns:a16="http://schemas.microsoft.com/office/drawing/2014/main" id="{8966154C-74BE-ED59-AFDB-7BEFCEA955F8}"/>
                  </a:ext>
                </a:extLst>
              </p:cNvPr>
              <p:cNvSpPr txBox="1">
                <a:spLocks noRot="1" noChangeAspect="1" noMove="1" noResize="1" noEditPoints="1" noAdjustHandles="1" noChangeArrowheads="1" noChangeShapeType="1" noTextEdit="1"/>
              </p:cNvSpPr>
              <p:nvPr/>
            </p:nvSpPr>
            <p:spPr>
              <a:xfrm>
                <a:off x="2092754" y="4103337"/>
                <a:ext cx="3919919" cy="369332"/>
              </a:xfrm>
              <a:prstGeom prst="rect">
                <a:avLst/>
              </a:prstGeom>
              <a:blipFill>
                <a:blip r:embed="rId2"/>
                <a:stretch>
                  <a:fillRect l="-2333" t="-1639" r="-622" b="-32787"/>
                </a:stretch>
              </a:blipFill>
            </p:spPr>
            <p:txBody>
              <a:bodyPr/>
              <a:lstStyle/>
              <a:p>
                <a:r>
                  <a:rPr lang="en-SE">
                    <a:noFill/>
                  </a:rPr>
                  <a:t> </a:t>
                </a:r>
              </a:p>
            </p:txBody>
          </p:sp>
        </mc:Fallback>
      </mc:AlternateContent>
      <p:sp>
        <p:nvSpPr>
          <p:cNvPr id="2" name="Title 1">
            <a:extLst>
              <a:ext uri="{FF2B5EF4-FFF2-40B4-BE49-F238E27FC236}">
                <a16:creationId xmlns:a16="http://schemas.microsoft.com/office/drawing/2014/main" id="{E73BF0B3-B3AA-23A8-5382-8BF66D3962D9}"/>
              </a:ext>
            </a:extLst>
          </p:cNvPr>
          <p:cNvSpPr>
            <a:spLocks noGrp="1"/>
          </p:cNvSpPr>
          <p:nvPr>
            <p:ph type="title"/>
          </p:nvPr>
        </p:nvSpPr>
        <p:spPr/>
        <p:txBody>
          <a:bodyPr/>
          <a:lstStyle/>
          <a:p>
            <a:r>
              <a:rPr lang="en-SE" dirty="0"/>
              <a:t>Link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29914F-9CB8-144B-B535-A2FFE796BA00}"/>
                  </a:ext>
                </a:extLst>
              </p:cNvPr>
              <p:cNvSpPr>
                <a:spLocks noGrp="1"/>
              </p:cNvSpPr>
              <p:nvPr>
                <p:ph idx="1"/>
              </p:nvPr>
            </p:nvSpPr>
            <p:spPr>
              <a:xfrm>
                <a:off x="838200" y="1825625"/>
                <a:ext cx="10515600" cy="1677394"/>
              </a:xfrm>
            </p:spPr>
            <p:txBody>
              <a:bodyPr/>
              <a:lstStyle/>
              <a:p>
                <a:pPr marL="0" indent="0">
                  <a:buNone/>
                </a:pPr>
                <a:r>
                  <a:rPr lang="en-SE" dirty="0"/>
                  <a:t>Some probability distribution families have specific requirements for their parameters (e.g., </a:t>
                </a:r>
                <a14:m>
                  <m:oMath xmlns:m="http://schemas.openxmlformats.org/officeDocument/2006/math">
                    <m:r>
                      <a:rPr lang="en-SE" b="0" i="1" smtClean="0">
                        <a:latin typeface="Cambria Math" panose="02040503050406030204" pitchFamily="18" charset="0"/>
                      </a:rPr>
                      <m:t>𝑝</m:t>
                    </m:r>
                    <m:r>
                      <a:rPr lang="en-SE" b="0" i="1" smtClean="0">
                        <a:latin typeface="Cambria Math" panose="02040503050406030204" pitchFamily="18" charset="0"/>
                      </a:rPr>
                      <m:t>∈[0, 1]</m:t>
                    </m:r>
                  </m:oMath>
                </a14:m>
                <a:r>
                  <a:rPr lang="en-SE" dirty="0"/>
                  <a:t>). Still, we would like to use “natural” linear models in our models. As a compromise, we can use </a:t>
                </a:r>
                <a:r>
                  <a:rPr lang="en-SE" b="1" dirty="0"/>
                  <a:t>link functions</a:t>
                </a:r>
                <a:r>
                  <a:rPr lang="en-SE" dirty="0"/>
                  <a:t>.</a:t>
                </a:r>
              </a:p>
            </p:txBody>
          </p:sp>
        </mc:Choice>
        <mc:Fallback xmlns="">
          <p:sp>
            <p:nvSpPr>
              <p:cNvPr id="3" name="Content Placeholder 2">
                <a:extLst>
                  <a:ext uri="{FF2B5EF4-FFF2-40B4-BE49-F238E27FC236}">
                    <a16:creationId xmlns:a16="http://schemas.microsoft.com/office/drawing/2014/main" id="{8B29914F-9CB8-144B-B535-A2FFE796BA00}"/>
                  </a:ext>
                </a:extLst>
              </p:cNvPr>
              <p:cNvSpPr>
                <a:spLocks noGrp="1" noRot="1" noChangeAspect="1" noMove="1" noResize="1" noEditPoints="1" noAdjustHandles="1" noChangeArrowheads="1" noChangeShapeType="1" noTextEdit="1"/>
              </p:cNvSpPr>
              <p:nvPr>
                <p:ph idx="1"/>
              </p:nvPr>
            </p:nvSpPr>
            <p:spPr>
              <a:xfrm>
                <a:off x="838200" y="1825625"/>
                <a:ext cx="10515600" cy="1677394"/>
              </a:xfrm>
              <a:blipFill>
                <a:blip r:embed="rId3"/>
                <a:stretch>
                  <a:fillRect l="-1217" t="-6159" b="-6884"/>
                </a:stretch>
              </a:blipFill>
            </p:spPr>
            <p:txBody>
              <a:bodyPr/>
              <a:lstStyle/>
              <a:p>
                <a:r>
                  <a:rPr lang="en-SE">
                    <a:noFill/>
                  </a:rPr>
                  <a:t> </a:t>
                </a:r>
              </a:p>
            </p:txBody>
          </p:sp>
        </mc:Fallback>
      </mc:AlternateContent>
      <p:sp>
        <p:nvSpPr>
          <p:cNvPr id="4" name="Date Placeholder 3">
            <a:extLst>
              <a:ext uri="{FF2B5EF4-FFF2-40B4-BE49-F238E27FC236}">
                <a16:creationId xmlns:a16="http://schemas.microsoft.com/office/drawing/2014/main" id="{3E4AEF6F-AD7B-2B27-AC4C-F691C5F7707F}"/>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72A3F0F-AB32-6A8F-7F4A-A2DC54F56820}"/>
              </a:ext>
            </a:extLst>
          </p:cNvPr>
          <p:cNvSpPr>
            <a:spLocks noGrp="1"/>
          </p:cNvSpPr>
          <p:nvPr>
            <p:ph type="sldNum" sz="quarter" idx="12"/>
          </p:nvPr>
        </p:nvSpPr>
        <p:spPr/>
        <p:txBody>
          <a:bodyPr/>
          <a:lstStyle/>
          <a:p>
            <a:fld id="{271ECC92-9CDE-4EB3-B1C5-F46B9E1FA3C1}" type="slidenum">
              <a:rPr lang="en-SE" smtClean="0"/>
              <a:t>85</a:t>
            </a:fld>
            <a:endParaRPr lang="en-SE"/>
          </a:p>
        </p:txBody>
      </p:sp>
      <p:sp>
        <p:nvSpPr>
          <p:cNvPr id="6" name="Footer Placeholder 5">
            <a:extLst>
              <a:ext uri="{FF2B5EF4-FFF2-40B4-BE49-F238E27FC236}">
                <a16:creationId xmlns:a16="http://schemas.microsoft.com/office/drawing/2014/main" id="{B3B83EB9-3D8E-6E82-C507-17608AE762C0}"/>
              </a:ext>
            </a:extLst>
          </p:cNvPr>
          <p:cNvSpPr>
            <a:spLocks noGrp="1"/>
          </p:cNvSpPr>
          <p:nvPr>
            <p:ph type="ftr" sz="quarter" idx="11"/>
          </p:nvPr>
        </p:nvSpPr>
        <p:spPr/>
        <p:txBody>
          <a:bodyPr/>
          <a:lstStyle/>
          <a:p>
            <a:r>
              <a:rPr lang="de-DE"/>
              <a:t>Bayesian Data Analysis Tutorial</a:t>
            </a:r>
            <a:endParaRPr lang="en-SE"/>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C8D800C-99C1-BADF-7D4A-45BCD9E56369}"/>
                  </a:ext>
                </a:extLst>
              </p:cNvPr>
              <p:cNvSpPr txBox="1"/>
              <p:nvPr/>
            </p:nvSpPr>
            <p:spPr>
              <a:xfrm>
                <a:off x="3048738" y="3709707"/>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3" name="TextBox 32">
                <a:extLst>
                  <a:ext uri="{FF2B5EF4-FFF2-40B4-BE49-F238E27FC236}">
                    <a16:creationId xmlns:a16="http://schemas.microsoft.com/office/drawing/2014/main" id="{1C8D800C-99C1-BADF-7D4A-45BCD9E56369}"/>
                  </a:ext>
                </a:extLst>
              </p:cNvPr>
              <p:cNvSpPr txBox="1">
                <a:spLocks noRot="1" noChangeAspect="1" noMove="1" noResize="1" noEditPoints="1" noAdjustHandles="1" noChangeArrowheads="1" noChangeShapeType="1" noTextEdit="1"/>
              </p:cNvSpPr>
              <p:nvPr/>
            </p:nvSpPr>
            <p:spPr>
              <a:xfrm>
                <a:off x="3048738" y="3709707"/>
                <a:ext cx="2595262" cy="369332"/>
              </a:xfrm>
              <a:prstGeom prst="rect">
                <a:avLst/>
              </a:prstGeom>
              <a:blipFill>
                <a:blip r:embed="rId4"/>
                <a:stretch>
                  <a:fillRect l="-2582" t="-1667" r="-399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108DAE4-FF12-73BB-6281-675FD72DBBBA}"/>
                  </a:ext>
                </a:extLst>
              </p:cNvPr>
              <p:cNvSpPr txBox="1"/>
              <p:nvPr/>
            </p:nvSpPr>
            <p:spPr>
              <a:xfrm>
                <a:off x="2964427" y="4107209"/>
                <a:ext cx="310129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35" name="TextBox 34">
                <a:extLst>
                  <a:ext uri="{FF2B5EF4-FFF2-40B4-BE49-F238E27FC236}">
                    <a16:creationId xmlns:a16="http://schemas.microsoft.com/office/drawing/2014/main" id="{F108DAE4-FF12-73BB-6281-675FD72DBBBA}"/>
                  </a:ext>
                </a:extLst>
              </p:cNvPr>
              <p:cNvSpPr txBox="1">
                <a:spLocks noRot="1" noChangeAspect="1" noMove="1" noResize="1" noEditPoints="1" noAdjustHandles="1" noChangeArrowheads="1" noChangeShapeType="1" noTextEdit="1"/>
              </p:cNvSpPr>
              <p:nvPr/>
            </p:nvSpPr>
            <p:spPr>
              <a:xfrm>
                <a:off x="2964427" y="4107209"/>
                <a:ext cx="3101297" cy="369332"/>
              </a:xfrm>
              <a:prstGeom prst="rect">
                <a:avLst/>
              </a:prstGeom>
              <a:blipFill>
                <a:blip r:embed="rId5"/>
                <a:stretch>
                  <a:fillRect l="-196" t="-1667" b="-33333"/>
                </a:stretch>
              </a:blipFill>
            </p:spPr>
            <p:txBody>
              <a:bodyPr/>
              <a:lstStyle/>
              <a:p>
                <a:r>
                  <a:rPr lang="en-SE">
                    <a:noFill/>
                  </a:rPr>
                  <a:t> </a:t>
                </a:r>
              </a:p>
            </p:txBody>
          </p:sp>
        </mc:Fallback>
      </mc:AlternateContent>
      <p:pic>
        <p:nvPicPr>
          <p:cNvPr id="39" name="Picture 38">
            <a:extLst>
              <a:ext uri="{FF2B5EF4-FFF2-40B4-BE49-F238E27FC236}">
                <a16:creationId xmlns:a16="http://schemas.microsoft.com/office/drawing/2014/main" id="{55791A24-1E29-8448-E372-6C139C6C1376}"/>
              </a:ext>
            </a:extLst>
          </p:cNvPr>
          <p:cNvPicPr>
            <a:picLocks noChangeAspect="1"/>
          </p:cNvPicPr>
          <p:nvPr/>
        </p:nvPicPr>
        <p:blipFill>
          <a:blip r:embed="rId6"/>
          <a:stretch>
            <a:fillRect/>
          </a:stretch>
        </p:blipFill>
        <p:spPr>
          <a:xfrm>
            <a:off x="6937397" y="3503019"/>
            <a:ext cx="4095750" cy="2667000"/>
          </a:xfrm>
          <a:prstGeom prst="rect">
            <a:avLst/>
          </a:prstGeom>
        </p:spPr>
      </p:pic>
      <p:grpSp>
        <p:nvGrpSpPr>
          <p:cNvPr id="40" name="Group 39">
            <a:extLst>
              <a:ext uri="{FF2B5EF4-FFF2-40B4-BE49-F238E27FC236}">
                <a16:creationId xmlns:a16="http://schemas.microsoft.com/office/drawing/2014/main" id="{71607802-2159-64A5-60EE-B95F07AB5B1C}"/>
              </a:ext>
            </a:extLst>
          </p:cNvPr>
          <p:cNvGrpSpPr/>
          <p:nvPr/>
        </p:nvGrpSpPr>
        <p:grpSpPr>
          <a:xfrm>
            <a:off x="228598" y="1825625"/>
            <a:ext cx="504000" cy="504000"/>
            <a:chOff x="977950" y="2729564"/>
            <a:chExt cx="504000" cy="504000"/>
          </a:xfrm>
        </p:grpSpPr>
        <p:sp>
          <p:nvSpPr>
            <p:cNvPr id="41" name="Oval 40">
              <a:extLst>
                <a:ext uri="{FF2B5EF4-FFF2-40B4-BE49-F238E27FC236}">
                  <a16:creationId xmlns:a16="http://schemas.microsoft.com/office/drawing/2014/main" id="{7C44E8A9-83F7-DCD2-F934-D5CFBB87E730}"/>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2" name="Graphic 41" descr="Bar chart with solid fill">
              <a:extLst>
                <a:ext uri="{FF2B5EF4-FFF2-40B4-BE49-F238E27FC236}">
                  <a16:creationId xmlns:a16="http://schemas.microsoft.com/office/drawing/2014/main" id="{6C32021D-301A-E287-E04D-927AC4585D2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43" name="Group 42">
            <a:extLst>
              <a:ext uri="{FF2B5EF4-FFF2-40B4-BE49-F238E27FC236}">
                <a16:creationId xmlns:a16="http://schemas.microsoft.com/office/drawing/2014/main" id="{0DE878CC-B40A-664F-CEF6-7755351F8C98}"/>
              </a:ext>
            </a:extLst>
          </p:cNvPr>
          <p:cNvGrpSpPr/>
          <p:nvPr/>
        </p:nvGrpSpPr>
        <p:grpSpPr>
          <a:xfrm>
            <a:off x="228598" y="2439322"/>
            <a:ext cx="504000" cy="504000"/>
            <a:chOff x="977950" y="2729564"/>
            <a:chExt cx="504000" cy="504000"/>
          </a:xfrm>
        </p:grpSpPr>
        <p:sp>
          <p:nvSpPr>
            <p:cNvPr id="44" name="Oval 43">
              <a:extLst>
                <a:ext uri="{FF2B5EF4-FFF2-40B4-BE49-F238E27FC236}">
                  <a16:creationId xmlns:a16="http://schemas.microsoft.com/office/drawing/2014/main" id="{BF328106-03AD-8159-0932-AB345C653B15}"/>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5" name="Graphic 44" descr="Golden Ratio with solid fill">
              <a:extLst>
                <a:ext uri="{FF2B5EF4-FFF2-40B4-BE49-F238E27FC236}">
                  <a16:creationId xmlns:a16="http://schemas.microsoft.com/office/drawing/2014/main" id="{88E0FE91-5B41-EC7A-D1ED-64359E200B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31950" y="2783564"/>
              <a:ext cx="396000" cy="396000"/>
            </a:xfrm>
            <a:prstGeom prst="rect">
              <a:avLst/>
            </a:prstGeom>
          </p:spPr>
        </p:pic>
      </p:grpSp>
      <p:grpSp>
        <p:nvGrpSpPr>
          <p:cNvPr id="46" name="Group 45">
            <a:extLst>
              <a:ext uri="{FF2B5EF4-FFF2-40B4-BE49-F238E27FC236}">
                <a16:creationId xmlns:a16="http://schemas.microsoft.com/office/drawing/2014/main" id="{476C71BE-51B2-8EB2-D3A7-FD51ACBB349F}"/>
              </a:ext>
            </a:extLst>
          </p:cNvPr>
          <p:cNvGrpSpPr/>
          <p:nvPr/>
        </p:nvGrpSpPr>
        <p:grpSpPr>
          <a:xfrm>
            <a:off x="228598" y="3053019"/>
            <a:ext cx="504000" cy="504000"/>
            <a:chOff x="977950" y="2729564"/>
            <a:chExt cx="504000" cy="504000"/>
          </a:xfrm>
        </p:grpSpPr>
        <p:sp>
          <p:nvSpPr>
            <p:cNvPr id="47" name="Oval 46">
              <a:extLst>
                <a:ext uri="{FF2B5EF4-FFF2-40B4-BE49-F238E27FC236}">
                  <a16:creationId xmlns:a16="http://schemas.microsoft.com/office/drawing/2014/main" id="{10B4F5BE-A3BC-3E6E-E8FC-4A1E7112D991}"/>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Normal Distribution with solid fill">
              <a:extLst>
                <a:ext uri="{FF2B5EF4-FFF2-40B4-BE49-F238E27FC236}">
                  <a16:creationId xmlns:a16="http://schemas.microsoft.com/office/drawing/2014/main" id="{476D3F87-1FB7-209C-525B-8DC8A8B4B579}"/>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31950" y="2783564"/>
              <a:ext cx="396000" cy="396000"/>
            </a:xfrm>
            <a:prstGeom prst="rect">
              <a:avLst/>
            </a:prstGeom>
          </p:spPr>
        </p:pic>
      </p:grpSp>
      <p:grpSp>
        <p:nvGrpSpPr>
          <p:cNvPr id="49" name="Group 48">
            <a:extLst>
              <a:ext uri="{FF2B5EF4-FFF2-40B4-BE49-F238E27FC236}">
                <a16:creationId xmlns:a16="http://schemas.microsoft.com/office/drawing/2014/main" id="{1B00B25B-5675-E656-3F1C-5722249D554F}"/>
              </a:ext>
            </a:extLst>
          </p:cNvPr>
          <p:cNvGrpSpPr/>
          <p:nvPr/>
        </p:nvGrpSpPr>
        <p:grpSpPr>
          <a:xfrm>
            <a:off x="228598" y="3666716"/>
            <a:ext cx="504000" cy="504000"/>
            <a:chOff x="977950" y="2729564"/>
            <a:chExt cx="504000" cy="504000"/>
          </a:xfrm>
        </p:grpSpPr>
        <p:sp>
          <p:nvSpPr>
            <p:cNvPr id="50" name="Oval 49">
              <a:extLst>
                <a:ext uri="{FF2B5EF4-FFF2-40B4-BE49-F238E27FC236}">
                  <a16:creationId xmlns:a16="http://schemas.microsoft.com/office/drawing/2014/main" id="{0A0917A5-3184-6430-D43F-638B5737180B}"/>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1" name="Graphic 50" descr="Abacus with solid fill">
              <a:extLst>
                <a:ext uri="{FF2B5EF4-FFF2-40B4-BE49-F238E27FC236}">
                  <a16:creationId xmlns:a16="http://schemas.microsoft.com/office/drawing/2014/main" id="{BB009360-FD49-48AB-AD61-DC8891D81001}"/>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031950" y="2783564"/>
              <a:ext cx="396000" cy="396000"/>
            </a:xfrm>
            <a:prstGeom prst="rect">
              <a:avLst/>
            </a:prstGeom>
          </p:spPr>
        </p:pic>
      </p:grpSp>
      <p:grpSp>
        <p:nvGrpSpPr>
          <p:cNvPr id="52" name="Group 51">
            <a:extLst>
              <a:ext uri="{FF2B5EF4-FFF2-40B4-BE49-F238E27FC236}">
                <a16:creationId xmlns:a16="http://schemas.microsoft.com/office/drawing/2014/main" id="{6C99C8E4-619D-941A-4228-B1B4A39786F5}"/>
              </a:ext>
            </a:extLst>
          </p:cNvPr>
          <p:cNvGrpSpPr/>
          <p:nvPr/>
        </p:nvGrpSpPr>
        <p:grpSpPr>
          <a:xfrm>
            <a:off x="228598" y="4280413"/>
            <a:ext cx="504000" cy="504000"/>
            <a:chOff x="977950" y="2729564"/>
            <a:chExt cx="504000" cy="504000"/>
          </a:xfrm>
        </p:grpSpPr>
        <p:sp>
          <p:nvSpPr>
            <p:cNvPr id="53" name="Oval 52">
              <a:extLst>
                <a:ext uri="{FF2B5EF4-FFF2-40B4-BE49-F238E27FC236}">
                  <a16:creationId xmlns:a16="http://schemas.microsoft.com/office/drawing/2014/main" id="{6EEEBB7C-3D29-048C-A4EB-FC0D342A563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4" name="Graphic 53" descr="Trigonometry with solid fill">
              <a:extLst>
                <a:ext uri="{FF2B5EF4-FFF2-40B4-BE49-F238E27FC236}">
                  <a16:creationId xmlns:a16="http://schemas.microsoft.com/office/drawing/2014/main" id="{CB8403FF-6A13-78ED-53D0-D76BE277B482}"/>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031950" y="2783564"/>
              <a:ext cx="396000" cy="396000"/>
            </a:xfrm>
            <a:prstGeom prst="rect">
              <a:avLst/>
            </a:prstGeom>
          </p:spPr>
        </p:pic>
      </p:grpSp>
      <p:grpSp>
        <p:nvGrpSpPr>
          <p:cNvPr id="55" name="Group 54">
            <a:extLst>
              <a:ext uri="{FF2B5EF4-FFF2-40B4-BE49-F238E27FC236}">
                <a16:creationId xmlns:a16="http://schemas.microsoft.com/office/drawing/2014/main" id="{F647BAD4-37C4-DBF2-FD49-37CC8CCE3D36}"/>
              </a:ext>
            </a:extLst>
          </p:cNvPr>
          <p:cNvGrpSpPr/>
          <p:nvPr/>
        </p:nvGrpSpPr>
        <p:grpSpPr>
          <a:xfrm>
            <a:off x="228598" y="4894111"/>
            <a:ext cx="504000" cy="504000"/>
            <a:chOff x="977950" y="2729564"/>
            <a:chExt cx="504000" cy="504000"/>
          </a:xfrm>
        </p:grpSpPr>
        <p:sp>
          <p:nvSpPr>
            <p:cNvPr id="56" name="Oval 55">
              <a:extLst>
                <a:ext uri="{FF2B5EF4-FFF2-40B4-BE49-F238E27FC236}">
                  <a16:creationId xmlns:a16="http://schemas.microsoft.com/office/drawing/2014/main" id="{688DFE3B-E1F4-B0C8-C055-7FD127DA7FCF}"/>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7" name="Graphic 56" descr="Scatterplot with solid fill">
              <a:extLst>
                <a:ext uri="{FF2B5EF4-FFF2-40B4-BE49-F238E27FC236}">
                  <a16:creationId xmlns:a16="http://schemas.microsoft.com/office/drawing/2014/main" id="{56F0CA60-D5C8-A4AA-24C7-3B096A5E5DD9}"/>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1031950" y="2783564"/>
              <a:ext cx="396000" cy="396000"/>
            </a:xfrm>
            <a:prstGeom prst="rect">
              <a:avLst/>
            </a:prstGeom>
          </p:spPr>
        </p:pic>
      </p:grpSp>
      <p:cxnSp>
        <p:nvCxnSpPr>
          <p:cNvPr id="58" name="Straight Arrow Connector 57">
            <a:extLst>
              <a:ext uri="{FF2B5EF4-FFF2-40B4-BE49-F238E27FC236}">
                <a16:creationId xmlns:a16="http://schemas.microsoft.com/office/drawing/2014/main" id="{5B1D043F-055B-6FA5-DAC5-94A244B95C73}"/>
              </a:ext>
            </a:extLst>
          </p:cNvPr>
          <p:cNvCxnSpPr>
            <a:stCxn id="41" idx="4"/>
            <a:endCxn id="4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9" name="Straight Arrow Connector 58">
            <a:extLst>
              <a:ext uri="{FF2B5EF4-FFF2-40B4-BE49-F238E27FC236}">
                <a16:creationId xmlns:a16="http://schemas.microsoft.com/office/drawing/2014/main" id="{4C9B243A-E055-AA41-D64B-966986CC0292}"/>
              </a:ext>
            </a:extLst>
          </p:cNvPr>
          <p:cNvCxnSpPr>
            <a:cxnSpLocks/>
            <a:stCxn id="44" idx="4"/>
            <a:endCxn id="4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0" name="Straight Arrow Connector 59">
            <a:extLst>
              <a:ext uri="{FF2B5EF4-FFF2-40B4-BE49-F238E27FC236}">
                <a16:creationId xmlns:a16="http://schemas.microsoft.com/office/drawing/2014/main" id="{988B1B5F-A873-85BD-67EC-7A84B2E617FF}"/>
              </a:ext>
            </a:extLst>
          </p:cNvPr>
          <p:cNvCxnSpPr>
            <a:cxnSpLocks/>
            <a:stCxn id="47" idx="4"/>
            <a:endCxn id="5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6107B9D6-11EC-31C5-773A-0DE1B48EB0AA}"/>
              </a:ext>
            </a:extLst>
          </p:cNvPr>
          <p:cNvCxnSpPr>
            <a:cxnSpLocks/>
            <a:stCxn id="50" idx="4"/>
            <a:endCxn id="5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2" name="Straight Arrow Connector 61">
            <a:extLst>
              <a:ext uri="{FF2B5EF4-FFF2-40B4-BE49-F238E27FC236}">
                <a16:creationId xmlns:a16="http://schemas.microsoft.com/office/drawing/2014/main" id="{A7E7D3FB-4AF0-5469-0A0B-BDF2F2CDB35F}"/>
              </a:ext>
            </a:extLst>
          </p:cNvPr>
          <p:cNvCxnSpPr>
            <a:cxnSpLocks/>
            <a:stCxn id="53" idx="4"/>
            <a:endCxn id="5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48290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5"/>
                                        </p:tgtEl>
                                      </p:cBhvr>
                                    </p:animEffect>
                                    <p:set>
                                      <p:cBhvr>
                                        <p:cTn id="7" dur="1" fill="hold">
                                          <p:stCondLst>
                                            <p:cond delay="499"/>
                                          </p:stCondLst>
                                        </p:cTn>
                                        <p:tgtEl>
                                          <p:spTgt spid="3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500"/>
                                        <p:tgtEl>
                                          <p:spTgt spid="3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5"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F95C-9406-701F-35AC-C21615DFE62F}"/>
              </a:ext>
            </a:extLst>
          </p:cNvPr>
          <p:cNvSpPr>
            <a:spLocks noGrp="1"/>
          </p:cNvSpPr>
          <p:nvPr>
            <p:ph type="title"/>
          </p:nvPr>
        </p:nvSpPr>
        <p:spPr/>
        <p:txBody>
          <a:bodyPr/>
          <a:lstStyle/>
          <a:p>
            <a:r>
              <a:rPr lang="en-SE" dirty="0"/>
              <a:t>Bayesian Model</a:t>
            </a:r>
          </a:p>
        </p:txBody>
      </p:sp>
      <p:sp>
        <p:nvSpPr>
          <p:cNvPr id="3" name="Content Placeholder 2">
            <a:extLst>
              <a:ext uri="{FF2B5EF4-FFF2-40B4-BE49-F238E27FC236}">
                <a16:creationId xmlns:a16="http://schemas.microsoft.com/office/drawing/2014/main" id="{0EC25291-E56D-AD2D-A5AA-F89CAB71932D}"/>
              </a:ext>
            </a:extLst>
          </p:cNvPr>
          <p:cNvSpPr>
            <a:spLocks noGrp="1"/>
          </p:cNvSpPr>
          <p:nvPr>
            <p:ph idx="1"/>
          </p:nvPr>
        </p:nvSpPr>
        <p:spPr>
          <a:xfrm>
            <a:off x="838200" y="1825625"/>
            <a:ext cx="10515600" cy="975994"/>
          </a:xfrm>
        </p:spPr>
        <p:txBody>
          <a:bodyPr/>
          <a:lstStyle/>
          <a:p>
            <a:pPr marL="0" indent="0">
              <a:buNone/>
            </a:pPr>
            <a:r>
              <a:rPr lang="en-SE" dirty="0"/>
              <a:t>The link function must be specified in a mathematical model, but is included in </a:t>
            </a:r>
            <a:r>
              <a:rPr lang="en-SE" dirty="0">
                <a:latin typeface="Courier New" panose="02070309020205020404" pitchFamily="49" charset="0"/>
                <a:cs typeface="Courier New" panose="02070309020205020404" pitchFamily="49" charset="0"/>
              </a:rPr>
              <a:t>brms</a:t>
            </a:r>
            <a:r>
              <a:rPr lang="en-SE" dirty="0"/>
              <a:t> by default.</a:t>
            </a:r>
          </a:p>
        </p:txBody>
      </p:sp>
      <p:sp>
        <p:nvSpPr>
          <p:cNvPr id="4" name="Date Placeholder 3">
            <a:extLst>
              <a:ext uri="{FF2B5EF4-FFF2-40B4-BE49-F238E27FC236}">
                <a16:creationId xmlns:a16="http://schemas.microsoft.com/office/drawing/2014/main" id="{D7E86431-AE8B-70A8-99BE-B3DA1C8C42EB}"/>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7763501B-7C47-1D2F-2A5A-3EE95BA0BDA3}"/>
              </a:ext>
            </a:extLst>
          </p:cNvPr>
          <p:cNvSpPr>
            <a:spLocks noGrp="1"/>
          </p:cNvSpPr>
          <p:nvPr>
            <p:ph type="sldNum" sz="quarter" idx="12"/>
          </p:nvPr>
        </p:nvSpPr>
        <p:spPr/>
        <p:txBody>
          <a:bodyPr/>
          <a:lstStyle/>
          <a:p>
            <a:fld id="{271ECC92-9CDE-4EB3-B1C5-F46B9E1FA3C1}" type="slidenum">
              <a:rPr lang="en-SE" smtClean="0"/>
              <a:t>86</a:t>
            </a:fld>
            <a:endParaRPr lang="en-SE"/>
          </a:p>
        </p:txBody>
      </p:sp>
      <p:sp>
        <p:nvSpPr>
          <p:cNvPr id="6" name="Footer Placeholder 5">
            <a:extLst>
              <a:ext uri="{FF2B5EF4-FFF2-40B4-BE49-F238E27FC236}">
                <a16:creationId xmlns:a16="http://schemas.microsoft.com/office/drawing/2014/main" id="{B16EBF70-09E1-10A8-4816-E95B18DDF25C}"/>
              </a:ext>
            </a:extLst>
          </p:cNvPr>
          <p:cNvSpPr>
            <a:spLocks noGrp="1"/>
          </p:cNvSpPr>
          <p:nvPr>
            <p:ph type="ftr" sz="quarter" idx="11"/>
          </p:nvPr>
        </p:nvSpPr>
        <p:spPr/>
        <p:txBody>
          <a:bodyPr/>
          <a:lstStyle/>
          <a:p>
            <a:r>
              <a:rPr lang="de-DE" dirty="0" err="1"/>
              <a:t>Bayesian</a:t>
            </a:r>
            <a:r>
              <a:rPr lang="de-DE" dirty="0"/>
              <a:t> Data Analysis Tutorial</a:t>
            </a:r>
            <a:endParaRPr lang="en-SE" dirty="0"/>
          </a:p>
        </p:txBody>
      </p:sp>
      <p:grpSp>
        <p:nvGrpSpPr>
          <p:cNvPr id="30" name="Group 29">
            <a:extLst>
              <a:ext uri="{FF2B5EF4-FFF2-40B4-BE49-F238E27FC236}">
                <a16:creationId xmlns:a16="http://schemas.microsoft.com/office/drawing/2014/main" id="{7E59A0E6-0C2B-B8D7-B5FF-5010F29995E3}"/>
              </a:ext>
            </a:extLst>
          </p:cNvPr>
          <p:cNvGrpSpPr/>
          <p:nvPr/>
        </p:nvGrpSpPr>
        <p:grpSpPr>
          <a:xfrm>
            <a:off x="228598" y="1825625"/>
            <a:ext cx="504000" cy="504000"/>
            <a:chOff x="977950" y="2729564"/>
            <a:chExt cx="504000" cy="504000"/>
          </a:xfrm>
        </p:grpSpPr>
        <p:sp>
          <p:nvSpPr>
            <p:cNvPr id="31" name="Oval 30">
              <a:extLst>
                <a:ext uri="{FF2B5EF4-FFF2-40B4-BE49-F238E27FC236}">
                  <a16:creationId xmlns:a16="http://schemas.microsoft.com/office/drawing/2014/main" id="{607DB61F-DBFB-DFF0-7256-3FF6051C1C4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2" name="Graphic 31" descr="Bar chart with solid fill">
              <a:extLst>
                <a:ext uri="{FF2B5EF4-FFF2-40B4-BE49-F238E27FC236}">
                  <a16:creationId xmlns:a16="http://schemas.microsoft.com/office/drawing/2014/main" id="{968387C1-6BA1-5843-9248-0A303387F61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33" name="Group 32">
            <a:extLst>
              <a:ext uri="{FF2B5EF4-FFF2-40B4-BE49-F238E27FC236}">
                <a16:creationId xmlns:a16="http://schemas.microsoft.com/office/drawing/2014/main" id="{8798A615-0536-D3F0-BB2B-0459543D92AA}"/>
              </a:ext>
            </a:extLst>
          </p:cNvPr>
          <p:cNvGrpSpPr/>
          <p:nvPr/>
        </p:nvGrpSpPr>
        <p:grpSpPr>
          <a:xfrm>
            <a:off x="228598" y="2439322"/>
            <a:ext cx="504000" cy="504000"/>
            <a:chOff x="977950" y="2729564"/>
            <a:chExt cx="504000" cy="504000"/>
          </a:xfrm>
        </p:grpSpPr>
        <p:sp>
          <p:nvSpPr>
            <p:cNvPr id="34" name="Oval 33">
              <a:extLst>
                <a:ext uri="{FF2B5EF4-FFF2-40B4-BE49-F238E27FC236}">
                  <a16:creationId xmlns:a16="http://schemas.microsoft.com/office/drawing/2014/main" id="{E5534E3B-1F82-B6CF-0EAC-7651BADC2EAF}"/>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5" name="Graphic 34" descr="Golden Ratio with solid fill">
              <a:extLst>
                <a:ext uri="{FF2B5EF4-FFF2-40B4-BE49-F238E27FC236}">
                  <a16:creationId xmlns:a16="http://schemas.microsoft.com/office/drawing/2014/main" id="{D4498FE1-FE4D-FEF5-5B11-4B124B67CA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36" name="Group 35">
            <a:extLst>
              <a:ext uri="{FF2B5EF4-FFF2-40B4-BE49-F238E27FC236}">
                <a16:creationId xmlns:a16="http://schemas.microsoft.com/office/drawing/2014/main" id="{B64D63E6-1B34-5325-148B-8D099D5509E1}"/>
              </a:ext>
            </a:extLst>
          </p:cNvPr>
          <p:cNvGrpSpPr/>
          <p:nvPr/>
        </p:nvGrpSpPr>
        <p:grpSpPr>
          <a:xfrm>
            <a:off x="228598" y="3053019"/>
            <a:ext cx="504000" cy="504000"/>
            <a:chOff x="977950" y="2729564"/>
            <a:chExt cx="504000" cy="504000"/>
          </a:xfrm>
        </p:grpSpPr>
        <p:sp>
          <p:nvSpPr>
            <p:cNvPr id="37" name="Oval 36">
              <a:extLst>
                <a:ext uri="{FF2B5EF4-FFF2-40B4-BE49-F238E27FC236}">
                  <a16:creationId xmlns:a16="http://schemas.microsoft.com/office/drawing/2014/main" id="{3613D8C1-E4E6-4167-718C-D20CE8E29AA0}"/>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Normal Distribution with solid fill">
              <a:extLst>
                <a:ext uri="{FF2B5EF4-FFF2-40B4-BE49-F238E27FC236}">
                  <a16:creationId xmlns:a16="http://schemas.microsoft.com/office/drawing/2014/main" id="{A3D25088-D367-73F6-A92B-56E193ED411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A0FAD7A4-50C5-B5BC-F0C1-9815EB1E703A}"/>
              </a:ext>
            </a:extLst>
          </p:cNvPr>
          <p:cNvGrpSpPr/>
          <p:nvPr/>
        </p:nvGrpSpPr>
        <p:grpSpPr>
          <a:xfrm>
            <a:off x="228598" y="3666716"/>
            <a:ext cx="504000" cy="504000"/>
            <a:chOff x="977950" y="2729564"/>
            <a:chExt cx="504000" cy="504000"/>
          </a:xfrm>
        </p:grpSpPr>
        <p:sp>
          <p:nvSpPr>
            <p:cNvPr id="40" name="Oval 39">
              <a:extLst>
                <a:ext uri="{FF2B5EF4-FFF2-40B4-BE49-F238E27FC236}">
                  <a16:creationId xmlns:a16="http://schemas.microsoft.com/office/drawing/2014/main" id="{AFE9C531-AC0A-78F1-4BD6-1EDCCB4CC4D9}"/>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Abacus with solid fill">
              <a:extLst>
                <a:ext uri="{FF2B5EF4-FFF2-40B4-BE49-F238E27FC236}">
                  <a16:creationId xmlns:a16="http://schemas.microsoft.com/office/drawing/2014/main" id="{8716ED6C-CC1C-D9B0-750A-0942C83497F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F844FAFF-AD29-33A1-C96E-CEB7A5ADE903}"/>
              </a:ext>
            </a:extLst>
          </p:cNvPr>
          <p:cNvGrpSpPr/>
          <p:nvPr/>
        </p:nvGrpSpPr>
        <p:grpSpPr>
          <a:xfrm>
            <a:off x="228598" y="4280413"/>
            <a:ext cx="504000" cy="504000"/>
            <a:chOff x="977950" y="2729564"/>
            <a:chExt cx="504000" cy="504000"/>
          </a:xfrm>
        </p:grpSpPr>
        <p:sp>
          <p:nvSpPr>
            <p:cNvPr id="43" name="Oval 42">
              <a:extLst>
                <a:ext uri="{FF2B5EF4-FFF2-40B4-BE49-F238E27FC236}">
                  <a16:creationId xmlns:a16="http://schemas.microsoft.com/office/drawing/2014/main" id="{57EE01F3-9BF8-DFA8-CA9E-903B45387797}"/>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Trigonometry with solid fill">
              <a:extLst>
                <a:ext uri="{FF2B5EF4-FFF2-40B4-BE49-F238E27FC236}">
                  <a16:creationId xmlns:a16="http://schemas.microsoft.com/office/drawing/2014/main" id="{6145470E-781E-3D76-1568-CB0A0F247B1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905C5C83-6D7A-893A-31C3-3C545FE0CD78}"/>
              </a:ext>
            </a:extLst>
          </p:cNvPr>
          <p:cNvGrpSpPr/>
          <p:nvPr/>
        </p:nvGrpSpPr>
        <p:grpSpPr>
          <a:xfrm>
            <a:off x="228598" y="4894111"/>
            <a:ext cx="504000" cy="504000"/>
            <a:chOff x="977950" y="2729564"/>
            <a:chExt cx="504000" cy="504000"/>
          </a:xfrm>
        </p:grpSpPr>
        <p:sp>
          <p:nvSpPr>
            <p:cNvPr id="46" name="Oval 45">
              <a:extLst>
                <a:ext uri="{FF2B5EF4-FFF2-40B4-BE49-F238E27FC236}">
                  <a16:creationId xmlns:a16="http://schemas.microsoft.com/office/drawing/2014/main" id="{D658A804-D295-D0E0-6B36-2A51C9BCD734}"/>
                </a:ext>
              </a:extLst>
            </p:cNvPr>
            <p:cNvSpPr/>
            <p:nvPr/>
          </p:nvSpPr>
          <p:spPr>
            <a:xfrm>
              <a:off x="977950" y="2729564"/>
              <a:ext cx="504000" cy="504000"/>
            </a:xfrm>
            <a:prstGeom prst="ellipse">
              <a:avLst/>
            </a:prstGeom>
            <a:solidFill>
              <a:schemeClr val="tx1">
                <a:lumMod val="65000"/>
                <a:lumOff val="3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Scatterplot with solid fill">
              <a:extLst>
                <a:ext uri="{FF2B5EF4-FFF2-40B4-BE49-F238E27FC236}">
                  <a16:creationId xmlns:a16="http://schemas.microsoft.com/office/drawing/2014/main" id="{07F80302-3529-F84E-EABB-9F404EB47D3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48" name="Straight Arrow Connector 47">
            <a:extLst>
              <a:ext uri="{FF2B5EF4-FFF2-40B4-BE49-F238E27FC236}">
                <a16:creationId xmlns:a16="http://schemas.microsoft.com/office/drawing/2014/main" id="{7440879A-E5C4-F3E9-0FEB-226C608A7729}"/>
              </a:ext>
            </a:extLst>
          </p:cNvPr>
          <p:cNvCxnSpPr>
            <a:stCxn id="31" idx="4"/>
            <a:endCxn id="34"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9" name="Straight Arrow Connector 48">
            <a:extLst>
              <a:ext uri="{FF2B5EF4-FFF2-40B4-BE49-F238E27FC236}">
                <a16:creationId xmlns:a16="http://schemas.microsoft.com/office/drawing/2014/main" id="{687C2DF4-8762-F441-B08E-63C1F7976EC7}"/>
              </a:ext>
            </a:extLst>
          </p:cNvPr>
          <p:cNvCxnSpPr>
            <a:cxnSpLocks/>
            <a:stCxn id="34" idx="4"/>
            <a:endCxn id="37"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0" name="Straight Arrow Connector 49">
            <a:extLst>
              <a:ext uri="{FF2B5EF4-FFF2-40B4-BE49-F238E27FC236}">
                <a16:creationId xmlns:a16="http://schemas.microsoft.com/office/drawing/2014/main" id="{4AE40688-8563-36FC-6882-8571418733F2}"/>
              </a:ext>
            </a:extLst>
          </p:cNvPr>
          <p:cNvCxnSpPr>
            <a:cxnSpLocks/>
            <a:stCxn id="37" idx="4"/>
            <a:endCxn id="40"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Straight Arrow Connector 50">
            <a:extLst>
              <a:ext uri="{FF2B5EF4-FFF2-40B4-BE49-F238E27FC236}">
                <a16:creationId xmlns:a16="http://schemas.microsoft.com/office/drawing/2014/main" id="{B93B1AA2-16F7-FB50-40A7-6329AECAD72F}"/>
              </a:ext>
            </a:extLst>
          </p:cNvPr>
          <p:cNvCxnSpPr>
            <a:cxnSpLocks/>
            <a:stCxn id="40" idx="4"/>
            <a:endCxn id="43"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4E0CF078-58A5-8AD4-731F-C8C4456B0C67}"/>
              </a:ext>
            </a:extLst>
          </p:cNvPr>
          <p:cNvCxnSpPr>
            <a:cxnSpLocks/>
            <a:stCxn id="43" idx="4"/>
            <a:endCxn id="46"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4" name="Rectangle: Rounded Corners 53">
            <a:extLst>
              <a:ext uri="{FF2B5EF4-FFF2-40B4-BE49-F238E27FC236}">
                <a16:creationId xmlns:a16="http://schemas.microsoft.com/office/drawing/2014/main" id="{A76FD3ED-B378-BDD5-BFE6-B8431AB5675B}"/>
              </a:ext>
            </a:extLst>
          </p:cNvPr>
          <p:cNvSpPr/>
          <p:nvPr/>
        </p:nvSpPr>
        <p:spPr>
          <a:xfrm>
            <a:off x="838198" y="2947129"/>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F881603-5768-2C61-B514-E524CB433203}"/>
                  </a:ext>
                </a:extLst>
              </p:cNvPr>
              <p:cNvSpPr txBox="1"/>
              <p:nvPr/>
            </p:nvSpPr>
            <p:spPr>
              <a:xfrm>
                <a:off x="1968731" y="3549182"/>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56" name="TextBox 55">
                <a:extLst>
                  <a:ext uri="{FF2B5EF4-FFF2-40B4-BE49-F238E27FC236}">
                    <a16:creationId xmlns:a16="http://schemas.microsoft.com/office/drawing/2014/main" id="{0F881603-5768-2C61-B514-E524CB433203}"/>
                  </a:ext>
                </a:extLst>
              </p:cNvPr>
              <p:cNvSpPr txBox="1">
                <a:spLocks noRot="1" noChangeAspect="1" noMove="1" noResize="1" noEditPoints="1" noAdjustHandles="1" noChangeArrowheads="1" noChangeShapeType="1" noTextEdit="1"/>
              </p:cNvSpPr>
              <p:nvPr/>
            </p:nvSpPr>
            <p:spPr>
              <a:xfrm>
                <a:off x="1968731" y="3549182"/>
                <a:ext cx="2595262" cy="369332"/>
              </a:xfrm>
              <a:prstGeom prst="rect">
                <a:avLst/>
              </a:prstGeom>
              <a:blipFill>
                <a:blip r:embed="rId8"/>
                <a:stretch>
                  <a:fillRect l="-2582" t="-1639" r="-3756"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E13ED9D-E452-98B1-29F4-5F740FED41EC}"/>
                  </a:ext>
                </a:extLst>
              </p:cNvPr>
              <p:cNvSpPr txBox="1"/>
              <p:nvPr/>
            </p:nvSpPr>
            <p:spPr>
              <a:xfrm>
                <a:off x="970021" y="3946684"/>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58" name="TextBox 57">
                <a:extLst>
                  <a:ext uri="{FF2B5EF4-FFF2-40B4-BE49-F238E27FC236}">
                    <a16:creationId xmlns:a16="http://schemas.microsoft.com/office/drawing/2014/main" id="{9E13ED9D-E452-98B1-29F4-5F740FED41EC}"/>
                  </a:ext>
                </a:extLst>
              </p:cNvPr>
              <p:cNvSpPr txBox="1">
                <a:spLocks noRot="1" noChangeAspect="1" noMove="1" noResize="1" noEditPoints="1" noAdjustHandles="1" noChangeArrowheads="1" noChangeShapeType="1" noTextEdit="1"/>
              </p:cNvSpPr>
              <p:nvPr/>
            </p:nvSpPr>
            <p:spPr>
              <a:xfrm>
                <a:off x="970021" y="3946684"/>
                <a:ext cx="3919919" cy="369332"/>
              </a:xfrm>
              <a:prstGeom prst="rect">
                <a:avLst/>
              </a:prstGeom>
              <a:blipFill>
                <a:blip r:embed="rId9"/>
                <a:stretch>
                  <a:fillRect l="-2333" t="-1639" r="-622"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7C74E1F-532A-4C6D-58F8-2C8129D42E38}"/>
                  </a:ext>
                </a:extLst>
              </p:cNvPr>
              <p:cNvSpPr txBox="1"/>
              <p:nvPr/>
            </p:nvSpPr>
            <p:spPr>
              <a:xfrm>
                <a:off x="1939364" y="4364889"/>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60" name="TextBox 59">
                <a:extLst>
                  <a:ext uri="{FF2B5EF4-FFF2-40B4-BE49-F238E27FC236}">
                    <a16:creationId xmlns:a16="http://schemas.microsoft.com/office/drawing/2014/main" id="{87C74E1F-532A-4C6D-58F8-2C8129D42E38}"/>
                  </a:ext>
                </a:extLst>
              </p:cNvPr>
              <p:cNvSpPr txBox="1">
                <a:spLocks noRot="1" noChangeAspect="1" noMove="1" noResize="1" noEditPoints="1" noAdjustHandles="1" noChangeArrowheads="1" noChangeShapeType="1" noTextEdit="1"/>
              </p:cNvSpPr>
              <p:nvPr/>
            </p:nvSpPr>
            <p:spPr>
              <a:xfrm>
                <a:off x="1939364" y="4364889"/>
                <a:ext cx="1632883" cy="369332"/>
              </a:xfrm>
              <a:prstGeom prst="rect">
                <a:avLst/>
              </a:prstGeom>
              <a:blipFill>
                <a:blip r:embed="rId10"/>
                <a:stretch>
                  <a:fillRect l="-746" t="-1639" r="-5597"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F1A27AA4-DC8F-94EA-1B3F-5FB8420DF4AC}"/>
                  </a:ext>
                </a:extLst>
              </p:cNvPr>
              <p:cNvSpPr txBox="1"/>
              <p:nvPr/>
            </p:nvSpPr>
            <p:spPr>
              <a:xfrm>
                <a:off x="1805486" y="4807048"/>
                <a:ext cx="2015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62" name="TextBox 61">
                <a:extLst>
                  <a:ext uri="{FF2B5EF4-FFF2-40B4-BE49-F238E27FC236}">
                    <a16:creationId xmlns:a16="http://schemas.microsoft.com/office/drawing/2014/main" id="{F1A27AA4-DC8F-94EA-1B3F-5FB8420DF4AC}"/>
                  </a:ext>
                </a:extLst>
              </p:cNvPr>
              <p:cNvSpPr txBox="1">
                <a:spLocks noRot="1" noChangeAspect="1" noMove="1" noResize="1" noEditPoints="1" noAdjustHandles="1" noChangeArrowheads="1" noChangeShapeType="1" noTextEdit="1"/>
              </p:cNvSpPr>
              <p:nvPr/>
            </p:nvSpPr>
            <p:spPr>
              <a:xfrm>
                <a:off x="1805486" y="4807048"/>
                <a:ext cx="2015103" cy="369332"/>
              </a:xfrm>
              <a:prstGeom prst="rect">
                <a:avLst/>
              </a:prstGeom>
              <a:blipFill>
                <a:blip r:embed="rId11"/>
                <a:stretch>
                  <a:fillRect l="-3323" t="-1667" r="-3625"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5789BA7-D135-F4ED-B477-1F9DC481BA1B}"/>
                  </a:ext>
                </a:extLst>
              </p:cNvPr>
              <p:cNvSpPr txBox="1"/>
              <p:nvPr/>
            </p:nvSpPr>
            <p:spPr>
              <a:xfrm>
                <a:off x="1844685" y="5237230"/>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(0, 0.5)</m:t>
                      </m:r>
                    </m:oMath>
                  </m:oMathPara>
                </a14:m>
                <a:endParaRPr lang="en-SE" sz="2400" dirty="0"/>
              </a:p>
            </p:txBody>
          </p:sp>
        </mc:Choice>
        <mc:Fallback xmlns="">
          <p:sp>
            <p:nvSpPr>
              <p:cNvPr id="64" name="TextBox 63">
                <a:extLst>
                  <a:ext uri="{FF2B5EF4-FFF2-40B4-BE49-F238E27FC236}">
                    <a16:creationId xmlns:a16="http://schemas.microsoft.com/office/drawing/2014/main" id="{85789BA7-D135-F4ED-B477-1F9DC481BA1B}"/>
                  </a:ext>
                </a:extLst>
              </p:cNvPr>
              <p:cNvSpPr txBox="1">
                <a:spLocks noRot="1" noChangeAspect="1" noMove="1" noResize="1" noEditPoints="1" noAdjustHandles="1" noChangeArrowheads="1" noChangeShapeType="1" noTextEdit="1"/>
              </p:cNvSpPr>
              <p:nvPr/>
            </p:nvSpPr>
            <p:spPr>
              <a:xfrm>
                <a:off x="1844685" y="5237230"/>
                <a:ext cx="1931875" cy="369332"/>
              </a:xfrm>
              <a:prstGeom prst="rect">
                <a:avLst/>
              </a:prstGeom>
              <a:blipFill>
                <a:blip r:embed="rId12"/>
                <a:stretch>
                  <a:fillRect l="-5678" t="-1639" r="-5363" b="-32787"/>
                </a:stretch>
              </a:blipFill>
            </p:spPr>
            <p:txBody>
              <a:bodyPr/>
              <a:lstStyle/>
              <a:p>
                <a:r>
                  <a:rPr lang="en-SE">
                    <a:noFill/>
                  </a:rPr>
                  <a:t> </a:t>
                </a:r>
              </a:p>
            </p:txBody>
          </p:sp>
        </mc:Fallback>
      </mc:AlternateContent>
      <p:pic>
        <p:nvPicPr>
          <p:cNvPr id="66" name="Graphic 65" descr="Robot with solid fill">
            <a:extLst>
              <a:ext uri="{FF2B5EF4-FFF2-40B4-BE49-F238E27FC236}">
                <a16:creationId xmlns:a16="http://schemas.microsoft.com/office/drawing/2014/main" id="{721A9280-CB80-FFB3-9DFC-CE9E4CB9C5E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9343" y="3068156"/>
            <a:ext cx="360000" cy="360000"/>
          </a:xfrm>
          <a:prstGeom prst="rect">
            <a:avLst/>
          </a:prstGeom>
        </p:spPr>
      </p:pic>
      <p:sp>
        <p:nvSpPr>
          <p:cNvPr id="68" name="Rectangle 67">
            <a:extLst>
              <a:ext uri="{FF2B5EF4-FFF2-40B4-BE49-F238E27FC236}">
                <a16:creationId xmlns:a16="http://schemas.microsoft.com/office/drawing/2014/main" id="{CEE7CDFB-B012-DB8E-1AE8-FCF51F116AEB}"/>
              </a:ext>
            </a:extLst>
          </p:cNvPr>
          <p:cNvSpPr/>
          <p:nvPr/>
        </p:nvSpPr>
        <p:spPr>
          <a:xfrm>
            <a:off x="5286713" y="3349698"/>
            <a:ext cx="6067087" cy="2510899"/>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model &lt;- </a:t>
            </a:r>
            <a:r>
              <a:rPr lang="en-SE" dirty="0" err="1">
                <a:solidFill>
                  <a:schemeClr val="tx1"/>
                </a:solidFill>
                <a:latin typeface="Courier New" panose="02070309020205020404" pitchFamily="49" charset="0"/>
                <a:cs typeface="Courier New" panose="02070309020205020404" pitchFamily="49" charset="0"/>
              </a:rPr>
              <a:t>brm</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y | trials(n) ~ </a:t>
            </a:r>
            <a:r>
              <a:rPr lang="en-SE" dirty="0">
                <a:solidFill>
                  <a:schemeClr val="bg2">
                    <a:lumMod val="75000"/>
                  </a:schemeClr>
                </a:solidFill>
                <a:latin typeface="Courier New" panose="02070309020205020404" pitchFamily="49" charset="0"/>
                <a:cs typeface="Courier New" panose="02070309020205020404" pitchFamily="49" charset="0"/>
              </a:rPr>
              <a:t>1</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x</a:t>
            </a:r>
            <a:r>
              <a:rPr lang="en-SE" dirty="0">
                <a:solidFill>
                  <a:schemeClr val="tx1"/>
                </a:solidFill>
                <a:latin typeface="Courier New" panose="02070309020205020404" pitchFamily="49" charset="0"/>
                <a:cs typeface="Courier New" panose="02070309020205020404" pitchFamily="49" charset="0"/>
              </a:rPr>
              <a:t> + </a:t>
            </a:r>
            <a:r>
              <a:rPr lang="en-SE" dirty="0">
                <a:solidFill>
                  <a:schemeClr val="accent6"/>
                </a:solidFill>
                <a:latin typeface="Courier New" panose="02070309020205020404" pitchFamily="49" charset="0"/>
                <a:cs typeface="Courier New" panose="02070309020205020404" pitchFamily="49" charset="0"/>
              </a:rPr>
              <a:t>z</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family = binomial</a:t>
            </a:r>
            <a:r>
              <a:rPr lang="en-SE" b="1" dirty="0">
                <a:solidFill>
                  <a:schemeClr val="tx1"/>
                </a:solidFill>
                <a:latin typeface="Courier New" panose="02070309020205020404" pitchFamily="49" charset="0"/>
                <a:cs typeface="Courier New" panose="02070309020205020404" pitchFamily="49" charset="0"/>
              </a:rPr>
              <a:t>(link=“logit”)</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priors = c(</a:t>
            </a: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a:t>
            </a:r>
            <a:r>
              <a:rPr lang="en-SE" dirty="0">
                <a:solidFill>
                  <a:schemeClr val="tx1"/>
                </a:solidFill>
                <a:latin typeface="Courier New" panose="02070309020205020404" pitchFamily="49" charset="0"/>
                <a:cs typeface="Courier New" panose="02070309020205020404" pitchFamily="49" charset="0"/>
              </a:rPr>
              <a:t>0</a:t>
            </a:r>
            <a:r>
              <a:rPr lang="de-DE" dirty="0">
                <a:solidFill>
                  <a:schemeClr val="tx1"/>
                </a:solidFill>
                <a:latin typeface="Courier New" panose="02070309020205020404" pitchFamily="49" charset="0"/>
                <a:cs typeface="Courier New" panose="02070309020205020404" pitchFamily="49" charset="0"/>
              </a:rPr>
              <a:t>, 1),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a:t>
            </a:r>
            <a:r>
              <a:rPr lang="de-DE" dirty="0" err="1">
                <a:solidFill>
                  <a:schemeClr val="tx1"/>
                </a:solidFill>
                <a:latin typeface="Courier New" panose="02070309020205020404" pitchFamily="49" charset="0"/>
                <a:cs typeface="Courier New" panose="02070309020205020404" pitchFamily="49" charset="0"/>
              </a:rPr>
              <a:t>Intercept</a:t>
            </a:r>
            <a:r>
              <a:rPr lang="de-DE" dirty="0">
                <a:solidFill>
                  <a:schemeClr val="tx1"/>
                </a:solidFill>
                <a:latin typeface="Courier New" panose="02070309020205020404" pitchFamily="49" charset="0"/>
                <a:cs typeface="Courier New" panose="02070309020205020404" pitchFamily="49" charset="0"/>
              </a:rPr>
              <a:t>),</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prior</a:t>
            </a:r>
            <a:r>
              <a:rPr lang="de-DE" dirty="0">
                <a:solidFill>
                  <a:schemeClr val="tx1"/>
                </a:solidFill>
                <a:latin typeface="Courier New" panose="02070309020205020404" pitchFamily="49" charset="0"/>
                <a:cs typeface="Courier New" panose="02070309020205020404" pitchFamily="49" charset="0"/>
              </a:rPr>
              <a:t>(normal(0, </a:t>
            </a:r>
            <a:r>
              <a:rPr lang="en-SE" dirty="0">
                <a:solidFill>
                  <a:schemeClr val="tx1"/>
                </a:solidFill>
                <a:latin typeface="Courier New" panose="02070309020205020404" pitchFamily="49" charset="0"/>
                <a:cs typeface="Courier New" panose="02070309020205020404" pitchFamily="49" charset="0"/>
              </a:rPr>
              <a:t>0.5</a:t>
            </a:r>
            <a:r>
              <a:rPr lang="de-DE" dirty="0">
                <a:solidFill>
                  <a:schemeClr val="tx1"/>
                </a:solidFill>
                <a:latin typeface="Courier New" panose="02070309020205020404" pitchFamily="49" charset="0"/>
                <a:cs typeface="Courier New" panose="02070309020205020404" pitchFamily="49" charset="0"/>
              </a:rPr>
              <a:t>), </a:t>
            </a:r>
            <a:r>
              <a:rPr lang="de-DE" dirty="0" err="1">
                <a:solidFill>
                  <a:schemeClr val="tx1"/>
                </a:solidFill>
                <a:latin typeface="Courier New" panose="02070309020205020404" pitchFamily="49" charset="0"/>
                <a:cs typeface="Courier New" panose="02070309020205020404" pitchFamily="49" charset="0"/>
              </a:rPr>
              <a:t>class</a:t>
            </a:r>
            <a:r>
              <a:rPr lang="de-DE" dirty="0">
                <a:solidFill>
                  <a:schemeClr val="tx1"/>
                </a:solidFill>
                <a:latin typeface="Courier New" panose="02070309020205020404" pitchFamily="49" charset="0"/>
                <a:cs typeface="Courier New" panose="02070309020205020404" pitchFamily="49" charset="0"/>
              </a:rPr>
              <a:t> = b))</a:t>
            </a:r>
            <a:r>
              <a:rPr lang="en-SE" dirty="0">
                <a:solidFill>
                  <a:schemeClr val="tx1"/>
                </a:solidFill>
                <a:latin typeface="Courier New" panose="02070309020205020404" pitchFamily="49" charset="0"/>
                <a:cs typeface="Courier New" panose="02070309020205020404" pitchFamily="49" charset="0"/>
              </a:rPr>
              <a:t>,</a:t>
            </a:r>
          </a:p>
          <a:p>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iter = 4000, warmup = 1000, chains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  c</a:t>
            </a:r>
            <a:r>
              <a:rPr lang="en-US" dirty="0">
                <a:solidFill>
                  <a:schemeClr val="tx1"/>
                </a:solidFill>
                <a:latin typeface="Courier New" panose="02070309020205020404" pitchFamily="49" charset="0"/>
                <a:cs typeface="Courier New" panose="02070309020205020404" pitchFamily="49" charset="0"/>
              </a:rPr>
              <a:t>ores = 4, </a:t>
            </a:r>
            <a:r>
              <a:rPr lang="en-SE" dirty="0">
                <a:solidFill>
                  <a:schemeClr val="tx1"/>
                </a:solidFill>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seed = 4</a:t>
            </a:r>
            <a:endParaRPr lang="en-SE" dirty="0">
              <a:solidFill>
                <a:schemeClr val="tx1"/>
              </a:solidFill>
              <a:latin typeface="Courier New" panose="02070309020205020404" pitchFamily="49" charset="0"/>
              <a:cs typeface="Courier New" panose="02070309020205020404" pitchFamily="49" charset="0"/>
            </a:endParaRPr>
          </a:p>
          <a:p>
            <a:r>
              <a:rPr lang="en-SE" dirty="0">
                <a:solidFill>
                  <a:schemeClr val="tx1"/>
                </a:solidFill>
                <a:latin typeface="Courier New" panose="02070309020205020404" pitchFamily="49" charset="0"/>
                <a:cs typeface="Courier New" panose="02070309020205020404" pitchFamily="49" charset="0"/>
              </a:rPr>
              <a:t>)</a:t>
            </a:r>
          </a:p>
        </p:txBody>
      </p:sp>
      <p:sp>
        <p:nvSpPr>
          <p:cNvPr id="70" name="Rectangle 69">
            <a:extLst>
              <a:ext uri="{FF2B5EF4-FFF2-40B4-BE49-F238E27FC236}">
                <a16:creationId xmlns:a16="http://schemas.microsoft.com/office/drawing/2014/main" id="{D0A5E261-FFFE-20ED-1EC8-FA81E393EA89}"/>
              </a:ext>
            </a:extLst>
          </p:cNvPr>
          <p:cNvSpPr/>
          <p:nvPr/>
        </p:nvSpPr>
        <p:spPr>
          <a:xfrm>
            <a:off x="5286713" y="2984573"/>
            <a:ext cx="606708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Tree>
    <p:extLst>
      <p:ext uri="{BB962C8B-B14F-4D97-AF65-F5344CB8AC3E}">
        <p14:creationId xmlns:p14="http://schemas.microsoft.com/office/powerpoint/2010/main" val="769304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035F5-5D5D-FD9F-AF7B-82EB9DA50446}"/>
              </a:ext>
            </a:extLst>
          </p:cNvPr>
          <p:cNvSpPr>
            <a:spLocks noGrp="1"/>
          </p:cNvSpPr>
          <p:nvPr>
            <p:ph type="title"/>
          </p:nvPr>
        </p:nvSpPr>
        <p:spPr/>
        <p:txBody>
          <a:bodyPr/>
          <a:lstStyle/>
          <a:p>
            <a:r>
              <a:rPr lang="en-SE" dirty="0"/>
              <a:t>Prior Predictive Checks, Training, and Posterior Predictive Checks</a:t>
            </a:r>
          </a:p>
        </p:txBody>
      </p:sp>
      <p:sp>
        <p:nvSpPr>
          <p:cNvPr id="3" name="Content Placeholder 2">
            <a:extLst>
              <a:ext uri="{FF2B5EF4-FFF2-40B4-BE49-F238E27FC236}">
                <a16:creationId xmlns:a16="http://schemas.microsoft.com/office/drawing/2014/main" id="{44C49F86-0ED3-DC40-14D3-3F4778FB4D86}"/>
              </a:ext>
            </a:extLst>
          </p:cNvPr>
          <p:cNvSpPr>
            <a:spLocks noGrp="1"/>
          </p:cNvSpPr>
          <p:nvPr>
            <p:ph idx="1"/>
          </p:nvPr>
        </p:nvSpPr>
        <p:spPr>
          <a:xfrm>
            <a:off x="838200" y="1825625"/>
            <a:ext cx="10515600" cy="1215866"/>
          </a:xfrm>
        </p:spPr>
        <p:txBody>
          <a:bodyPr/>
          <a:lstStyle/>
          <a:p>
            <a:pPr marL="0" indent="0">
              <a:buNone/>
            </a:pPr>
            <a:r>
              <a:rPr lang="en-SE" dirty="0"/>
              <a:t>The link function complicates the selection of appropriate priors and makes prior predictive checks all-the-more-important.</a:t>
            </a:r>
          </a:p>
        </p:txBody>
      </p:sp>
      <p:sp>
        <p:nvSpPr>
          <p:cNvPr id="4" name="Date Placeholder 3">
            <a:extLst>
              <a:ext uri="{FF2B5EF4-FFF2-40B4-BE49-F238E27FC236}">
                <a16:creationId xmlns:a16="http://schemas.microsoft.com/office/drawing/2014/main" id="{FBA850E2-743F-79DF-C12B-AEFEBB575FA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CDC37696-CF0E-B287-2394-E61CDE28CD44}"/>
              </a:ext>
            </a:extLst>
          </p:cNvPr>
          <p:cNvSpPr>
            <a:spLocks noGrp="1"/>
          </p:cNvSpPr>
          <p:nvPr>
            <p:ph type="sldNum" sz="quarter" idx="12"/>
          </p:nvPr>
        </p:nvSpPr>
        <p:spPr/>
        <p:txBody>
          <a:bodyPr/>
          <a:lstStyle/>
          <a:p>
            <a:fld id="{271ECC92-9CDE-4EB3-B1C5-F46B9E1FA3C1}" type="slidenum">
              <a:rPr lang="en-SE" smtClean="0"/>
              <a:t>87</a:t>
            </a:fld>
            <a:endParaRPr lang="en-SE"/>
          </a:p>
        </p:txBody>
      </p:sp>
      <p:sp>
        <p:nvSpPr>
          <p:cNvPr id="6" name="Footer Placeholder 5">
            <a:extLst>
              <a:ext uri="{FF2B5EF4-FFF2-40B4-BE49-F238E27FC236}">
                <a16:creationId xmlns:a16="http://schemas.microsoft.com/office/drawing/2014/main" id="{A6A75ED3-DA3F-4BF4-B590-E017725050DA}"/>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0EFB7FF8-D3F3-FC82-F5D3-7979CF110DC8}"/>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F8258130-55A9-AA2A-8E9F-653ADF65A4D9}"/>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4869C8C8-36A3-EB0E-F334-5BB6C49223C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579561CF-1C4C-84F8-0B18-36AF36DEBCD3}"/>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C7A46E9A-8C97-64CD-AA38-3236AD331E76}"/>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E7ACC3A8-5BD8-1CDF-66CD-92652511B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86DED409-8030-4B56-1E8B-50599BDABC96}"/>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C86D35DE-31ED-6394-8742-F1870A14718D}"/>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725AF0FE-83B9-30E5-7C9C-A39F7BB77E3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4521EC6C-4CED-E813-0679-F35EC1455528}"/>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B38355F8-B7EE-A17D-D2D5-4F2D7E92B6DA}"/>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7A1CF7FB-33EA-093D-FF65-2659C46287E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4199FAB3-91B3-FF1C-C2C7-2138F1495D30}"/>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0CDBC8FA-5DFB-56AB-DBF2-A9FB6CB47276}"/>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23079EFD-08C0-17DD-71B0-0B8F32CEE4D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5F39A683-7F81-4C2E-3A8F-F01C15DC6ED1}"/>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8A07593D-C2C2-CC45-49EA-B242E9188C92}"/>
                </a:ext>
              </a:extLst>
            </p:cNvPr>
            <p:cNvSpPr/>
            <p:nvPr/>
          </p:nvSpPr>
          <p:spPr>
            <a:xfrm>
              <a:off x="977950" y="2729564"/>
              <a:ext cx="504000" cy="504000"/>
            </a:xfrm>
            <a:prstGeom prst="ellipse">
              <a:avLst/>
            </a:prstGeom>
            <a:solidFill>
              <a:schemeClr val="tx1">
                <a:lumMod val="50000"/>
                <a:lumOff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9EFE126B-A326-B50A-B75B-13F6742B5C1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D411E061-3DC2-33A5-316D-5F2430A09BDE}"/>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8925F437-6508-A646-936F-808C1BD3C95E}"/>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D60CAEE4-F0AA-EB79-BB74-EC2C026BA0F9}"/>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0AE01345-6A0B-21A7-48E4-D8E5DEFBD5B7}"/>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A02055B9-247B-EA79-44E5-E63C8A7D13D9}"/>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0D12F8FD-8B43-1957-067B-CAD9E7C7FEBE}"/>
              </a:ext>
            </a:extLst>
          </p:cNvPr>
          <p:cNvPicPr>
            <a:picLocks noChangeAspect="1"/>
          </p:cNvPicPr>
          <p:nvPr/>
        </p:nvPicPr>
        <p:blipFill>
          <a:blip r:embed="rId8"/>
          <a:stretch>
            <a:fillRect/>
          </a:stretch>
        </p:blipFill>
        <p:spPr>
          <a:xfrm>
            <a:off x="938330" y="3398035"/>
            <a:ext cx="3566469" cy="2149026"/>
          </a:xfrm>
          <a:prstGeom prst="rect">
            <a:avLst/>
          </a:prstGeom>
        </p:spPr>
      </p:pic>
      <p:pic>
        <p:nvPicPr>
          <p:cNvPr id="33" name="Picture 32">
            <a:extLst>
              <a:ext uri="{FF2B5EF4-FFF2-40B4-BE49-F238E27FC236}">
                <a16:creationId xmlns:a16="http://schemas.microsoft.com/office/drawing/2014/main" id="{5E6BFAA7-3B24-8BC7-2F72-749F4369E979}"/>
              </a:ext>
            </a:extLst>
          </p:cNvPr>
          <p:cNvPicPr>
            <a:picLocks noChangeAspect="1"/>
          </p:cNvPicPr>
          <p:nvPr/>
        </p:nvPicPr>
        <p:blipFill>
          <a:blip r:embed="rId9"/>
          <a:stretch>
            <a:fillRect/>
          </a:stretch>
        </p:blipFill>
        <p:spPr>
          <a:xfrm>
            <a:off x="8610600" y="4334413"/>
            <a:ext cx="3025402" cy="2133785"/>
          </a:xfrm>
          <a:prstGeom prst="rect">
            <a:avLst/>
          </a:prstGeom>
        </p:spPr>
      </p:pic>
      <p:grpSp>
        <p:nvGrpSpPr>
          <p:cNvPr id="39" name="Group 38">
            <a:extLst>
              <a:ext uri="{FF2B5EF4-FFF2-40B4-BE49-F238E27FC236}">
                <a16:creationId xmlns:a16="http://schemas.microsoft.com/office/drawing/2014/main" id="{EA21BE1E-F12F-6FA8-BB0D-4FDFF85CA62F}"/>
              </a:ext>
            </a:extLst>
          </p:cNvPr>
          <p:cNvGrpSpPr/>
          <p:nvPr/>
        </p:nvGrpSpPr>
        <p:grpSpPr>
          <a:xfrm>
            <a:off x="4504799" y="3361447"/>
            <a:ext cx="4143504" cy="584775"/>
            <a:chOff x="1497300" y="3249000"/>
            <a:chExt cx="4143504" cy="584775"/>
          </a:xfrm>
        </p:grpSpPr>
        <p:grpSp>
          <p:nvGrpSpPr>
            <p:cNvPr id="40" name="Group 39">
              <a:extLst>
                <a:ext uri="{FF2B5EF4-FFF2-40B4-BE49-F238E27FC236}">
                  <a16:creationId xmlns:a16="http://schemas.microsoft.com/office/drawing/2014/main" id="{94A43EEA-0C98-7AD4-859A-E4C69E64C9FC}"/>
                </a:ext>
              </a:extLst>
            </p:cNvPr>
            <p:cNvGrpSpPr/>
            <p:nvPr/>
          </p:nvGrpSpPr>
          <p:grpSpPr>
            <a:xfrm>
              <a:off x="1497300" y="3307387"/>
              <a:ext cx="468000" cy="468000"/>
              <a:chOff x="7505700" y="4334414"/>
              <a:chExt cx="468000" cy="468000"/>
            </a:xfrm>
          </p:grpSpPr>
          <p:sp>
            <p:nvSpPr>
              <p:cNvPr id="42" name="Oval 41">
                <a:extLst>
                  <a:ext uri="{FF2B5EF4-FFF2-40B4-BE49-F238E27FC236}">
                    <a16:creationId xmlns:a16="http://schemas.microsoft.com/office/drawing/2014/main" id="{FFFE8430-66A3-1DBB-A8F8-6638B677B3A9}"/>
                  </a:ext>
                </a:extLst>
              </p:cNvPr>
              <p:cNvSpPr/>
              <p:nvPr/>
            </p:nvSpPr>
            <p:spPr>
              <a:xfrm>
                <a:off x="7505700" y="4334414"/>
                <a:ext cx="468000" cy="46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3" name="Graphic 42" descr="Checkmark with solid fill">
                <a:extLst>
                  <a:ext uri="{FF2B5EF4-FFF2-40B4-BE49-F238E27FC236}">
                    <a16:creationId xmlns:a16="http://schemas.microsoft.com/office/drawing/2014/main" id="{06036F6B-525E-9FBF-13F1-FCB75D7818F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559700" y="4388414"/>
                <a:ext cx="360000" cy="360000"/>
              </a:xfrm>
              <a:prstGeom prst="rect">
                <a:avLst/>
              </a:prstGeom>
            </p:spPr>
          </p:pic>
        </p:grpSp>
        <p:sp>
          <p:nvSpPr>
            <p:cNvPr id="41" name="TextBox 40">
              <a:extLst>
                <a:ext uri="{FF2B5EF4-FFF2-40B4-BE49-F238E27FC236}">
                  <a16:creationId xmlns:a16="http://schemas.microsoft.com/office/drawing/2014/main" id="{D5546997-67E5-94C7-0516-9554E8F8E2BD}"/>
                </a:ext>
              </a:extLst>
            </p:cNvPr>
            <p:cNvSpPr txBox="1"/>
            <p:nvPr/>
          </p:nvSpPr>
          <p:spPr>
            <a:xfrm>
              <a:off x="2019300" y="3249000"/>
              <a:ext cx="3621504" cy="584775"/>
            </a:xfrm>
            <a:prstGeom prst="rect">
              <a:avLst/>
            </a:prstGeom>
            <a:noFill/>
          </p:spPr>
          <p:txBody>
            <a:bodyPr wrap="none" rtlCol="0">
              <a:spAutoFit/>
            </a:bodyPr>
            <a:lstStyle/>
            <a:p>
              <a:r>
                <a:rPr lang="en-SE" b="1" dirty="0"/>
                <a:t>Better</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a:t>
              </a:r>
              <a:r>
                <a:rPr lang="en-SE" sz="1400" dirty="0">
                  <a:solidFill>
                    <a:srgbClr val="92D050"/>
                  </a:solidFill>
                  <a:latin typeface="Courier New" panose="02070309020205020404" pitchFamily="49" charset="0"/>
                  <a:cs typeface="Courier New" panose="02070309020205020404" pitchFamily="49" charset="0"/>
                </a:rPr>
                <a:t>0.3</a:t>
              </a:r>
              <a:r>
                <a:rPr lang="de-DE" sz="1400" dirty="0">
                  <a:latin typeface="Courier New" panose="02070309020205020404" pitchFamily="49" charset="0"/>
                  <a:cs typeface="Courier New" panose="02070309020205020404" pitchFamily="49" charset="0"/>
                </a:rPr>
                <a:t>),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en-SE" sz="1400" dirty="0">
                  <a:latin typeface="Courier New" panose="02070309020205020404" pitchFamily="49" charset="0"/>
                  <a:cs typeface="Courier New" panose="02070309020205020404" pitchFamily="49" charset="0"/>
                </a:rPr>
                <a:t>b</a:t>
              </a:r>
              <a:r>
                <a:rPr lang="de-DE" sz="1400" dirty="0">
                  <a:latin typeface="Courier New" panose="02070309020205020404" pitchFamily="49" charset="0"/>
                  <a:cs typeface="Courier New" panose="02070309020205020404" pitchFamily="49" charset="0"/>
                </a:rPr>
                <a:t>)</a:t>
              </a:r>
              <a:endParaRPr lang="en-SE" sz="1400" dirty="0"/>
            </a:p>
          </p:txBody>
        </p:sp>
      </p:grpSp>
      <p:grpSp>
        <p:nvGrpSpPr>
          <p:cNvPr id="44" name="Group 43">
            <a:extLst>
              <a:ext uri="{FF2B5EF4-FFF2-40B4-BE49-F238E27FC236}">
                <a16:creationId xmlns:a16="http://schemas.microsoft.com/office/drawing/2014/main" id="{E4356CFF-FDDE-1772-487A-53B4CDE52C03}"/>
              </a:ext>
            </a:extLst>
          </p:cNvPr>
          <p:cNvGrpSpPr/>
          <p:nvPr/>
        </p:nvGrpSpPr>
        <p:grpSpPr>
          <a:xfrm>
            <a:off x="930598" y="2706727"/>
            <a:ext cx="4590165" cy="584775"/>
            <a:chOff x="1497300" y="3249000"/>
            <a:chExt cx="4590165" cy="584775"/>
          </a:xfrm>
        </p:grpSpPr>
        <p:grpSp>
          <p:nvGrpSpPr>
            <p:cNvPr id="45" name="Group 44">
              <a:extLst>
                <a:ext uri="{FF2B5EF4-FFF2-40B4-BE49-F238E27FC236}">
                  <a16:creationId xmlns:a16="http://schemas.microsoft.com/office/drawing/2014/main" id="{7243530E-82A0-3C83-DB16-9E4CCACA2486}"/>
                </a:ext>
              </a:extLst>
            </p:cNvPr>
            <p:cNvGrpSpPr/>
            <p:nvPr/>
          </p:nvGrpSpPr>
          <p:grpSpPr>
            <a:xfrm>
              <a:off x="1497300" y="3307387"/>
              <a:ext cx="468000" cy="468000"/>
              <a:chOff x="7505700" y="4334414"/>
              <a:chExt cx="468000" cy="468000"/>
            </a:xfrm>
          </p:grpSpPr>
          <p:sp>
            <p:nvSpPr>
              <p:cNvPr id="47" name="Oval 46">
                <a:extLst>
                  <a:ext uri="{FF2B5EF4-FFF2-40B4-BE49-F238E27FC236}">
                    <a16:creationId xmlns:a16="http://schemas.microsoft.com/office/drawing/2014/main" id="{456462D8-03C0-C922-D086-55794669FE24}"/>
                  </a:ext>
                </a:extLst>
              </p:cNvPr>
              <p:cNvSpPr/>
              <p:nvPr/>
            </p:nvSpPr>
            <p:spPr>
              <a:xfrm>
                <a:off x="7505700" y="4334414"/>
                <a:ext cx="468000" cy="468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8" name="Graphic 47" descr="Close with solid fill">
                <a:extLst>
                  <a:ext uri="{FF2B5EF4-FFF2-40B4-BE49-F238E27FC236}">
                    <a16:creationId xmlns:a16="http://schemas.microsoft.com/office/drawing/2014/main" id="{AE86329C-59BF-77BA-56DD-925FD69A6227}"/>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7559700" y="4388414"/>
                <a:ext cx="360000" cy="360000"/>
              </a:xfrm>
              <a:prstGeom prst="rect">
                <a:avLst/>
              </a:prstGeom>
            </p:spPr>
          </p:pic>
        </p:grpSp>
        <p:sp>
          <p:nvSpPr>
            <p:cNvPr id="46" name="TextBox 45">
              <a:extLst>
                <a:ext uri="{FF2B5EF4-FFF2-40B4-BE49-F238E27FC236}">
                  <a16:creationId xmlns:a16="http://schemas.microsoft.com/office/drawing/2014/main" id="{828379F0-A65C-46E9-0AB9-4C15D077927A}"/>
                </a:ext>
              </a:extLst>
            </p:cNvPr>
            <p:cNvSpPr txBox="1"/>
            <p:nvPr/>
          </p:nvSpPr>
          <p:spPr>
            <a:xfrm>
              <a:off x="2019300" y="3249000"/>
              <a:ext cx="4068165" cy="584775"/>
            </a:xfrm>
            <a:prstGeom prst="rect">
              <a:avLst/>
            </a:prstGeom>
            <a:noFill/>
          </p:spPr>
          <p:txBody>
            <a:bodyPr wrap="none" rtlCol="0">
              <a:spAutoFit/>
            </a:bodyPr>
            <a:lstStyle/>
            <a:p>
              <a:r>
                <a:rPr lang="en-SE" b="1" dirty="0"/>
                <a:t>Suboptimal</a:t>
              </a:r>
              <a:r>
                <a:rPr lang="en-SE" dirty="0"/>
                <a:t> prior predictive check with</a:t>
              </a:r>
            </a:p>
            <a:p>
              <a:r>
                <a:rPr lang="de-DE" sz="1400" dirty="0" err="1">
                  <a:latin typeface="Courier New" panose="02070309020205020404" pitchFamily="49" charset="0"/>
                  <a:cs typeface="Courier New" panose="02070309020205020404" pitchFamily="49" charset="0"/>
                </a:rPr>
                <a:t>prior</a:t>
              </a:r>
              <a:r>
                <a:rPr lang="de-DE" sz="1400" dirty="0">
                  <a:latin typeface="Courier New" panose="02070309020205020404" pitchFamily="49" charset="0"/>
                  <a:cs typeface="Courier New" panose="02070309020205020404" pitchFamily="49" charset="0"/>
                </a:rPr>
                <a:t>(normal(</a:t>
              </a:r>
              <a:r>
                <a:rPr lang="en-SE" sz="1400" dirty="0">
                  <a:latin typeface="Courier New" panose="02070309020205020404" pitchFamily="49" charset="0"/>
                  <a:cs typeface="Courier New" panose="02070309020205020404" pitchFamily="49" charset="0"/>
                </a:rPr>
                <a:t>0</a:t>
              </a:r>
              <a:r>
                <a:rPr lang="de-DE" sz="1400" dirty="0">
                  <a:latin typeface="Courier New" panose="02070309020205020404" pitchFamily="49" charset="0"/>
                  <a:cs typeface="Courier New" panose="02070309020205020404" pitchFamily="49" charset="0"/>
                </a:rPr>
                <a:t>, </a:t>
              </a:r>
              <a:r>
                <a:rPr lang="en-SE" sz="1400" dirty="0">
                  <a:solidFill>
                    <a:srgbClr val="C00000"/>
                  </a:solidFill>
                  <a:latin typeface="Courier New" panose="02070309020205020404" pitchFamily="49" charset="0"/>
                  <a:cs typeface="Courier New" panose="02070309020205020404" pitchFamily="49" charset="0"/>
                </a:rPr>
                <a:t>0.5</a:t>
              </a:r>
              <a:r>
                <a:rPr lang="de-DE" sz="1400" dirty="0">
                  <a:latin typeface="Courier New" panose="02070309020205020404" pitchFamily="49" charset="0"/>
                  <a:cs typeface="Courier New" panose="02070309020205020404" pitchFamily="49" charset="0"/>
                </a:rPr>
                <a:t>), </a:t>
              </a:r>
              <a:r>
                <a:rPr lang="de-DE" sz="1400" dirty="0" err="1">
                  <a:latin typeface="Courier New" panose="02070309020205020404" pitchFamily="49" charset="0"/>
                  <a:cs typeface="Courier New" panose="02070309020205020404" pitchFamily="49" charset="0"/>
                </a:rPr>
                <a:t>class</a:t>
              </a:r>
              <a:r>
                <a:rPr lang="de-DE" sz="1400" dirty="0">
                  <a:latin typeface="Courier New" panose="02070309020205020404" pitchFamily="49" charset="0"/>
                  <a:cs typeface="Courier New" panose="02070309020205020404" pitchFamily="49" charset="0"/>
                </a:rPr>
                <a:t> = </a:t>
              </a:r>
              <a:r>
                <a:rPr lang="en-SE" sz="1400" dirty="0">
                  <a:latin typeface="Courier New" panose="02070309020205020404" pitchFamily="49" charset="0"/>
                  <a:cs typeface="Courier New" panose="02070309020205020404" pitchFamily="49" charset="0"/>
                </a:rPr>
                <a:t>b</a:t>
              </a:r>
              <a:r>
                <a:rPr lang="de-DE" sz="1400" dirty="0">
                  <a:latin typeface="Courier New" panose="02070309020205020404" pitchFamily="49" charset="0"/>
                  <a:cs typeface="Courier New" panose="02070309020205020404" pitchFamily="49" charset="0"/>
                </a:rPr>
                <a:t>)</a:t>
              </a:r>
              <a:endParaRPr lang="en-SE" sz="1400" dirty="0"/>
            </a:p>
          </p:txBody>
        </p:sp>
      </p:grpSp>
      <p:pic>
        <p:nvPicPr>
          <p:cNvPr id="50" name="Picture 49">
            <a:extLst>
              <a:ext uri="{FF2B5EF4-FFF2-40B4-BE49-F238E27FC236}">
                <a16:creationId xmlns:a16="http://schemas.microsoft.com/office/drawing/2014/main" id="{6635589B-302C-ED08-1B06-B74623B6B38C}"/>
              </a:ext>
            </a:extLst>
          </p:cNvPr>
          <p:cNvPicPr>
            <a:picLocks noChangeAspect="1"/>
          </p:cNvPicPr>
          <p:nvPr/>
        </p:nvPicPr>
        <p:blipFill>
          <a:blip r:embed="rId12"/>
          <a:stretch>
            <a:fillRect/>
          </a:stretch>
        </p:blipFill>
        <p:spPr>
          <a:xfrm>
            <a:off x="4918799" y="4100791"/>
            <a:ext cx="3025402" cy="2118544"/>
          </a:xfrm>
          <a:prstGeom prst="rect">
            <a:avLst/>
          </a:prstGeom>
        </p:spPr>
      </p:pic>
      <p:sp>
        <p:nvSpPr>
          <p:cNvPr id="52" name="TextBox 51">
            <a:extLst>
              <a:ext uri="{FF2B5EF4-FFF2-40B4-BE49-F238E27FC236}">
                <a16:creationId xmlns:a16="http://schemas.microsoft.com/office/drawing/2014/main" id="{30C2F8A8-3F01-52CE-A037-1451A591F36C}"/>
              </a:ext>
            </a:extLst>
          </p:cNvPr>
          <p:cNvSpPr txBox="1"/>
          <p:nvPr/>
        </p:nvSpPr>
        <p:spPr>
          <a:xfrm>
            <a:off x="8713014" y="3911081"/>
            <a:ext cx="3012318" cy="369332"/>
          </a:xfrm>
          <a:prstGeom prst="rect">
            <a:avLst/>
          </a:prstGeom>
          <a:noFill/>
        </p:spPr>
        <p:txBody>
          <a:bodyPr wrap="square">
            <a:spAutoFit/>
          </a:bodyPr>
          <a:lstStyle/>
          <a:p>
            <a:r>
              <a:rPr lang="en-SE" sz="1800" b="1" dirty="0"/>
              <a:t>Posterior Predictive Check</a:t>
            </a:r>
            <a:endParaRPr lang="en-SE" sz="1800" dirty="0"/>
          </a:p>
        </p:txBody>
      </p:sp>
    </p:spTree>
    <p:extLst>
      <p:ext uri="{BB962C8B-B14F-4D97-AF65-F5344CB8AC3E}">
        <p14:creationId xmlns:p14="http://schemas.microsoft.com/office/powerpoint/2010/main" val="2865551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BF7A4-B3E7-3569-E527-83AB9309D920}"/>
              </a:ext>
            </a:extLst>
          </p:cNvPr>
          <p:cNvSpPr>
            <a:spLocks noGrp="1"/>
          </p:cNvSpPr>
          <p:nvPr>
            <p:ph type="title"/>
          </p:nvPr>
        </p:nvSpPr>
        <p:spPr/>
        <p:txBody>
          <a:bodyPr/>
          <a:lstStyle/>
          <a:p>
            <a:r>
              <a:rPr lang="en-SE" dirty="0"/>
              <a:t>Model Interpretation</a:t>
            </a:r>
          </a:p>
        </p:txBody>
      </p:sp>
      <p:sp>
        <p:nvSpPr>
          <p:cNvPr id="3" name="Content Placeholder 2">
            <a:extLst>
              <a:ext uri="{FF2B5EF4-FFF2-40B4-BE49-F238E27FC236}">
                <a16:creationId xmlns:a16="http://schemas.microsoft.com/office/drawing/2014/main" id="{FFDC2D3C-7385-F117-A587-D11D8FA69109}"/>
              </a:ext>
            </a:extLst>
          </p:cNvPr>
          <p:cNvSpPr>
            <a:spLocks noGrp="1"/>
          </p:cNvSpPr>
          <p:nvPr>
            <p:ph idx="1"/>
          </p:nvPr>
        </p:nvSpPr>
        <p:spPr>
          <a:xfrm>
            <a:off x="838200" y="1825625"/>
            <a:ext cx="10515600" cy="844303"/>
          </a:xfrm>
        </p:spPr>
        <p:txBody>
          <a:bodyPr>
            <a:normAutofit lnSpcReduction="10000"/>
          </a:bodyPr>
          <a:lstStyle/>
          <a:p>
            <a:pPr marL="0" indent="0">
              <a:buNone/>
            </a:pPr>
            <a:r>
              <a:rPr lang="en-SE" dirty="0"/>
              <a:t>Due to the link function, it is no longer trivial to interpret the posterior distributions.</a:t>
            </a:r>
          </a:p>
        </p:txBody>
      </p:sp>
      <p:sp>
        <p:nvSpPr>
          <p:cNvPr id="4" name="Date Placeholder 3">
            <a:extLst>
              <a:ext uri="{FF2B5EF4-FFF2-40B4-BE49-F238E27FC236}">
                <a16:creationId xmlns:a16="http://schemas.microsoft.com/office/drawing/2014/main" id="{AB0669A0-F26E-8CE5-BC55-FC9BB2A228A2}"/>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D46F19B0-0797-B423-4E9A-236F0BFA69E2}"/>
              </a:ext>
            </a:extLst>
          </p:cNvPr>
          <p:cNvSpPr>
            <a:spLocks noGrp="1"/>
          </p:cNvSpPr>
          <p:nvPr>
            <p:ph type="sldNum" sz="quarter" idx="12"/>
          </p:nvPr>
        </p:nvSpPr>
        <p:spPr/>
        <p:txBody>
          <a:bodyPr/>
          <a:lstStyle/>
          <a:p>
            <a:fld id="{271ECC92-9CDE-4EB3-B1C5-F46B9E1FA3C1}" type="slidenum">
              <a:rPr lang="en-SE" smtClean="0"/>
              <a:t>88</a:t>
            </a:fld>
            <a:endParaRPr lang="en-SE"/>
          </a:p>
        </p:txBody>
      </p:sp>
      <p:sp>
        <p:nvSpPr>
          <p:cNvPr id="6" name="Footer Placeholder 5">
            <a:extLst>
              <a:ext uri="{FF2B5EF4-FFF2-40B4-BE49-F238E27FC236}">
                <a16:creationId xmlns:a16="http://schemas.microsoft.com/office/drawing/2014/main" id="{49CCEE4D-064A-6343-5058-8C8BB66DFED1}"/>
              </a:ext>
            </a:extLst>
          </p:cNvPr>
          <p:cNvSpPr>
            <a:spLocks noGrp="1"/>
          </p:cNvSpPr>
          <p:nvPr>
            <p:ph type="ftr" sz="quarter" idx="11"/>
          </p:nvPr>
        </p:nvSpPr>
        <p:spPr/>
        <p:txBody>
          <a:bodyPr/>
          <a:lstStyle/>
          <a:p>
            <a:r>
              <a:rPr lang="de-DE"/>
              <a:t>Bayesian Data Analysis Tutorial</a:t>
            </a:r>
            <a:endParaRPr lang="en-SE"/>
          </a:p>
        </p:txBody>
      </p:sp>
      <p:grpSp>
        <p:nvGrpSpPr>
          <p:cNvPr id="7" name="Group 6">
            <a:extLst>
              <a:ext uri="{FF2B5EF4-FFF2-40B4-BE49-F238E27FC236}">
                <a16:creationId xmlns:a16="http://schemas.microsoft.com/office/drawing/2014/main" id="{FE8F3F75-69F3-6E6A-8744-A709CA9AE54C}"/>
              </a:ext>
            </a:extLst>
          </p:cNvPr>
          <p:cNvGrpSpPr/>
          <p:nvPr/>
        </p:nvGrpSpPr>
        <p:grpSpPr>
          <a:xfrm>
            <a:off x="228598" y="1825625"/>
            <a:ext cx="504000" cy="504000"/>
            <a:chOff x="977950" y="2729564"/>
            <a:chExt cx="504000" cy="504000"/>
          </a:xfrm>
        </p:grpSpPr>
        <p:sp>
          <p:nvSpPr>
            <p:cNvPr id="8" name="Oval 7">
              <a:extLst>
                <a:ext uri="{FF2B5EF4-FFF2-40B4-BE49-F238E27FC236}">
                  <a16:creationId xmlns:a16="http://schemas.microsoft.com/office/drawing/2014/main" id="{A53666B4-06C2-1756-F645-007C737C915A}"/>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9" name="Graphic 8" descr="Bar chart with solid fill">
              <a:extLst>
                <a:ext uri="{FF2B5EF4-FFF2-40B4-BE49-F238E27FC236}">
                  <a16:creationId xmlns:a16="http://schemas.microsoft.com/office/drawing/2014/main" id="{A9FAEC19-742D-FD81-4BE8-FD85923A8316}"/>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31950" y="2783564"/>
              <a:ext cx="396000" cy="396000"/>
            </a:xfrm>
            <a:prstGeom prst="rect">
              <a:avLst/>
            </a:prstGeom>
          </p:spPr>
        </p:pic>
      </p:grpSp>
      <p:grpSp>
        <p:nvGrpSpPr>
          <p:cNvPr id="10" name="Group 9">
            <a:extLst>
              <a:ext uri="{FF2B5EF4-FFF2-40B4-BE49-F238E27FC236}">
                <a16:creationId xmlns:a16="http://schemas.microsoft.com/office/drawing/2014/main" id="{38C7561B-04F1-0C6C-F9FA-D39CAF1518C9}"/>
              </a:ext>
            </a:extLst>
          </p:cNvPr>
          <p:cNvGrpSpPr/>
          <p:nvPr/>
        </p:nvGrpSpPr>
        <p:grpSpPr>
          <a:xfrm>
            <a:off x="228598" y="2439322"/>
            <a:ext cx="504000" cy="504000"/>
            <a:chOff x="977950" y="2729564"/>
            <a:chExt cx="504000" cy="504000"/>
          </a:xfrm>
        </p:grpSpPr>
        <p:sp>
          <p:nvSpPr>
            <p:cNvPr id="11" name="Oval 10">
              <a:extLst>
                <a:ext uri="{FF2B5EF4-FFF2-40B4-BE49-F238E27FC236}">
                  <a16:creationId xmlns:a16="http://schemas.microsoft.com/office/drawing/2014/main" id="{9B57B578-382E-6D17-4A42-1DBE2972A7F4}"/>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2" name="Graphic 11" descr="Golden Ratio with solid fill">
              <a:extLst>
                <a:ext uri="{FF2B5EF4-FFF2-40B4-BE49-F238E27FC236}">
                  <a16:creationId xmlns:a16="http://schemas.microsoft.com/office/drawing/2014/main" id="{01C6D3B0-4D73-B1C8-14BA-BB802B250B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1950" y="2783564"/>
              <a:ext cx="396000" cy="396000"/>
            </a:xfrm>
            <a:prstGeom prst="rect">
              <a:avLst/>
            </a:prstGeom>
          </p:spPr>
        </p:pic>
      </p:grpSp>
      <p:grpSp>
        <p:nvGrpSpPr>
          <p:cNvPr id="13" name="Group 12">
            <a:extLst>
              <a:ext uri="{FF2B5EF4-FFF2-40B4-BE49-F238E27FC236}">
                <a16:creationId xmlns:a16="http://schemas.microsoft.com/office/drawing/2014/main" id="{188B7546-2882-48CC-0612-266F66ED7D98}"/>
              </a:ext>
            </a:extLst>
          </p:cNvPr>
          <p:cNvGrpSpPr/>
          <p:nvPr/>
        </p:nvGrpSpPr>
        <p:grpSpPr>
          <a:xfrm>
            <a:off x="228598" y="3053019"/>
            <a:ext cx="504000" cy="504000"/>
            <a:chOff x="977950" y="2729564"/>
            <a:chExt cx="504000" cy="504000"/>
          </a:xfrm>
        </p:grpSpPr>
        <p:sp>
          <p:nvSpPr>
            <p:cNvPr id="14" name="Oval 13">
              <a:extLst>
                <a:ext uri="{FF2B5EF4-FFF2-40B4-BE49-F238E27FC236}">
                  <a16:creationId xmlns:a16="http://schemas.microsoft.com/office/drawing/2014/main" id="{EFEDB341-1A4D-7DEF-B411-277453AEF1EF}"/>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5" name="Graphic 14" descr="Normal Distribution with solid fill">
              <a:extLst>
                <a:ext uri="{FF2B5EF4-FFF2-40B4-BE49-F238E27FC236}">
                  <a16:creationId xmlns:a16="http://schemas.microsoft.com/office/drawing/2014/main" id="{6380BFC4-71DE-7A79-2346-8A7F4EDE67F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31950" y="2783564"/>
              <a:ext cx="396000" cy="396000"/>
            </a:xfrm>
            <a:prstGeom prst="rect">
              <a:avLst/>
            </a:prstGeom>
          </p:spPr>
        </p:pic>
      </p:grpSp>
      <p:grpSp>
        <p:nvGrpSpPr>
          <p:cNvPr id="16" name="Group 15">
            <a:extLst>
              <a:ext uri="{FF2B5EF4-FFF2-40B4-BE49-F238E27FC236}">
                <a16:creationId xmlns:a16="http://schemas.microsoft.com/office/drawing/2014/main" id="{8DBAD2FC-95EB-1FE7-B654-638F8CA7543D}"/>
              </a:ext>
            </a:extLst>
          </p:cNvPr>
          <p:cNvGrpSpPr/>
          <p:nvPr/>
        </p:nvGrpSpPr>
        <p:grpSpPr>
          <a:xfrm>
            <a:off x="228598" y="3666716"/>
            <a:ext cx="504000" cy="504000"/>
            <a:chOff x="977950" y="2729564"/>
            <a:chExt cx="504000" cy="504000"/>
          </a:xfrm>
        </p:grpSpPr>
        <p:sp>
          <p:nvSpPr>
            <p:cNvPr id="17" name="Oval 16">
              <a:extLst>
                <a:ext uri="{FF2B5EF4-FFF2-40B4-BE49-F238E27FC236}">
                  <a16:creationId xmlns:a16="http://schemas.microsoft.com/office/drawing/2014/main" id="{4DDA2428-D033-DF2D-25EC-856707C62116}"/>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18" name="Graphic 17" descr="Abacus with solid fill">
              <a:extLst>
                <a:ext uri="{FF2B5EF4-FFF2-40B4-BE49-F238E27FC236}">
                  <a16:creationId xmlns:a16="http://schemas.microsoft.com/office/drawing/2014/main" id="{8F48E703-582B-57E3-1A00-2211941BCA18}"/>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19" name="Group 18">
            <a:extLst>
              <a:ext uri="{FF2B5EF4-FFF2-40B4-BE49-F238E27FC236}">
                <a16:creationId xmlns:a16="http://schemas.microsoft.com/office/drawing/2014/main" id="{9D51BB01-B2FB-629D-D6A1-39F1B7A7B1D2}"/>
              </a:ext>
            </a:extLst>
          </p:cNvPr>
          <p:cNvGrpSpPr/>
          <p:nvPr/>
        </p:nvGrpSpPr>
        <p:grpSpPr>
          <a:xfrm>
            <a:off x="228598" y="4280413"/>
            <a:ext cx="504000" cy="504000"/>
            <a:chOff x="977950" y="2729564"/>
            <a:chExt cx="504000" cy="504000"/>
          </a:xfrm>
        </p:grpSpPr>
        <p:sp>
          <p:nvSpPr>
            <p:cNvPr id="20" name="Oval 19">
              <a:extLst>
                <a:ext uri="{FF2B5EF4-FFF2-40B4-BE49-F238E27FC236}">
                  <a16:creationId xmlns:a16="http://schemas.microsoft.com/office/drawing/2014/main" id="{2B167D8D-4297-D5BB-76B0-4623ABDC4A49}"/>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1" name="Graphic 20" descr="Trigonometry with solid fill">
              <a:extLst>
                <a:ext uri="{FF2B5EF4-FFF2-40B4-BE49-F238E27FC236}">
                  <a16:creationId xmlns:a16="http://schemas.microsoft.com/office/drawing/2014/main" id="{0CD24DC3-E22E-078B-4594-AD669F7AB65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22" name="Group 21">
            <a:extLst>
              <a:ext uri="{FF2B5EF4-FFF2-40B4-BE49-F238E27FC236}">
                <a16:creationId xmlns:a16="http://schemas.microsoft.com/office/drawing/2014/main" id="{561DD09E-4CFE-47A8-5AC3-09AAE66ED9EF}"/>
              </a:ext>
            </a:extLst>
          </p:cNvPr>
          <p:cNvGrpSpPr/>
          <p:nvPr/>
        </p:nvGrpSpPr>
        <p:grpSpPr>
          <a:xfrm>
            <a:off x="228598" y="4894111"/>
            <a:ext cx="504000" cy="504000"/>
            <a:chOff x="977950" y="2729564"/>
            <a:chExt cx="504000" cy="504000"/>
          </a:xfrm>
        </p:grpSpPr>
        <p:sp>
          <p:nvSpPr>
            <p:cNvPr id="23" name="Oval 22">
              <a:extLst>
                <a:ext uri="{FF2B5EF4-FFF2-40B4-BE49-F238E27FC236}">
                  <a16:creationId xmlns:a16="http://schemas.microsoft.com/office/drawing/2014/main" id="{766CD23D-4F69-EAD4-9420-12AF349240AF}"/>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24" name="Graphic 23" descr="Scatterplot with solid fill">
              <a:extLst>
                <a:ext uri="{FF2B5EF4-FFF2-40B4-BE49-F238E27FC236}">
                  <a16:creationId xmlns:a16="http://schemas.microsoft.com/office/drawing/2014/main" id="{5CC243FE-00D5-3987-7477-300175E7941C}"/>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cxnSp>
        <p:nvCxnSpPr>
          <p:cNvPr id="25" name="Straight Arrow Connector 24">
            <a:extLst>
              <a:ext uri="{FF2B5EF4-FFF2-40B4-BE49-F238E27FC236}">
                <a16:creationId xmlns:a16="http://schemas.microsoft.com/office/drawing/2014/main" id="{5C62CED9-6C20-EA8E-FA29-6B9236EC532F}"/>
              </a:ext>
            </a:extLst>
          </p:cNvPr>
          <p:cNvCxnSpPr>
            <a:stCxn id="8" idx="4"/>
            <a:endCxn id="11"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2A317BDD-F9E1-B5C7-88F6-488C5FA814C3}"/>
              </a:ext>
            </a:extLst>
          </p:cNvPr>
          <p:cNvCxnSpPr>
            <a:cxnSpLocks/>
            <a:stCxn id="11" idx="4"/>
            <a:endCxn id="14"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84A904BC-B639-6A9C-4C92-6C5F510ECC74}"/>
              </a:ext>
            </a:extLst>
          </p:cNvPr>
          <p:cNvCxnSpPr>
            <a:cxnSpLocks/>
            <a:stCxn id="14" idx="4"/>
            <a:endCxn id="17"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90E924C0-67EE-EBB2-0406-7E670B454180}"/>
              </a:ext>
            </a:extLst>
          </p:cNvPr>
          <p:cNvCxnSpPr>
            <a:cxnSpLocks/>
            <a:stCxn id="17" idx="4"/>
            <a:endCxn id="20"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E5FDB178-E630-9012-D565-F51F11CC9CFB}"/>
              </a:ext>
            </a:extLst>
          </p:cNvPr>
          <p:cNvCxnSpPr>
            <a:cxnSpLocks/>
            <a:stCxn id="20" idx="4"/>
            <a:endCxn id="23"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31" name="Picture 30">
            <a:extLst>
              <a:ext uri="{FF2B5EF4-FFF2-40B4-BE49-F238E27FC236}">
                <a16:creationId xmlns:a16="http://schemas.microsoft.com/office/drawing/2014/main" id="{89C31078-1569-64B7-04EC-D5A181D11B9E}"/>
              </a:ext>
            </a:extLst>
          </p:cNvPr>
          <p:cNvPicPr>
            <a:picLocks noChangeAspect="1"/>
          </p:cNvPicPr>
          <p:nvPr/>
        </p:nvPicPr>
        <p:blipFill>
          <a:blip r:embed="rId8"/>
          <a:stretch>
            <a:fillRect/>
          </a:stretch>
        </p:blipFill>
        <p:spPr>
          <a:xfrm>
            <a:off x="1194269" y="4086664"/>
            <a:ext cx="4359018" cy="701101"/>
          </a:xfrm>
          <a:prstGeom prst="rect">
            <a:avLst/>
          </a:prstGeom>
        </p:spPr>
      </p:pic>
      <p:sp>
        <p:nvSpPr>
          <p:cNvPr id="32" name="Rectangle 31">
            <a:extLst>
              <a:ext uri="{FF2B5EF4-FFF2-40B4-BE49-F238E27FC236}">
                <a16:creationId xmlns:a16="http://schemas.microsoft.com/office/drawing/2014/main" id="{3DD16A50-FFEE-CD71-C588-542525D5495F}"/>
              </a:ext>
            </a:extLst>
          </p:cNvPr>
          <p:cNvSpPr/>
          <p:nvPr/>
        </p:nvSpPr>
        <p:spPr>
          <a:xfrm>
            <a:off x="1194270" y="3718502"/>
            <a:ext cx="4359018"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SE" dirty="0">
                <a:solidFill>
                  <a:schemeClr val="tx1"/>
                </a:solidFill>
                <a:latin typeface="Courier New" panose="02070309020205020404" pitchFamily="49" charset="0"/>
                <a:cs typeface="Courier New" panose="02070309020205020404" pitchFamily="49" charset="0"/>
              </a:rPr>
              <a:t>summary(model)</a:t>
            </a:r>
          </a:p>
        </p:txBody>
      </p:sp>
      <p:sp>
        <p:nvSpPr>
          <p:cNvPr id="33" name="Rectangle 32">
            <a:extLst>
              <a:ext uri="{FF2B5EF4-FFF2-40B4-BE49-F238E27FC236}">
                <a16:creationId xmlns:a16="http://schemas.microsoft.com/office/drawing/2014/main" id="{8213FCAC-F78B-05F7-3138-EBF6BCB79097}"/>
              </a:ext>
            </a:extLst>
          </p:cNvPr>
          <p:cNvSpPr/>
          <p:nvPr/>
        </p:nvSpPr>
        <p:spPr>
          <a:xfrm>
            <a:off x="1194270" y="3353377"/>
            <a:ext cx="4359018"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sp>
        <p:nvSpPr>
          <p:cNvPr id="34" name="Content Placeholder 2">
            <a:extLst>
              <a:ext uri="{FF2B5EF4-FFF2-40B4-BE49-F238E27FC236}">
                <a16:creationId xmlns:a16="http://schemas.microsoft.com/office/drawing/2014/main" id="{3E48DBB6-232D-7B6E-FC51-700A776593DE}"/>
              </a:ext>
            </a:extLst>
          </p:cNvPr>
          <p:cNvSpPr txBox="1">
            <a:spLocks/>
          </p:cNvSpPr>
          <p:nvPr/>
        </p:nvSpPr>
        <p:spPr>
          <a:xfrm>
            <a:off x="784200" y="5745768"/>
            <a:ext cx="10515600" cy="5834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Instead, we can plot </a:t>
            </a:r>
            <a:r>
              <a:rPr lang="en-SE" b="1" dirty="0"/>
              <a:t>marginal effects</a:t>
            </a:r>
            <a:r>
              <a:rPr lang="en-SE" dirty="0"/>
              <a:t>. </a:t>
            </a:r>
          </a:p>
        </p:txBody>
      </p:sp>
      <p:sp>
        <p:nvSpPr>
          <p:cNvPr id="36" name="Rectangle: Rounded Corners 35">
            <a:extLst>
              <a:ext uri="{FF2B5EF4-FFF2-40B4-BE49-F238E27FC236}">
                <a16:creationId xmlns:a16="http://schemas.microsoft.com/office/drawing/2014/main" id="{9B5271E7-12DF-58CC-6B0E-5C1F42B33DA2}"/>
              </a:ext>
            </a:extLst>
          </p:cNvPr>
          <p:cNvSpPr/>
          <p:nvPr/>
        </p:nvSpPr>
        <p:spPr>
          <a:xfrm>
            <a:off x="6266957" y="2626893"/>
            <a:ext cx="4204138" cy="2913468"/>
          </a:xfrm>
          <a:prstGeom prst="roundRect">
            <a:avLst>
              <a:gd name="adj" fmla="val 10544"/>
            </a:avLst>
          </a:prstGeom>
          <a:solidFill>
            <a:schemeClr val="accent5">
              <a:lumMod val="20000"/>
              <a:lumOff val="80000"/>
            </a:schemeClr>
          </a:solidFill>
          <a:ln>
            <a:solidFill>
              <a:schemeClr val="accent4">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SE" dirty="0">
                <a:solidFill>
                  <a:sysClr val="windowText" lastClr="000000"/>
                </a:solidFill>
              </a:rPr>
              <a:t>Bayesian Model</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B5E30AE-6C01-DF94-0FD5-0DA7635882B1}"/>
                  </a:ext>
                </a:extLst>
              </p:cNvPr>
              <p:cNvSpPr txBox="1"/>
              <p:nvPr/>
            </p:nvSpPr>
            <p:spPr>
              <a:xfrm>
                <a:off x="7397490" y="3228946"/>
                <a:ext cx="259526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𝑦</m:t>
                      </m:r>
                      <m:r>
                        <a:rPr lang="en-SE" sz="2400" b="0" i="1" smtClean="0">
                          <a:latin typeface="Cambria Math" panose="02040503050406030204" pitchFamily="18" charset="0"/>
                        </a:rPr>
                        <m:t> ~ </m:t>
                      </m:r>
                      <m:r>
                        <a:rPr lang="en-SE" sz="2400" b="0" i="1" smtClean="0">
                          <a:latin typeface="Cambria Math" panose="02040503050406030204" pitchFamily="18" charset="0"/>
                        </a:rPr>
                        <m:t>𝐵𝑖𝑛𝑜𝑚𝑖𝑎𝑙</m:t>
                      </m:r>
                      <m:r>
                        <a:rPr lang="en-SE" sz="2400" b="0" i="1" smtClean="0">
                          <a:latin typeface="Cambria Math" panose="02040503050406030204" pitchFamily="18" charset="0"/>
                        </a:rPr>
                        <m:t>(</m:t>
                      </m:r>
                      <m:r>
                        <a:rPr lang="en-SE" sz="2400" b="0" i="1" smtClean="0">
                          <a:latin typeface="Cambria Math" panose="02040503050406030204" pitchFamily="18" charset="0"/>
                        </a:rPr>
                        <m:t>𝑛</m:t>
                      </m:r>
                      <m:r>
                        <a:rPr lang="en-SE" sz="2400" b="0" i="1" smtClean="0">
                          <a:latin typeface="Cambria Math" panose="02040503050406030204" pitchFamily="18" charset="0"/>
                        </a:rPr>
                        <m:t>, </m:t>
                      </m:r>
                      <m:r>
                        <a:rPr lang="en-SE" sz="2400" b="0" i="1" smtClean="0">
                          <a:latin typeface="Cambria Math" panose="02040503050406030204" pitchFamily="18" charset="0"/>
                        </a:rPr>
                        <m:t>𝑝</m:t>
                      </m:r>
                      <m:r>
                        <a:rPr lang="en-SE" sz="2400" b="0" i="1" smtClean="0">
                          <a:latin typeface="Cambria Math" panose="02040503050406030204" pitchFamily="18" charset="0"/>
                        </a:rPr>
                        <m:t>)</m:t>
                      </m:r>
                    </m:oMath>
                  </m:oMathPara>
                </a14:m>
                <a:endParaRPr lang="en-SE" sz="2400" dirty="0"/>
              </a:p>
            </p:txBody>
          </p:sp>
        </mc:Choice>
        <mc:Fallback xmlns="">
          <p:sp>
            <p:nvSpPr>
              <p:cNvPr id="38" name="TextBox 37">
                <a:extLst>
                  <a:ext uri="{FF2B5EF4-FFF2-40B4-BE49-F238E27FC236}">
                    <a16:creationId xmlns:a16="http://schemas.microsoft.com/office/drawing/2014/main" id="{EB5E30AE-6C01-DF94-0FD5-0DA7635882B1}"/>
                  </a:ext>
                </a:extLst>
              </p:cNvPr>
              <p:cNvSpPr txBox="1">
                <a:spLocks noRot="1" noChangeAspect="1" noMove="1" noResize="1" noEditPoints="1" noAdjustHandles="1" noChangeArrowheads="1" noChangeShapeType="1" noTextEdit="1"/>
              </p:cNvSpPr>
              <p:nvPr/>
            </p:nvSpPr>
            <p:spPr>
              <a:xfrm>
                <a:off x="7397490" y="3228946"/>
                <a:ext cx="2595262" cy="369332"/>
              </a:xfrm>
              <a:prstGeom prst="rect">
                <a:avLst/>
              </a:prstGeom>
              <a:blipFill>
                <a:blip r:embed="rId9"/>
                <a:stretch>
                  <a:fillRect l="-2582" t="-1667" r="-3991"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B1DABC4-E669-F682-3337-F4D80EF67216}"/>
                  </a:ext>
                </a:extLst>
              </p:cNvPr>
              <p:cNvSpPr txBox="1"/>
              <p:nvPr/>
            </p:nvSpPr>
            <p:spPr>
              <a:xfrm>
                <a:off x="6398780" y="3626448"/>
                <a:ext cx="3919919"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𝑙𝑜𝑔𝑖𝑡</m:t>
                      </m:r>
                      <m:r>
                        <a:rPr lang="en-SE" sz="2400" b="0" i="1" smtClean="0">
                          <a:latin typeface="Cambria Math" panose="02040503050406030204" pitchFamily="18" charset="0"/>
                        </a:rPr>
                        <m:t>(</m:t>
                      </m:r>
                      <m:r>
                        <a:rPr lang="en-SE" sz="2400" b="0" i="1" smtClean="0">
                          <a:latin typeface="Cambria Math" panose="02040503050406030204" pitchFamily="18" charset="0"/>
                        </a:rPr>
                        <m:t>𝑝</m:t>
                      </m:r>
                      <m:r>
                        <a:rPr lang="en-SE" sz="2400" b="0" i="1" smtClean="0">
                          <a:latin typeface="Cambria Math" panose="02040503050406030204" pitchFamily="18" charset="0"/>
                        </a:rPr>
                        <m:t>)←</m:t>
                      </m:r>
                      <m:r>
                        <a:rPr lang="en-SE" sz="2400" b="0" i="1" smtClean="0">
                          <a:latin typeface="Cambria Math" panose="02040503050406030204" pitchFamily="18" charset="0"/>
                        </a:rPr>
                        <m:t>𝛼</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𝑥</m:t>
                      </m:r>
                      <m:r>
                        <a:rPr lang="en-SE" sz="2400" b="0" i="1" smtClean="0">
                          <a:latin typeface="Cambria Math" panose="02040503050406030204" pitchFamily="18" charset="0"/>
                        </a:rPr>
                        <m:t>+</m:t>
                      </m:r>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𝑧</m:t>
                      </m:r>
                    </m:oMath>
                  </m:oMathPara>
                </a14:m>
                <a:endParaRPr lang="en-SE" sz="2400" dirty="0"/>
              </a:p>
            </p:txBody>
          </p:sp>
        </mc:Choice>
        <mc:Fallback xmlns="">
          <p:sp>
            <p:nvSpPr>
              <p:cNvPr id="40" name="TextBox 39">
                <a:extLst>
                  <a:ext uri="{FF2B5EF4-FFF2-40B4-BE49-F238E27FC236}">
                    <a16:creationId xmlns:a16="http://schemas.microsoft.com/office/drawing/2014/main" id="{EB1DABC4-E669-F682-3337-F4D80EF67216}"/>
                  </a:ext>
                </a:extLst>
              </p:cNvPr>
              <p:cNvSpPr txBox="1">
                <a:spLocks noRot="1" noChangeAspect="1" noMove="1" noResize="1" noEditPoints="1" noAdjustHandles="1" noChangeArrowheads="1" noChangeShapeType="1" noTextEdit="1"/>
              </p:cNvSpPr>
              <p:nvPr/>
            </p:nvSpPr>
            <p:spPr>
              <a:xfrm>
                <a:off x="6398780" y="3626448"/>
                <a:ext cx="3919919" cy="369332"/>
              </a:xfrm>
              <a:prstGeom prst="rect">
                <a:avLst/>
              </a:prstGeom>
              <a:blipFill>
                <a:blip r:embed="rId10"/>
                <a:stretch>
                  <a:fillRect l="-2488" t="-1667" r="-467" b="-33333"/>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DE1E4E8A-349E-9EF8-8EF2-1885B175DD23}"/>
                  </a:ext>
                </a:extLst>
              </p:cNvPr>
              <p:cNvSpPr txBox="1"/>
              <p:nvPr/>
            </p:nvSpPr>
            <p:spPr>
              <a:xfrm>
                <a:off x="7368123" y="4044653"/>
                <a:ext cx="16328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SE" sz="2400" b="0" i="1" smtClean="0">
                          <a:latin typeface="Cambria Math" panose="02040503050406030204" pitchFamily="18" charset="0"/>
                        </a:rPr>
                        <m:t>𝛼</m:t>
                      </m:r>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(0, 1)</m:t>
                      </m:r>
                    </m:oMath>
                  </m:oMathPara>
                </a14:m>
                <a:endParaRPr lang="en-SE" sz="2400" dirty="0"/>
              </a:p>
            </p:txBody>
          </p:sp>
        </mc:Choice>
        <mc:Fallback xmlns="">
          <p:sp>
            <p:nvSpPr>
              <p:cNvPr id="42" name="TextBox 41">
                <a:extLst>
                  <a:ext uri="{FF2B5EF4-FFF2-40B4-BE49-F238E27FC236}">
                    <a16:creationId xmlns:a16="http://schemas.microsoft.com/office/drawing/2014/main" id="{DE1E4E8A-349E-9EF8-8EF2-1885B175DD23}"/>
                  </a:ext>
                </a:extLst>
              </p:cNvPr>
              <p:cNvSpPr txBox="1">
                <a:spLocks noRot="1" noChangeAspect="1" noMove="1" noResize="1" noEditPoints="1" noAdjustHandles="1" noChangeArrowheads="1" noChangeShapeType="1" noTextEdit="1"/>
              </p:cNvSpPr>
              <p:nvPr/>
            </p:nvSpPr>
            <p:spPr>
              <a:xfrm>
                <a:off x="7368123" y="4044653"/>
                <a:ext cx="1632883" cy="369332"/>
              </a:xfrm>
              <a:prstGeom prst="rect">
                <a:avLst/>
              </a:prstGeom>
              <a:blipFill>
                <a:blip r:embed="rId11"/>
                <a:stretch>
                  <a:fillRect l="-1119" t="-1639" r="-5224"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A7042DE-FB05-B05D-6433-66DD615F7A8F}"/>
                  </a:ext>
                </a:extLst>
              </p:cNvPr>
              <p:cNvSpPr txBox="1"/>
              <p:nvPr/>
            </p:nvSpPr>
            <p:spPr>
              <a:xfrm>
                <a:off x="7234245" y="4486812"/>
                <a:ext cx="194739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𝑥</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(0, 0.3)</m:t>
                      </m:r>
                    </m:oMath>
                  </m:oMathPara>
                </a14:m>
                <a:endParaRPr lang="en-SE" sz="2400" dirty="0"/>
              </a:p>
            </p:txBody>
          </p:sp>
        </mc:Choice>
        <mc:Fallback xmlns="">
          <p:sp>
            <p:nvSpPr>
              <p:cNvPr id="44" name="TextBox 43">
                <a:extLst>
                  <a:ext uri="{FF2B5EF4-FFF2-40B4-BE49-F238E27FC236}">
                    <a16:creationId xmlns:a16="http://schemas.microsoft.com/office/drawing/2014/main" id="{EA7042DE-FB05-B05D-6433-66DD615F7A8F}"/>
                  </a:ext>
                </a:extLst>
              </p:cNvPr>
              <p:cNvSpPr txBox="1">
                <a:spLocks noRot="1" noChangeAspect="1" noMove="1" noResize="1" noEditPoints="1" noAdjustHandles="1" noChangeArrowheads="1" noChangeShapeType="1" noTextEdit="1"/>
              </p:cNvSpPr>
              <p:nvPr/>
            </p:nvSpPr>
            <p:spPr>
              <a:xfrm>
                <a:off x="7234245" y="4486812"/>
                <a:ext cx="1947393" cy="369332"/>
              </a:xfrm>
              <a:prstGeom prst="rect">
                <a:avLst/>
              </a:prstGeom>
              <a:blipFill>
                <a:blip r:embed="rId12"/>
                <a:stretch>
                  <a:fillRect l="-5329" t="-1639" r="-5643" b="-3278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72C80C-7DAE-8E4B-F91F-17052DE6ADE9}"/>
                  </a:ext>
                </a:extLst>
              </p:cNvPr>
              <p:cNvSpPr txBox="1"/>
              <p:nvPr/>
            </p:nvSpPr>
            <p:spPr>
              <a:xfrm>
                <a:off x="7273444" y="4916994"/>
                <a:ext cx="193187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sz="2400" i="1" smtClean="0">
                              <a:latin typeface="Cambria Math" panose="02040503050406030204" pitchFamily="18" charset="0"/>
                            </a:rPr>
                          </m:ctrlPr>
                        </m:sSubPr>
                        <m:e>
                          <m:r>
                            <a:rPr lang="en-SE" sz="2400" b="0" i="1" smtClean="0">
                              <a:latin typeface="Cambria Math" panose="02040503050406030204" pitchFamily="18" charset="0"/>
                            </a:rPr>
                            <m:t>𝛽</m:t>
                          </m:r>
                        </m:e>
                        <m:sub>
                          <m:r>
                            <a:rPr lang="en-SE" sz="2400" b="0" i="1" smtClean="0">
                              <a:latin typeface="Cambria Math" panose="02040503050406030204" pitchFamily="18" charset="0"/>
                            </a:rPr>
                            <m:t>𝑧</m:t>
                          </m:r>
                        </m:sub>
                      </m:sSub>
                      <m:r>
                        <a:rPr lang="en-SE" sz="2400" b="0" i="1" smtClean="0">
                          <a:latin typeface="Cambria Math" panose="02040503050406030204" pitchFamily="18" charset="0"/>
                        </a:rPr>
                        <m:t>∼</m:t>
                      </m:r>
                      <m:r>
                        <a:rPr lang="en-SE" sz="2400" b="0" i="1" smtClean="0">
                          <a:latin typeface="Cambria Math" panose="02040503050406030204" pitchFamily="18" charset="0"/>
                        </a:rPr>
                        <m:t>𝑁</m:t>
                      </m:r>
                      <m:r>
                        <a:rPr lang="en-SE" sz="2400" b="0" i="1" smtClean="0">
                          <a:latin typeface="Cambria Math" panose="02040503050406030204" pitchFamily="18" charset="0"/>
                        </a:rPr>
                        <m:t>(0, 0.3)</m:t>
                      </m:r>
                    </m:oMath>
                  </m:oMathPara>
                </a14:m>
                <a:endParaRPr lang="en-SE" sz="2400" dirty="0"/>
              </a:p>
            </p:txBody>
          </p:sp>
        </mc:Choice>
        <mc:Fallback xmlns="">
          <p:sp>
            <p:nvSpPr>
              <p:cNvPr id="46" name="TextBox 45">
                <a:extLst>
                  <a:ext uri="{FF2B5EF4-FFF2-40B4-BE49-F238E27FC236}">
                    <a16:creationId xmlns:a16="http://schemas.microsoft.com/office/drawing/2014/main" id="{7272C80C-7DAE-8E4B-F91F-17052DE6ADE9}"/>
                  </a:ext>
                </a:extLst>
              </p:cNvPr>
              <p:cNvSpPr txBox="1">
                <a:spLocks noRot="1" noChangeAspect="1" noMove="1" noResize="1" noEditPoints="1" noAdjustHandles="1" noChangeArrowheads="1" noChangeShapeType="1" noTextEdit="1"/>
              </p:cNvSpPr>
              <p:nvPr/>
            </p:nvSpPr>
            <p:spPr>
              <a:xfrm>
                <a:off x="7273444" y="4916994"/>
                <a:ext cx="1931875" cy="369332"/>
              </a:xfrm>
              <a:prstGeom prst="rect">
                <a:avLst/>
              </a:prstGeom>
              <a:blipFill>
                <a:blip r:embed="rId13"/>
                <a:stretch>
                  <a:fillRect l="-5363" t="-1667" r="-5678" b="-33333"/>
                </a:stretch>
              </a:blipFill>
            </p:spPr>
            <p:txBody>
              <a:bodyPr/>
              <a:lstStyle/>
              <a:p>
                <a:r>
                  <a:rPr lang="en-SE">
                    <a:noFill/>
                  </a:rPr>
                  <a:t> </a:t>
                </a:r>
              </a:p>
            </p:txBody>
          </p:sp>
        </mc:Fallback>
      </mc:AlternateContent>
      <p:pic>
        <p:nvPicPr>
          <p:cNvPr id="48" name="Graphic 47" descr="Robot with solid fill">
            <a:extLst>
              <a:ext uri="{FF2B5EF4-FFF2-40B4-BE49-F238E27FC236}">
                <a16:creationId xmlns:a16="http://schemas.microsoft.com/office/drawing/2014/main" id="{20DC6884-A8F6-844D-0058-32C71752D76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508102" y="2747920"/>
            <a:ext cx="360000" cy="360000"/>
          </a:xfrm>
          <a:prstGeom prst="rect">
            <a:avLst/>
          </a:prstGeom>
        </p:spPr>
      </p:pic>
    </p:spTree>
    <p:extLst>
      <p:ext uri="{BB962C8B-B14F-4D97-AF65-F5344CB8AC3E}">
        <p14:creationId xmlns:p14="http://schemas.microsoft.com/office/powerpoint/2010/main" val="26358703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p:bldP spid="36" grpId="0" animBg="1"/>
      <p:bldP spid="38" grpId="0"/>
      <p:bldP spid="40" grpId="0"/>
      <p:bldP spid="42" grpId="0"/>
      <p:bldP spid="44" grpId="0"/>
      <p:bldP spid="46"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343F-CAE9-D1C2-94CA-D029175A27F2}"/>
              </a:ext>
            </a:extLst>
          </p:cNvPr>
          <p:cNvSpPr>
            <a:spLocks noGrp="1"/>
          </p:cNvSpPr>
          <p:nvPr>
            <p:ph type="title"/>
          </p:nvPr>
        </p:nvSpPr>
        <p:spPr/>
        <p:txBody>
          <a:bodyPr/>
          <a:lstStyle/>
          <a:p>
            <a:r>
              <a:rPr lang="en-SE" dirty="0"/>
              <a:t>Marginal Effects</a:t>
            </a:r>
          </a:p>
        </p:txBody>
      </p:sp>
      <p:sp>
        <p:nvSpPr>
          <p:cNvPr id="3" name="Content Placeholder 2">
            <a:extLst>
              <a:ext uri="{FF2B5EF4-FFF2-40B4-BE49-F238E27FC236}">
                <a16:creationId xmlns:a16="http://schemas.microsoft.com/office/drawing/2014/main" id="{45F5B488-BB58-C5AC-1D9E-C1E18066135A}"/>
              </a:ext>
            </a:extLst>
          </p:cNvPr>
          <p:cNvSpPr>
            <a:spLocks noGrp="1"/>
          </p:cNvSpPr>
          <p:nvPr>
            <p:ph idx="1"/>
          </p:nvPr>
        </p:nvSpPr>
        <p:spPr>
          <a:xfrm>
            <a:off x="838200" y="1825625"/>
            <a:ext cx="10515600" cy="954000"/>
          </a:xfrm>
        </p:spPr>
        <p:txBody>
          <a:bodyPr/>
          <a:lstStyle/>
          <a:p>
            <a:pPr marL="0" indent="0">
              <a:buNone/>
            </a:pPr>
            <a:r>
              <a:rPr lang="en-SE" dirty="0"/>
              <a:t>A marginal effect is the effect of one variable on the outcome while holding </a:t>
            </a:r>
            <a:r>
              <a:rPr lang="en-SE" b="1" dirty="0"/>
              <a:t>all other variables constant </a:t>
            </a:r>
            <a:r>
              <a:rPr lang="en-SE" dirty="0"/>
              <a:t>at representative levels.</a:t>
            </a:r>
          </a:p>
        </p:txBody>
      </p:sp>
      <p:sp>
        <p:nvSpPr>
          <p:cNvPr id="4" name="Date Placeholder 3">
            <a:extLst>
              <a:ext uri="{FF2B5EF4-FFF2-40B4-BE49-F238E27FC236}">
                <a16:creationId xmlns:a16="http://schemas.microsoft.com/office/drawing/2014/main" id="{AC57DB35-C5CB-BA5B-DCFE-CE761A00899F}"/>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4D01A6FC-BA63-5563-5552-60437AE7D91E}"/>
              </a:ext>
            </a:extLst>
          </p:cNvPr>
          <p:cNvSpPr>
            <a:spLocks noGrp="1"/>
          </p:cNvSpPr>
          <p:nvPr>
            <p:ph type="sldNum" sz="quarter" idx="12"/>
          </p:nvPr>
        </p:nvSpPr>
        <p:spPr/>
        <p:txBody>
          <a:bodyPr/>
          <a:lstStyle/>
          <a:p>
            <a:fld id="{271ECC92-9CDE-4EB3-B1C5-F46B9E1FA3C1}" type="slidenum">
              <a:rPr lang="en-SE" smtClean="0"/>
              <a:t>89</a:t>
            </a:fld>
            <a:endParaRPr lang="en-SE"/>
          </a:p>
        </p:txBody>
      </p:sp>
      <p:sp>
        <p:nvSpPr>
          <p:cNvPr id="6" name="Footer Placeholder 5">
            <a:extLst>
              <a:ext uri="{FF2B5EF4-FFF2-40B4-BE49-F238E27FC236}">
                <a16:creationId xmlns:a16="http://schemas.microsoft.com/office/drawing/2014/main" id="{834DDF8B-BFD1-C341-AFE3-F9B9A9C7027D}"/>
              </a:ext>
            </a:extLst>
          </p:cNvPr>
          <p:cNvSpPr>
            <a:spLocks noGrp="1"/>
          </p:cNvSpPr>
          <p:nvPr>
            <p:ph type="ftr" sz="quarter" idx="11"/>
          </p:nvPr>
        </p:nvSpPr>
        <p:spPr/>
        <p:txBody>
          <a:bodyPr/>
          <a:lstStyle/>
          <a:p>
            <a:r>
              <a:rPr lang="de-DE"/>
              <a:t>Bayesian Data Analysis Tutorial</a:t>
            </a:r>
            <a:endParaRPr lang="en-SE"/>
          </a:p>
        </p:txBody>
      </p:sp>
      <p:sp>
        <p:nvSpPr>
          <p:cNvPr id="30" name="Rectangle 29">
            <a:extLst>
              <a:ext uri="{FF2B5EF4-FFF2-40B4-BE49-F238E27FC236}">
                <a16:creationId xmlns:a16="http://schemas.microsoft.com/office/drawing/2014/main" id="{ABC662E2-80FB-7C8C-2F56-3C94A121E056}"/>
              </a:ext>
            </a:extLst>
          </p:cNvPr>
          <p:cNvSpPr/>
          <p:nvPr/>
        </p:nvSpPr>
        <p:spPr>
          <a:xfrm>
            <a:off x="3334258" y="3444111"/>
            <a:ext cx="6064379" cy="365125"/>
          </a:xfrm>
          <a:prstGeom prst="rect">
            <a:avLst/>
          </a:prstGeom>
          <a:solidFill>
            <a:schemeClr val="bg1">
              <a:lumMod val="95000"/>
            </a:schemeClr>
          </a:solidFill>
          <a:ln>
            <a:solidFill>
              <a:schemeClr val="tx1">
                <a:lumMod val="50000"/>
                <a:lumOff val="50000"/>
              </a:schemeClr>
            </a:solidFill>
          </a:ln>
          <a:effectLst>
            <a:innerShdw blurRad="63500" dist="50800" dir="135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err="1">
                <a:solidFill>
                  <a:schemeClr val="tx1"/>
                </a:solidFill>
                <a:latin typeface="Courier New" panose="02070309020205020404" pitchFamily="49" charset="0"/>
                <a:cs typeface="Courier New" panose="02070309020205020404" pitchFamily="49" charset="0"/>
              </a:rPr>
              <a:t>conditional_effects</a:t>
            </a:r>
            <a:r>
              <a:rPr lang="en-US" dirty="0">
                <a:solidFill>
                  <a:schemeClr val="tx1"/>
                </a:solidFill>
                <a:latin typeface="Courier New" panose="02070309020205020404" pitchFamily="49" charset="0"/>
                <a:cs typeface="Courier New" panose="02070309020205020404" pitchFamily="49" charset="0"/>
              </a:rPr>
              <a:t>(m</a:t>
            </a:r>
            <a:r>
              <a:rPr lang="en-SE" dirty="0" err="1">
                <a:solidFill>
                  <a:schemeClr val="tx1"/>
                </a:solidFill>
                <a:latin typeface="Courier New" panose="02070309020205020404" pitchFamily="49" charset="0"/>
                <a:cs typeface="Courier New" panose="02070309020205020404" pitchFamily="49" charset="0"/>
              </a:rPr>
              <a:t>odel</a:t>
            </a:r>
            <a:r>
              <a:rPr lang="en-US" dirty="0">
                <a:solidFill>
                  <a:schemeClr val="tx1"/>
                </a:solidFill>
                <a:latin typeface="Courier New" panose="02070309020205020404" pitchFamily="49" charset="0"/>
                <a:cs typeface="Courier New" panose="02070309020205020404" pitchFamily="49" charset="0"/>
              </a:rPr>
              <a:t>, effects = "x")</a:t>
            </a:r>
            <a:endParaRPr lang="en-SE" dirty="0">
              <a:solidFill>
                <a:schemeClr val="tx1"/>
              </a:solidFill>
              <a:latin typeface="Courier New" panose="02070309020205020404" pitchFamily="49" charset="0"/>
              <a:cs typeface="Courier New" panose="02070309020205020404" pitchFamily="49" charset="0"/>
            </a:endParaRPr>
          </a:p>
        </p:txBody>
      </p:sp>
      <p:sp>
        <p:nvSpPr>
          <p:cNvPr id="31" name="Rectangle 30">
            <a:extLst>
              <a:ext uri="{FF2B5EF4-FFF2-40B4-BE49-F238E27FC236}">
                <a16:creationId xmlns:a16="http://schemas.microsoft.com/office/drawing/2014/main" id="{F23508CE-680E-F00B-55A3-9AB1015C96AC}"/>
              </a:ext>
            </a:extLst>
          </p:cNvPr>
          <p:cNvSpPr/>
          <p:nvPr/>
        </p:nvSpPr>
        <p:spPr>
          <a:xfrm>
            <a:off x="3334258" y="3078986"/>
            <a:ext cx="6064377" cy="365125"/>
          </a:xfrm>
          <a:prstGeom prst="rect">
            <a:avLst/>
          </a:prstGeom>
          <a:solidFill>
            <a:schemeClr val="tx1">
              <a:lumMod val="65000"/>
              <a:lumOff val="3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solidFill>
                  <a:schemeClr val="bg1"/>
                </a:solidFill>
                <a:latin typeface="Courier New" panose="02070309020205020404" pitchFamily="49" charset="0"/>
                <a:cs typeface="Courier New" panose="02070309020205020404" pitchFamily="49" charset="0"/>
              </a:rPr>
              <a:t>R 4.5.0 using library(brms)</a:t>
            </a:r>
          </a:p>
        </p:txBody>
      </p:sp>
      <p:pic>
        <p:nvPicPr>
          <p:cNvPr id="35" name="Picture 34">
            <a:extLst>
              <a:ext uri="{FF2B5EF4-FFF2-40B4-BE49-F238E27FC236}">
                <a16:creationId xmlns:a16="http://schemas.microsoft.com/office/drawing/2014/main" id="{69B55D63-A91E-4FAD-9039-AD0279C2D3DD}"/>
              </a:ext>
            </a:extLst>
          </p:cNvPr>
          <p:cNvPicPr>
            <a:picLocks noChangeAspect="1"/>
          </p:cNvPicPr>
          <p:nvPr/>
        </p:nvPicPr>
        <p:blipFill>
          <a:blip r:embed="rId2"/>
          <a:stretch>
            <a:fillRect/>
          </a:stretch>
        </p:blipFill>
        <p:spPr>
          <a:xfrm>
            <a:off x="3334259" y="3809237"/>
            <a:ext cx="6064376" cy="2231308"/>
          </a:xfrm>
          <a:prstGeom prst="rect">
            <a:avLst/>
          </a:prstGeom>
          <a:ln>
            <a:solidFill>
              <a:schemeClr val="tx1">
                <a:lumMod val="50000"/>
                <a:lumOff val="50000"/>
              </a:schemeClr>
            </a:solidFill>
          </a:ln>
        </p:spPr>
      </p:pic>
      <p:grpSp>
        <p:nvGrpSpPr>
          <p:cNvPr id="36" name="Group 35">
            <a:extLst>
              <a:ext uri="{FF2B5EF4-FFF2-40B4-BE49-F238E27FC236}">
                <a16:creationId xmlns:a16="http://schemas.microsoft.com/office/drawing/2014/main" id="{1507BD59-C46E-520C-62AD-4355103D420B}"/>
              </a:ext>
            </a:extLst>
          </p:cNvPr>
          <p:cNvGrpSpPr/>
          <p:nvPr/>
        </p:nvGrpSpPr>
        <p:grpSpPr>
          <a:xfrm>
            <a:off x="228598" y="1825625"/>
            <a:ext cx="504000" cy="504000"/>
            <a:chOff x="977950" y="2729564"/>
            <a:chExt cx="504000" cy="504000"/>
          </a:xfrm>
        </p:grpSpPr>
        <p:sp>
          <p:nvSpPr>
            <p:cNvPr id="37" name="Oval 36">
              <a:extLst>
                <a:ext uri="{FF2B5EF4-FFF2-40B4-BE49-F238E27FC236}">
                  <a16:creationId xmlns:a16="http://schemas.microsoft.com/office/drawing/2014/main" id="{D0201633-5DFB-EBE4-C763-2D418B480E61}"/>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Bar chart with solid fill">
              <a:extLst>
                <a:ext uri="{FF2B5EF4-FFF2-40B4-BE49-F238E27FC236}">
                  <a16:creationId xmlns:a16="http://schemas.microsoft.com/office/drawing/2014/main" id="{E5E9689E-0A76-8590-8716-CBC290459B2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BF1B7549-3A90-4939-D131-39AA5AF52817}"/>
              </a:ext>
            </a:extLst>
          </p:cNvPr>
          <p:cNvGrpSpPr/>
          <p:nvPr/>
        </p:nvGrpSpPr>
        <p:grpSpPr>
          <a:xfrm>
            <a:off x="228598" y="2439322"/>
            <a:ext cx="504000" cy="504000"/>
            <a:chOff x="977950" y="2729564"/>
            <a:chExt cx="504000" cy="504000"/>
          </a:xfrm>
        </p:grpSpPr>
        <p:sp>
          <p:nvSpPr>
            <p:cNvPr id="40" name="Oval 39">
              <a:extLst>
                <a:ext uri="{FF2B5EF4-FFF2-40B4-BE49-F238E27FC236}">
                  <a16:creationId xmlns:a16="http://schemas.microsoft.com/office/drawing/2014/main" id="{3B64ECFF-ACC1-1E8E-0B7B-241C3FE10323}"/>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Golden Ratio with solid fill">
              <a:extLst>
                <a:ext uri="{FF2B5EF4-FFF2-40B4-BE49-F238E27FC236}">
                  <a16:creationId xmlns:a16="http://schemas.microsoft.com/office/drawing/2014/main" id="{5A3ABB50-C0DD-65DD-0B7C-AF04385125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5D1DD482-DCF9-82C6-14F1-ADC20BDEC8AB}"/>
              </a:ext>
            </a:extLst>
          </p:cNvPr>
          <p:cNvGrpSpPr/>
          <p:nvPr/>
        </p:nvGrpSpPr>
        <p:grpSpPr>
          <a:xfrm>
            <a:off x="228598" y="3053019"/>
            <a:ext cx="504000" cy="504000"/>
            <a:chOff x="977950" y="2729564"/>
            <a:chExt cx="504000" cy="504000"/>
          </a:xfrm>
        </p:grpSpPr>
        <p:sp>
          <p:nvSpPr>
            <p:cNvPr id="43" name="Oval 42">
              <a:extLst>
                <a:ext uri="{FF2B5EF4-FFF2-40B4-BE49-F238E27FC236}">
                  <a16:creationId xmlns:a16="http://schemas.microsoft.com/office/drawing/2014/main" id="{36BFEB16-27D9-0528-2F63-4A1DA9838675}"/>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Normal Distribution with solid fill">
              <a:extLst>
                <a:ext uri="{FF2B5EF4-FFF2-40B4-BE49-F238E27FC236}">
                  <a16:creationId xmlns:a16="http://schemas.microsoft.com/office/drawing/2014/main" id="{6EEB26CC-D122-1A88-5AF2-5EC5E462950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055D2401-C462-0110-1E79-0D5467BED97B}"/>
              </a:ext>
            </a:extLst>
          </p:cNvPr>
          <p:cNvGrpSpPr/>
          <p:nvPr/>
        </p:nvGrpSpPr>
        <p:grpSpPr>
          <a:xfrm>
            <a:off x="228598" y="3666716"/>
            <a:ext cx="504000" cy="504000"/>
            <a:chOff x="977950" y="2729564"/>
            <a:chExt cx="504000" cy="504000"/>
          </a:xfrm>
        </p:grpSpPr>
        <p:sp>
          <p:nvSpPr>
            <p:cNvPr id="46" name="Oval 45">
              <a:extLst>
                <a:ext uri="{FF2B5EF4-FFF2-40B4-BE49-F238E27FC236}">
                  <a16:creationId xmlns:a16="http://schemas.microsoft.com/office/drawing/2014/main" id="{5DF49353-7F9E-936F-E399-4476D4051F34}"/>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Abacus with solid fill">
              <a:extLst>
                <a:ext uri="{FF2B5EF4-FFF2-40B4-BE49-F238E27FC236}">
                  <a16:creationId xmlns:a16="http://schemas.microsoft.com/office/drawing/2014/main" id="{489E7D75-F360-1CB3-854D-2F401D8395FA}"/>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6A3D7249-FFAA-A7BF-C91B-383C5A24BE16}"/>
              </a:ext>
            </a:extLst>
          </p:cNvPr>
          <p:cNvGrpSpPr/>
          <p:nvPr/>
        </p:nvGrpSpPr>
        <p:grpSpPr>
          <a:xfrm>
            <a:off x="228598" y="4280413"/>
            <a:ext cx="504000" cy="504000"/>
            <a:chOff x="977950" y="2729564"/>
            <a:chExt cx="504000" cy="504000"/>
          </a:xfrm>
        </p:grpSpPr>
        <p:sp>
          <p:nvSpPr>
            <p:cNvPr id="49" name="Oval 48">
              <a:extLst>
                <a:ext uri="{FF2B5EF4-FFF2-40B4-BE49-F238E27FC236}">
                  <a16:creationId xmlns:a16="http://schemas.microsoft.com/office/drawing/2014/main" id="{0F33DEC1-F2E6-8EE6-BF5E-644C4DC7A4AD}"/>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Trigonometry with solid fill">
              <a:extLst>
                <a:ext uri="{FF2B5EF4-FFF2-40B4-BE49-F238E27FC236}">
                  <a16:creationId xmlns:a16="http://schemas.microsoft.com/office/drawing/2014/main" id="{D5585CCD-6718-643E-9A72-143D0B96CC6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BBE5A806-1DC7-46B2-3B80-F4EF026EA78F}"/>
              </a:ext>
            </a:extLst>
          </p:cNvPr>
          <p:cNvGrpSpPr/>
          <p:nvPr/>
        </p:nvGrpSpPr>
        <p:grpSpPr>
          <a:xfrm>
            <a:off x="228598" y="4894111"/>
            <a:ext cx="504000" cy="504000"/>
            <a:chOff x="977950" y="2729564"/>
            <a:chExt cx="504000" cy="504000"/>
          </a:xfrm>
        </p:grpSpPr>
        <p:sp>
          <p:nvSpPr>
            <p:cNvPr id="52" name="Oval 51">
              <a:extLst>
                <a:ext uri="{FF2B5EF4-FFF2-40B4-BE49-F238E27FC236}">
                  <a16:creationId xmlns:a16="http://schemas.microsoft.com/office/drawing/2014/main" id="{C7926E7E-A203-D7CC-C0A6-25F3A062FF06}"/>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Scatterplot with solid fill">
              <a:extLst>
                <a:ext uri="{FF2B5EF4-FFF2-40B4-BE49-F238E27FC236}">
                  <a16:creationId xmlns:a16="http://schemas.microsoft.com/office/drawing/2014/main" id="{6A662C90-2D5F-B37E-DFE1-406896EA872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4" name="Straight Arrow Connector 53">
            <a:extLst>
              <a:ext uri="{FF2B5EF4-FFF2-40B4-BE49-F238E27FC236}">
                <a16:creationId xmlns:a16="http://schemas.microsoft.com/office/drawing/2014/main" id="{D2D080E9-E3DE-C228-2F04-372F2EFF34E4}"/>
              </a:ext>
            </a:extLst>
          </p:cNvPr>
          <p:cNvCxnSpPr>
            <a:stCxn id="37" idx="4"/>
            <a:endCxn id="40"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3F203138-27C1-6FB0-01BA-4477F416762A}"/>
              </a:ext>
            </a:extLst>
          </p:cNvPr>
          <p:cNvCxnSpPr>
            <a:cxnSpLocks/>
            <a:stCxn id="40" idx="4"/>
            <a:endCxn id="43"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2B21261D-8361-4615-8E11-7239A6D8F39F}"/>
              </a:ext>
            </a:extLst>
          </p:cNvPr>
          <p:cNvCxnSpPr>
            <a:cxnSpLocks/>
            <a:stCxn id="43" idx="4"/>
            <a:endCxn id="46"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E1C90FB3-30B3-2868-B4E8-F569C432D027}"/>
              </a:ext>
            </a:extLst>
          </p:cNvPr>
          <p:cNvCxnSpPr>
            <a:cxnSpLocks/>
            <a:stCxn id="46" idx="4"/>
            <a:endCxn id="49"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8" name="Straight Arrow Connector 57">
            <a:extLst>
              <a:ext uri="{FF2B5EF4-FFF2-40B4-BE49-F238E27FC236}">
                <a16:creationId xmlns:a16="http://schemas.microsoft.com/office/drawing/2014/main" id="{3F44C3F0-E8B2-D051-14E0-FE3DFDE001C5}"/>
              </a:ext>
            </a:extLst>
          </p:cNvPr>
          <p:cNvCxnSpPr>
            <a:cxnSpLocks/>
            <a:stCxn id="49" idx="4"/>
            <a:endCxn id="52"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309455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7A8D-71CE-546F-FA68-399EE07E14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9C49A-94A9-C808-98CE-A62744AD3E39}"/>
              </a:ext>
            </a:extLst>
          </p:cNvPr>
          <p:cNvSpPr>
            <a:spLocks noGrp="1"/>
          </p:cNvSpPr>
          <p:nvPr>
            <p:ph type="title"/>
          </p:nvPr>
        </p:nvSpPr>
        <p:spPr/>
        <p:txBody>
          <a:bodyPr/>
          <a:lstStyle/>
          <a:p>
            <a:r>
              <a:rPr lang="en-SE" dirty="0"/>
              <a:t>Marginal Effects</a:t>
            </a:r>
          </a:p>
        </p:txBody>
      </p:sp>
      <p:sp>
        <p:nvSpPr>
          <p:cNvPr id="3" name="Content Placeholder 2">
            <a:extLst>
              <a:ext uri="{FF2B5EF4-FFF2-40B4-BE49-F238E27FC236}">
                <a16:creationId xmlns:a16="http://schemas.microsoft.com/office/drawing/2014/main" id="{37A7A1A3-3033-BA0C-B428-705E5BB0770B}"/>
              </a:ext>
            </a:extLst>
          </p:cNvPr>
          <p:cNvSpPr>
            <a:spLocks noGrp="1"/>
          </p:cNvSpPr>
          <p:nvPr>
            <p:ph idx="1"/>
          </p:nvPr>
        </p:nvSpPr>
        <p:spPr>
          <a:xfrm>
            <a:off x="838200" y="1825625"/>
            <a:ext cx="10515600" cy="954000"/>
          </a:xfrm>
        </p:spPr>
        <p:txBody>
          <a:bodyPr/>
          <a:lstStyle/>
          <a:p>
            <a:pPr marL="0" indent="0">
              <a:buNone/>
            </a:pPr>
            <a:r>
              <a:rPr lang="en-SE" dirty="0"/>
              <a:t>A marginal effect is the effect of one variable on the outcome while holding </a:t>
            </a:r>
            <a:r>
              <a:rPr lang="en-SE" b="1" dirty="0"/>
              <a:t>all other variables constant </a:t>
            </a:r>
            <a:r>
              <a:rPr lang="en-SE" dirty="0"/>
              <a:t>at representative levels.</a:t>
            </a:r>
          </a:p>
        </p:txBody>
      </p:sp>
      <p:sp>
        <p:nvSpPr>
          <p:cNvPr id="4" name="Date Placeholder 3">
            <a:extLst>
              <a:ext uri="{FF2B5EF4-FFF2-40B4-BE49-F238E27FC236}">
                <a16:creationId xmlns:a16="http://schemas.microsoft.com/office/drawing/2014/main" id="{A613B6E9-7D8A-A45A-E141-8C7750D50425}"/>
              </a:ext>
            </a:extLst>
          </p:cNvPr>
          <p:cNvSpPr>
            <a:spLocks noGrp="1"/>
          </p:cNvSpPr>
          <p:nvPr>
            <p:ph type="dt" sz="half" idx="10"/>
          </p:nvPr>
        </p:nvSpPr>
        <p:spPr/>
        <p:txBody>
          <a:bodyPr/>
          <a:lstStyle/>
          <a:p>
            <a:r>
              <a:rPr lang="en-SE"/>
              <a:t>2026-08-17</a:t>
            </a:r>
          </a:p>
        </p:txBody>
      </p:sp>
      <p:sp>
        <p:nvSpPr>
          <p:cNvPr id="5" name="Slide Number Placeholder 4">
            <a:extLst>
              <a:ext uri="{FF2B5EF4-FFF2-40B4-BE49-F238E27FC236}">
                <a16:creationId xmlns:a16="http://schemas.microsoft.com/office/drawing/2014/main" id="{9FDB8C4C-979D-8840-0E73-DF5BC9303F01}"/>
              </a:ext>
            </a:extLst>
          </p:cNvPr>
          <p:cNvSpPr>
            <a:spLocks noGrp="1"/>
          </p:cNvSpPr>
          <p:nvPr>
            <p:ph type="sldNum" sz="quarter" idx="12"/>
          </p:nvPr>
        </p:nvSpPr>
        <p:spPr/>
        <p:txBody>
          <a:bodyPr/>
          <a:lstStyle/>
          <a:p>
            <a:fld id="{271ECC92-9CDE-4EB3-B1C5-F46B9E1FA3C1}" type="slidenum">
              <a:rPr lang="en-SE" smtClean="0"/>
              <a:t>90</a:t>
            </a:fld>
            <a:endParaRPr lang="en-SE"/>
          </a:p>
        </p:txBody>
      </p:sp>
      <p:sp>
        <p:nvSpPr>
          <p:cNvPr id="6" name="Footer Placeholder 5">
            <a:extLst>
              <a:ext uri="{FF2B5EF4-FFF2-40B4-BE49-F238E27FC236}">
                <a16:creationId xmlns:a16="http://schemas.microsoft.com/office/drawing/2014/main" id="{3D088AB2-5C6E-24FF-2AEE-0322943BD8D7}"/>
              </a:ext>
            </a:extLst>
          </p:cNvPr>
          <p:cNvSpPr>
            <a:spLocks noGrp="1"/>
          </p:cNvSpPr>
          <p:nvPr>
            <p:ph type="ftr" sz="quarter" idx="11"/>
          </p:nvPr>
        </p:nvSpPr>
        <p:spPr/>
        <p:txBody>
          <a:bodyPr/>
          <a:lstStyle/>
          <a:p>
            <a:r>
              <a:rPr lang="de-DE"/>
              <a:t>Bayesian Data Analysis Tutorial</a:t>
            </a:r>
            <a:endParaRPr lang="en-SE"/>
          </a:p>
        </p:txBody>
      </p:sp>
      <p:grpSp>
        <p:nvGrpSpPr>
          <p:cNvPr id="36" name="Group 35">
            <a:extLst>
              <a:ext uri="{FF2B5EF4-FFF2-40B4-BE49-F238E27FC236}">
                <a16:creationId xmlns:a16="http://schemas.microsoft.com/office/drawing/2014/main" id="{5D51F1B2-DB34-9662-FF6F-B957461DF259}"/>
              </a:ext>
            </a:extLst>
          </p:cNvPr>
          <p:cNvGrpSpPr/>
          <p:nvPr/>
        </p:nvGrpSpPr>
        <p:grpSpPr>
          <a:xfrm>
            <a:off x="228598" y="1825625"/>
            <a:ext cx="504000" cy="504000"/>
            <a:chOff x="977950" y="2729564"/>
            <a:chExt cx="504000" cy="504000"/>
          </a:xfrm>
        </p:grpSpPr>
        <p:sp>
          <p:nvSpPr>
            <p:cNvPr id="37" name="Oval 36">
              <a:extLst>
                <a:ext uri="{FF2B5EF4-FFF2-40B4-BE49-F238E27FC236}">
                  <a16:creationId xmlns:a16="http://schemas.microsoft.com/office/drawing/2014/main" id="{F324CC97-DDF5-94F6-7B74-2754BA34B83F}"/>
                </a:ext>
              </a:extLst>
            </p:cNvPr>
            <p:cNvSpPr/>
            <p:nvPr/>
          </p:nvSpPr>
          <p:spPr>
            <a:xfrm>
              <a:off x="977950" y="2729564"/>
              <a:ext cx="504000" cy="504000"/>
            </a:xfrm>
            <a:prstGeom prst="ellipse">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38" name="Graphic 37" descr="Bar chart with solid fill">
              <a:extLst>
                <a:ext uri="{FF2B5EF4-FFF2-40B4-BE49-F238E27FC236}">
                  <a16:creationId xmlns:a16="http://schemas.microsoft.com/office/drawing/2014/main" id="{2E4542B1-F027-371D-EEF3-317B00684DE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grpSp>
        <p:nvGrpSpPr>
          <p:cNvPr id="39" name="Group 38">
            <a:extLst>
              <a:ext uri="{FF2B5EF4-FFF2-40B4-BE49-F238E27FC236}">
                <a16:creationId xmlns:a16="http://schemas.microsoft.com/office/drawing/2014/main" id="{57E90E0B-4902-DC69-5B67-434FD0CC6C43}"/>
              </a:ext>
            </a:extLst>
          </p:cNvPr>
          <p:cNvGrpSpPr/>
          <p:nvPr/>
        </p:nvGrpSpPr>
        <p:grpSpPr>
          <a:xfrm>
            <a:off x="228598" y="2439322"/>
            <a:ext cx="504000" cy="504000"/>
            <a:chOff x="977950" y="2729564"/>
            <a:chExt cx="504000" cy="504000"/>
          </a:xfrm>
        </p:grpSpPr>
        <p:sp>
          <p:nvSpPr>
            <p:cNvPr id="40" name="Oval 39">
              <a:extLst>
                <a:ext uri="{FF2B5EF4-FFF2-40B4-BE49-F238E27FC236}">
                  <a16:creationId xmlns:a16="http://schemas.microsoft.com/office/drawing/2014/main" id="{83C22195-4ACE-69FE-7659-EE464EA05E1D}"/>
                </a:ext>
              </a:extLst>
            </p:cNvPr>
            <p:cNvSpPr/>
            <p:nvPr/>
          </p:nvSpPr>
          <p:spPr>
            <a:xfrm>
              <a:off x="977950" y="2729564"/>
              <a:ext cx="504000" cy="504000"/>
            </a:xfrm>
            <a:prstGeom prst="ellipse">
              <a:avLst/>
            </a:prstGeom>
            <a:solidFill>
              <a:schemeClr val="bg1">
                <a:lumMod val="8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1" name="Graphic 40" descr="Golden Ratio with solid fill">
              <a:extLst>
                <a:ext uri="{FF2B5EF4-FFF2-40B4-BE49-F238E27FC236}">
                  <a16:creationId xmlns:a16="http://schemas.microsoft.com/office/drawing/2014/main" id="{33364FBC-453B-E4F1-C25E-476B7A34CB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42" name="Group 41">
            <a:extLst>
              <a:ext uri="{FF2B5EF4-FFF2-40B4-BE49-F238E27FC236}">
                <a16:creationId xmlns:a16="http://schemas.microsoft.com/office/drawing/2014/main" id="{BF64FB11-9C1D-E4E7-CB87-A0862CA7407D}"/>
              </a:ext>
            </a:extLst>
          </p:cNvPr>
          <p:cNvGrpSpPr/>
          <p:nvPr/>
        </p:nvGrpSpPr>
        <p:grpSpPr>
          <a:xfrm>
            <a:off x="228598" y="3053019"/>
            <a:ext cx="504000" cy="504000"/>
            <a:chOff x="977950" y="2729564"/>
            <a:chExt cx="504000" cy="504000"/>
          </a:xfrm>
        </p:grpSpPr>
        <p:sp>
          <p:nvSpPr>
            <p:cNvPr id="43" name="Oval 42">
              <a:extLst>
                <a:ext uri="{FF2B5EF4-FFF2-40B4-BE49-F238E27FC236}">
                  <a16:creationId xmlns:a16="http://schemas.microsoft.com/office/drawing/2014/main" id="{4C398895-55C4-3242-4555-3A25E200027A}"/>
                </a:ext>
              </a:extLst>
            </p:cNvPr>
            <p:cNvSpPr/>
            <p:nvPr/>
          </p:nvSpPr>
          <p:spPr>
            <a:xfrm>
              <a:off x="977950" y="2729564"/>
              <a:ext cx="504000" cy="504000"/>
            </a:xfrm>
            <a:prstGeom prst="ellipse">
              <a:avLst/>
            </a:prstGeom>
            <a:solidFill>
              <a:schemeClr val="bg1">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4" name="Graphic 43" descr="Normal Distribution with solid fill">
              <a:extLst>
                <a:ext uri="{FF2B5EF4-FFF2-40B4-BE49-F238E27FC236}">
                  <a16:creationId xmlns:a16="http://schemas.microsoft.com/office/drawing/2014/main" id="{2E06144A-87C5-AF47-2503-CB275DC525E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45" name="Group 44">
            <a:extLst>
              <a:ext uri="{FF2B5EF4-FFF2-40B4-BE49-F238E27FC236}">
                <a16:creationId xmlns:a16="http://schemas.microsoft.com/office/drawing/2014/main" id="{F6FE1E47-75AD-449D-2AD4-62B1DBFA1E9A}"/>
              </a:ext>
            </a:extLst>
          </p:cNvPr>
          <p:cNvGrpSpPr/>
          <p:nvPr/>
        </p:nvGrpSpPr>
        <p:grpSpPr>
          <a:xfrm>
            <a:off x="228598" y="3666716"/>
            <a:ext cx="504000" cy="504000"/>
            <a:chOff x="977950" y="2729564"/>
            <a:chExt cx="504000" cy="504000"/>
          </a:xfrm>
        </p:grpSpPr>
        <p:sp>
          <p:nvSpPr>
            <p:cNvPr id="46" name="Oval 45">
              <a:extLst>
                <a:ext uri="{FF2B5EF4-FFF2-40B4-BE49-F238E27FC236}">
                  <a16:creationId xmlns:a16="http://schemas.microsoft.com/office/drawing/2014/main" id="{EAB5BA68-4C79-42DC-D2BF-0A63A48CC20C}"/>
                </a:ext>
              </a:extLst>
            </p:cNvPr>
            <p:cNvSpPr/>
            <p:nvPr/>
          </p:nvSpPr>
          <p:spPr>
            <a:xfrm>
              <a:off x="977950" y="2729564"/>
              <a:ext cx="504000" cy="504000"/>
            </a:xfrm>
            <a:prstGeom prst="ellipse">
              <a:avLst/>
            </a:prstGeom>
            <a:solidFill>
              <a:schemeClr val="bg1">
                <a:lumMod val="6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Abacus with solid fill">
              <a:extLst>
                <a:ext uri="{FF2B5EF4-FFF2-40B4-BE49-F238E27FC236}">
                  <a16:creationId xmlns:a16="http://schemas.microsoft.com/office/drawing/2014/main" id="{9A3559EB-11F1-CCE8-ED9C-49C33083B14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48" name="Group 47">
            <a:extLst>
              <a:ext uri="{FF2B5EF4-FFF2-40B4-BE49-F238E27FC236}">
                <a16:creationId xmlns:a16="http://schemas.microsoft.com/office/drawing/2014/main" id="{23548FA9-07F5-95ED-CC24-95CD6B34B9CB}"/>
              </a:ext>
            </a:extLst>
          </p:cNvPr>
          <p:cNvGrpSpPr/>
          <p:nvPr/>
        </p:nvGrpSpPr>
        <p:grpSpPr>
          <a:xfrm>
            <a:off x="228598" y="4280413"/>
            <a:ext cx="504000" cy="504000"/>
            <a:chOff x="977950" y="2729564"/>
            <a:chExt cx="504000" cy="504000"/>
          </a:xfrm>
        </p:grpSpPr>
        <p:sp>
          <p:nvSpPr>
            <p:cNvPr id="49" name="Oval 48">
              <a:extLst>
                <a:ext uri="{FF2B5EF4-FFF2-40B4-BE49-F238E27FC236}">
                  <a16:creationId xmlns:a16="http://schemas.microsoft.com/office/drawing/2014/main" id="{9AA8BA7B-C9A9-A27D-DA8F-92FBCB9517FE}"/>
                </a:ext>
              </a:extLst>
            </p:cNvPr>
            <p:cNvSpPr/>
            <p:nvPr/>
          </p:nvSpPr>
          <p:spPr>
            <a:xfrm>
              <a:off x="977950" y="2729564"/>
              <a:ext cx="504000" cy="504000"/>
            </a:xfrm>
            <a:prstGeom prst="ellipse">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0" name="Graphic 49" descr="Trigonometry with solid fill">
              <a:extLst>
                <a:ext uri="{FF2B5EF4-FFF2-40B4-BE49-F238E27FC236}">
                  <a16:creationId xmlns:a16="http://schemas.microsoft.com/office/drawing/2014/main" id="{490B476D-EC63-3D86-C656-2F0825C1DA8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51" name="Group 50">
            <a:extLst>
              <a:ext uri="{FF2B5EF4-FFF2-40B4-BE49-F238E27FC236}">
                <a16:creationId xmlns:a16="http://schemas.microsoft.com/office/drawing/2014/main" id="{B9F920C3-CA00-2A95-0AC5-50A316C4F19E}"/>
              </a:ext>
            </a:extLst>
          </p:cNvPr>
          <p:cNvGrpSpPr/>
          <p:nvPr/>
        </p:nvGrpSpPr>
        <p:grpSpPr>
          <a:xfrm>
            <a:off x="228598" y="4894111"/>
            <a:ext cx="504000" cy="504000"/>
            <a:chOff x="977950" y="2729564"/>
            <a:chExt cx="504000" cy="504000"/>
          </a:xfrm>
        </p:grpSpPr>
        <p:sp>
          <p:nvSpPr>
            <p:cNvPr id="52" name="Oval 51">
              <a:extLst>
                <a:ext uri="{FF2B5EF4-FFF2-40B4-BE49-F238E27FC236}">
                  <a16:creationId xmlns:a16="http://schemas.microsoft.com/office/drawing/2014/main" id="{54D071EA-FC43-6169-E1B6-2B318F6B5558}"/>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53" name="Graphic 52" descr="Scatterplot with solid fill">
              <a:extLst>
                <a:ext uri="{FF2B5EF4-FFF2-40B4-BE49-F238E27FC236}">
                  <a16:creationId xmlns:a16="http://schemas.microsoft.com/office/drawing/2014/main" id="{51ACB7B4-A2AB-0D4E-2096-812D9F3D5EFA}"/>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54" name="Straight Arrow Connector 53">
            <a:extLst>
              <a:ext uri="{FF2B5EF4-FFF2-40B4-BE49-F238E27FC236}">
                <a16:creationId xmlns:a16="http://schemas.microsoft.com/office/drawing/2014/main" id="{887ED673-2934-A75D-B054-E62C2A2EEF84}"/>
              </a:ext>
            </a:extLst>
          </p:cNvPr>
          <p:cNvCxnSpPr>
            <a:stCxn id="37" idx="4"/>
            <a:endCxn id="40" idx="0"/>
          </p:cNvCxnSpPr>
          <p:nvPr/>
        </p:nvCxnSpPr>
        <p:spPr>
          <a:xfrm>
            <a:off x="480598" y="232962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F2437A91-E5FB-9610-3065-9663D4540949}"/>
              </a:ext>
            </a:extLst>
          </p:cNvPr>
          <p:cNvCxnSpPr>
            <a:cxnSpLocks/>
            <a:stCxn id="40" idx="4"/>
            <a:endCxn id="43" idx="0"/>
          </p:cNvCxnSpPr>
          <p:nvPr/>
        </p:nvCxnSpPr>
        <p:spPr>
          <a:xfrm>
            <a:off x="480598" y="294332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9F50D82E-DD77-7349-F43B-746378ABBA15}"/>
              </a:ext>
            </a:extLst>
          </p:cNvPr>
          <p:cNvCxnSpPr>
            <a:cxnSpLocks/>
            <a:stCxn id="43" idx="4"/>
            <a:endCxn id="46" idx="0"/>
          </p:cNvCxnSpPr>
          <p:nvPr/>
        </p:nvCxnSpPr>
        <p:spPr>
          <a:xfrm>
            <a:off x="480598" y="355701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E89A2770-DBD0-AA5B-3420-92096F374124}"/>
              </a:ext>
            </a:extLst>
          </p:cNvPr>
          <p:cNvCxnSpPr>
            <a:cxnSpLocks/>
            <a:stCxn id="46" idx="4"/>
            <a:endCxn id="49" idx="0"/>
          </p:cNvCxnSpPr>
          <p:nvPr/>
        </p:nvCxnSpPr>
        <p:spPr>
          <a:xfrm>
            <a:off x="480598" y="417071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8" name="Straight Arrow Connector 57">
            <a:extLst>
              <a:ext uri="{FF2B5EF4-FFF2-40B4-BE49-F238E27FC236}">
                <a16:creationId xmlns:a16="http://schemas.microsoft.com/office/drawing/2014/main" id="{987EE64F-DEC9-7D87-6593-6271E2B34987}"/>
              </a:ext>
            </a:extLst>
          </p:cNvPr>
          <p:cNvCxnSpPr>
            <a:cxnSpLocks/>
            <a:stCxn id="49" idx="4"/>
            <a:endCxn id="52" idx="0"/>
          </p:cNvCxnSpPr>
          <p:nvPr/>
        </p:nvCxnSpPr>
        <p:spPr>
          <a:xfrm>
            <a:off x="480598" y="478441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pic>
        <p:nvPicPr>
          <p:cNvPr id="8" name="Picture 7">
            <a:extLst>
              <a:ext uri="{FF2B5EF4-FFF2-40B4-BE49-F238E27FC236}">
                <a16:creationId xmlns:a16="http://schemas.microsoft.com/office/drawing/2014/main" id="{9C8E447D-5CBF-CDCE-BD24-49970027755C}"/>
              </a:ext>
            </a:extLst>
          </p:cNvPr>
          <p:cNvPicPr>
            <a:picLocks noChangeAspect="1"/>
          </p:cNvPicPr>
          <p:nvPr/>
        </p:nvPicPr>
        <p:blipFill>
          <a:blip r:embed="rId9"/>
          <a:stretch>
            <a:fillRect/>
          </a:stretch>
        </p:blipFill>
        <p:spPr>
          <a:xfrm>
            <a:off x="6831527" y="2735219"/>
            <a:ext cx="5166808" cy="3665538"/>
          </a:xfrm>
          <a:prstGeom prst="rect">
            <a:avLst/>
          </a:prstGeom>
        </p:spPr>
      </p:pic>
      <p:graphicFrame>
        <p:nvGraphicFramePr>
          <p:cNvPr id="7" name="Table 6">
            <a:extLst>
              <a:ext uri="{FF2B5EF4-FFF2-40B4-BE49-F238E27FC236}">
                <a16:creationId xmlns:a16="http://schemas.microsoft.com/office/drawing/2014/main" id="{64473A41-62CD-B1BC-624B-9E4499B81781}"/>
              </a:ext>
            </a:extLst>
          </p:cNvPr>
          <p:cNvGraphicFramePr>
            <a:graphicFrameLocks noGrp="1"/>
          </p:cNvGraphicFramePr>
          <p:nvPr>
            <p:extLst>
              <p:ext uri="{D42A27DB-BD31-4B8C-83A1-F6EECF244321}">
                <p14:modId xmlns:p14="http://schemas.microsoft.com/office/powerpoint/2010/main" val="1485605801"/>
              </p:ext>
            </p:extLst>
          </p:nvPr>
        </p:nvGraphicFramePr>
        <p:xfrm>
          <a:off x="878995" y="2770636"/>
          <a:ext cx="5806135" cy="1935480"/>
        </p:xfrm>
        <a:graphic>
          <a:graphicData uri="http://schemas.openxmlformats.org/drawingml/2006/table">
            <a:tbl>
              <a:tblPr firstRow="1" bandRow="1">
                <a:tableStyleId>{00A15C55-8517-42AA-B614-E9B94910E393}</a:tableStyleId>
              </a:tblPr>
              <a:tblGrid>
                <a:gridCol w="1161227">
                  <a:extLst>
                    <a:ext uri="{9D8B030D-6E8A-4147-A177-3AD203B41FA5}">
                      <a16:colId xmlns:a16="http://schemas.microsoft.com/office/drawing/2014/main" val="3593453676"/>
                    </a:ext>
                  </a:extLst>
                </a:gridCol>
                <a:gridCol w="1161227">
                  <a:extLst>
                    <a:ext uri="{9D8B030D-6E8A-4147-A177-3AD203B41FA5}">
                      <a16:colId xmlns:a16="http://schemas.microsoft.com/office/drawing/2014/main" val="2645348489"/>
                    </a:ext>
                  </a:extLst>
                </a:gridCol>
                <a:gridCol w="1161227">
                  <a:extLst>
                    <a:ext uri="{9D8B030D-6E8A-4147-A177-3AD203B41FA5}">
                      <a16:colId xmlns:a16="http://schemas.microsoft.com/office/drawing/2014/main" val="947301317"/>
                    </a:ext>
                  </a:extLst>
                </a:gridCol>
                <a:gridCol w="1161227">
                  <a:extLst>
                    <a:ext uri="{9D8B030D-6E8A-4147-A177-3AD203B41FA5}">
                      <a16:colId xmlns:a16="http://schemas.microsoft.com/office/drawing/2014/main" val="1377683299"/>
                    </a:ext>
                  </a:extLst>
                </a:gridCol>
                <a:gridCol w="1161227">
                  <a:extLst>
                    <a:ext uri="{9D8B030D-6E8A-4147-A177-3AD203B41FA5}">
                      <a16:colId xmlns:a16="http://schemas.microsoft.com/office/drawing/2014/main" val="3443614829"/>
                    </a:ext>
                  </a:extLst>
                </a:gridCol>
              </a:tblGrid>
              <a:tr h="370840">
                <a:tc gridSpan="5">
                  <a:txBody>
                    <a:bodyPr/>
                    <a:lstStyle/>
                    <a:p>
                      <a:r>
                        <a:rPr lang="en-SE" sz="1600" dirty="0"/>
                        <a:t>What is your way-of-working in your project?</a:t>
                      </a:r>
                    </a:p>
                  </a:txBody>
                  <a:tcPr>
                    <a:solidFill>
                      <a:srgbClr val="D0180A"/>
                    </a:solidFill>
                  </a:tcPr>
                </a:tc>
                <a:tc hMerge="1">
                  <a:txBody>
                    <a:bodyPr/>
                    <a:lstStyle/>
                    <a:p>
                      <a:endParaRPr lang="en-SE"/>
                    </a:p>
                  </a:txBody>
                  <a:tcPr/>
                </a:tc>
                <a:tc hMerge="1">
                  <a:txBody>
                    <a:bodyPr/>
                    <a:lstStyle/>
                    <a:p>
                      <a:endParaRPr lang="en-SE"/>
                    </a:p>
                  </a:txBody>
                  <a:tcPr/>
                </a:tc>
                <a:tc hMerge="1">
                  <a:txBody>
                    <a:bodyPr/>
                    <a:lstStyle/>
                    <a:p>
                      <a:endParaRPr lang="en-SE"/>
                    </a:p>
                  </a:txBody>
                  <a:tcPr/>
                </a:tc>
                <a:tc hMerge="1">
                  <a:txBody>
                    <a:bodyPr/>
                    <a:lstStyle/>
                    <a:p>
                      <a:endParaRPr lang="en-SE" dirty="0"/>
                    </a:p>
                  </a:txBody>
                  <a:tcPr/>
                </a:tc>
                <a:extLst>
                  <a:ext uri="{0D108BD9-81ED-4DB2-BD59-A6C34878D82A}">
                    <a16:rowId xmlns:a16="http://schemas.microsoft.com/office/drawing/2014/main" val="4269100723"/>
                  </a:ext>
                </a:extLst>
              </a:tr>
              <a:tr h="370840">
                <a:tc>
                  <a:txBody>
                    <a:bodyPr/>
                    <a:lstStyle/>
                    <a:p>
                      <a:r>
                        <a:rPr lang="en-SE" sz="1600" dirty="0"/>
                        <a:t>Plan-driven</a:t>
                      </a:r>
                    </a:p>
                  </a:txBody>
                  <a:tcPr/>
                </a:tc>
                <a:tc>
                  <a:txBody>
                    <a:bodyPr/>
                    <a:lstStyle/>
                    <a:p>
                      <a:r>
                        <a:rPr lang="en-SE" sz="1600" dirty="0"/>
                        <a:t>Rather plan-driven</a:t>
                      </a:r>
                    </a:p>
                  </a:txBody>
                  <a:tcPr/>
                </a:tc>
                <a:tc>
                  <a:txBody>
                    <a:bodyPr/>
                    <a:lstStyle/>
                    <a:p>
                      <a:r>
                        <a:rPr lang="en-SE" sz="1600" dirty="0"/>
                        <a:t>Hybrid</a:t>
                      </a:r>
                    </a:p>
                  </a:txBody>
                  <a:tcPr/>
                </a:tc>
                <a:tc>
                  <a:txBody>
                    <a:bodyPr/>
                    <a:lstStyle/>
                    <a:p>
                      <a:r>
                        <a:rPr lang="en-SE" sz="1600" dirty="0"/>
                        <a:t>Rather agile</a:t>
                      </a:r>
                    </a:p>
                  </a:txBody>
                  <a:tcPr/>
                </a:tc>
                <a:tc>
                  <a:txBody>
                    <a:bodyPr/>
                    <a:lstStyle/>
                    <a:p>
                      <a:r>
                        <a:rPr lang="en-SE" sz="1600" dirty="0"/>
                        <a:t>Agile</a:t>
                      </a:r>
                    </a:p>
                  </a:txBody>
                  <a:tcPr/>
                </a:tc>
                <a:extLst>
                  <a:ext uri="{0D108BD9-81ED-4DB2-BD59-A6C34878D82A}">
                    <a16:rowId xmlns:a16="http://schemas.microsoft.com/office/drawing/2014/main" val="2027938378"/>
                  </a:ext>
                </a:extLst>
              </a:tr>
              <a:tr h="370840">
                <a:tc gridSpan="5">
                  <a:txBody>
                    <a:bodyPr/>
                    <a:lstStyle/>
                    <a:p>
                      <a:r>
                        <a:rPr lang="en-SE" sz="1600" b="1" dirty="0">
                          <a:solidFill>
                            <a:schemeClr val="bg1"/>
                          </a:solidFill>
                        </a:rPr>
                        <a:t>How do you perceive the communication inside your team?</a:t>
                      </a:r>
                    </a:p>
                  </a:txBody>
                  <a:tcPr>
                    <a:solidFill>
                      <a:srgbClr val="006D70"/>
                    </a:solidFill>
                  </a:tcPr>
                </a:tc>
                <a:tc hMerge="1">
                  <a:txBody>
                    <a:bodyPr/>
                    <a:lstStyle/>
                    <a:p>
                      <a:endParaRPr lang="en-SE"/>
                    </a:p>
                  </a:txBody>
                  <a:tcPr/>
                </a:tc>
                <a:tc hMerge="1">
                  <a:txBody>
                    <a:bodyPr/>
                    <a:lstStyle/>
                    <a:p>
                      <a:endParaRPr lang="en-SE"/>
                    </a:p>
                  </a:txBody>
                  <a:tcPr/>
                </a:tc>
                <a:tc hMerge="1">
                  <a:txBody>
                    <a:bodyPr/>
                    <a:lstStyle/>
                    <a:p>
                      <a:endParaRPr lang="en-SE"/>
                    </a:p>
                  </a:txBody>
                  <a:tcPr/>
                </a:tc>
                <a:tc hMerge="1">
                  <a:txBody>
                    <a:bodyPr/>
                    <a:lstStyle/>
                    <a:p>
                      <a:endParaRPr lang="en-SE" dirty="0"/>
                    </a:p>
                  </a:txBody>
                  <a:tcPr/>
                </a:tc>
                <a:extLst>
                  <a:ext uri="{0D108BD9-81ED-4DB2-BD59-A6C34878D82A}">
                    <a16:rowId xmlns:a16="http://schemas.microsoft.com/office/drawing/2014/main" val="2253825025"/>
                  </a:ext>
                </a:extLst>
              </a:tr>
              <a:tr h="370840">
                <a:tc>
                  <a:txBody>
                    <a:bodyPr/>
                    <a:lstStyle/>
                    <a:p>
                      <a:r>
                        <a:rPr lang="en-SE" sz="1600" dirty="0"/>
                        <a:t>Very bad</a:t>
                      </a:r>
                    </a:p>
                  </a:txBody>
                  <a:tcPr/>
                </a:tc>
                <a:tc>
                  <a:txBody>
                    <a:bodyPr/>
                    <a:lstStyle/>
                    <a:p>
                      <a:r>
                        <a:rPr lang="de-DE" sz="1600" dirty="0"/>
                        <a:t>B</a:t>
                      </a:r>
                      <a:r>
                        <a:rPr lang="en-SE" sz="1600" dirty="0"/>
                        <a:t>ad</a:t>
                      </a:r>
                    </a:p>
                  </a:txBody>
                  <a:tcPr/>
                </a:tc>
                <a:tc>
                  <a:txBody>
                    <a:bodyPr/>
                    <a:lstStyle/>
                    <a:p>
                      <a:r>
                        <a:rPr lang="en-SE" sz="1600" dirty="0"/>
                        <a:t>Neutral</a:t>
                      </a:r>
                    </a:p>
                  </a:txBody>
                  <a:tcPr/>
                </a:tc>
                <a:tc>
                  <a:txBody>
                    <a:bodyPr/>
                    <a:lstStyle/>
                    <a:p>
                      <a:r>
                        <a:rPr lang="en-SE" sz="1600" dirty="0"/>
                        <a:t>Good</a:t>
                      </a:r>
                    </a:p>
                  </a:txBody>
                  <a:tcPr/>
                </a:tc>
                <a:tc>
                  <a:txBody>
                    <a:bodyPr/>
                    <a:lstStyle/>
                    <a:p>
                      <a:r>
                        <a:rPr lang="en-SE" sz="1600" dirty="0"/>
                        <a:t>Very Good</a:t>
                      </a:r>
                    </a:p>
                  </a:txBody>
                  <a:tcPr/>
                </a:tc>
                <a:extLst>
                  <a:ext uri="{0D108BD9-81ED-4DB2-BD59-A6C34878D82A}">
                    <a16:rowId xmlns:a16="http://schemas.microsoft.com/office/drawing/2014/main" val="2171951159"/>
                  </a:ext>
                </a:extLst>
              </a:tr>
            </a:tbl>
          </a:graphicData>
        </a:graphic>
      </p:graphicFrame>
      <p:sp>
        <p:nvSpPr>
          <p:cNvPr id="9" name="Oval 8">
            <a:extLst>
              <a:ext uri="{FF2B5EF4-FFF2-40B4-BE49-F238E27FC236}">
                <a16:creationId xmlns:a16="http://schemas.microsoft.com/office/drawing/2014/main" id="{3EF4C10E-B773-7FF5-2680-E4B96D031B5C}"/>
              </a:ext>
            </a:extLst>
          </p:cNvPr>
          <p:cNvSpPr/>
          <p:nvPr/>
        </p:nvSpPr>
        <p:spPr>
          <a:xfrm>
            <a:off x="1946664" y="5578888"/>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0" name="Oval 9">
            <a:extLst>
              <a:ext uri="{FF2B5EF4-FFF2-40B4-BE49-F238E27FC236}">
                <a16:creationId xmlns:a16="http://schemas.microsoft.com/office/drawing/2014/main" id="{16CFD13C-C02F-373A-5440-92ECA6F88EDF}"/>
              </a:ext>
            </a:extLst>
          </p:cNvPr>
          <p:cNvSpPr/>
          <p:nvPr/>
        </p:nvSpPr>
        <p:spPr>
          <a:xfrm>
            <a:off x="4438044" y="5578888"/>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1" name="Straight Arrow Connector 10">
            <a:extLst>
              <a:ext uri="{FF2B5EF4-FFF2-40B4-BE49-F238E27FC236}">
                <a16:creationId xmlns:a16="http://schemas.microsoft.com/office/drawing/2014/main" id="{8D6446C7-5B0E-A0D2-9467-D6A413D9E496}"/>
              </a:ext>
            </a:extLst>
          </p:cNvPr>
          <p:cNvCxnSpPr>
            <a:stCxn id="9" idx="6"/>
            <a:endCxn id="10" idx="2"/>
          </p:cNvCxnSpPr>
          <p:nvPr/>
        </p:nvCxnSpPr>
        <p:spPr>
          <a:xfrm>
            <a:off x="2306664" y="5758888"/>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5DABE1B2-64F0-3BC9-130E-7D59AA1F9840}"/>
              </a:ext>
            </a:extLst>
          </p:cNvPr>
          <p:cNvSpPr txBox="1"/>
          <p:nvPr/>
        </p:nvSpPr>
        <p:spPr>
          <a:xfrm>
            <a:off x="1275373" y="5162836"/>
            <a:ext cx="1702582" cy="369332"/>
          </a:xfrm>
          <a:prstGeom prst="rect">
            <a:avLst/>
          </a:prstGeom>
          <a:noFill/>
        </p:spPr>
        <p:txBody>
          <a:bodyPr wrap="none" rtlCol="0">
            <a:spAutoFit/>
          </a:bodyPr>
          <a:lstStyle/>
          <a:p>
            <a:r>
              <a:rPr lang="en-SE" dirty="0">
                <a:solidFill>
                  <a:srgbClr val="D0180A"/>
                </a:solidFill>
              </a:rPr>
              <a:t>way-of-working</a:t>
            </a:r>
            <a:endParaRPr lang="en-US" noProof="0" dirty="0">
              <a:solidFill>
                <a:srgbClr val="D0180A"/>
              </a:solidFill>
            </a:endParaRPr>
          </a:p>
        </p:txBody>
      </p:sp>
      <p:sp>
        <p:nvSpPr>
          <p:cNvPr id="13" name="TextBox 12">
            <a:extLst>
              <a:ext uri="{FF2B5EF4-FFF2-40B4-BE49-F238E27FC236}">
                <a16:creationId xmlns:a16="http://schemas.microsoft.com/office/drawing/2014/main" id="{DC26F3FC-F704-3BE0-A195-72A9C2ADC96F}"/>
              </a:ext>
            </a:extLst>
          </p:cNvPr>
          <p:cNvSpPr txBox="1"/>
          <p:nvPr/>
        </p:nvSpPr>
        <p:spPr>
          <a:xfrm>
            <a:off x="3838922" y="5162243"/>
            <a:ext cx="2858283" cy="369332"/>
          </a:xfrm>
          <a:prstGeom prst="rect">
            <a:avLst/>
          </a:prstGeom>
          <a:noFill/>
        </p:spPr>
        <p:txBody>
          <a:bodyPr wrap="none" rtlCol="0">
            <a:spAutoFit/>
          </a:bodyPr>
          <a:lstStyle/>
          <a:p>
            <a:r>
              <a:rPr lang="de-DE" noProof="0" dirty="0">
                <a:solidFill>
                  <a:srgbClr val="006D70"/>
                </a:solidFill>
              </a:rPr>
              <a:t>I</a:t>
            </a:r>
            <a:r>
              <a:rPr lang="en-SE" noProof="0" dirty="0" err="1">
                <a:solidFill>
                  <a:srgbClr val="006D70"/>
                </a:solidFill>
              </a:rPr>
              <a:t>ntra</a:t>
            </a:r>
            <a:r>
              <a:rPr lang="en-SE" noProof="0" dirty="0">
                <a:solidFill>
                  <a:srgbClr val="006D70"/>
                </a:solidFill>
              </a:rPr>
              <a:t>-team communication</a:t>
            </a:r>
          </a:p>
        </p:txBody>
      </p:sp>
    </p:spTree>
    <p:extLst>
      <p:ext uri="{BB962C8B-B14F-4D97-AF65-F5344CB8AC3E}">
        <p14:creationId xmlns:p14="http://schemas.microsoft.com/office/powerpoint/2010/main" val="803205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EC44B-3C2E-197A-F87B-A75B90182652}"/>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76BE374-BC10-EE65-457A-83E3C54FBD69}"/>
              </a:ext>
            </a:extLst>
          </p:cNvPr>
          <p:cNvSpPr>
            <a:spLocks noGrp="1"/>
          </p:cNvSpPr>
          <p:nvPr>
            <p:ph type="title"/>
          </p:nvPr>
        </p:nvSpPr>
        <p:spPr/>
        <p:txBody>
          <a:bodyPr/>
          <a:lstStyle/>
          <a:p>
            <a:r>
              <a:rPr lang="en-US" noProof="0" dirty="0"/>
              <a:t>The Bayesian Workflow</a:t>
            </a:r>
          </a:p>
        </p:txBody>
      </p:sp>
      <p:sp>
        <p:nvSpPr>
          <p:cNvPr id="4" name="Date Placeholder 3">
            <a:extLst>
              <a:ext uri="{FF2B5EF4-FFF2-40B4-BE49-F238E27FC236}">
                <a16:creationId xmlns:a16="http://schemas.microsoft.com/office/drawing/2014/main" id="{6A5E030D-6F4D-5278-68F9-7110BC44F9C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4F85F976-BC1D-E1B3-1A1D-61C8A6BCA485}"/>
              </a:ext>
            </a:extLst>
          </p:cNvPr>
          <p:cNvSpPr>
            <a:spLocks noGrp="1"/>
          </p:cNvSpPr>
          <p:nvPr>
            <p:ph type="sldNum" sz="quarter" idx="12"/>
          </p:nvPr>
        </p:nvSpPr>
        <p:spPr/>
        <p:txBody>
          <a:bodyPr/>
          <a:lstStyle/>
          <a:p>
            <a:fld id="{271ECC92-9CDE-4EB3-B1C5-F46B9E1FA3C1}" type="slidenum">
              <a:rPr lang="en-US" noProof="0" smtClean="0"/>
              <a:t>91</a:t>
            </a:fld>
            <a:endParaRPr lang="en-US" noProof="0" dirty="0"/>
          </a:p>
        </p:txBody>
      </p:sp>
      <p:grpSp>
        <p:nvGrpSpPr>
          <p:cNvPr id="62" name="Group 61">
            <a:extLst>
              <a:ext uri="{FF2B5EF4-FFF2-40B4-BE49-F238E27FC236}">
                <a16:creationId xmlns:a16="http://schemas.microsoft.com/office/drawing/2014/main" id="{EE869313-86C9-F34F-D426-007DF815BB50}"/>
              </a:ext>
            </a:extLst>
          </p:cNvPr>
          <p:cNvGrpSpPr/>
          <p:nvPr/>
        </p:nvGrpSpPr>
        <p:grpSpPr>
          <a:xfrm>
            <a:off x="1485898" y="2066265"/>
            <a:ext cx="504000" cy="504000"/>
            <a:chOff x="977950" y="2729564"/>
            <a:chExt cx="504000" cy="504000"/>
          </a:xfrm>
        </p:grpSpPr>
        <p:sp>
          <p:nvSpPr>
            <p:cNvPr id="2" name="Oval 1">
              <a:extLst>
                <a:ext uri="{FF2B5EF4-FFF2-40B4-BE49-F238E27FC236}">
                  <a16:creationId xmlns:a16="http://schemas.microsoft.com/office/drawing/2014/main" id="{8C40C91B-455C-6708-9D27-16E7ED1A2986}"/>
                </a:ext>
              </a:extLst>
            </p:cNvPr>
            <p:cNvSpPr/>
            <p:nvPr/>
          </p:nvSpPr>
          <p:spPr>
            <a:xfrm>
              <a:off x="977950" y="2729564"/>
              <a:ext cx="504000" cy="504000"/>
            </a:xfrm>
            <a:prstGeom prst="ellipse">
              <a:avLst/>
            </a:prstGeom>
            <a:solidFill>
              <a:schemeClr val="accent6">
                <a:lumMod val="20000"/>
                <a:lumOff val="8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47" name="Graphic 46" descr="Bar chart with solid fill">
              <a:extLst>
                <a:ext uri="{FF2B5EF4-FFF2-40B4-BE49-F238E27FC236}">
                  <a16:creationId xmlns:a16="http://schemas.microsoft.com/office/drawing/2014/main" id="{46F90012-F142-3F77-2426-8DFA1CDA813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31950" y="2783564"/>
              <a:ext cx="396000" cy="396000"/>
            </a:xfrm>
            <a:prstGeom prst="rect">
              <a:avLst/>
            </a:prstGeom>
          </p:spPr>
        </p:pic>
      </p:grpSp>
      <p:sp>
        <p:nvSpPr>
          <p:cNvPr id="49" name="TextBox 48">
            <a:extLst>
              <a:ext uri="{FF2B5EF4-FFF2-40B4-BE49-F238E27FC236}">
                <a16:creationId xmlns:a16="http://schemas.microsoft.com/office/drawing/2014/main" id="{EE251E6C-C005-3CEA-EA29-47FC4CCB09F0}"/>
              </a:ext>
            </a:extLst>
          </p:cNvPr>
          <p:cNvSpPr txBox="1"/>
          <p:nvPr/>
        </p:nvSpPr>
        <p:spPr>
          <a:xfrm>
            <a:off x="2131182" y="2144429"/>
            <a:ext cx="5142818" cy="369332"/>
          </a:xfrm>
          <a:prstGeom prst="rect">
            <a:avLst/>
          </a:prstGeom>
          <a:noFill/>
        </p:spPr>
        <p:txBody>
          <a:bodyPr wrap="none" rtlCol="0">
            <a:spAutoFit/>
          </a:bodyPr>
          <a:lstStyle/>
          <a:p>
            <a:r>
              <a:rPr lang="en-SE" b="1" dirty="0"/>
              <a:t>Select</a:t>
            </a:r>
            <a:r>
              <a:rPr lang="en-SE" dirty="0"/>
              <a:t> a distribution family with maximum entropy</a:t>
            </a:r>
          </a:p>
        </p:txBody>
      </p:sp>
      <p:sp>
        <p:nvSpPr>
          <p:cNvPr id="51" name="TextBox 50">
            <a:extLst>
              <a:ext uri="{FF2B5EF4-FFF2-40B4-BE49-F238E27FC236}">
                <a16:creationId xmlns:a16="http://schemas.microsoft.com/office/drawing/2014/main" id="{DC8FF997-F09D-BA71-9955-F44ED874B95E}"/>
              </a:ext>
            </a:extLst>
          </p:cNvPr>
          <p:cNvSpPr txBox="1"/>
          <p:nvPr/>
        </p:nvSpPr>
        <p:spPr>
          <a:xfrm>
            <a:off x="2131182" y="2758127"/>
            <a:ext cx="6021648" cy="369332"/>
          </a:xfrm>
          <a:prstGeom prst="rect">
            <a:avLst/>
          </a:prstGeom>
          <a:noFill/>
        </p:spPr>
        <p:txBody>
          <a:bodyPr wrap="none" rtlCol="0">
            <a:spAutoFit/>
          </a:bodyPr>
          <a:lstStyle/>
          <a:p>
            <a:r>
              <a:rPr lang="en-SE" b="1" dirty="0"/>
              <a:t>Build</a:t>
            </a:r>
            <a:r>
              <a:rPr lang="en-SE" dirty="0"/>
              <a:t> a regression formula with an appropriate </a:t>
            </a:r>
            <a:r>
              <a:rPr lang="en-SE" i="1" dirty="0"/>
              <a:t>link function</a:t>
            </a:r>
          </a:p>
        </p:txBody>
      </p:sp>
      <p:sp>
        <p:nvSpPr>
          <p:cNvPr id="53" name="TextBox 52">
            <a:extLst>
              <a:ext uri="{FF2B5EF4-FFF2-40B4-BE49-F238E27FC236}">
                <a16:creationId xmlns:a16="http://schemas.microsoft.com/office/drawing/2014/main" id="{78F0F3DC-2065-C7CE-1FE1-1BC460625E22}"/>
              </a:ext>
            </a:extLst>
          </p:cNvPr>
          <p:cNvSpPr txBox="1"/>
          <p:nvPr/>
        </p:nvSpPr>
        <p:spPr>
          <a:xfrm>
            <a:off x="2131182" y="3368047"/>
            <a:ext cx="4979568" cy="369332"/>
          </a:xfrm>
          <a:prstGeom prst="rect">
            <a:avLst/>
          </a:prstGeom>
          <a:noFill/>
        </p:spPr>
        <p:txBody>
          <a:bodyPr wrap="none" rtlCol="0">
            <a:spAutoFit/>
          </a:bodyPr>
          <a:lstStyle/>
          <a:p>
            <a:r>
              <a:rPr lang="en-SE" b="1" dirty="0"/>
              <a:t>Select</a:t>
            </a:r>
            <a:r>
              <a:rPr lang="en-SE" dirty="0"/>
              <a:t> and </a:t>
            </a:r>
            <a:r>
              <a:rPr lang="en-SE" b="1" dirty="0"/>
              <a:t>assess</a:t>
            </a:r>
            <a:r>
              <a:rPr lang="en-SE" dirty="0"/>
              <a:t> prior probability distributions</a:t>
            </a:r>
          </a:p>
        </p:txBody>
      </p:sp>
      <p:sp>
        <p:nvSpPr>
          <p:cNvPr id="55" name="TextBox 54">
            <a:extLst>
              <a:ext uri="{FF2B5EF4-FFF2-40B4-BE49-F238E27FC236}">
                <a16:creationId xmlns:a16="http://schemas.microsoft.com/office/drawing/2014/main" id="{657EE765-D90E-BC2E-4846-19627D8343A6}"/>
              </a:ext>
            </a:extLst>
          </p:cNvPr>
          <p:cNvSpPr txBox="1"/>
          <p:nvPr/>
        </p:nvSpPr>
        <p:spPr>
          <a:xfrm>
            <a:off x="2131182" y="3973521"/>
            <a:ext cx="6375720" cy="369332"/>
          </a:xfrm>
          <a:prstGeom prst="rect">
            <a:avLst/>
          </a:prstGeom>
          <a:noFill/>
        </p:spPr>
        <p:txBody>
          <a:bodyPr wrap="none" rtlCol="0">
            <a:spAutoFit/>
          </a:bodyPr>
          <a:lstStyle/>
          <a:p>
            <a:r>
              <a:rPr lang="en-SE" b="1" dirty="0"/>
              <a:t>Generate</a:t>
            </a:r>
            <a:r>
              <a:rPr lang="en-SE" dirty="0"/>
              <a:t> posteriors with </a:t>
            </a:r>
            <a:r>
              <a:rPr lang="en-SE" i="1" dirty="0"/>
              <a:t>Markov chain Monte Carlo </a:t>
            </a:r>
            <a:r>
              <a:rPr lang="en-SE" dirty="0"/>
              <a:t>algorithms</a:t>
            </a:r>
          </a:p>
        </p:txBody>
      </p:sp>
      <p:sp>
        <p:nvSpPr>
          <p:cNvPr id="57" name="TextBox 56">
            <a:extLst>
              <a:ext uri="{FF2B5EF4-FFF2-40B4-BE49-F238E27FC236}">
                <a16:creationId xmlns:a16="http://schemas.microsoft.com/office/drawing/2014/main" id="{18EBCDE8-C9BD-B20E-CCD2-3BE4B25AA29E}"/>
              </a:ext>
            </a:extLst>
          </p:cNvPr>
          <p:cNvSpPr txBox="1"/>
          <p:nvPr/>
        </p:nvSpPr>
        <p:spPr>
          <a:xfrm>
            <a:off x="2131182" y="4593415"/>
            <a:ext cx="4504503" cy="369332"/>
          </a:xfrm>
          <a:prstGeom prst="rect">
            <a:avLst/>
          </a:prstGeom>
          <a:noFill/>
        </p:spPr>
        <p:txBody>
          <a:bodyPr wrap="none" rtlCol="0">
            <a:spAutoFit/>
          </a:bodyPr>
          <a:lstStyle/>
          <a:p>
            <a:r>
              <a:rPr lang="en-SE" b="1" dirty="0"/>
              <a:t>Assess</a:t>
            </a:r>
            <a:r>
              <a:rPr lang="en-SE" dirty="0"/>
              <a:t> the model fit via training diagnostics</a:t>
            </a:r>
          </a:p>
        </p:txBody>
      </p:sp>
      <p:sp>
        <p:nvSpPr>
          <p:cNvPr id="59" name="TextBox 58">
            <a:extLst>
              <a:ext uri="{FF2B5EF4-FFF2-40B4-BE49-F238E27FC236}">
                <a16:creationId xmlns:a16="http://schemas.microsoft.com/office/drawing/2014/main" id="{17D4B1D9-719B-AB4A-1DAD-BF6D022B3288}"/>
              </a:ext>
            </a:extLst>
          </p:cNvPr>
          <p:cNvSpPr txBox="1"/>
          <p:nvPr/>
        </p:nvSpPr>
        <p:spPr>
          <a:xfrm>
            <a:off x="2131182" y="5215419"/>
            <a:ext cx="6560450" cy="369332"/>
          </a:xfrm>
          <a:prstGeom prst="rect">
            <a:avLst/>
          </a:prstGeom>
          <a:noFill/>
        </p:spPr>
        <p:txBody>
          <a:bodyPr wrap="none" rtlCol="0">
            <a:spAutoFit/>
          </a:bodyPr>
          <a:lstStyle/>
          <a:p>
            <a:r>
              <a:rPr lang="en-SE" b="1" dirty="0"/>
              <a:t>Plot </a:t>
            </a:r>
            <a:r>
              <a:rPr lang="en-SE" dirty="0"/>
              <a:t>marginal effects to draw conclusions from Bayesian models</a:t>
            </a:r>
          </a:p>
        </p:txBody>
      </p:sp>
      <p:grpSp>
        <p:nvGrpSpPr>
          <p:cNvPr id="63" name="Group 62">
            <a:extLst>
              <a:ext uri="{FF2B5EF4-FFF2-40B4-BE49-F238E27FC236}">
                <a16:creationId xmlns:a16="http://schemas.microsoft.com/office/drawing/2014/main" id="{C8D1C820-F351-3542-1CA0-C5C4414CE219}"/>
              </a:ext>
            </a:extLst>
          </p:cNvPr>
          <p:cNvGrpSpPr/>
          <p:nvPr/>
        </p:nvGrpSpPr>
        <p:grpSpPr>
          <a:xfrm>
            <a:off x="1485898" y="2679962"/>
            <a:ext cx="504000" cy="504000"/>
            <a:chOff x="977950" y="2729564"/>
            <a:chExt cx="504000" cy="504000"/>
          </a:xfrm>
        </p:grpSpPr>
        <p:sp>
          <p:nvSpPr>
            <p:cNvPr id="64" name="Oval 63">
              <a:extLst>
                <a:ext uri="{FF2B5EF4-FFF2-40B4-BE49-F238E27FC236}">
                  <a16:creationId xmlns:a16="http://schemas.microsoft.com/office/drawing/2014/main" id="{F469C1C1-839A-601E-6F3C-C4E3CC2F3047}"/>
                </a:ext>
              </a:extLst>
            </p:cNvPr>
            <p:cNvSpPr/>
            <p:nvPr/>
          </p:nvSpPr>
          <p:spPr>
            <a:xfrm>
              <a:off x="977950" y="2729564"/>
              <a:ext cx="504000" cy="504000"/>
            </a:xfrm>
            <a:prstGeom prst="ellipse">
              <a:avLst/>
            </a:prstGeom>
            <a:solidFill>
              <a:schemeClr val="accent6">
                <a:lumMod val="40000"/>
                <a:lumOff val="6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5" name="Graphic 64" descr="Golden Ratio with solid fill">
              <a:extLst>
                <a:ext uri="{FF2B5EF4-FFF2-40B4-BE49-F238E27FC236}">
                  <a16:creationId xmlns:a16="http://schemas.microsoft.com/office/drawing/2014/main" id="{984EE754-B28F-0C25-66CF-E84126F81D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31950" y="2783564"/>
              <a:ext cx="396000" cy="396000"/>
            </a:xfrm>
            <a:prstGeom prst="rect">
              <a:avLst/>
            </a:prstGeom>
          </p:spPr>
        </p:pic>
      </p:grpSp>
      <p:grpSp>
        <p:nvGrpSpPr>
          <p:cNvPr id="66" name="Group 65">
            <a:extLst>
              <a:ext uri="{FF2B5EF4-FFF2-40B4-BE49-F238E27FC236}">
                <a16:creationId xmlns:a16="http://schemas.microsoft.com/office/drawing/2014/main" id="{2D42B42C-1710-7202-DF06-8F157C41BC3B}"/>
              </a:ext>
            </a:extLst>
          </p:cNvPr>
          <p:cNvGrpSpPr/>
          <p:nvPr/>
        </p:nvGrpSpPr>
        <p:grpSpPr>
          <a:xfrm>
            <a:off x="1485898" y="3293659"/>
            <a:ext cx="504000" cy="504000"/>
            <a:chOff x="977950" y="2729564"/>
            <a:chExt cx="504000" cy="504000"/>
          </a:xfrm>
        </p:grpSpPr>
        <p:sp>
          <p:nvSpPr>
            <p:cNvPr id="67" name="Oval 66">
              <a:extLst>
                <a:ext uri="{FF2B5EF4-FFF2-40B4-BE49-F238E27FC236}">
                  <a16:creationId xmlns:a16="http://schemas.microsoft.com/office/drawing/2014/main" id="{E54FC720-3673-185A-D016-DF9A9DA7EC66}"/>
                </a:ext>
              </a:extLst>
            </p:cNvPr>
            <p:cNvSpPr/>
            <p:nvPr/>
          </p:nvSpPr>
          <p:spPr>
            <a:xfrm>
              <a:off x="977950" y="2729564"/>
              <a:ext cx="504000" cy="504000"/>
            </a:xfrm>
            <a:prstGeom prst="ellipse">
              <a:avLst/>
            </a:prstGeom>
            <a:solidFill>
              <a:schemeClr val="accent6">
                <a:lumMod val="60000"/>
                <a:lumOff val="4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68" name="Graphic 67" descr="Normal Distribution with solid fill">
              <a:extLst>
                <a:ext uri="{FF2B5EF4-FFF2-40B4-BE49-F238E27FC236}">
                  <a16:creationId xmlns:a16="http://schemas.microsoft.com/office/drawing/2014/main" id="{E803DB5B-54BB-6E68-7C27-35994B8CD6E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031950" y="2783564"/>
              <a:ext cx="396000" cy="396000"/>
            </a:xfrm>
            <a:prstGeom prst="rect">
              <a:avLst/>
            </a:prstGeom>
          </p:spPr>
        </p:pic>
      </p:grpSp>
      <p:grpSp>
        <p:nvGrpSpPr>
          <p:cNvPr id="69" name="Group 68">
            <a:extLst>
              <a:ext uri="{FF2B5EF4-FFF2-40B4-BE49-F238E27FC236}">
                <a16:creationId xmlns:a16="http://schemas.microsoft.com/office/drawing/2014/main" id="{13B65BF5-3595-ACA8-3913-06D908850749}"/>
              </a:ext>
            </a:extLst>
          </p:cNvPr>
          <p:cNvGrpSpPr/>
          <p:nvPr/>
        </p:nvGrpSpPr>
        <p:grpSpPr>
          <a:xfrm>
            <a:off x="1485898" y="3907356"/>
            <a:ext cx="504000" cy="504000"/>
            <a:chOff x="977950" y="2729564"/>
            <a:chExt cx="504000" cy="504000"/>
          </a:xfrm>
        </p:grpSpPr>
        <p:sp>
          <p:nvSpPr>
            <p:cNvPr id="70" name="Oval 69">
              <a:extLst>
                <a:ext uri="{FF2B5EF4-FFF2-40B4-BE49-F238E27FC236}">
                  <a16:creationId xmlns:a16="http://schemas.microsoft.com/office/drawing/2014/main" id="{3B6451A7-6EEF-1AF5-B9FC-32A7091BE2AB}"/>
                </a:ext>
              </a:extLst>
            </p:cNvPr>
            <p:cNvSpPr/>
            <p:nvPr/>
          </p:nvSpPr>
          <p:spPr>
            <a:xfrm>
              <a:off x="977950" y="2729564"/>
              <a:ext cx="504000" cy="504000"/>
            </a:xfrm>
            <a:prstGeom prst="ellipse">
              <a:avLst/>
            </a:prstGeom>
            <a:solidFill>
              <a:srgbClr val="4300EA"/>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1" name="Graphic 70" descr="Abacus with solid fill">
              <a:extLst>
                <a:ext uri="{FF2B5EF4-FFF2-40B4-BE49-F238E27FC236}">
                  <a16:creationId xmlns:a16="http://schemas.microsoft.com/office/drawing/2014/main" id="{32BA96E0-7DC3-B282-A529-4DECAA55BF1C}"/>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31950" y="2783564"/>
              <a:ext cx="396000" cy="396000"/>
            </a:xfrm>
            <a:prstGeom prst="rect">
              <a:avLst/>
            </a:prstGeom>
          </p:spPr>
        </p:pic>
      </p:grpSp>
      <p:grpSp>
        <p:nvGrpSpPr>
          <p:cNvPr id="72" name="Group 71">
            <a:extLst>
              <a:ext uri="{FF2B5EF4-FFF2-40B4-BE49-F238E27FC236}">
                <a16:creationId xmlns:a16="http://schemas.microsoft.com/office/drawing/2014/main" id="{B93B09F9-393A-3A9D-4CCF-DB908E9149A1}"/>
              </a:ext>
            </a:extLst>
          </p:cNvPr>
          <p:cNvGrpSpPr/>
          <p:nvPr/>
        </p:nvGrpSpPr>
        <p:grpSpPr>
          <a:xfrm>
            <a:off x="1485898" y="4521053"/>
            <a:ext cx="504000" cy="504000"/>
            <a:chOff x="977950" y="2729564"/>
            <a:chExt cx="504000" cy="504000"/>
          </a:xfrm>
        </p:grpSpPr>
        <p:sp>
          <p:nvSpPr>
            <p:cNvPr id="73" name="Oval 72">
              <a:extLst>
                <a:ext uri="{FF2B5EF4-FFF2-40B4-BE49-F238E27FC236}">
                  <a16:creationId xmlns:a16="http://schemas.microsoft.com/office/drawing/2014/main" id="{08B5BC3C-CCD7-10AB-57C7-838E202E2008}"/>
                </a:ext>
              </a:extLst>
            </p:cNvPr>
            <p:cNvSpPr/>
            <p:nvPr/>
          </p:nvSpPr>
          <p:spPr>
            <a:xfrm>
              <a:off x="977950" y="2729564"/>
              <a:ext cx="504000" cy="504000"/>
            </a:xfrm>
            <a:prstGeom prst="ellipse">
              <a:avLst/>
            </a:prstGeom>
            <a:solidFill>
              <a:schemeClr val="accent6">
                <a:lumMod val="75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74" name="Graphic 73" descr="Trigonometry with solid fill">
              <a:extLst>
                <a:ext uri="{FF2B5EF4-FFF2-40B4-BE49-F238E27FC236}">
                  <a16:creationId xmlns:a16="http://schemas.microsoft.com/office/drawing/2014/main" id="{E0FB2606-F64F-1203-A86C-7C58271B657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31950" y="2783564"/>
              <a:ext cx="396000" cy="396000"/>
            </a:xfrm>
            <a:prstGeom prst="rect">
              <a:avLst/>
            </a:prstGeom>
          </p:spPr>
        </p:pic>
      </p:grpSp>
      <p:grpSp>
        <p:nvGrpSpPr>
          <p:cNvPr id="78" name="Group 77">
            <a:extLst>
              <a:ext uri="{FF2B5EF4-FFF2-40B4-BE49-F238E27FC236}">
                <a16:creationId xmlns:a16="http://schemas.microsoft.com/office/drawing/2014/main" id="{E51C37E0-8191-D1A5-CB9C-B361C110CB84}"/>
              </a:ext>
            </a:extLst>
          </p:cNvPr>
          <p:cNvGrpSpPr/>
          <p:nvPr/>
        </p:nvGrpSpPr>
        <p:grpSpPr>
          <a:xfrm>
            <a:off x="1485898" y="5134751"/>
            <a:ext cx="504000" cy="504000"/>
            <a:chOff x="977950" y="2729564"/>
            <a:chExt cx="504000" cy="504000"/>
          </a:xfrm>
        </p:grpSpPr>
        <p:sp>
          <p:nvSpPr>
            <p:cNvPr id="79" name="Oval 78">
              <a:extLst>
                <a:ext uri="{FF2B5EF4-FFF2-40B4-BE49-F238E27FC236}">
                  <a16:creationId xmlns:a16="http://schemas.microsoft.com/office/drawing/2014/main" id="{18E9E092-C3D3-8C10-3508-1509F6623B15}"/>
                </a:ext>
              </a:extLst>
            </p:cNvPr>
            <p:cNvSpPr/>
            <p:nvPr/>
          </p:nvSpPr>
          <p:spPr>
            <a:xfrm>
              <a:off x="977950" y="2729564"/>
              <a:ext cx="504000" cy="504000"/>
            </a:xfrm>
            <a:prstGeom prst="ellipse">
              <a:avLst/>
            </a:prstGeom>
            <a:solidFill>
              <a:schemeClr val="accent6">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pic>
          <p:nvPicPr>
            <p:cNvPr id="80" name="Graphic 79" descr="Scatterplot with solid fill">
              <a:extLst>
                <a:ext uri="{FF2B5EF4-FFF2-40B4-BE49-F238E27FC236}">
                  <a16:creationId xmlns:a16="http://schemas.microsoft.com/office/drawing/2014/main" id="{B3CFF7CF-5A10-04C5-8301-607493C8605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31950" y="2783564"/>
              <a:ext cx="396000" cy="396000"/>
            </a:xfrm>
            <a:prstGeom prst="rect">
              <a:avLst/>
            </a:prstGeom>
          </p:spPr>
        </p:pic>
      </p:grpSp>
      <p:cxnSp>
        <p:nvCxnSpPr>
          <p:cNvPr id="82" name="Straight Arrow Connector 81">
            <a:extLst>
              <a:ext uri="{FF2B5EF4-FFF2-40B4-BE49-F238E27FC236}">
                <a16:creationId xmlns:a16="http://schemas.microsoft.com/office/drawing/2014/main" id="{E9532236-CA40-415F-EA31-C4F5A52A1F28}"/>
              </a:ext>
            </a:extLst>
          </p:cNvPr>
          <p:cNvCxnSpPr>
            <a:stCxn id="2" idx="4"/>
            <a:endCxn id="64" idx="0"/>
          </p:cNvCxnSpPr>
          <p:nvPr/>
        </p:nvCxnSpPr>
        <p:spPr>
          <a:xfrm>
            <a:off x="1737898" y="2570265"/>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3" name="Straight Arrow Connector 82">
            <a:extLst>
              <a:ext uri="{FF2B5EF4-FFF2-40B4-BE49-F238E27FC236}">
                <a16:creationId xmlns:a16="http://schemas.microsoft.com/office/drawing/2014/main" id="{19EC51EB-0E24-A4ED-AE21-0BDA428D9992}"/>
              </a:ext>
            </a:extLst>
          </p:cNvPr>
          <p:cNvCxnSpPr>
            <a:cxnSpLocks/>
            <a:stCxn id="64" idx="4"/>
            <a:endCxn id="67" idx="0"/>
          </p:cNvCxnSpPr>
          <p:nvPr/>
        </p:nvCxnSpPr>
        <p:spPr>
          <a:xfrm>
            <a:off x="1737898" y="3183962"/>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6" name="Straight Arrow Connector 85">
            <a:extLst>
              <a:ext uri="{FF2B5EF4-FFF2-40B4-BE49-F238E27FC236}">
                <a16:creationId xmlns:a16="http://schemas.microsoft.com/office/drawing/2014/main" id="{2914DE51-6D47-FA99-0E15-651DE2FCC2E4}"/>
              </a:ext>
            </a:extLst>
          </p:cNvPr>
          <p:cNvCxnSpPr>
            <a:cxnSpLocks/>
            <a:stCxn id="67" idx="4"/>
            <a:endCxn id="70" idx="0"/>
          </p:cNvCxnSpPr>
          <p:nvPr/>
        </p:nvCxnSpPr>
        <p:spPr>
          <a:xfrm>
            <a:off x="1737898" y="3797659"/>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Straight Arrow Connector 88">
            <a:extLst>
              <a:ext uri="{FF2B5EF4-FFF2-40B4-BE49-F238E27FC236}">
                <a16:creationId xmlns:a16="http://schemas.microsoft.com/office/drawing/2014/main" id="{706E04A0-641E-FC93-B052-6DC91FF2D907}"/>
              </a:ext>
            </a:extLst>
          </p:cNvPr>
          <p:cNvCxnSpPr>
            <a:cxnSpLocks/>
            <a:stCxn id="70" idx="4"/>
            <a:endCxn id="73" idx="0"/>
          </p:cNvCxnSpPr>
          <p:nvPr/>
        </p:nvCxnSpPr>
        <p:spPr>
          <a:xfrm>
            <a:off x="1737898" y="4411356"/>
            <a:ext cx="0" cy="10969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92" name="Straight Arrow Connector 91">
            <a:extLst>
              <a:ext uri="{FF2B5EF4-FFF2-40B4-BE49-F238E27FC236}">
                <a16:creationId xmlns:a16="http://schemas.microsoft.com/office/drawing/2014/main" id="{AC3AB704-A2F7-9EB4-877A-04432004AC82}"/>
              </a:ext>
            </a:extLst>
          </p:cNvPr>
          <p:cNvCxnSpPr>
            <a:cxnSpLocks/>
            <a:stCxn id="73" idx="4"/>
            <a:endCxn id="79" idx="0"/>
          </p:cNvCxnSpPr>
          <p:nvPr/>
        </p:nvCxnSpPr>
        <p:spPr>
          <a:xfrm>
            <a:off x="1737898" y="5025053"/>
            <a:ext cx="0" cy="10969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Footer Placeholder 2">
            <a:extLst>
              <a:ext uri="{FF2B5EF4-FFF2-40B4-BE49-F238E27FC236}">
                <a16:creationId xmlns:a16="http://schemas.microsoft.com/office/drawing/2014/main" id="{D7000CFB-4EB9-2E84-96B8-AE0C28758080}"/>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4123826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3E5CE-80FE-38FB-8A05-21D0BAD0CF62}"/>
              </a:ext>
            </a:extLst>
          </p:cNvPr>
          <p:cNvSpPr>
            <a:spLocks noGrp="1"/>
          </p:cNvSpPr>
          <p:nvPr>
            <p:ph type="title"/>
          </p:nvPr>
        </p:nvSpPr>
        <p:spPr/>
        <p:txBody>
          <a:bodyPr/>
          <a:lstStyle/>
          <a:p>
            <a:r>
              <a:rPr lang="en-SE" noProof="0" dirty="0"/>
              <a:t>Path Ahead</a:t>
            </a:r>
            <a:endParaRPr lang="en-US" noProof="0" dirty="0"/>
          </a:p>
        </p:txBody>
      </p:sp>
      <p:sp>
        <p:nvSpPr>
          <p:cNvPr id="3" name="Text Placeholder 2">
            <a:extLst>
              <a:ext uri="{FF2B5EF4-FFF2-40B4-BE49-F238E27FC236}">
                <a16:creationId xmlns:a16="http://schemas.microsoft.com/office/drawing/2014/main" id="{C8B58632-5553-D592-10A9-F7877A68551D}"/>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D8DA4424-790B-9C28-BE4E-C80F76D3FA18}"/>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2B5A2FE9-68EF-E43B-26A2-4EC6DAA971AB}"/>
              </a:ext>
            </a:extLst>
          </p:cNvPr>
          <p:cNvSpPr>
            <a:spLocks noGrp="1"/>
          </p:cNvSpPr>
          <p:nvPr>
            <p:ph type="sldNum" sz="quarter" idx="12"/>
          </p:nvPr>
        </p:nvSpPr>
        <p:spPr/>
        <p:txBody>
          <a:bodyPr/>
          <a:lstStyle/>
          <a:p>
            <a:fld id="{271ECC92-9CDE-4EB3-B1C5-F46B9E1FA3C1}" type="slidenum">
              <a:rPr lang="en-US" noProof="0" smtClean="0"/>
              <a:t>92</a:t>
            </a:fld>
            <a:endParaRPr lang="en-US" noProof="0" dirty="0"/>
          </a:p>
        </p:txBody>
      </p:sp>
      <p:sp>
        <p:nvSpPr>
          <p:cNvPr id="6" name="Footer Placeholder 5">
            <a:extLst>
              <a:ext uri="{FF2B5EF4-FFF2-40B4-BE49-F238E27FC236}">
                <a16:creationId xmlns:a16="http://schemas.microsoft.com/office/drawing/2014/main" id="{12193558-E863-8AE4-3BC8-B234513A0E4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019939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32BA2FB-E946-E3FB-ABCC-96C2D113EDA3}"/>
              </a:ext>
            </a:extLst>
          </p:cNvPr>
          <p:cNvSpPr>
            <a:spLocks noGrp="1"/>
          </p:cNvSpPr>
          <p:nvPr>
            <p:ph type="title"/>
          </p:nvPr>
        </p:nvSpPr>
        <p:spPr/>
        <p:txBody>
          <a:bodyPr/>
          <a:lstStyle/>
          <a:p>
            <a:r>
              <a:rPr lang="en-SE" dirty="0"/>
              <a:t>BDA in Action</a:t>
            </a:r>
          </a:p>
        </p:txBody>
      </p:sp>
      <p:sp>
        <p:nvSpPr>
          <p:cNvPr id="8" name="Content Placeholder 7">
            <a:extLst>
              <a:ext uri="{FF2B5EF4-FFF2-40B4-BE49-F238E27FC236}">
                <a16:creationId xmlns:a16="http://schemas.microsoft.com/office/drawing/2014/main" id="{2E8EEDDE-9DC6-03FA-261F-24244DCED002}"/>
              </a:ext>
            </a:extLst>
          </p:cNvPr>
          <p:cNvSpPr>
            <a:spLocks noGrp="1"/>
          </p:cNvSpPr>
          <p:nvPr>
            <p:ph idx="1"/>
          </p:nvPr>
        </p:nvSpPr>
        <p:spPr>
          <a:xfrm>
            <a:off x="838200" y="1825625"/>
            <a:ext cx="10515600" cy="624498"/>
          </a:xfrm>
        </p:spPr>
        <p:txBody>
          <a:bodyPr>
            <a:normAutofit/>
          </a:bodyPr>
          <a:lstStyle/>
          <a:p>
            <a:pPr marL="0" indent="0">
              <a:buNone/>
            </a:pPr>
            <a:r>
              <a:rPr lang="en-SE" sz="2600" dirty="0"/>
              <a:t>We have successfully published studies using BDA in RE/SE venues.</a:t>
            </a:r>
          </a:p>
        </p:txBody>
      </p:sp>
      <p:sp>
        <p:nvSpPr>
          <p:cNvPr id="4" name="Date Placeholder 3">
            <a:extLst>
              <a:ext uri="{FF2B5EF4-FFF2-40B4-BE49-F238E27FC236}">
                <a16:creationId xmlns:a16="http://schemas.microsoft.com/office/drawing/2014/main" id="{D2FAE3C0-678B-A40F-F0D4-B74F1B479F3D}"/>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1E859645-70FF-2FED-4BE8-ADE04DE35428}"/>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A0571DB4-0949-7307-9154-CE9AB8423DDB}"/>
              </a:ext>
            </a:extLst>
          </p:cNvPr>
          <p:cNvSpPr>
            <a:spLocks noGrp="1"/>
          </p:cNvSpPr>
          <p:nvPr>
            <p:ph type="sldNum" sz="quarter" idx="12"/>
          </p:nvPr>
        </p:nvSpPr>
        <p:spPr/>
        <p:txBody>
          <a:bodyPr/>
          <a:lstStyle/>
          <a:p>
            <a:fld id="{271ECC92-9CDE-4EB3-B1C5-F46B9E1FA3C1}" type="slidenum">
              <a:rPr lang="en-SE" smtClean="0"/>
              <a:t>93</a:t>
            </a:fld>
            <a:endParaRPr lang="en-SE"/>
          </a:p>
        </p:txBody>
      </p:sp>
      <p:pic>
        <p:nvPicPr>
          <p:cNvPr id="10" name="Picture 9">
            <a:extLst>
              <a:ext uri="{FF2B5EF4-FFF2-40B4-BE49-F238E27FC236}">
                <a16:creationId xmlns:a16="http://schemas.microsoft.com/office/drawing/2014/main" id="{203C831D-B0E5-B719-4EC8-35F0E5291781}"/>
              </a:ext>
            </a:extLst>
          </p:cNvPr>
          <p:cNvPicPr>
            <a:picLocks noChangeAspect="1"/>
          </p:cNvPicPr>
          <p:nvPr/>
        </p:nvPicPr>
        <p:blipFill>
          <a:blip r:embed="rId2"/>
          <a:stretch>
            <a:fillRect/>
          </a:stretch>
        </p:blipFill>
        <p:spPr>
          <a:xfrm>
            <a:off x="834358" y="2360183"/>
            <a:ext cx="4694327" cy="5959356"/>
          </a:xfrm>
          <a:prstGeom prst="rect">
            <a:avLst/>
          </a:prstGeom>
          <a:effectLst>
            <a:outerShdw blurRad="63500" sx="102000" sy="102000" algn="ctr" rotWithShape="0">
              <a:prstClr val="black">
                <a:alpha val="40000"/>
              </a:prstClr>
            </a:outerShdw>
          </a:effectLst>
        </p:spPr>
      </p:pic>
      <p:pic>
        <p:nvPicPr>
          <p:cNvPr id="14" name="Picture 13">
            <a:extLst>
              <a:ext uri="{FF2B5EF4-FFF2-40B4-BE49-F238E27FC236}">
                <a16:creationId xmlns:a16="http://schemas.microsoft.com/office/drawing/2014/main" id="{370DAC36-3BDF-5629-1590-B1714A1860F5}"/>
              </a:ext>
            </a:extLst>
          </p:cNvPr>
          <p:cNvPicPr>
            <a:picLocks noChangeAspect="1"/>
          </p:cNvPicPr>
          <p:nvPr/>
        </p:nvPicPr>
        <p:blipFill>
          <a:blip r:embed="rId3"/>
          <a:stretch>
            <a:fillRect/>
          </a:stretch>
        </p:blipFill>
        <p:spPr>
          <a:xfrm>
            <a:off x="5940969" y="2269295"/>
            <a:ext cx="5000547" cy="3327620"/>
          </a:xfrm>
          <a:prstGeom prst="rect">
            <a:avLst/>
          </a:prstGeom>
          <a:effectLst>
            <a:outerShdw blurRad="63500" sx="102000" sy="102000" algn="ctr" rotWithShape="0">
              <a:prstClr val="black">
                <a:alpha val="40000"/>
              </a:prstClr>
            </a:outerShdw>
          </a:effectLst>
        </p:spPr>
      </p:pic>
      <p:pic>
        <p:nvPicPr>
          <p:cNvPr id="16" name="Picture 15">
            <a:extLst>
              <a:ext uri="{FF2B5EF4-FFF2-40B4-BE49-F238E27FC236}">
                <a16:creationId xmlns:a16="http://schemas.microsoft.com/office/drawing/2014/main" id="{13ECFA65-5D53-0067-57A8-F2EBD8C1F93C}"/>
              </a:ext>
            </a:extLst>
          </p:cNvPr>
          <p:cNvPicPr>
            <a:picLocks noChangeAspect="1"/>
          </p:cNvPicPr>
          <p:nvPr/>
        </p:nvPicPr>
        <p:blipFill>
          <a:blip r:embed="rId4"/>
          <a:stretch>
            <a:fillRect/>
          </a:stretch>
        </p:blipFill>
        <p:spPr>
          <a:xfrm>
            <a:off x="5767754" y="4207514"/>
            <a:ext cx="5929184" cy="1529806"/>
          </a:xfrm>
          <a:prstGeom prst="rect">
            <a:avLst/>
          </a:prstGeom>
          <a:effectLst>
            <a:outerShdw blurRad="63500" sx="102000" sy="102000" algn="ctr" rotWithShape="0">
              <a:prstClr val="black">
                <a:alpha val="40000"/>
              </a:prstClr>
            </a:outerShdw>
          </a:effectLst>
        </p:spPr>
      </p:pic>
      <p:sp>
        <p:nvSpPr>
          <p:cNvPr id="18" name="TextBox 17">
            <a:extLst>
              <a:ext uri="{FF2B5EF4-FFF2-40B4-BE49-F238E27FC236}">
                <a16:creationId xmlns:a16="http://schemas.microsoft.com/office/drawing/2014/main" id="{C5839731-D5D2-51BA-BC8C-1C1EA1E25858}"/>
              </a:ext>
            </a:extLst>
          </p:cNvPr>
          <p:cNvSpPr txBox="1"/>
          <p:nvPr/>
        </p:nvSpPr>
        <p:spPr>
          <a:xfrm>
            <a:off x="6180038" y="6017796"/>
            <a:ext cx="5173762" cy="338554"/>
          </a:xfrm>
          <a:prstGeom prst="rect">
            <a:avLst/>
          </a:prstGeom>
          <a:noFill/>
        </p:spPr>
        <p:txBody>
          <a:bodyPr wrap="square">
            <a:spAutoFit/>
          </a:bodyPr>
          <a:lstStyle/>
          <a:p>
            <a:r>
              <a:rPr lang="en-SE" sz="800" dirty="0"/>
              <a:t>Hey, T. &amp; Frattini, J. (2026). How Requirements Quality Makes (or Breaks) Traceability Link Recovery. In 2026 IEEE 34th International Requirements Engineering Conference (RE). IEEE. https://doi.org/10.48550/arXiv.2606.11834</a:t>
            </a:r>
          </a:p>
        </p:txBody>
      </p:sp>
      <p:sp>
        <p:nvSpPr>
          <p:cNvPr id="19" name="Rectangle 18">
            <a:extLst>
              <a:ext uri="{FF2B5EF4-FFF2-40B4-BE49-F238E27FC236}">
                <a16:creationId xmlns:a16="http://schemas.microsoft.com/office/drawing/2014/main" id="{6AF3AE49-F558-338A-9BA8-90C51BA99913}"/>
              </a:ext>
            </a:extLst>
          </p:cNvPr>
          <p:cNvSpPr/>
          <p:nvPr/>
        </p:nvSpPr>
        <p:spPr>
          <a:xfrm>
            <a:off x="6588370" y="4988281"/>
            <a:ext cx="5685692" cy="720000"/>
          </a:xfrm>
          <a:prstGeom prst="rect">
            <a:avLst/>
          </a:prstGeom>
          <a:solidFill>
            <a:schemeClr val="tx2">
              <a:lumMod val="90000"/>
              <a:lumOff val="1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E" dirty="0"/>
              <a:t>Join me on Wednesday at 11:00 for the full presentation.</a:t>
            </a:r>
          </a:p>
        </p:txBody>
      </p:sp>
    </p:spTree>
    <p:extLst>
      <p:ext uri="{BB962C8B-B14F-4D97-AF65-F5344CB8AC3E}">
        <p14:creationId xmlns:p14="http://schemas.microsoft.com/office/powerpoint/2010/main" val="1823776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472275-F0E3-7AED-64C9-348AAA06F003}"/>
              </a:ext>
            </a:extLst>
          </p:cNvPr>
          <p:cNvSpPr>
            <a:spLocks noGrp="1"/>
          </p:cNvSpPr>
          <p:nvPr>
            <p:ph type="title"/>
          </p:nvPr>
        </p:nvSpPr>
        <p:spPr/>
        <p:txBody>
          <a:bodyPr/>
          <a:lstStyle/>
          <a:p>
            <a:r>
              <a:rPr lang="en-SE" dirty="0"/>
              <a:t>Learning Bayesian Data Analysis</a:t>
            </a:r>
          </a:p>
        </p:txBody>
      </p:sp>
      <p:sp>
        <p:nvSpPr>
          <p:cNvPr id="8" name="Content Placeholder 7">
            <a:extLst>
              <a:ext uri="{FF2B5EF4-FFF2-40B4-BE49-F238E27FC236}">
                <a16:creationId xmlns:a16="http://schemas.microsoft.com/office/drawing/2014/main" id="{FC7B1518-D965-5493-EB33-0FFC54555A67}"/>
              </a:ext>
            </a:extLst>
          </p:cNvPr>
          <p:cNvSpPr>
            <a:spLocks noGrp="1"/>
          </p:cNvSpPr>
          <p:nvPr>
            <p:ph idx="1"/>
          </p:nvPr>
        </p:nvSpPr>
        <p:spPr/>
        <p:txBody>
          <a:bodyPr/>
          <a:lstStyle/>
          <a:p>
            <a:pPr marL="0" indent="0">
              <a:buNone/>
            </a:pPr>
            <a:r>
              <a:rPr lang="en-SE" dirty="0"/>
              <a:t>If you have (1) a causal hypothesis and (2) quantitative data about its variables, you can start on your own BDA path by:</a:t>
            </a:r>
          </a:p>
          <a:p>
            <a:pPr marL="514350" indent="-514350">
              <a:buFont typeface="+mj-lt"/>
              <a:buAutoNum type="arabicPeriod"/>
            </a:pPr>
            <a:r>
              <a:rPr lang="en-SE" sz="2400" b="1" dirty="0"/>
              <a:t>Setting up Stan</a:t>
            </a:r>
            <a:r>
              <a:rPr lang="en-SE" sz="2400" dirty="0"/>
              <a:t>: The computational engine behind contemporary BDA approaches is Stan (</a:t>
            </a:r>
            <a:r>
              <a:rPr lang="de-DE" sz="2400" dirty="0">
                <a:hlinkClick r:id="rId2"/>
              </a:rPr>
              <a:t>https://mc-stan.org/</a:t>
            </a:r>
            <a:r>
              <a:rPr lang="en-SE" sz="2400" dirty="0"/>
              <a:t>). Most programming languages have an interface for it (e.g., </a:t>
            </a:r>
            <a:r>
              <a:rPr lang="en-SE" sz="2400" dirty="0">
                <a:latin typeface="Courier New" panose="02070309020205020404" pitchFamily="49" charset="0"/>
                <a:cs typeface="Courier New" panose="02070309020205020404" pitchFamily="49" charset="0"/>
              </a:rPr>
              <a:t>brms</a:t>
            </a:r>
            <a:r>
              <a:rPr lang="en-SE" sz="2400" dirty="0"/>
              <a:t> in R) </a:t>
            </a:r>
          </a:p>
          <a:p>
            <a:pPr marL="514350" indent="-514350">
              <a:buFont typeface="+mj-lt"/>
              <a:buAutoNum type="arabicPeriod"/>
            </a:pPr>
            <a:r>
              <a:rPr lang="en-SE" sz="2400" b="1" dirty="0"/>
              <a:t>Testing the Bayesian workflow</a:t>
            </a:r>
            <a:r>
              <a:rPr lang="en-SE" sz="2400" dirty="0"/>
              <a:t>: Follow the basic BDA workflow presented in this tutorial to derive inferential conclusions from raw data.</a:t>
            </a:r>
          </a:p>
          <a:p>
            <a:pPr marL="514350" indent="-514350">
              <a:buFont typeface="+mj-lt"/>
              <a:buAutoNum type="arabicPeriod"/>
            </a:pPr>
            <a:r>
              <a:rPr lang="en-SE" sz="2400" b="1" dirty="0"/>
              <a:t>Learn distributions:</a:t>
            </a:r>
            <a:r>
              <a:rPr lang="en-SE" sz="2400" dirty="0"/>
              <a:t> The full potential of BDA is unlocked when mastering different distributions to represent response variables.</a:t>
            </a:r>
            <a:endParaRPr lang="en-SE" sz="2400" b="1" dirty="0"/>
          </a:p>
        </p:txBody>
      </p:sp>
      <p:sp>
        <p:nvSpPr>
          <p:cNvPr id="4" name="Date Placeholder 3">
            <a:extLst>
              <a:ext uri="{FF2B5EF4-FFF2-40B4-BE49-F238E27FC236}">
                <a16:creationId xmlns:a16="http://schemas.microsoft.com/office/drawing/2014/main" id="{91612153-2017-F8DE-C117-9970D8BB79F9}"/>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A66D8C92-44DD-DDFF-9ABC-04C98CBC397A}"/>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1D8660E-F53A-50B5-63F2-DFA08C9CC7A5}"/>
              </a:ext>
            </a:extLst>
          </p:cNvPr>
          <p:cNvSpPr>
            <a:spLocks noGrp="1"/>
          </p:cNvSpPr>
          <p:nvPr>
            <p:ph type="sldNum" sz="quarter" idx="12"/>
          </p:nvPr>
        </p:nvSpPr>
        <p:spPr/>
        <p:txBody>
          <a:bodyPr/>
          <a:lstStyle/>
          <a:p>
            <a:fld id="{271ECC92-9CDE-4EB3-B1C5-F46B9E1FA3C1}" type="slidenum">
              <a:rPr lang="en-SE" smtClean="0"/>
              <a:t>94</a:t>
            </a:fld>
            <a:endParaRPr lang="en-SE"/>
          </a:p>
        </p:txBody>
      </p:sp>
    </p:spTree>
    <p:extLst>
      <p:ext uri="{BB962C8B-B14F-4D97-AF65-F5344CB8AC3E}">
        <p14:creationId xmlns:p14="http://schemas.microsoft.com/office/powerpoint/2010/main" val="35668992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C4048-5FA3-1881-7AC4-D76503033A64}"/>
              </a:ext>
            </a:extLst>
          </p:cNvPr>
          <p:cNvSpPr>
            <a:spLocks noGrp="1"/>
          </p:cNvSpPr>
          <p:nvPr>
            <p:ph type="title"/>
          </p:nvPr>
        </p:nvSpPr>
        <p:spPr/>
        <p:txBody>
          <a:bodyPr/>
          <a:lstStyle/>
          <a:p>
            <a:r>
              <a:rPr lang="en-SE" dirty="0"/>
              <a:t>Distributions</a:t>
            </a:r>
          </a:p>
        </p:txBody>
      </p:sp>
      <p:sp>
        <p:nvSpPr>
          <p:cNvPr id="3" name="Content Placeholder 2">
            <a:extLst>
              <a:ext uri="{FF2B5EF4-FFF2-40B4-BE49-F238E27FC236}">
                <a16:creationId xmlns:a16="http://schemas.microsoft.com/office/drawing/2014/main" id="{D31F3DE7-8AAB-A4AB-898E-E1A71C95742A}"/>
              </a:ext>
            </a:extLst>
          </p:cNvPr>
          <p:cNvSpPr>
            <a:spLocks noGrp="1"/>
          </p:cNvSpPr>
          <p:nvPr>
            <p:ph idx="1"/>
          </p:nvPr>
        </p:nvSpPr>
        <p:spPr>
          <a:xfrm>
            <a:off x="838200" y="1825625"/>
            <a:ext cx="10515600" cy="1120775"/>
          </a:xfrm>
        </p:spPr>
        <p:txBody>
          <a:bodyPr>
            <a:normAutofit/>
          </a:bodyPr>
          <a:lstStyle/>
          <a:p>
            <a:pPr marL="0" indent="0">
              <a:buNone/>
            </a:pPr>
            <a:r>
              <a:rPr lang="en-SE" dirty="0"/>
              <a:t>When learning distributions in addition to the normal distribution, consider the following:</a:t>
            </a:r>
          </a:p>
        </p:txBody>
      </p:sp>
      <p:sp>
        <p:nvSpPr>
          <p:cNvPr id="4" name="Date Placeholder 3">
            <a:extLst>
              <a:ext uri="{FF2B5EF4-FFF2-40B4-BE49-F238E27FC236}">
                <a16:creationId xmlns:a16="http://schemas.microsoft.com/office/drawing/2014/main" id="{5F47DBB2-D195-55BE-C4E3-AEDCD2F7B937}"/>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714257D0-C612-A945-86F7-43B89874B8C9}"/>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0904B0C7-0C62-26F8-295E-FCFD248DF886}"/>
              </a:ext>
            </a:extLst>
          </p:cNvPr>
          <p:cNvSpPr>
            <a:spLocks noGrp="1"/>
          </p:cNvSpPr>
          <p:nvPr>
            <p:ph type="sldNum" sz="quarter" idx="12"/>
          </p:nvPr>
        </p:nvSpPr>
        <p:spPr/>
        <p:txBody>
          <a:bodyPr/>
          <a:lstStyle/>
          <a:p>
            <a:fld id="{271ECC92-9CDE-4EB3-B1C5-F46B9E1FA3C1}" type="slidenum">
              <a:rPr lang="en-SE" smtClean="0"/>
              <a:t>95</a:t>
            </a:fld>
            <a:endParaRPr lang="en-SE"/>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BFF8932A-5250-4BE1-039D-11380318B427}"/>
                  </a:ext>
                </a:extLst>
              </p:cNvPr>
              <p:cNvGraphicFramePr>
                <a:graphicFrameLocks noGrp="1"/>
              </p:cNvGraphicFramePr>
              <p:nvPr>
                <p:extLst>
                  <p:ext uri="{D42A27DB-BD31-4B8C-83A1-F6EECF244321}">
                    <p14:modId xmlns:p14="http://schemas.microsoft.com/office/powerpoint/2010/main" val="2483596394"/>
                  </p:ext>
                </p:extLst>
              </p:nvPr>
            </p:nvGraphicFramePr>
            <p:xfrm>
              <a:off x="838198" y="2933700"/>
              <a:ext cx="10515600" cy="2782951"/>
            </p:xfrm>
            <a:graphic>
              <a:graphicData uri="http://schemas.openxmlformats.org/drawingml/2006/table">
                <a:tbl>
                  <a:tblPr firstRow="1" bandRow="1">
                    <a:tableStyleId>{00A15C55-8517-42AA-B614-E9B94910E393}</a:tableStyleId>
                  </a:tblPr>
                  <a:tblGrid>
                    <a:gridCol w="1905002">
                      <a:extLst>
                        <a:ext uri="{9D8B030D-6E8A-4147-A177-3AD203B41FA5}">
                          <a16:colId xmlns:a16="http://schemas.microsoft.com/office/drawing/2014/main" val="2715434313"/>
                        </a:ext>
                      </a:extLst>
                    </a:gridCol>
                    <a:gridCol w="5143500">
                      <a:extLst>
                        <a:ext uri="{9D8B030D-6E8A-4147-A177-3AD203B41FA5}">
                          <a16:colId xmlns:a16="http://schemas.microsoft.com/office/drawing/2014/main" val="2830016121"/>
                        </a:ext>
                      </a:extLst>
                    </a:gridCol>
                    <a:gridCol w="3467098">
                      <a:extLst>
                        <a:ext uri="{9D8B030D-6E8A-4147-A177-3AD203B41FA5}">
                          <a16:colId xmlns:a16="http://schemas.microsoft.com/office/drawing/2014/main" val="1331585561"/>
                        </a:ext>
                      </a:extLst>
                    </a:gridCol>
                  </a:tblGrid>
                  <a:tr h="370840">
                    <a:tc>
                      <a:txBody>
                        <a:bodyPr/>
                        <a:lstStyle/>
                        <a:p>
                          <a:r>
                            <a:rPr lang="en-SE" dirty="0"/>
                            <a:t>Name</a:t>
                          </a:r>
                        </a:p>
                      </a:txBody>
                      <a:tcPr/>
                    </a:tc>
                    <a:tc>
                      <a:txBody>
                        <a:bodyPr/>
                        <a:lstStyle/>
                        <a:p>
                          <a:r>
                            <a:rPr lang="en-SE" dirty="0"/>
                            <a:t>Description</a:t>
                          </a:r>
                        </a:p>
                      </a:txBody>
                      <a:tcPr/>
                    </a:tc>
                    <a:tc>
                      <a:txBody>
                        <a:bodyPr/>
                        <a:lstStyle/>
                        <a:p>
                          <a:r>
                            <a:rPr lang="en-SE" dirty="0"/>
                            <a:t>Examples</a:t>
                          </a:r>
                        </a:p>
                      </a:txBody>
                      <a:tcPr/>
                    </a:tc>
                    <a:extLst>
                      <a:ext uri="{0D108BD9-81ED-4DB2-BD59-A6C34878D82A}">
                        <a16:rowId xmlns:a16="http://schemas.microsoft.com/office/drawing/2014/main" val="3447700393"/>
                      </a:ext>
                    </a:extLst>
                  </a:tr>
                  <a:tr h="370840">
                    <a:tc>
                      <a:txBody>
                        <a:bodyPr/>
                        <a:lstStyle/>
                        <a:p>
                          <a:r>
                            <a:rPr lang="en-SE" b="1" dirty="0"/>
                            <a:t>Binomial</a:t>
                          </a:r>
                        </a:p>
                      </a:txBody>
                      <a:tcPr/>
                    </a:tc>
                    <a:tc>
                      <a:txBody>
                        <a:bodyPr/>
                        <a:lstStyle/>
                        <a:p>
                          <a14:m>
                            <m:oMath xmlns:m="http://schemas.openxmlformats.org/officeDocument/2006/math">
                              <m:r>
                                <a:rPr lang="en-SE" b="0" smtClean="0">
                                  <a:latin typeface="Cambria Math" panose="02040503050406030204" pitchFamily="18" charset="0"/>
                                </a:rPr>
                                <m:t>𝑛</m:t>
                              </m:r>
                            </m:oMath>
                          </a14:m>
                          <a:r>
                            <a:rPr lang="en-SE" dirty="0"/>
                            <a:t> independent</a:t>
                          </a:r>
                          <a:r>
                            <a:rPr lang="en-SE" baseline="0" dirty="0"/>
                            <a:t> trials with a success rate of </a:t>
                          </a:r>
                          <a14:m>
                            <m:oMath xmlns:m="http://schemas.openxmlformats.org/officeDocument/2006/math">
                              <m:r>
                                <a:rPr lang="en-SE" b="0" baseline="0" smtClean="0">
                                  <a:latin typeface="Cambria Math" panose="02040503050406030204" pitchFamily="18" charset="0"/>
                                </a:rPr>
                                <m:t>𝑝</m:t>
                              </m:r>
                            </m:oMath>
                          </a14:m>
                          <a:r>
                            <a:rPr lang="en-SE" dirty="0"/>
                            <a:t> for each trial</a:t>
                          </a:r>
                        </a:p>
                      </a:txBody>
                      <a:tcPr/>
                    </a:tc>
                    <a:tc>
                      <a:txBody>
                        <a:bodyPr/>
                        <a:lstStyle/>
                        <a:p>
                          <a:r>
                            <a:rPr lang="en-SE" dirty="0"/>
                            <a:t>Identifying each bug in </a:t>
                          </a:r>
                          <a14:m>
                            <m:oMath xmlns:m="http://schemas.openxmlformats.org/officeDocument/2006/math">
                              <m:r>
                                <a:rPr lang="en-SE" b="0" smtClean="0">
                                  <a:latin typeface="Cambria Math" panose="02040503050406030204" pitchFamily="18" charset="0"/>
                                </a:rPr>
                                <m:t>𝑛</m:t>
                              </m:r>
                            </m:oMath>
                          </a14:m>
                          <a:r>
                            <a:rPr lang="en-SE" dirty="0"/>
                            <a:t> codes</a:t>
                          </a:r>
                          <a:r>
                            <a:rPr lang="en-SE" baseline="0" dirty="0"/>
                            <a:t> snippets</a:t>
                          </a:r>
                          <a:endParaRPr lang="en-SE" dirty="0"/>
                        </a:p>
                      </a:txBody>
                      <a:tcPr/>
                    </a:tc>
                    <a:extLst>
                      <a:ext uri="{0D108BD9-81ED-4DB2-BD59-A6C34878D82A}">
                        <a16:rowId xmlns:a16="http://schemas.microsoft.com/office/drawing/2014/main" val="2500250534"/>
                      </a:ext>
                    </a:extLst>
                  </a:tr>
                  <a:tr h="370840">
                    <a:tc>
                      <a:txBody>
                        <a:bodyPr/>
                        <a:lstStyle/>
                        <a:p>
                          <a:r>
                            <a:rPr lang="en-SE" b="1" dirty="0"/>
                            <a:t>Poisson/Pascal</a:t>
                          </a:r>
                        </a:p>
                      </a:txBody>
                      <a:tcPr/>
                    </a:tc>
                    <a:tc>
                      <a:txBody>
                        <a:bodyPr/>
                        <a:lstStyle/>
                        <a:p>
                          <a:r>
                            <a:rPr lang="en-SE" dirty="0"/>
                            <a:t>Discrete count of events</a:t>
                          </a:r>
                        </a:p>
                      </a:txBody>
                      <a:tcPr/>
                    </a:tc>
                    <a:tc>
                      <a:txBody>
                        <a:bodyPr/>
                        <a:lstStyle/>
                        <a:p>
                          <a:r>
                            <a:rPr lang="en-SE" dirty="0"/>
                            <a:t>Count of identified bugs</a:t>
                          </a:r>
                        </a:p>
                      </a:txBody>
                      <a:tcPr/>
                    </a:tc>
                    <a:extLst>
                      <a:ext uri="{0D108BD9-81ED-4DB2-BD59-A6C34878D82A}">
                        <a16:rowId xmlns:a16="http://schemas.microsoft.com/office/drawing/2014/main" val="561456013"/>
                      </a:ext>
                    </a:extLst>
                  </a:tr>
                  <a:tr h="370840">
                    <a:tc>
                      <a:txBody>
                        <a:bodyPr/>
                        <a:lstStyle/>
                        <a:p>
                          <a:r>
                            <a:rPr lang="en-SE" b="1" dirty="0"/>
                            <a:t>Categorical</a:t>
                          </a:r>
                        </a:p>
                      </a:txBody>
                      <a:tcPr/>
                    </a:tc>
                    <a:tc>
                      <a:txBody>
                        <a:bodyPr/>
                        <a:lstStyle/>
                        <a:p>
                          <a:r>
                            <a:rPr lang="en-SE" dirty="0"/>
                            <a:t>Extension of the binary response with </a:t>
                          </a:r>
                          <a14:m>
                            <m:oMath xmlns:m="http://schemas.openxmlformats.org/officeDocument/2006/math">
                              <m:r>
                                <m:rPr>
                                  <m:sty m:val="p"/>
                                </m:rPr>
                                <a:rPr lang="en-SE" b="0" i="0" smtClean="0">
                                  <a:latin typeface="Cambria Math" panose="02040503050406030204" pitchFamily="18" charset="0"/>
                                </a:rPr>
                                <m:t>k</m:t>
                              </m:r>
                            </m:oMath>
                          </a14:m>
                          <a:r>
                            <a:rPr lang="en-SE" dirty="0"/>
                            <a:t> independent categories </a:t>
                          </a:r>
                        </a:p>
                      </a:txBody>
                      <a:tcPr/>
                    </a:tc>
                    <a:tc>
                      <a:txBody>
                        <a:bodyPr/>
                        <a:lstStyle/>
                        <a:p>
                          <a:r>
                            <a:rPr lang="en-SE" dirty="0"/>
                            <a:t>Single-choice response</a:t>
                          </a:r>
                        </a:p>
                      </a:txBody>
                      <a:tcPr/>
                    </a:tc>
                    <a:extLst>
                      <a:ext uri="{0D108BD9-81ED-4DB2-BD59-A6C34878D82A}">
                        <a16:rowId xmlns:a16="http://schemas.microsoft.com/office/drawing/2014/main" val="2532135561"/>
                      </a:ext>
                    </a:extLst>
                  </a:tr>
                  <a:tr h="370840">
                    <a:tc>
                      <a:txBody>
                        <a:bodyPr/>
                        <a:lstStyle/>
                        <a:p>
                          <a:r>
                            <a:rPr lang="en-SE" b="1" dirty="0"/>
                            <a:t>Ordinal</a:t>
                          </a:r>
                        </a:p>
                      </a:txBody>
                      <a:tcPr/>
                    </a:tc>
                    <a:tc>
                      <a:txBody>
                        <a:bodyPr/>
                        <a:lstStyle/>
                        <a:p>
                          <a:r>
                            <a:rPr lang="en-SE" dirty="0"/>
                            <a:t>Categorical data with a linear order between levels</a:t>
                          </a:r>
                        </a:p>
                      </a:txBody>
                      <a:tcPr/>
                    </a:tc>
                    <a:tc>
                      <a:txBody>
                        <a:bodyPr/>
                        <a:lstStyle/>
                        <a:p>
                          <a:r>
                            <a:rPr lang="en-SE" dirty="0"/>
                            <a:t>Likert-scale response</a:t>
                          </a:r>
                        </a:p>
                      </a:txBody>
                      <a:tcPr/>
                    </a:tc>
                    <a:extLst>
                      <a:ext uri="{0D108BD9-81ED-4DB2-BD59-A6C34878D82A}">
                        <a16:rowId xmlns:a16="http://schemas.microsoft.com/office/drawing/2014/main" val="2405834933"/>
                      </a:ext>
                    </a:extLst>
                  </a:tr>
                  <a:tr h="370840">
                    <a:tc>
                      <a:txBody>
                        <a:bodyPr/>
                        <a:lstStyle/>
                        <a:p>
                          <a:r>
                            <a:rPr lang="en-SE" b="1" dirty="0"/>
                            <a:t>Beta</a:t>
                          </a:r>
                        </a:p>
                      </a:txBody>
                      <a:tcPr/>
                    </a:tc>
                    <a:tc>
                      <a:txBody>
                        <a:bodyPr/>
                        <a:lstStyle/>
                        <a:p>
                          <a:r>
                            <a:rPr lang="en-SE" dirty="0"/>
                            <a:t>Continuous data bounded between </a:t>
                          </a:r>
                          <a14:m>
                            <m:oMath xmlns:m="http://schemas.openxmlformats.org/officeDocument/2006/math">
                              <m:r>
                                <a:rPr lang="en-SE" b="0" i="1" smtClean="0">
                                  <a:latin typeface="Cambria Math" panose="02040503050406030204" pitchFamily="18" charset="0"/>
                                </a:rPr>
                                <m:t>[0;1]</m:t>
                              </m:r>
                            </m:oMath>
                          </a14:m>
                          <a:endParaRPr lang="en-SE" dirty="0"/>
                        </a:p>
                      </a:txBody>
                      <a:tcPr/>
                    </a:tc>
                    <a:tc>
                      <a:txBody>
                        <a:bodyPr/>
                        <a:lstStyle/>
                        <a:p>
                          <a14:m>
                            <m:oMath xmlns:m="http://schemas.openxmlformats.org/officeDocument/2006/math">
                              <m:sSub>
                                <m:sSubPr>
                                  <m:ctrlPr>
                                    <a:rPr lang="en-SE" b="0" i="1" smtClean="0">
                                      <a:latin typeface="Cambria Math" panose="02040503050406030204" pitchFamily="18" charset="0"/>
                                    </a:rPr>
                                  </m:ctrlPr>
                                </m:sSubPr>
                                <m:e>
                                  <m:r>
                                    <a:rPr lang="en-SE" b="0" i="1" smtClean="0">
                                      <a:latin typeface="Cambria Math" panose="02040503050406030204" pitchFamily="18" charset="0"/>
                                    </a:rPr>
                                    <m:t>𝐹</m:t>
                                  </m:r>
                                </m:e>
                                <m:sub>
                                  <m:r>
                                    <a:rPr lang="en-SE" b="0" i="1" smtClean="0">
                                      <a:latin typeface="Cambria Math" panose="02040503050406030204" pitchFamily="18" charset="0"/>
                                    </a:rPr>
                                    <m:t>𝛽</m:t>
                                  </m:r>
                                </m:sub>
                              </m:sSub>
                            </m:oMath>
                          </a14:m>
                          <a:r>
                            <a:rPr lang="en-SE" dirty="0"/>
                            <a:t>-score metrics</a:t>
                          </a:r>
                        </a:p>
                      </a:txBody>
                      <a:tcPr/>
                    </a:tc>
                    <a:extLst>
                      <a:ext uri="{0D108BD9-81ED-4DB2-BD59-A6C34878D82A}">
                        <a16:rowId xmlns:a16="http://schemas.microsoft.com/office/drawing/2014/main" val="2351130060"/>
                      </a:ext>
                    </a:extLst>
                  </a:tr>
                </a:tbl>
              </a:graphicData>
            </a:graphic>
          </p:graphicFrame>
        </mc:Choice>
        <mc:Fallback xmlns="">
          <p:graphicFrame>
            <p:nvGraphicFramePr>
              <p:cNvPr id="7" name="Table 6">
                <a:extLst>
                  <a:ext uri="{FF2B5EF4-FFF2-40B4-BE49-F238E27FC236}">
                    <a16:creationId xmlns:a16="http://schemas.microsoft.com/office/drawing/2014/main" id="{BFF8932A-5250-4BE1-039D-11380318B427}"/>
                  </a:ext>
                </a:extLst>
              </p:cNvPr>
              <p:cNvGraphicFramePr>
                <a:graphicFrameLocks noGrp="1"/>
              </p:cNvGraphicFramePr>
              <p:nvPr>
                <p:extLst>
                  <p:ext uri="{D42A27DB-BD31-4B8C-83A1-F6EECF244321}">
                    <p14:modId xmlns:p14="http://schemas.microsoft.com/office/powerpoint/2010/main" val="2483596394"/>
                  </p:ext>
                </p:extLst>
              </p:nvPr>
            </p:nvGraphicFramePr>
            <p:xfrm>
              <a:off x="838198" y="2933700"/>
              <a:ext cx="10515600" cy="2782951"/>
            </p:xfrm>
            <a:graphic>
              <a:graphicData uri="http://schemas.openxmlformats.org/drawingml/2006/table">
                <a:tbl>
                  <a:tblPr firstRow="1" bandRow="1">
                    <a:tableStyleId>{00A15C55-8517-42AA-B614-E9B94910E393}</a:tableStyleId>
                  </a:tblPr>
                  <a:tblGrid>
                    <a:gridCol w="1905002">
                      <a:extLst>
                        <a:ext uri="{9D8B030D-6E8A-4147-A177-3AD203B41FA5}">
                          <a16:colId xmlns:a16="http://schemas.microsoft.com/office/drawing/2014/main" val="2715434313"/>
                        </a:ext>
                      </a:extLst>
                    </a:gridCol>
                    <a:gridCol w="5143500">
                      <a:extLst>
                        <a:ext uri="{9D8B030D-6E8A-4147-A177-3AD203B41FA5}">
                          <a16:colId xmlns:a16="http://schemas.microsoft.com/office/drawing/2014/main" val="2830016121"/>
                        </a:ext>
                      </a:extLst>
                    </a:gridCol>
                    <a:gridCol w="3467098">
                      <a:extLst>
                        <a:ext uri="{9D8B030D-6E8A-4147-A177-3AD203B41FA5}">
                          <a16:colId xmlns:a16="http://schemas.microsoft.com/office/drawing/2014/main" val="1331585561"/>
                        </a:ext>
                      </a:extLst>
                    </a:gridCol>
                  </a:tblGrid>
                  <a:tr h="370840">
                    <a:tc>
                      <a:txBody>
                        <a:bodyPr/>
                        <a:lstStyle/>
                        <a:p>
                          <a:r>
                            <a:rPr lang="en-SE" dirty="0"/>
                            <a:t>Name</a:t>
                          </a:r>
                        </a:p>
                      </a:txBody>
                      <a:tcPr/>
                    </a:tc>
                    <a:tc>
                      <a:txBody>
                        <a:bodyPr/>
                        <a:lstStyle/>
                        <a:p>
                          <a:r>
                            <a:rPr lang="en-SE" dirty="0"/>
                            <a:t>Description</a:t>
                          </a:r>
                        </a:p>
                      </a:txBody>
                      <a:tcPr/>
                    </a:tc>
                    <a:tc>
                      <a:txBody>
                        <a:bodyPr/>
                        <a:lstStyle/>
                        <a:p>
                          <a:r>
                            <a:rPr lang="en-SE" dirty="0"/>
                            <a:t>Examples</a:t>
                          </a:r>
                        </a:p>
                      </a:txBody>
                      <a:tcPr/>
                    </a:tc>
                    <a:extLst>
                      <a:ext uri="{0D108BD9-81ED-4DB2-BD59-A6C34878D82A}">
                        <a16:rowId xmlns:a16="http://schemas.microsoft.com/office/drawing/2014/main" val="3447700393"/>
                      </a:ext>
                    </a:extLst>
                  </a:tr>
                  <a:tr h="640080">
                    <a:tc>
                      <a:txBody>
                        <a:bodyPr/>
                        <a:lstStyle/>
                        <a:p>
                          <a:r>
                            <a:rPr lang="en-SE" b="1" dirty="0"/>
                            <a:t>Binomial</a:t>
                          </a:r>
                        </a:p>
                      </a:txBody>
                      <a:tcPr/>
                    </a:tc>
                    <a:tc>
                      <a:txBody>
                        <a:bodyPr/>
                        <a:lstStyle/>
                        <a:p>
                          <a:endParaRPr lang="en-SE"/>
                        </a:p>
                      </a:txBody>
                      <a:tcPr>
                        <a:blipFill>
                          <a:blip r:embed="rId2"/>
                          <a:stretch>
                            <a:fillRect l="-37204" t="-61905" r="-67891" b="-290476"/>
                          </a:stretch>
                        </a:blipFill>
                      </a:tcPr>
                    </a:tc>
                    <a:tc>
                      <a:txBody>
                        <a:bodyPr/>
                        <a:lstStyle/>
                        <a:p>
                          <a:endParaRPr lang="en-SE"/>
                        </a:p>
                      </a:txBody>
                      <a:tcPr>
                        <a:blipFill>
                          <a:blip r:embed="rId2"/>
                          <a:stretch>
                            <a:fillRect l="-203515" t="-61905" r="-703" b="-290476"/>
                          </a:stretch>
                        </a:blipFill>
                      </a:tcPr>
                    </a:tc>
                    <a:extLst>
                      <a:ext uri="{0D108BD9-81ED-4DB2-BD59-A6C34878D82A}">
                        <a16:rowId xmlns:a16="http://schemas.microsoft.com/office/drawing/2014/main" val="2500250534"/>
                      </a:ext>
                    </a:extLst>
                  </a:tr>
                  <a:tr h="370840">
                    <a:tc>
                      <a:txBody>
                        <a:bodyPr/>
                        <a:lstStyle/>
                        <a:p>
                          <a:r>
                            <a:rPr lang="en-SE" b="1" dirty="0"/>
                            <a:t>Poisson/Pascal</a:t>
                          </a:r>
                        </a:p>
                      </a:txBody>
                      <a:tcPr/>
                    </a:tc>
                    <a:tc>
                      <a:txBody>
                        <a:bodyPr/>
                        <a:lstStyle/>
                        <a:p>
                          <a:r>
                            <a:rPr lang="en-SE" dirty="0"/>
                            <a:t>Discrete count of events</a:t>
                          </a:r>
                        </a:p>
                      </a:txBody>
                      <a:tcPr/>
                    </a:tc>
                    <a:tc>
                      <a:txBody>
                        <a:bodyPr/>
                        <a:lstStyle/>
                        <a:p>
                          <a:r>
                            <a:rPr lang="en-SE" dirty="0"/>
                            <a:t>Count of identified bugs</a:t>
                          </a:r>
                        </a:p>
                      </a:txBody>
                      <a:tcPr/>
                    </a:tc>
                    <a:extLst>
                      <a:ext uri="{0D108BD9-81ED-4DB2-BD59-A6C34878D82A}">
                        <a16:rowId xmlns:a16="http://schemas.microsoft.com/office/drawing/2014/main" val="561456013"/>
                      </a:ext>
                    </a:extLst>
                  </a:tr>
                  <a:tr h="640080">
                    <a:tc>
                      <a:txBody>
                        <a:bodyPr/>
                        <a:lstStyle/>
                        <a:p>
                          <a:r>
                            <a:rPr lang="en-SE" b="1" dirty="0"/>
                            <a:t>Categorical</a:t>
                          </a:r>
                        </a:p>
                      </a:txBody>
                      <a:tcPr/>
                    </a:tc>
                    <a:tc>
                      <a:txBody>
                        <a:bodyPr/>
                        <a:lstStyle/>
                        <a:p>
                          <a:endParaRPr lang="en-SE"/>
                        </a:p>
                      </a:txBody>
                      <a:tcPr>
                        <a:blipFill>
                          <a:blip r:embed="rId2"/>
                          <a:stretch>
                            <a:fillRect l="-37204" t="-220000" r="-67891" b="-132381"/>
                          </a:stretch>
                        </a:blipFill>
                      </a:tcPr>
                    </a:tc>
                    <a:tc>
                      <a:txBody>
                        <a:bodyPr/>
                        <a:lstStyle/>
                        <a:p>
                          <a:r>
                            <a:rPr lang="en-SE" dirty="0"/>
                            <a:t>Single-choice response</a:t>
                          </a:r>
                        </a:p>
                      </a:txBody>
                      <a:tcPr/>
                    </a:tc>
                    <a:extLst>
                      <a:ext uri="{0D108BD9-81ED-4DB2-BD59-A6C34878D82A}">
                        <a16:rowId xmlns:a16="http://schemas.microsoft.com/office/drawing/2014/main" val="2532135561"/>
                      </a:ext>
                    </a:extLst>
                  </a:tr>
                  <a:tr h="370840">
                    <a:tc>
                      <a:txBody>
                        <a:bodyPr/>
                        <a:lstStyle/>
                        <a:p>
                          <a:r>
                            <a:rPr lang="en-SE" b="1" dirty="0"/>
                            <a:t>Ordinal</a:t>
                          </a:r>
                        </a:p>
                      </a:txBody>
                      <a:tcPr/>
                    </a:tc>
                    <a:tc>
                      <a:txBody>
                        <a:bodyPr/>
                        <a:lstStyle/>
                        <a:p>
                          <a:r>
                            <a:rPr lang="en-SE" dirty="0"/>
                            <a:t>Categorical data with a linear order between levels</a:t>
                          </a:r>
                        </a:p>
                      </a:txBody>
                      <a:tcPr/>
                    </a:tc>
                    <a:tc>
                      <a:txBody>
                        <a:bodyPr/>
                        <a:lstStyle/>
                        <a:p>
                          <a:r>
                            <a:rPr lang="en-SE" dirty="0"/>
                            <a:t>Likert-scale response</a:t>
                          </a:r>
                        </a:p>
                      </a:txBody>
                      <a:tcPr/>
                    </a:tc>
                    <a:extLst>
                      <a:ext uri="{0D108BD9-81ED-4DB2-BD59-A6C34878D82A}">
                        <a16:rowId xmlns:a16="http://schemas.microsoft.com/office/drawing/2014/main" val="2405834933"/>
                      </a:ext>
                    </a:extLst>
                  </a:tr>
                  <a:tr h="390271">
                    <a:tc>
                      <a:txBody>
                        <a:bodyPr/>
                        <a:lstStyle/>
                        <a:p>
                          <a:r>
                            <a:rPr lang="en-SE" b="1" dirty="0"/>
                            <a:t>Beta</a:t>
                          </a:r>
                        </a:p>
                      </a:txBody>
                      <a:tcPr/>
                    </a:tc>
                    <a:tc>
                      <a:txBody>
                        <a:bodyPr/>
                        <a:lstStyle/>
                        <a:p>
                          <a:endParaRPr lang="en-SE"/>
                        </a:p>
                      </a:txBody>
                      <a:tcPr>
                        <a:blipFill>
                          <a:blip r:embed="rId2"/>
                          <a:stretch>
                            <a:fillRect l="-37204" t="-620313" r="-67891" b="-21875"/>
                          </a:stretch>
                        </a:blipFill>
                      </a:tcPr>
                    </a:tc>
                    <a:tc>
                      <a:txBody>
                        <a:bodyPr/>
                        <a:lstStyle/>
                        <a:p>
                          <a:endParaRPr lang="en-SE"/>
                        </a:p>
                      </a:txBody>
                      <a:tcPr>
                        <a:blipFill>
                          <a:blip r:embed="rId2"/>
                          <a:stretch>
                            <a:fillRect l="-203515" t="-620313" r="-703" b="-21875"/>
                          </a:stretch>
                        </a:blipFill>
                      </a:tcPr>
                    </a:tc>
                    <a:extLst>
                      <a:ext uri="{0D108BD9-81ED-4DB2-BD59-A6C34878D82A}">
                        <a16:rowId xmlns:a16="http://schemas.microsoft.com/office/drawing/2014/main" val="2351130060"/>
                      </a:ext>
                    </a:extLst>
                  </a:tr>
                </a:tbl>
              </a:graphicData>
            </a:graphic>
          </p:graphicFrame>
        </mc:Fallback>
      </mc:AlternateContent>
    </p:spTree>
    <p:extLst>
      <p:ext uri="{BB962C8B-B14F-4D97-AF65-F5344CB8AC3E}">
        <p14:creationId xmlns:p14="http://schemas.microsoft.com/office/powerpoint/2010/main" val="2956161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0DA87-B6B5-7D53-50B2-364911CC5130}"/>
              </a:ext>
            </a:extLst>
          </p:cNvPr>
          <p:cNvSpPr>
            <a:spLocks noGrp="1"/>
          </p:cNvSpPr>
          <p:nvPr>
            <p:ph type="title"/>
          </p:nvPr>
        </p:nvSpPr>
        <p:spPr/>
        <p:txBody>
          <a:bodyPr/>
          <a:lstStyle/>
          <a:p>
            <a:r>
              <a:rPr lang="en-SE" dirty="0"/>
              <a:t>Resources</a:t>
            </a:r>
          </a:p>
        </p:txBody>
      </p:sp>
      <p:sp>
        <p:nvSpPr>
          <p:cNvPr id="3" name="Content Placeholder 2">
            <a:extLst>
              <a:ext uri="{FF2B5EF4-FFF2-40B4-BE49-F238E27FC236}">
                <a16:creationId xmlns:a16="http://schemas.microsoft.com/office/drawing/2014/main" id="{E99BBF52-EDF5-3B42-8AFB-FB315CFA749E}"/>
              </a:ext>
            </a:extLst>
          </p:cNvPr>
          <p:cNvSpPr>
            <a:spLocks noGrp="1"/>
          </p:cNvSpPr>
          <p:nvPr>
            <p:ph idx="1"/>
          </p:nvPr>
        </p:nvSpPr>
        <p:spPr>
          <a:xfrm>
            <a:off x="838200" y="1825625"/>
            <a:ext cx="10515600" cy="1120775"/>
          </a:xfrm>
        </p:spPr>
        <p:txBody>
          <a:bodyPr/>
          <a:lstStyle/>
          <a:p>
            <a:pPr marL="0" indent="0">
              <a:buNone/>
            </a:pPr>
            <a:r>
              <a:rPr lang="en-SE" dirty="0"/>
              <a:t>The following resources are the state-of-the-art for learning and applying BDA in practice:</a:t>
            </a:r>
          </a:p>
        </p:txBody>
      </p:sp>
      <p:sp>
        <p:nvSpPr>
          <p:cNvPr id="4" name="Date Placeholder 3">
            <a:extLst>
              <a:ext uri="{FF2B5EF4-FFF2-40B4-BE49-F238E27FC236}">
                <a16:creationId xmlns:a16="http://schemas.microsoft.com/office/drawing/2014/main" id="{285FA83F-046D-4B6D-F857-90584A477A16}"/>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41CBF9CD-8C08-475A-77D8-931C1E7CEE73}"/>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C685D64B-A65E-6DB3-3A6B-8AFCD402E085}"/>
              </a:ext>
            </a:extLst>
          </p:cNvPr>
          <p:cNvSpPr>
            <a:spLocks noGrp="1"/>
          </p:cNvSpPr>
          <p:nvPr>
            <p:ph type="sldNum" sz="quarter" idx="12"/>
          </p:nvPr>
        </p:nvSpPr>
        <p:spPr/>
        <p:txBody>
          <a:bodyPr/>
          <a:lstStyle/>
          <a:p>
            <a:fld id="{271ECC92-9CDE-4EB3-B1C5-F46B9E1FA3C1}" type="slidenum">
              <a:rPr lang="en-SE" smtClean="0"/>
              <a:t>96</a:t>
            </a:fld>
            <a:endParaRPr lang="en-SE"/>
          </a:p>
        </p:txBody>
      </p:sp>
      <p:pic>
        <p:nvPicPr>
          <p:cNvPr id="8" name="Picture 7">
            <a:extLst>
              <a:ext uri="{FF2B5EF4-FFF2-40B4-BE49-F238E27FC236}">
                <a16:creationId xmlns:a16="http://schemas.microsoft.com/office/drawing/2014/main" id="{B89AFD7A-CA8F-7B1E-2D73-68D07614BB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581400"/>
            <a:ext cx="1686179" cy="2705100"/>
          </a:xfrm>
          <a:prstGeom prst="rect">
            <a:avLst/>
          </a:prstGeom>
        </p:spPr>
      </p:pic>
      <p:pic>
        <p:nvPicPr>
          <p:cNvPr id="10" name="Picture 9">
            <a:extLst>
              <a:ext uri="{FF2B5EF4-FFF2-40B4-BE49-F238E27FC236}">
                <a16:creationId xmlns:a16="http://schemas.microsoft.com/office/drawing/2014/main" id="{49AFA348-4C40-8460-9DE6-E21C6996DCFF}"/>
              </a:ext>
            </a:extLst>
          </p:cNvPr>
          <p:cNvPicPr>
            <a:picLocks noChangeAspect="1"/>
          </p:cNvPicPr>
          <p:nvPr/>
        </p:nvPicPr>
        <p:blipFill>
          <a:blip r:embed="rId3"/>
          <a:stretch>
            <a:fillRect/>
          </a:stretch>
        </p:blipFill>
        <p:spPr>
          <a:xfrm>
            <a:off x="8833337" y="3581400"/>
            <a:ext cx="2520463" cy="2774950"/>
          </a:xfrm>
          <a:prstGeom prst="rect">
            <a:avLst/>
          </a:prstGeom>
        </p:spPr>
      </p:pic>
      <p:pic>
        <p:nvPicPr>
          <p:cNvPr id="12" name="Picture 11">
            <a:extLst>
              <a:ext uri="{FF2B5EF4-FFF2-40B4-BE49-F238E27FC236}">
                <a16:creationId xmlns:a16="http://schemas.microsoft.com/office/drawing/2014/main" id="{1B51B0EE-CAE2-B276-CCF5-BFAF9FAC042A}"/>
              </a:ext>
            </a:extLst>
          </p:cNvPr>
          <p:cNvPicPr>
            <a:picLocks noChangeAspect="1"/>
          </p:cNvPicPr>
          <p:nvPr/>
        </p:nvPicPr>
        <p:blipFill>
          <a:blip r:embed="rId4"/>
          <a:stretch>
            <a:fillRect/>
          </a:stretch>
        </p:blipFill>
        <p:spPr>
          <a:xfrm>
            <a:off x="4038601" y="3581400"/>
            <a:ext cx="3742672" cy="2705100"/>
          </a:xfrm>
          <a:prstGeom prst="rect">
            <a:avLst/>
          </a:prstGeom>
        </p:spPr>
      </p:pic>
      <p:sp>
        <p:nvSpPr>
          <p:cNvPr id="13" name="TextBox 12">
            <a:extLst>
              <a:ext uri="{FF2B5EF4-FFF2-40B4-BE49-F238E27FC236}">
                <a16:creationId xmlns:a16="http://schemas.microsoft.com/office/drawing/2014/main" id="{0E54F263-59AD-7BB2-E1FF-B06A74234415}"/>
              </a:ext>
            </a:extLst>
          </p:cNvPr>
          <p:cNvSpPr txBox="1"/>
          <p:nvPr/>
        </p:nvSpPr>
        <p:spPr>
          <a:xfrm>
            <a:off x="1110457" y="3104118"/>
            <a:ext cx="1141659" cy="369332"/>
          </a:xfrm>
          <a:prstGeom prst="rect">
            <a:avLst/>
          </a:prstGeom>
          <a:noFill/>
        </p:spPr>
        <p:txBody>
          <a:bodyPr wrap="none" rtlCol="0">
            <a:spAutoFit/>
          </a:bodyPr>
          <a:lstStyle/>
          <a:p>
            <a:pPr algn="ctr"/>
            <a:r>
              <a:rPr lang="en-SE" b="1" dirty="0"/>
              <a:t>The Book</a:t>
            </a:r>
          </a:p>
        </p:txBody>
      </p:sp>
      <p:sp>
        <p:nvSpPr>
          <p:cNvPr id="15" name="TextBox 14">
            <a:extLst>
              <a:ext uri="{FF2B5EF4-FFF2-40B4-BE49-F238E27FC236}">
                <a16:creationId xmlns:a16="http://schemas.microsoft.com/office/drawing/2014/main" id="{E7AA5DF7-520F-7AAF-81B1-48DE5DFA02B1}"/>
              </a:ext>
            </a:extLst>
          </p:cNvPr>
          <p:cNvSpPr txBox="1"/>
          <p:nvPr/>
        </p:nvSpPr>
        <p:spPr>
          <a:xfrm>
            <a:off x="5288151" y="3104118"/>
            <a:ext cx="1615700" cy="369332"/>
          </a:xfrm>
          <a:prstGeom prst="rect">
            <a:avLst/>
          </a:prstGeom>
          <a:noFill/>
        </p:spPr>
        <p:txBody>
          <a:bodyPr wrap="none" rtlCol="0">
            <a:spAutoFit/>
          </a:bodyPr>
          <a:lstStyle/>
          <a:p>
            <a:pPr algn="ctr"/>
            <a:r>
              <a:rPr lang="en-SE" b="1" dirty="0"/>
              <a:t>The Language</a:t>
            </a:r>
          </a:p>
        </p:txBody>
      </p:sp>
      <p:sp>
        <p:nvSpPr>
          <p:cNvPr id="17" name="TextBox 16">
            <a:extLst>
              <a:ext uri="{FF2B5EF4-FFF2-40B4-BE49-F238E27FC236}">
                <a16:creationId xmlns:a16="http://schemas.microsoft.com/office/drawing/2014/main" id="{8F8E4F69-E031-78B3-0AD5-EB94FEE1DCDC}"/>
              </a:ext>
            </a:extLst>
          </p:cNvPr>
          <p:cNvSpPr txBox="1"/>
          <p:nvPr/>
        </p:nvSpPr>
        <p:spPr>
          <a:xfrm>
            <a:off x="9427457" y="3059668"/>
            <a:ext cx="1332224" cy="369332"/>
          </a:xfrm>
          <a:prstGeom prst="rect">
            <a:avLst/>
          </a:prstGeom>
          <a:noFill/>
        </p:spPr>
        <p:txBody>
          <a:bodyPr wrap="none" rtlCol="0">
            <a:spAutoFit/>
          </a:bodyPr>
          <a:lstStyle/>
          <a:p>
            <a:pPr algn="ctr"/>
            <a:r>
              <a:rPr lang="en-SE" b="1" dirty="0"/>
              <a:t>The Library</a:t>
            </a:r>
          </a:p>
        </p:txBody>
      </p:sp>
    </p:spTree>
    <p:extLst>
      <p:ext uri="{BB962C8B-B14F-4D97-AF65-F5344CB8AC3E}">
        <p14:creationId xmlns:p14="http://schemas.microsoft.com/office/powerpoint/2010/main" val="26913135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7"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58A49-BECA-31F2-743C-5C780DBA542D}"/>
              </a:ext>
            </a:extLst>
          </p:cNvPr>
          <p:cNvSpPr>
            <a:spLocks noGrp="1"/>
          </p:cNvSpPr>
          <p:nvPr>
            <p:ph type="title"/>
          </p:nvPr>
        </p:nvSpPr>
        <p:spPr/>
        <p:txBody>
          <a:bodyPr/>
          <a:lstStyle/>
          <a:p>
            <a:r>
              <a:rPr lang="en-US" noProof="0" dirty="0"/>
              <a:t>Resources</a:t>
            </a:r>
          </a:p>
        </p:txBody>
      </p:sp>
      <p:sp>
        <p:nvSpPr>
          <p:cNvPr id="3" name="Content Placeholder 2">
            <a:extLst>
              <a:ext uri="{FF2B5EF4-FFF2-40B4-BE49-F238E27FC236}">
                <a16:creationId xmlns:a16="http://schemas.microsoft.com/office/drawing/2014/main" id="{6DF03F20-C381-EB6F-423D-C8B7CBF362C2}"/>
              </a:ext>
            </a:extLst>
          </p:cNvPr>
          <p:cNvSpPr>
            <a:spLocks noGrp="1"/>
          </p:cNvSpPr>
          <p:nvPr>
            <p:ph idx="1"/>
          </p:nvPr>
        </p:nvSpPr>
        <p:spPr/>
        <p:txBody>
          <a:bodyPr>
            <a:normAutofit/>
          </a:bodyPr>
          <a:lstStyle/>
          <a:p>
            <a:pPr marL="0" indent="0">
              <a:buNone/>
            </a:pPr>
            <a:r>
              <a:rPr lang="en-US" noProof="0" dirty="0"/>
              <a:t>Other useful resources:</a:t>
            </a:r>
          </a:p>
          <a:p>
            <a:r>
              <a:rPr lang="en-US" noProof="0" dirty="0"/>
              <a:t>Blog by Andrew Heiss</a:t>
            </a:r>
            <a:r>
              <a:rPr lang="en-SE" noProof="0" dirty="0"/>
              <a:t>: </a:t>
            </a:r>
            <a:r>
              <a:rPr lang="en-US" noProof="0" dirty="0">
                <a:hlinkClick r:id="rId2"/>
              </a:rPr>
              <a:t>https://www.andrewheiss.com/blog/</a:t>
            </a:r>
            <a:endParaRPr lang="en-SE" noProof="0" dirty="0"/>
          </a:p>
          <a:p>
            <a:r>
              <a:rPr lang="en-SE" noProof="0" dirty="0"/>
              <a:t>Blog by</a:t>
            </a:r>
            <a:r>
              <a:rPr lang="en-US" noProof="0" dirty="0"/>
              <a:t> Solomon Kurz</a:t>
            </a:r>
            <a:r>
              <a:rPr lang="en-SE" noProof="0" dirty="0"/>
              <a:t>: </a:t>
            </a:r>
            <a:r>
              <a:rPr lang="en-US" noProof="0" dirty="0">
                <a:hlinkClick r:id="rId3"/>
              </a:rPr>
              <a:t>https://solomonkurz.netlify.app/blog/</a:t>
            </a:r>
            <a:endParaRPr lang="en-US" noProof="0" dirty="0"/>
          </a:p>
          <a:p>
            <a:r>
              <a:rPr lang="en-US" noProof="0" dirty="0"/>
              <a:t>Follow Richard Torkar</a:t>
            </a:r>
            <a:r>
              <a:rPr lang="en-SE" dirty="0"/>
              <a:t> and Robert Feldt</a:t>
            </a:r>
          </a:p>
          <a:p>
            <a:pPr marL="0" indent="0">
              <a:buNone/>
            </a:pPr>
            <a:r>
              <a:rPr lang="en-SE" dirty="0"/>
              <a:t>…</a:t>
            </a:r>
            <a:endParaRPr lang="en-SE" noProof="0" dirty="0"/>
          </a:p>
        </p:txBody>
      </p:sp>
      <p:sp>
        <p:nvSpPr>
          <p:cNvPr id="4" name="Date Placeholder 3">
            <a:extLst>
              <a:ext uri="{FF2B5EF4-FFF2-40B4-BE49-F238E27FC236}">
                <a16:creationId xmlns:a16="http://schemas.microsoft.com/office/drawing/2014/main" id="{0A24CF21-C4BE-9534-97B0-ACEE52D3E34B}"/>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5492597A-E568-888C-FE1C-F7F21A527E4A}"/>
              </a:ext>
            </a:extLst>
          </p:cNvPr>
          <p:cNvSpPr>
            <a:spLocks noGrp="1"/>
          </p:cNvSpPr>
          <p:nvPr>
            <p:ph type="sldNum" sz="quarter" idx="12"/>
          </p:nvPr>
        </p:nvSpPr>
        <p:spPr/>
        <p:txBody>
          <a:bodyPr/>
          <a:lstStyle/>
          <a:p>
            <a:fld id="{271ECC92-9CDE-4EB3-B1C5-F46B9E1FA3C1}" type="slidenum">
              <a:rPr lang="en-US" noProof="0" smtClean="0"/>
              <a:t>97</a:t>
            </a:fld>
            <a:endParaRPr lang="en-US" noProof="0" dirty="0"/>
          </a:p>
        </p:txBody>
      </p:sp>
      <p:sp>
        <p:nvSpPr>
          <p:cNvPr id="6" name="Footer Placeholder 5">
            <a:extLst>
              <a:ext uri="{FF2B5EF4-FFF2-40B4-BE49-F238E27FC236}">
                <a16:creationId xmlns:a16="http://schemas.microsoft.com/office/drawing/2014/main" id="{C590518B-B541-3778-4CA9-C8D582C7F3DF}"/>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2990709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B6DA8C-E453-8A7A-C1E6-7A34D3501FFE}"/>
              </a:ext>
            </a:extLst>
          </p:cNvPr>
          <p:cNvSpPr>
            <a:spLocks noGrp="1"/>
          </p:cNvSpPr>
          <p:nvPr>
            <p:ph type="title"/>
          </p:nvPr>
        </p:nvSpPr>
        <p:spPr/>
        <p:txBody>
          <a:bodyPr/>
          <a:lstStyle/>
          <a:p>
            <a:r>
              <a:rPr lang="en-SE" dirty="0"/>
              <a:t>Opportunities</a:t>
            </a:r>
          </a:p>
        </p:txBody>
      </p:sp>
      <p:sp>
        <p:nvSpPr>
          <p:cNvPr id="3" name="Content Placeholder 2">
            <a:extLst>
              <a:ext uri="{FF2B5EF4-FFF2-40B4-BE49-F238E27FC236}">
                <a16:creationId xmlns:a16="http://schemas.microsoft.com/office/drawing/2014/main" id="{B9794C42-17FD-E85E-AC0E-EC94810873A8}"/>
              </a:ext>
            </a:extLst>
          </p:cNvPr>
          <p:cNvSpPr>
            <a:spLocks noGrp="1"/>
          </p:cNvSpPr>
          <p:nvPr>
            <p:ph idx="1"/>
          </p:nvPr>
        </p:nvSpPr>
        <p:spPr/>
        <p:txBody>
          <a:bodyPr>
            <a:normAutofit lnSpcReduction="10000"/>
          </a:bodyPr>
          <a:lstStyle/>
          <a:p>
            <a:pPr marL="0" indent="0">
              <a:buNone/>
            </a:pPr>
            <a:r>
              <a:rPr lang="en-SE" dirty="0"/>
              <a:t>Beyond the content of this tutorial, BDA has many more advantages that all naturally embed into the presented workflow, like modelling</a:t>
            </a:r>
          </a:p>
          <a:p>
            <a:r>
              <a:rPr lang="en-SE" sz="2400" b="1" dirty="0"/>
              <a:t>missing data</a:t>
            </a:r>
            <a:r>
              <a:rPr lang="en-SE" sz="2400" dirty="0"/>
              <a:t>, e.g., when the data could not be collected or you have partial responses to a survey form,</a:t>
            </a:r>
          </a:p>
          <a:p>
            <a:r>
              <a:rPr lang="en-SE" sz="2400" b="1" dirty="0"/>
              <a:t>mixed distributions</a:t>
            </a:r>
            <a:r>
              <a:rPr lang="en-SE" sz="2400" dirty="0"/>
              <a:t>, e.g., hurdle models describing a data-generation process stemming from two separate processes,</a:t>
            </a:r>
          </a:p>
          <a:p>
            <a:r>
              <a:rPr lang="en-SE" sz="2400" b="1" dirty="0"/>
              <a:t>censored or truncated data</a:t>
            </a:r>
            <a:r>
              <a:rPr lang="en-SE" sz="2400" dirty="0"/>
              <a:t>, e.g., when you have to cut off participants of an experiments as they run out of time,</a:t>
            </a:r>
          </a:p>
          <a:p>
            <a:r>
              <a:rPr lang="en-SE" sz="2400" b="1" dirty="0"/>
              <a:t>hierarchical effects</a:t>
            </a:r>
            <a:r>
              <a:rPr lang="en-SE" sz="2400" dirty="0"/>
              <a:t>, e.g., when you have repeated measures per subject of your study, or</a:t>
            </a:r>
          </a:p>
          <a:p>
            <a:r>
              <a:rPr lang="en-SE" sz="2400" b="1" dirty="0"/>
              <a:t>interaction effects</a:t>
            </a:r>
            <a:r>
              <a:rPr lang="en-SE" sz="2400" dirty="0"/>
              <a:t>, e.g., when an external variable moderates the effect of the main cause on the main effect.</a:t>
            </a:r>
          </a:p>
        </p:txBody>
      </p:sp>
      <p:sp>
        <p:nvSpPr>
          <p:cNvPr id="4" name="Date Placeholder 3">
            <a:extLst>
              <a:ext uri="{FF2B5EF4-FFF2-40B4-BE49-F238E27FC236}">
                <a16:creationId xmlns:a16="http://schemas.microsoft.com/office/drawing/2014/main" id="{A0F9F120-F733-EF9A-D9D6-EC410AC97AEC}"/>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3E2D5151-2AE7-C36C-82F7-8F617EA16FED}"/>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25144F01-3E95-7BCA-24AC-D098729D3C59}"/>
              </a:ext>
            </a:extLst>
          </p:cNvPr>
          <p:cNvSpPr>
            <a:spLocks noGrp="1"/>
          </p:cNvSpPr>
          <p:nvPr>
            <p:ph type="sldNum" sz="quarter" idx="12"/>
          </p:nvPr>
        </p:nvSpPr>
        <p:spPr/>
        <p:txBody>
          <a:bodyPr/>
          <a:lstStyle/>
          <a:p>
            <a:fld id="{271ECC92-9CDE-4EB3-B1C5-F46B9E1FA3C1}" type="slidenum">
              <a:rPr lang="en-SE" smtClean="0"/>
              <a:t>98</a:t>
            </a:fld>
            <a:endParaRPr lang="en-SE"/>
          </a:p>
        </p:txBody>
      </p:sp>
    </p:spTree>
    <p:extLst>
      <p:ext uri="{BB962C8B-B14F-4D97-AF65-F5344CB8AC3E}">
        <p14:creationId xmlns:p14="http://schemas.microsoft.com/office/powerpoint/2010/main" val="311624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DAE91-528F-E721-BB3F-27D587E82F36}"/>
              </a:ext>
            </a:extLst>
          </p:cNvPr>
          <p:cNvSpPr>
            <a:spLocks noGrp="1"/>
          </p:cNvSpPr>
          <p:nvPr>
            <p:ph type="title"/>
          </p:nvPr>
        </p:nvSpPr>
        <p:spPr/>
        <p:txBody>
          <a:bodyPr/>
          <a:lstStyle/>
          <a:p>
            <a:r>
              <a:rPr lang="en-US" noProof="0" dirty="0"/>
              <a:t>Conclusion</a:t>
            </a:r>
          </a:p>
        </p:txBody>
      </p:sp>
      <p:sp>
        <p:nvSpPr>
          <p:cNvPr id="3" name="Text Placeholder 2">
            <a:extLst>
              <a:ext uri="{FF2B5EF4-FFF2-40B4-BE49-F238E27FC236}">
                <a16:creationId xmlns:a16="http://schemas.microsoft.com/office/drawing/2014/main" id="{82EE603E-60DC-A320-529B-A3A3E6529506}"/>
              </a:ext>
            </a:extLst>
          </p:cNvPr>
          <p:cNvSpPr>
            <a:spLocks noGrp="1"/>
          </p:cNvSpPr>
          <p:nvPr>
            <p:ph type="body" idx="1"/>
          </p:nvPr>
        </p:nvSpPr>
        <p:spPr/>
        <p:txBody>
          <a:bodyPr/>
          <a:lstStyle/>
          <a:p>
            <a:r>
              <a:rPr lang="en-US" noProof="0" dirty="0"/>
              <a:t>Reflection, discussion, and closing</a:t>
            </a:r>
          </a:p>
        </p:txBody>
      </p:sp>
      <p:sp>
        <p:nvSpPr>
          <p:cNvPr id="4" name="Date Placeholder 3">
            <a:extLst>
              <a:ext uri="{FF2B5EF4-FFF2-40B4-BE49-F238E27FC236}">
                <a16:creationId xmlns:a16="http://schemas.microsoft.com/office/drawing/2014/main" id="{723B9A07-BD35-FF3E-8F39-6EAD60DF655F}"/>
              </a:ext>
            </a:extLst>
          </p:cNvPr>
          <p:cNvSpPr>
            <a:spLocks noGrp="1"/>
          </p:cNvSpPr>
          <p:nvPr>
            <p:ph type="dt" sz="half" idx="10"/>
          </p:nvPr>
        </p:nvSpPr>
        <p:spPr/>
        <p:txBody>
          <a:bodyPr/>
          <a:lstStyle/>
          <a:p>
            <a:r>
              <a:rPr lang="en-SE" noProof="0"/>
              <a:t>2026-08-17</a:t>
            </a:r>
            <a:endParaRPr lang="en-US" noProof="0" dirty="0"/>
          </a:p>
        </p:txBody>
      </p:sp>
      <p:sp>
        <p:nvSpPr>
          <p:cNvPr id="5" name="Slide Number Placeholder 4">
            <a:extLst>
              <a:ext uri="{FF2B5EF4-FFF2-40B4-BE49-F238E27FC236}">
                <a16:creationId xmlns:a16="http://schemas.microsoft.com/office/drawing/2014/main" id="{9CDD3F13-CA5B-619A-1D88-44D17BA6061E}"/>
              </a:ext>
            </a:extLst>
          </p:cNvPr>
          <p:cNvSpPr>
            <a:spLocks noGrp="1"/>
          </p:cNvSpPr>
          <p:nvPr>
            <p:ph type="sldNum" sz="quarter" idx="12"/>
          </p:nvPr>
        </p:nvSpPr>
        <p:spPr/>
        <p:txBody>
          <a:bodyPr/>
          <a:lstStyle/>
          <a:p>
            <a:fld id="{271ECC92-9CDE-4EB3-B1C5-F46B9E1FA3C1}" type="slidenum">
              <a:rPr lang="en-US" noProof="0" smtClean="0"/>
              <a:t>99</a:t>
            </a:fld>
            <a:endParaRPr lang="en-US" noProof="0" dirty="0"/>
          </a:p>
        </p:txBody>
      </p:sp>
      <p:sp>
        <p:nvSpPr>
          <p:cNvPr id="6" name="Footer Placeholder 5">
            <a:extLst>
              <a:ext uri="{FF2B5EF4-FFF2-40B4-BE49-F238E27FC236}">
                <a16:creationId xmlns:a16="http://schemas.microsoft.com/office/drawing/2014/main" id="{DD136351-7DF2-7A9F-5446-E0B24F95B2D4}"/>
              </a:ext>
            </a:extLst>
          </p:cNvPr>
          <p:cNvSpPr>
            <a:spLocks noGrp="1"/>
          </p:cNvSpPr>
          <p:nvPr>
            <p:ph type="ftr" sz="quarter" idx="11"/>
          </p:nvPr>
        </p:nvSpPr>
        <p:spPr/>
        <p:txBody>
          <a:bodyPr/>
          <a:lstStyle/>
          <a:p>
            <a:r>
              <a:rPr lang="de-DE"/>
              <a:t>Bayesian Data Analysis Tutorial</a:t>
            </a:r>
            <a:endParaRPr lang="en-SE"/>
          </a:p>
        </p:txBody>
      </p:sp>
    </p:spTree>
    <p:extLst>
      <p:ext uri="{BB962C8B-B14F-4D97-AF65-F5344CB8AC3E}">
        <p14:creationId xmlns:p14="http://schemas.microsoft.com/office/powerpoint/2010/main" val="3584315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86615A-30C2-A5DB-E152-4598566970A3}"/>
              </a:ext>
            </a:extLst>
          </p:cNvPr>
          <p:cNvSpPr>
            <a:spLocks noGrp="1"/>
          </p:cNvSpPr>
          <p:nvPr>
            <p:ph type="title"/>
          </p:nvPr>
        </p:nvSpPr>
        <p:spPr/>
        <p:txBody>
          <a:bodyPr/>
          <a:lstStyle/>
          <a:p>
            <a:r>
              <a:rPr lang="en-SE" dirty="0"/>
              <a:t>Bayesian Data Analysis in a Nutshell</a:t>
            </a:r>
          </a:p>
        </p:txBody>
      </p:sp>
      <p:sp>
        <p:nvSpPr>
          <p:cNvPr id="8" name="Content Placeholder 7">
            <a:extLst>
              <a:ext uri="{FF2B5EF4-FFF2-40B4-BE49-F238E27FC236}">
                <a16:creationId xmlns:a16="http://schemas.microsoft.com/office/drawing/2014/main" id="{1140B4C2-298F-A81B-D9C7-A1677D7AEEA7}"/>
              </a:ext>
            </a:extLst>
          </p:cNvPr>
          <p:cNvSpPr>
            <a:spLocks noGrp="1"/>
          </p:cNvSpPr>
          <p:nvPr>
            <p:ph idx="1"/>
          </p:nvPr>
        </p:nvSpPr>
        <p:spPr>
          <a:xfrm>
            <a:off x="838200" y="1825625"/>
            <a:ext cx="10515600" cy="1250917"/>
          </a:xfrm>
        </p:spPr>
        <p:txBody>
          <a:bodyPr/>
          <a:lstStyle/>
          <a:p>
            <a:pPr marL="0" indent="0">
              <a:buNone/>
            </a:pPr>
            <a:r>
              <a:rPr lang="en-SE" dirty="0"/>
              <a:t>The Bayesian paradigm provides an alternative to the common frequentist paradigm for data analysis. </a:t>
            </a:r>
          </a:p>
        </p:txBody>
      </p:sp>
      <p:sp>
        <p:nvSpPr>
          <p:cNvPr id="4" name="Date Placeholder 3">
            <a:extLst>
              <a:ext uri="{FF2B5EF4-FFF2-40B4-BE49-F238E27FC236}">
                <a16:creationId xmlns:a16="http://schemas.microsoft.com/office/drawing/2014/main" id="{60D284B6-AF18-D308-E6DE-B18161C234A8}"/>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35D513FF-BD8F-1E63-33BE-C83BF4161782}"/>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B6572114-934D-F0DB-1AE4-9343545A2A96}"/>
              </a:ext>
            </a:extLst>
          </p:cNvPr>
          <p:cNvSpPr>
            <a:spLocks noGrp="1"/>
          </p:cNvSpPr>
          <p:nvPr>
            <p:ph type="sldNum" sz="quarter" idx="12"/>
          </p:nvPr>
        </p:nvSpPr>
        <p:spPr/>
        <p:txBody>
          <a:bodyPr/>
          <a:lstStyle/>
          <a:p>
            <a:fld id="{271ECC92-9CDE-4EB3-B1C5-F46B9E1FA3C1}" type="slidenum">
              <a:rPr lang="en-SE" smtClean="0"/>
              <a:t>100</a:t>
            </a:fld>
            <a:endParaRPr lang="en-SE"/>
          </a:p>
        </p:txBody>
      </p:sp>
      <p:grpSp>
        <p:nvGrpSpPr>
          <p:cNvPr id="2" name="Group 1">
            <a:extLst>
              <a:ext uri="{FF2B5EF4-FFF2-40B4-BE49-F238E27FC236}">
                <a16:creationId xmlns:a16="http://schemas.microsoft.com/office/drawing/2014/main" id="{5079757D-7574-0657-84FC-57F845104622}"/>
              </a:ext>
            </a:extLst>
          </p:cNvPr>
          <p:cNvGrpSpPr/>
          <p:nvPr/>
        </p:nvGrpSpPr>
        <p:grpSpPr>
          <a:xfrm>
            <a:off x="955244" y="2922370"/>
            <a:ext cx="2403652" cy="2348074"/>
            <a:chOff x="4894174" y="3429000"/>
            <a:chExt cx="2403652" cy="2348074"/>
          </a:xfrm>
        </p:grpSpPr>
        <p:grpSp>
          <p:nvGrpSpPr>
            <p:cNvPr id="3" name="Group 2">
              <a:extLst>
                <a:ext uri="{FF2B5EF4-FFF2-40B4-BE49-F238E27FC236}">
                  <a16:creationId xmlns:a16="http://schemas.microsoft.com/office/drawing/2014/main" id="{ABD425EC-58BC-1FA6-5007-DE5CE959AF27}"/>
                </a:ext>
              </a:extLst>
            </p:cNvPr>
            <p:cNvGrpSpPr/>
            <p:nvPr/>
          </p:nvGrpSpPr>
          <p:grpSpPr>
            <a:xfrm>
              <a:off x="5556000" y="3429000"/>
              <a:ext cx="1080000" cy="1080000"/>
              <a:chOff x="3313786" y="3686861"/>
              <a:chExt cx="1080000" cy="1080000"/>
            </a:xfrm>
          </p:grpSpPr>
          <p:sp>
            <p:nvSpPr>
              <p:cNvPr id="10" name="Oval 9">
                <a:extLst>
                  <a:ext uri="{FF2B5EF4-FFF2-40B4-BE49-F238E27FC236}">
                    <a16:creationId xmlns:a16="http://schemas.microsoft.com/office/drawing/2014/main" id="{575D39C3-D2A1-651B-CCE5-321BDF878DB6}"/>
                  </a:ext>
                </a:extLst>
              </p:cNvPr>
              <p:cNvSpPr/>
              <p:nvPr/>
            </p:nvSpPr>
            <p:spPr>
              <a:xfrm>
                <a:off x="3313786" y="3686861"/>
                <a:ext cx="1080000" cy="1080000"/>
              </a:xfrm>
              <a:prstGeom prst="ellipse">
                <a:avLst/>
              </a:prstGeom>
              <a:solidFill>
                <a:srgbClr val="C0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1" name="Graphic 10" descr="Exponential Graph with solid fill">
                <a:extLst>
                  <a:ext uri="{FF2B5EF4-FFF2-40B4-BE49-F238E27FC236}">
                    <a16:creationId xmlns:a16="http://schemas.microsoft.com/office/drawing/2014/main" id="{23CD6557-2C98-F4E4-13C8-9796265F1C9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96586" y="3769661"/>
                <a:ext cx="914400" cy="914400"/>
              </a:xfrm>
              <a:prstGeom prst="rect">
                <a:avLst/>
              </a:prstGeom>
            </p:spPr>
          </p:pic>
        </p:grpSp>
        <p:sp>
          <p:nvSpPr>
            <p:cNvPr id="9" name="TextBox 8">
              <a:extLst>
                <a:ext uri="{FF2B5EF4-FFF2-40B4-BE49-F238E27FC236}">
                  <a16:creationId xmlns:a16="http://schemas.microsoft.com/office/drawing/2014/main" id="{95C45580-51FC-731A-E8DB-E4179BB2E4D9}"/>
                </a:ext>
              </a:extLst>
            </p:cNvPr>
            <p:cNvSpPr txBox="1"/>
            <p:nvPr/>
          </p:nvSpPr>
          <p:spPr>
            <a:xfrm>
              <a:off x="4894174" y="4669078"/>
              <a:ext cx="2403652" cy="1107996"/>
            </a:xfrm>
            <a:prstGeom prst="rect">
              <a:avLst/>
            </a:prstGeom>
            <a:noFill/>
          </p:spPr>
          <p:txBody>
            <a:bodyPr wrap="square" rtlCol="0">
              <a:spAutoFit/>
            </a:bodyPr>
            <a:lstStyle/>
            <a:p>
              <a:pPr algn="ctr"/>
              <a:r>
                <a:rPr lang="en-SE" b="1" noProof="0" dirty="0"/>
                <a:t>Learning Curve</a:t>
              </a:r>
              <a:endParaRPr lang="en-US" b="1" noProof="0" dirty="0"/>
            </a:p>
            <a:p>
              <a:pPr algn="ctr"/>
              <a:r>
                <a:rPr lang="en-SE" sz="1600" noProof="0" dirty="0"/>
                <a:t>The learning curve is steep and you need to pick up several new skills</a:t>
              </a:r>
              <a:endParaRPr lang="en-US" sz="1600" noProof="0" dirty="0"/>
            </a:p>
          </p:txBody>
        </p:sp>
      </p:grpSp>
      <p:grpSp>
        <p:nvGrpSpPr>
          <p:cNvPr id="12" name="Group 11">
            <a:extLst>
              <a:ext uri="{FF2B5EF4-FFF2-40B4-BE49-F238E27FC236}">
                <a16:creationId xmlns:a16="http://schemas.microsoft.com/office/drawing/2014/main" id="{2E448264-2CE4-7041-566C-A87A2C423C21}"/>
              </a:ext>
            </a:extLst>
          </p:cNvPr>
          <p:cNvGrpSpPr/>
          <p:nvPr/>
        </p:nvGrpSpPr>
        <p:grpSpPr>
          <a:xfrm>
            <a:off x="3492902" y="2922370"/>
            <a:ext cx="2403652" cy="2101852"/>
            <a:chOff x="4894174" y="3429000"/>
            <a:chExt cx="2403652" cy="2101852"/>
          </a:xfrm>
        </p:grpSpPr>
        <p:grpSp>
          <p:nvGrpSpPr>
            <p:cNvPr id="13" name="Group 12">
              <a:extLst>
                <a:ext uri="{FF2B5EF4-FFF2-40B4-BE49-F238E27FC236}">
                  <a16:creationId xmlns:a16="http://schemas.microsoft.com/office/drawing/2014/main" id="{16764D1D-E82B-6015-8E4A-B5A898392568}"/>
                </a:ext>
              </a:extLst>
            </p:cNvPr>
            <p:cNvGrpSpPr/>
            <p:nvPr/>
          </p:nvGrpSpPr>
          <p:grpSpPr>
            <a:xfrm>
              <a:off x="5556000" y="3429000"/>
              <a:ext cx="1080000" cy="1080000"/>
              <a:chOff x="3313786" y="3686861"/>
              <a:chExt cx="1080000" cy="1080000"/>
            </a:xfrm>
          </p:grpSpPr>
          <p:sp>
            <p:nvSpPr>
              <p:cNvPr id="15" name="Oval 14">
                <a:extLst>
                  <a:ext uri="{FF2B5EF4-FFF2-40B4-BE49-F238E27FC236}">
                    <a16:creationId xmlns:a16="http://schemas.microsoft.com/office/drawing/2014/main" id="{88A76A9A-83B2-318A-DF8F-BCCB5A3A0198}"/>
                  </a:ext>
                </a:extLst>
              </p:cNvPr>
              <p:cNvSpPr/>
              <p:nvPr/>
            </p:nvSpPr>
            <p:spPr>
              <a:xfrm>
                <a:off x="3313786" y="3686861"/>
                <a:ext cx="1080000" cy="1080000"/>
              </a:xfrm>
              <a:prstGeom prst="ellipse">
                <a:avLst/>
              </a:prstGeom>
              <a:solidFill>
                <a:srgbClr val="FFC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6" name="Graphic 15" descr="Clipboard Partially Checked with solid fill">
                <a:extLst>
                  <a:ext uri="{FF2B5EF4-FFF2-40B4-BE49-F238E27FC236}">
                    <a16:creationId xmlns:a16="http://schemas.microsoft.com/office/drawing/2014/main" id="{ABB970F6-DB1D-0560-63DF-21EEF58A2A5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396586" y="3769661"/>
                <a:ext cx="914400" cy="914400"/>
              </a:xfrm>
              <a:prstGeom prst="rect">
                <a:avLst/>
              </a:prstGeom>
            </p:spPr>
          </p:pic>
        </p:grpSp>
        <p:sp>
          <p:nvSpPr>
            <p:cNvPr id="14" name="TextBox 13">
              <a:extLst>
                <a:ext uri="{FF2B5EF4-FFF2-40B4-BE49-F238E27FC236}">
                  <a16:creationId xmlns:a16="http://schemas.microsoft.com/office/drawing/2014/main" id="{E424FA2B-F065-EDB6-F526-5D5DD8FB4623}"/>
                </a:ext>
              </a:extLst>
            </p:cNvPr>
            <p:cNvSpPr txBox="1"/>
            <p:nvPr/>
          </p:nvSpPr>
          <p:spPr>
            <a:xfrm>
              <a:off x="4894174" y="4669078"/>
              <a:ext cx="2403652" cy="861774"/>
            </a:xfrm>
            <a:prstGeom prst="rect">
              <a:avLst/>
            </a:prstGeom>
            <a:noFill/>
          </p:spPr>
          <p:txBody>
            <a:bodyPr wrap="square" rtlCol="0">
              <a:spAutoFit/>
            </a:bodyPr>
            <a:lstStyle/>
            <a:p>
              <a:pPr algn="ctr"/>
              <a:r>
                <a:rPr lang="en-SE" b="1" noProof="0" dirty="0"/>
                <a:t>Process</a:t>
              </a:r>
              <a:endParaRPr lang="en-US" b="1" noProof="0" dirty="0"/>
            </a:p>
            <a:p>
              <a:pPr algn="ctr"/>
              <a:r>
                <a:rPr lang="en-SE" sz="1600" noProof="0" dirty="0"/>
                <a:t>Thankfully, guidance and tooling for BDA got better </a:t>
              </a:r>
              <a:endParaRPr lang="en-US" sz="1600" noProof="0" dirty="0"/>
            </a:p>
          </p:txBody>
        </p:sp>
      </p:grpSp>
      <p:grpSp>
        <p:nvGrpSpPr>
          <p:cNvPr id="17" name="Group 16">
            <a:extLst>
              <a:ext uri="{FF2B5EF4-FFF2-40B4-BE49-F238E27FC236}">
                <a16:creationId xmlns:a16="http://schemas.microsoft.com/office/drawing/2014/main" id="{CEAE6989-9FC5-6012-F02E-F95D6646F71B}"/>
              </a:ext>
            </a:extLst>
          </p:cNvPr>
          <p:cNvGrpSpPr/>
          <p:nvPr/>
        </p:nvGrpSpPr>
        <p:grpSpPr>
          <a:xfrm>
            <a:off x="6030560" y="2922370"/>
            <a:ext cx="2403652" cy="2625073"/>
            <a:chOff x="4894174" y="3429000"/>
            <a:chExt cx="2403652" cy="2625073"/>
          </a:xfrm>
        </p:grpSpPr>
        <p:grpSp>
          <p:nvGrpSpPr>
            <p:cNvPr id="18" name="Group 17">
              <a:extLst>
                <a:ext uri="{FF2B5EF4-FFF2-40B4-BE49-F238E27FC236}">
                  <a16:creationId xmlns:a16="http://schemas.microsoft.com/office/drawing/2014/main" id="{8AC2301A-4C4B-CFA1-E510-0FAD253F1CFD}"/>
                </a:ext>
              </a:extLst>
            </p:cNvPr>
            <p:cNvGrpSpPr/>
            <p:nvPr/>
          </p:nvGrpSpPr>
          <p:grpSpPr>
            <a:xfrm>
              <a:off x="5556000" y="3429000"/>
              <a:ext cx="1080000" cy="1080000"/>
              <a:chOff x="3313786" y="3686861"/>
              <a:chExt cx="1080000" cy="1080000"/>
            </a:xfrm>
          </p:grpSpPr>
          <p:sp>
            <p:nvSpPr>
              <p:cNvPr id="20" name="Oval 19">
                <a:extLst>
                  <a:ext uri="{FF2B5EF4-FFF2-40B4-BE49-F238E27FC236}">
                    <a16:creationId xmlns:a16="http://schemas.microsoft.com/office/drawing/2014/main" id="{2DD35062-3830-6585-3807-2B0DF0B48ADE}"/>
                  </a:ext>
                </a:extLst>
              </p:cNvPr>
              <p:cNvSpPr/>
              <p:nvPr/>
            </p:nvSpPr>
            <p:spPr>
              <a:xfrm>
                <a:off x="3313786" y="3686861"/>
                <a:ext cx="1080000" cy="1080000"/>
              </a:xfrm>
              <a:prstGeom prst="ellipse">
                <a:avLst/>
              </a:prstGeom>
              <a:solidFill>
                <a:srgbClr val="92D05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1" name="Graphic 20" descr="Normal Distribution with solid fill">
                <a:extLst>
                  <a:ext uri="{FF2B5EF4-FFF2-40B4-BE49-F238E27FC236}">
                    <a16:creationId xmlns:a16="http://schemas.microsoft.com/office/drawing/2014/main" id="{5DDA2238-EC49-EC05-656B-CDC96C21F04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396586" y="3769661"/>
                <a:ext cx="914400" cy="914400"/>
              </a:xfrm>
              <a:prstGeom prst="rect">
                <a:avLst/>
              </a:prstGeom>
            </p:spPr>
          </p:pic>
        </p:grpSp>
        <p:sp>
          <p:nvSpPr>
            <p:cNvPr id="19" name="TextBox 18">
              <a:extLst>
                <a:ext uri="{FF2B5EF4-FFF2-40B4-BE49-F238E27FC236}">
                  <a16:creationId xmlns:a16="http://schemas.microsoft.com/office/drawing/2014/main" id="{567450AD-9639-1F83-5F6E-DA1F80C2FB18}"/>
                </a:ext>
              </a:extLst>
            </p:cNvPr>
            <p:cNvSpPr txBox="1"/>
            <p:nvPr/>
          </p:nvSpPr>
          <p:spPr>
            <a:xfrm>
              <a:off x="4894174" y="4669078"/>
              <a:ext cx="2403652" cy="1384995"/>
            </a:xfrm>
            <a:prstGeom prst="rect">
              <a:avLst/>
            </a:prstGeom>
            <a:noFill/>
          </p:spPr>
          <p:txBody>
            <a:bodyPr wrap="square" rtlCol="0">
              <a:spAutoFit/>
            </a:bodyPr>
            <a:lstStyle/>
            <a:p>
              <a:pPr algn="ctr"/>
              <a:r>
                <a:rPr lang="en-SE" b="1" dirty="0"/>
                <a:t>Transparent &amp; Sophisticated</a:t>
              </a:r>
              <a:endParaRPr lang="en-US" b="1" dirty="0"/>
            </a:p>
            <a:p>
              <a:pPr algn="ctr"/>
              <a:r>
                <a:rPr lang="en-SE" sz="1600" dirty="0"/>
                <a:t>BDA rewards you with explicit, traceable, and interpretable results</a:t>
              </a:r>
              <a:endParaRPr lang="en-US" sz="1600" dirty="0"/>
            </a:p>
          </p:txBody>
        </p:sp>
      </p:grpSp>
      <p:grpSp>
        <p:nvGrpSpPr>
          <p:cNvPr id="22" name="Group 21">
            <a:extLst>
              <a:ext uri="{FF2B5EF4-FFF2-40B4-BE49-F238E27FC236}">
                <a16:creationId xmlns:a16="http://schemas.microsoft.com/office/drawing/2014/main" id="{892E6293-7A6C-A9C8-02C9-5443FF8FC610}"/>
              </a:ext>
            </a:extLst>
          </p:cNvPr>
          <p:cNvGrpSpPr/>
          <p:nvPr/>
        </p:nvGrpSpPr>
        <p:grpSpPr>
          <a:xfrm>
            <a:off x="8568218" y="2922370"/>
            <a:ext cx="2403652" cy="2594295"/>
            <a:chOff x="4894174" y="3429000"/>
            <a:chExt cx="2403652" cy="2594295"/>
          </a:xfrm>
        </p:grpSpPr>
        <p:grpSp>
          <p:nvGrpSpPr>
            <p:cNvPr id="23" name="Group 22">
              <a:extLst>
                <a:ext uri="{FF2B5EF4-FFF2-40B4-BE49-F238E27FC236}">
                  <a16:creationId xmlns:a16="http://schemas.microsoft.com/office/drawing/2014/main" id="{F273E01E-C3A5-1C6E-D3F5-299FD81AD54F}"/>
                </a:ext>
              </a:extLst>
            </p:cNvPr>
            <p:cNvGrpSpPr/>
            <p:nvPr/>
          </p:nvGrpSpPr>
          <p:grpSpPr>
            <a:xfrm>
              <a:off x="5556000" y="3429000"/>
              <a:ext cx="1080000" cy="1080000"/>
              <a:chOff x="3313786" y="3686861"/>
              <a:chExt cx="1080000" cy="1080000"/>
            </a:xfrm>
          </p:grpSpPr>
          <p:sp>
            <p:nvSpPr>
              <p:cNvPr id="25" name="Oval 24">
                <a:extLst>
                  <a:ext uri="{FF2B5EF4-FFF2-40B4-BE49-F238E27FC236}">
                    <a16:creationId xmlns:a16="http://schemas.microsoft.com/office/drawing/2014/main" id="{F882AA21-737C-CD7C-11F3-1146ACF79D37}"/>
                  </a:ext>
                </a:extLst>
              </p:cNvPr>
              <p:cNvSpPr/>
              <p:nvPr/>
            </p:nvSpPr>
            <p:spPr>
              <a:xfrm>
                <a:off x="3313786" y="3686861"/>
                <a:ext cx="1080000" cy="1080000"/>
              </a:xfrm>
              <a:prstGeom prst="ellipse">
                <a:avLst/>
              </a:prstGeom>
              <a:solidFill>
                <a:schemeClr val="accent6"/>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26" name="Graphic 25" descr="Alarm clock with solid fill">
                <a:extLst>
                  <a:ext uri="{FF2B5EF4-FFF2-40B4-BE49-F238E27FC236}">
                    <a16:creationId xmlns:a16="http://schemas.microsoft.com/office/drawing/2014/main" id="{BD003B69-CC7E-B7B6-CB22-47149DD455A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3396586" y="3769661"/>
                <a:ext cx="914400" cy="914400"/>
              </a:xfrm>
              <a:prstGeom prst="rect">
                <a:avLst/>
              </a:prstGeom>
            </p:spPr>
          </p:pic>
        </p:grpSp>
        <p:sp>
          <p:nvSpPr>
            <p:cNvPr id="24" name="TextBox 23">
              <a:extLst>
                <a:ext uri="{FF2B5EF4-FFF2-40B4-BE49-F238E27FC236}">
                  <a16:creationId xmlns:a16="http://schemas.microsoft.com/office/drawing/2014/main" id="{52E366E1-D7E7-6013-1521-41AE8174DCA7}"/>
                </a:ext>
              </a:extLst>
            </p:cNvPr>
            <p:cNvSpPr txBox="1"/>
            <p:nvPr/>
          </p:nvSpPr>
          <p:spPr>
            <a:xfrm>
              <a:off x="4894174" y="4669078"/>
              <a:ext cx="2403652" cy="1354217"/>
            </a:xfrm>
            <a:prstGeom prst="rect">
              <a:avLst/>
            </a:prstGeom>
            <a:noFill/>
          </p:spPr>
          <p:txBody>
            <a:bodyPr wrap="square" rtlCol="0">
              <a:spAutoFit/>
            </a:bodyPr>
            <a:lstStyle/>
            <a:p>
              <a:pPr algn="ctr"/>
              <a:r>
                <a:rPr lang="en-SE" b="1" noProof="0" dirty="0"/>
                <a:t>Perfect Timing</a:t>
              </a:r>
              <a:endParaRPr lang="en-US" b="1" noProof="0" dirty="0"/>
            </a:p>
            <a:p>
              <a:pPr algn="ctr"/>
              <a:r>
                <a:rPr lang="en-SE" sz="1600" noProof="0" dirty="0"/>
                <a:t>BDA is up-and-coming in SE/RE research, so you are just in time to join and learn</a:t>
              </a:r>
              <a:endParaRPr lang="en-US" sz="1600" noProof="0" dirty="0"/>
            </a:p>
          </p:txBody>
        </p:sp>
      </p:grpSp>
    </p:spTree>
    <p:extLst>
      <p:ext uri="{BB962C8B-B14F-4D97-AF65-F5344CB8AC3E}">
        <p14:creationId xmlns:p14="http://schemas.microsoft.com/office/powerpoint/2010/main" val="19942525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4A5C1-048D-9D47-F90C-62BCE906066D}"/>
              </a:ext>
            </a:extLst>
          </p:cNvPr>
          <p:cNvSpPr>
            <a:spLocks noGrp="1"/>
          </p:cNvSpPr>
          <p:nvPr>
            <p:ph type="title"/>
          </p:nvPr>
        </p:nvSpPr>
        <p:spPr/>
        <p:txBody>
          <a:bodyPr/>
          <a:lstStyle/>
          <a:p>
            <a:r>
              <a:rPr lang="en-SE" dirty="0"/>
              <a:t>Material</a:t>
            </a:r>
          </a:p>
        </p:txBody>
      </p:sp>
      <p:sp>
        <p:nvSpPr>
          <p:cNvPr id="3" name="Content Placeholder 2">
            <a:extLst>
              <a:ext uri="{FF2B5EF4-FFF2-40B4-BE49-F238E27FC236}">
                <a16:creationId xmlns:a16="http://schemas.microsoft.com/office/drawing/2014/main" id="{67BE6094-950B-DB45-BE15-D05DE521CF7A}"/>
              </a:ext>
            </a:extLst>
          </p:cNvPr>
          <p:cNvSpPr>
            <a:spLocks noGrp="1"/>
          </p:cNvSpPr>
          <p:nvPr>
            <p:ph idx="1"/>
          </p:nvPr>
        </p:nvSpPr>
        <p:spPr>
          <a:xfrm>
            <a:off x="838200" y="1825625"/>
            <a:ext cx="10515600" cy="1325563"/>
          </a:xfrm>
        </p:spPr>
        <p:txBody>
          <a:bodyPr/>
          <a:lstStyle/>
          <a:p>
            <a:pPr marL="0" indent="0">
              <a:buNone/>
            </a:pPr>
            <a:r>
              <a:rPr lang="en-SE" dirty="0"/>
              <a:t>You find all material online in our public repository at </a:t>
            </a:r>
          </a:p>
          <a:p>
            <a:pPr marL="0" indent="0" algn="ctr">
              <a:buNone/>
            </a:pPr>
            <a:r>
              <a:rPr lang="de-DE" dirty="0">
                <a:hlinkClick r:id="rId2"/>
              </a:rPr>
              <a:t>https://github.com/JulianFrattini/bda4sci</a:t>
            </a:r>
            <a:r>
              <a:rPr lang="en-SE" dirty="0"/>
              <a:t> </a:t>
            </a:r>
          </a:p>
        </p:txBody>
      </p:sp>
      <p:sp>
        <p:nvSpPr>
          <p:cNvPr id="4" name="Date Placeholder 3">
            <a:extLst>
              <a:ext uri="{FF2B5EF4-FFF2-40B4-BE49-F238E27FC236}">
                <a16:creationId xmlns:a16="http://schemas.microsoft.com/office/drawing/2014/main" id="{A40204B2-C996-3E1A-6535-3F3B6E67574C}"/>
              </a:ext>
            </a:extLst>
          </p:cNvPr>
          <p:cNvSpPr>
            <a:spLocks noGrp="1"/>
          </p:cNvSpPr>
          <p:nvPr>
            <p:ph type="dt" sz="half" idx="10"/>
          </p:nvPr>
        </p:nvSpPr>
        <p:spPr/>
        <p:txBody>
          <a:bodyPr/>
          <a:lstStyle/>
          <a:p>
            <a:r>
              <a:rPr lang="en-SE"/>
              <a:t>2026-08-17</a:t>
            </a:r>
          </a:p>
        </p:txBody>
      </p:sp>
      <p:sp>
        <p:nvSpPr>
          <p:cNvPr id="5" name="Footer Placeholder 4">
            <a:extLst>
              <a:ext uri="{FF2B5EF4-FFF2-40B4-BE49-F238E27FC236}">
                <a16:creationId xmlns:a16="http://schemas.microsoft.com/office/drawing/2014/main" id="{834EB721-3131-6DFF-AC7D-AF8931279E9B}"/>
              </a:ext>
            </a:extLst>
          </p:cNvPr>
          <p:cNvSpPr>
            <a:spLocks noGrp="1"/>
          </p:cNvSpPr>
          <p:nvPr>
            <p:ph type="ftr" sz="quarter" idx="11"/>
          </p:nvPr>
        </p:nvSpPr>
        <p:spPr/>
        <p:txBody>
          <a:bodyPr/>
          <a:lstStyle/>
          <a:p>
            <a:r>
              <a:rPr lang="de-DE"/>
              <a:t>Bayesian Data Analysis Tutorial</a:t>
            </a:r>
            <a:endParaRPr lang="en-SE"/>
          </a:p>
        </p:txBody>
      </p:sp>
      <p:sp>
        <p:nvSpPr>
          <p:cNvPr id="6" name="Slide Number Placeholder 5">
            <a:extLst>
              <a:ext uri="{FF2B5EF4-FFF2-40B4-BE49-F238E27FC236}">
                <a16:creationId xmlns:a16="http://schemas.microsoft.com/office/drawing/2014/main" id="{7DFC3AF4-6E78-B966-D59D-486860C3DA47}"/>
              </a:ext>
            </a:extLst>
          </p:cNvPr>
          <p:cNvSpPr>
            <a:spLocks noGrp="1"/>
          </p:cNvSpPr>
          <p:nvPr>
            <p:ph type="sldNum" sz="quarter" idx="12"/>
          </p:nvPr>
        </p:nvSpPr>
        <p:spPr/>
        <p:txBody>
          <a:bodyPr/>
          <a:lstStyle/>
          <a:p>
            <a:fld id="{271ECC92-9CDE-4EB3-B1C5-F46B9E1FA3C1}" type="slidenum">
              <a:rPr lang="en-SE" smtClean="0"/>
              <a:t>101</a:t>
            </a:fld>
            <a:endParaRPr lang="en-SE"/>
          </a:p>
        </p:txBody>
      </p:sp>
      <p:pic>
        <p:nvPicPr>
          <p:cNvPr id="8" name="Picture 7">
            <a:extLst>
              <a:ext uri="{FF2B5EF4-FFF2-40B4-BE49-F238E27FC236}">
                <a16:creationId xmlns:a16="http://schemas.microsoft.com/office/drawing/2014/main" id="{63500B5D-7C30-0FED-8BFE-824E14179AC7}"/>
              </a:ext>
            </a:extLst>
          </p:cNvPr>
          <p:cNvPicPr>
            <a:picLocks noChangeAspect="1"/>
          </p:cNvPicPr>
          <p:nvPr/>
        </p:nvPicPr>
        <p:blipFill>
          <a:blip r:embed="rId3"/>
          <a:stretch>
            <a:fillRect/>
          </a:stretch>
        </p:blipFill>
        <p:spPr>
          <a:xfrm>
            <a:off x="2157944" y="3151188"/>
            <a:ext cx="7876111" cy="3706812"/>
          </a:xfrm>
          <a:prstGeom prst="rect">
            <a:avLst/>
          </a:prstGeom>
        </p:spPr>
      </p:pic>
    </p:spTree>
    <p:extLst>
      <p:ext uri="{BB962C8B-B14F-4D97-AF65-F5344CB8AC3E}">
        <p14:creationId xmlns:p14="http://schemas.microsoft.com/office/powerpoint/2010/main" val="26763249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9A06AB5-272D-EEDD-C590-8FCDC6132433}"/>
              </a:ext>
            </a:extLst>
          </p:cNvPr>
          <p:cNvSpPr txBox="1"/>
          <p:nvPr/>
        </p:nvSpPr>
        <p:spPr>
          <a:xfrm>
            <a:off x="750278" y="2157046"/>
            <a:ext cx="2685735" cy="523220"/>
          </a:xfrm>
          <a:prstGeom prst="rect">
            <a:avLst/>
          </a:prstGeom>
          <a:noFill/>
        </p:spPr>
        <p:txBody>
          <a:bodyPr wrap="none" rtlCol="0">
            <a:spAutoFit/>
          </a:bodyPr>
          <a:lstStyle/>
          <a:p>
            <a:r>
              <a:rPr lang="en-SE" sz="2800" dirty="0">
                <a:solidFill>
                  <a:schemeClr val="bg1"/>
                </a:solidFill>
              </a:rPr>
              <a:t>Let’s go improve</a:t>
            </a:r>
          </a:p>
        </p:txBody>
      </p:sp>
      <p:sp>
        <p:nvSpPr>
          <p:cNvPr id="9" name="TextBox 8">
            <a:extLst>
              <a:ext uri="{FF2B5EF4-FFF2-40B4-BE49-F238E27FC236}">
                <a16:creationId xmlns:a16="http://schemas.microsoft.com/office/drawing/2014/main" id="{CC82A76E-9EF2-B046-2815-44F5547923C0}"/>
              </a:ext>
            </a:extLst>
          </p:cNvPr>
          <p:cNvSpPr txBox="1"/>
          <p:nvPr/>
        </p:nvSpPr>
        <p:spPr>
          <a:xfrm>
            <a:off x="750278" y="2680266"/>
            <a:ext cx="7860613" cy="1200329"/>
          </a:xfrm>
          <a:prstGeom prst="rect">
            <a:avLst/>
          </a:prstGeom>
          <a:noFill/>
        </p:spPr>
        <p:txBody>
          <a:bodyPr wrap="none" rtlCol="0">
            <a:spAutoFit/>
          </a:bodyPr>
          <a:lstStyle/>
          <a:p>
            <a:r>
              <a:rPr lang="en-SE" sz="7200" dirty="0">
                <a:solidFill>
                  <a:schemeClr val="bg1"/>
                </a:solidFill>
              </a:rPr>
              <a:t>Conclusion Validity</a:t>
            </a:r>
          </a:p>
        </p:txBody>
      </p:sp>
      <p:sp>
        <p:nvSpPr>
          <p:cNvPr id="11" name="TextBox 10">
            <a:extLst>
              <a:ext uri="{FF2B5EF4-FFF2-40B4-BE49-F238E27FC236}">
                <a16:creationId xmlns:a16="http://schemas.microsoft.com/office/drawing/2014/main" id="{F9545ED4-CD85-F533-C2A9-AECAF20A4AFC}"/>
              </a:ext>
            </a:extLst>
          </p:cNvPr>
          <p:cNvSpPr txBox="1"/>
          <p:nvPr/>
        </p:nvSpPr>
        <p:spPr>
          <a:xfrm>
            <a:off x="6060192" y="3942150"/>
            <a:ext cx="2550699" cy="523220"/>
          </a:xfrm>
          <a:prstGeom prst="rect">
            <a:avLst/>
          </a:prstGeom>
          <a:noFill/>
        </p:spPr>
        <p:txBody>
          <a:bodyPr wrap="none" rtlCol="0">
            <a:spAutoFit/>
          </a:bodyPr>
          <a:lstStyle/>
          <a:p>
            <a:pPr algn="r"/>
            <a:r>
              <a:rPr lang="en-SE" sz="2800" dirty="0">
                <a:solidFill>
                  <a:schemeClr val="bg1"/>
                </a:solidFill>
              </a:rPr>
              <a:t>with the help of</a:t>
            </a:r>
          </a:p>
        </p:txBody>
      </p:sp>
      <p:sp>
        <p:nvSpPr>
          <p:cNvPr id="13" name="TextBox 12">
            <a:extLst>
              <a:ext uri="{FF2B5EF4-FFF2-40B4-BE49-F238E27FC236}">
                <a16:creationId xmlns:a16="http://schemas.microsoft.com/office/drawing/2014/main" id="{D47C1505-FD54-1E67-1156-1E6CE8F2CE42}"/>
              </a:ext>
            </a:extLst>
          </p:cNvPr>
          <p:cNvSpPr txBox="1"/>
          <p:nvPr/>
        </p:nvSpPr>
        <p:spPr>
          <a:xfrm>
            <a:off x="750278" y="4526925"/>
            <a:ext cx="10974543" cy="1323439"/>
          </a:xfrm>
          <a:prstGeom prst="rect">
            <a:avLst/>
          </a:prstGeom>
          <a:noFill/>
        </p:spPr>
        <p:txBody>
          <a:bodyPr wrap="none" rtlCol="0">
            <a:spAutoFit/>
          </a:bodyPr>
          <a:lstStyle/>
          <a:p>
            <a:r>
              <a:rPr lang="en-SE" sz="8000" b="1" dirty="0">
                <a:solidFill>
                  <a:schemeClr val="bg1"/>
                </a:solidFill>
              </a:rPr>
              <a:t>Bayesian Data Analysis</a:t>
            </a:r>
          </a:p>
        </p:txBody>
      </p:sp>
    </p:spTree>
    <p:extLst>
      <p:ext uri="{BB962C8B-B14F-4D97-AF65-F5344CB8AC3E}">
        <p14:creationId xmlns:p14="http://schemas.microsoft.com/office/powerpoint/2010/main" val="38216453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Chalmers">
      <a:dk1>
        <a:sysClr val="windowText" lastClr="000000"/>
      </a:dk1>
      <a:lt1>
        <a:srgbClr val="FFFFFF"/>
      </a:lt1>
      <a:dk2>
        <a:srgbClr val="003050"/>
      </a:dk2>
      <a:lt2>
        <a:srgbClr val="FFCB05"/>
      </a:lt2>
      <a:accent1>
        <a:srgbClr val="F15A22"/>
      </a:accent1>
      <a:accent2>
        <a:srgbClr val="7FB539"/>
      </a:accent2>
      <a:accent3>
        <a:srgbClr val="006C5C"/>
      </a:accent3>
      <a:accent4>
        <a:srgbClr val="5D6F7A"/>
      </a:accent4>
      <a:accent5>
        <a:srgbClr val="58B0E3"/>
      </a:accent5>
      <a:accent6>
        <a:srgbClr val="270089"/>
      </a:accent6>
      <a:hlink>
        <a:srgbClr val="00A99D"/>
      </a:hlink>
      <a:folHlink>
        <a:srgbClr val="48372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1370</TotalTime>
  <Words>7506</Words>
  <Application>Microsoft Office PowerPoint</Application>
  <PresentationFormat>Widescreen</PresentationFormat>
  <Paragraphs>1155</Paragraphs>
  <Slides>102</Slides>
  <Notes>17</Notes>
  <HiddenSlides>5</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102</vt:i4>
      </vt:variant>
    </vt:vector>
  </HeadingPairs>
  <TitlesOfParts>
    <vt:vector size="109" baseType="lpstr">
      <vt:lpstr>Aptos</vt:lpstr>
      <vt:lpstr>Aptos Display</vt:lpstr>
      <vt:lpstr>Arial</vt:lpstr>
      <vt:lpstr>Cambria Math</vt:lpstr>
      <vt:lpstr>Courier New</vt:lpstr>
      <vt:lpstr>Segoe UI Black</vt:lpstr>
      <vt:lpstr>Office Theme</vt:lpstr>
      <vt:lpstr>Applied Bayesian Data Analysis</vt:lpstr>
      <vt:lpstr>Applied Bayesian Data Analysis  in Requirements Engineering</vt:lpstr>
      <vt:lpstr>Meet your Instructors</vt:lpstr>
      <vt:lpstr>Schedule</vt:lpstr>
      <vt:lpstr>Motivation and Goals</vt:lpstr>
      <vt:lpstr>Good Science</vt:lpstr>
      <vt:lpstr>Conclusion Validity</vt:lpstr>
      <vt:lpstr>Conclusion Validity</vt:lpstr>
      <vt:lpstr>Learning Outcomes</vt:lpstr>
      <vt:lpstr>State of Practice</vt:lpstr>
      <vt:lpstr>Null-Hypothesis Significance Tests</vt:lpstr>
      <vt:lpstr>Null-Hypothesis Significance Tests</vt:lpstr>
      <vt:lpstr>Null-Hypothesis Significance Tests</vt:lpstr>
      <vt:lpstr>Null-Hypothesis Significance Tests</vt:lpstr>
      <vt:lpstr>PowerPoint Presentation</vt:lpstr>
      <vt:lpstr>Null-Hypothesis Significance Tests</vt:lpstr>
      <vt:lpstr>Null-Hypothesis Significance Tests</vt:lpstr>
      <vt:lpstr>Null-Hypothesis Significance Tests</vt:lpstr>
      <vt:lpstr>Origin of the NHST</vt:lpstr>
      <vt:lpstr>Confidence Intervals</vt:lpstr>
      <vt:lpstr>Null-Hypothesis Significance Tests</vt:lpstr>
      <vt:lpstr>The Bayesian Paradigm</vt:lpstr>
      <vt:lpstr>Paradigm of Probability</vt:lpstr>
      <vt:lpstr>Paradigm of Probability</vt:lpstr>
      <vt:lpstr>Bayes’ Theorem</vt:lpstr>
      <vt:lpstr>Bayes’ Theorem</vt:lpstr>
      <vt:lpstr>Bayes’ Theorem</vt:lpstr>
      <vt:lpstr>Bayes’ Theorem</vt:lpstr>
      <vt:lpstr>Bayes’ Theorem</vt:lpstr>
      <vt:lpstr>Example</vt:lpstr>
      <vt:lpstr>Example</vt:lpstr>
      <vt:lpstr>Example</vt:lpstr>
      <vt:lpstr>Example</vt:lpstr>
      <vt:lpstr>Example</vt:lpstr>
      <vt:lpstr>Example</vt:lpstr>
      <vt:lpstr>Example</vt:lpstr>
      <vt:lpstr>Example</vt:lpstr>
      <vt:lpstr>Application I</vt:lpstr>
      <vt:lpstr>The Bayesian Workflow</vt:lpstr>
      <vt:lpstr>Code Snippets</vt:lpstr>
      <vt:lpstr>Precursor</vt:lpstr>
      <vt:lpstr>Context</vt:lpstr>
      <vt:lpstr>Context</vt:lpstr>
      <vt:lpstr>Building a Regression Formula</vt:lpstr>
      <vt:lpstr>Building a Regression Formula</vt:lpstr>
      <vt:lpstr>Building a Regression Formula</vt:lpstr>
      <vt:lpstr>Selecting Priors</vt:lpstr>
      <vt:lpstr>Selecting Priors</vt:lpstr>
      <vt:lpstr>Selecting Priors</vt:lpstr>
      <vt:lpstr>Assessing Priors</vt:lpstr>
      <vt:lpstr>Assessing Priors</vt:lpstr>
      <vt:lpstr>Assessing Priors</vt:lpstr>
      <vt:lpstr>Bayesian Updating</vt:lpstr>
      <vt:lpstr>Bayesian Updating</vt:lpstr>
      <vt:lpstr>Bayesian Updating Engine</vt:lpstr>
      <vt:lpstr>Bayesian Updating Engine</vt:lpstr>
      <vt:lpstr>Bayesian Updating Engine</vt:lpstr>
      <vt:lpstr>Markov chain Monte Carlo Sampling</vt:lpstr>
      <vt:lpstr>Markov chain Monte Carlo Sampling</vt:lpstr>
      <vt:lpstr>Markov chain Monte Carlo Sampling</vt:lpstr>
      <vt:lpstr>Markov chain Monte Carlo Sampling</vt:lpstr>
      <vt:lpstr>Assessing the Training</vt:lpstr>
      <vt:lpstr>Assessing the Training</vt:lpstr>
      <vt:lpstr>Assessing the Training</vt:lpstr>
      <vt:lpstr>Assessing the Training</vt:lpstr>
      <vt:lpstr>Assessing the Training</vt:lpstr>
      <vt:lpstr>Interpreting the Results</vt:lpstr>
      <vt:lpstr>Interpreting the Results</vt:lpstr>
      <vt:lpstr>Credible Interval</vt:lpstr>
      <vt:lpstr>Credible Interval</vt:lpstr>
      <vt:lpstr>Effect of Priors</vt:lpstr>
      <vt:lpstr>Application II</vt:lpstr>
      <vt:lpstr>The Bayesian Workflow</vt:lpstr>
      <vt:lpstr>Normal Distribution</vt:lpstr>
      <vt:lpstr>PowerPoint Presentation</vt:lpstr>
      <vt:lpstr>PowerPoint Presentation</vt:lpstr>
      <vt:lpstr>PowerPoint Presentation</vt:lpstr>
      <vt:lpstr>Distribution Families</vt:lpstr>
      <vt:lpstr>Classic Misconception</vt:lpstr>
      <vt:lpstr>Picking the wrong Distribution</vt:lpstr>
      <vt:lpstr>Maximum Entropy</vt:lpstr>
      <vt:lpstr>Maximum Entropy</vt:lpstr>
      <vt:lpstr>Updated Context</vt:lpstr>
      <vt:lpstr>Building a Regression Formula</vt:lpstr>
      <vt:lpstr>Link Functions</vt:lpstr>
      <vt:lpstr>Bayesian Model</vt:lpstr>
      <vt:lpstr>Prior Predictive Checks, Training, and Posterior Predictive Checks</vt:lpstr>
      <vt:lpstr>Model Interpretation</vt:lpstr>
      <vt:lpstr>Marginal Effects</vt:lpstr>
      <vt:lpstr>Marginal Effects</vt:lpstr>
      <vt:lpstr>The Bayesian Workflow</vt:lpstr>
      <vt:lpstr>Path Ahead</vt:lpstr>
      <vt:lpstr>BDA in Action</vt:lpstr>
      <vt:lpstr>Learning Bayesian Data Analysis</vt:lpstr>
      <vt:lpstr>Distributions</vt:lpstr>
      <vt:lpstr>Resources</vt:lpstr>
      <vt:lpstr>Resources</vt:lpstr>
      <vt:lpstr>Opportunities</vt:lpstr>
      <vt:lpstr>Conclusion</vt:lpstr>
      <vt:lpstr>Bayesian Data Analysis in a Nutshell</vt:lpstr>
      <vt:lpstr>Material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Julian Frattini</dc:creator>
  <cp:lastModifiedBy>Julian Frattini</cp:lastModifiedBy>
  <cp:revision>71</cp:revision>
  <dcterms:created xsi:type="dcterms:W3CDTF">2025-05-23T14:20:09Z</dcterms:created>
  <dcterms:modified xsi:type="dcterms:W3CDTF">2026-08-17T11:54:04Z</dcterms:modified>
</cp:coreProperties>
</file>