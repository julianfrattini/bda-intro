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6"/>
  </p:notesMasterIdLst>
  <p:sldIdLst>
    <p:sldId id="256" r:id="rId2"/>
    <p:sldId id="431" r:id="rId3"/>
    <p:sldId id="430" r:id="rId4"/>
    <p:sldId id="457" r:id="rId5"/>
    <p:sldId id="432" r:id="rId6"/>
    <p:sldId id="433" r:id="rId7"/>
    <p:sldId id="434" r:id="rId8"/>
    <p:sldId id="437" r:id="rId9"/>
    <p:sldId id="449" r:id="rId10"/>
    <p:sldId id="435" r:id="rId11"/>
    <p:sldId id="436" r:id="rId12"/>
    <p:sldId id="440" r:id="rId13"/>
    <p:sldId id="438" r:id="rId14"/>
    <p:sldId id="439" r:id="rId15"/>
    <p:sldId id="451" r:id="rId16"/>
    <p:sldId id="450" r:id="rId17"/>
    <p:sldId id="465" r:id="rId18"/>
    <p:sldId id="466" r:id="rId19"/>
    <p:sldId id="452" r:id="rId20"/>
    <p:sldId id="453" r:id="rId21"/>
    <p:sldId id="458" r:id="rId22"/>
    <p:sldId id="441" r:id="rId23"/>
    <p:sldId id="442" r:id="rId24"/>
    <p:sldId id="454" r:id="rId25"/>
    <p:sldId id="455" r:id="rId26"/>
    <p:sldId id="443" r:id="rId27"/>
    <p:sldId id="444" r:id="rId28"/>
    <p:sldId id="445" r:id="rId29"/>
    <p:sldId id="446" r:id="rId30"/>
    <p:sldId id="426" r:id="rId31"/>
    <p:sldId id="448" r:id="rId32"/>
    <p:sldId id="461" r:id="rId33"/>
    <p:sldId id="456" r:id="rId34"/>
    <p:sldId id="460" r:id="rId35"/>
    <p:sldId id="459" r:id="rId36"/>
    <p:sldId id="427" r:id="rId37"/>
    <p:sldId id="463" r:id="rId38"/>
    <p:sldId id="464" r:id="rId39"/>
    <p:sldId id="462" r:id="rId40"/>
    <p:sldId id="447" r:id="rId41"/>
    <p:sldId id="428" r:id="rId42"/>
    <p:sldId id="429" r:id="rId43"/>
    <p:sldId id="407" r:id="rId44"/>
    <p:sldId id="422" r:id="rId45"/>
  </p:sldIdLst>
  <p:sldSz cx="12192000" cy="6858000"/>
  <p:notesSz cx="6858000" cy="9144000"/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ACC29449-0C4D-440C-A898-37D5FC755553}">
          <p14:sldIdLst>
            <p14:sldId id="256"/>
          </p14:sldIdLst>
        </p14:section>
        <p14:section name="Motivation" id="{10E75310-A5F4-4F6D-9D1C-221E4D17C014}">
          <p14:sldIdLst>
            <p14:sldId id="431"/>
            <p14:sldId id="430"/>
            <p14:sldId id="457"/>
            <p14:sldId id="432"/>
            <p14:sldId id="433"/>
            <p14:sldId id="434"/>
            <p14:sldId id="437"/>
            <p14:sldId id="449"/>
            <p14:sldId id="435"/>
          </p14:sldIdLst>
        </p14:section>
        <p14:section name="Bayesian Paradigm" id="{A60D4C1E-E6F6-4114-9A93-9D9806D98EBC}">
          <p14:sldIdLst>
            <p14:sldId id="436"/>
            <p14:sldId id="440"/>
            <p14:sldId id="438"/>
            <p14:sldId id="439"/>
            <p14:sldId id="451"/>
            <p14:sldId id="450"/>
            <p14:sldId id="465"/>
            <p14:sldId id="466"/>
            <p14:sldId id="452"/>
            <p14:sldId id="453"/>
            <p14:sldId id="458"/>
          </p14:sldIdLst>
        </p14:section>
        <p14:section name="Bayesian Data Analysis" id="{309ED670-CAEA-4E01-A10A-A45CD07FE1C1}">
          <p14:sldIdLst>
            <p14:sldId id="441"/>
            <p14:sldId id="442"/>
            <p14:sldId id="454"/>
            <p14:sldId id="455"/>
            <p14:sldId id="443"/>
            <p14:sldId id="444"/>
            <p14:sldId id="445"/>
          </p14:sldIdLst>
        </p14:section>
        <p14:section name="Bayesian Workflow" id="{4A1CEF01-3ED4-4C8C-93A1-CD70C96D296D}">
          <p14:sldIdLst>
            <p14:sldId id="446"/>
            <p14:sldId id="426"/>
            <p14:sldId id="448"/>
            <p14:sldId id="461"/>
            <p14:sldId id="456"/>
            <p14:sldId id="460"/>
            <p14:sldId id="459"/>
            <p14:sldId id="427"/>
            <p14:sldId id="463"/>
            <p14:sldId id="464"/>
            <p14:sldId id="462"/>
          </p14:sldIdLst>
        </p14:section>
        <p14:section name="Limitations" id="{B7550F70-7611-451B-BA7A-151612AF415C}">
          <p14:sldIdLst>
            <p14:sldId id="447"/>
            <p14:sldId id="428"/>
            <p14:sldId id="429"/>
          </p14:sldIdLst>
        </p14:section>
        <p14:section name="Conclusion" id="{E666AB10-00C2-41DC-843E-B967CA5770ED}">
          <p14:sldIdLst>
            <p14:sldId id="407"/>
            <p14:sldId id="42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D70"/>
    <a:srgbClr val="D0180A"/>
    <a:srgbClr val="1E2428"/>
    <a:srgbClr val="404D56"/>
    <a:srgbClr val="7F929D"/>
    <a:srgbClr val="00B49A"/>
    <a:srgbClr val="00927D"/>
    <a:srgbClr val="007A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33" autoAdjust="0"/>
    <p:restoredTop sz="76078" autoAdjust="0"/>
  </p:normalViewPr>
  <p:slideViewPr>
    <p:cSldViewPr snapToGrid="0">
      <p:cViewPr varScale="1">
        <p:scale>
          <a:sx n="87" d="100"/>
          <a:sy n="87" d="100"/>
        </p:scale>
        <p:origin x="96" y="8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028809-A3C0-435B-AC12-B9138744A337}" type="datetimeFigureOut">
              <a:rPr lang="en-SE" smtClean="0"/>
              <a:t>2026-05-12</a:t>
            </a:fld>
            <a:endParaRPr lang="en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EE9047-6757-432F-B3C4-B9B79F30218C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165615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E" dirty="0"/>
              <a:t>NH + data + appropriate test = p-value</a:t>
            </a: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E9047-6757-432F-B3C4-B9B79F30218C}" type="slidenum">
              <a:rPr lang="en-SE" smtClean="0"/>
              <a:t>6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9542488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SE" dirty="0"/>
              <a:t>Frequentist probability: flipping a coin infinitely often will yield heads 50% of all times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E" dirty="0"/>
              <a:t>Bayesian probability is epistemic: it only exists in our head, it describes a degree of belief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E9047-6757-432F-B3C4-B9B79F30218C}" type="slidenum">
              <a:rPr lang="en-SE" smtClean="0"/>
              <a:t>12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166604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E" dirty="0"/>
              <a:t>In case of a binary hypothesis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E9047-6757-432F-B3C4-B9B79F30218C}" type="slidenum">
              <a:rPr lang="en-SE" smtClean="0"/>
              <a:t>19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777094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exactly why experienced engineers treat static analysis warnings with </a:t>
            </a:r>
            <a:r>
              <a:rPr lang="en-US" dirty="0" err="1"/>
              <a:t>scepticism</a:t>
            </a:r>
            <a:r>
              <a:rPr lang="en-US" dirty="0"/>
              <a:t>, </a:t>
            </a:r>
            <a:r>
              <a:rPr lang="en-US" dirty="0" err="1"/>
              <a:t>prioritise</a:t>
            </a:r>
            <a:r>
              <a:rPr lang="en-US" dirty="0"/>
              <a:t> warnings by file history or change frequency, and don't treat every flag as a confirmed defect. They are, intuitively, doing Bayesian reasoning — updating a low prior with imperfect evidence and arriving at a moderate posterior rather than blind confidence. Bayes' theorem just makes that intuition precise and auditable.</a:t>
            </a:r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E9047-6757-432F-B3C4-B9B79F30218C}" type="slidenum">
              <a:rPr lang="en-SE" smtClean="0"/>
              <a:t>20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6142657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3928A-6EB0-7510-6CBE-409D8357B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F0C8E-D728-E140-21AD-3EC320F664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4DEEF1-87F3-09D1-0746-4FA9C04B23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exactly why experienced engineers treat static analysis warnings with </a:t>
            </a:r>
            <a:r>
              <a:rPr lang="en-US" dirty="0" err="1"/>
              <a:t>scepticism</a:t>
            </a:r>
            <a:r>
              <a:rPr lang="en-US" dirty="0"/>
              <a:t>, </a:t>
            </a:r>
            <a:r>
              <a:rPr lang="en-US" dirty="0" err="1"/>
              <a:t>prioritise</a:t>
            </a:r>
            <a:r>
              <a:rPr lang="en-US" dirty="0"/>
              <a:t> warnings by file history or change frequency, and don't treat every flag as a confirmed defect. They are, intuitively, doing Bayesian reasoning — updating a low prior with imperfect evidence and arriving at a moderate posterior rather than blind confidence. Bayes' theorem just makes that intuition precise and auditable.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CD4DC7-4C11-E025-1B14-DF9B6FC6A8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E9047-6757-432F-B3C4-B9B79F30218C}" type="slidenum">
              <a:rPr lang="en-SE" smtClean="0"/>
              <a:t>21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2481653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E" dirty="0"/>
              <a:t>Formulation of a Bayesian regression model</a:t>
            </a:r>
          </a:p>
          <a:p>
            <a:r>
              <a:rPr lang="en-SE" dirty="0"/>
              <a:t>Components </a:t>
            </a:r>
          </a:p>
          <a:p>
            <a:r>
              <a:rPr lang="en-SE" dirty="0"/>
              <a:t>G</a:t>
            </a:r>
            <a:r>
              <a:rPr lang="de-DE" dirty="0"/>
              <a:t>o</a:t>
            </a:r>
            <a:r>
              <a:rPr lang="en-SE" dirty="0"/>
              <a:t>al: posterior</a:t>
            </a: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E9047-6757-432F-B3C4-B9B79F30218C}" type="slidenum">
              <a:rPr lang="en-SE" smtClean="0"/>
              <a:t>23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5552256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15A67-77DB-9273-0334-9BC02DBF3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71A789-92DA-A514-E22E-442E8AD483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8A09BB-3C01-5CAF-16B1-5A94510323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E" dirty="0"/>
              <a:t>Formulation of a Bayesian regression model</a:t>
            </a:r>
          </a:p>
          <a:p>
            <a:r>
              <a:rPr lang="en-SE" dirty="0"/>
              <a:t>Components </a:t>
            </a:r>
          </a:p>
          <a:p>
            <a:r>
              <a:rPr lang="en-SE" dirty="0"/>
              <a:t>G</a:t>
            </a:r>
            <a:r>
              <a:rPr lang="de-DE" dirty="0"/>
              <a:t>o</a:t>
            </a:r>
            <a:r>
              <a:rPr lang="en-SE" dirty="0"/>
              <a:t>al: posterior</a:t>
            </a:r>
          </a:p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22F6FE-1584-7110-DE5E-4EC2DB9359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E9047-6757-432F-B3C4-B9B79F30218C}" type="slidenum">
              <a:rPr lang="en-SE" smtClean="0"/>
              <a:t>24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8757054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E" dirty="0"/>
              <a:t>Selecting priors</a:t>
            </a:r>
          </a:p>
          <a:p>
            <a:r>
              <a:rPr lang="en-SE" dirty="0"/>
              <a:t>Uninformative, weakly informative, informative priors</a:t>
            </a:r>
          </a:p>
          <a:p>
            <a:r>
              <a:rPr lang="en-SE" dirty="0"/>
              <a:t>Surprising claims require strong data</a:t>
            </a:r>
          </a:p>
          <a:p>
            <a:r>
              <a:rPr lang="en-SE" dirty="0"/>
              <a:t>Iterative refinement of priors</a:t>
            </a: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E9047-6757-432F-B3C4-B9B79F30218C}" type="slidenum">
              <a:rPr lang="en-SE" smtClean="0"/>
              <a:t>26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4971143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E" dirty="0"/>
              <a:t>Select distribution family</a:t>
            </a:r>
          </a:p>
          <a:p>
            <a:r>
              <a:rPr lang="en-SE" dirty="0"/>
              <a:t>Select priors</a:t>
            </a:r>
          </a:p>
          <a:p>
            <a:r>
              <a:rPr lang="en-SE" dirty="0"/>
              <a:t>Prior predictive check</a:t>
            </a:r>
          </a:p>
          <a:p>
            <a:r>
              <a:rPr lang="de-DE" dirty="0"/>
              <a:t>F</a:t>
            </a:r>
            <a:r>
              <a:rPr lang="en-SE" dirty="0"/>
              <a:t>it model</a:t>
            </a:r>
          </a:p>
          <a:p>
            <a:r>
              <a:rPr lang="de-DE" dirty="0"/>
              <a:t>P</a:t>
            </a:r>
            <a:r>
              <a:rPr lang="en-SE" dirty="0" err="1"/>
              <a:t>osterior</a:t>
            </a:r>
            <a:r>
              <a:rPr lang="en-SE" dirty="0"/>
              <a:t> predictive check</a:t>
            </a:r>
          </a:p>
          <a:p>
            <a:r>
              <a:rPr lang="de-DE" dirty="0"/>
              <a:t>I</a:t>
            </a:r>
            <a:r>
              <a:rPr lang="en-SE" dirty="0" err="1"/>
              <a:t>terate</a:t>
            </a:r>
            <a:endParaRPr lang="en-SE" dirty="0"/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E9047-6757-432F-B3C4-B9B79F30218C}" type="slidenum">
              <a:rPr lang="en-SE" smtClean="0"/>
              <a:t>30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7214610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10FF9-077D-A891-E668-76AD6327B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BA0183-7158-AAF0-3847-48F2D0573F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8CBC4D-4825-24DB-2B0A-FA21B9BAB4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E" dirty="0"/>
              <a:t>Select distribution family</a:t>
            </a:r>
          </a:p>
          <a:p>
            <a:r>
              <a:rPr lang="en-SE" dirty="0"/>
              <a:t>Select priors</a:t>
            </a:r>
          </a:p>
          <a:p>
            <a:r>
              <a:rPr lang="en-SE" dirty="0"/>
              <a:t>Prior predictive check</a:t>
            </a:r>
          </a:p>
          <a:p>
            <a:r>
              <a:rPr lang="de-DE" dirty="0"/>
              <a:t>F</a:t>
            </a:r>
            <a:r>
              <a:rPr lang="en-SE" dirty="0"/>
              <a:t>it model</a:t>
            </a:r>
          </a:p>
          <a:p>
            <a:r>
              <a:rPr lang="de-DE" dirty="0"/>
              <a:t>P</a:t>
            </a:r>
            <a:r>
              <a:rPr lang="en-SE" dirty="0" err="1"/>
              <a:t>osterior</a:t>
            </a:r>
            <a:r>
              <a:rPr lang="en-SE" dirty="0"/>
              <a:t> predictive check</a:t>
            </a:r>
          </a:p>
          <a:p>
            <a:r>
              <a:rPr lang="de-DE" dirty="0"/>
              <a:t>I</a:t>
            </a:r>
            <a:r>
              <a:rPr lang="en-SE" dirty="0" err="1"/>
              <a:t>terate</a:t>
            </a:r>
            <a:endParaRPr lang="en-SE" dirty="0"/>
          </a:p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F6F84D-524F-B293-99C1-3B6D41CA54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E9047-6757-432F-B3C4-B9B79F30218C}" type="slidenum">
              <a:rPr lang="en-SE" smtClean="0"/>
              <a:t>33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7203114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90F64-1EA4-B3C7-7331-3EFE045F0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C93E0D-2BF6-D757-41EF-60C0BBEAC1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537BF7-0591-598C-06F5-C6C82F2B3B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E" dirty="0"/>
              <a:t>Select distribution family</a:t>
            </a:r>
          </a:p>
          <a:p>
            <a:r>
              <a:rPr lang="en-SE" dirty="0"/>
              <a:t>Select priors</a:t>
            </a:r>
          </a:p>
          <a:p>
            <a:r>
              <a:rPr lang="en-SE" dirty="0"/>
              <a:t>Prior predictive check</a:t>
            </a:r>
          </a:p>
          <a:p>
            <a:r>
              <a:rPr lang="de-DE" dirty="0"/>
              <a:t>F</a:t>
            </a:r>
            <a:r>
              <a:rPr lang="en-SE" dirty="0"/>
              <a:t>it model</a:t>
            </a:r>
          </a:p>
          <a:p>
            <a:r>
              <a:rPr lang="de-DE" dirty="0"/>
              <a:t>P</a:t>
            </a:r>
            <a:r>
              <a:rPr lang="en-SE" dirty="0" err="1"/>
              <a:t>osterior</a:t>
            </a:r>
            <a:r>
              <a:rPr lang="en-SE" dirty="0"/>
              <a:t> predictive check</a:t>
            </a:r>
          </a:p>
          <a:p>
            <a:r>
              <a:rPr lang="de-DE" dirty="0"/>
              <a:t>I</a:t>
            </a:r>
            <a:r>
              <a:rPr lang="en-SE" dirty="0" err="1"/>
              <a:t>terate</a:t>
            </a:r>
            <a:endParaRPr lang="en-SE" dirty="0"/>
          </a:p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DFEE8D-13A2-CEB0-8826-58EC8646C3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E9047-6757-432F-B3C4-B9B79F30218C}" type="slidenum">
              <a:rPr lang="en-SE" smtClean="0"/>
              <a:t>35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3129777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E" dirty="0"/>
              <a:t>Priors are subjective and can bias the model</a:t>
            </a:r>
          </a:p>
          <a:p>
            <a:r>
              <a:rPr lang="de-DE" dirty="0"/>
              <a:t>B</a:t>
            </a:r>
            <a:r>
              <a:rPr lang="en-SE" dirty="0" err="1"/>
              <a:t>ut</a:t>
            </a:r>
            <a:r>
              <a:rPr lang="en-SE" dirty="0"/>
              <a:t>: they are explicit, changeable, and updateable</a:t>
            </a:r>
          </a:p>
          <a:p>
            <a:r>
              <a:rPr lang="en-SE" dirty="0"/>
              <a:t>Number of samples will overwhelm the priors</a:t>
            </a:r>
          </a:p>
          <a:p>
            <a:r>
              <a:rPr lang="en-SE" dirty="0"/>
              <a:t>Domain knowledge serves as an input</a:t>
            </a: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E9047-6757-432F-B3C4-B9B79F30218C}" type="slidenum">
              <a:rPr lang="en-SE" smtClean="0"/>
              <a:t>41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0639879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E" dirty="0"/>
              <a:t>Slow to compute</a:t>
            </a:r>
          </a:p>
          <a:p>
            <a:r>
              <a:rPr lang="de-DE" dirty="0"/>
              <a:t>H</a:t>
            </a:r>
            <a:r>
              <a:rPr lang="en-SE" dirty="0" err="1"/>
              <a:t>ard</a:t>
            </a:r>
            <a:r>
              <a:rPr lang="en-SE" dirty="0"/>
              <a:t> to explain</a:t>
            </a:r>
          </a:p>
          <a:p>
            <a:r>
              <a:rPr lang="de-DE" dirty="0"/>
              <a:t>R</a:t>
            </a:r>
            <a:r>
              <a:rPr lang="en-SE" dirty="0" err="1"/>
              <a:t>equires</a:t>
            </a:r>
            <a:r>
              <a:rPr lang="en-SE" dirty="0"/>
              <a:t> more communication</a:t>
            </a: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E9047-6757-432F-B3C4-B9B79F30218C}" type="slidenum">
              <a:rPr lang="en-SE" smtClean="0"/>
              <a:t>42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8561680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E9047-6757-432F-B3C4-B9B79F30218C}" type="slidenum">
              <a:rPr lang="en-SE" smtClean="0"/>
              <a:t>44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7389033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7ECFB-CC92-FB7D-062B-5F840C7CDE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00199"/>
            <a:ext cx="9144000" cy="19097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7DB82B-6165-1C54-C51D-F5D58F23CB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955BD-5E43-FC47-D766-386274FE3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345E8-8305-94BE-CD1F-E34E30216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FBD3E-ECCB-B12E-8504-AE90BAE0F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‹#›</a:t>
            </a:fld>
            <a:endParaRPr lang="en-SE"/>
          </a:p>
        </p:txBody>
      </p:sp>
      <p:pic>
        <p:nvPicPr>
          <p:cNvPr id="8" name="Picture 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6FAC15DB-F6D1-F33F-FE40-C327DCFFA1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3143" y="388368"/>
            <a:ext cx="9485714" cy="1193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2444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F46C5-11CD-4C87-4B7F-F0A008414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365125"/>
            <a:ext cx="938097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67B5C-1FB8-DA82-8443-4DACD45F0C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DB50CE-E3D9-6C15-6C1B-8A30001A3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106B3-8DD0-55B3-08A0-DD0591C98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494B0-86B7-2B02-AF74-37DFCA78F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‹#›</a:t>
            </a:fld>
            <a:endParaRPr lang="en-SE"/>
          </a:p>
        </p:txBody>
      </p:sp>
      <p:pic>
        <p:nvPicPr>
          <p:cNvPr id="8" name="Picture 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19E70D1-BC5E-0623-4514-854441A4D3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0110" y="365125"/>
            <a:ext cx="1003690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8717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A3C64-99A3-C45B-FC04-CD6D7DF0E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3CEB3B-F9F7-57EA-A865-FA89E9BE9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1EA0C2-17AA-E8FA-AF35-325A5B6C1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95503-4D40-A4E1-4A17-B8F476149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6C0937-6335-D00A-B738-E03007DFA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‹#›</a:t>
            </a:fld>
            <a:endParaRPr lang="en-SE"/>
          </a:p>
        </p:txBody>
      </p:sp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8E93BCFD-7846-D276-1F73-CBB0C60EED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6063" y="267789"/>
            <a:ext cx="4947173" cy="622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6764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B84F10-67C5-38A9-9573-9D83950EE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813B2-F0B2-78B0-2431-5AE1C5DC3D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CA28DA-366D-4CD9-E1EB-113EAA959D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6E68D1-9044-00B4-ABE4-8F49530ABD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36186-4B45-9116-C243-AC06504DFF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1ECC92-9CDE-4EB3-B1C5-F46B9E1FA3C1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271141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julianfrattini.github.io/" TargetMode="External"/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JulianFrattini/bda4sci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hyperlink" Target="https://chi-feng.github.io/mcmc-demo/app.html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13" Type="http://schemas.openxmlformats.org/officeDocument/2006/relationships/image" Target="../media/image250.png"/><Relationship Id="rId3" Type="http://schemas.openxmlformats.org/officeDocument/2006/relationships/image" Target="../media/image48.png"/><Relationship Id="rId7" Type="http://schemas.openxmlformats.org/officeDocument/2006/relationships/image" Target="../media/image19.png"/><Relationship Id="rId12" Type="http://schemas.openxmlformats.org/officeDocument/2006/relationships/image" Target="../media/image240.png"/><Relationship Id="rId17" Type="http://schemas.openxmlformats.org/officeDocument/2006/relationships/image" Target="../media/image290.png"/><Relationship Id="rId2" Type="http://schemas.openxmlformats.org/officeDocument/2006/relationships/image" Target="../media/image46.png"/><Relationship Id="rId16" Type="http://schemas.openxmlformats.org/officeDocument/2006/relationships/image" Target="../media/image2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11" Type="http://schemas.openxmlformats.org/officeDocument/2006/relationships/image" Target="../media/image230.png"/><Relationship Id="rId5" Type="http://schemas.openxmlformats.org/officeDocument/2006/relationships/image" Target="../media/image50.png"/><Relationship Id="rId15" Type="http://schemas.openxmlformats.org/officeDocument/2006/relationships/image" Target="../media/image270.png"/><Relationship Id="rId10" Type="http://schemas.openxmlformats.org/officeDocument/2006/relationships/image" Target="../media/image220.png"/><Relationship Id="rId4" Type="http://schemas.openxmlformats.org/officeDocument/2006/relationships/image" Target="../media/image49.png"/><Relationship Id="rId9" Type="http://schemas.openxmlformats.org/officeDocument/2006/relationships/image" Target="../media/image210.png"/><Relationship Id="rId14" Type="http://schemas.openxmlformats.org/officeDocument/2006/relationships/image" Target="../media/image26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svg"/><Relationship Id="rId5" Type="http://schemas.openxmlformats.org/officeDocument/2006/relationships/image" Target="../media/image52.svg"/><Relationship Id="rId4" Type="http://schemas.openxmlformats.org/officeDocument/2006/relationships/image" Target="../media/image16.sv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7" Type="http://schemas.openxmlformats.org/officeDocument/2006/relationships/image" Target="../media/image58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svg"/><Relationship Id="rId5" Type="http://schemas.openxmlformats.org/officeDocument/2006/relationships/image" Target="../media/image52.svg"/><Relationship Id="rId4" Type="http://schemas.openxmlformats.org/officeDocument/2006/relationships/image" Target="../media/image16.sv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7" Type="http://schemas.openxmlformats.org/officeDocument/2006/relationships/image" Target="../media/image59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svg"/><Relationship Id="rId5" Type="http://schemas.openxmlformats.org/officeDocument/2006/relationships/image" Target="../media/image64.svg"/><Relationship Id="rId4" Type="http://schemas.openxmlformats.org/officeDocument/2006/relationships/image" Target="../media/image63.sv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svg"/><Relationship Id="rId5" Type="http://schemas.openxmlformats.org/officeDocument/2006/relationships/image" Target="../media/image68.svg"/><Relationship Id="rId4" Type="http://schemas.openxmlformats.org/officeDocument/2006/relationships/image" Target="../media/image6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E8D0B-776C-E8F7-4D2E-37BA60724F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800" noProof="0" dirty="0"/>
              <a:t>Good </a:t>
            </a:r>
            <a:r>
              <a:rPr lang="en-SE" sz="4800" noProof="0" dirty="0"/>
              <a:t>Science</a:t>
            </a:r>
            <a:endParaRPr lang="en-US" sz="4800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ECA751-926C-8553-9E48-80B7DF1A93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Drawing Valid Conclusions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75591A-FA02-7123-DF74-EDB9D33C0122}"/>
              </a:ext>
            </a:extLst>
          </p:cNvPr>
          <p:cNvSpPr txBox="1"/>
          <p:nvPr/>
        </p:nvSpPr>
        <p:spPr>
          <a:xfrm>
            <a:off x="7198850" y="5859885"/>
            <a:ext cx="4302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/>
              <a:t>Copyright © 202</a:t>
            </a:r>
            <a:r>
              <a:rPr lang="en-SE" sz="1400" dirty="0"/>
              <a:t>6</a:t>
            </a:r>
            <a:r>
              <a:rPr lang="en-US" sz="1400" dirty="0"/>
              <a:t> Julian Frattini. </a:t>
            </a:r>
          </a:p>
          <a:p>
            <a:pPr algn="r"/>
            <a:r>
              <a:rPr lang="en-US" sz="1400" dirty="0"/>
              <a:t>This presentation is licensed under </a:t>
            </a:r>
            <a:r>
              <a:rPr lang="en-US" sz="1400" dirty="0">
                <a:hlinkClick r:id="rId2"/>
              </a:rPr>
              <a:t>CC BY</a:t>
            </a:r>
            <a:r>
              <a:rPr lang="en-SE" sz="1400" dirty="0">
                <a:hlinkClick r:id="rId2"/>
              </a:rPr>
              <a:t>-NC-SA 4.0</a:t>
            </a:r>
            <a:r>
              <a:rPr lang="en-US" sz="1400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4FEC08-B055-2789-C209-ABB868E097B3}"/>
              </a:ext>
            </a:extLst>
          </p:cNvPr>
          <p:cNvSpPr txBox="1"/>
          <p:nvPr/>
        </p:nvSpPr>
        <p:spPr>
          <a:xfrm>
            <a:off x="1866348" y="5273718"/>
            <a:ext cx="4019114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Julian </a:t>
            </a:r>
            <a:r>
              <a:rPr lang="en-US" b="1" noProof="0" dirty="0"/>
              <a:t>Frattini</a:t>
            </a:r>
            <a:r>
              <a:rPr lang="en-US" noProof="0" dirty="0"/>
              <a:t>, Ph.D.</a:t>
            </a:r>
          </a:p>
          <a:p>
            <a:r>
              <a:rPr lang="en-US" sz="16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Postdoctoral Researcher</a:t>
            </a:r>
          </a:p>
          <a:p>
            <a:r>
              <a:rPr lang="en-US" sz="16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Chalmers University of Technology, Sweden</a:t>
            </a:r>
          </a:p>
          <a:p>
            <a:r>
              <a:rPr lang="en-US" sz="1600" noProof="0" dirty="0">
                <a:hlinkClick r:id="rId3"/>
              </a:rPr>
              <a:t>https://julianfrattini.github.io/</a:t>
            </a:r>
            <a:r>
              <a:rPr lang="en-US" sz="1600" noProof="0" dirty="0"/>
              <a:t> 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92E9483-BEDA-C731-B7BE-ABF0A5518387}"/>
              </a:ext>
            </a:extLst>
          </p:cNvPr>
          <p:cNvSpPr/>
          <p:nvPr/>
        </p:nvSpPr>
        <p:spPr>
          <a:xfrm>
            <a:off x="715676" y="5303105"/>
            <a:ext cx="1080000" cy="1080000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79BBCC2-696B-4EE1-4FE4-2E4411C0F251}"/>
              </a:ext>
            </a:extLst>
          </p:cNvPr>
          <p:cNvGrpSpPr/>
          <p:nvPr/>
        </p:nvGrpSpPr>
        <p:grpSpPr>
          <a:xfrm>
            <a:off x="7967672" y="5336710"/>
            <a:ext cx="3533766" cy="444265"/>
            <a:chOff x="7967672" y="5336710"/>
            <a:chExt cx="3533766" cy="444265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CCE08EC-E9A8-C79D-4C75-8B6A9708A3FB}"/>
                </a:ext>
              </a:extLst>
            </p:cNvPr>
            <p:cNvGrpSpPr/>
            <p:nvPr/>
          </p:nvGrpSpPr>
          <p:grpSpPr>
            <a:xfrm>
              <a:off x="7967672" y="5370114"/>
              <a:ext cx="3508652" cy="369332"/>
              <a:chOff x="7896235" y="5406529"/>
              <a:chExt cx="3508652" cy="369332"/>
            </a:xfrm>
          </p:grpSpPr>
          <p:pic>
            <p:nvPicPr>
              <p:cNvPr id="8" name="Picture 7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865BDC89-0957-2AB2-5308-DA5566DFCF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96235" y="5422888"/>
                <a:ext cx="344101" cy="344101"/>
              </a:xfrm>
              <a:prstGeom prst="rect">
                <a:avLst/>
              </a:prstGeom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45BE95E-49F9-842E-7B93-BDF91E09C7D3}"/>
                  </a:ext>
                </a:extLst>
              </p:cNvPr>
              <p:cNvSpPr txBox="1"/>
              <p:nvPr/>
            </p:nvSpPr>
            <p:spPr>
              <a:xfrm>
                <a:off x="8240336" y="5406529"/>
                <a:ext cx="23569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noProof="0" dirty="0" err="1"/>
                  <a:t>JulianFrattini</a:t>
                </a:r>
                <a:r>
                  <a:rPr lang="en-US" noProof="0" dirty="0"/>
                  <a:t>/</a:t>
                </a:r>
                <a:r>
                  <a:rPr lang="en-US" b="1" noProof="0" dirty="0"/>
                  <a:t>bda4sci</a:t>
                </a:r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1E137170-F20B-D8DB-3856-32092459914B}"/>
                  </a:ext>
                </a:extLst>
              </p:cNvPr>
              <p:cNvSpPr/>
              <p:nvPr/>
            </p:nvSpPr>
            <p:spPr>
              <a:xfrm>
                <a:off x="10668000" y="5456392"/>
                <a:ext cx="736887" cy="279245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noProof="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Public</a:t>
                </a:r>
              </a:p>
            </p:txBody>
          </p:sp>
        </p:grpSp>
        <p:sp>
          <p:nvSpPr>
            <p:cNvPr id="7" name="Rectangle 6">
              <a:hlinkClick r:id="rId6"/>
              <a:extLst>
                <a:ext uri="{FF2B5EF4-FFF2-40B4-BE49-F238E27FC236}">
                  <a16:creationId xmlns:a16="http://schemas.microsoft.com/office/drawing/2014/main" id="{1523D628-A64F-768E-A385-ECA75D071607}"/>
                </a:ext>
              </a:extLst>
            </p:cNvPr>
            <p:cNvSpPr/>
            <p:nvPr/>
          </p:nvSpPr>
          <p:spPr>
            <a:xfrm>
              <a:off x="7967672" y="5336710"/>
              <a:ext cx="3533766" cy="4442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9421989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22DAC72-12DF-7BF5-E9BD-B2A521147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Motivation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952760F-23C9-274F-83CC-A3F7E99201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C170F-39D6-A295-3F69-ED30E9886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1D9D4B-7874-09A0-2D12-E8F815E85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491DC-9CF4-1988-61A7-CDBF44D7B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2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0870323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D5E82-7405-A44B-EAEC-790C1DDEB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The Scientific Process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CF934E-0642-6DB0-9F3E-9D88D5460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9B0CC-E989-79B5-B7A9-30F11F273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74ED0C-B8C7-57AB-4693-A55BB95B9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3</a:t>
            </a:fld>
            <a:endParaRPr lang="en-SE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83F36F7-76EC-1758-8DC1-B84E59EC2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73735"/>
          </a:xfrm>
        </p:spPr>
        <p:txBody>
          <a:bodyPr/>
          <a:lstStyle/>
          <a:p>
            <a:pPr marL="0" indent="0">
              <a:buNone/>
            </a:pPr>
            <a:r>
              <a:rPr lang="en-SE" dirty="0"/>
              <a:t>Considering the following, abstract scientific process:</a:t>
            </a:r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9B9E91CF-C91E-2D9C-6589-0F98BD5240D8}"/>
              </a:ext>
            </a:extLst>
          </p:cNvPr>
          <p:cNvSpPr/>
          <p:nvPr/>
        </p:nvSpPr>
        <p:spPr>
          <a:xfrm>
            <a:off x="975360" y="2814320"/>
            <a:ext cx="3545840" cy="1188720"/>
          </a:xfrm>
          <a:prstGeom prst="homePlat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48000" rtlCol="0" anchor="ctr"/>
          <a:lstStyle/>
          <a:p>
            <a:pPr algn="ctr"/>
            <a:r>
              <a:rPr lang="en-SE" dirty="0"/>
              <a:t>Formulate a (relevant) research question</a:t>
            </a: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6F3C4C5F-D2DC-3D2F-09B7-67F67357A6BF}"/>
              </a:ext>
            </a:extLst>
          </p:cNvPr>
          <p:cNvSpPr/>
          <p:nvPr/>
        </p:nvSpPr>
        <p:spPr>
          <a:xfrm>
            <a:off x="4135120" y="2814320"/>
            <a:ext cx="3545840" cy="1188720"/>
          </a:xfrm>
          <a:prstGeom prst="chevron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12000" rtlCol="0" anchor="ctr"/>
          <a:lstStyle/>
          <a:p>
            <a:pPr algn="ctr"/>
            <a:r>
              <a:rPr lang="en-SE" dirty="0">
                <a:solidFill>
                  <a:schemeClr val="tx1"/>
                </a:solidFill>
              </a:rPr>
              <a:t>Collect data about the research question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320A71A6-2F6A-4DB5-01EF-BA1315982257}"/>
              </a:ext>
            </a:extLst>
          </p:cNvPr>
          <p:cNvSpPr/>
          <p:nvPr/>
        </p:nvSpPr>
        <p:spPr>
          <a:xfrm>
            <a:off x="7294880" y="2814320"/>
            <a:ext cx="3921760" cy="1188720"/>
          </a:xfrm>
          <a:prstGeom prst="chevron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12000" rtlCol="0" anchor="ctr"/>
          <a:lstStyle/>
          <a:p>
            <a:pPr algn="ctr"/>
            <a:r>
              <a:rPr lang="en-SE" dirty="0">
                <a:solidFill>
                  <a:schemeClr val="tx1"/>
                </a:solidFill>
              </a:rPr>
              <a:t>Answer the research question with the data</a:t>
            </a:r>
          </a:p>
        </p:txBody>
      </p:sp>
      <p:pic>
        <p:nvPicPr>
          <p:cNvPr id="11" name="Graphic 10" descr="Help with solid fill">
            <a:extLst>
              <a:ext uri="{FF2B5EF4-FFF2-40B4-BE49-F238E27FC236}">
                <a16:creationId xmlns:a16="http://schemas.microsoft.com/office/drawing/2014/main" id="{69A2F5B2-35D3-B896-DF96-37B93EE7E8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440" y="3136015"/>
            <a:ext cx="540000" cy="540000"/>
          </a:xfrm>
          <a:prstGeom prst="rect">
            <a:avLst/>
          </a:prstGeom>
        </p:spPr>
      </p:pic>
      <p:pic>
        <p:nvPicPr>
          <p:cNvPr id="12" name="Graphic 11" descr="Database with solid fill">
            <a:extLst>
              <a:ext uri="{FF2B5EF4-FFF2-40B4-BE49-F238E27FC236}">
                <a16:creationId xmlns:a16="http://schemas.microsoft.com/office/drawing/2014/main" id="{7E0B295A-1629-21AD-245F-7DFC77F321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791200" y="3136015"/>
            <a:ext cx="540000" cy="540000"/>
          </a:xfrm>
          <a:prstGeom prst="rect">
            <a:avLst/>
          </a:prstGeom>
        </p:spPr>
      </p:pic>
      <p:pic>
        <p:nvPicPr>
          <p:cNvPr id="13" name="Graphic 12" descr="Statistics with solid fill">
            <a:extLst>
              <a:ext uri="{FF2B5EF4-FFF2-40B4-BE49-F238E27FC236}">
                <a16:creationId xmlns:a16="http://schemas.microsoft.com/office/drawing/2014/main" id="{16D6C856-D333-5F23-029C-315CEE3D12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948160" y="3136015"/>
            <a:ext cx="540000" cy="540000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9357DD0-0E1A-CC3D-FEB9-B385E4C215BC}"/>
              </a:ext>
            </a:extLst>
          </p:cNvPr>
          <p:cNvSpPr txBox="1">
            <a:spLocks/>
          </p:cNvSpPr>
          <p:nvPr/>
        </p:nvSpPr>
        <p:spPr>
          <a:xfrm>
            <a:off x="838200" y="4358641"/>
            <a:ext cx="10515600" cy="13687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SE" dirty="0"/>
              <a:t>Most of our concerns were related to formulating a research question and collecting data about it. But does that render the third step, its analysis, trivial?</a:t>
            </a:r>
          </a:p>
        </p:txBody>
      </p:sp>
    </p:spTree>
    <p:extLst>
      <p:ext uri="{BB962C8B-B14F-4D97-AF65-F5344CB8AC3E}">
        <p14:creationId xmlns:p14="http://schemas.microsoft.com/office/powerpoint/2010/main" val="18651942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80809-90CD-498E-EF04-9530D44B4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Conclusion Validity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3E3E5-C4BD-85DE-B981-2C6E3D7B3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500899"/>
          </a:xfrm>
        </p:spPr>
        <p:txBody>
          <a:bodyPr/>
          <a:lstStyle/>
          <a:p>
            <a:pPr marL="0" indent="0">
              <a:buNone/>
            </a:pPr>
            <a:r>
              <a:rPr lang="en-SE" dirty="0"/>
              <a:t>Even if we have ensured the internal, external, and construct validity of our study in the </a:t>
            </a:r>
            <a:r>
              <a:rPr lang="en-SE" i="1" dirty="0"/>
              <a:t>data collection phase</a:t>
            </a:r>
            <a:r>
              <a:rPr lang="en-SE" dirty="0"/>
              <a:t>, we might still draw the wrong conclusions from it.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9D5E88-D62E-6473-6556-9644BCB6C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028F14-F213-1D32-6629-59DBB2818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44B5E-7A42-A214-C4E3-6746C1A00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4</a:t>
            </a:fld>
            <a:endParaRPr lang="en-SE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816C3A9-4AF2-13FE-1341-3B97FB2A8680}"/>
              </a:ext>
            </a:extLst>
          </p:cNvPr>
          <p:cNvGrpSpPr/>
          <p:nvPr/>
        </p:nvGrpSpPr>
        <p:grpSpPr>
          <a:xfrm>
            <a:off x="1984711" y="3197106"/>
            <a:ext cx="8222578" cy="1958218"/>
            <a:chOff x="3108960" y="4454433"/>
            <a:chExt cx="8222578" cy="1958218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EF2B764D-8701-4CBC-F39F-CC0995A5E571}"/>
                </a:ext>
              </a:extLst>
            </p:cNvPr>
            <p:cNvSpPr/>
            <p:nvPr/>
          </p:nvSpPr>
          <p:spPr>
            <a:xfrm>
              <a:off x="3108960" y="4454433"/>
              <a:ext cx="8222578" cy="1958218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r>
                <a:rPr lang="en-US" sz="2400" dirty="0">
                  <a:solidFill>
                    <a:schemeClr val="bg1"/>
                  </a:solidFill>
                </a:rPr>
                <a:t>C</a:t>
              </a:r>
              <a:r>
                <a:rPr lang="en-SE" sz="2400" dirty="0" err="1">
                  <a:solidFill>
                    <a:schemeClr val="bg1"/>
                  </a:solidFill>
                </a:rPr>
                <a:t>onclusion</a:t>
              </a:r>
              <a:r>
                <a:rPr lang="en-SE" sz="2400" dirty="0">
                  <a:solidFill>
                    <a:schemeClr val="bg1"/>
                  </a:solidFill>
                </a:rPr>
                <a:t> validity affects our “</a:t>
              </a:r>
              <a:r>
                <a:rPr lang="en-US" sz="2400" dirty="0">
                  <a:solidFill>
                    <a:schemeClr val="bg1"/>
                  </a:solidFill>
                </a:rPr>
                <a:t>ability to</a:t>
              </a:r>
              <a:r>
                <a:rPr lang="en-SE" sz="2400" dirty="0">
                  <a:solidFill>
                    <a:schemeClr val="bg1"/>
                  </a:solidFill>
                </a:rPr>
                <a:t> </a:t>
              </a:r>
              <a:r>
                <a:rPr lang="en-US" sz="2400" dirty="0">
                  <a:solidFill>
                    <a:schemeClr val="bg1"/>
                  </a:solidFill>
                </a:rPr>
                <a:t>draw the correct conclusion about relations between the </a:t>
              </a:r>
              <a:r>
                <a:rPr lang="en-SE" sz="2400" dirty="0">
                  <a:solidFill>
                    <a:schemeClr val="bg1"/>
                  </a:solidFill>
                </a:rPr>
                <a:t>t</a:t>
              </a:r>
              <a:r>
                <a:rPr lang="en-US" sz="2400" dirty="0" err="1">
                  <a:solidFill>
                    <a:schemeClr val="bg1"/>
                  </a:solidFill>
                </a:rPr>
                <a:t>reatment</a:t>
              </a:r>
              <a:r>
                <a:rPr lang="en-US" sz="2400" dirty="0">
                  <a:solidFill>
                    <a:schemeClr val="bg1"/>
                  </a:solidFill>
                </a:rPr>
                <a:t> and the outcome</a:t>
              </a:r>
              <a:r>
                <a:rPr lang="en-SE" sz="2400" dirty="0">
                  <a:solidFill>
                    <a:schemeClr val="bg1"/>
                  </a:solidFill>
                </a:rPr>
                <a:t> </a:t>
              </a:r>
              <a:r>
                <a:rPr lang="en-US" sz="2400" dirty="0">
                  <a:solidFill>
                    <a:schemeClr val="bg1"/>
                  </a:solidFill>
                </a:rPr>
                <a:t>of an experiment.</a:t>
              </a:r>
              <a:r>
                <a:rPr lang="en-SE" sz="2400" dirty="0">
                  <a:solidFill>
                    <a:schemeClr val="bg1"/>
                  </a:solidFill>
                </a:rPr>
                <a:t>”</a:t>
              </a:r>
              <a:endParaRPr lang="en-SE" sz="2400" dirty="0"/>
            </a:p>
          </p:txBody>
        </p:sp>
        <p:pic>
          <p:nvPicPr>
            <p:cNvPr id="9" name="Graphic 8" descr="Open quotation mark with solid fill">
              <a:extLst>
                <a:ext uri="{FF2B5EF4-FFF2-40B4-BE49-F238E27FC236}">
                  <a16:creationId xmlns:a16="http://schemas.microsoft.com/office/drawing/2014/main" id="{AB403DCE-6BCC-76E6-3520-54815CDBB44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3124200" y="4454434"/>
              <a:ext cx="720000" cy="7200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A958910-ADD1-64FF-8923-D9CB55AF56F5}"/>
                </a:ext>
              </a:extLst>
            </p:cNvPr>
            <p:cNvSpPr txBox="1"/>
            <p:nvPr/>
          </p:nvSpPr>
          <p:spPr>
            <a:xfrm>
              <a:off x="3859440" y="4598333"/>
              <a:ext cx="707004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sz="1200" dirty="0" err="1">
                  <a:solidFill>
                    <a:schemeClr val="bg1"/>
                  </a:solidFill>
                </a:rPr>
                <a:t>Wohlin</a:t>
              </a:r>
              <a:r>
                <a:rPr lang="de-DE" sz="1200" dirty="0">
                  <a:solidFill>
                    <a:schemeClr val="bg1"/>
                  </a:solidFill>
                </a:rPr>
                <a:t>, C., </a:t>
              </a:r>
              <a:r>
                <a:rPr lang="de-DE" sz="1200" dirty="0" err="1">
                  <a:solidFill>
                    <a:schemeClr val="bg1"/>
                  </a:solidFill>
                </a:rPr>
                <a:t>Runeson</a:t>
              </a:r>
              <a:r>
                <a:rPr lang="de-DE" sz="1200" dirty="0">
                  <a:solidFill>
                    <a:schemeClr val="bg1"/>
                  </a:solidFill>
                </a:rPr>
                <a:t>, P., </a:t>
              </a:r>
              <a:r>
                <a:rPr lang="de-DE" sz="1200" dirty="0" err="1">
                  <a:solidFill>
                    <a:schemeClr val="bg1"/>
                  </a:solidFill>
                </a:rPr>
                <a:t>Höst</a:t>
              </a:r>
              <a:r>
                <a:rPr lang="de-DE" sz="1200" dirty="0">
                  <a:solidFill>
                    <a:schemeClr val="bg1"/>
                  </a:solidFill>
                </a:rPr>
                <a:t>, M., </a:t>
              </a:r>
              <a:r>
                <a:rPr lang="de-DE" sz="1200" dirty="0" err="1">
                  <a:solidFill>
                    <a:schemeClr val="bg1"/>
                  </a:solidFill>
                </a:rPr>
                <a:t>Ohlsson</a:t>
              </a:r>
              <a:r>
                <a:rPr lang="de-DE" sz="1200" dirty="0">
                  <a:solidFill>
                    <a:schemeClr val="bg1"/>
                  </a:solidFill>
                </a:rPr>
                <a:t>, M. C., Regnell, B., &amp; </a:t>
              </a:r>
              <a:r>
                <a:rPr lang="de-DE" sz="1200" dirty="0" err="1">
                  <a:solidFill>
                    <a:schemeClr val="bg1"/>
                  </a:solidFill>
                </a:rPr>
                <a:t>Wesslén</a:t>
              </a:r>
              <a:r>
                <a:rPr lang="de-DE" sz="1200" dirty="0">
                  <a:solidFill>
                    <a:schemeClr val="bg1"/>
                  </a:solidFill>
                </a:rPr>
                <a:t>, A. (2012). </a:t>
              </a:r>
              <a:r>
                <a:rPr lang="de-DE" sz="1200" dirty="0" err="1">
                  <a:solidFill>
                    <a:schemeClr val="bg1"/>
                  </a:solidFill>
                </a:rPr>
                <a:t>Experimentation</a:t>
              </a:r>
              <a:r>
                <a:rPr lang="de-DE" sz="1200" dirty="0">
                  <a:solidFill>
                    <a:schemeClr val="bg1"/>
                  </a:solidFill>
                </a:rPr>
                <a:t> in </a:t>
              </a:r>
              <a:r>
                <a:rPr lang="de-DE" sz="1200" dirty="0" err="1">
                  <a:solidFill>
                    <a:schemeClr val="bg1"/>
                  </a:solidFill>
                </a:rPr>
                <a:t>software</a:t>
              </a:r>
              <a:r>
                <a:rPr lang="de-DE" sz="1200" dirty="0">
                  <a:solidFill>
                    <a:schemeClr val="bg1"/>
                  </a:solidFill>
                </a:rPr>
                <a:t> </a:t>
              </a:r>
              <a:r>
                <a:rPr lang="de-DE" sz="1200" dirty="0" err="1">
                  <a:solidFill>
                    <a:schemeClr val="bg1"/>
                  </a:solidFill>
                </a:rPr>
                <a:t>engineering</a:t>
              </a:r>
              <a:r>
                <a:rPr lang="de-DE" sz="1200" dirty="0">
                  <a:solidFill>
                    <a:schemeClr val="bg1"/>
                  </a:solidFill>
                </a:rPr>
                <a:t> (Vol. 236, p. P3). Berlin: Springer.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415912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58221-F990-4007-04CA-C372B86BA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Data Analysis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BA456-F0BF-2473-F7A5-79DAB213D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SE" dirty="0"/>
              <a:t>In many cases, data analysis boils down to the selection of the </a:t>
            </a:r>
            <a:r>
              <a:rPr lang="en-SE" b="1" dirty="0"/>
              <a:t>most appropriate significance test.</a:t>
            </a:r>
            <a:endParaRPr lang="en-S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E8F9F4-39CA-9620-1072-94BB1E484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A36D1-2365-6A9F-E977-E5B242B3B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0245E-A3E4-524B-EDF4-204EC5D0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5</a:t>
            </a:fld>
            <a:endParaRPr lang="en-S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50DDDB-345F-8FC4-96F6-7D4B94A76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9131" y="2842210"/>
            <a:ext cx="4093738" cy="333475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D358948-E892-28EA-424D-1E3308609BD8}"/>
              </a:ext>
            </a:extLst>
          </p:cNvPr>
          <p:cNvSpPr txBox="1"/>
          <p:nvPr/>
        </p:nvSpPr>
        <p:spPr>
          <a:xfrm>
            <a:off x="838198" y="5928103"/>
            <a:ext cx="342591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McElreath, Richard. </a:t>
            </a:r>
            <a:r>
              <a:rPr lang="en-US" sz="800" i="1" dirty="0"/>
              <a:t>Statistical rethinking: A Bayesian course with examples in R and Stan</a:t>
            </a:r>
            <a:r>
              <a:rPr lang="en-US" sz="800" dirty="0"/>
              <a:t>. Chapman and Hall/CRC, 2018.</a:t>
            </a:r>
            <a:endParaRPr lang="en-SE" sz="800" dirty="0"/>
          </a:p>
        </p:txBody>
      </p:sp>
    </p:spTree>
    <p:extLst>
      <p:ext uri="{BB962C8B-B14F-4D97-AF65-F5344CB8AC3E}">
        <p14:creationId xmlns:p14="http://schemas.microsoft.com/office/powerpoint/2010/main" val="34494465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4A3F2-AD59-E058-DDA2-3F17C5465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Null-Hypothesis Significance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B2115-C6ED-85E7-2A96-49181659F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79847"/>
          </a:xfrm>
        </p:spPr>
        <p:txBody>
          <a:bodyPr/>
          <a:lstStyle/>
          <a:p>
            <a:pPr marL="0" indent="0">
              <a:buNone/>
            </a:pPr>
            <a:r>
              <a:rPr lang="en-SE" dirty="0"/>
              <a:t>Null-hypothesis significance tests (</a:t>
            </a:r>
            <a:r>
              <a:rPr lang="en-SE" dirty="0" err="1"/>
              <a:t>NHSTs</a:t>
            </a:r>
            <a:r>
              <a:rPr lang="en-SE" dirty="0"/>
              <a:t>) work roughly as follows: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96BF4-02BA-681C-EC08-A34CED70D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78666F-30A0-CB44-1FBB-7BF79C101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1D8F5-4C9F-38C6-4765-8ADCD93F1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6</a:t>
            </a:fld>
            <a:endParaRPr lang="en-SE"/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9BDC642A-C500-74C3-32E1-ADC8A9C4A628}"/>
              </a:ext>
            </a:extLst>
          </p:cNvPr>
          <p:cNvSpPr/>
          <p:nvPr/>
        </p:nvSpPr>
        <p:spPr>
          <a:xfrm>
            <a:off x="5066133" y="3300025"/>
            <a:ext cx="2071487" cy="984504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sz="2400" b="1" dirty="0"/>
              <a:t>NHST</a:t>
            </a:r>
            <a:endParaRPr lang="en-SE" b="1" dirty="0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51178A2E-7CB5-483C-BB47-9C6A56A9D7DC}"/>
              </a:ext>
            </a:extLst>
          </p:cNvPr>
          <p:cNvSpPr/>
          <p:nvPr/>
        </p:nvSpPr>
        <p:spPr>
          <a:xfrm>
            <a:off x="4695568" y="2539464"/>
            <a:ext cx="364688" cy="2505627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pic>
        <p:nvPicPr>
          <p:cNvPr id="10" name="Graphic 9" descr="Normal Distribution with solid fill">
            <a:extLst>
              <a:ext uri="{FF2B5EF4-FFF2-40B4-BE49-F238E27FC236}">
                <a16:creationId xmlns:a16="http://schemas.microsoft.com/office/drawing/2014/main" id="{4E18223E-E456-FE17-FE6D-2230249FD0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49096" y="4358344"/>
            <a:ext cx="720000" cy="720000"/>
          </a:xfrm>
          <a:prstGeom prst="rect">
            <a:avLst/>
          </a:prstGeom>
        </p:spPr>
      </p:pic>
      <p:pic>
        <p:nvPicPr>
          <p:cNvPr id="12" name="Graphic 11" descr="Database with solid fill">
            <a:extLst>
              <a:ext uri="{FF2B5EF4-FFF2-40B4-BE49-F238E27FC236}">
                <a16:creationId xmlns:a16="http://schemas.microsoft.com/office/drawing/2014/main" id="{A693BCD5-08C4-E949-860A-CD5B6FA91E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49096" y="3434816"/>
            <a:ext cx="720000" cy="720000"/>
          </a:xfrm>
          <a:prstGeom prst="rect">
            <a:avLst/>
          </a:prstGeom>
        </p:spPr>
      </p:pic>
      <p:pic>
        <p:nvPicPr>
          <p:cNvPr id="14" name="Graphic 13" descr="Question Mark with solid fill">
            <a:extLst>
              <a:ext uri="{FF2B5EF4-FFF2-40B4-BE49-F238E27FC236}">
                <a16:creationId xmlns:a16="http://schemas.microsoft.com/office/drawing/2014/main" id="{1AF5C7E3-6AA2-1422-F764-9500747D9E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49096" y="2511288"/>
            <a:ext cx="720000" cy="720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9DC6593-9B6F-B133-3B69-82158D4E0499}"/>
              </a:ext>
            </a:extLst>
          </p:cNvPr>
          <p:cNvSpPr txBox="1"/>
          <p:nvPr/>
        </p:nvSpPr>
        <p:spPr>
          <a:xfrm>
            <a:off x="2159000" y="2686622"/>
            <a:ext cx="1763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SE" dirty="0"/>
              <a:t>Null-hypothesis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7D100D-26E5-C1D0-A6A8-B52ADD6BBDE8}"/>
              </a:ext>
            </a:extLst>
          </p:cNvPr>
          <p:cNvSpPr txBox="1"/>
          <p:nvPr/>
        </p:nvSpPr>
        <p:spPr>
          <a:xfrm>
            <a:off x="3260263" y="3607611"/>
            <a:ext cx="662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SE" dirty="0"/>
              <a:t>Data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A2E44B-E0EF-6249-7061-3007BABDDDFF}"/>
              </a:ext>
            </a:extLst>
          </p:cNvPr>
          <p:cNvSpPr txBox="1"/>
          <p:nvPr/>
        </p:nvSpPr>
        <p:spPr>
          <a:xfrm>
            <a:off x="2124142" y="4533678"/>
            <a:ext cx="1788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SE" dirty="0"/>
              <a:t>A</a:t>
            </a:r>
            <a:r>
              <a:rPr lang="de-DE" dirty="0"/>
              <a:t>p</a:t>
            </a:r>
            <a:r>
              <a:rPr lang="en-SE" dirty="0"/>
              <a:t>propriate test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5C5F4FF-A27C-91C4-C79A-03074F8C5F3A}"/>
                  </a:ext>
                </a:extLst>
              </p:cNvPr>
              <p:cNvSpPr txBox="1"/>
              <p:nvPr/>
            </p:nvSpPr>
            <p:spPr>
              <a:xfrm>
                <a:off x="7224107" y="3607611"/>
                <a:ext cx="18826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/>
                  <a:t>p</a:t>
                </a:r>
                <a:r>
                  <a:rPr lang="en-SE" dirty="0"/>
                  <a:t>-value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∈[0, 1]</m:t>
                    </m:r>
                  </m:oMath>
                </a14:m>
                <a:endParaRPr lang="en-SE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5C5F4FF-A27C-91C4-C79A-03074F8C5F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4107" y="3607611"/>
                <a:ext cx="1882695" cy="369332"/>
              </a:xfrm>
              <a:prstGeom prst="rect">
                <a:avLst/>
              </a:prstGeom>
              <a:blipFill>
                <a:blip r:embed="rId6"/>
                <a:stretch>
                  <a:fillRect l="-2589" t="-8333" r="-324" b="-28333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8A3018AC-118F-BCB0-C6BD-15AA15BBFF7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5163049"/>
                <a:ext cx="10515600" cy="132982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de-DE" dirty="0"/>
                  <a:t>Null-h</a:t>
                </a:r>
                <a:r>
                  <a:rPr lang="en-SE" dirty="0" err="1"/>
                  <a:t>ypotheses</a:t>
                </a:r>
                <a:r>
                  <a:rPr lang="en-SE" dirty="0"/>
                  <a:t> are usually formulated such that they encode </a:t>
                </a:r>
                <a:r>
                  <a:rPr lang="en-SE" i="1" dirty="0"/>
                  <a:t>no effect</a:t>
                </a:r>
                <a:r>
                  <a:rPr lang="en-SE" dirty="0"/>
                  <a:t>, e.g., 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E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SE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SE" dirty="0"/>
                  <a:t>: T</a:t>
                </a:r>
                <a:r>
                  <a:rPr lang="de-DE" dirty="0"/>
                  <a:t>h</a:t>
                </a:r>
                <a:r>
                  <a:rPr lang="en-SE" dirty="0"/>
                  <a:t>e use of GenAI does not affect a developer’s productivity.”</a:t>
                </a:r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8A3018AC-118F-BCB0-C6BD-15AA15BBFF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163049"/>
                <a:ext cx="10515600" cy="1329826"/>
              </a:xfrm>
              <a:prstGeom prst="rect">
                <a:avLst/>
              </a:prstGeom>
              <a:blipFill>
                <a:blip r:embed="rId7"/>
                <a:stretch>
                  <a:fillRect l="-1217" t="-8257" b="-6422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55624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5" grpId="0"/>
      <p:bldP spid="16" grpId="0"/>
      <p:bldP spid="17" grpId="0"/>
      <p:bldP spid="18" grpId="0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32553-30C1-8B93-01AF-9662FD7A8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Null-Hypothesis Significance Tests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C1F8FB-CAC1-1F89-EB2D-C2E3F52744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217796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SE" dirty="0"/>
                  <a:t>To make a decision based on an NHST, the resulting p-value is compared with a significance level </a:t>
                </a:r>
                <a14:m>
                  <m:oMath xmlns:m="http://schemas.openxmlformats.org/officeDocument/2006/math">
                    <m:r>
                      <a:rPr lang="en-SE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SE" dirty="0"/>
                  <a:t>:</a:t>
                </a:r>
              </a:p>
              <a:p>
                <a14:m>
                  <m:oMath xmlns:m="http://schemas.openxmlformats.org/officeDocument/2006/math">
                    <m:r>
                      <a:rPr lang="en-SE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SE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SE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SE" dirty="0"/>
                  <a:t> represents a </a:t>
                </a:r>
                <a:r>
                  <a:rPr lang="en-SE" i="1" dirty="0"/>
                  <a:t>statistically significant</a:t>
                </a:r>
                <a:r>
                  <a:rPr lang="en-SE" dirty="0"/>
                  <a:t> result</a:t>
                </a:r>
              </a:p>
              <a:p>
                <a14:m>
                  <m:oMath xmlns:m="http://schemas.openxmlformats.org/officeDocument/2006/math">
                    <m:r>
                      <a:rPr lang="en-SE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SE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SE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SE" dirty="0"/>
                  <a:t> represents </a:t>
                </a:r>
                <a:r>
                  <a:rPr lang="en-SE" i="1" dirty="0"/>
                  <a:t>no </a:t>
                </a:r>
                <a:r>
                  <a:rPr lang="en-SE" dirty="0"/>
                  <a:t>statistically significant result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C1F8FB-CAC1-1F89-EB2D-C2E3F52744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2177965"/>
              </a:xfrm>
              <a:blipFill>
                <a:blip r:embed="rId2"/>
                <a:stretch>
                  <a:fillRect l="-1217" t="-4749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F60D9-32C5-7993-ECFC-6B33ABE8A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D5F1E-77CF-9637-D092-272BC912A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F84418-E541-373D-6927-3242F6CB5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7</a:t>
            </a:fld>
            <a:endParaRPr lang="en-SE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DD2335A-E435-5E00-EDC6-5250B0A10B2B}"/>
              </a:ext>
            </a:extLst>
          </p:cNvPr>
          <p:cNvSpPr txBox="1">
            <a:spLocks/>
          </p:cNvSpPr>
          <p:nvPr/>
        </p:nvSpPr>
        <p:spPr>
          <a:xfrm>
            <a:off x="838198" y="4003589"/>
            <a:ext cx="10515600" cy="2177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SE" dirty="0"/>
              <a:t>Statistical significant results imply that two distributions are statistically are unlikely to have come from the same population.</a:t>
            </a:r>
          </a:p>
        </p:txBody>
      </p:sp>
    </p:spTree>
    <p:extLst>
      <p:ext uri="{BB962C8B-B14F-4D97-AF65-F5344CB8AC3E}">
        <p14:creationId xmlns:p14="http://schemas.microsoft.com/office/powerpoint/2010/main" val="6893154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07253-D9D0-39A5-A7B9-3E7A15E93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Null-Hypothesis Significance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35D05-408F-900C-B77A-4E150D040A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0782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p-value</a:t>
            </a:r>
            <a:r>
              <a:rPr lang="en-SE" dirty="0"/>
              <a:t> is a statement about the observed data. </a:t>
            </a:r>
            <a:r>
              <a:rPr lang="en-US" dirty="0"/>
              <a:t> </a:t>
            </a:r>
            <a:endParaRPr lang="en-S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5D0AA2-1D29-42B8-1725-509FEEC2B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4E414-BCF9-CDCF-8F6B-9101A0485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77388-2517-A1F8-2E33-73C97FF16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8</a:t>
            </a:fld>
            <a:endParaRPr lang="en-SE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DB51363-D305-37BA-5252-7F557A7B3263}"/>
              </a:ext>
            </a:extLst>
          </p:cNvPr>
          <p:cNvGrpSpPr/>
          <p:nvPr/>
        </p:nvGrpSpPr>
        <p:grpSpPr>
          <a:xfrm>
            <a:off x="2056539" y="2525299"/>
            <a:ext cx="8078921" cy="903701"/>
            <a:chOff x="3108960" y="4454434"/>
            <a:chExt cx="8078921" cy="903701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69CDCB1A-7BD9-5733-9730-EE65A7D96537}"/>
                </a:ext>
              </a:extLst>
            </p:cNvPr>
            <p:cNvSpPr/>
            <p:nvPr/>
          </p:nvSpPr>
          <p:spPr>
            <a:xfrm>
              <a:off x="3108960" y="4454434"/>
              <a:ext cx="8078921" cy="903701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0" rtlCol="0" anchor="ctr"/>
            <a:lstStyle/>
            <a:p>
              <a:r>
                <a:rPr lang="en-SE" sz="2000" dirty="0">
                  <a:solidFill>
                    <a:schemeClr val="bg1"/>
                  </a:solidFill>
                </a:rPr>
                <a:t>A p-value is </a:t>
              </a:r>
              <a:r>
                <a:rPr lang="en-US" sz="2000" dirty="0"/>
                <a:t>the probability of observing data </a:t>
              </a:r>
              <a:r>
                <a:rPr lang="en-US" sz="2000" b="1" dirty="0"/>
                <a:t>at least as extreme as what you actually got</a:t>
              </a:r>
              <a:r>
                <a:rPr lang="en-US" sz="2000" dirty="0"/>
                <a:t>, </a:t>
              </a:r>
              <a:r>
                <a:rPr lang="en-US" sz="2000" i="1" dirty="0"/>
                <a:t>assuming the null hypothesis is true</a:t>
              </a:r>
              <a:r>
                <a:rPr lang="en-US" sz="2000" dirty="0"/>
                <a:t>.</a:t>
              </a:r>
              <a:endParaRPr lang="en-US" sz="2000" dirty="0">
                <a:solidFill>
                  <a:schemeClr val="bg1"/>
                </a:solidFill>
              </a:endParaRPr>
            </a:p>
          </p:txBody>
        </p:sp>
        <p:pic>
          <p:nvPicPr>
            <p:cNvPr id="9" name="Graphic 8" descr="Open quotation mark with solid fill">
              <a:extLst>
                <a:ext uri="{FF2B5EF4-FFF2-40B4-BE49-F238E27FC236}">
                  <a16:creationId xmlns:a16="http://schemas.microsoft.com/office/drawing/2014/main" id="{D642FF49-49D8-22D8-3282-C12D9661C05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3109536" y="4546284"/>
              <a:ext cx="720000" cy="720000"/>
            </a:xfrm>
            <a:prstGeom prst="rect">
              <a:avLst/>
            </a:prstGeom>
          </p:spPr>
        </p:pic>
      </p:grp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E0819C-6750-7174-DAEE-E640340B4A13}"/>
              </a:ext>
            </a:extLst>
          </p:cNvPr>
          <p:cNvSpPr txBox="1">
            <a:spLocks/>
          </p:cNvSpPr>
          <p:nvPr/>
        </p:nvSpPr>
        <p:spPr>
          <a:xfrm>
            <a:off x="838200" y="3719606"/>
            <a:ext cx="10515600" cy="1893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SE" dirty="0"/>
              <a:t>A null-hypothesis (encoding “no effect”) receiving a p-value of 4% on observed data implies that – if that null-hypothesis were true (and there is indeed no effect) – there is a 4% chance we would observe the collected data.</a:t>
            </a:r>
          </a:p>
        </p:txBody>
      </p:sp>
    </p:spTree>
    <p:extLst>
      <p:ext uri="{BB962C8B-B14F-4D97-AF65-F5344CB8AC3E}">
        <p14:creationId xmlns:p14="http://schemas.microsoft.com/office/powerpoint/2010/main" val="5637864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7AFE1-F11D-7833-A637-E9226048D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C8048-9672-9DFF-BBA4-63840B275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Null-Hypothesis Significance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1A5AA-F0D1-2BB5-FD1C-1220CF0BD5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0782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p-value</a:t>
            </a:r>
            <a:r>
              <a:rPr lang="en-SE" dirty="0"/>
              <a:t> is a </a:t>
            </a:r>
            <a:r>
              <a:rPr lang="en-SE" b="1" dirty="0"/>
              <a:t>not</a:t>
            </a:r>
            <a:r>
              <a:rPr lang="en-SE" dirty="0"/>
              <a:t> statement about the formulated hypothesis. </a:t>
            </a:r>
            <a:r>
              <a:rPr lang="en-US" dirty="0"/>
              <a:t> </a:t>
            </a:r>
            <a:endParaRPr lang="en-S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06C35-E420-DD1F-D2BB-9166621CC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DE533-2D02-F19A-5FDB-429D7BA83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23A006-434C-1784-F251-DA17EBD3A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9</a:t>
            </a:fld>
            <a:endParaRPr lang="en-SE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9CA851A-6F79-F76D-E52C-DBCD1C4BCAE4}"/>
              </a:ext>
            </a:extLst>
          </p:cNvPr>
          <p:cNvGrpSpPr/>
          <p:nvPr/>
        </p:nvGrpSpPr>
        <p:grpSpPr>
          <a:xfrm>
            <a:off x="2056539" y="2525299"/>
            <a:ext cx="8078921" cy="903701"/>
            <a:chOff x="3108960" y="4454434"/>
            <a:chExt cx="8078921" cy="903701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5BBE872A-1DA6-FC64-8244-5B7ABC53F0EC}"/>
                </a:ext>
              </a:extLst>
            </p:cNvPr>
            <p:cNvSpPr/>
            <p:nvPr/>
          </p:nvSpPr>
          <p:spPr>
            <a:xfrm>
              <a:off x="3108960" y="4454434"/>
              <a:ext cx="8078921" cy="903701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0" rtlCol="0" anchor="ctr"/>
            <a:lstStyle/>
            <a:p>
              <a:r>
                <a:rPr lang="en-SE" sz="2000" dirty="0">
                  <a:solidFill>
                    <a:schemeClr val="bg1"/>
                  </a:solidFill>
                </a:rPr>
                <a:t>A p-value is</a:t>
              </a:r>
              <a:r>
                <a:rPr lang="en-SE" sz="2000" b="1" dirty="0">
                  <a:solidFill>
                    <a:schemeClr val="bg1"/>
                  </a:solidFill>
                </a:rPr>
                <a:t> not </a:t>
              </a:r>
              <a:r>
                <a:rPr lang="en-US" sz="2000" dirty="0"/>
                <a:t>the probability that the null hypothesis is correct, given what they observed.</a:t>
              </a:r>
              <a:endParaRPr lang="en-US" sz="2000" dirty="0">
                <a:solidFill>
                  <a:schemeClr val="bg1"/>
                </a:solidFill>
              </a:endParaRPr>
            </a:p>
          </p:txBody>
        </p:sp>
        <p:pic>
          <p:nvPicPr>
            <p:cNvPr id="9" name="Graphic 8" descr="Open quotation mark with solid fill">
              <a:extLst>
                <a:ext uri="{FF2B5EF4-FFF2-40B4-BE49-F238E27FC236}">
                  <a16:creationId xmlns:a16="http://schemas.microsoft.com/office/drawing/2014/main" id="{BF85F609-F705-1AC9-D34C-EDDB6CA6DE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3109536" y="4546284"/>
              <a:ext cx="720000" cy="720000"/>
            </a:xfrm>
            <a:prstGeom prst="rect">
              <a:avLst/>
            </a:prstGeom>
          </p:spPr>
        </p:pic>
      </p:grp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8BB8CD6-E990-C2C9-DD2D-F9B70688C624}"/>
              </a:ext>
            </a:extLst>
          </p:cNvPr>
          <p:cNvSpPr txBox="1">
            <a:spLocks/>
          </p:cNvSpPr>
          <p:nvPr/>
        </p:nvSpPr>
        <p:spPr>
          <a:xfrm>
            <a:off x="838200" y="3719606"/>
            <a:ext cx="10515600" cy="1893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SE" dirty="0"/>
              <a:t>However, this is usually the question of interest: how likely is there no/an effect of one variable on another? </a:t>
            </a:r>
            <a:r>
              <a:rPr lang="en-SE" b="1" dirty="0" err="1"/>
              <a:t>NHSTs</a:t>
            </a:r>
            <a:r>
              <a:rPr lang="en-SE" b="1" dirty="0"/>
              <a:t> do not answer this question.</a:t>
            </a:r>
          </a:p>
        </p:txBody>
      </p:sp>
    </p:spTree>
    <p:extLst>
      <p:ext uri="{BB962C8B-B14F-4D97-AF65-F5344CB8AC3E}">
        <p14:creationId xmlns:p14="http://schemas.microsoft.com/office/powerpoint/2010/main" val="34217948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4074D-788A-11AE-5209-D113768C7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Null-Hypothesis Significance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6E790-1F2A-DA3C-D43A-4014B5386A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07510"/>
          </a:xfrm>
        </p:spPr>
        <p:txBody>
          <a:bodyPr/>
          <a:lstStyle/>
          <a:p>
            <a:pPr marL="0" indent="0">
              <a:buNone/>
            </a:pPr>
            <a:r>
              <a:rPr lang="en-SE" dirty="0"/>
              <a:t>Analysing data using only </a:t>
            </a:r>
            <a:r>
              <a:rPr lang="en-SE" dirty="0" err="1"/>
              <a:t>NHSTs</a:t>
            </a:r>
            <a:r>
              <a:rPr lang="en-SE" dirty="0"/>
              <a:t> has several issues: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521C9-3453-F504-4DEF-955A156B7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33C060-4693-0DC5-D6DD-0E4E6980F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043433-7682-FEDC-A0E8-6889BC934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10</a:t>
            </a:fld>
            <a:endParaRPr lang="en-SE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3547F4A-C973-120E-5CC3-541264B39361}"/>
              </a:ext>
            </a:extLst>
          </p:cNvPr>
          <p:cNvGrpSpPr/>
          <p:nvPr/>
        </p:nvGrpSpPr>
        <p:grpSpPr>
          <a:xfrm>
            <a:off x="955244" y="2922370"/>
            <a:ext cx="2403652" cy="2348074"/>
            <a:chOff x="4894174" y="3429000"/>
            <a:chExt cx="2403652" cy="2348074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2880667-FAC8-0E79-3FDB-23D597F6A11B}"/>
                </a:ext>
              </a:extLst>
            </p:cNvPr>
            <p:cNvGrpSpPr/>
            <p:nvPr/>
          </p:nvGrpSpPr>
          <p:grpSpPr>
            <a:xfrm>
              <a:off x="5556000" y="3429000"/>
              <a:ext cx="1080000" cy="1080000"/>
              <a:chOff x="3313786" y="3686861"/>
              <a:chExt cx="1080000" cy="1080000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8CCF56FA-2920-C687-DA5B-617920F36039}"/>
                  </a:ext>
                </a:extLst>
              </p:cNvPr>
              <p:cNvSpPr/>
              <p:nvPr/>
            </p:nvSpPr>
            <p:spPr>
              <a:xfrm>
                <a:off x="3313786" y="3686861"/>
                <a:ext cx="1080000" cy="1080000"/>
              </a:xfrm>
              <a:prstGeom prst="ellips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11" name="Graphic 10" descr="Flying Money with solid fill">
                <a:extLst>
                  <a:ext uri="{FF2B5EF4-FFF2-40B4-BE49-F238E27FC236}">
                    <a16:creationId xmlns:a16="http://schemas.microsoft.com/office/drawing/2014/main" id="{32E9DB73-AE27-F4B0-5CF0-6C8B31E22A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3396586" y="3769661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A3358EE-5CA2-53AF-A525-390D339A8994}"/>
                </a:ext>
              </a:extLst>
            </p:cNvPr>
            <p:cNvSpPr txBox="1"/>
            <p:nvPr/>
          </p:nvSpPr>
          <p:spPr>
            <a:xfrm>
              <a:off x="4894174" y="4669078"/>
              <a:ext cx="2403652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E" b="1" noProof="0" dirty="0"/>
                <a:t>Binary</a:t>
              </a:r>
              <a:endParaRPr lang="en-US" b="1" noProof="0" dirty="0"/>
            </a:p>
            <a:p>
              <a:pPr algn="ctr"/>
              <a:r>
                <a:rPr lang="en-SE" sz="1600" noProof="0" dirty="0" err="1"/>
                <a:t>NHSTs</a:t>
              </a:r>
              <a:r>
                <a:rPr lang="en-SE" sz="1600" noProof="0" dirty="0"/>
                <a:t> reduce complex data to binary, seemingly certain results</a:t>
              </a:r>
              <a:endParaRPr lang="en-US" sz="1600" noProof="0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00BB230-55AB-56D7-D5F7-54B489048C1F}"/>
              </a:ext>
            </a:extLst>
          </p:cNvPr>
          <p:cNvGrpSpPr/>
          <p:nvPr/>
        </p:nvGrpSpPr>
        <p:grpSpPr>
          <a:xfrm>
            <a:off x="3492902" y="2922370"/>
            <a:ext cx="2403652" cy="2348074"/>
            <a:chOff x="4894174" y="3429000"/>
            <a:chExt cx="2403652" cy="2348074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F0DCEBD-1D66-4187-2804-3FB53B657B15}"/>
                </a:ext>
              </a:extLst>
            </p:cNvPr>
            <p:cNvGrpSpPr/>
            <p:nvPr/>
          </p:nvGrpSpPr>
          <p:grpSpPr>
            <a:xfrm>
              <a:off x="5556000" y="3429000"/>
              <a:ext cx="1080000" cy="1080000"/>
              <a:chOff x="3313786" y="3686861"/>
              <a:chExt cx="1080000" cy="108000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CD7543E5-CAB0-81DE-A603-2BA51A2622E0}"/>
                  </a:ext>
                </a:extLst>
              </p:cNvPr>
              <p:cNvSpPr/>
              <p:nvPr/>
            </p:nvSpPr>
            <p:spPr>
              <a:xfrm>
                <a:off x="3313786" y="3686861"/>
                <a:ext cx="1080000" cy="1080000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16" name="Graphic 15" descr="Forest scene with solid fill">
                <a:extLst>
                  <a:ext uri="{FF2B5EF4-FFF2-40B4-BE49-F238E27FC236}">
                    <a16:creationId xmlns:a16="http://schemas.microsoft.com/office/drawing/2014/main" id="{EFA39AE7-7FC7-B483-B527-20D6B8212C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p:blipFill>
            <p:spPr>
              <a:xfrm>
                <a:off x="3396586" y="3769661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0241AB0-5511-DCCE-394A-35E108837DE5}"/>
                </a:ext>
              </a:extLst>
            </p:cNvPr>
            <p:cNvSpPr txBox="1"/>
            <p:nvPr/>
          </p:nvSpPr>
          <p:spPr>
            <a:xfrm>
              <a:off x="4894174" y="4669078"/>
              <a:ext cx="2403652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E" b="1" noProof="0" dirty="0"/>
                <a:t>Normal</a:t>
              </a:r>
              <a:endParaRPr lang="en-US" b="1" noProof="0" dirty="0"/>
            </a:p>
            <a:p>
              <a:pPr algn="ctr"/>
              <a:r>
                <a:rPr lang="en-SE" sz="1600" noProof="0" dirty="0" err="1"/>
                <a:t>NHSTs</a:t>
              </a:r>
              <a:r>
                <a:rPr lang="en-SE" sz="1600" noProof="0" dirty="0"/>
                <a:t> distinguish only normal from non-normal data</a:t>
              </a:r>
              <a:endParaRPr lang="en-US" sz="1600" noProof="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B17E48D-5070-A206-C0CA-D0B7E8B9EAC7}"/>
              </a:ext>
            </a:extLst>
          </p:cNvPr>
          <p:cNvGrpSpPr/>
          <p:nvPr/>
        </p:nvGrpSpPr>
        <p:grpSpPr>
          <a:xfrm>
            <a:off x="6030560" y="2922370"/>
            <a:ext cx="2403652" cy="2101852"/>
            <a:chOff x="4894174" y="3429000"/>
            <a:chExt cx="2403652" cy="2101852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B8630516-7C27-457D-2009-5C7D6AE48C0B}"/>
                </a:ext>
              </a:extLst>
            </p:cNvPr>
            <p:cNvGrpSpPr/>
            <p:nvPr/>
          </p:nvGrpSpPr>
          <p:grpSpPr>
            <a:xfrm>
              <a:off x="5556000" y="3429000"/>
              <a:ext cx="1080000" cy="1080000"/>
              <a:chOff x="3313786" y="3686861"/>
              <a:chExt cx="1080000" cy="1080000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4D36847A-0DF9-7120-8006-47C00EE89031}"/>
                  </a:ext>
                </a:extLst>
              </p:cNvPr>
              <p:cNvSpPr/>
              <p:nvPr/>
            </p:nvSpPr>
            <p:spPr>
              <a:xfrm>
                <a:off x="3313786" y="3686861"/>
                <a:ext cx="1080000" cy="108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21" name="Graphic 20" descr="Right Brain with solid fill">
                <a:extLst>
                  <a:ext uri="{FF2B5EF4-FFF2-40B4-BE49-F238E27FC236}">
                    <a16:creationId xmlns:a16="http://schemas.microsoft.com/office/drawing/2014/main" id="{770848BA-F466-B5B3-8DF8-D35C570C80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>
                <a:off x="3396586" y="3769661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28CE341-A53E-78F6-7146-C80E2FBF9348}"/>
                </a:ext>
              </a:extLst>
            </p:cNvPr>
            <p:cNvSpPr txBox="1"/>
            <p:nvPr/>
          </p:nvSpPr>
          <p:spPr>
            <a:xfrm>
              <a:off x="4894174" y="4669078"/>
              <a:ext cx="2403652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E" b="1" noProof="0" dirty="0"/>
                <a:t>Interpretability</a:t>
              </a:r>
              <a:endParaRPr lang="en-US" b="1" noProof="0" dirty="0"/>
            </a:p>
            <a:p>
              <a:pPr algn="ctr"/>
              <a:r>
                <a:rPr lang="en-SE" sz="1600" noProof="0" dirty="0"/>
                <a:t>The p-value is often misinterpreted</a:t>
              </a:r>
              <a:endParaRPr lang="en-US" sz="1600" noProof="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8972C38-66FE-8381-EDC7-CA07D1397655}"/>
              </a:ext>
            </a:extLst>
          </p:cNvPr>
          <p:cNvGrpSpPr/>
          <p:nvPr/>
        </p:nvGrpSpPr>
        <p:grpSpPr>
          <a:xfrm>
            <a:off x="8568218" y="2922370"/>
            <a:ext cx="2403652" cy="2348074"/>
            <a:chOff x="4894174" y="3429000"/>
            <a:chExt cx="2403652" cy="2348074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2D5038C8-1F56-BEF5-DE33-A8D8FD785380}"/>
                </a:ext>
              </a:extLst>
            </p:cNvPr>
            <p:cNvGrpSpPr/>
            <p:nvPr/>
          </p:nvGrpSpPr>
          <p:grpSpPr>
            <a:xfrm>
              <a:off x="5556000" y="3429000"/>
              <a:ext cx="1080000" cy="1080000"/>
              <a:chOff x="3313786" y="3686861"/>
              <a:chExt cx="1080000" cy="1080000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CF88B521-1567-DA41-9A0F-3334ED78113E}"/>
                  </a:ext>
                </a:extLst>
              </p:cNvPr>
              <p:cNvSpPr/>
              <p:nvPr/>
            </p:nvSpPr>
            <p:spPr>
              <a:xfrm>
                <a:off x="3313786" y="3686861"/>
                <a:ext cx="1080000" cy="108000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26" name="Graphic 25" descr="Bar chart with solid fill">
                <a:extLst>
                  <a:ext uri="{FF2B5EF4-FFF2-40B4-BE49-F238E27FC236}">
                    <a16:creationId xmlns:a16="http://schemas.microsoft.com/office/drawing/2014/main" id="{939228E3-1635-8390-62E1-7FB106A5B7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/>
            </p:blipFill>
            <p:spPr>
              <a:xfrm>
                <a:off x="3396586" y="3769661"/>
                <a:ext cx="914400" cy="914400"/>
              </a:xfrm>
              <a:prstGeom prst="rect">
                <a:avLst/>
              </a:prstGeom>
            </p:spPr>
          </p:pic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2A6034A0-BF97-FC9C-25D9-7454EEB81C0D}"/>
                    </a:ext>
                  </a:extLst>
                </p:cNvPr>
                <p:cNvSpPr txBox="1"/>
                <p:nvPr/>
              </p:nvSpPr>
              <p:spPr>
                <a:xfrm>
                  <a:off x="4894174" y="4669078"/>
                  <a:ext cx="2403652" cy="11079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SE" b="1" noProof="0" dirty="0"/>
                    <a:t>Arbitrary</a:t>
                  </a:r>
                  <a:endParaRPr lang="en-US" b="1" noProof="0" dirty="0"/>
                </a:p>
                <a:p>
                  <a:pPr algn="ctr"/>
                  <a:r>
                    <a:rPr lang="en-SE" sz="1600" noProof="0" dirty="0"/>
                    <a:t>There is nothing special about the significance level </a:t>
                  </a:r>
                  <a14:m>
                    <m:oMath xmlns:m="http://schemas.openxmlformats.org/officeDocument/2006/math">
                      <m:r>
                        <a:rPr lang="en-SE" sz="1600" b="0" i="1" noProof="0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SE" sz="1600" b="0" i="1" noProof="0" smtClean="0">
                          <a:latin typeface="Cambria Math" panose="02040503050406030204" pitchFamily="18" charset="0"/>
                        </a:rPr>
                        <m:t>=5%</m:t>
                      </m:r>
                    </m:oMath>
                  </a14:m>
                  <a:endParaRPr lang="en-US" sz="1600" noProof="0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2A6034A0-BF97-FC9C-25D9-7454EEB81C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94174" y="4669078"/>
                  <a:ext cx="2403652" cy="1107996"/>
                </a:xfrm>
                <a:prstGeom prst="rect">
                  <a:avLst/>
                </a:prstGeom>
                <a:blipFill>
                  <a:blip r:embed="rId6"/>
                  <a:stretch>
                    <a:fillRect t="-2747" b="-6044"/>
                  </a:stretch>
                </a:blipFill>
              </p:spPr>
              <p:txBody>
                <a:bodyPr/>
                <a:lstStyle/>
                <a:p>
                  <a:r>
                    <a:rPr lang="en-SE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5798650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8B28274-14D8-5558-62C5-EF995C1E7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Think Bayesian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8EA0912-315C-CA65-CAAA-F5448679E3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E" dirty="0"/>
              <a:t>An Alternative Perspective on Probability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73E6A-2915-C0CA-CBF1-CBE6A9096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0B0E0-4FE2-F49E-15EA-58149CB75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5FB489-97DF-E8CE-85E9-D8146013F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11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0508845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33AE5F1-9A2F-8EA5-AC69-9C5678FEA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Probability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A4ED146-E667-7A29-FA30-1940C510F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25389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SE" dirty="0"/>
              <a:t>Next to the </a:t>
            </a:r>
            <a:r>
              <a:rPr lang="en-SE" b="1" dirty="0"/>
              <a:t>frequentist </a:t>
            </a:r>
            <a:r>
              <a:rPr lang="en-SE" dirty="0"/>
              <a:t>paradigm, the </a:t>
            </a:r>
            <a:r>
              <a:rPr lang="en-SE" b="1" dirty="0"/>
              <a:t>Bayesian </a:t>
            </a:r>
            <a:r>
              <a:rPr lang="en-SE" dirty="0"/>
              <a:t>paradigm of statistics assigns a different meaning to </a:t>
            </a:r>
            <a:r>
              <a:rPr lang="en-SE" i="1" dirty="0"/>
              <a:t>probability</a:t>
            </a:r>
            <a:r>
              <a:rPr lang="en-SE" dirty="0"/>
              <a:t>:</a:t>
            </a:r>
          </a:p>
          <a:p>
            <a:r>
              <a:rPr lang="en-SE" dirty="0"/>
              <a:t>In the </a:t>
            </a:r>
            <a:r>
              <a:rPr lang="en-SE" b="1" dirty="0"/>
              <a:t>frequentist </a:t>
            </a:r>
            <a:r>
              <a:rPr lang="en-SE" dirty="0"/>
              <a:t>paradigm, p</a:t>
            </a:r>
            <a:r>
              <a:rPr lang="en-US" dirty="0" err="1"/>
              <a:t>robability</a:t>
            </a:r>
            <a:r>
              <a:rPr lang="en-US" dirty="0"/>
              <a:t> is a property of a repeatable random process</a:t>
            </a:r>
            <a:r>
              <a:rPr lang="en-SE" dirty="0"/>
              <a:t>. </a:t>
            </a:r>
            <a:r>
              <a:rPr lang="en-US" dirty="0"/>
              <a:t>The probability of an event is the proportion of times it would occur if you repeated the experiment an infinite number of times under identical conditions.</a:t>
            </a:r>
            <a:r>
              <a:rPr lang="en-SE" dirty="0"/>
              <a:t> </a:t>
            </a:r>
            <a:r>
              <a:rPr lang="en-SE" b="1" dirty="0"/>
              <a:t>Probability only assigns to random events, not hypotheses.</a:t>
            </a:r>
            <a:endParaRPr lang="en-SE" dirty="0"/>
          </a:p>
          <a:p>
            <a:r>
              <a:rPr lang="en-SE" dirty="0"/>
              <a:t>In the </a:t>
            </a:r>
            <a:r>
              <a:rPr lang="en-SE" b="1" dirty="0"/>
              <a:t>Bayesian </a:t>
            </a:r>
            <a:r>
              <a:rPr lang="en-SE" dirty="0"/>
              <a:t>paradigm, </a:t>
            </a:r>
            <a:r>
              <a:rPr lang="en-US" dirty="0"/>
              <a:t>probability is a statement about </a:t>
            </a:r>
            <a:r>
              <a:rPr lang="en-US" i="1" dirty="0"/>
              <a:t>the state of knowledge of an observer</a:t>
            </a:r>
            <a:r>
              <a:rPr lang="en-US" dirty="0"/>
              <a:t>, not about physical processes in the world. A probability quantifies how confident a rational agent is that something is true, given their current information.</a:t>
            </a:r>
            <a:r>
              <a:rPr lang="en-SE" dirty="0"/>
              <a:t> </a:t>
            </a:r>
            <a:r>
              <a:rPr lang="en-SE" b="1" dirty="0"/>
              <a:t>Probability assigns to belief, not to events </a:t>
            </a:r>
            <a:r>
              <a:rPr lang="en-SE" dirty="0"/>
              <a:t>(as these are factual).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CADA67-DBDB-519C-7F4D-B9B332FFB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435EA6-5927-B66E-4171-F129EF029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712467-0855-0B8B-9D21-21DAB4D45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12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657131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29606-7039-5D91-894D-64F0C2E9D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Bayes’ Theorem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B6ACD-D5BF-1659-F95E-06F9AEFE2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74872"/>
          </a:xfrm>
        </p:spPr>
        <p:txBody>
          <a:bodyPr/>
          <a:lstStyle/>
          <a:p>
            <a:pPr marL="0" indent="0">
              <a:buNone/>
            </a:pPr>
            <a:r>
              <a:rPr lang="en-SE" dirty="0"/>
              <a:t>The Bayesian thinking is based on </a:t>
            </a:r>
            <a:r>
              <a:rPr lang="en-SE" b="1" dirty="0"/>
              <a:t>Bayes’ Theorem: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E849AD-A415-88BD-AE97-6B0C5784A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445A8-0B82-1582-0A1C-E1F5B19D8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4CF03-9683-33D0-C854-79ED1ED82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13</a:t>
            </a:fld>
            <a:endParaRPr lang="en-S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1E5F7CAE-655B-70AF-7CE8-CA413C3F222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63428" y="3760455"/>
                <a:ext cx="4265143" cy="99409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E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SE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E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e>
                          <m:r>
                            <a:rPr lang="en-SE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SE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SE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E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SE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E" b="0" i="1" dirty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e>
                              <m:r>
                                <a:rPr lang="en-SE" b="0" i="1" dirty="0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  <m:r>
                            <a:rPr lang="en-SE" b="0" i="1" dirty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SE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SE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SE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SE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SE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SE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SE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SE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1E5F7CAE-655B-70AF-7CE8-CA413C3F22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3428" y="3760455"/>
                <a:ext cx="4265143" cy="9940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CE3D74E4-66E5-FB57-0AA5-E441B0CBAB16}"/>
              </a:ext>
            </a:extLst>
          </p:cNvPr>
          <p:cNvSpPr/>
          <p:nvPr/>
        </p:nvSpPr>
        <p:spPr>
          <a:xfrm>
            <a:off x="4145280" y="3881120"/>
            <a:ext cx="1255776" cy="666166"/>
          </a:xfrm>
          <a:prstGeom prst="rect">
            <a:avLst/>
          </a:prstGeom>
          <a:noFill/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4256DA9-F03B-3B41-85D0-5AA2DA619345}"/>
                  </a:ext>
                </a:extLst>
              </p:cNvPr>
              <p:cNvSpPr txBox="1"/>
              <p:nvPr/>
            </p:nvSpPr>
            <p:spPr>
              <a:xfrm>
                <a:off x="1027188" y="3614038"/>
                <a:ext cx="293624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SE" b="1" dirty="0">
                    <a:solidFill>
                      <a:schemeClr val="bg2">
                        <a:lumMod val="50000"/>
                      </a:schemeClr>
                    </a:solidFill>
                  </a:rPr>
                  <a:t>Posterior</a:t>
                </a:r>
              </a:p>
              <a:p>
                <a:pPr algn="r"/>
                <a:r>
                  <a:rPr lang="en-SE" dirty="0"/>
                  <a:t>Probability that the hypothesis </a:t>
                </a:r>
                <a14:m>
                  <m:oMath xmlns:m="http://schemas.openxmlformats.org/officeDocument/2006/math">
                    <m:r>
                      <a:rPr lang="en-SE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SE" dirty="0"/>
                  <a:t> is true given the observed data </a:t>
                </a:r>
                <a14:m>
                  <m:oMath xmlns:m="http://schemas.openxmlformats.org/officeDocument/2006/math">
                    <m:r>
                      <a:rPr lang="en-SE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SE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4256DA9-F03B-3B41-85D0-5AA2DA6193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188" y="3614038"/>
                <a:ext cx="2936240" cy="1200329"/>
              </a:xfrm>
              <a:prstGeom prst="rect">
                <a:avLst/>
              </a:prstGeom>
              <a:blipFill>
                <a:blip r:embed="rId3"/>
                <a:stretch>
                  <a:fillRect t="-2538" r="-3534" b="-7614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568498F5-9DFD-9725-2D43-9BB0B2200A7A}"/>
              </a:ext>
            </a:extLst>
          </p:cNvPr>
          <p:cNvSpPr/>
          <p:nvPr/>
        </p:nvSpPr>
        <p:spPr>
          <a:xfrm>
            <a:off x="5720080" y="3692135"/>
            <a:ext cx="1179588" cy="516114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27662A0-53B6-B72F-C3CF-2CB6684ED095}"/>
                  </a:ext>
                </a:extLst>
              </p:cNvPr>
              <p:cNvSpPr txBox="1"/>
              <p:nvPr/>
            </p:nvSpPr>
            <p:spPr>
              <a:xfrm>
                <a:off x="4038600" y="2600497"/>
                <a:ext cx="293624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SE" b="1" dirty="0">
                    <a:solidFill>
                      <a:schemeClr val="accent1">
                        <a:lumMod val="50000"/>
                      </a:schemeClr>
                    </a:solidFill>
                  </a:rPr>
                  <a:t>Likelihood</a:t>
                </a:r>
              </a:p>
              <a:p>
                <a:pPr algn="r"/>
                <a:r>
                  <a:rPr lang="en-SE" dirty="0"/>
                  <a:t>of observing data </a:t>
                </a:r>
                <a14:m>
                  <m:oMath xmlns:m="http://schemas.openxmlformats.org/officeDocument/2006/math">
                    <m:r>
                      <a:rPr lang="en-SE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SE" dirty="0"/>
                  <a:t> if the hypothesis </a:t>
                </a:r>
                <a14:m>
                  <m:oMath xmlns:m="http://schemas.openxmlformats.org/officeDocument/2006/math">
                    <m:r>
                      <a:rPr lang="en-SE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SE" dirty="0"/>
                  <a:t> were true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27662A0-53B6-B72F-C3CF-2CB6684ED0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0" y="2600497"/>
                <a:ext cx="2936240" cy="923330"/>
              </a:xfrm>
              <a:prstGeom prst="rect">
                <a:avLst/>
              </a:prstGeom>
              <a:blipFill>
                <a:blip r:embed="rId4"/>
                <a:stretch>
                  <a:fillRect t="-3311" r="-3326" b="-10596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C4FB0BCD-1380-78ED-C696-D6786467ADEC}"/>
              </a:ext>
            </a:extLst>
          </p:cNvPr>
          <p:cNvSpPr/>
          <p:nvPr/>
        </p:nvSpPr>
        <p:spPr>
          <a:xfrm>
            <a:off x="7048983" y="3692135"/>
            <a:ext cx="885977" cy="516114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16F78E1-C424-B214-6D92-39DAADA72C4E}"/>
                  </a:ext>
                </a:extLst>
              </p:cNvPr>
              <p:cNvSpPr txBox="1"/>
              <p:nvPr/>
            </p:nvSpPr>
            <p:spPr>
              <a:xfrm>
                <a:off x="7045960" y="2593998"/>
                <a:ext cx="312928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E" b="1" dirty="0">
                    <a:solidFill>
                      <a:schemeClr val="accent2">
                        <a:lumMod val="50000"/>
                      </a:schemeClr>
                    </a:solidFill>
                  </a:rPr>
                  <a:t>Prior</a:t>
                </a:r>
              </a:p>
              <a:p>
                <a:r>
                  <a:rPr lang="en-SE" dirty="0"/>
                  <a:t>probability that hypothesis </a:t>
                </a:r>
                <a14:m>
                  <m:oMath xmlns:m="http://schemas.openxmlformats.org/officeDocument/2006/math">
                    <m:r>
                      <a:rPr lang="en-SE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SE" dirty="0"/>
                  <a:t> is true given no information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16F78E1-C424-B214-6D92-39DAADA72C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5960" y="2593998"/>
                <a:ext cx="3129280" cy="923330"/>
              </a:xfrm>
              <a:prstGeom prst="rect">
                <a:avLst/>
              </a:prstGeom>
              <a:blipFill>
                <a:blip r:embed="rId5"/>
                <a:stretch>
                  <a:fillRect l="-1754" t="-3311" b="-10596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26B720C7-5AC6-3822-8785-D36C968773DD}"/>
              </a:ext>
            </a:extLst>
          </p:cNvPr>
          <p:cNvSpPr/>
          <p:nvPr/>
        </p:nvSpPr>
        <p:spPr>
          <a:xfrm>
            <a:off x="6347957" y="4238439"/>
            <a:ext cx="885977" cy="445346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2062261-8074-4CE2-F1D1-93D46E50CD0F}"/>
                  </a:ext>
                </a:extLst>
              </p:cNvPr>
              <p:cNvSpPr txBox="1"/>
              <p:nvPr/>
            </p:nvSpPr>
            <p:spPr>
              <a:xfrm>
                <a:off x="6370320" y="4770871"/>
                <a:ext cx="312928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E" b="1" dirty="0">
                    <a:solidFill>
                      <a:schemeClr val="accent6">
                        <a:lumMod val="50000"/>
                      </a:schemeClr>
                    </a:solidFill>
                  </a:rPr>
                  <a:t>Marginal likelihood</a:t>
                </a:r>
              </a:p>
              <a:p>
                <a:r>
                  <a:rPr lang="en-SE" dirty="0"/>
                  <a:t>i.e., the probability to observe the data </a:t>
                </a:r>
                <a14:m>
                  <m:oMath xmlns:m="http://schemas.openxmlformats.org/officeDocument/2006/math">
                    <m:r>
                      <a:rPr lang="en-SE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SE" dirty="0"/>
                  <a:t> under all possible hypotheses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2062261-8074-4CE2-F1D1-93D46E50CD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0320" y="4770871"/>
                <a:ext cx="3129280" cy="1200329"/>
              </a:xfrm>
              <a:prstGeom prst="rect">
                <a:avLst/>
              </a:prstGeom>
              <a:blipFill>
                <a:blip r:embed="rId6"/>
                <a:stretch>
                  <a:fillRect l="-1559" t="-2538" r="-1559" b="-7614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80078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/>
      <p:bldP spid="10" grpId="0" animBg="1"/>
      <p:bldP spid="11" grpId="0"/>
      <p:bldP spid="13" grpId="0" animBg="1"/>
      <p:bldP spid="14" grpId="0"/>
      <p:bldP spid="15" grpId="0" animBg="1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D2896-511B-2181-341B-B1F390E97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8D0BC-EA8D-63AB-29CB-56E1B3079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15286"/>
          </a:xfrm>
        </p:spPr>
        <p:txBody>
          <a:bodyPr/>
          <a:lstStyle/>
          <a:p>
            <a:pPr marL="0" indent="0">
              <a:buNone/>
            </a:pPr>
            <a:r>
              <a:rPr lang="en-SE" dirty="0"/>
              <a:t>We are investigating a static code analysis tool</a:t>
            </a:r>
            <a:r>
              <a:rPr lang="en-US" dirty="0"/>
              <a:t>. The tool has 90% sensitivity and 10% false positive rate. Only 5% of files actually have bugs. </a:t>
            </a:r>
            <a:r>
              <a:rPr lang="en-US" i="1" dirty="0"/>
              <a:t>What's the probability </a:t>
            </a:r>
            <a:r>
              <a:rPr lang="en-SE" i="1" dirty="0"/>
              <a:t>that a flagged</a:t>
            </a:r>
            <a:r>
              <a:rPr lang="en-US" i="1" dirty="0"/>
              <a:t> file is buggy?</a:t>
            </a:r>
            <a:endParaRPr lang="en-SE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0FBB80-EFA7-B57F-1B29-F53D51C39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C46E3-41A9-739B-71A2-4F1DE8A77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99E3B7-4F66-B0CA-17EF-916ACD26C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14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1365568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8CE30-2B81-6366-D108-D43A15819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5BFFE-414E-4499-31C1-712FB28B2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4C2C8-E178-F205-AB5F-ADBF9F0D4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15286"/>
          </a:xfrm>
        </p:spPr>
        <p:txBody>
          <a:bodyPr/>
          <a:lstStyle/>
          <a:p>
            <a:pPr marL="0" indent="0">
              <a:buNone/>
            </a:pPr>
            <a:r>
              <a:rPr lang="en-SE" dirty="0"/>
              <a:t>We are investigating a static code analysis tool</a:t>
            </a:r>
            <a:r>
              <a:rPr lang="en-US" dirty="0"/>
              <a:t>. The tool has 90% sensitivity and 10% false positive rate. Only 5% of files actually have bugs. </a:t>
            </a:r>
            <a:r>
              <a:rPr lang="en-US" i="1" dirty="0"/>
              <a:t>What's the probability </a:t>
            </a:r>
            <a:r>
              <a:rPr lang="en-SE" i="1" dirty="0"/>
              <a:t>that a flagged</a:t>
            </a:r>
            <a:r>
              <a:rPr lang="en-US" i="1" dirty="0"/>
              <a:t> file is buggy?</a:t>
            </a:r>
            <a:endParaRPr lang="en-SE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B92BC-239B-D05D-8AD7-3F27612D3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2D76AA-1516-F693-A7E0-D32685A1F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3D622-F11B-6D31-4222-924E40ACF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15</a:t>
            </a:fld>
            <a:endParaRPr lang="en-S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60815A8-A183-FFA9-B401-CEB3D5EC70DA}"/>
                  </a:ext>
                </a:extLst>
              </p:cNvPr>
              <p:cNvSpPr txBox="1"/>
              <p:nvPr/>
            </p:nvSpPr>
            <p:spPr>
              <a:xfrm>
                <a:off x="1719182" y="3429000"/>
                <a:ext cx="231941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SE" sz="20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SE" sz="2000" dirty="0"/>
                  <a:t>: the file has a bug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60815A8-A183-FFA9-B401-CEB3D5EC70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9182" y="3429000"/>
                <a:ext cx="2319418" cy="400110"/>
              </a:xfrm>
              <a:prstGeom prst="rect">
                <a:avLst/>
              </a:prstGeom>
              <a:blipFill>
                <a:blip r:embed="rId2"/>
                <a:stretch>
                  <a:fillRect t="-7692" r="-1837" b="-27692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02B628B-A9E2-F7AF-C6B3-9BB1A9766035}"/>
                  </a:ext>
                </a:extLst>
              </p:cNvPr>
              <p:cNvSpPr txBox="1"/>
              <p:nvPr/>
            </p:nvSpPr>
            <p:spPr>
              <a:xfrm>
                <a:off x="1719182" y="3904366"/>
                <a:ext cx="372223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SE" sz="20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SE" sz="2000" dirty="0"/>
                  <a:t>: the tool flags the file as buggy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02B628B-A9E2-F7AF-C6B3-9BB1A97660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9182" y="3904366"/>
                <a:ext cx="3722237" cy="400110"/>
              </a:xfrm>
              <a:prstGeom prst="rect">
                <a:avLst/>
              </a:prstGeom>
              <a:blipFill>
                <a:blip r:embed="rId3"/>
                <a:stretch>
                  <a:fillRect t="-6061" r="-818" b="-27273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78512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124AC-43A0-2E2B-E34E-03E47D11C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04293-5225-9CDA-928E-BDEBFF1B9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81ADD-C027-A88E-9829-B25E7E323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15286"/>
          </a:xfrm>
        </p:spPr>
        <p:txBody>
          <a:bodyPr/>
          <a:lstStyle/>
          <a:p>
            <a:pPr marL="0" indent="0">
              <a:buNone/>
            </a:pPr>
            <a:r>
              <a:rPr lang="en-SE" dirty="0"/>
              <a:t>We are investigating a static code analysis tool</a:t>
            </a:r>
            <a:r>
              <a:rPr lang="en-US" dirty="0"/>
              <a:t>. The tool has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90% sensitivity and 10% false positive rate</a:t>
            </a:r>
            <a:r>
              <a:rPr lang="en-US" dirty="0"/>
              <a:t>. Only 5% of files actually have bugs. </a:t>
            </a:r>
            <a:r>
              <a:rPr lang="en-US" i="1" dirty="0"/>
              <a:t>What's the probability </a:t>
            </a:r>
            <a:r>
              <a:rPr lang="en-SE" i="1" dirty="0"/>
              <a:t>that a flagged</a:t>
            </a:r>
            <a:r>
              <a:rPr lang="en-US" i="1" dirty="0"/>
              <a:t> file is buggy?</a:t>
            </a:r>
            <a:endParaRPr lang="en-SE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B1DFD4-2558-B6E4-A468-BBFF99DF7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C9C3BE-B78E-6CEF-C794-CE6E26C0B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8673E-5C30-F9D5-8DF7-BA980555F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16</a:t>
            </a:fld>
            <a:endParaRPr lang="en-S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34899B91-8ACD-6083-E2D2-87322009270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63428" y="4422604"/>
                <a:ext cx="4265143" cy="99409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E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SE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E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e>
                          <m:r>
                            <a:rPr lang="en-SE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SE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SE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E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SE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E" b="0" i="1" dirty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e>
                              <m:r>
                                <a:rPr lang="en-SE" b="0" i="1" dirty="0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  <m:r>
                            <a:rPr lang="en-SE" b="0" i="1" dirty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SE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SE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SE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SE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SE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SE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SE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SE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34899B91-8ACD-6083-E2D2-8732200927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3428" y="4422604"/>
                <a:ext cx="4265143" cy="9940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00E90562-BA69-CD55-1EBD-8C5D02CF9575}"/>
              </a:ext>
            </a:extLst>
          </p:cNvPr>
          <p:cNvSpPr/>
          <p:nvPr/>
        </p:nvSpPr>
        <p:spPr>
          <a:xfrm>
            <a:off x="4145280" y="4543269"/>
            <a:ext cx="1255776" cy="666166"/>
          </a:xfrm>
          <a:prstGeom prst="rect">
            <a:avLst/>
          </a:prstGeom>
          <a:noFill/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13D1CC8-6D01-55B1-DFA6-7D36E918629E}"/>
                  </a:ext>
                </a:extLst>
              </p:cNvPr>
              <p:cNvSpPr txBox="1"/>
              <p:nvPr/>
            </p:nvSpPr>
            <p:spPr>
              <a:xfrm>
                <a:off x="1027188" y="4276187"/>
                <a:ext cx="293624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SE" b="1" dirty="0">
                    <a:solidFill>
                      <a:schemeClr val="bg2">
                        <a:lumMod val="50000"/>
                      </a:schemeClr>
                    </a:solidFill>
                  </a:rPr>
                  <a:t>Posterior</a:t>
                </a:r>
              </a:p>
              <a:p>
                <a:pPr algn="r"/>
                <a:r>
                  <a:rPr lang="en-SE" dirty="0"/>
                  <a:t>Probability that the hypothesis </a:t>
                </a:r>
                <a14:m>
                  <m:oMath xmlns:m="http://schemas.openxmlformats.org/officeDocument/2006/math">
                    <m:r>
                      <a:rPr lang="en-SE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SE" dirty="0"/>
                  <a:t> is true given the observed data </a:t>
                </a:r>
                <a14:m>
                  <m:oMath xmlns:m="http://schemas.openxmlformats.org/officeDocument/2006/math">
                    <m:r>
                      <a:rPr lang="en-SE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SE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13D1CC8-6D01-55B1-DFA6-7D36E91862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188" y="4276187"/>
                <a:ext cx="2936240" cy="1200329"/>
              </a:xfrm>
              <a:prstGeom prst="rect">
                <a:avLst/>
              </a:prstGeom>
              <a:blipFill>
                <a:blip r:embed="rId3"/>
                <a:stretch>
                  <a:fillRect t="-2030" r="-3534" b="-7614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BF50C094-8201-E287-FF42-CE21E4B3A128}"/>
              </a:ext>
            </a:extLst>
          </p:cNvPr>
          <p:cNvSpPr/>
          <p:nvPr/>
        </p:nvSpPr>
        <p:spPr>
          <a:xfrm>
            <a:off x="5720080" y="4354284"/>
            <a:ext cx="1179588" cy="516114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E8EB6E4-0951-6C16-BC49-FDBFA1683ED4}"/>
                  </a:ext>
                </a:extLst>
              </p:cNvPr>
              <p:cNvSpPr txBox="1"/>
              <p:nvPr/>
            </p:nvSpPr>
            <p:spPr>
              <a:xfrm>
                <a:off x="4038600" y="3262646"/>
                <a:ext cx="293624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SE" b="1" dirty="0">
                    <a:solidFill>
                      <a:schemeClr val="accent1">
                        <a:lumMod val="50000"/>
                      </a:schemeClr>
                    </a:solidFill>
                  </a:rPr>
                  <a:t>Likelihood</a:t>
                </a:r>
              </a:p>
              <a:p>
                <a:pPr algn="r"/>
                <a:r>
                  <a:rPr lang="en-SE" dirty="0"/>
                  <a:t>of observing data </a:t>
                </a:r>
                <a14:m>
                  <m:oMath xmlns:m="http://schemas.openxmlformats.org/officeDocument/2006/math">
                    <m:r>
                      <a:rPr lang="en-SE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SE" dirty="0"/>
                  <a:t> if the hypothesis </a:t>
                </a:r>
                <a14:m>
                  <m:oMath xmlns:m="http://schemas.openxmlformats.org/officeDocument/2006/math">
                    <m:r>
                      <a:rPr lang="en-SE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SE" dirty="0"/>
                  <a:t> were true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E8EB6E4-0951-6C16-BC49-FDBFA1683E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0" y="3262646"/>
                <a:ext cx="2936240" cy="923330"/>
              </a:xfrm>
              <a:prstGeom prst="rect">
                <a:avLst/>
              </a:prstGeom>
              <a:blipFill>
                <a:blip r:embed="rId4"/>
                <a:stretch>
                  <a:fillRect t="-2632" r="-3326" b="-9868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3D11F677-314C-50CE-FD8A-6CBB56476340}"/>
              </a:ext>
            </a:extLst>
          </p:cNvPr>
          <p:cNvSpPr/>
          <p:nvPr/>
        </p:nvSpPr>
        <p:spPr>
          <a:xfrm>
            <a:off x="7048983" y="4354284"/>
            <a:ext cx="885977" cy="516114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85E68C7-B09E-4443-CCC1-7F84073C39D2}"/>
                  </a:ext>
                </a:extLst>
              </p:cNvPr>
              <p:cNvSpPr txBox="1"/>
              <p:nvPr/>
            </p:nvSpPr>
            <p:spPr>
              <a:xfrm>
                <a:off x="7045960" y="3256147"/>
                <a:ext cx="312928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E" b="1" dirty="0">
                    <a:solidFill>
                      <a:schemeClr val="accent2">
                        <a:lumMod val="50000"/>
                      </a:schemeClr>
                    </a:solidFill>
                  </a:rPr>
                  <a:t>Prior</a:t>
                </a:r>
              </a:p>
              <a:p>
                <a:r>
                  <a:rPr lang="en-SE" dirty="0"/>
                  <a:t>probability that hypothesis </a:t>
                </a:r>
                <a14:m>
                  <m:oMath xmlns:m="http://schemas.openxmlformats.org/officeDocument/2006/math">
                    <m:r>
                      <a:rPr lang="en-SE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SE" dirty="0"/>
                  <a:t> is true given no information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85E68C7-B09E-4443-CCC1-7F84073C39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5960" y="3256147"/>
                <a:ext cx="3129280" cy="923330"/>
              </a:xfrm>
              <a:prstGeom prst="rect">
                <a:avLst/>
              </a:prstGeom>
              <a:blipFill>
                <a:blip r:embed="rId5"/>
                <a:stretch>
                  <a:fillRect l="-1754" t="-2632" b="-9868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79EF5631-2A31-715C-C2CC-686F683B0D9C}"/>
              </a:ext>
            </a:extLst>
          </p:cNvPr>
          <p:cNvSpPr/>
          <p:nvPr/>
        </p:nvSpPr>
        <p:spPr>
          <a:xfrm>
            <a:off x="6347957" y="4900588"/>
            <a:ext cx="885977" cy="445346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194CD81-3CA7-2669-73E8-943231DE923E}"/>
                  </a:ext>
                </a:extLst>
              </p:cNvPr>
              <p:cNvSpPr txBox="1"/>
              <p:nvPr/>
            </p:nvSpPr>
            <p:spPr>
              <a:xfrm>
                <a:off x="6370320" y="5433020"/>
                <a:ext cx="398902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E" b="1" dirty="0">
                    <a:solidFill>
                      <a:schemeClr val="accent6">
                        <a:lumMod val="50000"/>
                      </a:schemeClr>
                    </a:solidFill>
                  </a:rPr>
                  <a:t>Marginal likelihood</a:t>
                </a:r>
              </a:p>
              <a:p>
                <a:r>
                  <a:rPr lang="en-SE" dirty="0"/>
                  <a:t>i.e., the probability to observe the data </a:t>
                </a:r>
                <a14:m>
                  <m:oMath xmlns:m="http://schemas.openxmlformats.org/officeDocument/2006/math">
                    <m:r>
                      <a:rPr lang="en-SE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SE" dirty="0"/>
                  <a:t> under all possible hypotheses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194CD81-3CA7-2669-73E8-943231DE92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0320" y="5433020"/>
                <a:ext cx="3989022" cy="923330"/>
              </a:xfrm>
              <a:prstGeom prst="rect">
                <a:avLst/>
              </a:prstGeom>
              <a:blipFill>
                <a:blip r:embed="rId6"/>
                <a:stretch>
                  <a:fillRect l="-1223" t="-2632" r="-1223" b="-9868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8490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09DA7-92EC-6397-EB53-1B909BE5D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AB5D9-34AE-47B7-6367-5363CB82E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3D64A-9EA3-3410-34FD-278ED6438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15286"/>
          </a:xfrm>
        </p:spPr>
        <p:txBody>
          <a:bodyPr/>
          <a:lstStyle/>
          <a:p>
            <a:pPr marL="0" indent="0">
              <a:buNone/>
            </a:pPr>
            <a:r>
              <a:rPr lang="en-SE" dirty="0"/>
              <a:t>We are investigating a static code analysis tool</a:t>
            </a:r>
            <a:r>
              <a:rPr lang="en-US" dirty="0"/>
              <a:t>. The tool has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90% sensitivity and 10% false positive rate</a:t>
            </a:r>
            <a:r>
              <a:rPr lang="en-US" dirty="0"/>
              <a:t>. Only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5% of files actually have bugs</a:t>
            </a:r>
            <a:r>
              <a:rPr lang="en-US" dirty="0"/>
              <a:t>. </a:t>
            </a:r>
            <a:r>
              <a:rPr lang="en-US" i="1" dirty="0"/>
              <a:t>What's the probability </a:t>
            </a:r>
            <a:r>
              <a:rPr lang="en-SE" i="1" dirty="0"/>
              <a:t>that a flagged</a:t>
            </a:r>
            <a:r>
              <a:rPr lang="en-US" i="1" dirty="0"/>
              <a:t> file is buggy?</a:t>
            </a:r>
            <a:endParaRPr lang="en-SE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91F94-A7D2-EDC2-A2CB-0F805D1CA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55AB1-A6F6-89A2-6659-CAAA5BCE5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78057-D44B-7C1C-AAA6-20E319658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17</a:t>
            </a:fld>
            <a:endParaRPr lang="en-S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2A5C5F0-72D5-DD95-52C2-7135495C433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63428" y="4422604"/>
                <a:ext cx="4265143" cy="99409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E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SE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E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e>
                          <m:r>
                            <a:rPr lang="en-SE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SE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SE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E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SE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E" b="0" i="1" dirty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e>
                              <m:r>
                                <a:rPr lang="en-SE" b="0" i="1" dirty="0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  <m:r>
                            <a:rPr lang="en-SE" b="0" i="1" dirty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SE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SE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SE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SE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SE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SE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SE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SE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34899B91-8ACD-6083-E2D2-8732200927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3428" y="4422604"/>
                <a:ext cx="4265143" cy="9940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951E0086-49FE-6349-B423-65603135305E}"/>
              </a:ext>
            </a:extLst>
          </p:cNvPr>
          <p:cNvSpPr/>
          <p:nvPr/>
        </p:nvSpPr>
        <p:spPr>
          <a:xfrm>
            <a:off x="4145280" y="4543269"/>
            <a:ext cx="1255776" cy="666166"/>
          </a:xfrm>
          <a:prstGeom prst="rect">
            <a:avLst/>
          </a:prstGeom>
          <a:noFill/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803C828-328A-8AD7-38E6-71CD6557AB13}"/>
                  </a:ext>
                </a:extLst>
              </p:cNvPr>
              <p:cNvSpPr txBox="1"/>
              <p:nvPr/>
            </p:nvSpPr>
            <p:spPr>
              <a:xfrm>
                <a:off x="1027188" y="4276187"/>
                <a:ext cx="293624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SE" b="1" dirty="0">
                    <a:solidFill>
                      <a:schemeClr val="bg2">
                        <a:lumMod val="50000"/>
                      </a:schemeClr>
                    </a:solidFill>
                  </a:rPr>
                  <a:t>Posterior</a:t>
                </a:r>
              </a:p>
              <a:p>
                <a:pPr algn="r"/>
                <a:r>
                  <a:rPr lang="en-SE" dirty="0"/>
                  <a:t>Probability that the hypothesis </a:t>
                </a:r>
                <a14:m>
                  <m:oMath xmlns:m="http://schemas.openxmlformats.org/officeDocument/2006/math">
                    <m:r>
                      <a:rPr lang="en-SE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SE" dirty="0"/>
                  <a:t> is true given the observed data </a:t>
                </a:r>
                <a14:m>
                  <m:oMath xmlns:m="http://schemas.openxmlformats.org/officeDocument/2006/math">
                    <m:r>
                      <a:rPr lang="en-SE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SE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13D1CC8-6D01-55B1-DFA6-7D36E91862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188" y="4276187"/>
                <a:ext cx="2936240" cy="1200329"/>
              </a:xfrm>
              <a:prstGeom prst="rect">
                <a:avLst/>
              </a:prstGeom>
              <a:blipFill>
                <a:blip r:embed="rId3"/>
                <a:stretch>
                  <a:fillRect t="-2030" r="-3534" b="-7614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5DC5C39D-6B29-3A6F-A62D-F4573BEA5B90}"/>
              </a:ext>
            </a:extLst>
          </p:cNvPr>
          <p:cNvSpPr/>
          <p:nvPr/>
        </p:nvSpPr>
        <p:spPr>
          <a:xfrm>
            <a:off x="5720080" y="4354284"/>
            <a:ext cx="1179588" cy="516114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DE0E702-47BF-2419-751D-9BD24F18B3F6}"/>
                  </a:ext>
                </a:extLst>
              </p:cNvPr>
              <p:cNvSpPr txBox="1"/>
              <p:nvPr/>
            </p:nvSpPr>
            <p:spPr>
              <a:xfrm>
                <a:off x="4038600" y="3262646"/>
                <a:ext cx="293624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SE" b="1" dirty="0">
                    <a:solidFill>
                      <a:schemeClr val="accent1">
                        <a:lumMod val="50000"/>
                      </a:schemeClr>
                    </a:solidFill>
                  </a:rPr>
                  <a:t>Likelihood</a:t>
                </a:r>
              </a:p>
              <a:p>
                <a:pPr algn="r"/>
                <a:r>
                  <a:rPr lang="en-SE" dirty="0"/>
                  <a:t>of observing data </a:t>
                </a:r>
                <a14:m>
                  <m:oMath xmlns:m="http://schemas.openxmlformats.org/officeDocument/2006/math">
                    <m:r>
                      <a:rPr lang="en-SE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SE" dirty="0"/>
                  <a:t> if the hypothesis </a:t>
                </a:r>
                <a14:m>
                  <m:oMath xmlns:m="http://schemas.openxmlformats.org/officeDocument/2006/math">
                    <m:r>
                      <a:rPr lang="en-SE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SE" dirty="0"/>
                  <a:t> were true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E8EB6E4-0951-6C16-BC49-FDBFA1683E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0" y="3262646"/>
                <a:ext cx="2936240" cy="923330"/>
              </a:xfrm>
              <a:prstGeom prst="rect">
                <a:avLst/>
              </a:prstGeom>
              <a:blipFill>
                <a:blip r:embed="rId4"/>
                <a:stretch>
                  <a:fillRect t="-2632" r="-3326" b="-9868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38D9B27A-B058-A0E5-1775-03999D30F749}"/>
              </a:ext>
            </a:extLst>
          </p:cNvPr>
          <p:cNvSpPr/>
          <p:nvPr/>
        </p:nvSpPr>
        <p:spPr>
          <a:xfrm>
            <a:off x="7048983" y="4354284"/>
            <a:ext cx="885977" cy="516114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683482E-D5E4-6D69-9EDA-3B3E0464F69B}"/>
                  </a:ext>
                </a:extLst>
              </p:cNvPr>
              <p:cNvSpPr txBox="1"/>
              <p:nvPr/>
            </p:nvSpPr>
            <p:spPr>
              <a:xfrm>
                <a:off x="7045960" y="3256147"/>
                <a:ext cx="312928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E" b="1" dirty="0">
                    <a:solidFill>
                      <a:schemeClr val="accent2">
                        <a:lumMod val="50000"/>
                      </a:schemeClr>
                    </a:solidFill>
                  </a:rPr>
                  <a:t>Prior</a:t>
                </a:r>
              </a:p>
              <a:p>
                <a:r>
                  <a:rPr lang="en-SE" dirty="0"/>
                  <a:t>probability that hypothesis </a:t>
                </a:r>
                <a14:m>
                  <m:oMath xmlns:m="http://schemas.openxmlformats.org/officeDocument/2006/math">
                    <m:r>
                      <a:rPr lang="en-SE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SE" dirty="0"/>
                  <a:t> is true given no information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85E68C7-B09E-4443-CCC1-7F84073C39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5960" y="3256147"/>
                <a:ext cx="3129280" cy="923330"/>
              </a:xfrm>
              <a:prstGeom prst="rect">
                <a:avLst/>
              </a:prstGeom>
              <a:blipFill>
                <a:blip r:embed="rId5"/>
                <a:stretch>
                  <a:fillRect l="-1754" t="-2632" b="-9868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A89DE53E-0E0B-B5C8-E620-2DB94468DF5C}"/>
              </a:ext>
            </a:extLst>
          </p:cNvPr>
          <p:cNvSpPr/>
          <p:nvPr/>
        </p:nvSpPr>
        <p:spPr>
          <a:xfrm>
            <a:off x="6347957" y="4900588"/>
            <a:ext cx="885977" cy="445346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F07F91B-F80E-45FE-8AD5-748ABFE41A9C}"/>
                  </a:ext>
                </a:extLst>
              </p:cNvPr>
              <p:cNvSpPr txBox="1"/>
              <p:nvPr/>
            </p:nvSpPr>
            <p:spPr>
              <a:xfrm>
                <a:off x="6370320" y="5433020"/>
                <a:ext cx="398902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E" b="1" dirty="0">
                    <a:solidFill>
                      <a:schemeClr val="accent6">
                        <a:lumMod val="50000"/>
                      </a:schemeClr>
                    </a:solidFill>
                  </a:rPr>
                  <a:t>Marginal likelihood</a:t>
                </a:r>
              </a:p>
              <a:p>
                <a:r>
                  <a:rPr lang="en-SE" dirty="0"/>
                  <a:t>i.e., the probability to observe the data </a:t>
                </a:r>
                <a14:m>
                  <m:oMath xmlns:m="http://schemas.openxmlformats.org/officeDocument/2006/math">
                    <m:r>
                      <a:rPr lang="en-SE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SE" dirty="0"/>
                  <a:t> under all possible hypotheses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194CD81-3CA7-2669-73E8-943231DE92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0320" y="5433020"/>
                <a:ext cx="3989022" cy="923330"/>
              </a:xfrm>
              <a:prstGeom prst="rect">
                <a:avLst/>
              </a:prstGeom>
              <a:blipFill>
                <a:blip r:embed="rId6"/>
                <a:stretch>
                  <a:fillRect l="-1223" t="-2632" r="-1223" b="-9868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37846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9E4FF-E832-2769-8004-C3CD37DF9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D59C1-BF0E-CFAC-64AF-088A3B29C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648E2-839C-6F8B-63B2-065F23242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15286"/>
          </a:xfrm>
        </p:spPr>
        <p:txBody>
          <a:bodyPr/>
          <a:lstStyle/>
          <a:p>
            <a:pPr marL="0" indent="0">
              <a:buNone/>
            </a:pPr>
            <a:r>
              <a:rPr lang="en-SE" dirty="0"/>
              <a:t>We are investigating a static code analysis tool</a:t>
            </a:r>
            <a:r>
              <a:rPr lang="en-US" dirty="0"/>
              <a:t>. The tool has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90% sensitivity and 10% false positive rate</a:t>
            </a:r>
            <a:r>
              <a:rPr lang="en-US" dirty="0"/>
              <a:t>. Only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5% of files actually have bugs</a:t>
            </a:r>
            <a:r>
              <a:rPr lang="en-US" dirty="0"/>
              <a:t>. </a:t>
            </a:r>
            <a:r>
              <a:rPr lang="en-US" i="1" dirty="0"/>
              <a:t>What's the </a:t>
            </a:r>
            <a:r>
              <a:rPr lang="en-US" b="1" i="1" dirty="0">
                <a:solidFill>
                  <a:schemeClr val="bg2">
                    <a:lumMod val="50000"/>
                  </a:schemeClr>
                </a:solidFill>
              </a:rPr>
              <a:t>probability </a:t>
            </a:r>
            <a:r>
              <a:rPr lang="en-SE" b="1" i="1" dirty="0">
                <a:solidFill>
                  <a:schemeClr val="bg2">
                    <a:lumMod val="50000"/>
                  </a:schemeClr>
                </a:solidFill>
              </a:rPr>
              <a:t>that a flagged</a:t>
            </a:r>
            <a:r>
              <a:rPr lang="en-US" b="1" i="1" dirty="0">
                <a:solidFill>
                  <a:schemeClr val="bg2">
                    <a:lumMod val="50000"/>
                  </a:schemeClr>
                </a:solidFill>
              </a:rPr>
              <a:t> file is buggy</a:t>
            </a:r>
            <a:r>
              <a:rPr lang="en-US" i="1" dirty="0"/>
              <a:t>?</a:t>
            </a:r>
            <a:endParaRPr lang="en-SE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24811-248D-1C37-4F08-A8940AB10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9E4D3F-60AA-5E33-2144-4F738B12B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62B1E2-103A-7A35-C281-B4D9674F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18</a:t>
            </a:fld>
            <a:endParaRPr lang="en-S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AB42A8D4-AA24-A7F0-82F7-E75958D269A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63428" y="4422604"/>
                <a:ext cx="4265143" cy="99409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E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SE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E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e>
                          <m:r>
                            <a:rPr lang="en-SE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SE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SE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E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SE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E" b="0" i="1" dirty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e>
                              <m:r>
                                <a:rPr lang="en-SE" b="0" i="1" dirty="0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  <m:r>
                            <a:rPr lang="en-SE" b="0" i="1" dirty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SE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SE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SE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SE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SE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SE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SE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SE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34899B91-8ACD-6083-E2D2-8732200927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3428" y="4422604"/>
                <a:ext cx="4265143" cy="9940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9428F35D-38DE-CCF9-5A02-E60362CE2540}"/>
              </a:ext>
            </a:extLst>
          </p:cNvPr>
          <p:cNvSpPr/>
          <p:nvPr/>
        </p:nvSpPr>
        <p:spPr>
          <a:xfrm>
            <a:off x="4145280" y="4543269"/>
            <a:ext cx="1255776" cy="666166"/>
          </a:xfrm>
          <a:prstGeom prst="rect">
            <a:avLst/>
          </a:prstGeom>
          <a:noFill/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B465061-9DBC-AB7E-4E26-84ECD4A23EC2}"/>
                  </a:ext>
                </a:extLst>
              </p:cNvPr>
              <p:cNvSpPr txBox="1"/>
              <p:nvPr/>
            </p:nvSpPr>
            <p:spPr>
              <a:xfrm>
                <a:off x="1027188" y="4276187"/>
                <a:ext cx="293624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SE" b="1" dirty="0">
                    <a:solidFill>
                      <a:schemeClr val="bg2">
                        <a:lumMod val="50000"/>
                      </a:schemeClr>
                    </a:solidFill>
                  </a:rPr>
                  <a:t>Posterior</a:t>
                </a:r>
              </a:p>
              <a:p>
                <a:pPr algn="r"/>
                <a:r>
                  <a:rPr lang="en-SE" dirty="0"/>
                  <a:t>Probability that the hypothesis </a:t>
                </a:r>
                <a14:m>
                  <m:oMath xmlns:m="http://schemas.openxmlformats.org/officeDocument/2006/math">
                    <m:r>
                      <a:rPr lang="en-SE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SE" dirty="0"/>
                  <a:t> is true given the observed data </a:t>
                </a:r>
                <a14:m>
                  <m:oMath xmlns:m="http://schemas.openxmlformats.org/officeDocument/2006/math">
                    <m:r>
                      <a:rPr lang="en-SE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SE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13D1CC8-6D01-55B1-DFA6-7D36E91862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188" y="4276187"/>
                <a:ext cx="2936240" cy="1200329"/>
              </a:xfrm>
              <a:prstGeom prst="rect">
                <a:avLst/>
              </a:prstGeom>
              <a:blipFill>
                <a:blip r:embed="rId3"/>
                <a:stretch>
                  <a:fillRect t="-2030" r="-3534" b="-7614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DC0F814F-F563-8B86-DBBD-3A32680B9B07}"/>
              </a:ext>
            </a:extLst>
          </p:cNvPr>
          <p:cNvSpPr/>
          <p:nvPr/>
        </p:nvSpPr>
        <p:spPr>
          <a:xfrm>
            <a:off x="5720080" y="4354284"/>
            <a:ext cx="1179588" cy="516114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0980A1E-BD8D-8CB0-3452-7A060593DC41}"/>
                  </a:ext>
                </a:extLst>
              </p:cNvPr>
              <p:cNvSpPr txBox="1"/>
              <p:nvPr/>
            </p:nvSpPr>
            <p:spPr>
              <a:xfrm>
                <a:off x="4038600" y="3262646"/>
                <a:ext cx="293624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SE" b="1" dirty="0">
                    <a:solidFill>
                      <a:schemeClr val="accent1">
                        <a:lumMod val="50000"/>
                      </a:schemeClr>
                    </a:solidFill>
                  </a:rPr>
                  <a:t>Likelihood</a:t>
                </a:r>
              </a:p>
              <a:p>
                <a:pPr algn="r"/>
                <a:r>
                  <a:rPr lang="en-SE" dirty="0"/>
                  <a:t>of observing data </a:t>
                </a:r>
                <a14:m>
                  <m:oMath xmlns:m="http://schemas.openxmlformats.org/officeDocument/2006/math">
                    <m:r>
                      <a:rPr lang="en-SE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SE" dirty="0"/>
                  <a:t> if the hypothesis </a:t>
                </a:r>
                <a14:m>
                  <m:oMath xmlns:m="http://schemas.openxmlformats.org/officeDocument/2006/math">
                    <m:r>
                      <a:rPr lang="en-SE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SE" dirty="0"/>
                  <a:t> were true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E8EB6E4-0951-6C16-BC49-FDBFA1683E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0" y="3262646"/>
                <a:ext cx="2936240" cy="923330"/>
              </a:xfrm>
              <a:prstGeom prst="rect">
                <a:avLst/>
              </a:prstGeom>
              <a:blipFill>
                <a:blip r:embed="rId4"/>
                <a:stretch>
                  <a:fillRect t="-2632" r="-3326" b="-9868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D12A3462-9C38-5CC5-281D-9455D6714421}"/>
              </a:ext>
            </a:extLst>
          </p:cNvPr>
          <p:cNvSpPr/>
          <p:nvPr/>
        </p:nvSpPr>
        <p:spPr>
          <a:xfrm>
            <a:off x="7048983" y="4354284"/>
            <a:ext cx="885977" cy="516114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D9E23C0-85FC-10B8-2587-25FC87FC98E9}"/>
                  </a:ext>
                </a:extLst>
              </p:cNvPr>
              <p:cNvSpPr txBox="1"/>
              <p:nvPr/>
            </p:nvSpPr>
            <p:spPr>
              <a:xfrm>
                <a:off x="7045960" y="3256147"/>
                <a:ext cx="312928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E" b="1" dirty="0">
                    <a:solidFill>
                      <a:schemeClr val="accent2">
                        <a:lumMod val="50000"/>
                      </a:schemeClr>
                    </a:solidFill>
                  </a:rPr>
                  <a:t>Prior</a:t>
                </a:r>
              </a:p>
              <a:p>
                <a:r>
                  <a:rPr lang="en-SE" dirty="0"/>
                  <a:t>probability that hypothesis </a:t>
                </a:r>
                <a14:m>
                  <m:oMath xmlns:m="http://schemas.openxmlformats.org/officeDocument/2006/math">
                    <m:r>
                      <a:rPr lang="en-SE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SE" dirty="0"/>
                  <a:t> is true given no information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85E68C7-B09E-4443-CCC1-7F84073C39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5960" y="3256147"/>
                <a:ext cx="3129280" cy="923330"/>
              </a:xfrm>
              <a:prstGeom prst="rect">
                <a:avLst/>
              </a:prstGeom>
              <a:blipFill>
                <a:blip r:embed="rId5"/>
                <a:stretch>
                  <a:fillRect l="-1754" t="-2632" b="-9868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1081DB98-68D0-3F5D-B0E7-7A78F8AC1B7F}"/>
              </a:ext>
            </a:extLst>
          </p:cNvPr>
          <p:cNvSpPr/>
          <p:nvPr/>
        </p:nvSpPr>
        <p:spPr>
          <a:xfrm>
            <a:off x="6347957" y="4900588"/>
            <a:ext cx="885977" cy="445346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39AC366-7EC3-81EE-53B8-FD5AC65C2EA7}"/>
                  </a:ext>
                </a:extLst>
              </p:cNvPr>
              <p:cNvSpPr txBox="1"/>
              <p:nvPr/>
            </p:nvSpPr>
            <p:spPr>
              <a:xfrm>
                <a:off x="6370320" y="5433020"/>
                <a:ext cx="398902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E" b="1" dirty="0">
                    <a:solidFill>
                      <a:schemeClr val="accent6">
                        <a:lumMod val="50000"/>
                      </a:schemeClr>
                    </a:solidFill>
                  </a:rPr>
                  <a:t>Marginal likelihood</a:t>
                </a:r>
              </a:p>
              <a:p>
                <a:r>
                  <a:rPr lang="en-SE" dirty="0"/>
                  <a:t>i.e., the probability to observe the data </a:t>
                </a:r>
                <a14:m>
                  <m:oMath xmlns:m="http://schemas.openxmlformats.org/officeDocument/2006/math">
                    <m:r>
                      <a:rPr lang="en-SE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SE" dirty="0"/>
                  <a:t> under all possible hypotheses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194CD81-3CA7-2669-73E8-943231DE92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0320" y="5433020"/>
                <a:ext cx="3989022" cy="923330"/>
              </a:xfrm>
              <a:prstGeom prst="rect">
                <a:avLst/>
              </a:prstGeom>
              <a:blipFill>
                <a:blip r:embed="rId6"/>
                <a:stretch>
                  <a:fillRect l="-1223" t="-2632" r="-1223" b="-9868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67430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B6B4C-33D2-17C5-A9EE-78E971E93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43ABC-76E6-C86C-8F76-0C1FA4D5C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42507-F296-DD06-073A-4595FBF8C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15286"/>
          </a:xfrm>
        </p:spPr>
        <p:txBody>
          <a:bodyPr/>
          <a:lstStyle/>
          <a:p>
            <a:pPr marL="0" indent="0">
              <a:buNone/>
            </a:pPr>
            <a:r>
              <a:rPr lang="en-SE" dirty="0"/>
              <a:t>We are investigating a static code analysis tool</a:t>
            </a:r>
            <a:r>
              <a:rPr lang="en-US" dirty="0"/>
              <a:t>. The tool has 90% sensitivity and 10% false positive rate. Only 5% of files actually have bugs. </a:t>
            </a:r>
            <a:r>
              <a:rPr lang="en-US" i="1" dirty="0"/>
              <a:t>What's the probability </a:t>
            </a:r>
            <a:r>
              <a:rPr lang="en-SE" i="1" dirty="0"/>
              <a:t>that a flagged</a:t>
            </a:r>
            <a:r>
              <a:rPr lang="en-US" i="1" dirty="0"/>
              <a:t> file is buggy?</a:t>
            </a:r>
            <a:endParaRPr lang="en-SE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F8C22-3330-CD4A-8124-30E0031EB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85054-2E91-A425-8250-C9157F222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8C9BA-783B-14CE-84A2-74A6A9415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19</a:t>
            </a:fld>
            <a:endParaRPr lang="en-S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908E551D-B7DB-493E-1AAF-6302D580940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198" y="3375848"/>
                <a:ext cx="10515600" cy="64056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SE" dirty="0"/>
                  <a:t>The marginal likelihood </a:t>
                </a:r>
                <a14:m>
                  <m:oMath xmlns:m="http://schemas.openxmlformats.org/officeDocument/2006/math">
                    <m:r>
                      <a:rPr lang="en-SE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SE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SE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SE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SE" dirty="0"/>
                  <a:t> can be calculated from the other data: </a:t>
                </a:r>
                <a:endParaRPr lang="en-SE" i="1" dirty="0"/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908E551D-B7DB-493E-1AAF-6302D58094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8" y="3375848"/>
                <a:ext cx="10515600" cy="640567"/>
              </a:xfrm>
              <a:prstGeom prst="rect">
                <a:avLst/>
              </a:prstGeom>
              <a:blipFill>
                <a:blip r:embed="rId3"/>
                <a:stretch>
                  <a:fillRect l="-1159" t="-17143" r="-1275" b="-952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3CEB290-9330-4982-B251-6ABCC58A34EC}"/>
                  </a:ext>
                </a:extLst>
              </p:cNvPr>
              <p:cNvSpPr txBox="1"/>
              <p:nvPr/>
            </p:nvSpPr>
            <p:spPr>
              <a:xfrm>
                <a:off x="6370320" y="5433020"/>
                <a:ext cx="398902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E" b="1" dirty="0">
                    <a:solidFill>
                      <a:schemeClr val="accent6">
                        <a:lumMod val="50000"/>
                      </a:schemeClr>
                    </a:solidFill>
                  </a:rPr>
                  <a:t>Marginal likelihood</a:t>
                </a:r>
              </a:p>
              <a:p>
                <a:r>
                  <a:rPr lang="en-SE" dirty="0"/>
                  <a:t>i.e., the probability to observe the data </a:t>
                </a:r>
                <a14:m>
                  <m:oMath xmlns:m="http://schemas.openxmlformats.org/officeDocument/2006/math">
                    <m:r>
                      <a:rPr lang="en-SE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SE" dirty="0"/>
                  <a:t> under all possible hypotheses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3CEB290-9330-4982-B251-6ABCC58A34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0320" y="5433020"/>
                <a:ext cx="3989022" cy="923330"/>
              </a:xfrm>
              <a:prstGeom prst="rect">
                <a:avLst/>
              </a:prstGeom>
              <a:blipFill>
                <a:blip r:embed="rId4"/>
                <a:stretch>
                  <a:fillRect l="-1223" t="-2632" r="-1223" b="-9868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02678BA-70C5-C9ED-5147-9E91B2A7BE94}"/>
                  </a:ext>
                </a:extLst>
              </p:cNvPr>
              <p:cNvSpPr txBox="1"/>
              <p:nvPr/>
            </p:nvSpPr>
            <p:spPr>
              <a:xfrm>
                <a:off x="3248060" y="4164241"/>
                <a:ext cx="456124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E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SE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E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SE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SE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SE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E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e>
                          <m:r>
                            <a:rPr lang="en-SE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SE" sz="20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SE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SE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E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SE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SE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SE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E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e>
                          <m:r>
                            <a:rPr lang="en-SE" sz="2000" b="0" i="1" smtClean="0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SE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SE" sz="20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SE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SE" sz="2000" b="0" i="1" smtClean="0">
                          <a:latin typeface="Cambria Math" panose="02040503050406030204" pitchFamily="18" charset="0"/>
                        </a:rPr>
                        <m:t>(¬</m:t>
                      </m:r>
                      <m:r>
                        <a:rPr lang="en-SE" sz="20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SE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SE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02678BA-70C5-C9ED-5147-9E91B2A7BE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8060" y="4164241"/>
                <a:ext cx="4561249" cy="307777"/>
              </a:xfrm>
              <a:prstGeom prst="rect">
                <a:avLst/>
              </a:prstGeom>
              <a:blipFill>
                <a:blip r:embed="rId5"/>
                <a:stretch>
                  <a:fillRect l="-936" t="-1961" r="-1604" b="-33333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42344E9-1483-F657-C020-15BCD0DB7DD3}"/>
                  </a:ext>
                </a:extLst>
              </p:cNvPr>
              <p:cNvSpPr txBox="1"/>
              <p:nvPr/>
            </p:nvSpPr>
            <p:spPr>
              <a:xfrm>
                <a:off x="4150884" y="4618294"/>
                <a:ext cx="318555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E" sz="2000" b="0" i="1" smtClean="0">
                          <a:latin typeface="Cambria Math" panose="02040503050406030204" pitchFamily="18" charset="0"/>
                        </a:rPr>
                        <m:t>0.9⋅0.05+0.1⋅0.95=</m:t>
                      </m:r>
                      <m:r>
                        <a:rPr lang="en-SE" sz="20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0.14</m:t>
                      </m:r>
                    </m:oMath>
                  </m:oMathPara>
                </a14:m>
                <a:endParaRPr lang="en-SE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42344E9-1483-F657-C020-15BCD0DB7D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0884" y="4618294"/>
                <a:ext cx="3185552" cy="307777"/>
              </a:xfrm>
              <a:prstGeom prst="rect">
                <a:avLst/>
              </a:prstGeom>
              <a:blipFill>
                <a:blip r:embed="rId6"/>
                <a:stretch>
                  <a:fillRect l="-1533" r="-1533" b="-8000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42391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28EBF-2D00-2265-0386-690C8A7F0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DCB0B-9EA5-0514-AC45-564FFA2E6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67758-5B84-05F2-AE8A-59E2E42A8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15286"/>
          </a:xfrm>
        </p:spPr>
        <p:txBody>
          <a:bodyPr/>
          <a:lstStyle/>
          <a:p>
            <a:pPr marL="0" indent="0">
              <a:buNone/>
            </a:pPr>
            <a:r>
              <a:rPr lang="en-SE" dirty="0"/>
              <a:t>We are investigating a static code analysis tool</a:t>
            </a:r>
            <a:r>
              <a:rPr lang="en-US" dirty="0"/>
              <a:t>. The tool has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90% sensitivity and 10% false positive rate</a:t>
            </a:r>
            <a:r>
              <a:rPr lang="en-US" dirty="0"/>
              <a:t>. Only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5% of files actually have bugs</a:t>
            </a:r>
            <a:r>
              <a:rPr lang="en-US" dirty="0"/>
              <a:t>. </a:t>
            </a:r>
            <a:r>
              <a:rPr lang="en-US" i="1" dirty="0"/>
              <a:t>What's the </a:t>
            </a:r>
            <a:r>
              <a:rPr lang="en-US" b="1" i="1" dirty="0">
                <a:solidFill>
                  <a:schemeClr val="bg2">
                    <a:lumMod val="50000"/>
                  </a:schemeClr>
                </a:solidFill>
              </a:rPr>
              <a:t>probability </a:t>
            </a:r>
            <a:r>
              <a:rPr lang="en-SE" b="1" i="1" dirty="0">
                <a:solidFill>
                  <a:schemeClr val="bg2">
                    <a:lumMod val="50000"/>
                  </a:schemeClr>
                </a:solidFill>
              </a:rPr>
              <a:t>that a flagged</a:t>
            </a:r>
            <a:r>
              <a:rPr lang="en-US" b="1" i="1" dirty="0">
                <a:solidFill>
                  <a:schemeClr val="bg2">
                    <a:lumMod val="50000"/>
                  </a:schemeClr>
                </a:solidFill>
              </a:rPr>
              <a:t> file is buggy</a:t>
            </a:r>
            <a:r>
              <a:rPr lang="en-US" i="1" dirty="0"/>
              <a:t>?</a:t>
            </a:r>
            <a:endParaRPr lang="en-SE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EF082A-D1E1-4060-404C-AAAB9ACF5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0F75A8-34A1-501C-40FD-A1B1FCD03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E3D833-766D-D80B-1C72-D47371674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20</a:t>
            </a:fld>
            <a:endParaRPr lang="en-S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DDCBE1E9-84C1-16F6-E66B-56A38A37C80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63428" y="4422604"/>
                <a:ext cx="4266172" cy="99409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E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SE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E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e>
                          <m:r>
                            <a:rPr lang="en-SE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SE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SE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E" b="0" i="1" dirty="0" smtClean="0">
                              <a:latin typeface="Cambria Math" panose="02040503050406030204" pitchFamily="18" charset="0"/>
                            </a:rPr>
                            <m:t>0.90⋅0.05</m:t>
                          </m:r>
                        </m:num>
                        <m:den>
                          <m:r>
                            <a:rPr lang="en-SE" b="0" i="1" dirty="0" smtClean="0">
                              <a:latin typeface="Cambria Math" panose="02040503050406030204" pitchFamily="18" charset="0"/>
                            </a:rPr>
                            <m:t>0.14</m:t>
                          </m:r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DDCBE1E9-84C1-16F6-E66B-56A38A37C8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3428" y="4422604"/>
                <a:ext cx="4266172" cy="9940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1B334D11-9034-83D2-589C-A18DE4FB8C1F}"/>
              </a:ext>
            </a:extLst>
          </p:cNvPr>
          <p:cNvSpPr/>
          <p:nvPr/>
        </p:nvSpPr>
        <p:spPr>
          <a:xfrm>
            <a:off x="4389113" y="4544645"/>
            <a:ext cx="1255776" cy="666166"/>
          </a:xfrm>
          <a:prstGeom prst="rect">
            <a:avLst/>
          </a:prstGeom>
          <a:noFill/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8CF1201-BDA8-F5E8-F56A-3BA62FE5EE5C}"/>
                  </a:ext>
                </a:extLst>
              </p:cNvPr>
              <p:cNvSpPr txBox="1"/>
              <p:nvPr/>
            </p:nvSpPr>
            <p:spPr>
              <a:xfrm>
                <a:off x="1302512" y="4300423"/>
                <a:ext cx="293624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SE" b="1" dirty="0">
                    <a:solidFill>
                      <a:schemeClr val="bg2">
                        <a:lumMod val="50000"/>
                      </a:schemeClr>
                    </a:solidFill>
                  </a:rPr>
                  <a:t>Posterior</a:t>
                </a:r>
              </a:p>
              <a:p>
                <a:pPr algn="r"/>
                <a:r>
                  <a:rPr lang="en-SE" dirty="0"/>
                  <a:t>Probability that the hypothesis </a:t>
                </a:r>
                <a14:m>
                  <m:oMath xmlns:m="http://schemas.openxmlformats.org/officeDocument/2006/math">
                    <m:r>
                      <a:rPr lang="en-SE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SE" dirty="0"/>
                  <a:t> is true given the observed data </a:t>
                </a:r>
                <a14:m>
                  <m:oMath xmlns:m="http://schemas.openxmlformats.org/officeDocument/2006/math">
                    <m:r>
                      <a:rPr lang="en-SE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SE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8CF1201-BDA8-F5E8-F56A-3BA62FE5EE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2512" y="4300423"/>
                <a:ext cx="2936240" cy="1200329"/>
              </a:xfrm>
              <a:prstGeom prst="rect">
                <a:avLst/>
              </a:prstGeom>
              <a:blipFill>
                <a:blip r:embed="rId4"/>
                <a:stretch>
                  <a:fillRect t="-2030" r="-3534" b="-7614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4627024F-959B-BBE8-3827-5973B8E0DEBF}"/>
              </a:ext>
            </a:extLst>
          </p:cNvPr>
          <p:cNvSpPr/>
          <p:nvPr/>
        </p:nvSpPr>
        <p:spPr>
          <a:xfrm>
            <a:off x="5914663" y="4354284"/>
            <a:ext cx="844278" cy="445346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E9D5079-5EA9-7BEB-33C4-5F94AD20095E}"/>
                  </a:ext>
                </a:extLst>
              </p:cNvPr>
              <p:cNvSpPr txBox="1"/>
              <p:nvPr/>
            </p:nvSpPr>
            <p:spPr>
              <a:xfrm>
                <a:off x="4038600" y="3262646"/>
                <a:ext cx="293624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SE" b="1" dirty="0">
                    <a:solidFill>
                      <a:schemeClr val="accent1">
                        <a:lumMod val="50000"/>
                      </a:schemeClr>
                    </a:solidFill>
                  </a:rPr>
                  <a:t>Likelihood</a:t>
                </a:r>
              </a:p>
              <a:p>
                <a:pPr algn="r"/>
                <a:r>
                  <a:rPr lang="en-SE" dirty="0"/>
                  <a:t>of observing data </a:t>
                </a:r>
                <a14:m>
                  <m:oMath xmlns:m="http://schemas.openxmlformats.org/officeDocument/2006/math">
                    <m:r>
                      <a:rPr lang="en-SE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SE" dirty="0"/>
                  <a:t> if the hypothesis </a:t>
                </a:r>
                <a14:m>
                  <m:oMath xmlns:m="http://schemas.openxmlformats.org/officeDocument/2006/math">
                    <m:r>
                      <a:rPr lang="en-SE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SE" dirty="0"/>
                  <a:t> were true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E9D5079-5EA9-7BEB-33C4-5F94AD2009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0" y="3262646"/>
                <a:ext cx="2936240" cy="923330"/>
              </a:xfrm>
              <a:prstGeom prst="rect">
                <a:avLst/>
              </a:prstGeom>
              <a:blipFill>
                <a:blip r:embed="rId5"/>
                <a:stretch>
                  <a:fillRect t="-2632" r="-3326" b="-9868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9927316E-6D86-D53E-B0A6-85C568370933}"/>
              </a:ext>
            </a:extLst>
          </p:cNvPr>
          <p:cNvSpPr/>
          <p:nvPr/>
        </p:nvSpPr>
        <p:spPr>
          <a:xfrm>
            <a:off x="6909302" y="4348261"/>
            <a:ext cx="844278" cy="445346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241B1E4-E3C6-CAB6-F11F-D4DC686D43AB}"/>
                  </a:ext>
                </a:extLst>
              </p:cNvPr>
              <p:cNvSpPr txBox="1"/>
              <p:nvPr/>
            </p:nvSpPr>
            <p:spPr>
              <a:xfrm>
                <a:off x="7045960" y="3256147"/>
                <a:ext cx="312928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E" b="1" dirty="0">
                    <a:solidFill>
                      <a:schemeClr val="accent2">
                        <a:lumMod val="50000"/>
                      </a:schemeClr>
                    </a:solidFill>
                  </a:rPr>
                  <a:t>Prior</a:t>
                </a:r>
              </a:p>
              <a:p>
                <a:r>
                  <a:rPr lang="en-SE" dirty="0"/>
                  <a:t>probability that hypothesis </a:t>
                </a:r>
                <a14:m>
                  <m:oMath xmlns:m="http://schemas.openxmlformats.org/officeDocument/2006/math">
                    <m:r>
                      <a:rPr lang="en-SE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SE" dirty="0"/>
                  <a:t> is true given no information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241B1E4-E3C6-CAB6-F11F-D4DC686D43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5960" y="3256147"/>
                <a:ext cx="3129280" cy="923330"/>
              </a:xfrm>
              <a:prstGeom prst="rect">
                <a:avLst/>
              </a:prstGeom>
              <a:blipFill>
                <a:blip r:embed="rId6"/>
                <a:stretch>
                  <a:fillRect l="-1754" t="-2632" b="-9868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06A766DE-FD86-35E1-1FC4-A5845CC2CF4C}"/>
              </a:ext>
            </a:extLst>
          </p:cNvPr>
          <p:cNvSpPr/>
          <p:nvPr/>
        </p:nvSpPr>
        <p:spPr>
          <a:xfrm>
            <a:off x="6347957" y="4900588"/>
            <a:ext cx="885977" cy="445346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82A9601-DBC1-68F1-A40B-56037AA6ED92}"/>
                  </a:ext>
                </a:extLst>
              </p:cNvPr>
              <p:cNvSpPr txBox="1"/>
              <p:nvPr/>
            </p:nvSpPr>
            <p:spPr>
              <a:xfrm>
                <a:off x="6370320" y="5433020"/>
                <a:ext cx="398902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E" b="1" dirty="0">
                    <a:solidFill>
                      <a:schemeClr val="accent6">
                        <a:lumMod val="50000"/>
                      </a:schemeClr>
                    </a:solidFill>
                  </a:rPr>
                  <a:t>Marginal likelihood</a:t>
                </a:r>
              </a:p>
              <a:p>
                <a:r>
                  <a:rPr lang="en-SE" dirty="0"/>
                  <a:t>i.e., the probability to observe the data </a:t>
                </a:r>
                <a14:m>
                  <m:oMath xmlns:m="http://schemas.openxmlformats.org/officeDocument/2006/math">
                    <m:r>
                      <a:rPr lang="en-SE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SE" dirty="0"/>
                  <a:t> under all possible hypotheses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82A9601-DBC1-68F1-A40B-56037AA6ED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0320" y="5433020"/>
                <a:ext cx="3989022" cy="923330"/>
              </a:xfrm>
              <a:prstGeom prst="rect">
                <a:avLst/>
              </a:prstGeom>
              <a:blipFill>
                <a:blip r:embed="rId7"/>
                <a:stretch>
                  <a:fillRect l="-1223" t="-2632" r="-1223" b="-9868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64381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FBC90-55B6-78D5-3830-DF0A642D0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DFD44-FE7C-B302-3012-CFCB5584F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D072E-EB00-2FB4-B19B-520BB4FC48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15286"/>
          </a:xfrm>
        </p:spPr>
        <p:txBody>
          <a:bodyPr/>
          <a:lstStyle/>
          <a:p>
            <a:pPr marL="0" indent="0">
              <a:buNone/>
            </a:pPr>
            <a:r>
              <a:rPr lang="en-SE" dirty="0"/>
              <a:t>We are investigating a static code analysis tool</a:t>
            </a:r>
            <a:r>
              <a:rPr lang="en-US" dirty="0"/>
              <a:t>. The tool has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90% sensitivity and 10% false positive rate</a:t>
            </a:r>
            <a:r>
              <a:rPr lang="en-US" dirty="0"/>
              <a:t>. Only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5% of files actually have bugs</a:t>
            </a:r>
            <a:r>
              <a:rPr lang="en-US" dirty="0"/>
              <a:t>. </a:t>
            </a:r>
            <a:r>
              <a:rPr lang="en-US" i="1" dirty="0"/>
              <a:t>What's the </a:t>
            </a:r>
            <a:r>
              <a:rPr lang="en-US" b="1" i="1" dirty="0">
                <a:solidFill>
                  <a:schemeClr val="bg2">
                    <a:lumMod val="50000"/>
                  </a:schemeClr>
                </a:solidFill>
              </a:rPr>
              <a:t>probability </a:t>
            </a:r>
            <a:r>
              <a:rPr lang="en-SE" b="1" i="1" dirty="0">
                <a:solidFill>
                  <a:schemeClr val="bg2">
                    <a:lumMod val="50000"/>
                  </a:schemeClr>
                </a:solidFill>
              </a:rPr>
              <a:t>that a flagged</a:t>
            </a:r>
            <a:r>
              <a:rPr lang="en-US" b="1" i="1" dirty="0">
                <a:solidFill>
                  <a:schemeClr val="bg2">
                    <a:lumMod val="50000"/>
                  </a:schemeClr>
                </a:solidFill>
              </a:rPr>
              <a:t> file is buggy</a:t>
            </a:r>
            <a:r>
              <a:rPr lang="en-US" i="1" dirty="0"/>
              <a:t>?</a:t>
            </a:r>
            <a:endParaRPr lang="en-SE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48E53-91F1-A6B6-3C28-B8F3C4AA9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E7560-F108-E879-B308-5D6B62E11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911BF1-1C96-1A3B-2E88-2CB1B6CFD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21</a:t>
            </a:fld>
            <a:endParaRPr lang="en-S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9596CD1A-09CF-C153-2E53-DED3751AD32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63428" y="4422604"/>
                <a:ext cx="5584432" cy="99409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E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SE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E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e>
                          <m:r>
                            <a:rPr lang="en-SE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SE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SE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E" b="0" i="1" dirty="0" smtClean="0">
                              <a:latin typeface="Cambria Math" panose="02040503050406030204" pitchFamily="18" charset="0"/>
                            </a:rPr>
                            <m:t>0.90⋅0.05</m:t>
                          </m:r>
                        </m:num>
                        <m:den>
                          <m:r>
                            <a:rPr lang="en-SE" b="0" i="1" dirty="0" smtClean="0">
                              <a:latin typeface="Cambria Math" panose="02040503050406030204" pitchFamily="18" charset="0"/>
                            </a:rPr>
                            <m:t>0.14</m:t>
                          </m:r>
                        </m:den>
                      </m:f>
                      <m:r>
                        <a:rPr lang="en-SE" b="0" i="1" dirty="0" smtClean="0">
                          <a:latin typeface="Cambria Math" panose="02040503050406030204" pitchFamily="18" charset="0"/>
                        </a:rPr>
                        <m:t>=0.321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DDCBE1E9-84C1-16F6-E66B-56A38A37C8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3428" y="4422604"/>
                <a:ext cx="5584432" cy="9940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E3E3F6F3-A319-8F1F-4EC1-E758701CCDC1}"/>
              </a:ext>
            </a:extLst>
          </p:cNvPr>
          <p:cNvSpPr/>
          <p:nvPr/>
        </p:nvSpPr>
        <p:spPr>
          <a:xfrm>
            <a:off x="4389113" y="4544645"/>
            <a:ext cx="1255776" cy="666166"/>
          </a:xfrm>
          <a:prstGeom prst="rect">
            <a:avLst/>
          </a:prstGeom>
          <a:noFill/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735BEB0-1447-FD21-AFC8-231FF7AE44C7}"/>
                  </a:ext>
                </a:extLst>
              </p:cNvPr>
              <p:cNvSpPr txBox="1"/>
              <p:nvPr/>
            </p:nvSpPr>
            <p:spPr>
              <a:xfrm>
                <a:off x="1302512" y="4300423"/>
                <a:ext cx="293624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SE" b="1" dirty="0">
                    <a:solidFill>
                      <a:schemeClr val="bg2">
                        <a:lumMod val="50000"/>
                      </a:schemeClr>
                    </a:solidFill>
                  </a:rPr>
                  <a:t>Posterior</a:t>
                </a:r>
              </a:p>
              <a:p>
                <a:pPr algn="r"/>
                <a:r>
                  <a:rPr lang="en-SE" dirty="0"/>
                  <a:t>Probability that the hypothesis </a:t>
                </a:r>
                <a14:m>
                  <m:oMath xmlns:m="http://schemas.openxmlformats.org/officeDocument/2006/math">
                    <m:r>
                      <a:rPr lang="en-SE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SE" dirty="0"/>
                  <a:t> is true given the observed data </a:t>
                </a:r>
                <a14:m>
                  <m:oMath xmlns:m="http://schemas.openxmlformats.org/officeDocument/2006/math">
                    <m:r>
                      <a:rPr lang="en-SE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SE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8CF1201-BDA8-F5E8-F56A-3BA62FE5EE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2512" y="4300423"/>
                <a:ext cx="2936240" cy="1200329"/>
              </a:xfrm>
              <a:prstGeom prst="rect">
                <a:avLst/>
              </a:prstGeom>
              <a:blipFill>
                <a:blip r:embed="rId4"/>
                <a:stretch>
                  <a:fillRect t="-2030" r="-3534" b="-7614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93F29E7C-C76D-004B-88C0-E259D8401594}"/>
              </a:ext>
            </a:extLst>
          </p:cNvPr>
          <p:cNvSpPr/>
          <p:nvPr/>
        </p:nvSpPr>
        <p:spPr>
          <a:xfrm>
            <a:off x="5914663" y="4354284"/>
            <a:ext cx="844278" cy="445346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6F14153-AE10-B3B0-482B-505F12BF1CA1}"/>
                  </a:ext>
                </a:extLst>
              </p:cNvPr>
              <p:cNvSpPr txBox="1"/>
              <p:nvPr/>
            </p:nvSpPr>
            <p:spPr>
              <a:xfrm>
                <a:off x="4038600" y="3262646"/>
                <a:ext cx="293624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SE" b="1" dirty="0">
                    <a:solidFill>
                      <a:schemeClr val="accent1">
                        <a:lumMod val="50000"/>
                      </a:schemeClr>
                    </a:solidFill>
                  </a:rPr>
                  <a:t>Likelihood</a:t>
                </a:r>
              </a:p>
              <a:p>
                <a:pPr algn="r"/>
                <a:r>
                  <a:rPr lang="en-SE" dirty="0"/>
                  <a:t>of observing data </a:t>
                </a:r>
                <a14:m>
                  <m:oMath xmlns:m="http://schemas.openxmlformats.org/officeDocument/2006/math">
                    <m:r>
                      <a:rPr lang="en-SE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SE" dirty="0"/>
                  <a:t> if the hypothesis </a:t>
                </a:r>
                <a14:m>
                  <m:oMath xmlns:m="http://schemas.openxmlformats.org/officeDocument/2006/math">
                    <m:r>
                      <a:rPr lang="en-SE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SE" dirty="0"/>
                  <a:t> were true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E9D5079-5EA9-7BEB-33C4-5F94AD2009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0" y="3262646"/>
                <a:ext cx="2936240" cy="923330"/>
              </a:xfrm>
              <a:prstGeom prst="rect">
                <a:avLst/>
              </a:prstGeom>
              <a:blipFill>
                <a:blip r:embed="rId5"/>
                <a:stretch>
                  <a:fillRect t="-2632" r="-3326" b="-9868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BC345BF3-A45E-9FF1-2438-66CB6168C508}"/>
              </a:ext>
            </a:extLst>
          </p:cNvPr>
          <p:cNvSpPr/>
          <p:nvPr/>
        </p:nvSpPr>
        <p:spPr>
          <a:xfrm>
            <a:off x="6909302" y="4348261"/>
            <a:ext cx="844278" cy="445346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9663B44-E78F-A0E0-F354-C14199E3385A}"/>
                  </a:ext>
                </a:extLst>
              </p:cNvPr>
              <p:cNvSpPr txBox="1"/>
              <p:nvPr/>
            </p:nvSpPr>
            <p:spPr>
              <a:xfrm>
                <a:off x="7045960" y="3256147"/>
                <a:ext cx="312928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E" b="1" dirty="0">
                    <a:solidFill>
                      <a:schemeClr val="accent2">
                        <a:lumMod val="50000"/>
                      </a:schemeClr>
                    </a:solidFill>
                  </a:rPr>
                  <a:t>Prior</a:t>
                </a:r>
              </a:p>
              <a:p>
                <a:r>
                  <a:rPr lang="en-SE" dirty="0"/>
                  <a:t>probability that hypothesis </a:t>
                </a:r>
                <a14:m>
                  <m:oMath xmlns:m="http://schemas.openxmlformats.org/officeDocument/2006/math">
                    <m:r>
                      <a:rPr lang="en-SE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SE" dirty="0"/>
                  <a:t> is true given no information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241B1E4-E3C6-CAB6-F11F-D4DC686D43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5960" y="3256147"/>
                <a:ext cx="3129280" cy="923330"/>
              </a:xfrm>
              <a:prstGeom prst="rect">
                <a:avLst/>
              </a:prstGeom>
              <a:blipFill>
                <a:blip r:embed="rId6"/>
                <a:stretch>
                  <a:fillRect l="-1754" t="-2632" b="-9868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25DB693D-E29C-DE1C-8D6C-6CD71AE19767}"/>
              </a:ext>
            </a:extLst>
          </p:cNvPr>
          <p:cNvSpPr/>
          <p:nvPr/>
        </p:nvSpPr>
        <p:spPr>
          <a:xfrm>
            <a:off x="6347957" y="4900588"/>
            <a:ext cx="885977" cy="445346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61CB77D-07CE-C8E9-296D-80C3F30ACA3F}"/>
                  </a:ext>
                </a:extLst>
              </p:cNvPr>
              <p:cNvSpPr txBox="1"/>
              <p:nvPr/>
            </p:nvSpPr>
            <p:spPr>
              <a:xfrm>
                <a:off x="6370320" y="5433020"/>
                <a:ext cx="398902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E" b="1" dirty="0">
                    <a:solidFill>
                      <a:schemeClr val="accent6">
                        <a:lumMod val="50000"/>
                      </a:schemeClr>
                    </a:solidFill>
                  </a:rPr>
                  <a:t>Marginal likelihood</a:t>
                </a:r>
              </a:p>
              <a:p>
                <a:r>
                  <a:rPr lang="en-SE" dirty="0"/>
                  <a:t>i.e., the probability to observe the data </a:t>
                </a:r>
                <a14:m>
                  <m:oMath xmlns:m="http://schemas.openxmlformats.org/officeDocument/2006/math">
                    <m:r>
                      <a:rPr lang="en-SE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SE" dirty="0"/>
                  <a:t> under all possible hypotheses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82A9601-DBC1-68F1-A40B-56037AA6ED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0320" y="5433020"/>
                <a:ext cx="3989022" cy="923330"/>
              </a:xfrm>
              <a:prstGeom prst="rect">
                <a:avLst/>
              </a:prstGeom>
              <a:blipFill>
                <a:blip r:embed="rId7"/>
                <a:stretch>
                  <a:fillRect l="-1223" t="-2632" r="-1223" b="-9868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8B5E5792-4FC9-0658-AA66-36A18CDB3A4B}"/>
              </a:ext>
            </a:extLst>
          </p:cNvPr>
          <p:cNvSpPr/>
          <p:nvPr/>
        </p:nvSpPr>
        <p:spPr>
          <a:xfrm>
            <a:off x="7982712" y="4544644"/>
            <a:ext cx="1255776" cy="666166"/>
          </a:xfrm>
          <a:prstGeom prst="rect">
            <a:avLst/>
          </a:prstGeom>
          <a:noFill/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6145937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5B6B36E-3712-BB94-9406-8040D9B0C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Bayesian Data Analysis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6FA125F-73A7-CFBF-86E0-098187248D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28AD5-F325-FAE4-08EB-CF55C2891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B67CA-1A46-F780-3E3A-9AECB9B15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FE8488-2EB1-BAB3-DB34-175087F5E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22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3125661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41DC6254-8976-144E-6C07-3AE260DC8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Bayesian Regression Models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A2009F5C-AD55-EFA7-789E-3495968A1A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15283"/>
          </a:xfrm>
        </p:spPr>
        <p:txBody>
          <a:bodyPr/>
          <a:lstStyle/>
          <a:p>
            <a:pPr marL="0" indent="0">
              <a:buNone/>
            </a:pPr>
            <a:r>
              <a:rPr lang="en-SE" dirty="0"/>
              <a:t>Utilizing Bayes’ theorem to answer research questions requires to formulate </a:t>
            </a:r>
            <a:r>
              <a:rPr lang="en-SE" b="1" dirty="0"/>
              <a:t>regression models</a:t>
            </a:r>
            <a:r>
              <a:rPr lang="en-SE" dirty="0"/>
              <a:t> of the following (simplified) form: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36041A-F8DA-20BF-0875-25970E0F8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697DE-5A88-D0D3-9DE5-3CC097910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49320-3FF7-40B1-AFB2-771776AB6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pPr/>
              <a:t>23</a:t>
            </a:fld>
            <a:endParaRPr lang="en-SE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A69037F-B5B1-7360-F7F8-5426F83AC7C9}"/>
              </a:ext>
            </a:extLst>
          </p:cNvPr>
          <p:cNvGrpSpPr/>
          <p:nvPr/>
        </p:nvGrpSpPr>
        <p:grpSpPr>
          <a:xfrm>
            <a:off x="845793" y="3272402"/>
            <a:ext cx="3192807" cy="1569086"/>
            <a:chOff x="4206624" y="2882244"/>
            <a:chExt cx="3192807" cy="1569086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626DF2F7-1B31-4EA7-3B11-A0E6FAA87327}"/>
                </a:ext>
              </a:extLst>
            </p:cNvPr>
            <p:cNvSpPr/>
            <p:nvPr/>
          </p:nvSpPr>
          <p:spPr>
            <a:xfrm>
              <a:off x="4431353" y="3315677"/>
              <a:ext cx="360000" cy="360000"/>
            </a:xfrm>
            <a:prstGeom prst="ellipse">
              <a:avLst/>
            </a:prstGeom>
            <a:solidFill>
              <a:srgbClr val="F8766D"/>
            </a:solidFill>
            <a:ln>
              <a:solidFill>
                <a:srgbClr val="D0180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noProof="0" dirty="0">
                  <a:solidFill>
                    <a:srgbClr val="D0180A"/>
                  </a:solidFill>
                </a:rPr>
                <a:t>x</a:t>
              </a:r>
              <a:endParaRPr lang="en-US" noProof="0" dirty="0">
                <a:solidFill>
                  <a:srgbClr val="D0180A"/>
                </a:solidFill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5616175-916E-7816-0AC4-81F1D967F95E}"/>
                </a:ext>
              </a:extLst>
            </p:cNvPr>
            <p:cNvSpPr/>
            <p:nvPr/>
          </p:nvSpPr>
          <p:spPr>
            <a:xfrm>
              <a:off x="6922733" y="3315677"/>
              <a:ext cx="360000" cy="360000"/>
            </a:xfrm>
            <a:prstGeom prst="ellipse">
              <a:avLst/>
            </a:prstGeom>
            <a:solidFill>
              <a:srgbClr val="00BFC4"/>
            </a:solidFill>
            <a:ln>
              <a:solidFill>
                <a:srgbClr val="006D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noProof="0" dirty="0">
                  <a:solidFill>
                    <a:srgbClr val="006D70"/>
                  </a:solidFill>
                </a:rPr>
                <a:t>y</a:t>
              </a:r>
              <a:endParaRPr lang="en-US" noProof="0" dirty="0">
                <a:solidFill>
                  <a:srgbClr val="006D70"/>
                </a:solidFill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5BD25F3F-7A64-F4AA-BBB5-2BEB848D1789}"/>
                </a:ext>
              </a:extLst>
            </p:cNvPr>
            <p:cNvCxnSpPr>
              <a:stCxn id="3" idx="6"/>
              <a:endCxn id="7" idx="2"/>
            </p:cNvCxnSpPr>
            <p:nvPr/>
          </p:nvCxnSpPr>
          <p:spPr>
            <a:xfrm>
              <a:off x="4791353" y="3495677"/>
              <a:ext cx="21313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FDD9711-D0F7-F862-9A7C-5A6AA3D11115}"/>
                </a:ext>
              </a:extLst>
            </p:cNvPr>
            <p:cNvSpPr txBox="1"/>
            <p:nvPr/>
          </p:nvSpPr>
          <p:spPr>
            <a:xfrm>
              <a:off x="4206624" y="2882249"/>
              <a:ext cx="1522591" cy="369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de-DE" noProof="0" dirty="0">
                  <a:solidFill>
                    <a:srgbClr val="D0180A"/>
                  </a:solidFill>
                </a:rPr>
                <a:t>u</a:t>
              </a:r>
              <a:r>
                <a:rPr lang="en-SE" noProof="0" dirty="0">
                  <a:solidFill>
                    <a:srgbClr val="D0180A"/>
                  </a:solidFill>
                </a:rPr>
                <a:t>se of GenAI</a:t>
              </a:r>
              <a:endParaRPr lang="en-US" noProof="0" dirty="0">
                <a:solidFill>
                  <a:srgbClr val="D0180A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AD6607B-7931-0C88-77B7-480EC1A4170B}"/>
                </a:ext>
              </a:extLst>
            </p:cNvPr>
            <p:cNvSpPr txBox="1"/>
            <p:nvPr/>
          </p:nvSpPr>
          <p:spPr>
            <a:xfrm>
              <a:off x="6036494" y="2882244"/>
              <a:ext cx="13629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E" noProof="0" dirty="0">
                  <a:solidFill>
                    <a:srgbClr val="006D70"/>
                  </a:solidFill>
                </a:rPr>
                <a:t>productivity</a:t>
              </a:r>
              <a:endParaRPr lang="en-US" noProof="0" dirty="0">
                <a:solidFill>
                  <a:srgbClr val="006D70"/>
                </a:solidFill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B27D1D1-9C5B-45FB-6176-4313204D8FD7}"/>
                </a:ext>
              </a:extLst>
            </p:cNvPr>
            <p:cNvSpPr/>
            <p:nvPr/>
          </p:nvSpPr>
          <p:spPr>
            <a:xfrm>
              <a:off x="5676494" y="4091330"/>
              <a:ext cx="360000" cy="36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noProof="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</a:t>
              </a:r>
              <a:endParaRPr lang="en-US" noProof="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DF9F34B-6293-2193-3F31-D44F1A770214}"/>
                </a:ext>
              </a:extLst>
            </p:cNvPr>
            <p:cNvSpPr txBox="1"/>
            <p:nvPr/>
          </p:nvSpPr>
          <p:spPr>
            <a:xfrm>
              <a:off x="6036494" y="4081998"/>
              <a:ext cx="12462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motivation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69674BFA-5C76-2CF0-C6DF-80F87E674D3C}"/>
                </a:ext>
              </a:extLst>
            </p:cNvPr>
            <p:cNvCxnSpPr>
              <a:cxnSpLocks/>
              <a:stCxn id="11" idx="7"/>
              <a:endCxn id="7" idx="3"/>
            </p:cNvCxnSpPr>
            <p:nvPr/>
          </p:nvCxnSpPr>
          <p:spPr>
            <a:xfrm flipV="1">
              <a:off x="5983773" y="3622956"/>
              <a:ext cx="991681" cy="52109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D4DB9F51-ED1B-1121-56AA-2298F4ACBC76}"/>
                </a:ext>
              </a:extLst>
            </p:cNvPr>
            <p:cNvCxnSpPr>
              <a:cxnSpLocks/>
              <a:stCxn id="11" idx="1"/>
              <a:endCxn id="3" idx="5"/>
            </p:cNvCxnSpPr>
            <p:nvPr/>
          </p:nvCxnSpPr>
          <p:spPr>
            <a:xfrm flipH="1" flipV="1">
              <a:off x="4738632" y="3622956"/>
              <a:ext cx="990583" cy="52109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0BDEB48-8462-B42D-0399-80A1CEBD522C}"/>
                  </a:ext>
                </a:extLst>
              </p:cNvPr>
              <p:cNvSpPr txBox="1"/>
              <p:nvPr/>
            </p:nvSpPr>
            <p:spPr>
              <a:xfrm>
                <a:off x="5007457" y="3705835"/>
                <a:ext cx="51518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E" b="0" i="1" smtClean="0">
                          <a:solidFill>
                            <a:srgbClr val="006D70"/>
                          </a:solidFill>
                          <a:latin typeface="Cambria Math" panose="02040503050406030204" pitchFamily="18" charset="0"/>
                        </a:rPr>
                        <m:t>𝑝𝑟𝑜𝑑𝑢𝑐𝑡𝑖𝑣𝑖𝑡𝑦</m:t>
                      </m:r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S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E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SE" b="0" i="1" smtClean="0">
                              <a:latin typeface="Cambria Math" panose="02040503050406030204" pitchFamily="18" charset="0"/>
                            </a:rPr>
                            <m:t>𝑎𝑖</m:t>
                          </m:r>
                        </m:sub>
                      </m:sSub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SE" b="0" i="1" smtClean="0">
                          <a:solidFill>
                            <a:srgbClr val="D0180A"/>
                          </a:solidFill>
                          <a:latin typeface="Cambria Math" panose="02040503050406030204" pitchFamily="18" charset="0"/>
                        </a:rPr>
                        <m:t>𝐺𝑒𝑛𝐴𝐼</m:t>
                      </m:r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S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E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SE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SE" b="0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𝑚𝑜𝑡𝑖𝑣𝑎𝑡𝑖𝑜𝑛</m:t>
                      </m:r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SE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0BDEB48-8462-B42D-0399-80A1CEBD52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7457" y="3705835"/>
                <a:ext cx="5151860" cy="276999"/>
              </a:xfrm>
              <a:prstGeom prst="rect">
                <a:avLst/>
              </a:prstGeom>
              <a:blipFill>
                <a:blip r:embed="rId3"/>
                <a:stretch>
                  <a:fillRect l="-1300" t="-2222" b="-35556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ight Brace 17">
            <a:extLst>
              <a:ext uri="{FF2B5EF4-FFF2-40B4-BE49-F238E27FC236}">
                <a16:creationId xmlns:a16="http://schemas.microsoft.com/office/drawing/2014/main" id="{46071A0E-3A37-09F4-6096-1C2726DCBD19}"/>
              </a:ext>
            </a:extLst>
          </p:cNvPr>
          <p:cNvSpPr/>
          <p:nvPr/>
        </p:nvSpPr>
        <p:spPr>
          <a:xfrm>
            <a:off x="4157472" y="3121152"/>
            <a:ext cx="499872" cy="1984978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D24D63-F603-EB82-ADB6-CFD27FF70BD2}"/>
              </a:ext>
            </a:extLst>
          </p:cNvPr>
          <p:cNvSpPr txBox="1"/>
          <p:nvPr/>
        </p:nvSpPr>
        <p:spPr>
          <a:xfrm>
            <a:off x="4913376" y="3121152"/>
            <a:ext cx="20533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b="1" dirty="0">
                <a:solidFill>
                  <a:srgbClr val="006D70"/>
                </a:solidFill>
              </a:rPr>
              <a:t>Outcome variable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205C8EB-EDF7-0D34-CEB9-11FEBFA92044}"/>
              </a:ext>
            </a:extLst>
          </p:cNvPr>
          <p:cNvCxnSpPr>
            <a:stCxn id="19" idx="2"/>
          </p:cNvCxnSpPr>
          <p:nvPr/>
        </p:nvCxnSpPr>
        <p:spPr>
          <a:xfrm flipH="1">
            <a:off x="5827776" y="3490484"/>
            <a:ext cx="112260" cy="2153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166375B-AB0D-F13F-A10A-51984D7C2318}"/>
              </a:ext>
            </a:extLst>
          </p:cNvPr>
          <p:cNvSpPr txBox="1"/>
          <p:nvPr/>
        </p:nvSpPr>
        <p:spPr>
          <a:xfrm>
            <a:off x="5575422" y="4231601"/>
            <a:ext cx="21468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E" b="1" dirty="0"/>
              <a:t>Intercept</a:t>
            </a:r>
          </a:p>
          <a:p>
            <a:pPr algn="ctr"/>
            <a:r>
              <a:rPr lang="en-SE" dirty="0"/>
              <a:t>i.e., the baseline outcome value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180E84C-A592-17F1-7F34-145A224C5A04}"/>
              </a:ext>
            </a:extLst>
          </p:cNvPr>
          <p:cNvSpPr txBox="1"/>
          <p:nvPr/>
        </p:nvSpPr>
        <p:spPr>
          <a:xfrm>
            <a:off x="8153400" y="3087736"/>
            <a:ext cx="1271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b="1" dirty="0"/>
              <a:t>Predictors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EE1446-ADCC-6C38-7E86-09430B38C36A}"/>
              </a:ext>
            </a:extLst>
          </p:cNvPr>
          <p:cNvSpPr txBox="1"/>
          <p:nvPr/>
        </p:nvSpPr>
        <p:spPr>
          <a:xfrm>
            <a:off x="6662164" y="5248354"/>
            <a:ext cx="38968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E" b="1" dirty="0"/>
              <a:t>Regression coefficients</a:t>
            </a:r>
          </a:p>
          <a:p>
            <a:pPr algn="ctr"/>
            <a:r>
              <a:rPr lang="en-SE" dirty="0"/>
              <a:t>i.e., the effect of each predictor on the outcome value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FA86138-82CA-2ADC-9FEC-37F0D33E37CE}"/>
              </a:ext>
            </a:extLst>
          </p:cNvPr>
          <p:cNvCxnSpPr>
            <a:cxnSpLocks/>
            <a:stCxn id="33" idx="2"/>
          </p:cNvCxnSpPr>
          <p:nvPr/>
        </p:nvCxnSpPr>
        <p:spPr>
          <a:xfrm flipH="1">
            <a:off x="7789852" y="3457068"/>
            <a:ext cx="999203" cy="2333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A7C5BD5-2E38-53BC-8D82-248885C0765A}"/>
              </a:ext>
            </a:extLst>
          </p:cNvPr>
          <p:cNvCxnSpPr>
            <a:cxnSpLocks/>
            <a:stCxn id="33" idx="2"/>
          </p:cNvCxnSpPr>
          <p:nvPr/>
        </p:nvCxnSpPr>
        <p:spPr>
          <a:xfrm>
            <a:off x="8789055" y="3457068"/>
            <a:ext cx="727282" cy="2487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A92BE1D-97FA-9D2B-DE74-83057BCDC025}"/>
              </a:ext>
            </a:extLst>
          </p:cNvPr>
          <p:cNvCxnSpPr>
            <a:cxnSpLocks/>
            <a:stCxn id="32" idx="0"/>
          </p:cNvCxnSpPr>
          <p:nvPr/>
        </p:nvCxnSpPr>
        <p:spPr>
          <a:xfrm flipV="1">
            <a:off x="6648852" y="4006644"/>
            <a:ext cx="13312" cy="2249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F7E51D0-4863-558D-84C6-EB2AE020DAC7}"/>
              </a:ext>
            </a:extLst>
          </p:cNvPr>
          <p:cNvCxnSpPr>
            <a:cxnSpLocks/>
            <a:stCxn id="34" idx="0"/>
          </p:cNvCxnSpPr>
          <p:nvPr/>
        </p:nvCxnSpPr>
        <p:spPr>
          <a:xfrm flipH="1" flipV="1">
            <a:off x="7265773" y="4167500"/>
            <a:ext cx="1344827" cy="10808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996A7B2-72BD-9DE8-387C-3B98779CA29B}"/>
              </a:ext>
            </a:extLst>
          </p:cNvPr>
          <p:cNvCxnSpPr>
            <a:cxnSpLocks/>
            <a:stCxn id="34" idx="0"/>
          </p:cNvCxnSpPr>
          <p:nvPr/>
        </p:nvCxnSpPr>
        <p:spPr>
          <a:xfrm flipH="1" flipV="1">
            <a:off x="8610599" y="4074077"/>
            <a:ext cx="1" cy="11742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17665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 animBg="1"/>
      <p:bldP spid="19" grpId="0"/>
      <p:bldP spid="32" grpId="0"/>
      <p:bldP spid="33" grpId="0"/>
      <p:bldP spid="3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B9981-CF84-C811-3DA1-CCCE57530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120B525B-E124-70AC-FD3C-42EEDB923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Bayesian Regression Models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6C1A88C-BD68-072B-8250-268DAC5341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397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E" dirty="0"/>
              <a:t>A regression model contains two types of terms: </a:t>
            </a:r>
          </a:p>
          <a:p>
            <a:pPr marL="514350" indent="-514350">
              <a:buFont typeface="+mj-lt"/>
              <a:buAutoNum type="arabicPeriod"/>
            </a:pPr>
            <a:r>
              <a:rPr lang="en-SE" b="1" dirty="0"/>
              <a:t>Variables</a:t>
            </a:r>
            <a:r>
              <a:rPr lang="en-SE" dirty="0"/>
              <a:t> representing the values of events, and</a:t>
            </a:r>
          </a:p>
          <a:p>
            <a:pPr marL="514350" indent="-514350">
              <a:buFont typeface="+mj-lt"/>
              <a:buAutoNum type="arabicPeriod"/>
            </a:pPr>
            <a:r>
              <a:rPr lang="en-SE" b="1" dirty="0"/>
              <a:t>Coefficients</a:t>
            </a:r>
            <a:r>
              <a:rPr lang="en-SE" dirty="0"/>
              <a:t> representing the impact of these variables on each other.</a:t>
            </a:r>
            <a:endParaRPr lang="en-SE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286E81-6779-5008-2C9F-41E372C28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1BC485-5AC3-93D5-F224-485DB0B9D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52C60-2336-1338-CE63-2CECB3A6E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pPr/>
              <a:t>24</a:t>
            </a:fld>
            <a:endParaRPr lang="en-SE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F617B7F-01E6-BBD4-80F7-E5C659341A7A}"/>
              </a:ext>
            </a:extLst>
          </p:cNvPr>
          <p:cNvGrpSpPr/>
          <p:nvPr/>
        </p:nvGrpSpPr>
        <p:grpSpPr>
          <a:xfrm>
            <a:off x="1415806" y="4369622"/>
            <a:ext cx="3192807" cy="1569086"/>
            <a:chOff x="4206624" y="2882244"/>
            <a:chExt cx="3192807" cy="1569086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63CD5B4-0123-7D7A-E28F-00C52E69EF19}"/>
                </a:ext>
              </a:extLst>
            </p:cNvPr>
            <p:cNvSpPr/>
            <p:nvPr/>
          </p:nvSpPr>
          <p:spPr>
            <a:xfrm>
              <a:off x="4431353" y="3315677"/>
              <a:ext cx="360000" cy="360000"/>
            </a:xfrm>
            <a:prstGeom prst="ellipse">
              <a:avLst/>
            </a:prstGeom>
            <a:solidFill>
              <a:srgbClr val="F8766D"/>
            </a:solidFill>
            <a:ln>
              <a:solidFill>
                <a:srgbClr val="D0180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noProof="0" dirty="0">
                  <a:solidFill>
                    <a:srgbClr val="D0180A"/>
                  </a:solidFill>
                </a:rPr>
                <a:t>x</a:t>
              </a:r>
              <a:endParaRPr lang="en-US" noProof="0" dirty="0">
                <a:solidFill>
                  <a:srgbClr val="D0180A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3F2DF05-627E-2FB2-9378-DD8D68D1E0B2}"/>
                </a:ext>
              </a:extLst>
            </p:cNvPr>
            <p:cNvSpPr/>
            <p:nvPr/>
          </p:nvSpPr>
          <p:spPr>
            <a:xfrm>
              <a:off x="6922733" y="3315677"/>
              <a:ext cx="360000" cy="360000"/>
            </a:xfrm>
            <a:prstGeom prst="ellipse">
              <a:avLst/>
            </a:prstGeom>
            <a:solidFill>
              <a:srgbClr val="00BFC4"/>
            </a:solidFill>
            <a:ln>
              <a:solidFill>
                <a:srgbClr val="006D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noProof="0" dirty="0">
                  <a:solidFill>
                    <a:srgbClr val="006D70"/>
                  </a:solidFill>
                </a:rPr>
                <a:t>y</a:t>
              </a:r>
              <a:endParaRPr lang="en-US" noProof="0" dirty="0">
                <a:solidFill>
                  <a:srgbClr val="006D70"/>
                </a:solidFill>
              </a:endParaRP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37B3F425-0FB6-59BA-92AC-F74385DC664E}"/>
                </a:ext>
              </a:extLst>
            </p:cNvPr>
            <p:cNvCxnSpPr>
              <a:stCxn id="22" idx="6"/>
              <a:endCxn id="23" idx="2"/>
            </p:cNvCxnSpPr>
            <p:nvPr/>
          </p:nvCxnSpPr>
          <p:spPr>
            <a:xfrm>
              <a:off x="4791353" y="3495677"/>
              <a:ext cx="21313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8BADAD7-5D58-54B4-1568-C7C2D836E681}"/>
                </a:ext>
              </a:extLst>
            </p:cNvPr>
            <p:cNvSpPr txBox="1"/>
            <p:nvPr/>
          </p:nvSpPr>
          <p:spPr>
            <a:xfrm>
              <a:off x="4206624" y="2882249"/>
              <a:ext cx="1522591" cy="369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de-DE" noProof="0" dirty="0">
                  <a:solidFill>
                    <a:srgbClr val="D0180A"/>
                  </a:solidFill>
                </a:rPr>
                <a:t>u</a:t>
              </a:r>
              <a:r>
                <a:rPr lang="en-SE" noProof="0" dirty="0">
                  <a:solidFill>
                    <a:srgbClr val="D0180A"/>
                  </a:solidFill>
                </a:rPr>
                <a:t>se of GenAI</a:t>
              </a:r>
              <a:endParaRPr lang="en-US" noProof="0" dirty="0">
                <a:solidFill>
                  <a:srgbClr val="D0180A"/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95BE21E-7449-9C90-AEF4-1AF18988317C}"/>
                </a:ext>
              </a:extLst>
            </p:cNvPr>
            <p:cNvSpPr txBox="1"/>
            <p:nvPr/>
          </p:nvSpPr>
          <p:spPr>
            <a:xfrm>
              <a:off x="6036494" y="2882244"/>
              <a:ext cx="13629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E" noProof="0" dirty="0">
                  <a:solidFill>
                    <a:srgbClr val="006D70"/>
                  </a:solidFill>
                </a:rPr>
                <a:t>productivity</a:t>
              </a:r>
              <a:endParaRPr lang="en-US" noProof="0" dirty="0">
                <a:solidFill>
                  <a:srgbClr val="006D70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453EADC-CD2A-A77D-E57B-527C2A22F0F1}"/>
                </a:ext>
              </a:extLst>
            </p:cNvPr>
            <p:cNvSpPr/>
            <p:nvPr/>
          </p:nvSpPr>
          <p:spPr>
            <a:xfrm>
              <a:off x="5676494" y="4091330"/>
              <a:ext cx="360000" cy="36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noProof="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</a:t>
              </a:r>
              <a:endParaRPr lang="en-US" noProof="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42160D4-30E1-DC4D-8CDA-FCEF35596258}"/>
                </a:ext>
              </a:extLst>
            </p:cNvPr>
            <p:cNvSpPr txBox="1"/>
            <p:nvPr/>
          </p:nvSpPr>
          <p:spPr>
            <a:xfrm>
              <a:off x="6036494" y="4081998"/>
              <a:ext cx="12462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motivation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76F3BC82-8537-2B2E-2FC3-775961F9C246}"/>
                </a:ext>
              </a:extLst>
            </p:cNvPr>
            <p:cNvCxnSpPr>
              <a:cxnSpLocks/>
              <a:stCxn id="27" idx="7"/>
              <a:endCxn id="23" idx="3"/>
            </p:cNvCxnSpPr>
            <p:nvPr/>
          </p:nvCxnSpPr>
          <p:spPr>
            <a:xfrm flipV="1">
              <a:off x="5983773" y="3622956"/>
              <a:ext cx="991681" cy="52109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3C8877AF-87D2-8656-E063-83C7925AF49C}"/>
                </a:ext>
              </a:extLst>
            </p:cNvPr>
            <p:cNvCxnSpPr>
              <a:cxnSpLocks/>
              <a:stCxn id="27" idx="1"/>
              <a:endCxn id="22" idx="5"/>
            </p:cNvCxnSpPr>
            <p:nvPr/>
          </p:nvCxnSpPr>
          <p:spPr>
            <a:xfrm flipH="1" flipV="1">
              <a:off x="4738632" y="3622956"/>
              <a:ext cx="990583" cy="52109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E4569C1-F2B0-F50B-8D19-60BCC80DC0C3}"/>
                  </a:ext>
                </a:extLst>
              </p:cNvPr>
              <p:cNvSpPr txBox="1"/>
              <p:nvPr/>
            </p:nvSpPr>
            <p:spPr>
              <a:xfrm>
                <a:off x="5577470" y="4803055"/>
                <a:ext cx="51518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E" b="0" i="1" smtClean="0">
                          <a:solidFill>
                            <a:srgbClr val="006D70"/>
                          </a:solidFill>
                          <a:latin typeface="Cambria Math" panose="02040503050406030204" pitchFamily="18" charset="0"/>
                        </a:rPr>
                        <m:t>𝑝𝑟𝑜𝑑𝑢𝑐𝑡𝑖𝑣𝑖𝑡𝑦</m:t>
                      </m:r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S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E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SE" b="0" i="1" smtClean="0">
                              <a:latin typeface="Cambria Math" panose="02040503050406030204" pitchFamily="18" charset="0"/>
                            </a:rPr>
                            <m:t>𝑎𝑖</m:t>
                          </m:r>
                        </m:sub>
                      </m:sSub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SE" b="0" i="1" smtClean="0">
                          <a:solidFill>
                            <a:srgbClr val="D0180A"/>
                          </a:solidFill>
                          <a:latin typeface="Cambria Math" panose="02040503050406030204" pitchFamily="18" charset="0"/>
                        </a:rPr>
                        <m:t>𝐺𝑒𝑛𝐴𝐼</m:t>
                      </m:r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S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E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SE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SE" b="0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𝑚𝑜𝑡𝑖𝑣𝑎𝑡𝑖𝑜𝑛</m:t>
                      </m:r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SE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E4569C1-F2B0-F50B-8D19-60BCC80DC0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7470" y="4803055"/>
                <a:ext cx="5151860" cy="276999"/>
              </a:xfrm>
              <a:prstGeom prst="rect">
                <a:avLst/>
              </a:prstGeom>
              <a:blipFill>
                <a:blip r:embed="rId3"/>
                <a:stretch>
                  <a:fillRect l="-1302" t="-2222" b="-35556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ight Brace 35">
            <a:extLst>
              <a:ext uri="{FF2B5EF4-FFF2-40B4-BE49-F238E27FC236}">
                <a16:creationId xmlns:a16="http://schemas.microsoft.com/office/drawing/2014/main" id="{57E5E0AA-74E6-0731-2FB9-F9F9027B12B2}"/>
              </a:ext>
            </a:extLst>
          </p:cNvPr>
          <p:cNvSpPr/>
          <p:nvPr/>
        </p:nvSpPr>
        <p:spPr>
          <a:xfrm>
            <a:off x="4727485" y="4218372"/>
            <a:ext cx="499872" cy="1984978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5E675E4-EA43-96A0-BEA0-767678FA2148}"/>
                  </a:ext>
                </a:extLst>
              </p:cNvPr>
              <p:cNvSpPr txBox="1"/>
              <p:nvPr/>
            </p:nvSpPr>
            <p:spPr>
              <a:xfrm>
                <a:off x="2885676" y="4651794"/>
                <a:ext cx="35169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E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SE" b="0" i="1" smtClean="0">
                              <a:latin typeface="Cambria Math" panose="02040503050406030204" pitchFamily="18" charset="0"/>
                            </a:rPr>
                            <m:t>𝑎𝑖</m:t>
                          </m:r>
                        </m:sub>
                      </m:sSub>
                    </m:oMath>
                  </m:oMathPara>
                </a14:m>
                <a:endParaRPr lang="en-SE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5E675E4-EA43-96A0-BEA0-767678FA21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5676" y="4651794"/>
                <a:ext cx="351699" cy="276999"/>
              </a:xfrm>
              <a:prstGeom prst="rect">
                <a:avLst/>
              </a:prstGeom>
              <a:blipFill>
                <a:blip r:embed="rId4"/>
                <a:stretch>
                  <a:fillRect l="-24138" t="-2174" r="-5172" b="-32609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06C18B1-9AD7-AFCE-F211-D195FF945F04}"/>
                  </a:ext>
                </a:extLst>
              </p:cNvPr>
              <p:cNvSpPr txBox="1"/>
              <p:nvPr/>
            </p:nvSpPr>
            <p:spPr>
              <a:xfrm>
                <a:off x="3878847" y="5290333"/>
                <a:ext cx="35169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E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SE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SE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06C18B1-9AD7-AFCE-F211-D195FF945F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8847" y="5290333"/>
                <a:ext cx="351699" cy="276999"/>
              </a:xfrm>
              <a:prstGeom prst="rect">
                <a:avLst/>
              </a:prstGeom>
              <a:blipFill>
                <a:blip r:embed="rId5"/>
                <a:stretch>
                  <a:fillRect l="-22414" t="-2222" b="-35556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D7CCCBDB-40C1-102E-FAC9-DDBD86F3F679}"/>
              </a:ext>
            </a:extLst>
          </p:cNvPr>
          <p:cNvGrpSpPr/>
          <p:nvPr/>
        </p:nvGrpSpPr>
        <p:grpSpPr>
          <a:xfrm>
            <a:off x="5586903" y="3981665"/>
            <a:ext cx="4395297" cy="540000"/>
            <a:chOff x="5577470" y="3964861"/>
            <a:chExt cx="4395297" cy="540000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090E8BC-4CD3-5D57-9994-5838101C4B4D}"/>
                </a:ext>
              </a:extLst>
            </p:cNvPr>
            <p:cNvSpPr txBox="1"/>
            <p:nvPr/>
          </p:nvSpPr>
          <p:spPr>
            <a:xfrm>
              <a:off x="6090422" y="4050195"/>
              <a:ext cx="38823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E" b="1" dirty="0"/>
                <a:t>Variables</a:t>
              </a:r>
              <a:r>
                <a:rPr lang="en-SE" dirty="0"/>
                <a:t> filled in with collected data</a:t>
              </a:r>
            </a:p>
          </p:txBody>
        </p:sp>
        <p:pic>
          <p:nvPicPr>
            <p:cNvPr id="43" name="Graphic 42" descr="Database with solid fill">
              <a:extLst>
                <a:ext uri="{FF2B5EF4-FFF2-40B4-BE49-F238E27FC236}">
                  <a16:creationId xmlns:a16="http://schemas.microsoft.com/office/drawing/2014/main" id="{BD830688-7638-8DCE-D533-49C74FFA4EB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577470" y="3964861"/>
              <a:ext cx="540000" cy="540000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F5B4F4F-A1B6-928F-2D3B-121D555569FC}"/>
              </a:ext>
            </a:extLst>
          </p:cNvPr>
          <p:cNvGrpSpPr/>
          <p:nvPr/>
        </p:nvGrpSpPr>
        <p:grpSpPr>
          <a:xfrm>
            <a:off x="5586903" y="5484042"/>
            <a:ext cx="5636470" cy="540000"/>
            <a:chOff x="5577470" y="3964861"/>
            <a:chExt cx="5636470" cy="540000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FCED700-5FC6-2CDF-3773-597E183ACC5D}"/>
                </a:ext>
              </a:extLst>
            </p:cNvPr>
            <p:cNvSpPr txBox="1"/>
            <p:nvPr/>
          </p:nvSpPr>
          <p:spPr>
            <a:xfrm>
              <a:off x="6090422" y="4050195"/>
              <a:ext cx="51235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E" b="1" dirty="0"/>
                <a:t>Coefficients</a:t>
              </a:r>
              <a:r>
                <a:rPr lang="en-SE" dirty="0"/>
                <a:t> filled in with </a:t>
              </a:r>
              <a:r>
                <a:rPr lang="en-SE" i="1" dirty="0"/>
                <a:t>probability distributions</a:t>
              </a:r>
            </a:p>
          </p:txBody>
        </p:sp>
        <p:pic>
          <p:nvPicPr>
            <p:cNvPr id="49" name="Graphic 48" descr="Normal Distribution with solid fill">
              <a:extLst>
                <a:ext uri="{FF2B5EF4-FFF2-40B4-BE49-F238E27FC236}">
                  <a16:creationId xmlns:a16="http://schemas.microsoft.com/office/drawing/2014/main" id="{2C142C22-5646-EE29-652F-1ACA2B28E44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5577470" y="3964861"/>
              <a:ext cx="540000" cy="540000"/>
            </a:xfrm>
            <a:prstGeom prst="rect">
              <a:avLst/>
            </a:prstGeom>
          </p:spPr>
        </p:pic>
      </p:grp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9F3B0E5F-2DB0-2424-6902-6EF913063986}"/>
              </a:ext>
            </a:extLst>
          </p:cNvPr>
          <p:cNvCxnSpPr>
            <a:cxnSpLocks/>
          </p:cNvCxnSpPr>
          <p:nvPr/>
        </p:nvCxnSpPr>
        <p:spPr>
          <a:xfrm>
            <a:off x="6303264" y="4519572"/>
            <a:ext cx="0" cy="2686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C503A38-E4BA-B5D9-EDEA-158270BAEBF6}"/>
              </a:ext>
            </a:extLst>
          </p:cNvPr>
          <p:cNvCxnSpPr>
            <a:cxnSpLocks/>
          </p:cNvCxnSpPr>
          <p:nvPr/>
        </p:nvCxnSpPr>
        <p:spPr>
          <a:xfrm>
            <a:off x="8375904" y="4519572"/>
            <a:ext cx="0" cy="2686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442D2B2-8058-3A2E-976B-EA67F99429B8}"/>
              </a:ext>
            </a:extLst>
          </p:cNvPr>
          <p:cNvCxnSpPr>
            <a:cxnSpLocks/>
          </p:cNvCxnSpPr>
          <p:nvPr/>
        </p:nvCxnSpPr>
        <p:spPr>
          <a:xfrm>
            <a:off x="9727184" y="4519572"/>
            <a:ext cx="0" cy="2686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D7A3DC62-8E57-85EB-7F3D-F058BD629187}"/>
              </a:ext>
            </a:extLst>
          </p:cNvPr>
          <p:cNvCxnSpPr>
            <a:cxnSpLocks/>
          </p:cNvCxnSpPr>
          <p:nvPr/>
        </p:nvCxnSpPr>
        <p:spPr>
          <a:xfrm flipV="1">
            <a:off x="7258304" y="5165544"/>
            <a:ext cx="0" cy="318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935AF7F-79C5-279E-5E6B-C4A71D212475}"/>
              </a:ext>
            </a:extLst>
          </p:cNvPr>
          <p:cNvCxnSpPr>
            <a:cxnSpLocks/>
          </p:cNvCxnSpPr>
          <p:nvPr/>
        </p:nvCxnSpPr>
        <p:spPr>
          <a:xfrm flipV="1">
            <a:off x="7725664" y="5171577"/>
            <a:ext cx="0" cy="318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DFFC26C3-EA05-70E4-1554-41C22E081C15}"/>
              </a:ext>
            </a:extLst>
          </p:cNvPr>
          <p:cNvCxnSpPr>
            <a:cxnSpLocks/>
          </p:cNvCxnSpPr>
          <p:nvPr/>
        </p:nvCxnSpPr>
        <p:spPr>
          <a:xfrm flipV="1">
            <a:off x="9076944" y="5172530"/>
            <a:ext cx="0" cy="318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15678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72CA6-EFB3-53DC-9241-8B01F54DD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Bayesian Regression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3B516-0FFF-F3BC-F734-E03A61250B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068371"/>
          </a:xfrm>
        </p:spPr>
        <p:txBody>
          <a:bodyPr/>
          <a:lstStyle/>
          <a:p>
            <a:pPr marL="0" indent="0">
              <a:buNone/>
            </a:pPr>
            <a:r>
              <a:rPr lang="en-SE" dirty="0"/>
              <a:t>The process of training a Bayesian regression model is based on applying Bayes theorem: in order for the </a:t>
            </a:r>
            <a:r>
              <a:rPr lang="en-SE" dirty="0">
                <a:solidFill>
                  <a:schemeClr val="accent1">
                    <a:lumMod val="75000"/>
                  </a:schemeClr>
                </a:solidFill>
              </a:rPr>
              <a:t>regression coefficients </a:t>
            </a:r>
            <a:r>
              <a:rPr lang="en-SE" dirty="0"/>
              <a:t>to represent the impact of variables, </a:t>
            </a:r>
            <a:r>
              <a:rPr lang="en-SE" dirty="0">
                <a:solidFill>
                  <a:schemeClr val="accent2">
                    <a:lumMod val="75000"/>
                  </a:schemeClr>
                </a:solidFill>
              </a:rPr>
              <a:t>prior probability distributions </a:t>
            </a:r>
            <a:r>
              <a:rPr lang="en-SE" dirty="0"/>
              <a:t>are updated in light of </a:t>
            </a:r>
            <a:r>
              <a:rPr lang="en-SE" dirty="0">
                <a:solidFill>
                  <a:schemeClr val="accent6">
                    <a:lumMod val="75000"/>
                  </a:schemeClr>
                </a:solidFill>
              </a:rPr>
              <a:t>the data </a:t>
            </a:r>
            <a:r>
              <a:rPr lang="en-SE" dirty="0"/>
              <a:t>to yield </a:t>
            </a:r>
            <a:r>
              <a:rPr lang="en-SE" dirty="0">
                <a:solidFill>
                  <a:schemeClr val="bg2">
                    <a:lumMod val="75000"/>
                  </a:schemeClr>
                </a:solidFill>
              </a:rPr>
              <a:t>posterior probability distributions</a:t>
            </a:r>
            <a:r>
              <a:rPr lang="en-SE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259B06-BD7B-2C8E-63DA-09C03858A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B9C8C-B1D3-1D8C-B6A1-7446808D6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EE456-DBD0-F34A-0F04-8198F2722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25</a:t>
            </a:fld>
            <a:endParaRPr lang="en-S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C07A629-4615-CF23-2A1A-EF7B1C91168E}"/>
                  </a:ext>
                </a:extLst>
              </p:cNvPr>
              <p:cNvSpPr txBox="1"/>
              <p:nvPr/>
            </p:nvSpPr>
            <p:spPr>
              <a:xfrm>
                <a:off x="3520070" y="4247001"/>
                <a:ext cx="51518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E" b="0" i="1" smtClean="0">
                          <a:solidFill>
                            <a:srgbClr val="006D70"/>
                          </a:solidFill>
                          <a:latin typeface="Cambria Math" panose="02040503050406030204" pitchFamily="18" charset="0"/>
                        </a:rPr>
                        <m:t>𝑝𝑟𝑜𝑑𝑢𝑐𝑡𝑖𝑣𝑖𝑡𝑦</m:t>
                      </m:r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S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E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SE" b="0" i="1" smtClean="0">
                              <a:latin typeface="Cambria Math" panose="02040503050406030204" pitchFamily="18" charset="0"/>
                            </a:rPr>
                            <m:t>𝑎𝑖</m:t>
                          </m:r>
                        </m:sub>
                      </m:sSub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SE" b="0" i="1" smtClean="0">
                          <a:solidFill>
                            <a:srgbClr val="D0180A"/>
                          </a:solidFill>
                          <a:latin typeface="Cambria Math" panose="02040503050406030204" pitchFamily="18" charset="0"/>
                        </a:rPr>
                        <m:t>𝐺𝑒𝑛𝐴𝐼</m:t>
                      </m:r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S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E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SE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SE" b="0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𝑚𝑜𝑡𝑖𝑣𝑎𝑡𝑖𝑜𝑛</m:t>
                      </m:r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SE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C07A629-4615-CF23-2A1A-EF7B1C9116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0070" y="4247001"/>
                <a:ext cx="5151860" cy="276999"/>
              </a:xfrm>
              <a:prstGeom prst="rect">
                <a:avLst/>
              </a:prstGeom>
              <a:blipFill>
                <a:blip r:embed="rId2"/>
                <a:stretch>
                  <a:fillRect l="-1300" t="-4444" b="-35556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8C9ED6FC-56BE-4062-1C21-73AE3CB88509}"/>
              </a:ext>
            </a:extLst>
          </p:cNvPr>
          <p:cNvGrpSpPr/>
          <p:nvPr/>
        </p:nvGrpSpPr>
        <p:grpSpPr>
          <a:xfrm>
            <a:off x="4403555" y="4888161"/>
            <a:ext cx="2226306" cy="540000"/>
            <a:chOff x="5577470" y="3964861"/>
            <a:chExt cx="2226306" cy="54000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AF68A61-5D58-747D-7CA4-4B44E48783B3}"/>
                </a:ext>
              </a:extLst>
            </p:cNvPr>
            <p:cNvSpPr txBox="1"/>
            <p:nvPr/>
          </p:nvSpPr>
          <p:spPr>
            <a:xfrm>
              <a:off x="6090422" y="4050195"/>
              <a:ext cx="17133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E" b="1" dirty="0"/>
                <a:t>Observed data</a:t>
              </a:r>
              <a:endParaRPr lang="en-SE" dirty="0"/>
            </a:p>
          </p:txBody>
        </p:sp>
        <p:pic>
          <p:nvPicPr>
            <p:cNvPr id="10" name="Graphic 9" descr="Database with solid fill">
              <a:extLst>
                <a:ext uri="{FF2B5EF4-FFF2-40B4-BE49-F238E27FC236}">
                  <a16:creationId xmlns:a16="http://schemas.microsoft.com/office/drawing/2014/main" id="{B9AF8CE0-7B97-DDF9-24A0-F42425106D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577470" y="3964861"/>
              <a:ext cx="540000" cy="540000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A320F6E-5874-DF76-BC61-6A6E10222B52}"/>
              </a:ext>
            </a:extLst>
          </p:cNvPr>
          <p:cNvGrpSpPr/>
          <p:nvPr/>
        </p:nvGrpSpPr>
        <p:grpSpPr>
          <a:xfrm>
            <a:off x="1409032" y="4834996"/>
            <a:ext cx="2590511" cy="646331"/>
            <a:chOff x="5577470" y="3907025"/>
            <a:chExt cx="2590511" cy="64633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EB801E6-773A-52A2-1DCF-64E1729F9A48}"/>
                </a:ext>
              </a:extLst>
            </p:cNvPr>
            <p:cNvSpPr txBox="1"/>
            <p:nvPr/>
          </p:nvSpPr>
          <p:spPr>
            <a:xfrm>
              <a:off x="6090422" y="3907025"/>
              <a:ext cx="207755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E" b="1" dirty="0"/>
                <a:t>Prior probability distribution</a:t>
              </a:r>
              <a:endParaRPr lang="en-SE" i="1" dirty="0"/>
            </a:p>
          </p:txBody>
        </p:sp>
        <p:pic>
          <p:nvPicPr>
            <p:cNvPr id="13" name="Graphic 12" descr="Normal Distribution with solid fill">
              <a:extLst>
                <a:ext uri="{FF2B5EF4-FFF2-40B4-BE49-F238E27FC236}">
                  <a16:creationId xmlns:a16="http://schemas.microsoft.com/office/drawing/2014/main" id="{8E65A767-AC16-8ED3-7F8D-D5B34D8CE5E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5577470" y="3964861"/>
              <a:ext cx="540000" cy="540000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B56CC90-634B-594A-65B2-70A91C77ABAA}"/>
              </a:ext>
            </a:extLst>
          </p:cNvPr>
          <p:cNvGrpSpPr/>
          <p:nvPr/>
        </p:nvGrpSpPr>
        <p:grpSpPr>
          <a:xfrm>
            <a:off x="7033874" y="4834996"/>
            <a:ext cx="3012895" cy="646331"/>
            <a:chOff x="5577470" y="3911695"/>
            <a:chExt cx="3012895" cy="64633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936E686-3F6F-C376-5581-097B59C5AAC8}"/>
                </a:ext>
              </a:extLst>
            </p:cNvPr>
            <p:cNvSpPr txBox="1"/>
            <p:nvPr/>
          </p:nvSpPr>
          <p:spPr>
            <a:xfrm>
              <a:off x="6117470" y="3911695"/>
              <a:ext cx="247289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E" b="1" dirty="0"/>
                <a:t>Posterior probability distribution</a:t>
              </a:r>
              <a:endParaRPr lang="en-SE" i="1" dirty="0"/>
            </a:p>
          </p:txBody>
        </p:sp>
        <p:pic>
          <p:nvPicPr>
            <p:cNvPr id="16" name="Graphic 15" descr="Normal Distribution with solid fill">
              <a:extLst>
                <a:ext uri="{FF2B5EF4-FFF2-40B4-BE49-F238E27FC236}">
                  <a16:creationId xmlns:a16="http://schemas.microsoft.com/office/drawing/2014/main" id="{FCCFF16C-F898-AC71-1607-CD9291FBEAA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5577470" y="3964861"/>
              <a:ext cx="540000" cy="540000"/>
            </a:xfrm>
            <a:prstGeom prst="rect">
              <a:avLst/>
            </a:prstGeom>
          </p:spPr>
        </p:pic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D444183-C153-DF74-6B5B-FD61A89B2BD2}"/>
              </a:ext>
            </a:extLst>
          </p:cNvPr>
          <p:cNvCxnSpPr>
            <a:stCxn id="12" idx="3"/>
            <a:endCxn id="10" idx="1"/>
          </p:cNvCxnSpPr>
          <p:nvPr/>
        </p:nvCxnSpPr>
        <p:spPr>
          <a:xfrm flipV="1">
            <a:off x="3999543" y="5158161"/>
            <a:ext cx="40401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F4B87B4-D05A-659A-B51A-DF7DB8CF630C}"/>
              </a:ext>
            </a:extLst>
          </p:cNvPr>
          <p:cNvCxnSpPr>
            <a:cxnSpLocks/>
            <a:stCxn id="9" idx="3"/>
            <a:endCxn id="16" idx="1"/>
          </p:cNvCxnSpPr>
          <p:nvPr/>
        </p:nvCxnSpPr>
        <p:spPr>
          <a:xfrm>
            <a:off x="6629861" y="5158161"/>
            <a:ext cx="40401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Left Brace 22">
            <a:extLst>
              <a:ext uri="{FF2B5EF4-FFF2-40B4-BE49-F238E27FC236}">
                <a16:creationId xmlns:a16="http://schemas.microsoft.com/office/drawing/2014/main" id="{8B3045EA-4D79-580E-F1AB-9C812D867A89}"/>
              </a:ext>
            </a:extLst>
          </p:cNvPr>
          <p:cNvSpPr/>
          <p:nvPr/>
        </p:nvSpPr>
        <p:spPr>
          <a:xfrm rot="5400000">
            <a:off x="5558410" y="453453"/>
            <a:ext cx="251754" cy="8550510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9408054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32C15-D017-58AF-5266-FE0959922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Bayesian Regression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CAE50-D9FE-5A76-E2FB-A111CA911D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17575"/>
          </a:xfrm>
        </p:spPr>
        <p:txBody>
          <a:bodyPr/>
          <a:lstStyle/>
          <a:p>
            <a:pPr marL="0" indent="0">
              <a:buNone/>
            </a:pPr>
            <a:r>
              <a:rPr lang="en-SE" dirty="0"/>
              <a:t>Selecting priors for a regression coefficient means assigning a probability distribution to it.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BBD81-0389-19B8-834D-5F70E39B3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96AB73-E9B7-DC53-0418-D2CA6F96C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9BC55-9032-87DF-7954-052D30F60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26</a:t>
            </a:fld>
            <a:endParaRPr lang="en-S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BF0BBBD-3A58-F69B-985C-F973B248CCDD}"/>
                  </a:ext>
                </a:extLst>
              </p:cNvPr>
              <p:cNvSpPr txBox="1"/>
              <p:nvPr/>
            </p:nvSpPr>
            <p:spPr>
              <a:xfrm>
                <a:off x="3581400" y="2878137"/>
                <a:ext cx="51518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E" b="0" i="1" smtClean="0">
                          <a:solidFill>
                            <a:srgbClr val="006D70"/>
                          </a:solidFill>
                          <a:latin typeface="Cambria Math" panose="02040503050406030204" pitchFamily="18" charset="0"/>
                        </a:rPr>
                        <m:t>𝑝𝑟𝑜𝑑𝑢𝑐𝑡𝑖𝑣𝑖𝑡𝑦</m:t>
                      </m:r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S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E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SE" b="0" i="1" smtClean="0">
                              <a:latin typeface="Cambria Math" panose="02040503050406030204" pitchFamily="18" charset="0"/>
                            </a:rPr>
                            <m:t>𝑎𝑖</m:t>
                          </m:r>
                        </m:sub>
                      </m:sSub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SE" b="0" i="1" smtClean="0">
                          <a:solidFill>
                            <a:srgbClr val="D0180A"/>
                          </a:solidFill>
                          <a:latin typeface="Cambria Math" panose="02040503050406030204" pitchFamily="18" charset="0"/>
                        </a:rPr>
                        <m:t>𝐺𝑒𝑛𝐴𝐼</m:t>
                      </m:r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S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E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SE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SE" b="0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𝑚𝑜𝑡𝑖𝑣𝑎𝑡𝑖𝑜𝑛</m:t>
                      </m:r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SE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BF0BBBD-3A58-F69B-985C-F973B248CC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400" y="2878137"/>
                <a:ext cx="5151860" cy="276999"/>
              </a:xfrm>
              <a:prstGeom prst="rect">
                <a:avLst/>
              </a:prstGeom>
              <a:blipFill>
                <a:blip r:embed="rId3"/>
                <a:stretch>
                  <a:fillRect l="-1302" t="-2174" b="-32609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B441EEA-22F4-0E2D-0583-B26A3BF2DC6E}"/>
                  </a:ext>
                </a:extLst>
              </p:cNvPr>
              <p:cNvSpPr txBox="1"/>
              <p:nvPr/>
            </p:nvSpPr>
            <p:spPr>
              <a:xfrm>
                <a:off x="4722341" y="3429000"/>
                <a:ext cx="214687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= 5, </m:t>
                      </m:r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=2)</m:t>
                      </m:r>
                    </m:oMath>
                  </m:oMathPara>
                </a14:m>
                <a:endParaRPr lang="en-SE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B441EEA-22F4-0E2D-0583-B26A3BF2DC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2341" y="3429000"/>
                <a:ext cx="2146870" cy="276999"/>
              </a:xfrm>
              <a:prstGeom prst="rect">
                <a:avLst/>
              </a:prstGeom>
              <a:blipFill>
                <a:blip r:embed="rId4"/>
                <a:stretch>
                  <a:fillRect t="-4444" r="-2557" b="-33333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2A38C87-74B9-CECD-CC44-996B505C0D7A}"/>
                  </a:ext>
                </a:extLst>
              </p:cNvPr>
              <p:cNvSpPr txBox="1"/>
              <p:nvPr/>
            </p:nvSpPr>
            <p:spPr>
              <a:xfrm>
                <a:off x="4582658" y="3820302"/>
                <a:ext cx="220464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E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SE" b="0" i="1" smtClean="0">
                              <a:latin typeface="Cambria Math" panose="02040503050406030204" pitchFamily="18" charset="0"/>
                            </a:rPr>
                            <m:t>𝑎𝑖</m:t>
                          </m:r>
                        </m:sub>
                      </m:sSub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=0, </m:t>
                      </m:r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=1)</m:t>
                      </m:r>
                    </m:oMath>
                  </m:oMathPara>
                </a14:m>
                <a:endParaRPr lang="en-SE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2A38C87-74B9-CECD-CC44-996B505C0D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2658" y="3820302"/>
                <a:ext cx="2204642" cy="276999"/>
              </a:xfrm>
              <a:prstGeom prst="rect">
                <a:avLst/>
              </a:prstGeom>
              <a:blipFill>
                <a:blip r:embed="rId5"/>
                <a:stretch>
                  <a:fillRect l="-3601" t="-4444" r="-3878" b="-35556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065FC65-1708-4D16-55CD-299240174CA0}"/>
                  </a:ext>
                </a:extLst>
              </p:cNvPr>
              <p:cNvSpPr txBox="1"/>
              <p:nvPr/>
            </p:nvSpPr>
            <p:spPr>
              <a:xfrm>
                <a:off x="4582658" y="4205307"/>
                <a:ext cx="237007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E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SE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=3, </m:t>
                      </m:r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=0.5)</m:t>
                      </m:r>
                    </m:oMath>
                  </m:oMathPara>
                </a14:m>
                <a:endParaRPr lang="en-SE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065FC65-1708-4D16-55CD-299240174C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2658" y="4205307"/>
                <a:ext cx="2370072" cy="276999"/>
              </a:xfrm>
              <a:prstGeom prst="rect">
                <a:avLst/>
              </a:prstGeom>
              <a:blipFill>
                <a:blip r:embed="rId6"/>
                <a:stretch>
                  <a:fillRect l="-3085" t="-2222" r="-3342" b="-35556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DCF5038-176E-D1CE-DA2A-8E6A3BD3181B}"/>
              </a:ext>
            </a:extLst>
          </p:cNvPr>
          <p:cNvSpPr txBox="1">
            <a:spLocks/>
          </p:cNvSpPr>
          <p:nvPr/>
        </p:nvSpPr>
        <p:spPr>
          <a:xfrm>
            <a:off x="838198" y="4955397"/>
            <a:ext cx="10515600" cy="9175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SE" dirty="0"/>
              <a:t>Priors regularize: surprising results require strong evidence. Additionally, priors can be refined iteratively from study to study.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9FDD63-9314-9804-EA9C-11C3EA4A75AA}"/>
              </a:ext>
            </a:extLst>
          </p:cNvPr>
          <p:cNvSpPr txBox="1"/>
          <p:nvPr/>
        </p:nvSpPr>
        <p:spPr>
          <a:xfrm>
            <a:off x="7335186" y="3780849"/>
            <a:ext cx="2550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dirty="0"/>
              <a:t>weakly informative prior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EE5FFE-5940-389B-92A7-E6C17779341A}"/>
              </a:ext>
            </a:extLst>
          </p:cNvPr>
          <p:cNvSpPr txBox="1"/>
          <p:nvPr/>
        </p:nvSpPr>
        <p:spPr>
          <a:xfrm>
            <a:off x="7335186" y="4192785"/>
            <a:ext cx="1818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dirty="0"/>
              <a:t>informative prior</a:t>
            </a:r>
          </a:p>
        </p:txBody>
      </p:sp>
    </p:spTree>
    <p:extLst>
      <p:ext uri="{BB962C8B-B14F-4D97-AF65-F5344CB8AC3E}">
        <p14:creationId xmlns:p14="http://schemas.microsoft.com/office/powerpoint/2010/main" val="13645959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81CD1-3531-4E7D-637F-F68749D12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Updating Priors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8A18B2-38CC-89E4-576F-E22AD8E8C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pPr marL="0" indent="0">
              <a:buNone/>
            </a:pPr>
            <a:r>
              <a:rPr lang="en-SE" dirty="0"/>
              <a:t>Consider data about a globe toss resulting either in water (W) or land (L) to estimate the probability of landing in water when selecting a random place on the globe.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D4316D-12EB-2369-E93A-6B176BEE4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BC37F2-17E0-EF36-9F86-A88520B90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1DEB3-7B87-972A-B540-16C5C641C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27</a:t>
            </a:fld>
            <a:endParaRPr lang="en-SE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CE54B46-C5E1-6DC6-3DB2-BF0721BA6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1407" y="1792349"/>
            <a:ext cx="4000109" cy="456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309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7C96F-96D1-D142-D547-AE1BBF57D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Updating Priors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CB7AE3-8FA2-D530-A932-1D3C7C0E91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SE" dirty="0"/>
                  <a:t>Calculating </a:t>
                </a:r>
                <a14:m>
                  <m:oMath xmlns:m="http://schemas.openxmlformats.org/officeDocument/2006/math">
                    <m:r>
                      <a:rPr lang="en-SE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SE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SE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SE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requires integrating over </a:t>
                </a:r>
                <a:r>
                  <a:rPr lang="en-US" i="1" dirty="0"/>
                  <a:t>every possible combination</a:t>
                </a:r>
                <a:r>
                  <a:rPr lang="en-US" dirty="0"/>
                  <a:t> of coefficient values</a:t>
                </a:r>
                <a:r>
                  <a:rPr lang="en-SE" dirty="0"/>
                  <a:t>. For even a couple of predictors, </a:t>
                </a:r>
                <a:r>
                  <a:rPr lang="en-SE" b="1" dirty="0"/>
                  <a:t>t</a:t>
                </a:r>
                <a:r>
                  <a:rPr lang="en-US" b="1" dirty="0"/>
                  <a:t>here is no closed-form algebraic solution </a:t>
                </a:r>
                <a:r>
                  <a:rPr lang="en-US" dirty="0"/>
                  <a:t>for this in the general case.</a:t>
                </a:r>
                <a:endParaRPr lang="en-SE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SE" dirty="0"/>
                  <a:t>Monte Carlo Markov Chains instead </a:t>
                </a:r>
                <a:r>
                  <a:rPr lang="en-SE" b="1" dirty="0"/>
                  <a:t>draws samples </a:t>
                </a:r>
                <a:r>
                  <a:rPr lang="en-SE" dirty="0"/>
                  <a:t>from the distribution even without knowing it.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SE" dirty="0"/>
                  <a:t>Y</a:t>
                </a:r>
                <a:r>
                  <a:rPr lang="en-US" dirty="0" err="1"/>
                  <a:t>ou</a:t>
                </a:r>
                <a:r>
                  <a:rPr lang="en-US" dirty="0"/>
                  <a:t> don't need to evaluate </a:t>
                </a:r>
                <a14:m>
                  <m:oMath xmlns:m="http://schemas.openxmlformats.org/officeDocument/2006/math">
                    <m:r>
                      <a:rPr lang="en-SE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SE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SE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SE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SE" dirty="0"/>
                  <a:t> </a:t>
                </a:r>
                <a:r>
                  <a:rPr lang="en-US" dirty="0"/>
                  <a:t>to know the </a:t>
                </a:r>
                <a:r>
                  <a:rPr lang="en-US" i="1" dirty="0"/>
                  <a:t>relative</a:t>
                </a:r>
                <a:r>
                  <a:rPr lang="en-US" dirty="0"/>
                  <a:t> probability of two parameter combinations. If one combination fits the data and prior better than another, MCMC will </a:t>
                </a:r>
                <a:r>
                  <a:rPr lang="en-SE" dirty="0"/>
                  <a:t>“</a:t>
                </a:r>
                <a:r>
                  <a:rPr lang="en-US" dirty="0"/>
                  <a:t>visit</a:t>
                </a:r>
                <a:r>
                  <a:rPr lang="en-SE" dirty="0"/>
                  <a:t>”</a:t>
                </a:r>
                <a:r>
                  <a:rPr lang="en-US" dirty="0"/>
                  <a:t> it more often.</a:t>
                </a:r>
                <a:endParaRPr lang="en-SE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SE" dirty="0"/>
                  <a:t>Visualization: </a:t>
                </a:r>
                <a:r>
                  <a:rPr lang="de-DE" dirty="0">
                    <a:hlinkClick r:id="rId2"/>
                  </a:rPr>
                  <a:t>https://chi-feng.github.io/mcmc-demo/app.html</a:t>
                </a:r>
                <a:r>
                  <a:rPr lang="en-SE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CB7AE3-8FA2-D530-A932-1D3C7C0E91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381" r="-1043" b="-3081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CF517-BB32-1EB0-C4E6-097A6AE1B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A08BD4-1405-5B43-F989-FBBBB20DE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E135B6-30E1-5419-638A-6253EC851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28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9422891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0FA52A5-4999-593C-1429-DA01388A8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Bayesian Workflow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4D5E766-36DA-DB3A-4E85-0FC424CD74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0BB10-C68B-011C-5182-ACF97B6DA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8A350A-E201-03E1-E42A-62C002E19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151C7-CDA4-4052-B807-454B6052B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29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5884154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68374-ABF2-06F6-EE82-860B54E57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The Bayesian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3E1DF-D6C0-B70D-7320-FFC871ABA0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52299"/>
          </a:xfrm>
        </p:spPr>
        <p:txBody>
          <a:bodyPr/>
          <a:lstStyle/>
          <a:p>
            <a:pPr marL="0" indent="0">
              <a:buNone/>
            </a:pPr>
            <a:r>
              <a:rPr lang="en-SE" dirty="0"/>
              <a:t>The complete Bayesian workflow for evaluating a hypothesis comprises the following steps: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EB8EDC-BE48-A876-CADF-E1050CC10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AC836F-BF6C-3D10-EFB7-5CDC7A1B2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2BFFA-EAF3-1A91-DCF9-74344E500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30</a:t>
            </a:fld>
            <a:endParaRPr lang="en-SE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E1F2D9A-9AA1-FD4C-D201-11EF14FFEF7A}"/>
              </a:ext>
            </a:extLst>
          </p:cNvPr>
          <p:cNvGrpSpPr/>
          <p:nvPr/>
        </p:nvGrpSpPr>
        <p:grpSpPr>
          <a:xfrm>
            <a:off x="838367" y="2858618"/>
            <a:ext cx="1650511" cy="2819700"/>
            <a:chOff x="5270744" y="3429000"/>
            <a:chExt cx="1650511" cy="281970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37E1FDA-B80D-32AC-A652-43D5F6417B18}"/>
                </a:ext>
              </a:extLst>
            </p:cNvPr>
            <p:cNvGrpSpPr/>
            <p:nvPr/>
          </p:nvGrpSpPr>
          <p:grpSpPr>
            <a:xfrm>
              <a:off x="5556000" y="3429000"/>
              <a:ext cx="1080000" cy="1080000"/>
              <a:chOff x="3313786" y="3686861"/>
              <a:chExt cx="1080000" cy="1080000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C2509B09-EB24-5C74-0C3A-C88FB5B7484F}"/>
                  </a:ext>
                </a:extLst>
              </p:cNvPr>
              <p:cNvSpPr/>
              <p:nvPr/>
            </p:nvSpPr>
            <p:spPr>
              <a:xfrm>
                <a:off x="3313786" y="3686861"/>
                <a:ext cx="1080000" cy="1080000"/>
              </a:xfrm>
              <a:prstGeom prst="ellipse">
                <a:avLst/>
              </a:prstGeom>
              <a:solidFill>
                <a:srgbClr val="1E2428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11" name="Graphic 10" descr="Normal Distribution with solid fill">
                <a:extLst>
                  <a:ext uri="{FF2B5EF4-FFF2-40B4-BE49-F238E27FC236}">
                    <a16:creationId xmlns:a16="http://schemas.microsoft.com/office/drawing/2014/main" id="{12EAAA77-3416-9FAA-8B86-92DF22BD18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p:blipFill>
            <p:spPr>
              <a:xfrm>
                <a:off x="3396586" y="3769661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D249A1B-8BF0-6DD1-6AD0-7616901D8A49}"/>
                </a:ext>
              </a:extLst>
            </p:cNvPr>
            <p:cNvSpPr txBox="1"/>
            <p:nvPr/>
          </p:nvSpPr>
          <p:spPr>
            <a:xfrm>
              <a:off x="5270744" y="4586707"/>
              <a:ext cx="1650511" cy="16619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E" b="1" noProof="0" dirty="0"/>
                <a:t>Selecting a distribution family</a:t>
              </a:r>
              <a:endParaRPr lang="en-US" b="1" noProof="0" dirty="0"/>
            </a:p>
            <a:p>
              <a:pPr algn="ctr"/>
              <a:r>
                <a:rPr lang="en-SE" sz="1600" noProof="0" dirty="0"/>
                <a:t>that describes how the data was created</a:t>
              </a:r>
              <a:endParaRPr lang="en-US" sz="1600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3683558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252E5-898D-7196-313E-DCDC97B44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Determining a Distribution Family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3C121-367E-8020-8E6F-FF5155D6C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BE580-0857-42A4-7138-51F9C4AF3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71AA2-B538-53E5-40FB-5E3ABF569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31</a:t>
            </a:fld>
            <a:endParaRPr lang="en-S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6B2820-DDAD-A495-A9FC-AD4D28182C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399" y="4195058"/>
            <a:ext cx="3599695" cy="21579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F7E0F17-69F4-F585-52B6-777BEE61C7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5114" y="2759443"/>
            <a:ext cx="3599695" cy="21579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C468D23-5CE3-01A6-3063-943710CE02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400" y="1343770"/>
            <a:ext cx="3599695" cy="21579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A2785AA-0104-0F8B-2CF6-B590B6026A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456" y="1343770"/>
            <a:ext cx="3599695" cy="215798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274BBC8-6D0F-DEF5-AD4C-6F904E2A87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457" y="4198362"/>
            <a:ext cx="3599695" cy="2157988"/>
          </a:xfrm>
          <a:prstGeom prst="rect">
            <a:avLst/>
          </a:prstGeom>
        </p:spPr>
      </p:pic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23F5BC93-870F-D321-D9BC-8BF3747ACBFA}"/>
              </a:ext>
            </a:extLst>
          </p:cNvPr>
          <p:cNvCxnSpPr>
            <a:cxnSpLocks/>
            <a:stCxn id="11" idx="0"/>
            <a:endCxn id="8" idx="1"/>
          </p:cNvCxnSpPr>
          <p:nvPr/>
        </p:nvCxnSpPr>
        <p:spPr>
          <a:xfrm rot="5400000" flipH="1" flipV="1">
            <a:off x="3230747" y="3103996"/>
            <a:ext cx="359925" cy="1828809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Curved 18">
            <a:extLst>
              <a:ext uri="{FF2B5EF4-FFF2-40B4-BE49-F238E27FC236}">
                <a16:creationId xmlns:a16="http://schemas.microsoft.com/office/drawing/2014/main" id="{CEA4FB1D-C1CF-A199-E471-B5FE72D45BDE}"/>
              </a:ext>
            </a:extLst>
          </p:cNvPr>
          <p:cNvCxnSpPr>
            <a:cxnSpLocks/>
            <a:stCxn id="11" idx="3"/>
            <a:endCxn id="7" idx="1"/>
          </p:cNvCxnSpPr>
          <p:nvPr/>
        </p:nvCxnSpPr>
        <p:spPr>
          <a:xfrm flipV="1">
            <a:off x="4296152" y="5274052"/>
            <a:ext cx="3857247" cy="33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C32042A-7455-44E3-7DE8-26751328A5FC}"/>
                  </a:ext>
                </a:extLst>
              </p:cNvPr>
              <p:cNvSpPr txBox="1"/>
              <p:nvPr/>
            </p:nvSpPr>
            <p:spPr>
              <a:xfrm>
                <a:off x="882394" y="3564649"/>
                <a:ext cx="7650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𝛼𝛽</m:t>
                      </m:r>
                    </m:oMath>
                  </m:oMathPara>
                </a14:m>
                <a:endParaRPr lang="en-SE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C32042A-7455-44E3-7DE8-26751328A5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394" y="3564649"/>
                <a:ext cx="765018" cy="276999"/>
              </a:xfrm>
              <a:prstGeom prst="rect">
                <a:avLst/>
              </a:prstGeom>
              <a:blipFill>
                <a:blip r:embed="rId7"/>
                <a:stretch>
                  <a:fillRect l="-8000" t="-2222" r="-11200" b="-35556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8F5E8F0-2725-87CA-233E-5865D654255B}"/>
                  </a:ext>
                </a:extLst>
              </p:cNvPr>
              <p:cNvSpPr txBox="1"/>
              <p:nvPr/>
            </p:nvSpPr>
            <p:spPr>
              <a:xfrm>
                <a:off x="1871242" y="3564649"/>
                <a:ext cx="100649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S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SE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S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S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SE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en-S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SE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8F5E8F0-2725-87CA-233E-5865D65425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1242" y="3564649"/>
                <a:ext cx="1006494" cy="276999"/>
              </a:xfrm>
              <a:prstGeom prst="rect">
                <a:avLst/>
              </a:prstGeom>
              <a:blipFill>
                <a:blip r:embed="rId8"/>
                <a:stretch>
                  <a:fillRect l="-3030" t="-2222" r="-7879" b="-35556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F9B66A8-4814-0379-1E8C-446A061FF997}"/>
                  </a:ext>
                </a:extLst>
              </p:cNvPr>
              <p:cNvSpPr txBox="1"/>
              <p:nvPr/>
            </p:nvSpPr>
            <p:spPr>
              <a:xfrm>
                <a:off x="3078153" y="3564649"/>
                <a:ext cx="71070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→∞</m:t>
                      </m:r>
                    </m:oMath>
                  </m:oMathPara>
                </a14:m>
                <a:endParaRPr lang="en-SE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F9B66A8-4814-0379-1E8C-446A061FF9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8153" y="3564649"/>
                <a:ext cx="710707" cy="276999"/>
              </a:xfrm>
              <a:prstGeom prst="rect">
                <a:avLst/>
              </a:prstGeom>
              <a:blipFill>
                <a:blip r:embed="rId9"/>
                <a:stretch>
                  <a:fillRect l="-11966" t="-2222" r="-3419" b="-35556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E5F8ADA-745C-C331-F333-E0BB5A4A879E}"/>
                  </a:ext>
                </a:extLst>
              </p:cNvPr>
              <p:cNvSpPr txBox="1"/>
              <p:nvPr/>
            </p:nvSpPr>
            <p:spPr>
              <a:xfrm>
                <a:off x="5665625" y="5357945"/>
                <a:ext cx="860748" cy="563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S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S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E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SE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S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E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SE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SE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S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E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S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SE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E5F8ADA-745C-C331-F333-E0BB5A4A87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5625" y="5357945"/>
                <a:ext cx="860748" cy="56387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98DD6F99-C406-35B4-CBEA-0C9B0C46CA03}"/>
              </a:ext>
            </a:extLst>
          </p:cNvPr>
          <p:cNvCxnSpPr>
            <a:cxnSpLocks/>
            <a:stCxn id="10" idx="3"/>
            <a:endCxn id="8" idx="0"/>
          </p:cNvCxnSpPr>
          <p:nvPr/>
        </p:nvCxnSpPr>
        <p:spPr>
          <a:xfrm>
            <a:off x="4296151" y="2422764"/>
            <a:ext cx="1828811" cy="336679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944BF44-3142-47CA-B54C-7E6BDD602EDB}"/>
                  </a:ext>
                </a:extLst>
              </p:cNvPr>
              <p:cNvSpPr txBox="1"/>
              <p:nvPr/>
            </p:nvSpPr>
            <p:spPr>
              <a:xfrm>
                <a:off x="4524742" y="2105954"/>
                <a:ext cx="73622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S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SE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S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SE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944BF44-3142-47CA-B54C-7E6BDD602E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4742" y="2105954"/>
                <a:ext cx="736227" cy="276999"/>
              </a:xfrm>
              <a:prstGeom prst="rect">
                <a:avLst/>
              </a:prstGeom>
              <a:blipFill>
                <a:blip r:embed="rId11"/>
                <a:stretch>
                  <a:fillRect l="-4959" r="-7438" b="-21739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6AD607B-17CE-A5E1-2F22-AC3E2535BA66}"/>
                  </a:ext>
                </a:extLst>
              </p:cNvPr>
              <p:cNvSpPr txBox="1"/>
              <p:nvPr/>
            </p:nvSpPr>
            <p:spPr>
              <a:xfrm>
                <a:off x="4543947" y="2492682"/>
                <a:ext cx="6971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→∞</m:t>
                      </m:r>
                    </m:oMath>
                  </m:oMathPara>
                </a14:m>
                <a:endParaRPr lang="en-SE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6AD607B-17CE-A5E1-2F22-AC3E2535BA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3947" y="2492682"/>
                <a:ext cx="697114" cy="276999"/>
              </a:xfrm>
              <a:prstGeom prst="rect">
                <a:avLst/>
              </a:prstGeom>
              <a:blipFill>
                <a:blip r:embed="rId12"/>
                <a:stretch>
                  <a:fillRect l="-7826" r="-4348" b="-22222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53EA6A49-CAC9-5828-3E31-450684B997D0}"/>
              </a:ext>
            </a:extLst>
          </p:cNvPr>
          <p:cNvCxnSpPr>
            <a:cxnSpLocks/>
            <a:stCxn id="9" idx="1"/>
            <a:endCxn id="8" idx="0"/>
          </p:cNvCxnSpPr>
          <p:nvPr/>
        </p:nvCxnSpPr>
        <p:spPr>
          <a:xfrm rot="10800000" flipV="1">
            <a:off x="6124962" y="2422763"/>
            <a:ext cx="2028438" cy="336679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753C4E6-EE00-E563-7AF8-6CB142EAE577}"/>
                  </a:ext>
                </a:extLst>
              </p:cNvPr>
              <p:cNvSpPr txBox="1"/>
              <p:nvPr/>
            </p:nvSpPr>
            <p:spPr>
              <a:xfrm>
                <a:off x="7302877" y="2076632"/>
                <a:ext cx="7448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𝑛𝑝</m:t>
                      </m:r>
                    </m:oMath>
                  </m:oMathPara>
                </a14:m>
                <a:endParaRPr lang="en-SE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753C4E6-EE00-E563-7AF8-6CB142EAE5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877" y="2076632"/>
                <a:ext cx="744819" cy="276999"/>
              </a:xfrm>
              <a:prstGeom prst="rect">
                <a:avLst/>
              </a:prstGeom>
              <a:blipFill>
                <a:blip r:embed="rId13"/>
                <a:stretch>
                  <a:fillRect l="-8197" r="-8197" b="-26667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CBC8C7F-CAA4-DE3D-6BF9-A1460AB3FA53}"/>
                  </a:ext>
                </a:extLst>
              </p:cNvPr>
              <p:cNvSpPr txBox="1"/>
              <p:nvPr/>
            </p:nvSpPr>
            <p:spPr>
              <a:xfrm>
                <a:off x="6661216" y="2511165"/>
                <a:ext cx="15948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S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SE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S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𝑛𝑝</m:t>
                      </m:r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SE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CBC8C7F-CAA4-DE3D-6BF9-A1460AB3FA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1216" y="2511165"/>
                <a:ext cx="1594860" cy="276999"/>
              </a:xfrm>
              <a:prstGeom prst="rect">
                <a:avLst/>
              </a:prstGeom>
              <a:blipFill>
                <a:blip r:embed="rId14"/>
                <a:stretch>
                  <a:fillRect l="-1916" t="-2222" r="-5364" b="-35556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12D7C6D-3DF6-A6B9-0FC6-06AF7E608EA6}"/>
                  </a:ext>
                </a:extLst>
              </p:cNvPr>
              <p:cNvSpPr txBox="1"/>
              <p:nvPr/>
            </p:nvSpPr>
            <p:spPr>
              <a:xfrm>
                <a:off x="7458646" y="2801450"/>
                <a:ext cx="70128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→∞</m:t>
                      </m:r>
                    </m:oMath>
                  </m:oMathPara>
                </a14:m>
                <a:endParaRPr lang="en-SE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12D7C6D-3DF6-A6B9-0FC6-06AF7E608E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8646" y="2801450"/>
                <a:ext cx="701281" cy="276999"/>
              </a:xfrm>
              <a:prstGeom prst="rect">
                <a:avLst/>
              </a:prstGeom>
              <a:blipFill>
                <a:blip r:embed="rId15"/>
                <a:stretch>
                  <a:fillRect l="-5217" r="-4348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Connector: Curved 18">
            <a:extLst>
              <a:ext uri="{FF2B5EF4-FFF2-40B4-BE49-F238E27FC236}">
                <a16:creationId xmlns:a16="http://schemas.microsoft.com/office/drawing/2014/main" id="{6DCAFB72-5437-D0DB-AE54-44A8DD0A9DF4}"/>
              </a:ext>
            </a:extLst>
          </p:cNvPr>
          <p:cNvCxnSpPr>
            <a:cxnSpLocks/>
          </p:cNvCxnSpPr>
          <p:nvPr/>
        </p:nvCxnSpPr>
        <p:spPr>
          <a:xfrm flipH="1">
            <a:off x="4247209" y="1738264"/>
            <a:ext cx="40088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9093870-EC10-DB80-4FB3-74F967FD2B09}"/>
                  </a:ext>
                </a:extLst>
              </p:cNvPr>
              <p:cNvSpPr txBox="1"/>
              <p:nvPr/>
            </p:nvSpPr>
            <p:spPr>
              <a:xfrm>
                <a:off x="5241061" y="1418808"/>
                <a:ext cx="7448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𝑛𝑝</m:t>
                      </m:r>
                    </m:oMath>
                  </m:oMathPara>
                </a14:m>
                <a:endParaRPr lang="en-SE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9093870-EC10-DB80-4FB3-74F967FD2B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1061" y="1418808"/>
                <a:ext cx="744819" cy="276999"/>
              </a:xfrm>
              <a:prstGeom prst="rect">
                <a:avLst/>
              </a:prstGeom>
              <a:blipFill>
                <a:blip r:embed="rId16"/>
                <a:stretch>
                  <a:fillRect l="-8197" r="-8197" b="-26667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8BF9689-2B91-D3B7-C244-AD8295159250}"/>
                  </a:ext>
                </a:extLst>
              </p:cNvPr>
              <p:cNvSpPr txBox="1"/>
              <p:nvPr/>
            </p:nvSpPr>
            <p:spPr>
              <a:xfrm>
                <a:off x="6091584" y="1422434"/>
                <a:ext cx="70128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SE" b="0" i="1" smtClean="0">
                          <a:latin typeface="Cambria Math" panose="02040503050406030204" pitchFamily="18" charset="0"/>
                        </a:rPr>
                        <m:t>→∞</m:t>
                      </m:r>
                    </m:oMath>
                  </m:oMathPara>
                </a14:m>
                <a:endParaRPr lang="en-SE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8BF9689-2B91-D3B7-C244-AD82951592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1584" y="1422434"/>
                <a:ext cx="701281" cy="276999"/>
              </a:xfrm>
              <a:prstGeom prst="rect">
                <a:avLst/>
              </a:prstGeom>
              <a:blipFill>
                <a:blip r:embed="rId17"/>
                <a:stretch>
                  <a:fillRect l="-5217" r="-5217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96346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19" grpId="0"/>
      <p:bldP spid="20" grpId="0"/>
      <p:bldP spid="22" grpId="0"/>
      <p:bldP spid="23" grpId="0"/>
      <p:bldP spid="24" grpId="0"/>
      <p:bldP spid="26" grpId="0"/>
      <p:bldP spid="2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66478-B8E8-692B-B78F-B5DE60851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Determining a Distribution Family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3A3C8-998E-9395-A778-FD24C7B2D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1414189"/>
          </a:xfrm>
        </p:spPr>
        <p:txBody>
          <a:bodyPr/>
          <a:lstStyle/>
          <a:p>
            <a:pPr marL="0" indent="0">
              <a:buNone/>
            </a:pPr>
            <a:r>
              <a:rPr lang="en-SE" dirty="0"/>
              <a:t>Fully specified, a Bayesian regression model will always start with a likelihood function (i.e., a distribution family) describing the outcome variable.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5074CD-10B5-EF4E-6837-DCF491680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917D46-2CC0-695F-C435-7BAA4871C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3924D-EAFA-E522-4FD0-5A7C4823E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32</a:t>
            </a:fld>
            <a:endParaRPr lang="en-SE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9049D96-3A18-DF5D-1021-32D7CE91B42F}"/>
              </a:ext>
            </a:extLst>
          </p:cNvPr>
          <p:cNvGrpSpPr/>
          <p:nvPr/>
        </p:nvGrpSpPr>
        <p:grpSpPr>
          <a:xfrm>
            <a:off x="3581400" y="3174469"/>
            <a:ext cx="5139831" cy="1853535"/>
            <a:chOff x="3668109" y="3213883"/>
            <a:chExt cx="5139831" cy="18535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F792CE4F-BF35-5F0F-C0FC-38BE88BBF10B}"/>
                    </a:ext>
                  </a:extLst>
                </p:cNvPr>
                <p:cNvSpPr txBox="1"/>
                <p:nvPr/>
              </p:nvSpPr>
              <p:spPr>
                <a:xfrm>
                  <a:off x="3668109" y="3213883"/>
                  <a:ext cx="284206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SE" b="0" i="1" smtClean="0">
                            <a:solidFill>
                              <a:srgbClr val="006D70"/>
                            </a:solidFill>
                            <a:latin typeface="Cambria Math" panose="02040503050406030204" pitchFamily="18" charset="0"/>
                          </a:rPr>
                          <m:t>𝑝𝑟𝑜𝑑𝑢𝑐𝑡𝑖𝑣𝑖𝑡𝑦</m:t>
                        </m:r>
                        <m:r>
                          <a:rPr lang="en-SE" b="0" i="1" smtClean="0">
                            <a:latin typeface="Cambria Math" panose="02040503050406030204" pitchFamily="18" charset="0"/>
                          </a:rPr>
                          <m:t> ~ </m:t>
                        </m:r>
                        <m:r>
                          <a:rPr lang="en-SE" b="1" i="1" smtClean="0">
                            <a:latin typeface="Cambria Math" panose="02040503050406030204" pitchFamily="18" charset="0"/>
                          </a:rPr>
                          <m:t>𝑷𝒐𝒊𝒔𝒔𝒐𝒏</m:t>
                        </m:r>
                        <m:r>
                          <a:rPr lang="en-SE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SE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SE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SE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F792CE4F-BF35-5F0F-C0FC-38BE88BBF1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68109" y="3213883"/>
                  <a:ext cx="2842060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2575" t="-4444" r="-2575" b="-35556"/>
                  </a:stretch>
                </a:blipFill>
              </p:spPr>
              <p:txBody>
                <a:bodyPr/>
                <a:lstStyle/>
                <a:p>
                  <a:r>
                    <a:rPr lang="en-S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68F7797-12C0-5CA6-18EC-675A3B4F1A53}"/>
                    </a:ext>
                  </a:extLst>
                </p:cNvPr>
                <p:cNvSpPr txBox="1"/>
                <p:nvPr/>
              </p:nvSpPr>
              <p:spPr>
                <a:xfrm>
                  <a:off x="4742905" y="4002151"/>
                  <a:ext cx="214687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SE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SE" b="0" i="1" smtClean="0">
                            <a:latin typeface="Cambria Math" panose="02040503050406030204" pitchFamily="18" charset="0"/>
                          </a:rPr>
                          <m:t> ~ </m:t>
                        </m:r>
                        <m:r>
                          <a:rPr lang="en-SE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SE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SE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SE" b="0" i="1" smtClean="0">
                            <a:latin typeface="Cambria Math" panose="02040503050406030204" pitchFamily="18" charset="0"/>
                          </a:rPr>
                          <m:t>= 5, </m:t>
                        </m:r>
                        <m:r>
                          <a:rPr lang="en-SE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SE" b="0" i="1" smtClean="0">
                            <a:latin typeface="Cambria Math" panose="02040503050406030204" pitchFamily="18" charset="0"/>
                          </a:rPr>
                          <m:t>=2)</m:t>
                        </m:r>
                      </m:oMath>
                    </m:oMathPara>
                  </a14:m>
                  <a:endParaRPr lang="en-SE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68F7797-12C0-5CA6-18EC-675A3B4F1A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2905" y="4002151"/>
                  <a:ext cx="2146870" cy="276999"/>
                </a:xfrm>
                <a:prstGeom prst="rect">
                  <a:avLst/>
                </a:prstGeom>
                <a:blipFill>
                  <a:blip r:embed="rId3"/>
                  <a:stretch>
                    <a:fillRect t="-2222" r="-2557" b="-35556"/>
                  </a:stretch>
                </a:blipFill>
              </p:spPr>
              <p:txBody>
                <a:bodyPr/>
                <a:lstStyle/>
                <a:p>
                  <a:r>
                    <a:rPr lang="en-S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95FA11D7-0BA6-A805-7459-7841BFA0D1AC}"/>
                    </a:ext>
                  </a:extLst>
                </p:cNvPr>
                <p:cNvSpPr txBox="1"/>
                <p:nvPr/>
              </p:nvSpPr>
              <p:spPr>
                <a:xfrm>
                  <a:off x="4606305" y="4396285"/>
                  <a:ext cx="220464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S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E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SE" b="0" i="1" smtClean="0">
                                <a:latin typeface="Cambria Math" panose="02040503050406030204" pitchFamily="18" charset="0"/>
                              </a:rPr>
                              <m:t>𝑎𝑖</m:t>
                            </m:r>
                          </m:sub>
                        </m:sSub>
                        <m:r>
                          <a:rPr lang="en-SE" b="0" i="1" smtClean="0">
                            <a:latin typeface="Cambria Math" panose="02040503050406030204" pitchFamily="18" charset="0"/>
                          </a:rPr>
                          <m:t> ~ </m:t>
                        </m:r>
                        <m:r>
                          <a:rPr lang="en-SE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SE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SE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SE" b="0" i="1" smtClean="0">
                            <a:latin typeface="Cambria Math" panose="02040503050406030204" pitchFamily="18" charset="0"/>
                          </a:rPr>
                          <m:t>=0, </m:t>
                        </m:r>
                        <m:r>
                          <a:rPr lang="en-SE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SE" b="0" i="1" smtClean="0">
                            <a:latin typeface="Cambria Math" panose="02040503050406030204" pitchFamily="18" charset="0"/>
                          </a:rPr>
                          <m:t>=1)</m:t>
                        </m:r>
                      </m:oMath>
                    </m:oMathPara>
                  </a14:m>
                  <a:endParaRPr lang="en-SE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95FA11D7-0BA6-A805-7459-7841BFA0D1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06305" y="4396285"/>
                  <a:ext cx="2204642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3591" t="-4444" r="-3591" b="-35556"/>
                  </a:stretch>
                </a:blipFill>
              </p:spPr>
              <p:txBody>
                <a:bodyPr/>
                <a:lstStyle/>
                <a:p>
                  <a:r>
                    <a:rPr lang="en-S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EFBAE673-523F-834C-4975-6DB1A8CF4521}"/>
                    </a:ext>
                  </a:extLst>
                </p:cNvPr>
                <p:cNvSpPr txBox="1"/>
                <p:nvPr/>
              </p:nvSpPr>
              <p:spPr>
                <a:xfrm>
                  <a:off x="4606305" y="4790419"/>
                  <a:ext cx="237007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S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E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SE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SE" b="0" i="1" smtClean="0">
                            <a:latin typeface="Cambria Math" panose="02040503050406030204" pitchFamily="18" charset="0"/>
                          </a:rPr>
                          <m:t> ~ </m:t>
                        </m:r>
                        <m:r>
                          <a:rPr lang="en-SE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SE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SE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SE" b="0" i="1" smtClean="0">
                            <a:latin typeface="Cambria Math" panose="02040503050406030204" pitchFamily="18" charset="0"/>
                          </a:rPr>
                          <m:t>=3, </m:t>
                        </m:r>
                        <m:r>
                          <a:rPr lang="en-SE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SE" b="0" i="1" smtClean="0">
                            <a:latin typeface="Cambria Math" panose="02040503050406030204" pitchFamily="18" charset="0"/>
                          </a:rPr>
                          <m:t>=0.5)</m:t>
                        </m:r>
                      </m:oMath>
                    </m:oMathPara>
                  </a14:m>
                  <a:endParaRPr lang="en-SE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EFBAE673-523F-834C-4975-6DB1A8CF45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06305" y="4790419"/>
                  <a:ext cx="2370072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3085" t="-2174" r="-3342" b="-32609"/>
                  </a:stretch>
                </a:blipFill>
              </p:spPr>
              <p:txBody>
                <a:bodyPr/>
                <a:lstStyle/>
                <a:p>
                  <a:r>
                    <a:rPr lang="en-S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C29083F5-C2C9-0B87-F8FD-B8121BC8F93A}"/>
                    </a:ext>
                  </a:extLst>
                </p:cNvPr>
                <p:cNvSpPr txBox="1"/>
                <p:nvPr/>
              </p:nvSpPr>
              <p:spPr>
                <a:xfrm>
                  <a:off x="4243550" y="3608017"/>
                  <a:ext cx="456439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SE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SE" b="1" i="0" smtClean="0">
                                <a:latin typeface="Cambria Math" panose="02040503050406030204" pitchFamily="18" charset="0"/>
                              </a:rPr>
                              <m:t>𝐥𝐨𝐠</m:t>
                            </m:r>
                          </m:fName>
                          <m:e>
                            <m:d>
                              <m:dPr>
                                <m:ctrlPr>
                                  <a:rPr lang="en-S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SE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</m:d>
                          </m:e>
                        </m:func>
                        <m:r>
                          <a:rPr lang="en-SE" b="0" i="1" smtClean="0">
                            <a:latin typeface="Cambria Math" panose="02040503050406030204" pitchFamily="18" charset="0"/>
                          </a:rPr>
                          <m:t>←</m:t>
                        </m:r>
                        <m:r>
                          <a:rPr lang="en-SE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SE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S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E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SE" b="0" i="1" smtClean="0">
                                <a:latin typeface="Cambria Math" panose="02040503050406030204" pitchFamily="18" charset="0"/>
                              </a:rPr>
                              <m:t>𝑎𝑖</m:t>
                            </m:r>
                          </m:sub>
                        </m:sSub>
                        <m:r>
                          <a:rPr lang="en-SE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SE" b="0" i="1" smtClean="0">
                            <a:solidFill>
                              <a:srgbClr val="D0180A"/>
                            </a:solidFill>
                            <a:latin typeface="Cambria Math" panose="02040503050406030204" pitchFamily="18" charset="0"/>
                          </a:rPr>
                          <m:t>𝐺𝑒𝑛𝐴𝐼</m:t>
                        </m:r>
                        <m:r>
                          <a:rPr lang="en-SE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S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E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SE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SE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SE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𝑚𝑜𝑡𝑖𝑣𝑎𝑡𝑖𝑜𝑛</m:t>
                        </m:r>
                        <m:r>
                          <a:rPr lang="en-SE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</m:oMath>
                    </m:oMathPara>
                  </a14:m>
                  <a:endParaRPr lang="en-SE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C29083F5-C2C9-0B87-F8FD-B8121BC8F9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3550" y="3608017"/>
                  <a:ext cx="4564390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1335" t="-4348" b="-34783"/>
                  </a:stretch>
                </a:blipFill>
              </p:spPr>
              <p:txBody>
                <a:bodyPr/>
                <a:lstStyle/>
                <a:p>
                  <a:r>
                    <a:rPr lang="en-SE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0015CF4-961E-F2F2-EF80-454EB2A7C2F9}"/>
              </a:ext>
            </a:extLst>
          </p:cNvPr>
          <p:cNvSpPr txBox="1">
            <a:spLocks/>
          </p:cNvSpPr>
          <p:nvPr/>
        </p:nvSpPr>
        <p:spPr>
          <a:xfrm>
            <a:off x="838200" y="5153816"/>
            <a:ext cx="10515600" cy="14141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SE" dirty="0"/>
              <a:t>This particular model would assume that productivity is Poisson-distributed (e.g., when operationalizing it as the number of commits.</a:t>
            </a:r>
          </a:p>
        </p:txBody>
      </p:sp>
    </p:spTree>
    <p:extLst>
      <p:ext uri="{BB962C8B-B14F-4D97-AF65-F5344CB8AC3E}">
        <p14:creationId xmlns:p14="http://schemas.microsoft.com/office/powerpoint/2010/main" val="28057857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22941-3FB8-9908-8920-AD0BFD787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3931D-DB48-7229-11C0-CC6D08D34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The Bayesian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BA1F6-DE56-80F6-837B-EC1A805B1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52299"/>
          </a:xfrm>
        </p:spPr>
        <p:txBody>
          <a:bodyPr/>
          <a:lstStyle/>
          <a:p>
            <a:pPr marL="0" indent="0">
              <a:buNone/>
            </a:pPr>
            <a:r>
              <a:rPr lang="en-SE" dirty="0"/>
              <a:t>The complete Bayesian workflow for evaluating a hypothesis comprises the following steps: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8EC825-389C-BBA7-25BD-78324540A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950E5-BB92-E289-9C6C-93BC36576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811F1-FF33-68BE-56B4-249793923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33</a:t>
            </a:fld>
            <a:endParaRPr lang="en-SE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D633E2C-D53E-3646-2DF0-A41BF8528580}"/>
              </a:ext>
            </a:extLst>
          </p:cNvPr>
          <p:cNvGrpSpPr/>
          <p:nvPr/>
        </p:nvGrpSpPr>
        <p:grpSpPr>
          <a:xfrm>
            <a:off x="838367" y="2858618"/>
            <a:ext cx="1650511" cy="2819700"/>
            <a:chOff x="5270744" y="3429000"/>
            <a:chExt cx="1650511" cy="281970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648198A-D301-117C-0CB7-D75C885A2608}"/>
                </a:ext>
              </a:extLst>
            </p:cNvPr>
            <p:cNvGrpSpPr/>
            <p:nvPr/>
          </p:nvGrpSpPr>
          <p:grpSpPr>
            <a:xfrm>
              <a:off x="5556000" y="3429000"/>
              <a:ext cx="1080000" cy="1080000"/>
              <a:chOff x="3313786" y="3686861"/>
              <a:chExt cx="1080000" cy="1080000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A37DF3B3-F768-9555-A4DD-6D5FE1750F5B}"/>
                  </a:ext>
                </a:extLst>
              </p:cNvPr>
              <p:cNvSpPr/>
              <p:nvPr/>
            </p:nvSpPr>
            <p:spPr>
              <a:xfrm>
                <a:off x="3313786" y="3686861"/>
                <a:ext cx="1080000" cy="1080000"/>
              </a:xfrm>
              <a:prstGeom prst="ellipse">
                <a:avLst/>
              </a:prstGeom>
              <a:solidFill>
                <a:srgbClr val="1E2428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11" name="Graphic 10" descr="Normal Distribution with solid fill">
                <a:extLst>
                  <a:ext uri="{FF2B5EF4-FFF2-40B4-BE49-F238E27FC236}">
                    <a16:creationId xmlns:a16="http://schemas.microsoft.com/office/drawing/2014/main" id="{AC213A9B-CA82-7F44-95B2-B37CBFB21D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p:blipFill>
            <p:spPr>
              <a:xfrm>
                <a:off x="3396586" y="3769661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14CBE5C-B29A-DDA8-CC65-799D69D7BD37}"/>
                </a:ext>
              </a:extLst>
            </p:cNvPr>
            <p:cNvSpPr txBox="1"/>
            <p:nvPr/>
          </p:nvSpPr>
          <p:spPr>
            <a:xfrm>
              <a:off x="5270744" y="4586707"/>
              <a:ext cx="1650511" cy="16619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E" b="1" noProof="0" dirty="0"/>
                <a:t>Selecting a distribution family</a:t>
              </a:r>
              <a:endParaRPr lang="en-US" b="1" noProof="0" dirty="0"/>
            </a:p>
            <a:p>
              <a:pPr algn="ctr"/>
              <a:r>
                <a:rPr lang="en-SE" sz="1600" noProof="0" dirty="0"/>
                <a:t>that describes how the data was created</a:t>
              </a:r>
              <a:endParaRPr lang="en-US" sz="1600" noProof="0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47C1591-BDD7-1EC6-6BE1-BA33977F6460}"/>
              </a:ext>
            </a:extLst>
          </p:cNvPr>
          <p:cNvGrpSpPr/>
          <p:nvPr/>
        </p:nvGrpSpPr>
        <p:grpSpPr>
          <a:xfrm>
            <a:off x="2662311" y="2858618"/>
            <a:ext cx="1650511" cy="2296480"/>
            <a:chOff x="5270744" y="3429000"/>
            <a:chExt cx="1650511" cy="2296480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598CC5F-C14D-3656-CF03-591B4FE77BDB}"/>
                </a:ext>
              </a:extLst>
            </p:cNvPr>
            <p:cNvGrpSpPr/>
            <p:nvPr/>
          </p:nvGrpSpPr>
          <p:grpSpPr>
            <a:xfrm>
              <a:off x="5556000" y="3429000"/>
              <a:ext cx="1080000" cy="1080000"/>
              <a:chOff x="3313786" y="3686861"/>
              <a:chExt cx="1080000" cy="108000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409121C7-0B12-47E1-64D1-43B15E8B034D}"/>
                  </a:ext>
                </a:extLst>
              </p:cNvPr>
              <p:cNvSpPr/>
              <p:nvPr/>
            </p:nvSpPr>
            <p:spPr>
              <a:xfrm>
                <a:off x="3313786" y="3686861"/>
                <a:ext cx="1080000" cy="1080000"/>
              </a:xfrm>
              <a:prstGeom prst="ellipse">
                <a:avLst/>
              </a:prstGeom>
              <a:solidFill>
                <a:schemeClr val="accent4">
                  <a:lumMod val="5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16" name="Graphic 15" descr="Bar chart with solid fill">
                <a:extLst>
                  <a:ext uri="{FF2B5EF4-FFF2-40B4-BE49-F238E27FC236}">
                    <a16:creationId xmlns:a16="http://schemas.microsoft.com/office/drawing/2014/main" id="{3690A3EA-8EB0-F78A-95A4-6DEB0119B3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>
                <a:off x="3396586" y="3769661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3011D8A-1FA7-ADAF-A07F-D9B941A06991}"/>
                </a:ext>
              </a:extLst>
            </p:cNvPr>
            <p:cNvSpPr txBox="1"/>
            <p:nvPr/>
          </p:nvSpPr>
          <p:spPr>
            <a:xfrm>
              <a:off x="5270744" y="4586707"/>
              <a:ext cx="1650511" cy="1138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E" b="1" noProof="0" dirty="0"/>
                <a:t>Selecting priors</a:t>
              </a:r>
              <a:endParaRPr lang="en-US" b="1" noProof="0" dirty="0"/>
            </a:p>
            <a:p>
              <a:pPr algn="ctr"/>
              <a:r>
                <a:rPr lang="en-SE" sz="1600" noProof="0" dirty="0"/>
                <a:t>encoding initial belief</a:t>
              </a:r>
              <a:endParaRPr lang="en-US" sz="1600" noProof="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715E574-BB68-2F18-B7F9-1EE5553CF189}"/>
              </a:ext>
            </a:extLst>
          </p:cNvPr>
          <p:cNvGrpSpPr/>
          <p:nvPr/>
        </p:nvGrpSpPr>
        <p:grpSpPr>
          <a:xfrm>
            <a:off x="4486255" y="2858618"/>
            <a:ext cx="1650511" cy="2573479"/>
            <a:chOff x="5270744" y="3429000"/>
            <a:chExt cx="1650511" cy="2573479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1832A339-F7C4-2C84-A627-909EC763E79C}"/>
                </a:ext>
              </a:extLst>
            </p:cNvPr>
            <p:cNvGrpSpPr/>
            <p:nvPr/>
          </p:nvGrpSpPr>
          <p:grpSpPr>
            <a:xfrm>
              <a:off x="5556000" y="3429000"/>
              <a:ext cx="1080000" cy="1080000"/>
              <a:chOff x="3313786" y="3686861"/>
              <a:chExt cx="1080000" cy="1080000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403D4DFA-A946-C8CB-6E12-CB7FA05C8641}"/>
                  </a:ext>
                </a:extLst>
              </p:cNvPr>
              <p:cNvSpPr/>
              <p:nvPr/>
            </p:nvSpPr>
            <p:spPr>
              <a:xfrm>
                <a:off x="3313786" y="3686861"/>
                <a:ext cx="1080000" cy="1080000"/>
              </a:xfrm>
              <a:prstGeom prst="ellipse">
                <a:avLst/>
              </a:prstGeom>
              <a:solidFill>
                <a:srgbClr val="404D56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21" name="Graphic 20" descr="Magnifying glass with solid fill">
                <a:extLst>
                  <a:ext uri="{FF2B5EF4-FFF2-40B4-BE49-F238E27FC236}">
                    <a16:creationId xmlns:a16="http://schemas.microsoft.com/office/drawing/2014/main" id="{3022BB2F-56AB-4A16-FA8F-6EFB673CDB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/>
            </p:blipFill>
            <p:spPr>
              <a:xfrm>
                <a:off x="3396586" y="3769661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4B358C5-9ABB-07BE-95D3-84B519336214}"/>
                </a:ext>
              </a:extLst>
            </p:cNvPr>
            <p:cNvSpPr txBox="1"/>
            <p:nvPr/>
          </p:nvSpPr>
          <p:spPr>
            <a:xfrm>
              <a:off x="5270744" y="4586707"/>
              <a:ext cx="1650511" cy="14157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E" b="1" noProof="0" dirty="0"/>
                <a:t>Prior predictive check</a:t>
              </a:r>
              <a:endParaRPr lang="en-US" b="1" noProof="0" dirty="0"/>
            </a:p>
            <a:p>
              <a:pPr algn="ctr"/>
              <a:r>
                <a:rPr lang="en-SE" sz="1600" noProof="0" dirty="0"/>
                <a:t>confirming their eligibility</a:t>
              </a:r>
              <a:endParaRPr lang="en-US" sz="1600" noProof="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8B8A8C8-EA7B-6C7B-ED86-10DD64A0F6E2}"/>
              </a:ext>
            </a:extLst>
          </p:cNvPr>
          <p:cNvGrpSpPr/>
          <p:nvPr/>
        </p:nvGrpSpPr>
        <p:grpSpPr>
          <a:xfrm>
            <a:off x="6310199" y="2858618"/>
            <a:ext cx="1650511" cy="2019481"/>
            <a:chOff x="5270744" y="3429000"/>
            <a:chExt cx="1650511" cy="2019481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A5CCC29F-4EAF-885A-E446-1BDF545B42EA}"/>
                </a:ext>
              </a:extLst>
            </p:cNvPr>
            <p:cNvGrpSpPr/>
            <p:nvPr/>
          </p:nvGrpSpPr>
          <p:grpSpPr>
            <a:xfrm>
              <a:off x="5556000" y="3429000"/>
              <a:ext cx="1080000" cy="1080000"/>
              <a:chOff x="3313786" y="3686861"/>
              <a:chExt cx="1080000" cy="1080000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9BECB99C-2490-1EEF-4F9F-947D5DA374C3}"/>
                  </a:ext>
                </a:extLst>
              </p:cNvPr>
              <p:cNvSpPr/>
              <p:nvPr/>
            </p:nvSpPr>
            <p:spPr>
              <a:xfrm>
                <a:off x="3313786" y="3686861"/>
                <a:ext cx="1080000" cy="1080000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26" name="Graphic 25" descr="Single gear with solid fill">
                <a:extLst>
                  <a:ext uri="{FF2B5EF4-FFF2-40B4-BE49-F238E27FC236}">
                    <a16:creationId xmlns:a16="http://schemas.microsoft.com/office/drawing/2014/main" id="{9B67F93A-187B-417C-26D3-08ABC98D33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/>
            </p:blipFill>
            <p:spPr>
              <a:xfrm>
                <a:off x="3396586" y="3769661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94A9BCA-1814-8F5A-50F1-2AB307F74BC7}"/>
                </a:ext>
              </a:extLst>
            </p:cNvPr>
            <p:cNvSpPr txBox="1"/>
            <p:nvPr/>
          </p:nvSpPr>
          <p:spPr>
            <a:xfrm>
              <a:off x="5270744" y="4586707"/>
              <a:ext cx="1650511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E" b="1" noProof="0" dirty="0"/>
                <a:t>Model fitting</a:t>
              </a:r>
              <a:endParaRPr lang="en-US" b="1" noProof="0" dirty="0"/>
            </a:p>
            <a:p>
              <a:pPr algn="ctr"/>
              <a:r>
                <a:rPr lang="en-SE" sz="1600" noProof="0" dirty="0"/>
                <a:t>via MCMC sampling</a:t>
              </a:r>
              <a:endParaRPr lang="en-US" sz="1600" noProof="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ED13962-4243-0BFF-0C50-59C4E17A7988}"/>
              </a:ext>
            </a:extLst>
          </p:cNvPr>
          <p:cNvGrpSpPr/>
          <p:nvPr/>
        </p:nvGrpSpPr>
        <p:grpSpPr>
          <a:xfrm>
            <a:off x="8134143" y="2858618"/>
            <a:ext cx="1650511" cy="2573479"/>
            <a:chOff x="5270744" y="3429000"/>
            <a:chExt cx="1650511" cy="2573479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DBA45D62-2401-E2A9-EF4A-D1B80770C649}"/>
                </a:ext>
              </a:extLst>
            </p:cNvPr>
            <p:cNvGrpSpPr/>
            <p:nvPr/>
          </p:nvGrpSpPr>
          <p:grpSpPr>
            <a:xfrm>
              <a:off x="5556000" y="3429000"/>
              <a:ext cx="1080000" cy="1080000"/>
              <a:chOff x="3313786" y="3686861"/>
              <a:chExt cx="1080000" cy="1080000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F9C0E752-4949-7E24-15F1-DFAF9C5D04B9}"/>
                  </a:ext>
                </a:extLst>
              </p:cNvPr>
              <p:cNvSpPr/>
              <p:nvPr/>
            </p:nvSpPr>
            <p:spPr>
              <a:xfrm>
                <a:off x="3313786" y="3686861"/>
                <a:ext cx="1080000" cy="1080000"/>
              </a:xfrm>
              <a:prstGeom prst="ellipse">
                <a:avLst/>
              </a:prstGeom>
              <a:solidFill>
                <a:srgbClr val="7F929D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31" name="Graphic 30" descr="Magnifying glass with solid fill">
                <a:extLst>
                  <a:ext uri="{FF2B5EF4-FFF2-40B4-BE49-F238E27FC236}">
                    <a16:creationId xmlns:a16="http://schemas.microsoft.com/office/drawing/2014/main" id="{56D3BCFF-4275-350C-231A-92B4062E12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/>
            </p:blipFill>
            <p:spPr>
              <a:xfrm>
                <a:off x="3396586" y="3769661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0B66845-F60E-1BB5-189D-2B96E478C91A}"/>
                </a:ext>
              </a:extLst>
            </p:cNvPr>
            <p:cNvSpPr txBox="1"/>
            <p:nvPr/>
          </p:nvSpPr>
          <p:spPr>
            <a:xfrm>
              <a:off x="5270744" y="4586707"/>
              <a:ext cx="1650511" cy="14157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E" b="1" noProof="0" dirty="0"/>
                <a:t>Posterior predictive check</a:t>
              </a:r>
              <a:endParaRPr lang="en-US" b="1" noProof="0" dirty="0"/>
            </a:p>
            <a:p>
              <a:pPr algn="ctr"/>
              <a:r>
                <a:rPr lang="en-SE" sz="1600" noProof="0" dirty="0"/>
                <a:t>to confirm model training</a:t>
              </a:r>
              <a:endParaRPr lang="en-US" sz="1600" noProof="0" dirty="0"/>
            </a:p>
          </p:txBody>
        </p:sp>
      </p:grp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3EDB164-F65B-BEDF-18F5-38989AADB1A2}"/>
              </a:ext>
            </a:extLst>
          </p:cNvPr>
          <p:cNvCxnSpPr>
            <a:stCxn id="10" idx="6"/>
            <a:endCxn id="15" idx="2"/>
          </p:cNvCxnSpPr>
          <p:nvPr/>
        </p:nvCxnSpPr>
        <p:spPr>
          <a:xfrm>
            <a:off x="2203623" y="3398618"/>
            <a:ext cx="7439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F36DF87-0AC0-6D97-F9AD-4D18F50480F7}"/>
              </a:ext>
            </a:extLst>
          </p:cNvPr>
          <p:cNvCxnSpPr>
            <a:cxnSpLocks/>
            <a:stCxn id="15" idx="6"/>
            <a:endCxn id="20" idx="2"/>
          </p:cNvCxnSpPr>
          <p:nvPr/>
        </p:nvCxnSpPr>
        <p:spPr>
          <a:xfrm>
            <a:off x="4027567" y="3398618"/>
            <a:ext cx="7439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658C78A-39D8-433F-126E-DD009C76FE73}"/>
              </a:ext>
            </a:extLst>
          </p:cNvPr>
          <p:cNvCxnSpPr>
            <a:cxnSpLocks/>
            <a:stCxn id="20" idx="6"/>
            <a:endCxn id="25" idx="2"/>
          </p:cNvCxnSpPr>
          <p:nvPr/>
        </p:nvCxnSpPr>
        <p:spPr>
          <a:xfrm>
            <a:off x="5851511" y="3398618"/>
            <a:ext cx="7439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3DA4EE2-7118-C6B7-953D-6C785081078F}"/>
              </a:ext>
            </a:extLst>
          </p:cNvPr>
          <p:cNvCxnSpPr>
            <a:cxnSpLocks/>
            <a:stCxn id="25" idx="6"/>
            <a:endCxn id="30" idx="2"/>
          </p:cNvCxnSpPr>
          <p:nvPr/>
        </p:nvCxnSpPr>
        <p:spPr>
          <a:xfrm>
            <a:off x="7675455" y="3398618"/>
            <a:ext cx="7439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8504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E66A2-C112-791C-127F-A0823D474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365125"/>
            <a:ext cx="9380975" cy="1325563"/>
          </a:xfrm>
        </p:spPr>
        <p:txBody>
          <a:bodyPr anchor="ctr">
            <a:normAutofit/>
          </a:bodyPr>
          <a:lstStyle/>
          <a:p>
            <a:r>
              <a:rPr lang="en-SE" dirty="0"/>
              <a:t>Prior and Posterior Predictive Checks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EF039-86F5-D52C-E9E1-6589E7B36B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6255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E" dirty="0"/>
              <a:t>We can perform a predictive check (i.e., sample from the model) by putting the collected data of the </a:t>
            </a:r>
            <a:r>
              <a:rPr lang="en-SE"/>
              <a:t>exposure</a:t>
            </a:r>
            <a:r>
              <a:rPr lang="en-SE" dirty="0"/>
              <a:t> and other </a:t>
            </a:r>
            <a:r>
              <a:rPr lang="en-SE"/>
              <a:t>covariates</a:t>
            </a:r>
            <a:r>
              <a:rPr lang="en-SE" dirty="0"/>
              <a:t> in our regression model and checking – given all  the uncertainty of the regression coefficients – what the </a:t>
            </a:r>
            <a:r>
              <a:rPr lang="en-SE"/>
              <a:t>outcome</a:t>
            </a:r>
            <a:r>
              <a:rPr lang="en-SE" dirty="0"/>
              <a:t> would be.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A4DAE2-97D3-0BF6-8DD0-D060126C1C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4F8B7C-2409-3061-AB5A-AD6A15D22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92432-229B-60D5-E0EC-5E0532602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1ECC92-9CDE-4EB3-B1C5-F46B9E1FA3C1}" type="slidenum">
              <a:rPr lang="en-SE" smtClean="0"/>
              <a:pPr>
                <a:spcAft>
                  <a:spcPts val="600"/>
                </a:spcAft>
              </a:pPr>
              <a:t>34</a:t>
            </a:fld>
            <a:endParaRPr lang="en-SE"/>
          </a:p>
        </p:txBody>
      </p:sp>
      <p:pic>
        <p:nvPicPr>
          <p:cNvPr id="1026" name="Picture 2" descr="Fig. 9">
            <a:extLst>
              <a:ext uri="{FF2B5EF4-FFF2-40B4-BE49-F238E27FC236}">
                <a16:creationId xmlns:a16="http://schemas.microsoft.com/office/drawing/2014/main" id="{B20862B0-1035-1329-2844-4EC96C2256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871" b="-3"/>
          <a:stretch>
            <a:fillRect/>
          </a:stretch>
        </p:blipFill>
        <p:spPr bwMode="auto">
          <a:xfrm>
            <a:off x="6191250" y="1825625"/>
            <a:ext cx="5162550" cy="4351338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26843948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06668-94F7-5BB6-B639-42E168B66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21773-71BA-2A36-A7E8-854F39200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The Bayesian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6C2E2-5B6C-0079-6BB9-CEC834701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52299"/>
          </a:xfrm>
        </p:spPr>
        <p:txBody>
          <a:bodyPr/>
          <a:lstStyle/>
          <a:p>
            <a:pPr marL="0" indent="0">
              <a:buNone/>
            </a:pPr>
            <a:r>
              <a:rPr lang="en-SE" dirty="0"/>
              <a:t>The complete Bayesian workflow for evaluating a hypothesis comprises the following steps: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B59428-810D-C606-DD8A-7C8DC5738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CD47D0-00E0-5AEA-A97B-AC9C4495A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50B18-4551-AFE0-0057-D3BBBC9FE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35</a:t>
            </a:fld>
            <a:endParaRPr lang="en-SE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245DE36-5713-E834-71C9-5E99A4C67C91}"/>
              </a:ext>
            </a:extLst>
          </p:cNvPr>
          <p:cNvGrpSpPr/>
          <p:nvPr/>
        </p:nvGrpSpPr>
        <p:grpSpPr>
          <a:xfrm>
            <a:off x="838367" y="2858618"/>
            <a:ext cx="1650511" cy="2819700"/>
            <a:chOff x="5270744" y="3429000"/>
            <a:chExt cx="1650511" cy="281970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3CFCD55-57E8-0C49-6C23-4A9E59EA6AD0}"/>
                </a:ext>
              </a:extLst>
            </p:cNvPr>
            <p:cNvGrpSpPr/>
            <p:nvPr/>
          </p:nvGrpSpPr>
          <p:grpSpPr>
            <a:xfrm>
              <a:off x="5556000" y="3429000"/>
              <a:ext cx="1080000" cy="1080000"/>
              <a:chOff x="3313786" y="3686861"/>
              <a:chExt cx="1080000" cy="1080000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D9FAE568-C214-265E-B412-D0F21372D737}"/>
                  </a:ext>
                </a:extLst>
              </p:cNvPr>
              <p:cNvSpPr/>
              <p:nvPr/>
            </p:nvSpPr>
            <p:spPr>
              <a:xfrm>
                <a:off x="3313786" y="3686861"/>
                <a:ext cx="1080000" cy="1080000"/>
              </a:xfrm>
              <a:prstGeom prst="ellipse">
                <a:avLst/>
              </a:prstGeom>
              <a:solidFill>
                <a:srgbClr val="1E2428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11" name="Graphic 10" descr="Normal Distribution with solid fill">
                <a:extLst>
                  <a:ext uri="{FF2B5EF4-FFF2-40B4-BE49-F238E27FC236}">
                    <a16:creationId xmlns:a16="http://schemas.microsoft.com/office/drawing/2014/main" id="{5F968700-BC26-1D52-CE1F-7DD9F80B8E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p:blipFill>
            <p:spPr>
              <a:xfrm>
                <a:off x="3396586" y="3769661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B9BC21C-BB7A-47FD-F11D-584E25E2F968}"/>
                </a:ext>
              </a:extLst>
            </p:cNvPr>
            <p:cNvSpPr txBox="1"/>
            <p:nvPr/>
          </p:nvSpPr>
          <p:spPr>
            <a:xfrm>
              <a:off x="5270744" y="4586707"/>
              <a:ext cx="1650511" cy="16619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E" b="1" noProof="0" dirty="0"/>
                <a:t>Selecting a distribution family</a:t>
              </a:r>
              <a:endParaRPr lang="en-US" b="1" noProof="0" dirty="0"/>
            </a:p>
            <a:p>
              <a:pPr algn="ctr"/>
              <a:r>
                <a:rPr lang="en-SE" sz="1600" noProof="0" dirty="0"/>
                <a:t>that describes how the data was created</a:t>
              </a:r>
              <a:endParaRPr lang="en-US" sz="1600" noProof="0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8E81E7A-1932-8595-3188-F30CD087D5EB}"/>
              </a:ext>
            </a:extLst>
          </p:cNvPr>
          <p:cNvGrpSpPr/>
          <p:nvPr/>
        </p:nvGrpSpPr>
        <p:grpSpPr>
          <a:xfrm>
            <a:off x="2662311" y="2858618"/>
            <a:ext cx="1650511" cy="2296480"/>
            <a:chOff x="5270744" y="3429000"/>
            <a:chExt cx="1650511" cy="2296480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AF6C005-B3AE-6CAF-F36F-24D9D7FFDEB0}"/>
                </a:ext>
              </a:extLst>
            </p:cNvPr>
            <p:cNvGrpSpPr/>
            <p:nvPr/>
          </p:nvGrpSpPr>
          <p:grpSpPr>
            <a:xfrm>
              <a:off x="5556000" y="3429000"/>
              <a:ext cx="1080000" cy="1080000"/>
              <a:chOff x="3313786" y="3686861"/>
              <a:chExt cx="1080000" cy="108000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DFB8CE54-31A4-8AE5-79D0-BCE3945062E6}"/>
                  </a:ext>
                </a:extLst>
              </p:cNvPr>
              <p:cNvSpPr/>
              <p:nvPr/>
            </p:nvSpPr>
            <p:spPr>
              <a:xfrm>
                <a:off x="3313786" y="3686861"/>
                <a:ext cx="1080000" cy="1080000"/>
              </a:xfrm>
              <a:prstGeom prst="ellipse">
                <a:avLst/>
              </a:prstGeom>
              <a:solidFill>
                <a:schemeClr val="accent4">
                  <a:lumMod val="5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16" name="Graphic 15" descr="Bar chart with solid fill">
                <a:extLst>
                  <a:ext uri="{FF2B5EF4-FFF2-40B4-BE49-F238E27FC236}">
                    <a16:creationId xmlns:a16="http://schemas.microsoft.com/office/drawing/2014/main" id="{8E6373D0-130F-F566-8F7E-47F995ABE6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>
                <a:off x="3396586" y="3769661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47471BF-06D5-6B1A-6C39-EBD96A6A1833}"/>
                </a:ext>
              </a:extLst>
            </p:cNvPr>
            <p:cNvSpPr txBox="1"/>
            <p:nvPr/>
          </p:nvSpPr>
          <p:spPr>
            <a:xfrm>
              <a:off x="5270744" y="4586707"/>
              <a:ext cx="1650511" cy="1138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E" b="1" noProof="0" dirty="0"/>
                <a:t>Selecting priors</a:t>
              </a:r>
              <a:endParaRPr lang="en-US" b="1" noProof="0" dirty="0"/>
            </a:p>
            <a:p>
              <a:pPr algn="ctr"/>
              <a:r>
                <a:rPr lang="en-SE" sz="1600" noProof="0" dirty="0"/>
                <a:t>encoding initial belief</a:t>
              </a:r>
              <a:endParaRPr lang="en-US" sz="1600" noProof="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62A1FDC-9A19-215B-BCB0-737CBC033C68}"/>
              </a:ext>
            </a:extLst>
          </p:cNvPr>
          <p:cNvGrpSpPr/>
          <p:nvPr/>
        </p:nvGrpSpPr>
        <p:grpSpPr>
          <a:xfrm>
            <a:off x="4486255" y="2858618"/>
            <a:ext cx="1650511" cy="2573479"/>
            <a:chOff x="5270744" y="3429000"/>
            <a:chExt cx="1650511" cy="2573479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2862EC5F-45F9-CC26-8E5F-558F1FD88D3C}"/>
                </a:ext>
              </a:extLst>
            </p:cNvPr>
            <p:cNvGrpSpPr/>
            <p:nvPr/>
          </p:nvGrpSpPr>
          <p:grpSpPr>
            <a:xfrm>
              <a:off x="5556000" y="3429000"/>
              <a:ext cx="1080000" cy="1080000"/>
              <a:chOff x="3313786" y="3686861"/>
              <a:chExt cx="1080000" cy="1080000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4D9FE8DB-3571-8383-6731-B81D763ED29E}"/>
                  </a:ext>
                </a:extLst>
              </p:cNvPr>
              <p:cNvSpPr/>
              <p:nvPr/>
            </p:nvSpPr>
            <p:spPr>
              <a:xfrm>
                <a:off x="3313786" y="3686861"/>
                <a:ext cx="1080000" cy="1080000"/>
              </a:xfrm>
              <a:prstGeom prst="ellipse">
                <a:avLst/>
              </a:prstGeom>
              <a:solidFill>
                <a:srgbClr val="404D56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21" name="Graphic 20" descr="Magnifying glass with solid fill">
                <a:extLst>
                  <a:ext uri="{FF2B5EF4-FFF2-40B4-BE49-F238E27FC236}">
                    <a16:creationId xmlns:a16="http://schemas.microsoft.com/office/drawing/2014/main" id="{193F1621-5FA6-F430-1C19-0E9C23D809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/>
            </p:blipFill>
            <p:spPr>
              <a:xfrm>
                <a:off x="3396586" y="3769661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FFE6A7C-131B-3333-93E9-5935B7AF6B00}"/>
                </a:ext>
              </a:extLst>
            </p:cNvPr>
            <p:cNvSpPr txBox="1"/>
            <p:nvPr/>
          </p:nvSpPr>
          <p:spPr>
            <a:xfrm>
              <a:off x="5270744" y="4586707"/>
              <a:ext cx="1650511" cy="14157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E" b="1" noProof="0" dirty="0"/>
                <a:t>Prior predictive check</a:t>
              </a:r>
              <a:endParaRPr lang="en-US" b="1" noProof="0" dirty="0"/>
            </a:p>
            <a:p>
              <a:pPr algn="ctr"/>
              <a:r>
                <a:rPr lang="en-SE" sz="1600" noProof="0" dirty="0"/>
                <a:t>confirming their eligibility</a:t>
              </a:r>
              <a:endParaRPr lang="en-US" sz="1600" noProof="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DE7E3C4-4EB4-DF32-9286-B5C9A22BF1A6}"/>
              </a:ext>
            </a:extLst>
          </p:cNvPr>
          <p:cNvGrpSpPr/>
          <p:nvPr/>
        </p:nvGrpSpPr>
        <p:grpSpPr>
          <a:xfrm>
            <a:off x="6310199" y="2858618"/>
            <a:ext cx="1650511" cy="2019481"/>
            <a:chOff x="5270744" y="3429000"/>
            <a:chExt cx="1650511" cy="2019481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9255448C-DCA0-8DA2-A61E-32C698276E1F}"/>
                </a:ext>
              </a:extLst>
            </p:cNvPr>
            <p:cNvGrpSpPr/>
            <p:nvPr/>
          </p:nvGrpSpPr>
          <p:grpSpPr>
            <a:xfrm>
              <a:off x="5556000" y="3429000"/>
              <a:ext cx="1080000" cy="1080000"/>
              <a:chOff x="3313786" y="3686861"/>
              <a:chExt cx="1080000" cy="1080000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160A9EA-9543-C8AC-3246-706776F20EA8}"/>
                  </a:ext>
                </a:extLst>
              </p:cNvPr>
              <p:cNvSpPr/>
              <p:nvPr/>
            </p:nvSpPr>
            <p:spPr>
              <a:xfrm>
                <a:off x="3313786" y="3686861"/>
                <a:ext cx="1080000" cy="1080000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26" name="Graphic 25" descr="Single gear with solid fill">
                <a:extLst>
                  <a:ext uri="{FF2B5EF4-FFF2-40B4-BE49-F238E27FC236}">
                    <a16:creationId xmlns:a16="http://schemas.microsoft.com/office/drawing/2014/main" id="{5C2041F9-824E-4F6D-C736-4AB1A40CC2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/>
            </p:blipFill>
            <p:spPr>
              <a:xfrm>
                <a:off x="3396586" y="3769661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9C077B2-5456-51C8-71F4-CA9E380C9A34}"/>
                </a:ext>
              </a:extLst>
            </p:cNvPr>
            <p:cNvSpPr txBox="1"/>
            <p:nvPr/>
          </p:nvSpPr>
          <p:spPr>
            <a:xfrm>
              <a:off x="5270744" y="4586707"/>
              <a:ext cx="1650511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E" b="1" noProof="0" dirty="0"/>
                <a:t>Model fitting</a:t>
              </a:r>
              <a:endParaRPr lang="en-US" b="1" noProof="0" dirty="0"/>
            </a:p>
            <a:p>
              <a:pPr algn="ctr"/>
              <a:r>
                <a:rPr lang="en-SE" sz="1600" noProof="0" dirty="0"/>
                <a:t>via MCMC sampling</a:t>
              </a:r>
              <a:endParaRPr lang="en-US" sz="1600" noProof="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5CC219C-9AFD-2BB2-E18A-69831FC38712}"/>
              </a:ext>
            </a:extLst>
          </p:cNvPr>
          <p:cNvGrpSpPr/>
          <p:nvPr/>
        </p:nvGrpSpPr>
        <p:grpSpPr>
          <a:xfrm>
            <a:off x="8134143" y="2858618"/>
            <a:ext cx="1650511" cy="2573479"/>
            <a:chOff x="5270744" y="3429000"/>
            <a:chExt cx="1650511" cy="2573479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4F2B6917-E80D-6A54-4292-F1B823EC4595}"/>
                </a:ext>
              </a:extLst>
            </p:cNvPr>
            <p:cNvGrpSpPr/>
            <p:nvPr/>
          </p:nvGrpSpPr>
          <p:grpSpPr>
            <a:xfrm>
              <a:off x="5556000" y="3429000"/>
              <a:ext cx="1080000" cy="1080000"/>
              <a:chOff x="3313786" y="3686861"/>
              <a:chExt cx="1080000" cy="1080000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9B0979B7-5277-B6D3-4DC4-6BD3CE6382F9}"/>
                  </a:ext>
                </a:extLst>
              </p:cNvPr>
              <p:cNvSpPr/>
              <p:nvPr/>
            </p:nvSpPr>
            <p:spPr>
              <a:xfrm>
                <a:off x="3313786" y="3686861"/>
                <a:ext cx="1080000" cy="1080000"/>
              </a:xfrm>
              <a:prstGeom prst="ellipse">
                <a:avLst/>
              </a:prstGeom>
              <a:solidFill>
                <a:srgbClr val="7F929D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31" name="Graphic 30" descr="Magnifying glass with solid fill">
                <a:extLst>
                  <a:ext uri="{FF2B5EF4-FFF2-40B4-BE49-F238E27FC236}">
                    <a16:creationId xmlns:a16="http://schemas.microsoft.com/office/drawing/2014/main" id="{FDBB3C8A-30B9-83A2-305F-56C1DE2829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/>
            </p:blipFill>
            <p:spPr>
              <a:xfrm>
                <a:off x="3396586" y="3769661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51C1F21-4ADD-5110-BE5C-930DE8BA9EC8}"/>
                </a:ext>
              </a:extLst>
            </p:cNvPr>
            <p:cNvSpPr txBox="1"/>
            <p:nvPr/>
          </p:nvSpPr>
          <p:spPr>
            <a:xfrm>
              <a:off x="5270744" y="4586707"/>
              <a:ext cx="1650511" cy="14157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E" b="1" noProof="0" dirty="0"/>
                <a:t>Posterior predictive check</a:t>
              </a:r>
              <a:endParaRPr lang="en-US" b="1" noProof="0" dirty="0"/>
            </a:p>
            <a:p>
              <a:pPr algn="ctr"/>
              <a:r>
                <a:rPr lang="en-SE" sz="1600" noProof="0" dirty="0"/>
                <a:t>to confirm model training</a:t>
              </a:r>
              <a:endParaRPr lang="en-US" sz="1600" noProof="0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F062E44-445D-CC7E-0876-C8587294A6AF}"/>
              </a:ext>
            </a:extLst>
          </p:cNvPr>
          <p:cNvGrpSpPr/>
          <p:nvPr/>
        </p:nvGrpSpPr>
        <p:grpSpPr>
          <a:xfrm>
            <a:off x="9958088" y="2858618"/>
            <a:ext cx="1650511" cy="2019481"/>
            <a:chOff x="5270744" y="3429000"/>
            <a:chExt cx="1650511" cy="2019481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394F1CD5-4F26-40F0-AE2D-F07D819C9CDC}"/>
                </a:ext>
              </a:extLst>
            </p:cNvPr>
            <p:cNvGrpSpPr/>
            <p:nvPr/>
          </p:nvGrpSpPr>
          <p:grpSpPr>
            <a:xfrm>
              <a:off x="5556000" y="3429000"/>
              <a:ext cx="1080000" cy="1080000"/>
              <a:chOff x="3313786" y="3686861"/>
              <a:chExt cx="1080000" cy="1080000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13B1134C-8CE9-6642-6A3C-10BB85077DEA}"/>
                  </a:ext>
                </a:extLst>
              </p:cNvPr>
              <p:cNvSpPr/>
              <p:nvPr/>
            </p:nvSpPr>
            <p:spPr>
              <a:xfrm>
                <a:off x="3313786" y="3686861"/>
                <a:ext cx="1080000" cy="108000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36" name="Graphic 35" descr="Presentation with pie chart with solid fill">
                <a:extLst>
                  <a:ext uri="{FF2B5EF4-FFF2-40B4-BE49-F238E27FC236}">
                    <a16:creationId xmlns:a16="http://schemas.microsoft.com/office/drawing/2014/main" id="{A9993DE8-CADB-9B67-6F9B-BA2E5BE43B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rcRect/>
              <a:stretch/>
            </p:blipFill>
            <p:spPr>
              <a:xfrm>
                <a:off x="3396586" y="3769661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02AF49C-9F9D-B50C-754B-19C3B97E57BC}"/>
                </a:ext>
              </a:extLst>
            </p:cNvPr>
            <p:cNvSpPr txBox="1"/>
            <p:nvPr/>
          </p:nvSpPr>
          <p:spPr>
            <a:xfrm>
              <a:off x="5270744" y="4586707"/>
              <a:ext cx="1650511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E" b="1" noProof="0" dirty="0"/>
                <a:t>Evaluating</a:t>
              </a:r>
              <a:endParaRPr lang="en-US" b="1" noProof="0" dirty="0"/>
            </a:p>
            <a:p>
              <a:pPr algn="ctr"/>
              <a:r>
                <a:rPr lang="en-SE" sz="1600" noProof="0" dirty="0"/>
                <a:t>the results of the model</a:t>
              </a:r>
              <a:endParaRPr lang="en-US" sz="1600" noProof="0" dirty="0"/>
            </a:p>
          </p:txBody>
        </p:sp>
      </p:grp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D340C7E-7EB9-47A6-F3A7-7188EE36CC65}"/>
              </a:ext>
            </a:extLst>
          </p:cNvPr>
          <p:cNvCxnSpPr>
            <a:stCxn id="10" idx="6"/>
            <a:endCxn id="15" idx="2"/>
          </p:cNvCxnSpPr>
          <p:nvPr/>
        </p:nvCxnSpPr>
        <p:spPr>
          <a:xfrm>
            <a:off x="2203623" y="3398618"/>
            <a:ext cx="7439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AD9C64F-4B46-5C74-6D1F-C79908F02729}"/>
              </a:ext>
            </a:extLst>
          </p:cNvPr>
          <p:cNvCxnSpPr>
            <a:cxnSpLocks/>
            <a:stCxn id="15" idx="6"/>
            <a:endCxn id="20" idx="2"/>
          </p:cNvCxnSpPr>
          <p:nvPr/>
        </p:nvCxnSpPr>
        <p:spPr>
          <a:xfrm>
            <a:off x="4027567" y="3398618"/>
            <a:ext cx="7439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2A9E5EE-6FF1-4A6C-B0AB-65EEEE1C28F4}"/>
              </a:ext>
            </a:extLst>
          </p:cNvPr>
          <p:cNvCxnSpPr>
            <a:cxnSpLocks/>
            <a:stCxn id="20" idx="6"/>
            <a:endCxn id="25" idx="2"/>
          </p:cNvCxnSpPr>
          <p:nvPr/>
        </p:nvCxnSpPr>
        <p:spPr>
          <a:xfrm>
            <a:off x="5851511" y="3398618"/>
            <a:ext cx="7439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21EE914-4098-F71B-661D-F47DAA9BE98F}"/>
              </a:ext>
            </a:extLst>
          </p:cNvPr>
          <p:cNvCxnSpPr>
            <a:cxnSpLocks/>
            <a:stCxn id="25" idx="6"/>
            <a:endCxn id="30" idx="2"/>
          </p:cNvCxnSpPr>
          <p:nvPr/>
        </p:nvCxnSpPr>
        <p:spPr>
          <a:xfrm>
            <a:off x="7675455" y="3398618"/>
            <a:ext cx="7439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87BC1EA-7623-617F-4E7D-6222344066EA}"/>
              </a:ext>
            </a:extLst>
          </p:cNvPr>
          <p:cNvCxnSpPr>
            <a:cxnSpLocks/>
            <a:stCxn id="30" idx="6"/>
            <a:endCxn id="35" idx="2"/>
          </p:cNvCxnSpPr>
          <p:nvPr/>
        </p:nvCxnSpPr>
        <p:spPr>
          <a:xfrm>
            <a:off x="9499399" y="3398618"/>
            <a:ext cx="7439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21407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698B8-A638-B1D3-93FB-71216CBAD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Evaluating Bayesian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6575A-8CBC-D3EA-CEFF-C893F39FFA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SE" dirty="0"/>
              <a:t>The result of a Bayesian regression model are </a:t>
            </a:r>
            <a:r>
              <a:rPr lang="en-SE" b="1" dirty="0"/>
              <a:t>credible intervals</a:t>
            </a:r>
            <a:r>
              <a:rPr lang="en-SE" dirty="0"/>
              <a:t> for each regression coefficient representing their </a:t>
            </a:r>
            <a:r>
              <a:rPr lang="en-SE" i="1" dirty="0"/>
              <a:t>effect on the outcome</a:t>
            </a:r>
            <a:r>
              <a:rPr lang="en-SE" dirty="0"/>
              <a:t>. They are set at a certain level (e.g., 95% or 89%) but should not be confused with </a:t>
            </a:r>
            <a:r>
              <a:rPr lang="en-SE" b="1" dirty="0"/>
              <a:t>confidence intervals</a:t>
            </a:r>
            <a:r>
              <a:rPr lang="en-SE" dirty="0"/>
              <a:t>:</a:t>
            </a:r>
          </a:p>
          <a:p>
            <a:r>
              <a:rPr lang="en-SE" dirty="0"/>
              <a:t>(Bayesian) </a:t>
            </a:r>
            <a:r>
              <a:rPr lang="en-SE" b="1" dirty="0"/>
              <a:t>credible intervals </a:t>
            </a:r>
            <a:r>
              <a:rPr lang="en-SE" dirty="0"/>
              <a:t>mean g</a:t>
            </a:r>
            <a:r>
              <a:rPr lang="en-US" dirty="0" err="1"/>
              <a:t>iven</a:t>
            </a:r>
            <a:r>
              <a:rPr lang="en-US" dirty="0"/>
              <a:t> the </a:t>
            </a:r>
            <a:r>
              <a:rPr lang="en-SE" dirty="0"/>
              <a:t>observed </a:t>
            </a:r>
            <a:r>
              <a:rPr lang="en-US" dirty="0"/>
              <a:t>data, there is a </a:t>
            </a:r>
            <a:r>
              <a:rPr lang="en-SE" dirty="0"/>
              <a:t>X</a:t>
            </a:r>
            <a:r>
              <a:rPr lang="en-US" dirty="0"/>
              <a:t>% probability that the true parameter value lies within this interval.</a:t>
            </a:r>
            <a:endParaRPr lang="en-SE" dirty="0"/>
          </a:p>
          <a:p>
            <a:r>
              <a:rPr lang="en-SE" dirty="0"/>
              <a:t>(frequentist) </a:t>
            </a:r>
            <a:r>
              <a:rPr lang="en-SE" b="1" dirty="0"/>
              <a:t>confidence intervals</a:t>
            </a:r>
            <a:r>
              <a:rPr lang="en-SE" dirty="0"/>
              <a:t> mean when </a:t>
            </a:r>
            <a:r>
              <a:rPr lang="en-US" dirty="0"/>
              <a:t>repeat</a:t>
            </a:r>
            <a:r>
              <a:rPr lang="en-SE" dirty="0" err="1"/>
              <a:t>ing</a:t>
            </a:r>
            <a:r>
              <a:rPr lang="en-SE" dirty="0"/>
              <a:t> </a:t>
            </a:r>
            <a:r>
              <a:rPr lang="en-US" dirty="0"/>
              <a:t>this experiment infinitely many times and </a:t>
            </a:r>
            <a:r>
              <a:rPr lang="en-US" dirty="0" err="1"/>
              <a:t>comput</a:t>
            </a:r>
            <a:r>
              <a:rPr lang="en-SE" dirty="0" err="1"/>
              <a:t>ing</a:t>
            </a:r>
            <a:r>
              <a:rPr lang="en-US" dirty="0"/>
              <a:t> a confidence interval each time, </a:t>
            </a:r>
            <a:r>
              <a:rPr lang="en-SE" dirty="0"/>
              <a:t>X</a:t>
            </a:r>
            <a:r>
              <a:rPr lang="en-US" dirty="0"/>
              <a:t>% of those intervals would contain the true parameter value.</a:t>
            </a:r>
            <a:endParaRPr lang="en-S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AC417-20FA-78FB-5BB3-C6D18EFA9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0BD30-377F-D151-8C3F-80DA57E70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62353D-48D4-54D9-EA83-4609F6D63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36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6674856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DF9A2-5E10-742C-E5FC-C3D547062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Evaluating Bayesian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A5131-E9C6-AA94-465D-AC2B1F25A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11216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E" dirty="0"/>
              <a:t>Credible intervals of regression coefficients indicate, which variable affects the outcome significantly.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14369-3E92-3EEE-A61D-A624313FE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DC4B3-7609-2BB5-3065-160985710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E6E8E-A204-454E-C746-0CA8E1FA1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37</a:t>
            </a:fld>
            <a:endParaRPr lang="en-S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BB9DC2-2A1A-15D7-34D4-D1BAB3A23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8" y="2721295"/>
            <a:ext cx="5121084" cy="3635055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FCAC87B-C535-FFE2-D16E-FACD0D6FFF18}"/>
              </a:ext>
            </a:extLst>
          </p:cNvPr>
          <p:cNvSpPr txBox="1">
            <a:spLocks/>
          </p:cNvSpPr>
          <p:nvPr/>
        </p:nvSpPr>
        <p:spPr>
          <a:xfrm>
            <a:off x="6232716" y="4808764"/>
            <a:ext cx="5121084" cy="13065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SE" dirty="0"/>
              <a:t>Here, significance is achieved if the interval is consistently above or below 0.</a:t>
            </a:r>
          </a:p>
        </p:txBody>
      </p:sp>
    </p:spTree>
    <p:extLst>
      <p:ext uri="{BB962C8B-B14F-4D97-AF65-F5344CB8AC3E}">
        <p14:creationId xmlns:p14="http://schemas.microsoft.com/office/powerpoint/2010/main" val="13346087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391B2-689C-5CB9-D1CE-4611727A3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Evaluating Bayesian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C34E8-EA51-4C6E-B5DC-9E6331E6CB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SE" dirty="0"/>
              <a:t>If the distribution family of the regression model requires a link function, the credible intervals of regression coefficients cannot be interpreted directly anymore.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530091-CED7-39A5-3F52-CCB42CC90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5B54B-DB1E-01E3-28E9-77468230E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7CACFC-8D70-F102-B75C-28D471AFD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38</a:t>
            </a:fld>
            <a:endParaRPr lang="en-SE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38F1F09-98E5-97AD-CCB4-82F1CC572237}"/>
              </a:ext>
            </a:extLst>
          </p:cNvPr>
          <p:cNvGrpSpPr/>
          <p:nvPr/>
        </p:nvGrpSpPr>
        <p:grpSpPr>
          <a:xfrm>
            <a:off x="1205593" y="3429000"/>
            <a:ext cx="5139831" cy="1853535"/>
            <a:chOff x="3668109" y="3213883"/>
            <a:chExt cx="5139831" cy="18535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01F638D-0844-F399-B998-3B3F3F656AC4}"/>
                    </a:ext>
                  </a:extLst>
                </p:cNvPr>
                <p:cNvSpPr txBox="1"/>
                <p:nvPr/>
              </p:nvSpPr>
              <p:spPr>
                <a:xfrm>
                  <a:off x="3668109" y="3213883"/>
                  <a:ext cx="284206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SE" b="0" i="1" smtClean="0">
                            <a:solidFill>
                              <a:srgbClr val="006D70"/>
                            </a:solidFill>
                            <a:latin typeface="Cambria Math" panose="02040503050406030204" pitchFamily="18" charset="0"/>
                          </a:rPr>
                          <m:t>𝑝𝑟𝑜𝑑𝑢𝑐𝑡𝑖𝑣𝑖𝑡𝑦</m:t>
                        </m:r>
                        <m:r>
                          <a:rPr lang="en-SE" b="0" i="1" smtClean="0">
                            <a:latin typeface="Cambria Math" panose="02040503050406030204" pitchFamily="18" charset="0"/>
                          </a:rPr>
                          <m:t> ~ </m:t>
                        </m:r>
                        <m:r>
                          <a:rPr lang="en-SE" b="0" i="1" smtClean="0">
                            <a:latin typeface="Cambria Math" panose="02040503050406030204" pitchFamily="18" charset="0"/>
                          </a:rPr>
                          <m:t>𝑃𝑜𝑖𝑠𝑠𝑜𝑛</m:t>
                        </m:r>
                        <m:r>
                          <a:rPr lang="en-SE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SE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SE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SE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01F638D-0844-F399-B998-3B3F3F656A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68109" y="3213883"/>
                  <a:ext cx="2842060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1288" t="-4444" r="-1502" b="-33333"/>
                  </a:stretch>
                </a:blipFill>
              </p:spPr>
              <p:txBody>
                <a:bodyPr/>
                <a:lstStyle/>
                <a:p>
                  <a:r>
                    <a:rPr lang="en-S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6A71DEB1-BD46-3470-717D-5FDFE87B3994}"/>
                    </a:ext>
                  </a:extLst>
                </p:cNvPr>
                <p:cNvSpPr txBox="1"/>
                <p:nvPr/>
              </p:nvSpPr>
              <p:spPr>
                <a:xfrm>
                  <a:off x="4742905" y="4002151"/>
                  <a:ext cx="214687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SE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SE" b="0" i="1" smtClean="0">
                            <a:latin typeface="Cambria Math" panose="02040503050406030204" pitchFamily="18" charset="0"/>
                          </a:rPr>
                          <m:t> ~ </m:t>
                        </m:r>
                        <m:r>
                          <a:rPr lang="en-SE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SE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SE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SE" b="0" i="1" smtClean="0">
                            <a:latin typeface="Cambria Math" panose="02040503050406030204" pitchFamily="18" charset="0"/>
                          </a:rPr>
                          <m:t>= 5, </m:t>
                        </m:r>
                        <m:r>
                          <a:rPr lang="en-SE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SE" b="0" i="1" smtClean="0">
                            <a:latin typeface="Cambria Math" panose="02040503050406030204" pitchFamily="18" charset="0"/>
                          </a:rPr>
                          <m:t>=2)</m:t>
                        </m:r>
                      </m:oMath>
                    </m:oMathPara>
                  </a14:m>
                  <a:endParaRPr lang="en-SE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6A71DEB1-BD46-3470-717D-5FDFE87B39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2905" y="4002151"/>
                  <a:ext cx="2146870" cy="276999"/>
                </a:xfrm>
                <a:prstGeom prst="rect">
                  <a:avLst/>
                </a:prstGeom>
                <a:blipFill>
                  <a:blip r:embed="rId3"/>
                  <a:stretch>
                    <a:fillRect t="-2222" r="-2557" b="-35556"/>
                  </a:stretch>
                </a:blipFill>
              </p:spPr>
              <p:txBody>
                <a:bodyPr/>
                <a:lstStyle/>
                <a:p>
                  <a:r>
                    <a:rPr lang="en-S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102D873B-4892-7594-0C14-245890AC232C}"/>
                    </a:ext>
                  </a:extLst>
                </p:cNvPr>
                <p:cNvSpPr txBox="1"/>
                <p:nvPr/>
              </p:nvSpPr>
              <p:spPr>
                <a:xfrm>
                  <a:off x="4606305" y="4396285"/>
                  <a:ext cx="220464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S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E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SE" b="0" i="1" smtClean="0">
                                <a:latin typeface="Cambria Math" panose="02040503050406030204" pitchFamily="18" charset="0"/>
                              </a:rPr>
                              <m:t>𝑎𝑖</m:t>
                            </m:r>
                          </m:sub>
                        </m:sSub>
                        <m:r>
                          <a:rPr lang="en-SE" b="0" i="1" smtClean="0">
                            <a:latin typeface="Cambria Math" panose="02040503050406030204" pitchFamily="18" charset="0"/>
                          </a:rPr>
                          <m:t> ~ </m:t>
                        </m:r>
                        <m:r>
                          <a:rPr lang="en-SE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SE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SE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SE" b="0" i="1" smtClean="0">
                            <a:latin typeface="Cambria Math" panose="02040503050406030204" pitchFamily="18" charset="0"/>
                          </a:rPr>
                          <m:t>=0, </m:t>
                        </m:r>
                        <m:r>
                          <a:rPr lang="en-SE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SE" b="0" i="1" smtClean="0">
                            <a:latin typeface="Cambria Math" panose="02040503050406030204" pitchFamily="18" charset="0"/>
                          </a:rPr>
                          <m:t>=1)</m:t>
                        </m:r>
                      </m:oMath>
                    </m:oMathPara>
                  </a14:m>
                  <a:endParaRPr lang="en-SE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102D873B-4892-7594-0C14-245890AC23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06305" y="4396285"/>
                  <a:ext cx="2204642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3601" t="-2174" r="-3878" b="-32609"/>
                  </a:stretch>
                </a:blipFill>
              </p:spPr>
              <p:txBody>
                <a:bodyPr/>
                <a:lstStyle/>
                <a:p>
                  <a:r>
                    <a:rPr lang="en-S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9BE5C26B-0210-FA32-755C-325D3811C266}"/>
                    </a:ext>
                  </a:extLst>
                </p:cNvPr>
                <p:cNvSpPr txBox="1"/>
                <p:nvPr/>
              </p:nvSpPr>
              <p:spPr>
                <a:xfrm>
                  <a:off x="4606305" y="4790419"/>
                  <a:ext cx="237007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S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E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SE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SE" b="0" i="1" smtClean="0">
                            <a:latin typeface="Cambria Math" panose="02040503050406030204" pitchFamily="18" charset="0"/>
                          </a:rPr>
                          <m:t> ~ </m:t>
                        </m:r>
                        <m:r>
                          <a:rPr lang="en-SE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SE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SE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SE" b="0" i="1" smtClean="0">
                            <a:latin typeface="Cambria Math" panose="02040503050406030204" pitchFamily="18" charset="0"/>
                          </a:rPr>
                          <m:t>=3, </m:t>
                        </m:r>
                        <m:r>
                          <a:rPr lang="en-SE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SE" b="0" i="1" smtClean="0">
                            <a:latin typeface="Cambria Math" panose="02040503050406030204" pitchFamily="18" charset="0"/>
                          </a:rPr>
                          <m:t>=0.5)</m:t>
                        </m:r>
                      </m:oMath>
                    </m:oMathPara>
                  </a14:m>
                  <a:endParaRPr lang="en-SE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9BE5C26B-0210-FA32-755C-325D3811C2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06305" y="4790419"/>
                  <a:ext cx="2370072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3093" t="-2174" r="-3608" b="-32609"/>
                  </a:stretch>
                </a:blipFill>
              </p:spPr>
              <p:txBody>
                <a:bodyPr/>
                <a:lstStyle/>
                <a:p>
                  <a:r>
                    <a:rPr lang="en-S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FDC66610-C75B-4DCF-5F90-E9C8242D8B8D}"/>
                    </a:ext>
                  </a:extLst>
                </p:cNvPr>
                <p:cNvSpPr txBox="1"/>
                <p:nvPr/>
              </p:nvSpPr>
              <p:spPr>
                <a:xfrm>
                  <a:off x="4243550" y="3608017"/>
                  <a:ext cx="456439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SE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SE" b="1" i="0" smtClean="0">
                                <a:latin typeface="Cambria Math" panose="02040503050406030204" pitchFamily="18" charset="0"/>
                              </a:rPr>
                              <m:t>𝐥𝐨𝐠</m:t>
                            </m:r>
                          </m:fName>
                          <m:e>
                            <m:d>
                              <m:dPr>
                                <m:ctrlPr>
                                  <a:rPr lang="en-S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SE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</m:d>
                          </m:e>
                        </m:func>
                        <m:r>
                          <a:rPr lang="en-SE" b="0" i="1" smtClean="0">
                            <a:latin typeface="Cambria Math" panose="02040503050406030204" pitchFamily="18" charset="0"/>
                          </a:rPr>
                          <m:t>←</m:t>
                        </m:r>
                        <m:r>
                          <a:rPr lang="en-SE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SE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S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E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SE" b="0" i="1" smtClean="0">
                                <a:latin typeface="Cambria Math" panose="02040503050406030204" pitchFamily="18" charset="0"/>
                              </a:rPr>
                              <m:t>𝑎𝑖</m:t>
                            </m:r>
                          </m:sub>
                        </m:sSub>
                        <m:r>
                          <a:rPr lang="en-SE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SE" b="0" i="1" smtClean="0">
                            <a:solidFill>
                              <a:srgbClr val="D0180A"/>
                            </a:solidFill>
                            <a:latin typeface="Cambria Math" panose="02040503050406030204" pitchFamily="18" charset="0"/>
                          </a:rPr>
                          <m:t>𝐺𝑒𝑛𝐴𝐼</m:t>
                        </m:r>
                        <m:r>
                          <a:rPr lang="en-SE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S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E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SE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SE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SE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𝑚𝑜𝑡𝑖𝑣𝑎𝑡𝑖𝑜𝑛</m:t>
                        </m:r>
                        <m:r>
                          <a:rPr lang="en-SE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</m:oMath>
                    </m:oMathPara>
                  </a14:m>
                  <a:endParaRPr lang="en-SE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FDC66610-C75B-4DCF-5F90-E9C8242D8B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3550" y="3608017"/>
                  <a:ext cx="4564390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1202" t="-4348" b="-34783"/>
                  </a:stretch>
                </a:blipFill>
              </p:spPr>
              <p:txBody>
                <a:bodyPr/>
                <a:lstStyle/>
                <a:p>
                  <a:r>
                    <a:rPr lang="en-SE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A05E25D0-2B2F-A904-2BC9-CF065D4569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9790" y="3165576"/>
            <a:ext cx="4464010" cy="316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8858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623F5-C54A-D6AA-AD6D-1D62E0A55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Evaluating Bayesian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6B234-F6D0-985E-D661-26C0F5A1DC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SE" dirty="0"/>
              <a:t>The most natural result that a Bayesian regression model produces is a </a:t>
            </a:r>
            <a:r>
              <a:rPr lang="en-SE" b="1" dirty="0"/>
              <a:t>marginal effect</a:t>
            </a:r>
            <a:r>
              <a:rPr lang="en-SE" dirty="0"/>
              <a:t>, i.e., the isolated effect of one variable while keeping the others constant at a representative level. It encodes all uncertainty by all variables and serves to illustrate the true effect.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8D406-A531-B11B-8ED0-CB8B80560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74699-E5F2-51C3-817B-031DD824A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07A74-F293-A512-6E15-EE0765DED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39</a:t>
            </a:fld>
            <a:endParaRPr lang="en-S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871A30-14EC-E6FC-767C-58B4C6DA9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470" y="3719319"/>
            <a:ext cx="3653703" cy="25473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8E589B4-D70F-27F4-F069-5EDF2BEE16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4566" y="3719320"/>
            <a:ext cx="3653703" cy="252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6537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41C85E0-3D2A-7108-9C52-280BEC3FD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Limitations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39B5DBA-EAF9-5F9C-B15B-63DDD4563A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844FDE-EDEB-DEF6-4EA0-C5295E03A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A3FC51-B1D6-EF5F-3439-70821C8D1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481932-87D0-7FB2-57D3-217DAAD4C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40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6884905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49712-4ACC-6EA4-EAEC-F54A8B2C9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Subjectivity of Priors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797B4-94D5-178C-FDAE-28004F0BEF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SE" dirty="0"/>
              <a:t>Prior probability distributions are – by nature – </a:t>
            </a:r>
            <a:r>
              <a:rPr lang="en-SE" b="1" dirty="0"/>
              <a:t>subjective </a:t>
            </a:r>
            <a:r>
              <a:rPr lang="en-SE" dirty="0"/>
              <a:t>and there is no standard procedure to ensure their “correctness”. However, they are</a:t>
            </a:r>
          </a:p>
          <a:p>
            <a:r>
              <a:rPr lang="en-SE" b="1" dirty="0"/>
              <a:t>explicit</a:t>
            </a:r>
            <a:r>
              <a:rPr lang="en-SE" dirty="0"/>
              <a:t>, i.e., clearly communicated, and</a:t>
            </a:r>
          </a:p>
          <a:p>
            <a:r>
              <a:rPr lang="en-SE" b="1" dirty="0"/>
              <a:t>changeable</a:t>
            </a:r>
            <a:r>
              <a:rPr lang="en-SE" dirty="0"/>
              <a:t>, i.e., possible to update given new information.</a:t>
            </a:r>
          </a:p>
          <a:p>
            <a:pPr marL="0" indent="0">
              <a:buNone/>
            </a:pPr>
            <a:r>
              <a:rPr lang="en-SE" dirty="0"/>
              <a:t>In general, a sufficient number of samples will “overwhelm” even strict priors. On the positive side, they serve as a bridge to consider qualitative domain knowledge.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89617-5262-1D08-BBC6-40527D0A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06872-3543-B83B-D9C6-1588BF238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60021-6DBB-BC69-1AAB-4A7BD9EB1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41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2743631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0C72-66C3-6F6B-FEAC-90558178D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3D6DF-E97D-E8E8-F09E-AD7C000C27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78213"/>
          </a:xfrm>
        </p:spPr>
        <p:txBody>
          <a:bodyPr/>
          <a:lstStyle/>
          <a:p>
            <a:pPr marL="0" indent="0">
              <a:buNone/>
            </a:pPr>
            <a:r>
              <a:rPr lang="en-SE" dirty="0"/>
              <a:t>Despite all its advantages, Bayesian data analysis has several drawbacks, including: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E5A3E9-B2E0-6486-08E2-29D5E0D3B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108E7-F5B9-BF0F-5E7D-8E41DE617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098AB-62A2-B1C3-36DC-080F7CE18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42</a:t>
            </a:fld>
            <a:endParaRPr lang="en-SE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3016034-F668-8D21-4F1B-284232DD58B0}"/>
              </a:ext>
            </a:extLst>
          </p:cNvPr>
          <p:cNvGrpSpPr/>
          <p:nvPr/>
        </p:nvGrpSpPr>
        <p:grpSpPr>
          <a:xfrm>
            <a:off x="955244" y="2922370"/>
            <a:ext cx="2403652" cy="2348074"/>
            <a:chOff x="4894174" y="3429000"/>
            <a:chExt cx="2403652" cy="2348074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AF121C0C-2A93-7163-30A4-976007FEF370}"/>
                </a:ext>
              </a:extLst>
            </p:cNvPr>
            <p:cNvGrpSpPr/>
            <p:nvPr/>
          </p:nvGrpSpPr>
          <p:grpSpPr>
            <a:xfrm>
              <a:off x="5556000" y="3429000"/>
              <a:ext cx="1080000" cy="1080000"/>
              <a:chOff x="3313786" y="3686861"/>
              <a:chExt cx="1080000" cy="1080000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BEA5F9C-C570-A490-272B-BF6708535664}"/>
                  </a:ext>
                </a:extLst>
              </p:cNvPr>
              <p:cNvSpPr/>
              <p:nvPr/>
            </p:nvSpPr>
            <p:spPr>
              <a:xfrm>
                <a:off x="3313786" y="3686861"/>
                <a:ext cx="1080000" cy="1080000"/>
              </a:xfrm>
              <a:prstGeom prst="ellips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26" name="Graphic 25" descr="Snail with solid fill">
                <a:extLst>
                  <a:ext uri="{FF2B5EF4-FFF2-40B4-BE49-F238E27FC236}">
                    <a16:creationId xmlns:a16="http://schemas.microsoft.com/office/drawing/2014/main" id="{CCE9CE7B-0DF5-2FCF-D009-D008EC17AA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p:blipFill>
            <p:spPr>
              <a:xfrm>
                <a:off x="3396586" y="3769661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609A636-A573-7D23-A44B-9CA0706D7FC3}"/>
                </a:ext>
              </a:extLst>
            </p:cNvPr>
            <p:cNvSpPr txBox="1"/>
            <p:nvPr/>
          </p:nvSpPr>
          <p:spPr>
            <a:xfrm>
              <a:off x="4894174" y="4669078"/>
              <a:ext cx="2403652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E" b="1" noProof="0" dirty="0"/>
                <a:t>Slow to compute</a:t>
              </a:r>
              <a:endParaRPr lang="en-US" b="1" noProof="0" dirty="0"/>
            </a:p>
            <a:p>
              <a:pPr algn="ctr"/>
              <a:r>
                <a:rPr lang="en-SE" sz="1600" noProof="0" dirty="0"/>
                <a:t>Converging a model requires significantly more time than a NHST</a:t>
              </a:r>
              <a:endParaRPr lang="en-US" sz="1600" noProof="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8DE563B-07CA-E6F3-220D-5D4577DFD9DC}"/>
              </a:ext>
            </a:extLst>
          </p:cNvPr>
          <p:cNvGrpSpPr/>
          <p:nvPr/>
        </p:nvGrpSpPr>
        <p:grpSpPr>
          <a:xfrm>
            <a:off x="3492902" y="2922370"/>
            <a:ext cx="2403652" cy="2348074"/>
            <a:chOff x="4894174" y="3429000"/>
            <a:chExt cx="2403652" cy="2348074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997EA9D5-49A6-CFFE-EE20-C1925A208A41}"/>
                </a:ext>
              </a:extLst>
            </p:cNvPr>
            <p:cNvGrpSpPr/>
            <p:nvPr/>
          </p:nvGrpSpPr>
          <p:grpSpPr>
            <a:xfrm>
              <a:off x="5556000" y="3429000"/>
              <a:ext cx="1080000" cy="1080000"/>
              <a:chOff x="3313786" y="3686861"/>
              <a:chExt cx="1080000" cy="1080000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B6943F60-F52E-D88D-C064-9E590DC5C75C}"/>
                  </a:ext>
                </a:extLst>
              </p:cNvPr>
              <p:cNvSpPr/>
              <p:nvPr/>
            </p:nvSpPr>
            <p:spPr>
              <a:xfrm>
                <a:off x="3313786" y="3686861"/>
                <a:ext cx="1080000" cy="1080000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31" name="Graphic 30" descr="Books with solid fill">
                <a:extLst>
                  <a:ext uri="{FF2B5EF4-FFF2-40B4-BE49-F238E27FC236}">
                    <a16:creationId xmlns:a16="http://schemas.microsoft.com/office/drawing/2014/main" id="{B6571A8F-0C83-251A-052A-EDA13921F5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>
                <a:off x="3396586" y="3769661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8765C54-AB6F-A67F-707D-17B71AF4C9E4}"/>
                </a:ext>
              </a:extLst>
            </p:cNvPr>
            <p:cNvSpPr txBox="1"/>
            <p:nvPr/>
          </p:nvSpPr>
          <p:spPr>
            <a:xfrm>
              <a:off x="4894174" y="4669078"/>
              <a:ext cx="2403652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E" b="1" noProof="0" dirty="0"/>
                <a:t>Hard to learn</a:t>
              </a:r>
              <a:endParaRPr lang="en-US" b="1" noProof="0" dirty="0"/>
            </a:p>
            <a:p>
              <a:pPr algn="ctr"/>
              <a:r>
                <a:rPr lang="en-SE" sz="1600" noProof="0" dirty="0"/>
                <a:t>Bayesian data analysis does not have out-of-the-box methods</a:t>
              </a:r>
              <a:endParaRPr lang="en-US" sz="1600" noProof="0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BA301CB-58CE-91DE-FA2C-EF92907952C6}"/>
              </a:ext>
            </a:extLst>
          </p:cNvPr>
          <p:cNvGrpSpPr/>
          <p:nvPr/>
        </p:nvGrpSpPr>
        <p:grpSpPr>
          <a:xfrm>
            <a:off x="6030560" y="2922370"/>
            <a:ext cx="2403652" cy="2348074"/>
            <a:chOff x="4894174" y="3429000"/>
            <a:chExt cx="2403652" cy="2348074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337380B2-C439-51F3-1348-0EFC1ED15697}"/>
                </a:ext>
              </a:extLst>
            </p:cNvPr>
            <p:cNvGrpSpPr/>
            <p:nvPr/>
          </p:nvGrpSpPr>
          <p:grpSpPr>
            <a:xfrm>
              <a:off x="5556000" y="3429000"/>
              <a:ext cx="1080000" cy="1080000"/>
              <a:chOff x="3313786" y="3686861"/>
              <a:chExt cx="1080000" cy="1080000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5536A0A5-5D5B-1425-94B5-BDF204B15F25}"/>
                  </a:ext>
                </a:extLst>
              </p:cNvPr>
              <p:cNvSpPr/>
              <p:nvPr/>
            </p:nvSpPr>
            <p:spPr>
              <a:xfrm>
                <a:off x="3313786" y="3686861"/>
                <a:ext cx="1080000" cy="108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36" name="Graphic 35" descr="Teacher with solid fill">
                <a:extLst>
                  <a:ext uri="{FF2B5EF4-FFF2-40B4-BE49-F238E27FC236}">
                    <a16:creationId xmlns:a16="http://schemas.microsoft.com/office/drawing/2014/main" id="{52921A68-6437-5FA6-BF8E-14C3EFC0EC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/>
            </p:blipFill>
            <p:spPr>
              <a:xfrm>
                <a:off x="3396586" y="3769661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E9AE1E4-1A49-A236-54CE-227C58F0E2E4}"/>
                </a:ext>
              </a:extLst>
            </p:cNvPr>
            <p:cNvSpPr txBox="1"/>
            <p:nvPr/>
          </p:nvSpPr>
          <p:spPr>
            <a:xfrm>
              <a:off x="4894174" y="4669078"/>
              <a:ext cx="2403652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E" b="1" noProof="0" dirty="0"/>
                <a:t>Hard to explain</a:t>
              </a:r>
              <a:endParaRPr lang="en-US" b="1" noProof="0" dirty="0"/>
            </a:p>
            <a:p>
              <a:pPr algn="ctr"/>
              <a:r>
                <a:rPr lang="en-SE" sz="1600" noProof="0" dirty="0"/>
                <a:t>Bayesian data analysis is not yet well-established in software engineering</a:t>
              </a:r>
              <a:endParaRPr lang="en-US" sz="1600" noProof="0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60900AD-B9FD-572B-0AAD-07D25D51CAE1}"/>
              </a:ext>
            </a:extLst>
          </p:cNvPr>
          <p:cNvGrpSpPr/>
          <p:nvPr/>
        </p:nvGrpSpPr>
        <p:grpSpPr>
          <a:xfrm>
            <a:off x="8568218" y="2922370"/>
            <a:ext cx="2403652" cy="2625073"/>
            <a:chOff x="4894174" y="3429000"/>
            <a:chExt cx="2403652" cy="2625073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D330ECCA-B3A8-171D-6762-C73314DEF8E8}"/>
                </a:ext>
              </a:extLst>
            </p:cNvPr>
            <p:cNvGrpSpPr/>
            <p:nvPr/>
          </p:nvGrpSpPr>
          <p:grpSpPr>
            <a:xfrm>
              <a:off x="5556000" y="3429000"/>
              <a:ext cx="1080000" cy="1080000"/>
              <a:chOff x="3313786" y="3686861"/>
              <a:chExt cx="1080000" cy="1080000"/>
            </a:xfrm>
          </p:grpSpPr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2D005F62-56AC-A164-FA55-3CB776486283}"/>
                  </a:ext>
                </a:extLst>
              </p:cNvPr>
              <p:cNvSpPr/>
              <p:nvPr/>
            </p:nvSpPr>
            <p:spPr>
              <a:xfrm>
                <a:off x="3313786" y="3686861"/>
                <a:ext cx="1080000" cy="108000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41" name="Graphic 40" descr="Document with solid fill">
                <a:extLst>
                  <a:ext uri="{FF2B5EF4-FFF2-40B4-BE49-F238E27FC236}">
                    <a16:creationId xmlns:a16="http://schemas.microsoft.com/office/drawing/2014/main" id="{89040915-0ED1-C693-0806-E0A4D80747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/>
            </p:blipFill>
            <p:spPr>
              <a:xfrm>
                <a:off x="3396586" y="3769661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C630EB8-F98A-70D3-39BE-47DD0391E626}"/>
                </a:ext>
              </a:extLst>
            </p:cNvPr>
            <p:cNvSpPr txBox="1"/>
            <p:nvPr/>
          </p:nvSpPr>
          <p:spPr>
            <a:xfrm>
              <a:off x="4894174" y="4669078"/>
              <a:ext cx="2403652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E" b="1" noProof="0" dirty="0"/>
                <a:t>Requires more communication</a:t>
              </a:r>
              <a:endParaRPr lang="en-US" b="1" noProof="0" dirty="0"/>
            </a:p>
            <a:p>
              <a:pPr algn="ctr"/>
              <a:r>
                <a:rPr lang="en-SE" sz="1600" noProof="0" dirty="0"/>
                <a:t>There are more reportable details to Bayesian data analysis</a:t>
              </a:r>
              <a:endParaRPr lang="en-US" sz="1600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9375871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7F1FFD0-87D5-DBFB-3AAA-F277FD9A5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Conclusion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CA89280-3474-D419-A47E-DCB34BF4A6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CE42BF-8ED3-8433-3D98-C5DC5A890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4FF13F-DD63-A384-2F43-9088144D7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294C8-51FC-7910-4FD2-3DD1D46FD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43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627857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0562D-D718-D4A6-4787-5195249BF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How to Good Science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7E0CCA-DEC4-FFEE-90A9-F14C3EBBC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68CE2-9857-FB18-8AED-EA72AC6E0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5457E5-5EF3-A476-CBFC-9D6C7E54A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44</a:t>
            </a:fld>
            <a:endParaRPr lang="en-SE"/>
          </a:p>
        </p:txBody>
      </p:sp>
      <p:pic>
        <p:nvPicPr>
          <p:cNvPr id="8" name="Graphic 7" descr="Network with solid fill">
            <a:extLst>
              <a:ext uri="{FF2B5EF4-FFF2-40B4-BE49-F238E27FC236}">
                <a16:creationId xmlns:a16="http://schemas.microsoft.com/office/drawing/2014/main" id="{A4C3008D-C625-BFD8-C4B5-0077C423D5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198" y="1690688"/>
            <a:ext cx="914400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E603FF6-7DF0-8D12-A39F-F133CD7F2310}"/>
              </a:ext>
            </a:extLst>
          </p:cNvPr>
          <p:cNvSpPr txBox="1"/>
          <p:nvPr/>
        </p:nvSpPr>
        <p:spPr>
          <a:xfrm>
            <a:off x="1752598" y="1793945"/>
            <a:ext cx="8550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E" sz="2000" b="1" dirty="0"/>
              <a:t>Internal validity </a:t>
            </a:r>
            <a:r>
              <a:rPr lang="en-SE" sz="2000" dirty="0"/>
              <a:t>requires visualizing and communicating your causal assumptions, and closing any backdoor paths by controlling confounders</a:t>
            </a:r>
          </a:p>
        </p:txBody>
      </p:sp>
      <p:pic>
        <p:nvPicPr>
          <p:cNvPr id="10" name="Graphic 9" descr="Share with solid fill">
            <a:extLst>
              <a:ext uri="{FF2B5EF4-FFF2-40B4-BE49-F238E27FC236}">
                <a16:creationId xmlns:a16="http://schemas.microsoft.com/office/drawing/2014/main" id="{F0C21F6F-A29C-0335-C99D-1FB2A4D2F7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838198" y="2723008"/>
            <a:ext cx="914400" cy="914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801B745-E87D-F81B-8AA1-F655E48FF0BB}"/>
              </a:ext>
            </a:extLst>
          </p:cNvPr>
          <p:cNvSpPr txBox="1"/>
          <p:nvPr/>
        </p:nvSpPr>
        <p:spPr>
          <a:xfrm>
            <a:off x="1752598" y="2826265"/>
            <a:ext cx="8550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E" sz="2000" b="1" dirty="0"/>
              <a:t>External validity </a:t>
            </a:r>
            <a:r>
              <a:rPr lang="en-SE" sz="2000" dirty="0"/>
              <a:t>requires awareness of potential moderators that also affect trial eligibility</a:t>
            </a:r>
          </a:p>
        </p:txBody>
      </p:sp>
      <p:pic>
        <p:nvPicPr>
          <p:cNvPr id="3" name="Graphic 2" descr="Stopwatch with solid fill">
            <a:extLst>
              <a:ext uri="{FF2B5EF4-FFF2-40B4-BE49-F238E27FC236}">
                <a16:creationId xmlns:a16="http://schemas.microsoft.com/office/drawing/2014/main" id="{94D9FE7B-947F-9F73-A40D-07A8BD40E0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38198" y="3755328"/>
            <a:ext cx="914400" cy="914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6C2AC5-7803-712A-4D07-AFCACB0F0863}"/>
              </a:ext>
            </a:extLst>
          </p:cNvPr>
          <p:cNvSpPr txBox="1"/>
          <p:nvPr/>
        </p:nvSpPr>
        <p:spPr>
          <a:xfrm>
            <a:off x="1752598" y="3858585"/>
            <a:ext cx="8550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E" sz="2000" b="1" dirty="0"/>
              <a:t>Construct validity </a:t>
            </a:r>
            <a:r>
              <a:rPr lang="en-SE" sz="2000" dirty="0"/>
              <a:t>requires operationalizing constructs with an encompassing and representative set of indicators</a:t>
            </a:r>
          </a:p>
        </p:txBody>
      </p:sp>
      <p:pic>
        <p:nvPicPr>
          <p:cNvPr id="12" name="Graphic 11" descr="Statistics with solid fill">
            <a:extLst>
              <a:ext uri="{FF2B5EF4-FFF2-40B4-BE49-F238E27FC236}">
                <a16:creationId xmlns:a16="http://schemas.microsoft.com/office/drawing/2014/main" id="{2F3ED24C-1B97-D887-964C-73C8D9739F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838198" y="4772985"/>
            <a:ext cx="914400" cy="914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244E234-1749-7749-D62A-5CA76CBC58E4}"/>
              </a:ext>
            </a:extLst>
          </p:cNvPr>
          <p:cNvSpPr txBox="1"/>
          <p:nvPr/>
        </p:nvSpPr>
        <p:spPr>
          <a:xfrm>
            <a:off x="1752598" y="5027177"/>
            <a:ext cx="85503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E" sz="2000" b="1" dirty="0"/>
              <a:t>Conclusion validity </a:t>
            </a:r>
            <a:r>
              <a:rPr lang="en-SE" sz="2000" dirty="0"/>
              <a:t>requires </a:t>
            </a:r>
            <a:r>
              <a:rPr lang="en-SE" sz="2000" dirty="0" err="1"/>
              <a:t>analyzing</a:t>
            </a:r>
            <a:r>
              <a:rPr lang="en-SE" sz="2000" dirty="0"/>
              <a:t> the data true to its nature</a:t>
            </a:r>
          </a:p>
        </p:txBody>
      </p:sp>
    </p:spTree>
    <p:extLst>
      <p:ext uri="{BB962C8B-B14F-4D97-AF65-F5344CB8AC3E}">
        <p14:creationId xmlns:p14="http://schemas.microsoft.com/office/powerpoint/2010/main" val="21598407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theme/theme1.xml><?xml version="1.0" encoding="utf-8"?>
<a:theme xmlns:a="http://schemas.openxmlformats.org/drawingml/2006/main" name="Office Theme">
  <a:themeElements>
    <a:clrScheme name="Chalmers">
      <a:dk1>
        <a:sysClr val="windowText" lastClr="000000"/>
      </a:dk1>
      <a:lt1>
        <a:srgbClr val="FFFFFF"/>
      </a:lt1>
      <a:dk2>
        <a:srgbClr val="003050"/>
      </a:dk2>
      <a:lt2>
        <a:srgbClr val="FFCB05"/>
      </a:lt2>
      <a:accent1>
        <a:srgbClr val="F15A22"/>
      </a:accent1>
      <a:accent2>
        <a:srgbClr val="7FB539"/>
      </a:accent2>
      <a:accent3>
        <a:srgbClr val="006C5C"/>
      </a:accent3>
      <a:accent4>
        <a:srgbClr val="5D6F7A"/>
      </a:accent4>
      <a:accent5>
        <a:srgbClr val="58B0E3"/>
      </a:accent5>
      <a:accent6>
        <a:srgbClr val="270089"/>
      </a:accent6>
      <a:hlink>
        <a:srgbClr val="00A99D"/>
      </a:hlink>
      <a:folHlink>
        <a:srgbClr val="48372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737</TotalTime>
  <Words>3241</Words>
  <Application>Microsoft Office PowerPoint</Application>
  <PresentationFormat>Widescreen</PresentationFormat>
  <Paragraphs>468</Paragraphs>
  <Slides>44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0" baseType="lpstr">
      <vt:lpstr>Aptos</vt:lpstr>
      <vt:lpstr>Aptos Display</vt:lpstr>
      <vt:lpstr>Arial</vt:lpstr>
      <vt:lpstr>Cambria Math</vt:lpstr>
      <vt:lpstr>Wingdings</vt:lpstr>
      <vt:lpstr>Office Theme</vt:lpstr>
      <vt:lpstr>Good Science</vt:lpstr>
      <vt:lpstr>Motivation</vt:lpstr>
      <vt:lpstr>The Scientific Process</vt:lpstr>
      <vt:lpstr>Conclusion Validity</vt:lpstr>
      <vt:lpstr>Data Analysis Practices</vt:lpstr>
      <vt:lpstr>Null-Hypothesis Significance Tests</vt:lpstr>
      <vt:lpstr>Null-Hypothesis Significance Tests</vt:lpstr>
      <vt:lpstr>Null-Hypothesis Significance Tests</vt:lpstr>
      <vt:lpstr>Null-Hypothesis Significance Tests</vt:lpstr>
      <vt:lpstr>Null-Hypothesis Significance Tests</vt:lpstr>
      <vt:lpstr>Think Bayesian</vt:lpstr>
      <vt:lpstr>Probability</vt:lpstr>
      <vt:lpstr>Bayes’ Theorem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Bayesian Data Analysis</vt:lpstr>
      <vt:lpstr>Bayesian Regression Models</vt:lpstr>
      <vt:lpstr>Bayesian Regression Models</vt:lpstr>
      <vt:lpstr>Bayesian Regression Models</vt:lpstr>
      <vt:lpstr>Bayesian Regression Models</vt:lpstr>
      <vt:lpstr>Updating Priors</vt:lpstr>
      <vt:lpstr>Updating Priors</vt:lpstr>
      <vt:lpstr>Bayesian Workflow</vt:lpstr>
      <vt:lpstr>The Bayesian Workflow</vt:lpstr>
      <vt:lpstr>Determining a Distribution Family</vt:lpstr>
      <vt:lpstr>Determining a Distribution Family</vt:lpstr>
      <vt:lpstr>The Bayesian Workflow</vt:lpstr>
      <vt:lpstr>Prior and Posterior Predictive Checks</vt:lpstr>
      <vt:lpstr>The Bayesian Workflow</vt:lpstr>
      <vt:lpstr>Evaluating Bayesian Output</vt:lpstr>
      <vt:lpstr>Evaluating Bayesian Output</vt:lpstr>
      <vt:lpstr>Evaluating Bayesian Output</vt:lpstr>
      <vt:lpstr>Evaluating Bayesian Output</vt:lpstr>
      <vt:lpstr>Limitations</vt:lpstr>
      <vt:lpstr>Subjectivity of Priors</vt:lpstr>
      <vt:lpstr>Limitations</vt:lpstr>
      <vt:lpstr>Conclusion</vt:lpstr>
      <vt:lpstr>How to Good Science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Julian Frattini</dc:creator>
  <cp:lastModifiedBy>Julian Frattini</cp:lastModifiedBy>
  <cp:revision>46</cp:revision>
  <dcterms:created xsi:type="dcterms:W3CDTF">2025-05-23T14:20:09Z</dcterms:created>
  <dcterms:modified xsi:type="dcterms:W3CDTF">2026-05-12T21:00:35Z</dcterms:modified>
</cp:coreProperties>
</file>